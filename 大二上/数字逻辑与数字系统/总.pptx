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7"/>
  </p:notesMasterIdLst>
  <p:sldIdLst>
    <p:sldId id="257" r:id="rId2"/>
    <p:sldId id="451" r:id="rId3"/>
    <p:sldId id="261" r:id="rId4"/>
    <p:sldId id="303" r:id="rId5"/>
    <p:sldId id="304" r:id="rId6"/>
    <p:sldId id="466" r:id="rId7"/>
    <p:sldId id="467" r:id="rId8"/>
    <p:sldId id="468" r:id="rId9"/>
    <p:sldId id="469" r:id="rId10"/>
    <p:sldId id="470" r:id="rId11"/>
    <p:sldId id="471" r:id="rId12"/>
    <p:sldId id="472" r:id="rId13"/>
    <p:sldId id="476" r:id="rId14"/>
    <p:sldId id="479" r:id="rId15"/>
    <p:sldId id="478" r:id="rId16"/>
    <p:sldId id="270" r:id="rId17"/>
    <p:sldId id="411" r:id="rId18"/>
    <p:sldId id="497" r:id="rId19"/>
    <p:sldId id="393" r:id="rId20"/>
    <p:sldId id="624" r:id="rId21"/>
    <p:sldId id="625" r:id="rId22"/>
    <p:sldId id="272" r:id="rId23"/>
    <p:sldId id="370" r:id="rId24"/>
    <p:sldId id="575" r:id="rId25"/>
    <p:sldId id="297" r:id="rId26"/>
    <p:sldId id="585" r:id="rId27"/>
    <p:sldId id="589" r:id="rId28"/>
    <p:sldId id="596" r:id="rId29"/>
    <p:sldId id="601" r:id="rId30"/>
    <p:sldId id="626" r:id="rId31"/>
    <p:sldId id="319" r:id="rId32"/>
    <p:sldId id="264" r:id="rId33"/>
    <p:sldId id="269" r:id="rId34"/>
    <p:sldId id="287" r:id="rId35"/>
    <p:sldId id="289" r:id="rId36"/>
    <p:sldId id="284" r:id="rId37"/>
    <p:sldId id="308" r:id="rId38"/>
    <p:sldId id="310" r:id="rId39"/>
    <p:sldId id="371" r:id="rId40"/>
    <p:sldId id="627" r:id="rId41"/>
    <p:sldId id="372" r:id="rId42"/>
    <p:sldId id="544" r:id="rId43"/>
    <p:sldId id="496" r:id="rId44"/>
    <p:sldId id="628" r:id="rId45"/>
    <p:sldId id="498" r:id="rId4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4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52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mf"/><Relationship Id="rId1" Type="http://schemas.openxmlformats.org/officeDocument/2006/relationships/image" Target="../media/image29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image" Target="../media/image31.wmf"/><Relationship Id="rId1" Type="http://schemas.openxmlformats.org/officeDocument/2006/relationships/image" Target="../media/image30.png"/><Relationship Id="rId4" Type="http://schemas.openxmlformats.org/officeDocument/2006/relationships/image" Target="../media/image33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39.wmf"/><Relationship Id="rId1" Type="http://schemas.openxmlformats.org/officeDocument/2006/relationships/image" Target="../media/image38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image" Target="../media/image40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3.png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png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.png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8.png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0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0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53.wmf"/><Relationship Id="rId2" Type="http://schemas.openxmlformats.org/officeDocument/2006/relationships/image" Target="../media/image52.wmf"/><Relationship Id="rId1" Type="http://schemas.openxmlformats.org/officeDocument/2006/relationships/image" Target="../media/image51.png"/><Relationship Id="rId4" Type="http://schemas.openxmlformats.org/officeDocument/2006/relationships/image" Target="../media/image54.w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58.emf"/><Relationship Id="rId1" Type="http://schemas.openxmlformats.org/officeDocument/2006/relationships/image" Target="../media/image57.e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64.wmf"/><Relationship Id="rId2" Type="http://schemas.openxmlformats.org/officeDocument/2006/relationships/image" Target="../media/image63.png"/><Relationship Id="rId1" Type="http://schemas.openxmlformats.org/officeDocument/2006/relationships/image" Target="../media/image60.png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wmf"/><Relationship Id="rId1" Type="http://schemas.openxmlformats.org/officeDocument/2006/relationships/image" Target="../media/image65.png"/><Relationship Id="rId4" Type="http://schemas.openxmlformats.org/officeDocument/2006/relationships/image" Target="../media/image68.png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image" Target="../media/image60.png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image" Target="../media/image94.png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image" Target="../media/image96.png"/></Relationships>
</file>

<file path=ppt/drawings/_rels/vmlDrawing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image" Target="../media/image98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4D261E-7048-D04E-8C4D-D43923FCAEDF}" type="datetimeFigureOut">
              <a:rPr kumimoji="1" lang="zh-CN" altLang="en-US" smtClean="0"/>
              <a:t>2025/12/27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7AB00B-2B07-834A-B884-52472CF5D2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287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可以用分机号拨电话的例子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639CFF-2D60-4A58-833D-E6940D5882E4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26189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可以用分机号拨电话的例子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639CFF-2D60-4A58-833D-E6940D5882E4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26189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A67E5-5161-4EAF-9EE3-3A27A88DEAE8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55719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02C8A6-E2FE-09B0-0390-19DC117C90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33A77AD-A237-062A-1CE1-F01D9A6339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5D9FA5-EA34-DF11-7738-4E30444F8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70414-50D1-4390-A15A-B11514047F83}" type="datetimeFigureOut">
              <a:rPr lang="zh-CN" altLang="en-US" smtClean="0"/>
              <a:t>2025/12/27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6D1649-85F0-EA01-4D48-E713E46FD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B10CAC3-754B-9A3F-5CB5-431B01888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D7494-1128-45AC-BAE7-7BE0F62D5A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8464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29F335-C4FE-87CD-DE93-A8A5309C3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985A1E-6095-E011-1CAE-FEF7ED484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96B842-752C-1F3E-2ACA-790A57884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70414-50D1-4390-A15A-B11514047F83}" type="datetimeFigureOut">
              <a:rPr lang="zh-CN" altLang="en-US" smtClean="0"/>
              <a:t>2025/12/27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7450A6-B67D-56B6-51B4-4957E5B2B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960777-C735-93A0-74FA-907E742F0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D7494-1128-45AC-BAE7-7BE0F62D5A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319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1B857E-4B2F-636A-9981-BFF146167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CD3017B-54B4-66EE-7DFE-144364B7B6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23DD13-29C0-E7DB-208A-601E5062A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70414-50D1-4390-A15A-B11514047F83}" type="datetimeFigureOut">
              <a:rPr lang="zh-CN" altLang="en-US" smtClean="0"/>
              <a:t>2025/12/27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C03FE1-3BE5-8EBF-4E51-021681FC7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30FE89-7699-1D58-564B-8FFCB8BA6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D7494-1128-45AC-BAE7-7BE0F62D5A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4336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D8DFA7-A109-594C-6990-836E9D885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921052-A35A-7585-A85C-C66DCE931F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963789E-9105-E06E-D195-C68758F287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D227230-1B7F-CB66-53E2-DDEDAE3F0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70414-50D1-4390-A15A-B11514047F83}" type="datetimeFigureOut">
              <a:rPr lang="zh-CN" altLang="en-US" smtClean="0"/>
              <a:t>2025/12/27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811EBEF-A0B3-412E-FB36-DD9EB71A8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11A9AE4-D206-B2DF-2FED-C944541BD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D7494-1128-45AC-BAE7-7BE0F62D5A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3308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38122A-4F53-144A-97F7-5DF313693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0F0D98A-EF36-1553-7113-C6CECCD8E8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B5EC29A-A645-B7BC-8C5B-62688DAA79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0AC5CA0-CE2A-C14E-927E-3E8B7427C4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D1D2053-04AE-D251-97B4-72DF60F798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0F4807C-37CF-B908-ADF6-642609BDA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70414-50D1-4390-A15A-B11514047F83}" type="datetimeFigureOut">
              <a:rPr lang="zh-CN" altLang="en-US" smtClean="0"/>
              <a:t>2025/12/27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F6734F7-EFDC-3596-1F6D-7523AAE39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D783454-9EA2-6C1A-CAB9-9640CF3CF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D7494-1128-45AC-BAE7-7BE0F62D5A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5390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2C0CD1-405E-EAAB-4EFB-A5D6797EA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7F5619D-371B-748B-B6ED-372098929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70414-50D1-4390-A15A-B11514047F83}" type="datetimeFigureOut">
              <a:rPr lang="zh-CN" altLang="en-US" smtClean="0"/>
              <a:t>2025/12/27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C1680FF-A86B-E869-5972-18E9F4D50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610EC6D-477E-B2F5-A0E9-A6356FC7A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D7494-1128-45AC-BAE7-7BE0F62D5A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557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396087F-DFC7-AF63-95D5-C12913AD5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70414-50D1-4390-A15A-B11514047F83}" type="datetimeFigureOut">
              <a:rPr lang="zh-CN" altLang="en-US" smtClean="0"/>
              <a:t>2025/12/27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5B58624-A131-5564-D303-16D19B51E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7F9C67-293E-9F31-B27D-A0D026BA2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D7494-1128-45AC-BAE7-7BE0F62D5A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0081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19349E-9F7B-F6F3-6C3E-C9DE2397E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7FF2FD3-E48B-3B47-1D82-440A40728D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24E49D7-321A-7886-5528-EF619D9FAB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2DC76C7-4F89-C1ED-36C4-99AC04D4B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70414-50D1-4390-A15A-B11514047F83}" type="datetimeFigureOut">
              <a:rPr lang="zh-CN" altLang="en-US" smtClean="0"/>
              <a:t>2025/12/27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17BB9EC-0F16-444F-6822-14C121127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8870C76-CC75-2EF3-7F6D-5EB1BDFC9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D7494-1128-45AC-BAE7-7BE0F62D5A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0406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D2DAC8-605D-0928-F7F3-255DDBCFF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A1261CD-521C-9643-E4E3-AC509392AD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E632ECB-04B2-E840-880F-016079F16B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4C634B1-86B9-6BC2-5938-29E4E6DAC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70414-50D1-4390-A15A-B11514047F83}" type="datetimeFigureOut">
              <a:rPr lang="zh-CN" altLang="en-US" smtClean="0"/>
              <a:t>2025/12/27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5E99737-CB3C-1D75-9D1A-9CEC54590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C359158-CE9C-4369-B385-AF57977BB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D7494-1128-45AC-BAE7-7BE0F62D5A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881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DDFF96-5D09-57CE-900B-03F355B8C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6A14534-ABC9-5C21-0160-C94CC66D2A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AC246E-DD44-D9D7-473F-0FDB43B66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70414-50D1-4390-A15A-B11514047F83}" type="datetimeFigureOut">
              <a:rPr lang="zh-CN" altLang="en-US" smtClean="0"/>
              <a:t>2025/12/27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CB9F75C-7263-66E1-6AE0-C8C1F2CB7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8BB4A08-2058-7902-786E-9B2E63345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D7494-1128-45AC-BAE7-7BE0F62D5A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6171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246BE37-1F6B-64BD-D0DF-F1680FDD38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511B2FC-A507-1506-A091-E6E9A5DE97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445AEC-8B8D-9287-B885-E24C81AE2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70414-50D1-4390-A15A-B11514047F83}" type="datetimeFigureOut">
              <a:rPr lang="zh-CN" altLang="en-US" smtClean="0"/>
              <a:t>2025/12/27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E13915-D740-F63D-A1EC-BAEB820AC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3FD62E6-0375-512E-A5B2-56A6C93CE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D7494-1128-45AC-BAE7-7BE0F62D5A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59558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549275"/>
            <a:ext cx="10972800" cy="88423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9384" y="2028826"/>
            <a:ext cx="5323416" cy="41767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1" y="2028826"/>
            <a:ext cx="5323417" cy="41767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409526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6F9772E-35C6-C868-E00C-4D053AC8E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7F798E2-551E-B163-00AF-5B87DED254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A12EEB-E498-F5CC-6153-69CCB4D330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070414-50D1-4390-A15A-B11514047F83}" type="datetimeFigureOut">
              <a:rPr lang="zh-CN" altLang="en-US" smtClean="0"/>
              <a:t>2025/12/27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A85D70-1B75-2513-6A20-293F7B5BF8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6C5B6C-8D6D-7B0C-9289-5700A252B7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ED7494-1128-45AC-BAE7-7BE0F62D5A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0593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0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10" Type="http://schemas.openxmlformats.org/officeDocument/2006/relationships/image" Target="../media/image7.png"/><Relationship Id="rId4" Type="http://schemas.openxmlformats.org/officeDocument/2006/relationships/oleObject" Target="../embeddings/oleObject1.bin"/><Relationship Id="rId9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2.png"/><Relationship Id="rId4" Type="http://schemas.openxmlformats.org/officeDocument/2006/relationships/oleObject" Target="../embeddings/oleObject2.bin"/><Relationship Id="rId9" Type="http://schemas.openxmlformats.org/officeDocument/2006/relationships/image" Target="../media/image63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0.png"/><Relationship Id="rId3" Type="http://schemas.openxmlformats.org/officeDocument/2006/relationships/image" Target="../media/image3.png"/><Relationship Id="rId7" Type="http://schemas.openxmlformats.org/officeDocument/2006/relationships/image" Target="../media/image15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7.png"/><Relationship Id="rId4" Type="http://schemas.openxmlformats.org/officeDocument/2006/relationships/oleObject" Target="../embeddings/oleObject3.bin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6.png"/><Relationship Id="rId2" Type="http://schemas.openxmlformats.org/officeDocument/2006/relationships/image" Target="../media/image7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740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image" Target="../media/image81.png"/><Relationship Id="rId7" Type="http://schemas.openxmlformats.org/officeDocument/2006/relationships/image" Target="../media/image8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10" Type="http://schemas.openxmlformats.org/officeDocument/2006/relationships/image" Target="../media/image86.png"/><Relationship Id="rId4" Type="http://schemas.openxmlformats.org/officeDocument/2006/relationships/image" Target="../media/image82.png"/><Relationship Id="rId9" Type="http://schemas.openxmlformats.org/officeDocument/2006/relationships/image" Target="../media/image8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0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1" Type="http://schemas.openxmlformats.org/officeDocument/2006/relationships/image" Target="../media/image900.png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13" Type="http://schemas.openxmlformats.org/officeDocument/2006/relationships/image" Target="../media/image113.png"/><Relationship Id="rId3" Type="http://schemas.openxmlformats.org/officeDocument/2006/relationships/image" Target="../media/image860.png"/><Relationship Id="rId7" Type="http://schemas.openxmlformats.org/officeDocument/2006/relationships/image" Target="../media/image91.png"/><Relationship Id="rId12" Type="http://schemas.openxmlformats.org/officeDocument/2006/relationships/image" Target="../media/image112.png"/><Relationship Id="rId2" Type="http://schemas.openxmlformats.org/officeDocument/2006/relationships/image" Target="../media/image820.png"/><Relationship Id="rId16" Type="http://schemas.openxmlformats.org/officeDocument/2006/relationships/image" Target="../media/image9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1.png"/><Relationship Id="rId11" Type="http://schemas.openxmlformats.org/officeDocument/2006/relationships/image" Target="../media/image111.png"/><Relationship Id="rId5" Type="http://schemas.openxmlformats.org/officeDocument/2006/relationships/image" Target="../media/image105.png"/><Relationship Id="rId15" Type="http://schemas.openxmlformats.org/officeDocument/2006/relationships/image" Target="../media/image108.png"/><Relationship Id="rId10" Type="http://schemas.openxmlformats.org/officeDocument/2006/relationships/image" Target="../media/image110.png"/><Relationship Id="rId4" Type="http://schemas.openxmlformats.org/officeDocument/2006/relationships/image" Target="../media/image104.png"/><Relationship Id="rId9" Type="http://schemas.openxmlformats.org/officeDocument/2006/relationships/image" Target="../media/image109.png"/><Relationship Id="rId14" Type="http://schemas.openxmlformats.org/officeDocument/2006/relationships/image" Target="../media/image1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28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7" Type="http://schemas.openxmlformats.org/officeDocument/2006/relationships/image" Target="../media/image2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3.png"/><Relationship Id="rId4" Type="http://schemas.openxmlformats.org/officeDocument/2006/relationships/image" Target="../media/image29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3" Type="http://schemas.openxmlformats.org/officeDocument/2006/relationships/image" Target="../media/image3.png"/><Relationship Id="rId7" Type="http://schemas.openxmlformats.org/officeDocument/2006/relationships/image" Target="../media/image31.wmf"/><Relationship Id="rId12" Type="http://schemas.openxmlformats.org/officeDocument/2006/relationships/image" Target="../media/image34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33.wmf"/><Relationship Id="rId5" Type="http://schemas.openxmlformats.org/officeDocument/2006/relationships/image" Target="../media/image30.png"/><Relationship Id="rId10" Type="http://schemas.openxmlformats.org/officeDocument/2006/relationships/oleObject" Target="../embeddings/oleObject10.bin"/><Relationship Id="rId4" Type="http://schemas.openxmlformats.org/officeDocument/2006/relationships/oleObject" Target="../embeddings/oleObject7.bin"/><Relationship Id="rId9" Type="http://schemas.openxmlformats.org/officeDocument/2006/relationships/image" Target="../media/image32.w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39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38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3" Type="http://schemas.openxmlformats.org/officeDocument/2006/relationships/image" Target="../media/image3.png"/><Relationship Id="rId7" Type="http://schemas.openxmlformats.org/officeDocument/2006/relationships/image" Target="../media/image41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4.bin"/><Relationship Id="rId5" Type="http://schemas.openxmlformats.org/officeDocument/2006/relationships/image" Target="../media/image40.wmf"/><Relationship Id="rId4" Type="http://schemas.openxmlformats.org/officeDocument/2006/relationships/oleObject" Target="../embeddings/oleObject13.bin"/><Relationship Id="rId9" Type="http://schemas.openxmlformats.org/officeDocument/2006/relationships/image" Target="../media/image4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4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4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46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48.png"/><Relationship Id="rId4" Type="http://schemas.openxmlformats.org/officeDocument/2006/relationships/oleObject" Target="../embeddings/oleObject19.bin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image" Target="NULL"/><Relationship Id="rId5" Type="http://schemas.openxmlformats.org/officeDocument/2006/relationships/image" Target="../media/image50.wmf"/><Relationship Id="rId4" Type="http://schemas.openxmlformats.org/officeDocument/2006/relationships/oleObject" Target="../embeddings/oleObject20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image" Target="NULL"/><Relationship Id="rId5" Type="http://schemas.openxmlformats.org/officeDocument/2006/relationships/image" Target="../media/image50.wmf"/><Relationship Id="rId4" Type="http://schemas.openxmlformats.org/officeDocument/2006/relationships/oleObject" Target="../embeddings/oleObject20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.bin"/><Relationship Id="rId3" Type="http://schemas.openxmlformats.org/officeDocument/2006/relationships/image" Target="../media/image55.png"/><Relationship Id="rId7" Type="http://schemas.openxmlformats.org/officeDocument/2006/relationships/image" Target="../media/image5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22.bin"/><Relationship Id="rId11" Type="http://schemas.openxmlformats.org/officeDocument/2006/relationships/image" Target="../media/image54.wmf"/><Relationship Id="rId5" Type="http://schemas.openxmlformats.org/officeDocument/2006/relationships/image" Target="../media/image51.png"/><Relationship Id="rId10" Type="http://schemas.openxmlformats.org/officeDocument/2006/relationships/oleObject" Target="../embeddings/oleObject24.bin"/><Relationship Id="rId4" Type="http://schemas.openxmlformats.org/officeDocument/2006/relationships/oleObject" Target="../embeddings/oleObject21.bin"/><Relationship Id="rId9" Type="http://schemas.openxmlformats.org/officeDocument/2006/relationships/image" Target="../media/image53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0.png"/><Relationship Id="rId4" Type="http://schemas.openxmlformats.org/officeDocument/2006/relationships/image" Target="../media/image22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8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26.bin"/><Relationship Id="rId5" Type="http://schemas.openxmlformats.org/officeDocument/2006/relationships/image" Target="../media/image57.emf"/><Relationship Id="rId4" Type="http://schemas.openxmlformats.org/officeDocument/2006/relationships/oleObject" Target="../embeddings/oleObject25.bin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0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1.png"/><Relationship Id="rId7" Type="http://schemas.openxmlformats.org/officeDocument/2006/relationships/image" Target="../media/image78.png"/><Relationship Id="rId2" Type="http://schemas.openxmlformats.org/officeDocument/2006/relationships/image" Target="../media/image7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470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.bin"/><Relationship Id="rId3" Type="http://schemas.openxmlformats.org/officeDocument/2006/relationships/image" Target="../media/image3.png"/><Relationship Id="rId7" Type="http://schemas.openxmlformats.org/officeDocument/2006/relationships/image" Target="../media/image63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28.bin"/><Relationship Id="rId5" Type="http://schemas.openxmlformats.org/officeDocument/2006/relationships/image" Target="../media/image60.png"/><Relationship Id="rId4" Type="http://schemas.openxmlformats.org/officeDocument/2006/relationships/oleObject" Target="../embeddings/oleObject27.bin"/><Relationship Id="rId9" Type="http://schemas.openxmlformats.org/officeDocument/2006/relationships/image" Target="../media/image64.w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.bin"/><Relationship Id="rId3" Type="http://schemas.openxmlformats.org/officeDocument/2006/relationships/image" Target="../media/image3.png"/><Relationship Id="rId7" Type="http://schemas.openxmlformats.org/officeDocument/2006/relationships/image" Target="../media/image6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31.bin"/><Relationship Id="rId11" Type="http://schemas.openxmlformats.org/officeDocument/2006/relationships/image" Target="../media/image68.png"/><Relationship Id="rId5" Type="http://schemas.openxmlformats.org/officeDocument/2006/relationships/image" Target="../media/image65.png"/><Relationship Id="rId10" Type="http://schemas.openxmlformats.org/officeDocument/2006/relationships/oleObject" Target="../embeddings/oleObject33.bin"/><Relationship Id="rId4" Type="http://schemas.openxmlformats.org/officeDocument/2006/relationships/oleObject" Target="../embeddings/oleObject30.bin"/><Relationship Id="rId9" Type="http://schemas.openxmlformats.org/officeDocument/2006/relationships/image" Target="../media/image67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oleObject" Target="../embeddings/oleObject34.bin"/><Relationship Id="rId7" Type="http://schemas.openxmlformats.org/officeDocument/2006/relationships/oleObject" Target="../embeddings/oleObject3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7" Type="http://schemas.openxmlformats.org/officeDocument/2006/relationships/image" Target="../media/image95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37.bin"/><Relationship Id="rId5" Type="http://schemas.openxmlformats.org/officeDocument/2006/relationships/image" Target="../media/image3.png"/><Relationship Id="rId4" Type="http://schemas.openxmlformats.org/officeDocument/2006/relationships/image" Target="../media/image94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97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39.bin"/><Relationship Id="rId5" Type="http://schemas.openxmlformats.org/officeDocument/2006/relationships/image" Target="../media/image96.png"/><Relationship Id="rId4" Type="http://schemas.openxmlformats.org/officeDocument/2006/relationships/oleObject" Target="../embeddings/oleObject38.bin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3" Type="http://schemas.openxmlformats.org/officeDocument/2006/relationships/oleObject" Target="../embeddings/oleObject40.bin"/><Relationship Id="rId7" Type="http://schemas.openxmlformats.org/officeDocument/2006/relationships/oleObject" Target="../embeddings/oleObject4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28.png"/><Relationship Id="rId5" Type="http://schemas.openxmlformats.org/officeDocument/2006/relationships/image" Target="../media/image3.png"/><Relationship Id="rId4" Type="http://schemas.openxmlformats.org/officeDocument/2006/relationships/image" Target="../media/image9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83E90C-8483-0BA9-DDF1-9B22F69D56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数字逻辑与数字系统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F55FE3A-156B-524A-AE18-BCC435D0E6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杨博文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447026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298" name="Rectangle 2">
            <a:extLst>
              <a:ext uri="{FF2B5EF4-FFF2-40B4-BE49-F238E27FC236}">
                <a16:creationId xmlns:a16="http://schemas.microsoft.com/office/drawing/2014/main" id="{292331F3-F4F6-5819-2A4A-736FA1A7C5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5775" y="0"/>
            <a:ext cx="10972800" cy="884238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/>
              <a:t>1.3</a:t>
            </a:r>
            <a:r>
              <a:rPr lang="zh-CN" altLang="en-US" dirty="0"/>
              <a:t>常用编码</a:t>
            </a:r>
          </a:p>
        </p:txBody>
      </p:sp>
      <p:sp>
        <p:nvSpPr>
          <p:cNvPr id="311299" name="Rectangle 3">
            <a:extLst>
              <a:ext uri="{FF2B5EF4-FFF2-40B4-BE49-F238E27FC236}">
                <a16:creationId xmlns:a16="http://schemas.microsoft.com/office/drawing/2014/main" id="{3B8A297E-2A94-451D-8304-66F5C2B61F7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77091" y="826609"/>
            <a:ext cx="11637818" cy="3747139"/>
          </a:xfrm>
        </p:spPr>
        <p:txBody>
          <a:bodyPr/>
          <a:lstStyle/>
          <a:p>
            <a:pPr eaLnBrk="1" hangingPunct="1">
              <a:buFontTx/>
              <a:buNone/>
              <a:defRPr/>
            </a:pPr>
            <a:r>
              <a:rPr lang="zh-CN" altLang="en-US" sz="2400" dirty="0"/>
              <a:t>二</a:t>
            </a:r>
            <a:r>
              <a:rPr lang="en-US" altLang="zh-CN" sz="2400" dirty="0"/>
              <a:t>-</a:t>
            </a:r>
            <a:r>
              <a:rPr lang="zh-CN" altLang="en-US" sz="2400" dirty="0"/>
              <a:t>十进制编码</a:t>
            </a:r>
            <a:r>
              <a:rPr lang="en-US" altLang="zh-CN" sz="2400" dirty="0"/>
              <a:t>(binary coded decimal, BCD)</a:t>
            </a:r>
            <a:r>
              <a:rPr lang="zh-CN" altLang="en-US" sz="2400" dirty="0"/>
              <a:t>：</a:t>
            </a:r>
            <a:endParaRPr lang="en-US" altLang="zh-CN" sz="2400" dirty="0"/>
          </a:p>
          <a:p>
            <a:pPr eaLnBrk="1" hangingPunct="1">
              <a:buFontTx/>
              <a:buNone/>
              <a:defRPr/>
            </a:pPr>
            <a:r>
              <a:rPr lang="zh-CN" altLang="en-US" sz="2400" b="0" i="0" u="none" strike="noStrike" baseline="0" dirty="0">
                <a:solidFill>
                  <a:schemeClr val="tx2"/>
                </a:solidFill>
                <a:latin typeface="*SimSun-9749-Identity-H"/>
              </a:rPr>
              <a:t>为了用二进制代码表示十进制数的</a:t>
            </a:r>
            <a:r>
              <a:rPr lang="en-US" altLang="zh-CN" sz="2400" b="0" i="0" u="none" strike="noStrike" baseline="0" dirty="0">
                <a:solidFill>
                  <a:schemeClr val="tx2"/>
                </a:solidFill>
                <a:latin typeface="*SimSun-9749-Identity-H"/>
              </a:rPr>
              <a:t>0~9</a:t>
            </a:r>
            <a:r>
              <a:rPr lang="zh-CN" altLang="en-US" sz="2400" b="0" i="0" u="none" strike="noStrike" baseline="0" dirty="0">
                <a:solidFill>
                  <a:schemeClr val="tx2"/>
                </a:solidFill>
                <a:latin typeface="*SimSun-9749-Identity-H"/>
              </a:rPr>
              <a:t>这十个状态，二进制代码至少应该有</a:t>
            </a:r>
            <a:r>
              <a:rPr lang="en-US" altLang="zh-CN" sz="2400" b="0" i="0" u="none" strike="noStrike" baseline="0" dirty="0">
                <a:solidFill>
                  <a:schemeClr val="tx2"/>
                </a:solidFill>
                <a:latin typeface="*SimSun-9749-Identity-H"/>
              </a:rPr>
              <a:t>4</a:t>
            </a:r>
            <a:r>
              <a:rPr lang="zh-CN" altLang="en-US" sz="2400" b="0" i="0" u="none" strike="noStrike" baseline="0" dirty="0">
                <a:solidFill>
                  <a:schemeClr val="tx2"/>
                </a:solidFill>
                <a:latin typeface="*SimSun-9749-Identity-H"/>
              </a:rPr>
              <a:t>位</a:t>
            </a:r>
            <a:endParaRPr lang="zh-CN" altLang="en-US" sz="2400" dirty="0">
              <a:solidFill>
                <a:schemeClr val="tx2"/>
              </a:solidFill>
            </a:endParaRPr>
          </a:p>
          <a:p>
            <a:pPr eaLnBrk="1" hangingPunct="1">
              <a:buFontTx/>
              <a:buNone/>
              <a:defRPr/>
            </a:pPr>
            <a:r>
              <a:rPr lang="zh-CN" altLang="en-US" sz="2400" dirty="0"/>
              <a:t>                             几种常用的十进制代码</a:t>
            </a:r>
          </a:p>
        </p:txBody>
      </p:sp>
      <p:graphicFrame>
        <p:nvGraphicFramePr>
          <p:cNvPr id="311418" name="Group 122">
            <a:extLst>
              <a:ext uri="{FF2B5EF4-FFF2-40B4-BE49-F238E27FC236}">
                <a16:creationId xmlns:a16="http://schemas.microsoft.com/office/drawing/2014/main" id="{206E10C0-96A2-0020-8B3D-DAA4099C60C6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1028700" y="2179326"/>
          <a:ext cx="7827327" cy="4437060"/>
        </p:xfrm>
        <a:graphic>
          <a:graphicData uri="http://schemas.openxmlformats.org/drawingml/2006/table">
            <a:tbl>
              <a:tblPr/>
              <a:tblGrid>
                <a:gridCol w="11701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4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44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8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802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8935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4006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十进制数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8421</a:t>
                      </a: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码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余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3</a:t>
                      </a: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码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2421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码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5211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码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余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3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循环码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96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0000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0011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0000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0000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0010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79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0001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0100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0001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0001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0110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938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0010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0101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0010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0100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0111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096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0011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0110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0011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0101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0101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938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4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0100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0111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0100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0111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0100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938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5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0101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1000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1011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1000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1100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096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6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0110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1001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1100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1001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1101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779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7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0111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1010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1101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1100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1111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938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8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1000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1011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1110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1101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1110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096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9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1001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1100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1111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1111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1010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3" name="图片 2">
            <a:extLst>
              <a:ext uri="{FF2B5EF4-FFF2-40B4-BE49-F238E27FC236}">
                <a16:creationId xmlns:a16="http://schemas.microsoft.com/office/drawing/2014/main" id="{4C94866E-AEF5-F975-56B4-829154A4DB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4917" y="1633542"/>
            <a:ext cx="1257143" cy="5085714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4E3FA5B9-0FBF-BE57-A12D-FB9A6F459DE4}"/>
              </a:ext>
            </a:extLst>
          </p:cNvPr>
          <p:cNvSpPr/>
          <p:nvPr/>
        </p:nvSpPr>
        <p:spPr>
          <a:xfrm>
            <a:off x="10138410" y="1988820"/>
            <a:ext cx="605790" cy="3235638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546B7F6-DA59-F048-BA1F-994BEBFC8124}"/>
              </a:ext>
            </a:extLst>
          </p:cNvPr>
          <p:cNvSpPr/>
          <p:nvPr/>
        </p:nvSpPr>
        <p:spPr>
          <a:xfrm>
            <a:off x="10012680" y="2885764"/>
            <a:ext cx="902970" cy="2932106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CF7FDB60-E3C7-C7B1-B493-F7ADFC3C43CB}"/>
              </a:ext>
            </a:extLst>
          </p:cNvPr>
          <p:cNvCxnSpPr>
            <a:cxnSpLocks/>
          </p:cNvCxnSpPr>
          <p:nvPr/>
        </p:nvCxnSpPr>
        <p:spPr>
          <a:xfrm>
            <a:off x="3886200" y="3006090"/>
            <a:ext cx="422910" cy="0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BCE2F13D-B957-168D-689F-1E620699381D}"/>
              </a:ext>
            </a:extLst>
          </p:cNvPr>
          <p:cNvCxnSpPr>
            <a:cxnSpLocks/>
          </p:cNvCxnSpPr>
          <p:nvPr/>
        </p:nvCxnSpPr>
        <p:spPr>
          <a:xfrm>
            <a:off x="4309110" y="3006090"/>
            <a:ext cx="0" cy="3451860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DDE460BA-8C9A-AACE-8FAB-9D49304A88D1}"/>
              </a:ext>
            </a:extLst>
          </p:cNvPr>
          <p:cNvCxnSpPr>
            <a:cxnSpLocks/>
          </p:cNvCxnSpPr>
          <p:nvPr/>
        </p:nvCxnSpPr>
        <p:spPr>
          <a:xfrm>
            <a:off x="3886200" y="6457950"/>
            <a:ext cx="422910" cy="0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526A26C8-27B3-8975-601D-666B3CB0173C}"/>
              </a:ext>
            </a:extLst>
          </p:cNvPr>
          <p:cNvCxnSpPr>
            <a:cxnSpLocks/>
          </p:cNvCxnSpPr>
          <p:nvPr/>
        </p:nvCxnSpPr>
        <p:spPr>
          <a:xfrm>
            <a:off x="3886200" y="3429000"/>
            <a:ext cx="217170" cy="0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9EA14CD2-8477-720A-C614-ADAD70E50E31}"/>
              </a:ext>
            </a:extLst>
          </p:cNvPr>
          <p:cNvCxnSpPr>
            <a:cxnSpLocks/>
          </p:cNvCxnSpPr>
          <p:nvPr/>
        </p:nvCxnSpPr>
        <p:spPr>
          <a:xfrm>
            <a:off x="4103370" y="3406140"/>
            <a:ext cx="0" cy="2715262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9FEBF494-A0F7-149C-BFA7-6898E7B7CC38}"/>
              </a:ext>
            </a:extLst>
          </p:cNvPr>
          <p:cNvCxnSpPr>
            <a:cxnSpLocks/>
          </p:cNvCxnSpPr>
          <p:nvPr/>
        </p:nvCxnSpPr>
        <p:spPr>
          <a:xfrm>
            <a:off x="3886200" y="6121402"/>
            <a:ext cx="217170" cy="0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F3D2B0BD-B4D2-3DC4-BDCB-2D30ACE754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313" y="333375"/>
            <a:ext cx="5478462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6575" indent="-536575" algn="l" defTabSz="246063" eaLnBrk="0" hangingPunct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defTabSz="246063" eaLnBrk="0" hangingPunct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defTabSz="246063" eaLnBrk="0" hangingPunct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defTabSz="246063" eaLnBrk="0" hangingPunct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defTabSz="246063" eaLnBrk="0" hangingPunct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2460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2460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2460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2460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1.4.2 </a:t>
            </a:r>
            <a:r>
              <a:rPr lang="zh-CN" altLang="en-US" sz="2800" dirty="0">
                <a:latin typeface="Times New Roman" panose="02020603050405020304" pitchFamily="18" charset="0"/>
              </a:rPr>
              <a:t>三种基本逻辑运算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与逻辑（</a:t>
            </a:r>
            <a:r>
              <a:rPr lang="en-US" altLang="zh-CN" sz="2800" dirty="0">
                <a:latin typeface="Times New Roman" panose="02020603050405020304" pitchFamily="18" charset="0"/>
              </a:rPr>
              <a:t>AND</a:t>
            </a:r>
            <a:r>
              <a:rPr lang="zh-CN" altLang="en-US" sz="2800" dirty="0">
                <a:latin typeface="Times New Roman" panose="02020603050405020304" pitchFamily="18" charset="0"/>
              </a:rPr>
              <a:t>）</a:t>
            </a:r>
          </a:p>
        </p:txBody>
      </p:sp>
      <p:graphicFrame>
        <p:nvGraphicFramePr>
          <p:cNvPr id="7171" name="Object 1024">
            <a:extLst>
              <a:ext uri="{FF2B5EF4-FFF2-40B4-BE49-F238E27FC236}">
                <a16:creationId xmlns:a16="http://schemas.microsoft.com/office/drawing/2014/main" id="{631BD4A6-2907-E8C4-BE89-077F55E0D1E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66877" y="1751014"/>
          <a:ext cx="3505200" cy="203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" name="BMP 图象" r:id="rId4" imgW="2800741" imgH="1628571" progId="Paint.Picture">
                  <p:embed/>
                </p:oleObj>
              </mc:Choice>
              <mc:Fallback>
                <p:oleObj name="BMP 图象" r:id="rId4" imgW="2800741" imgH="1628571" progId="Paint.Picture">
                  <p:embed/>
                  <p:pic>
                    <p:nvPicPr>
                      <p:cNvPr id="7171" name="Object 1024">
                        <a:extLst>
                          <a:ext uri="{FF2B5EF4-FFF2-40B4-BE49-F238E27FC236}">
                            <a16:creationId xmlns:a16="http://schemas.microsoft.com/office/drawing/2014/main" id="{631BD4A6-2907-E8C4-BE89-077F55E0D1E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6877" y="1751014"/>
                        <a:ext cx="3505200" cy="2038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201" name="Picture 9">
            <a:extLst>
              <a:ext uri="{FF2B5EF4-FFF2-40B4-BE49-F238E27FC236}">
                <a16:creationId xmlns:a16="http://schemas.microsoft.com/office/drawing/2014/main" id="{330F0A96-D7CF-EA69-EB8E-169AF9CC01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0404" y="3630613"/>
            <a:ext cx="2627313" cy="284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2" name="Picture 10">
            <a:extLst>
              <a:ext uri="{FF2B5EF4-FFF2-40B4-BE49-F238E27FC236}">
                <a16:creationId xmlns:a16="http://schemas.microsoft.com/office/drawing/2014/main" id="{705B3D0E-CA17-8678-5C26-F4D04CF801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7969" y="645370"/>
            <a:ext cx="2881313" cy="264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03" name="AutoShape 11">
            <a:extLst>
              <a:ext uri="{FF2B5EF4-FFF2-40B4-BE49-F238E27FC236}">
                <a16:creationId xmlns:a16="http://schemas.microsoft.com/office/drawing/2014/main" id="{461ED240-02E7-C273-E31D-0BF17CC669D3}"/>
              </a:ext>
            </a:extLst>
          </p:cNvPr>
          <p:cNvSpPr>
            <a:spLocks noChangeArrowheads="1"/>
          </p:cNvSpPr>
          <p:nvPr/>
        </p:nvSpPr>
        <p:spPr bwMode="auto">
          <a:xfrm rot="19960036">
            <a:off x="6060306" y="3047206"/>
            <a:ext cx="719137" cy="360363"/>
          </a:xfrm>
          <a:prstGeom prst="rightArrow">
            <a:avLst>
              <a:gd name="adj1" fmla="val 50000"/>
              <a:gd name="adj2" fmla="val 4989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 eaLnBrk="0" hangingPunct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endParaRPr kumimoji="0" lang="zh-CN" altLang="en-US" sz="2400" b="0"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4449" name="Object 1025">
                <a:extLst>
                  <a:ext uri="{FF2B5EF4-FFF2-40B4-BE49-F238E27FC236}">
                    <a16:creationId xmlns:a16="http://schemas.microsoft.com/office/drawing/2014/main" id="{5C18F07B-03BA-4C09-2C7E-E95801449113}"/>
                  </a:ext>
                </a:extLst>
              </p:cNvPr>
              <p:cNvSpPr txBox="1"/>
              <p:nvPr/>
            </p:nvSpPr>
            <p:spPr bwMode="auto">
              <a:xfrm>
                <a:off x="7339607" y="4264820"/>
                <a:ext cx="2479675" cy="419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𝐴𝐵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04449" name="Object 1025">
                <a:extLst>
                  <a:ext uri="{FF2B5EF4-FFF2-40B4-BE49-F238E27FC236}">
                    <a16:creationId xmlns:a16="http://schemas.microsoft.com/office/drawing/2014/main" id="{5C18F07B-03BA-4C09-2C7E-E958014491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39607" y="4264820"/>
                <a:ext cx="2479675" cy="419100"/>
              </a:xfrm>
              <a:prstGeom prst="rect">
                <a:avLst/>
              </a:prstGeom>
              <a:blipFill>
                <a:blip r:embed="rId8"/>
                <a:stretch>
                  <a:fillRect l="-491" b="-588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05" name="AutoShape 13">
            <a:extLst>
              <a:ext uri="{FF2B5EF4-FFF2-40B4-BE49-F238E27FC236}">
                <a16:creationId xmlns:a16="http://schemas.microsoft.com/office/drawing/2014/main" id="{CF583CC5-5063-D33E-C18B-C0B4423723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88325" y="3472657"/>
            <a:ext cx="431800" cy="792163"/>
          </a:xfrm>
          <a:prstGeom prst="downArrow">
            <a:avLst>
              <a:gd name="adj1" fmla="val 50000"/>
              <a:gd name="adj2" fmla="val 4586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 eaLnBrk="0" hangingPunct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endParaRPr kumimoji="0" lang="zh-CN" altLang="en-US" sz="2400" b="0">
              <a:latin typeface="Arial" panose="020B0604020202020204" pitchFamily="34" charset="0"/>
            </a:endParaRPr>
          </a:p>
        </p:txBody>
      </p:sp>
      <p:pic>
        <p:nvPicPr>
          <p:cNvPr id="8206" name="Picture 14">
            <a:extLst>
              <a:ext uri="{FF2B5EF4-FFF2-40B4-BE49-F238E27FC236}">
                <a16:creationId xmlns:a16="http://schemas.microsoft.com/office/drawing/2014/main" id="{281CA86E-D599-F1F7-C80F-4EDB73DA0D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6180" y="4971310"/>
            <a:ext cx="2543175" cy="104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47E4BB63-20BE-7A36-0B83-878959990DF6}"/>
              </a:ext>
            </a:extLst>
          </p:cNvPr>
          <p:cNvSpPr txBox="1"/>
          <p:nvPr/>
        </p:nvSpPr>
        <p:spPr>
          <a:xfrm>
            <a:off x="243882" y="4216301"/>
            <a:ext cx="284598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2400" b="0" i="0" u="none" strike="noStrike" baseline="0" dirty="0">
                <a:latin typeface="*SimSun-8597-Identity-H"/>
              </a:rPr>
              <a:t>只有决定事物结果的全部条件同时具备时，结果才发生</a:t>
            </a:r>
            <a:r>
              <a:rPr lang="en-US" altLang="zh-CN" sz="1000" b="0" i="0" u="none" strike="noStrike" baseline="0" dirty="0">
                <a:latin typeface="*SimSun-8598-Identity-H"/>
              </a:rPr>
              <a:t>C. </a:t>
            </a:r>
            <a:r>
              <a:rPr lang="zh-CN" altLang="en-US" sz="2400" b="0" i="0" u="none" strike="noStrike" baseline="0" dirty="0">
                <a:latin typeface="*SimSun-8597-Identity-H"/>
              </a:rPr>
              <a:t>这种因果关系</a:t>
            </a:r>
          </a:p>
          <a:p>
            <a:pPr algn="l"/>
            <a:r>
              <a:rPr lang="zh-CN" altLang="en-US" sz="2400" b="0" i="0" u="none" strike="noStrike" baseline="0" dirty="0">
                <a:latin typeface="*SimSun-8597-Identity-H"/>
              </a:rPr>
              <a:t>称为</a:t>
            </a:r>
            <a:r>
              <a:rPr lang="zh-CN" altLang="en-US" sz="2400" b="1" i="0" u="none" strike="noStrike" baseline="0" dirty="0">
                <a:solidFill>
                  <a:srgbClr val="FF0000"/>
                </a:solidFill>
                <a:latin typeface="*SimSun-8597-Identity-H"/>
              </a:rPr>
              <a:t>逻辑与</a:t>
            </a:r>
            <a:r>
              <a:rPr lang="zh-CN" altLang="en-US" sz="2400" b="0" i="0" u="none" strike="noStrike" baseline="0" dirty="0">
                <a:latin typeface="*SimSun-8597-Identity-H"/>
              </a:rPr>
              <a:t>，或称逻辑相乘</a:t>
            </a:r>
            <a:endParaRPr lang="zh-CN" altLang="en-US" sz="24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274B14E-5918-9177-9B9E-52601914A50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70419" y="5033705"/>
            <a:ext cx="2821581" cy="956468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A6FE544C-D381-8790-A62A-2367638570A1}"/>
              </a:ext>
            </a:extLst>
          </p:cNvPr>
          <p:cNvSpPr txBox="1"/>
          <p:nvPr/>
        </p:nvSpPr>
        <p:spPr>
          <a:xfrm>
            <a:off x="7665720" y="101674"/>
            <a:ext cx="2388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真值表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46245A6-BF60-E99B-EF5B-FA530721D6C4}"/>
              </a:ext>
            </a:extLst>
          </p:cNvPr>
          <p:cNvSpPr txBox="1"/>
          <p:nvPr/>
        </p:nvSpPr>
        <p:spPr>
          <a:xfrm>
            <a:off x="4639783" y="1040610"/>
            <a:ext cx="20404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该逻辑运算输入是什么？输出是什么？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1860688-A6CB-D924-19ED-6E7C9A2AAC2B}"/>
              </a:ext>
            </a:extLst>
          </p:cNvPr>
          <p:cNvSpPr txBox="1"/>
          <p:nvPr/>
        </p:nvSpPr>
        <p:spPr>
          <a:xfrm>
            <a:off x="9819282" y="54702"/>
            <a:ext cx="227949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列出在所有可能的输入情况下，一个逻辑运算（或逻辑表达式）会输出什么结果。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A6573C3-B354-CD28-0DB9-D61954E06EB5}"/>
              </a:ext>
            </a:extLst>
          </p:cNvPr>
          <p:cNvSpPr txBox="1"/>
          <p:nvPr/>
        </p:nvSpPr>
        <p:spPr>
          <a:xfrm>
            <a:off x="6513086" y="6241405"/>
            <a:ext cx="42140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整体依赖于所有的部分（条件）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8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8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8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8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8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03" grpId="0" animBg="1"/>
      <p:bldP spid="104449" grpId="0"/>
      <p:bldP spid="8205" grpId="0" animBg="1"/>
      <p:bldP spid="3" grpId="0"/>
      <p:bldP spid="2" grpId="0"/>
      <p:bldP spid="4" grpId="0"/>
      <p:bldP spid="6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9F1501CE-FA3B-C881-A923-543A5F6D7A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913" y="266700"/>
            <a:ext cx="5478462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6575" indent="-536575" algn="l" defTabSz="246063" eaLnBrk="0" hangingPunct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defTabSz="246063" eaLnBrk="0" hangingPunct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defTabSz="246063" eaLnBrk="0" hangingPunct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defTabSz="246063" eaLnBrk="0" hangingPunct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defTabSz="246063" eaLnBrk="0" hangingPunct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2460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2460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2460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2460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1.4.2</a:t>
            </a:r>
            <a:r>
              <a:rPr lang="zh-CN" altLang="en-US" sz="2800" dirty="0">
                <a:latin typeface="Times New Roman" panose="02020603050405020304" pitchFamily="18" charset="0"/>
              </a:rPr>
              <a:t>三种基本逻辑运算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或逻辑（</a:t>
            </a:r>
            <a:r>
              <a:rPr lang="en-US" altLang="zh-CN" sz="2800" dirty="0">
                <a:latin typeface="Times New Roman" panose="02020603050405020304" pitchFamily="18" charset="0"/>
              </a:rPr>
              <a:t>OR</a:t>
            </a:r>
            <a:r>
              <a:rPr lang="zh-CN" altLang="en-US" sz="2800" dirty="0">
                <a:latin typeface="Times New Roman" panose="02020603050405020304" pitchFamily="18" charset="0"/>
              </a:rPr>
              <a:t>）</a:t>
            </a:r>
          </a:p>
        </p:txBody>
      </p:sp>
      <p:sp>
        <p:nvSpPr>
          <p:cNvPr id="69638" name="AutoShape 6">
            <a:extLst>
              <a:ext uri="{FF2B5EF4-FFF2-40B4-BE49-F238E27FC236}">
                <a16:creationId xmlns:a16="http://schemas.microsoft.com/office/drawing/2014/main" id="{62EEA587-A717-8D4C-ACF8-EA5092125E24}"/>
              </a:ext>
            </a:extLst>
          </p:cNvPr>
          <p:cNvSpPr>
            <a:spLocks noChangeArrowheads="1"/>
          </p:cNvSpPr>
          <p:nvPr/>
        </p:nvSpPr>
        <p:spPr bwMode="auto">
          <a:xfrm rot="18887715">
            <a:off x="6708775" y="2744788"/>
            <a:ext cx="719138" cy="360362"/>
          </a:xfrm>
          <a:prstGeom prst="rightArrow">
            <a:avLst>
              <a:gd name="adj1" fmla="val 50000"/>
              <a:gd name="adj2" fmla="val 4989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 eaLnBrk="0" hangingPunct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endParaRPr kumimoji="0" lang="zh-CN" altLang="en-US" sz="2400" b="0">
              <a:latin typeface="Arial" panose="020B0604020202020204" pitchFamily="34" charset="0"/>
            </a:endParaRPr>
          </a:p>
        </p:txBody>
      </p:sp>
      <p:sp>
        <p:nvSpPr>
          <p:cNvPr id="69640" name="AutoShape 8">
            <a:extLst>
              <a:ext uri="{FF2B5EF4-FFF2-40B4-BE49-F238E27FC236}">
                <a16:creationId xmlns:a16="http://schemas.microsoft.com/office/drawing/2014/main" id="{EAB92637-F80A-998B-78AF-A68DD7055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8388" y="3284538"/>
            <a:ext cx="431800" cy="792162"/>
          </a:xfrm>
          <a:prstGeom prst="downArrow">
            <a:avLst>
              <a:gd name="adj1" fmla="val 50000"/>
              <a:gd name="adj2" fmla="val 4586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 eaLnBrk="0" hangingPunct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endParaRPr kumimoji="0" lang="zh-CN" altLang="en-US" sz="2400" b="0">
              <a:latin typeface="Arial" panose="020B0604020202020204" pitchFamily="34" charset="0"/>
            </a:endParaRPr>
          </a:p>
        </p:txBody>
      </p:sp>
      <p:graphicFrame>
        <p:nvGraphicFramePr>
          <p:cNvPr id="8197" name="Object 10">
            <a:extLst>
              <a:ext uri="{FF2B5EF4-FFF2-40B4-BE49-F238E27FC236}">
                <a16:creationId xmlns:a16="http://schemas.microsoft.com/office/drawing/2014/main" id="{786A40F1-A52C-8227-DEEE-EF5A8BC790F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07320" y="1411287"/>
          <a:ext cx="3505200" cy="2017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" name="BMP 图象" r:id="rId4" imgW="2828571" imgH="1628571" progId="Paint.Picture">
                  <p:embed/>
                </p:oleObj>
              </mc:Choice>
              <mc:Fallback>
                <p:oleObj name="BMP 图象" r:id="rId4" imgW="2828571" imgH="1628571" progId="Paint.Picture">
                  <p:embed/>
                  <p:pic>
                    <p:nvPicPr>
                      <p:cNvPr id="8197" name="Object 10">
                        <a:extLst>
                          <a:ext uri="{FF2B5EF4-FFF2-40B4-BE49-F238E27FC236}">
                            <a16:creationId xmlns:a16="http://schemas.microsoft.com/office/drawing/2014/main" id="{786A40F1-A52C-8227-DEEE-EF5A8BC790F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7320" y="1411287"/>
                        <a:ext cx="3505200" cy="2017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9643" name="Picture 11">
            <a:extLst>
              <a:ext uri="{FF2B5EF4-FFF2-40B4-BE49-F238E27FC236}">
                <a16:creationId xmlns:a16="http://schemas.microsoft.com/office/drawing/2014/main" id="{4EBE01EE-6DE0-BDF6-E650-C954AB3F9B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2769" y="3284538"/>
            <a:ext cx="3024187" cy="316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9645" name="Picture 13">
            <a:extLst>
              <a:ext uri="{FF2B5EF4-FFF2-40B4-BE49-F238E27FC236}">
                <a16:creationId xmlns:a16="http://schemas.microsoft.com/office/drawing/2014/main" id="{14C8E08D-2B7A-7066-76CB-7A4792DFF4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5864" y="404814"/>
            <a:ext cx="2808287" cy="2592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9646" name="Picture 14">
            <a:extLst>
              <a:ext uri="{FF2B5EF4-FFF2-40B4-BE49-F238E27FC236}">
                <a16:creationId xmlns:a16="http://schemas.microsoft.com/office/drawing/2014/main" id="{C727C118-D54E-C5F7-8F86-76AADD2320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1155" y="5007582"/>
            <a:ext cx="2381250" cy="87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9647" name="Object 15">
                <a:extLst>
                  <a:ext uri="{FF2B5EF4-FFF2-40B4-BE49-F238E27FC236}">
                    <a16:creationId xmlns:a16="http://schemas.microsoft.com/office/drawing/2014/main" id="{E66CD3F9-6B11-C785-1D5F-0E7748E9E77F}"/>
                  </a:ext>
                </a:extLst>
              </p:cNvPr>
              <p:cNvSpPr txBox="1"/>
              <p:nvPr/>
            </p:nvSpPr>
            <p:spPr bwMode="auto">
              <a:xfrm>
                <a:off x="8112125" y="4221164"/>
                <a:ext cx="1708150" cy="41433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69647" name="Object 15">
                <a:extLst>
                  <a:ext uri="{FF2B5EF4-FFF2-40B4-BE49-F238E27FC236}">
                    <a16:creationId xmlns:a16="http://schemas.microsoft.com/office/drawing/2014/main" id="{E66CD3F9-6B11-C785-1D5F-0E7748E9E7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112125" y="4221164"/>
                <a:ext cx="1708150" cy="414337"/>
              </a:xfrm>
              <a:prstGeom prst="rect">
                <a:avLst/>
              </a:prstGeom>
              <a:blipFill>
                <a:blip r:embed="rId9"/>
                <a:stretch>
                  <a:fillRect l="-1071" b="-588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>
            <a:extLst>
              <a:ext uri="{FF2B5EF4-FFF2-40B4-BE49-F238E27FC236}">
                <a16:creationId xmlns:a16="http://schemas.microsoft.com/office/drawing/2014/main" id="{D3486BD9-6CB7-2223-F506-2C970FF6DB82}"/>
              </a:ext>
            </a:extLst>
          </p:cNvPr>
          <p:cNvSpPr txBox="1"/>
          <p:nvPr/>
        </p:nvSpPr>
        <p:spPr>
          <a:xfrm>
            <a:off x="84688" y="3902026"/>
            <a:ext cx="380254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2400" b="0" i="0" u="none" strike="noStrike" baseline="0" dirty="0">
                <a:latin typeface="*SimSun-8597-Identity-H"/>
              </a:rPr>
              <a:t>在决定事物结果的诸条件中只要有任何一个满足</a:t>
            </a:r>
            <a:r>
              <a:rPr lang="zh-CN" altLang="en-US" sz="2400" b="0" i="0" u="none" strike="noStrike" baseline="0" dirty="0">
                <a:latin typeface="*SimSun-8598-Identity-H"/>
              </a:rPr>
              <a:t>，</a:t>
            </a:r>
            <a:r>
              <a:rPr lang="zh-CN" altLang="en-US" sz="2400" b="0" i="0" u="none" strike="noStrike" baseline="0" dirty="0">
                <a:latin typeface="*SimSun-8597-Identity-H"/>
              </a:rPr>
              <a:t>结果就会发生</a:t>
            </a:r>
            <a:r>
              <a:rPr lang="zh-CN" altLang="en-US" sz="2400" dirty="0">
                <a:latin typeface="*SimSun-8598-Identity-H"/>
              </a:rPr>
              <a:t>。</a:t>
            </a:r>
            <a:r>
              <a:rPr lang="zh-CN" altLang="en-US" sz="2400" b="0" i="0" u="none" strike="noStrike" baseline="0" dirty="0">
                <a:latin typeface="*SimSun-8597-Identity-H"/>
              </a:rPr>
              <a:t>这种</a:t>
            </a:r>
          </a:p>
          <a:p>
            <a:pPr algn="l"/>
            <a:r>
              <a:rPr lang="zh-CN" altLang="en-US" sz="2400" b="0" i="0" u="none" strike="noStrike" baseline="0" dirty="0">
                <a:latin typeface="*SimSun-8597-Identity-H"/>
              </a:rPr>
              <a:t>因果关系称为</a:t>
            </a:r>
            <a:r>
              <a:rPr lang="zh-CN" altLang="en-US" sz="2400" b="1" i="0" u="none" strike="noStrike" baseline="0" dirty="0">
                <a:solidFill>
                  <a:srgbClr val="FF0000"/>
                </a:solidFill>
                <a:latin typeface="*SimSun-8597-Identity-H"/>
              </a:rPr>
              <a:t>逻辑或</a:t>
            </a:r>
            <a:r>
              <a:rPr lang="zh-CN" altLang="en-US" sz="2400" b="0" i="0" u="none" strike="noStrike" baseline="0" dirty="0">
                <a:latin typeface="*SimSun-8597-Identity-H"/>
              </a:rPr>
              <a:t>，也称逻辑相加。</a:t>
            </a:r>
            <a:endParaRPr lang="zh-CN" altLang="en-US" sz="24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F758A4E-60EB-F0B4-4F5F-60F87045EE6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62631" y="4865688"/>
            <a:ext cx="2306581" cy="999518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2D17A873-6901-1C6C-3922-2D1C1C1ACFC2}"/>
              </a:ext>
            </a:extLst>
          </p:cNvPr>
          <p:cNvSpPr txBox="1"/>
          <p:nvPr/>
        </p:nvSpPr>
        <p:spPr>
          <a:xfrm>
            <a:off x="432302" y="6083211"/>
            <a:ext cx="21723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部分决定整体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9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9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9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69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69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8" grpId="0" animBg="1"/>
      <p:bldP spid="69640" grpId="0" animBg="1"/>
      <p:bldP spid="69647" grpId="0"/>
      <p:bldP spid="3" grpId="0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8882CD73-232D-939E-43E3-3E50200597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726" y="188913"/>
            <a:ext cx="5478462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6575" indent="-536575" algn="l" defTabSz="246063" eaLnBrk="0" hangingPunct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defTabSz="246063" eaLnBrk="0" hangingPunct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defTabSz="246063" eaLnBrk="0" hangingPunct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defTabSz="246063" eaLnBrk="0" hangingPunct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defTabSz="246063" eaLnBrk="0" hangingPunct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2460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2460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2460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246063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1.4.2</a:t>
            </a:r>
            <a:r>
              <a:rPr lang="zh-CN" altLang="en-US" sz="2800" dirty="0">
                <a:latin typeface="Times New Roman" panose="02020603050405020304" pitchFamily="18" charset="0"/>
              </a:rPr>
              <a:t>三种基本逻辑运算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非逻辑（</a:t>
            </a:r>
            <a:r>
              <a:rPr lang="en-US" altLang="zh-CN" sz="2800" dirty="0">
                <a:latin typeface="Times New Roman" panose="02020603050405020304" pitchFamily="18" charset="0"/>
              </a:rPr>
              <a:t>NOT</a:t>
            </a:r>
            <a:r>
              <a:rPr lang="zh-CN" altLang="en-US" sz="2800" dirty="0">
                <a:latin typeface="Times New Roman" panose="02020603050405020304" pitchFamily="18" charset="0"/>
              </a:rPr>
              <a:t>）</a:t>
            </a:r>
          </a:p>
        </p:txBody>
      </p:sp>
      <p:sp>
        <p:nvSpPr>
          <p:cNvPr id="70659" name="AutoShape 3">
            <a:extLst>
              <a:ext uri="{FF2B5EF4-FFF2-40B4-BE49-F238E27FC236}">
                <a16:creationId xmlns:a16="http://schemas.microsoft.com/office/drawing/2014/main" id="{E92ACCB8-5869-787C-98E1-5A26199523AE}"/>
              </a:ext>
            </a:extLst>
          </p:cNvPr>
          <p:cNvSpPr>
            <a:spLocks noChangeArrowheads="1"/>
          </p:cNvSpPr>
          <p:nvPr/>
        </p:nvSpPr>
        <p:spPr bwMode="auto">
          <a:xfrm rot="18887715">
            <a:off x="6859000" y="2120425"/>
            <a:ext cx="719137" cy="360362"/>
          </a:xfrm>
          <a:prstGeom prst="rightArrow">
            <a:avLst>
              <a:gd name="adj1" fmla="val 50000"/>
              <a:gd name="adj2" fmla="val 4989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 eaLnBrk="0" hangingPunct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endParaRPr kumimoji="0" lang="zh-CN" altLang="en-US" sz="2400" b="0">
              <a:latin typeface="Arial" panose="020B0604020202020204" pitchFamily="34" charset="0"/>
            </a:endParaRPr>
          </a:p>
        </p:txBody>
      </p:sp>
      <p:sp>
        <p:nvSpPr>
          <p:cNvPr id="70660" name="AutoShape 4">
            <a:extLst>
              <a:ext uri="{FF2B5EF4-FFF2-40B4-BE49-F238E27FC236}">
                <a16:creationId xmlns:a16="http://schemas.microsoft.com/office/drawing/2014/main" id="{60DE0DA8-1D63-087A-53E5-30C13E6D9E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74088" y="2882106"/>
            <a:ext cx="431800" cy="792162"/>
          </a:xfrm>
          <a:prstGeom prst="downArrow">
            <a:avLst>
              <a:gd name="adj1" fmla="val 50000"/>
              <a:gd name="adj2" fmla="val 4586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 eaLnBrk="0" hangingPunct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endParaRPr kumimoji="0" lang="zh-CN" altLang="en-US" sz="2400" b="0">
              <a:latin typeface="Arial" panose="020B0604020202020204" pitchFamily="34" charset="0"/>
            </a:endParaRPr>
          </a:p>
        </p:txBody>
      </p:sp>
      <p:graphicFrame>
        <p:nvGraphicFramePr>
          <p:cNvPr id="9221" name="Object 10">
            <a:extLst>
              <a:ext uri="{FF2B5EF4-FFF2-40B4-BE49-F238E27FC236}">
                <a16:creationId xmlns:a16="http://schemas.microsoft.com/office/drawing/2014/main" id="{E72F6EC5-74DA-E27C-ABD6-F0F87D8458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28788" y="1373982"/>
          <a:ext cx="3124200" cy="1954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4" name="BMP 图象" r:id="rId4" imgW="2619048" imgH="1638529" progId="Paint.Picture">
                  <p:embed/>
                </p:oleObj>
              </mc:Choice>
              <mc:Fallback>
                <p:oleObj name="BMP 图象" r:id="rId4" imgW="2619048" imgH="1638529" progId="Paint.Picture">
                  <p:embed/>
                  <p:pic>
                    <p:nvPicPr>
                      <p:cNvPr id="9221" name="Object 10">
                        <a:extLst>
                          <a:ext uri="{FF2B5EF4-FFF2-40B4-BE49-F238E27FC236}">
                            <a16:creationId xmlns:a16="http://schemas.microsoft.com/office/drawing/2014/main" id="{E72F6EC5-74DA-E27C-ABD6-F0F87D84581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8788" y="1373982"/>
                        <a:ext cx="3124200" cy="1954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0668" name="Picture 12">
            <a:extLst>
              <a:ext uri="{FF2B5EF4-FFF2-40B4-BE49-F238E27FC236}">
                <a16:creationId xmlns:a16="http://schemas.microsoft.com/office/drawing/2014/main" id="{9CB749AE-90C7-0792-239D-42A4126235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4826" y="2934812"/>
            <a:ext cx="2663825" cy="2417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0669" name="Picture 13">
            <a:extLst>
              <a:ext uri="{FF2B5EF4-FFF2-40B4-BE49-F238E27FC236}">
                <a16:creationId xmlns:a16="http://schemas.microsoft.com/office/drawing/2014/main" id="{EA425D5A-335F-C7D3-F62C-0D6F541AE6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5563" y="1051719"/>
            <a:ext cx="2457450" cy="173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0670" name="Object 14">
                <a:extLst>
                  <a:ext uri="{FF2B5EF4-FFF2-40B4-BE49-F238E27FC236}">
                    <a16:creationId xmlns:a16="http://schemas.microsoft.com/office/drawing/2014/main" id="{0A3ECDF8-9D30-966F-AA0F-BF30063A8D23}"/>
                  </a:ext>
                </a:extLst>
              </p:cNvPr>
              <p:cNvSpPr txBox="1"/>
              <p:nvPr/>
            </p:nvSpPr>
            <p:spPr bwMode="auto">
              <a:xfrm>
                <a:off x="8161022" y="3983434"/>
                <a:ext cx="1212850" cy="5191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bar>
                        <m:barPr>
                          <m:pos m:val="top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70670" name="Object 14">
                <a:extLst>
                  <a:ext uri="{FF2B5EF4-FFF2-40B4-BE49-F238E27FC236}">
                    <a16:creationId xmlns:a16="http://schemas.microsoft.com/office/drawing/2014/main" id="{0A3ECDF8-9D30-966F-AA0F-BF30063A8D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161022" y="3983434"/>
                <a:ext cx="1212850" cy="51911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0671" name="Picture 15">
            <a:extLst>
              <a:ext uri="{FF2B5EF4-FFF2-40B4-BE49-F238E27FC236}">
                <a16:creationId xmlns:a16="http://schemas.microsoft.com/office/drawing/2014/main" id="{EB656944-9EE7-D3C6-16A9-F909D45735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7488" y="4872433"/>
            <a:ext cx="2295525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0673" name="Rectangle 17">
            <a:extLst>
              <a:ext uri="{FF2B5EF4-FFF2-40B4-BE49-F238E27FC236}">
                <a16:creationId xmlns:a16="http://schemas.microsoft.com/office/drawing/2014/main" id="{B1BB262F-BB49-4E2C-44BC-B66601C4B1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8519" y="4938714"/>
            <a:ext cx="833119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eaLnBrk="0" hangingPunct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800" dirty="0"/>
              <a:t>原变量</a:t>
            </a:r>
          </a:p>
        </p:txBody>
      </p:sp>
      <p:sp>
        <p:nvSpPr>
          <p:cNvPr id="70675" name="Rectangle 19">
            <a:extLst>
              <a:ext uri="{FF2B5EF4-FFF2-40B4-BE49-F238E27FC236}">
                <a16:creationId xmlns:a16="http://schemas.microsoft.com/office/drawing/2014/main" id="{BDBF85A0-526D-E588-CB37-F3FB323CC6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09113" y="3860800"/>
            <a:ext cx="500062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反变量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4C9B116-E6F2-6F71-7197-B38A0B1D4DD0}"/>
              </a:ext>
            </a:extLst>
          </p:cNvPr>
          <p:cNvSpPr txBox="1"/>
          <p:nvPr/>
        </p:nvSpPr>
        <p:spPr>
          <a:xfrm>
            <a:off x="460692" y="3919538"/>
            <a:ext cx="3644266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b="0" i="0" u="none" strike="noStrike" baseline="0" dirty="0">
                <a:latin typeface="*SimSun-8597-Identity-H"/>
              </a:rPr>
              <a:t>只要条件具备了，结果便不会发生。而条件不具备时，结果一定发生。 这</a:t>
            </a:r>
          </a:p>
          <a:p>
            <a:pPr algn="l"/>
            <a:r>
              <a:rPr lang="zh-CN" altLang="en-US" sz="2400" b="0" i="0" u="none" strike="noStrike" baseline="0" dirty="0">
                <a:latin typeface="*SimSun-8597-Identity-H"/>
              </a:rPr>
              <a:t>种因果关系称为</a:t>
            </a:r>
            <a:r>
              <a:rPr lang="zh-CN" altLang="en-US" sz="2400" b="1" i="0" u="none" strike="noStrike" baseline="0" dirty="0">
                <a:solidFill>
                  <a:srgbClr val="FF0000"/>
                </a:solidFill>
                <a:latin typeface="*SimSun-8597-Identity-H"/>
              </a:rPr>
              <a:t>逻辑非</a:t>
            </a:r>
            <a:r>
              <a:rPr lang="zh-CN" altLang="en-US" sz="2400" b="0" i="0" u="none" strike="noStrike" baseline="0" dirty="0">
                <a:latin typeface="*SimSun-8597-Identity-H"/>
              </a:rPr>
              <a:t>，也称逻辑求反。</a:t>
            </a:r>
            <a:endParaRPr lang="zh-CN" altLang="en-US" sz="2400" dirty="0"/>
          </a:p>
          <a:p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88812CD-667B-142E-93CB-4A9163E884C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94346" y="5836097"/>
            <a:ext cx="2057143" cy="819048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E8F9AE9B-9CB3-2118-290C-DA4B26EF7CE0}"/>
              </a:ext>
            </a:extLst>
          </p:cNvPr>
          <p:cNvSpPr txBox="1"/>
          <p:nvPr/>
        </p:nvSpPr>
        <p:spPr>
          <a:xfrm>
            <a:off x="8094346" y="412350"/>
            <a:ext cx="2388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真值表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4DBDCFD-6CEF-D7AF-925D-89E3D91EB0E1}"/>
              </a:ext>
            </a:extLst>
          </p:cNvPr>
          <p:cNvSpPr txBox="1"/>
          <p:nvPr/>
        </p:nvSpPr>
        <p:spPr>
          <a:xfrm>
            <a:off x="828097" y="6135529"/>
            <a:ext cx="36442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非反映的是事物的对立面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0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70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70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70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70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70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70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59" grpId="0" animBg="1"/>
      <p:bldP spid="70660" grpId="0" animBg="1"/>
      <p:bldP spid="70670" grpId="0"/>
      <p:bldP spid="70673" grpId="0"/>
      <p:bldP spid="70675" grpId="0"/>
      <p:bldP spid="4" grpId="0"/>
      <p:bldP spid="5" grpId="0"/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494817-6DE4-D7A2-FDFC-C777D30FC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复合逻辑运算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41F394-220A-4E2F-8EA4-27C96DD0E2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5330" y="1685131"/>
            <a:ext cx="10515600" cy="4351338"/>
          </a:xfrm>
        </p:spPr>
        <p:txBody>
          <a:bodyPr/>
          <a:lstStyle/>
          <a:p>
            <a:r>
              <a:rPr lang="zh-CN" altLang="en-US" dirty="0"/>
              <a:t>复合逻辑运算由与或非三种基本逻辑运算组合而成。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1024">
                <a:extLst>
                  <a:ext uri="{FF2B5EF4-FFF2-40B4-BE49-F238E27FC236}">
                    <a16:creationId xmlns:a16="http://schemas.microsoft.com/office/drawing/2014/main" id="{51109DAD-D6B1-6CCE-E1F6-C7EAE496E67F}"/>
                  </a:ext>
                </a:extLst>
              </p:cNvPr>
              <p:cNvSpPr txBox="1"/>
              <p:nvPr/>
            </p:nvSpPr>
            <p:spPr bwMode="auto">
              <a:xfrm>
                <a:off x="1150143" y="2413000"/>
                <a:ext cx="1370013" cy="6032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𝐴𝐵</m:t>
                          </m:r>
                        </m:e>
                      </m:ba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4" name="Object 1024">
                <a:extLst>
                  <a:ext uri="{FF2B5EF4-FFF2-40B4-BE49-F238E27FC236}">
                    <a16:creationId xmlns:a16="http://schemas.microsoft.com/office/drawing/2014/main" id="{51109DAD-D6B1-6CCE-E1F6-C7EAE496E6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50143" y="2413000"/>
                <a:ext cx="1370013" cy="6032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1025">
                <a:extLst>
                  <a:ext uri="{FF2B5EF4-FFF2-40B4-BE49-F238E27FC236}">
                    <a16:creationId xmlns:a16="http://schemas.microsoft.com/office/drawing/2014/main" id="{3C2A455D-64E9-B180-FADD-4A88D1E449BF}"/>
                  </a:ext>
                </a:extLst>
              </p:cNvPr>
              <p:cNvSpPr txBox="1"/>
              <p:nvPr/>
            </p:nvSpPr>
            <p:spPr bwMode="auto">
              <a:xfrm>
                <a:off x="6771798" y="2632075"/>
                <a:ext cx="1751012" cy="6032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</m:oMath>
                  </m:oMathPara>
                </a14:m>
                <a:endParaRPr lang="zh-CN" altLang="en-US" sz="2400"/>
              </a:p>
            </p:txBody>
          </p:sp>
        </mc:Choice>
        <mc:Fallback xmlns="">
          <p:sp>
            <p:nvSpPr>
              <p:cNvPr id="5" name="Object 1025">
                <a:extLst>
                  <a:ext uri="{FF2B5EF4-FFF2-40B4-BE49-F238E27FC236}">
                    <a16:creationId xmlns:a16="http://schemas.microsoft.com/office/drawing/2014/main" id="{3C2A455D-64E9-B180-FADD-4A88D1E449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71798" y="2632075"/>
                <a:ext cx="1751012" cy="6032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24">
            <a:extLst>
              <a:ext uri="{FF2B5EF4-FFF2-40B4-BE49-F238E27FC236}">
                <a16:creationId xmlns:a16="http://schemas.microsoft.com/office/drawing/2014/main" id="{D572C901-EF06-8A70-0DD7-0545B7D089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4836" y="2438400"/>
            <a:ext cx="2524125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5">
            <a:extLst>
              <a:ext uri="{FF2B5EF4-FFF2-40B4-BE49-F238E27FC236}">
                <a16:creationId xmlns:a16="http://schemas.microsoft.com/office/drawing/2014/main" id="{8431D5D5-38D9-72F2-AC82-06C5F8D89C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9880" y="2438400"/>
            <a:ext cx="2524125" cy="100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6">
            <a:extLst>
              <a:ext uri="{FF2B5EF4-FFF2-40B4-BE49-F238E27FC236}">
                <a16:creationId xmlns:a16="http://schemas.microsoft.com/office/drawing/2014/main" id="{9D609A0D-642F-CA81-EA4A-BE50CC46CF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8291" y="3860800"/>
            <a:ext cx="3529013" cy="290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927F420E-9A59-E230-3041-A326D8E96143}"/>
              </a:ext>
            </a:extLst>
          </p:cNvPr>
          <p:cNvSpPr txBox="1"/>
          <p:nvPr/>
        </p:nvSpPr>
        <p:spPr>
          <a:xfrm>
            <a:off x="522604" y="4029769"/>
            <a:ext cx="25241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与非：输入变量都为</a:t>
            </a:r>
            <a:r>
              <a:rPr lang="en-US" altLang="zh-CN" sz="2400" dirty="0"/>
              <a:t>1</a:t>
            </a:r>
            <a:r>
              <a:rPr lang="zh-CN" altLang="en-US" sz="2400" dirty="0"/>
              <a:t>时结果为</a:t>
            </a:r>
            <a:r>
              <a:rPr lang="en-US" altLang="zh-CN" sz="2400" dirty="0"/>
              <a:t>0</a:t>
            </a:r>
            <a:endParaRPr lang="zh-CN" altLang="en-US" sz="24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A61075E-E446-9E7B-AA3B-C34FA4C387F5}"/>
              </a:ext>
            </a:extLst>
          </p:cNvPr>
          <p:cNvSpPr txBox="1"/>
          <p:nvPr/>
        </p:nvSpPr>
        <p:spPr>
          <a:xfrm>
            <a:off x="8522810" y="3927534"/>
            <a:ext cx="25241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或非：输入变量都为</a:t>
            </a:r>
            <a:r>
              <a:rPr lang="en-US" altLang="zh-CN" sz="2400" dirty="0"/>
              <a:t>0</a:t>
            </a:r>
            <a:r>
              <a:rPr lang="zh-CN" altLang="en-US" sz="2400" dirty="0"/>
              <a:t>时结果为</a:t>
            </a:r>
            <a:r>
              <a:rPr lang="en-US" altLang="zh-CN" sz="2400" dirty="0"/>
              <a:t>1</a:t>
            </a:r>
            <a:endParaRPr lang="zh-CN" altLang="en-US" sz="2400" dirty="0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A28665DA-81A1-7891-AEBA-44501EFA33A4}"/>
              </a:ext>
            </a:extLst>
          </p:cNvPr>
          <p:cNvSpPr/>
          <p:nvPr/>
        </p:nvSpPr>
        <p:spPr>
          <a:xfrm>
            <a:off x="4189502" y="6268028"/>
            <a:ext cx="2508408" cy="393916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ECD5D662-3891-4C4C-9E34-80ABE285FC96}"/>
              </a:ext>
            </a:extLst>
          </p:cNvPr>
          <p:cNvSpPr/>
          <p:nvPr/>
        </p:nvSpPr>
        <p:spPr>
          <a:xfrm>
            <a:off x="4126230" y="4631929"/>
            <a:ext cx="1668780" cy="374411"/>
          </a:xfrm>
          <a:prstGeom prst="ellipse">
            <a:avLst/>
          </a:prstGeom>
          <a:noFill/>
          <a:ln w="38100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3C24E7F8-5365-675E-50EC-A98EAABA9C7B}"/>
              </a:ext>
            </a:extLst>
          </p:cNvPr>
          <p:cNvSpPr/>
          <p:nvPr/>
        </p:nvSpPr>
        <p:spPr>
          <a:xfrm>
            <a:off x="6771798" y="4555331"/>
            <a:ext cx="875506" cy="451010"/>
          </a:xfrm>
          <a:prstGeom prst="ellipse">
            <a:avLst/>
          </a:prstGeom>
          <a:noFill/>
          <a:ln w="38100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3AA4B0E-5FA5-52E3-0C75-A92068ADCAEB}"/>
              </a:ext>
            </a:extLst>
          </p:cNvPr>
          <p:cNvSpPr/>
          <p:nvPr/>
        </p:nvSpPr>
        <p:spPr>
          <a:xfrm>
            <a:off x="6007736" y="4555331"/>
            <a:ext cx="764062" cy="21066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CCE1F8D-3BF8-CCBE-5BCF-92B583490737}"/>
              </a:ext>
            </a:extLst>
          </p:cNvPr>
          <p:cNvSpPr/>
          <p:nvPr/>
        </p:nvSpPr>
        <p:spPr>
          <a:xfrm>
            <a:off x="6872418" y="4555331"/>
            <a:ext cx="691150" cy="21113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1496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 animBg="1"/>
      <p:bldP spid="16" grpId="0" animBg="1"/>
      <p:bldP spid="17" grpId="0" animBg="1"/>
      <p:bldP spid="12" grpId="0" animBg="1"/>
      <p:bldP spid="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7567DF-1752-1085-FEDB-3AA596C8F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710" y="111752"/>
            <a:ext cx="10515600" cy="1325563"/>
          </a:xfrm>
        </p:spPr>
        <p:txBody>
          <a:bodyPr/>
          <a:lstStyle/>
          <a:p>
            <a:r>
              <a:rPr lang="en-US" altLang="zh-CN" dirty="0"/>
              <a:t>1.4.3 </a:t>
            </a:r>
            <a:r>
              <a:rPr lang="zh-CN" altLang="en-US" dirty="0"/>
              <a:t>复合逻辑运算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AE2832-7816-07DF-7AC8-6E83A1FF05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与或非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9C48262-9C41-F1AE-6A5D-C2AEA60BB4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8806" y="331152"/>
            <a:ext cx="3868293" cy="644715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8081AC3D-6063-C838-59C5-0159126BD88A}"/>
                  </a:ext>
                </a:extLst>
              </p:cNvPr>
              <p:cNvSpPr txBox="1"/>
              <p:nvPr/>
            </p:nvSpPr>
            <p:spPr>
              <a:xfrm>
                <a:off x="1021080" y="2602245"/>
                <a:ext cx="2472856" cy="4935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𝐴𝐵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𝐶𝐷</m:t>
                          </m:r>
                        </m:e>
                      </m:acc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8081AC3D-6063-C838-59C5-0159126BD8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1080" y="2602245"/>
                <a:ext cx="2472856" cy="4935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>
            <a:extLst>
              <a:ext uri="{FF2B5EF4-FFF2-40B4-BE49-F238E27FC236}">
                <a16:creationId xmlns:a16="http://schemas.microsoft.com/office/drawing/2014/main" id="{80BC5F1F-EB60-A4C2-802A-8AE169241EC6}"/>
              </a:ext>
            </a:extLst>
          </p:cNvPr>
          <p:cNvSpPr txBox="1"/>
          <p:nvPr/>
        </p:nvSpPr>
        <p:spPr>
          <a:xfrm>
            <a:off x="354329" y="3538003"/>
            <a:ext cx="434454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zh-CN" altLang="en-US" sz="2800" b="0" dirty="0">
                <a:latin typeface="楷体_GB2312" pitchFamily="49" charset="-122"/>
                <a:ea typeface="楷体_GB2312" pitchFamily="49" charset="-122"/>
              </a:rPr>
              <a:t>逻辑运算符的优先顺序：与  或   非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D53D218-0677-FF55-5110-14AA1701D490}"/>
              </a:ext>
            </a:extLst>
          </p:cNvPr>
          <p:cNvSpPr txBox="1"/>
          <p:nvPr/>
        </p:nvSpPr>
        <p:spPr>
          <a:xfrm>
            <a:off x="507871" y="4869903"/>
            <a:ext cx="36526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AB</a:t>
            </a:r>
            <a:r>
              <a:rPr lang="zh-CN" altLang="en-US" sz="3200" dirty="0"/>
              <a:t>同时为</a:t>
            </a:r>
            <a:r>
              <a:rPr lang="en-US" altLang="zh-CN" sz="3200" dirty="0"/>
              <a:t>1</a:t>
            </a:r>
            <a:r>
              <a:rPr lang="zh-CN" altLang="en-US" sz="3200" dirty="0"/>
              <a:t>或者</a:t>
            </a:r>
            <a:r>
              <a:rPr lang="en-US" altLang="zh-CN" sz="3200" dirty="0"/>
              <a:t>CD</a:t>
            </a:r>
            <a:r>
              <a:rPr lang="zh-CN" altLang="en-US" sz="3200" dirty="0"/>
              <a:t>同时为</a:t>
            </a:r>
            <a:r>
              <a:rPr lang="en-US" altLang="zh-CN" sz="3200" dirty="0"/>
              <a:t>1</a:t>
            </a:r>
            <a:r>
              <a:rPr lang="zh-CN" altLang="en-US" sz="3200" dirty="0"/>
              <a:t>，</a:t>
            </a:r>
            <a:r>
              <a:rPr lang="en-US" altLang="zh-CN" sz="3200" dirty="0"/>
              <a:t>Y</a:t>
            </a:r>
            <a:r>
              <a:rPr lang="zh-CN" altLang="en-US" sz="3200" dirty="0"/>
              <a:t>为</a:t>
            </a:r>
            <a:r>
              <a:rPr lang="en-US" altLang="zh-CN" sz="3200" dirty="0"/>
              <a:t>0</a:t>
            </a:r>
            <a:endParaRPr lang="zh-CN" altLang="en-US" sz="32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0071AAC-4B6F-71F1-5B8F-66B37C4AD7E0}"/>
              </a:ext>
            </a:extLst>
          </p:cNvPr>
          <p:cNvSpPr/>
          <p:nvPr/>
        </p:nvSpPr>
        <p:spPr>
          <a:xfrm>
            <a:off x="7429500" y="1894204"/>
            <a:ext cx="3394710" cy="368935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n w="28575">
                <a:solidFill>
                  <a:srgbClr val="FF0000"/>
                </a:solidFill>
                <a:prstDash val="dash"/>
              </a:ln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4E04332-1A83-7738-04CE-69BD7BD1D260}"/>
              </a:ext>
            </a:extLst>
          </p:cNvPr>
          <p:cNvSpPr/>
          <p:nvPr/>
        </p:nvSpPr>
        <p:spPr>
          <a:xfrm>
            <a:off x="7429500" y="3370261"/>
            <a:ext cx="3394710" cy="368935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n w="28575">
                <a:solidFill>
                  <a:srgbClr val="FF0000"/>
                </a:solidFill>
                <a:prstDash val="dash"/>
              </a:ln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43017CA-EBA7-81E8-96AE-20AF0A48D964}"/>
              </a:ext>
            </a:extLst>
          </p:cNvPr>
          <p:cNvSpPr/>
          <p:nvPr/>
        </p:nvSpPr>
        <p:spPr>
          <a:xfrm>
            <a:off x="7475220" y="4836477"/>
            <a:ext cx="3268980" cy="1701483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n w="28575">
                <a:solidFill>
                  <a:srgbClr val="FF0000"/>
                </a:solidFill>
                <a:prstDash val="dash"/>
              </a:ln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999FE2B2-92A4-E9E6-9FE4-508BFF4D6F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2123" y="4448562"/>
            <a:ext cx="2515080" cy="1904275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6E922CC8-9193-CE3D-3D97-8921C7128A26}"/>
              </a:ext>
            </a:extLst>
          </p:cNvPr>
          <p:cNvSpPr txBox="1"/>
          <p:nvPr/>
        </p:nvSpPr>
        <p:spPr>
          <a:xfrm>
            <a:off x="8513791" y="-103023"/>
            <a:ext cx="2388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真值表</a:t>
            </a:r>
          </a:p>
        </p:txBody>
      </p:sp>
    </p:spTree>
    <p:extLst>
      <p:ext uri="{BB962C8B-B14F-4D97-AF65-F5344CB8AC3E}">
        <p14:creationId xmlns:p14="http://schemas.microsoft.com/office/powerpoint/2010/main" val="2025943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 animBg="1"/>
      <p:bldP spid="12" grpId="0" animBg="1"/>
      <p:bldP spid="13" grpId="0" animBg="1"/>
      <p:bldP spid="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4A4A1E-D28A-AC11-95DA-BFD85B049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343" y="316230"/>
            <a:ext cx="10515600" cy="1325563"/>
          </a:xfrm>
        </p:spPr>
        <p:txBody>
          <a:bodyPr/>
          <a:lstStyle/>
          <a:p>
            <a:r>
              <a:rPr lang="en-US" altLang="zh-CN" dirty="0"/>
              <a:t>1.4.3 </a:t>
            </a:r>
            <a:r>
              <a:rPr lang="zh-CN" altLang="en-US" dirty="0"/>
              <a:t>复合逻辑运算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FCF23AF-1242-8F9D-35CE-999CAA61A4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4991100" cy="5032375"/>
              </a:xfrm>
            </p:spPr>
            <p:txBody>
              <a:bodyPr/>
              <a:lstStyle/>
              <a:p>
                <a:r>
                  <a:rPr lang="zh-CN" altLang="en-US" dirty="0"/>
                  <a:t>异或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 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⨁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     =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𝐴</m:t>
                    </m:r>
                    <m:acc>
                      <m:accPr>
                        <m:chr m:val="̅"/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AB</a:t>
                </a:r>
                <a:r>
                  <a:rPr lang="zh-CN" altLang="en-US" dirty="0"/>
                  <a:t>不同为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，相同为</a:t>
                </a:r>
                <a:r>
                  <a:rPr lang="en-US" altLang="zh-CN" dirty="0"/>
                  <a:t>0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FCF23AF-1242-8F9D-35CE-999CAA61A4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4991100" cy="5032375"/>
              </a:xfrm>
              <a:blipFill>
                <a:blip r:embed="rId2"/>
                <a:stretch>
                  <a:fillRect l="-2567" t="-21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95AE9AA9-E283-CEF7-E6B5-95812495DC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757295"/>
            <a:ext cx="2942857" cy="288571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F8CEA91-1A30-A02E-068A-1B5811B664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3143" y="4456815"/>
            <a:ext cx="2000000" cy="107619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>
                <a:extLst>
                  <a:ext uri="{FF2B5EF4-FFF2-40B4-BE49-F238E27FC236}">
                    <a16:creationId xmlns:a16="http://schemas.microsoft.com/office/drawing/2014/main" id="{76298198-E1EC-A14B-61A0-2CE1E6B21FA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48743" y="1641793"/>
                <a:ext cx="4991100" cy="503237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dirty="0"/>
                  <a:t>同或</a:t>
                </a:r>
                <a:endParaRPr lang="en-US" altLang="zh-CN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altLang="zh-CN" dirty="0"/>
                  <a:t> 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⨀</m:t>
                    </m:r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      =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𝐴𝐵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endParaRPr lang="en-US" altLang="zh-CN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altLang="zh-CN" dirty="0"/>
                  <a:t>AB</a:t>
                </a:r>
                <a:r>
                  <a:rPr lang="zh-CN" altLang="en-US" dirty="0"/>
                  <a:t>相同为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，不同为</a:t>
                </a:r>
                <a:r>
                  <a:rPr lang="en-US" altLang="zh-CN" dirty="0"/>
                  <a:t>0</a:t>
                </a:r>
              </a:p>
            </p:txBody>
          </p:sp>
        </mc:Choice>
        <mc:Fallback xmlns="">
          <p:sp>
            <p:nvSpPr>
              <p:cNvPr id="8" name="内容占位符 2">
                <a:extLst>
                  <a:ext uri="{FF2B5EF4-FFF2-40B4-BE49-F238E27FC236}">
                    <a16:creationId xmlns:a16="http://schemas.microsoft.com/office/drawing/2014/main" id="{76298198-E1EC-A14B-61A0-2CE1E6B21F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8743" y="1641793"/>
                <a:ext cx="4991100" cy="5032375"/>
              </a:xfrm>
              <a:prstGeom prst="rect">
                <a:avLst/>
              </a:prstGeom>
              <a:blipFill>
                <a:blip r:embed="rId5"/>
                <a:stretch>
                  <a:fillRect l="-2442" t="-21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图片 9">
            <a:extLst>
              <a:ext uri="{FF2B5EF4-FFF2-40B4-BE49-F238E27FC236}">
                <a16:creationId xmlns:a16="http://schemas.microsoft.com/office/drawing/2014/main" id="{B34E6AE4-94C9-4BF9-873D-53D8E64795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49729" y="4364670"/>
            <a:ext cx="2085714" cy="942857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32C1D0DA-28BC-DB5F-4428-F302129ACB2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8743" y="3654432"/>
            <a:ext cx="3142857" cy="294285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E283EA56-334A-F84A-18CE-9DDF857A626F}"/>
              </a:ext>
            </a:extLst>
          </p:cNvPr>
          <p:cNvSpPr txBox="1"/>
          <p:nvPr/>
        </p:nvSpPr>
        <p:spPr>
          <a:xfrm>
            <a:off x="3990972" y="5765340"/>
            <a:ext cx="21980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异或和同或是什么关系？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D1A090E-6596-E742-59B9-ABE991F2C43C}"/>
              </a:ext>
            </a:extLst>
          </p:cNvPr>
          <p:cNvSpPr txBox="1"/>
          <p:nvPr/>
        </p:nvSpPr>
        <p:spPr>
          <a:xfrm>
            <a:off x="3333750" y="1874128"/>
            <a:ext cx="210646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异或：等同于相加取模 </a:t>
            </a:r>
            <a:r>
              <a:rPr lang="en-US" altLang="zh-CN" sz="2400" dirty="0"/>
              <a:t>2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987462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923975-9334-EB79-30EF-9030AEFEB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1.4.4 </a:t>
            </a:r>
            <a:r>
              <a:rPr lang="zh-CN" altLang="en-US" dirty="0"/>
              <a:t>逻辑代数的基本公式和常用公式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83C7D1-27E1-B17D-34E1-40FAA3DD17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/>
              <a:t>基本公式</a:t>
            </a:r>
            <a:endParaRPr lang="en-US" altLang="zh-CN" sz="3200" dirty="0"/>
          </a:p>
          <a:p>
            <a:pPr lvl="1"/>
            <a:r>
              <a:rPr lang="en-US" altLang="zh-CN" sz="2800" dirty="0"/>
              <a:t>01</a:t>
            </a:r>
            <a:r>
              <a:rPr lang="zh-CN" altLang="en-US" sz="2800" dirty="0"/>
              <a:t>律</a:t>
            </a:r>
            <a:endParaRPr lang="en-US" altLang="zh-CN" sz="2800" dirty="0"/>
          </a:p>
          <a:p>
            <a:pPr lvl="1"/>
            <a:endParaRPr lang="en-US" altLang="zh-CN" sz="2800" dirty="0"/>
          </a:p>
          <a:p>
            <a:pPr lvl="1"/>
            <a:endParaRPr lang="en-US" altLang="zh-CN" sz="2800" dirty="0"/>
          </a:p>
          <a:p>
            <a:pPr lvl="1"/>
            <a:endParaRPr lang="en-US" altLang="zh-CN" sz="2800" dirty="0"/>
          </a:p>
          <a:p>
            <a:pPr lvl="1"/>
            <a:r>
              <a:rPr lang="zh-CN" altLang="en-US" sz="2800" dirty="0"/>
              <a:t>重叠律</a:t>
            </a:r>
          </a:p>
        </p:txBody>
      </p:sp>
      <p:grpSp>
        <p:nvGrpSpPr>
          <p:cNvPr id="11" name="Group 28">
            <a:extLst>
              <a:ext uri="{FF2B5EF4-FFF2-40B4-BE49-F238E27FC236}">
                <a16:creationId xmlns:a16="http://schemas.microsoft.com/office/drawing/2014/main" id="{F336A807-E760-6450-69B3-36847C8157EA}"/>
              </a:ext>
            </a:extLst>
          </p:cNvPr>
          <p:cNvGrpSpPr>
            <a:grpSpLocks/>
          </p:cNvGrpSpPr>
          <p:nvPr/>
        </p:nvGrpSpPr>
        <p:grpSpPr bwMode="auto">
          <a:xfrm>
            <a:off x="7589520" y="2862739"/>
            <a:ext cx="1143000" cy="1066800"/>
            <a:chOff x="3648" y="3504"/>
            <a:chExt cx="720" cy="672"/>
          </a:xfrm>
        </p:grpSpPr>
        <p:sp>
          <p:nvSpPr>
            <p:cNvPr id="12" name="Rectangle 29">
              <a:extLst>
                <a:ext uri="{FF2B5EF4-FFF2-40B4-BE49-F238E27FC236}">
                  <a16:creationId xmlns:a16="http://schemas.microsoft.com/office/drawing/2014/main" id="{31C19CF9-11AF-28EA-469C-D83CA9D173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3504"/>
              <a:ext cx="720" cy="6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1809750" indent="-1809750" algn="l" eaLnBrk="0" hangingPunct="0">
                <a:lnSpc>
                  <a:spcPct val="120000"/>
                </a:lnSpc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2"/>
                </a:buBlip>
                <a:defRPr kumimoji="1" sz="32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l" eaLnBrk="0" hangingPunct="0">
                <a:lnSpc>
                  <a:spcPct val="120000"/>
                </a:lnSpc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l" eaLnBrk="0" hangingPunct="0">
                <a:lnSpc>
                  <a:spcPct val="120000"/>
                </a:lnSpc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l" eaLnBrk="0" hangingPunct="0">
                <a:lnSpc>
                  <a:spcPct val="120000"/>
                </a:lnSpc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l" eaLnBrk="0" hangingPunct="0">
                <a:lnSpc>
                  <a:spcPct val="120000"/>
                </a:lnSpc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r>
                <a:rPr lang="en-US" altLang="zh-CN" sz="2800" b="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A·A=</a:t>
              </a:r>
            </a:p>
            <a:p>
              <a:pPr eaLnBrk="1" hangingPunct="1">
                <a:buFont typeface="Wingdings" panose="05000000000000000000" pitchFamily="2" charset="2"/>
                <a:buNone/>
              </a:pPr>
              <a:r>
                <a:rPr lang="en-US" altLang="zh-CN" sz="2800" b="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A+A=</a:t>
              </a:r>
            </a:p>
          </p:txBody>
        </p:sp>
        <p:sp>
          <p:nvSpPr>
            <p:cNvPr id="13" name="Line 30">
              <a:extLst>
                <a:ext uri="{FF2B5EF4-FFF2-40B4-BE49-F238E27FC236}">
                  <a16:creationId xmlns:a16="http://schemas.microsoft.com/office/drawing/2014/main" id="{CE0BCA96-21D4-7279-6893-9064765B13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6" y="3576"/>
              <a:ext cx="14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Line 31">
              <a:extLst>
                <a:ext uri="{FF2B5EF4-FFF2-40B4-BE49-F238E27FC236}">
                  <a16:creationId xmlns:a16="http://schemas.microsoft.com/office/drawing/2014/main" id="{3E0D9C73-7B7C-07F6-AA47-B481C81549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08" y="3888"/>
              <a:ext cx="14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7" name="Rectangle 34">
            <a:extLst>
              <a:ext uri="{FF2B5EF4-FFF2-40B4-BE49-F238E27FC236}">
                <a16:creationId xmlns:a16="http://schemas.microsoft.com/office/drawing/2014/main" id="{E15FC63D-A231-0C14-0BF6-B4D460AE9E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5500" y="2795747"/>
            <a:ext cx="11430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1809750" indent="-1809750" algn="l" eaLnBrk="0" hangingPunct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kumimoji="1"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A·0=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A+1=</a:t>
            </a:r>
          </a:p>
        </p:txBody>
      </p:sp>
      <p:sp>
        <p:nvSpPr>
          <p:cNvPr id="20" name="Rectangle 37">
            <a:extLst>
              <a:ext uri="{FF2B5EF4-FFF2-40B4-BE49-F238E27FC236}">
                <a16:creationId xmlns:a16="http://schemas.microsoft.com/office/drawing/2014/main" id="{7E105D89-7A1D-E90F-8CB8-3A1617AFE5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4460" y="2782256"/>
            <a:ext cx="11430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1809750" indent="-1809750" algn="l" eaLnBrk="0" hangingPunct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kumimoji="1"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A·1=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A+0=</a:t>
            </a:r>
          </a:p>
        </p:txBody>
      </p:sp>
      <p:sp>
        <p:nvSpPr>
          <p:cNvPr id="22" name="Rectangle 45">
            <a:extLst>
              <a:ext uri="{FF2B5EF4-FFF2-40B4-BE49-F238E27FC236}">
                <a16:creationId xmlns:a16="http://schemas.microsoft.com/office/drawing/2014/main" id="{5C3679E2-B8BE-C48F-45CC-14C9FC8BBB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4534" y="4832669"/>
            <a:ext cx="38862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1809750" indent="-1809750" algn="l" eaLnBrk="0" hangingPunct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kumimoji="1"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A·A=              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A+A=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10D3B99-57C1-562B-DF5C-6C3FB5D77DC6}"/>
              </a:ext>
            </a:extLst>
          </p:cNvPr>
          <p:cNvSpPr txBox="1"/>
          <p:nvPr/>
        </p:nvSpPr>
        <p:spPr>
          <a:xfrm>
            <a:off x="4625500" y="4093529"/>
            <a:ext cx="28500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dirty="0"/>
              <a:t>交换律</a:t>
            </a:r>
          </a:p>
        </p:txBody>
      </p:sp>
      <p:sp>
        <p:nvSpPr>
          <p:cNvPr id="26" name="Rectangle 55">
            <a:extLst>
              <a:ext uri="{FF2B5EF4-FFF2-40B4-BE49-F238E27FC236}">
                <a16:creationId xmlns:a16="http://schemas.microsoft.com/office/drawing/2014/main" id="{BEB8C037-2778-7731-1D79-E9E294F955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0519" y="4847731"/>
            <a:ext cx="12192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1809750" indent="-1809750" algn="l" eaLnBrk="0" hangingPunct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kumimoji="1"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A·B=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A+B=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836C6E5F-5704-BBBB-AC7A-AD0DDC456C5A}"/>
              </a:ext>
            </a:extLst>
          </p:cNvPr>
          <p:cNvSpPr txBox="1"/>
          <p:nvPr/>
        </p:nvSpPr>
        <p:spPr>
          <a:xfrm>
            <a:off x="7814470" y="4106388"/>
            <a:ext cx="28500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dirty="0"/>
              <a:t>结合律</a:t>
            </a:r>
          </a:p>
        </p:txBody>
      </p:sp>
      <p:sp>
        <p:nvSpPr>
          <p:cNvPr id="29" name="Rectangle 57">
            <a:extLst>
              <a:ext uri="{FF2B5EF4-FFF2-40B4-BE49-F238E27FC236}">
                <a16:creationId xmlns:a16="http://schemas.microsoft.com/office/drawing/2014/main" id="{C0317A99-F149-92EC-AD41-56C3C5656E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5489" y="4742640"/>
            <a:ext cx="30480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1809750" indent="-1809750" algn="l" eaLnBrk="0" hangingPunct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kumimoji="1"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(A·B)·C =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(A+B)+C=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6B2E9332-EBD7-6C60-79C7-96149CA99622}"/>
              </a:ext>
            </a:extLst>
          </p:cNvPr>
          <p:cNvSpPr txBox="1"/>
          <p:nvPr/>
        </p:nvSpPr>
        <p:spPr>
          <a:xfrm>
            <a:off x="7105810" y="2196083"/>
            <a:ext cx="28500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dirty="0"/>
              <a:t>互补律</a:t>
            </a:r>
          </a:p>
        </p:txBody>
      </p:sp>
    </p:spTree>
    <p:extLst>
      <p:ext uri="{BB962C8B-B14F-4D97-AF65-F5344CB8AC3E}">
        <p14:creationId xmlns:p14="http://schemas.microsoft.com/office/powerpoint/2010/main" val="13526688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0ECA63-C3AA-A24C-2F2B-C845D6E59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1.4.4 </a:t>
            </a:r>
            <a:r>
              <a:rPr lang="zh-CN" altLang="en-US" dirty="0"/>
              <a:t>逻辑代数的基本公式和常用公式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C713F8D-C439-E9F9-D7BC-A12227385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797540" cy="5032375"/>
          </a:xfrm>
        </p:spPr>
        <p:txBody>
          <a:bodyPr>
            <a:normAutofit/>
          </a:bodyPr>
          <a:lstStyle/>
          <a:p>
            <a:r>
              <a:rPr lang="zh-CN" altLang="en-US" sz="3200" dirty="0"/>
              <a:t>基本公式</a:t>
            </a:r>
            <a:endParaRPr lang="en-US" altLang="zh-CN" sz="3200" dirty="0"/>
          </a:p>
          <a:p>
            <a:pPr lvl="1"/>
            <a:r>
              <a:rPr lang="zh-CN" altLang="en-US" sz="2800" dirty="0"/>
              <a:t>分配律</a:t>
            </a:r>
            <a:endParaRPr lang="en-US" altLang="zh-CN" sz="2800" dirty="0"/>
          </a:p>
          <a:p>
            <a:pPr lvl="1"/>
            <a:endParaRPr lang="en-US" altLang="zh-CN" sz="2800" dirty="0"/>
          </a:p>
          <a:p>
            <a:pPr lvl="1"/>
            <a:endParaRPr lang="en-US" altLang="zh-CN" sz="2800" dirty="0"/>
          </a:p>
          <a:p>
            <a:pPr lvl="1"/>
            <a:endParaRPr lang="en-US" altLang="zh-CN" sz="2800" dirty="0"/>
          </a:p>
          <a:p>
            <a:pPr lvl="1"/>
            <a:r>
              <a:rPr lang="zh-CN" altLang="en-US" sz="2800" dirty="0"/>
              <a:t>摩根定理</a:t>
            </a:r>
            <a:endParaRPr lang="en-US" altLang="zh-CN" sz="2800" dirty="0"/>
          </a:p>
          <a:p>
            <a:pPr lvl="1"/>
            <a:endParaRPr lang="en-US" altLang="zh-CN" sz="2800" dirty="0"/>
          </a:p>
          <a:p>
            <a:pPr lvl="1"/>
            <a:endParaRPr lang="en-US" altLang="zh-CN" sz="2800" dirty="0"/>
          </a:p>
          <a:p>
            <a:pPr marL="457200" lvl="1" indent="0">
              <a:buNone/>
            </a:pPr>
            <a:endParaRPr lang="en-US" altLang="zh-CN" sz="2800" dirty="0"/>
          </a:p>
          <a:p>
            <a:pPr lvl="1"/>
            <a:r>
              <a:rPr lang="zh-CN" altLang="en-US" sz="2800" dirty="0"/>
              <a:t>双重否定律</a:t>
            </a:r>
            <a:endParaRPr lang="en-US" altLang="zh-CN" sz="2800" dirty="0"/>
          </a:p>
          <a:p>
            <a:pPr lvl="1"/>
            <a:endParaRPr lang="en-US" altLang="zh-CN" sz="2800" dirty="0"/>
          </a:p>
          <a:p>
            <a:pPr lvl="1"/>
            <a:endParaRPr lang="en-US" altLang="zh-CN" sz="2800" dirty="0"/>
          </a:p>
          <a:p>
            <a:pPr lvl="1"/>
            <a:endParaRPr lang="en-US" altLang="zh-CN" sz="2800" dirty="0"/>
          </a:p>
          <a:p>
            <a:pPr marL="457200" lvl="1" indent="0">
              <a:buNone/>
            </a:pPr>
            <a:endParaRPr lang="zh-CN" altLang="en-US" sz="2800" dirty="0"/>
          </a:p>
        </p:txBody>
      </p:sp>
      <p:sp>
        <p:nvSpPr>
          <p:cNvPr id="7" name="Rectangle 28">
            <a:extLst>
              <a:ext uri="{FF2B5EF4-FFF2-40B4-BE49-F238E27FC236}">
                <a16:creationId xmlns:a16="http://schemas.microsoft.com/office/drawing/2014/main" id="{8927C299-03AF-EA9A-8146-BF3B0C6F1C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7198" y="2769612"/>
            <a:ext cx="38100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1809750" indent="-1809750" algn="l" eaLnBrk="0" hangingPunct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kumimoji="1"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A·(B+C)=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A+BC=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FFE9DED6-7AF8-50DC-5667-E0D269E3347A}"/>
                  </a:ext>
                </a:extLst>
              </p:cNvPr>
              <p:cNvSpPr txBox="1"/>
              <p:nvPr/>
            </p:nvSpPr>
            <p:spPr>
              <a:xfrm>
                <a:off x="3458413" y="3428265"/>
                <a:ext cx="249311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)(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FFE9DED6-7AF8-50DC-5667-E0D269E334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8413" y="3428265"/>
                <a:ext cx="2493118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FEA4AE38-A25B-7F4B-1DEF-5DAAC7179DE7}"/>
                  </a:ext>
                </a:extLst>
              </p:cNvPr>
              <p:cNvSpPr txBox="1"/>
              <p:nvPr/>
            </p:nvSpPr>
            <p:spPr>
              <a:xfrm>
                <a:off x="3787140" y="2862442"/>
                <a:ext cx="116570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𝐴𝐵</m:t>
                    </m:r>
                  </m:oMath>
                </a14:m>
                <a:r>
                  <a:rPr lang="en-US" altLang="zh-CN" sz="2800" dirty="0"/>
                  <a:t>+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zh-CN" sz="2800" dirty="0"/>
                  <a:t>C</a:t>
                </a:r>
                <a:endParaRPr lang="zh-CN" altLang="en-US" sz="2800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FEA4AE38-A25B-7F4B-1DEF-5DAAC7179D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7140" y="2862442"/>
                <a:ext cx="1165704" cy="430887"/>
              </a:xfrm>
              <a:prstGeom prst="rect">
                <a:avLst/>
              </a:prstGeom>
              <a:blipFill>
                <a:blip r:embed="rId4"/>
                <a:stretch>
                  <a:fillRect l="-524" t="-25714" r="-18325" b="-5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30">
                <a:extLst>
                  <a:ext uri="{FF2B5EF4-FFF2-40B4-BE49-F238E27FC236}">
                    <a16:creationId xmlns:a16="http://schemas.microsoft.com/office/drawing/2014/main" id="{BA4DC3E5-04E6-4627-A0ED-5F86D20953DF}"/>
                  </a:ext>
                </a:extLst>
              </p:cNvPr>
              <p:cNvSpPr txBox="1"/>
              <p:nvPr/>
            </p:nvSpPr>
            <p:spPr bwMode="auto">
              <a:xfrm>
                <a:off x="1755140" y="4668203"/>
                <a:ext cx="1524000" cy="13033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bar>
                                <m:barPr>
                                  <m:pos m:val="top"/>
                                  <m:ctrlPr>
                                    <a:rPr lang="zh-CN" altLang="en-US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zh-CN" altLang="en-US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zh-CN" altLang="en-US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zh-CN" altLang="en-US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bar>
                              <m:r>
                                <a:rPr lang="zh-CN" altLang="en-US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e>
                            <m:e>
                              <m:r>
                                <a:rPr lang="zh-CN" altLang="en-US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bar>
                                <m:barPr>
                                  <m:pos m:val="top"/>
                                  <m:ctrlPr>
                                    <a:rPr lang="zh-CN" altLang="en-US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zh-CN" altLang="en-US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zh-CN" altLang="en-US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zh-CN" altLang="en-US" sz="3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bar>
                              <m:r>
                                <a:rPr lang="zh-CN" altLang="en-US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12" name="Object 30">
                <a:extLst>
                  <a:ext uri="{FF2B5EF4-FFF2-40B4-BE49-F238E27FC236}">
                    <a16:creationId xmlns:a16="http://schemas.microsoft.com/office/drawing/2014/main" id="{BA4DC3E5-04E6-4627-A0ED-5F86D20953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55140" y="4668203"/>
                <a:ext cx="1524000" cy="1303338"/>
              </a:xfrm>
              <a:prstGeom prst="rect">
                <a:avLst/>
              </a:prstGeom>
              <a:blipFill>
                <a:blip r:embed="rId7"/>
                <a:stretch>
                  <a:fillRect r="-1200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2109C9B7-E8C3-CAED-C9A9-D842F34DC3E8}"/>
                  </a:ext>
                </a:extLst>
              </p:cNvPr>
              <p:cNvSpPr txBox="1"/>
              <p:nvPr/>
            </p:nvSpPr>
            <p:spPr>
              <a:xfrm>
                <a:off x="3560171" y="4848075"/>
                <a:ext cx="1144801" cy="4935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zh-CN" altLang="en-US" sz="32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zh-CN" altLang="en-US" sz="32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2109C9B7-E8C3-CAED-C9A9-D842F34DC3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0171" y="4848075"/>
                <a:ext cx="1144801" cy="49359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507A2DCB-62E8-F8D6-360E-B23553209C5E}"/>
                  </a:ext>
                </a:extLst>
              </p:cNvPr>
              <p:cNvSpPr txBox="1"/>
              <p:nvPr/>
            </p:nvSpPr>
            <p:spPr>
              <a:xfrm>
                <a:off x="3643527" y="5418124"/>
                <a:ext cx="954044" cy="4935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zh-CN" altLang="en-US" sz="32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zh-CN" altLang="en-US" sz="3200" i="1" smtClean="0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̅"/>
                          <m:ctrlPr>
                            <a:rPr lang="zh-CN" altLang="en-US" sz="32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507A2DCB-62E8-F8D6-360E-B23553209C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3527" y="5418124"/>
                <a:ext cx="954044" cy="49359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CF4AC1FC-2A5E-FCBE-99B0-A0BCB860B855}"/>
                  </a:ext>
                </a:extLst>
              </p:cNvPr>
              <p:cNvSpPr txBox="1"/>
              <p:nvPr/>
            </p:nvSpPr>
            <p:spPr>
              <a:xfrm>
                <a:off x="3786243" y="5988173"/>
                <a:ext cx="1166601" cy="6730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US" altLang="zh-CN" sz="3200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bar>
                            <m:barPr>
                              <m:pos m:val="top"/>
                              <m:ctrlPr>
                                <a:rPr lang="en-US" altLang="zh-CN" sz="3200" i="1" smtClean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</m:bar>
                        </m:e>
                      </m:ba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CF4AC1FC-2A5E-FCBE-99B0-A0BCB860B8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6243" y="5988173"/>
                <a:ext cx="1166601" cy="67300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14F6A9AE-F9D0-49DF-BD17-3FD0458D9D6D}"/>
              </a:ext>
            </a:extLst>
          </p:cNvPr>
          <p:cNvSpPr txBox="1"/>
          <p:nvPr/>
        </p:nvSpPr>
        <p:spPr>
          <a:xfrm>
            <a:off x="4952844" y="4937719"/>
            <a:ext cx="68164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从一个视角看到的聚合关系，从其对立的视角看则是一种分散关系。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00375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3" grpId="0"/>
      <p:bldP spid="14" grpId="0"/>
      <p:bldP spid="15" grpId="0"/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FC2EE5-16F4-4F24-5253-75B8A574D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1.4.4 </a:t>
            </a:r>
            <a:r>
              <a:rPr lang="zh-CN" altLang="en-US" dirty="0"/>
              <a:t>逻辑代数的基本公式和常用公式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7A9506-A1AA-6996-E71F-AA6A828694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750" y="1644016"/>
            <a:ext cx="10515600" cy="4351338"/>
          </a:xfrm>
        </p:spPr>
        <p:txBody>
          <a:bodyPr>
            <a:normAutofit/>
          </a:bodyPr>
          <a:lstStyle/>
          <a:p>
            <a:r>
              <a:rPr lang="zh-CN" altLang="en-US" sz="3200" dirty="0"/>
              <a:t>逻辑等式的证明</a:t>
            </a:r>
            <a:endParaRPr lang="en-US" altLang="zh-CN" sz="3200" dirty="0"/>
          </a:p>
          <a:p>
            <a:pPr lvl="1"/>
            <a:r>
              <a:rPr lang="zh-CN" altLang="en-US" sz="2800" dirty="0"/>
              <a:t>真值表法</a:t>
            </a:r>
          </a:p>
        </p:txBody>
      </p:sp>
      <p:pic>
        <p:nvPicPr>
          <p:cNvPr id="4" name="table">
            <a:extLst>
              <a:ext uri="{FF2B5EF4-FFF2-40B4-BE49-F238E27FC236}">
                <a16:creationId xmlns:a16="http://schemas.microsoft.com/office/drawing/2014/main" id="{90585C53-9AAF-7BB9-4269-47884B137D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6467" y="2514600"/>
            <a:ext cx="7273925" cy="41148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CEFB271C-2864-4952-F102-82CDDAD06DD5}"/>
              </a:ext>
            </a:extLst>
          </p:cNvPr>
          <p:cNvSpPr/>
          <p:nvPr/>
        </p:nvSpPr>
        <p:spPr>
          <a:xfrm>
            <a:off x="5888181" y="3103418"/>
            <a:ext cx="729789" cy="32835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BF2B849E-44C2-43E1-C565-9FE44413CD09}"/>
                  </a:ext>
                </a:extLst>
              </p:cNvPr>
              <p:cNvSpPr txBox="1"/>
              <p:nvPr/>
            </p:nvSpPr>
            <p:spPr>
              <a:xfrm>
                <a:off x="495300" y="2969579"/>
                <a:ext cx="407855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𝐵𝐶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)(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BF2B849E-44C2-43E1-C565-9FE44413CD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" y="2969579"/>
                <a:ext cx="4078552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>
            <a:extLst>
              <a:ext uri="{FF2B5EF4-FFF2-40B4-BE49-F238E27FC236}">
                <a16:creationId xmlns:a16="http://schemas.microsoft.com/office/drawing/2014/main" id="{10DE7746-43DD-546F-BA2C-6CEF26762AF4}"/>
              </a:ext>
            </a:extLst>
          </p:cNvPr>
          <p:cNvSpPr/>
          <p:nvPr/>
        </p:nvSpPr>
        <p:spPr>
          <a:xfrm>
            <a:off x="6789420" y="3028850"/>
            <a:ext cx="960264" cy="33580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56B1C68-20A2-C949-168B-63A87A089C6D}"/>
              </a:ext>
            </a:extLst>
          </p:cNvPr>
          <p:cNvSpPr/>
          <p:nvPr/>
        </p:nvSpPr>
        <p:spPr>
          <a:xfrm>
            <a:off x="8027054" y="3028849"/>
            <a:ext cx="731270" cy="33580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9648973-16B3-7F38-FDF1-925439B3019E}"/>
              </a:ext>
            </a:extLst>
          </p:cNvPr>
          <p:cNvSpPr/>
          <p:nvPr/>
        </p:nvSpPr>
        <p:spPr>
          <a:xfrm>
            <a:off x="8964064" y="3003869"/>
            <a:ext cx="731270" cy="33580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3C62F4D-445D-2268-1AED-E0559691758F}"/>
              </a:ext>
            </a:extLst>
          </p:cNvPr>
          <p:cNvSpPr/>
          <p:nvPr/>
        </p:nvSpPr>
        <p:spPr>
          <a:xfrm>
            <a:off x="9877949" y="3003869"/>
            <a:ext cx="829738" cy="33830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5597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C427ED-C9D0-AFEB-1F2C-941F82792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1.4.4 </a:t>
            </a:r>
            <a:r>
              <a:rPr lang="zh-CN" altLang="en-US" dirty="0"/>
              <a:t>逻辑代数的基本公式和常用公式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97250A-8FAA-E8FA-6372-AE6CF1F013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逻辑等式的证明</a:t>
            </a:r>
            <a:endParaRPr lang="en-US" altLang="zh-CN" sz="2800" dirty="0"/>
          </a:p>
          <a:p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0">
                <a:extLst>
                  <a:ext uri="{FF2B5EF4-FFF2-40B4-BE49-F238E27FC236}">
                    <a16:creationId xmlns:a16="http://schemas.microsoft.com/office/drawing/2014/main" id="{4ACAA4B8-A9DD-8278-1761-10000D0B3BC4}"/>
                  </a:ext>
                </a:extLst>
              </p:cNvPr>
              <p:cNvSpPr txBox="1"/>
              <p:nvPr/>
            </p:nvSpPr>
            <p:spPr bwMode="auto">
              <a:xfrm>
                <a:off x="1543209" y="3546475"/>
                <a:ext cx="7794625" cy="5175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右式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)(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7" name="Object 0">
                <a:extLst>
                  <a:ext uri="{FF2B5EF4-FFF2-40B4-BE49-F238E27FC236}">
                    <a16:creationId xmlns:a16="http://schemas.microsoft.com/office/drawing/2014/main" id="{4ACAA4B8-A9DD-8278-1761-10000D0B3B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43209" y="3546475"/>
                <a:ext cx="7794625" cy="517525"/>
              </a:xfrm>
              <a:prstGeom prst="rect">
                <a:avLst/>
              </a:prstGeom>
              <a:blipFill>
                <a:blip r:embed="rId2"/>
                <a:stretch>
                  <a:fillRect l="-704" b="-470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1">
                <a:extLst>
                  <a:ext uri="{FF2B5EF4-FFF2-40B4-BE49-F238E27FC236}">
                    <a16:creationId xmlns:a16="http://schemas.microsoft.com/office/drawing/2014/main" id="{3F10920B-FD45-C9A8-D5C2-0E138DE7589B}"/>
                  </a:ext>
                </a:extLst>
              </p:cNvPr>
              <p:cNvSpPr txBox="1"/>
              <p:nvPr/>
            </p:nvSpPr>
            <p:spPr bwMode="auto">
              <a:xfrm>
                <a:off x="2322671" y="4060825"/>
                <a:ext cx="3292475" cy="4254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𝐴𝐶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𝐴𝐵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𝐵𝐶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8" name="Object 1">
                <a:extLst>
                  <a:ext uri="{FF2B5EF4-FFF2-40B4-BE49-F238E27FC236}">
                    <a16:creationId xmlns:a16="http://schemas.microsoft.com/office/drawing/2014/main" id="{3F10920B-FD45-C9A8-D5C2-0E138DE758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22671" y="4060825"/>
                <a:ext cx="3292475" cy="425450"/>
              </a:xfrm>
              <a:prstGeom prst="rect">
                <a:avLst/>
              </a:prstGeom>
              <a:blipFill>
                <a:blip r:embed="rId3"/>
                <a:stretch>
                  <a:fillRect b="-285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2">
                <a:extLst>
                  <a:ext uri="{FF2B5EF4-FFF2-40B4-BE49-F238E27FC236}">
                    <a16:creationId xmlns:a16="http://schemas.microsoft.com/office/drawing/2014/main" id="{094A799D-E760-B6D0-15F1-539AA36DEA46}"/>
                  </a:ext>
                </a:extLst>
              </p:cNvPr>
              <p:cNvSpPr txBox="1"/>
              <p:nvPr/>
            </p:nvSpPr>
            <p:spPr bwMode="auto">
              <a:xfrm>
                <a:off x="5440521" y="4069556"/>
                <a:ext cx="3211513" cy="4889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(1+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𝐵𝐶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9" name="Object 2">
                <a:extLst>
                  <a:ext uri="{FF2B5EF4-FFF2-40B4-BE49-F238E27FC236}">
                    <a16:creationId xmlns:a16="http://schemas.microsoft.com/office/drawing/2014/main" id="{094A799D-E760-B6D0-15F1-539AA36DE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40521" y="4069556"/>
                <a:ext cx="3211513" cy="488950"/>
              </a:xfrm>
              <a:prstGeom prst="rect">
                <a:avLst/>
              </a:prstGeom>
              <a:blipFill>
                <a:blip r:embed="rId4"/>
                <a:stretch>
                  <a:fillRect b="-1125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3">
                <a:extLst>
                  <a:ext uri="{FF2B5EF4-FFF2-40B4-BE49-F238E27FC236}">
                    <a16:creationId xmlns:a16="http://schemas.microsoft.com/office/drawing/2014/main" id="{46D5FF51-5BF2-BA7C-BA6A-A87A6E499A07}"/>
                  </a:ext>
                </a:extLst>
              </p:cNvPr>
              <p:cNvSpPr txBox="1"/>
              <p:nvPr/>
            </p:nvSpPr>
            <p:spPr bwMode="auto">
              <a:xfrm>
                <a:off x="2311559" y="4530725"/>
                <a:ext cx="2644775" cy="4873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𝐵𝐶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左式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0" name="Object 3">
                <a:extLst>
                  <a:ext uri="{FF2B5EF4-FFF2-40B4-BE49-F238E27FC236}">
                    <a16:creationId xmlns:a16="http://schemas.microsoft.com/office/drawing/2014/main" id="{46D5FF51-5BF2-BA7C-BA6A-A87A6E499A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11559" y="4530725"/>
                <a:ext cx="2644775" cy="487363"/>
              </a:xfrm>
              <a:prstGeom prst="rect">
                <a:avLst/>
              </a:prstGeom>
              <a:blipFill>
                <a:blip r:embed="rId5"/>
                <a:stretch>
                  <a:fillRect b="-750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27">
            <a:extLst>
              <a:ext uri="{FF2B5EF4-FFF2-40B4-BE49-F238E27FC236}">
                <a16:creationId xmlns:a16="http://schemas.microsoft.com/office/drawing/2014/main" id="{7F0B217D-5CFA-956B-E6E6-01AD22B94C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0634" y="2895600"/>
            <a:ext cx="50292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1809750" indent="-1809750" algn="l" eaLnBrk="0" hangingPunct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6"/>
              </a:buBlip>
              <a:defRPr kumimoji="1"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/>
              <a:t>公式法</a:t>
            </a:r>
            <a:r>
              <a:rPr lang="en-US" altLang="zh-CN" sz="2800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9F2A85B3-2E8B-3C79-AD7C-56947A3B6889}"/>
                  </a:ext>
                </a:extLst>
              </p:cNvPr>
              <p:cNvSpPr txBox="1"/>
              <p:nvPr/>
            </p:nvSpPr>
            <p:spPr>
              <a:xfrm>
                <a:off x="1158240" y="2422525"/>
                <a:ext cx="407855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𝐵𝐶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)(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9F2A85B3-2E8B-3C79-AD7C-56947A3B68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8240" y="2422525"/>
                <a:ext cx="4078552" cy="4308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4388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26791F-9469-051E-8E85-E3412D137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1.4.4 </a:t>
            </a:r>
            <a:r>
              <a:rPr lang="zh-CN" altLang="en-US" dirty="0"/>
              <a:t>逻辑代数的基本公式和常用公式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83D399-3D9F-A690-0F5A-E42199F18A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常用公式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3">
                <a:extLst>
                  <a:ext uri="{FF2B5EF4-FFF2-40B4-BE49-F238E27FC236}">
                    <a16:creationId xmlns:a16="http://schemas.microsoft.com/office/drawing/2014/main" id="{CC36BCC4-16F8-2503-1F89-C64CE47797BF}"/>
                  </a:ext>
                </a:extLst>
              </p:cNvPr>
              <p:cNvSpPr txBox="1"/>
              <p:nvPr/>
            </p:nvSpPr>
            <p:spPr bwMode="auto">
              <a:xfrm>
                <a:off x="3868103" y="1515745"/>
                <a:ext cx="2195512" cy="5032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𝐴𝐵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bar>
                        <m:barPr>
                          <m:pos m:val="top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4" name="Object 3">
                <a:extLst>
                  <a:ext uri="{FF2B5EF4-FFF2-40B4-BE49-F238E27FC236}">
                    <a16:creationId xmlns:a16="http://schemas.microsoft.com/office/drawing/2014/main" id="{CC36BCC4-16F8-2503-1F89-C64CE47797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68103" y="1515745"/>
                <a:ext cx="2195512" cy="5032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4">
                <a:extLst>
                  <a:ext uri="{FF2B5EF4-FFF2-40B4-BE49-F238E27FC236}">
                    <a16:creationId xmlns:a16="http://schemas.microsoft.com/office/drawing/2014/main" id="{4DA8B7E4-7B28-B9DB-7A5B-181763F5BCDB}"/>
                  </a:ext>
                </a:extLst>
              </p:cNvPr>
              <p:cNvSpPr txBox="1"/>
              <p:nvPr/>
            </p:nvSpPr>
            <p:spPr bwMode="auto">
              <a:xfrm>
                <a:off x="3955415" y="2333778"/>
                <a:ext cx="2025650" cy="431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𝐴𝐵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5" name="Object 4">
                <a:extLst>
                  <a:ext uri="{FF2B5EF4-FFF2-40B4-BE49-F238E27FC236}">
                    <a16:creationId xmlns:a16="http://schemas.microsoft.com/office/drawing/2014/main" id="{4DA8B7E4-7B28-B9DB-7A5B-181763F5BC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55415" y="2333778"/>
                <a:ext cx="2025650" cy="431800"/>
              </a:xfrm>
              <a:prstGeom prst="rect">
                <a:avLst/>
              </a:prstGeom>
              <a:blipFill>
                <a:blip r:embed="rId3"/>
                <a:stretch>
                  <a:fillRect l="-904" b="-140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5">
                <a:extLst>
                  <a:ext uri="{FF2B5EF4-FFF2-40B4-BE49-F238E27FC236}">
                    <a16:creationId xmlns:a16="http://schemas.microsoft.com/office/drawing/2014/main" id="{A969AC8B-D68E-E9EC-7FB0-B5E3973BA9D0}"/>
                  </a:ext>
                </a:extLst>
              </p:cNvPr>
              <p:cNvSpPr txBox="1"/>
              <p:nvPr/>
            </p:nvSpPr>
            <p:spPr bwMode="auto">
              <a:xfrm>
                <a:off x="3868103" y="2982606"/>
                <a:ext cx="2730500" cy="5476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6" name="Object 5">
                <a:extLst>
                  <a:ext uri="{FF2B5EF4-FFF2-40B4-BE49-F238E27FC236}">
                    <a16:creationId xmlns:a16="http://schemas.microsoft.com/office/drawing/2014/main" id="{A969AC8B-D68E-E9EC-7FB0-B5E3973BA9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68103" y="2982606"/>
                <a:ext cx="2730500" cy="54768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6">
                <a:extLst>
                  <a:ext uri="{FF2B5EF4-FFF2-40B4-BE49-F238E27FC236}">
                    <a16:creationId xmlns:a16="http://schemas.microsoft.com/office/drawing/2014/main" id="{ED06B327-3890-8F66-F857-1772EB9DBDDA}"/>
                  </a:ext>
                </a:extLst>
              </p:cNvPr>
              <p:cNvSpPr txBox="1"/>
              <p:nvPr/>
            </p:nvSpPr>
            <p:spPr bwMode="auto">
              <a:xfrm>
                <a:off x="3939540" y="3819208"/>
                <a:ext cx="4305300" cy="5476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𝐴𝐵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𝐵𝐶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7" name="Object 6">
                <a:extLst>
                  <a:ext uri="{FF2B5EF4-FFF2-40B4-BE49-F238E27FC236}">
                    <a16:creationId xmlns:a16="http://schemas.microsoft.com/office/drawing/2014/main" id="{ED06B327-3890-8F66-F857-1772EB9DBD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39540" y="3819208"/>
                <a:ext cx="4305300" cy="5476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7">
                <a:extLst>
                  <a:ext uri="{FF2B5EF4-FFF2-40B4-BE49-F238E27FC236}">
                    <a16:creationId xmlns:a16="http://schemas.microsoft.com/office/drawing/2014/main" id="{58F07A47-2DDB-AC3C-3D8D-D8A8C7FE4F8D}"/>
                  </a:ext>
                </a:extLst>
              </p:cNvPr>
              <p:cNvSpPr txBox="1"/>
              <p:nvPr/>
            </p:nvSpPr>
            <p:spPr bwMode="auto">
              <a:xfrm>
                <a:off x="5307965" y="4539933"/>
                <a:ext cx="4679950" cy="5270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𝐴𝐵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𝐵𝐶𝐷𝐸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8" name="Object 7">
                <a:extLst>
                  <a:ext uri="{FF2B5EF4-FFF2-40B4-BE49-F238E27FC236}">
                    <a16:creationId xmlns:a16="http://schemas.microsoft.com/office/drawing/2014/main" id="{58F07A47-2DDB-AC3C-3D8D-D8A8C7FE4F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07965" y="4539933"/>
                <a:ext cx="4679950" cy="52705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8">
                <a:extLst>
                  <a:ext uri="{FF2B5EF4-FFF2-40B4-BE49-F238E27FC236}">
                    <a16:creationId xmlns:a16="http://schemas.microsoft.com/office/drawing/2014/main" id="{F0579BA4-B0EF-CC52-3BC5-4A60FC815FE0}"/>
                  </a:ext>
                </a:extLst>
              </p:cNvPr>
              <p:cNvSpPr txBox="1"/>
              <p:nvPr/>
            </p:nvSpPr>
            <p:spPr bwMode="auto">
              <a:xfrm>
                <a:off x="3412490" y="5233940"/>
                <a:ext cx="3186113" cy="6191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zh-CN" altLang="en-US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𝐴𝐵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bar>
                            <m:barPr>
                              <m:pos m:val="top"/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ba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ba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9" name="Object 8">
                <a:extLst>
                  <a:ext uri="{FF2B5EF4-FFF2-40B4-BE49-F238E27FC236}">
                    <a16:creationId xmlns:a16="http://schemas.microsoft.com/office/drawing/2014/main" id="{F0579BA4-B0EF-CC52-3BC5-4A60FC815F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12490" y="5233940"/>
                <a:ext cx="3186113" cy="61912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9">
                <a:extLst>
                  <a:ext uri="{FF2B5EF4-FFF2-40B4-BE49-F238E27FC236}">
                    <a16:creationId xmlns:a16="http://schemas.microsoft.com/office/drawing/2014/main" id="{A933512B-FBCB-4F11-9A72-E8C0BCEFE65E}"/>
                  </a:ext>
                </a:extLst>
              </p:cNvPr>
              <p:cNvSpPr txBox="1"/>
              <p:nvPr/>
            </p:nvSpPr>
            <p:spPr bwMode="auto">
              <a:xfrm>
                <a:off x="4540250" y="6020023"/>
                <a:ext cx="3704590" cy="81787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zh-CN" alt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bar>
                            <m:barPr>
                              <m:pos m:val="top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ba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bar>
                            <m:barPr>
                              <m:pos m:val="top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ba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Object 9">
                <a:extLst>
                  <a:ext uri="{FF2B5EF4-FFF2-40B4-BE49-F238E27FC236}">
                    <a16:creationId xmlns:a16="http://schemas.microsoft.com/office/drawing/2014/main" id="{A933512B-FBCB-4F11-9A72-E8C0BCEFE6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40250" y="6020023"/>
                <a:ext cx="3704590" cy="81787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E09CEF54-AE20-C391-AA90-A0BCC7FB3D15}"/>
                  </a:ext>
                </a:extLst>
              </p:cNvPr>
              <p:cNvSpPr txBox="1"/>
              <p:nvPr/>
            </p:nvSpPr>
            <p:spPr>
              <a:xfrm>
                <a:off x="5378768" y="1582093"/>
                <a:ext cx="68484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E09CEF54-AE20-C391-AA90-A0BCC7FB3D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8768" y="1582093"/>
                <a:ext cx="684847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31CE2F6E-B916-657C-FD46-C9C89AEE0C73}"/>
                  </a:ext>
                </a:extLst>
              </p:cNvPr>
              <p:cNvSpPr txBox="1"/>
              <p:nvPr/>
            </p:nvSpPr>
            <p:spPr>
              <a:xfrm>
                <a:off x="5320665" y="2315993"/>
                <a:ext cx="68484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31CE2F6E-B916-657C-FD46-C9C89AEE0C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0665" y="2315993"/>
                <a:ext cx="684847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D8BA0A74-B073-BFDC-07AA-DF35E5CB2F8C}"/>
                  </a:ext>
                </a:extLst>
              </p:cNvPr>
              <p:cNvSpPr txBox="1"/>
              <p:nvPr/>
            </p:nvSpPr>
            <p:spPr>
              <a:xfrm>
                <a:off x="5233353" y="2991151"/>
                <a:ext cx="132207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D8BA0A74-B073-BFDC-07AA-DF35E5CB2F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3353" y="2991151"/>
                <a:ext cx="1322071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5">
                <a:extLst>
                  <a:ext uri="{FF2B5EF4-FFF2-40B4-BE49-F238E27FC236}">
                    <a16:creationId xmlns:a16="http://schemas.microsoft.com/office/drawing/2014/main" id="{949EBD5C-55A2-0B97-4E83-91773D1E0F72}"/>
                  </a:ext>
                </a:extLst>
              </p:cNvPr>
              <p:cNvSpPr txBox="1"/>
              <p:nvPr/>
            </p:nvSpPr>
            <p:spPr bwMode="auto">
              <a:xfrm>
                <a:off x="7273448" y="2997751"/>
                <a:ext cx="4305300" cy="73010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𝐴𝐵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6" name="Object 5">
                <a:extLst>
                  <a:ext uri="{FF2B5EF4-FFF2-40B4-BE49-F238E27FC236}">
                    <a16:creationId xmlns:a16="http://schemas.microsoft.com/office/drawing/2014/main" id="{949EBD5C-55A2-0B97-4E83-91773D1E0F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73448" y="2997751"/>
                <a:ext cx="4305300" cy="730103"/>
              </a:xfrm>
              <a:prstGeom prst="rect">
                <a:avLst/>
              </a:prstGeom>
              <a:blipFill>
                <a:blip r:embed="rId12"/>
                <a:stretch>
                  <a:fillRect l="-14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EF236281-20C7-F3B1-FA58-A850E74236FB}"/>
                  </a:ext>
                </a:extLst>
              </p:cNvPr>
              <p:cNvSpPr txBox="1"/>
              <p:nvPr/>
            </p:nvSpPr>
            <p:spPr>
              <a:xfrm>
                <a:off x="6297930" y="3827234"/>
                <a:ext cx="1598294" cy="5052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𝐴𝐵</m:t>
                      </m:r>
                      <m:r>
                        <a:rPr lang="zh-CN" alt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EF236281-20C7-F3B1-FA58-A850E74236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7930" y="3827234"/>
                <a:ext cx="1598294" cy="50520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4D857A9E-9F78-FA84-73BC-D8F4024AA370}"/>
                  </a:ext>
                </a:extLst>
              </p:cNvPr>
              <p:cNvSpPr txBox="1"/>
              <p:nvPr/>
            </p:nvSpPr>
            <p:spPr>
              <a:xfrm>
                <a:off x="6043929" y="6107021"/>
                <a:ext cx="2529521" cy="5739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zh-CN" alt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̅"/>
                          <m:ctrlP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𝐴𝐵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4D857A9E-9F78-FA84-73BC-D8F4024AA3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3929" y="6107021"/>
                <a:ext cx="2529521" cy="57394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23966620-DBB2-5F67-7398-F8B0C602FBC6}"/>
                  </a:ext>
                </a:extLst>
              </p:cNvPr>
              <p:cNvSpPr txBox="1"/>
              <p:nvPr/>
            </p:nvSpPr>
            <p:spPr>
              <a:xfrm>
                <a:off x="7896224" y="4556355"/>
                <a:ext cx="1607127" cy="5052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𝐴𝐵</m:t>
                      </m:r>
                      <m:r>
                        <a:rPr lang="zh-CN" alt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23966620-DBB2-5F67-7398-F8B0C602FB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6224" y="4556355"/>
                <a:ext cx="1607127" cy="505203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DADDB309-6C20-3783-3D6E-6FFEC4977599}"/>
                  </a:ext>
                </a:extLst>
              </p:cNvPr>
              <p:cNvSpPr txBox="1"/>
              <p:nvPr/>
            </p:nvSpPr>
            <p:spPr>
              <a:xfrm>
                <a:off x="5981065" y="5334400"/>
                <a:ext cx="6097904" cy="5052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bar>
                      <m:barPr>
                        <m:pos m:val="top"/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ba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bar>
                      <m:barPr>
                        <m:pos m:val="top"/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bar>
                  </m:oMath>
                </a14:m>
                <a:r>
                  <a:rPr lang="zh-CN" altLang="en-US" sz="2400" dirty="0"/>
                  <a:t>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bar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DADDB309-6C20-3783-3D6E-6FFEC49775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1065" y="5334400"/>
                <a:ext cx="6097904" cy="505203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5528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2" grpId="0"/>
      <p:bldP spid="13" grpId="0"/>
      <p:bldP spid="15" grpId="0"/>
      <p:bldP spid="16" grpId="0"/>
      <p:bldP spid="18" grpId="0"/>
      <p:bldP spid="21" grpId="0"/>
      <p:bldP spid="14" grpId="0"/>
      <p:bldP spid="1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3F7E6F-DEFA-DAB2-2809-052F2C67A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1.4.5 </a:t>
            </a:r>
            <a:r>
              <a:rPr lang="zh-CN" altLang="en-US" dirty="0"/>
              <a:t>逻辑函数的表示方法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3B90B8-C819-23DF-EB89-648DA38BF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9915"/>
            <a:ext cx="10214610" cy="4506595"/>
          </a:xfrm>
        </p:spPr>
        <p:txBody>
          <a:bodyPr/>
          <a:lstStyle/>
          <a:p>
            <a:r>
              <a:rPr lang="zh-CN" altLang="en-US" dirty="0"/>
              <a:t>表达式</a:t>
            </a:r>
            <a:endParaRPr lang="en-US" altLang="zh-CN" dirty="0"/>
          </a:p>
          <a:p>
            <a:pPr lvl="1"/>
            <a:r>
              <a:rPr lang="zh-CN" altLang="en-US" sz="2800" dirty="0"/>
              <a:t>将输入</a:t>
            </a:r>
            <a:r>
              <a:rPr lang="en-US" altLang="zh-CN" sz="2800" dirty="0"/>
              <a:t>/</a:t>
            </a:r>
            <a:r>
              <a:rPr lang="zh-CN" altLang="en-US" sz="2800" dirty="0"/>
              <a:t>输出之间的逻辑关系用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en-US" altLang="zh-CN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或</a:t>
            </a:r>
            <a:r>
              <a:rPr lang="en-US" altLang="zh-CN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非</a:t>
            </a:r>
            <a:r>
              <a:rPr lang="zh-CN" altLang="en-US" sz="2800" dirty="0"/>
              <a:t>的运算式表示就得到逻辑式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graphicFrame>
        <p:nvGraphicFramePr>
          <p:cNvPr id="4" name="Object 12">
            <a:extLst>
              <a:ext uri="{FF2B5EF4-FFF2-40B4-BE49-F238E27FC236}">
                <a16:creationId xmlns:a16="http://schemas.microsoft.com/office/drawing/2014/main" id="{99EC696A-A4B1-36E8-893C-318A382E871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3778" y="3597275"/>
          <a:ext cx="4875212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8" name="公式" r:id="rId3" imgW="2043813" imgH="215806" progId="Equation.3">
                  <p:embed/>
                </p:oleObj>
              </mc:Choice>
              <mc:Fallback>
                <p:oleObj name="公式" r:id="rId3" imgW="2043813" imgH="215806" progId="Equation.3">
                  <p:embed/>
                  <p:pic>
                    <p:nvPicPr>
                      <p:cNvPr id="4" name="Object 12">
                        <a:extLst>
                          <a:ext uri="{FF2B5EF4-FFF2-40B4-BE49-F238E27FC236}">
                            <a16:creationId xmlns:a16="http://schemas.microsoft.com/office/drawing/2014/main" id="{99EC696A-A4B1-36E8-893C-318A382E871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3778" y="3597275"/>
                        <a:ext cx="4875212" cy="515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99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86140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49FE46-FBC9-96C9-7879-9B6670D25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125" y="44769"/>
            <a:ext cx="10515600" cy="1325563"/>
          </a:xfrm>
        </p:spPr>
        <p:txBody>
          <a:bodyPr/>
          <a:lstStyle/>
          <a:p>
            <a:r>
              <a:rPr lang="en-US" altLang="zh-CN" dirty="0"/>
              <a:t>1.4.5 </a:t>
            </a:r>
            <a:r>
              <a:rPr lang="zh-CN" altLang="en-US" dirty="0"/>
              <a:t>逻辑函数的表示方法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E809DE-4176-A023-7428-56F0B299A4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9874" y="1403587"/>
            <a:ext cx="10515600" cy="4351338"/>
          </a:xfrm>
        </p:spPr>
        <p:txBody>
          <a:bodyPr>
            <a:normAutofit/>
          </a:bodyPr>
          <a:lstStyle/>
          <a:p>
            <a:r>
              <a:rPr lang="zh-CN" altLang="en-US" sz="3600" dirty="0"/>
              <a:t>真值表</a:t>
            </a:r>
          </a:p>
        </p:txBody>
      </p:sp>
      <p:graphicFrame>
        <p:nvGraphicFramePr>
          <p:cNvPr id="4" name="Object 24">
            <a:extLst>
              <a:ext uri="{FF2B5EF4-FFF2-40B4-BE49-F238E27FC236}">
                <a16:creationId xmlns:a16="http://schemas.microsoft.com/office/drawing/2014/main" id="{4A460D15-EB2D-B024-44F8-1278777DD2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30242" y="1568450"/>
          <a:ext cx="3063875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3" name="公式" r:id="rId3" imgW="1231366" imgH="177723" progId="Equation.3">
                  <p:embed/>
                </p:oleObj>
              </mc:Choice>
              <mc:Fallback>
                <p:oleObj name="公式" r:id="rId3" imgW="1231366" imgH="177723" progId="Equation.3">
                  <p:embed/>
                  <p:pic>
                    <p:nvPicPr>
                      <p:cNvPr id="4" name="Object 24">
                        <a:extLst>
                          <a:ext uri="{FF2B5EF4-FFF2-40B4-BE49-F238E27FC236}">
                            <a16:creationId xmlns:a16="http://schemas.microsoft.com/office/drawing/2014/main" id="{4A460D15-EB2D-B024-44F8-1278777DD29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0242" y="1568450"/>
                        <a:ext cx="3063875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26">
            <a:extLst>
              <a:ext uri="{FF2B5EF4-FFF2-40B4-BE49-F238E27FC236}">
                <a16:creationId xmlns:a16="http://schemas.microsoft.com/office/drawing/2014/main" id="{021C476C-3FA6-370B-218F-BBBE211E2D76}"/>
              </a:ext>
            </a:extLst>
          </p:cNvPr>
          <p:cNvGrpSpPr>
            <a:grpSpLocks/>
          </p:cNvGrpSpPr>
          <p:nvPr/>
        </p:nvGrpSpPr>
        <p:grpSpPr bwMode="auto">
          <a:xfrm>
            <a:off x="8955087" y="1495426"/>
            <a:ext cx="2814638" cy="4681537"/>
            <a:chOff x="3515" y="663"/>
            <a:chExt cx="1773" cy="2949"/>
          </a:xfrm>
        </p:grpSpPr>
        <p:sp>
          <p:nvSpPr>
            <p:cNvPr id="6" name="Rectangle 16">
              <a:extLst>
                <a:ext uri="{FF2B5EF4-FFF2-40B4-BE49-F238E27FC236}">
                  <a16:creationId xmlns:a16="http://schemas.microsoft.com/office/drawing/2014/main" id="{BBA49E38-799D-3334-EEC6-234F3501A1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6" y="663"/>
              <a:ext cx="1632" cy="29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1809750" indent="-1809750" algn="l" eaLnBrk="0" hangingPunct="0">
                <a:lnSpc>
                  <a:spcPct val="120000"/>
                </a:lnSpc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5"/>
                </a:buBlip>
                <a:defRPr kumimoji="1" sz="32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l" eaLnBrk="0" hangingPunct="0">
                <a:lnSpc>
                  <a:spcPct val="120000"/>
                </a:lnSpc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l" eaLnBrk="0" hangingPunct="0">
                <a:lnSpc>
                  <a:spcPct val="120000"/>
                </a:lnSpc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l" eaLnBrk="0" hangingPunct="0">
                <a:lnSpc>
                  <a:spcPct val="120000"/>
                </a:lnSpc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l" eaLnBrk="0" hangingPunct="0">
                <a:lnSpc>
                  <a:spcPct val="120000"/>
                </a:lnSpc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r>
                <a:rPr lang="en-US" altLang="zh-CN" sz="2400" b="0" dirty="0">
                  <a:latin typeface="Times New Roman" panose="02020603050405020304" pitchFamily="18" charset="0"/>
                </a:rPr>
                <a:t>A      B      C     Z</a:t>
              </a:r>
            </a:p>
            <a:p>
              <a:pPr eaLnBrk="1" hangingPunct="1">
                <a:buFont typeface="Wingdings" panose="05000000000000000000" pitchFamily="2" charset="2"/>
                <a:buNone/>
              </a:pPr>
              <a:r>
                <a:rPr lang="en-US" altLang="zh-CN" sz="2400" b="0" dirty="0">
                  <a:latin typeface="Times New Roman" panose="02020603050405020304" pitchFamily="18" charset="0"/>
                </a:rPr>
                <a:t>0       0       0      0</a:t>
              </a:r>
            </a:p>
            <a:p>
              <a:pPr eaLnBrk="1" hangingPunct="1">
                <a:buFont typeface="Wingdings" panose="05000000000000000000" pitchFamily="2" charset="2"/>
                <a:buNone/>
              </a:pPr>
              <a:r>
                <a:rPr lang="en-US" altLang="zh-CN" sz="2400" b="0" dirty="0">
                  <a:latin typeface="Times New Roman" panose="02020603050405020304" pitchFamily="18" charset="0"/>
                </a:rPr>
                <a:t>0       0       1      0</a:t>
              </a:r>
            </a:p>
            <a:p>
              <a:pPr eaLnBrk="1" hangingPunct="1">
                <a:buFont typeface="Wingdings" panose="05000000000000000000" pitchFamily="2" charset="2"/>
                <a:buNone/>
              </a:pPr>
              <a:r>
                <a:rPr lang="en-US" altLang="zh-CN" sz="2400" b="0" dirty="0">
                  <a:latin typeface="Times New Roman" panose="02020603050405020304" pitchFamily="18" charset="0"/>
                </a:rPr>
                <a:t>0       1       0      0</a:t>
              </a:r>
            </a:p>
            <a:p>
              <a:pPr eaLnBrk="1" hangingPunct="1">
                <a:buFont typeface="Wingdings" panose="05000000000000000000" pitchFamily="2" charset="2"/>
                <a:buNone/>
              </a:pPr>
              <a:r>
                <a:rPr lang="en-US" altLang="zh-CN" sz="2400" b="0" dirty="0">
                  <a:latin typeface="Times New Roman" panose="02020603050405020304" pitchFamily="18" charset="0"/>
                </a:rPr>
                <a:t>0       1       1      1</a:t>
              </a:r>
            </a:p>
            <a:p>
              <a:pPr eaLnBrk="1" hangingPunct="1">
                <a:buFont typeface="Wingdings" panose="05000000000000000000" pitchFamily="2" charset="2"/>
                <a:buNone/>
              </a:pPr>
              <a:r>
                <a:rPr lang="en-US" altLang="zh-CN" sz="2400" b="0" dirty="0">
                  <a:latin typeface="Times New Roman" panose="02020603050405020304" pitchFamily="18" charset="0"/>
                </a:rPr>
                <a:t>1       0       0      0</a:t>
              </a:r>
            </a:p>
            <a:p>
              <a:pPr eaLnBrk="1" hangingPunct="1">
                <a:buFont typeface="Wingdings" panose="05000000000000000000" pitchFamily="2" charset="2"/>
                <a:buNone/>
              </a:pPr>
              <a:r>
                <a:rPr lang="en-US" altLang="zh-CN" sz="2400" b="0" dirty="0">
                  <a:latin typeface="Times New Roman" panose="02020603050405020304" pitchFamily="18" charset="0"/>
                </a:rPr>
                <a:t>1       0       1      1</a:t>
              </a:r>
            </a:p>
            <a:p>
              <a:pPr eaLnBrk="1" hangingPunct="1">
                <a:buFont typeface="Wingdings" panose="05000000000000000000" pitchFamily="2" charset="2"/>
                <a:buNone/>
              </a:pPr>
              <a:r>
                <a:rPr lang="en-US" altLang="zh-CN" sz="2400" b="0" dirty="0">
                  <a:latin typeface="Times New Roman" panose="02020603050405020304" pitchFamily="18" charset="0"/>
                </a:rPr>
                <a:t>1       1       0      1</a:t>
              </a:r>
            </a:p>
            <a:p>
              <a:pPr eaLnBrk="1" hangingPunct="1">
                <a:buFont typeface="Wingdings" panose="05000000000000000000" pitchFamily="2" charset="2"/>
                <a:buNone/>
              </a:pPr>
              <a:r>
                <a:rPr lang="en-US" altLang="zh-CN" sz="2400" b="0" dirty="0">
                  <a:latin typeface="Times New Roman" panose="02020603050405020304" pitchFamily="18" charset="0"/>
                </a:rPr>
                <a:t>1       1       1      1</a:t>
              </a:r>
            </a:p>
          </p:txBody>
        </p:sp>
        <p:sp>
          <p:nvSpPr>
            <p:cNvPr id="7" name="Line 17">
              <a:extLst>
                <a:ext uri="{FF2B5EF4-FFF2-40B4-BE49-F238E27FC236}">
                  <a16:creationId xmlns:a16="http://schemas.microsoft.com/office/drawing/2014/main" id="{25735AE3-183F-31DB-CEC6-05B131A495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0" y="951"/>
              <a:ext cx="1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" name="Line 18">
              <a:extLst>
                <a:ext uri="{FF2B5EF4-FFF2-40B4-BE49-F238E27FC236}">
                  <a16:creationId xmlns:a16="http://schemas.microsoft.com/office/drawing/2014/main" id="{40512EB8-9C22-F5E9-D6E2-E99F072E95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8" y="759"/>
              <a:ext cx="0" cy="28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Line 25">
              <a:extLst>
                <a:ext uri="{FF2B5EF4-FFF2-40B4-BE49-F238E27FC236}">
                  <a16:creationId xmlns:a16="http://schemas.microsoft.com/office/drawing/2014/main" id="{10B5AED8-7384-F46C-5A31-41424F3506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15" y="3566"/>
              <a:ext cx="17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10" name="AutoShape 27">
            <a:extLst>
              <a:ext uri="{FF2B5EF4-FFF2-40B4-BE49-F238E27FC236}">
                <a16:creationId xmlns:a16="http://schemas.microsoft.com/office/drawing/2014/main" id="{CB96B2AD-89A3-0662-F7B3-FCE3F92E43BD}"/>
              </a:ext>
            </a:extLst>
          </p:cNvPr>
          <p:cNvSpPr>
            <a:spLocks noChangeArrowheads="1"/>
          </p:cNvSpPr>
          <p:nvPr/>
        </p:nvSpPr>
        <p:spPr bwMode="auto">
          <a:xfrm rot="1218578">
            <a:off x="7670693" y="2240745"/>
            <a:ext cx="1220195" cy="291116"/>
          </a:xfrm>
          <a:prstGeom prst="rightArrow">
            <a:avLst>
              <a:gd name="adj1" fmla="val 50000"/>
              <a:gd name="adj2" fmla="val 8104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 eaLnBrk="0" hangingPunct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5"/>
              </a:buBlip>
              <a:defRPr kumimoji="1"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endParaRPr kumimoji="0" lang="zh-CN" altLang="en-US" sz="2400" b="0">
              <a:latin typeface="Arial" panose="020B0604020202020204" pitchFamily="34" charset="0"/>
            </a:endParaRPr>
          </a:p>
        </p:txBody>
      </p:sp>
      <p:sp>
        <p:nvSpPr>
          <p:cNvPr id="11" name="AutoShape 28">
            <a:extLst>
              <a:ext uri="{FF2B5EF4-FFF2-40B4-BE49-F238E27FC236}">
                <a16:creationId xmlns:a16="http://schemas.microsoft.com/office/drawing/2014/main" id="{5D56AC9F-D994-980A-AABC-DC6531FC06D2}"/>
              </a:ext>
            </a:extLst>
          </p:cNvPr>
          <p:cNvSpPr>
            <a:spLocks noChangeArrowheads="1"/>
          </p:cNvSpPr>
          <p:nvPr/>
        </p:nvSpPr>
        <p:spPr bwMode="auto">
          <a:xfrm rot="20068115">
            <a:off x="7658455" y="5543396"/>
            <a:ext cx="1234750" cy="250848"/>
          </a:xfrm>
          <a:prstGeom prst="leftArrow">
            <a:avLst>
              <a:gd name="adj1" fmla="val 50000"/>
              <a:gd name="adj2" fmla="val 8722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l" eaLnBrk="0" hangingPunct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5"/>
              </a:buBlip>
              <a:defRPr kumimoji="1"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endParaRPr kumimoji="0" lang="zh-CN" altLang="en-US" sz="2400" b="0">
              <a:latin typeface="Arial" panose="020B0604020202020204" pitchFamily="34" charset="0"/>
            </a:endParaRPr>
          </a:p>
        </p:txBody>
      </p:sp>
      <p:graphicFrame>
        <p:nvGraphicFramePr>
          <p:cNvPr id="12" name="Object 30">
            <a:extLst>
              <a:ext uri="{FF2B5EF4-FFF2-40B4-BE49-F238E27FC236}">
                <a16:creationId xmlns:a16="http://schemas.microsoft.com/office/drawing/2014/main" id="{916896AD-6139-75EA-9A03-6312E8D5EB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78588" y="6302057"/>
          <a:ext cx="4875212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4" name="公式" r:id="rId6" imgW="2043813" imgH="215806" progId="Equation.3">
                  <p:embed/>
                </p:oleObj>
              </mc:Choice>
              <mc:Fallback>
                <p:oleObj name="公式" r:id="rId6" imgW="2043813" imgH="215806" progId="Equation.3">
                  <p:embed/>
                  <p:pic>
                    <p:nvPicPr>
                      <p:cNvPr id="12" name="Object 30">
                        <a:extLst>
                          <a:ext uri="{FF2B5EF4-FFF2-40B4-BE49-F238E27FC236}">
                            <a16:creationId xmlns:a16="http://schemas.microsoft.com/office/drawing/2014/main" id="{916896AD-6139-75EA-9A03-6312E8D5EBD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8588" y="6302057"/>
                        <a:ext cx="4875212" cy="515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99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2691" name="Group 3">
            <a:extLst>
              <a:ext uri="{FF2B5EF4-FFF2-40B4-BE49-F238E27FC236}">
                <a16:creationId xmlns:a16="http://schemas.microsoft.com/office/drawing/2014/main" id="{AE0BFF8A-09BE-B305-B06F-D77C2591779F}"/>
              </a:ext>
            </a:extLst>
          </p:cNvPr>
          <p:cNvGraphicFramePr>
            <a:graphicFrameLocks/>
          </p:cNvGraphicFramePr>
          <p:nvPr/>
        </p:nvGraphicFramePr>
        <p:xfrm>
          <a:off x="475481" y="2104707"/>
          <a:ext cx="5620519" cy="4261973"/>
        </p:xfrm>
        <a:graphic>
          <a:graphicData uri="http://schemas.openxmlformats.org/drawingml/2006/table">
            <a:tbl>
              <a:tblPr/>
              <a:tblGrid>
                <a:gridCol w="29377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28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4942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输入变量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A   B   C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····</a:t>
                      </a:r>
                    </a:p>
                  </a:txBody>
                  <a:tcPr marT="45721" marB="4572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输出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Z</a:t>
                      </a:r>
                      <a:r>
                        <a:rPr kumimoji="0" lang="en-US" altLang="zh-CN" sz="2800" b="0" i="1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1    </a:t>
                      </a:r>
                      <a:r>
                        <a:rPr kumimoji="0" lang="en-US" altLang="zh-CN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Z</a:t>
                      </a:r>
                      <a:r>
                        <a:rPr kumimoji="0" lang="en-US" altLang="zh-CN" sz="2800" b="0" i="1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2</a:t>
                      </a:r>
                      <a:r>
                        <a:rPr kumimoji="0" lang="en-US" altLang="zh-CN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 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····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174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遍历所有可能的输入变量的取值组合</a:t>
                      </a:r>
                    </a:p>
                  </a:txBody>
                  <a:tcPr marT="45721" marB="4572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输出对应的取值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469B9C5E-772D-132B-E66F-B0E6F944CE5B}"/>
              </a:ext>
            </a:extLst>
          </p:cNvPr>
          <p:cNvSpPr txBox="1"/>
          <p:nvPr/>
        </p:nvSpPr>
        <p:spPr>
          <a:xfrm>
            <a:off x="7188843" y="1054912"/>
            <a:ext cx="37471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表达式</a:t>
            </a:r>
            <a:r>
              <a:rPr lang="en-US" altLang="zh-CN" sz="2800" dirty="0"/>
              <a:t>==&gt;</a:t>
            </a:r>
            <a:r>
              <a:rPr lang="zh-CN" altLang="en-US" sz="2800" dirty="0"/>
              <a:t>真值表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3C5AE81-C64C-D7BA-32B1-5BFBEBE8C96C}"/>
              </a:ext>
            </a:extLst>
          </p:cNvPr>
          <p:cNvSpPr txBox="1"/>
          <p:nvPr/>
        </p:nvSpPr>
        <p:spPr>
          <a:xfrm>
            <a:off x="4764752" y="5843460"/>
            <a:ext cx="37471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真值表</a:t>
            </a:r>
            <a:r>
              <a:rPr lang="en-US" altLang="zh-CN" sz="2800" dirty="0"/>
              <a:t>==&gt;</a:t>
            </a:r>
            <a:r>
              <a:rPr lang="zh-CN" altLang="en-US" sz="2800" dirty="0"/>
              <a:t>表达式</a:t>
            </a:r>
          </a:p>
        </p:txBody>
      </p:sp>
    </p:spTree>
    <p:extLst>
      <p:ext uri="{BB962C8B-B14F-4D97-AF65-F5344CB8AC3E}">
        <p14:creationId xmlns:p14="http://schemas.microsoft.com/office/powerpoint/2010/main" val="4000189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3" grpId="0"/>
      <p:bldP spid="1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3">
            <a:extLst>
              <a:ext uri="{FF2B5EF4-FFF2-40B4-BE49-F238E27FC236}">
                <a16:creationId xmlns:a16="http://schemas.microsoft.com/office/drawing/2014/main" id="{9EA93DA5-2451-529E-653E-8F0FD88607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2493" y="388936"/>
            <a:ext cx="10104597" cy="590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6575" indent="-536575" algn="l" eaLnBrk="0" hangingPunct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dirty="0"/>
              <a:t>逻辑图：将表达式中的各变量之间的</a:t>
            </a:r>
            <a:r>
              <a:rPr lang="zh-CN" altLang="en-US" sz="2800" dirty="0">
                <a:solidFill>
                  <a:srgbClr val="FF0000"/>
                </a:solidFill>
              </a:rPr>
              <a:t>逻辑关系</a:t>
            </a:r>
            <a:r>
              <a:rPr lang="zh-CN" altLang="en-US" sz="2800" dirty="0"/>
              <a:t>用图形符号表示出来。与逻辑电路的实现相对应。</a:t>
            </a:r>
            <a:endParaRPr lang="en-US" altLang="zh-CN" sz="2800" dirty="0"/>
          </a:p>
          <a:p>
            <a:pPr marL="0" indent="0" eaLnBrk="1" hangingPunct="1">
              <a:buNone/>
            </a:pPr>
            <a:r>
              <a:rPr lang="zh-CN" altLang="en-US" sz="2800" dirty="0"/>
              <a:t>    逻辑图</a:t>
            </a:r>
            <a:r>
              <a:rPr lang="en-US" altLang="zh-CN" sz="2800" dirty="0">
                <a:latin typeface="Times New Roman" panose="02020603050405020304" pitchFamily="18" charset="0"/>
              </a:rPr>
              <a:t>—</a:t>
            </a:r>
            <a:r>
              <a:rPr lang="en-US" altLang="zh-CN" sz="2800" dirty="0"/>
              <a:t>&gt;</a:t>
            </a:r>
            <a:r>
              <a:rPr lang="zh-CN" altLang="en-US" sz="2800" dirty="0"/>
              <a:t>表达式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/>
              <a:t>	表达式</a:t>
            </a:r>
            <a:r>
              <a:rPr lang="en-US" altLang="zh-CN" sz="2800" dirty="0">
                <a:latin typeface="Times New Roman" panose="02020603050405020304" pitchFamily="18" charset="0"/>
              </a:rPr>
              <a:t>—</a:t>
            </a:r>
            <a:r>
              <a:rPr lang="en-US" altLang="zh-CN" sz="2800" dirty="0"/>
              <a:t>&gt;</a:t>
            </a:r>
            <a:r>
              <a:rPr lang="zh-CN" altLang="en-US" sz="2800" dirty="0"/>
              <a:t>逻辑图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/>
              <a:t>	 </a:t>
            </a:r>
            <a:r>
              <a:rPr lang="en-US" altLang="zh-CN" sz="2800" dirty="0">
                <a:solidFill>
                  <a:srgbClr val="05050B"/>
                </a:solidFill>
                <a:latin typeface="Times New Roman" panose="02020603050405020304" pitchFamily="18" charset="0"/>
              </a:rPr>
              <a:t>Z=AB+BC+AC</a:t>
            </a:r>
          </a:p>
        </p:txBody>
      </p:sp>
      <p:graphicFrame>
        <p:nvGraphicFramePr>
          <p:cNvPr id="20491" name="Object 11">
            <a:extLst>
              <a:ext uri="{FF2B5EF4-FFF2-40B4-BE49-F238E27FC236}">
                <a16:creationId xmlns:a16="http://schemas.microsoft.com/office/drawing/2014/main" id="{98D1F37F-FB40-0718-AF9B-93A8A16418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61214" y="1232694"/>
          <a:ext cx="2740025" cy="439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9" name="BMP 图象" r:id="rId4" imgW="1800476" imgH="2886478" progId="Paint.Picture">
                  <p:embed/>
                </p:oleObj>
              </mc:Choice>
              <mc:Fallback>
                <p:oleObj name="BMP 图象" r:id="rId4" imgW="1800476" imgH="2886478" progId="Paint.Picture">
                  <p:embed/>
                  <p:pic>
                    <p:nvPicPr>
                      <p:cNvPr id="20491" name="Object 11">
                        <a:extLst>
                          <a:ext uri="{FF2B5EF4-FFF2-40B4-BE49-F238E27FC236}">
                            <a16:creationId xmlns:a16="http://schemas.microsoft.com/office/drawing/2014/main" id="{98D1F37F-FB40-0718-AF9B-93A8A16418A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1214" y="1232694"/>
                        <a:ext cx="2740025" cy="4392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6" name="Object 16">
            <a:extLst>
              <a:ext uri="{FF2B5EF4-FFF2-40B4-BE49-F238E27FC236}">
                <a16:creationId xmlns:a16="http://schemas.microsoft.com/office/drawing/2014/main" id="{0956EDC3-295D-DA5A-D41F-4E2182AF22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71813" y="2205038"/>
          <a:ext cx="2559050" cy="696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0" name="公式" r:id="rId6" imgW="1028700" imgH="279400" progId="Equation.3">
                  <p:embed/>
                </p:oleObj>
              </mc:Choice>
              <mc:Fallback>
                <p:oleObj name="公式" r:id="rId6" imgW="1028700" imgH="279400" progId="Equation.3">
                  <p:embed/>
                  <p:pic>
                    <p:nvPicPr>
                      <p:cNvPr id="20496" name="Object 16">
                        <a:extLst>
                          <a:ext uri="{FF2B5EF4-FFF2-40B4-BE49-F238E27FC236}">
                            <a16:creationId xmlns:a16="http://schemas.microsoft.com/office/drawing/2014/main" id="{0956EDC3-295D-DA5A-D41F-4E2182AF22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813" y="2205038"/>
                        <a:ext cx="2559050" cy="696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7" name="Object 17">
            <a:extLst>
              <a:ext uri="{FF2B5EF4-FFF2-40B4-BE49-F238E27FC236}">
                <a16:creationId xmlns:a16="http://schemas.microsoft.com/office/drawing/2014/main" id="{9A8A2F18-CDCA-67FC-12F6-DDCFC919AD2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75050" y="2924176"/>
          <a:ext cx="2432050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1" name="公式" r:id="rId8" imgW="977476" imgH="203112" progId="Equation.3">
                  <p:embed/>
                </p:oleObj>
              </mc:Choice>
              <mc:Fallback>
                <p:oleObj name="公式" r:id="rId8" imgW="977476" imgH="203112" progId="Equation.3">
                  <p:embed/>
                  <p:pic>
                    <p:nvPicPr>
                      <p:cNvPr id="20497" name="Object 17">
                        <a:extLst>
                          <a:ext uri="{FF2B5EF4-FFF2-40B4-BE49-F238E27FC236}">
                            <a16:creationId xmlns:a16="http://schemas.microsoft.com/office/drawing/2014/main" id="{9A8A2F18-CDCA-67FC-12F6-DDCFC919AD2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5050" y="2924176"/>
                        <a:ext cx="2432050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8" name="Object 18">
            <a:extLst>
              <a:ext uri="{FF2B5EF4-FFF2-40B4-BE49-F238E27FC236}">
                <a16:creationId xmlns:a16="http://schemas.microsoft.com/office/drawing/2014/main" id="{3DE55243-DD63-6E46-ACB5-948114022F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75051" y="3500439"/>
          <a:ext cx="1808163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2" name="公式" r:id="rId10" imgW="736600" imgH="203200" progId="Equation.3">
                  <p:embed/>
                </p:oleObj>
              </mc:Choice>
              <mc:Fallback>
                <p:oleObj name="公式" r:id="rId10" imgW="736600" imgH="203200" progId="Equation.3">
                  <p:embed/>
                  <p:pic>
                    <p:nvPicPr>
                      <p:cNvPr id="20498" name="Object 18">
                        <a:extLst>
                          <a:ext uri="{FF2B5EF4-FFF2-40B4-BE49-F238E27FC236}">
                            <a16:creationId xmlns:a16="http://schemas.microsoft.com/office/drawing/2014/main" id="{3DE55243-DD63-6E46-ACB5-948114022FC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5051" y="3500439"/>
                        <a:ext cx="1808163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499" name="Picture 19">
            <a:extLst>
              <a:ext uri="{FF2B5EF4-FFF2-40B4-BE49-F238E27FC236}">
                <a16:creationId xmlns:a16="http://schemas.microsoft.com/office/drawing/2014/main" id="{4FD46AC1-E184-EB7A-DFF1-0304712C78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0463" y="3644901"/>
            <a:ext cx="4017962" cy="291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0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0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0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0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0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20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Rectangle 2">
            <a:extLst>
              <a:ext uri="{FF2B5EF4-FFF2-40B4-BE49-F238E27FC236}">
                <a16:creationId xmlns:a16="http://schemas.microsoft.com/office/drawing/2014/main" id="{4D0D2CB1-E572-0368-550B-3F109D773B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6690" y="246371"/>
            <a:ext cx="7931150" cy="6477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200" b="1" dirty="0"/>
              <a:t>最小项与真值表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54038" name="Group 86">
                <a:extLst>
                  <a:ext uri="{FF2B5EF4-FFF2-40B4-BE49-F238E27FC236}">
                    <a16:creationId xmlns:a16="http://schemas.microsoft.com/office/drawing/2014/main" id="{0798B051-B1F4-7C81-25DB-295A9EDE2286}"/>
                  </a:ext>
                </a:extLst>
              </p:cNvPr>
              <p:cNvGraphicFramePr>
                <a:graphicFrameLocks noGrp="1"/>
              </p:cNvGraphicFramePr>
              <p:nvPr>
                <p:ph sz="half" idx="2"/>
              </p:nvPr>
            </p:nvGraphicFramePr>
            <p:xfrm>
              <a:off x="5058786" y="894071"/>
              <a:ext cx="6840537" cy="5306703"/>
            </p:xfrm>
            <a:graphic>
              <a:graphicData uri="http://schemas.openxmlformats.org/drawingml/2006/table">
                <a:tbl>
                  <a:tblPr/>
                  <a:tblGrid>
                    <a:gridCol w="143986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15093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72878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52095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518223"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sz="28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sz="24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sz="20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zh-CN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rPr>
                            <a:t>最小项</a:t>
                          </a:r>
                        </a:p>
                      </a:txBody>
                      <a:tcPr marT="45726" marB="45726" horzOverflow="overflow">
                        <a:lnL cap="flat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cap="flat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sz="28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sz="24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sz="20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zh-CN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rPr>
                            <a:t>取值</a:t>
                          </a:r>
                        </a:p>
                      </a:txBody>
                      <a:tcPr marT="45726" marB="45726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cap="flat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sz="28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sz="24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sz="20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zh-CN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rPr>
                            <a:t>对应</a:t>
                          </a:r>
                        </a:p>
                      </a:txBody>
                      <a:tcPr marT="45726" marB="45726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cap="flat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sz="28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sz="24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sz="20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zh-CN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rPr>
                            <a:t>编号</a:t>
                          </a:r>
                        </a:p>
                      </a:txBody>
                      <a:tcPr marT="45726" marB="45726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cap="flat">
                          <a:noFill/>
                        </a:lnR>
                        <a:lnT cap="flat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18223"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sz="28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sz="24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sz="20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zh-CN" altLang="zh-CN" sz="28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>
                              <a:outerShdw blurRad="38100" dist="38100" dir="2700000" algn="tl">
                                <a:srgbClr val="C0C0C0"/>
                              </a:outerShdw>
                            </a:effectLst>
                            <a:latin typeface="Times New Roman" panose="02020603050405020304" pitchFamily="18" charset="0"/>
                            <a:ea typeface="楷体_GB2312" pitchFamily="49" charset="-122"/>
                          </a:endParaRPr>
                        </a:p>
                      </a:txBody>
                      <a:tcPr marT="45726" marB="45726" horzOverflow="overflow">
                        <a:lnL cap="flat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sz="28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sz="24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sz="20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800" b="0" i="1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rPr>
                            <a:t>A B C</a:t>
                          </a:r>
                        </a:p>
                      </a:txBody>
                      <a:tcPr marT="45726" marB="45726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sz="28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sz="24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sz="20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zh-CN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rPr>
                            <a:t>十进制数</a:t>
                          </a:r>
                        </a:p>
                      </a:txBody>
                      <a:tcPr marT="45726" marB="45726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sz="28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sz="24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sz="20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zh-CN" altLang="zh-CN" sz="28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>
                              <a:outerShdw blurRad="38100" dist="38100" dir="2700000" algn="tl">
                                <a:srgbClr val="C0C0C0"/>
                              </a:outerShdw>
                            </a:effectLst>
                            <a:latin typeface="Times New Roman" panose="02020603050405020304" pitchFamily="18" charset="0"/>
                            <a:ea typeface="楷体_GB2312" pitchFamily="49" charset="-122"/>
                          </a:endParaRPr>
                        </a:p>
                      </a:txBody>
                      <a:tcPr marT="45726" marB="45726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cap="flat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18223"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sz="28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sz="24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sz="20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zh-CN" altLang="en-US" sz="320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32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  <m:acc>
                                  <m:accPr>
                                    <m:chr m:val="̅"/>
                                    <m:ctrlPr>
                                      <a:rPr lang="zh-CN" altLang="en-US" sz="320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32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acc>
                                <m:acc>
                                  <m:accPr>
                                    <m:chr m:val="̅"/>
                                    <m:ctrlPr>
                                      <a:rPr lang="zh-CN" altLang="en-US" sz="32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32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zh-CN" altLang="en-US" sz="3200" dirty="0"/>
                        </a:p>
                      </a:txBody>
                      <a:tcPr marT="45726" marB="45726" horzOverflow="overflow">
                        <a:lnL cap="flat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sz="28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sz="24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sz="20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8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0 0 0</a:t>
                          </a:r>
                        </a:p>
                      </a:txBody>
                      <a:tcPr marT="45726" marB="45726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sz="28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sz="24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sz="20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rPr>
                            <a:t>0</a:t>
                          </a:r>
                        </a:p>
                      </a:txBody>
                      <a:tcPr marT="45726" marB="45726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sz="28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sz="24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sz="20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800" b="0" i="1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rPr>
                            <a:t>m</a:t>
                          </a:r>
                          <a:r>
                            <a:rPr kumimoji="0" lang="en-US" altLang="zh-CN" sz="2800" b="0" i="1" u="none" strike="noStrike" cap="none" normalizeH="0" baseline="-2500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rPr>
                            <a:t>0</a:t>
                          </a:r>
                        </a:p>
                      </a:txBody>
                      <a:tcPr marT="45726" marB="45726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cap="flat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18223"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sz="28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sz="24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sz="20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altLang="zh-CN" sz="2800" b="0" i="1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  <a:sym typeface="Microsoft Yahei" panose="020B0503020204020204" pitchFamily="34" charset="-122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2800" b="0" i="1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  <a:sym typeface="Microsoft Yahei" panose="020B0503020204020204" pitchFamily="34" charset="-122"/>
                                      </a:rPr>
                                      <m:t>𝐴</m:t>
                                    </m:r>
                                  </m:e>
                                </m:acc>
                                <m:acc>
                                  <m:accPr>
                                    <m:chr m:val="̅"/>
                                    <m:ctrlPr>
                                      <a:rPr lang="en-US" altLang="zh-CN" sz="2800" b="0" i="1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  <a:sym typeface="Microsoft Yahei" panose="020B0503020204020204" pitchFamily="34" charset="-122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2800" b="0" i="1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  <a:sym typeface="Microsoft Yahei" panose="020B0503020204020204" pitchFamily="34" charset="-122"/>
                                      </a:rPr>
                                      <m:t>𝐵</m:t>
                                    </m:r>
                                  </m:e>
                                </m:acc>
                                <m:r>
                                  <a:rPr lang="en-US" altLang="zh-CN" sz="2800" b="0" i="1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sym typeface="Microsoft Yahei" panose="020B0503020204020204" pitchFamily="34" charset="-122"/>
                                  </a:rPr>
                                  <m:t>𝐶</m:t>
                                </m:r>
                              </m:oMath>
                            </m:oMathPara>
                          </a14:m>
                          <a:endParaRPr kumimoji="0" lang="zh-CN" altLang="zh-CN" sz="28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楷体_GB2312" pitchFamily="49" charset="-122"/>
                          </a:endParaRPr>
                        </a:p>
                      </a:txBody>
                      <a:tcPr marT="45726" marB="45726" horzOverflow="overflow">
                        <a:lnL cap="flat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sz="28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sz="24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sz="20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8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0 0 1</a:t>
                          </a:r>
                        </a:p>
                      </a:txBody>
                      <a:tcPr marT="45726" marB="45726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sz="28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sz="24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sz="20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rPr>
                            <a:t>1</a:t>
                          </a:r>
                        </a:p>
                      </a:txBody>
                      <a:tcPr marT="45726" marB="45726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sz="28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sz="24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sz="20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800" b="0" i="1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rPr>
                            <a:t>m</a:t>
                          </a:r>
                          <a:r>
                            <a:rPr kumimoji="0" lang="en-US" altLang="zh-CN" sz="2800" b="0" i="1" u="none" strike="noStrike" cap="none" normalizeH="0" baseline="-2500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rPr>
                            <a:t>1</a:t>
                          </a:r>
                        </a:p>
                      </a:txBody>
                      <a:tcPr marT="45726" marB="45726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cap="flat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18223"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sz="28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sz="24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sz="20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altLang="zh-CN" sz="2800" b="0" i="1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  <a:sym typeface="Microsoft Yahei" panose="020B0503020204020204" pitchFamily="34" charset="-122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2800" b="0" i="1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  <a:sym typeface="Microsoft Yahei" panose="020B0503020204020204" pitchFamily="34" charset="-122"/>
                                      </a:rPr>
                                      <m:t>𝐴</m:t>
                                    </m:r>
                                  </m:e>
                                </m:acc>
                                <m:r>
                                  <a:rPr lang="en-US" altLang="zh-CN" sz="2800" b="0" i="1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sym typeface="Microsoft Yahei" panose="020B0503020204020204" pitchFamily="34" charset="-122"/>
                                  </a:rPr>
                                  <m:t>𝐵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zh-CN" sz="2800" b="0" i="1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  <a:sym typeface="Microsoft Yahei" panose="020B0503020204020204" pitchFamily="34" charset="-122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2800" b="0" i="1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  <a:sym typeface="Microsoft Yahei" panose="020B0503020204020204" pitchFamily="34" charset="-122"/>
                                      </a:rPr>
                                      <m:t>𝐶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kumimoji="0" lang="zh-CN" altLang="zh-CN" sz="28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楷体_GB2312" pitchFamily="49" charset="-122"/>
                          </a:endParaRPr>
                        </a:p>
                      </a:txBody>
                      <a:tcPr marT="45726" marB="45726" horzOverflow="overflow">
                        <a:lnL cap="flat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sz="28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sz="24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sz="20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8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0 1 0</a:t>
                          </a:r>
                        </a:p>
                      </a:txBody>
                      <a:tcPr marT="45726" marB="45726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sz="28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sz="24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sz="20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rPr>
                            <a:t>2</a:t>
                          </a:r>
                        </a:p>
                      </a:txBody>
                      <a:tcPr marT="45726" marB="45726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sz="28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sz="24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sz="20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800" b="0" i="1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rPr>
                            <a:t>m</a:t>
                          </a:r>
                          <a:r>
                            <a:rPr kumimoji="0" lang="en-US" altLang="zh-CN" sz="2800" b="0" i="1" u="none" strike="noStrike" cap="none" normalizeH="0" baseline="-2500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rPr>
                            <a:t>2</a:t>
                          </a:r>
                        </a:p>
                      </a:txBody>
                      <a:tcPr marT="45726" marB="45726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cap="flat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18223"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sz="28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sz="24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sz="20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zh-CN" altLang="en-US" sz="280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ba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𝐵𝐶</m:t>
                                </m:r>
                              </m:oMath>
                            </m:oMathPara>
                          </a14:m>
                          <a:endParaRPr kumimoji="0" lang="zh-CN" altLang="zh-CN" sz="28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>
                              <a:outerShdw blurRad="38100" dist="38100" dir="2700000" algn="tl">
                                <a:srgbClr val="C0C0C0"/>
                              </a:outerShdw>
                            </a:effectLst>
                            <a:latin typeface="Times New Roman" panose="02020603050405020304" pitchFamily="18" charset="0"/>
                            <a:ea typeface="楷体_GB2312" pitchFamily="49" charset="-122"/>
                          </a:endParaRPr>
                        </a:p>
                      </a:txBody>
                      <a:tcPr marT="45726" marB="45726" horzOverflow="overflow">
                        <a:lnL cap="flat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sz="28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sz="24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sz="20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8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0 1 1</a:t>
                          </a:r>
                        </a:p>
                      </a:txBody>
                      <a:tcPr marT="45726" marB="45726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sz="28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sz="24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sz="20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rPr>
                            <a:t>3</a:t>
                          </a:r>
                        </a:p>
                      </a:txBody>
                      <a:tcPr marT="45726" marB="45726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sz="28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sz="24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sz="20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800" b="0" i="1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rPr>
                            <a:t>m</a:t>
                          </a:r>
                          <a:r>
                            <a:rPr kumimoji="0" lang="en-US" altLang="zh-CN" sz="2800" b="0" i="1" u="none" strike="noStrike" cap="none" normalizeH="0" baseline="-2500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rPr>
                            <a:t>3</a:t>
                          </a:r>
                        </a:p>
                      </a:txBody>
                      <a:tcPr marT="45726" marB="45726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cap="flat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518223"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sz="28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FFFFFF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sz="24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FFFFFF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sz="20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FFFFFF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FFFFFF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FFFFFF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FFFFFF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FFFFFF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FFFFFF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FFFFFF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800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zh-CN" altLang="en-US" sz="280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28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acc>
                                <m:acc>
                                  <m:accPr>
                                    <m:chr m:val="̅"/>
                                    <m:ctrlPr>
                                      <a:rPr lang="zh-CN" altLang="en-US" sz="28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28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kumimoji="0" lang="zh-CN" altLang="zh-CN" sz="28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>
                              <a:outerShdw blurRad="38100" dist="38100" dir="2700000" algn="tl">
                                <a:srgbClr val="FFFFFF"/>
                              </a:outerShdw>
                            </a:effectLst>
                            <a:latin typeface="Times New Roman" panose="02020603050405020304" pitchFamily="18" charset="0"/>
                            <a:ea typeface="楷体_GB2312" pitchFamily="49" charset="-122"/>
                          </a:endParaRPr>
                        </a:p>
                      </a:txBody>
                      <a:tcPr marT="45726" marB="45726" horzOverflow="overflow">
                        <a:lnL cap="flat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sz="28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FFFFFF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sz="24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FFFFFF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sz="20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FFFFFF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FFFFFF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FFFFFF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FFFFFF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FFFFFF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FFFFFF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FFFFFF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FFFFFF"/>
                                </a:outerShdw>
                              </a:effectLst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1 0 0</a:t>
                          </a:r>
                        </a:p>
                      </a:txBody>
                      <a:tcPr marT="45726" marB="45726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sz="28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FFFFFF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sz="24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FFFFFF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sz="20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FFFFFF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FFFFFF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FFFFFF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FFFFFF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FFFFFF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FFFFFF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FFFFFF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FFFFFF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rPr>
                            <a:t>4</a:t>
                          </a:r>
                        </a:p>
                      </a:txBody>
                      <a:tcPr marT="45726" marB="45726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sz="28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FFFFFF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sz="24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FFFFFF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sz="20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FFFFFF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FFFFFF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FFFFFF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FFFFFF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FFFFFF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FFFFFF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FFFFFF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800" b="0" i="1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FFFFFF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rPr>
                            <a:t>m</a:t>
                          </a:r>
                          <a:r>
                            <a:rPr kumimoji="0" lang="en-US" altLang="zh-CN" sz="2800" b="0" i="1" u="none" strike="noStrike" cap="none" normalizeH="0" baseline="-2500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FFFFFF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rPr>
                            <a:t>4</a:t>
                          </a:r>
                        </a:p>
                      </a:txBody>
                      <a:tcPr marT="45726" marB="45726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cap="flat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518223"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sz="28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sz="24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sz="20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rPr>
                            <a:t>   </a:t>
                          </a:r>
                          <a:r>
                            <a:rPr kumimoji="0" lang="en-US" altLang="zh-CN" sz="2800" b="0" i="1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rPr>
                            <a:t>A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altLang="zh-CN" sz="2800" b="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  <a:sym typeface="Microsoft Yahei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800" b="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  <a:sym typeface="Microsoft Yahei" panose="020B0503020204020204" pitchFamily="34" charset="-122"/>
                                    </a:rPr>
                                    <m:t>𝐵</m:t>
                                  </m:r>
                                </m:e>
                              </m:acc>
                              <m:r>
                                <a:rPr lang="en-US" altLang="zh-CN" sz="28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  <m:t>𝐶</m:t>
                              </m:r>
                            </m:oMath>
                          </a14:m>
                          <a:endParaRPr kumimoji="0" lang="zh-CN" altLang="zh-CN" sz="2800" b="0" i="1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>
                              <a:outerShdw blurRad="38100" dist="38100" dir="2700000" algn="tl">
                                <a:srgbClr val="C0C0C0"/>
                              </a:outerShdw>
                            </a:effectLst>
                            <a:latin typeface="Times New Roman" panose="02020603050405020304" pitchFamily="18" charset="0"/>
                            <a:ea typeface="楷体_GB2312" pitchFamily="49" charset="-122"/>
                          </a:endParaRPr>
                        </a:p>
                      </a:txBody>
                      <a:tcPr marT="45726" marB="45726" horzOverflow="overflow">
                        <a:lnL cap="flat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sz="28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sz="24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sz="20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8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1 0 1</a:t>
                          </a:r>
                        </a:p>
                      </a:txBody>
                      <a:tcPr marT="45726" marB="45726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sz="28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sz="24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sz="20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rPr>
                            <a:t>5</a:t>
                          </a:r>
                        </a:p>
                      </a:txBody>
                      <a:tcPr marT="45726" marB="45726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sz="28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sz="24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sz="20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800" b="0" i="1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rPr>
                            <a:t>m</a:t>
                          </a:r>
                          <a:r>
                            <a:rPr kumimoji="0" lang="en-US" altLang="zh-CN" sz="2800" b="0" i="1" u="none" strike="noStrike" cap="none" normalizeH="0" baseline="-2500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rPr>
                            <a:t>5</a:t>
                          </a:r>
                        </a:p>
                      </a:txBody>
                      <a:tcPr marT="45726" marB="45726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cap="flat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518223"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sz="28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sz="24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sz="20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800" b="0" i="1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rPr>
                            <a:t>A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8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  <m:t>𝐵</m:t>
                              </m:r>
                              <m:acc>
                                <m:accPr>
                                  <m:chr m:val="̅"/>
                                  <m:ctrlPr>
                                    <a:rPr lang="en-US" altLang="zh-CN" sz="2800" b="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  <a:sym typeface="Microsoft Yahei" panose="020B0503020204020204" pitchFamily="34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800" b="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  <a:sym typeface="Microsoft Yahei" panose="020B0503020204020204" pitchFamily="34" charset="-122"/>
                                    </a:rPr>
                                    <m:t>𝐶</m:t>
                                  </m:r>
                                </m:e>
                              </m:acc>
                            </m:oMath>
                          </a14:m>
                          <a:endParaRPr kumimoji="0" lang="zh-CN" altLang="zh-CN" sz="28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>
                              <a:outerShdw blurRad="38100" dist="38100" dir="2700000" algn="tl">
                                <a:srgbClr val="C0C0C0"/>
                              </a:outerShdw>
                            </a:effectLst>
                            <a:latin typeface="Times New Roman" panose="02020603050405020304" pitchFamily="18" charset="0"/>
                            <a:ea typeface="楷体_GB2312" pitchFamily="49" charset="-122"/>
                          </a:endParaRPr>
                        </a:p>
                      </a:txBody>
                      <a:tcPr marT="45726" marB="45726" horzOverflow="overflow">
                        <a:lnL cap="flat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sz="28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sz="24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sz="20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8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1 1 0</a:t>
                          </a:r>
                        </a:p>
                      </a:txBody>
                      <a:tcPr marT="45726" marB="45726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sz="28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sz="24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sz="20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rPr>
                            <a:t>6</a:t>
                          </a:r>
                        </a:p>
                      </a:txBody>
                      <a:tcPr marT="45726" marB="45726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sz="28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sz="24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sz="20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800" b="0" i="1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rPr>
                            <a:t>m</a:t>
                          </a:r>
                          <a:r>
                            <a:rPr kumimoji="0" lang="en-US" altLang="zh-CN" sz="2800" b="0" i="1" u="none" strike="noStrike" cap="none" normalizeH="0" baseline="-2500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rPr>
                            <a:t>6</a:t>
                          </a:r>
                        </a:p>
                      </a:txBody>
                      <a:tcPr marT="45726" marB="45726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cap="flat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527114"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sz="28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sz="24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sz="20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800" b="0" i="1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rPr>
                            <a:t>A</a:t>
                          </a:r>
                          <a14:m>
                            <m:oMath xmlns:m="http://schemas.openxmlformats.org/officeDocument/2006/math">
                              <m:r>
                                <a:rPr lang="zh-CN" altLang="en-US" sz="28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𝐵𝐶</m:t>
                              </m:r>
                            </m:oMath>
                          </a14:m>
                          <a:endParaRPr kumimoji="0" lang="zh-CN" altLang="zh-CN" sz="2800" b="0" i="1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>
                              <a:outerShdw blurRad="38100" dist="38100" dir="2700000" algn="tl">
                                <a:srgbClr val="C0C0C0"/>
                              </a:outerShdw>
                            </a:effectLst>
                            <a:latin typeface="Times New Roman" panose="02020603050405020304" pitchFamily="18" charset="0"/>
                            <a:ea typeface="楷体_GB2312" pitchFamily="49" charset="-122"/>
                          </a:endParaRPr>
                        </a:p>
                      </a:txBody>
                      <a:tcPr marT="45726" marB="45726" horzOverflow="overflow">
                        <a:lnL cap="flat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cap="flat">
                          <a:noFill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sz="28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sz="24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sz="20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8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1 1 1</a:t>
                          </a:r>
                        </a:p>
                      </a:txBody>
                      <a:tcPr marT="45726" marB="45726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cap="flat">
                          <a:noFill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sz="28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sz="24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sz="20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rPr>
                            <a:t>7</a:t>
                          </a:r>
                        </a:p>
                      </a:txBody>
                      <a:tcPr marT="45726" marB="45726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cap="flat">
                          <a:noFill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sz="28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sz="24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sz="20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800" b="0" i="1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rPr>
                            <a:t>m</a:t>
                          </a:r>
                          <a:r>
                            <a:rPr kumimoji="0" lang="en-US" altLang="zh-CN" sz="2800" b="0" i="1" u="none" strike="noStrike" cap="none" normalizeH="0" baseline="-2500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rPr>
                            <a:t>7</a:t>
                          </a:r>
                        </a:p>
                      </a:txBody>
                      <a:tcPr marT="45726" marB="45726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cap="flat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cap="flat">
                          <a:noFill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54038" name="Group 86">
                <a:extLst>
                  <a:ext uri="{FF2B5EF4-FFF2-40B4-BE49-F238E27FC236}">
                    <a16:creationId xmlns:a16="http://schemas.microsoft.com/office/drawing/2014/main" id="{0798B051-B1F4-7C81-25DB-295A9EDE2286}"/>
                  </a:ext>
                </a:extLst>
              </p:cNvPr>
              <p:cNvGraphicFramePr>
                <a:graphicFrameLocks noGrp="1"/>
              </p:cNvGraphicFramePr>
              <p:nvPr>
                <p:ph sz="half" idx="2"/>
                <p:extLst>
                  <p:ext uri="{D42A27DB-BD31-4B8C-83A1-F6EECF244321}">
                    <p14:modId xmlns:p14="http://schemas.microsoft.com/office/powerpoint/2010/main" val="3056699188"/>
                  </p:ext>
                </p:extLst>
              </p:nvPr>
            </p:nvGraphicFramePr>
            <p:xfrm>
              <a:off x="5058786" y="894071"/>
              <a:ext cx="6840537" cy="5306703"/>
            </p:xfrm>
            <a:graphic>
              <a:graphicData uri="http://schemas.openxmlformats.org/drawingml/2006/table">
                <a:tbl>
                  <a:tblPr/>
                  <a:tblGrid>
                    <a:gridCol w="143986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15093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72878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52095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518223"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sz="28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sz="24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sz="20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zh-CN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rPr>
                            <a:t>最小项</a:t>
                          </a:r>
                        </a:p>
                      </a:txBody>
                      <a:tcPr marT="45726" marB="45726" horzOverflow="overflow">
                        <a:lnL cap="flat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cap="flat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sz="28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sz="24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sz="20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zh-CN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rPr>
                            <a:t>取值</a:t>
                          </a:r>
                        </a:p>
                      </a:txBody>
                      <a:tcPr marT="45726" marB="45726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cap="flat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sz="28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sz="24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sz="20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zh-CN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rPr>
                            <a:t>对应</a:t>
                          </a:r>
                        </a:p>
                      </a:txBody>
                      <a:tcPr marT="45726" marB="45726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cap="flat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sz="28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sz="24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sz="20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zh-CN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rPr>
                            <a:t>编号</a:t>
                          </a:r>
                        </a:p>
                      </a:txBody>
                      <a:tcPr marT="45726" marB="45726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cap="flat">
                          <a:noFill/>
                        </a:lnR>
                        <a:lnT cap="flat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18223"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sz="28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sz="24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sz="20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zh-CN" altLang="zh-CN" sz="28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>
                              <a:outerShdw blurRad="38100" dist="38100" dir="2700000" algn="tl">
                                <a:srgbClr val="C0C0C0"/>
                              </a:outerShdw>
                            </a:effectLst>
                            <a:latin typeface="Times New Roman" panose="02020603050405020304" pitchFamily="18" charset="0"/>
                            <a:ea typeface="楷体_GB2312" pitchFamily="49" charset="-122"/>
                          </a:endParaRPr>
                        </a:p>
                      </a:txBody>
                      <a:tcPr marT="45726" marB="45726" horzOverflow="overflow">
                        <a:lnL cap="flat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sz="28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sz="24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sz="20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800" b="0" i="1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rPr>
                            <a:t>A B C</a:t>
                          </a:r>
                        </a:p>
                      </a:txBody>
                      <a:tcPr marT="45726" marB="45726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sz="28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sz="24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sz="20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zh-CN" altLang="en-US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rPr>
                            <a:t>十进制数</a:t>
                          </a:r>
                        </a:p>
                      </a:txBody>
                      <a:tcPr marT="45726" marB="45726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sz="28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sz="24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sz="20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zh-CN" altLang="zh-CN" sz="2800" b="0" i="0" u="none" strike="noStrike" cap="none" normalizeH="0" baseline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>
                              <a:outerShdw blurRad="38100" dist="38100" dir="2700000" algn="tl">
                                <a:srgbClr val="C0C0C0"/>
                              </a:outerShdw>
                            </a:effectLst>
                            <a:latin typeface="Times New Roman" panose="02020603050405020304" pitchFamily="18" charset="0"/>
                            <a:ea typeface="楷体_GB2312" pitchFamily="49" charset="-122"/>
                          </a:endParaRPr>
                        </a:p>
                      </a:txBody>
                      <a:tcPr marT="45726" marB="45726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cap="flat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8027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T="45726" marB="45726" horzOverflow="overflow">
                        <a:lnL cap="flat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8898" t="-188542" r="-376695" b="-664583"/>
                          </a:stretch>
                        </a:blipFill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sz="28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sz="24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sz="20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8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0 0 0</a:t>
                          </a:r>
                        </a:p>
                      </a:txBody>
                      <a:tcPr marT="45726" marB="45726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sz="28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sz="24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sz="20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rPr>
                            <a:t>0</a:t>
                          </a:r>
                        </a:p>
                      </a:txBody>
                      <a:tcPr marT="45726" marB="45726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sz="28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sz="24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sz="20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800" b="0" i="1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rPr>
                            <a:t>m</a:t>
                          </a:r>
                          <a:r>
                            <a:rPr kumimoji="0" lang="en-US" altLang="zh-CN" sz="2800" b="0" i="1" u="none" strike="noStrike" cap="none" normalizeH="0" baseline="-2500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rPr>
                            <a:t>0</a:t>
                          </a:r>
                        </a:p>
                      </a:txBody>
                      <a:tcPr marT="45726" marB="45726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cap="flat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19061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T="45726" marB="45726" horzOverflow="overflow">
                        <a:lnL cap="flat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8898" t="-325882" r="-376695" b="-650588"/>
                          </a:stretch>
                        </a:blipFill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sz="28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sz="24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sz="20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8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0 0 1</a:t>
                          </a:r>
                        </a:p>
                      </a:txBody>
                      <a:tcPr marT="45726" marB="45726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sz="28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sz="24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sz="20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rPr>
                            <a:t>1</a:t>
                          </a:r>
                        </a:p>
                      </a:txBody>
                      <a:tcPr marT="45726" marB="45726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sz="28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sz="24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sz="20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800" b="0" i="1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rPr>
                            <a:t>m</a:t>
                          </a:r>
                          <a:r>
                            <a:rPr kumimoji="0" lang="en-US" altLang="zh-CN" sz="2800" b="0" i="1" u="none" strike="noStrike" cap="none" normalizeH="0" baseline="-2500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rPr>
                            <a:t>1</a:t>
                          </a:r>
                        </a:p>
                      </a:txBody>
                      <a:tcPr marT="45726" marB="45726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cap="flat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19061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T="45726" marB="45726" horzOverflow="overflow">
                        <a:lnL cap="flat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8898" t="-425882" r="-376695" b="-550588"/>
                          </a:stretch>
                        </a:blipFill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sz="28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sz="24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sz="20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8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0 1 0</a:t>
                          </a:r>
                        </a:p>
                      </a:txBody>
                      <a:tcPr marT="45726" marB="45726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sz="28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sz="24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sz="20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rPr>
                            <a:t>2</a:t>
                          </a:r>
                        </a:p>
                      </a:txBody>
                      <a:tcPr marT="45726" marB="45726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sz="28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sz="24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sz="20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800" b="0" i="1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rPr>
                            <a:t>m</a:t>
                          </a:r>
                          <a:r>
                            <a:rPr kumimoji="0" lang="en-US" altLang="zh-CN" sz="2800" b="0" i="1" u="none" strike="noStrike" cap="none" normalizeH="0" baseline="-2500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rPr>
                            <a:t>2</a:t>
                          </a:r>
                        </a:p>
                      </a:txBody>
                      <a:tcPr marT="45726" marB="45726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cap="flat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68401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T="45726" marB="45726" horzOverflow="overflow">
                        <a:lnL cap="flat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8898" t="-475532" r="-376695" b="-397872"/>
                          </a:stretch>
                        </a:blipFill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sz="28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sz="24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sz="20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8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0 1 1</a:t>
                          </a:r>
                        </a:p>
                      </a:txBody>
                      <a:tcPr marT="45726" marB="45726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sz="28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sz="24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sz="20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rPr>
                            <a:t>3</a:t>
                          </a:r>
                        </a:p>
                      </a:txBody>
                      <a:tcPr marT="45726" marB="45726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sz="28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sz="24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sz="20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800" b="0" i="1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rPr>
                            <a:t>m</a:t>
                          </a:r>
                          <a:r>
                            <a:rPr kumimoji="0" lang="en-US" altLang="zh-CN" sz="2800" b="0" i="1" u="none" strike="noStrike" cap="none" normalizeH="0" baseline="-2500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rPr>
                            <a:t>3</a:t>
                          </a:r>
                        </a:p>
                      </a:txBody>
                      <a:tcPr marT="45726" marB="45726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cap="flat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519061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T="45726" marB="45726" horzOverflow="overflow">
                        <a:lnL cap="flat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8898" t="-636471" r="-376695" b="-340000"/>
                          </a:stretch>
                        </a:blipFill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sz="28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FFFFFF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sz="24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FFFFFF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sz="20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FFFFFF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FFFFFF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FFFFFF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FFFFFF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FFFFFF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FFFFFF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FFFFFF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FFFFFF"/>
                                </a:outerShdw>
                              </a:effectLst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1 0 0</a:t>
                          </a:r>
                        </a:p>
                      </a:txBody>
                      <a:tcPr marT="45726" marB="45726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sz="28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FFFFFF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sz="24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FFFFFF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sz="20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FFFFFF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FFFFFF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FFFFFF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FFFFFF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FFFFFF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FFFFFF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FFFFFF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FFFFFF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rPr>
                            <a:t>4</a:t>
                          </a:r>
                        </a:p>
                      </a:txBody>
                      <a:tcPr marT="45726" marB="45726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sz="28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FFFFFF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sz="24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FFFFFF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sz="20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FFFFFF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FFFFFF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FFFFFF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FFFFFF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FFFFFF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FFFFFF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FFFFFF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800" b="0" i="1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FFFFFF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rPr>
                            <a:t>m</a:t>
                          </a:r>
                          <a:r>
                            <a:rPr kumimoji="0" lang="en-US" altLang="zh-CN" sz="2800" b="0" i="1" u="none" strike="noStrike" cap="none" normalizeH="0" baseline="-2500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FFFFFF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rPr>
                            <a:t>4</a:t>
                          </a:r>
                        </a:p>
                      </a:txBody>
                      <a:tcPr marT="45726" marB="45726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cap="flat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518223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T="45726" marB="45726" horzOverflow="overflow">
                        <a:lnL cap="flat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8898" t="-736471" r="-376695" b="-240000"/>
                          </a:stretch>
                        </a:blipFill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sz="28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sz="24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sz="20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8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1 0 1</a:t>
                          </a:r>
                        </a:p>
                      </a:txBody>
                      <a:tcPr marT="45726" marB="45726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sz="28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sz="24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sz="20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rPr>
                            <a:t>5</a:t>
                          </a:r>
                        </a:p>
                      </a:txBody>
                      <a:tcPr marT="45726" marB="45726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sz="28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sz="24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sz="20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800" b="0" i="1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rPr>
                            <a:t>m</a:t>
                          </a:r>
                          <a:r>
                            <a:rPr kumimoji="0" lang="en-US" altLang="zh-CN" sz="2800" b="0" i="1" u="none" strike="noStrike" cap="none" normalizeH="0" baseline="-2500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rPr>
                            <a:t>5</a:t>
                          </a:r>
                        </a:p>
                      </a:txBody>
                      <a:tcPr marT="45726" marB="45726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cap="flat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519061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T="45726" marB="45726" horzOverflow="overflow">
                        <a:lnL cap="flat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8898" t="-836471" r="-376695" b="-140000"/>
                          </a:stretch>
                        </a:blipFill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sz="28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sz="24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sz="20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8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1 1 0</a:t>
                          </a:r>
                        </a:p>
                      </a:txBody>
                      <a:tcPr marT="45726" marB="45726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sz="28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sz="24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sz="20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rPr>
                            <a:t>6</a:t>
                          </a:r>
                        </a:p>
                      </a:txBody>
                      <a:tcPr marT="45726" marB="45726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sz="28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sz="24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sz="20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800" b="0" i="1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rPr>
                            <a:t>m</a:t>
                          </a:r>
                          <a:r>
                            <a:rPr kumimoji="0" lang="en-US" altLang="zh-CN" sz="2800" b="0" i="1" u="none" strike="noStrike" cap="none" normalizeH="0" baseline="-2500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rPr>
                            <a:t>6</a:t>
                          </a:r>
                        </a:p>
                      </a:txBody>
                      <a:tcPr marT="45726" marB="45726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cap="flat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527114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T="45726" marB="45726" horzOverflow="overflow">
                        <a:lnL cap="flat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cap="flat">
                          <a:noFill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8898" t="-914943" r="-376695" b="-36782"/>
                          </a:stretch>
                        </a:blipFill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sz="28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sz="24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sz="20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8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1 1 1</a:t>
                          </a:r>
                        </a:p>
                      </a:txBody>
                      <a:tcPr marT="45726" marB="45726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cap="flat">
                          <a:noFill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sz="28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sz="24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sz="20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8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rPr>
                            <a:t>7</a:t>
                          </a:r>
                        </a:p>
                      </a:txBody>
                      <a:tcPr marT="45726" marB="45726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cap="flat">
                          <a:noFill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sz="28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1pPr>
                          <a:lvl2pPr>
                            <a:spcBef>
                              <a:spcPct val="20000"/>
                            </a:spcBef>
                            <a:defRPr sz="24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2pPr>
                          <a:lvl3pPr>
                            <a:spcBef>
                              <a:spcPct val="20000"/>
                            </a:spcBef>
                            <a:defRPr sz="200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3pPr>
                          <a:lvl4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4pPr>
                          <a:lvl5pPr>
                            <a:spcBef>
                              <a:spcPct val="20000"/>
                            </a:spcBef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defRPr>
                          </a:lvl9pPr>
                        </a:lstStyle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800" b="0" i="1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rPr>
                            <a:t>m</a:t>
                          </a:r>
                          <a:r>
                            <a:rPr kumimoji="0" lang="en-US" altLang="zh-CN" sz="2800" b="0" i="1" u="none" strike="noStrike" cap="none" normalizeH="0" baseline="-2500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Times New Roman" panose="02020603050405020304" pitchFamily="18" charset="0"/>
                              <a:ea typeface="楷体_GB2312" pitchFamily="49" charset="-122"/>
                            </a:rPr>
                            <a:t>7</a:t>
                          </a:r>
                        </a:p>
                      </a:txBody>
                      <a:tcPr marT="45726" marB="45726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cap="flat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cap="flat">
                          <a:noFill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文本框 2">
            <a:extLst>
              <a:ext uri="{FF2B5EF4-FFF2-40B4-BE49-F238E27FC236}">
                <a16:creationId xmlns:a16="http://schemas.microsoft.com/office/drawing/2014/main" id="{5FF827AB-8A78-59E9-7BCF-62888AE23D4F}"/>
              </a:ext>
            </a:extLst>
          </p:cNvPr>
          <p:cNvSpPr txBox="1"/>
          <p:nvPr/>
        </p:nvSpPr>
        <p:spPr>
          <a:xfrm>
            <a:off x="186690" y="1145388"/>
            <a:ext cx="4510001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每一个最小项 </a:t>
            </a:r>
            <a:r>
              <a:rPr lang="en-US" altLang="zh-CN" sz="2800" dirty="0"/>
              <a:t>m</a:t>
            </a:r>
            <a:r>
              <a:rPr lang="en-US" altLang="zh-CN" sz="2800" baseline="-25000" dirty="0"/>
              <a:t>i</a:t>
            </a:r>
            <a:r>
              <a:rPr lang="zh-CN" altLang="en-US" sz="2800" dirty="0"/>
              <a:t>对应真值表中的 </a:t>
            </a:r>
            <a:r>
              <a:rPr lang="zh-CN" altLang="en-US" sz="2800" b="1" dirty="0"/>
              <a:t>唯一一行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endParaRPr lang="en-US" altLang="zh-CN" sz="2800" dirty="0"/>
          </a:p>
          <a:p>
            <a:r>
              <a:rPr lang="zh-CN" altLang="en-US" sz="2800" dirty="0"/>
              <a:t>最小项 </a:t>
            </a:r>
            <a:r>
              <a:rPr lang="en-US" altLang="zh-CN" sz="2800" dirty="0"/>
              <a:t>= </a:t>
            </a:r>
            <a:r>
              <a:rPr lang="zh-CN" altLang="en-US" sz="2800" dirty="0"/>
              <a:t>真值表的 </a:t>
            </a:r>
            <a:r>
              <a:rPr lang="zh-CN" altLang="en-US" sz="2800" b="1" dirty="0"/>
              <a:t>某一行输入条件</a:t>
            </a:r>
            <a:r>
              <a:rPr lang="zh-CN" altLang="en-US" sz="2800" dirty="0"/>
              <a:t>的代数表达。</a:t>
            </a:r>
          </a:p>
        </p:txBody>
      </p:sp>
    </p:spTree>
    <p:extLst>
      <p:ext uri="{BB962C8B-B14F-4D97-AF65-F5344CB8AC3E}">
        <p14:creationId xmlns:p14="http://schemas.microsoft.com/office/powerpoint/2010/main" val="35971518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62DB3F-E411-A4C4-0856-8455D7B2C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20" y="212725"/>
            <a:ext cx="10515600" cy="1325563"/>
          </a:xfrm>
        </p:spPr>
        <p:txBody>
          <a:bodyPr/>
          <a:lstStyle/>
          <a:p>
            <a:r>
              <a:rPr lang="zh-CN" altLang="en-US" dirty="0"/>
              <a:t>三变量、四变量卡诺图</a:t>
            </a: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1E6D0E64-992B-B920-435F-97ABC9BBB0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0580" y="1346200"/>
            <a:ext cx="3762375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7">
            <a:extLst>
              <a:ext uri="{FF2B5EF4-FFF2-40B4-BE49-F238E27FC236}">
                <a16:creationId xmlns:a16="http://schemas.microsoft.com/office/drawing/2014/main" id="{A460485B-6986-8A85-B642-8DC1E7DCCE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346200"/>
            <a:ext cx="3390900" cy="208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8">
            <a:extLst>
              <a:ext uri="{FF2B5EF4-FFF2-40B4-BE49-F238E27FC236}">
                <a16:creationId xmlns:a16="http://schemas.microsoft.com/office/drawing/2014/main" id="{FAF5C062-2BB1-74A0-10E4-B047915169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625" y="3863975"/>
            <a:ext cx="3238500" cy="278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17E1C44A-923C-FEBB-C2F5-5439CE827235}"/>
              </a:ext>
            </a:extLst>
          </p:cNvPr>
          <p:cNvSpPr/>
          <p:nvPr/>
        </p:nvSpPr>
        <p:spPr>
          <a:xfrm>
            <a:off x="1523999" y="2189016"/>
            <a:ext cx="549506" cy="4411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52C9922-0247-D1C4-8868-630CA136D8F6}"/>
              </a:ext>
            </a:extLst>
          </p:cNvPr>
          <p:cNvSpPr/>
          <p:nvPr/>
        </p:nvSpPr>
        <p:spPr>
          <a:xfrm>
            <a:off x="1551709" y="2886219"/>
            <a:ext cx="549506" cy="4411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6FCE5A1-7200-A988-2B96-B81B94251217}"/>
              </a:ext>
            </a:extLst>
          </p:cNvPr>
          <p:cNvSpPr/>
          <p:nvPr/>
        </p:nvSpPr>
        <p:spPr>
          <a:xfrm>
            <a:off x="2216203" y="2189015"/>
            <a:ext cx="549506" cy="4411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0E74613-3893-C88F-FE59-7267697B3D12}"/>
              </a:ext>
            </a:extLst>
          </p:cNvPr>
          <p:cNvSpPr/>
          <p:nvPr/>
        </p:nvSpPr>
        <p:spPr>
          <a:xfrm>
            <a:off x="2231187" y="2876982"/>
            <a:ext cx="549506" cy="4411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653DE83-02B7-9D70-C093-9C717050A9DC}"/>
              </a:ext>
            </a:extLst>
          </p:cNvPr>
          <p:cNvSpPr/>
          <p:nvPr/>
        </p:nvSpPr>
        <p:spPr>
          <a:xfrm>
            <a:off x="2917420" y="2876981"/>
            <a:ext cx="549506" cy="4411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288D7F1-ADC5-0BCA-F7E1-C6E5B50E181C}"/>
              </a:ext>
            </a:extLst>
          </p:cNvPr>
          <p:cNvSpPr/>
          <p:nvPr/>
        </p:nvSpPr>
        <p:spPr>
          <a:xfrm>
            <a:off x="2902436" y="2181012"/>
            <a:ext cx="549506" cy="4411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BDCA5C5-DE4E-55CC-1729-AC92730AE892}"/>
              </a:ext>
            </a:extLst>
          </p:cNvPr>
          <p:cNvSpPr/>
          <p:nvPr/>
        </p:nvSpPr>
        <p:spPr>
          <a:xfrm>
            <a:off x="3523897" y="2181012"/>
            <a:ext cx="549506" cy="4411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17FC86D-8DAC-4B2D-BBD9-48B2E2869929}"/>
              </a:ext>
            </a:extLst>
          </p:cNvPr>
          <p:cNvSpPr/>
          <p:nvPr/>
        </p:nvSpPr>
        <p:spPr>
          <a:xfrm>
            <a:off x="3523897" y="2886219"/>
            <a:ext cx="549506" cy="4411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F760BB7-FC9F-2FD0-4463-C62C76F7E724}"/>
              </a:ext>
            </a:extLst>
          </p:cNvPr>
          <p:cNvSpPr/>
          <p:nvPr/>
        </p:nvSpPr>
        <p:spPr>
          <a:xfrm>
            <a:off x="1731292" y="4505538"/>
            <a:ext cx="549506" cy="4411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F767AAC-48EA-0384-9412-F3A8D1609FAE}"/>
              </a:ext>
            </a:extLst>
          </p:cNvPr>
          <p:cNvSpPr/>
          <p:nvPr/>
        </p:nvSpPr>
        <p:spPr>
          <a:xfrm>
            <a:off x="2345319" y="4520910"/>
            <a:ext cx="549506" cy="4411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1B1392B-A766-A1BB-210B-01FA7F5851B2}"/>
              </a:ext>
            </a:extLst>
          </p:cNvPr>
          <p:cNvSpPr/>
          <p:nvPr/>
        </p:nvSpPr>
        <p:spPr>
          <a:xfrm>
            <a:off x="2957759" y="4505537"/>
            <a:ext cx="549506" cy="4411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485BC27-D679-9432-94FD-034D6E19B249}"/>
              </a:ext>
            </a:extLst>
          </p:cNvPr>
          <p:cNvSpPr/>
          <p:nvPr/>
        </p:nvSpPr>
        <p:spPr>
          <a:xfrm>
            <a:off x="3593155" y="4505537"/>
            <a:ext cx="461299" cy="4411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EA1A4B8-C15F-D4F3-5BD0-7B23381A9EB4}"/>
              </a:ext>
            </a:extLst>
          </p:cNvPr>
          <p:cNvSpPr/>
          <p:nvPr/>
        </p:nvSpPr>
        <p:spPr>
          <a:xfrm>
            <a:off x="1776397" y="5034034"/>
            <a:ext cx="439806" cy="4411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EE6BE2D-19E0-F328-E3E8-A3978206D364}"/>
              </a:ext>
            </a:extLst>
          </p:cNvPr>
          <p:cNvSpPr/>
          <p:nvPr/>
        </p:nvSpPr>
        <p:spPr>
          <a:xfrm>
            <a:off x="2340888" y="5033598"/>
            <a:ext cx="439805" cy="4411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253FECF-E9EC-A75D-7EC0-56F520F81DCF}"/>
              </a:ext>
            </a:extLst>
          </p:cNvPr>
          <p:cNvSpPr/>
          <p:nvPr/>
        </p:nvSpPr>
        <p:spPr>
          <a:xfrm>
            <a:off x="2936785" y="5023059"/>
            <a:ext cx="549506" cy="4411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8CBDBBA-500B-7FD8-A1CF-23E130ADFA8F}"/>
              </a:ext>
            </a:extLst>
          </p:cNvPr>
          <p:cNvSpPr/>
          <p:nvPr/>
        </p:nvSpPr>
        <p:spPr>
          <a:xfrm>
            <a:off x="3614648" y="5064950"/>
            <a:ext cx="439806" cy="4411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118BCEA-1136-E489-81C3-235F6D474AE1}"/>
              </a:ext>
            </a:extLst>
          </p:cNvPr>
          <p:cNvSpPr/>
          <p:nvPr/>
        </p:nvSpPr>
        <p:spPr>
          <a:xfrm>
            <a:off x="1745146" y="5575406"/>
            <a:ext cx="535651" cy="4411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22385E0-2988-28F5-251B-6588339AA388}"/>
              </a:ext>
            </a:extLst>
          </p:cNvPr>
          <p:cNvSpPr/>
          <p:nvPr/>
        </p:nvSpPr>
        <p:spPr>
          <a:xfrm>
            <a:off x="2355312" y="5568402"/>
            <a:ext cx="535650" cy="4411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5E8A25B-461D-4018-0462-62533BAD0490}"/>
              </a:ext>
            </a:extLst>
          </p:cNvPr>
          <p:cNvSpPr/>
          <p:nvPr/>
        </p:nvSpPr>
        <p:spPr>
          <a:xfrm>
            <a:off x="2924348" y="5568402"/>
            <a:ext cx="535650" cy="4411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98330FF-03C3-8F0E-B2BC-3677F540BA93}"/>
              </a:ext>
            </a:extLst>
          </p:cNvPr>
          <p:cNvSpPr/>
          <p:nvPr/>
        </p:nvSpPr>
        <p:spPr>
          <a:xfrm>
            <a:off x="3547532" y="5559287"/>
            <a:ext cx="535650" cy="4411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D5876C0-A957-1115-5B43-09E878F386B1}"/>
              </a:ext>
            </a:extLst>
          </p:cNvPr>
          <p:cNvSpPr/>
          <p:nvPr/>
        </p:nvSpPr>
        <p:spPr>
          <a:xfrm>
            <a:off x="1745146" y="6077694"/>
            <a:ext cx="535651" cy="4411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44709D5-8ADB-22F7-1AB0-96020AC2D828}"/>
              </a:ext>
            </a:extLst>
          </p:cNvPr>
          <p:cNvSpPr/>
          <p:nvPr/>
        </p:nvSpPr>
        <p:spPr>
          <a:xfrm>
            <a:off x="2343469" y="6103206"/>
            <a:ext cx="535651" cy="4411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87576B3-2403-C461-8B5E-E519F31AD8E5}"/>
              </a:ext>
            </a:extLst>
          </p:cNvPr>
          <p:cNvSpPr/>
          <p:nvPr/>
        </p:nvSpPr>
        <p:spPr>
          <a:xfrm>
            <a:off x="2963100" y="6113745"/>
            <a:ext cx="535651" cy="4411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46D4409-C92A-FA38-B7E7-BDDA5EC9424F}"/>
              </a:ext>
            </a:extLst>
          </p:cNvPr>
          <p:cNvSpPr/>
          <p:nvPr/>
        </p:nvSpPr>
        <p:spPr>
          <a:xfrm>
            <a:off x="3549330" y="6084142"/>
            <a:ext cx="535651" cy="4411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8DB76F0D-4F21-428A-9BA9-63001EDB466A}"/>
              </a:ext>
            </a:extLst>
          </p:cNvPr>
          <p:cNvSpPr txBox="1"/>
          <p:nvPr/>
        </p:nvSpPr>
        <p:spPr>
          <a:xfrm>
            <a:off x="8292118" y="447657"/>
            <a:ext cx="34731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3</a:t>
            </a:r>
            <a:r>
              <a:rPr lang="zh-CN" altLang="en-US" sz="2400" dirty="0"/>
              <a:t>变量有（    ）个相邻项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413B56F5-0903-E99A-51CB-D8DB415FCEC5}"/>
              </a:ext>
            </a:extLst>
          </p:cNvPr>
          <p:cNvSpPr txBox="1"/>
          <p:nvPr/>
        </p:nvSpPr>
        <p:spPr>
          <a:xfrm>
            <a:off x="8382173" y="1064230"/>
            <a:ext cx="36227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n</a:t>
            </a:r>
            <a:r>
              <a:rPr lang="zh-CN" altLang="en-US" sz="2400" dirty="0"/>
              <a:t>变量有（    ）个相邻项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0D34DD03-7DEB-30DC-B865-4DB318130BCD}"/>
              </a:ext>
            </a:extLst>
          </p:cNvPr>
          <p:cNvSpPr txBox="1"/>
          <p:nvPr/>
        </p:nvSpPr>
        <p:spPr>
          <a:xfrm>
            <a:off x="9736973" y="447657"/>
            <a:ext cx="583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3</a:t>
            </a:r>
            <a:endParaRPr lang="zh-CN" altLang="en-US" sz="2400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9EF289BF-705B-C69E-F2E3-82EAC66A277A}"/>
              </a:ext>
            </a:extLst>
          </p:cNvPr>
          <p:cNvSpPr txBox="1"/>
          <p:nvPr/>
        </p:nvSpPr>
        <p:spPr>
          <a:xfrm>
            <a:off x="9832568" y="1037982"/>
            <a:ext cx="583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n</a:t>
            </a:r>
            <a:endParaRPr lang="zh-CN" altLang="en-US" sz="2400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126EE80A-96B5-9740-5358-ECD3539535C5}"/>
              </a:ext>
            </a:extLst>
          </p:cNvPr>
          <p:cNvSpPr txBox="1"/>
          <p:nvPr/>
        </p:nvSpPr>
        <p:spPr>
          <a:xfrm>
            <a:off x="5149215" y="3721178"/>
            <a:ext cx="65074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卡诺图则是把真值表重新 </a:t>
            </a:r>
            <a:r>
              <a:rPr lang="zh-CN" altLang="en-US" sz="2400" b="1" dirty="0"/>
              <a:t>排布成一个几何空间</a:t>
            </a:r>
            <a:endParaRPr lang="zh-CN" altLang="en-US" sz="2400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7E42D812-1B91-C3B4-2B7E-88CA47FD535D}"/>
              </a:ext>
            </a:extLst>
          </p:cNvPr>
          <p:cNvSpPr txBox="1"/>
          <p:nvPr/>
        </p:nvSpPr>
        <p:spPr>
          <a:xfrm>
            <a:off x="5389418" y="4520910"/>
            <a:ext cx="58659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使得逻辑相邻的最小项尽可能几何相邻。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3E7C2B79-348E-578F-E286-2A1B7A620123}"/>
              </a:ext>
            </a:extLst>
          </p:cNvPr>
          <p:cNvSpPr txBox="1"/>
          <p:nvPr/>
        </p:nvSpPr>
        <p:spPr>
          <a:xfrm>
            <a:off x="5405381" y="5320642"/>
            <a:ext cx="522299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这种排布方式其实就是 </a:t>
            </a:r>
            <a:r>
              <a:rPr lang="zh-CN" altLang="en-US" sz="2400" b="1" dirty="0"/>
              <a:t>格雷码 </a:t>
            </a:r>
            <a:r>
              <a:rPr lang="en-US" altLang="zh-CN" sz="2400" b="1" dirty="0"/>
              <a:t>(Gray code)</a:t>
            </a:r>
            <a:r>
              <a:rPr lang="zh-CN" altLang="en-US" sz="2400" dirty="0"/>
              <a:t> 的二维展开</a:t>
            </a:r>
          </a:p>
        </p:txBody>
      </p:sp>
    </p:spTree>
    <p:extLst>
      <p:ext uri="{BB962C8B-B14F-4D97-AF65-F5344CB8AC3E}">
        <p14:creationId xmlns:p14="http://schemas.microsoft.com/office/powerpoint/2010/main" val="3727012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/>
      <p:bldP spid="33" grpId="0"/>
      <p:bldP spid="34" grpId="0"/>
      <p:bldP spid="35" grpId="0"/>
      <p:bldP spid="37" grpId="0"/>
      <p:bldP spid="38" grpId="0"/>
      <p:bldP spid="4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>
            <a:extLst>
              <a:ext uri="{FF2B5EF4-FFF2-40B4-BE49-F238E27FC236}">
                <a16:creationId xmlns:a16="http://schemas.microsoft.com/office/drawing/2014/main" id="{799CA8F2-DE79-199A-7349-E2BFF0F139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25209" y="1493204"/>
            <a:ext cx="10793411" cy="4221796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zh-CN" altLang="en-US" sz="3000" dirty="0"/>
              <a:t>约束项</a:t>
            </a:r>
            <a:endParaRPr lang="en-US" altLang="zh-CN" sz="3000" dirty="0"/>
          </a:p>
          <a:p>
            <a:pPr marL="457200" lvl="1" indent="0">
              <a:buNone/>
              <a:defRPr/>
            </a:pPr>
            <a:r>
              <a:rPr lang="zh-CN" altLang="en-US" sz="30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在逻辑函数中，对输入变量的某些取值不会出现或者不允许出现，在这些取值下为</a:t>
            </a:r>
            <a:r>
              <a:rPr lang="en-US" altLang="zh-CN" sz="30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1</a:t>
            </a:r>
            <a:r>
              <a:rPr lang="zh-CN" altLang="en-US" sz="30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的最小项称为约束项</a:t>
            </a:r>
          </a:p>
          <a:p>
            <a:pPr marL="0" indent="0" eaLnBrk="1" hangingPunct="1">
              <a:buNone/>
              <a:defRPr/>
            </a:pPr>
            <a:endParaRPr lang="en-US" altLang="zh-CN" dirty="0"/>
          </a:p>
          <a:p>
            <a:pPr eaLnBrk="1" hangingPunct="1">
              <a:defRPr/>
            </a:pPr>
            <a:endParaRPr lang="zh-CN" altLang="en-US" dirty="0"/>
          </a:p>
          <a:p>
            <a:pPr eaLnBrk="1" hangingPunct="1">
              <a:defRPr/>
            </a:pPr>
            <a:endParaRPr lang="zh-CN" altLang="en-US" dirty="0"/>
          </a:p>
          <a:p>
            <a:pPr eaLnBrk="1" hangingPunct="1">
              <a:defRPr/>
            </a:pPr>
            <a:endParaRPr lang="en-US" altLang="zh-CN" dirty="0"/>
          </a:p>
          <a:p>
            <a:pPr eaLnBrk="1" hangingPunct="1">
              <a:defRPr/>
            </a:pPr>
            <a:endParaRPr lang="en-US" altLang="zh-CN" dirty="0"/>
          </a:p>
          <a:p>
            <a:pPr eaLnBrk="1" hangingPunct="1">
              <a:buFontTx/>
              <a:buNone/>
              <a:defRPr/>
            </a:pPr>
            <a:endParaRPr lang="en-US" altLang="zh-CN" dirty="0"/>
          </a:p>
        </p:txBody>
      </p:sp>
      <p:sp>
        <p:nvSpPr>
          <p:cNvPr id="235526" name="Rectangle 6">
            <a:extLst>
              <a:ext uri="{FF2B5EF4-FFF2-40B4-BE49-F238E27FC236}">
                <a16:creationId xmlns:a16="http://schemas.microsoft.com/office/drawing/2014/main" id="{5218E99C-4D7C-D772-6514-9707124E1D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989" y="321629"/>
            <a:ext cx="8569325" cy="1171575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>
            <a:lvl1pPr>
              <a:defRPr sz="3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3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3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3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3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r>
              <a:rPr lang="en-US" altLang="en-US" sz="3200" dirty="0" err="1"/>
              <a:t>具有无关项的逻辑函数及其化简</a:t>
            </a:r>
            <a:endParaRPr lang="zh-CN" altLang="en-US" sz="32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C221C55-F4EC-42A8-B26D-6752EFC659EC}"/>
              </a:ext>
            </a:extLst>
          </p:cNvPr>
          <p:cNvSpPr txBox="1"/>
          <p:nvPr/>
        </p:nvSpPr>
        <p:spPr>
          <a:xfrm>
            <a:off x="1224757" y="2967345"/>
            <a:ext cx="809069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例：交通灯</a:t>
            </a:r>
            <a:r>
              <a:rPr lang="en-US" altLang="zh-CN" sz="2800" dirty="0">
                <a:latin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</a:rPr>
              <a:t>（红）、</a:t>
            </a:r>
            <a:r>
              <a:rPr lang="en-US" altLang="zh-CN" sz="2800" dirty="0">
                <a:latin typeface="Times New Roman" panose="02020603050405020304" pitchFamily="18" charset="0"/>
              </a:rPr>
              <a:t>B</a:t>
            </a:r>
            <a:r>
              <a:rPr lang="zh-CN" altLang="en-US" sz="2800" dirty="0">
                <a:latin typeface="Times New Roman" panose="02020603050405020304" pitchFamily="18" charset="0"/>
              </a:rPr>
              <a:t>（绿）、</a:t>
            </a:r>
            <a:r>
              <a:rPr lang="en-US" altLang="zh-CN" sz="2800" dirty="0">
                <a:latin typeface="Times New Roman" panose="02020603050405020304" pitchFamily="18" charset="0"/>
              </a:rPr>
              <a:t>C</a:t>
            </a:r>
            <a:r>
              <a:rPr lang="zh-CN" altLang="en-US" sz="2800" dirty="0">
                <a:latin typeface="Times New Roman" panose="02020603050405020304" pitchFamily="18" charset="0"/>
              </a:rPr>
              <a:t>（黄）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	ABC </a:t>
            </a:r>
            <a:r>
              <a:rPr lang="zh-CN" altLang="en-US" sz="2800" dirty="0">
                <a:latin typeface="Times New Roman" panose="02020603050405020304" pitchFamily="18" charset="0"/>
              </a:rPr>
              <a:t>的不可能取值（不允许两种灯同时亮）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	</a:t>
            </a:r>
            <a:r>
              <a:rPr lang="en-US" altLang="zh-CN" sz="2800" dirty="0">
                <a:latin typeface="Times New Roman" panose="02020603050405020304" pitchFamily="18" charset="0"/>
              </a:rPr>
              <a:t>000</a:t>
            </a:r>
            <a:r>
              <a:rPr lang="zh-CN" altLang="en-US" sz="2800" dirty="0">
                <a:latin typeface="Times New Roman" panose="02020603050405020304" pitchFamily="18" charset="0"/>
              </a:rPr>
              <a:t>、</a:t>
            </a:r>
            <a:r>
              <a:rPr lang="en-US" altLang="zh-CN" sz="2800" dirty="0">
                <a:latin typeface="Times New Roman" panose="02020603050405020304" pitchFamily="18" charset="0"/>
              </a:rPr>
              <a:t>011</a:t>
            </a:r>
            <a:r>
              <a:rPr lang="zh-CN" altLang="en-US" sz="2800" dirty="0">
                <a:latin typeface="Times New Roman" panose="02020603050405020304" pitchFamily="18" charset="0"/>
              </a:rPr>
              <a:t>、</a:t>
            </a:r>
            <a:r>
              <a:rPr lang="en-US" altLang="zh-CN" sz="2800" dirty="0">
                <a:latin typeface="Times New Roman" panose="02020603050405020304" pitchFamily="18" charset="0"/>
              </a:rPr>
              <a:t>101</a:t>
            </a:r>
            <a:r>
              <a:rPr lang="zh-CN" altLang="en-US" sz="2800" dirty="0">
                <a:latin typeface="Times New Roman" panose="02020603050405020304" pitchFamily="18" charset="0"/>
              </a:rPr>
              <a:t>、</a:t>
            </a:r>
            <a:r>
              <a:rPr lang="en-US" altLang="zh-CN" sz="2800" dirty="0">
                <a:latin typeface="Times New Roman" panose="02020603050405020304" pitchFamily="18" charset="0"/>
              </a:rPr>
              <a:t>110</a:t>
            </a:r>
            <a:r>
              <a:rPr lang="zh-CN" altLang="en-US" sz="2800" dirty="0">
                <a:latin typeface="Times New Roman" panose="02020603050405020304" pitchFamily="18" charset="0"/>
              </a:rPr>
              <a:t>、</a:t>
            </a:r>
            <a:r>
              <a:rPr lang="en-US" altLang="zh-CN" sz="2800" dirty="0">
                <a:latin typeface="Times New Roman" panose="02020603050405020304" pitchFamily="18" charset="0"/>
              </a:rPr>
              <a:t>111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C5E28F93-946C-72CC-AFF7-1A96F7254A29}"/>
              </a:ext>
            </a:extLst>
          </p:cNvPr>
          <p:cNvGraphicFramePr>
            <a:graphicFrameLocks/>
          </p:cNvGraphicFramePr>
          <p:nvPr/>
        </p:nvGraphicFramePr>
        <p:xfrm>
          <a:off x="2173288" y="4491673"/>
          <a:ext cx="5273675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1" name="公式" r:id="rId3" imgW="2438400" imgH="215900" progId="Equation.3">
                  <p:embed/>
                </p:oleObj>
              </mc:Choice>
              <mc:Fallback>
                <p:oleObj name="公式" r:id="rId3" imgW="2438400" imgH="215900" progId="Equation.3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C5E28F93-946C-72CC-AFF7-1A96F7254A2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3288" y="4491673"/>
                        <a:ext cx="5273675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5B4DB284-159E-6539-BA7E-AE5C753285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22220" y="5112226"/>
          <a:ext cx="3024188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2" name="公式" r:id="rId5" imgW="1244060" imgH="266584" progId="Equation.3">
                  <p:embed/>
                </p:oleObj>
              </mc:Choice>
              <mc:Fallback>
                <p:oleObj name="公式" r:id="rId5" imgW="1244060" imgH="266584" progId="Equation.3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5B4DB284-159E-6539-BA7E-AE5C7532850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2220" y="5112226"/>
                        <a:ext cx="3024188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8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47A0BCC9-647E-7593-2DE7-FD14952563F2}"/>
              </a:ext>
            </a:extLst>
          </p:cNvPr>
          <p:cNvSpPr txBox="1"/>
          <p:nvPr/>
        </p:nvSpPr>
        <p:spPr>
          <a:xfrm>
            <a:off x="8021161" y="4257506"/>
            <a:ext cx="322326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每个约束项对应的最小项取值恒等于</a:t>
            </a:r>
            <a:r>
              <a:rPr lang="en-US" altLang="zh-CN" sz="2800" dirty="0"/>
              <a:t>0</a:t>
            </a:r>
            <a:endParaRPr lang="zh-CN" altLang="en-US" sz="28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13A48AB-AEC2-3611-8A92-64A2C7F3A497}"/>
              </a:ext>
            </a:extLst>
          </p:cNvPr>
          <p:cNvSpPr txBox="1"/>
          <p:nvPr/>
        </p:nvSpPr>
        <p:spPr>
          <a:xfrm>
            <a:off x="6564153" y="5525530"/>
            <a:ext cx="559371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可以将每个约束项写入函数式也可以不写入函数式，不影响函数值</a:t>
            </a:r>
          </a:p>
        </p:txBody>
      </p:sp>
    </p:spTree>
    <p:extLst>
      <p:ext uri="{BB962C8B-B14F-4D97-AF65-F5344CB8AC3E}">
        <p14:creationId xmlns:p14="http://schemas.microsoft.com/office/powerpoint/2010/main" val="477352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55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355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906961-E48D-43F2-4BF7-5A5744346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84" y="0"/>
            <a:ext cx="10515600" cy="1325563"/>
          </a:xfrm>
        </p:spPr>
        <p:txBody>
          <a:bodyPr/>
          <a:lstStyle/>
          <a:p>
            <a:r>
              <a:rPr lang="zh-CN" altLang="en-US" dirty="0"/>
              <a:t>加法器</a:t>
            </a:r>
          </a:p>
        </p:txBody>
      </p:sp>
      <p:sp>
        <p:nvSpPr>
          <p:cNvPr id="4" name="Rectangle 308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6E5A1390-1E32-B383-1FBF-5F45AE33B8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094" y="1334122"/>
            <a:ext cx="792162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buClr>
                <a:schemeClr val="tx1"/>
              </a:buClr>
              <a:buSzPct val="60000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buSzPct val="95000"/>
              <a:buChar char="w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buClr>
                <a:schemeClr val="tx1"/>
              </a:buClr>
              <a:buSzPct val="65000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buSzPct val="60000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宋体" panose="02010600030101010101" pitchFamily="2" charset="-122"/>
              </a:rPr>
              <a:t>1.</a:t>
            </a:r>
            <a:r>
              <a:rPr lang="zh-CN" altLang="en-US" sz="2800" b="1" dirty="0">
                <a:latin typeface="宋体" panose="02010600030101010101" pitchFamily="2" charset="-122"/>
              </a:rPr>
              <a:t>一位二进制半加器（不考虑低位进位）</a:t>
            </a:r>
          </a:p>
        </p:txBody>
      </p:sp>
      <p:graphicFrame>
        <p:nvGraphicFramePr>
          <p:cNvPr id="5" name="Object 3073">
            <a:extLst>
              <a:ext uri="{FF2B5EF4-FFF2-40B4-BE49-F238E27FC236}">
                <a16:creationId xmlns:a16="http://schemas.microsoft.com/office/drawing/2014/main" id="{F6F7DFCD-C321-A75E-0713-9B7CFA8C27D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38213" y="2436813"/>
          <a:ext cx="3959225" cy="175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6" name="BMP 图像" r:id="rId4" imgW="2545200" imgH="1127880" progId="Paint.Picture">
                  <p:embed/>
                </p:oleObj>
              </mc:Choice>
              <mc:Fallback>
                <p:oleObj name="BMP 图像" r:id="rId4" imgW="2545200" imgH="1127880" progId="Paint.Picture">
                  <p:embed/>
                  <p:pic>
                    <p:nvPicPr>
                      <p:cNvPr id="5" name="Object 3073">
                        <a:extLst>
                          <a:ext uri="{FF2B5EF4-FFF2-40B4-BE49-F238E27FC236}">
                            <a16:creationId xmlns:a16="http://schemas.microsoft.com/office/drawing/2014/main" id="{F6F7DFCD-C321-A75E-0713-9B7CFA8C27D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8213" y="2436813"/>
                        <a:ext cx="3959225" cy="1754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3074">
            <a:extLst>
              <a:ext uri="{FF2B5EF4-FFF2-40B4-BE49-F238E27FC236}">
                <a16:creationId xmlns:a16="http://schemas.microsoft.com/office/drawing/2014/main" id="{E47E3B96-F7CC-BCE6-9147-B9DFD6C759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2784" y="4764816"/>
          <a:ext cx="3661208" cy="9934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7" name="BMP 图象" r:id="rId6" imgW="2247619" imgH="609524" progId="Paint.Picture">
                  <p:embed/>
                </p:oleObj>
              </mc:Choice>
              <mc:Fallback>
                <p:oleObj name="BMP 图象" r:id="rId6" imgW="2247619" imgH="609524" progId="Paint.Picture">
                  <p:embed/>
                  <p:pic>
                    <p:nvPicPr>
                      <p:cNvPr id="6" name="Object 3074">
                        <a:extLst>
                          <a:ext uri="{FF2B5EF4-FFF2-40B4-BE49-F238E27FC236}">
                            <a16:creationId xmlns:a16="http://schemas.microsoft.com/office/drawing/2014/main" id="{E47E3B96-F7CC-BCE6-9147-B9DFD6C7592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84" y="4764816"/>
                        <a:ext cx="3661208" cy="9934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8">
            <a:extLst>
              <a:ext uri="{FF2B5EF4-FFF2-40B4-BE49-F238E27FC236}">
                <a16:creationId xmlns:a16="http://schemas.microsoft.com/office/drawing/2014/main" id="{B0393912-0EB9-5EC9-05BF-D75E0A607F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44170" y="2148020"/>
          <a:ext cx="6147830" cy="22638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8" name="BMP 图象" r:id="rId8" imgW="4761905" imgH="1752381" progId="Paint.Picture">
                  <p:embed/>
                </p:oleObj>
              </mc:Choice>
              <mc:Fallback>
                <p:oleObj name="BMP 图象" r:id="rId8" imgW="4761905" imgH="1752381" progId="Paint.Picture">
                  <p:embed/>
                  <p:pic>
                    <p:nvPicPr>
                      <p:cNvPr id="7" name="Object 8">
                        <a:extLst>
                          <a:ext uri="{FF2B5EF4-FFF2-40B4-BE49-F238E27FC236}">
                            <a16:creationId xmlns:a16="http://schemas.microsoft.com/office/drawing/2014/main" id="{B0393912-0EB9-5EC9-05BF-D75E0A607F9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4170" y="2148020"/>
                        <a:ext cx="6147830" cy="22638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98234257-0F14-28AE-92F7-057F43F6333C}"/>
              </a:ext>
            </a:extLst>
          </p:cNvPr>
          <p:cNvSpPr txBox="1"/>
          <p:nvPr/>
        </p:nvSpPr>
        <p:spPr>
          <a:xfrm>
            <a:off x="9141082" y="4531144"/>
            <a:ext cx="9885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惯用符号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A6F050B-4CEC-2D73-CE66-6C73F0216707}"/>
              </a:ext>
            </a:extLst>
          </p:cNvPr>
          <p:cNvSpPr txBox="1"/>
          <p:nvPr/>
        </p:nvSpPr>
        <p:spPr>
          <a:xfrm>
            <a:off x="10958384" y="4543801"/>
            <a:ext cx="9885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国标符号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BA6D727-CC38-30C6-67E7-F4195942B44D}"/>
              </a:ext>
            </a:extLst>
          </p:cNvPr>
          <p:cNvSpPr/>
          <p:nvPr/>
        </p:nvSpPr>
        <p:spPr>
          <a:xfrm>
            <a:off x="3686330" y="2972183"/>
            <a:ext cx="1170483" cy="1106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68722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EDF9B3-D4AC-BB53-381D-ABF76383D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924" y="36040"/>
            <a:ext cx="10515600" cy="1325563"/>
          </a:xfrm>
        </p:spPr>
        <p:txBody>
          <a:bodyPr/>
          <a:lstStyle/>
          <a:p>
            <a:r>
              <a:rPr lang="zh-CN" altLang="en-US" dirty="0"/>
              <a:t>加法器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B113CF7-0F82-8963-A6C2-A7F5FC26DF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924" y="1361603"/>
            <a:ext cx="10515600" cy="4351338"/>
          </a:xfrm>
        </p:spPr>
        <p:txBody>
          <a:bodyPr/>
          <a:lstStyle/>
          <a:p>
            <a:r>
              <a:rPr lang="zh-CN" altLang="en-US" dirty="0"/>
              <a:t>一位全加器</a:t>
            </a:r>
          </a:p>
        </p:txBody>
      </p:sp>
      <p:graphicFrame>
        <p:nvGraphicFramePr>
          <p:cNvPr id="6" name="Object 7">
            <a:extLst>
              <a:ext uri="{FF2B5EF4-FFF2-40B4-BE49-F238E27FC236}">
                <a16:creationId xmlns:a16="http://schemas.microsoft.com/office/drawing/2014/main" id="{D1995212-9CE2-BA7B-692A-DB9943C11B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6920" y="2198430"/>
          <a:ext cx="5332583" cy="38000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8" name="BMP 图像" r:id="rId3" imgW="3847619" imgH="2742857" progId="Paint.Picture">
                  <p:embed/>
                </p:oleObj>
              </mc:Choice>
              <mc:Fallback>
                <p:oleObj name="BMP 图像" r:id="rId3" imgW="3847619" imgH="2742857" progId="Paint.Picture">
                  <p:embed/>
                  <p:pic>
                    <p:nvPicPr>
                      <p:cNvPr id="6" name="Object 7">
                        <a:extLst>
                          <a:ext uri="{FF2B5EF4-FFF2-40B4-BE49-F238E27FC236}">
                            <a16:creationId xmlns:a16="http://schemas.microsoft.com/office/drawing/2014/main" id="{D1995212-9CE2-BA7B-692A-DB9943C11B9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6920" y="2198430"/>
                        <a:ext cx="5332583" cy="38000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673DDE13-90AF-CEF6-C10B-DB1CE12EA442}"/>
              </a:ext>
            </a:extLst>
          </p:cNvPr>
          <p:cNvSpPr/>
          <p:nvPr/>
        </p:nvSpPr>
        <p:spPr>
          <a:xfrm>
            <a:off x="4690182" y="2995471"/>
            <a:ext cx="1319321" cy="28602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45049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F43FC3EC-7187-9391-0728-D87FFD8D08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9172" y="465139"/>
            <a:ext cx="7258050" cy="15240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b="1" dirty="0"/>
              <a:t>3. n</a:t>
            </a:r>
            <a:r>
              <a:rPr lang="zh-CN" altLang="en-US" b="1" dirty="0"/>
              <a:t>位全加器</a:t>
            </a:r>
          </a:p>
        </p:txBody>
      </p:sp>
      <p:graphicFrame>
        <p:nvGraphicFramePr>
          <p:cNvPr id="18436" name="Object 5">
            <a:extLst>
              <a:ext uri="{FF2B5EF4-FFF2-40B4-BE49-F238E27FC236}">
                <a16:creationId xmlns:a16="http://schemas.microsoft.com/office/drawing/2014/main" id="{D26A04B9-F43F-45B0-D8D5-68E7D12425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03192" y="1891227"/>
          <a:ext cx="8702165" cy="29776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2" name="BMP 图象" r:id="rId3" imgW="6009524" imgH="2057143" progId="Paint.Picture">
                  <p:embed/>
                </p:oleObj>
              </mc:Choice>
              <mc:Fallback>
                <p:oleObj name="BMP 图象" r:id="rId3" imgW="6009524" imgH="2057143" progId="Paint.Picture">
                  <p:embed/>
                  <p:pic>
                    <p:nvPicPr>
                      <p:cNvPr id="18436" name="Object 5">
                        <a:extLst>
                          <a:ext uri="{FF2B5EF4-FFF2-40B4-BE49-F238E27FC236}">
                            <a16:creationId xmlns:a16="http://schemas.microsoft.com/office/drawing/2014/main" id="{D26A04B9-F43F-45B0-D8D5-68E7D124258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3192" y="1891227"/>
                        <a:ext cx="8702165" cy="29776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>
            <a:extLst>
              <a:ext uri="{FF2B5EF4-FFF2-40B4-BE49-F238E27FC236}">
                <a16:creationId xmlns:a16="http://schemas.microsoft.com/office/drawing/2014/main" id="{2C4E4797-60EA-44E0-C58E-B6EB2FFF5DF9}"/>
              </a:ext>
            </a:extLst>
          </p:cNvPr>
          <p:cNvSpPr/>
          <p:nvPr/>
        </p:nvSpPr>
        <p:spPr>
          <a:xfrm>
            <a:off x="2973857" y="1989737"/>
            <a:ext cx="832024" cy="28791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D16A9F2-691A-14BE-6987-CC14C96B289E}"/>
              </a:ext>
            </a:extLst>
          </p:cNvPr>
          <p:cNvSpPr/>
          <p:nvPr/>
        </p:nvSpPr>
        <p:spPr>
          <a:xfrm>
            <a:off x="9238021" y="3937573"/>
            <a:ext cx="1201754" cy="6898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42F75A4-0EDF-B4EF-95C4-2FC031C6EA7B}"/>
              </a:ext>
            </a:extLst>
          </p:cNvPr>
          <p:cNvSpPr txBox="1"/>
          <p:nvPr/>
        </p:nvSpPr>
        <p:spPr>
          <a:xfrm>
            <a:off x="4050954" y="5427940"/>
            <a:ext cx="36843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4</a:t>
            </a:r>
            <a:r>
              <a:rPr lang="zh-CN" altLang="en-US" sz="2400" dirty="0"/>
              <a:t>位串行进位加法器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018D0E0-9884-20ED-876D-85C00C32F54E}"/>
              </a:ext>
            </a:extLst>
          </p:cNvPr>
          <p:cNvSpPr/>
          <p:nvPr/>
        </p:nvSpPr>
        <p:spPr>
          <a:xfrm>
            <a:off x="5171301" y="2143327"/>
            <a:ext cx="777499" cy="28791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93183F4-9EEC-AB0D-5867-8C0102A58204}"/>
              </a:ext>
            </a:extLst>
          </p:cNvPr>
          <p:cNvSpPr/>
          <p:nvPr/>
        </p:nvSpPr>
        <p:spPr>
          <a:xfrm>
            <a:off x="7319317" y="1768194"/>
            <a:ext cx="832024" cy="28791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8431D41-2B26-91B0-71A2-CB18EAAC2226}"/>
              </a:ext>
            </a:extLst>
          </p:cNvPr>
          <p:cNvSpPr/>
          <p:nvPr/>
        </p:nvSpPr>
        <p:spPr>
          <a:xfrm>
            <a:off x="2701739" y="4134678"/>
            <a:ext cx="343193" cy="2981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CE3482E-C662-6064-5ABB-6A024333FC5D}"/>
              </a:ext>
            </a:extLst>
          </p:cNvPr>
          <p:cNvSpPr/>
          <p:nvPr/>
        </p:nvSpPr>
        <p:spPr>
          <a:xfrm>
            <a:off x="3641208" y="2548217"/>
            <a:ext cx="632618" cy="2049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0B5B3C0-4E7E-9B3E-F625-DD6FA20FA954}"/>
              </a:ext>
            </a:extLst>
          </p:cNvPr>
          <p:cNvSpPr/>
          <p:nvPr/>
        </p:nvSpPr>
        <p:spPr>
          <a:xfrm>
            <a:off x="4922108" y="4019537"/>
            <a:ext cx="343193" cy="2981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A49FBCE-1C84-1491-F16C-0BD3E9CFC32A}"/>
              </a:ext>
            </a:extLst>
          </p:cNvPr>
          <p:cNvSpPr/>
          <p:nvPr/>
        </p:nvSpPr>
        <p:spPr>
          <a:xfrm>
            <a:off x="7035480" y="4007146"/>
            <a:ext cx="343193" cy="2981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BC45A9E-69A3-EA64-9037-A1ECD73F9385}"/>
              </a:ext>
            </a:extLst>
          </p:cNvPr>
          <p:cNvSpPr/>
          <p:nvPr/>
        </p:nvSpPr>
        <p:spPr>
          <a:xfrm>
            <a:off x="5897082" y="2527961"/>
            <a:ext cx="632618" cy="2049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84A1DFD-2BB2-F47F-CC2C-A7BB4DE50E56}"/>
              </a:ext>
            </a:extLst>
          </p:cNvPr>
          <p:cNvSpPr/>
          <p:nvPr/>
        </p:nvSpPr>
        <p:spPr>
          <a:xfrm>
            <a:off x="7981295" y="2554709"/>
            <a:ext cx="632618" cy="2049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5" grpId="0" animBg="1"/>
      <p:bldP spid="1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>
            <a:extLst>
              <a:ext uri="{FF2B5EF4-FFF2-40B4-BE49-F238E27FC236}">
                <a16:creationId xmlns:a16="http://schemas.microsoft.com/office/drawing/2014/main" id="{633ECE42-34C3-E003-F5EA-B702F14524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7058" y="177009"/>
            <a:ext cx="8229600" cy="884238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200" dirty="0"/>
              <a:t>4.1.1</a:t>
            </a:r>
            <a:r>
              <a:rPr lang="zh-CN" altLang="en-US" sz="3200" dirty="0"/>
              <a:t>普通编码器</a:t>
            </a:r>
          </a:p>
        </p:txBody>
      </p:sp>
      <p:sp>
        <p:nvSpPr>
          <p:cNvPr id="167939" name="Rectangle 3">
            <a:extLst>
              <a:ext uri="{FF2B5EF4-FFF2-40B4-BE49-F238E27FC236}">
                <a16:creationId xmlns:a16="http://schemas.microsoft.com/office/drawing/2014/main" id="{25D3BE3B-FB7D-AA28-3A0D-D0A9BAF6EF5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71634" y="1134271"/>
            <a:ext cx="4063206" cy="2500469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zh-CN" altLang="en-US" dirty="0"/>
              <a:t>特点：任何时刻只允许输入一个编码信号。</a:t>
            </a:r>
          </a:p>
          <a:p>
            <a:pPr eaLnBrk="1" hangingPunct="1">
              <a:defRPr/>
            </a:pPr>
            <a:r>
              <a:rPr lang="zh-CN" altLang="en-US" dirty="0"/>
              <a:t>例：</a:t>
            </a:r>
            <a:r>
              <a:rPr lang="en-US" altLang="zh-CN" dirty="0"/>
              <a:t>3</a:t>
            </a:r>
            <a:r>
              <a:rPr lang="zh-CN" altLang="en-US" dirty="0">
                <a:latin typeface="楷体_GB2312" pitchFamily="49" charset="-122"/>
              </a:rPr>
              <a:t>位</a:t>
            </a:r>
            <a:r>
              <a:rPr lang="zh-CN" altLang="en-US" dirty="0"/>
              <a:t>二进制普通编码器能编码几个状态？</a:t>
            </a:r>
          </a:p>
          <a:p>
            <a:pPr eaLnBrk="1" hangingPunct="1">
              <a:buFontTx/>
              <a:buNone/>
              <a:defRPr/>
            </a:pPr>
            <a:endParaRPr lang="en-US" altLang="zh-CN" dirty="0"/>
          </a:p>
        </p:txBody>
      </p:sp>
      <p:pic>
        <p:nvPicPr>
          <p:cNvPr id="167940" name="Picture 4">
            <a:extLst>
              <a:ext uri="{FF2B5EF4-FFF2-40B4-BE49-F238E27FC236}">
                <a16:creationId xmlns:a16="http://schemas.microsoft.com/office/drawing/2014/main" id="{870EADCB-2A59-D490-3BF4-2B6F6E4A4CF3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9061" y="4141090"/>
            <a:ext cx="3168650" cy="28575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aphicFrame>
        <p:nvGraphicFramePr>
          <p:cNvPr id="168066" name="Group 130">
            <a:extLst>
              <a:ext uri="{FF2B5EF4-FFF2-40B4-BE49-F238E27FC236}">
                <a16:creationId xmlns:a16="http://schemas.microsoft.com/office/drawing/2014/main" id="{055A0141-063F-6C6F-9D59-544032BED80E}"/>
              </a:ext>
            </a:extLst>
          </p:cNvPr>
          <p:cNvGraphicFramePr>
            <a:graphicFrameLocks noGrp="1"/>
          </p:cNvGraphicFramePr>
          <p:nvPr/>
        </p:nvGraphicFramePr>
        <p:xfrm>
          <a:off x="4872039" y="692151"/>
          <a:ext cx="5616575" cy="4392615"/>
        </p:xfrm>
        <a:graphic>
          <a:graphicData uri="http://schemas.openxmlformats.org/drawingml/2006/table">
            <a:tbl>
              <a:tblPr/>
              <a:tblGrid>
                <a:gridCol w="51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95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1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1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81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95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111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111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958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111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17513">
                <a:tc gridSpan="8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输           入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输   出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6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I</a:t>
                      </a:r>
                      <a:r>
                        <a:rPr kumimoji="0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I</a:t>
                      </a:r>
                      <a:r>
                        <a:rPr kumimoji="0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I</a:t>
                      </a:r>
                      <a:r>
                        <a:rPr kumimoji="0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I</a:t>
                      </a:r>
                      <a:r>
                        <a:rPr kumimoji="0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I</a:t>
                      </a:r>
                      <a:r>
                        <a:rPr kumimoji="0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4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I</a:t>
                      </a:r>
                      <a:r>
                        <a:rPr kumimoji="0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5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I</a:t>
                      </a:r>
                      <a:r>
                        <a:rPr kumimoji="0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6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I</a:t>
                      </a:r>
                      <a:r>
                        <a:rPr kumimoji="0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7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Y</a:t>
                      </a:r>
                      <a:r>
                        <a:rPr kumimoji="0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Y</a:t>
                      </a:r>
                      <a:r>
                        <a:rPr kumimoji="0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Y</a:t>
                      </a:r>
                      <a:r>
                        <a:rPr kumimoji="0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5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1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75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91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75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91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75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70039EBD-F7F0-05C2-652E-66A5F49A719B}"/>
                  </a:ext>
                </a:extLst>
              </p:cNvPr>
              <p:cNvSpPr txBox="1"/>
              <p:nvPr/>
            </p:nvSpPr>
            <p:spPr>
              <a:xfrm>
                <a:off x="3962268" y="5522062"/>
                <a:ext cx="7406977" cy="86177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 i="1"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acc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acc>
                      <m:accPr>
                        <m:chr m:val="̅"/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altLang="zh-CN" sz="28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altLang="zh-CN" sz="28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altLang="zh-CN" sz="28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altLang="zh-CN" sz="28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e>
                    </m:acc>
                    <m:acc>
                      <m:accPr>
                        <m:chr m:val="̅"/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e>
                    </m:acc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acc>
                    <m:acc>
                      <m:accPr>
                        <m:chr m:val="̅"/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acc>
                      <m:accPr>
                        <m:chr m:val="̅"/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  <m:r>
                      <m:rPr>
                        <m:nor/>
                      </m:rPr>
                      <a:rPr lang="en-US" altLang="zh-CN" sz="2800" dirty="0"/>
                      <m:t> </m:t>
                    </m:r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acc>
                      <m:accPr>
                        <m:chr m:val="̅"/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acc>
                    <m:r>
                      <m:rPr>
                        <m:nor/>
                      </m:rPr>
                      <a:rPr lang="en-US" altLang="zh-CN" sz="2800" dirty="0"/>
                      <m:t> 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e>
                    </m:acc>
                    <m:r>
                      <m:rPr>
                        <m:nor/>
                      </m:rPr>
                      <a:rPr lang="en-US" altLang="zh-CN" sz="2800" dirty="0"/>
                      <m:t> 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altLang="zh-CN" sz="28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e>
                    </m:acc>
                    <m:r>
                      <a:rPr lang="en-US" altLang="zh-CN" sz="2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800" dirty="0"/>
                  <a:t>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acc>
                    <m:acc>
                      <m:accPr>
                        <m:chr m:val="̅"/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acc>
                      <m:accPr>
                        <m:chr m:val="̅"/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  <m:acc>
                      <m:accPr>
                        <m:chr m:val="̅"/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acc>
                    <m:acc>
                      <m:accPr>
                        <m:chr m:val="̅"/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acc>
                    <m:r>
                      <m:rPr>
                        <m:nor/>
                      </m:rPr>
                      <a:rPr lang="en-US" altLang="zh-CN" sz="2800" dirty="0"/>
                      <m:t> </m:t>
                    </m:r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acc>
                      <m:accPr>
                        <m:chr m:val="̅"/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e>
                    </m:acc>
                    <m:acc>
                      <m:accPr>
                        <m:chr m:val="̅"/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altLang="zh-CN" sz="2800" dirty="0"/>
                  <a:t>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acc>
                    <m:acc>
                      <m:accPr>
                        <m:chr m:val="̅"/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acc>
                      <m:accPr>
                        <m:chr m:val="̅"/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  <m:acc>
                      <m:accPr>
                        <m:chr m:val="̅"/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acc>
                    <m:acc>
                      <m:accPr>
                        <m:chr m:val="̅"/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acc>
                    <m:r>
                      <m:rPr>
                        <m:nor/>
                      </m:rPr>
                      <a:rPr lang="en-US" altLang="zh-CN" sz="2800" dirty="0"/>
                      <m:t> 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e>
                    </m:acc>
                    <m:r>
                      <m:rPr>
                        <m:nor/>
                      </m:rPr>
                      <a:rPr lang="en-US" altLang="zh-CN" sz="2800" dirty="0"/>
                      <m:t> 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altLang="zh-CN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</m:oMath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70039EBD-F7F0-05C2-652E-66A5F49A71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2268" y="5522062"/>
                <a:ext cx="7406977" cy="861774"/>
              </a:xfrm>
              <a:prstGeom prst="rect">
                <a:avLst/>
              </a:prstGeom>
              <a:blipFill>
                <a:blip r:embed="rId3"/>
                <a:stretch>
                  <a:fillRect t="-12766" b="-241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5E997640-76AD-5DE5-29E2-AF90F9DDE975}"/>
              </a:ext>
            </a:extLst>
          </p:cNvPr>
          <p:cNvSpPr txBox="1"/>
          <p:nvPr/>
        </p:nvSpPr>
        <p:spPr>
          <a:xfrm>
            <a:off x="1006774" y="2869720"/>
            <a:ext cx="14090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8</a:t>
            </a:r>
            <a:r>
              <a:rPr lang="zh-CN" altLang="en-US" sz="2400" dirty="0"/>
              <a:t>个状态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7ADCBE0-6B05-90DD-A80A-93B29D4E2A14}"/>
              </a:ext>
            </a:extLst>
          </p:cNvPr>
          <p:cNvSpPr/>
          <p:nvPr/>
        </p:nvSpPr>
        <p:spPr>
          <a:xfrm>
            <a:off x="9039069" y="1776226"/>
            <a:ext cx="1592070" cy="3470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706CA0E-AC66-C744-2E26-E7B1AB81ACAB}"/>
              </a:ext>
            </a:extLst>
          </p:cNvPr>
          <p:cNvSpPr/>
          <p:nvPr/>
        </p:nvSpPr>
        <p:spPr>
          <a:xfrm>
            <a:off x="4729514" y="1783830"/>
            <a:ext cx="4452079" cy="3462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F0D0156-79CB-5E75-7795-BBD29AC5CAB8}"/>
              </a:ext>
            </a:extLst>
          </p:cNvPr>
          <p:cNvSpPr txBox="1"/>
          <p:nvPr/>
        </p:nvSpPr>
        <p:spPr>
          <a:xfrm>
            <a:off x="581923" y="3355976"/>
            <a:ext cx="33803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几个输入？几个输出？</a:t>
            </a:r>
          </a:p>
        </p:txBody>
      </p:sp>
    </p:spTree>
    <p:extLst>
      <p:ext uri="{BB962C8B-B14F-4D97-AF65-F5344CB8AC3E}">
        <p14:creationId xmlns:p14="http://schemas.microsoft.com/office/powerpoint/2010/main" val="2126930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0"/>
      <p:bldP spid="3" grpId="0" animBg="1"/>
      <p:bldP spid="5" grpId="0" animBg="1"/>
      <p:bldP spid="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">
            <a:extLst>
              <a:ext uri="{FF2B5EF4-FFF2-40B4-BE49-F238E27FC236}">
                <a16:creationId xmlns:a16="http://schemas.microsoft.com/office/drawing/2014/main" id="{2D268FA7-3B60-10D5-0A59-C652E2F50D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3368" y="215267"/>
            <a:ext cx="8229600" cy="884237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200" dirty="0"/>
              <a:t>4.1.2 </a:t>
            </a:r>
            <a:r>
              <a:rPr lang="zh-CN" altLang="en-US" sz="3200" dirty="0"/>
              <a:t>优先编码器</a:t>
            </a:r>
          </a:p>
        </p:txBody>
      </p:sp>
      <p:sp>
        <p:nvSpPr>
          <p:cNvPr id="169987" name="Rectangle 3">
            <a:extLst>
              <a:ext uri="{FF2B5EF4-FFF2-40B4-BE49-F238E27FC236}">
                <a16:creationId xmlns:a16="http://schemas.microsoft.com/office/drawing/2014/main" id="{485C413C-0824-94B1-C90F-E23FA0BFE5A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30186" y="1042356"/>
            <a:ext cx="4530725" cy="4158296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zh-CN" altLang="en-US" sz="2400" dirty="0"/>
              <a:t>特点：允许同时输入两个以上的编码信号，但只对其中优先权最高的一个进行编码。</a:t>
            </a:r>
          </a:p>
          <a:p>
            <a:pPr eaLnBrk="1" hangingPunct="1">
              <a:defRPr/>
            </a:pPr>
            <a:endParaRPr lang="zh-CN" altLang="en-US" sz="2400" dirty="0"/>
          </a:p>
          <a:p>
            <a:pPr marL="0" indent="0" eaLnBrk="1" hangingPunct="1">
              <a:buNone/>
              <a:defRPr/>
            </a:pPr>
            <a:r>
              <a:rPr lang="zh-CN" altLang="en-US" sz="2400" dirty="0"/>
              <a:t>例：</a:t>
            </a:r>
            <a:r>
              <a:rPr lang="en-US" altLang="zh-CN" sz="2400" dirty="0"/>
              <a:t>8</a:t>
            </a:r>
            <a:r>
              <a:rPr lang="zh-CN" altLang="en-US" sz="2400" dirty="0"/>
              <a:t>线</a:t>
            </a:r>
            <a:r>
              <a:rPr lang="en-US" altLang="zh-CN" sz="2400" dirty="0"/>
              <a:t>-3</a:t>
            </a:r>
            <a:r>
              <a:rPr lang="zh-CN" altLang="en-US" sz="2400" dirty="0"/>
              <a:t>线优先编码器</a:t>
            </a:r>
          </a:p>
          <a:p>
            <a:pPr marL="0" indent="0" eaLnBrk="1" hangingPunct="1">
              <a:buNone/>
              <a:defRPr/>
            </a:pPr>
            <a:r>
              <a:rPr lang="zh-CN" altLang="en-US" sz="2400" dirty="0"/>
              <a:t>（设</a:t>
            </a:r>
            <a:r>
              <a:rPr lang="en-US" altLang="zh-CN" sz="2400" dirty="0"/>
              <a:t>I</a:t>
            </a:r>
            <a:r>
              <a:rPr lang="en-US" altLang="zh-CN" sz="2400" baseline="-25000" dirty="0"/>
              <a:t>7</a:t>
            </a:r>
            <a:r>
              <a:rPr lang="zh-CN" altLang="en-US" sz="2400" dirty="0"/>
              <a:t>优先权最高</a:t>
            </a:r>
            <a:r>
              <a:rPr lang="en-US" altLang="zh-CN" sz="2400" dirty="0"/>
              <a:t>…I</a:t>
            </a:r>
            <a:r>
              <a:rPr lang="en-US" altLang="zh-CN" sz="2400" baseline="-25000" dirty="0"/>
              <a:t>0</a:t>
            </a:r>
            <a:r>
              <a:rPr lang="zh-CN" altLang="en-US" sz="2400" dirty="0"/>
              <a:t>优先权最低）</a:t>
            </a:r>
          </a:p>
          <a:p>
            <a:pPr eaLnBrk="1" hangingPunct="1">
              <a:defRPr/>
            </a:pPr>
            <a:endParaRPr lang="en-US" altLang="zh-CN" sz="2400" dirty="0"/>
          </a:p>
        </p:txBody>
      </p:sp>
      <p:graphicFrame>
        <p:nvGraphicFramePr>
          <p:cNvPr id="170123" name="Group 139">
            <a:extLst>
              <a:ext uri="{FF2B5EF4-FFF2-40B4-BE49-F238E27FC236}">
                <a16:creationId xmlns:a16="http://schemas.microsoft.com/office/drawing/2014/main" id="{3031740A-F76B-07E6-028C-73C7CBC4BF95}"/>
              </a:ext>
            </a:extLst>
          </p:cNvPr>
          <p:cNvGraphicFramePr>
            <a:graphicFrameLocks noGrp="1"/>
          </p:cNvGraphicFramePr>
          <p:nvPr/>
        </p:nvGraphicFramePr>
        <p:xfrm>
          <a:off x="5231607" y="273371"/>
          <a:ext cx="5048569" cy="3657600"/>
        </p:xfrm>
        <a:graphic>
          <a:graphicData uri="http://schemas.openxmlformats.org/drawingml/2006/table">
            <a:tbl>
              <a:tblPr/>
              <a:tblGrid>
                <a:gridCol w="458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87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79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87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87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6704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5878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285750">
                <a:tc gridSpan="8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输           入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输   出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I</a:t>
                      </a:r>
                      <a:r>
                        <a:rPr kumimoji="0" lang="en-US" altLang="zh-CN" sz="1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I</a:t>
                      </a:r>
                      <a:r>
                        <a:rPr kumimoji="0" lang="en-US" altLang="zh-CN" sz="1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I</a:t>
                      </a:r>
                      <a:r>
                        <a:rPr kumimoji="0" lang="en-US" altLang="zh-CN" sz="1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I</a:t>
                      </a:r>
                      <a:r>
                        <a:rPr kumimoji="0" lang="en-US" altLang="zh-CN" sz="1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I</a:t>
                      </a:r>
                      <a:r>
                        <a:rPr kumimoji="0" lang="en-US" altLang="zh-CN" sz="1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4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I</a:t>
                      </a:r>
                      <a:r>
                        <a:rPr kumimoji="0" lang="en-US" altLang="zh-CN" sz="1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5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I</a:t>
                      </a:r>
                      <a:r>
                        <a:rPr kumimoji="0" lang="en-US" altLang="zh-CN" sz="1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6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I</a:t>
                      </a:r>
                      <a:r>
                        <a:rPr kumimoji="0" lang="en-US" altLang="zh-CN" sz="1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7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A</a:t>
                      </a:r>
                      <a:r>
                        <a:rPr kumimoji="0" lang="en-US" altLang="zh-CN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A</a:t>
                      </a:r>
                      <a:r>
                        <a:rPr kumimoji="0" lang="en-US" altLang="zh-CN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A</a:t>
                      </a:r>
                      <a:r>
                        <a:rPr kumimoji="0" lang="en-US" altLang="zh-CN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X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X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X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X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X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X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X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X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X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X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X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73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X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X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X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X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7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X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X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X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32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X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X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57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X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73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57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70113" name="Object 129">
                <a:extLst>
                  <a:ext uri="{FF2B5EF4-FFF2-40B4-BE49-F238E27FC236}">
                    <a16:creationId xmlns:a16="http://schemas.microsoft.com/office/drawing/2014/main" id="{B8A31B35-4F9A-8D58-E554-77AA1021D4BB}"/>
                  </a:ext>
                </a:extLst>
              </p:cNvPr>
              <p:cNvSpPr txBox="1"/>
              <p:nvPr/>
            </p:nvSpPr>
            <p:spPr bwMode="auto">
              <a:xfrm>
                <a:off x="4727575" y="4149725"/>
                <a:ext cx="4732338" cy="5572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zh-CN" altLang="en-US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sub>
                          </m:sSub>
                        </m:e>
                      </m:acc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sub>
                          </m:sSub>
                        </m:e>
                      </m:acc>
                      <m:acc>
                        <m:accPr>
                          <m:chr m:val="̅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</m:e>
                      </m:acc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sub>
                          </m:sSub>
                        </m:e>
                      </m:acc>
                      <m:acc>
                        <m:accPr>
                          <m:chr m:val="̅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</m:e>
                      </m:acc>
                      <m:acc>
                        <m:accPr>
                          <m:chr m:val="̅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e>
                      </m:acc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70113" name="Object 129">
                <a:extLst>
                  <a:ext uri="{FF2B5EF4-FFF2-40B4-BE49-F238E27FC236}">
                    <a16:creationId xmlns:a16="http://schemas.microsoft.com/office/drawing/2014/main" id="{B8A31B35-4F9A-8D58-E554-77AA1021D4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27575" y="4149725"/>
                <a:ext cx="4732338" cy="557213"/>
              </a:xfrm>
              <a:prstGeom prst="rect">
                <a:avLst/>
              </a:prstGeom>
              <a:blipFill>
                <a:blip r:embed="rId2"/>
                <a:stretch>
                  <a:fillRect l="-38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0114" name="Object 130">
                <a:extLst>
                  <a:ext uri="{FF2B5EF4-FFF2-40B4-BE49-F238E27FC236}">
                    <a16:creationId xmlns:a16="http://schemas.microsoft.com/office/drawing/2014/main" id="{C7FF53F7-AE7A-2CBE-3FCE-83221A588DA8}"/>
                  </a:ext>
                </a:extLst>
              </p:cNvPr>
              <p:cNvSpPr txBox="1"/>
              <p:nvPr/>
            </p:nvSpPr>
            <p:spPr bwMode="auto">
              <a:xfrm>
                <a:off x="4873153" y="5694366"/>
                <a:ext cx="3767137" cy="37227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70114" name="Object 130">
                <a:extLst>
                  <a:ext uri="{FF2B5EF4-FFF2-40B4-BE49-F238E27FC236}">
                    <a16:creationId xmlns:a16="http://schemas.microsoft.com/office/drawing/2014/main" id="{C7FF53F7-AE7A-2CBE-3FCE-83221A588D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73153" y="5694366"/>
                <a:ext cx="3767137" cy="372270"/>
              </a:xfrm>
              <a:prstGeom prst="rect">
                <a:avLst/>
              </a:prstGeom>
              <a:blipFill>
                <a:blip r:embed="rId3"/>
                <a:stretch>
                  <a:fillRect l="-324" b="-2623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0115" name="AutoShape 131">
            <a:extLst>
              <a:ext uri="{FF2B5EF4-FFF2-40B4-BE49-F238E27FC236}">
                <a16:creationId xmlns:a16="http://schemas.microsoft.com/office/drawing/2014/main" id="{4376A38F-0CCC-5F88-4E93-4BF99A0418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1" y="4941888"/>
            <a:ext cx="288925" cy="647700"/>
          </a:xfrm>
          <a:prstGeom prst="downArrow">
            <a:avLst>
              <a:gd name="adj1" fmla="val 50000"/>
              <a:gd name="adj2" fmla="val 5604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Comic Sans MS" panose="030F0702030302020204" pitchFamily="66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Comic Sans MS" panose="030F0702030302020204" pitchFamily="66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Comic Sans MS" panose="030F0702030302020204" pitchFamily="66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000000"/>
                </a:solidFill>
                <a:latin typeface="Comic Sans MS" panose="030F0702030302020204" pitchFamily="66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0000"/>
                </a:solidFill>
                <a:latin typeface="Comic Sans MS" panose="030F0702030302020204" pitchFamily="66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0000"/>
                </a:solidFill>
                <a:latin typeface="Comic Sans MS" panose="030F0702030302020204" pitchFamily="66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0000"/>
                </a:solidFill>
                <a:latin typeface="Comic Sans MS" panose="030F0702030302020204" pitchFamily="66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0000"/>
                </a:solidFill>
                <a:latin typeface="Comic Sans MS" panose="030F0702030302020204" pitchFamily="66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0000"/>
                </a:solidFill>
                <a:latin typeface="Comic Sans MS" panose="030F0702030302020204" pitchFamily="66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0117" name="AutoShape 133">
            <a:extLst>
              <a:ext uri="{FF2B5EF4-FFF2-40B4-BE49-F238E27FC236}">
                <a16:creationId xmlns:a16="http://schemas.microsoft.com/office/drawing/2014/main" id="{53105DC2-246F-111C-3BC3-05A58ED6BA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3642" y="4804571"/>
            <a:ext cx="1944687" cy="792162"/>
          </a:xfrm>
          <a:prstGeom prst="wedgeEllipseCallout">
            <a:avLst>
              <a:gd name="adj1" fmla="val -27060"/>
              <a:gd name="adj2" fmla="val -12130"/>
            </a:avLst>
          </a:prstGeom>
          <a:solidFill>
            <a:srgbClr val="00B0F0"/>
          </a:solidFill>
          <a:ln>
            <a:noFill/>
          </a:ln>
          <a:effectLst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Comic Sans MS" panose="030F0702030302020204" pitchFamily="66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Comic Sans MS" panose="030F0702030302020204" pitchFamily="66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Comic Sans MS" panose="030F0702030302020204" pitchFamily="66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000000"/>
                </a:solidFill>
                <a:latin typeface="Comic Sans MS" panose="030F0702030302020204" pitchFamily="66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0000"/>
                </a:solidFill>
                <a:latin typeface="Comic Sans MS" panose="030F0702030302020204" pitchFamily="66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0000"/>
                </a:solidFill>
                <a:latin typeface="Comic Sans MS" panose="030F0702030302020204" pitchFamily="66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0000"/>
                </a:solidFill>
                <a:latin typeface="Comic Sans MS" panose="030F0702030302020204" pitchFamily="66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0000"/>
                </a:solidFill>
                <a:latin typeface="Comic Sans MS" panose="030F0702030302020204" pitchFamily="66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0000"/>
                </a:solidFill>
                <a:latin typeface="Comic Sans MS" panose="030F0702030302020204" pitchFamily="66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36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0118" name="Object 134">
                <a:extLst>
                  <a:ext uri="{FF2B5EF4-FFF2-40B4-BE49-F238E27FC236}">
                    <a16:creationId xmlns:a16="http://schemas.microsoft.com/office/drawing/2014/main" id="{9FA4FB68-FED4-91D3-2107-05A25C70D717}"/>
                  </a:ext>
                </a:extLst>
              </p:cNvPr>
              <p:cNvSpPr txBox="1">
                <a:spLocks noGrp="1"/>
              </p:cNvSpPr>
              <p:nvPr>
                <p:ph sz="quarter" idx="2"/>
              </p:nvPr>
            </p:nvSpPr>
            <p:spPr bwMode="auto">
              <a:xfrm>
                <a:off x="7513642" y="5024438"/>
                <a:ext cx="2268537" cy="2825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 sz="20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zh-CN" altLang="en-US" sz="1800" dirty="0"/>
              </a:p>
            </p:txBody>
          </p:sp>
        </mc:Choice>
        <mc:Fallback xmlns="">
          <p:sp>
            <p:nvSpPr>
              <p:cNvPr id="170118" name="Object 134">
                <a:extLst>
                  <a:ext uri="{FF2B5EF4-FFF2-40B4-BE49-F238E27FC236}">
                    <a16:creationId xmlns:a16="http://schemas.microsoft.com/office/drawing/2014/main" id="{9FA4FB68-FED4-91D3-2107-05A25C70D7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sz="quarter" idx="2"/>
              </p:nvPr>
            </p:nvSpPr>
            <p:spPr bwMode="auto">
              <a:xfrm>
                <a:off x="7513642" y="5024438"/>
                <a:ext cx="2268537" cy="282575"/>
              </a:xfrm>
              <a:prstGeom prst="rect">
                <a:avLst/>
              </a:prstGeom>
              <a:blipFill>
                <a:blip r:embed="rId5"/>
                <a:stretch>
                  <a:fillRect b="-2127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矩形 1">
            <a:extLst>
              <a:ext uri="{FF2B5EF4-FFF2-40B4-BE49-F238E27FC236}">
                <a16:creationId xmlns:a16="http://schemas.microsoft.com/office/drawing/2014/main" id="{D5948682-B423-9D57-7E88-5D50B4BB5A05}"/>
              </a:ext>
            </a:extLst>
          </p:cNvPr>
          <p:cNvSpPr/>
          <p:nvPr/>
        </p:nvSpPr>
        <p:spPr>
          <a:xfrm>
            <a:off x="5078857" y="1093072"/>
            <a:ext cx="3807502" cy="2946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47C363C-415D-B64F-762D-592B36B03E86}"/>
              </a:ext>
            </a:extLst>
          </p:cNvPr>
          <p:cNvSpPr/>
          <p:nvPr/>
        </p:nvSpPr>
        <p:spPr>
          <a:xfrm>
            <a:off x="8929644" y="1019119"/>
            <a:ext cx="1306513" cy="2946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5219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0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0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1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987" grpId="0" autoUpdateAnimBg="0"/>
      <p:bldP spid="170113" grpId="0"/>
      <p:bldP spid="170114" grpId="0"/>
      <p:bldP spid="170117" grpId="0" animBg="1"/>
      <p:bldP spid="170118" grpId="0" build="p"/>
      <p:bldP spid="2" grpId="0" animBg="1"/>
      <p:bldP spid="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F8C2DC86-8027-F54D-88F5-904FD3837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1" sz="36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36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36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36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36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itchFamily="2" charset="2"/>
              <a:defRPr kumimoji="1" sz="36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itchFamily="2" charset="2"/>
              <a:defRPr kumimoji="1" sz="36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itchFamily="2" charset="2"/>
              <a:defRPr kumimoji="1" sz="36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itchFamily="2" charset="2"/>
              <a:defRPr kumimoji="1" sz="36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en-US" altLang="zh-CN" sz="1400">
                <a:latin typeface="Tahoma" panose="020B0604030504040204" pitchFamily="34" charset="0"/>
                <a:ea typeface="宋体" panose="02010600030101010101" pitchFamily="2" charset="-122"/>
              </a:rPr>
              <a:t>1-</a:t>
            </a:r>
            <a:fld id="{4732181E-B0CA-BF4B-A208-B0F46B4B0E8D}" type="slidenum">
              <a:rPr kumimoji="0" lang="en-US" altLang="zh-CN" sz="1400">
                <a:latin typeface="Tahoma" panose="020B0604030504040204" pitchFamily="34" charset="0"/>
                <a:ea typeface="宋体" panose="02010600030101010101" pitchFamily="2" charset="-122"/>
              </a:rPr>
              <a:pPr eaLnBrk="1" hangingPunct="1"/>
              <a:t>25</a:t>
            </a:fld>
            <a:endParaRPr kumimoji="0" lang="en-US" altLang="zh-CN" sz="1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3795" name="Rectangle 2" descr="Rectangle: Click to edit Master text styles&#13;&#10;Second level&#13;&#10;Third level&#13;&#10;Fourth level&#13;&#10;Fifth level">
            <a:extLst>
              <a:ext uri="{FF2B5EF4-FFF2-40B4-BE49-F238E27FC236}">
                <a16:creationId xmlns:a16="http://schemas.microsoft.com/office/drawing/2014/main" id="{24AA63D7-0A50-1745-8601-BFC16627DC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79650" y="457200"/>
            <a:ext cx="8083550" cy="175260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b="1"/>
              <a:t>3. </a:t>
            </a:r>
            <a:r>
              <a:rPr lang="zh-CN" altLang="en-US" b="1"/>
              <a:t>二</a:t>
            </a:r>
            <a:r>
              <a:rPr lang="en-US" altLang="zh-CN" b="1"/>
              <a:t>-</a:t>
            </a:r>
            <a:r>
              <a:rPr lang="zh-CN" altLang="en-US" b="1"/>
              <a:t>十进制编码（</a:t>
            </a:r>
            <a:r>
              <a:rPr lang="en-US" altLang="zh-CN" b="1"/>
              <a:t>BCD</a:t>
            </a:r>
            <a:r>
              <a:rPr lang="zh-CN" altLang="en-US" b="1"/>
              <a:t>码）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b="1"/>
              <a:t>   用一组二进制代码表示十进制数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zh-CN" altLang="en-US" b="1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b="1"/>
              <a:t>  </a:t>
            </a:r>
            <a:r>
              <a:rPr lang="en-US" altLang="zh-CN" b="1"/>
              <a:t>8421BCD</a:t>
            </a:r>
            <a:r>
              <a:rPr lang="zh-CN" altLang="en-US" b="1"/>
              <a:t>码编码器</a:t>
            </a:r>
          </a:p>
        </p:txBody>
      </p:sp>
      <p:graphicFrame>
        <p:nvGraphicFramePr>
          <p:cNvPr id="33796" name="Object 3">
            <a:extLst>
              <a:ext uri="{FF2B5EF4-FFF2-40B4-BE49-F238E27FC236}">
                <a16:creationId xmlns:a16="http://schemas.microsoft.com/office/drawing/2014/main" id="{F9BBCDB9-DC45-654A-AA5B-7E21C4C011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66989" y="2420939"/>
          <a:ext cx="7705725" cy="3481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BMP 图象" r:id="rId3" imgW="3613150" imgH="1631950" progId="Paint.Picture">
                  <p:embed/>
                </p:oleObj>
              </mc:Choice>
              <mc:Fallback>
                <p:oleObj name="BMP 图象" r:id="rId3" imgW="3613150" imgH="1631950" progId="Paint.Picture">
                  <p:embed/>
                  <p:pic>
                    <p:nvPicPr>
                      <p:cNvPr id="33796" name="Object 3">
                        <a:extLst>
                          <a:ext uri="{FF2B5EF4-FFF2-40B4-BE49-F238E27FC236}">
                            <a16:creationId xmlns:a16="http://schemas.microsoft.com/office/drawing/2014/main" id="{F9BBCDB9-DC45-654A-AA5B-7E21C4C011C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6989" y="2420939"/>
                        <a:ext cx="7705725" cy="3481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2">
            <a:extLst>
              <a:ext uri="{FF2B5EF4-FFF2-40B4-BE49-F238E27FC236}">
                <a16:creationId xmlns:a16="http://schemas.microsoft.com/office/drawing/2014/main" id="{929683DD-E162-377A-A574-3F83C68614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17843" y="92076"/>
            <a:ext cx="8229600" cy="884237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/>
              <a:t>4.2 </a:t>
            </a:r>
            <a:r>
              <a:rPr lang="zh-CN" altLang="en-US" dirty="0"/>
              <a:t>译码器</a:t>
            </a:r>
          </a:p>
        </p:txBody>
      </p:sp>
      <p:sp>
        <p:nvSpPr>
          <p:cNvPr id="251907" name="Rectangle 3">
            <a:extLst>
              <a:ext uri="{FF2B5EF4-FFF2-40B4-BE49-F238E27FC236}">
                <a16:creationId xmlns:a16="http://schemas.microsoft.com/office/drawing/2014/main" id="{0486D40A-280C-86BF-7BAA-FBC66C5265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90744" y="1071305"/>
            <a:ext cx="9553008" cy="45053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2400" dirty="0"/>
              <a:t>译码：将每个输入的二进制代码译成对应的输出物理变量状态。</a:t>
            </a:r>
          </a:p>
          <a:p>
            <a:pPr marL="0" indent="0" eaLnBrk="1" hangingPunct="1">
              <a:buNone/>
              <a:defRPr/>
            </a:pPr>
            <a:endParaRPr lang="zh-CN" altLang="en-US" sz="2400" dirty="0"/>
          </a:p>
          <a:p>
            <a:pPr eaLnBrk="1" hangingPunct="1">
              <a:defRPr/>
            </a:pPr>
            <a:endParaRPr lang="en-US" altLang="zh-CN" sz="2400" dirty="0"/>
          </a:p>
        </p:txBody>
      </p:sp>
      <p:sp>
        <p:nvSpPr>
          <p:cNvPr id="251908" name="Rectangle 4">
            <a:extLst>
              <a:ext uri="{FF2B5EF4-FFF2-40B4-BE49-F238E27FC236}">
                <a16:creationId xmlns:a16="http://schemas.microsoft.com/office/drawing/2014/main" id="{1AC5B2E3-5055-E042-5A9C-8201E41F38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241" y="1696244"/>
            <a:ext cx="7416800" cy="1008062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702030302020204" pitchFamily="66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702030302020204" pitchFamily="66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702030302020204" pitchFamily="66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702030302020204" pitchFamily="66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702030302020204" pitchFamily="66" charset="0"/>
                <a:ea typeface="楷体_GB2312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702030302020204" pitchFamily="66" charset="0"/>
                <a:ea typeface="楷体_GB2312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702030302020204" pitchFamily="66" charset="0"/>
                <a:ea typeface="楷体_GB2312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702030302020204" pitchFamily="66" charset="0"/>
                <a:ea typeface="楷体_GB2312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702030302020204" pitchFamily="66" charset="0"/>
                <a:ea typeface="楷体_GB2312" pitchFamily="49" charset="-122"/>
              </a:defRPr>
            </a:lvl9pPr>
          </a:lstStyle>
          <a:p>
            <a:pPr eaLnBrk="1" hangingPunct="1">
              <a:buFontTx/>
              <a:buNone/>
              <a:defRPr/>
            </a:pPr>
            <a:r>
              <a:rPr lang="en-US" altLang="zh-CN" dirty="0"/>
              <a:t>1) </a:t>
            </a:r>
            <a:r>
              <a:rPr lang="zh-CN" altLang="en-US" dirty="0"/>
              <a:t>二进制译码器</a:t>
            </a:r>
          </a:p>
          <a:p>
            <a:pPr eaLnBrk="1" hangingPunct="1">
              <a:buFontTx/>
              <a:buNone/>
              <a:defRPr/>
            </a:pPr>
            <a:r>
              <a:rPr lang="zh-CN" altLang="en-US" dirty="0"/>
              <a:t>例：将三位二进制可以译码成几种状态？</a:t>
            </a:r>
            <a:endParaRPr lang="en-US" altLang="zh-CN" dirty="0"/>
          </a:p>
          <a:p>
            <a:pPr eaLnBrk="1" hangingPunct="1">
              <a:buFontTx/>
              <a:buNone/>
              <a:defRPr/>
            </a:pPr>
            <a:r>
              <a:rPr lang="en-US" altLang="zh-CN" dirty="0"/>
              <a:t>3</a:t>
            </a:r>
            <a:r>
              <a:rPr lang="zh-CN" altLang="en-US" dirty="0"/>
              <a:t>线</a:t>
            </a:r>
            <a:r>
              <a:rPr lang="en-US" altLang="zh-CN" dirty="0"/>
              <a:t>—8</a:t>
            </a:r>
            <a:r>
              <a:rPr lang="zh-CN" altLang="en-US" dirty="0"/>
              <a:t>线译码器</a:t>
            </a:r>
          </a:p>
        </p:txBody>
      </p:sp>
      <p:pic>
        <p:nvPicPr>
          <p:cNvPr id="251909" name="Picture 5">
            <a:extLst>
              <a:ext uri="{FF2B5EF4-FFF2-40B4-BE49-F238E27FC236}">
                <a16:creationId xmlns:a16="http://schemas.microsoft.com/office/drawing/2014/main" id="{7794B815-679F-513C-04BF-6181118A2F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843" y="3108326"/>
            <a:ext cx="4210916" cy="30067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52026" name="Group 122">
            <a:extLst>
              <a:ext uri="{FF2B5EF4-FFF2-40B4-BE49-F238E27FC236}">
                <a16:creationId xmlns:a16="http://schemas.microsoft.com/office/drawing/2014/main" id="{86DC6B7C-079A-BCC7-5BB8-63CECAC97024}"/>
              </a:ext>
            </a:extLst>
          </p:cNvPr>
          <p:cNvGraphicFramePr>
            <a:graphicFrameLocks noGrp="1"/>
          </p:cNvGraphicFramePr>
          <p:nvPr/>
        </p:nvGraphicFramePr>
        <p:xfrm>
          <a:off x="5016501" y="2565401"/>
          <a:ext cx="4824413" cy="3630613"/>
        </p:xfrm>
        <a:graphic>
          <a:graphicData uri="http://schemas.openxmlformats.org/drawingml/2006/table">
            <a:tbl>
              <a:tblPr/>
              <a:tblGrid>
                <a:gridCol w="438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7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65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97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97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97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656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973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65824">
                <a:tc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输      入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8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输        出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19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A</a:t>
                      </a:r>
                      <a:r>
                        <a:rPr kumimoji="0" lang="en-US" altLang="zh-CN" sz="16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A</a:t>
                      </a:r>
                      <a:r>
                        <a:rPr kumimoji="0" lang="en-US" altLang="zh-CN" sz="16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A</a:t>
                      </a:r>
                      <a:r>
                        <a:rPr kumimoji="0" lang="en-US" altLang="zh-CN" sz="16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Y</a:t>
                      </a:r>
                      <a:r>
                        <a:rPr kumimoji="0" lang="en-US" altLang="zh-CN" sz="16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7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Y</a:t>
                      </a:r>
                      <a:r>
                        <a:rPr kumimoji="0" lang="en-US" altLang="zh-CN" sz="16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6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Y</a:t>
                      </a:r>
                      <a:r>
                        <a:rPr kumimoji="0" lang="en-US" altLang="zh-CN" sz="16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5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Y</a:t>
                      </a:r>
                      <a:r>
                        <a:rPr kumimoji="0" lang="en-US" altLang="zh-CN" sz="16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4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Y</a:t>
                      </a:r>
                      <a:r>
                        <a:rPr kumimoji="0" lang="en-US" altLang="zh-CN" sz="16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Y</a:t>
                      </a:r>
                      <a:r>
                        <a:rPr kumimoji="0" lang="en-US" altLang="zh-CN" sz="16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2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Y</a:t>
                      </a:r>
                      <a:r>
                        <a:rPr kumimoji="0" lang="en-US" altLang="zh-CN" sz="16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Y</a:t>
                      </a:r>
                      <a:r>
                        <a:rPr kumimoji="0" lang="en-US" altLang="zh-CN" sz="16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2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82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82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82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82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82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82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82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anose="030F0702030302020204" pitchFamily="66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" name="矩形 1">
            <a:extLst>
              <a:ext uri="{FF2B5EF4-FFF2-40B4-BE49-F238E27FC236}">
                <a16:creationId xmlns:a16="http://schemas.microsoft.com/office/drawing/2014/main" id="{6A580BC7-D451-9FFB-93B2-825584F23E4F}"/>
              </a:ext>
            </a:extLst>
          </p:cNvPr>
          <p:cNvSpPr/>
          <p:nvPr/>
        </p:nvSpPr>
        <p:spPr>
          <a:xfrm>
            <a:off x="6413157" y="3323968"/>
            <a:ext cx="3361038" cy="28034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1234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1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1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1907" grpId="0" autoUpdateAnimBg="0"/>
      <p:bldP spid="2" grpId="0" animBg="1"/>
      <p:bldP spid="2" grpId="1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>
            <a:extLst>
              <a:ext uri="{FF2B5EF4-FFF2-40B4-BE49-F238E27FC236}">
                <a16:creationId xmlns:a16="http://schemas.microsoft.com/office/drawing/2014/main" id="{9B150B58-0C34-0D87-6A70-85C6D69AD7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873111"/>
            <a:ext cx="4001887" cy="816155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zh-CN" sz="2800" dirty="0"/>
              <a:t>2</a:t>
            </a:r>
            <a:r>
              <a:rPr lang="zh-CN" altLang="en-US" sz="2800" dirty="0"/>
              <a:t>）</a:t>
            </a:r>
            <a:r>
              <a:rPr lang="en-US" altLang="zh-CN" sz="2800" dirty="0"/>
              <a:t> </a:t>
            </a:r>
            <a:r>
              <a:rPr lang="zh-CN" altLang="en-US" sz="2800" dirty="0"/>
              <a:t>二</a:t>
            </a:r>
            <a:r>
              <a:rPr lang="en-US" altLang="zh-CN" sz="2800" dirty="0"/>
              <a:t>—</a:t>
            </a:r>
            <a:r>
              <a:rPr lang="zh-CN" altLang="en-US" sz="2800" dirty="0"/>
              <a:t>十进制译码器</a:t>
            </a:r>
          </a:p>
        </p:txBody>
      </p:sp>
      <p:sp>
        <p:nvSpPr>
          <p:cNvPr id="258051" name="Rectangle 3">
            <a:extLst>
              <a:ext uri="{FF2B5EF4-FFF2-40B4-BE49-F238E27FC236}">
                <a16:creationId xmlns:a16="http://schemas.microsoft.com/office/drawing/2014/main" id="{23ADE125-81E7-8215-704C-A9EA32B9B4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5151" y="1588930"/>
            <a:ext cx="3203131" cy="462819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2400" dirty="0"/>
              <a:t>将输入</a:t>
            </a:r>
            <a:r>
              <a:rPr lang="en-US" altLang="zh-CN" sz="2400" dirty="0"/>
              <a:t>BCD</a:t>
            </a:r>
            <a:r>
              <a:rPr lang="zh-CN" altLang="en-US" sz="2400" dirty="0"/>
              <a:t>码的</a:t>
            </a:r>
            <a:r>
              <a:rPr lang="en-US" altLang="zh-CN" sz="2400" dirty="0"/>
              <a:t>10</a:t>
            </a:r>
            <a:r>
              <a:rPr lang="zh-CN" altLang="en-US" sz="2400" dirty="0"/>
              <a:t>个代码译成</a:t>
            </a:r>
            <a:r>
              <a:rPr lang="en-US" altLang="zh-CN" sz="2400" dirty="0"/>
              <a:t>10</a:t>
            </a:r>
            <a:r>
              <a:rPr lang="zh-CN" altLang="en-US" sz="2400" dirty="0"/>
              <a:t>个高、低电平的输出信号</a:t>
            </a:r>
            <a:endParaRPr lang="en-US" altLang="zh-CN" sz="2400" dirty="0"/>
          </a:p>
          <a:p>
            <a:pPr marL="0" indent="0" eaLnBrk="1" hangingPunct="1">
              <a:buNone/>
              <a:defRPr/>
            </a:pPr>
            <a:r>
              <a:rPr lang="en-US" altLang="zh-CN" sz="2400" dirty="0"/>
              <a:t>    </a:t>
            </a:r>
            <a:r>
              <a:rPr lang="zh-CN" altLang="en-US" sz="2400" dirty="0"/>
              <a:t>几个输入，几个输出？</a:t>
            </a:r>
          </a:p>
          <a:p>
            <a:pPr eaLnBrk="1" hangingPunct="1">
              <a:buFontTx/>
              <a:buNone/>
              <a:defRPr/>
            </a:pPr>
            <a:r>
              <a:rPr lang="zh-CN" altLang="en-US" sz="2400" dirty="0"/>
              <a:t>  （</a:t>
            </a:r>
            <a:r>
              <a:rPr lang="en-US" altLang="zh-CN" sz="2400" dirty="0"/>
              <a:t>4-10</a:t>
            </a:r>
            <a:r>
              <a:rPr lang="zh-CN" altLang="en-US" sz="2400" dirty="0"/>
              <a:t>线译码器）</a:t>
            </a:r>
          </a:p>
          <a:p>
            <a:pPr eaLnBrk="1" hangingPunct="1">
              <a:defRPr/>
            </a:pPr>
            <a:endParaRPr lang="en-US" altLang="zh-C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820" name="Object 5">
                <a:extLst>
                  <a:ext uri="{FF2B5EF4-FFF2-40B4-BE49-F238E27FC236}">
                    <a16:creationId xmlns:a16="http://schemas.microsoft.com/office/drawing/2014/main" id="{230A6904-40B7-B1D5-F225-041109FEAB1B}"/>
                  </a:ext>
                </a:extLst>
              </p:cNvPr>
              <p:cNvSpPr txBox="1"/>
              <p:nvPr/>
            </p:nvSpPr>
            <p:spPr bwMode="auto">
              <a:xfrm>
                <a:off x="465140" y="6037230"/>
                <a:ext cx="3641250" cy="57880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m>
                        <m:mPr>
                          <m:plcHide m:val="on"/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</m:mr>
                      </m:m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=0~9)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4820" name="Object 5">
                <a:extLst>
                  <a:ext uri="{FF2B5EF4-FFF2-40B4-BE49-F238E27FC236}">
                    <a16:creationId xmlns:a16="http://schemas.microsoft.com/office/drawing/2014/main" id="{230A6904-40B7-B1D5-F225-041109FEAB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5140" y="6037230"/>
                <a:ext cx="3641250" cy="57880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>
            <a:extLst>
              <a:ext uri="{FF2B5EF4-FFF2-40B4-BE49-F238E27FC236}">
                <a16:creationId xmlns:a16="http://schemas.microsoft.com/office/drawing/2014/main" id="{D0932157-9058-B946-115F-7661DA373171}"/>
              </a:ext>
            </a:extLst>
          </p:cNvPr>
          <p:cNvSpPr txBox="1">
            <a:spLocks/>
          </p:cNvSpPr>
          <p:nvPr/>
        </p:nvSpPr>
        <p:spPr>
          <a:xfrm>
            <a:off x="155151" y="-958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/>
              <a:t>4.2 </a:t>
            </a:r>
            <a:r>
              <a:rPr lang="zh-CN" altLang="en-US" dirty="0"/>
              <a:t>译码器</a:t>
            </a:r>
          </a:p>
        </p:txBody>
      </p:sp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84B2A41B-4CFE-537D-1A9C-16F527360D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90427" y="601201"/>
          <a:ext cx="8457261" cy="56555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BMP 图像" r:id="rId4" imgW="6380952" imgH="4266667" progId="Paint.Picture">
                  <p:embed/>
                </p:oleObj>
              </mc:Choice>
              <mc:Fallback>
                <p:oleObj name="BMP 图像" r:id="rId4" imgW="6380952" imgH="4266667" progId="Paint.Picture">
                  <p:embed/>
                  <p:pic>
                    <p:nvPicPr>
                      <p:cNvPr id="5" name="Object 3">
                        <a:extLst>
                          <a:ext uri="{FF2B5EF4-FFF2-40B4-BE49-F238E27FC236}">
                            <a16:creationId xmlns:a16="http://schemas.microsoft.com/office/drawing/2014/main" id="{84B2A41B-4CFE-537D-1A9C-16F527360DC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0427" y="601201"/>
                        <a:ext cx="8457261" cy="56555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18800377-4B18-2A87-2615-3F07488AE00F}"/>
              </a:ext>
            </a:extLst>
          </p:cNvPr>
          <p:cNvSpPr/>
          <p:nvPr/>
        </p:nvSpPr>
        <p:spPr>
          <a:xfrm>
            <a:off x="3690427" y="1463040"/>
            <a:ext cx="2317968" cy="274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7E1B1C5-23F9-41F3-886A-4950AE3E1B25}"/>
              </a:ext>
            </a:extLst>
          </p:cNvPr>
          <p:cNvSpPr/>
          <p:nvPr/>
        </p:nvSpPr>
        <p:spPr>
          <a:xfrm>
            <a:off x="6183606" y="1463040"/>
            <a:ext cx="5853243" cy="274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EBD86AE-5B13-F352-DFA5-5BAFDB6B01D6}"/>
              </a:ext>
            </a:extLst>
          </p:cNvPr>
          <p:cNvSpPr/>
          <p:nvPr/>
        </p:nvSpPr>
        <p:spPr>
          <a:xfrm>
            <a:off x="3843087" y="4355349"/>
            <a:ext cx="2012647" cy="17523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E028087-30DC-FC3E-7CDA-87FCC78E855B}"/>
              </a:ext>
            </a:extLst>
          </p:cNvPr>
          <p:cNvSpPr/>
          <p:nvPr/>
        </p:nvSpPr>
        <p:spPr>
          <a:xfrm>
            <a:off x="6312591" y="4439584"/>
            <a:ext cx="5587671" cy="15976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2971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4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20" grpId="0"/>
      <p:bldP spid="9" grpId="0" animBg="1"/>
      <p:bldP spid="10" grpId="0" animBg="1"/>
      <p:bldP spid="11" grpId="0" animBg="1"/>
      <p:bldP spid="1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6" name="Rectangle 2">
            <a:extLst>
              <a:ext uri="{FF2B5EF4-FFF2-40B4-BE49-F238E27FC236}">
                <a16:creationId xmlns:a16="http://schemas.microsoft.com/office/drawing/2014/main" id="{A321FC4D-925F-8D28-5ED0-259D7DD878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666" y="274638"/>
            <a:ext cx="8183563" cy="633412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n-US" altLang="zh-CN" sz="24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2. BCD</a:t>
            </a:r>
            <a:r>
              <a:rPr lang="zh-CN" altLang="en-US" sz="24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七段字符显示译码器</a:t>
            </a:r>
            <a:endParaRPr lang="en-US" altLang="zh-CN" sz="2400" dirty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9AF8386-17B7-8EE5-5E74-4CA410A203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8262" y="1198721"/>
            <a:ext cx="9273266" cy="4460558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7E7624B-5851-C7B1-182F-BA0FA8209EC5}"/>
              </a:ext>
            </a:extLst>
          </p:cNvPr>
          <p:cNvSpPr/>
          <p:nvPr/>
        </p:nvSpPr>
        <p:spPr>
          <a:xfrm>
            <a:off x="4621428" y="3466072"/>
            <a:ext cx="4130942" cy="4263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79778AD-223D-592E-E3E7-2B7907E7FB62}"/>
              </a:ext>
            </a:extLst>
          </p:cNvPr>
          <p:cNvSpPr/>
          <p:nvPr/>
        </p:nvSpPr>
        <p:spPr>
          <a:xfrm>
            <a:off x="4586447" y="2137718"/>
            <a:ext cx="4091782" cy="12912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50B24D9-134B-39C5-8934-7172A5CA4BFB}"/>
              </a:ext>
            </a:extLst>
          </p:cNvPr>
          <p:cNvSpPr/>
          <p:nvPr/>
        </p:nvSpPr>
        <p:spPr>
          <a:xfrm>
            <a:off x="4586447" y="3892380"/>
            <a:ext cx="4091782" cy="16558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88438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4" grpId="0" animBg="1"/>
      <p:bldP spid="4" grpId="1" animBg="1"/>
      <p:bldP spid="5" grpId="0" animBg="1"/>
      <p:bldP spid="5" grpId="1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9057ED-C447-D96E-2FF4-1608672C4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586" y="-105707"/>
            <a:ext cx="10515600" cy="1325563"/>
          </a:xfrm>
        </p:spPr>
        <p:txBody>
          <a:bodyPr/>
          <a:lstStyle/>
          <a:p>
            <a:r>
              <a:rPr lang="en-US" altLang="zh-CN" dirty="0"/>
              <a:t>4.4 </a:t>
            </a:r>
            <a:r>
              <a:rPr lang="zh-CN" altLang="en-US" dirty="0"/>
              <a:t>数据选择器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DA627C-1919-A25E-D142-3CCF06F458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280" y="1012071"/>
            <a:ext cx="10515600" cy="4351338"/>
          </a:xfrm>
        </p:spPr>
        <p:txBody>
          <a:bodyPr/>
          <a:lstStyle/>
          <a:p>
            <a:r>
              <a:rPr lang="zh-CN" altLang="en-US" dirty="0"/>
              <a:t>在数字信号的传输过程中，有时需要从一组输入数据中选出某一个 ， 这时就要用到一种称为数据选择器</a:t>
            </a:r>
            <a:r>
              <a:rPr lang="en-US" altLang="zh-CN" dirty="0"/>
              <a:t>(Data Selector) </a:t>
            </a:r>
            <a:r>
              <a:rPr lang="zh-CN" altLang="en-US" dirty="0"/>
              <a:t>或多路开关 </a:t>
            </a:r>
            <a:r>
              <a:rPr lang="en-US" altLang="zh-CN" dirty="0"/>
              <a:t>(</a:t>
            </a:r>
            <a:r>
              <a:rPr lang="en-US" altLang="zh-CN" dirty="0" err="1"/>
              <a:t>MultiplexPr,MUX</a:t>
            </a:r>
            <a:r>
              <a:rPr lang="en-US" altLang="zh-CN" dirty="0"/>
              <a:t>) </a:t>
            </a:r>
            <a:r>
              <a:rPr lang="zh-CN" altLang="en-US" dirty="0"/>
              <a:t>的逻辑电路。</a:t>
            </a:r>
            <a:endParaRPr lang="en-US" altLang="zh-CN" dirty="0"/>
          </a:p>
          <a:p>
            <a:r>
              <a:rPr lang="en-US" altLang="zh-CN" dirty="0"/>
              <a:t>“</a:t>
            </a:r>
            <a:r>
              <a:rPr lang="zh-CN" altLang="en-US" dirty="0"/>
              <a:t>四选一”数据选择器 </a:t>
            </a:r>
          </a:p>
        </p:txBody>
      </p:sp>
      <p:graphicFrame>
        <p:nvGraphicFramePr>
          <p:cNvPr id="10" name="Object 1025">
            <a:extLst>
              <a:ext uri="{FF2B5EF4-FFF2-40B4-BE49-F238E27FC236}">
                <a16:creationId xmlns:a16="http://schemas.microsoft.com/office/drawing/2014/main" id="{28885469-B247-275F-11F6-1C9ADE4414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7779" y="2726482"/>
          <a:ext cx="6629400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6" name="公式" r:id="rId4" imgW="2527300" imgH="215900" progId="Equation.3">
                  <p:embed/>
                </p:oleObj>
              </mc:Choice>
              <mc:Fallback>
                <p:oleObj name="公式" r:id="rId4" imgW="2527300" imgH="215900" progId="Equation.3">
                  <p:embed/>
                  <p:pic>
                    <p:nvPicPr>
                      <p:cNvPr id="10" name="Object 1025">
                        <a:extLst>
                          <a:ext uri="{FF2B5EF4-FFF2-40B4-BE49-F238E27FC236}">
                            <a16:creationId xmlns:a16="http://schemas.microsoft.com/office/drawing/2014/main" id="{28885469-B247-275F-11F6-1C9ADE4414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779" y="2726482"/>
                        <a:ext cx="6629400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表格 10">
                <a:extLst>
                  <a:ext uri="{FF2B5EF4-FFF2-40B4-BE49-F238E27FC236}">
                    <a16:creationId xmlns:a16="http://schemas.microsoft.com/office/drawing/2014/main" id="{4C7B3F63-0587-F767-DFB4-F53E125498A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67779" y="3429000"/>
              <a:ext cx="5612144" cy="331779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03036">
                      <a:extLst>
                        <a:ext uri="{9D8B030D-6E8A-4147-A177-3AD203B41FA5}">
                          <a16:colId xmlns:a16="http://schemas.microsoft.com/office/drawing/2014/main" val="922678000"/>
                        </a:ext>
                      </a:extLst>
                    </a:gridCol>
                    <a:gridCol w="1403036">
                      <a:extLst>
                        <a:ext uri="{9D8B030D-6E8A-4147-A177-3AD203B41FA5}">
                          <a16:colId xmlns:a16="http://schemas.microsoft.com/office/drawing/2014/main" val="3428656460"/>
                        </a:ext>
                      </a:extLst>
                    </a:gridCol>
                    <a:gridCol w="1403036">
                      <a:extLst>
                        <a:ext uri="{9D8B030D-6E8A-4147-A177-3AD203B41FA5}">
                          <a16:colId xmlns:a16="http://schemas.microsoft.com/office/drawing/2014/main" val="125017799"/>
                        </a:ext>
                      </a:extLst>
                    </a:gridCol>
                    <a:gridCol w="1403036">
                      <a:extLst>
                        <a:ext uri="{9D8B030D-6E8A-4147-A177-3AD203B41FA5}">
                          <a16:colId xmlns:a16="http://schemas.microsoft.com/office/drawing/2014/main" val="1235500881"/>
                        </a:ext>
                      </a:extLst>
                    </a:gridCol>
                  </a:tblGrid>
                  <a:tr h="6635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800" dirty="0"/>
                            <a:t>数据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800" dirty="0"/>
                            <a:t>Y</a:t>
                          </a:r>
                          <a:endParaRPr lang="zh-CN" altLang="en-US" sz="2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39665965"/>
                      </a:ext>
                    </a:extLst>
                  </a:tr>
                  <a:tr h="66355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1" i="1" smtClean="0">
                                      <a:latin typeface="Cambria Math" panose="02040503050406030204" pitchFamily="18" charset="0"/>
                                    </a:rPr>
                                    <m:t>𝑫</m:t>
                                  </m:r>
                                </m:e>
                                <m:sub>
                                  <m:r>
                                    <a:rPr lang="en-US" altLang="zh-CN" sz="2400" b="1" i="1" smtClean="0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2400" dirty="0"/>
                            <a:t>-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1" i="1" smtClean="0">
                                      <a:latin typeface="Cambria Math" panose="02040503050406030204" pitchFamily="18" charset="0"/>
                                    </a:rPr>
                                    <m:t>𝑫</m:t>
                                  </m:r>
                                </m:e>
                                <m:sub>
                                  <m:r>
                                    <a:rPr lang="en-US" altLang="zh-CN" sz="2400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</m:oMath>
                          </a14:m>
                          <a:endParaRPr lang="zh-CN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/>
                            <a:t>0</a:t>
                          </a:r>
                          <a:endParaRPr lang="zh-CN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/>
                            <a:t>0</a:t>
                          </a:r>
                          <a:endParaRPr lang="zh-CN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  <m:sub>
                                    <m: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54447055"/>
                      </a:ext>
                    </a:extLst>
                  </a:tr>
                  <a:tr h="66355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1" i="1" smtClean="0">
                                      <a:latin typeface="Cambria Math" panose="02040503050406030204" pitchFamily="18" charset="0"/>
                                    </a:rPr>
                                    <m:t>𝑫</m:t>
                                  </m:r>
                                </m:e>
                                <m:sub>
                                  <m:r>
                                    <a:rPr lang="en-US" altLang="zh-CN" sz="2400" b="1" i="1" smtClean="0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2400" dirty="0"/>
                            <a:t>-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1" i="1" smtClean="0">
                                      <a:latin typeface="Cambria Math" panose="02040503050406030204" pitchFamily="18" charset="0"/>
                                    </a:rPr>
                                    <m:t>𝑫</m:t>
                                  </m:r>
                                </m:e>
                                <m:sub>
                                  <m:r>
                                    <a:rPr lang="en-US" altLang="zh-CN" sz="2400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</m:oMath>
                          </a14:m>
                          <a:endParaRPr lang="zh-CN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/>
                            <a:t>0</a:t>
                          </a:r>
                          <a:endParaRPr lang="zh-CN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/>
                            <a:t>1</a:t>
                          </a:r>
                          <a:endParaRPr lang="zh-CN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  <m:sub>
                                    <m: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81166934"/>
                      </a:ext>
                    </a:extLst>
                  </a:tr>
                  <a:tr h="66355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1" i="1" smtClean="0">
                                      <a:latin typeface="Cambria Math" panose="02040503050406030204" pitchFamily="18" charset="0"/>
                                    </a:rPr>
                                    <m:t>𝑫</m:t>
                                  </m:r>
                                </m:e>
                                <m:sub>
                                  <m:r>
                                    <a:rPr lang="en-US" altLang="zh-CN" sz="2400" b="1" i="1" smtClean="0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2400" dirty="0"/>
                            <a:t>-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1" i="1" smtClean="0">
                                      <a:latin typeface="Cambria Math" panose="02040503050406030204" pitchFamily="18" charset="0"/>
                                    </a:rPr>
                                    <m:t>𝑫</m:t>
                                  </m:r>
                                </m:e>
                                <m:sub>
                                  <m:r>
                                    <a:rPr lang="en-US" altLang="zh-CN" sz="2400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</m:oMath>
                          </a14:m>
                          <a:endParaRPr lang="zh-CN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/>
                            <a:t>1</a:t>
                          </a:r>
                          <a:endParaRPr lang="zh-CN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/>
                            <a:t>0</a:t>
                          </a:r>
                          <a:endParaRPr lang="zh-CN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  <m:sub>
                                    <m: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47228518"/>
                      </a:ext>
                    </a:extLst>
                  </a:tr>
                  <a:tr h="66355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1" i="1" smtClean="0">
                                      <a:latin typeface="Cambria Math" panose="02040503050406030204" pitchFamily="18" charset="0"/>
                                    </a:rPr>
                                    <m:t>𝑫</m:t>
                                  </m:r>
                                </m:e>
                                <m:sub>
                                  <m:r>
                                    <a:rPr lang="en-US" altLang="zh-CN" sz="2400" b="1" i="1" smtClean="0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2400" dirty="0"/>
                            <a:t>-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1" i="1" smtClean="0">
                                      <a:latin typeface="Cambria Math" panose="02040503050406030204" pitchFamily="18" charset="0"/>
                                    </a:rPr>
                                    <m:t>𝑫</m:t>
                                  </m:r>
                                </m:e>
                                <m:sub>
                                  <m:r>
                                    <a:rPr lang="en-US" altLang="zh-CN" sz="2400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</m:oMath>
                          </a14:m>
                          <a:endParaRPr lang="zh-CN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/>
                            <a:t>1</a:t>
                          </a:r>
                          <a:endParaRPr lang="zh-CN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/>
                            <a:t>1</a:t>
                          </a:r>
                          <a:endParaRPr lang="zh-CN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  <m:sub>
                                    <m: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7233998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表格 10">
                <a:extLst>
                  <a:ext uri="{FF2B5EF4-FFF2-40B4-BE49-F238E27FC236}">
                    <a16:creationId xmlns:a16="http://schemas.microsoft.com/office/drawing/2014/main" id="{4C7B3F63-0587-F767-DFB4-F53E125498A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23447751"/>
                  </p:ext>
                </p:extLst>
              </p:nvPr>
            </p:nvGraphicFramePr>
            <p:xfrm>
              <a:off x="667779" y="3429000"/>
              <a:ext cx="5612144" cy="331779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03036">
                      <a:extLst>
                        <a:ext uri="{9D8B030D-6E8A-4147-A177-3AD203B41FA5}">
                          <a16:colId xmlns:a16="http://schemas.microsoft.com/office/drawing/2014/main" val="922678000"/>
                        </a:ext>
                      </a:extLst>
                    </a:gridCol>
                    <a:gridCol w="1403036">
                      <a:extLst>
                        <a:ext uri="{9D8B030D-6E8A-4147-A177-3AD203B41FA5}">
                          <a16:colId xmlns:a16="http://schemas.microsoft.com/office/drawing/2014/main" val="3428656460"/>
                        </a:ext>
                      </a:extLst>
                    </a:gridCol>
                    <a:gridCol w="1403036">
                      <a:extLst>
                        <a:ext uri="{9D8B030D-6E8A-4147-A177-3AD203B41FA5}">
                          <a16:colId xmlns:a16="http://schemas.microsoft.com/office/drawing/2014/main" val="125017799"/>
                        </a:ext>
                      </a:extLst>
                    </a:gridCol>
                    <a:gridCol w="1403036">
                      <a:extLst>
                        <a:ext uri="{9D8B030D-6E8A-4147-A177-3AD203B41FA5}">
                          <a16:colId xmlns:a16="http://schemas.microsoft.com/office/drawing/2014/main" val="1235500881"/>
                        </a:ext>
                      </a:extLst>
                    </a:gridCol>
                  </a:tblGrid>
                  <a:tr h="6635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800" dirty="0"/>
                            <a:t>数据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100870" t="-10092" r="-202174" b="-4018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200000" t="-10092" r="-101299" b="-4018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800" dirty="0"/>
                            <a:t>Y</a:t>
                          </a:r>
                          <a:endParaRPr lang="zh-CN" altLang="en-US" sz="2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39665965"/>
                      </a:ext>
                    </a:extLst>
                  </a:tr>
                  <a:tr h="663558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433" t="-110092" r="-300866" b="-3018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/>
                            <a:t>0</a:t>
                          </a:r>
                          <a:endParaRPr lang="zh-CN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/>
                            <a:t>0</a:t>
                          </a:r>
                          <a:endParaRPr lang="zh-CN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301304" t="-110092" r="-1739" b="-3018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54447055"/>
                      </a:ext>
                    </a:extLst>
                  </a:tr>
                  <a:tr h="663558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433" t="-210092" r="-300866" b="-2018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/>
                            <a:t>0</a:t>
                          </a:r>
                          <a:endParaRPr lang="zh-CN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/>
                            <a:t>1</a:t>
                          </a:r>
                          <a:endParaRPr lang="zh-CN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301304" t="-210092" r="-1739" b="-2018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81166934"/>
                      </a:ext>
                    </a:extLst>
                  </a:tr>
                  <a:tr h="663558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433" t="-310092" r="-300866" b="-1018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/>
                            <a:t>1</a:t>
                          </a:r>
                          <a:endParaRPr lang="zh-CN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/>
                            <a:t>0</a:t>
                          </a:r>
                          <a:endParaRPr lang="zh-CN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301304" t="-310092" r="-1739" b="-1018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47228518"/>
                      </a:ext>
                    </a:extLst>
                  </a:tr>
                  <a:tr h="663558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433" t="-410092" r="-300866" b="-18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/>
                            <a:t>1</a:t>
                          </a:r>
                          <a:endParaRPr lang="zh-CN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/>
                            <a:t>1</a:t>
                          </a:r>
                          <a:endParaRPr lang="zh-CN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301304" t="-410092" r="-1739" b="-18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233998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矩形 11">
            <a:extLst>
              <a:ext uri="{FF2B5EF4-FFF2-40B4-BE49-F238E27FC236}">
                <a16:creationId xmlns:a16="http://schemas.microsoft.com/office/drawing/2014/main" id="{88A37B45-9931-9413-2D2E-6CFD814BC187}"/>
              </a:ext>
            </a:extLst>
          </p:cNvPr>
          <p:cNvSpPr/>
          <p:nvPr/>
        </p:nvSpPr>
        <p:spPr>
          <a:xfrm>
            <a:off x="894217" y="4151870"/>
            <a:ext cx="3813707" cy="25331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089601E-8A18-B03A-AD39-E386C91F1220}"/>
              </a:ext>
            </a:extLst>
          </p:cNvPr>
          <p:cNvSpPr/>
          <p:nvPr/>
        </p:nvSpPr>
        <p:spPr>
          <a:xfrm>
            <a:off x="5012261" y="4151870"/>
            <a:ext cx="1161638" cy="24781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AB8F7E4-F2AC-E50B-24D1-61C58DFFF6FC}"/>
              </a:ext>
            </a:extLst>
          </p:cNvPr>
          <p:cNvSpPr txBox="1"/>
          <p:nvPr/>
        </p:nvSpPr>
        <p:spPr>
          <a:xfrm>
            <a:off x="4487330" y="2313003"/>
            <a:ext cx="32173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几个输入，几个输出？</a:t>
            </a:r>
          </a:p>
        </p:txBody>
      </p:sp>
    </p:spTree>
    <p:extLst>
      <p:ext uri="{BB962C8B-B14F-4D97-AF65-F5344CB8AC3E}">
        <p14:creationId xmlns:p14="http://schemas.microsoft.com/office/powerpoint/2010/main" val="2376357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  <p:bldP spid="14" grpId="0" animBg="1"/>
      <p:bldP spid="14" grpId="1" animBg="1"/>
      <p:bldP spid="1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9057ED-C447-D96E-2FF4-1608672C4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586" y="-105707"/>
            <a:ext cx="10515600" cy="1325563"/>
          </a:xfrm>
        </p:spPr>
        <p:txBody>
          <a:bodyPr/>
          <a:lstStyle/>
          <a:p>
            <a:r>
              <a:rPr lang="en-US" altLang="zh-CN" dirty="0"/>
              <a:t>4.4 </a:t>
            </a:r>
            <a:r>
              <a:rPr lang="zh-CN" altLang="en-US" dirty="0"/>
              <a:t>数据选择器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DA627C-1919-A25E-D142-3CCF06F458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280" y="1012071"/>
            <a:ext cx="10515600" cy="4351338"/>
          </a:xfrm>
        </p:spPr>
        <p:txBody>
          <a:bodyPr/>
          <a:lstStyle/>
          <a:p>
            <a:r>
              <a:rPr lang="zh-CN" altLang="en-US" dirty="0"/>
              <a:t>在数字信号的传输过程中，有时需要从一组输入数据中选出某一个 ， 这时就要用到一种称为数据选择器</a:t>
            </a:r>
            <a:r>
              <a:rPr lang="en-US" altLang="zh-CN" dirty="0"/>
              <a:t>(Data Selector) </a:t>
            </a:r>
            <a:r>
              <a:rPr lang="zh-CN" altLang="en-US" dirty="0"/>
              <a:t>或多路开关 </a:t>
            </a:r>
            <a:r>
              <a:rPr lang="en-US" altLang="zh-CN" dirty="0"/>
              <a:t>(</a:t>
            </a:r>
            <a:r>
              <a:rPr lang="en-US" altLang="zh-CN" dirty="0" err="1"/>
              <a:t>MultiplexPr,MUX</a:t>
            </a:r>
            <a:r>
              <a:rPr lang="en-US" altLang="zh-CN" dirty="0"/>
              <a:t>) </a:t>
            </a:r>
            <a:r>
              <a:rPr lang="zh-CN" altLang="en-US" dirty="0"/>
              <a:t>的逻辑电路。</a:t>
            </a:r>
            <a:endParaRPr lang="en-US" altLang="zh-CN" dirty="0"/>
          </a:p>
          <a:p>
            <a:r>
              <a:rPr lang="en-US" altLang="zh-CN" dirty="0"/>
              <a:t>“</a:t>
            </a:r>
            <a:r>
              <a:rPr lang="zh-CN" altLang="en-US" dirty="0"/>
              <a:t>四选一”数据选择器 </a:t>
            </a:r>
          </a:p>
        </p:txBody>
      </p:sp>
      <p:graphicFrame>
        <p:nvGraphicFramePr>
          <p:cNvPr id="10" name="Object 1025">
            <a:extLst>
              <a:ext uri="{FF2B5EF4-FFF2-40B4-BE49-F238E27FC236}">
                <a16:creationId xmlns:a16="http://schemas.microsoft.com/office/drawing/2014/main" id="{28885469-B247-275F-11F6-1C9ADE4414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7779" y="2726482"/>
          <a:ext cx="6629400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0" name="公式" r:id="rId4" imgW="2527300" imgH="215900" progId="Equation.3">
                  <p:embed/>
                </p:oleObj>
              </mc:Choice>
              <mc:Fallback>
                <p:oleObj name="公式" r:id="rId4" imgW="2527300" imgH="215900" progId="Equation.3">
                  <p:embed/>
                  <p:pic>
                    <p:nvPicPr>
                      <p:cNvPr id="10" name="Object 1025">
                        <a:extLst>
                          <a:ext uri="{FF2B5EF4-FFF2-40B4-BE49-F238E27FC236}">
                            <a16:creationId xmlns:a16="http://schemas.microsoft.com/office/drawing/2014/main" id="{28885469-B247-275F-11F6-1C9ADE4414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779" y="2726482"/>
                        <a:ext cx="6629400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表格 10">
                <a:extLst>
                  <a:ext uri="{FF2B5EF4-FFF2-40B4-BE49-F238E27FC236}">
                    <a16:creationId xmlns:a16="http://schemas.microsoft.com/office/drawing/2014/main" id="{4C7B3F63-0587-F767-DFB4-F53E125498A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67779" y="3429000"/>
              <a:ext cx="5612144" cy="331779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03036">
                      <a:extLst>
                        <a:ext uri="{9D8B030D-6E8A-4147-A177-3AD203B41FA5}">
                          <a16:colId xmlns:a16="http://schemas.microsoft.com/office/drawing/2014/main" val="922678000"/>
                        </a:ext>
                      </a:extLst>
                    </a:gridCol>
                    <a:gridCol w="1403036">
                      <a:extLst>
                        <a:ext uri="{9D8B030D-6E8A-4147-A177-3AD203B41FA5}">
                          <a16:colId xmlns:a16="http://schemas.microsoft.com/office/drawing/2014/main" val="3428656460"/>
                        </a:ext>
                      </a:extLst>
                    </a:gridCol>
                    <a:gridCol w="1403036">
                      <a:extLst>
                        <a:ext uri="{9D8B030D-6E8A-4147-A177-3AD203B41FA5}">
                          <a16:colId xmlns:a16="http://schemas.microsoft.com/office/drawing/2014/main" val="125017799"/>
                        </a:ext>
                      </a:extLst>
                    </a:gridCol>
                    <a:gridCol w="1403036">
                      <a:extLst>
                        <a:ext uri="{9D8B030D-6E8A-4147-A177-3AD203B41FA5}">
                          <a16:colId xmlns:a16="http://schemas.microsoft.com/office/drawing/2014/main" val="1235500881"/>
                        </a:ext>
                      </a:extLst>
                    </a:gridCol>
                  </a:tblGrid>
                  <a:tr h="6635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800" dirty="0"/>
                            <a:t>数据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800" dirty="0"/>
                            <a:t>Y</a:t>
                          </a:r>
                          <a:endParaRPr lang="zh-CN" altLang="en-US" sz="2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39665965"/>
                      </a:ext>
                    </a:extLst>
                  </a:tr>
                  <a:tr h="66355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1" i="1" smtClean="0">
                                      <a:latin typeface="Cambria Math" panose="02040503050406030204" pitchFamily="18" charset="0"/>
                                    </a:rPr>
                                    <m:t>𝑫</m:t>
                                  </m:r>
                                </m:e>
                                <m:sub>
                                  <m:r>
                                    <a:rPr lang="en-US" altLang="zh-CN" sz="2400" b="1" i="1" smtClean="0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2400" dirty="0"/>
                            <a:t>-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1" i="1" smtClean="0">
                                      <a:latin typeface="Cambria Math" panose="02040503050406030204" pitchFamily="18" charset="0"/>
                                    </a:rPr>
                                    <m:t>𝑫</m:t>
                                  </m:r>
                                </m:e>
                                <m:sub>
                                  <m:r>
                                    <a:rPr lang="en-US" altLang="zh-CN" sz="2400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</m:oMath>
                          </a14:m>
                          <a:endParaRPr lang="zh-CN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/>
                            <a:t>0</a:t>
                          </a:r>
                          <a:endParaRPr lang="zh-CN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/>
                            <a:t>0</a:t>
                          </a:r>
                          <a:endParaRPr lang="zh-CN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  <m:sub>
                                    <m: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54447055"/>
                      </a:ext>
                    </a:extLst>
                  </a:tr>
                  <a:tr h="66355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1" i="1" smtClean="0">
                                      <a:latin typeface="Cambria Math" panose="02040503050406030204" pitchFamily="18" charset="0"/>
                                    </a:rPr>
                                    <m:t>𝑫</m:t>
                                  </m:r>
                                </m:e>
                                <m:sub>
                                  <m:r>
                                    <a:rPr lang="en-US" altLang="zh-CN" sz="2400" b="1" i="1" smtClean="0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2400" dirty="0"/>
                            <a:t>-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1" i="1" smtClean="0">
                                      <a:latin typeface="Cambria Math" panose="02040503050406030204" pitchFamily="18" charset="0"/>
                                    </a:rPr>
                                    <m:t>𝑫</m:t>
                                  </m:r>
                                </m:e>
                                <m:sub>
                                  <m:r>
                                    <a:rPr lang="en-US" altLang="zh-CN" sz="2400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</m:oMath>
                          </a14:m>
                          <a:endParaRPr lang="zh-CN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/>
                            <a:t>0</a:t>
                          </a:r>
                          <a:endParaRPr lang="zh-CN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/>
                            <a:t>1</a:t>
                          </a:r>
                          <a:endParaRPr lang="zh-CN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  <m:sub>
                                    <m: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81166934"/>
                      </a:ext>
                    </a:extLst>
                  </a:tr>
                  <a:tr h="66355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1" i="1" smtClean="0">
                                      <a:latin typeface="Cambria Math" panose="02040503050406030204" pitchFamily="18" charset="0"/>
                                    </a:rPr>
                                    <m:t>𝑫</m:t>
                                  </m:r>
                                </m:e>
                                <m:sub>
                                  <m:r>
                                    <a:rPr lang="en-US" altLang="zh-CN" sz="2400" b="1" i="1" smtClean="0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2400" dirty="0"/>
                            <a:t>-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1" i="1" smtClean="0">
                                      <a:latin typeface="Cambria Math" panose="02040503050406030204" pitchFamily="18" charset="0"/>
                                    </a:rPr>
                                    <m:t>𝑫</m:t>
                                  </m:r>
                                </m:e>
                                <m:sub>
                                  <m:r>
                                    <a:rPr lang="en-US" altLang="zh-CN" sz="2400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</m:oMath>
                          </a14:m>
                          <a:endParaRPr lang="zh-CN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/>
                            <a:t>1</a:t>
                          </a:r>
                          <a:endParaRPr lang="zh-CN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/>
                            <a:t>0</a:t>
                          </a:r>
                          <a:endParaRPr lang="zh-CN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  <m:sub>
                                    <m: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47228518"/>
                      </a:ext>
                    </a:extLst>
                  </a:tr>
                  <a:tr h="66355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1" i="1" smtClean="0">
                                      <a:latin typeface="Cambria Math" panose="02040503050406030204" pitchFamily="18" charset="0"/>
                                    </a:rPr>
                                    <m:t>𝑫</m:t>
                                  </m:r>
                                </m:e>
                                <m:sub>
                                  <m:r>
                                    <a:rPr lang="en-US" altLang="zh-CN" sz="2400" b="1" i="1" smtClean="0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2400" dirty="0"/>
                            <a:t>-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1" i="1" smtClean="0">
                                      <a:latin typeface="Cambria Math" panose="02040503050406030204" pitchFamily="18" charset="0"/>
                                    </a:rPr>
                                    <m:t>𝑫</m:t>
                                  </m:r>
                                </m:e>
                                <m:sub>
                                  <m:r>
                                    <a:rPr lang="en-US" altLang="zh-CN" sz="2400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</m:oMath>
                          </a14:m>
                          <a:endParaRPr lang="zh-CN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/>
                            <a:t>1</a:t>
                          </a:r>
                          <a:endParaRPr lang="zh-CN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/>
                            <a:t>1</a:t>
                          </a:r>
                          <a:endParaRPr lang="zh-CN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  <m:sub>
                                    <m: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7233998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表格 10">
                <a:extLst>
                  <a:ext uri="{FF2B5EF4-FFF2-40B4-BE49-F238E27FC236}">
                    <a16:creationId xmlns:a16="http://schemas.microsoft.com/office/drawing/2014/main" id="{4C7B3F63-0587-F767-DFB4-F53E125498A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23447751"/>
                  </p:ext>
                </p:extLst>
              </p:nvPr>
            </p:nvGraphicFramePr>
            <p:xfrm>
              <a:off x="667779" y="3429000"/>
              <a:ext cx="5612144" cy="331779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03036">
                      <a:extLst>
                        <a:ext uri="{9D8B030D-6E8A-4147-A177-3AD203B41FA5}">
                          <a16:colId xmlns:a16="http://schemas.microsoft.com/office/drawing/2014/main" val="922678000"/>
                        </a:ext>
                      </a:extLst>
                    </a:gridCol>
                    <a:gridCol w="1403036">
                      <a:extLst>
                        <a:ext uri="{9D8B030D-6E8A-4147-A177-3AD203B41FA5}">
                          <a16:colId xmlns:a16="http://schemas.microsoft.com/office/drawing/2014/main" val="3428656460"/>
                        </a:ext>
                      </a:extLst>
                    </a:gridCol>
                    <a:gridCol w="1403036">
                      <a:extLst>
                        <a:ext uri="{9D8B030D-6E8A-4147-A177-3AD203B41FA5}">
                          <a16:colId xmlns:a16="http://schemas.microsoft.com/office/drawing/2014/main" val="125017799"/>
                        </a:ext>
                      </a:extLst>
                    </a:gridCol>
                    <a:gridCol w="1403036">
                      <a:extLst>
                        <a:ext uri="{9D8B030D-6E8A-4147-A177-3AD203B41FA5}">
                          <a16:colId xmlns:a16="http://schemas.microsoft.com/office/drawing/2014/main" val="1235500881"/>
                        </a:ext>
                      </a:extLst>
                    </a:gridCol>
                  </a:tblGrid>
                  <a:tr h="66355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800" dirty="0"/>
                            <a:t>数据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100870" t="-10092" r="-202174" b="-4018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200000" t="-10092" r="-101299" b="-4018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800" dirty="0"/>
                            <a:t>Y</a:t>
                          </a:r>
                          <a:endParaRPr lang="zh-CN" altLang="en-US" sz="2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39665965"/>
                      </a:ext>
                    </a:extLst>
                  </a:tr>
                  <a:tr h="663558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433" t="-110092" r="-300866" b="-3018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/>
                            <a:t>0</a:t>
                          </a:r>
                          <a:endParaRPr lang="zh-CN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/>
                            <a:t>0</a:t>
                          </a:r>
                          <a:endParaRPr lang="zh-CN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301304" t="-110092" r="-1739" b="-3018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54447055"/>
                      </a:ext>
                    </a:extLst>
                  </a:tr>
                  <a:tr h="663558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433" t="-210092" r="-300866" b="-2018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/>
                            <a:t>0</a:t>
                          </a:r>
                          <a:endParaRPr lang="zh-CN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/>
                            <a:t>1</a:t>
                          </a:r>
                          <a:endParaRPr lang="zh-CN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301304" t="-210092" r="-1739" b="-2018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81166934"/>
                      </a:ext>
                    </a:extLst>
                  </a:tr>
                  <a:tr h="663558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433" t="-310092" r="-300866" b="-1018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/>
                            <a:t>1</a:t>
                          </a:r>
                          <a:endParaRPr lang="zh-CN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/>
                            <a:t>0</a:t>
                          </a:r>
                          <a:endParaRPr lang="zh-CN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301304" t="-310092" r="-1739" b="-1018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47228518"/>
                      </a:ext>
                    </a:extLst>
                  </a:tr>
                  <a:tr h="663558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433" t="-410092" r="-300866" b="-18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/>
                            <a:t>1</a:t>
                          </a:r>
                          <a:endParaRPr lang="zh-CN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/>
                            <a:t>1</a:t>
                          </a:r>
                          <a:endParaRPr lang="zh-CN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301304" t="-410092" r="-1739" b="-18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233998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矩形 11">
            <a:extLst>
              <a:ext uri="{FF2B5EF4-FFF2-40B4-BE49-F238E27FC236}">
                <a16:creationId xmlns:a16="http://schemas.microsoft.com/office/drawing/2014/main" id="{88A37B45-9931-9413-2D2E-6CFD814BC187}"/>
              </a:ext>
            </a:extLst>
          </p:cNvPr>
          <p:cNvSpPr/>
          <p:nvPr/>
        </p:nvSpPr>
        <p:spPr>
          <a:xfrm>
            <a:off x="894217" y="4151870"/>
            <a:ext cx="3813707" cy="25331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089601E-8A18-B03A-AD39-E386C91F1220}"/>
              </a:ext>
            </a:extLst>
          </p:cNvPr>
          <p:cNvSpPr/>
          <p:nvPr/>
        </p:nvSpPr>
        <p:spPr>
          <a:xfrm>
            <a:off x="5012261" y="4151870"/>
            <a:ext cx="1161638" cy="24781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AB8F7E4-F2AC-E50B-24D1-61C58DFFF6FC}"/>
              </a:ext>
            </a:extLst>
          </p:cNvPr>
          <p:cNvSpPr txBox="1"/>
          <p:nvPr/>
        </p:nvSpPr>
        <p:spPr>
          <a:xfrm>
            <a:off x="4487330" y="2313003"/>
            <a:ext cx="32173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几个输入，几个输出？</a:t>
            </a:r>
          </a:p>
        </p:txBody>
      </p:sp>
    </p:spTree>
    <p:extLst>
      <p:ext uri="{BB962C8B-B14F-4D97-AF65-F5344CB8AC3E}">
        <p14:creationId xmlns:p14="http://schemas.microsoft.com/office/powerpoint/2010/main" val="3179785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  <p:bldP spid="14" grpId="0" animBg="1"/>
      <p:bldP spid="14" grpId="1" animBg="1"/>
      <p:bldP spid="1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5">
            <a:extLst>
              <a:ext uri="{FF2B5EF4-FFF2-40B4-BE49-F238E27FC236}">
                <a16:creationId xmlns:a16="http://schemas.microsoft.com/office/drawing/2014/main" id="{061BF9F8-DDCD-8BA3-DEC0-39424B0BC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1" sz="36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36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36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36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36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defRPr kumimoji="1" sz="36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defRPr kumimoji="1" sz="36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defRPr kumimoji="1" sz="36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defRPr kumimoji="1" sz="36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kumimoji="0" lang="en-US" altLang="zh-CN" sz="1400">
                <a:latin typeface="Tahoma" panose="020B0604030504040204" pitchFamily="34" charset="0"/>
                <a:ea typeface="宋体" panose="02010600030101010101" pitchFamily="2" charset="-122"/>
              </a:rPr>
              <a:t>1-</a:t>
            </a:r>
            <a:fld id="{B8EEFA38-8270-468C-9791-90FF8265B7F0}" type="slidenum">
              <a:rPr kumimoji="0" lang="en-US" altLang="zh-CN" sz="1400">
                <a:latin typeface="Tahoma" panose="020B0604030504040204" pitchFamily="34" charset="0"/>
                <a:ea typeface="宋体" panose="02010600030101010101" pitchFamily="2" charset="-122"/>
              </a:rPr>
              <a:pPr eaLnBrk="1" hangingPunct="1"/>
              <a:t>31</a:t>
            </a:fld>
            <a:endParaRPr kumimoji="0" lang="en-US" altLang="zh-CN" sz="1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pic>
        <p:nvPicPr>
          <p:cNvPr id="71690" name="Picture 10">
            <a:extLst>
              <a:ext uri="{FF2B5EF4-FFF2-40B4-BE49-F238E27FC236}">
                <a16:creationId xmlns:a16="http://schemas.microsoft.com/office/drawing/2014/main" id="{4C3BABB3-4E7A-A495-12C1-DFC3E31FBF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251" y="2781301"/>
            <a:ext cx="3806825" cy="302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71684" name="Object 4">
            <a:extLst>
              <a:ext uri="{FF2B5EF4-FFF2-40B4-BE49-F238E27FC236}">
                <a16:creationId xmlns:a16="http://schemas.microsoft.com/office/drawing/2014/main" id="{796142B6-00FE-9266-5D17-9DB65E0A964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87631" y="2819800"/>
          <a:ext cx="3808413" cy="302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7" name="BMP 图象" r:id="rId4" imgW="3809524" imgH="3029373" progId="Paint.Picture">
                  <p:embed/>
                </p:oleObj>
              </mc:Choice>
              <mc:Fallback>
                <p:oleObj name="BMP 图象" r:id="rId4" imgW="3809524" imgH="3029373" progId="Paint.Picture">
                  <p:embed/>
                  <p:pic>
                    <p:nvPicPr>
                      <p:cNvPr id="71684" name="Object 4">
                        <a:extLst>
                          <a:ext uri="{FF2B5EF4-FFF2-40B4-BE49-F238E27FC236}">
                            <a16:creationId xmlns:a16="http://schemas.microsoft.com/office/drawing/2014/main" id="{796142B6-00FE-9266-5D17-9DB65E0A964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7631" y="2819800"/>
                        <a:ext cx="3808413" cy="302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85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F17A992E-20ED-98A8-2ADE-944F4C934D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51088" y="457200"/>
            <a:ext cx="7783512" cy="6096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b="1" dirty="0">
                <a:sym typeface="Symbol" panose="05050102010706020507" pitchFamily="18" charset="2"/>
              </a:rPr>
              <a:t>3</a:t>
            </a:r>
            <a:r>
              <a:rPr lang="zh-CN" altLang="en-US" b="1" dirty="0">
                <a:sym typeface="Symbol" panose="05050102010706020507" pitchFamily="18" charset="2"/>
              </a:rPr>
              <a:t>）增加冗余项（单个变量改变状态）</a:t>
            </a:r>
          </a:p>
        </p:txBody>
      </p:sp>
      <p:graphicFrame>
        <p:nvGraphicFramePr>
          <p:cNvPr id="71686" name="Object 7">
            <a:extLst>
              <a:ext uri="{FF2B5EF4-FFF2-40B4-BE49-F238E27FC236}">
                <a16:creationId xmlns:a16="http://schemas.microsoft.com/office/drawing/2014/main" id="{DE6973C6-50D9-7625-1547-86E653AA61E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71813" y="1087438"/>
          <a:ext cx="2087562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8" name="公式" r:id="rId6" imgW="901309" imgH="203112" progId="Equation.3">
                  <p:embed/>
                </p:oleObj>
              </mc:Choice>
              <mc:Fallback>
                <p:oleObj name="公式" r:id="rId6" imgW="901309" imgH="203112" progId="Equation.3">
                  <p:embed/>
                  <p:pic>
                    <p:nvPicPr>
                      <p:cNvPr id="71686" name="Object 7">
                        <a:extLst>
                          <a:ext uri="{FF2B5EF4-FFF2-40B4-BE49-F238E27FC236}">
                            <a16:creationId xmlns:a16="http://schemas.microsoft.com/office/drawing/2014/main" id="{DE6973C6-50D9-7625-1547-86E653AA61E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813" y="1087438"/>
                        <a:ext cx="2087562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88" name="Object 8">
            <a:extLst>
              <a:ext uri="{FF2B5EF4-FFF2-40B4-BE49-F238E27FC236}">
                <a16:creationId xmlns:a16="http://schemas.microsoft.com/office/drawing/2014/main" id="{3813F938-5DD6-283D-0853-E048923E59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59150" y="1566864"/>
          <a:ext cx="1968500" cy="998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9" name="公式" r:id="rId8" imgW="850531" imgH="431613" progId="Equation.3">
                  <p:embed/>
                </p:oleObj>
              </mc:Choice>
              <mc:Fallback>
                <p:oleObj name="公式" r:id="rId8" imgW="850531" imgH="431613" progId="Equation.3">
                  <p:embed/>
                  <p:pic>
                    <p:nvPicPr>
                      <p:cNvPr id="71688" name="Object 8">
                        <a:extLst>
                          <a:ext uri="{FF2B5EF4-FFF2-40B4-BE49-F238E27FC236}">
                            <a16:creationId xmlns:a16="http://schemas.microsoft.com/office/drawing/2014/main" id="{3813F938-5DD6-283D-0853-E048923E59A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9150" y="1566864"/>
                        <a:ext cx="1968500" cy="998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89" name="Object 9">
            <a:extLst>
              <a:ext uri="{FF2B5EF4-FFF2-40B4-BE49-F238E27FC236}">
                <a16:creationId xmlns:a16="http://schemas.microsoft.com/office/drawing/2014/main" id="{BEE2AC5A-9C9F-0CB8-DF1E-1E2712463A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59375" y="1146176"/>
          <a:ext cx="882650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0" name="公式" r:id="rId10" imgW="380670" imgH="177646" progId="Equation.3">
                  <p:embed/>
                </p:oleObj>
              </mc:Choice>
              <mc:Fallback>
                <p:oleObj name="公式" r:id="rId10" imgW="380670" imgH="177646" progId="Equation.3">
                  <p:embed/>
                  <p:pic>
                    <p:nvPicPr>
                      <p:cNvPr id="71689" name="Object 9">
                        <a:extLst>
                          <a:ext uri="{FF2B5EF4-FFF2-40B4-BE49-F238E27FC236}">
                            <a16:creationId xmlns:a16="http://schemas.microsoft.com/office/drawing/2014/main" id="{BEE2AC5A-9C9F-0CB8-DF1E-1E2712463A8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9375" y="1146176"/>
                        <a:ext cx="882650" cy="411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76316C5E-2549-6B1E-72B7-38955E395C92}"/>
              </a:ext>
            </a:extLst>
          </p:cNvPr>
          <p:cNvSpPr txBox="1"/>
          <p:nvPr/>
        </p:nvSpPr>
        <p:spPr>
          <a:xfrm>
            <a:off x="4647214" y="2091706"/>
            <a:ext cx="7988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+1</a:t>
            </a:r>
            <a:endParaRPr lang="zh-CN" altLang="en-US" sz="32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8F12E0F-81C9-C3ED-CDE7-D3A8B0A3CCD1}"/>
              </a:ext>
            </a:extLst>
          </p:cNvPr>
          <p:cNvSpPr txBox="1"/>
          <p:nvPr/>
        </p:nvSpPr>
        <p:spPr>
          <a:xfrm>
            <a:off x="5297103" y="1510954"/>
            <a:ext cx="7988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+1</a:t>
            </a:r>
            <a:endParaRPr lang="zh-CN" altLang="en-US" sz="3200" dirty="0"/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C9EB45B2-F3A5-7379-42B2-2AAC5B354CBB}"/>
              </a:ext>
            </a:extLst>
          </p:cNvPr>
          <p:cNvGraphicFramePr>
            <a:graphicFrameLocks noGrp="1"/>
          </p:cNvGraphicFramePr>
          <p:nvPr/>
        </p:nvGraphicFramePr>
        <p:xfrm>
          <a:off x="7233772" y="1815784"/>
          <a:ext cx="4082530" cy="20637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6506">
                  <a:extLst>
                    <a:ext uri="{9D8B030D-6E8A-4147-A177-3AD203B41FA5}">
                      <a16:colId xmlns:a16="http://schemas.microsoft.com/office/drawing/2014/main" val="3300579920"/>
                    </a:ext>
                  </a:extLst>
                </a:gridCol>
                <a:gridCol w="816506">
                  <a:extLst>
                    <a:ext uri="{9D8B030D-6E8A-4147-A177-3AD203B41FA5}">
                      <a16:colId xmlns:a16="http://schemas.microsoft.com/office/drawing/2014/main" val="1745415662"/>
                    </a:ext>
                  </a:extLst>
                </a:gridCol>
                <a:gridCol w="816506">
                  <a:extLst>
                    <a:ext uri="{9D8B030D-6E8A-4147-A177-3AD203B41FA5}">
                      <a16:colId xmlns:a16="http://schemas.microsoft.com/office/drawing/2014/main" val="3782126141"/>
                    </a:ext>
                  </a:extLst>
                </a:gridCol>
                <a:gridCol w="816506">
                  <a:extLst>
                    <a:ext uri="{9D8B030D-6E8A-4147-A177-3AD203B41FA5}">
                      <a16:colId xmlns:a16="http://schemas.microsoft.com/office/drawing/2014/main" val="1424445382"/>
                    </a:ext>
                  </a:extLst>
                </a:gridCol>
                <a:gridCol w="816506">
                  <a:extLst>
                    <a:ext uri="{9D8B030D-6E8A-4147-A177-3AD203B41FA5}">
                      <a16:colId xmlns:a16="http://schemas.microsoft.com/office/drawing/2014/main" val="421157372"/>
                    </a:ext>
                  </a:extLst>
                </a:gridCol>
              </a:tblGrid>
              <a:tr h="687909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0" dirty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CN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0" dirty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CN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0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CN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7001335"/>
                  </a:ext>
                </a:extLst>
              </a:tr>
              <a:tr h="68790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6763437"/>
                  </a:ext>
                </a:extLst>
              </a:tr>
              <a:tr h="68790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5483273"/>
                  </a:ext>
                </a:extLst>
              </a:tr>
            </a:tbl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5433CC26-297E-B839-C6CA-519DAC53955C}"/>
              </a:ext>
            </a:extLst>
          </p:cNvPr>
          <p:cNvSpPr txBox="1"/>
          <p:nvPr/>
        </p:nvSpPr>
        <p:spPr>
          <a:xfrm>
            <a:off x="7556514" y="1826737"/>
            <a:ext cx="4894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BC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88C0627-01DE-57DC-55A3-093D2B0B595C}"/>
              </a:ext>
            </a:extLst>
          </p:cNvPr>
          <p:cNvSpPr txBox="1"/>
          <p:nvPr/>
        </p:nvSpPr>
        <p:spPr>
          <a:xfrm>
            <a:off x="7270975" y="2196069"/>
            <a:ext cx="4894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</a:t>
            </a:r>
            <a:endParaRPr lang="zh-CN" altLang="en-US" dirty="0"/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CEDAA29E-B904-9A48-D2DD-49C4F82840EB}"/>
              </a:ext>
            </a:extLst>
          </p:cNvPr>
          <p:cNvCxnSpPr/>
          <p:nvPr/>
        </p:nvCxnSpPr>
        <p:spPr>
          <a:xfrm>
            <a:off x="7265603" y="1815784"/>
            <a:ext cx="768350" cy="6675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椭圆 13">
            <a:extLst>
              <a:ext uri="{FF2B5EF4-FFF2-40B4-BE49-F238E27FC236}">
                <a16:creationId xmlns:a16="http://schemas.microsoft.com/office/drawing/2014/main" id="{FDF0C263-1D79-7654-15B5-FE0AE3D3C500}"/>
              </a:ext>
            </a:extLst>
          </p:cNvPr>
          <p:cNvSpPr/>
          <p:nvPr/>
        </p:nvSpPr>
        <p:spPr>
          <a:xfrm>
            <a:off x="8989996" y="2519147"/>
            <a:ext cx="1337911" cy="52430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5858097E-A6AB-CC20-7BB2-6A2309FBA66B}"/>
              </a:ext>
            </a:extLst>
          </p:cNvPr>
          <p:cNvSpPr/>
          <p:nvPr/>
        </p:nvSpPr>
        <p:spPr>
          <a:xfrm>
            <a:off x="9837019" y="3222456"/>
            <a:ext cx="1337911" cy="52430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FDE951AA-8350-AE2C-2010-7C3989FE85FF}"/>
              </a:ext>
            </a:extLst>
          </p:cNvPr>
          <p:cNvSpPr/>
          <p:nvPr/>
        </p:nvSpPr>
        <p:spPr>
          <a:xfrm>
            <a:off x="9908262" y="2565401"/>
            <a:ext cx="483435" cy="11114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CC07E69-6CFA-BD95-7C04-953574AA150F}"/>
              </a:ext>
            </a:extLst>
          </p:cNvPr>
          <p:cNvSpPr/>
          <p:nvPr/>
        </p:nvSpPr>
        <p:spPr>
          <a:xfrm>
            <a:off x="3749040" y="4892040"/>
            <a:ext cx="1410335" cy="995209"/>
          </a:xfrm>
          <a:prstGeom prst="rect">
            <a:avLst/>
          </a:prstGeom>
          <a:solidFill>
            <a:srgbClr val="00B050">
              <a:alpha val="1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71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1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1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4" grpId="0" animBg="1"/>
      <p:bldP spid="15" grpId="0" animBg="1"/>
      <p:bldP spid="16" grpId="0" animBg="1"/>
      <p:bldP spid="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3">
            <a:extLst>
              <a:ext uri="{FF2B5EF4-FFF2-40B4-BE49-F238E27FC236}">
                <a16:creationId xmlns:a16="http://schemas.microsoft.com/office/drawing/2014/main" id="{D10D6123-451B-8B1A-832D-07F43AC0B0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3579" y="166452"/>
            <a:ext cx="39243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buClr>
                <a:schemeClr val="tx1"/>
              </a:buClr>
              <a:buSzPct val="60000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buSzPct val="95000"/>
              <a:buChar char="w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buClr>
                <a:schemeClr val="tx1"/>
              </a:buClr>
              <a:buSzPct val="65000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buSzPct val="60000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b="1" dirty="0"/>
              <a:t>基本</a:t>
            </a:r>
            <a:r>
              <a:rPr lang="en-US" altLang="zh-CN" sz="2800" b="1" dirty="0"/>
              <a:t>RS</a:t>
            </a:r>
            <a:r>
              <a:rPr lang="zh-CN" altLang="en-US" sz="2800" b="1" dirty="0"/>
              <a:t>锁存器的功能表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B17CBA0-4DC7-48D2-F973-8E1BFD2C2D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177" y="635083"/>
            <a:ext cx="11631938" cy="260648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7E6E33E1-7684-1A34-B525-11FB79C2A613}"/>
                  </a:ext>
                </a:extLst>
              </p:cNvPr>
              <p:cNvSpPr txBox="1"/>
              <p:nvPr/>
            </p:nvSpPr>
            <p:spPr>
              <a:xfrm>
                <a:off x="395415" y="3778989"/>
                <a:ext cx="6635578" cy="8325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/>
                  <a:t>正常状态下，</a:t>
                </a:r>
                <a:r>
                  <a:rPr lang="en-US" altLang="zh-CN" sz="2400" dirty="0"/>
                  <a:t>Q</a:t>
                </a:r>
                <a:r>
                  <a:rPr lang="zh-CN" altLang="en-US" sz="2400" dirty="0"/>
                  <a:t>与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 i="1">
                            <a:latin typeface="Cambria Math" panose="02040503050406030204" pitchFamily="18" charset="0"/>
                          </a:rPr>
                          <m:t>Q</m:t>
                        </m:r>
                      </m:e>
                    </m:acc>
                    <m:r>
                      <a:rPr lang="zh-CN" altLang="en-US" sz="2400" i="1">
                        <a:latin typeface="Cambria Math" panose="02040503050406030204" pitchFamily="18" charset="0"/>
                      </a:rPr>
                      <m:t>均为</m:t>
                    </m:r>
                  </m:oMath>
                </a14:m>
                <a:r>
                  <a:rPr lang="zh-CN" altLang="en-US" sz="2400" dirty="0"/>
                  <a:t>相反状态。</a:t>
                </a:r>
                <a:endParaRPr lang="en-US" altLang="zh-CN" sz="2400" dirty="0"/>
              </a:p>
              <a:p>
                <a:r>
                  <a:rPr lang="zh-CN" altLang="en-US" sz="2400" dirty="0"/>
                  <a:t>异常状态下：</a:t>
                </a:r>
                <a:r>
                  <a:rPr lang="en-US" altLang="zh-CN" sz="2400" dirty="0"/>
                  <a:t>Q</a:t>
                </a:r>
                <a:r>
                  <a:rPr lang="zh-CN" altLang="en-US" sz="2400" dirty="0"/>
                  <a:t>与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 i="1">
                            <a:latin typeface="Cambria Math" panose="02040503050406030204" pitchFamily="18" charset="0"/>
                          </a:rPr>
                          <m:t>Q</m:t>
                        </m:r>
                      </m:e>
                    </m:acc>
                    <m:r>
                      <a:rPr lang="zh-CN" altLang="en-US" sz="2400" i="1">
                        <a:latin typeface="Cambria Math" panose="02040503050406030204" pitchFamily="18" charset="0"/>
                      </a:rPr>
                      <m:t>为相同</m:t>
                    </m:r>
                  </m:oMath>
                </a14:m>
                <a:r>
                  <a:rPr lang="zh-CN" altLang="en-US" sz="2400" dirty="0"/>
                  <a:t>状态。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7E6E33E1-7684-1A34-B525-11FB79C2A6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415" y="3778989"/>
                <a:ext cx="6635578" cy="832536"/>
              </a:xfrm>
              <a:prstGeom prst="rect">
                <a:avLst/>
              </a:prstGeom>
              <a:blipFill>
                <a:blip r:embed="rId4"/>
                <a:stretch>
                  <a:fillRect l="-1471" t="-5147" b="-169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6">
                <a:extLst>
                  <a:ext uri="{FF2B5EF4-FFF2-40B4-BE49-F238E27FC236}">
                    <a16:creationId xmlns:a16="http://schemas.microsoft.com/office/drawing/2014/main" id="{3DD3FE29-4573-A94A-8AB4-38B5C577B7D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665231" y="3128439"/>
              <a:ext cx="3855312" cy="363234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63828">
                      <a:extLst>
                        <a:ext uri="{9D8B030D-6E8A-4147-A177-3AD203B41FA5}">
                          <a16:colId xmlns:a16="http://schemas.microsoft.com/office/drawing/2014/main" val="4135501057"/>
                        </a:ext>
                      </a:extLst>
                    </a:gridCol>
                    <a:gridCol w="963828">
                      <a:extLst>
                        <a:ext uri="{9D8B030D-6E8A-4147-A177-3AD203B41FA5}">
                          <a16:colId xmlns:a16="http://schemas.microsoft.com/office/drawing/2014/main" val="4008156779"/>
                        </a:ext>
                      </a:extLst>
                    </a:gridCol>
                    <a:gridCol w="963828">
                      <a:extLst>
                        <a:ext uri="{9D8B030D-6E8A-4147-A177-3AD203B41FA5}">
                          <a16:colId xmlns:a16="http://schemas.microsoft.com/office/drawing/2014/main" val="2875492268"/>
                        </a:ext>
                      </a:extLst>
                    </a:gridCol>
                    <a:gridCol w="963828">
                      <a:extLst>
                        <a:ext uri="{9D8B030D-6E8A-4147-A177-3AD203B41FA5}">
                          <a16:colId xmlns:a16="http://schemas.microsoft.com/office/drawing/2014/main" val="1152383502"/>
                        </a:ext>
                      </a:extLst>
                    </a:gridCol>
                  </a:tblGrid>
                  <a:tr h="396798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zh-CN" alt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</m:acc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zh-CN" altLang="en-US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1800" b="1" i="1" smtClean="0">
                                        <a:latin typeface="Cambria Math" panose="02040503050406030204" pitchFamily="18" charset="0"/>
                                      </a:rPr>
                                      <m:t>𝑹</m:t>
                                    </m:r>
                                  </m:e>
                                </m:acc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b="1" i="1" smtClean="0"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p>
                                    <m:r>
                                      <a:rPr lang="en-US" altLang="zh-CN" b="1" i="1" smtClean="0"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b="1" i="1" smtClean="0"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p>
                                    <m:r>
                                      <a:rPr lang="en-US" altLang="zh-CN" b="1" i="1" smtClean="0"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  <m:r>
                                      <a:rPr lang="en-US" altLang="zh-CN" b="1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zh-CN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38724275"/>
                      </a:ext>
                    </a:extLst>
                  </a:tr>
                  <a:tr h="39679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0581860"/>
                      </a:ext>
                    </a:extLst>
                  </a:tr>
                  <a:tr h="39679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01479436"/>
                      </a:ext>
                    </a:extLst>
                  </a:tr>
                  <a:tr h="39679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98309675"/>
                      </a:ext>
                    </a:extLst>
                  </a:tr>
                  <a:tr h="39679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49861581"/>
                      </a:ext>
                    </a:extLst>
                  </a:tr>
                  <a:tr h="39679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97669854"/>
                      </a:ext>
                    </a:extLst>
                  </a:tr>
                  <a:tr h="39679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40101455"/>
                      </a:ext>
                    </a:extLst>
                  </a:tr>
                  <a:tr h="39679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55117453"/>
                      </a:ext>
                    </a:extLst>
                  </a:tr>
                  <a:tr h="39679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6139942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6">
                <a:extLst>
                  <a:ext uri="{FF2B5EF4-FFF2-40B4-BE49-F238E27FC236}">
                    <a16:creationId xmlns:a16="http://schemas.microsoft.com/office/drawing/2014/main" id="{3DD3FE29-4573-A94A-8AB4-38B5C577B7D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99073004"/>
                  </p:ext>
                </p:extLst>
              </p:nvPr>
            </p:nvGraphicFramePr>
            <p:xfrm>
              <a:off x="6665231" y="3128439"/>
              <a:ext cx="3855312" cy="363234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63828">
                      <a:extLst>
                        <a:ext uri="{9D8B030D-6E8A-4147-A177-3AD203B41FA5}">
                          <a16:colId xmlns:a16="http://schemas.microsoft.com/office/drawing/2014/main" val="4135501057"/>
                        </a:ext>
                      </a:extLst>
                    </a:gridCol>
                    <a:gridCol w="963828">
                      <a:extLst>
                        <a:ext uri="{9D8B030D-6E8A-4147-A177-3AD203B41FA5}">
                          <a16:colId xmlns:a16="http://schemas.microsoft.com/office/drawing/2014/main" val="4008156779"/>
                        </a:ext>
                      </a:extLst>
                    </a:gridCol>
                    <a:gridCol w="963828">
                      <a:extLst>
                        <a:ext uri="{9D8B030D-6E8A-4147-A177-3AD203B41FA5}">
                          <a16:colId xmlns:a16="http://schemas.microsoft.com/office/drawing/2014/main" val="2875492268"/>
                        </a:ext>
                      </a:extLst>
                    </a:gridCol>
                    <a:gridCol w="963828">
                      <a:extLst>
                        <a:ext uri="{9D8B030D-6E8A-4147-A177-3AD203B41FA5}">
                          <a16:colId xmlns:a16="http://schemas.microsoft.com/office/drawing/2014/main" val="1152383502"/>
                        </a:ext>
                      </a:extLst>
                    </a:gridCol>
                  </a:tblGrid>
                  <a:tr h="457962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  <a:stretch>
                            <a:fillRect l="-633" t="-1333" r="-303165" b="-70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  <a:stretch>
                            <a:fillRect l="-100000" t="-1333" r="-201258" b="-70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  <a:stretch>
                            <a:fillRect l="-201266" t="-1333" r="-102532" b="-70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  <a:stretch>
                            <a:fillRect l="-301266" t="-1333" r="-2532" b="-709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8724275"/>
                      </a:ext>
                    </a:extLst>
                  </a:tr>
                  <a:tr h="39679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  <a:stretch>
                            <a:fillRect l="-301266" t="-116923" r="-2532" b="-7184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581860"/>
                      </a:ext>
                    </a:extLst>
                  </a:tr>
                  <a:tr h="39679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  <a:stretch>
                            <a:fillRect l="-301266" t="-213636" r="-2532" b="-6075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01479436"/>
                      </a:ext>
                    </a:extLst>
                  </a:tr>
                  <a:tr h="39679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98309675"/>
                      </a:ext>
                    </a:extLst>
                  </a:tr>
                  <a:tr h="39679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49861581"/>
                      </a:ext>
                    </a:extLst>
                  </a:tr>
                  <a:tr h="39679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97669854"/>
                      </a:ext>
                    </a:extLst>
                  </a:tr>
                  <a:tr h="39679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40101455"/>
                      </a:ext>
                    </a:extLst>
                  </a:tr>
                  <a:tr h="39679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0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55117453"/>
                      </a:ext>
                    </a:extLst>
                  </a:tr>
                  <a:tr h="39679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6139942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矩形 1">
            <a:extLst>
              <a:ext uri="{FF2B5EF4-FFF2-40B4-BE49-F238E27FC236}">
                <a16:creationId xmlns:a16="http://schemas.microsoft.com/office/drawing/2014/main" id="{2380AB1E-8EC7-F391-3031-59FF7E3863F6}"/>
              </a:ext>
            </a:extLst>
          </p:cNvPr>
          <p:cNvSpPr/>
          <p:nvPr/>
        </p:nvSpPr>
        <p:spPr>
          <a:xfrm>
            <a:off x="9761838" y="3669957"/>
            <a:ext cx="556054" cy="30908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4" name="Group 2">
            <a:extLst>
              <a:ext uri="{FF2B5EF4-FFF2-40B4-BE49-F238E27FC236}">
                <a16:creationId xmlns:a16="http://schemas.microsoft.com/office/drawing/2014/main" id="{EE5DB0CC-694C-6D41-9898-FE84D7C0F27B}"/>
              </a:ext>
            </a:extLst>
          </p:cNvPr>
          <p:cNvGrpSpPr>
            <a:grpSpLocks/>
          </p:cNvGrpSpPr>
          <p:nvPr/>
        </p:nvGrpSpPr>
        <p:grpSpPr bwMode="auto">
          <a:xfrm>
            <a:off x="2565400" y="685800"/>
            <a:ext cx="7340600" cy="5245100"/>
            <a:chOff x="656" y="432"/>
            <a:chExt cx="4624" cy="3304"/>
          </a:xfrm>
        </p:grpSpPr>
        <p:grpSp>
          <p:nvGrpSpPr>
            <p:cNvPr id="18435" name="Group 3">
              <a:extLst>
                <a:ext uri="{FF2B5EF4-FFF2-40B4-BE49-F238E27FC236}">
                  <a16:creationId xmlns:a16="http://schemas.microsoft.com/office/drawing/2014/main" id="{974024AC-8EA1-E742-BB0A-23BC1B33340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6" y="432"/>
              <a:ext cx="4624" cy="3304"/>
              <a:chOff x="656" y="432"/>
              <a:chExt cx="4624" cy="3304"/>
            </a:xfrm>
          </p:grpSpPr>
          <p:sp>
            <p:nvSpPr>
              <p:cNvPr id="18437" name="Text Box 4">
                <a:extLst>
                  <a:ext uri="{FF2B5EF4-FFF2-40B4-BE49-F238E27FC236}">
                    <a16:creationId xmlns:a16="http://schemas.microsoft.com/office/drawing/2014/main" id="{83E42D6E-E055-DE4C-B590-A110764B4F5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20" y="432"/>
                <a:ext cx="2316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buBlip>
                    <a:blip r:embed="rId3"/>
                  </a:buBlip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 eaLnBrk="0" hangingPunct="0">
                  <a:buClr>
                    <a:schemeClr val="tx1"/>
                  </a:buClr>
                  <a:buSzPct val="60000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 eaLnBrk="0" hangingPunct="0">
                  <a:buSzPct val="95000"/>
                  <a:buChar char="w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 eaLnBrk="0" hangingPunct="0">
                  <a:buClr>
                    <a:schemeClr val="tx1"/>
                  </a:buClr>
                  <a:buSzPct val="65000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 eaLnBrk="0" hangingPunct="0">
                  <a:buSzPct val="60000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800" b="1"/>
                  <a:t>RS</a:t>
                </a:r>
                <a:r>
                  <a:rPr lang="zh-CN" altLang="en-US" sz="2800" b="1"/>
                  <a:t>触发器的功能表</a:t>
                </a:r>
              </a:p>
            </p:txBody>
          </p:sp>
          <p:graphicFrame>
            <p:nvGraphicFramePr>
              <p:cNvPr id="18438" name="Object 5">
                <a:extLst>
                  <a:ext uri="{FF2B5EF4-FFF2-40B4-BE49-F238E27FC236}">
                    <a16:creationId xmlns:a16="http://schemas.microsoft.com/office/drawing/2014/main" id="{3609B488-33AA-F740-B14D-7ED729F84D0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56" y="968"/>
              <a:ext cx="4624" cy="276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75" name="文档" r:id="rId4" imgW="7454900" imgH="4457700" progId="Word.Document.8">
                      <p:embed/>
                    </p:oleObj>
                  </mc:Choice>
                  <mc:Fallback>
                    <p:oleObj name="文档" r:id="rId4" imgW="7454900" imgH="4457700" progId="Word.Document.8">
                      <p:embed/>
                      <p:pic>
                        <p:nvPicPr>
                          <p:cNvPr id="18438" name="Object 5">
                            <a:extLst>
                              <a:ext uri="{FF2B5EF4-FFF2-40B4-BE49-F238E27FC236}">
                                <a16:creationId xmlns:a16="http://schemas.microsoft.com/office/drawing/2014/main" id="{3609B488-33AA-F740-B14D-7ED729F84D03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56" y="968"/>
                            <a:ext cx="4624" cy="276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8436" name="Object 6">
              <a:extLst>
                <a:ext uri="{FF2B5EF4-FFF2-40B4-BE49-F238E27FC236}">
                  <a16:creationId xmlns:a16="http://schemas.microsoft.com/office/drawing/2014/main" id="{4B9540F8-3417-1042-889B-9BADF33991E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93" y="1033"/>
            <a:ext cx="239" cy="3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6" name="Equation" r:id="rId6" imgW="3797300" imgH="5562600" progId="Equation.3">
                    <p:embed/>
                  </p:oleObj>
                </mc:Choice>
                <mc:Fallback>
                  <p:oleObj name="Equation" r:id="rId6" imgW="3797300" imgH="5562600" progId="Equation.3">
                    <p:embed/>
                    <p:pic>
                      <p:nvPicPr>
                        <p:cNvPr id="18436" name="Object 6">
                          <a:extLst>
                            <a:ext uri="{FF2B5EF4-FFF2-40B4-BE49-F238E27FC236}">
                              <a16:creationId xmlns:a16="http://schemas.microsoft.com/office/drawing/2014/main" id="{4B9540F8-3417-1042-889B-9BADF33991E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93" y="1033"/>
                          <a:ext cx="239" cy="3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 spd="slow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0CA0C3D-5C62-7668-CE16-94D84A34A81C}"/>
              </a:ext>
            </a:extLst>
          </p:cNvPr>
          <p:cNvSpPr txBox="1"/>
          <p:nvPr/>
        </p:nvSpPr>
        <p:spPr>
          <a:xfrm>
            <a:off x="578947" y="354011"/>
            <a:ext cx="51298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电平触发的</a:t>
            </a:r>
            <a:r>
              <a:rPr lang="en-US" altLang="zh-CN" sz="2800" b="1" dirty="0"/>
              <a:t>D</a:t>
            </a:r>
            <a:r>
              <a:rPr lang="zh-CN" altLang="en-US" sz="2800" b="1" dirty="0"/>
              <a:t>触发器特性表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5E41A544-2CEA-A5F3-48CB-14A88568893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04331" y="1486555"/>
              <a:ext cx="5129876" cy="363677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35676">
                      <a:extLst>
                        <a:ext uri="{9D8B030D-6E8A-4147-A177-3AD203B41FA5}">
                          <a16:colId xmlns:a16="http://schemas.microsoft.com/office/drawing/2014/main" val="1585151491"/>
                        </a:ext>
                      </a:extLst>
                    </a:gridCol>
                    <a:gridCol w="1223319">
                      <a:extLst>
                        <a:ext uri="{9D8B030D-6E8A-4147-A177-3AD203B41FA5}">
                          <a16:colId xmlns:a16="http://schemas.microsoft.com/office/drawing/2014/main" val="66521624"/>
                        </a:ext>
                      </a:extLst>
                    </a:gridCol>
                    <a:gridCol w="1235675">
                      <a:extLst>
                        <a:ext uri="{9D8B030D-6E8A-4147-A177-3AD203B41FA5}">
                          <a16:colId xmlns:a16="http://schemas.microsoft.com/office/drawing/2014/main" val="2228029314"/>
                        </a:ext>
                      </a:extLst>
                    </a:gridCol>
                    <a:gridCol w="1435206">
                      <a:extLst>
                        <a:ext uri="{9D8B030D-6E8A-4147-A177-3AD203B41FA5}">
                          <a16:colId xmlns:a16="http://schemas.microsoft.com/office/drawing/2014/main" val="3805683700"/>
                        </a:ext>
                      </a:extLst>
                    </a:gridCol>
                  </a:tblGrid>
                  <a:tr h="438830">
                    <a:tc>
                      <a:txBody>
                        <a:bodyPr/>
                        <a:lstStyle/>
                        <a:p>
                          <a:r>
                            <a:rPr lang="en-US" altLang="zh-CN" sz="2800" dirty="0"/>
                            <a:t>   CP</a:t>
                          </a:r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/>
                            <a:t>D</a:t>
                          </a:r>
                          <a:endParaRPr lang="zh-CN" altLang="en-US" sz="2800" dirty="0"/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/>
                            <a:t>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800" i="1" smtClean="0">
                                      <a:latin typeface="Cambria Math" panose="02040503050406030204" pitchFamily="18" charset="0"/>
                                    </a:rPr>
                                    <m:t>Q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altLang="zh-CN" sz="2800" i="1" smtClean="0"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sup>
                              </m:sSup>
                            </m:oMath>
                          </a14:m>
                          <a:endParaRPr lang="zh-CN" altLang="en-US" sz="2800" dirty="0"/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800" i="1" smtClean="0">
                                        <a:latin typeface="Cambria Math" panose="02040503050406030204" pitchFamily="18" charset="0"/>
                                      </a:rPr>
                                      <m:t>Q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US" altLang="zh-CN" sz="2800" i="1" smtClean="0">
                                        <a:latin typeface="Cambria Math" panose="02040503050406030204" pitchFamily="18" charset="0"/>
                                      </a:rPr>
                                      <m:t>n</m:t>
                                    </m:r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CN" altLang="en-US" sz="2800" dirty="0"/>
                        </a:p>
                      </a:txBody>
                      <a:tcPr anchor="b"/>
                    </a:tc>
                    <a:extLst>
                      <a:ext uri="{0D108BD9-81ED-4DB2-BD59-A6C34878D82A}">
                        <a16:rowId xmlns:a16="http://schemas.microsoft.com/office/drawing/2014/main" val="2611898144"/>
                      </a:ext>
                    </a:extLst>
                  </a:tr>
                  <a:tr h="4308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/>
                            <a:t>0</a:t>
                          </a:r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/>
                            <a:t>ⅹ</a:t>
                          </a:r>
                          <a:endParaRPr lang="zh-CN" altLang="en-US" sz="2800" dirty="0"/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/>
                            <a:t>0</a:t>
                          </a:r>
                          <a:endParaRPr lang="zh-CN" altLang="en-US" sz="2800" dirty="0"/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zh-CN" altLang="en-US" sz="2800" dirty="0"/>
                        </a:p>
                      </a:txBody>
                      <a:tcPr anchor="b"/>
                    </a:tc>
                    <a:extLst>
                      <a:ext uri="{0D108BD9-81ED-4DB2-BD59-A6C34878D82A}">
                        <a16:rowId xmlns:a16="http://schemas.microsoft.com/office/drawing/2014/main" val="1270792512"/>
                      </a:ext>
                    </a:extLst>
                  </a:tr>
                  <a:tr h="4308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/>
                            <a:t>0</a:t>
                          </a:r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800" dirty="0"/>
                            <a:t>ⅹ</a:t>
                          </a:r>
                          <a:endParaRPr lang="zh-CN" altLang="en-US" sz="2800" dirty="0"/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/>
                            <a:t>1</a:t>
                          </a:r>
                          <a:endParaRPr lang="zh-CN" altLang="en-US" sz="2800" dirty="0"/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zh-CN" altLang="en-US" sz="2800" dirty="0"/>
                        </a:p>
                      </a:txBody>
                      <a:tcPr anchor="b"/>
                    </a:tc>
                    <a:extLst>
                      <a:ext uri="{0D108BD9-81ED-4DB2-BD59-A6C34878D82A}">
                        <a16:rowId xmlns:a16="http://schemas.microsoft.com/office/drawing/2014/main" val="2478583304"/>
                      </a:ext>
                    </a:extLst>
                  </a:tr>
                  <a:tr h="4308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/>
                            <a:t>1</a:t>
                          </a:r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/>
                            <a:t>0</a:t>
                          </a:r>
                          <a:endParaRPr lang="zh-CN" altLang="en-US" sz="2800" dirty="0"/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/>
                            <a:t>0</a:t>
                          </a:r>
                          <a:endParaRPr lang="zh-CN" altLang="en-US" sz="2800" dirty="0"/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zh-CN" altLang="en-US" sz="2800" dirty="0"/>
                        </a:p>
                      </a:txBody>
                      <a:tcPr anchor="b"/>
                    </a:tc>
                    <a:extLst>
                      <a:ext uri="{0D108BD9-81ED-4DB2-BD59-A6C34878D82A}">
                        <a16:rowId xmlns:a16="http://schemas.microsoft.com/office/drawing/2014/main" val="71332284"/>
                      </a:ext>
                    </a:extLst>
                  </a:tr>
                  <a:tr h="4308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/>
                            <a:t>1</a:t>
                          </a:r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/>
                            <a:t>0</a:t>
                          </a:r>
                          <a:endParaRPr lang="zh-CN" altLang="en-US" sz="2800" dirty="0"/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/>
                            <a:t>1</a:t>
                          </a:r>
                          <a:endParaRPr lang="zh-CN" altLang="en-US" sz="2800" dirty="0"/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zh-CN" altLang="en-US" sz="2800" dirty="0"/>
                        </a:p>
                      </a:txBody>
                      <a:tcPr anchor="b"/>
                    </a:tc>
                    <a:extLst>
                      <a:ext uri="{0D108BD9-81ED-4DB2-BD59-A6C34878D82A}">
                        <a16:rowId xmlns:a16="http://schemas.microsoft.com/office/drawing/2014/main" val="1629820738"/>
                      </a:ext>
                    </a:extLst>
                  </a:tr>
                  <a:tr h="4308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/>
                            <a:t>1</a:t>
                          </a:r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/>
                            <a:t>1                          </a:t>
                          </a:r>
                          <a:endParaRPr lang="zh-CN" altLang="en-US" sz="2800" dirty="0"/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/>
                            <a:t>0</a:t>
                          </a:r>
                          <a:endParaRPr lang="zh-CN" altLang="en-US" sz="2800" dirty="0"/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zh-CN" altLang="en-US" sz="2800" dirty="0"/>
                        </a:p>
                      </a:txBody>
                      <a:tcPr anchor="b"/>
                    </a:tc>
                    <a:extLst>
                      <a:ext uri="{0D108BD9-81ED-4DB2-BD59-A6C34878D82A}">
                        <a16:rowId xmlns:a16="http://schemas.microsoft.com/office/drawing/2014/main" val="3256998354"/>
                      </a:ext>
                    </a:extLst>
                  </a:tr>
                  <a:tr h="4308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/>
                            <a:t>1</a:t>
                          </a:r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/>
                            <a:t>1</a:t>
                          </a:r>
                          <a:endParaRPr lang="zh-CN" altLang="en-US" sz="2800" dirty="0"/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/>
                            <a:t>1</a:t>
                          </a:r>
                          <a:endParaRPr lang="zh-CN" altLang="en-US" sz="2800" dirty="0"/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zh-CN" altLang="en-US" sz="2800" dirty="0"/>
                        </a:p>
                      </a:txBody>
                      <a:tcPr anchor="b"/>
                    </a:tc>
                    <a:extLst>
                      <a:ext uri="{0D108BD9-81ED-4DB2-BD59-A6C34878D82A}">
                        <a16:rowId xmlns:a16="http://schemas.microsoft.com/office/drawing/2014/main" val="325677265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5E41A544-2CEA-A5F3-48CB-14A88568893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12362993"/>
                  </p:ext>
                </p:extLst>
              </p:nvPr>
            </p:nvGraphicFramePr>
            <p:xfrm>
              <a:off x="704331" y="1486555"/>
              <a:ext cx="5129876" cy="363677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35676">
                      <a:extLst>
                        <a:ext uri="{9D8B030D-6E8A-4147-A177-3AD203B41FA5}">
                          <a16:colId xmlns:a16="http://schemas.microsoft.com/office/drawing/2014/main" val="1585151491"/>
                        </a:ext>
                      </a:extLst>
                    </a:gridCol>
                    <a:gridCol w="1223319">
                      <a:extLst>
                        <a:ext uri="{9D8B030D-6E8A-4147-A177-3AD203B41FA5}">
                          <a16:colId xmlns:a16="http://schemas.microsoft.com/office/drawing/2014/main" val="66521624"/>
                        </a:ext>
                      </a:extLst>
                    </a:gridCol>
                    <a:gridCol w="1235675">
                      <a:extLst>
                        <a:ext uri="{9D8B030D-6E8A-4147-A177-3AD203B41FA5}">
                          <a16:colId xmlns:a16="http://schemas.microsoft.com/office/drawing/2014/main" val="2228029314"/>
                        </a:ext>
                      </a:extLst>
                    </a:gridCol>
                    <a:gridCol w="1435206">
                      <a:extLst>
                        <a:ext uri="{9D8B030D-6E8A-4147-A177-3AD203B41FA5}">
                          <a16:colId xmlns:a16="http://schemas.microsoft.com/office/drawing/2014/main" val="3805683700"/>
                        </a:ext>
                      </a:extLst>
                    </a:gridCol>
                  </a:tblGrid>
                  <a:tr h="527812">
                    <a:tc>
                      <a:txBody>
                        <a:bodyPr/>
                        <a:lstStyle/>
                        <a:p>
                          <a:r>
                            <a:rPr lang="en-US" altLang="zh-CN" sz="2800" dirty="0"/>
                            <a:t>   CP</a:t>
                          </a:r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/>
                            <a:t>D</a:t>
                          </a:r>
                          <a:endParaRPr lang="zh-CN" altLang="en-US" sz="2800" dirty="0"/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b">
                        <a:blipFill>
                          <a:blip r:embed="rId2"/>
                          <a:stretch>
                            <a:fillRect l="-199507" t="-12644" r="-118227" b="-6172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b">
                        <a:blipFill>
                          <a:blip r:embed="rId2"/>
                          <a:stretch>
                            <a:fillRect l="-257627" t="-12644" r="-1695" b="-6172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11898144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/>
                            <a:t>0</a:t>
                          </a:r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/>
                            <a:t>ⅹ</a:t>
                          </a:r>
                          <a:endParaRPr lang="zh-CN" altLang="en-US" sz="2800" dirty="0"/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/>
                            <a:t>0</a:t>
                          </a:r>
                          <a:endParaRPr lang="zh-CN" altLang="en-US" sz="2800" dirty="0"/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zh-CN" altLang="en-US" sz="2800" dirty="0"/>
                        </a:p>
                      </a:txBody>
                      <a:tcPr anchor="b"/>
                    </a:tc>
                    <a:extLst>
                      <a:ext uri="{0D108BD9-81ED-4DB2-BD59-A6C34878D82A}">
                        <a16:rowId xmlns:a16="http://schemas.microsoft.com/office/drawing/2014/main" val="1270792512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/>
                            <a:t>0</a:t>
                          </a:r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800" dirty="0"/>
                            <a:t>ⅹ</a:t>
                          </a:r>
                          <a:endParaRPr lang="zh-CN" altLang="en-US" sz="2800" dirty="0"/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/>
                            <a:t>1</a:t>
                          </a:r>
                          <a:endParaRPr lang="zh-CN" altLang="en-US" sz="2800" dirty="0"/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zh-CN" altLang="en-US" sz="2800" dirty="0"/>
                        </a:p>
                      </a:txBody>
                      <a:tcPr anchor="b"/>
                    </a:tc>
                    <a:extLst>
                      <a:ext uri="{0D108BD9-81ED-4DB2-BD59-A6C34878D82A}">
                        <a16:rowId xmlns:a16="http://schemas.microsoft.com/office/drawing/2014/main" val="2478583304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/>
                            <a:t>1</a:t>
                          </a:r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/>
                            <a:t>0</a:t>
                          </a:r>
                          <a:endParaRPr lang="zh-CN" altLang="en-US" sz="2800" dirty="0"/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/>
                            <a:t>0</a:t>
                          </a:r>
                          <a:endParaRPr lang="zh-CN" altLang="en-US" sz="2800" dirty="0"/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zh-CN" altLang="en-US" sz="2800" dirty="0"/>
                        </a:p>
                      </a:txBody>
                      <a:tcPr anchor="b"/>
                    </a:tc>
                    <a:extLst>
                      <a:ext uri="{0D108BD9-81ED-4DB2-BD59-A6C34878D82A}">
                        <a16:rowId xmlns:a16="http://schemas.microsoft.com/office/drawing/2014/main" val="71332284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/>
                            <a:t>1</a:t>
                          </a:r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/>
                            <a:t>0</a:t>
                          </a:r>
                          <a:endParaRPr lang="zh-CN" altLang="en-US" sz="2800" dirty="0"/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/>
                            <a:t>1</a:t>
                          </a:r>
                          <a:endParaRPr lang="zh-CN" altLang="en-US" sz="2800" dirty="0"/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zh-CN" altLang="en-US" sz="2800" dirty="0"/>
                        </a:p>
                      </a:txBody>
                      <a:tcPr anchor="b"/>
                    </a:tc>
                    <a:extLst>
                      <a:ext uri="{0D108BD9-81ED-4DB2-BD59-A6C34878D82A}">
                        <a16:rowId xmlns:a16="http://schemas.microsoft.com/office/drawing/2014/main" val="1629820738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/>
                            <a:t>1</a:t>
                          </a:r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/>
                            <a:t>1                          </a:t>
                          </a:r>
                          <a:endParaRPr lang="zh-CN" altLang="en-US" sz="2800" dirty="0"/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/>
                            <a:t>0</a:t>
                          </a:r>
                          <a:endParaRPr lang="zh-CN" altLang="en-US" sz="2800" dirty="0"/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zh-CN" altLang="en-US" sz="2800" dirty="0"/>
                        </a:p>
                      </a:txBody>
                      <a:tcPr anchor="b"/>
                    </a:tc>
                    <a:extLst>
                      <a:ext uri="{0D108BD9-81ED-4DB2-BD59-A6C34878D82A}">
                        <a16:rowId xmlns:a16="http://schemas.microsoft.com/office/drawing/2014/main" val="3256998354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/>
                            <a:t>1</a:t>
                          </a:r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/>
                            <a:t>1</a:t>
                          </a:r>
                          <a:endParaRPr lang="zh-CN" altLang="en-US" sz="2800" dirty="0"/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/>
                            <a:t>1</a:t>
                          </a:r>
                          <a:endParaRPr lang="zh-CN" altLang="en-US" sz="2800" dirty="0"/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zh-CN" altLang="en-US" sz="2800" dirty="0"/>
                        </a:p>
                      </a:txBody>
                      <a:tcPr anchor="b"/>
                    </a:tc>
                    <a:extLst>
                      <a:ext uri="{0D108BD9-81ED-4DB2-BD59-A6C34878D82A}">
                        <a16:rowId xmlns:a16="http://schemas.microsoft.com/office/drawing/2014/main" val="325677265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F3E227E6-8A4B-2965-EF64-C9214ABA8F46}"/>
              </a:ext>
            </a:extLst>
          </p:cNvPr>
          <p:cNvSpPr txBox="1"/>
          <p:nvPr/>
        </p:nvSpPr>
        <p:spPr>
          <a:xfrm>
            <a:off x="5050924" y="3011312"/>
            <a:ext cx="3738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0</a:t>
            </a:r>
            <a:endParaRPr lang="zh-CN" altLang="en-US" sz="28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AAE8169-742A-589A-9E97-FA7CAFD6BF42}"/>
              </a:ext>
            </a:extLst>
          </p:cNvPr>
          <p:cNvSpPr txBox="1"/>
          <p:nvPr/>
        </p:nvSpPr>
        <p:spPr>
          <a:xfrm>
            <a:off x="5015281" y="3549332"/>
            <a:ext cx="3738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0</a:t>
            </a:r>
            <a:endParaRPr lang="zh-CN" altLang="en-US" sz="28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3754897-6355-BB4A-98E7-8E9661468CCC}"/>
              </a:ext>
            </a:extLst>
          </p:cNvPr>
          <p:cNvSpPr txBox="1"/>
          <p:nvPr/>
        </p:nvSpPr>
        <p:spPr>
          <a:xfrm>
            <a:off x="5015281" y="4042449"/>
            <a:ext cx="3738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1</a:t>
            </a:r>
            <a:endParaRPr lang="zh-CN" altLang="en-US" sz="28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7A3C836-7D83-E06B-BAF7-A0B97F072227}"/>
              </a:ext>
            </a:extLst>
          </p:cNvPr>
          <p:cNvSpPr txBox="1"/>
          <p:nvPr/>
        </p:nvSpPr>
        <p:spPr>
          <a:xfrm>
            <a:off x="5015281" y="4649886"/>
            <a:ext cx="3738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1</a:t>
            </a:r>
            <a:endParaRPr lang="zh-CN" altLang="en-US" sz="28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14FFD66-FA13-AD8B-7001-48C8A82682B1}"/>
              </a:ext>
            </a:extLst>
          </p:cNvPr>
          <p:cNvSpPr txBox="1"/>
          <p:nvPr/>
        </p:nvSpPr>
        <p:spPr>
          <a:xfrm>
            <a:off x="5015281" y="2017757"/>
            <a:ext cx="3738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0</a:t>
            </a:r>
            <a:endParaRPr lang="zh-CN" altLang="en-US" sz="28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6B2C8E1-4FD1-F2B1-052F-CEE80C22FED4}"/>
              </a:ext>
            </a:extLst>
          </p:cNvPr>
          <p:cNvSpPr txBox="1"/>
          <p:nvPr/>
        </p:nvSpPr>
        <p:spPr>
          <a:xfrm>
            <a:off x="5015281" y="2502892"/>
            <a:ext cx="3738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1</a:t>
            </a:r>
            <a:endParaRPr lang="zh-CN" altLang="en-US" sz="28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E8A7F56-7CD2-35A6-4361-60DAB1AA9E2B}"/>
              </a:ext>
            </a:extLst>
          </p:cNvPr>
          <p:cNvSpPr txBox="1"/>
          <p:nvPr/>
        </p:nvSpPr>
        <p:spPr>
          <a:xfrm>
            <a:off x="6479059" y="1602258"/>
            <a:ext cx="20388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D</a:t>
            </a:r>
            <a:r>
              <a:rPr lang="zh-CN" altLang="en-US" sz="2400" dirty="0"/>
              <a:t>触发器具有什么功能？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0581595-F3CA-D633-3A49-E41ED6A0FA32}"/>
              </a:ext>
            </a:extLst>
          </p:cNvPr>
          <p:cNvSpPr txBox="1"/>
          <p:nvPr/>
        </p:nvSpPr>
        <p:spPr>
          <a:xfrm>
            <a:off x="6479058" y="2826646"/>
            <a:ext cx="52845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寄存器：存入什么，输出什么。</a:t>
            </a:r>
          </a:p>
        </p:txBody>
      </p:sp>
    </p:spTree>
    <p:extLst>
      <p:ext uri="{BB962C8B-B14F-4D97-AF65-F5344CB8AC3E}">
        <p14:creationId xmlns:p14="http://schemas.microsoft.com/office/powerpoint/2010/main" val="1863986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1" grpId="0"/>
      <p:bldP spid="12" grpId="0"/>
      <p:bldP spid="13" grpId="0"/>
      <p:bldP spid="1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15B91FF-B5C2-181B-DE31-0436138940EE}"/>
              </a:ext>
            </a:extLst>
          </p:cNvPr>
          <p:cNvSpPr txBox="1"/>
          <p:nvPr/>
        </p:nvSpPr>
        <p:spPr>
          <a:xfrm>
            <a:off x="580767" y="513687"/>
            <a:ext cx="43125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JK</a:t>
            </a:r>
            <a:r>
              <a:rPr lang="zh-CN" altLang="en-US" sz="2800" dirty="0"/>
              <a:t>触发器的特性表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表格 2">
                <a:extLst>
                  <a:ext uri="{FF2B5EF4-FFF2-40B4-BE49-F238E27FC236}">
                    <a16:creationId xmlns:a16="http://schemas.microsoft.com/office/drawing/2014/main" id="{8D70F02F-DE43-2B85-E519-B472FA527B6E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04331" y="1486555"/>
              <a:ext cx="5129876" cy="467309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35676">
                      <a:extLst>
                        <a:ext uri="{9D8B030D-6E8A-4147-A177-3AD203B41FA5}">
                          <a16:colId xmlns:a16="http://schemas.microsoft.com/office/drawing/2014/main" val="1585151491"/>
                        </a:ext>
                      </a:extLst>
                    </a:gridCol>
                    <a:gridCol w="1223319">
                      <a:extLst>
                        <a:ext uri="{9D8B030D-6E8A-4147-A177-3AD203B41FA5}">
                          <a16:colId xmlns:a16="http://schemas.microsoft.com/office/drawing/2014/main" val="66521624"/>
                        </a:ext>
                      </a:extLst>
                    </a:gridCol>
                    <a:gridCol w="1235675">
                      <a:extLst>
                        <a:ext uri="{9D8B030D-6E8A-4147-A177-3AD203B41FA5}">
                          <a16:colId xmlns:a16="http://schemas.microsoft.com/office/drawing/2014/main" val="2228029314"/>
                        </a:ext>
                      </a:extLst>
                    </a:gridCol>
                    <a:gridCol w="1435206">
                      <a:extLst>
                        <a:ext uri="{9D8B030D-6E8A-4147-A177-3AD203B41FA5}">
                          <a16:colId xmlns:a16="http://schemas.microsoft.com/office/drawing/2014/main" val="3805683700"/>
                        </a:ext>
                      </a:extLst>
                    </a:gridCol>
                  </a:tblGrid>
                  <a:tr h="438830">
                    <a:tc>
                      <a:txBody>
                        <a:bodyPr/>
                        <a:lstStyle/>
                        <a:p>
                          <a:r>
                            <a:rPr lang="en-US" altLang="zh-CN" sz="2800" dirty="0"/>
                            <a:t>   J</a:t>
                          </a:r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/>
                            <a:t>K</a:t>
                          </a:r>
                          <a:endParaRPr lang="zh-CN" altLang="en-US" sz="2800" dirty="0"/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/>
                            <a:t>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800" i="1" smtClean="0">
                                      <a:latin typeface="Cambria Math" panose="02040503050406030204" pitchFamily="18" charset="0"/>
                                    </a:rPr>
                                    <m:t>Q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altLang="zh-CN" sz="2800" i="1" smtClean="0"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sup>
                              </m:sSup>
                            </m:oMath>
                          </a14:m>
                          <a:endParaRPr lang="zh-CN" altLang="en-US" sz="2800" dirty="0"/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800" i="1" smtClean="0">
                                        <a:latin typeface="Cambria Math" panose="02040503050406030204" pitchFamily="18" charset="0"/>
                                      </a:rPr>
                                      <m:t>Q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US" altLang="zh-CN" sz="2800" i="1" smtClean="0">
                                        <a:latin typeface="Cambria Math" panose="02040503050406030204" pitchFamily="18" charset="0"/>
                                      </a:rPr>
                                      <m:t>n</m:t>
                                    </m:r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CN" altLang="en-US" sz="2800" dirty="0"/>
                        </a:p>
                      </a:txBody>
                      <a:tcPr anchor="b"/>
                    </a:tc>
                    <a:extLst>
                      <a:ext uri="{0D108BD9-81ED-4DB2-BD59-A6C34878D82A}">
                        <a16:rowId xmlns:a16="http://schemas.microsoft.com/office/drawing/2014/main" val="2611898144"/>
                      </a:ext>
                    </a:extLst>
                  </a:tr>
                  <a:tr h="4308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/>
                            <a:t>0</a:t>
                          </a:r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/>
                            <a:t>0</a:t>
                          </a:r>
                          <a:endParaRPr lang="zh-CN" altLang="en-US" sz="2800" dirty="0"/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/>
                            <a:t>0</a:t>
                          </a:r>
                          <a:endParaRPr lang="zh-CN" altLang="en-US" sz="2800" dirty="0"/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zh-CN" altLang="en-US" sz="2800" dirty="0"/>
                        </a:p>
                      </a:txBody>
                      <a:tcPr anchor="b"/>
                    </a:tc>
                    <a:extLst>
                      <a:ext uri="{0D108BD9-81ED-4DB2-BD59-A6C34878D82A}">
                        <a16:rowId xmlns:a16="http://schemas.microsoft.com/office/drawing/2014/main" val="1270792512"/>
                      </a:ext>
                    </a:extLst>
                  </a:tr>
                  <a:tr h="4308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/>
                            <a:t>0</a:t>
                          </a:r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800" dirty="0"/>
                            <a:t>0</a:t>
                          </a:r>
                          <a:endParaRPr lang="zh-CN" altLang="en-US" sz="2800" dirty="0"/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/>
                            <a:t>1</a:t>
                          </a:r>
                          <a:endParaRPr lang="zh-CN" altLang="en-US" sz="2800" dirty="0"/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zh-CN" altLang="en-US" sz="2800" dirty="0"/>
                        </a:p>
                      </a:txBody>
                      <a:tcPr anchor="b"/>
                    </a:tc>
                    <a:extLst>
                      <a:ext uri="{0D108BD9-81ED-4DB2-BD59-A6C34878D82A}">
                        <a16:rowId xmlns:a16="http://schemas.microsoft.com/office/drawing/2014/main" val="2478583304"/>
                      </a:ext>
                    </a:extLst>
                  </a:tr>
                  <a:tr h="4308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/>
                            <a:t>0</a:t>
                          </a:r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/>
                            <a:t>1</a:t>
                          </a:r>
                          <a:endParaRPr lang="zh-CN" altLang="en-US" sz="2800" dirty="0"/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/>
                            <a:t>0</a:t>
                          </a:r>
                          <a:endParaRPr lang="zh-CN" altLang="en-US" sz="2800" dirty="0"/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zh-CN" altLang="en-US" sz="2800" dirty="0"/>
                        </a:p>
                      </a:txBody>
                      <a:tcPr anchor="b"/>
                    </a:tc>
                    <a:extLst>
                      <a:ext uri="{0D108BD9-81ED-4DB2-BD59-A6C34878D82A}">
                        <a16:rowId xmlns:a16="http://schemas.microsoft.com/office/drawing/2014/main" val="71332284"/>
                      </a:ext>
                    </a:extLst>
                  </a:tr>
                  <a:tr h="4308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/>
                            <a:t>0</a:t>
                          </a:r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/>
                            <a:t>1</a:t>
                          </a:r>
                          <a:endParaRPr lang="zh-CN" altLang="en-US" sz="2800" dirty="0"/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/>
                            <a:t>1</a:t>
                          </a:r>
                          <a:endParaRPr lang="zh-CN" altLang="en-US" sz="2800" dirty="0"/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zh-CN" altLang="en-US" sz="2800" dirty="0"/>
                        </a:p>
                      </a:txBody>
                      <a:tcPr anchor="b"/>
                    </a:tc>
                    <a:extLst>
                      <a:ext uri="{0D108BD9-81ED-4DB2-BD59-A6C34878D82A}">
                        <a16:rowId xmlns:a16="http://schemas.microsoft.com/office/drawing/2014/main" val="1629820738"/>
                      </a:ext>
                    </a:extLst>
                  </a:tr>
                  <a:tr h="4308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/>
                            <a:t>1</a:t>
                          </a:r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/>
                            <a:t>0                          </a:t>
                          </a:r>
                          <a:endParaRPr lang="zh-CN" altLang="en-US" sz="2800" dirty="0"/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/>
                            <a:t>0</a:t>
                          </a:r>
                          <a:endParaRPr lang="zh-CN" altLang="en-US" sz="2800" dirty="0"/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zh-CN" altLang="en-US" sz="2800" dirty="0"/>
                        </a:p>
                      </a:txBody>
                      <a:tcPr anchor="b"/>
                    </a:tc>
                    <a:extLst>
                      <a:ext uri="{0D108BD9-81ED-4DB2-BD59-A6C34878D82A}">
                        <a16:rowId xmlns:a16="http://schemas.microsoft.com/office/drawing/2014/main" val="3256998354"/>
                      </a:ext>
                    </a:extLst>
                  </a:tr>
                  <a:tr h="1727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/>
                            <a:t>1</a:t>
                          </a:r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/>
                            <a:t>0</a:t>
                          </a:r>
                          <a:endParaRPr lang="zh-CN" altLang="en-US" sz="2800" dirty="0"/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/>
                            <a:t>1</a:t>
                          </a:r>
                          <a:endParaRPr lang="zh-CN" altLang="en-US" sz="2800" dirty="0"/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zh-CN" altLang="en-US" sz="2800" dirty="0"/>
                        </a:p>
                      </a:txBody>
                      <a:tcPr anchor="b"/>
                    </a:tc>
                    <a:extLst>
                      <a:ext uri="{0D108BD9-81ED-4DB2-BD59-A6C34878D82A}">
                        <a16:rowId xmlns:a16="http://schemas.microsoft.com/office/drawing/2014/main" val="3256772651"/>
                      </a:ext>
                    </a:extLst>
                  </a:tr>
                  <a:tr h="3454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/>
                            <a:t>1</a:t>
                          </a:r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/>
                            <a:t>1</a:t>
                          </a:r>
                          <a:endParaRPr lang="zh-CN" altLang="en-US" sz="2800" dirty="0"/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/>
                            <a:t>0</a:t>
                          </a:r>
                          <a:endParaRPr lang="zh-CN" altLang="en-US" sz="2800" dirty="0"/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zh-CN" altLang="en-US" sz="2800" dirty="0"/>
                        </a:p>
                      </a:txBody>
                      <a:tcPr anchor="b"/>
                    </a:tc>
                    <a:extLst>
                      <a:ext uri="{0D108BD9-81ED-4DB2-BD59-A6C34878D82A}">
                        <a16:rowId xmlns:a16="http://schemas.microsoft.com/office/drawing/2014/main" val="575875413"/>
                      </a:ext>
                    </a:extLst>
                  </a:tr>
                  <a:tr h="1727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/>
                            <a:t>1</a:t>
                          </a:r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/>
                            <a:t>1</a:t>
                          </a:r>
                          <a:endParaRPr lang="zh-CN" altLang="en-US" sz="2800" dirty="0"/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/>
                            <a:t>1</a:t>
                          </a:r>
                          <a:endParaRPr lang="zh-CN" altLang="en-US" sz="2800" dirty="0"/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zh-CN" altLang="en-US" sz="2800" dirty="0"/>
                        </a:p>
                      </a:txBody>
                      <a:tcPr anchor="b"/>
                    </a:tc>
                    <a:extLst>
                      <a:ext uri="{0D108BD9-81ED-4DB2-BD59-A6C34878D82A}">
                        <a16:rowId xmlns:a16="http://schemas.microsoft.com/office/drawing/2014/main" val="426739495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表格 2">
                <a:extLst>
                  <a:ext uri="{FF2B5EF4-FFF2-40B4-BE49-F238E27FC236}">
                    <a16:creationId xmlns:a16="http://schemas.microsoft.com/office/drawing/2014/main" id="{8D70F02F-DE43-2B85-E519-B472FA527B6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90900773"/>
                  </p:ext>
                </p:extLst>
              </p:nvPr>
            </p:nvGraphicFramePr>
            <p:xfrm>
              <a:off x="704331" y="1486555"/>
              <a:ext cx="5129876" cy="467309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35676">
                      <a:extLst>
                        <a:ext uri="{9D8B030D-6E8A-4147-A177-3AD203B41FA5}">
                          <a16:colId xmlns:a16="http://schemas.microsoft.com/office/drawing/2014/main" val="1585151491"/>
                        </a:ext>
                      </a:extLst>
                    </a:gridCol>
                    <a:gridCol w="1223319">
                      <a:extLst>
                        <a:ext uri="{9D8B030D-6E8A-4147-A177-3AD203B41FA5}">
                          <a16:colId xmlns:a16="http://schemas.microsoft.com/office/drawing/2014/main" val="66521624"/>
                        </a:ext>
                      </a:extLst>
                    </a:gridCol>
                    <a:gridCol w="1235675">
                      <a:extLst>
                        <a:ext uri="{9D8B030D-6E8A-4147-A177-3AD203B41FA5}">
                          <a16:colId xmlns:a16="http://schemas.microsoft.com/office/drawing/2014/main" val="2228029314"/>
                        </a:ext>
                      </a:extLst>
                    </a:gridCol>
                    <a:gridCol w="1435206">
                      <a:extLst>
                        <a:ext uri="{9D8B030D-6E8A-4147-A177-3AD203B41FA5}">
                          <a16:colId xmlns:a16="http://schemas.microsoft.com/office/drawing/2014/main" val="3805683700"/>
                        </a:ext>
                      </a:extLst>
                    </a:gridCol>
                  </a:tblGrid>
                  <a:tr h="527812">
                    <a:tc>
                      <a:txBody>
                        <a:bodyPr/>
                        <a:lstStyle/>
                        <a:p>
                          <a:r>
                            <a:rPr lang="en-US" altLang="zh-CN" sz="2800" dirty="0"/>
                            <a:t>   J</a:t>
                          </a:r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/>
                            <a:t>K</a:t>
                          </a:r>
                          <a:endParaRPr lang="zh-CN" altLang="en-US" sz="2800" dirty="0"/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b">
                        <a:blipFill>
                          <a:blip r:embed="rId2"/>
                          <a:stretch>
                            <a:fillRect l="-199507" t="-12644" r="-118227" b="-8126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b">
                        <a:blipFill>
                          <a:blip r:embed="rId2"/>
                          <a:stretch>
                            <a:fillRect l="-257627" t="-12644" r="-1695" b="-8126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11898144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/>
                            <a:t>0</a:t>
                          </a:r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/>
                            <a:t>0</a:t>
                          </a:r>
                          <a:endParaRPr lang="zh-CN" altLang="en-US" sz="2800" dirty="0"/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/>
                            <a:t>0</a:t>
                          </a:r>
                          <a:endParaRPr lang="zh-CN" altLang="en-US" sz="2800" dirty="0"/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zh-CN" altLang="en-US" sz="2800" dirty="0"/>
                        </a:p>
                      </a:txBody>
                      <a:tcPr anchor="b"/>
                    </a:tc>
                    <a:extLst>
                      <a:ext uri="{0D108BD9-81ED-4DB2-BD59-A6C34878D82A}">
                        <a16:rowId xmlns:a16="http://schemas.microsoft.com/office/drawing/2014/main" val="1270792512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/>
                            <a:t>0</a:t>
                          </a:r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800" dirty="0"/>
                            <a:t>0</a:t>
                          </a:r>
                          <a:endParaRPr lang="zh-CN" altLang="en-US" sz="2800" dirty="0"/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/>
                            <a:t>1</a:t>
                          </a:r>
                          <a:endParaRPr lang="zh-CN" altLang="en-US" sz="2800" dirty="0"/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zh-CN" altLang="en-US" sz="2800" dirty="0"/>
                        </a:p>
                      </a:txBody>
                      <a:tcPr anchor="b"/>
                    </a:tc>
                    <a:extLst>
                      <a:ext uri="{0D108BD9-81ED-4DB2-BD59-A6C34878D82A}">
                        <a16:rowId xmlns:a16="http://schemas.microsoft.com/office/drawing/2014/main" val="2478583304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/>
                            <a:t>0</a:t>
                          </a:r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/>
                            <a:t>1</a:t>
                          </a:r>
                          <a:endParaRPr lang="zh-CN" altLang="en-US" sz="2800" dirty="0"/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/>
                            <a:t>0</a:t>
                          </a:r>
                          <a:endParaRPr lang="zh-CN" altLang="en-US" sz="2800" dirty="0"/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zh-CN" altLang="en-US" sz="2800" dirty="0"/>
                        </a:p>
                      </a:txBody>
                      <a:tcPr anchor="b"/>
                    </a:tc>
                    <a:extLst>
                      <a:ext uri="{0D108BD9-81ED-4DB2-BD59-A6C34878D82A}">
                        <a16:rowId xmlns:a16="http://schemas.microsoft.com/office/drawing/2014/main" val="71332284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/>
                            <a:t>0</a:t>
                          </a:r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/>
                            <a:t>1</a:t>
                          </a:r>
                          <a:endParaRPr lang="zh-CN" altLang="en-US" sz="2800" dirty="0"/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/>
                            <a:t>1</a:t>
                          </a:r>
                          <a:endParaRPr lang="zh-CN" altLang="en-US" sz="2800" dirty="0"/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zh-CN" altLang="en-US" sz="2800" dirty="0"/>
                        </a:p>
                      </a:txBody>
                      <a:tcPr anchor="b"/>
                    </a:tc>
                    <a:extLst>
                      <a:ext uri="{0D108BD9-81ED-4DB2-BD59-A6C34878D82A}">
                        <a16:rowId xmlns:a16="http://schemas.microsoft.com/office/drawing/2014/main" val="1629820738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/>
                            <a:t>1</a:t>
                          </a:r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/>
                            <a:t>0                          </a:t>
                          </a:r>
                          <a:endParaRPr lang="zh-CN" altLang="en-US" sz="2800" dirty="0"/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/>
                            <a:t>0</a:t>
                          </a:r>
                          <a:endParaRPr lang="zh-CN" altLang="en-US" sz="2800" dirty="0"/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zh-CN" altLang="en-US" sz="2800" dirty="0"/>
                        </a:p>
                      </a:txBody>
                      <a:tcPr anchor="b"/>
                    </a:tc>
                    <a:extLst>
                      <a:ext uri="{0D108BD9-81ED-4DB2-BD59-A6C34878D82A}">
                        <a16:rowId xmlns:a16="http://schemas.microsoft.com/office/drawing/2014/main" val="3256998354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/>
                            <a:t>1</a:t>
                          </a:r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/>
                            <a:t>0</a:t>
                          </a:r>
                          <a:endParaRPr lang="zh-CN" altLang="en-US" sz="2800" dirty="0"/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/>
                            <a:t>1</a:t>
                          </a:r>
                          <a:endParaRPr lang="zh-CN" altLang="en-US" sz="2800" dirty="0"/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zh-CN" altLang="en-US" sz="2800" dirty="0"/>
                        </a:p>
                      </a:txBody>
                      <a:tcPr anchor="b"/>
                    </a:tc>
                    <a:extLst>
                      <a:ext uri="{0D108BD9-81ED-4DB2-BD59-A6C34878D82A}">
                        <a16:rowId xmlns:a16="http://schemas.microsoft.com/office/drawing/2014/main" val="3256772651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/>
                            <a:t>1</a:t>
                          </a:r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/>
                            <a:t>1</a:t>
                          </a:r>
                          <a:endParaRPr lang="zh-CN" altLang="en-US" sz="2800" dirty="0"/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/>
                            <a:t>0</a:t>
                          </a:r>
                          <a:endParaRPr lang="zh-CN" altLang="en-US" sz="2800" dirty="0"/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zh-CN" altLang="en-US" sz="2800" dirty="0"/>
                        </a:p>
                      </a:txBody>
                      <a:tcPr anchor="b"/>
                    </a:tc>
                    <a:extLst>
                      <a:ext uri="{0D108BD9-81ED-4DB2-BD59-A6C34878D82A}">
                        <a16:rowId xmlns:a16="http://schemas.microsoft.com/office/drawing/2014/main" val="575875413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/>
                            <a:t>1</a:t>
                          </a:r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/>
                            <a:t>1</a:t>
                          </a:r>
                          <a:endParaRPr lang="zh-CN" altLang="en-US" sz="2800" dirty="0"/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800" dirty="0"/>
                            <a:t>1</a:t>
                          </a:r>
                          <a:endParaRPr lang="zh-CN" altLang="en-US" sz="2800" dirty="0"/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zh-CN" altLang="en-US" sz="2800" dirty="0"/>
                        </a:p>
                      </a:txBody>
                      <a:tcPr anchor="b"/>
                    </a:tc>
                    <a:extLst>
                      <a:ext uri="{0D108BD9-81ED-4DB2-BD59-A6C34878D82A}">
                        <a16:rowId xmlns:a16="http://schemas.microsoft.com/office/drawing/2014/main" val="426739495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文本框 3">
            <a:extLst>
              <a:ext uri="{FF2B5EF4-FFF2-40B4-BE49-F238E27FC236}">
                <a16:creationId xmlns:a16="http://schemas.microsoft.com/office/drawing/2014/main" id="{D49E2737-6334-86F5-F2CE-2EB68386E456}"/>
              </a:ext>
            </a:extLst>
          </p:cNvPr>
          <p:cNvSpPr txBox="1"/>
          <p:nvPr/>
        </p:nvSpPr>
        <p:spPr>
          <a:xfrm>
            <a:off x="5050924" y="3011312"/>
            <a:ext cx="3738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0</a:t>
            </a:r>
            <a:endParaRPr lang="zh-CN" altLang="en-US" sz="28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E19010D-E21A-05BD-FD9F-A4283710B0D5}"/>
              </a:ext>
            </a:extLst>
          </p:cNvPr>
          <p:cNvSpPr txBox="1"/>
          <p:nvPr/>
        </p:nvSpPr>
        <p:spPr>
          <a:xfrm>
            <a:off x="5015281" y="3549332"/>
            <a:ext cx="3738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0</a:t>
            </a:r>
            <a:endParaRPr lang="zh-CN" altLang="en-US" sz="28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DB890B8-6E30-20E0-1F1D-1E859D0E8A63}"/>
              </a:ext>
            </a:extLst>
          </p:cNvPr>
          <p:cNvSpPr txBox="1"/>
          <p:nvPr/>
        </p:nvSpPr>
        <p:spPr>
          <a:xfrm>
            <a:off x="5015281" y="4042449"/>
            <a:ext cx="3738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1</a:t>
            </a:r>
            <a:endParaRPr lang="zh-CN" altLang="en-US" sz="28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9F062C8-1EB6-756F-92F9-FF825FEE7423}"/>
              </a:ext>
            </a:extLst>
          </p:cNvPr>
          <p:cNvSpPr txBox="1"/>
          <p:nvPr/>
        </p:nvSpPr>
        <p:spPr>
          <a:xfrm>
            <a:off x="5015281" y="4600458"/>
            <a:ext cx="3738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1</a:t>
            </a:r>
            <a:endParaRPr lang="zh-CN" altLang="en-US" sz="28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B4F8778-8F43-49ED-15F6-EA35C890B47B}"/>
              </a:ext>
            </a:extLst>
          </p:cNvPr>
          <p:cNvSpPr txBox="1"/>
          <p:nvPr/>
        </p:nvSpPr>
        <p:spPr>
          <a:xfrm>
            <a:off x="5015281" y="2017757"/>
            <a:ext cx="3738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0</a:t>
            </a:r>
            <a:endParaRPr lang="zh-CN" altLang="en-US" sz="28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1FF8330-0C34-9E92-952B-38AB16416C95}"/>
              </a:ext>
            </a:extLst>
          </p:cNvPr>
          <p:cNvSpPr txBox="1"/>
          <p:nvPr/>
        </p:nvSpPr>
        <p:spPr>
          <a:xfrm>
            <a:off x="5015281" y="2502892"/>
            <a:ext cx="3738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1</a:t>
            </a:r>
            <a:endParaRPr lang="zh-CN" altLang="en-US" sz="28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D11395E-6946-E391-D3AF-2921BE592AEB}"/>
              </a:ext>
            </a:extLst>
          </p:cNvPr>
          <p:cNvSpPr txBox="1"/>
          <p:nvPr/>
        </p:nvSpPr>
        <p:spPr>
          <a:xfrm>
            <a:off x="5015281" y="5143156"/>
            <a:ext cx="3738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1</a:t>
            </a:r>
            <a:endParaRPr lang="zh-CN" altLang="en-US" sz="28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6703816-68E9-4EF6-CB01-B0915B82F859}"/>
              </a:ext>
            </a:extLst>
          </p:cNvPr>
          <p:cNvSpPr txBox="1"/>
          <p:nvPr/>
        </p:nvSpPr>
        <p:spPr>
          <a:xfrm>
            <a:off x="5015281" y="5609985"/>
            <a:ext cx="3738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0</a:t>
            </a:r>
            <a:endParaRPr lang="zh-CN" altLang="en-US" sz="28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6F02CA6-5084-529F-2655-ED8DDE0E4D65}"/>
              </a:ext>
            </a:extLst>
          </p:cNvPr>
          <p:cNvSpPr txBox="1"/>
          <p:nvPr/>
        </p:nvSpPr>
        <p:spPr>
          <a:xfrm>
            <a:off x="6746789" y="775297"/>
            <a:ext cx="29409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功能：</a:t>
            </a:r>
            <a:endParaRPr lang="en-US" altLang="zh-CN" sz="28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2E7BF7A-E74E-23B1-8E1C-02F052140896}"/>
              </a:ext>
            </a:extLst>
          </p:cNvPr>
          <p:cNvSpPr txBox="1"/>
          <p:nvPr/>
        </p:nvSpPr>
        <p:spPr>
          <a:xfrm>
            <a:off x="6767128" y="1979672"/>
            <a:ext cx="22520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/>
              <a:t>J=0     K=0</a:t>
            </a:r>
            <a:endParaRPr lang="zh-CN" altLang="en-US" sz="28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17576E1-B5CB-17BA-6BEE-17EA5815C316}"/>
              </a:ext>
            </a:extLst>
          </p:cNvPr>
          <p:cNvSpPr txBox="1"/>
          <p:nvPr/>
        </p:nvSpPr>
        <p:spPr>
          <a:xfrm>
            <a:off x="8062013" y="2515718"/>
            <a:ext cx="22520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保持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A40D2C22-0519-C09E-509A-B3998BE638FF}"/>
                  </a:ext>
                </a:extLst>
              </p:cNvPr>
              <p:cNvSpPr txBox="1"/>
              <p:nvPr/>
            </p:nvSpPr>
            <p:spPr>
              <a:xfrm>
                <a:off x="8062013" y="821563"/>
                <a:ext cx="2940908" cy="4769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</m:oMath>
                </a14:m>
                <a:r>
                  <a:rPr lang="en-US" altLang="zh-CN" sz="2400" b="0" dirty="0"/>
                  <a:t> =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i="1" dirty="0">
                        <a:latin typeface="Cambria Math" panose="02040503050406030204" pitchFamily="18" charset="0"/>
                      </a:rPr>
                      <m:t>J</m:t>
                    </m:r>
                    <m:acc>
                      <m:accPr>
                        <m:chr m:val="̅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acc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 i="1">
                            <a:latin typeface="Cambria Math" panose="02040503050406030204" pitchFamily="18" charset="0"/>
                          </a:rPr>
                          <m:t>K</m:t>
                        </m:r>
                      </m:e>
                    </m:acc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A40D2C22-0519-C09E-509A-B3998BE638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2013" y="821563"/>
                <a:ext cx="2940908" cy="476953"/>
              </a:xfrm>
              <a:prstGeom prst="rect">
                <a:avLst/>
              </a:prstGeom>
              <a:blipFill>
                <a:blip r:embed="rId3"/>
                <a:stretch>
                  <a:fillRect l="-1452" t="-8974" b="-269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156CFFDE-819B-2890-30EA-EF5CA79DE6AD}"/>
                  </a:ext>
                </a:extLst>
              </p:cNvPr>
              <p:cNvSpPr txBox="1"/>
              <p:nvPr/>
            </p:nvSpPr>
            <p:spPr>
              <a:xfrm>
                <a:off x="9188023" y="1949996"/>
                <a:ext cx="209910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</m:oMath>
                </a14:m>
                <a:r>
                  <a:rPr lang="en-US" altLang="zh-CN" sz="2800" b="0" dirty="0"/>
                  <a:t>=</a:t>
                </a:r>
                <a:r>
                  <a:rPr lang="en-US" altLang="zh-CN" sz="28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zh-CN" sz="2800" b="0" dirty="0"/>
                  <a:t> </a:t>
                </a:r>
                <a:endParaRPr lang="zh-CN" altLang="en-US" sz="2800" dirty="0"/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156CFFDE-819B-2890-30EA-EF5CA79DE6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8023" y="1949996"/>
                <a:ext cx="2099106" cy="523220"/>
              </a:xfrm>
              <a:prstGeom prst="rect">
                <a:avLst/>
              </a:prstGeom>
              <a:blipFill>
                <a:blip r:embed="rId4"/>
                <a:stretch>
                  <a:fillRect t="-12791" b="-313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文本框 19">
            <a:extLst>
              <a:ext uri="{FF2B5EF4-FFF2-40B4-BE49-F238E27FC236}">
                <a16:creationId xmlns:a16="http://schemas.microsoft.com/office/drawing/2014/main" id="{313283D5-B844-F9FE-8734-5EAFE702E990}"/>
              </a:ext>
            </a:extLst>
          </p:cNvPr>
          <p:cNvSpPr txBox="1"/>
          <p:nvPr/>
        </p:nvSpPr>
        <p:spPr>
          <a:xfrm>
            <a:off x="6767128" y="3068614"/>
            <a:ext cx="22520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/>
              <a:t>J=0     K=1</a:t>
            </a:r>
            <a:endParaRPr lang="zh-CN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B8B8C687-0ABF-E4D1-C86D-D3DA718787D2}"/>
                  </a:ext>
                </a:extLst>
              </p:cNvPr>
              <p:cNvSpPr txBox="1"/>
              <p:nvPr/>
            </p:nvSpPr>
            <p:spPr>
              <a:xfrm>
                <a:off x="9388563" y="3073577"/>
                <a:ext cx="209910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</m:oMath>
                </a14:m>
                <a:r>
                  <a:rPr lang="en-US" altLang="zh-CN" sz="2800" b="0" dirty="0"/>
                  <a:t>=</a:t>
                </a:r>
                <a:r>
                  <a:rPr lang="en-US" altLang="zh-CN" sz="28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B8B8C687-0ABF-E4D1-C86D-D3DA718787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8563" y="3073577"/>
                <a:ext cx="2099106" cy="523220"/>
              </a:xfrm>
              <a:prstGeom prst="rect">
                <a:avLst/>
              </a:prstGeom>
              <a:blipFill>
                <a:blip r:embed="rId5"/>
                <a:stretch>
                  <a:fillRect t="-11628" b="-313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文本框 21">
            <a:extLst>
              <a:ext uri="{FF2B5EF4-FFF2-40B4-BE49-F238E27FC236}">
                <a16:creationId xmlns:a16="http://schemas.microsoft.com/office/drawing/2014/main" id="{BF9DC2E0-E8B5-0FFD-2F3D-B3A08CFCBAA4}"/>
              </a:ext>
            </a:extLst>
          </p:cNvPr>
          <p:cNvSpPr txBox="1"/>
          <p:nvPr/>
        </p:nvSpPr>
        <p:spPr>
          <a:xfrm>
            <a:off x="8149411" y="3555668"/>
            <a:ext cx="22520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置</a:t>
            </a:r>
            <a:r>
              <a:rPr lang="en-US" altLang="zh-CN" sz="2800" dirty="0"/>
              <a:t>0</a:t>
            </a:r>
            <a:endParaRPr lang="zh-CN" altLang="en-US" sz="2800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BCEF9F2-CBE7-EE02-423A-E5861E7147CC}"/>
              </a:ext>
            </a:extLst>
          </p:cNvPr>
          <p:cNvSpPr txBox="1"/>
          <p:nvPr/>
        </p:nvSpPr>
        <p:spPr>
          <a:xfrm>
            <a:off x="6858530" y="4054082"/>
            <a:ext cx="22520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/>
              <a:t>J=1     K=0</a:t>
            </a:r>
            <a:endParaRPr lang="zh-CN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0B9F6FBC-E217-94CD-56AD-09528B014163}"/>
                  </a:ext>
                </a:extLst>
              </p:cNvPr>
              <p:cNvSpPr txBox="1"/>
              <p:nvPr/>
            </p:nvSpPr>
            <p:spPr>
              <a:xfrm>
                <a:off x="9499773" y="4037758"/>
                <a:ext cx="209910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</m:oMath>
                </a14:m>
                <a:r>
                  <a:rPr lang="en-US" altLang="zh-CN" sz="2800" b="0" dirty="0"/>
                  <a:t>=</a:t>
                </a:r>
                <a:r>
                  <a:rPr lang="en-US" altLang="zh-CN" sz="28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0B9F6FBC-E217-94CD-56AD-09528B0141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9773" y="4037758"/>
                <a:ext cx="2099106" cy="523220"/>
              </a:xfrm>
              <a:prstGeom prst="rect">
                <a:avLst/>
              </a:prstGeom>
              <a:blipFill>
                <a:blip r:embed="rId6"/>
                <a:stretch>
                  <a:fillRect t="-11628" b="-313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文本框 26">
            <a:extLst>
              <a:ext uri="{FF2B5EF4-FFF2-40B4-BE49-F238E27FC236}">
                <a16:creationId xmlns:a16="http://schemas.microsoft.com/office/drawing/2014/main" id="{8AFD5C6E-6720-540D-26A6-AF53549402AF}"/>
              </a:ext>
            </a:extLst>
          </p:cNvPr>
          <p:cNvSpPr txBox="1"/>
          <p:nvPr/>
        </p:nvSpPr>
        <p:spPr>
          <a:xfrm>
            <a:off x="8202580" y="4529844"/>
            <a:ext cx="22520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置</a:t>
            </a:r>
            <a:r>
              <a:rPr lang="en-US" altLang="zh-CN" sz="2800" dirty="0"/>
              <a:t>1</a:t>
            </a:r>
            <a:endParaRPr lang="zh-CN" altLang="en-US" sz="2800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F138D55-579C-6E29-A2E3-D873882FB1BD}"/>
              </a:ext>
            </a:extLst>
          </p:cNvPr>
          <p:cNvSpPr txBox="1"/>
          <p:nvPr/>
        </p:nvSpPr>
        <p:spPr>
          <a:xfrm>
            <a:off x="6871250" y="5117346"/>
            <a:ext cx="22520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/>
              <a:t>J=1     K=1</a:t>
            </a:r>
            <a:endParaRPr lang="zh-CN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BA5E6453-5BDD-DD34-728B-115C2E7CD0DD}"/>
                  </a:ext>
                </a:extLst>
              </p:cNvPr>
              <p:cNvSpPr txBox="1"/>
              <p:nvPr/>
            </p:nvSpPr>
            <p:spPr>
              <a:xfrm>
                <a:off x="9499773" y="5143156"/>
                <a:ext cx="209910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</m:oMath>
                </a14:m>
                <a:r>
                  <a:rPr lang="en-US" altLang="zh-CN" sz="2800" b="0" dirty="0"/>
                  <a:t>=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p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acc>
                  </m:oMath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BA5E6453-5BDD-DD34-728B-115C2E7CD0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9773" y="5143156"/>
                <a:ext cx="2099106" cy="523220"/>
              </a:xfrm>
              <a:prstGeom prst="rect">
                <a:avLst/>
              </a:prstGeom>
              <a:blipFill>
                <a:blip r:embed="rId7"/>
                <a:stretch>
                  <a:fillRect t="-12791" b="-313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文本框 29">
            <a:extLst>
              <a:ext uri="{FF2B5EF4-FFF2-40B4-BE49-F238E27FC236}">
                <a16:creationId xmlns:a16="http://schemas.microsoft.com/office/drawing/2014/main" id="{C71575EA-7E6E-353F-654F-811133491B65}"/>
              </a:ext>
            </a:extLst>
          </p:cNvPr>
          <p:cNvSpPr txBox="1"/>
          <p:nvPr/>
        </p:nvSpPr>
        <p:spPr>
          <a:xfrm>
            <a:off x="8233219" y="5655385"/>
            <a:ext cx="22520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翻转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2A2579B-8642-5600-087A-3A1515F1752A}"/>
              </a:ext>
            </a:extLst>
          </p:cNvPr>
          <p:cNvSpPr/>
          <p:nvPr/>
        </p:nvSpPr>
        <p:spPr>
          <a:xfrm>
            <a:off x="951470" y="2100647"/>
            <a:ext cx="4670854" cy="910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E10175D6-51D9-96CE-D6CB-1D865E548CB1}"/>
              </a:ext>
            </a:extLst>
          </p:cNvPr>
          <p:cNvSpPr/>
          <p:nvPr/>
        </p:nvSpPr>
        <p:spPr>
          <a:xfrm>
            <a:off x="951470" y="3089675"/>
            <a:ext cx="4670854" cy="910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6502FC9-CE7A-19D6-5200-7E839DD8EC5B}"/>
              </a:ext>
            </a:extLst>
          </p:cNvPr>
          <p:cNvSpPr/>
          <p:nvPr/>
        </p:nvSpPr>
        <p:spPr>
          <a:xfrm>
            <a:off x="933842" y="4123558"/>
            <a:ext cx="4670854" cy="910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687E6D4-ED4B-190B-1097-BEBB8381275E}"/>
              </a:ext>
            </a:extLst>
          </p:cNvPr>
          <p:cNvSpPr/>
          <p:nvPr/>
        </p:nvSpPr>
        <p:spPr>
          <a:xfrm>
            <a:off x="933842" y="5185234"/>
            <a:ext cx="4670854" cy="910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1146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4" grpId="0"/>
      <p:bldP spid="15" grpId="0"/>
      <p:bldP spid="19" grpId="0"/>
      <p:bldP spid="20" grpId="0"/>
      <p:bldP spid="21" grpId="0"/>
      <p:bldP spid="22" grpId="0"/>
      <p:bldP spid="23" grpId="0"/>
      <p:bldP spid="24" grpId="0"/>
      <p:bldP spid="27" grpId="0"/>
      <p:bldP spid="28" grpId="0"/>
      <p:bldP spid="29" grpId="0"/>
      <p:bldP spid="30" grpId="0"/>
      <p:bldP spid="31" grpId="0" animBg="1"/>
      <p:bldP spid="32" grpId="0" animBg="1"/>
      <p:bldP spid="33" grpId="0" animBg="1"/>
      <p:bldP spid="34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450C68A-3BED-36D5-FA9C-029CE396A3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1066">
            <a:off x="6198016" y="1436925"/>
            <a:ext cx="4121532" cy="398414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FC2A954A-D0CE-B507-CC1F-EDAEE4F7BB49}"/>
                  </a:ext>
                </a:extLst>
              </p:cNvPr>
              <p:cNvSpPr txBox="1"/>
              <p:nvPr/>
            </p:nvSpPr>
            <p:spPr>
              <a:xfrm>
                <a:off x="685404" y="969082"/>
                <a:ext cx="510802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dirty="0"/>
                  <a:t>特征方程：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</m:oMath>
                </a14:m>
                <a:r>
                  <a:rPr lang="zh-CN" altLang="en-US" sz="2800" dirty="0"/>
                  <a:t> </a:t>
                </a:r>
                <a:r>
                  <a:rPr lang="en-US" altLang="zh-CN" sz="2800" dirty="0"/>
                  <a:t>=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</m:t>
                    </m:r>
                    <m:r>
                      <a:rPr lang="en-US" altLang="zh-CN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⨁</m:t>
                    </m:r>
                    <m:sSup>
                      <m:sSup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altLang="zh-CN" sz="2800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FC2A954A-D0CE-B507-CC1F-EDAEE4F7BB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404" y="969082"/>
                <a:ext cx="5108029" cy="523220"/>
              </a:xfrm>
              <a:prstGeom prst="rect">
                <a:avLst/>
              </a:prstGeom>
              <a:blipFill>
                <a:blip r:embed="rId4"/>
                <a:stretch>
                  <a:fillRect l="-2387" t="-12791" b="-313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id="{B214CF63-BD22-66BF-B974-CA91F463E88E}"/>
              </a:ext>
            </a:extLst>
          </p:cNvPr>
          <p:cNvSpPr txBox="1"/>
          <p:nvPr/>
        </p:nvSpPr>
        <p:spPr>
          <a:xfrm>
            <a:off x="352493" y="357413"/>
            <a:ext cx="34942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电平触发的</a:t>
            </a:r>
            <a:r>
              <a:rPr lang="en-US" altLang="zh-CN" sz="2800" dirty="0"/>
              <a:t>T</a:t>
            </a:r>
            <a:r>
              <a:rPr lang="zh-CN" altLang="en-US" sz="2800" dirty="0"/>
              <a:t>触发器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E63A1E35-106B-DD0F-C2FC-0CD9945633F7}"/>
                  </a:ext>
                </a:extLst>
              </p:cNvPr>
              <p:cNvSpPr txBox="1"/>
              <p:nvPr/>
            </p:nvSpPr>
            <p:spPr>
              <a:xfrm>
                <a:off x="582529" y="1612332"/>
                <a:ext cx="5108029" cy="9550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dirty="0"/>
                  <a:t>T=1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        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</m:oMath>
                </a14:m>
                <a:r>
                  <a:rPr lang="zh-CN" altLang="en-US" sz="2800" dirty="0"/>
                  <a:t> </a:t>
                </a:r>
                <a:r>
                  <a:rPr lang="en-US" altLang="zh-CN" sz="2800" dirty="0"/>
                  <a:t>=</a:t>
                </a:r>
                <a14:m>
                  <m:oMath xmlns:m="http://schemas.openxmlformats.org/officeDocument/2006/math">
                    <m:r>
                      <a:rPr lang="en-US" altLang="zh-CN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altLang="zh-CN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⨁</m:t>
                    </m:r>
                    <m:sSup>
                      <m:sSup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altLang="zh-CN" sz="2800" i="1" dirty="0">
                  <a:latin typeface="Cambria Math" panose="02040503050406030204" pitchFamily="18" charset="0"/>
                </a:endParaRPr>
              </a:p>
              <a:p>
                <a:r>
                  <a:rPr lang="en-US" altLang="zh-CN" sz="2800" b="0" dirty="0"/>
                  <a:t>                      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𝑄</m:t>
                            </m:r>
                          </m:e>
                          <m:sup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acc>
                  </m:oMath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E63A1E35-106B-DD0F-C2FC-0CD9945633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529" y="1612332"/>
                <a:ext cx="5108029" cy="955005"/>
              </a:xfrm>
              <a:prstGeom prst="rect">
                <a:avLst/>
              </a:prstGeom>
              <a:blipFill>
                <a:blip r:embed="rId5"/>
                <a:stretch>
                  <a:fillRect l="-2509" t="-63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C5402248-7958-9451-F25D-23539B359B26}"/>
                  </a:ext>
                </a:extLst>
              </p:cNvPr>
              <p:cNvSpPr txBox="1"/>
              <p:nvPr/>
            </p:nvSpPr>
            <p:spPr>
              <a:xfrm>
                <a:off x="582528" y="3428999"/>
                <a:ext cx="5108029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dirty="0"/>
                  <a:t>T=0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        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</m:oMath>
                </a14:m>
                <a:r>
                  <a:rPr lang="zh-CN" altLang="en-US" sz="2800" dirty="0"/>
                  <a:t> </a:t>
                </a:r>
                <a:r>
                  <a:rPr lang="en-US" altLang="zh-CN" sz="2800" dirty="0"/>
                  <a:t>=</a:t>
                </a:r>
                <a14:m>
                  <m:oMath xmlns:m="http://schemas.openxmlformats.org/officeDocument/2006/math">
                    <m:r>
                      <a:rPr lang="en-US" altLang="zh-CN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altLang="zh-CN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⨁</m:t>
                    </m:r>
                    <m:sSup>
                      <m:sSup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altLang="zh-CN" sz="2800" i="1" dirty="0">
                  <a:latin typeface="Cambria Math" panose="02040503050406030204" pitchFamily="18" charset="0"/>
                </a:endParaRPr>
              </a:p>
              <a:p>
                <a:r>
                  <a:rPr lang="en-US" altLang="zh-CN" sz="2800" b="0" dirty="0"/>
                  <a:t>                       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C5402248-7958-9451-F25D-23539B359B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528" y="3428999"/>
                <a:ext cx="5108029" cy="954107"/>
              </a:xfrm>
              <a:prstGeom prst="rect">
                <a:avLst/>
              </a:prstGeom>
              <a:blipFill>
                <a:blip r:embed="rId6"/>
                <a:stretch>
                  <a:fillRect l="-2509" t="-63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>
            <a:extLst>
              <a:ext uri="{FF2B5EF4-FFF2-40B4-BE49-F238E27FC236}">
                <a16:creationId xmlns:a16="http://schemas.microsoft.com/office/drawing/2014/main" id="{B55137C2-377C-1E75-70DC-9B7583F79F6D}"/>
              </a:ext>
            </a:extLst>
          </p:cNvPr>
          <p:cNvSpPr txBox="1"/>
          <p:nvPr/>
        </p:nvSpPr>
        <p:spPr>
          <a:xfrm>
            <a:off x="1535656" y="2639817"/>
            <a:ext cx="20763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翻转功能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B8A84F5-CAA1-2F08-612A-72582417EBF2}"/>
              </a:ext>
            </a:extLst>
          </p:cNvPr>
          <p:cNvSpPr txBox="1"/>
          <p:nvPr/>
        </p:nvSpPr>
        <p:spPr>
          <a:xfrm>
            <a:off x="1770435" y="4383106"/>
            <a:ext cx="20763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保持功能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37B5640-8139-268B-0B6D-DEEF04CA3125}"/>
              </a:ext>
            </a:extLst>
          </p:cNvPr>
          <p:cNvSpPr txBox="1"/>
          <p:nvPr/>
        </p:nvSpPr>
        <p:spPr>
          <a:xfrm>
            <a:off x="6295498" y="807977"/>
            <a:ext cx="34942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特性表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F1B5CA8-482D-ADFF-6472-C13352FA8FDC}"/>
              </a:ext>
            </a:extLst>
          </p:cNvPr>
          <p:cNvSpPr/>
          <p:nvPr/>
        </p:nvSpPr>
        <p:spPr>
          <a:xfrm>
            <a:off x="8933935" y="2458995"/>
            <a:ext cx="753762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5DB2315-E1A8-CA0D-A08E-0BB24309A177}"/>
              </a:ext>
            </a:extLst>
          </p:cNvPr>
          <p:cNvSpPr/>
          <p:nvPr/>
        </p:nvSpPr>
        <p:spPr>
          <a:xfrm>
            <a:off x="8933935" y="3133795"/>
            <a:ext cx="753762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B1B0D6A-8220-C2A6-D7BA-F9B03AB614BF}"/>
              </a:ext>
            </a:extLst>
          </p:cNvPr>
          <p:cNvSpPr/>
          <p:nvPr/>
        </p:nvSpPr>
        <p:spPr>
          <a:xfrm>
            <a:off x="8933935" y="3918625"/>
            <a:ext cx="753762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59A09F3-E07A-3C75-7C83-DAC174C3781C}"/>
              </a:ext>
            </a:extLst>
          </p:cNvPr>
          <p:cNvSpPr/>
          <p:nvPr/>
        </p:nvSpPr>
        <p:spPr>
          <a:xfrm>
            <a:off x="8933935" y="4722713"/>
            <a:ext cx="753762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8966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2" grpId="0"/>
      <p:bldP spid="5" grpId="0" animBg="1"/>
      <p:bldP spid="8" grpId="0" animBg="1"/>
      <p:bldP spid="13" grpId="0" animBg="1"/>
      <p:bldP spid="1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E06249DF-FF39-D363-1EF3-E944C92D6E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5657" y="509579"/>
            <a:ext cx="26844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buClr>
                <a:schemeClr val="tx1"/>
              </a:buClr>
              <a:buSzPct val="60000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buSzPct val="95000"/>
              <a:buChar char="w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buClr>
                <a:schemeClr val="tx1"/>
              </a:buClr>
              <a:buSzPct val="65000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buSzPct val="60000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2800" b="1" dirty="0"/>
              <a:t>状态转换真值表</a:t>
            </a:r>
            <a:endParaRPr lang="zh-CN" altLang="en-US" sz="2800" b="1" dirty="0"/>
          </a:p>
        </p:txBody>
      </p:sp>
      <p:graphicFrame>
        <p:nvGraphicFramePr>
          <p:cNvPr id="34819" name="Object 3">
            <a:extLst>
              <a:ext uri="{FF2B5EF4-FFF2-40B4-BE49-F238E27FC236}">
                <a16:creationId xmlns:a16="http://schemas.microsoft.com/office/drawing/2014/main" id="{1112E9AE-CFDC-20D3-DDE7-3813C1F7283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17224" y="353785"/>
          <a:ext cx="5431480" cy="370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0" name="BMP 图象" r:id="rId4" imgW="2933333" imgH="2000000" progId="Paint.Picture">
                  <p:embed/>
                </p:oleObj>
              </mc:Choice>
              <mc:Fallback>
                <p:oleObj name="BMP 图象" r:id="rId4" imgW="2933333" imgH="2000000" progId="Paint.Picture">
                  <p:embed/>
                  <p:pic>
                    <p:nvPicPr>
                      <p:cNvPr id="34819" name="Object 3">
                        <a:extLst>
                          <a:ext uri="{FF2B5EF4-FFF2-40B4-BE49-F238E27FC236}">
                            <a16:creationId xmlns:a16="http://schemas.microsoft.com/office/drawing/2014/main" id="{1112E9AE-CFDC-20D3-DDE7-3813C1F7283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7224" y="353785"/>
                        <a:ext cx="5431480" cy="3702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>
            <a:extLst>
              <a:ext uri="{FF2B5EF4-FFF2-40B4-BE49-F238E27FC236}">
                <a16:creationId xmlns:a16="http://schemas.microsoft.com/office/drawing/2014/main" id="{A954101A-BB6D-A06A-9A07-A1416BD969BC}"/>
              </a:ext>
            </a:extLst>
          </p:cNvPr>
          <p:cNvGrpSpPr>
            <a:grpSpLocks/>
          </p:cNvGrpSpPr>
          <p:nvPr/>
        </p:nvGrpSpPr>
        <p:grpSpPr bwMode="auto">
          <a:xfrm>
            <a:off x="875657" y="4171870"/>
            <a:ext cx="5080000" cy="2197100"/>
            <a:chOff x="2160" y="2640"/>
            <a:chExt cx="3200" cy="1384"/>
          </a:xfrm>
        </p:grpSpPr>
        <p:sp>
          <p:nvSpPr>
            <p:cNvPr id="34824" name="Rectangle 5">
              <a:extLst>
                <a:ext uri="{FF2B5EF4-FFF2-40B4-BE49-F238E27FC236}">
                  <a16:creationId xmlns:a16="http://schemas.microsoft.com/office/drawing/2014/main" id="{FF81167D-D95F-4DB2-1554-F53C92B6D2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2640"/>
              <a:ext cx="124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buClr>
                  <a:schemeClr val="tx1"/>
                </a:buClr>
                <a:buSzPct val="60000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buSzPct val="95000"/>
                <a:buChar char="w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buClr>
                  <a:schemeClr val="tx1"/>
                </a:buClr>
                <a:buSzPct val="65000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buSzPct val="60000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zh-CN" sz="2800" b="1" dirty="0"/>
                <a:t>状态转换图</a:t>
              </a:r>
              <a:endParaRPr lang="zh-CN" altLang="en-US" sz="2800" b="1" dirty="0"/>
            </a:p>
          </p:txBody>
        </p:sp>
        <p:graphicFrame>
          <p:nvGraphicFramePr>
            <p:cNvPr id="34825" name="Object 6">
              <a:extLst>
                <a:ext uri="{FF2B5EF4-FFF2-40B4-BE49-F238E27FC236}">
                  <a16:creationId xmlns:a16="http://schemas.microsoft.com/office/drawing/2014/main" id="{2FB0C1F8-14B0-1713-8332-5E9832815EC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32" y="3025"/>
            <a:ext cx="2928" cy="9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461" name="BMP 图象" r:id="rId6" imgW="2457143" imgH="838095" progId="Paint.Picture">
                    <p:embed/>
                  </p:oleObj>
                </mc:Choice>
                <mc:Fallback>
                  <p:oleObj name="BMP 图象" r:id="rId6" imgW="2457143" imgH="838095" progId="Paint.Picture">
                    <p:embed/>
                    <p:pic>
                      <p:nvPicPr>
                        <p:cNvPr id="34825" name="Object 6">
                          <a:extLst>
                            <a:ext uri="{FF2B5EF4-FFF2-40B4-BE49-F238E27FC236}">
                              <a16:creationId xmlns:a16="http://schemas.microsoft.com/office/drawing/2014/main" id="{2FB0C1F8-14B0-1713-8332-5E9832815EC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32" y="3025"/>
                          <a:ext cx="2928" cy="9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4823" name="Rectangle 9">
            <a:extLst>
              <a:ext uri="{FF2B5EF4-FFF2-40B4-BE49-F238E27FC236}">
                <a16:creationId xmlns:a16="http://schemas.microsoft.com/office/drawing/2014/main" id="{FD541BEB-52BB-466A-5FFC-1FC4390E32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7092" y="1805556"/>
            <a:ext cx="526306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buClr>
                <a:schemeClr val="tx1"/>
              </a:buClr>
              <a:buSzPct val="60000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buSzPct val="95000"/>
              <a:buChar char="w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buClr>
                <a:schemeClr val="tx1"/>
              </a:buClr>
              <a:buSzPct val="65000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buSzPct val="60000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2800" b="1" dirty="0"/>
              <a:t>特性方程</a:t>
            </a:r>
            <a:endParaRPr lang="zh-CN" altLang="en-US" sz="2800" b="1" dirty="0"/>
          </a:p>
        </p:txBody>
      </p:sp>
      <p:graphicFrame>
        <p:nvGraphicFramePr>
          <p:cNvPr id="5" name="Object 8">
            <a:extLst>
              <a:ext uri="{FF2B5EF4-FFF2-40B4-BE49-F238E27FC236}">
                <a16:creationId xmlns:a16="http://schemas.microsoft.com/office/drawing/2014/main" id="{CC253830-59DC-1A77-1EC4-A9959EB265D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80720" y="2434141"/>
          <a:ext cx="2438400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2" name="公式" r:id="rId8" imgW="1205977" imgH="266584" progId="Equation.3">
                  <p:embed/>
                </p:oleObj>
              </mc:Choice>
              <mc:Fallback>
                <p:oleObj name="公式" r:id="rId8" imgW="1205977" imgH="266584" progId="Equation.3">
                  <p:embed/>
                  <p:pic>
                    <p:nvPicPr>
                      <p:cNvPr id="5" name="Object 8">
                        <a:extLst>
                          <a:ext uri="{FF2B5EF4-FFF2-40B4-BE49-F238E27FC236}">
                            <a16:creationId xmlns:a16="http://schemas.microsoft.com/office/drawing/2014/main" id="{CC253830-59DC-1A77-1EC4-A9959EB265D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0720" y="2434141"/>
                        <a:ext cx="2438400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8DCD0A49-5187-5D28-E7B1-481F71CD81FE}"/>
              </a:ext>
            </a:extLst>
          </p:cNvPr>
          <p:cNvSpPr txBox="1"/>
          <p:nvPr/>
        </p:nvSpPr>
        <p:spPr>
          <a:xfrm>
            <a:off x="6236345" y="5305744"/>
            <a:ext cx="12574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触发器状态</a:t>
            </a: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F3889121-CA00-0ECA-7127-420EFAF6914A}"/>
              </a:ext>
            </a:extLst>
          </p:cNvPr>
          <p:cNvCxnSpPr>
            <a:cxnSpLocks/>
          </p:cNvCxnSpPr>
          <p:nvPr/>
        </p:nvCxnSpPr>
        <p:spPr>
          <a:xfrm flipH="1">
            <a:off x="4986960" y="5721243"/>
            <a:ext cx="1124465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58957090-2F9B-FD04-6C32-839CA0125A48}"/>
              </a:ext>
            </a:extLst>
          </p:cNvPr>
          <p:cNvCxnSpPr>
            <a:cxnSpLocks/>
          </p:cNvCxnSpPr>
          <p:nvPr/>
        </p:nvCxnSpPr>
        <p:spPr>
          <a:xfrm flipH="1">
            <a:off x="4752182" y="4651764"/>
            <a:ext cx="165808" cy="61790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27826069-C234-0268-7BFC-2D701A14FD7C}"/>
              </a:ext>
            </a:extLst>
          </p:cNvPr>
          <p:cNvSpPr txBox="1"/>
          <p:nvPr/>
        </p:nvSpPr>
        <p:spPr>
          <a:xfrm>
            <a:off x="3885843" y="3900365"/>
            <a:ext cx="23313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箭头表示转换方向，从次态转为现态</a:t>
            </a: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C131B996-816D-845B-83FF-8F5FFB895217}"/>
              </a:ext>
            </a:extLst>
          </p:cNvPr>
          <p:cNvCxnSpPr>
            <a:cxnSpLocks/>
          </p:cNvCxnSpPr>
          <p:nvPr/>
        </p:nvCxnSpPr>
        <p:spPr>
          <a:xfrm flipH="1" flipV="1">
            <a:off x="3631557" y="6368970"/>
            <a:ext cx="567760" cy="241894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B291F378-A7E2-D0CE-03DB-9E3D158656CC}"/>
              </a:ext>
            </a:extLst>
          </p:cNvPr>
          <p:cNvSpPr txBox="1"/>
          <p:nvPr/>
        </p:nvSpPr>
        <p:spPr>
          <a:xfrm>
            <a:off x="4199317" y="6396335"/>
            <a:ext cx="29669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表示状态转换条件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F848851-3FE1-66D2-A6E1-C6D5E50E7FBB}"/>
              </a:ext>
            </a:extLst>
          </p:cNvPr>
          <p:cNvSpPr/>
          <p:nvPr/>
        </p:nvSpPr>
        <p:spPr>
          <a:xfrm>
            <a:off x="3323967" y="4783057"/>
            <a:ext cx="561875" cy="2418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348F142-CAA8-CACF-E49B-C8A2B7585C48}"/>
              </a:ext>
            </a:extLst>
          </p:cNvPr>
          <p:cNvSpPr/>
          <p:nvPr/>
        </p:nvSpPr>
        <p:spPr>
          <a:xfrm>
            <a:off x="1151689" y="5373470"/>
            <a:ext cx="561875" cy="2418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E106FD3-4175-6F57-46A7-2CB713B59F92}"/>
              </a:ext>
            </a:extLst>
          </p:cNvPr>
          <p:cNvSpPr/>
          <p:nvPr/>
        </p:nvSpPr>
        <p:spPr>
          <a:xfrm>
            <a:off x="5658072" y="5334167"/>
            <a:ext cx="428639" cy="2897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91E16A4-3160-A6C2-D002-8026E4A0A38E}"/>
              </a:ext>
            </a:extLst>
          </p:cNvPr>
          <p:cNvSpPr/>
          <p:nvPr/>
        </p:nvSpPr>
        <p:spPr>
          <a:xfrm>
            <a:off x="10069213" y="3974273"/>
            <a:ext cx="1990354" cy="5600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B54AD14-C1CA-0521-D0C4-4A8D295C2EA6}"/>
              </a:ext>
            </a:extLst>
          </p:cNvPr>
          <p:cNvSpPr/>
          <p:nvPr/>
        </p:nvSpPr>
        <p:spPr>
          <a:xfrm>
            <a:off x="7749540" y="2103120"/>
            <a:ext cx="1474470" cy="3310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2906F95-C60F-3D96-4FDB-9D90128BBDEC}"/>
              </a:ext>
            </a:extLst>
          </p:cNvPr>
          <p:cNvSpPr/>
          <p:nvPr/>
        </p:nvSpPr>
        <p:spPr>
          <a:xfrm>
            <a:off x="7749540" y="3546035"/>
            <a:ext cx="1474470" cy="3310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23" grpId="0"/>
      <p:bldP spid="6" grpId="0"/>
      <p:bldP spid="15" grpId="0"/>
      <p:bldP spid="18" grpId="0"/>
      <p:bldP spid="10" grpId="0" animBg="1"/>
      <p:bldP spid="11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5BF30CA7-910F-4E48-5A22-4647E87E9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218" y="182562"/>
            <a:ext cx="49530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buClr>
                <a:schemeClr val="tx1"/>
              </a:buClr>
              <a:buSzPct val="60000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buSzPct val="95000"/>
              <a:buChar char="w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buClr>
                <a:schemeClr val="tx1"/>
              </a:buClr>
              <a:buSzPct val="65000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buSzPct val="60000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800" b="1" dirty="0"/>
              <a:t>T</a:t>
            </a:r>
            <a:r>
              <a:rPr lang="zh-CN" altLang="zh-CN" sz="2800" b="1" dirty="0"/>
              <a:t>触发器(受控翻转触发器)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zh-CN" sz="2800" b="1" dirty="0"/>
              <a:t>    逻辑符号</a:t>
            </a:r>
          </a:p>
        </p:txBody>
      </p:sp>
      <p:graphicFrame>
        <p:nvGraphicFramePr>
          <p:cNvPr id="36867" name="Object 3">
            <a:extLst>
              <a:ext uri="{FF2B5EF4-FFF2-40B4-BE49-F238E27FC236}">
                <a16:creationId xmlns:a16="http://schemas.microsoft.com/office/drawing/2014/main" id="{70D0A924-BA32-54CD-CB6C-5EB49ACB997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08520" y="931864"/>
          <a:ext cx="2108200" cy="251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5" name="位图图像" r:id="rId4" imgW="1428949" imgH="1704762" progId="Paint.Picture">
                  <p:embed/>
                </p:oleObj>
              </mc:Choice>
              <mc:Fallback>
                <p:oleObj name="位图图像" r:id="rId4" imgW="1428949" imgH="1704762" progId="Paint.Picture">
                  <p:embed/>
                  <p:pic>
                    <p:nvPicPr>
                      <p:cNvPr id="36867" name="Object 3">
                        <a:extLst>
                          <a:ext uri="{FF2B5EF4-FFF2-40B4-BE49-F238E27FC236}">
                            <a16:creationId xmlns:a16="http://schemas.microsoft.com/office/drawing/2014/main" id="{70D0A924-BA32-54CD-CB6C-5EB49ACB997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8520" y="931864"/>
                        <a:ext cx="2108200" cy="2514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>
            <a:extLst>
              <a:ext uri="{FF2B5EF4-FFF2-40B4-BE49-F238E27FC236}">
                <a16:creationId xmlns:a16="http://schemas.microsoft.com/office/drawing/2014/main" id="{938D51D4-129C-89B4-37F9-884963CED4EC}"/>
              </a:ext>
            </a:extLst>
          </p:cNvPr>
          <p:cNvGrpSpPr>
            <a:grpSpLocks/>
          </p:cNvGrpSpPr>
          <p:nvPr/>
        </p:nvGrpSpPr>
        <p:grpSpPr bwMode="auto">
          <a:xfrm>
            <a:off x="7050518" y="1023509"/>
            <a:ext cx="3625850" cy="538162"/>
            <a:chOff x="3168" y="480"/>
            <a:chExt cx="2284" cy="339"/>
          </a:xfrm>
        </p:grpSpPr>
        <p:sp>
          <p:nvSpPr>
            <p:cNvPr id="36877" name="Rectangle 5">
              <a:extLst>
                <a:ext uri="{FF2B5EF4-FFF2-40B4-BE49-F238E27FC236}">
                  <a16:creationId xmlns:a16="http://schemas.microsoft.com/office/drawing/2014/main" id="{F9429FBD-EFB3-F8E7-5ED1-8A38361236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480"/>
              <a:ext cx="101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buClr>
                  <a:schemeClr val="tx1"/>
                </a:buClr>
                <a:buSzPct val="60000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buSzPct val="95000"/>
                <a:buChar char="w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buClr>
                  <a:schemeClr val="tx1"/>
                </a:buClr>
                <a:buSzPct val="65000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buSzPct val="60000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zh-CN" sz="2800" b="1" dirty="0"/>
                <a:t>特性方程</a:t>
              </a:r>
              <a:endParaRPr lang="zh-CN" altLang="en-US" sz="2800" b="1" dirty="0"/>
            </a:p>
          </p:txBody>
        </p:sp>
        <p:graphicFrame>
          <p:nvGraphicFramePr>
            <p:cNvPr id="36878" name="Object 6">
              <a:extLst>
                <a:ext uri="{FF2B5EF4-FFF2-40B4-BE49-F238E27FC236}">
                  <a16:creationId xmlns:a16="http://schemas.microsoft.com/office/drawing/2014/main" id="{A66F8A09-5908-F5CA-0816-8103808D811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72" y="528"/>
            <a:ext cx="1180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86" name="公式" r:id="rId6" imgW="927100" imgH="228600" progId="Equation.3">
                    <p:embed/>
                  </p:oleObj>
                </mc:Choice>
                <mc:Fallback>
                  <p:oleObj name="公式" r:id="rId6" imgW="927100" imgH="228600" progId="Equation.3">
                    <p:embed/>
                    <p:pic>
                      <p:nvPicPr>
                        <p:cNvPr id="36878" name="Object 6">
                          <a:extLst>
                            <a:ext uri="{FF2B5EF4-FFF2-40B4-BE49-F238E27FC236}">
                              <a16:creationId xmlns:a16="http://schemas.microsoft.com/office/drawing/2014/main" id="{A66F8A09-5908-F5CA-0816-8103808D811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72" y="528"/>
                          <a:ext cx="1180" cy="2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10">
            <a:extLst>
              <a:ext uri="{FF2B5EF4-FFF2-40B4-BE49-F238E27FC236}">
                <a16:creationId xmlns:a16="http://schemas.microsoft.com/office/drawing/2014/main" id="{EBF54E5A-F00B-F677-D5B8-83C937B32C6A}"/>
              </a:ext>
            </a:extLst>
          </p:cNvPr>
          <p:cNvGrpSpPr>
            <a:grpSpLocks/>
          </p:cNvGrpSpPr>
          <p:nvPr/>
        </p:nvGrpSpPr>
        <p:grpSpPr bwMode="auto">
          <a:xfrm>
            <a:off x="2808287" y="4042119"/>
            <a:ext cx="4648200" cy="2209800"/>
            <a:chOff x="144" y="2496"/>
            <a:chExt cx="2928" cy="1392"/>
          </a:xfrm>
        </p:grpSpPr>
        <p:sp>
          <p:nvSpPr>
            <p:cNvPr id="36873" name="Rectangle 11">
              <a:extLst>
                <a:ext uri="{FF2B5EF4-FFF2-40B4-BE49-F238E27FC236}">
                  <a16:creationId xmlns:a16="http://schemas.microsoft.com/office/drawing/2014/main" id="{947E6F06-8A1C-C421-7AC5-E8F17FE247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2496"/>
              <a:ext cx="29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buClr>
                  <a:schemeClr val="tx1"/>
                </a:buClr>
                <a:buSzPct val="60000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buSzPct val="95000"/>
                <a:buChar char="w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buClr>
                  <a:schemeClr val="tx1"/>
                </a:buClr>
                <a:buSzPct val="65000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buSzPct val="60000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zh-CN" sz="2800" b="1"/>
                <a:t>特性表     状态转换真值表</a:t>
              </a:r>
              <a:endParaRPr lang="zh-CN" altLang="en-US" sz="2800" b="1"/>
            </a:p>
          </p:txBody>
        </p:sp>
        <p:graphicFrame>
          <p:nvGraphicFramePr>
            <p:cNvPr id="36874" name="Object 12">
              <a:extLst>
                <a:ext uri="{FF2B5EF4-FFF2-40B4-BE49-F238E27FC236}">
                  <a16:creationId xmlns:a16="http://schemas.microsoft.com/office/drawing/2014/main" id="{B383D843-EE1C-B21E-07EE-916DEE5DED1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4" y="2832"/>
            <a:ext cx="916" cy="10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87" name="BMP 图象" r:id="rId8" imgW="809738" imgH="933580" progId="Paint.Picture">
                    <p:embed/>
                  </p:oleObj>
                </mc:Choice>
                <mc:Fallback>
                  <p:oleObj name="BMP 图象" r:id="rId8" imgW="809738" imgH="933580" progId="Paint.Picture">
                    <p:embed/>
                    <p:pic>
                      <p:nvPicPr>
                        <p:cNvPr id="36874" name="Object 12">
                          <a:extLst>
                            <a:ext uri="{FF2B5EF4-FFF2-40B4-BE49-F238E27FC236}">
                              <a16:creationId xmlns:a16="http://schemas.microsoft.com/office/drawing/2014/main" id="{B383D843-EE1C-B21E-07EE-916DEE5DED1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" y="2832"/>
                          <a:ext cx="916" cy="10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0429" name="Object 13">
            <a:extLst>
              <a:ext uri="{FF2B5EF4-FFF2-40B4-BE49-F238E27FC236}">
                <a16:creationId xmlns:a16="http://schemas.microsoft.com/office/drawing/2014/main" id="{2B801DE1-0377-1A96-AFDF-C9A4370306B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59614" y="4349750"/>
          <a:ext cx="1965325" cy="198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8" name="BMP 图象" r:id="rId10" imgW="1114581" imgH="1123810" progId="Paint.Picture">
                  <p:embed/>
                </p:oleObj>
              </mc:Choice>
              <mc:Fallback>
                <p:oleObj name="BMP 图象" r:id="rId10" imgW="1114581" imgH="1123810" progId="Paint.Picture">
                  <p:embed/>
                  <p:pic>
                    <p:nvPicPr>
                      <p:cNvPr id="60429" name="Object 13">
                        <a:extLst>
                          <a:ext uri="{FF2B5EF4-FFF2-40B4-BE49-F238E27FC236}">
                            <a16:creationId xmlns:a16="http://schemas.microsoft.com/office/drawing/2014/main" id="{2B801DE1-0377-1A96-AFDF-C9A4370306B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59614" y="4349750"/>
                        <a:ext cx="1965325" cy="198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4F2F2EB3-5D2D-3691-F4D0-11A482DBE5A4}"/>
              </a:ext>
            </a:extLst>
          </p:cNvPr>
          <p:cNvSpPr/>
          <p:nvPr/>
        </p:nvSpPr>
        <p:spPr>
          <a:xfrm>
            <a:off x="3657600" y="5349240"/>
            <a:ext cx="457200" cy="9026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9416939-0049-5380-AC4E-78225A5E9C91}"/>
              </a:ext>
            </a:extLst>
          </p:cNvPr>
          <p:cNvSpPr/>
          <p:nvPr/>
        </p:nvSpPr>
        <p:spPr>
          <a:xfrm>
            <a:off x="8434817" y="4962379"/>
            <a:ext cx="590121" cy="13685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D341FDCF-223E-77AD-EB66-77B6174AB2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6846" y="1078230"/>
            <a:ext cx="6227791" cy="5041900"/>
          </a:xfrm>
        </p:spPr>
        <p:txBody>
          <a:bodyPr/>
          <a:lstStyle/>
          <a:p>
            <a:r>
              <a:rPr lang="zh-CN" altLang="en-US" b="1" dirty="0"/>
              <a:t>状态转换真值表（状态表）</a:t>
            </a:r>
          </a:p>
          <a:p>
            <a:pPr marL="533400" indent="-533400">
              <a:spcAft>
                <a:spcPct val="50000"/>
              </a:spcAft>
              <a:buNone/>
            </a:pPr>
            <a:r>
              <a:rPr lang="zh-CN" altLang="en-US" b="1" dirty="0"/>
              <a:t>      </a:t>
            </a:r>
            <a:r>
              <a:rPr lang="zh-CN" altLang="en-US" b="1" dirty="0">
                <a:solidFill>
                  <a:srgbClr val="FF0000"/>
                </a:solidFill>
              </a:rPr>
              <a:t>反映输出、次态和输入、现态之间关系的表格</a:t>
            </a:r>
          </a:p>
          <a:p>
            <a:r>
              <a:rPr lang="zh-CN" altLang="en-US" b="1" dirty="0"/>
              <a:t>状态转换图（状态图）</a:t>
            </a:r>
          </a:p>
          <a:p>
            <a:pPr marL="533400" indent="-533400">
              <a:spcAft>
                <a:spcPct val="50000"/>
              </a:spcAft>
              <a:buNone/>
            </a:pPr>
            <a:r>
              <a:rPr lang="zh-CN" altLang="en-US" b="1" dirty="0"/>
              <a:t>      </a:t>
            </a:r>
            <a:r>
              <a:rPr lang="zh-CN" altLang="en-US" b="1" dirty="0">
                <a:solidFill>
                  <a:srgbClr val="FF0000"/>
                </a:solidFill>
              </a:rPr>
              <a:t>反映状态转移规律及相应输入</a:t>
            </a:r>
            <a:r>
              <a:rPr lang="en-US" altLang="zh-CN" b="1" dirty="0">
                <a:solidFill>
                  <a:srgbClr val="FF0000"/>
                </a:solidFill>
              </a:rPr>
              <a:t>/</a:t>
            </a:r>
            <a:r>
              <a:rPr lang="zh-CN" altLang="en-US" b="1" dirty="0">
                <a:solidFill>
                  <a:srgbClr val="FF0000"/>
                </a:solidFill>
              </a:rPr>
              <a:t>输出取值关系的有向图</a:t>
            </a:r>
          </a:p>
          <a:p>
            <a:r>
              <a:rPr lang="zh-CN" altLang="en-US" b="1" dirty="0"/>
              <a:t>时序图</a:t>
            </a:r>
          </a:p>
          <a:p>
            <a:pPr marL="533400" indent="-533400">
              <a:buNone/>
            </a:pPr>
            <a:r>
              <a:rPr lang="zh-CN" altLang="en-US" b="1" dirty="0"/>
              <a:t>      </a:t>
            </a:r>
            <a:r>
              <a:rPr lang="zh-CN" altLang="en-US" b="1" dirty="0">
                <a:solidFill>
                  <a:srgbClr val="FF0000"/>
                </a:solidFill>
              </a:rPr>
              <a:t>用波形图的形式来表示输入、输出和状态等的取值在各时刻的对应关系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A89B5FA-30BB-1282-62F5-FEC776AAA7EA}"/>
              </a:ext>
            </a:extLst>
          </p:cNvPr>
          <p:cNvSpPr txBox="1"/>
          <p:nvPr/>
        </p:nvSpPr>
        <p:spPr>
          <a:xfrm>
            <a:off x="472440" y="318254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3200" dirty="0">
                <a:ea typeface="宋体" panose="02010600030101010101" pitchFamily="2" charset="-122"/>
              </a:rPr>
              <a:t>5.1 </a:t>
            </a:r>
            <a:r>
              <a:rPr kumimoji="0" lang="zh-CN" altLang="en-US" sz="3200" dirty="0">
                <a:ea typeface="宋体" panose="02010600030101010101" pitchFamily="2" charset="-122"/>
              </a:rPr>
              <a:t>时序逻辑电路的表示方法</a:t>
            </a:r>
            <a:endParaRPr lang="zh-CN" altLang="en-US" sz="3200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0A4AC653-2A7D-9D3A-349D-C1ADDFCB8B1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08864" y="318255"/>
          <a:ext cx="3140136" cy="21405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7" name="BMP 图像" r:id="rId3" imgW="2933333" imgH="2000000" progId="Paint.Picture">
                  <p:embed/>
                </p:oleObj>
              </mc:Choice>
              <mc:Fallback>
                <p:oleObj name="BMP 图像" r:id="rId3" imgW="2933333" imgH="2000000" progId="Paint.Picture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0A4AC653-2A7D-9D3A-349D-C1ADDFCB8B1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08864" y="318255"/>
                        <a:ext cx="3140136" cy="21405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图片 5">
            <a:extLst>
              <a:ext uri="{FF2B5EF4-FFF2-40B4-BE49-F238E27FC236}">
                <a16:creationId xmlns:a16="http://schemas.microsoft.com/office/drawing/2014/main" id="{C2434F53-7C3E-795F-C70D-1D1B6E37EE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2604" y="2579370"/>
            <a:ext cx="3951645" cy="1361122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A4F137BB-D0EC-2272-A449-209B15B3B2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6815" y="4197033"/>
            <a:ext cx="5286375" cy="2476500"/>
          </a:xfrm>
          <a:prstGeom prst="rect">
            <a:avLst/>
          </a:prstGeom>
          <a:noFill/>
          <a:ln w="19050">
            <a:solidFill>
              <a:srgbClr val="33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Line 36">
            <a:extLst>
              <a:ext uri="{FF2B5EF4-FFF2-40B4-BE49-F238E27FC236}">
                <a16:creationId xmlns:a16="http://schemas.microsoft.com/office/drawing/2014/main" id="{F0517F23-EEAB-870C-4447-6650B7C90B05}"/>
              </a:ext>
            </a:extLst>
          </p:cNvPr>
          <p:cNvSpPr>
            <a:spLocks noChangeShapeType="1"/>
          </p:cNvSpPr>
          <p:nvPr/>
        </p:nvSpPr>
        <p:spPr bwMode="auto">
          <a:xfrm>
            <a:off x="7204014" y="6038533"/>
            <a:ext cx="704850" cy="0"/>
          </a:xfrm>
          <a:prstGeom prst="line">
            <a:avLst/>
          </a:prstGeom>
          <a:noFill/>
          <a:ln w="38100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Line 37">
            <a:extLst>
              <a:ext uri="{FF2B5EF4-FFF2-40B4-BE49-F238E27FC236}">
                <a16:creationId xmlns:a16="http://schemas.microsoft.com/office/drawing/2014/main" id="{18B594D7-8B9D-9933-6333-D0603CC2A0D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907278" y="5741671"/>
            <a:ext cx="1587" cy="317500"/>
          </a:xfrm>
          <a:prstGeom prst="line">
            <a:avLst/>
          </a:prstGeom>
          <a:noFill/>
          <a:ln w="38100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Line 38">
            <a:extLst>
              <a:ext uri="{FF2B5EF4-FFF2-40B4-BE49-F238E27FC236}">
                <a16:creationId xmlns:a16="http://schemas.microsoft.com/office/drawing/2014/main" id="{F745E32F-F26E-58C4-41E9-E3B3277F40D6}"/>
              </a:ext>
            </a:extLst>
          </p:cNvPr>
          <p:cNvSpPr>
            <a:spLocks noChangeShapeType="1"/>
          </p:cNvSpPr>
          <p:nvPr/>
        </p:nvSpPr>
        <p:spPr bwMode="auto">
          <a:xfrm>
            <a:off x="7889814" y="5759134"/>
            <a:ext cx="762000" cy="4763"/>
          </a:xfrm>
          <a:prstGeom prst="line">
            <a:avLst/>
          </a:prstGeom>
          <a:noFill/>
          <a:ln w="38100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Line 39">
            <a:extLst>
              <a:ext uri="{FF2B5EF4-FFF2-40B4-BE49-F238E27FC236}">
                <a16:creationId xmlns:a16="http://schemas.microsoft.com/office/drawing/2014/main" id="{40244E6C-077A-4D7E-A477-598CA3C75C6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650228" y="5741671"/>
            <a:ext cx="1587" cy="317500"/>
          </a:xfrm>
          <a:prstGeom prst="line">
            <a:avLst/>
          </a:prstGeom>
          <a:noFill/>
          <a:ln w="38100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Line 40">
            <a:extLst>
              <a:ext uri="{FF2B5EF4-FFF2-40B4-BE49-F238E27FC236}">
                <a16:creationId xmlns:a16="http://schemas.microsoft.com/office/drawing/2014/main" id="{4FF1766E-4314-FE49-CB16-77018805969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642289" y="6044883"/>
            <a:ext cx="719138" cy="0"/>
          </a:xfrm>
          <a:prstGeom prst="line">
            <a:avLst/>
          </a:prstGeom>
          <a:noFill/>
          <a:ln w="38100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Line 41">
            <a:extLst>
              <a:ext uri="{FF2B5EF4-FFF2-40B4-BE49-F238E27FC236}">
                <a16:creationId xmlns:a16="http://schemas.microsoft.com/office/drawing/2014/main" id="{498FB184-AFCA-0C6E-1538-4946D555B5D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366190" y="5722622"/>
            <a:ext cx="3175" cy="346075"/>
          </a:xfrm>
          <a:prstGeom prst="line">
            <a:avLst/>
          </a:prstGeom>
          <a:noFill/>
          <a:ln w="38100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Line 42">
            <a:extLst>
              <a:ext uri="{FF2B5EF4-FFF2-40B4-BE49-F238E27FC236}">
                <a16:creationId xmlns:a16="http://schemas.microsoft.com/office/drawing/2014/main" id="{DDD70BAA-9C16-5501-9DB0-9D4B3CF46B4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361427" y="5744846"/>
            <a:ext cx="704850" cy="0"/>
          </a:xfrm>
          <a:prstGeom prst="line">
            <a:avLst/>
          </a:prstGeom>
          <a:noFill/>
          <a:ln w="38100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Line 43">
            <a:extLst>
              <a:ext uri="{FF2B5EF4-FFF2-40B4-BE49-F238E27FC236}">
                <a16:creationId xmlns:a16="http://schemas.microsoft.com/office/drawing/2014/main" id="{E9041652-867D-9063-4416-4A825CE4117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0078978" y="5732147"/>
            <a:ext cx="1587" cy="350837"/>
          </a:xfrm>
          <a:prstGeom prst="line">
            <a:avLst/>
          </a:prstGeom>
          <a:noFill/>
          <a:ln w="38100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Line 44">
            <a:extLst>
              <a:ext uri="{FF2B5EF4-FFF2-40B4-BE49-F238E27FC236}">
                <a16:creationId xmlns:a16="http://schemas.microsoft.com/office/drawing/2014/main" id="{87F8C616-DA91-421C-1FB4-831A28701A9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0793353" y="5751196"/>
            <a:ext cx="1587" cy="336550"/>
          </a:xfrm>
          <a:prstGeom prst="line">
            <a:avLst/>
          </a:prstGeom>
          <a:noFill/>
          <a:ln w="38100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Line 45">
            <a:extLst>
              <a:ext uri="{FF2B5EF4-FFF2-40B4-BE49-F238E27FC236}">
                <a16:creationId xmlns:a16="http://schemas.microsoft.com/office/drawing/2014/main" id="{7EBA52A4-A927-5746-991D-7C64B5EAF03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067865" y="6068697"/>
            <a:ext cx="728663" cy="1587"/>
          </a:xfrm>
          <a:prstGeom prst="line">
            <a:avLst/>
          </a:prstGeom>
          <a:noFill/>
          <a:ln w="38100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Line 46">
            <a:extLst>
              <a:ext uri="{FF2B5EF4-FFF2-40B4-BE49-F238E27FC236}">
                <a16:creationId xmlns:a16="http://schemas.microsoft.com/office/drawing/2014/main" id="{54BECE80-1CFA-8F0E-2362-99A8FFAC5749}"/>
              </a:ext>
            </a:extLst>
          </p:cNvPr>
          <p:cNvSpPr>
            <a:spLocks noChangeShapeType="1"/>
          </p:cNvSpPr>
          <p:nvPr/>
        </p:nvSpPr>
        <p:spPr bwMode="auto">
          <a:xfrm>
            <a:off x="10794939" y="5759134"/>
            <a:ext cx="723900" cy="4763"/>
          </a:xfrm>
          <a:prstGeom prst="line">
            <a:avLst/>
          </a:prstGeom>
          <a:noFill/>
          <a:ln w="38100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Line 47">
            <a:extLst>
              <a:ext uri="{FF2B5EF4-FFF2-40B4-BE49-F238E27FC236}">
                <a16:creationId xmlns:a16="http://schemas.microsoft.com/office/drawing/2014/main" id="{85C98E27-2A4D-5BDC-EDA4-0835B3AA21F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499790" y="5760721"/>
            <a:ext cx="3175" cy="336550"/>
          </a:xfrm>
          <a:prstGeom prst="line">
            <a:avLst/>
          </a:prstGeom>
          <a:noFill/>
          <a:ln w="38100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" name="Line 48">
            <a:extLst>
              <a:ext uri="{FF2B5EF4-FFF2-40B4-BE49-F238E27FC236}">
                <a16:creationId xmlns:a16="http://schemas.microsoft.com/office/drawing/2014/main" id="{CAAC2347-26A3-EDFB-4D5D-438546C128FF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99790" y="6082983"/>
            <a:ext cx="561975" cy="1588"/>
          </a:xfrm>
          <a:prstGeom prst="line">
            <a:avLst/>
          </a:prstGeom>
          <a:noFill/>
          <a:ln w="38100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3" name="Group 49">
            <a:extLst>
              <a:ext uri="{FF2B5EF4-FFF2-40B4-BE49-F238E27FC236}">
                <a16:creationId xmlns:a16="http://schemas.microsoft.com/office/drawing/2014/main" id="{E558B62E-C6F8-C556-65DA-D0071F9A7D54}"/>
              </a:ext>
            </a:extLst>
          </p:cNvPr>
          <p:cNvGrpSpPr>
            <a:grpSpLocks/>
          </p:cNvGrpSpPr>
          <p:nvPr/>
        </p:nvGrpSpPr>
        <p:grpSpPr bwMode="auto">
          <a:xfrm>
            <a:off x="7204014" y="6240147"/>
            <a:ext cx="4846638" cy="365125"/>
            <a:chOff x="1596" y="3947"/>
            <a:chExt cx="3053" cy="230"/>
          </a:xfrm>
        </p:grpSpPr>
        <p:sp>
          <p:nvSpPr>
            <p:cNvPr id="24" name="Line 50">
              <a:extLst>
                <a:ext uri="{FF2B5EF4-FFF2-40B4-BE49-F238E27FC236}">
                  <a16:creationId xmlns:a16="http://schemas.microsoft.com/office/drawing/2014/main" id="{17718E34-C014-FCE5-817D-A372A26F30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96" y="3984"/>
              <a:ext cx="444" cy="0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Line 51">
              <a:extLst>
                <a:ext uri="{FF2B5EF4-FFF2-40B4-BE49-F238E27FC236}">
                  <a16:creationId xmlns:a16="http://schemas.microsoft.com/office/drawing/2014/main" id="{E1DA2732-9EF1-FBE6-23E8-A9980274BA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39" y="3971"/>
              <a:ext cx="1" cy="200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Line 52">
              <a:extLst>
                <a:ext uri="{FF2B5EF4-FFF2-40B4-BE49-F238E27FC236}">
                  <a16:creationId xmlns:a16="http://schemas.microsoft.com/office/drawing/2014/main" id="{4055FA57-6894-C21E-A795-E7A8B8B958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28" y="4157"/>
              <a:ext cx="480" cy="3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Line 53">
              <a:extLst>
                <a:ext uri="{FF2B5EF4-FFF2-40B4-BE49-F238E27FC236}">
                  <a16:creationId xmlns:a16="http://schemas.microsoft.com/office/drawing/2014/main" id="{095DC207-7FFB-12BD-E918-0C225944F7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07" y="3971"/>
              <a:ext cx="1" cy="200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54">
              <a:extLst>
                <a:ext uri="{FF2B5EF4-FFF2-40B4-BE49-F238E27FC236}">
                  <a16:creationId xmlns:a16="http://schemas.microsoft.com/office/drawing/2014/main" id="{EB8878A6-A6E3-6C65-1EE2-AB8E180B2E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02" y="3980"/>
              <a:ext cx="453" cy="0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Line 55">
              <a:extLst>
                <a:ext uri="{FF2B5EF4-FFF2-40B4-BE49-F238E27FC236}">
                  <a16:creationId xmlns:a16="http://schemas.microsoft.com/office/drawing/2014/main" id="{0FD9F033-E837-F6C1-7756-7E1BB60540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59" y="3966"/>
              <a:ext cx="1" cy="210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Line 56">
              <a:extLst>
                <a:ext uri="{FF2B5EF4-FFF2-40B4-BE49-F238E27FC236}">
                  <a16:creationId xmlns:a16="http://schemas.microsoft.com/office/drawing/2014/main" id="{C963C4CE-1D16-AF5E-9B9F-0F2C2BB824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9" y="4169"/>
              <a:ext cx="468" cy="0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Line 57">
              <a:extLst>
                <a:ext uri="{FF2B5EF4-FFF2-40B4-BE49-F238E27FC236}">
                  <a16:creationId xmlns:a16="http://schemas.microsoft.com/office/drawing/2014/main" id="{45B8E23E-BA01-15C9-3C32-B62E062255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07" y="3956"/>
              <a:ext cx="1" cy="221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Line 58">
              <a:extLst>
                <a:ext uri="{FF2B5EF4-FFF2-40B4-BE49-F238E27FC236}">
                  <a16:creationId xmlns:a16="http://schemas.microsoft.com/office/drawing/2014/main" id="{08724412-81A7-13A4-CBD2-998DA9B8F3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51" y="3953"/>
              <a:ext cx="1" cy="218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Line 59">
              <a:extLst>
                <a:ext uri="{FF2B5EF4-FFF2-40B4-BE49-F238E27FC236}">
                  <a16:creationId xmlns:a16="http://schemas.microsoft.com/office/drawing/2014/main" id="{2C5F2C9B-AE21-862E-7885-7136A329E1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17" y="3965"/>
              <a:ext cx="444" cy="0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Line 60">
              <a:extLst>
                <a:ext uri="{FF2B5EF4-FFF2-40B4-BE49-F238E27FC236}">
                  <a16:creationId xmlns:a16="http://schemas.microsoft.com/office/drawing/2014/main" id="{8EA130EB-086F-973D-794C-846F2CD415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8" y="4160"/>
              <a:ext cx="454" cy="1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Line 61">
              <a:extLst>
                <a:ext uri="{FF2B5EF4-FFF2-40B4-BE49-F238E27FC236}">
                  <a16:creationId xmlns:a16="http://schemas.microsoft.com/office/drawing/2014/main" id="{F041BD17-CF9C-1FB2-32A7-42AA9FF18A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00" y="3947"/>
              <a:ext cx="2" cy="212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Line 62">
              <a:extLst>
                <a:ext uri="{FF2B5EF4-FFF2-40B4-BE49-F238E27FC236}">
                  <a16:creationId xmlns:a16="http://schemas.microsoft.com/office/drawing/2014/main" id="{F16C33EF-235C-F170-CE9B-AE0E944DA6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02" y="3957"/>
              <a:ext cx="347" cy="1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7" name="Group 63">
            <a:extLst>
              <a:ext uri="{FF2B5EF4-FFF2-40B4-BE49-F238E27FC236}">
                <a16:creationId xmlns:a16="http://schemas.microsoft.com/office/drawing/2014/main" id="{4CE6187C-CB3C-151C-CEC7-F0A6842ADA5E}"/>
              </a:ext>
            </a:extLst>
          </p:cNvPr>
          <p:cNvGrpSpPr>
            <a:grpSpLocks/>
          </p:cNvGrpSpPr>
          <p:nvPr/>
        </p:nvGrpSpPr>
        <p:grpSpPr bwMode="auto">
          <a:xfrm>
            <a:off x="7908864" y="4393883"/>
            <a:ext cx="3581400" cy="2000250"/>
            <a:chOff x="2040" y="2760"/>
            <a:chExt cx="2256" cy="1260"/>
          </a:xfrm>
        </p:grpSpPr>
        <p:sp>
          <p:nvSpPr>
            <p:cNvPr id="38" name="Line 64">
              <a:extLst>
                <a:ext uri="{FF2B5EF4-FFF2-40B4-BE49-F238E27FC236}">
                  <a16:creationId xmlns:a16="http://schemas.microsoft.com/office/drawing/2014/main" id="{C2B451D3-1051-57A2-6B6E-AE98BE995F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0" y="2760"/>
              <a:ext cx="0" cy="1260"/>
            </a:xfrm>
            <a:prstGeom prst="line">
              <a:avLst/>
            </a:prstGeom>
            <a:noFill/>
            <a:ln w="9525">
              <a:solidFill>
                <a:srgbClr val="0033CC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Line 65">
              <a:extLst>
                <a:ext uri="{FF2B5EF4-FFF2-40B4-BE49-F238E27FC236}">
                  <a16:creationId xmlns:a16="http://schemas.microsoft.com/office/drawing/2014/main" id="{A92FE53B-2986-E868-B754-F71DBC502A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05" y="2760"/>
              <a:ext cx="0" cy="1260"/>
            </a:xfrm>
            <a:prstGeom prst="line">
              <a:avLst/>
            </a:prstGeom>
            <a:noFill/>
            <a:ln w="9525">
              <a:solidFill>
                <a:srgbClr val="0033CC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Line 66">
              <a:extLst>
                <a:ext uri="{FF2B5EF4-FFF2-40B4-BE49-F238E27FC236}">
                  <a16:creationId xmlns:a16="http://schemas.microsoft.com/office/drawing/2014/main" id="{EF28CD6A-9037-AD4D-94D6-A5886EFD30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52" y="2760"/>
              <a:ext cx="0" cy="1260"/>
            </a:xfrm>
            <a:prstGeom prst="line">
              <a:avLst/>
            </a:prstGeom>
            <a:noFill/>
            <a:ln w="9525">
              <a:solidFill>
                <a:srgbClr val="0033CC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Line 67">
              <a:extLst>
                <a:ext uri="{FF2B5EF4-FFF2-40B4-BE49-F238E27FC236}">
                  <a16:creationId xmlns:a16="http://schemas.microsoft.com/office/drawing/2014/main" id="{2C875595-F354-2DBD-C27B-9776A0BE1D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0" y="2760"/>
              <a:ext cx="0" cy="1260"/>
            </a:xfrm>
            <a:prstGeom prst="line">
              <a:avLst/>
            </a:prstGeom>
            <a:noFill/>
            <a:ln w="9525">
              <a:solidFill>
                <a:srgbClr val="0033CC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Line 68">
              <a:extLst>
                <a:ext uri="{FF2B5EF4-FFF2-40B4-BE49-F238E27FC236}">
                  <a16:creationId xmlns:a16="http://schemas.microsoft.com/office/drawing/2014/main" id="{716C17C1-ECA8-4EAB-4329-A124B9E662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6" y="2760"/>
              <a:ext cx="0" cy="1260"/>
            </a:xfrm>
            <a:prstGeom prst="line">
              <a:avLst/>
            </a:prstGeom>
            <a:noFill/>
            <a:ln w="9525">
              <a:solidFill>
                <a:srgbClr val="0033CC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Line 69">
              <a:extLst>
                <a:ext uri="{FF2B5EF4-FFF2-40B4-BE49-F238E27FC236}">
                  <a16:creationId xmlns:a16="http://schemas.microsoft.com/office/drawing/2014/main" id="{8F5A64B7-185F-5D5E-5B56-C7386806ED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96" y="2760"/>
              <a:ext cx="0" cy="1260"/>
            </a:xfrm>
            <a:prstGeom prst="line">
              <a:avLst/>
            </a:prstGeom>
            <a:noFill/>
            <a:ln w="9525">
              <a:solidFill>
                <a:srgbClr val="0033CC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C3FEDF9C-1E61-7BFC-AC8A-4F20A731461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68795" y="2579370"/>
          <a:ext cx="1798637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8" name="BMP 图象" r:id="rId7" imgW="1838095" imgH="533474" progId="PBrush">
                  <p:embed/>
                </p:oleObj>
              </mc:Choice>
              <mc:Fallback>
                <p:oleObj name="BMP 图象" r:id="rId7" imgW="1838095" imgH="533474" progId="PBrush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C3FEDF9C-1E61-7BFC-AC8A-4F20A731461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8795" y="2579370"/>
                        <a:ext cx="1798637" cy="522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94F216-FD82-17D2-2597-79F120EAC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825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5.2 </a:t>
            </a:r>
            <a:r>
              <a:rPr lang="zh-CN" altLang="en-US" sz="3600" dirty="0"/>
              <a:t>时序电路的分类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1A958C-0DC5-F3D8-AC93-31F82D5BCD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520" y="1600120"/>
            <a:ext cx="5760720" cy="4351338"/>
          </a:xfrm>
        </p:spPr>
        <p:txBody>
          <a:bodyPr>
            <a:normAutofit lnSpcReduction="10000"/>
          </a:bodyPr>
          <a:lstStyle/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zh-CN" altLang="en-US" sz="3200" b="1" dirty="0">
                <a:latin typeface="楷体_GB2312"/>
              </a:rPr>
              <a:t>根据电路时钟工作方式分类：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zh-CN" altLang="en-US" sz="3200" b="1" dirty="0">
                <a:solidFill>
                  <a:srgbClr val="CC0066"/>
                </a:solidFill>
              </a:rPr>
              <a:t> </a:t>
            </a:r>
            <a:r>
              <a:rPr lang="zh-CN" altLang="en-US" sz="2800" b="1" dirty="0">
                <a:solidFill>
                  <a:srgbClr val="CC0066"/>
                </a:solidFill>
              </a:rPr>
              <a:t>同步时序电路：</a:t>
            </a:r>
            <a:r>
              <a:rPr lang="zh-CN" altLang="en-US" sz="2800" b="1" dirty="0"/>
              <a:t>各个触发器的时钟脉冲接在一起，电路中有一个统一的时钟脉冲，电路状态的改变是所有触发器同步进行的。</a:t>
            </a:r>
            <a:endParaRPr lang="en-US" altLang="zh-CN" sz="2800" b="1" dirty="0"/>
          </a:p>
          <a:p>
            <a:pPr eaLnBrk="1" hangingPunct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endParaRPr lang="zh-CN" altLang="en-US" sz="2800" b="1" dirty="0"/>
          </a:p>
          <a:p>
            <a:pPr eaLnBrk="1" hangingPunct="1">
              <a:spcBef>
                <a:spcPts val="600"/>
              </a:spcBef>
              <a:spcAft>
                <a:spcPts val="600"/>
              </a:spcAft>
              <a:buClr>
                <a:srgbClr val="CC0066"/>
              </a:buClr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CC0066"/>
                </a:solidFill>
              </a:rPr>
              <a:t> 异步时序电路</a:t>
            </a:r>
            <a:r>
              <a:rPr lang="zh-CN" altLang="zh-CN" sz="2800" b="1" dirty="0">
                <a:solidFill>
                  <a:srgbClr val="CC0066"/>
                </a:solidFill>
              </a:rPr>
              <a:t>：</a:t>
            </a:r>
            <a:r>
              <a:rPr lang="zh-CN" altLang="en-US" sz="2800" b="1" dirty="0"/>
              <a:t>电路中没有统一的时钟脉冲来控制电路状态的变化，电路中各个触发器的翻转有先有后，是异步进行的。</a:t>
            </a:r>
            <a:endParaRPr lang="en-US" altLang="zh-CN" sz="2800" dirty="0"/>
          </a:p>
          <a:p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2150339-AF2E-35F3-4B12-C03137E3C8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970178"/>
            <a:ext cx="5645801" cy="233918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E74DEA4C-98A7-9F42-8CA2-F9971048E4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1240" y="1432958"/>
            <a:ext cx="6127366" cy="2125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363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B3BD42-FC81-020E-BCD6-3A764689E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400" dirty="0"/>
              <a:t>5.2 </a:t>
            </a:r>
            <a:r>
              <a:rPr lang="zh-CN" altLang="en-US" sz="4400" dirty="0"/>
              <a:t>时序电路的分类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5163101-EC71-3A29-F759-3B961256CD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2618" y="1690688"/>
                <a:ext cx="10515600" cy="435133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zh-CN" altLang="en-US" sz="3200" dirty="0"/>
                  <a:t>根据输出信号的特点</a:t>
                </a:r>
                <a:endParaRPr lang="en-US" altLang="zh-CN" sz="3200" dirty="0"/>
              </a:p>
              <a:p>
                <a:pPr marL="457200" indent="-457200" eaLnBrk="1" hangingPunct="1">
                  <a:buFontTx/>
                  <a:buNone/>
                  <a:defRPr/>
                </a:pPr>
                <a:r>
                  <a:rPr lang="en-US" altLang="zh-CN" sz="3200" dirty="0"/>
                  <a:t>Mealy</a:t>
                </a:r>
                <a:r>
                  <a:rPr lang="zh-CN" altLang="en-US" sz="3200" dirty="0"/>
                  <a:t>型：输出信号与输入</a:t>
                </a:r>
                <a:r>
                  <a:rPr lang="en-US" altLang="zh-CN" sz="3200" dirty="0"/>
                  <a:t>X</a:t>
                </a:r>
                <a:r>
                  <a:rPr lang="zh-CN" altLang="en-US" sz="3200" dirty="0"/>
                  <a:t>和状态</a:t>
                </a:r>
                <a:r>
                  <a:rPr lang="en-US" altLang="zh-CN" sz="3200" dirty="0"/>
                  <a:t>Q</a:t>
                </a:r>
                <a:r>
                  <a:rPr lang="zh-CN" altLang="en-US" sz="3200" dirty="0"/>
                  <a:t>有关。</a:t>
                </a:r>
                <a:endParaRPr lang="en-US" altLang="zh-CN" sz="3200" dirty="0"/>
              </a:p>
              <a:p>
                <a:pPr marL="457200" indent="-457200" eaLnBrk="1" hangingPunct="1">
                  <a:buFontTx/>
                  <a:buNone/>
                  <a:defRPr/>
                </a:pPr>
                <a:r>
                  <a:rPr lang="en-US" altLang="zh-CN" sz="3200" dirty="0">
                    <a:solidFill>
                      <a:srgbClr val="000000"/>
                    </a:solidFill>
                  </a:rPr>
                  <a:t>     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zh-CN" altLang="en-US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zh-CN" altLang="en-US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zh-CN" altLang="en-US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zh-CN" altLang="en-US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m>
                      <m:mPr>
                        <m:plcHide m:val="on"/>
                        <m:mcs>
                          <m:mc>
                            <m:mcPr>
                              <m:count m:val="2"/>
                              <m:mcJc m:val="center"/>
                            </m:mcPr>
                          </m:mc>
                        </m:mcs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/>
                        <m:e/>
                      </m:mr>
                    </m:m>
                  </m:oMath>
                </a14:m>
                <a:r>
                  <a:rPr lang="zh-CN" altLang="en-US" sz="4000" dirty="0"/>
                  <a:t>          </a:t>
                </a:r>
                <a:endParaRPr lang="en-US" altLang="zh-CN" sz="4000" dirty="0"/>
              </a:p>
              <a:p>
                <a:pPr marL="457200" indent="-457200" eaLnBrk="1" hangingPunct="1">
                  <a:buFontTx/>
                  <a:buNone/>
                  <a:defRPr/>
                </a:pPr>
                <a:r>
                  <a:rPr lang="en-US" altLang="zh-CN" sz="4000" dirty="0"/>
                  <a:t>  </a:t>
                </a:r>
                <a:r>
                  <a:rPr lang="zh-CN" altLang="en-US" dirty="0"/>
                  <a:t>输出反应快，</a:t>
                </a:r>
                <a:r>
                  <a:rPr lang="zh-CN" altLang="en-US" sz="2800" dirty="0"/>
                  <a:t>输入会立即影响输出</a:t>
                </a:r>
                <a:r>
                  <a:rPr lang="zh-CN" altLang="en-US" sz="4000" dirty="0"/>
                  <a:t> </a:t>
                </a:r>
                <a:endParaRPr lang="en-US" altLang="zh-CN" sz="4000" dirty="0"/>
              </a:p>
              <a:p>
                <a:pPr marL="457200" indent="-457200" eaLnBrk="1" hangingPunct="1">
                  <a:buFontTx/>
                  <a:buNone/>
                  <a:defRPr/>
                </a:pPr>
                <a:r>
                  <a:rPr lang="zh-CN" altLang="en-US" sz="4000" dirty="0"/>
                  <a:t>          </a:t>
                </a:r>
                <a:endParaRPr lang="zh-CN" altLang="en-US" sz="3200" dirty="0"/>
              </a:p>
              <a:p>
                <a:pPr marL="457200" indent="-457200" eaLnBrk="1" hangingPunct="1">
                  <a:buFontTx/>
                  <a:buNone/>
                  <a:defRPr/>
                </a:pPr>
                <a:r>
                  <a:rPr lang="en-US" altLang="zh-CN" dirty="0"/>
                  <a:t>Moore</a:t>
                </a:r>
                <a:r>
                  <a:rPr lang="zh-CN" altLang="en-US" dirty="0"/>
                  <a:t>型：输出信号仅取决于状态</a:t>
                </a:r>
                <a:r>
                  <a:rPr lang="en-US" altLang="zh-CN" dirty="0"/>
                  <a:t>Q</a:t>
                </a:r>
              </a:p>
              <a:p>
                <a:pPr marL="457200" indent="-457200" eaLnBrk="1" hangingPunct="1"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m>
                        <m:mPr>
                          <m:plcHide m:val="on"/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/>
                          <m:e/>
                        </m:mr>
                      </m:m>
                    </m:oMath>
                  </m:oMathPara>
                </a14:m>
                <a:endParaRPr lang="en-US" altLang="zh-CN" sz="3200" dirty="0"/>
              </a:p>
              <a:p>
                <a:pPr marL="457200" indent="-457200" eaLnBrk="1" hangingPunct="1">
                  <a:buFontTx/>
                  <a:buNone/>
                  <a:defRPr/>
                </a:pPr>
                <a:r>
                  <a:rPr lang="en-US" altLang="zh-CN" sz="3200" dirty="0"/>
                  <a:t>  </a:t>
                </a:r>
                <a:r>
                  <a:rPr lang="zh-CN" altLang="en-US" dirty="0"/>
                  <a:t>输出与时钟同步，只根据现在的状态决定输出，更稳定。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5163101-EC71-3A29-F759-3B961256CD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2618" y="1690688"/>
                <a:ext cx="10515600" cy="4351338"/>
              </a:xfrm>
              <a:blipFill>
                <a:blip r:embed="rId2"/>
                <a:stretch>
                  <a:fillRect l="-1449" t="-3782" b="-5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471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0E467D6-32FA-C2F5-729E-9A49FE269A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5907" y="143148"/>
            <a:ext cx="8696784" cy="260589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CFCFFD0-9EE0-A4D4-4041-0557319B9E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9250" y="3429000"/>
            <a:ext cx="8750684" cy="251732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D29084C7-460B-D5E1-9147-E69D4573453A}"/>
              </a:ext>
            </a:extLst>
          </p:cNvPr>
          <p:cNvSpPr txBox="1"/>
          <p:nvPr/>
        </p:nvSpPr>
        <p:spPr>
          <a:xfrm>
            <a:off x="2651760" y="2838109"/>
            <a:ext cx="35890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同步</a:t>
            </a:r>
            <a:r>
              <a:rPr lang="en-US" altLang="zh-CN" sz="2400" dirty="0"/>
              <a:t>256</a:t>
            </a:r>
            <a:r>
              <a:rPr lang="zh-CN" altLang="en-US" sz="2400" dirty="0"/>
              <a:t>进制计数器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1C3A52C-C2F9-E385-E8F5-5F2447CEA474}"/>
              </a:ext>
            </a:extLst>
          </p:cNvPr>
          <p:cNvSpPr txBox="1"/>
          <p:nvPr/>
        </p:nvSpPr>
        <p:spPr>
          <a:xfrm>
            <a:off x="3680460" y="6219748"/>
            <a:ext cx="35890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异步</a:t>
            </a:r>
            <a:r>
              <a:rPr lang="en-US" altLang="zh-CN" sz="2400" dirty="0"/>
              <a:t>256</a:t>
            </a:r>
            <a:r>
              <a:rPr lang="zh-CN" altLang="en-US" sz="2400" dirty="0"/>
              <a:t>进制计数器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D5573E1-6338-07E6-AB4B-1DE23716050A}"/>
              </a:ext>
            </a:extLst>
          </p:cNvPr>
          <p:cNvSpPr txBox="1"/>
          <p:nvPr/>
        </p:nvSpPr>
        <p:spPr>
          <a:xfrm>
            <a:off x="6835140" y="6075546"/>
            <a:ext cx="481203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串行进位：低位片的</a:t>
            </a:r>
            <a:r>
              <a:rPr lang="zh-CN" altLang="en-US" sz="2000" b="1" dirty="0"/>
              <a:t>进位输出</a:t>
            </a:r>
            <a:r>
              <a:rPr lang="zh-CN" altLang="en-US" sz="2000" dirty="0"/>
              <a:t>作为高位片的</a:t>
            </a:r>
            <a:r>
              <a:rPr lang="en-US" altLang="zh-CN" sz="2000" dirty="0"/>
              <a:t>CLK</a:t>
            </a:r>
            <a:r>
              <a:rPr lang="zh-CN" altLang="en-US" sz="2000" dirty="0"/>
              <a:t>，两片始终同时处于计数状态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083CC58-771D-1C04-7A84-D67F60526BDC}"/>
              </a:ext>
            </a:extLst>
          </p:cNvPr>
          <p:cNvSpPr txBox="1"/>
          <p:nvPr/>
        </p:nvSpPr>
        <p:spPr>
          <a:xfrm>
            <a:off x="6240780" y="2714998"/>
            <a:ext cx="42648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并行进位：用同一个</a:t>
            </a:r>
            <a:r>
              <a:rPr lang="en-US" altLang="zh-CN" sz="2000" dirty="0"/>
              <a:t>CLK</a:t>
            </a:r>
            <a:r>
              <a:rPr lang="zh-CN" altLang="en-US" sz="2000" dirty="0"/>
              <a:t>，低位片的进位输出作为高位片的计数控制信号。</a:t>
            </a:r>
          </a:p>
        </p:txBody>
      </p:sp>
    </p:spTree>
    <p:extLst>
      <p:ext uri="{BB962C8B-B14F-4D97-AF65-F5344CB8AC3E}">
        <p14:creationId xmlns:p14="http://schemas.microsoft.com/office/powerpoint/2010/main" val="2935329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3" grpId="0"/>
      <p:bldP spid="6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56F696-072A-904A-4914-0B6739040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915" y="-6781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3200" dirty="0"/>
              <a:t>5.5.4 </a:t>
            </a:r>
            <a:r>
              <a:rPr lang="zh-CN" altLang="en-US" sz="3200" dirty="0"/>
              <a:t>移位寄存器型计数器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7C80C95-B30B-14EE-B165-B63DD96C28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7915" y="1248909"/>
            <a:ext cx="10515600" cy="4351338"/>
          </a:xfrm>
        </p:spPr>
        <p:txBody>
          <a:bodyPr/>
          <a:lstStyle/>
          <a:p>
            <a:r>
              <a:rPr lang="zh-CN" altLang="en-US" dirty="0"/>
              <a:t>环形计数器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如果按图所示的那样将移位寄存器首尾相接，即</a:t>
            </a:r>
            <a:r>
              <a:rPr lang="en-US" altLang="zh-CN" dirty="0"/>
              <a:t>D</a:t>
            </a:r>
            <a:r>
              <a:rPr lang="en-US" altLang="zh-CN" baseline="-25000" dirty="0"/>
              <a:t>0</a:t>
            </a:r>
            <a:r>
              <a:rPr lang="en-US" altLang="zh-CN" dirty="0"/>
              <a:t>=Q</a:t>
            </a:r>
            <a:r>
              <a:rPr lang="en-US" altLang="zh-CN" baseline="-25000" dirty="0"/>
              <a:t>3</a:t>
            </a:r>
            <a:r>
              <a:rPr lang="zh-CN" altLang="en-US" dirty="0"/>
              <a:t>，那么在连续不断地输人时钟信号时寄存器里的数据将循环右移。</a:t>
            </a:r>
          </a:p>
        </p:txBody>
      </p:sp>
      <p:graphicFrame>
        <p:nvGraphicFramePr>
          <p:cNvPr id="4" name="Object 2">
            <a:extLst>
              <a:ext uri="{FF2B5EF4-FFF2-40B4-BE49-F238E27FC236}">
                <a16:creationId xmlns:a16="http://schemas.microsoft.com/office/drawing/2014/main" id="{BF3E7ED3-B788-E396-B6F1-B4C2A5B5BCB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68817" y="2838223"/>
          <a:ext cx="7543800" cy="2625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1" name="BMP 图象" r:id="rId3" imgW="5800000" imgH="2019048" progId="Paint.Picture">
                  <p:embed/>
                </p:oleObj>
              </mc:Choice>
              <mc:Fallback>
                <p:oleObj name="BMP 图象" r:id="rId3" imgW="5800000" imgH="2019048" progId="Paint.Picture">
                  <p:embed/>
                  <p:pic>
                    <p:nvPicPr>
                      <p:cNvPr id="4" name="Object 2">
                        <a:extLst>
                          <a:ext uri="{FF2B5EF4-FFF2-40B4-BE49-F238E27FC236}">
                            <a16:creationId xmlns:a16="http://schemas.microsoft.com/office/drawing/2014/main" id="{BF3E7ED3-B788-E396-B6F1-B4C2A5B5BCB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8817" y="2838223"/>
                        <a:ext cx="7543800" cy="2625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F6D45962-1E85-392B-72E5-266E127E1E2C}"/>
              </a:ext>
            </a:extLst>
          </p:cNvPr>
          <p:cNvSpPr/>
          <p:nvPr/>
        </p:nvSpPr>
        <p:spPr>
          <a:xfrm>
            <a:off x="1257074" y="3188970"/>
            <a:ext cx="7155543" cy="2791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83124D-5191-5CA6-7A14-5221F0CDD9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2454" y="5463948"/>
            <a:ext cx="1719489" cy="165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5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 dirty="0"/>
              <a:t>驱动方程</a:t>
            </a:r>
            <a:r>
              <a:rPr lang="en-US" altLang="zh-CN" sz="2800" b="1" dirty="0"/>
              <a:t>D</a:t>
            </a:r>
            <a:r>
              <a:rPr lang="en-US" altLang="zh-CN" sz="2800" b="1" baseline="-25000" dirty="0"/>
              <a:t>0</a:t>
            </a:r>
            <a:r>
              <a:rPr lang="en-US" altLang="zh-CN" sz="2800" b="1" dirty="0"/>
              <a:t> = Q</a:t>
            </a:r>
            <a:r>
              <a:rPr lang="en-US" altLang="zh-CN" sz="2800" b="1" baseline="-25000" dirty="0"/>
              <a:t>3</a:t>
            </a:r>
            <a:r>
              <a:rPr lang="en-US" altLang="zh-CN" sz="2800" b="1" baseline="30000" dirty="0"/>
              <a:t>n</a:t>
            </a:r>
            <a:endParaRPr lang="en-US" altLang="zh-CN" sz="2800" b="1" baseline="-25000" dirty="0"/>
          </a:p>
          <a:p>
            <a:pPr eaLnBrk="1" hangingPunct="1">
              <a:buFontTx/>
              <a:buNone/>
            </a:pPr>
            <a:r>
              <a:rPr lang="en-US" altLang="zh-CN" sz="2800" b="1" dirty="0"/>
              <a:t>D</a:t>
            </a:r>
            <a:r>
              <a:rPr lang="en-US" altLang="zh-CN" sz="2800" b="1" baseline="-25000" dirty="0"/>
              <a:t>i</a:t>
            </a:r>
            <a:r>
              <a:rPr lang="en-US" altLang="zh-CN" sz="2800" b="1" dirty="0"/>
              <a:t> = Q</a:t>
            </a:r>
            <a:r>
              <a:rPr lang="en-US" altLang="zh-CN" sz="2800" b="1" baseline="-25000" dirty="0"/>
              <a:t>i-1</a:t>
            </a:r>
            <a:r>
              <a:rPr lang="en-US" altLang="zh-CN" sz="2800" b="1" baseline="30000" dirty="0"/>
              <a:t>n</a:t>
            </a:r>
            <a:endParaRPr lang="en-US" altLang="zh-CN" sz="2800" b="1" baseline="-25000" dirty="0"/>
          </a:p>
        </p:txBody>
      </p:sp>
      <p:graphicFrame>
        <p:nvGraphicFramePr>
          <p:cNvPr id="7" name="Object 4">
            <a:extLst>
              <a:ext uri="{FF2B5EF4-FFF2-40B4-BE49-F238E27FC236}">
                <a16:creationId xmlns:a16="http://schemas.microsoft.com/office/drawing/2014/main" id="{C59CBEE3-E20F-C0D2-54EC-6CA649C423F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733519" y="4151085"/>
          <a:ext cx="2449513" cy="2354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2" name="BMP 图象" r:id="rId6" imgW="1467055" imgH="1409897" progId="Paint.Picture">
                  <p:embed/>
                </p:oleObj>
              </mc:Choice>
              <mc:Fallback>
                <p:oleObj name="BMP 图象" r:id="rId6" imgW="1467055" imgH="1409897" progId="Paint.Picture">
                  <p:embed/>
                  <p:pic>
                    <p:nvPicPr>
                      <p:cNvPr id="7" name="Object 4">
                        <a:extLst>
                          <a:ext uri="{FF2B5EF4-FFF2-40B4-BE49-F238E27FC236}">
                            <a16:creationId xmlns:a16="http://schemas.microsoft.com/office/drawing/2014/main" id="{C59CBEE3-E20F-C0D2-54EC-6CA649C423F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33519" y="4151085"/>
                        <a:ext cx="2449513" cy="2354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DA71A2C8-109B-9DBE-53B4-6A3BEA2F08B3}"/>
              </a:ext>
            </a:extLst>
          </p:cNvPr>
          <p:cNvCxnSpPr/>
          <p:nvPr/>
        </p:nvCxnSpPr>
        <p:spPr>
          <a:xfrm>
            <a:off x="2937510" y="3166110"/>
            <a:ext cx="0" cy="4000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AF461C93-9BA7-DAE0-E0F6-A6FA56018CE9}"/>
              </a:ext>
            </a:extLst>
          </p:cNvPr>
          <p:cNvCxnSpPr/>
          <p:nvPr/>
        </p:nvCxnSpPr>
        <p:spPr>
          <a:xfrm>
            <a:off x="4640580" y="3068071"/>
            <a:ext cx="0" cy="4000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B2212BA8-B477-FD5C-A8AE-DF92C4D267FD}"/>
              </a:ext>
            </a:extLst>
          </p:cNvPr>
          <p:cNvCxnSpPr/>
          <p:nvPr/>
        </p:nvCxnSpPr>
        <p:spPr>
          <a:xfrm>
            <a:off x="6343650" y="3166110"/>
            <a:ext cx="0" cy="4000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9720716B-7F8B-A454-BC6F-61C71B6ED1B7}"/>
              </a:ext>
            </a:extLst>
          </p:cNvPr>
          <p:cNvCxnSpPr/>
          <p:nvPr/>
        </p:nvCxnSpPr>
        <p:spPr>
          <a:xfrm>
            <a:off x="8046720" y="3166110"/>
            <a:ext cx="0" cy="4000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E4EF8376-7954-B481-85F9-CA8F7CC6B87C}"/>
              </a:ext>
            </a:extLst>
          </p:cNvPr>
          <p:cNvSpPr/>
          <p:nvPr/>
        </p:nvSpPr>
        <p:spPr>
          <a:xfrm>
            <a:off x="9372599" y="4823460"/>
            <a:ext cx="1690915" cy="15087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286F8E7-B0BD-B8A3-A8E8-D5AF57FE5ADE}"/>
              </a:ext>
            </a:extLst>
          </p:cNvPr>
          <p:cNvSpPr/>
          <p:nvPr/>
        </p:nvSpPr>
        <p:spPr>
          <a:xfrm>
            <a:off x="8938259" y="4845867"/>
            <a:ext cx="228601" cy="15087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5083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8" grpId="0" animBg="1"/>
      <p:bldP spid="11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A8FDA7CA-991F-BECE-2723-A82BE20AE6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447" y="3608163"/>
            <a:ext cx="18875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 dirty="0"/>
              <a:t>时序图：</a:t>
            </a:r>
          </a:p>
        </p:txBody>
      </p:sp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CA5B6C9E-4334-D875-2A73-7C7ACA9706E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52984" y="268287"/>
          <a:ext cx="8945246" cy="27529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5" name="BMP 图象" r:id="rId4" imgW="5723810" imgH="1762371" progId="Paint.Picture">
                  <p:embed/>
                </p:oleObj>
              </mc:Choice>
              <mc:Fallback>
                <p:oleObj name="BMP 图象" r:id="rId4" imgW="5723810" imgH="1762371" progId="Paint.Picture">
                  <p:embed/>
                  <p:pic>
                    <p:nvPicPr>
                      <p:cNvPr id="5" name="Object 3">
                        <a:extLst>
                          <a:ext uri="{FF2B5EF4-FFF2-40B4-BE49-F238E27FC236}">
                            <a16:creationId xmlns:a16="http://schemas.microsoft.com/office/drawing/2014/main" id="{CA5B6C9E-4334-D875-2A73-7C7ACA9706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2984" y="268287"/>
                        <a:ext cx="8945246" cy="27529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4">
            <a:extLst>
              <a:ext uri="{FF2B5EF4-FFF2-40B4-BE49-F238E27FC236}">
                <a16:creationId xmlns:a16="http://schemas.microsoft.com/office/drawing/2014/main" id="{B4EB0C39-C4B6-47F0-F882-284CCE78AD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793" y="1026318"/>
            <a:ext cx="2376487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 dirty="0"/>
              <a:t>状态图：</a:t>
            </a:r>
          </a:p>
        </p:txBody>
      </p:sp>
      <p:graphicFrame>
        <p:nvGraphicFramePr>
          <p:cNvPr id="7" name="Object 5">
            <a:extLst>
              <a:ext uri="{FF2B5EF4-FFF2-40B4-BE49-F238E27FC236}">
                <a16:creationId xmlns:a16="http://schemas.microsoft.com/office/drawing/2014/main" id="{BD382409-3D93-E95F-7D4E-F6F0AC3018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78146" y="3429000"/>
          <a:ext cx="3943464" cy="34308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6" name="BMP 图象" r:id="rId6" imgW="2553056" imgH="2523810" progId="Paint.Picture">
                  <p:embed/>
                </p:oleObj>
              </mc:Choice>
              <mc:Fallback>
                <p:oleObj name="BMP 图象" r:id="rId6" imgW="2553056" imgH="2523810" progId="Paint.Picture">
                  <p:embed/>
                  <p:pic>
                    <p:nvPicPr>
                      <p:cNvPr id="7" name="Object 5">
                        <a:extLst>
                          <a:ext uri="{FF2B5EF4-FFF2-40B4-BE49-F238E27FC236}">
                            <a16:creationId xmlns:a16="http://schemas.microsoft.com/office/drawing/2014/main" id="{BD382409-3D93-E95F-7D4E-F6F0AC3018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8146" y="3429000"/>
                        <a:ext cx="3943464" cy="34308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2">
            <a:extLst>
              <a:ext uri="{FF2B5EF4-FFF2-40B4-BE49-F238E27FC236}">
                <a16:creationId xmlns:a16="http://schemas.microsoft.com/office/drawing/2014/main" id="{B6C41CFD-F2FE-CCFF-403E-D2FC384420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63992" y="3721221"/>
            <a:ext cx="4661285" cy="2382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/>
              <a:t>特点：简单；计数长度</a:t>
            </a:r>
            <a:r>
              <a:rPr lang="en-US" altLang="zh-CN" sz="2400" dirty="0"/>
              <a:t>=</a:t>
            </a:r>
            <a:r>
              <a:rPr lang="zh-CN" altLang="en-US" sz="2400" dirty="0"/>
              <a:t>触发器个数</a:t>
            </a:r>
            <a:r>
              <a:rPr lang="en-US" altLang="zh-CN" sz="2400" dirty="0"/>
              <a:t>n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/>
              <a:t>缺点：</a:t>
            </a:r>
            <a:endParaRPr lang="en-US" altLang="zh-CN" sz="24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            </a:t>
            </a:r>
            <a:r>
              <a:rPr lang="zh-CN" altLang="en-US" sz="2400" dirty="0"/>
              <a:t>触发器利用率低；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/>
              <a:t>           不能自启动，无效状态</a:t>
            </a:r>
            <a:r>
              <a:rPr lang="en-US" altLang="zh-CN" sz="2400" dirty="0"/>
              <a:t>2</a:t>
            </a:r>
            <a:r>
              <a:rPr lang="en-US" altLang="zh-CN" sz="2400" baseline="30000" dirty="0"/>
              <a:t>n</a:t>
            </a:r>
            <a:r>
              <a:rPr lang="en-US" altLang="zh-CN" sz="2400" dirty="0"/>
              <a:t>-n</a:t>
            </a:r>
          </a:p>
          <a:p>
            <a:pPr eaLnBrk="1" hangingPunct="1">
              <a:buNone/>
            </a:pPr>
            <a:r>
              <a:rPr lang="zh-CN" altLang="en-US" sz="2400" dirty="0"/>
              <a:t>改进：修改反馈逻辑使能自启动。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493191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DFFEE8-B4A7-B1B4-EA26-5A83DEDCD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029" y="18255"/>
            <a:ext cx="10515600" cy="1325563"/>
          </a:xfrm>
        </p:spPr>
        <p:txBody>
          <a:bodyPr/>
          <a:lstStyle/>
          <a:p>
            <a:r>
              <a:rPr lang="en-US" altLang="zh-CN" sz="4400" dirty="0"/>
              <a:t>5.5.4 </a:t>
            </a:r>
            <a:r>
              <a:rPr lang="zh-CN" altLang="en-US" sz="4400" dirty="0"/>
              <a:t>移位寄存器型计数器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7C2448-7401-832F-9DF1-E7576F0099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343" y="1343818"/>
            <a:ext cx="10515600" cy="4351338"/>
          </a:xfrm>
        </p:spPr>
        <p:txBody>
          <a:bodyPr/>
          <a:lstStyle/>
          <a:p>
            <a:r>
              <a:rPr lang="zh-CN" altLang="en-US" sz="2800" b="1" dirty="0"/>
              <a:t>扭环形计数器</a:t>
            </a:r>
          </a:p>
          <a:p>
            <a:endParaRPr lang="zh-CN" altLang="en-US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20BBDD1E-7A95-F8CF-CFDB-E6B1B11C6C8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01057" y="2039258"/>
          <a:ext cx="7162800" cy="2409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79" name="BMP 图象" r:id="rId3" imgW="6001588" imgH="2019048" progId="Paint.Picture">
                  <p:embed/>
                </p:oleObj>
              </mc:Choice>
              <mc:Fallback>
                <p:oleObj name="BMP 图象" r:id="rId3" imgW="6001588" imgH="2019048" progId="Paint.Picture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20BBDD1E-7A95-F8CF-CFDB-E6B1B11C6C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1057" y="2039258"/>
                        <a:ext cx="7162800" cy="2409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6">
            <a:extLst>
              <a:ext uri="{FF2B5EF4-FFF2-40B4-BE49-F238E27FC236}">
                <a16:creationId xmlns:a16="http://schemas.microsoft.com/office/drawing/2014/main" id="{A794FD11-885B-FD02-9F91-A5A571875F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086" y="5023785"/>
            <a:ext cx="2362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5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 dirty="0"/>
              <a:t>驱动方程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7">
                <a:extLst>
                  <a:ext uri="{FF2B5EF4-FFF2-40B4-BE49-F238E27FC236}">
                    <a16:creationId xmlns:a16="http://schemas.microsoft.com/office/drawing/2014/main" id="{9EAB4327-557D-B3A1-BAC0-D67CFA211E08}"/>
                  </a:ext>
                </a:extLst>
              </p:cNvPr>
              <p:cNvSpPr txBox="1"/>
              <p:nvPr/>
            </p:nvSpPr>
            <p:spPr bwMode="auto">
              <a:xfrm>
                <a:off x="2881312" y="5657850"/>
                <a:ext cx="2107973" cy="5651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CN" sz="2400" b="0" i="1" baseline="3000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ba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6" name="Object 7">
                <a:extLst>
                  <a:ext uri="{FF2B5EF4-FFF2-40B4-BE49-F238E27FC236}">
                    <a16:creationId xmlns:a16="http://schemas.microsoft.com/office/drawing/2014/main" id="{9EAB4327-557D-B3A1-BAC0-D67CFA211E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81312" y="5657850"/>
                <a:ext cx="2107973" cy="56515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>
            <a:extLst>
              <a:ext uri="{FF2B5EF4-FFF2-40B4-BE49-F238E27FC236}">
                <a16:creationId xmlns:a16="http://schemas.microsoft.com/office/drawing/2014/main" id="{DD834340-9C36-5B48-1D22-07A3C15781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30" y="6208192"/>
            <a:ext cx="1439862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5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楷体_GB2312"/>
              </a:defRPr>
            </a:lvl9pPr>
          </a:lstStyle>
          <a:p>
            <a:pPr eaLnBrk="1" hangingPunct="1">
              <a:buClr>
                <a:srgbClr val="D9F1FF"/>
              </a:buClr>
              <a:buFontTx/>
              <a:buNone/>
            </a:pPr>
            <a:r>
              <a:rPr lang="en-US" altLang="zh-CN" sz="2800" b="1" dirty="0">
                <a:solidFill>
                  <a:srgbClr val="40458C"/>
                </a:solidFill>
              </a:rPr>
              <a:t>D</a:t>
            </a:r>
            <a:r>
              <a:rPr lang="en-US" altLang="zh-CN" sz="2800" b="1" baseline="-25000" dirty="0">
                <a:solidFill>
                  <a:srgbClr val="40458C"/>
                </a:solidFill>
              </a:rPr>
              <a:t>i</a:t>
            </a:r>
            <a:r>
              <a:rPr lang="en-US" altLang="zh-CN" sz="2800" b="1" dirty="0">
                <a:solidFill>
                  <a:srgbClr val="40458C"/>
                </a:solidFill>
              </a:rPr>
              <a:t> = Q</a:t>
            </a:r>
            <a:r>
              <a:rPr lang="en-US" altLang="zh-CN" sz="2800" b="1" baseline="-25000" dirty="0">
                <a:solidFill>
                  <a:srgbClr val="40458C"/>
                </a:solidFill>
              </a:rPr>
              <a:t>i-1</a:t>
            </a:r>
          </a:p>
        </p:txBody>
      </p:sp>
      <p:graphicFrame>
        <p:nvGraphicFramePr>
          <p:cNvPr id="8" name="Object 5">
            <a:extLst>
              <a:ext uri="{FF2B5EF4-FFF2-40B4-BE49-F238E27FC236}">
                <a16:creationId xmlns:a16="http://schemas.microsoft.com/office/drawing/2014/main" id="{914F5F62-025A-4048-ECAD-B740E0E8B5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984343" y="2669381"/>
          <a:ext cx="2487613" cy="365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0" name="BMP 图象" r:id="rId7" imgW="1457143" imgH="2142857" progId="Paint.Picture">
                  <p:embed/>
                </p:oleObj>
              </mc:Choice>
              <mc:Fallback>
                <p:oleObj name="BMP 图象" r:id="rId7" imgW="1457143" imgH="2142857" progId="Paint.Picture">
                  <p:embed/>
                  <p:pic>
                    <p:nvPicPr>
                      <p:cNvPr id="8" name="Object 5">
                        <a:extLst>
                          <a:ext uri="{FF2B5EF4-FFF2-40B4-BE49-F238E27FC236}">
                            <a16:creationId xmlns:a16="http://schemas.microsoft.com/office/drawing/2014/main" id="{914F5F62-025A-4048-ECAD-B740E0E8B5C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84343" y="2669381"/>
                        <a:ext cx="2487613" cy="365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00786DE8-E417-FBA9-44F2-8F2D5AAEC52B}"/>
              </a:ext>
            </a:extLst>
          </p:cNvPr>
          <p:cNvSpPr/>
          <p:nvPr/>
        </p:nvSpPr>
        <p:spPr>
          <a:xfrm flipV="1">
            <a:off x="1360170" y="2548890"/>
            <a:ext cx="6766560" cy="571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B7377BE-8A87-E707-78CF-5963AA84A3F7}"/>
              </a:ext>
            </a:extLst>
          </p:cNvPr>
          <p:cNvSpPr/>
          <p:nvPr/>
        </p:nvSpPr>
        <p:spPr>
          <a:xfrm>
            <a:off x="7692390" y="2606038"/>
            <a:ext cx="205740" cy="3657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3F7F29D-9B81-E28B-B097-41AF5F50FC88}"/>
              </a:ext>
            </a:extLst>
          </p:cNvPr>
          <p:cNvSpPr/>
          <p:nvPr/>
        </p:nvSpPr>
        <p:spPr>
          <a:xfrm>
            <a:off x="7692390" y="3023333"/>
            <a:ext cx="205740" cy="8628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E5342D3-BF62-43C9-6E40-93D076AFD1A7}"/>
              </a:ext>
            </a:extLst>
          </p:cNvPr>
          <p:cNvSpPr/>
          <p:nvPr/>
        </p:nvSpPr>
        <p:spPr>
          <a:xfrm>
            <a:off x="9652908" y="3680460"/>
            <a:ext cx="1731372" cy="2518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139E1E6-9018-C594-4182-219AD71479BB}"/>
              </a:ext>
            </a:extLst>
          </p:cNvPr>
          <p:cNvSpPr/>
          <p:nvPr/>
        </p:nvSpPr>
        <p:spPr>
          <a:xfrm>
            <a:off x="9171894" y="3621883"/>
            <a:ext cx="292327" cy="2518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2929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9" grpId="0" animBg="1"/>
      <p:bldP spid="10" grpId="0" animBg="1"/>
      <p:bldP spid="11" grpId="0" animBg="1"/>
      <p:bldP spid="12" grpId="0" animBg="1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2834</Words>
  <Application>Microsoft Macintosh PowerPoint</Application>
  <PresentationFormat>宽屏</PresentationFormat>
  <Paragraphs>880</Paragraphs>
  <Slides>45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6</vt:i4>
      </vt:variant>
      <vt:variant>
        <vt:lpstr>幻灯片标题</vt:lpstr>
      </vt:variant>
      <vt:variant>
        <vt:i4>45</vt:i4>
      </vt:variant>
    </vt:vector>
  </HeadingPairs>
  <TitlesOfParts>
    <vt:vector size="67" baseType="lpstr">
      <vt:lpstr>*SimSun-8597-Identity-H</vt:lpstr>
      <vt:lpstr>*SimSun-8598-Identity-H</vt:lpstr>
      <vt:lpstr>*SimSun-9749-Identity-H</vt:lpstr>
      <vt:lpstr>等线</vt:lpstr>
      <vt:lpstr>等线 Light</vt:lpstr>
      <vt:lpstr>黑体</vt:lpstr>
      <vt:lpstr>楷体_GB2312</vt:lpstr>
      <vt:lpstr>宋体</vt:lpstr>
      <vt:lpstr>quote-cjk-patch</vt:lpstr>
      <vt:lpstr>Arial</vt:lpstr>
      <vt:lpstr>Cambria Math</vt:lpstr>
      <vt:lpstr>Comic Sans MS</vt:lpstr>
      <vt:lpstr>Tahoma</vt:lpstr>
      <vt:lpstr>Times New Roman</vt:lpstr>
      <vt:lpstr>Wingdings</vt:lpstr>
      <vt:lpstr>Office 主题​​</vt:lpstr>
      <vt:lpstr>BMP 图象</vt:lpstr>
      <vt:lpstr>公式</vt:lpstr>
      <vt:lpstr>BMP 图像</vt:lpstr>
      <vt:lpstr>文档</vt:lpstr>
      <vt:lpstr>Equation</vt:lpstr>
      <vt:lpstr>位图图像</vt:lpstr>
      <vt:lpstr>数字逻辑与数字系统</vt:lpstr>
      <vt:lpstr>1.3常用编码</vt:lpstr>
      <vt:lpstr>PowerPoint 演示文稿</vt:lpstr>
      <vt:lpstr>PowerPoint 演示文稿</vt:lpstr>
      <vt:lpstr>PowerPoint 演示文稿</vt:lpstr>
      <vt:lpstr>复合逻辑运算</vt:lpstr>
      <vt:lpstr>1.4.3 复合逻辑运算</vt:lpstr>
      <vt:lpstr>1.4.3 复合逻辑运算</vt:lpstr>
      <vt:lpstr>1.4.4 逻辑代数的基本公式和常用公式</vt:lpstr>
      <vt:lpstr>1.4.4 逻辑代数的基本公式和常用公式</vt:lpstr>
      <vt:lpstr>1.4.4 逻辑代数的基本公式和常用公式</vt:lpstr>
      <vt:lpstr>1.4.4 逻辑代数的基本公式和常用公式</vt:lpstr>
      <vt:lpstr>1.4.4 逻辑代数的基本公式和常用公式</vt:lpstr>
      <vt:lpstr>1.4.5 逻辑函数的表示方法</vt:lpstr>
      <vt:lpstr>1.4.5 逻辑函数的表示方法</vt:lpstr>
      <vt:lpstr>PowerPoint 演示文稿</vt:lpstr>
      <vt:lpstr>最小项与真值表</vt:lpstr>
      <vt:lpstr>三变量、四变量卡诺图</vt:lpstr>
      <vt:lpstr>PowerPoint 演示文稿</vt:lpstr>
      <vt:lpstr>加法器</vt:lpstr>
      <vt:lpstr>加法器</vt:lpstr>
      <vt:lpstr>PowerPoint 演示文稿</vt:lpstr>
      <vt:lpstr>4.1.1普通编码器</vt:lpstr>
      <vt:lpstr>4.1.2 优先编码器</vt:lpstr>
      <vt:lpstr>PowerPoint 演示文稿</vt:lpstr>
      <vt:lpstr>4.2 译码器</vt:lpstr>
      <vt:lpstr>2） 二—十进制译码器</vt:lpstr>
      <vt:lpstr>PowerPoint 演示文稿</vt:lpstr>
      <vt:lpstr>4.4 数据选择器</vt:lpstr>
      <vt:lpstr>4.4 数据选择器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5.2 时序电路的分类</vt:lpstr>
      <vt:lpstr>5.2 时序电路的分类</vt:lpstr>
      <vt:lpstr>PowerPoint 演示文稿</vt:lpstr>
      <vt:lpstr>5.5.4 移位寄存器型计数器</vt:lpstr>
      <vt:lpstr>PowerPoint 演示文稿</vt:lpstr>
      <vt:lpstr>5.5.4 移位寄存器型计数器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1.3常用编码</dc:title>
  <dc:creator>Admin</dc:creator>
  <cp:lastModifiedBy>Microsoft Office User</cp:lastModifiedBy>
  <cp:revision>3</cp:revision>
  <dcterms:created xsi:type="dcterms:W3CDTF">2025-09-22T09:59:09Z</dcterms:created>
  <dcterms:modified xsi:type="dcterms:W3CDTF">2025-12-27T10:48:50Z</dcterms:modified>
</cp:coreProperties>
</file>