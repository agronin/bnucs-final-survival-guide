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50" r:id="rId1"/>
  </p:sldMasterIdLst>
  <p:notesMasterIdLst>
    <p:notesMasterId r:id="rId16"/>
  </p:notesMasterIdLst>
  <p:handoutMasterIdLst>
    <p:handoutMasterId r:id="rId17"/>
  </p:handoutMasterIdLst>
  <p:sldIdLst>
    <p:sldId id="256" r:id="rId2"/>
    <p:sldId id="1605" r:id="rId3"/>
    <p:sldId id="1597" r:id="rId4"/>
    <p:sldId id="1598" r:id="rId5"/>
    <p:sldId id="1606" r:id="rId6"/>
    <p:sldId id="1607" r:id="rId7"/>
    <p:sldId id="1608" r:id="rId8"/>
    <p:sldId id="1609" r:id="rId9"/>
    <p:sldId id="1610" r:id="rId10"/>
    <p:sldId id="1611" r:id="rId11"/>
    <p:sldId id="1620" r:id="rId12"/>
    <p:sldId id="1617" r:id="rId13"/>
    <p:sldId id="1614" r:id="rId14"/>
    <p:sldId id="1621" r:id="rId15"/>
  </p:sldIdLst>
  <p:sldSz cx="12192000" cy="6858000"/>
  <p:notesSz cx="6858000" cy="99472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3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6699"/>
    <a:srgbClr val="0066FF"/>
    <a:srgbClr val="C6913A"/>
    <a:srgbClr val="0000FF"/>
    <a:srgbClr val="4986CF"/>
    <a:srgbClr val="5B7BE3"/>
    <a:srgbClr val="50B5E2"/>
    <a:srgbClr val="1B7AA5"/>
    <a:srgbClr val="006600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39" autoAdjust="0"/>
    <p:restoredTop sz="81023" autoAdjust="0"/>
  </p:normalViewPr>
  <p:slideViewPr>
    <p:cSldViewPr>
      <p:cViewPr>
        <p:scale>
          <a:sx n="75" d="100"/>
          <a:sy n="75" d="100"/>
        </p:scale>
        <p:origin x="2645" y="859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3" d="100"/>
          <a:sy n="63" d="100"/>
        </p:scale>
        <p:origin x="-1915" y="-77"/>
      </p:cViewPr>
      <p:guideLst>
        <p:guide orient="horz" pos="3133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7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hi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97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9911"/>
            <a:ext cx="2971800" cy="497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bye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9449911"/>
            <a:ext cx="2971800" cy="497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fld id="{E2B571F6-0F46-43D6-BF59-2C8F4E9239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87679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7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hi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97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03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" y="746125"/>
            <a:ext cx="6629400" cy="3730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724956"/>
            <a:ext cx="5029200" cy="4476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9911"/>
            <a:ext cx="2971800" cy="497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bye</a:t>
            </a: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449911"/>
            <a:ext cx="2971800" cy="497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fld id="{46CE8C4E-4E2B-4FAA-924F-F78D103AAC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24919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spcBef>
                <a:spcPts val="500"/>
              </a:spcBef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1pPr>
            <a:lvl2pPr marL="742950" indent="-285750" eaLnBrk="0" hangingPunct="0">
              <a:spcBef>
                <a:spcPts val="500"/>
              </a:spcBef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ts val="500"/>
              </a:spcBef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ts val="500"/>
              </a:spcBef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8AFE70DC-C7E3-4C03-93E4-B49EBC9D86EE}" type="slidenum">
              <a:rPr lang="en-US" altLang="zh-CN" sz="1200" smtClean="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1</a:t>
            </a:fld>
            <a:endParaRPr lang="en-US" altLang="zh-CN" sz="1200">
              <a:latin typeface="Times New Roman" pitchFamily="18" charset="0"/>
            </a:endParaRPr>
          </a:p>
        </p:txBody>
      </p:sp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6819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6495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33692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4807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1206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9175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85238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47972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60497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68552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734855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97216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0540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7"/>
          <p:cNvSpPr>
            <a:spLocks noChangeArrowheads="1"/>
          </p:cNvSpPr>
          <p:nvPr userDrawn="1"/>
        </p:nvSpPr>
        <p:spPr bwMode="auto">
          <a:xfrm>
            <a:off x="2641600" y="4191000"/>
            <a:ext cx="74168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87338" indent="-287338">
              <a:lnSpc>
                <a:spcPct val="102000"/>
              </a:lnSpc>
              <a:spcBef>
                <a:spcPct val="20000"/>
              </a:spcBef>
              <a:buClr>
                <a:srgbClr val="808080"/>
              </a:buClr>
              <a:buSzPct val="60000"/>
              <a:buFont typeface="Wingdings" pitchFamily="2" charset="2"/>
              <a:buChar char="n"/>
            </a:pPr>
            <a:endParaRPr lang="en-GB" altLang="zh-CN" sz="1600"/>
          </a:p>
        </p:txBody>
      </p:sp>
      <p:sp>
        <p:nvSpPr>
          <p:cNvPr id="1946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0" y="2743200"/>
            <a:ext cx="12192000" cy="1600200"/>
          </a:xfrm>
        </p:spPr>
        <p:txBody>
          <a:bodyPr anchor="ctr"/>
          <a:lstStyle>
            <a:lvl1pPr>
              <a:defRPr sz="44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defRPr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582400" y="6486525"/>
            <a:ext cx="609600" cy="381000"/>
          </a:xfr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41BCACC2-EB2E-41B5-88CE-73A61AB12F5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2180422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F4B451-ED34-44AC-A294-F69DDAD52F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547061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6CA548-88A0-4B76-ACB8-541D048795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3768565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0" y="1066800"/>
            <a:ext cx="59944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066800"/>
            <a:ext cx="59944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28CAA-8BE4-46E1-93AA-6E4772B53CB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8041829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215D8D-A7E5-4C44-8276-4D9C4CFAE0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862110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491312-4604-4E58-8319-6E38FD6FBB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2619519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EDC48A-AC36-4DC7-9F8C-4BFF4C0342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001754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AD5092-F570-4E83-87BB-25B42F38CCC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8187561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8160E3-5837-415F-9BBB-C137EFF193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292862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DD35B4-CD61-434F-B263-5E6E207B21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1963237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152400"/>
            <a:ext cx="3048000" cy="6477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52400"/>
            <a:ext cx="8940800" cy="6477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E8452F-4105-48B6-93DB-6861893DE9B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976153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3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28" b="36090"/>
          <a:stretch>
            <a:fillRect/>
          </a:stretch>
        </p:blipFill>
        <p:spPr bwMode="auto">
          <a:xfrm>
            <a:off x="0" y="6048376"/>
            <a:ext cx="1727200" cy="80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203200" y="152400"/>
            <a:ext cx="11804651" cy="838200"/>
          </a:xfrm>
          <a:prstGeom prst="rect">
            <a:avLst/>
          </a:prstGeom>
          <a:solidFill>
            <a:srgbClr val="99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066800"/>
            <a:ext cx="12192000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</p:txBody>
      </p:sp>
      <p:sp>
        <p:nvSpPr>
          <p:cNvPr id="1844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363200" y="640080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400">
                <a:latin typeface="Tahoma" pitchFamily="34" charset="0"/>
                <a:ea typeface="宋体" charset="-122"/>
              </a:defRPr>
            </a:lvl1pPr>
          </a:lstStyle>
          <a:p>
            <a:pPr>
              <a:defRPr/>
            </a:pPr>
            <a:fld id="{3C3F5D21-47BA-43E3-9A7C-87A4E15DF7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63" r:id="rId2"/>
    <p:sldLayoutId id="2147483964" r:id="rId3"/>
    <p:sldLayoutId id="2147483965" r:id="rId4"/>
    <p:sldLayoutId id="2147483966" r:id="rId5"/>
    <p:sldLayoutId id="2147483967" r:id="rId6"/>
    <p:sldLayoutId id="2147483968" r:id="rId7"/>
    <p:sldLayoutId id="2147483969" r:id="rId8"/>
    <p:sldLayoutId id="2147483970" r:id="rId9"/>
    <p:sldLayoutId id="2147483971" r:id="rId10"/>
    <p:sldLayoutId id="2147483972" r:id="rId11"/>
  </p:sldLayoutIdLst>
  <p:transition spd="med"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808080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690563" indent="-233363" algn="l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SzPct val="55000"/>
        <a:buFont typeface="Wingdings" pitchFamily="2" charset="2"/>
        <a:buChar char="n"/>
        <a:defRPr>
          <a:solidFill>
            <a:schemeClr val="tx1"/>
          </a:solidFill>
          <a:latin typeface="+mn-lt"/>
          <a:cs typeface="+mn-cs"/>
        </a:defRPr>
      </a:lvl2pPr>
      <a:lvl3pPr marL="1084263" indent="-16986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3pPr>
      <a:lvl4pPr marL="1541463" indent="-16986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5000"/>
        <a:buFont typeface="Wingdings" pitchFamily="2" charset="2"/>
        <a:buChar char="n"/>
        <a:defRPr sz="14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0C0C0"/>
        </a:buClr>
        <a:buSzPct val="50000"/>
        <a:buFont typeface="Wingdings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0C0C0"/>
        </a:buClr>
        <a:buSzPct val="50000"/>
        <a:buFont typeface="Wingdings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0C0C0"/>
        </a:buClr>
        <a:buSzPct val="50000"/>
        <a:buFont typeface="Wingdings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0C0C0"/>
        </a:buClr>
        <a:buSzPct val="50000"/>
        <a:buFont typeface="Wingdings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0C0C0"/>
        </a:buClr>
        <a:buSzPct val="50000"/>
        <a:buFont typeface="Wingdings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783" name="Rectangle 7"/>
          <p:cNvSpPr>
            <a:spLocks noGrp="1" noChangeArrowheads="1"/>
          </p:cNvSpPr>
          <p:nvPr>
            <p:ph type="title"/>
          </p:nvPr>
        </p:nvSpPr>
        <p:spPr>
          <a:xfrm>
            <a:off x="18114" y="1828800"/>
            <a:ext cx="12192000" cy="1600200"/>
          </a:xfrm>
          <a:solidFill>
            <a:srgbClr val="336699"/>
          </a:solidFill>
        </p:spPr>
        <p:txBody>
          <a:bodyPr/>
          <a:lstStyle/>
          <a:p>
            <a:pPr eaLnBrk="1" hangingPunct="1">
              <a:defRPr/>
            </a:pPr>
            <a:r>
              <a:rPr lang="zh-CN" altLang="en-US" sz="5400" dirty="0"/>
              <a:t>第一讲：</a:t>
            </a:r>
            <a:r>
              <a:rPr lang="zh-CN" altLang="zh-CN" sz="5400" dirty="0"/>
              <a:t>数字逻辑与</a:t>
            </a:r>
            <a:r>
              <a:rPr lang="zh-CN" altLang="en-US" sz="5400" dirty="0"/>
              <a:t>数字系统</a:t>
            </a:r>
            <a:endParaRPr lang="en-US" altLang="zh-CN" sz="4000" dirty="0">
              <a:ea typeface="宋体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27848" y="4149080"/>
            <a:ext cx="1954381" cy="662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2024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 秋季 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806945-462E-4FF6-89E3-1D042DEDE04A}"/>
              </a:ext>
            </a:extLst>
          </p:cNvPr>
          <p:cNvSpPr txBox="1">
            <a:spLocks/>
          </p:cNvSpPr>
          <p:nvPr/>
        </p:nvSpPr>
        <p:spPr>
          <a:xfrm>
            <a:off x="277255" y="164961"/>
            <a:ext cx="11161240" cy="566603"/>
          </a:xfrm>
          <a:prstGeom prst="rect">
            <a:avLst/>
          </a:prstGeom>
          <a:solidFill>
            <a:srgbClr val="0070C0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/>
            <a:r>
              <a:rPr lang="zh-CN" altLang="en-US" dirty="0"/>
              <a:t>实验课安排</a:t>
            </a:r>
            <a:endParaRPr lang="zh-CN" altLang="en-US" kern="0" dirty="0"/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EC3F2F19-668E-4DC3-9C4C-45A1F7F5B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92" y="764704"/>
            <a:ext cx="10657184" cy="568863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tx1"/>
                </a:solidFill>
              </a:rPr>
              <a:t>地点：电子楼</a:t>
            </a:r>
            <a:r>
              <a:rPr lang="en-US" altLang="zh-CN" sz="2400" b="1" dirty="0">
                <a:solidFill>
                  <a:schemeClr val="tx1"/>
                </a:solidFill>
              </a:rPr>
              <a:t>204/206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tx1"/>
                </a:solidFill>
              </a:rPr>
              <a:t>时间：</a:t>
            </a:r>
            <a:r>
              <a:rPr lang="en-US" altLang="zh-CN" sz="2400" b="1" dirty="0">
                <a:solidFill>
                  <a:schemeClr val="tx1"/>
                </a:solidFill>
              </a:rPr>
              <a:t>10-17</a:t>
            </a:r>
            <a:r>
              <a:rPr lang="zh-CN" altLang="en-US" sz="2400" b="1" dirty="0">
                <a:solidFill>
                  <a:schemeClr val="tx1"/>
                </a:solidFill>
              </a:rPr>
              <a:t>周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tx1"/>
                </a:solidFill>
              </a:rPr>
              <a:t>分组：自行分组</a:t>
            </a:r>
            <a:r>
              <a:rPr lang="en-US" altLang="zh-CN" sz="2400" b="1" dirty="0">
                <a:solidFill>
                  <a:schemeClr val="tx1"/>
                </a:solidFill>
              </a:rPr>
              <a:t>/2</a:t>
            </a:r>
            <a:r>
              <a:rPr lang="zh-CN" altLang="en-US" sz="2400" b="1" dirty="0">
                <a:solidFill>
                  <a:schemeClr val="tx1"/>
                </a:solidFill>
              </a:rPr>
              <a:t>人一组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tx1"/>
                </a:solidFill>
              </a:rPr>
              <a:t>代码提交：当堂提交（提交的质量与顺序决定成绩）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tx1"/>
                </a:solidFill>
              </a:rPr>
              <a:t>实验报告：电子版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chemeClr val="tx1"/>
                </a:solidFill>
              </a:rPr>
              <a:t>命名：</a:t>
            </a:r>
            <a:r>
              <a:rPr lang="zh-CN" sz="2400" b="1" dirty="0">
                <a:solidFill>
                  <a:schemeClr val="tx1"/>
                </a:solidFill>
              </a:rPr>
              <a:t>第</a:t>
            </a:r>
            <a:r>
              <a:rPr lang="en-US" altLang="zh-CN" sz="2400" b="1" dirty="0">
                <a:solidFill>
                  <a:schemeClr val="tx1"/>
                </a:solidFill>
              </a:rPr>
              <a:t>x</a:t>
            </a:r>
            <a:r>
              <a:rPr lang="zh-CN" altLang="en-US" sz="2400" b="1" dirty="0">
                <a:solidFill>
                  <a:schemeClr val="tx1"/>
                </a:solidFill>
              </a:rPr>
              <a:t>组</a:t>
            </a:r>
            <a:r>
              <a:rPr lang="en-US" altLang="zh-CN" sz="2400" b="1" dirty="0">
                <a:solidFill>
                  <a:schemeClr val="tx1"/>
                </a:solidFill>
              </a:rPr>
              <a:t>-</a:t>
            </a:r>
            <a:r>
              <a:rPr lang="zh-CN" altLang="en-US" sz="2400" b="1" dirty="0">
                <a:solidFill>
                  <a:schemeClr val="tx1"/>
                </a:solidFill>
              </a:rPr>
              <a:t>姓名</a:t>
            </a:r>
            <a:r>
              <a:rPr lang="en-US" altLang="zh-CN" sz="2400" b="1" dirty="0">
                <a:solidFill>
                  <a:schemeClr val="tx1"/>
                </a:solidFill>
              </a:rPr>
              <a:t>A</a:t>
            </a:r>
            <a:r>
              <a:rPr lang="en-US" altLang="zh-CN" sz="2400" b="1" dirty="0">
                <a:solidFill>
                  <a:schemeClr val="tx1"/>
                </a:solidFill>
                <a:sym typeface="+mn-ea"/>
              </a:rPr>
              <a:t>-</a:t>
            </a:r>
            <a:r>
              <a:rPr lang="zh-CN" altLang="en-US" sz="2400" b="1" dirty="0">
                <a:solidFill>
                  <a:schemeClr val="tx1"/>
                </a:solidFill>
                <a:sym typeface="+mn-ea"/>
              </a:rPr>
              <a:t>姓名</a:t>
            </a:r>
            <a:r>
              <a:rPr lang="en-US" altLang="zh-CN" sz="2400" b="1" dirty="0">
                <a:solidFill>
                  <a:schemeClr val="tx1"/>
                </a:solidFill>
                <a:sym typeface="+mn-ea"/>
              </a:rPr>
              <a:t>B</a:t>
            </a:r>
            <a:r>
              <a:rPr lang="en-US" altLang="zh-CN" sz="2400" b="1" dirty="0">
                <a:solidFill>
                  <a:schemeClr val="tx1"/>
                </a:solidFill>
              </a:rPr>
              <a:t>-</a:t>
            </a:r>
            <a:r>
              <a:rPr lang="zh-CN" altLang="en-US" sz="2400" b="1" dirty="0">
                <a:solidFill>
                  <a:schemeClr val="tx1"/>
                </a:solidFill>
              </a:rPr>
              <a:t>第</a:t>
            </a:r>
            <a:r>
              <a:rPr lang="en-US" altLang="zh-CN" sz="2400" b="1" dirty="0">
                <a:solidFill>
                  <a:schemeClr val="tx1"/>
                </a:solidFill>
              </a:rPr>
              <a:t>x</a:t>
            </a:r>
            <a:r>
              <a:rPr lang="zh-CN" altLang="en-US" sz="2400" b="1" dirty="0">
                <a:solidFill>
                  <a:schemeClr val="tx1"/>
                </a:solidFill>
              </a:rPr>
              <a:t>周实验（每组提交一份）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chemeClr val="tx1"/>
                </a:solidFill>
              </a:rPr>
              <a:t>提交至邮箱：</a:t>
            </a:r>
            <a:r>
              <a:rPr lang="en-US" altLang="zh-CN" sz="2400" b="1" dirty="0">
                <a:solidFill>
                  <a:schemeClr val="tx1"/>
                </a:solidFill>
              </a:rPr>
              <a:t> Noob_Ryllis@163.com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tx1"/>
                </a:solidFill>
              </a:rPr>
              <a:t>提交时间：每周五</a:t>
            </a:r>
            <a:r>
              <a:rPr lang="en-US" altLang="zh-CN" sz="2400" b="1" dirty="0">
                <a:solidFill>
                  <a:schemeClr val="tx1"/>
                </a:solidFill>
              </a:rPr>
              <a:t>24:00</a:t>
            </a:r>
            <a:r>
              <a:rPr lang="zh-CN" altLang="en-US" sz="2400" b="1" dirty="0">
                <a:solidFill>
                  <a:schemeClr val="tx1"/>
                </a:solidFill>
              </a:rPr>
              <a:t>前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tx1"/>
                </a:solidFill>
              </a:rPr>
              <a:t>截止时间：</a:t>
            </a:r>
            <a:r>
              <a:rPr lang="en-US" altLang="zh-CN" sz="2400" b="1" dirty="0">
                <a:solidFill>
                  <a:srgbClr val="FF0000"/>
                </a:solidFill>
              </a:rPr>
              <a:t>12</a:t>
            </a:r>
            <a:r>
              <a:rPr lang="zh-CN" altLang="en-US" sz="2400" b="1" dirty="0">
                <a:solidFill>
                  <a:srgbClr val="FF0000"/>
                </a:solidFill>
              </a:rPr>
              <a:t>月</a:t>
            </a:r>
            <a:r>
              <a:rPr lang="en-US" altLang="zh-CN" sz="2400" b="1" dirty="0">
                <a:solidFill>
                  <a:srgbClr val="FF0000"/>
                </a:solidFill>
              </a:rPr>
              <a:t>31</a:t>
            </a:r>
            <a:r>
              <a:rPr lang="zh-CN" altLang="en-US" sz="2400" b="1" dirty="0">
                <a:solidFill>
                  <a:srgbClr val="FF0000"/>
                </a:solidFill>
              </a:rPr>
              <a:t>日</a:t>
            </a:r>
            <a:r>
              <a:rPr lang="en-US" altLang="zh-CN" sz="2400" b="1" dirty="0">
                <a:solidFill>
                  <a:srgbClr val="FF0000"/>
                </a:solidFill>
              </a:rPr>
              <a:t>24:00</a:t>
            </a:r>
            <a:r>
              <a:rPr lang="zh-CN" altLang="en-US" sz="2400" b="1" dirty="0">
                <a:solidFill>
                  <a:srgbClr val="FF0000"/>
                </a:solidFill>
              </a:rPr>
              <a:t>前</a:t>
            </a:r>
          </a:p>
        </p:txBody>
      </p:sp>
    </p:spTree>
    <p:extLst>
      <p:ext uri="{BB962C8B-B14F-4D97-AF65-F5344CB8AC3E}">
        <p14:creationId xmlns:p14="http://schemas.microsoft.com/office/powerpoint/2010/main" val="78370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806945-462E-4FF6-89E3-1D042DEDE04A}"/>
              </a:ext>
            </a:extLst>
          </p:cNvPr>
          <p:cNvSpPr txBox="1">
            <a:spLocks/>
          </p:cNvSpPr>
          <p:nvPr/>
        </p:nvSpPr>
        <p:spPr>
          <a:xfrm>
            <a:off x="277255" y="164961"/>
            <a:ext cx="11161240" cy="566603"/>
          </a:xfrm>
          <a:prstGeom prst="rect">
            <a:avLst/>
          </a:prstGeom>
          <a:solidFill>
            <a:srgbClr val="0070C0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/>
            <a:r>
              <a:rPr lang="zh-CN" altLang="en-US" dirty="0"/>
              <a:t>大纲</a:t>
            </a:r>
            <a:endParaRPr lang="zh-CN" altLang="en-US" kern="0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AB1D8E3-1C25-4981-9247-1D1E3EA59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92" y="1124744"/>
            <a:ext cx="10453152" cy="4608512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en-US" altLang="zh-CN" sz="3200" dirty="0">
                <a:solidFill>
                  <a:schemeClr val="tx1"/>
                </a:solidFill>
              </a:rPr>
              <a:t>  </a:t>
            </a:r>
            <a:r>
              <a:rPr lang="zh-CN" altLang="en-US" sz="3200" dirty="0">
                <a:solidFill>
                  <a:schemeClr val="tx1"/>
                </a:solidFill>
              </a:rPr>
              <a:t>实验课程说明</a:t>
            </a:r>
          </a:p>
          <a:p>
            <a:pPr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en-US" altLang="zh-CN" sz="3200" dirty="0">
                <a:solidFill>
                  <a:schemeClr val="tx1"/>
                </a:solidFill>
              </a:rPr>
              <a:t>  </a:t>
            </a:r>
            <a:r>
              <a:rPr lang="zh-CN" altLang="en-US" sz="3200" dirty="0">
                <a:solidFill>
                  <a:schemeClr val="tx1"/>
                </a:solidFill>
              </a:rPr>
              <a:t>课前准备</a:t>
            </a:r>
          </a:p>
          <a:p>
            <a:pPr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en-US" altLang="zh-CN" sz="3200" dirty="0">
                <a:solidFill>
                  <a:schemeClr val="tx1"/>
                </a:solidFill>
              </a:rPr>
              <a:t>  </a:t>
            </a:r>
            <a:r>
              <a:rPr lang="zh-CN" altLang="en-US" sz="3200" dirty="0">
                <a:solidFill>
                  <a:schemeClr val="tx1"/>
                </a:solidFill>
                <a:sym typeface="+mn-ea"/>
              </a:rPr>
              <a:t>逻辑设计基础</a:t>
            </a:r>
            <a:endParaRPr lang="en-US" altLang="zh-CN" sz="3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en-US" altLang="zh-CN" sz="3200" dirty="0">
                <a:solidFill>
                  <a:schemeClr val="tx1"/>
                </a:solidFill>
              </a:rPr>
              <a:t>  </a:t>
            </a:r>
            <a:r>
              <a:rPr lang="zh-CN" altLang="en-US" sz="3200" dirty="0">
                <a:solidFill>
                  <a:schemeClr val="tx1"/>
                </a:solidFill>
              </a:rPr>
              <a:t>图形元件的电路仿真入门</a:t>
            </a:r>
          </a:p>
          <a:p>
            <a:pPr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en-US" altLang="zh-CN" sz="3200" dirty="0">
                <a:solidFill>
                  <a:schemeClr val="tx1"/>
                </a:solidFill>
              </a:rPr>
              <a:t>  </a:t>
            </a:r>
            <a:r>
              <a:rPr lang="zh-CN" altLang="en-US" sz="3200" dirty="0">
                <a:solidFill>
                  <a:schemeClr val="tx1"/>
                </a:solidFill>
              </a:rPr>
              <a:t>仿真实验练习</a:t>
            </a:r>
          </a:p>
        </p:txBody>
      </p:sp>
    </p:spTree>
    <p:extLst>
      <p:ext uri="{BB962C8B-B14F-4D97-AF65-F5344CB8AC3E}">
        <p14:creationId xmlns:p14="http://schemas.microsoft.com/office/powerpoint/2010/main" val="3427705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806945-462E-4FF6-89E3-1D042DEDE04A}"/>
              </a:ext>
            </a:extLst>
          </p:cNvPr>
          <p:cNvSpPr txBox="1">
            <a:spLocks/>
          </p:cNvSpPr>
          <p:nvPr/>
        </p:nvSpPr>
        <p:spPr>
          <a:xfrm>
            <a:off x="277255" y="164961"/>
            <a:ext cx="11161240" cy="566603"/>
          </a:xfrm>
          <a:prstGeom prst="rect">
            <a:avLst/>
          </a:prstGeom>
          <a:solidFill>
            <a:srgbClr val="0070C0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/>
            <a:r>
              <a:rPr lang="zh-CN" altLang="en-US" dirty="0"/>
              <a:t>实验内容概览</a:t>
            </a:r>
            <a:endParaRPr lang="zh-CN" altLang="en-US" kern="0" dirty="0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122E4E16-DBCD-4951-9D16-9D9302B96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207" y="1196752"/>
            <a:ext cx="10969200" cy="244827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</a:rPr>
              <a:t>基础实验：</a:t>
            </a:r>
            <a:r>
              <a:rPr lang="en-US" altLang="zh-CN" sz="2800" b="1" dirty="0">
                <a:solidFill>
                  <a:schemeClr val="tx1"/>
                </a:solidFill>
              </a:rPr>
              <a:t>4</a:t>
            </a:r>
            <a:r>
              <a:rPr lang="zh-CN" altLang="en-US" sz="2800" b="1" dirty="0">
                <a:solidFill>
                  <a:schemeClr val="tx1"/>
                </a:solidFill>
              </a:rPr>
              <a:t>周，每周</a:t>
            </a:r>
            <a:r>
              <a:rPr lang="en-US" altLang="zh-CN" sz="2800" b="1" dirty="0">
                <a:solidFill>
                  <a:schemeClr val="tx1"/>
                </a:solidFill>
              </a:rPr>
              <a:t>10</a:t>
            </a:r>
            <a:r>
              <a:rPr lang="zh-CN" altLang="en-US" sz="2800" b="1" dirty="0">
                <a:solidFill>
                  <a:schemeClr val="tx1"/>
                </a:solidFill>
              </a:rPr>
              <a:t>分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   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</a:rPr>
              <a:t>综合设计实验：数字钟，</a:t>
            </a:r>
            <a:r>
              <a:rPr lang="en-US" altLang="zh-CN" sz="2800" b="1" dirty="0">
                <a:solidFill>
                  <a:schemeClr val="tx1"/>
                </a:solidFill>
              </a:rPr>
              <a:t>50</a:t>
            </a:r>
            <a:r>
              <a:rPr lang="zh-CN" altLang="en-US" sz="2800" b="1" dirty="0">
                <a:solidFill>
                  <a:schemeClr val="tx1"/>
                </a:solidFill>
              </a:rPr>
              <a:t>分</a:t>
            </a:r>
          </a:p>
        </p:txBody>
      </p:sp>
    </p:spTree>
    <p:extLst>
      <p:ext uri="{BB962C8B-B14F-4D97-AF65-F5344CB8AC3E}">
        <p14:creationId xmlns:p14="http://schemas.microsoft.com/office/powerpoint/2010/main" val="2861556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806945-462E-4FF6-89E3-1D042DEDE04A}"/>
              </a:ext>
            </a:extLst>
          </p:cNvPr>
          <p:cNvSpPr txBox="1">
            <a:spLocks/>
          </p:cNvSpPr>
          <p:nvPr/>
        </p:nvSpPr>
        <p:spPr>
          <a:xfrm>
            <a:off x="277255" y="164961"/>
            <a:ext cx="11161240" cy="566603"/>
          </a:xfrm>
          <a:prstGeom prst="rect">
            <a:avLst/>
          </a:prstGeom>
          <a:solidFill>
            <a:srgbClr val="0070C0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/>
            <a:r>
              <a:rPr lang="zh-CN" altLang="en-US" dirty="0"/>
              <a:t>考核方式与成绩评定</a:t>
            </a:r>
            <a:endParaRPr lang="zh-CN" altLang="en-US" kern="0" dirty="0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D69D7BAD-F7B6-4C37-900B-629B990B6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1049400"/>
            <a:ext cx="10969200" cy="4759200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tx1"/>
                </a:solidFill>
              </a:rPr>
              <a:t>考核方式：实验无期末考试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tx1"/>
                </a:solidFill>
              </a:rPr>
              <a:t>总成绩：满分</a:t>
            </a:r>
            <a:r>
              <a:rPr lang="en-US" altLang="zh-CN" sz="2400" b="1" dirty="0">
                <a:solidFill>
                  <a:schemeClr val="tx1"/>
                </a:solidFill>
              </a:rPr>
              <a:t>100</a:t>
            </a:r>
            <a:r>
              <a:rPr lang="zh-CN" altLang="en-US" sz="2400" b="1" dirty="0">
                <a:solidFill>
                  <a:schemeClr val="tx1"/>
                </a:solidFill>
              </a:rPr>
              <a:t>分（出勤</a:t>
            </a:r>
            <a:r>
              <a:rPr lang="en-US" altLang="zh-CN" sz="2400" b="1" dirty="0">
                <a:solidFill>
                  <a:schemeClr val="tx1"/>
                </a:solidFill>
              </a:rPr>
              <a:t>10%</a:t>
            </a:r>
            <a:r>
              <a:rPr lang="zh-CN" altLang="en-US" sz="2400" b="1" dirty="0">
                <a:solidFill>
                  <a:schemeClr val="tx1"/>
                </a:solidFill>
              </a:rPr>
              <a:t>，基础实验</a:t>
            </a:r>
            <a:r>
              <a:rPr lang="en-US" altLang="zh-CN" sz="2400" b="1" dirty="0">
                <a:solidFill>
                  <a:schemeClr val="tx1"/>
                </a:solidFill>
              </a:rPr>
              <a:t>40%</a:t>
            </a:r>
            <a:r>
              <a:rPr lang="zh-CN" altLang="en-US" sz="2400" b="1" dirty="0">
                <a:solidFill>
                  <a:schemeClr val="tx1"/>
                </a:solidFill>
              </a:rPr>
              <a:t>，综合设计实验</a:t>
            </a:r>
            <a:r>
              <a:rPr lang="en-US" altLang="zh-CN" sz="2400" b="1" dirty="0">
                <a:solidFill>
                  <a:schemeClr val="tx1"/>
                </a:solidFill>
              </a:rPr>
              <a:t>50%</a:t>
            </a:r>
            <a:r>
              <a:rPr lang="zh-CN" altLang="en-US" sz="2400" b="1" dirty="0">
                <a:solidFill>
                  <a:schemeClr val="tx1"/>
                </a:solidFill>
              </a:rPr>
              <a:t>）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200" b="1" dirty="0">
                <a:solidFill>
                  <a:schemeClr val="tx1"/>
                </a:solidFill>
              </a:rPr>
              <a:t>基础实验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200" b="1" dirty="0">
                <a:solidFill>
                  <a:schemeClr val="tx1"/>
                </a:solidFill>
              </a:rPr>
              <a:t>      </a:t>
            </a:r>
            <a:r>
              <a:rPr lang="zh-CN" altLang="en-US" sz="2200" b="1" dirty="0">
                <a:solidFill>
                  <a:schemeClr val="tx1"/>
                </a:solidFill>
              </a:rPr>
              <a:t>实验</a:t>
            </a:r>
            <a:r>
              <a:rPr lang="zh-CN" altLang="en-US" sz="2200" b="1" dirty="0">
                <a:solidFill>
                  <a:schemeClr val="accent1">
                    <a:lumMod val="75000"/>
                  </a:schemeClr>
                </a:solidFill>
              </a:rPr>
              <a:t>报告</a:t>
            </a:r>
            <a:r>
              <a:rPr lang="zh-CN" altLang="en-US" sz="2200" b="1" dirty="0">
                <a:solidFill>
                  <a:schemeClr val="tx1"/>
                </a:solidFill>
              </a:rPr>
              <a:t>：</a:t>
            </a:r>
            <a:r>
              <a:rPr lang="zh-CN" altLang="en-US" sz="2200" b="1" dirty="0">
                <a:solidFill>
                  <a:srgbClr val="FF0000"/>
                </a:solidFill>
              </a:rPr>
              <a:t>仿真</a:t>
            </a:r>
            <a:r>
              <a:rPr lang="zh-CN" altLang="en-US" sz="2200" b="1" dirty="0">
                <a:solidFill>
                  <a:schemeClr val="tx1"/>
                </a:solidFill>
              </a:rPr>
              <a:t>实现</a:t>
            </a:r>
            <a:r>
              <a:rPr lang="en-US" altLang="zh-CN" sz="2200" b="1" dirty="0">
                <a:solidFill>
                  <a:schemeClr val="tx1"/>
                </a:solidFill>
              </a:rPr>
              <a:t> = </a:t>
            </a:r>
            <a:r>
              <a:rPr lang="en-US" altLang="zh-CN" sz="2200" b="1" dirty="0">
                <a:solidFill>
                  <a:schemeClr val="accent1">
                    <a:lumMod val="75000"/>
                  </a:schemeClr>
                </a:solidFill>
              </a:rPr>
              <a:t>1</a:t>
            </a:r>
            <a:r>
              <a:rPr lang="en-US" altLang="zh-CN" sz="2200" b="1" dirty="0">
                <a:solidFill>
                  <a:schemeClr val="tx1"/>
                </a:solidFill>
              </a:rPr>
              <a:t> : </a:t>
            </a:r>
            <a:r>
              <a:rPr lang="en-US" altLang="zh-CN" sz="2200" b="1" dirty="0">
                <a:solidFill>
                  <a:srgbClr val="FF0000"/>
                </a:solidFill>
              </a:rPr>
              <a:t>4</a:t>
            </a:r>
            <a:endParaRPr lang="en-US" altLang="zh-CN" sz="2200" b="1" dirty="0">
              <a:solidFill>
                <a:schemeClr val="tx1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200" b="1" dirty="0">
                <a:solidFill>
                  <a:schemeClr val="tx1"/>
                </a:solidFill>
                <a:sym typeface="+mn-ea"/>
              </a:rPr>
              <a:t>	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200" b="1" dirty="0">
                <a:solidFill>
                  <a:schemeClr val="tx1"/>
                </a:solidFill>
                <a:sym typeface="+mn-ea"/>
              </a:rPr>
              <a:t>综合设计实验</a:t>
            </a:r>
            <a:endParaRPr lang="zh-CN" altLang="en-US" sz="2200" b="1" dirty="0">
              <a:solidFill>
                <a:schemeClr val="tx1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200" b="1" dirty="0">
                <a:solidFill>
                  <a:schemeClr val="tx1"/>
                </a:solidFill>
                <a:sym typeface="+mn-ea"/>
              </a:rPr>
              <a:t>      </a:t>
            </a:r>
            <a:r>
              <a:rPr lang="zh-CN" altLang="en-US" sz="2200" b="1" dirty="0">
                <a:solidFill>
                  <a:schemeClr val="tx1"/>
                </a:solidFill>
                <a:sym typeface="+mn-ea"/>
              </a:rPr>
              <a:t>实验</a:t>
            </a:r>
            <a:r>
              <a:rPr lang="zh-CN" altLang="en-US" sz="22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报告</a:t>
            </a:r>
            <a:r>
              <a:rPr lang="zh-CN" altLang="en-US" sz="2200" b="1" dirty="0">
                <a:solidFill>
                  <a:schemeClr val="tx1"/>
                </a:solidFill>
                <a:sym typeface="+mn-ea"/>
              </a:rPr>
              <a:t>：</a:t>
            </a:r>
            <a:r>
              <a:rPr lang="zh-CN" altLang="en-US" sz="2200" b="1" dirty="0">
                <a:solidFill>
                  <a:srgbClr val="FF0000"/>
                </a:solidFill>
                <a:sym typeface="+mn-ea"/>
              </a:rPr>
              <a:t>仿真</a:t>
            </a:r>
            <a:r>
              <a:rPr lang="zh-CN" altLang="en-US" sz="2200" b="1" dirty="0">
                <a:solidFill>
                  <a:schemeClr val="tx1"/>
                </a:solidFill>
                <a:sym typeface="+mn-ea"/>
              </a:rPr>
              <a:t>实现</a:t>
            </a:r>
            <a:r>
              <a:rPr lang="en-US" altLang="zh-CN" sz="2200" b="1" dirty="0">
                <a:solidFill>
                  <a:schemeClr val="tx1"/>
                </a:solidFill>
                <a:sym typeface="+mn-ea"/>
              </a:rPr>
              <a:t> = </a:t>
            </a:r>
            <a:r>
              <a:rPr lang="en-US" altLang="zh-CN" sz="22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sym typeface="+mn-ea"/>
              </a:rPr>
              <a:t> : </a:t>
            </a:r>
            <a:r>
              <a:rPr lang="en-US" altLang="zh-CN" sz="2200" b="1" dirty="0">
                <a:solidFill>
                  <a:srgbClr val="FF0000"/>
                </a:solidFill>
                <a:sym typeface="+mn-ea"/>
              </a:rPr>
              <a:t>3</a:t>
            </a:r>
            <a:endParaRPr lang="zh-CN" altLang="en-US" sz="2200" b="1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813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806945-462E-4FF6-89E3-1D042DEDE04A}"/>
              </a:ext>
            </a:extLst>
          </p:cNvPr>
          <p:cNvSpPr txBox="1">
            <a:spLocks/>
          </p:cNvSpPr>
          <p:nvPr/>
        </p:nvSpPr>
        <p:spPr>
          <a:xfrm>
            <a:off x="277255" y="164961"/>
            <a:ext cx="11161240" cy="566603"/>
          </a:xfrm>
          <a:prstGeom prst="rect">
            <a:avLst/>
          </a:prstGeom>
          <a:solidFill>
            <a:srgbClr val="0070C0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/>
            <a:r>
              <a:rPr lang="zh-CN" altLang="en-US" dirty="0"/>
              <a:t>实验报告格式</a:t>
            </a:r>
            <a:endParaRPr lang="zh-CN" altLang="en-US" kern="0" dirty="0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FA29D095-5476-49A6-8652-A0B7CD471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1124744"/>
            <a:ext cx="10969200" cy="4248472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>
                <a:solidFill>
                  <a:schemeClr val="tx1"/>
                </a:solidFill>
              </a:rPr>
              <a:t>实验报告名称：</a:t>
            </a:r>
            <a:r>
              <a:rPr lang="zh-CN" altLang="en-US" sz="2600" dirty="0">
                <a:solidFill>
                  <a:schemeClr val="tx1"/>
                </a:solidFill>
              </a:rPr>
              <a:t>（题目一</a:t>
            </a:r>
            <a:r>
              <a:rPr lang="en-US" altLang="zh-CN" sz="2600" dirty="0">
                <a:solidFill>
                  <a:schemeClr val="tx1"/>
                </a:solidFill>
              </a:rPr>
              <a:t> xxx</a:t>
            </a:r>
            <a:r>
              <a:rPr lang="zh-CN" altLang="en-US" sz="2600" dirty="0">
                <a:solidFill>
                  <a:schemeClr val="tx1"/>
                </a:solidFill>
              </a:rPr>
              <a:t>，题目二</a:t>
            </a:r>
            <a:r>
              <a:rPr lang="en-US" altLang="zh-CN" sz="2600" dirty="0">
                <a:solidFill>
                  <a:schemeClr val="tx1"/>
                </a:solidFill>
              </a:rPr>
              <a:t> xxx…</a:t>
            </a:r>
            <a:r>
              <a:rPr lang="zh-CN" altLang="en-US" sz="2600" dirty="0">
                <a:solidFill>
                  <a:schemeClr val="tx1"/>
                </a:solidFill>
              </a:rPr>
              <a:t>）</a:t>
            </a:r>
            <a:endParaRPr lang="zh-CN" altLang="en-US" sz="26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>
                <a:solidFill>
                  <a:schemeClr val="tx1"/>
                </a:solidFill>
              </a:rPr>
              <a:t>功能要求</a:t>
            </a:r>
            <a:r>
              <a:rPr lang="en-US" altLang="zh-CN" sz="2600" b="1" dirty="0">
                <a:solidFill>
                  <a:schemeClr val="tx1"/>
                </a:solidFill>
              </a:rPr>
              <a:t>/</a:t>
            </a:r>
            <a:r>
              <a:rPr lang="zh-CN" altLang="en-US" sz="2600" b="1" dirty="0">
                <a:solidFill>
                  <a:schemeClr val="tx1"/>
                </a:solidFill>
              </a:rPr>
              <a:t>工作原理：</a:t>
            </a:r>
            <a:r>
              <a:rPr lang="zh-CN" altLang="en-US" sz="2600" dirty="0">
                <a:solidFill>
                  <a:schemeClr val="tx1"/>
                </a:solidFill>
              </a:rPr>
              <a:t>（系统构成示意图及原理说明）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>
                <a:solidFill>
                  <a:schemeClr val="tx1"/>
                </a:solidFill>
              </a:rPr>
              <a:t>调试步骤及过程说明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>
                <a:solidFill>
                  <a:schemeClr val="tx1"/>
                </a:solidFill>
              </a:rPr>
              <a:t>代码清单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>
                <a:solidFill>
                  <a:schemeClr val="tx1"/>
                </a:solidFill>
              </a:rPr>
              <a:t>仿真结果截图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>
                <a:solidFill>
                  <a:schemeClr val="tx1"/>
                </a:solidFill>
              </a:rPr>
              <a:t>实验结果分析及其他问题说明</a:t>
            </a:r>
          </a:p>
        </p:txBody>
      </p:sp>
    </p:spTree>
    <p:extLst>
      <p:ext uri="{BB962C8B-B14F-4D97-AF65-F5344CB8AC3E}">
        <p14:creationId xmlns:p14="http://schemas.microsoft.com/office/powerpoint/2010/main" val="3170555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806945-462E-4FF6-89E3-1D042DEDE04A}"/>
              </a:ext>
            </a:extLst>
          </p:cNvPr>
          <p:cNvSpPr txBox="1">
            <a:spLocks/>
          </p:cNvSpPr>
          <p:nvPr/>
        </p:nvSpPr>
        <p:spPr>
          <a:xfrm>
            <a:off x="277255" y="164961"/>
            <a:ext cx="11161240" cy="566603"/>
          </a:xfrm>
          <a:prstGeom prst="rect">
            <a:avLst/>
          </a:prstGeom>
          <a:solidFill>
            <a:srgbClr val="0070C0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/>
            <a:r>
              <a:rPr lang="zh-CN" altLang="en-US" dirty="0"/>
              <a:t>课前准备</a:t>
            </a:r>
            <a:endParaRPr lang="zh-CN" altLang="en-US" kern="0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32DA3879-4EA0-4EFF-A64C-4B40C5561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127" y="1268760"/>
            <a:ext cx="10969200" cy="151216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1"/>
                </a:solidFill>
              </a:rPr>
              <a:t>  WIN</a:t>
            </a:r>
            <a:r>
              <a:rPr lang="zh-CN" altLang="en-US" sz="2400" b="1" dirty="0">
                <a:solidFill>
                  <a:schemeClr val="tx1"/>
                </a:solidFill>
              </a:rPr>
              <a:t>操作系统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2400" b="1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1"/>
                </a:solidFill>
              </a:rPr>
              <a:t>  QUARTUS 13.1</a:t>
            </a:r>
            <a:r>
              <a:rPr lang="zh-CN" altLang="en-US" sz="2400" b="1" dirty="0">
                <a:solidFill>
                  <a:schemeClr val="tx1"/>
                </a:solidFill>
              </a:rPr>
              <a:t>软件（本地电脑</a:t>
            </a:r>
            <a:r>
              <a:rPr lang="en-US" altLang="zh-CN" sz="2400" b="1" dirty="0">
                <a:solidFill>
                  <a:schemeClr val="tx1"/>
                </a:solidFill>
              </a:rPr>
              <a:t> ’D:\Qua’</a:t>
            </a:r>
            <a:r>
              <a:rPr lang="zh-CN" altLang="en-US" sz="2400" b="1" dirty="0">
                <a:solidFill>
                  <a:schemeClr val="tx1"/>
                </a:solidFill>
              </a:rPr>
              <a:t>）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7988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806945-462E-4FF6-89E3-1D042DEDE04A}"/>
              </a:ext>
            </a:extLst>
          </p:cNvPr>
          <p:cNvSpPr txBox="1">
            <a:spLocks/>
          </p:cNvSpPr>
          <p:nvPr/>
        </p:nvSpPr>
        <p:spPr>
          <a:xfrm>
            <a:off x="277255" y="164961"/>
            <a:ext cx="11161240" cy="566603"/>
          </a:xfrm>
          <a:prstGeom prst="rect">
            <a:avLst/>
          </a:prstGeom>
          <a:solidFill>
            <a:srgbClr val="0070C0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/>
            <a:r>
              <a:rPr lang="zh-CN" altLang="en-US" dirty="0">
                <a:sym typeface="+mn-ea"/>
              </a:rPr>
              <a:t>逻辑设计基础</a:t>
            </a:r>
            <a:endParaRPr lang="zh-CN" altLang="en-US" kern="0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890967CD-194D-46D1-ABE1-0F4783C2B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400" y="1049400"/>
            <a:ext cx="10969200" cy="47592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>
                <a:solidFill>
                  <a:schemeClr val="tx1"/>
                </a:solidFill>
              </a:rPr>
              <a:t>布尔代数运算符号及优先顺序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>
                <a:solidFill>
                  <a:schemeClr val="tx1"/>
                </a:solidFill>
              </a:rPr>
              <a:t>（</a:t>
            </a:r>
            <a:r>
              <a:rPr lang="en-US" altLang="zh-CN" sz="2400" b="1" dirty="0">
                <a:solidFill>
                  <a:schemeClr val="tx1"/>
                </a:solidFill>
              </a:rPr>
              <a:t>1</a:t>
            </a:r>
            <a:r>
              <a:rPr lang="zh-CN" altLang="en-US" sz="2400" b="1" dirty="0">
                <a:solidFill>
                  <a:schemeClr val="tx1"/>
                </a:solidFill>
              </a:rPr>
              <a:t>）基本运算符号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	</a:t>
            </a:r>
            <a:r>
              <a:rPr lang="zh-CN" altLang="en-US" sz="2400" b="1" dirty="0">
                <a:solidFill>
                  <a:schemeClr val="tx1"/>
                </a:solidFill>
              </a:rPr>
              <a:t>与</a:t>
            </a:r>
            <a:r>
              <a:rPr lang="en-US" altLang="zh-CN" sz="2400" b="1" dirty="0">
                <a:solidFill>
                  <a:schemeClr val="tx1"/>
                </a:solidFill>
              </a:rPr>
              <a:t>	AND	 *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	</a:t>
            </a:r>
            <a:r>
              <a:rPr lang="zh-CN" altLang="en-US" sz="2400" b="1" dirty="0">
                <a:solidFill>
                  <a:schemeClr val="tx1"/>
                </a:solidFill>
              </a:rPr>
              <a:t>或</a:t>
            </a:r>
            <a:r>
              <a:rPr lang="en-US" altLang="zh-CN" sz="2400" b="1" dirty="0">
                <a:solidFill>
                  <a:schemeClr val="tx1"/>
                </a:solidFill>
              </a:rPr>
              <a:t> 	OR 	+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	</a:t>
            </a:r>
            <a:r>
              <a:rPr lang="zh-CN" altLang="en-US" sz="2400" b="1" dirty="0">
                <a:solidFill>
                  <a:schemeClr val="tx1"/>
                </a:solidFill>
              </a:rPr>
              <a:t>非</a:t>
            </a:r>
            <a:r>
              <a:rPr lang="en-US" altLang="zh-CN" sz="2400" b="1" dirty="0">
                <a:solidFill>
                  <a:schemeClr val="tx1"/>
                </a:solidFill>
              </a:rPr>
              <a:t>	NOT	</a:t>
            </a:r>
            <a:r>
              <a:rPr lang="en-US" altLang="zh-CN" sz="2400" b="1" baseline="30000" dirty="0">
                <a:solidFill>
                  <a:schemeClr val="tx1"/>
                </a:solidFill>
              </a:rPr>
              <a:t>— </a:t>
            </a:r>
            <a:r>
              <a:rPr lang="en-US" altLang="zh-CN" sz="2400" b="1" dirty="0">
                <a:solidFill>
                  <a:schemeClr val="tx1"/>
                </a:solidFill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>
                <a:solidFill>
                  <a:schemeClr val="tx1"/>
                </a:solidFill>
              </a:rPr>
              <a:t>（</a:t>
            </a:r>
            <a:r>
              <a:rPr lang="en-US" altLang="zh-CN" sz="2400" b="1" dirty="0">
                <a:solidFill>
                  <a:schemeClr val="tx1"/>
                </a:solidFill>
              </a:rPr>
              <a:t>2</a:t>
            </a:r>
            <a:r>
              <a:rPr lang="zh-CN" altLang="en-US" sz="2400" b="1" dirty="0">
                <a:solidFill>
                  <a:schemeClr val="tx1"/>
                </a:solidFill>
              </a:rPr>
              <a:t>）优先顺序：（）</a:t>
            </a:r>
            <a:r>
              <a:rPr lang="en-US" altLang="zh-CN" sz="2400" b="1" dirty="0">
                <a:solidFill>
                  <a:schemeClr val="tx1"/>
                </a:solidFill>
              </a:rPr>
              <a:t>&gt;NOT&gt;AND&gt;OR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>
                <a:solidFill>
                  <a:schemeClr val="tx1"/>
                </a:solidFill>
              </a:rPr>
              <a:t>（</a:t>
            </a:r>
            <a:r>
              <a:rPr lang="en-US" altLang="zh-CN" sz="2400" b="1" dirty="0">
                <a:solidFill>
                  <a:schemeClr val="tx1"/>
                </a:solidFill>
              </a:rPr>
              <a:t>3</a:t>
            </a:r>
            <a:r>
              <a:rPr lang="zh-CN" altLang="en-US" sz="2400" b="1" dirty="0">
                <a:solidFill>
                  <a:schemeClr val="tx1"/>
                </a:solidFill>
              </a:rPr>
              <a:t>）取值：</a:t>
            </a:r>
            <a:r>
              <a:rPr lang="en-US" altLang="zh-CN" sz="2400" b="1" dirty="0">
                <a:solidFill>
                  <a:schemeClr val="tx1"/>
                </a:solidFill>
              </a:rPr>
              <a:t> True, “1” ;  </a:t>
            </a:r>
            <a:r>
              <a:rPr lang="en-US" altLang="zh-CN" sz="2400" b="1" dirty="0">
                <a:solidFill>
                  <a:schemeClr val="tx1"/>
                </a:solidFill>
                <a:sym typeface="+mn-ea"/>
              </a:rPr>
              <a:t>False, “0” </a:t>
            </a:r>
            <a:endParaRPr lang="en-US" altLang="zh-CN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6083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806945-462E-4FF6-89E3-1D042DEDE04A}"/>
              </a:ext>
            </a:extLst>
          </p:cNvPr>
          <p:cNvSpPr txBox="1">
            <a:spLocks/>
          </p:cNvSpPr>
          <p:nvPr/>
        </p:nvSpPr>
        <p:spPr>
          <a:xfrm>
            <a:off x="277255" y="164961"/>
            <a:ext cx="11161240" cy="566603"/>
          </a:xfrm>
          <a:prstGeom prst="rect">
            <a:avLst/>
          </a:prstGeom>
          <a:solidFill>
            <a:srgbClr val="0070C0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/>
            <a:r>
              <a:rPr lang="zh-CN" altLang="en-US" dirty="0">
                <a:sym typeface="+mn-ea"/>
              </a:rPr>
              <a:t>运算律</a:t>
            </a:r>
            <a:endParaRPr lang="zh-CN" altLang="en-US" kern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8CD47FB2-5F16-4BAD-B800-B7FAF81629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1400" y="1196752"/>
                <a:ext cx="10969200" cy="3816424"/>
              </a:xfrm>
            </p:spPr>
            <p:txBody>
              <a:bodyPr/>
              <a:lstStyle/>
              <a:p>
                <a:pPr marL="0" indent="0">
                  <a:lnSpc>
                    <a:spcPct val="200000"/>
                  </a:lnSpc>
                  <a:spcAft>
                    <a:spcPts val="600"/>
                  </a:spcAft>
                  <a:buNone/>
                </a:pPr>
                <a:r>
                  <a:rPr lang="zh-CN" altLang="en-US" sz="2400" b="1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2400" b="1" dirty="0">
                    <a:solidFill>
                      <a:schemeClr val="tx1"/>
                    </a:solidFill>
                  </a:rPr>
                  <a:t>1</a:t>
                </a:r>
                <a:r>
                  <a:rPr lang="zh-CN" altLang="en-US" sz="2400" b="1" dirty="0">
                    <a:solidFill>
                      <a:schemeClr val="tx1"/>
                    </a:solidFill>
                  </a:rPr>
                  <a:t>）同一律：</a:t>
                </a:r>
                <a:r>
                  <a:rPr lang="en-US" altLang="zh-CN" sz="2400" b="1" dirty="0">
                    <a:solidFill>
                      <a:schemeClr val="tx1"/>
                    </a:solidFill>
                  </a:rPr>
                  <a:t>X+0 = X; X*1 = X</a:t>
                </a:r>
                <a:endParaRPr lang="zh-CN" altLang="en-US" sz="2400" b="1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200000"/>
                  </a:lnSpc>
                  <a:spcAft>
                    <a:spcPts val="600"/>
                  </a:spcAft>
                  <a:buNone/>
                </a:pPr>
                <a:r>
                  <a:rPr lang="zh-CN" altLang="en-US" sz="2400" b="1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2400" b="1" dirty="0">
                    <a:solidFill>
                      <a:schemeClr val="tx1"/>
                    </a:solidFill>
                  </a:rPr>
                  <a:t>2</a:t>
                </a:r>
                <a:r>
                  <a:rPr lang="zh-CN" altLang="en-US" sz="2400" b="1" dirty="0">
                    <a:solidFill>
                      <a:schemeClr val="tx1"/>
                    </a:solidFill>
                  </a:rPr>
                  <a:t>）交换律：</a:t>
                </a:r>
                <a:r>
                  <a:rPr lang="en-US" altLang="zh-CN" sz="2400" b="1" dirty="0">
                    <a:solidFill>
                      <a:schemeClr val="tx1"/>
                    </a:solidFill>
                  </a:rPr>
                  <a:t>X*Y = Y*X; X+Y = Y+X</a:t>
                </a:r>
              </a:p>
              <a:p>
                <a:pPr marL="0" indent="0">
                  <a:lnSpc>
                    <a:spcPct val="200000"/>
                  </a:lnSpc>
                  <a:spcAft>
                    <a:spcPts val="600"/>
                  </a:spcAft>
                  <a:buNone/>
                </a:pPr>
                <a:r>
                  <a:rPr lang="zh-CN" altLang="en-US" sz="2400" b="1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2400" b="1" dirty="0">
                    <a:solidFill>
                      <a:schemeClr val="tx1"/>
                    </a:solidFill>
                  </a:rPr>
                  <a:t>3</a:t>
                </a:r>
                <a:r>
                  <a:rPr lang="zh-CN" altLang="en-US" sz="2400" b="1" dirty="0">
                    <a:solidFill>
                      <a:schemeClr val="tx1"/>
                    </a:solidFill>
                  </a:rPr>
                  <a:t>）分配律：</a:t>
                </a:r>
                <a:r>
                  <a:rPr lang="en-US" altLang="zh-CN" sz="2400" b="1" dirty="0">
                    <a:solidFill>
                      <a:schemeClr val="tx1"/>
                    </a:solidFill>
                  </a:rPr>
                  <a:t>X+Y*Z = (X+Y)*(X+Z); X*(Y+Z) = X*Y + X*Z</a:t>
                </a:r>
                <a:endParaRPr lang="en-US" altLang="zh-CN" sz="2400" b="1" dirty="0">
                  <a:solidFill>
                    <a:schemeClr val="tx1"/>
                  </a:solidFill>
                  <a:sym typeface="+mn-ea"/>
                </a:endParaRPr>
              </a:p>
              <a:p>
                <a:pPr marL="0" indent="0" algn="l">
                  <a:lnSpc>
                    <a:spcPct val="200000"/>
                  </a:lnSpc>
                  <a:spcAft>
                    <a:spcPts val="600"/>
                  </a:spcAft>
                  <a:buNone/>
                </a:pPr>
                <a:r>
                  <a:rPr lang="zh-CN" altLang="en-US" sz="2400" b="1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2400" b="1" dirty="0">
                    <a:solidFill>
                      <a:schemeClr val="tx1"/>
                    </a:solidFill>
                  </a:rPr>
                  <a:t>4</a:t>
                </a:r>
                <a:r>
                  <a:rPr lang="zh-CN" altLang="en-US" sz="2400" b="1" dirty="0">
                    <a:solidFill>
                      <a:schemeClr val="tx1"/>
                    </a:solidFill>
                  </a:rPr>
                  <a:t>）互补律：</a:t>
                </a:r>
                <a:r>
                  <a:rPr lang="en-US" altLang="zh-CN" sz="2400" b="1" dirty="0">
                    <a:solidFill>
                      <a:schemeClr val="tx1"/>
                    </a:solidFill>
                  </a:rPr>
                  <a:t>X+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𝑿</m:t>
                        </m:r>
                      </m:e>
                    </m:acc>
                  </m:oMath>
                </a14:m>
                <a:r>
                  <a:rPr lang="en-US" altLang="zh-CN" sz="2400" b="1" dirty="0">
                    <a:solidFill>
                      <a:schemeClr val="tx1"/>
                    </a:solidFill>
                  </a:rPr>
                  <a:t> = 1; X*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𝑿</m:t>
                        </m:r>
                      </m:e>
                    </m:acc>
                  </m:oMath>
                </a14:m>
                <a:r>
                  <a:rPr lang="en-US" altLang="zh-CN" sz="2400" b="1" dirty="0">
                    <a:solidFill>
                      <a:schemeClr val="tx1"/>
                    </a:solidFill>
                  </a:rPr>
                  <a:t> = 0</a:t>
                </a: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8CD47FB2-5F16-4BAD-B800-B7FAF81629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1400" y="1196752"/>
                <a:ext cx="10969200" cy="3816424"/>
              </a:xfrm>
              <a:blipFill>
                <a:blip r:embed="rId3"/>
                <a:stretch>
                  <a:fillRect l="-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6335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806945-462E-4FF6-89E3-1D042DEDE04A}"/>
              </a:ext>
            </a:extLst>
          </p:cNvPr>
          <p:cNvSpPr txBox="1">
            <a:spLocks/>
          </p:cNvSpPr>
          <p:nvPr/>
        </p:nvSpPr>
        <p:spPr>
          <a:xfrm>
            <a:off x="277255" y="164961"/>
            <a:ext cx="11161240" cy="566603"/>
          </a:xfrm>
          <a:prstGeom prst="rect">
            <a:avLst/>
          </a:prstGeom>
          <a:solidFill>
            <a:srgbClr val="0070C0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/>
            <a:r>
              <a:rPr lang="zh-CN" altLang="en-US" kern="0" dirty="0">
                <a:sym typeface="+mn-ea"/>
              </a:rPr>
              <a:t>运算定理</a:t>
            </a:r>
            <a:endParaRPr lang="zh-CN" altLang="en-US" kern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D99A0CB-44B6-47FB-877E-B33ACC6FCB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9295" y="908720"/>
                <a:ext cx="10969200" cy="5328592"/>
              </a:xfrm>
            </p:spPr>
            <p:txBody>
              <a:bodyPr/>
              <a:lstStyle/>
              <a:p>
                <a:pPr marL="0" indent="0">
                  <a:lnSpc>
                    <a:spcPct val="200000"/>
                  </a:lnSpc>
                  <a:spcAft>
                    <a:spcPts val="600"/>
                  </a:spcAft>
                  <a:buNone/>
                </a:pPr>
                <a:r>
                  <a:rPr lang="zh-CN" altLang="en-US" sz="2400" b="1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2400" b="1" dirty="0">
                    <a:solidFill>
                      <a:schemeClr val="tx1"/>
                    </a:solidFill>
                  </a:rPr>
                  <a:t>1</a:t>
                </a:r>
                <a:r>
                  <a:rPr lang="zh-CN" altLang="en-US" sz="2400" b="1" dirty="0">
                    <a:solidFill>
                      <a:schemeClr val="tx1"/>
                    </a:solidFill>
                  </a:rPr>
                  <a:t>）重叠定理：</a:t>
                </a:r>
                <a:r>
                  <a:rPr lang="en-US" altLang="zh-CN" sz="2400" b="1" dirty="0">
                    <a:solidFill>
                      <a:schemeClr val="tx1"/>
                    </a:solidFill>
                  </a:rPr>
                  <a:t>X+X = X; X*X = X</a:t>
                </a:r>
                <a:endParaRPr lang="zh-CN" altLang="en-US" sz="2400" b="1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200000"/>
                  </a:lnSpc>
                  <a:spcAft>
                    <a:spcPts val="600"/>
                  </a:spcAft>
                  <a:buNone/>
                </a:pPr>
                <a:r>
                  <a:rPr lang="zh-CN" altLang="en-US" sz="2400" b="1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2400" b="1" dirty="0">
                    <a:solidFill>
                      <a:schemeClr val="tx1"/>
                    </a:solidFill>
                  </a:rPr>
                  <a:t>2</a:t>
                </a:r>
                <a:r>
                  <a:rPr lang="zh-CN" altLang="en-US" sz="2400" b="1" dirty="0">
                    <a:solidFill>
                      <a:schemeClr val="tx1"/>
                    </a:solidFill>
                  </a:rPr>
                  <a:t>）</a:t>
                </a:r>
                <a:r>
                  <a:rPr lang="en-US" altLang="zh-CN" sz="2400" b="1" dirty="0">
                    <a:solidFill>
                      <a:schemeClr val="tx1"/>
                    </a:solidFill>
                  </a:rPr>
                  <a:t>0-1</a:t>
                </a:r>
                <a:r>
                  <a:rPr lang="zh-CN" altLang="en-US" sz="2400" b="1" dirty="0">
                    <a:solidFill>
                      <a:schemeClr val="tx1"/>
                    </a:solidFill>
                  </a:rPr>
                  <a:t>定理：</a:t>
                </a:r>
                <a:r>
                  <a:rPr lang="en-US" altLang="zh-CN" sz="2400" b="1" dirty="0">
                    <a:solidFill>
                      <a:schemeClr val="tx1"/>
                    </a:solidFill>
                  </a:rPr>
                  <a:t>X*0 = 0; X+1 = 1</a:t>
                </a:r>
              </a:p>
              <a:p>
                <a:pPr marL="0" indent="0">
                  <a:lnSpc>
                    <a:spcPct val="200000"/>
                  </a:lnSpc>
                  <a:spcAft>
                    <a:spcPts val="600"/>
                  </a:spcAft>
                  <a:buNone/>
                </a:pPr>
                <a:r>
                  <a:rPr lang="zh-CN" altLang="en-US" sz="2400" b="1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2400" b="1" dirty="0">
                    <a:solidFill>
                      <a:schemeClr val="tx1"/>
                    </a:solidFill>
                  </a:rPr>
                  <a:t>3</a:t>
                </a:r>
                <a:r>
                  <a:rPr lang="zh-CN" altLang="en-US" sz="2400" b="1" dirty="0">
                    <a:solidFill>
                      <a:schemeClr val="tx1"/>
                    </a:solidFill>
                  </a:rPr>
                  <a:t>）吸收定理：</a:t>
                </a:r>
                <a:r>
                  <a:rPr lang="en-US" altLang="zh-CN" sz="2400" b="1" dirty="0">
                    <a:solidFill>
                      <a:schemeClr val="tx1"/>
                    </a:solidFill>
                  </a:rPr>
                  <a:t>X*(Y+X) = X; X*Y+X = X</a:t>
                </a:r>
              </a:p>
              <a:p>
                <a:pPr marL="0" indent="0">
                  <a:lnSpc>
                    <a:spcPct val="200000"/>
                  </a:lnSpc>
                  <a:spcAft>
                    <a:spcPts val="600"/>
                  </a:spcAft>
                  <a:buNone/>
                </a:pPr>
                <a:r>
                  <a:rPr lang="zh-CN" altLang="en-US" sz="2400" b="1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2400" b="1" dirty="0">
                    <a:solidFill>
                      <a:schemeClr val="tx1"/>
                    </a:solidFill>
                  </a:rPr>
                  <a:t>4</a:t>
                </a:r>
                <a:r>
                  <a:rPr lang="zh-CN" altLang="en-US" sz="2400" b="1" dirty="0">
                    <a:solidFill>
                      <a:schemeClr val="tx1"/>
                    </a:solidFill>
                  </a:rPr>
                  <a:t>）结合定理：</a:t>
                </a:r>
                <a:r>
                  <a:rPr lang="en-US" altLang="zh-CN" sz="2400" b="1" dirty="0">
                    <a:solidFill>
                      <a:schemeClr val="tx1"/>
                    </a:solidFill>
                  </a:rPr>
                  <a:t>X+(Y+Z) = (X+Y)+Z; X*(Y*Z)=(X*Y)*Z</a:t>
                </a:r>
              </a:p>
              <a:p>
                <a:pPr marL="0" indent="0">
                  <a:lnSpc>
                    <a:spcPct val="200000"/>
                  </a:lnSpc>
                  <a:spcAft>
                    <a:spcPts val="600"/>
                  </a:spcAft>
                  <a:buNone/>
                </a:pPr>
                <a:r>
                  <a:rPr lang="zh-CN" altLang="en-US" sz="2400" b="1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2400" b="1" dirty="0">
                    <a:solidFill>
                      <a:schemeClr val="tx1"/>
                    </a:solidFill>
                  </a:rPr>
                  <a:t>5</a:t>
                </a:r>
                <a:r>
                  <a:rPr lang="zh-CN" altLang="en-US" sz="2400" b="1" dirty="0">
                    <a:solidFill>
                      <a:schemeClr val="tx1"/>
                    </a:solidFill>
                  </a:rPr>
                  <a:t>）复原定理：</a:t>
                </a:r>
                <a14:m>
                  <m:oMath xmlns:m="http://schemas.openxmlformats.org/officeDocument/2006/math">
                    <m:acc>
                      <m:accPr>
                        <m:chr m:val="̿"/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𝑿</m:t>
                        </m:r>
                      </m:e>
                    </m:acc>
                  </m:oMath>
                </a14:m>
                <a:r>
                  <a:rPr lang="en-US" altLang="zh-CN" sz="2400" b="1" dirty="0">
                    <a:solidFill>
                      <a:schemeClr val="tx1"/>
                    </a:solidFill>
                  </a:rPr>
                  <a:t> = X</a:t>
                </a:r>
              </a:p>
              <a:p>
                <a:pPr marL="0" indent="0">
                  <a:lnSpc>
                    <a:spcPct val="200000"/>
                  </a:lnSpc>
                  <a:spcAft>
                    <a:spcPts val="600"/>
                  </a:spcAft>
                  <a:buNone/>
                </a:pPr>
                <a:r>
                  <a:rPr lang="zh-CN" altLang="en-US" sz="2400" b="1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2400" b="1" dirty="0">
                    <a:solidFill>
                      <a:schemeClr val="tx1"/>
                    </a:solidFill>
                  </a:rPr>
                  <a:t>6</a:t>
                </a:r>
                <a:r>
                  <a:rPr lang="zh-CN" altLang="en-US" sz="2400" b="1" dirty="0">
                    <a:solidFill>
                      <a:schemeClr val="tx1"/>
                    </a:solidFill>
                  </a:rPr>
                  <a:t>）德</a:t>
                </a:r>
                <a:r>
                  <a:rPr lang="en-US" altLang="zh-CN" sz="2400" b="1" dirty="0">
                    <a:solidFill>
                      <a:schemeClr val="tx1"/>
                    </a:solidFill>
                  </a:rPr>
                  <a:t>-</a:t>
                </a:r>
                <a:r>
                  <a:rPr lang="zh-CN" altLang="en-US" sz="2400" b="1" dirty="0">
                    <a:solidFill>
                      <a:schemeClr val="tx1"/>
                    </a:solidFill>
                  </a:rPr>
                  <a:t>摩定理：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𝑿</m:t>
                        </m:r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𝒀</m:t>
                        </m:r>
                      </m:e>
                    </m:acc>
                  </m:oMath>
                </a14:m>
                <a:r>
                  <a:rPr lang="en-US" altLang="zh-CN" sz="2400" b="1" dirty="0">
                    <a:solidFill>
                      <a:schemeClr val="tx1"/>
                    </a:solidFill>
                  </a:rPr>
                  <a:t> =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chemeClr val="tx1"/>
                        </a:solidFill>
                        <a:latin typeface="Cambria Math" panose="02040503050406030204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𝑿</m:t>
                        </m:r>
                      </m:e>
                    </m:acc>
                  </m:oMath>
                </a14:m>
                <a:r>
                  <a:rPr lang="en-US" altLang="zh-CN" sz="2400" b="1" dirty="0">
                    <a:solidFill>
                      <a:schemeClr val="tx1"/>
                    </a:solidFill>
                  </a:rPr>
                  <a:t> *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𝒀</m:t>
                        </m:r>
                      </m:e>
                    </m:acc>
                  </m:oMath>
                </a14:m>
                <a:r>
                  <a:rPr lang="en-US" altLang="zh-CN" sz="2400" b="1" dirty="0">
                    <a:solidFill>
                      <a:schemeClr val="tx1"/>
                    </a:solidFill>
                  </a:rPr>
                  <a:t>;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𝑿</m:t>
                        </m:r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∗</m:t>
                        </m:r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𝒀</m:t>
                        </m:r>
                      </m:e>
                    </m:acc>
                  </m:oMath>
                </a14:m>
                <a:r>
                  <a:rPr lang="en-US" altLang="zh-CN" sz="2400" b="1" dirty="0">
                    <a:solidFill>
                      <a:schemeClr val="tx1"/>
                    </a:solidFill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𝑿</m:t>
                        </m:r>
                      </m:e>
                    </m:acc>
                  </m:oMath>
                </a14:m>
                <a:r>
                  <a:rPr lang="en-US" altLang="zh-CN" sz="2400" b="1" dirty="0">
                    <a:solidFill>
                      <a:schemeClr val="tx1"/>
                    </a:solidFill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𝒀</m:t>
                        </m:r>
                      </m:e>
                    </m:acc>
                  </m:oMath>
                </a14:m>
                <a:endParaRPr lang="en-US" altLang="zh-CN" sz="2400" b="1" i="1" dirty="0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lnSpc>
                    <a:spcPct val="200000"/>
                  </a:lnSpc>
                  <a:spcAft>
                    <a:spcPts val="600"/>
                  </a:spcAft>
                  <a:buNone/>
                </a:pPr>
                <a:endParaRPr lang="en-US" altLang="zh-CN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D99A0CB-44B6-47FB-877E-B33ACC6FCB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9295" y="908720"/>
                <a:ext cx="10969200" cy="5328592"/>
              </a:xfrm>
              <a:blipFill>
                <a:blip r:embed="rId3"/>
                <a:stretch>
                  <a:fillRect l="-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6370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806945-462E-4FF6-89E3-1D042DEDE04A}"/>
              </a:ext>
            </a:extLst>
          </p:cNvPr>
          <p:cNvSpPr txBox="1">
            <a:spLocks/>
          </p:cNvSpPr>
          <p:nvPr/>
        </p:nvSpPr>
        <p:spPr>
          <a:xfrm>
            <a:off x="277255" y="164961"/>
            <a:ext cx="11161240" cy="566603"/>
          </a:xfrm>
          <a:prstGeom prst="rect">
            <a:avLst/>
          </a:prstGeom>
          <a:solidFill>
            <a:srgbClr val="0070C0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/>
            <a:r>
              <a:rPr lang="zh-CN" altLang="en-US" dirty="0">
                <a:sym typeface="+mn-ea"/>
              </a:rPr>
              <a:t>逻辑设计过程</a:t>
            </a:r>
            <a:endParaRPr lang="zh-CN" altLang="en-US" kern="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BA2DBF5-C8BC-4B37-90E1-26EBEC7A0E38}"/>
              </a:ext>
            </a:extLst>
          </p:cNvPr>
          <p:cNvSpPr txBox="1"/>
          <p:nvPr/>
        </p:nvSpPr>
        <p:spPr>
          <a:xfrm>
            <a:off x="437653" y="1484784"/>
            <a:ext cx="5669304" cy="1644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ct val="150000"/>
              </a:lnSpc>
            </a:pPr>
            <a:r>
              <a:rPr lang="en-US" altLang="zh-CN" sz="2400" b="1" i="0" dirty="0">
                <a:solidFill>
                  <a:srgbClr val="1A2029"/>
                </a:solidFill>
                <a:effectLst/>
                <a:latin typeface="-apple-system"/>
              </a:rPr>
              <a:t>1. </a:t>
            </a:r>
            <a:r>
              <a:rPr lang="zh-CN" altLang="en-US" sz="2400" b="1" i="0" dirty="0">
                <a:solidFill>
                  <a:srgbClr val="1A2029"/>
                </a:solidFill>
                <a:effectLst/>
                <a:latin typeface="-apple-system"/>
              </a:rPr>
              <a:t>问题分析</a:t>
            </a:r>
            <a:endParaRPr lang="zh-CN" altLang="en-US" sz="2400" b="0" i="0" dirty="0">
              <a:solidFill>
                <a:srgbClr val="1A2029"/>
              </a:solidFill>
              <a:effectLst/>
              <a:latin typeface="-apple-system"/>
            </a:endParaRPr>
          </a:p>
          <a:p>
            <a:pPr lvl="1">
              <a:lnSpc>
                <a:spcPct val="150000"/>
              </a:lnSpc>
            </a:pPr>
            <a:r>
              <a:rPr lang="zh-CN" altLang="en-US" sz="2200" b="0" i="0" dirty="0">
                <a:solidFill>
                  <a:srgbClr val="1A2029"/>
                </a:solidFill>
                <a:effectLst/>
                <a:latin typeface="-apple-system"/>
              </a:rPr>
              <a:t>加法器的功能是计算两个二进制数的和</a:t>
            </a:r>
          </a:p>
          <a:p>
            <a:pPr lvl="1">
              <a:lnSpc>
                <a:spcPct val="150000"/>
              </a:lnSpc>
            </a:pPr>
            <a:r>
              <a:rPr lang="zh-CN" altLang="en-US" sz="2200" b="0" i="0" dirty="0">
                <a:solidFill>
                  <a:srgbClr val="1A2029"/>
                </a:solidFill>
                <a:effectLst/>
                <a:latin typeface="-apple-system"/>
              </a:rPr>
              <a:t>真值表如下：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21260C7-5A0B-4837-BECA-1499C79A3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225" y="3236196"/>
            <a:ext cx="2972215" cy="172426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3CF887C-F5EF-4D10-8C45-D7355AB4389A}"/>
              </a:ext>
            </a:extLst>
          </p:cNvPr>
          <p:cNvSpPr txBox="1"/>
          <p:nvPr/>
        </p:nvSpPr>
        <p:spPr>
          <a:xfrm>
            <a:off x="6240015" y="1484784"/>
            <a:ext cx="5514331" cy="1419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altLang="zh-CN" sz="2400" b="1" i="0" dirty="0">
                <a:solidFill>
                  <a:srgbClr val="1A2029"/>
                </a:solidFill>
                <a:effectLst/>
                <a:latin typeface="-apple-system"/>
              </a:rPr>
              <a:t>3. </a:t>
            </a:r>
            <a:r>
              <a:rPr lang="zh-CN" altLang="en-US" sz="2400" b="1" i="0" dirty="0">
                <a:solidFill>
                  <a:srgbClr val="1A2029"/>
                </a:solidFill>
                <a:effectLst/>
                <a:latin typeface="-apple-system"/>
              </a:rPr>
              <a:t>选择逻辑门</a:t>
            </a:r>
            <a:endParaRPr lang="zh-CN" altLang="en-US" sz="2400" b="0" i="0" dirty="0">
              <a:solidFill>
                <a:srgbClr val="1A2029"/>
              </a:solidFill>
              <a:effectLst/>
              <a:latin typeface="-apple-system"/>
            </a:endParaRPr>
          </a:p>
          <a:p>
            <a:pPr lvl="1" algn="l" fontAlgn="base">
              <a:lnSpc>
                <a:spcPct val="150000"/>
              </a:lnSpc>
            </a:pPr>
            <a:r>
              <a:rPr lang="zh-CN" altLang="en-US" sz="2200" b="0" i="0" dirty="0">
                <a:solidFill>
                  <a:srgbClr val="1A2029"/>
                </a:solidFill>
                <a:effectLst/>
                <a:latin typeface="-apple-system"/>
              </a:rPr>
              <a:t>由于输出</a:t>
            </a:r>
            <a:r>
              <a:rPr lang="en-US" altLang="zh-CN" sz="2200" b="0" i="0" dirty="0">
                <a:solidFill>
                  <a:srgbClr val="1A2029"/>
                </a:solidFill>
                <a:effectLst/>
                <a:latin typeface="-apple-system"/>
              </a:rPr>
              <a:t>S</a:t>
            </a:r>
            <a:r>
              <a:rPr lang="zh-CN" altLang="en-US" sz="2200" b="0" i="0" dirty="0">
                <a:solidFill>
                  <a:srgbClr val="1A2029"/>
                </a:solidFill>
                <a:effectLst/>
                <a:latin typeface="-apple-system"/>
              </a:rPr>
              <a:t>是输入</a:t>
            </a:r>
            <a:r>
              <a:rPr lang="en-US" altLang="zh-CN" sz="2200" b="0" i="0" dirty="0">
                <a:solidFill>
                  <a:srgbClr val="1A2029"/>
                </a:solidFill>
                <a:effectLst/>
                <a:latin typeface="-apple-system"/>
              </a:rPr>
              <a:t>A</a:t>
            </a:r>
            <a:r>
              <a:rPr lang="zh-CN" altLang="en-US" sz="2200" b="0" i="0" dirty="0">
                <a:solidFill>
                  <a:srgbClr val="1A2029"/>
                </a:solidFill>
                <a:effectLst/>
                <a:latin typeface="-apple-system"/>
              </a:rPr>
              <a:t>和</a:t>
            </a:r>
            <a:r>
              <a:rPr lang="en-US" altLang="zh-CN" sz="2200" b="0" i="0" dirty="0">
                <a:solidFill>
                  <a:srgbClr val="1A2029"/>
                </a:solidFill>
                <a:effectLst/>
                <a:latin typeface="-apple-system"/>
              </a:rPr>
              <a:t>B</a:t>
            </a:r>
            <a:r>
              <a:rPr lang="zh-CN" altLang="en-US" sz="2200" b="0" i="0" dirty="0">
                <a:solidFill>
                  <a:srgbClr val="1A2029"/>
                </a:solidFill>
                <a:effectLst/>
                <a:latin typeface="-apple-system"/>
              </a:rPr>
              <a:t>的异或，因此可以使用异或门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41F3837-3549-4C98-B527-EB33E813E170}"/>
              </a:ext>
            </a:extLst>
          </p:cNvPr>
          <p:cNvSpPr txBox="1"/>
          <p:nvPr/>
        </p:nvSpPr>
        <p:spPr>
          <a:xfrm>
            <a:off x="437653" y="5396436"/>
            <a:ext cx="3600400" cy="1141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ct val="150000"/>
              </a:lnSpc>
            </a:pPr>
            <a:r>
              <a:rPr lang="en-US" altLang="zh-CN" sz="2400" b="1" i="0" dirty="0">
                <a:solidFill>
                  <a:srgbClr val="1A2029"/>
                </a:solidFill>
                <a:effectLst/>
                <a:latin typeface="-apple-system"/>
              </a:rPr>
              <a:t>2. </a:t>
            </a:r>
            <a:r>
              <a:rPr lang="zh-CN" altLang="en-US" sz="2400" b="1" i="0" dirty="0">
                <a:solidFill>
                  <a:srgbClr val="1A2029"/>
                </a:solidFill>
                <a:effectLst/>
                <a:latin typeface="-apple-system"/>
              </a:rPr>
              <a:t>逻辑表达式</a:t>
            </a:r>
            <a:endParaRPr lang="zh-CN" altLang="en-US" sz="2400" b="0" i="0" dirty="0">
              <a:solidFill>
                <a:srgbClr val="1A2029"/>
              </a:solidFill>
              <a:effectLst/>
              <a:latin typeface="-apple-system"/>
            </a:endParaRPr>
          </a:p>
          <a:p>
            <a:pPr lvl="1" algn="l" fontAlgn="base">
              <a:lnSpc>
                <a:spcPct val="150000"/>
              </a:lnSpc>
            </a:pPr>
            <a:r>
              <a:rPr lang="en-US" altLang="zh-CN" sz="2400" b="0" i="0" dirty="0">
                <a:solidFill>
                  <a:srgbClr val="1A2029"/>
                </a:solidFill>
                <a:effectLst/>
                <a:latin typeface="-apple-system"/>
              </a:rPr>
              <a:t>S = A ⊕ B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4E21B04-D22D-492B-B7BD-961FF24EB478}"/>
              </a:ext>
            </a:extLst>
          </p:cNvPr>
          <p:cNvSpPr txBox="1"/>
          <p:nvPr/>
        </p:nvSpPr>
        <p:spPr>
          <a:xfrm>
            <a:off x="6262608" y="3139641"/>
            <a:ext cx="5331764" cy="1604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ct val="150000"/>
              </a:lnSpc>
            </a:pPr>
            <a:r>
              <a:rPr lang="en-US" altLang="zh-CN" sz="2400" b="1" i="0" dirty="0">
                <a:solidFill>
                  <a:srgbClr val="1A2029"/>
                </a:solidFill>
                <a:effectLst/>
                <a:latin typeface="-apple-system"/>
              </a:rPr>
              <a:t>4. </a:t>
            </a:r>
            <a:r>
              <a:rPr lang="zh-CN" altLang="en-US" sz="2400" b="1" i="0" dirty="0">
                <a:solidFill>
                  <a:srgbClr val="1A2029"/>
                </a:solidFill>
                <a:effectLst/>
                <a:latin typeface="-apple-system"/>
              </a:rPr>
              <a:t>电路图设计</a:t>
            </a:r>
            <a:endParaRPr lang="zh-CN" altLang="en-US" sz="2400" b="0" i="0" dirty="0">
              <a:solidFill>
                <a:srgbClr val="1A2029"/>
              </a:solidFill>
              <a:effectLst/>
              <a:latin typeface="-apple-system"/>
            </a:endParaRPr>
          </a:p>
          <a:p>
            <a:pPr lvl="1" algn="l" fontAlgn="base">
              <a:lnSpc>
                <a:spcPct val="150000"/>
              </a:lnSpc>
            </a:pPr>
            <a:r>
              <a:rPr lang="zh-CN" altLang="en-US" sz="2200" b="0" i="0" dirty="0">
                <a:solidFill>
                  <a:srgbClr val="1A2029"/>
                </a:solidFill>
                <a:effectLst/>
                <a:latin typeface="-apple-system"/>
              </a:rPr>
              <a:t>设计一个包含一个异或门的电路，</a:t>
            </a:r>
            <a:r>
              <a:rPr lang="en-US" altLang="zh-CN" sz="2200" b="0" i="0" dirty="0">
                <a:solidFill>
                  <a:srgbClr val="1A2029"/>
                </a:solidFill>
                <a:effectLst/>
                <a:latin typeface="-apple-system"/>
              </a:rPr>
              <a:t>A</a:t>
            </a:r>
            <a:r>
              <a:rPr lang="zh-CN" altLang="en-US" sz="2200" b="0" i="0" dirty="0">
                <a:solidFill>
                  <a:srgbClr val="1A2029"/>
                </a:solidFill>
                <a:effectLst/>
                <a:latin typeface="-apple-system"/>
              </a:rPr>
              <a:t>和</a:t>
            </a:r>
            <a:r>
              <a:rPr lang="en-US" altLang="zh-CN" sz="2200" b="0" i="0" dirty="0">
                <a:solidFill>
                  <a:srgbClr val="1A2029"/>
                </a:solidFill>
                <a:effectLst/>
                <a:latin typeface="-apple-system"/>
              </a:rPr>
              <a:t>B</a:t>
            </a:r>
            <a:r>
              <a:rPr lang="zh-CN" altLang="en-US" sz="2200" b="0" i="0" dirty="0">
                <a:solidFill>
                  <a:srgbClr val="1A2029"/>
                </a:solidFill>
                <a:effectLst/>
                <a:latin typeface="-apple-system"/>
              </a:rPr>
              <a:t>作为输入，</a:t>
            </a:r>
            <a:r>
              <a:rPr lang="en-US" altLang="zh-CN" sz="2200" b="0" i="0" dirty="0">
                <a:solidFill>
                  <a:srgbClr val="1A2029"/>
                </a:solidFill>
                <a:effectLst/>
                <a:latin typeface="-apple-system"/>
              </a:rPr>
              <a:t>S</a:t>
            </a:r>
            <a:r>
              <a:rPr lang="zh-CN" altLang="en-US" sz="2200" b="0" i="0" dirty="0">
                <a:solidFill>
                  <a:srgbClr val="1A2029"/>
                </a:solidFill>
                <a:effectLst/>
                <a:latin typeface="-apple-system"/>
              </a:rPr>
              <a:t>作为输出</a:t>
            </a:r>
            <a:endParaRPr lang="en-US" altLang="zh-CN" sz="2200" dirty="0">
              <a:solidFill>
                <a:srgbClr val="1A2029"/>
              </a:solidFill>
              <a:latin typeface="-apple-system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2E79075-86A2-4770-B811-A90C40CD10BC}"/>
              </a:ext>
            </a:extLst>
          </p:cNvPr>
          <p:cNvSpPr txBox="1"/>
          <p:nvPr/>
        </p:nvSpPr>
        <p:spPr>
          <a:xfrm>
            <a:off x="6228735" y="5010824"/>
            <a:ext cx="5525611" cy="1604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ct val="150000"/>
              </a:lnSpc>
            </a:pPr>
            <a:r>
              <a:rPr lang="en-US" altLang="zh-CN" sz="2400" b="1" i="0" dirty="0">
                <a:solidFill>
                  <a:srgbClr val="1A2029"/>
                </a:solidFill>
                <a:effectLst/>
                <a:latin typeface="-apple-system"/>
              </a:rPr>
              <a:t>5</a:t>
            </a:r>
            <a:r>
              <a:rPr lang="en-US" altLang="zh-CN" sz="2400" b="1" dirty="0">
                <a:solidFill>
                  <a:srgbClr val="1A2029"/>
                </a:solidFill>
                <a:latin typeface="-apple-system"/>
              </a:rPr>
              <a:t>.</a:t>
            </a:r>
            <a:r>
              <a:rPr lang="zh-CN" altLang="en-US" sz="2400" b="1" dirty="0">
                <a:solidFill>
                  <a:srgbClr val="1A2029"/>
                </a:solidFill>
                <a:latin typeface="-apple-system"/>
              </a:rPr>
              <a:t> </a:t>
            </a:r>
            <a:r>
              <a:rPr lang="zh-CN" altLang="en-US" sz="2400" b="1" i="0" dirty="0">
                <a:solidFill>
                  <a:srgbClr val="1A2029"/>
                </a:solidFill>
                <a:effectLst/>
                <a:latin typeface="-apple-system"/>
              </a:rPr>
              <a:t>电路仿真与验证</a:t>
            </a:r>
            <a:endParaRPr lang="zh-CN" altLang="en-US" sz="2400" b="0" i="0" dirty="0">
              <a:solidFill>
                <a:srgbClr val="1A2029"/>
              </a:solidFill>
              <a:effectLst/>
              <a:latin typeface="-apple-system"/>
            </a:endParaRPr>
          </a:p>
          <a:p>
            <a:pPr lvl="1" algn="l" fontAlgn="base">
              <a:lnSpc>
                <a:spcPct val="150000"/>
              </a:lnSpc>
            </a:pPr>
            <a:r>
              <a:rPr lang="zh-CN" altLang="en-US" sz="2200" b="0" i="0" dirty="0">
                <a:solidFill>
                  <a:srgbClr val="1A2029"/>
                </a:solidFill>
                <a:effectLst/>
                <a:latin typeface="-apple-system"/>
              </a:rPr>
              <a:t>使用仿真软件验证异或门的功能是否符合真值表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5114C3B-2DD0-4CDE-BF34-019E4FAAB5C0}"/>
              </a:ext>
            </a:extLst>
          </p:cNvPr>
          <p:cNvSpPr txBox="1"/>
          <p:nvPr/>
        </p:nvSpPr>
        <p:spPr>
          <a:xfrm>
            <a:off x="898244" y="838039"/>
            <a:ext cx="100290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设计一个二进制加法器，它有两个输入</a:t>
            </a:r>
            <a:r>
              <a:rPr kumimoji="1"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A</a:t>
            </a:r>
            <a:r>
              <a:rPr kumimoji="1"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和</a:t>
            </a:r>
            <a:r>
              <a:rPr kumimoji="1"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B</a:t>
            </a:r>
            <a:r>
              <a:rPr kumimoji="1"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，以及一个输出</a:t>
            </a:r>
            <a:r>
              <a:rPr kumimoji="1"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S</a:t>
            </a:r>
            <a:endParaRPr kumimoji="1"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326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3" grpId="0"/>
      <p:bldP spid="15" grpId="0"/>
      <p:bldP spid="17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806945-462E-4FF6-89E3-1D042DEDE04A}"/>
              </a:ext>
            </a:extLst>
          </p:cNvPr>
          <p:cNvSpPr txBox="1">
            <a:spLocks/>
          </p:cNvSpPr>
          <p:nvPr/>
        </p:nvSpPr>
        <p:spPr>
          <a:xfrm>
            <a:off x="277255" y="164961"/>
            <a:ext cx="11161240" cy="566603"/>
          </a:xfrm>
          <a:prstGeom prst="rect">
            <a:avLst/>
          </a:prstGeom>
          <a:solidFill>
            <a:srgbClr val="0070C0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/>
            <a:r>
              <a:rPr lang="zh-CN" altLang="en-US" kern="0" dirty="0">
                <a:sym typeface="+mn-ea"/>
              </a:rPr>
              <a:t>常用逻辑符号</a:t>
            </a:r>
            <a:endParaRPr lang="zh-CN" altLang="en-US" kern="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F1F582-341B-4269-AA57-E9F99123B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5778" y="5694883"/>
            <a:ext cx="1296144" cy="752875"/>
          </a:xfrm>
        </p:spPr>
        <p:txBody>
          <a:bodyPr/>
          <a:lstStyle/>
          <a:p>
            <a:pPr marL="0" indent="0">
              <a:lnSpc>
                <a:spcPct val="200000"/>
              </a:lnSpc>
              <a:spcAft>
                <a:spcPts val="600"/>
              </a:spcAft>
              <a:buNone/>
            </a:pPr>
            <a:r>
              <a:rPr lang="zh-CN" altLang="en-US" sz="2400" b="1" dirty="0">
                <a:solidFill>
                  <a:schemeClr val="tx1"/>
                </a:solidFill>
              </a:rPr>
              <a:t>触发器</a:t>
            </a:r>
            <a:endParaRPr lang="en-US" altLang="zh-CN" sz="2400" b="1" dirty="0">
              <a:solidFill>
                <a:schemeClr val="tx1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5DFCEFB-BBEE-4E60-A09E-98183D9E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04" y="1016029"/>
            <a:ext cx="3467584" cy="99073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D6F5F91-0457-40ED-BB66-DF138AD2BE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463" y="1019163"/>
            <a:ext cx="3210373" cy="85737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3F38559-192D-48CC-A432-58CE78A3FC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644" y="1016029"/>
            <a:ext cx="1352739" cy="82879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EAA6D15-C1A9-4F48-99B0-7DAF3061DB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704" y="3084907"/>
            <a:ext cx="3231254" cy="88782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A5E589A-BC19-401D-90BC-F1FD9C8B9E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7757" y="2976632"/>
            <a:ext cx="4201111" cy="120984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079E073-C261-4AA4-BF7D-3C25A5611E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0244" y="4537984"/>
            <a:ext cx="2067213" cy="112410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46D7387-7DEE-44B0-8387-26BC21A5B747}"/>
              </a:ext>
            </a:extLst>
          </p:cNvPr>
          <p:cNvSpPr txBox="1"/>
          <p:nvPr/>
        </p:nvSpPr>
        <p:spPr>
          <a:xfrm>
            <a:off x="890217" y="1944364"/>
            <a:ext cx="2981741" cy="708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200000"/>
              </a:lnSpc>
              <a:spcAft>
                <a:spcPts val="600"/>
              </a:spcAft>
              <a:buNone/>
            </a:pPr>
            <a:r>
              <a:rPr lang="zh-CN" altLang="zh-CN" sz="2400" b="1" dirty="0">
                <a:solidFill>
                  <a:schemeClr val="tx1"/>
                </a:solidFill>
              </a:rPr>
              <a:t>与门</a:t>
            </a:r>
            <a:r>
              <a:rPr lang="en-US" altLang="zh-CN" sz="2400" b="1" dirty="0">
                <a:solidFill>
                  <a:schemeClr val="tx1"/>
                </a:solidFill>
              </a:rPr>
              <a:t>           </a:t>
            </a:r>
            <a:r>
              <a:rPr lang="zh-CN" altLang="zh-CN" sz="2400" b="1" dirty="0">
                <a:solidFill>
                  <a:schemeClr val="tx1"/>
                </a:solidFill>
              </a:rPr>
              <a:t>与非门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4C9CDD6-DE76-482C-A20C-C7CF75091D8B}"/>
              </a:ext>
            </a:extLst>
          </p:cNvPr>
          <p:cNvSpPr txBox="1"/>
          <p:nvPr/>
        </p:nvSpPr>
        <p:spPr>
          <a:xfrm>
            <a:off x="6672064" y="2006768"/>
            <a:ext cx="50405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</a:rPr>
              <a:t>或门           或非门        异或门</a:t>
            </a:r>
            <a:endParaRPr lang="zh-CN" altLang="en-US" sz="2400" dirty="0"/>
          </a:p>
          <a:p>
            <a:endParaRPr lang="zh-CN" altLang="en-US" sz="2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1ED2A4C-B073-4836-A2D0-5EEAA6A8519D}"/>
              </a:ext>
            </a:extLst>
          </p:cNvPr>
          <p:cNvSpPr txBox="1"/>
          <p:nvPr/>
        </p:nvSpPr>
        <p:spPr>
          <a:xfrm>
            <a:off x="6765237" y="4186476"/>
            <a:ext cx="4320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chemeClr val="tx1"/>
                </a:solidFill>
              </a:rPr>
              <a:t>三态门</a:t>
            </a:r>
            <a:r>
              <a:rPr lang="en-US" altLang="zh-CN" sz="2400" b="1" dirty="0">
                <a:solidFill>
                  <a:schemeClr val="tx1"/>
                </a:solidFill>
              </a:rPr>
              <a:t>              </a:t>
            </a:r>
            <a:r>
              <a:rPr lang="zh-CN" altLang="zh-CN" sz="2400" b="1" dirty="0">
                <a:solidFill>
                  <a:schemeClr val="tx1"/>
                </a:solidFill>
              </a:rPr>
              <a:t>多路开关</a:t>
            </a:r>
            <a:endParaRPr lang="zh-CN" altLang="en-US" sz="2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6E884CC-6662-46C4-B41B-4E939FD9C808}"/>
              </a:ext>
            </a:extLst>
          </p:cNvPr>
          <p:cNvSpPr txBox="1"/>
          <p:nvPr/>
        </p:nvSpPr>
        <p:spPr>
          <a:xfrm>
            <a:off x="684201" y="4119455"/>
            <a:ext cx="34675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chemeClr val="tx1"/>
                </a:solidFill>
              </a:rPr>
              <a:t>缓冲器</a:t>
            </a:r>
            <a:r>
              <a:rPr lang="en-US" altLang="zh-CN" sz="2400" b="1" dirty="0">
                <a:solidFill>
                  <a:schemeClr val="tx1"/>
                </a:solidFill>
              </a:rPr>
              <a:t>          </a:t>
            </a:r>
            <a:r>
              <a:rPr lang="zh-CN" altLang="zh-CN" sz="2400" b="1" dirty="0">
                <a:solidFill>
                  <a:schemeClr val="tx1"/>
                </a:solidFill>
              </a:rPr>
              <a:t>非门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57586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806945-462E-4FF6-89E3-1D042DEDE04A}"/>
              </a:ext>
            </a:extLst>
          </p:cNvPr>
          <p:cNvSpPr txBox="1">
            <a:spLocks/>
          </p:cNvSpPr>
          <p:nvPr/>
        </p:nvSpPr>
        <p:spPr>
          <a:xfrm>
            <a:off x="277255" y="164961"/>
            <a:ext cx="11161240" cy="566603"/>
          </a:xfrm>
          <a:prstGeom prst="rect">
            <a:avLst/>
          </a:prstGeom>
          <a:solidFill>
            <a:srgbClr val="0070C0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/>
            <a:r>
              <a:rPr lang="zh-CN" altLang="en-US" dirty="0">
                <a:sym typeface="+mn-ea"/>
              </a:rPr>
              <a:t>图形元件的电路仿真入门</a:t>
            </a:r>
            <a:endParaRPr lang="zh-CN" altLang="en-US" kern="0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454DEA7-0556-4F08-9FDC-EF914C238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026193"/>
            <a:ext cx="9001000" cy="165618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tx1"/>
                </a:solidFill>
              </a:rPr>
              <a:t>入门练手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200" b="1" dirty="0">
                <a:solidFill>
                  <a:schemeClr val="tx1"/>
                </a:solidFill>
              </a:rPr>
              <a:t>实现</a:t>
            </a:r>
            <a:r>
              <a:rPr lang="en-US" altLang="zh-CN" sz="2200" b="1" dirty="0">
                <a:solidFill>
                  <a:schemeClr val="tx1"/>
                </a:solidFill>
              </a:rPr>
              <a:t>C= A‘</a:t>
            </a:r>
            <a:r>
              <a:rPr lang="zh-CN" altLang="en-US" sz="2200" b="1" dirty="0">
                <a:solidFill>
                  <a:schemeClr val="tx1"/>
                </a:solidFill>
              </a:rPr>
              <a:t>或</a:t>
            </a:r>
            <a:r>
              <a:rPr lang="en-US" altLang="zh-CN" sz="2200" b="1" dirty="0">
                <a:solidFill>
                  <a:schemeClr val="tx1"/>
                </a:solidFill>
              </a:rPr>
              <a:t>’B</a:t>
            </a:r>
            <a:r>
              <a:rPr lang="zh-CN" altLang="en-US" sz="2200" b="1" dirty="0">
                <a:solidFill>
                  <a:schemeClr val="tx1"/>
                </a:solidFill>
              </a:rPr>
              <a:t>；</a:t>
            </a:r>
            <a:r>
              <a:rPr lang="en-US" altLang="zh-CN" sz="2200" b="1" dirty="0">
                <a:solidFill>
                  <a:schemeClr val="tx1"/>
                </a:solidFill>
              </a:rPr>
              <a:t> D= A‘</a:t>
            </a:r>
            <a:r>
              <a:rPr lang="zh-CN" altLang="en-US" sz="2200" b="1" dirty="0">
                <a:solidFill>
                  <a:schemeClr val="tx1"/>
                </a:solidFill>
              </a:rPr>
              <a:t>异或</a:t>
            </a:r>
            <a:r>
              <a:rPr lang="en-US" altLang="zh-CN" sz="2200" b="1" dirty="0">
                <a:solidFill>
                  <a:schemeClr val="tx1"/>
                </a:solidFill>
              </a:rPr>
              <a:t>’B</a:t>
            </a:r>
            <a:r>
              <a:rPr lang="zh-CN" altLang="en-US" sz="2200" b="1" dirty="0">
                <a:solidFill>
                  <a:schemeClr val="tx1"/>
                </a:solidFill>
              </a:rPr>
              <a:t>；</a:t>
            </a:r>
            <a:r>
              <a:rPr lang="en-US" altLang="zh-CN" sz="2200" b="1" dirty="0">
                <a:solidFill>
                  <a:schemeClr val="tx1"/>
                </a:solidFill>
              </a:rPr>
              <a:t>E= C</a:t>
            </a:r>
            <a:r>
              <a:rPr lang="zh-CN" altLang="en-US" sz="2200" b="1" dirty="0">
                <a:solidFill>
                  <a:schemeClr val="tx1"/>
                </a:solidFill>
              </a:rPr>
              <a:t>的</a:t>
            </a:r>
            <a:r>
              <a:rPr lang="en-US" altLang="zh-CN" sz="2200" b="1" dirty="0">
                <a:solidFill>
                  <a:schemeClr val="tx1"/>
                </a:solidFill>
              </a:rPr>
              <a:t>‘</a:t>
            </a:r>
            <a:r>
              <a:rPr lang="zh-CN" altLang="en-US" sz="2200" b="1" dirty="0">
                <a:solidFill>
                  <a:schemeClr val="tx1"/>
                </a:solidFill>
              </a:rPr>
              <a:t>非</a:t>
            </a:r>
            <a:r>
              <a:rPr lang="en-US" altLang="zh-CN" sz="2200" b="1" dirty="0">
                <a:solidFill>
                  <a:schemeClr val="tx1"/>
                </a:solidFill>
              </a:rPr>
              <a:t>’</a:t>
            </a:r>
            <a:endParaRPr lang="zh-CN" altLang="en-US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9021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806945-462E-4FF6-89E3-1D042DEDE04A}"/>
              </a:ext>
            </a:extLst>
          </p:cNvPr>
          <p:cNvSpPr txBox="1">
            <a:spLocks/>
          </p:cNvSpPr>
          <p:nvPr/>
        </p:nvSpPr>
        <p:spPr>
          <a:xfrm>
            <a:off x="277255" y="164961"/>
            <a:ext cx="11161240" cy="566603"/>
          </a:xfrm>
          <a:prstGeom prst="rect">
            <a:avLst/>
          </a:prstGeom>
          <a:solidFill>
            <a:srgbClr val="0070C0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/>
            <a:r>
              <a:rPr lang="zh-CN" altLang="en-US" dirty="0">
                <a:sym typeface="+mn-ea"/>
              </a:rPr>
              <a:t>第</a:t>
            </a:r>
            <a:r>
              <a:rPr lang="en-US" altLang="zh-CN" dirty="0">
                <a:sym typeface="+mn-ea"/>
              </a:rPr>
              <a:t>10</a:t>
            </a:r>
            <a:r>
              <a:rPr lang="zh-CN" altLang="en-US" dirty="0">
                <a:sym typeface="+mn-ea"/>
              </a:rPr>
              <a:t>周实验</a:t>
            </a:r>
            <a:endParaRPr lang="zh-CN" altLang="en-US" kern="0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454DEA7-0556-4F08-9FDC-EF914C238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6" y="764704"/>
            <a:ext cx="11046240" cy="568863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1"/>
                </a:solidFill>
              </a:rPr>
              <a:t>1. </a:t>
            </a:r>
            <a:r>
              <a:rPr lang="zh-CN" altLang="en-US" sz="2400" b="1" dirty="0">
                <a:solidFill>
                  <a:schemeClr val="tx1"/>
                </a:solidFill>
              </a:rPr>
              <a:t>基础实验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200" b="1" dirty="0">
                <a:solidFill>
                  <a:schemeClr val="tx1"/>
                </a:solidFill>
              </a:rPr>
              <a:t>自行设计实现：表决电路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chemeClr val="tx1"/>
                </a:solidFill>
              </a:rPr>
              <a:t>输入</a:t>
            </a:r>
            <a:r>
              <a:rPr lang="en-US" altLang="zh-CN" sz="2000" b="1" dirty="0">
                <a:solidFill>
                  <a:schemeClr val="tx1"/>
                </a:solidFill>
              </a:rPr>
              <a:t>3</a:t>
            </a:r>
            <a:r>
              <a:rPr lang="zh-CN" altLang="en-US" sz="2000" b="1" dirty="0">
                <a:solidFill>
                  <a:schemeClr val="tx1"/>
                </a:solidFill>
              </a:rPr>
              <a:t>路，输出</a:t>
            </a:r>
            <a:r>
              <a:rPr lang="en-US" altLang="zh-CN" sz="2000" b="1" dirty="0">
                <a:solidFill>
                  <a:schemeClr val="tx1"/>
                </a:solidFill>
              </a:rPr>
              <a:t>1</a:t>
            </a:r>
            <a:r>
              <a:rPr lang="zh-CN" altLang="en-US" sz="2000" b="1" dirty="0">
                <a:solidFill>
                  <a:schemeClr val="tx1"/>
                </a:solidFill>
              </a:rPr>
              <a:t>路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chemeClr val="tx1"/>
                </a:solidFill>
              </a:rPr>
              <a:t>功能：超过</a:t>
            </a:r>
            <a:r>
              <a:rPr lang="en-US" altLang="zh-CN" sz="2000" b="1" dirty="0">
                <a:solidFill>
                  <a:schemeClr val="tx1"/>
                </a:solidFill>
              </a:rPr>
              <a:t>50%</a:t>
            </a:r>
            <a:r>
              <a:rPr lang="zh-CN" altLang="en-US" sz="2000" b="1" dirty="0">
                <a:solidFill>
                  <a:schemeClr val="tx1"/>
                </a:solidFill>
              </a:rPr>
              <a:t>的输入为</a:t>
            </a:r>
            <a:r>
              <a:rPr lang="en-US" altLang="zh-CN" sz="2000" b="1" dirty="0">
                <a:solidFill>
                  <a:schemeClr val="tx1"/>
                </a:solidFill>
              </a:rPr>
              <a:t>‘1’</a:t>
            </a:r>
            <a:r>
              <a:rPr lang="zh-CN" altLang="en-US" sz="2000" b="1" dirty="0">
                <a:solidFill>
                  <a:schemeClr val="tx1"/>
                </a:solidFill>
              </a:rPr>
              <a:t>时，输出</a:t>
            </a:r>
            <a:r>
              <a:rPr lang="en-US" altLang="zh-CN" sz="2000" b="1" dirty="0">
                <a:solidFill>
                  <a:schemeClr val="tx1"/>
                </a:solidFill>
              </a:rPr>
              <a:t>‘1’</a:t>
            </a:r>
            <a:r>
              <a:rPr lang="zh-CN" altLang="en-US" sz="2000" b="1" dirty="0">
                <a:solidFill>
                  <a:schemeClr val="tx1"/>
                </a:solidFill>
              </a:rPr>
              <a:t>，若否输出</a:t>
            </a:r>
            <a:r>
              <a:rPr lang="en-US" altLang="zh-CN" sz="2000" b="1" dirty="0">
                <a:solidFill>
                  <a:schemeClr val="tx1"/>
                </a:solidFill>
              </a:rPr>
              <a:t>‘0’                          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1"/>
                </a:solidFill>
              </a:rPr>
              <a:t>2. </a:t>
            </a:r>
            <a:r>
              <a:rPr lang="zh-CN" altLang="en-US" sz="2400" b="1" dirty="0">
                <a:solidFill>
                  <a:schemeClr val="tx1"/>
                </a:solidFill>
              </a:rPr>
              <a:t>进阶实验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200" b="1" dirty="0">
                <a:solidFill>
                  <a:schemeClr val="tx1"/>
                </a:solidFill>
              </a:rPr>
              <a:t>表决电路进阶版</a:t>
            </a:r>
            <a:r>
              <a:rPr lang="en-US" altLang="zh-CN" sz="2200" b="1" dirty="0">
                <a:solidFill>
                  <a:schemeClr val="tx1"/>
                </a:solidFill>
              </a:rPr>
              <a:t>: </a:t>
            </a:r>
            <a:r>
              <a:rPr lang="zh-CN" altLang="en-US" sz="2200" b="1" dirty="0">
                <a:solidFill>
                  <a:schemeClr val="tx1"/>
                </a:solidFill>
                <a:sym typeface="+mn-ea"/>
              </a:rPr>
              <a:t>输入</a:t>
            </a:r>
            <a:r>
              <a:rPr lang="en-US" altLang="zh-CN" sz="2200" b="1" dirty="0">
                <a:solidFill>
                  <a:schemeClr val="tx1"/>
                </a:solidFill>
                <a:sym typeface="+mn-ea"/>
              </a:rPr>
              <a:t>3</a:t>
            </a:r>
            <a:r>
              <a:rPr lang="zh-CN" altLang="en-US" sz="2200" b="1" dirty="0">
                <a:solidFill>
                  <a:schemeClr val="tx1"/>
                </a:solidFill>
                <a:sym typeface="+mn-ea"/>
              </a:rPr>
              <a:t>路；输出</a:t>
            </a:r>
            <a:r>
              <a:rPr lang="en-US" altLang="zh-CN" sz="2200" b="1" dirty="0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 sz="2200" b="1" dirty="0">
                <a:solidFill>
                  <a:schemeClr val="tx1"/>
                </a:solidFill>
                <a:sym typeface="+mn-ea"/>
              </a:rPr>
              <a:t>路</a:t>
            </a:r>
            <a:endParaRPr lang="en-US" altLang="zh-CN" sz="2200" b="1" dirty="0">
              <a:solidFill>
                <a:schemeClr val="tx1"/>
              </a:solidFill>
              <a:sym typeface="+mn-ea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chemeClr val="tx1"/>
                </a:solidFill>
              </a:rPr>
              <a:t>满足上述基础实验功能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chemeClr val="tx1"/>
                </a:solidFill>
              </a:rPr>
              <a:t>增加</a:t>
            </a:r>
            <a:r>
              <a:rPr lang="zh-CN" altLang="en-US" sz="2000" b="1" dirty="0">
                <a:solidFill>
                  <a:srgbClr val="FF0000"/>
                </a:solidFill>
              </a:rPr>
              <a:t>全票提示</a:t>
            </a:r>
            <a:r>
              <a:rPr lang="zh-CN" altLang="en-US" sz="2000" b="1" dirty="0">
                <a:solidFill>
                  <a:schemeClr val="tx1"/>
                </a:solidFill>
              </a:rPr>
              <a:t>功能：所有输入均为</a:t>
            </a:r>
            <a:r>
              <a:rPr lang="en-US" altLang="zh-CN" sz="2000" b="1" dirty="0">
                <a:solidFill>
                  <a:schemeClr val="tx1"/>
                </a:solidFill>
              </a:rPr>
              <a:t>1</a:t>
            </a:r>
            <a:r>
              <a:rPr lang="zh-CN" altLang="en-US" sz="2000" b="1" dirty="0">
                <a:solidFill>
                  <a:schemeClr val="tx1"/>
                </a:solidFill>
              </a:rPr>
              <a:t>或均为</a:t>
            </a:r>
            <a:r>
              <a:rPr lang="en-US" altLang="zh-CN" sz="2000" b="1" dirty="0">
                <a:solidFill>
                  <a:schemeClr val="tx1"/>
                </a:solidFill>
              </a:rPr>
              <a:t>0</a:t>
            </a:r>
            <a:r>
              <a:rPr lang="zh-CN" altLang="en-US" sz="2000" b="1" dirty="0">
                <a:solidFill>
                  <a:schemeClr val="tx1"/>
                </a:solidFill>
              </a:rPr>
              <a:t>时，输出</a:t>
            </a:r>
            <a:r>
              <a:rPr lang="en-US" altLang="zh-CN" sz="2000" b="1" dirty="0">
                <a:solidFill>
                  <a:schemeClr val="tx1"/>
                </a:solidFill>
              </a:rPr>
              <a:t>‘1’</a:t>
            </a:r>
            <a:r>
              <a:rPr lang="zh-CN" altLang="en-US" sz="2000" b="1" dirty="0">
                <a:solidFill>
                  <a:schemeClr val="tx1"/>
                </a:solidFill>
              </a:rPr>
              <a:t>，若否输出</a:t>
            </a:r>
            <a:r>
              <a:rPr lang="en-US" altLang="zh-CN" sz="2000" b="1" dirty="0">
                <a:solidFill>
                  <a:schemeClr val="tx1"/>
                </a:solidFill>
              </a:rPr>
              <a:t>‘0’</a:t>
            </a:r>
          </a:p>
        </p:txBody>
      </p:sp>
    </p:spTree>
    <p:extLst>
      <p:ext uri="{BB962C8B-B14F-4D97-AF65-F5344CB8AC3E}">
        <p14:creationId xmlns:p14="http://schemas.microsoft.com/office/powerpoint/2010/main" val="2464751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Blends">
  <a:themeElements>
    <a:clrScheme name="Blends 8">
      <a:dk1>
        <a:srgbClr val="000000"/>
      </a:dk1>
      <a:lt1>
        <a:srgbClr val="FFFFFF"/>
      </a:lt1>
      <a:dk2>
        <a:srgbClr val="800080"/>
      </a:dk2>
      <a:lt2>
        <a:srgbClr val="1C1C1C"/>
      </a:lt2>
      <a:accent1>
        <a:srgbClr val="777777"/>
      </a:accent1>
      <a:accent2>
        <a:srgbClr val="FFCF01"/>
      </a:accent2>
      <a:accent3>
        <a:srgbClr val="FFFFFF"/>
      </a:accent3>
      <a:accent4>
        <a:srgbClr val="000000"/>
      </a:accent4>
      <a:accent5>
        <a:srgbClr val="BDBDBD"/>
      </a:accent5>
      <a:accent6>
        <a:srgbClr val="E7BB01"/>
      </a:accent6>
      <a:hlink>
        <a:srgbClr val="800080"/>
      </a:hlink>
      <a:folHlink>
        <a:srgbClr val="800080"/>
      </a:folHlink>
    </a:clrScheme>
    <a:fontScheme name="Blends">
      <a:majorFont>
        <a:latin typeface="Verdana"/>
        <a:ea typeface=""/>
        <a:cs typeface="Times New Roman"/>
      </a:majorFont>
      <a:minorFont>
        <a:latin typeface="Verdana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  <a:prstDash val="sysDash"/>
        </a:ln>
      </a:spPr>
      <a:bodyPr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96975" marR="0" indent="-282575" algn="l" defTabSz="914400" rtl="0" eaLnBrk="1" fontAlgn="base" latinLnBrk="0" hangingPunct="1">
          <a:lnSpc>
            <a:spcPct val="100000"/>
          </a:lnSpc>
          <a:spcBef>
            <a:spcPts val="500"/>
          </a:spcBef>
          <a:spcAft>
            <a:spcPct val="0"/>
          </a:spcAft>
          <a:buClr>
            <a:srgbClr val="800080"/>
          </a:buClr>
          <a:buSzPct val="55000"/>
          <a:buFont typeface="Wingdings" pitchFamily="2" charset="2"/>
          <a:buChar char="n"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Times New Roman" pitchFamily="18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8">
        <a:dk1>
          <a:srgbClr val="000000"/>
        </a:dk1>
        <a:lt1>
          <a:srgbClr val="FFFFFF"/>
        </a:lt1>
        <a:dk2>
          <a:srgbClr val="800080"/>
        </a:dk2>
        <a:lt2>
          <a:srgbClr val="1C1C1C"/>
        </a:lt2>
        <a:accent1>
          <a:srgbClr val="777777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BDBDBD"/>
        </a:accent5>
        <a:accent6>
          <a:srgbClr val="E7BB01"/>
        </a:accent6>
        <a:hlink>
          <a:srgbClr val="800080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C:\Programs\MsOffice\Templates\Presentation Designs\Straight Edge.pot</Template>
  <TotalTime>95654</TotalTime>
  <Words>778</Words>
  <Application>Microsoft Office PowerPoint</Application>
  <PresentationFormat>宽屏</PresentationFormat>
  <Paragraphs>94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-apple-system</vt:lpstr>
      <vt:lpstr>微软雅黑</vt:lpstr>
      <vt:lpstr>Arial</vt:lpstr>
      <vt:lpstr>Cambria Math</vt:lpstr>
      <vt:lpstr>Tahoma</vt:lpstr>
      <vt:lpstr>Times New Roman</vt:lpstr>
      <vt:lpstr>Verdana</vt:lpstr>
      <vt:lpstr>Wingdings</vt:lpstr>
      <vt:lpstr>Blends</vt:lpstr>
      <vt:lpstr>第一讲：数字逻辑与数字系统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University of Washington, CS 4 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 with Python</dc:title>
  <dc:creator>Marty Stepp</dc:creator>
  <cp:lastModifiedBy>zhao shifeng</cp:lastModifiedBy>
  <cp:revision>3153</cp:revision>
  <cp:lastPrinted>2019-10-24T05:03:19Z</cp:lastPrinted>
  <dcterms:created xsi:type="dcterms:W3CDTF">2009-04-22T19:24:48Z</dcterms:created>
  <dcterms:modified xsi:type="dcterms:W3CDTF">2024-11-20T09:39:57Z</dcterms:modified>
</cp:coreProperties>
</file>