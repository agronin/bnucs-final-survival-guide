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50" r:id="rId1"/>
  </p:sldMasterIdLst>
  <p:notesMasterIdLst>
    <p:notesMasterId r:id="rId9"/>
  </p:notesMasterIdLst>
  <p:handoutMasterIdLst>
    <p:handoutMasterId r:id="rId10"/>
  </p:handoutMasterIdLst>
  <p:sldIdLst>
    <p:sldId id="256" r:id="rId2"/>
    <p:sldId id="1634" r:id="rId3"/>
    <p:sldId id="1643" r:id="rId4"/>
    <p:sldId id="1633" r:id="rId5"/>
    <p:sldId id="1637" r:id="rId6"/>
    <p:sldId id="1642" r:id="rId7"/>
    <p:sldId id="1640" r:id="rId8"/>
  </p:sldIdLst>
  <p:sldSz cx="12192000" cy="6858000"/>
  <p:notesSz cx="6858000" cy="99472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336699"/>
    <a:srgbClr val="C6913A"/>
    <a:srgbClr val="0000FF"/>
    <a:srgbClr val="4986CF"/>
    <a:srgbClr val="5B7BE3"/>
    <a:srgbClr val="50B5E2"/>
    <a:srgbClr val="1B7AA5"/>
    <a:srgbClr val="0066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9" autoAdjust="0"/>
    <p:restoredTop sz="83189" autoAdjust="0"/>
  </p:normalViewPr>
  <p:slideViewPr>
    <p:cSldViewPr>
      <p:cViewPr>
        <p:scale>
          <a:sx n="75" d="100"/>
          <a:sy n="75" d="100"/>
        </p:scale>
        <p:origin x="2645" y="68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1915" y="-77"/>
      </p:cViewPr>
      <p:guideLst>
        <p:guide orient="horz" pos="313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 dirty="0"/>
              <a:t>hi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9911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 dirty="0"/>
              <a:t>bye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449911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fld id="{E2B571F6-0F46-43D6-BF59-2C8F4E92390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987679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 dirty="0"/>
              <a:t>hi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03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" y="746125"/>
            <a:ext cx="6629400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956"/>
            <a:ext cx="5029200" cy="4476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9911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altLang="zh-CN" dirty="0"/>
              <a:t>bye</a:t>
            </a: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9911"/>
            <a:ext cx="2971800" cy="497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>
              <a:defRPr/>
            </a:pPr>
            <a:fld id="{46CE8C4E-4E2B-4FAA-924F-F78D103AAC5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424919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1pPr>
            <a:lvl2pPr marL="742950" indent="-28575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3pPr>
            <a:lvl4pPr marL="16002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4pPr>
            <a:lvl5pPr marL="20574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cs typeface="Times New Roman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8AFE70DC-C7E3-4C03-93E4-B49EBC9D86EE}" type="slidenum">
              <a:rPr lang="en-US" altLang="zh-CN" sz="1200" smtClean="0">
                <a:latin typeface="Times New Roman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1</a:t>
            </a:fld>
            <a:endParaRPr lang="en-US" altLang="zh-CN" sz="1200" dirty="0">
              <a:latin typeface="Times New Roman" pitchFamily="18" charset="0"/>
            </a:endParaRPr>
          </a:p>
        </p:txBody>
      </p:sp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1075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7374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668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549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5494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2150"/>
            <a:ext cx="6070600" cy="3416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2905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7"/>
          <p:cNvSpPr>
            <a:spLocks noChangeArrowheads="1"/>
          </p:cNvSpPr>
          <p:nvPr userDrawn="1"/>
        </p:nvSpPr>
        <p:spPr bwMode="auto">
          <a:xfrm>
            <a:off x="2641600" y="4191000"/>
            <a:ext cx="74168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87338" indent="-287338">
              <a:lnSpc>
                <a:spcPct val="102000"/>
              </a:lnSpc>
              <a:spcBef>
                <a:spcPct val="20000"/>
              </a:spcBef>
              <a:buClr>
                <a:srgbClr val="808080"/>
              </a:buClr>
              <a:buSzPct val="60000"/>
              <a:buFont typeface="Wingdings" pitchFamily="2" charset="2"/>
              <a:buChar char="n"/>
            </a:pPr>
            <a:endParaRPr lang="en-GB" altLang="zh-CN" sz="1600" dirty="0"/>
          </a:p>
        </p:txBody>
      </p:sp>
      <p:sp>
        <p:nvSpPr>
          <p:cNvPr id="1946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0" y="2743200"/>
            <a:ext cx="12192000" cy="1600200"/>
          </a:xfrm>
        </p:spPr>
        <p:txBody>
          <a:bodyPr anchor="ctr"/>
          <a:lstStyle>
            <a:lvl1pPr>
              <a:defRPr sz="44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582400" y="6486525"/>
            <a:ext cx="609600" cy="3810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1BCACC2-EB2E-41B5-88CE-73A61AB12F5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8218042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4B451-ED34-44AC-A294-F69DDAD52F2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054706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6CA548-88A0-4B76-ACB8-541D0487956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1376856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066800"/>
            <a:ext cx="59944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066800"/>
            <a:ext cx="59944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28CAA-8BE4-46E1-93AA-6E4772B53CB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5804182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215D8D-A7E5-4C44-8276-4D9C4CFAE00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5862110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491312-4604-4E58-8319-6E38FD6FBB5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0261951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DC48A-AC36-4DC7-9F8C-4BFF4C0342F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5001754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AD5092-F570-4E83-87BB-25B42F38CCC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818756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8160E3-5837-415F-9BBB-C137EFF1939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292862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DD35B4-CD61-434F-B263-5E6E207B21C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5196323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152400"/>
            <a:ext cx="3048000" cy="6477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8940800" cy="6477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8452F-4105-48B6-93DB-6861893DE9B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2976153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8" b="36090"/>
          <a:stretch>
            <a:fillRect/>
          </a:stretch>
        </p:blipFill>
        <p:spPr bwMode="auto">
          <a:xfrm>
            <a:off x="0" y="6048376"/>
            <a:ext cx="1727200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152400"/>
            <a:ext cx="11804651" cy="838200"/>
          </a:xfrm>
          <a:prstGeom prst="rect">
            <a:avLst/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066800"/>
            <a:ext cx="121920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363200" y="64008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>
                <a:latin typeface="Tahoma" pitchFamily="34" charset="0"/>
                <a:ea typeface="宋体" charset="-122"/>
              </a:defRPr>
            </a:lvl1pPr>
          </a:lstStyle>
          <a:p>
            <a:pPr>
              <a:defRPr/>
            </a:pPr>
            <a:fld id="{3C3F5D21-47BA-43E3-9A7C-87A4E15DF74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</p:sldLayoutIdLst>
  <p:transition spd="med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itchFamily="34" charset="0"/>
          <a:cs typeface="Times New Roman" pitchFamily="18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808080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90563" indent="-233363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SzPct val="55000"/>
        <a:buFont typeface="Wingdings" pitchFamily="2" charset="2"/>
        <a:buChar char="n"/>
        <a:defRPr>
          <a:solidFill>
            <a:schemeClr val="tx1"/>
          </a:solidFill>
          <a:latin typeface="+mn-lt"/>
          <a:cs typeface="+mn-cs"/>
        </a:defRPr>
      </a:lvl2pPr>
      <a:lvl3pPr marL="1084263" indent="-1698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3pPr>
      <a:lvl4pPr marL="1541463" indent="-16986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Font typeface="Wingdings" pitchFamily="2" charset="2"/>
        <a:buChar char="n"/>
        <a:defRPr sz="14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783" name="Rectangle 7"/>
          <p:cNvSpPr>
            <a:spLocks noGrp="1" noChangeArrowheads="1"/>
          </p:cNvSpPr>
          <p:nvPr>
            <p:ph type="title"/>
          </p:nvPr>
        </p:nvSpPr>
        <p:spPr>
          <a:xfrm>
            <a:off x="18114" y="1828800"/>
            <a:ext cx="12192000" cy="1600200"/>
          </a:xfrm>
          <a:solidFill>
            <a:srgbClr val="336699"/>
          </a:solidFill>
        </p:spPr>
        <p:txBody>
          <a:bodyPr/>
          <a:lstStyle/>
          <a:p>
            <a:pPr eaLnBrk="1" hangingPunct="1">
              <a:defRPr/>
            </a:pPr>
            <a:r>
              <a:rPr lang="zh-CN" altLang="en-US" sz="5400" dirty="0"/>
              <a:t>第四讲：</a:t>
            </a:r>
            <a:r>
              <a:rPr lang="zh-CN" altLang="zh-CN" sz="5400" dirty="0"/>
              <a:t>数字逻辑与</a:t>
            </a:r>
            <a:r>
              <a:rPr lang="zh-CN" altLang="en-US" sz="5400" dirty="0"/>
              <a:t>数字系统</a:t>
            </a:r>
            <a:endParaRPr lang="en-US" altLang="zh-CN" sz="4000" dirty="0">
              <a:ea typeface="宋体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27848" y="4149080"/>
            <a:ext cx="1954381" cy="662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2024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秋季 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阻塞与非阻塞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C73EF97-A377-4985-8F32-9CF7BEF9A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561" y="822150"/>
            <a:ext cx="4824536" cy="192127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86FE78F-CD1A-4C33-8CF4-6A7A30A7B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882" y="871216"/>
            <a:ext cx="4666118" cy="187220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D9FEBA0-218F-4432-84C6-E2423002AE12}"/>
              </a:ext>
            </a:extLst>
          </p:cNvPr>
          <p:cNvSpPr txBox="1"/>
          <p:nvPr/>
        </p:nvSpPr>
        <p:spPr>
          <a:xfrm>
            <a:off x="76465" y="2912729"/>
            <a:ext cx="5781410" cy="2208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当检测到时钟信号的上升沿时，always 块开始执行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首先执行 b = a;，这是一个阻塞赋值，它立即更新 b 的值为 a 的当前值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紧接着执行 c = b;，由于 b 已经在上一步被更新，c 将被赋予更新后的 b 的值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A9FFCA1-F19A-463B-A20E-1CDB9F6D848D}"/>
              </a:ext>
            </a:extLst>
          </p:cNvPr>
          <p:cNvSpPr txBox="1"/>
          <p:nvPr/>
        </p:nvSpPr>
        <p:spPr>
          <a:xfrm>
            <a:off x="6096000" y="2912729"/>
            <a:ext cx="5400600" cy="2208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在时钟上升沿触发时，b &lt;= a; 和 c &lt;= b; 这两条语句将同时进行，它们都会在 always 块结束时更新 b 和 c 的值</a:t>
            </a:r>
            <a:endParaRPr lang="en-US" altLang="zh-CN" dirty="0"/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结果是 b 被赋予 a 的值，而 c 被赋予在非阻塞赋值开始时 b 的值（即，</a:t>
            </a:r>
            <a:r>
              <a:rPr lang="en-US" altLang="zh-CN" dirty="0"/>
              <a:t>c</a:t>
            </a:r>
            <a:r>
              <a:rPr lang="zh-CN" altLang="en-US" dirty="0"/>
              <a:t>为</a:t>
            </a:r>
            <a:r>
              <a:rPr lang="en-US" altLang="zh-CN" dirty="0"/>
              <a:t>b</a:t>
            </a:r>
            <a:r>
              <a:rPr lang="zh-CN" altLang="en-US" dirty="0"/>
              <a:t>原来的值）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C25A2F-B422-4938-B02C-F86AE777FE81}"/>
              </a:ext>
            </a:extLst>
          </p:cNvPr>
          <p:cNvSpPr txBox="1"/>
          <p:nvPr/>
        </p:nvSpPr>
        <p:spPr>
          <a:xfrm>
            <a:off x="2450447" y="5121219"/>
            <a:ext cx="7767359" cy="1545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2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阻塞</a:t>
            </a:r>
            <a:r>
              <a:rPr lang="zh-CN" altLang="en-U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赋值语句按照排列</a:t>
            </a:r>
            <a:r>
              <a:rPr lang="zh-CN" altLang="en-US" sz="22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顺序</a:t>
            </a:r>
            <a:r>
              <a:rPr lang="zh-CN" altLang="en-U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依次</a:t>
            </a:r>
            <a:r>
              <a:rPr lang="zh-CN" altLang="en-US" sz="22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执行</a:t>
            </a:r>
            <a:endParaRPr lang="en-US" altLang="zh-CN" sz="22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2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非阻塞</a:t>
            </a:r>
            <a:r>
              <a:rPr lang="zh-CN" altLang="en-U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赋值语句</a:t>
            </a:r>
            <a:r>
              <a:rPr lang="zh-CN" altLang="en-US" sz="2200" dirty="0">
                <a:solidFill>
                  <a:srgbClr val="FF0000"/>
                </a:solidFill>
              </a:rPr>
              <a:t>同时更新</a:t>
            </a:r>
            <a:r>
              <a:rPr lang="zh-CN" altLang="en-US" sz="2200" dirty="0">
                <a:solidFill>
                  <a:srgbClr val="000000"/>
                </a:solidFill>
              </a:rPr>
              <a:t>所有变量的值，</a:t>
            </a:r>
            <a:r>
              <a:rPr lang="zh-CN" altLang="en-US" sz="22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并行执行</a:t>
            </a:r>
            <a:r>
              <a:rPr lang="zh-CN" altLang="en-US" sz="2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，</a:t>
            </a:r>
            <a:r>
              <a:rPr lang="zh-CN" altLang="en-US" sz="2200" dirty="0">
                <a:solidFill>
                  <a:srgbClr val="000000"/>
                </a:solidFill>
              </a:rPr>
              <a:t>没有先后之分，即使它们在代码中是顺序书写的</a:t>
            </a:r>
          </a:p>
        </p:txBody>
      </p:sp>
    </p:spTree>
    <p:extLst>
      <p:ext uri="{BB962C8B-B14F-4D97-AF65-F5344CB8AC3E}">
        <p14:creationId xmlns:p14="http://schemas.microsoft.com/office/powerpoint/2010/main" val="119012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阻塞与非阻塞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C73EF97-A377-4985-8F32-9CF7BEF9A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561" y="822150"/>
            <a:ext cx="4824536" cy="192127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86FE78F-CD1A-4C33-8CF4-6A7A30A7B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882" y="871216"/>
            <a:ext cx="4666118" cy="187220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707704F-26C7-4AA8-8F3A-BFF708F41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527" y="2924944"/>
            <a:ext cx="4767473" cy="241837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CEAC63C3-887C-4925-947E-2183E07BCB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5066" y="2903293"/>
            <a:ext cx="6814407" cy="240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7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基础知识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512826-8C89-4060-A236-0954FE932DF2}"/>
              </a:ext>
            </a:extLst>
          </p:cNvPr>
          <p:cNvSpPr txBox="1"/>
          <p:nvPr/>
        </p:nvSpPr>
        <p:spPr>
          <a:xfrm>
            <a:off x="623392" y="1124744"/>
            <a:ext cx="7560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使周期尽量错开，避免周期成倍数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059AE1-55E2-46A5-AD24-EEA3A2C5D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24" y="1916832"/>
            <a:ext cx="5948743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78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基础知识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D8D6AA-9DA5-451A-9A46-74A76A90BCD7}"/>
              </a:ext>
            </a:extLst>
          </p:cNvPr>
          <p:cNvSpPr txBox="1"/>
          <p:nvPr/>
        </p:nvSpPr>
        <p:spPr>
          <a:xfrm>
            <a:off x="407368" y="768786"/>
            <a:ext cx="878497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900" dirty="0">
                <a:solidFill>
                  <a:srgbClr val="0066FF"/>
                </a:solidFill>
              </a:rPr>
              <a:t>module</a:t>
            </a:r>
            <a:r>
              <a:rPr lang="zh-CN" altLang="en-US" sz="1900" dirty="0"/>
              <a:t> case_example1 (</a:t>
            </a:r>
          </a:p>
          <a:p>
            <a:r>
              <a:rPr lang="zh-CN" altLang="en-US" sz="1900" dirty="0"/>
              <a:t>    </a:t>
            </a:r>
            <a:r>
              <a:rPr lang="zh-CN" altLang="en-US" sz="1900" dirty="0">
                <a:solidFill>
                  <a:srgbClr val="0066FF"/>
                </a:solidFill>
              </a:rPr>
              <a:t>input wire </a:t>
            </a:r>
            <a:r>
              <a:rPr lang="zh-CN" altLang="en-US" sz="1900" dirty="0"/>
              <a:t>clk,          // 时钟信号</a:t>
            </a:r>
          </a:p>
          <a:p>
            <a:r>
              <a:rPr lang="zh-CN" altLang="en-US" sz="1900" dirty="0"/>
              <a:t>    </a:t>
            </a:r>
            <a:r>
              <a:rPr lang="zh-CN" altLang="en-US" sz="1900" dirty="0">
                <a:solidFill>
                  <a:srgbClr val="0066FF"/>
                </a:solidFill>
              </a:rPr>
              <a:t>input wire </a:t>
            </a:r>
            <a:r>
              <a:rPr lang="zh-CN" altLang="en-US" sz="1900" dirty="0"/>
              <a:t>[</a:t>
            </a:r>
            <a:r>
              <a:rPr lang="zh-CN" altLang="en-US" sz="1900" dirty="0">
                <a:solidFill>
                  <a:srgbClr val="FF0000"/>
                </a:solidFill>
              </a:rPr>
              <a:t>1</a:t>
            </a:r>
            <a:r>
              <a:rPr lang="zh-CN" altLang="en-US" sz="1900" dirty="0"/>
              <a:t>:</a:t>
            </a:r>
            <a:r>
              <a:rPr lang="zh-CN" altLang="en-US" sz="1900" dirty="0">
                <a:solidFill>
                  <a:srgbClr val="FF0000"/>
                </a:solidFill>
              </a:rPr>
              <a:t>0</a:t>
            </a:r>
            <a:r>
              <a:rPr lang="zh-CN" altLang="en-US" sz="1900" dirty="0"/>
              <a:t>] selector, // 2位选择器输入</a:t>
            </a:r>
          </a:p>
          <a:p>
            <a:r>
              <a:rPr lang="zh-CN" altLang="en-US" sz="1900" dirty="0"/>
              <a:t>    </a:t>
            </a:r>
            <a:r>
              <a:rPr lang="zh-CN" altLang="en-US" sz="1900" dirty="0">
                <a:solidFill>
                  <a:srgbClr val="0066FF"/>
                </a:solidFill>
              </a:rPr>
              <a:t>input wire </a:t>
            </a:r>
            <a:r>
              <a:rPr lang="zh-CN" altLang="en-US" sz="1900" dirty="0"/>
              <a:t>input_a,      // 输入信号A</a:t>
            </a:r>
          </a:p>
          <a:p>
            <a:r>
              <a:rPr lang="zh-CN" altLang="en-US" sz="1900" dirty="0"/>
              <a:t>    </a:t>
            </a:r>
            <a:r>
              <a:rPr lang="zh-CN" altLang="en-US" sz="1900" dirty="0">
                <a:solidFill>
                  <a:srgbClr val="0066FF"/>
                </a:solidFill>
              </a:rPr>
              <a:t>input wire </a:t>
            </a:r>
            <a:r>
              <a:rPr lang="zh-CN" altLang="en-US" sz="1900" dirty="0"/>
              <a:t>input_b,      // 输入信号B</a:t>
            </a:r>
          </a:p>
          <a:p>
            <a:r>
              <a:rPr lang="zh-CN" altLang="en-US" sz="1900" dirty="0"/>
              <a:t>    </a:t>
            </a:r>
            <a:r>
              <a:rPr lang="zh-CN" altLang="en-US" sz="1900" dirty="0">
                <a:solidFill>
                  <a:srgbClr val="0066FF"/>
                </a:solidFill>
              </a:rPr>
              <a:t>input wire </a:t>
            </a:r>
            <a:r>
              <a:rPr lang="zh-CN" altLang="en-US" sz="1900" dirty="0"/>
              <a:t>input_c,      // 输入信号C</a:t>
            </a:r>
          </a:p>
          <a:p>
            <a:r>
              <a:rPr lang="zh-CN" altLang="en-US" sz="1900" dirty="0"/>
              <a:t>    </a:t>
            </a:r>
            <a:r>
              <a:rPr lang="zh-CN" altLang="en-US" sz="1900" dirty="0">
                <a:solidFill>
                  <a:srgbClr val="0066FF"/>
                </a:solidFill>
              </a:rPr>
              <a:t>output reg </a:t>
            </a:r>
            <a:r>
              <a:rPr lang="zh-CN" altLang="en-US" sz="1900" dirty="0"/>
              <a:t>out        // 输出信号</a:t>
            </a:r>
          </a:p>
          <a:p>
            <a:r>
              <a:rPr lang="zh-CN" altLang="en-US" sz="1900" dirty="0"/>
              <a:t>);</a:t>
            </a:r>
          </a:p>
          <a:p>
            <a:endParaRPr lang="zh-CN" altLang="en-US" sz="1900" dirty="0"/>
          </a:p>
          <a:p>
            <a:r>
              <a:rPr lang="zh-CN" altLang="en-US" sz="1900" dirty="0"/>
              <a:t>    // 当时钟上升沿到来时，根据selector的值选择输入信号</a:t>
            </a:r>
          </a:p>
          <a:p>
            <a:r>
              <a:rPr lang="zh-CN" altLang="en-US" sz="1900" dirty="0"/>
              <a:t>    </a:t>
            </a:r>
            <a:r>
              <a:rPr lang="zh-CN" altLang="en-US" sz="1900" dirty="0">
                <a:solidFill>
                  <a:srgbClr val="0066FF"/>
                </a:solidFill>
              </a:rPr>
              <a:t>always</a:t>
            </a:r>
            <a:r>
              <a:rPr lang="zh-CN" altLang="en-US" sz="1900" dirty="0"/>
              <a:t> @(posedge clk) </a:t>
            </a:r>
            <a:r>
              <a:rPr lang="zh-CN" altLang="en-US" sz="1900" dirty="0">
                <a:solidFill>
                  <a:srgbClr val="0066FF"/>
                </a:solidFill>
              </a:rPr>
              <a:t>begin</a:t>
            </a:r>
          </a:p>
          <a:p>
            <a:r>
              <a:rPr lang="zh-CN" altLang="en-US" sz="1900" dirty="0"/>
              <a:t>        </a:t>
            </a:r>
            <a:r>
              <a:rPr lang="zh-CN" altLang="en-US" sz="1900" dirty="0">
                <a:solidFill>
                  <a:srgbClr val="0066FF"/>
                </a:solidFill>
              </a:rPr>
              <a:t>case</a:t>
            </a:r>
            <a:r>
              <a:rPr lang="zh-CN" altLang="en-US" sz="1900" dirty="0"/>
              <a:t> (selector)</a:t>
            </a:r>
          </a:p>
          <a:p>
            <a:r>
              <a:rPr lang="zh-CN" altLang="en-US" sz="1900" dirty="0"/>
              <a:t>           </a:t>
            </a:r>
            <a:r>
              <a:rPr lang="zh-CN" altLang="en-US" sz="1900" dirty="0">
                <a:solidFill>
                  <a:srgbClr val="FF0000"/>
                </a:solidFill>
              </a:rPr>
              <a:t> 2'b00</a:t>
            </a:r>
            <a:r>
              <a:rPr lang="zh-CN" altLang="en-US" sz="1900" dirty="0"/>
              <a:t>: out &lt;= input_a;  // </a:t>
            </a:r>
            <a:r>
              <a:rPr lang="zh-CN" altLang="en-US" sz="1900" dirty="0">
                <a:solidFill>
                  <a:srgbClr val="00B050"/>
                </a:solidFill>
              </a:rPr>
              <a:t>如果selector是00，输出input_a</a:t>
            </a:r>
          </a:p>
          <a:p>
            <a:r>
              <a:rPr lang="zh-CN" altLang="en-US" sz="1900" dirty="0"/>
              <a:t>            </a:t>
            </a:r>
            <a:r>
              <a:rPr lang="zh-CN" altLang="en-US" sz="1900" dirty="0">
                <a:solidFill>
                  <a:srgbClr val="FF0000"/>
                </a:solidFill>
              </a:rPr>
              <a:t>2'b01</a:t>
            </a:r>
            <a:r>
              <a:rPr lang="zh-CN" altLang="en-US" sz="1900" dirty="0"/>
              <a:t>: out &lt;= input_b;  // </a:t>
            </a:r>
            <a:r>
              <a:rPr lang="zh-CN" altLang="en-US" sz="1900" dirty="0">
                <a:solidFill>
                  <a:srgbClr val="00B050"/>
                </a:solidFill>
              </a:rPr>
              <a:t>如果selector是01，输出input_b</a:t>
            </a:r>
          </a:p>
          <a:p>
            <a:r>
              <a:rPr lang="zh-CN" altLang="en-US" sz="1900" dirty="0"/>
              <a:t>            </a:t>
            </a:r>
            <a:r>
              <a:rPr lang="zh-CN" altLang="en-US" sz="1900" dirty="0">
                <a:solidFill>
                  <a:srgbClr val="FF0000"/>
                </a:solidFill>
              </a:rPr>
              <a:t>2'b10</a:t>
            </a:r>
            <a:r>
              <a:rPr lang="zh-CN" altLang="en-US" sz="1900" dirty="0"/>
              <a:t>: out &lt;= input_c;  // </a:t>
            </a:r>
            <a:r>
              <a:rPr lang="zh-CN" altLang="en-US" sz="1900" dirty="0">
                <a:solidFill>
                  <a:srgbClr val="00B050"/>
                </a:solidFill>
              </a:rPr>
              <a:t>如果selector是10，输出input_c</a:t>
            </a:r>
          </a:p>
          <a:p>
            <a:r>
              <a:rPr lang="zh-CN" altLang="en-US" sz="1900" dirty="0"/>
              <a:t>           </a:t>
            </a:r>
            <a:r>
              <a:rPr lang="zh-CN" altLang="en-US" sz="1900" dirty="0">
                <a:solidFill>
                  <a:srgbClr val="0066FF"/>
                </a:solidFill>
              </a:rPr>
              <a:t> default</a:t>
            </a:r>
            <a:r>
              <a:rPr lang="zh-CN" altLang="en-US" sz="1900" dirty="0"/>
              <a:t>: out &lt;= </a:t>
            </a:r>
            <a:r>
              <a:rPr lang="zh-CN" altLang="en-US" sz="1900" dirty="0">
                <a:solidFill>
                  <a:srgbClr val="FF0000"/>
                </a:solidFill>
              </a:rPr>
              <a:t>1'b0</a:t>
            </a:r>
            <a:r>
              <a:rPr lang="zh-CN" altLang="en-US" sz="1900" dirty="0"/>
              <a:t>;   // </a:t>
            </a:r>
            <a:r>
              <a:rPr lang="zh-CN" altLang="en-US" sz="1900" dirty="0">
                <a:solidFill>
                  <a:srgbClr val="00B050"/>
                </a:solidFill>
              </a:rPr>
              <a:t>所有其他情况下，输出0</a:t>
            </a:r>
          </a:p>
          <a:p>
            <a:r>
              <a:rPr lang="zh-CN" altLang="en-US" sz="1900" dirty="0">
                <a:solidFill>
                  <a:srgbClr val="0066FF"/>
                </a:solidFill>
              </a:rPr>
              <a:t>        endcase</a:t>
            </a:r>
          </a:p>
          <a:p>
            <a:r>
              <a:rPr lang="zh-CN" altLang="en-US" sz="1900" dirty="0">
                <a:solidFill>
                  <a:srgbClr val="0066FF"/>
                </a:solidFill>
              </a:rPr>
              <a:t>    end</a:t>
            </a:r>
          </a:p>
          <a:p>
            <a:endParaRPr lang="zh-CN" altLang="en-US" sz="1900" dirty="0"/>
          </a:p>
          <a:p>
            <a:r>
              <a:rPr lang="zh-CN" altLang="en-US" sz="1900" dirty="0"/>
              <a:t>endmodule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BD17F7-BD60-4C29-96C9-018F8FDBEB73}"/>
              </a:ext>
            </a:extLst>
          </p:cNvPr>
          <p:cNvSpPr txBox="1"/>
          <p:nvPr/>
        </p:nvSpPr>
        <p:spPr>
          <a:xfrm>
            <a:off x="7392144" y="3650132"/>
            <a:ext cx="150832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 err="1">
                <a:solidFill>
                  <a:srgbClr val="C00000"/>
                </a:solidFill>
                <a:latin typeface="-apple-system"/>
              </a:rPr>
              <a:t>negedge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4C806669-FBD5-4630-822F-D71EC25A74DB}"/>
              </a:ext>
            </a:extLst>
          </p:cNvPr>
          <p:cNvSpPr/>
          <p:nvPr/>
        </p:nvSpPr>
        <p:spPr>
          <a:xfrm rot="5400000">
            <a:off x="5923253" y="2536175"/>
            <a:ext cx="141462" cy="2652303"/>
          </a:xfrm>
          <a:prstGeom prst="upArrow">
            <a:avLst/>
          </a:prstGeom>
          <a:noFill/>
          <a:ln w="19050">
            <a:solidFill>
              <a:srgbClr val="C00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13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b="1" i="0" dirty="0">
                <a:effectLst/>
                <a:latin typeface="PingFang SC"/>
              </a:rPr>
              <a:t>基础知识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929DAA-F74F-4D64-A68E-306204DB7218}"/>
              </a:ext>
            </a:extLst>
          </p:cNvPr>
          <p:cNvSpPr txBox="1"/>
          <p:nvPr/>
        </p:nvSpPr>
        <p:spPr>
          <a:xfrm>
            <a:off x="407368" y="894542"/>
            <a:ext cx="4320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1A2029"/>
                </a:solidFill>
                <a:effectLst/>
                <a:latin typeface="-apple-system"/>
              </a:rPr>
              <a:t>元件例化（</a:t>
            </a:r>
            <a:r>
              <a:rPr lang="en-US" altLang="zh-CN" sz="2400" b="0" i="0" dirty="0">
                <a:solidFill>
                  <a:srgbClr val="1A2029"/>
                </a:solidFill>
                <a:effectLst/>
                <a:latin typeface="-apple-system"/>
              </a:rPr>
              <a:t>Instantiation</a:t>
            </a:r>
            <a:r>
              <a:rPr lang="zh-CN" altLang="en-US" sz="2400" b="0" i="0" dirty="0">
                <a:solidFill>
                  <a:srgbClr val="1A2029"/>
                </a:solidFill>
                <a:effectLst/>
                <a:latin typeface="-apple-system"/>
              </a:rPr>
              <a:t>）是指在一个模块中引用另一个模块</a:t>
            </a:r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63CFCC-AECE-4B59-BDBA-5C5810E99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79" y="2204864"/>
            <a:ext cx="4792457" cy="2232248"/>
          </a:xfrm>
          <a:prstGeom prst="rect">
            <a:avLst/>
          </a:prstGeom>
        </p:spPr>
      </p:pic>
      <p:sp>
        <p:nvSpPr>
          <p:cNvPr id="9" name="箭头: 上 8">
            <a:extLst>
              <a:ext uri="{FF2B5EF4-FFF2-40B4-BE49-F238E27FC236}">
                <a16:creationId xmlns:a16="http://schemas.microsoft.com/office/drawing/2014/main" id="{5278BAB1-5602-40F5-8B44-56B403C77883}"/>
              </a:ext>
            </a:extLst>
          </p:cNvPr>
          <p:cNvSpPr/>
          <p:nvPr/>
        </p:nvSpPr>
        <p:spPr>
          <a:xfrm rot="5400000">
            <a:off x="4937448" y="3507432"/>
            <a:ext cx="207990" cy="1203254"/>
          </a:xfrm>
          <a:prstGeom prst="upArrow">
            <a:avLst/>
          </a:prstGeom>
          <a:noFill/>
          <a:ln w="19050">
            <a:solidFill>
              <a:srgbClr val="C00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B72B538-8D14-4CBB-9931-391DC83C9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966" y="1310040"/>
            <a:ext cx="6385560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806945-462E-4FF6-89E3-1D042DEDE04A}"/>
              </a:ext>
            </a:extLst>
          </p:cNvPr>
          <p:cNvSpPr txBox="1">
            <a:spLocks/>
          </p:cNvSpPr>
          <p:nvPr/>
        </p:nvSpPr>
        <p:spPr>
          <a:xfrm>
            <a:off x="277255" y="164961"/>
            <a:ext cx="11161240" cy="566603"/>
          </a:xfrm>
          <a:prstGeom prst="rect">
            <a:avLst/>
          </a:prstGeom>
          <a:solidFill>
            <a:srgbClr val="0070C0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dirty="0">
                <a:latin typeface="PingFang SC"/>
              </a:rPr>
              <a:t>第</a:t>
            </a:r>
            <a:r>
              <a:rPr lang="en-US" altLang="zh-CN" dirty="0">
                <a:latin typeface="PingFang SC"/>
              </a:rPr>
              <a:t>13</a:t>
            </a:r>
            <a:r>
              <a:rPr lang="zh-CN" altLang="en-US" dirty="0">
                <a:latin typeface="PingFang SC"/>
              </a:rPr>
              <a:t>周实验</a:t>
            </a:r>
            <a:endParaRPr lang="zh-CN" altLang="en-US" b="1" i="0" dirty="0">
              <a:effectLst/>
              <a:latin typeface="PingFang SC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588AB3-547D-4A5E-94E2-72C060B5AEF2}"/>
              </a:ext>
            </a:extLst>
          </p:cNvPr>
          <p:cNvSpPr txBox="1"/>
          <p:nvPr/>
        </p:nvSpPr>
        <p:spPr>
          <a:xfrm>
            <a:off x="280371" y="2408300"/>
            <a:ext cx="6404910" cy="583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时序电路的基本设计：</a:t>
            </a:r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位二进制</a:t>
            </a: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计数器</a:t>
            </a:r>
            <a:endParaRPr lang="zh-CN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DCC7BC2-BB6B-401C-A44A-5154D63BBE49}"/>
              </a:ext>
            </a:extLst>
          </p:cNvPr>
          <p:cNvSpPr txBox="1"/>
          <p:nvPr/>
        </p:nvSpPr>
        <p:spPr>
          <a:xfrm>
            <a:off x="272814" y="4321192"/>
            <a:ext cx="6096000" cy="583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5. </a:t>
            </a: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使用元件例化语句实现四选一数据选择器</a:t>
            </a:r>
            <a:endParaRPr lang="zh-CN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9EDC386-F04D-4183-8084-DFAA3C6BEE82}"/>
              </a:ext>
            </a:extLst>
          </p:cNvPr>
          <p:cNvSpPr txBox="1"/>
          <p:nvPr/>
        </p:nvSpPr>
        <p:spPr>
          <a:xfrm>
            <a:off x="277255" y="908720"/>
            <a:ext cx="75701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实现</a:t>
            </a:r>
            <a:r>
              <a:rPr lang="en-US" altLang="zh-CN" sz="2400" b="1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RS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触发器和</a:t>
            </a:r>
            <a:r>
              <a:rPr lang="en-US" altLang="zh-CN" sz="2400" b="1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D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触发器</a:t>
            </a:r>
            <a:r>
              <a:rPr lang="en-US" altLang="zh-CN" sz="2400" b="1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F15D98A-3B21-48D3-8549-E2533473E461}"/>
              </a:ext>
            </a:extLst>
          </p:cNvPr>
          <p:cNvSpPr txBox="1"/>
          <p:nvPr/>
        </p:nvSpPr>
        <p:spPr>
          <a:xfrm>
            <a:off x="272814" y="1535819"/>
            <a:ext cx="6096000" cy="583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zh-CN" altLang="en-US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利用</a:t>
            </a:r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D</a:t>
            </a: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触发器分别实现</a:t>
            </a:r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分频和</a:t>
            </a:r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分频</a:t>
            </a:r>
            <a:endParaRPr lang="zh-CN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3FD65B-86D7-4339-96D6-0FC39527947A}"/>
              </a:ext>
            </a:extLst>
          </p:cNvPr>
          <p:cNvSpPr txBox="1"/>
          <p:nvPr/>
        </p:nvSpPr>
        <p:spPr>
          <a:xfrm>
            <a:off x="268662" y="3404928"/>
            <a:ext cx="64124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4. </a:t>
            </a:r>
            <a:r>
              <a:rPr lang="zh-CN" altLang="zh-CN" sz="2400" b="1" kern="1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使用元件例化的方式实现如下电路的功能</a:t>
            </a:r>
            <a:endParaRPr lang="zh-CN" altLang="en-US" sz="2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AFDAF82-030D-402C-9AC1-164394A0FA5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00126" y="1737288"/>
            <a:ext cx="5219060" cy="30869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0444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Blends">
  <a:themeElements>
    <a:clrScheme name="Blends 8">
      <a:dk1>
        <a:srgbClr val="000000"/>
      </a:dk1>
      <a:lt1>
        <a:srgbClr val="FFFFFF"/>
      </a:lt1>
      <a:dk2>
        <a:srgbClr val="800080"/>
      </a:dk2>
      <a:lt2>
        <a:srgbClr val="1C1C1C"/>
      </a:lt2>
      <a:accent1>
        <a:srgbClr val="777777"/>
      </a:accent1>
      <a:accent2>
        <a:srgbClr val="FFCF01"/>
      </a:accent2>
      <a:accent3>
        <a:srgbClr val="FFFFFF"/>
      </a:accent3>
      <a:accent4>
        <a:srgbClr val="000000"/>
      </a:accent4>
      <a:accent5>
        <a:srgbClr val="BDBDBD"/>
      </a:accent5>
      <a:accent6>
        <a:srgbClr val="E7BB01"/>
      </a:accent6>
      <a:hlink>
        <a:srgbClr val="800080"/>
      </a:hlink>
      <a:folHlink>
        <a:srgbClr val="800080"/>
      </a:folHlink>
    </a:clrScheme>
    <a:fontScheme name="Blends">
      <a:majorFont>
        <a:latin typeface="Verdana"/>
        <a:ea typeface=""/>
        <a:cs typeface="Times New Roman"/>
      </a:majorFont>
      <a:minorFont>
        <a:latin typeface="Verdana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  <a:prstDash val="sysDash"/>
        </a:ln>
      </a:spPr>
      <a:bodyPr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196975" marR="0" indent="-282575" algn="l" defTabSz="914400" rtl="0" eaLnBrk="1" fontAlgn="base" latinLnBrk="0" hangingPunct="1">
          <a:lnSpc>
            <a:spcPct val="100000"/>
          </a:lnSpc>
          <a:spcBef>
            <a:spcPts val="500"/>
          </a:spcBef>
          <a:spcAft>
            <a:spcPct val="0"/>
          </a:spcAft>
          <a:buClr>
            <a:srgbClr val="800080"/>
          </a:buClr>
          <a:buSzPct val="55000"/>
          <a:buFont typeface="Wingdings" pitchFamily="2" charset="2"/>
          <a:buChar char="n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800080"/>
        </a:dk2>
        <a:lt2>
          <a:srgbClr val="1C1C1C"/>
        </a:lt2>
        <a:accent1>
          <a:srgbClr val="777777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BDBDBD"/>
        </a:accent5>
        <a:accent6>
          <a:srgbClr val="E7BB01"/>
        </a:accent6>
        <a:hlink>
          <a:srgbClr val="800080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C:\Programs\MsOffice\Templates\Presentation Designs\Straight Edge.pot</Template>
  <TotalTime>102336</TotalTime>
  <Words>466</Words>
  <Application>Microsoft Office PowerPoint</Application>
  <PresentationFormat>宽屏</PresentationFormat>
  <Paragraphs>44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-apple-system</vt:lpstr>
      <vt:lpstr>PingFang SC</vt:lpstr>
      <vt:lpstr>微软雅黑</vt:lpstr>
      <vt:lpstr>Arial</vt:lpstr>
      <vt:lpstr>Calibri</vt:lpstr>
      <vt:lpstr>Tahoma</vt:lpstr>
      <vt:lpstr>Times New Roman</vt:lpstr>
      <vt:lpstr>Verdana</vt:lpstr>
      <vt:lpstr>Wingdings</vt:lpstr>
      <vt:lpstr>Blends</vt:lpstr>
      <vt:lpstr>第四讲：数字逻辑与数字系统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University of Washington, CS 4 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with Python</dc:title>
  <dc:creator>Marty Stepp</dc:creator>
  <cp:lastModifiedBy>xiaofeng</cp:lastModifiedBy>
  <cp:revision>3309</cp:revision>
  <cp:lastPrinted>2019-10-24T05:03:19Z</cp:lastPrinted>
  <dcterms:created xsi:type="dcterms:W3CDTF">2009-04-22T19:24:48Z</dcterms:created>
  <dcterms:modified xsi:type="dcterms:W3CDTF">2024-11-27T10:27:20Z</dcterms:modified>
</cp:coreProperties>
</file>