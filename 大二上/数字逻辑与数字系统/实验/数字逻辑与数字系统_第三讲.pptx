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50" r:id="rId1"/>
  </p:sldMasterIdLst>
  <p:notesMasterIdLst>
    <p:notesMasterId r:id="rId7"/>
  </p:notesMasterIdLst>
  <p:handoutMasterIdLst>
    <p:handoutMasterId r:id="rId8"/>
  </p:handoutMasterIdLst>
  <p:sldIdLst>
    <p:sldId id="256" r:id="rId2"/>
    <p:sldId id="1630" r:id="rId3"/>
    <p:sldId id="1635" r:id="rId4"/>
    <p:sldId id="1637" r:id="rId5"/>
    <p:sldId id="1628" r:id="rId6"/>
  </p:sldIdLst>
  <p:sldSz cx="12192000" cy="6858000"/>
  <p:notesSz cx="6858000" cy="99472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FF"/>
    <a:srgbClr val="336699"/>
    <a:srgbClr val="C6913A"/>
    <a:srgbClr val="0000FF"/>
    <a:srgbClr val="4986CF"/>
    <a:srgbClr val="5B7BE3"/>
    <a:srgbClr val="50B5E2"/>
    <a:srgbClr val="1B7AA5"/>
    <a:srgbClr val="006600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39" autoAdjust="0"/>
    <p:restoredTop sz="83189" autoAdjust="0"/>
  </p:normalViewPr>
  <p:slideViewPr>
    <p:cSldViewPr>
      <p:cViewPr>
        <p:scale>
          <a:sx n="100" d="100"/>
          <a:sy n="100" d="100"/>
        </p:scale>
        <p:origin x="1332" y="20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-1915" y="-77"/>
      </p:cViewPr>
      <p:guideLst>
        <p:guide orient="horz" pos="3133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hi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9911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bye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449911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fld id="{E2B571F6-0F46-43D6-BF59-2C8F4E9239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87679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hi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3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" y="746125"/>
            <a:ext cx="6629400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956"/>
            <a:ext cx="5029200" cy="4476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9911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bye</a:t>
            </a: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449911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fld id="{46CE8C4E-4E2B-4FAA-924F-F78D103AAC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24919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8AFE70DC-C7E3-4C03-93E4-B49EBC9D86EE}" type="slidenum">
              <a:rPr lang="en-US" altLang="zh-CN" sz="1200" smtClean="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</a:t>
            </a:fld>
            <a:endParaRPr lang="en-US" altLang="zh-CN" sz="1200">
              <a:latin typeface="Times New Roman" pitchFamily="18" charset="0"/>
            </a:endParaRPr>
          </a:p>
        </p:txBody>
      </p:sp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1939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1177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1A2029"/>
                </a:solidFill>
                <a:effectLst/>
                <a:latin typeface="ui-monospace"/>
              </a:rPr>
              <a:t>输出全 </a:t>
            </a:r>
            <a:r>
              <a:rPr lang="en-US" altLang="zh-CN" b="0" i="0" dirty="0">
                <a:solidFill>
                  <a:srgbClr val="1A2029"/>
                </a:solidFill>
                <a:effectLst/>
                <a:latin typeface="ui-monospace"/>
              </a:rPr>
              <a:t>'1' </a:t>
            </a:r>
            <a:r>
              <a:rPr lang="zh-CN" altLang="en-US" b="0" i="0" dirty="0">
                <a:solidFill>
                  <a:srgbClr val="1A2029"/>
                </a:solidFill>
                <a:effectLst/>
                <a:latin typeface="ui-monospace"/>
              </a:rPr>
              <a:t>（即 </a:t>
            </a:r>
            <a:r>
              <a:rPr lang="en-US" altLang="zh-CN" b="0" i="0" dirty="0">
                <a:solidFill>
                  <a:srgbClr val="1A2029"/>
                </a:solidFill>
                <a:effectLst/>
                <a:latin typeface="ui-monospace"/>
              </a:rPr>
              <a:t>255</a:t>
            </a:r>
            <a:r>
              <a:rPr lang="zh-CN" altLang="en-US" b="0" i="0" dirty="0">
                <a:solidFill>
                  <a:srgbClr val="1A2029"/>
                </a:solidFill>
                <a:effectLst/>
                <a:latin typeface="ui-monospace"/>
              </a:rPr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549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3708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7"/>
          <p:cNvSpPr>
            <a:spLocks noChangeArrowheads="1"/>
          </p:cNvSpPr>
          <p:nvPr userDrawn="1"/>
        </p:nvSpPr>
        <p:spPr bwMode="auto">
          <a:xfrm>
            <a:off x="2641600" y="4191000"/>
            <a:ext cx="74168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87338" indent="-287338">
              <a:lnSpc>
                <a:spcPct val="102000"/>
              </a:lnSpc>
              <a:spcBef>
                <a:spcPct val="20000"/>
              </a:spcBef>
              <a:buClr>
                <a:srgbClr val="808080"/>
              </a:buClr>
              <a:buSzPct val="60000"/>
              <a:buFont typeface="Wingdings" pitchFamily="2" charset="2"/>
              <a:buChar char="n"/>
            </a:pPr>
            <a:endParaRPr lang="en-GB" altLang="zh-CN" sz="1600"/>
          </a:p>
        </p:txBody>
      </p:sp>
      <p:sp>
        <p:nvSpPr>
          <p:cNvPr id="1946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0" y="2743200"/>
            <a:ext cx="12192000" cy="1600200"/>
          </a:xfrm>
        </p:spPr>
        <p:txBody>
          <a:bodyPr anchor="ctr"/>
          <a:lstStyle>
            <a:lvl1pPr>
              <a:defRPr sz="44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582400" y="6486525"/>
            <a:ext cx="609600" cy="381000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41BCACC2-EB2E-41B5-88CE-73A61AB12F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2180422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F4B451-ED34-44AC-A294-F69DDAD52F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54706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6CA548-88A0-4B76-ACB8-541D048795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3768565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1066800"/>
            <a:ext cx="59944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066800"/>
            <a:ext cx="59944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28CAA-8BE4-46E1-93AA-6E4772B53C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804182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215D8D-A7E5-4C44-8276-4D9C4CFAE0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862110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491312-4604-4E58-8319-6E38FD6FBB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261951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EDC48A-AC36-4DC7-9F8C-4BFF4C0342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001754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AD5092-F570-4E83-87BB-25B42F38CC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818756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8160E3-5837-415F-9BBB-C137EFF193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292862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DD35B4-CD61-434F-B263-5E6E207B21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196323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152400"/>
            <a:ext cx="3048000" cy="6477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52400"/>
            <a:ext cx="8940800" cy="6477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8452F-4105-48B6-93DB-6861893DE9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976153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3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28" b="36090"/>
          <a:stretch>
            <a:fillRect/>
          </a:stretch>
        </p:blipFill>
        <p:spPr bwMode="auto">
          <a:xfrm>
            <a:off x="0" y="6048376"/>
            <a:ext cx="1727200" cy="80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03200" y="152400"/>
            <a:ext cx="11804651" cy="838200"/>
          </a:xfrm>
          <a:prstGeom prst="rect">
            <a:avLst/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066800"/>
            <a:ext cx="12192000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</p:txBody>
      </p:sp>
      <p:sp>
        <p:nvSpPr>
          <p:cNvPr id="1844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363200" y="64008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400">
                <a:latin typeface="Tahoma" pitchFamily="34" charset="0"/>
                <a:ea typeface="宋体" charset="-122"/>
              </a:defRPr>
            </a:lvl1pPr>
          </a:lstStyle>
          <a:p>
            <a:pPr>
              <a:defRPr/>
            </a:pPr>
            <a:fld id="{3C3F5D21-47BA-43E3-9A7C-87A4E15DF7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</p:sldLayoutIdLst>
  <p:transition spd="med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808080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90563" indent="-233363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SzPct val="55000"/>
        <a:buFont typeface="Wingdings" pitchFamily="2" charset="2"/>
        <a:buChar char="n"/>
        <a:defRPr>
          <a:solidFill>
            <a:schemeClr val="tx1"/>
          </a:solidFill>
          <a:latin typeface="+mn-lt"/>
          <a:cs typeface="+mn-cs"/>
        </a:defRPr>
      </a:lvl2pPr>
      <a:lvl3pPr marL="1084263" indent="-16986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3pPr>
      <a:lvl4pPr marL="1541463" indent="-16986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5000"/>
        <a:buFont typeface="Wingdings" pitchFamily="2" charset="2"/>
        <a:buChar char="n"/>
        <a:defRPr sz="14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783" name="Rectangle 7"/>
          <p:cNvSpPr>
            <a:spLocks noGrp="1" noChangeArrowheads="1"/>
          </p:cNvSpPr>
          <p:nvPr>
            <p:ph type="title"/>
          </p:nvPr>
        </p:nvSpPr>
        <p:spPr>
          <a:xfrm>
            <a:off x="18114" y="1828800"/>
            <a:ext cx="12192000" cy="1600200"/>
          </a:xfrm>
          <a:solidFill>
            <a:srgbClr val="336699"/>
          </a:solidFill>
        </p:spPr>
        <p:txBody>
          <a:bodyPr/>
          <a:lstStyle/>
          <a:p>
            <a:pPr eaLnBrk="1" hangingPunct="1">
              <a:defRPr/>
            </a:pPr>
            <a:r>
              <a:rPr lang="zh-CN" altLang="en-US" sz="5400" dirty="0"/>
              <a:t>第三讲：</a:t>
            </a:r>
            <a:r>
              <a:rPr lang="zh-CN" altLang="zh-CN" sz="5400" dirty="0"/>
              <a:t>数字逻辑与</a:t>
            </a:r>
            <a:r>
              <a:rPr lang="en-US" altLang="zh-CN" sz="5400" dirty="0"/>
              <a:t>CPU</a:t>
            </a:r>
            <a:r>
              <a:rPr lang="zh-CN" altLang="en-US" sz="5400" dirty="0"/>
              <a:t>基础</a:t>
            </a:r>
            <a:endParaRPr lang="en-US" altLang="zh-CN" sz="4000" dirty="0">
              <a:ea typeface="宋体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27848" y="4149080"/>
            <a:ext cx="1954381" cy="662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2024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 秋季 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4063C517-3AAE-4FD3-9466-B172837F8FA0}"/>
              </a:ext>
            </a:extLst>
          </p:cNvPr>
          <p:cNvSpPr txBox="1"/>
          <p:nvPr/>
        </p:nvSpPr>
        <p:spPr>
          <a:xfrm>
            <a:off x="1847528" y="1484784"/>
            <a:ext cx="9590967" cy="1941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代码：学校邮箱</a:t>
            </a:r>
            <a:endParaRPr lang="en-US" altLang="zh-CN" sz="2800" b="1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报告：</a:t>
            </a:r>
            <a:r>
              <a:rPr lang="en-US" altLang="zh-CN" sz="2800" b="1" dirty="0"/>
              <a:t>163</a:t>
            </a:r>
            <a:r>
              <a:rPr lang="zh-CN" altLang="en-US" sz="2800" b="1" dirty="0"/>
              <a:t>邮箱</a:t>
            </a:r>
            <a:endParaRPr lang="en-US" altLang="zh-CN" sz="2800" b="1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上次作业补交，</a:t>
            </a:r>
            <a:r>
              <a:rPr lang="en-US" altLang="zh-CN" sz="2800" b="1" dirty="0"/>
              <a:t>11</a:t>
            </a:r>
            <a:r>
              <a:rPr lang="zh-CN" altLang="en-US" sz="2800" b="1" dirty="0"/>
              <a:t>月</a:t>
            </a:r>
            <a:r>
              <a:rPr lang="en-US" altLang="zh-CN" sz="2800" b="1" dirty="0"/>
              <a:t>25</a:t>
            </a:r>
            <a:r>
              <a:rPr lang="zh-CN" altLang="en-US" sz="2800" b="1" dirty="0"/>
              <a:t>日早</a:t>
            </a:r>
            <a:r>
              <a:rPr lang="en-US" altLang="zh-CN" sz="2800" b="1" dirty="0"/>
              <a:t>8</a:t>
            </a:r>
            <a:r>
              <a:rPr lang="zh-CN" altLang="en-US" sz="2800" b="1" dirty="0"/>
              <a:t>至晚</a:t>
            </a:r>
            <a:r>
              <a:rPr lang="en-US" altLang="zh-CN" sz="2800" b="1" dirty="0"/>
              <a:t>8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960C175E-C518-4FF4-948B-032D4DC96DF9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b="1" i="0" dirty="0">
                <a:effectLst/>
                <a:latin typeface="PingFang SC"/>
              </a:rPr>
              <a:t>作业提交</a:t>
            </a:r>
          </a:p>
        </p:txBody>
      </p:sp>
    </p:spTree>
    <p:extLst>
      <p:ext uri="{BB962C8B-B14F-4D97-AF65-F5344CB8AC3E}">
        <p14:creationId xmlns:p14="http://schemas.microsoft.com/office/powerpoint/2010/main" val="3103546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b="1" i="0" dirty="0">
                <a:effectLst/>
                <a:latin typeface="PingFang SC"/>
              </a:rPr>
              <a:t>基础知识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970360E-BDF4-4FB7-A361-994A52063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20" y="743378"/>
            <a:ext cx="6724650" cy="54483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8706581-8ADB-447A-8582-5861CF026AB3}"/>
              </a:ext>
            </a:extLst>
          </p:cNvPr>
          <p:cNvSpPr txBox="1"/>
          <p:nvPr/>
        </p:nvSpPr>
        <p:spPr>
          <a:xfrm>
            <a:off x="4999704" y="1930280"/>
            <a:ext cx="699831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600" dirty="0">
                <a:solidFill>
                  <a:srgbClr val="C00000"/>
                </a:solidFill>
                <a:latin typeface="-apple-system"/>
              </a:rPr>
              <a:t>Always</a:t>
            </a:r>
            <a:r>
              <a:rPr lang="zh-CN" altLang="en-US" sz="2600" dirty="0">
                <a:solidFill>
                  <a:srgbClr val="C00000"/>
                </a:solidFill>
                <a:latin typeface="-apple-system"/>
              </a:rPr>
              <a:t>内部赋值语句的变量</a:t>
            </a:r>
            <a:r>
              <a:rPr lang="zh-CN" altLang="en-US" sz="2600" b="0" i="0" dirty="0">
                <a:solidFill>
                  <a:srgbClr val="C00000"/>
                </a:solidFill>
                <a:effectLst/>
                <a:latin typeface="-apple-system"/>
              </a:rPr>
              <a:t>必须为</a:t>
            </a:r>
            <a:r>
              <a:rPr lang="en-US" altLang="zh-CN" sz="2600" b="0" i="0" dirty="0">
                <a:solidFill>
                  <a:srgbClr val="C00000"/>
                </a:solidFill>
                <a:effectLst/>
                <a:latin typeface="-apple-system"/>
              </a:rPr>
              <a:t>reg</a:t>
            </a:r>
            <a:r>
              <a:rPr lang="zh-CN" altLang="en-US" sz="2600" b="0" i="0" dirty="0">
                <a:solidFill>
                  <a:srgbClr val="C00000"/>
                </a:solidFill>
                <a:effectLst/>
                <a:latin typeface="-apple-system"/>
              </a:rPr>
              <a:t>类型</a:t>
            </a:r>
            <a:endParaRPr lang="en-US" altLang="zh-CN" sz="2600" b="0" i="0" dirty="0">
              <a:solidFill>
                <a:srgbClr val="C00000"/>
              </a:solidFill>
              <a:effectLst/>
              <a:latin typeface="-apple-system"/>
            </a:endParaRP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316B329E-8D24-471A-94CF-FC511FBF4E42}"/>
              </a:ext>
            </a:extLst>
          </p:cNvPr>
          <p:cNvSpPr/>
          <p:nvPr/>
        </p:nvSpPr>
        <p:spPr>
          <a:xfrm rot="6135124">
            <a:off x="3874253" y="1380027"/>
            <a:ext cx="132080" cy="1892276"/>
          </a:xfrm>
          <a:prstGeom prst="upArrow">
            <a:avLst/>
          </a:prstGeom>
          <a:solidFill>
            <a:schemeClr val="bg1"/>
          </a:solidFill>
          <a:ln w="2540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4B10B50-FBD4-4537-8F71-CC50D202E0B2}"/>
              </a:ext>
            </a:extLst>
          </p:cNvPr>
          <p:cNvSpPr txBox="1"/>
          <p:nvPr/>
        </p:nvSpPr>
        <p:spPr>
          <a:xfrm>
            <a:off x="4985764" y="2531558"/>
            <a:ext cx="535870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rgbClr val="C00000"/>
                </a:solidFill>
                <a:latin typeface="-apple-system"/>
              </a:rPr>
              <a:t>若为</a:t>
            </a:r>
            <a:r>
              <a:rPr lang="en-US" altLang="zh-CN" sz="2600" dirty="0">
                <a:solidFill>
                  <a:srgbClr val="C00000"/>
                </a:solidFill>
                <a:latin typeface="-apple-system"/>
              </a:rPr>
              <a:t>wire</a:t>
            </a:r>
            <a:r>
              <a:rPr lang="zh-CN" altLang="en-US" sz="2600" dirty="0">
                <a:solidFill>
                  <a:srgbClr val="C00000"/>
                </a:solidFill>
                <a:latin typeface="-apple-system"/>
              </a:rPr>
              <a:t>，则报类型错误</a:t>
            </a:r>
            <a:endParaRPr lang="en-US" altLang="zh-CN" sz="2600" b="0" i="0" dirty="0">
              <a:solidFill>
                <a:srgbClr val="C00000"/>
              </a:solidFill>
              <a:effectLst/>
              <a:latin typeface="-apple-system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61C56C9-887A-4807-9D74-C01FF6B44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2130" y="5591402"/>
            <a:ext cx="9162439" cy="523220"/>
          </a:xfrm>
          <a:prstGeom prst="rect">
            <a:avLst/>
          </a:prstGeom>
        </p:spPr>
      </p:pic>
      <p:sp>
        <p:nvSpPr>
          <p:cNvPr id="14" name="箭头: 上 13">
            <a:extLst>
              <a:ext uri="{FF2B5EF4-FFF2-40B4-BE49-F238E27FC236}">
                <a16:creationId xmlns:a16="http://schemas.microsoft.com/office/drawing/2014/main" id="{CD29DC98-647A-43F6-8742-B7DCBC0E6617}"/>
              </a:ext>
            </a:extLst>
          </p:cNvPr>
          <p:cNvSpPr/>
          <p:nvPr/>
        </p:nvSpPr>
        <p:spPr>
          <a:xfrm rot="10800000">
            <a:off x="6751888" y="3241671"/>
            <a:ext cx="202982" cy="1944216"/>
          </a:xfrm>
          <a:prstGeom prst="upArrow">
            <a:avLst/>
          </a:prstGeom>
          <a:solidFill>
            <a:schemeClr val="bg1"/>
          </a:solidFill>
          <a:ln w="2540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0F40B86-154B-489B-8DDE-920283935B5B}"/>
              </a:ext>
            </a:extLst>
          </p:cNvPr>
          <p:cNvSpPr txBox="1"/>
          <p:nvPr/>
        </p:nvSpPr>
        <p:spPr>
          <a:xfrm>
            <a:off x="7262081" y="3279223"/>
            <a:ext cx="439248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Error (10137): Verilog HDL Procedural Assignment error at simple_if_else.v(9): object "out" on left-hand side of assignment must have a variable data type</a:t>
            </a:r>
          </a:p>
        </p:txBody>
      </p:sp>
    </p:spTree>
    <p:extLst>
      <p:ext uri="{BB962C8B-B14F-4D97-AF65-F5344CB8AC3E}">
        <p14:creationId xmlns:p14="http://schemas.microsoft.com/office/powerpoint/2010/main" val="355729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b="1" i="0" dirty="0">
                <a:effectLst/>
                <a:latin typeface="PingFang SC"/>
              </a:rPr>
              <a:t>基础知识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53552A3-2537-4415-B753-55F0901458B8}"/>
              </a:ext>
            </a:extLst>
          </p:cNvPr>
          <p:cNvSpPr txBox="1"/>
          <p:nvPr/>
        </p:nvSpPr>
        <p:spPr>
          <a:xfrm>
            <a:off x="623392" y="781097"/>
            <a:ext cx="8496944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66FF"/>
                </a:solidFill>
              </a:rPr>
              <a:t>module </a:t>
            </a:r>
            <a:r>
              <a:rPr lang="zh-CN" altLang="en-US" sz="2400" dirty="0"/>
              <a:t>case_example (</a:t>
            </a:r>
          </a:p>
          <a:p>
            <a:r>
              <a:rPr lang="zh-CN" altLang="en-US" sz="2400" dirty="0"/>
              <a:t>    </a:t>
            </a:r>
            <a:r>
              <a:rPr lang="zh-CN" altLang="en-US" sz="2400" dirty="0">
                <a:solidFill>
                  <a:srgbClr val="0066FF"/>
                </a:solidFill>
              </a:rPr>
              <a:t>input wire </a:t>
            </a:r>
            <a:r>
              <a:rPr lang="zh-CN" altLang="en-US" sz="2400" dirty="0"/>
              <a:t>[</a:t>
            </a:r>
            <a:r>
              <a:rPr lang="zh-CN" altLang="en-US" sz="2400" dirty="0">
                <a:solidFill>
                  <a:srgbClr val="C00000"/>
                </a:solidFill>
              </a:rPr>
              <a:t>1</a:t>
            </a:r>
            <a:r>
              <a:rPr lang="zh-CN" altLang="en-US" sz="2400" dirty="0"/>
              <a:t>:</a:t>
            </a:r>
            <a:r>
              <a:rPr lang="zh-CN" altLang="en-US" sz="2400" dirty="0">
                <a:solidFill>
                  <a:srgbClr val="C00000"/>
                </a:solidFill>
              </a:rPr>
              <a:t>0</a:t>
            </a:r>
            <a:r>
              <a:rPr lang="zh-CN" altLang="en-US" sz="2400" dirty="0"/>
              <a:t>] select,      // 2-bit selector signal</a:t>
            </a:r>
          </a:p>
          <a:p>
            <a:r>
              <a:rPr lang="zh-CN" altLang="en-US" sz="2400" dirty="0"/>
              <a:t>    </a:t>
            </a:r>
            <a:r>
              <a:rPr lang="zh-CN" altLang="en-US" sz="2400" dirty="0">
                <a:solidFill>
                  <a:srgbClr val="0066FF"/>
                </a:solidFill>
              </a:rPr>
              <a:t>input wire </a:t>
            </a:r>
            <a:r>
              <a:rPr lang="zh-CN" altLang="en-US" sz="2400" dirty="0"/>
              <a:t>[</a:t>
            </a:r>
            <a:r>
              <a:rPr lang="zh-CN" altLang="en-US" sz="2400" dirty="0">
                <a:solidFill>
                  <a:srgbClr val="C00000"/>
                </a:solidFill>
              </a:rPr>
              <a:t>7</a:t>
            </a:r>
            <a:r>
              <a:rPr lang="zh-CN" altLang="en-US" sz="2400" dirty="0"/>
              <a:t>:</a:t>
            </a:r>
            <a:r>
              <a:rPr lang="zh-CN" altLang="en-US" sz="2400" dirty="0">
                <a:solidFill>
                  <a:srgbClr val="C00000"/>
                </a:solidFill>
              </a:rPr>
              <a:t>0</a:t>
            </a:r>
            <a:r>
              <a:rPr lang="zh-CN" altLang="en-US" sz="2400" dirty="0"/>
              <a:t>] data_in,     // 8-bit data input</a:t>
            </a:r>
          </a:p>
          <a:p>
            <a:r>
              <a:rPr lang="zh-CN" altLang="en-US" sz="2400" dirty="0"/>
              <a:t>    </a:t>
            </a:r>
            <a:r>
              <a:rPr lang="zh-CN" altLang="en-US" sz="2400" dirty="0">
                <a:solidFill>
                  <a:srgbClr val="0066FF"/>
                </a:solidFill>
              </a:rPr>
              <a:t>output reg </a:t>
            </a:r>
            <a:r>
              <a:rPr lang="zh-CN" altLang="en-US" sz="2400" dirty="0"/>
              <a:t>[</a:t>
            </a:r>
            <a:r>
              <a:rPr lang="zh-CN" altLang="en-US" sz="2400" dirty="0">
                <a:solidFill>
                  <a:srgbClr val="C00000"/>
                </a:solidFill>
              </a:rPr>
              <a:t>7</a:t>
            </a:r>
            <a:r>
              <a:rPr lang="zh-CN" altLang="en-US" sz="2400" dirty="0"/>
              <a:t>:</a:t>
            </a:r>
            <a:r>
              <a:rPr lang="zh-CN" altLang="en-US" sz="2400" dirty="0">
                <a:solidFill>
                  <a:srgbClr val="C00000"/>
                </a:solidFill>
              </a:rPr>
              <a:t>0</a:t>
            </a:r>
            <a:r>
              <a:rPr lang="zh-CN" altLang="en-US" sz="2400" dirty="0"/>
              <a:t>] data_out     // 8-bit data output</a:t>
            </a:r>
          </a:p>
          <a:p>
            <a:r>
              <a:rPr lang="zh-CN" altLang="en-US" sz="2400" dirty="0"/>
              <a:t>);</a:t>
            </a:r>
          </a:p>
          <a:p>
            <a:endParaRPr lang="zh-CN" altLang="en-US" sz="2400" dirty="0"/>
          </a:p>
          <a:p>
            <a:r>
              <a:rPr lang="zh-CN" altLang="en-US" sz="2400" dirty="0">
                <a:solidFill>
                  <a:srgbClr val="0066FF"/>
                </a:solidFill>
              </a:rPr>
              <a:t>always</a:t>
            </a:r>
            <a:r>
              <a:rPr lang="zh-CN" altLang="en-US" sz="2400" dirty="0"/>
              <a:t> @(*) </a:t>
            </a:r>
            <a:r>
              <a:rPr lang="zh-CN" altLang="en-US" sz="2400" dirty="0">
                <a:solidFill>
                  <a:srgbClr val="0066FF"/>
                </a:solidFill>
              </a:rPr>
              <a:t>begin</a:t>
            </a:r>
          </a:p>
          <a:p>
            <a:r>
              <a:rPr lang="zh-CN" altLang="en-US" sz="2400" dirty="0"/>
              <a:t>   </a:t>
            </a:r>
            <a:r>
              <a:rPr lang="zh-CN" altLang="en-US" sz="2400" dirty="0">
                <a:solidFill>
                  <a:srgbClr val="0066FF"/>
                </a:solidFill>
              </a:rPr>
              <a:t> case </a:t>
            </a:r>
            <a:r>
              <a:rPr lang="zh-CN" altLang="en-US" sz="2400" dirty="0"/>
              <a:t>(select)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/>
              <a:t>        </a:t>
            </a:r>
            <a:r>
              <a:rPr lang="zh-CN" altLang="en-US" sz="2400" dirty="0">
                <a:solidFill>
                  <a:srgbClr val="C00000"/>
                </a:solidFill>
              </a:rPr>
              <a:t>2'b00</a:t>
            </a:r>
            <a:r>
              <a:rPr lang="zh-CN" altLang="en-US" sz="2400" dirty="0"/>
              <a:t>: data_out = data_in + </a:t>
            </a:r>
            <a:r>
              <a:rPr lang="zh-CN" altLang="en-US" sz="2400" dirty="0">
                <a:solidFill>
                  <a:srgbClr val="C00000"/>
                </a:solidFill>
              </a:rPr>
              <a:t>8'b00000001</a:t>
            </a:r>
            <a:r>
              <a:rPr lang="zh-CN" altLang="en-US" sz="2400" dirty="0"/>
              <a:t>;  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/>
              <a:t>        </a:t>
            </a:r>
            <a:r>
              <a:rPr lang="zh-CN" altLang="en-US" sz="2400" dirty="0">
                <a:solidFill>
                  <a:srgbClr val="C00000"/>
                </a:solidFill>
              </a:rPr>
              <a:t>2'b01</a:t>
            </a:r>
            <a:r>
              <a:rPr lang="zh-CN" altLang="en-US" sz="2400" dirty="0"/>
              <a:t>: data_out = data_in -</a:t>
            </a:r>
            <a:r>
              <a:rPr lang="zh-CN" altLang="en-US" sz="2400" dirty="0">
                <a:solidFill>
                  <a:srgbClr val="C00000"/>
                </a:solidFill>
              </a:rPr>
              <a:t> 8'b00000001</a:t>
            </a:r>
            <a:r>
              <a:rPr lang="zh-CN" altLang="en-US" sz="2400" dirty="0"/>
              <a:t>;  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/>
              <a:t>        </a:t>
            </a:r>
            <a:r>
              <a:rPr lang="zh-CN" altLang="en-US" sz="2400" dirty="0">
                <a:solidFill>
                  <a:srgbClr val="C00000"/>
                </a:solidFill>
              </a:rPr>
              <a:t>2'b10</a:t>
            </a:r>
            <a:r>
              <a:rPr lang="zh-CN" altLang="en-US" sz="2400" dirty="0"/>
              <a:t>: data_out = ~data_in;               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/>
              <a:t>        </a:t>
            </a:r>
            <a:r>
              <a:rPr lang="zh-CN" altLang="en-US" sz="2400" dirty="0">
                <a:solidFill>
                  <a:srgbClr val="C00000"/>
                </a:solidFill>
              </a:rPr>
              <a:t>2'b11</a:t>
            </a:r>
            <a:r>
              <a:rPr lang="zh-CN" altLang="en-US" sz="2400" dirty="0"/>
              <a:t>: data_out = {</a:t>
            </a:r>
            <a:r>
              <a:rPr lang="zh-CN" altLang="en-US" sz="2400" dirty="0">
                <a:solidFill>
                  <a:srgbClr val="C00000"/>
                </a:solidFill>
              </a:rPr>
              <a:t>8</a:t>
            </a:r>
            <a:r>
              <a:rPr lang="zh-CN" altLang="en-US" sz="2400" dirty="0"/>
              <a:t>{</a:t>
            </a:r>
            <a:r>
              <a:rPr lang="zh-CN" altLang="en-US" sz="2400" dirty="0">
                <a:solidFill>
                  <a:srgbClr val="C00000"/>
                </a:solidFill>
              </a:rPr>
              <a:t>1'b1</a:t>
            </a:r>
            <a:r>
              <a:rPr lang="zh-CN" altLang="en-US" sz="2400" dirty="0"/>
              <a:t>}};              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/>
              <a:t>       </a:t>
            </a:r>
            <a:r>
              <a:rPr lang="zh-CN" altLang="en-US" sz="2400" dirty="0">
                <a:solidFill>
                  <a:srgbClr val="0066FF"/>
                </a:solidFill>
              </a:rPr>
              <a:t> default</a:t>
            </a:r>
            <a:r>
              <a:rPr lang="zh-CN" altLang="en-US" sz="2400" dirty="0"/>
              <a:t>: data_out = </a:t>
            </a:r>
            <a:r>
              <a:rPr lang="zh-CN" altLang="en-US" sz="2400" dirty="0">
                <a:solidFill>
                  <a:srgbClr val="C00000"/>
                </a:solidFill>
              </a:rPr>
              <a:t>8'b00000000</a:t>
            </a:r>
            <a:r>
              <a:rPr lang="zh-CN" altLang="en-US" sz="2400" dirty="0"/>
              <a:t>;          </a:t>
            </a:r>
            <a:endParaRPr lang="zh-CN" altLang="en-US" sz="2400" dirty="0">
              <a:solidFill>
                <a:srgbClr val="C00000"/>
              </a:solidFill>
            </a:endParaRPr>
          </a:p>
          <a:p>
            <a:r>
              <a:rPr lang="zh-CN" altLang="en-US" sz="2400" dirty="0"/>
              <a:t>endmodule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F5EBA8-2206-4416-92E0-A885E55870D0}"/>
              </a:ext>
            </a:extLst>
          </p:cNvPr>
          <p:cNvSpPr txBox="1"/>
          <p:nvPr/>
        </p:nvSpPr>
        <p:spPr>
          <a:xfrm>
            <a:off x="8375576" y="3770699"/>
            <a:ext cx="38164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1A2029"/>
                </a:solidFill>
                <a:effectLst/>
                <a:latin typeface="ui-monospace"/>
              </a:rPr>
              <a:t>// </a:t>
            </a:r>
            <a:r>
              <a:rPr lang="zh-CN" altLang="en-US" b="0" i="0" dirty="0">
                <a:solidFill>
                  <a:srgbClr val="1A2029"/>
                </a:solidFill>
                <a:effectLst/>
                <a:latin typeface="ui-monospace"/>
              </a:rPr>
              <a:t>如果 </a:t>
            </a:r>
            <a:r>
              <a:rPr lang="en-US" altLang="zh-CN" b="0" i="0" dirty="0">
                <a:solidFill>
                  <a:srgbClr val="1A2029"/>
                </a:solidFill>
                <a:effectLst/>
                <a:latin typeface="ui-monospace"/>
              </a:rPr>
              <a:t>select </a:t>
            </a:r>
            <a:r>
              <a:rPr lang="zh-CN" altLang="en-US" b="0" i="0" dirty="0">
                <a:solidFill>
                  <a:srgbClr val="1A2029"/>
                </a:solidFill>
                <a:effectLst/>
                <a:latin typeface="ui-monospace"/>
              </a:rPr>
              <a:t>为 </a:t>
            </a:r>
            <a:r>
              <a:rPr lang="en-US" altLang="zh-CN" b="0" i="0" dirty="0">
                <a:solidFill>
                  <a:srgbClr val="1A2029"/>
                </a:solidFill>
                <a:effectLst/>
                <a:latin typeface="ui-monospace"/>
              </a:rPr>
              <a:t>00 (</a:t>
            </a:r>
            <a:r>
              <a:rPr lang="zh-CN" altLang="en-US" b="0" i="0" dirty="0">
                <a:solidFill>
                  <a:srgbClr val="1A2029"/>
                </a:solidFill>
                <a:effectLst/>
                <a:latin typeface="ui-monospace"/>
              </a:rPr>
              <a:t>十进制的 </a:t>
            </a:r>
            <a:r>
              <a:rPr lang="en-US" altLang="zh-CN" b="0" i="0" dirty="0">
                <a:solidFill>
                  <a:srgbClr val="1A2029"/>
                </a:solidFill>
                <a:effectLst/>
                <a:latin typeface="ui-monospace"/>
              </a:rPr>
              <a:t>0)</a:t>
            </a:r>
            <a:r>
              <a:rPr lang="zh-CN" altLang="en-US" b="0" i="0" dirty="0">
                <a:solidFill>
                  <a:srgbClr val="1A2029"/>
                </a:solidFill>
                <a:effectLst/>
                <a:latin typeface="ui-monospace"/>
              </a:rPr>
              <a:t>，</a:t>
            </a:r>
            <a:endParaRPr lang="en-US" altLang="zh-CN" b="0" i="0" dirty="0">
              <a:solidFill>
                <a:srgbClr val="1A2029"/>
              </a:solidFill>
              <a:effectLst/>
              <a:latin typeface="ui-monospace"/>
            </a:endParaRPr>
          </a:p>
          <a:p>
            <a:r>
              <a:rPr lang="en-US" altLang="zh-CN" dirty="0">
                <a:solidFill>
                  <a:srgbClr val="1A2029"/>
                </a:solidFill>
                <a:latin typeface="ui-monospace"/>
              </a:rPr>
              <a:t>// </a:t>
            </a:r>
            <a:r>
              <a:rPr lang="zh-CN" altLang="en-US" b="0" i="0" dirty="0">
                <a:solidFill>
                  <a:srgbClr val="1A2029"/>
                </a:solidFill>
                <a:effectLst/>
                <a:latin typeface="ui-monospace"/>
              </a:rPr>
              <a:t>则输出 </a:t>
            </a:r>
            <a:r>
              <a:rPr lang="en-US" altLang="zh-CN" b="0" i="0" dirty="0" err="1">
                <a:solidFill>
                  <a:srgbClr val="1A2029"/>
                </a:solidFill>
                <a:effectLst/>
                <a:latin typeface="ui-monospace"/>
              </a:rPr>
              <a:t>data_in</a:t>
            </a:r>
            <a:r>
              <a:rPr lang="en-US" altLang="zh-CN" b="0" i="0" dirty="0">
                <a:solidFill>
                  <a:srgbClr val="1A2029"/>
                </a:solidFill>
                <a:effectLst/>
                <a:latin typeface="ui-monospace"/>
              </a:rPr>
              <a:t> </a:t>
            </a:r>
            <a:r>
              <a:rPr lang="zh-CN" altLang="en-US" b="0" i="0" dirty="0">
                <a:solidFill>
                  <a:srgbClr val="1A2029"/>
                </a:solidFill>
                <a:effectLst/>
                <a:latin typeface="ui-monospace"/>
              </a:rPr>
              <a:t>加 </a:t>
            </a:r>
            <a:r>
              <a:rPr lang="en-US" altLang="zh-CN" b="0" i="0" dirty="0">
                <a:solidFill>
                  <a:srgbClr val="1A2029"/>
                </a:solidFill>
                <a:effectLst/>
                <a:latin typeface="ui-monospace"/>
              </a:rPr>
              <a:t>1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4ADA8F5-42CB-45DE-9D42-DB32A525E782}"/>
              </a:ext>
            </a:extLst>
          </p:cNvPr>
          <p:cNvSpPr txBox="1"/>
          <p:nvPr/>
        </p:nvSpPr>
        <p:spPr>
          <a:xfrm>
            <a:off x="8402803" y="4842125"/>
            <a:ext cx="15841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0" i="0" dirty="0">
                <a:solidFill>
                  <a:srgbClr val="1A2029"/>
                </a:solidFill>
                <a:effectLst/>
                <a:latin typeface="ui-monospace"/>
              </a:rPr>
              <a:t>// </a:t>
            </a:r>
            <a:r>
              <a:rPr lang="zh-CN" altLang="en-US" sz="2200" b="0" i="0" dirty="0">
                <a:solidFill>
                  <a:srgbClr val="1A2029"/>
                </a:solidFill>
                <a:effectLst/>
                <a:latin typeface="ui-monospace"/>
              </a:rPr>
              <a:t>按位取反</a:t>
            </a:r>
            <a:endParaRPr lang="zh-CN" altLang="en-US" sz="22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FC5F9C8-F9BD-4D44-B33E-FA61FC20BCB9}"/>
              </a:ext>
            </a:extLst>
          </p:cNvPr>
          <p:cNvSpPr txBox="1"/>
          <p:nvPr/>
        </p:nvSpPr>
        <p:spPr>
          <a:xfrm>
            <a:off x="8375576" y="5382663"/>
            <a:ext cx="333704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0" i="0" dirty="0">
                <a:solidFill>
                  <a:srgbClr val="1A2029"/>
                </a:solidFill>
                <a:effectLst/>
                <a:latin typeface="ui-monospace"/>
              </a:rPr>
              <a:t>// </a:t>
            </a:r>
            <a:r>
              <a:rPr lang="zh-CN" altLang="en-US" sz="2200" b="0" i="0" dirty="0">
                <a:solidFill>
                  <a:srgbClr val="1A2029"/>
                </a:solidFill>
                <a:effectLst/>
                <a:latin typeface="ui-monospace"/>
              </a:rPr>
              <a:t>输出全 </a:t>
            </a:r>
            <a:r>
              <a:rPr lang="en-US" altLang="zh-CN" sz="2200" b="0" i="0" dirty="0">
                <a:solidFill>
                  <a:srgbClr val="1A2029"/>
                </a:solidFill>
                <a:effectLst/>
                <a:latin typeface="ui-monospace"/>
              </a:rPr>
              <a:t>'1' </a:t>
            </a:r>
            <a:r>
              <a:rPr lang="zh-CN" altLang="en-US" sz="2200" b="0" i="0" dirty="0">
                <a:solidFill>
                  <a:srgbClr val="1A2029"/>
                </a:solidFill>
                <a:effectLst/>
                <a:latin typeface="ui-monospace"/>
              </a:rPr>
              <a:t>（即 </a:t>
            </a:r>
            <a:r>
              <a:rPr lang="en-US" altLang="zh-CN" sz="2200" b="0" i="0" dirty="0">
                <a:solidFill>
                  <a:srgbClr val="1A2029"/>
                </a:solidFill>
                <a:effectLst/>
                <a:latin typeface="ui-monospace"/>
              </a:rPr>
              <a:t>255</a:t>
            </a:r>
            <a:r>
              <a:rPr lang="zh-CN" altLang="en-US" sz="2200" b="0" i="0" dirty="0">
                <a:solidFill>
                  <a:srgbClr val="1A2029"/>
                </a:solidFill>
                <a:effectLst/>
                <a:latin typeface="ui-monospace"/>
              </a:rPr>
              <a:t>）</a:t>
            </a:r>
            <a:endParaRPr lang="zh-CN" altLang="en-US" sz="22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44EA001-40DB-4619-A71C-1F0CEF453F7B}"/>
              </a:ext>
            </a:extLst>
          </p:cNvPr>
          <p:cNvSpPr txBox="1"/>
          <p:nvPr/>
        </p:nvSpPr>
        <p:spPr>
          <a:xfrm>
            <a:off x="8360407" y="5923201"/>
            <a:ext cx="29225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/>
              <a:t>// 其他情况，输出 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09E4D53-023F-4076-A972-E9356C78ADC2}"/>
              </a:ext>
            </a:extLst>
          </p:cNvPr>
          <p:cNvSpPr txBox="1"/>
          <p:nvPr/>
        </p:nvSpPr>
        <p:spPr>
          <a:xfrm>
            <a:off x="7032104" y="2564904"/>
            <a:ext cx="1152128" cy="46166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8’d1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6" name="箭头: 上 15">
            <a:extLst>
              <a:ext uri="{FF2B5EF4-FFF2-40B4-BE49-F238E27FC236}">
                <a16:creationId xmlns:a16="http://schemas.microsoft.com/office/drawing/2014/main" id="{CDD38A51-DAE9-4477-BCBF-070D7F766F1E}"/>
              </a:ext>
            </a:extLst>
          </p:cNvPr>
          <p:cNvSpPr/>
          <p:nvPr/>
        </p:nvSpPr>
        <p:spPr>
          <a:xfrm>
            <a:off x="7508933" y="3120575"/>
            <a:ext cx="212180" cy="710857"/>
          </a:xfrm>
          <a:prstGeom prst="upArrow">
            <a:avLst/>
          </a:prstGeom>
          <a:noFill/>
          <a:ln w="19050">
            <a:solidFill>
              <a:srgbClr val="C00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033E1DA-E263-4E0F-9E7C-463C37300D4C}"/>
              </a:ext>
            </a:extLst>
          </p:cNvPr>
          <p:cNvSpPr/>
          <p:nvPr/>
        </p:nvSpPr>
        <p:spPr>
          <a:xfrm>
            <a:off x="1284249" y="5788871"/>
            <a:ext cx="5688632" cy="576064"/>
          </a:xfrm>
          <a:prstGeom prst="rect">
            <a:avLst/>
          </a:prstGeom>
          <a:noFill/>
          <a:ln w="2540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13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dirty="0">
                <a:latin typeface="PingFang SC"/>
              </a:rPr>
              <a:t>第</a:t>
            </a:r>
            <a:r>
              <a:rPr lang="en-US" altLang="zh-CN" dirty="0">
                <a:latin typeface="PingFang SC"/>
              </a:rPr>
              <a:t>12</a:t>
            </a:r>
            <a:r>
              <a:rPr lang="zh-CN" altLang="en-US" dirty="0">
                <a:latin typeface="PingFang SC"/>
              </a:rPr>
              <a:t>周实验</a:t>
            </a:r>
            <a:endParaRPr lang="zh-CN" altLang="en-US" b="1" i="0" dirty="0">
              <a:effectLst/>
              <a:latin typeface="PingFang SC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E0B5B6-3E2F-415B-A645-A84F3F5EB2AB}"/>
              </a:ext>
            </a:extLst>
          </p:cNvPr>
          <p:cNvSpPr txBox="1"/>
          <p:nvPr/>
        </p:nvSpPr>
        <p:spPr>
          <a:xfrm>
            <a:off x="277255" y="836712"/>
            <a:ext cx="9793088" cy="664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lang="zh-CN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请使用</a:t>
            </a:r>
            <a:r>
              <a:rPr lang="en-US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Verilog</a:t>
            </a:r>
            <a:r>
              <a:rPr lang="zh-CN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语言实现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C7D1591-6A40-4B5E-9459-1E20F02E8EF9}"/>
              </a:ext>
            </a:extLst>
          </p:cNvPr>
          <p:cNvSpPr txBox="1"/>
          <p:nvPr/>
        </p:nvSpPr>
        <p:spPr>
          <a:xfrm>
            <a:off x="119336" y="2969724"/>
            <a:ext cx="11521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lang="zh-CN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分别使用</a:t>
            </a:r>
            <a:r>
              <a:rPr lang="en-US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zh-CN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语句和</a:t>
            </a:r>
            <a:r>
              <a:rPr lang="en-US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case</a:t>
            </a:r>
            <a:r>
              <a:rPr lang="zh-CN" altLang="zh-CN" sz="28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语句设计实现四选一数据选择器</a:t>
            </a:r>
            <a:endParaRPr lang="zh-CN" alt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DAAF62-17B4-4BCC-A71C-FC2E6643157E}"/>
              </a:ext>
            </a:extLst>
          </p:cNvPr>
          <p:cNvSpPr txBox="1"/>
          <p:nvPr/>
        </p:nvSpPr>
        <p:spPr>
          <a:xfrm>
            <a:off x="767408" y="3525161"/>
            <a:ext cx="9649072" cy="962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输入信号：</a:t>
            </a:r>
            <a:r>
              <a:rPr lang="en-US" altLang="zh-CN" sz="20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zh-CN" sz="20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路数据，</a:t>
            </a:r>
            <a:r>
              <a:rPr lang="zh-CN" altLang="en-US" sz="20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分别</a:t>
            </a:r>
            <a:r>
              <a:rPr lang="zh-CN" altLang="zh-CN" sz="20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lang="en-US" altLang="zh-CN" sz="20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d0,d1,d2,d3</a:t>
            </a:r>
            <a:r>
              <a:rPr lang="zh-CN" altLang="zh-CN" sz="20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表示，选择控制信号</a:t>
            </a:r>
            <a:r>
              <a:rPr lang="en-US" altLang="zh-CN" sz="2000" b="1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sel</a:t>
            </a:r>
            <a:endParaRPr lang="zh-CN" altLang="zh-CN" sz="12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输出信号：</a:t>
            </a:r>
            <a:r>
              <a:rPr lang="en-US" altLang="zh-CN" sz="20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q</a:t>
            </a:r>
            <a:r>
              <a:rPr lang="zh-CN" altLang="zh-CN" sz="20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0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q</a:t>
            </a:r>
            <a:r>
              <a:rPr lang="zh-CN" altLang="zh-CN" sz="20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可以是</a:t>
            </a:r>
            <a:r>
              <a:rPr lang="en-US" altLang="zh-CN" sz="20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zh-CN" sz="20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路输入数据中的任意一路，具体由选择控制信号决定</a:t>
            </a:r>
            <a:endParaRPr lang="zh-CN" altLang="zh-CN" sz="12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5593BB2-9469-48C8-BC1D-65451DC0BC6C}"/>
              </a:ext>
            </a:extLst>
          </p:cNvPr>
          <p:cNvSpPr txBox="1"/>
          <p:nvPr/>
        </p:nvSpPr>
        <p:spPr>
          <a:xfrm>
            <a:off x="277255" y="1501574"/>
            <a:ext cx="6128746" cy="962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译码器：</a:t>
            </a:r>
            <a:r>
              <a:rPr lang="en-US" altLang="zh-CN" sz="20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2-4</a:t>
            </a:r>
            <a:r>
              <a:rPr lang="zh-CN" altLang="zh-CN" sz="20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线、</a:t>
            </a:r>
            <a:r>
              <a:rPr lang="en-US" altLang="zh-CN" sz="20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3-8</a:t>
            </a:r>
            <a:r>
              <a:rPr lang="zh-CN" altLang="zh-CN" sz="20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线</a:t>
            </a:r>
            <a:endParaRPr lang="zh-CN" alt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编码器：</a:t>
            </a:r>
            <a:r>
              <a:rPr lang="en-US" altLang="zh-CN" sz="20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4-2</a:t>
            </a:r>
            <a:r>
              <a:rPr lang="zh-CN" altLang="zh-CN" sz="20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线、</a:t>
            </a:r>
            <a:r>
              <a:rPr lang="en-US" altLang="zh-CN" sz="20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8-3</a:t>
            </a:r>
            <a:r>
              <a:rPr lang="zh-CN" altLang="zh-CN" sz="20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线</a:t>
            </a:r>
            <a:endParaRPr lang="zh-CN" alt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771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Blends">
  <a:themeElements>
    <a:clrScheme name="Blends 8">
      <a:dk1>
        <a:srgbClr val="000000"/>
      </a:dk1>
      <a:lt1>
        <a:srgbClr val="FFFFFF"/>
      </a:lt1>
      <a:dk2>
        <a:srgbClr val="800080"/>
      </a:dk2>
      <a:lt2>
        <a:srgbClr val="1C1C1C"/>
      </a:lt2>
      <a:accent1>
        <a:srgbClr val="777777"/>
      </a:accent1>
      <a:accent2>
        <a:srgbClr val="FFCF01"/>
      </a:accent2>
      <a:accent3>
        <a:srgbClr val="FFFFFF"/>
      </a:accent3>
      <a:accent4>
        <a:srgbClr val="000000"/>
      </a:accent4>
      <a:accent5>
        <a:srgbClr val="BDBDBD"/>
      </a:accent5>
      <a:accent6>
        <a:srgbClr val="E7BB01"/>
      </a:accent6>
      <a:hlink>
        <a:srgbClr val="800080"/>
      </a:hlink>
      <a:folHlink>
        <a:srgbClr val="800080"/>
      </a:folHlink>
    </a:clrScheme>
    <a:fontScheme name="Blends">
      <a:majorFont>
        <a:latin typeface="Verdana"/>
        <a:ea typeface=""/>
        <a:cs typeface="Times New Roman"/>
      </a:majorFont>
      <a:minorFont>
        <a:latin typeface="Verdana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  <a:prstDash val="sysDash"/>
        </a:ln>
      </a:spPr>
      <a:bodyPr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96975" marR="0" indent="-282575" algn="l" defTabSz="914400" rtl="0" eaLnBrk="1" fontAlgn="base" latinLnBrk="0" hangingPunct="1">
          <a:lnSpc>
            <a:spcPct val="100000"/>
          </a:lnSpc>
          <a:spcBef>
            <a:spcPts val="500"/>
          </a:spcBef>
          <a:spcAft>
            <a:spcPct val="0"/>
          </a:spcAft>
          <a:buClr>
            <a:srgbClr val="800080"/>
          </a:buClr>
          <a:buSzPct val="55000"/>
          <a:buFont typeface="Wingdings" pitchFamily="2" charset="2"/>
          <a:buChar char="n"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8">
        <a:dk1>
          <a:srgbClr val="000000"/>
        </a:dk1>
        <a:lt1>
          <a:srgbClr val="FFFFFF"/>
        </a:lt1>
        <a:dk2>
          <a:srgbClr val="800080"/>
        </a:dk2>
        <a:lt2>
          <a:srgbClr val="1C1C1C"/>
        </a:lt2>
        <a:accent1>
          <a:srgbClr val="777777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BDBDBD"/>
        </a:accent5>
        <a:accent6>
          <a:srgbClr val="E7BB01"/>
        </a:accent6>
        <a:hlink>
          <a:srgbClr val="800080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C:\Programs\MsOffice\Templates\Presentation Designs\Straight Edge.pot</Template>
  <TotalTime>98204</TotalTime>
  <Words>375</Words>
  <Application>Microsoft Office PowerPoint</Application>
  <PresentationFormat>宽屏</PresentationFormat>
  <Paragraphs>40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-apple-system</vt:lpstr>
      <vt:lpstr>PingFang SC</vt:lpstr>
      <vt:lpstr>ui-monospace</vt:lpstr>
      <vt:lpstr>微软雅黑</vt:lpstr>
      <vt:lpstr>Arial</vt:lpstr>
      <vt:lpstr>Calibri</vt:lpstr>
      <vt:lpstr>Tahoma</vt:lpstr>
      <vt:lpstr>Times New Roman</vt:lpstr>
      <vt:lpstr>Verdana</vt:lpstr>
      <vt:lpstr>Wingdings</vt:lpstr>
      <vt:lpstr>Blends</vt:lpstr>
      <vt:lpstr>第三讲：数字逻辑与CPU基础</vt:lpstr>
      <vt:lpstr>PowerPoint 演示文稿</vt:lpstr>
      <vt:lpstr>PowerPoint 演示文稿</vt:lpstr>
      <vt:lpstr>PowerPoint 演示文稿</vt:lpstr>
      <vt:lpstr>PowerPoint 演示文稿</vt:lpstr>
    </vt:vector>
  </TitlesOfParts>
  <Company>University of Washington, CS 4 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 with Python</dc:title>
  <dc:creator>Marty Stepp</dc:creator>
  <cp:lastModifiedBy>zhao shifeng</cp:lastModifiedBy>
  <cp:revision>3284</cp:revision>
  <cp:lastPrinted>2019-10-24T05:03:19Z</cp:lastPrinted>
  <dcterms:created xsi:type="dcterms:W3CDTF">2009-04-22T19:24:48Z</dcterms:created>
  <dcterms:modified xsi:type="dcterms:W3CDTF">2024-11-20T10:13:18Z</dcterms:modified>
</cp:coreProperties>
</file>