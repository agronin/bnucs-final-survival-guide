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1"/>
  </p:sldMasterIdLst>
  <p:notesMasterIdLst>
    <p:notesMasterId r:id="rId13"/>
  </p:notesMasterIdLst>
  <p:handoutMasterIdLst>
    <p:handoutMasterId r:id="rId14"/>
  </p:handoutMasterIdLst>
  <p:sldIdLst>
    <p:sldId id="256" r:id="rId2"/>
    <p:sldId id="1638" r:id="rId3"/>
    <p:sldId id="1630" r:id="rId4"/>
    <p:sldId id="1634" r:id="rId5"/>
    <p:sldId id="1632" r:id="rId6"/>
    <p:sldId id="1633" r:id="rId7"/>
    <p:sldId id="1636" r:id="rId8"/>
    <p:sldId id="1637" r:id="rId9"/>
    <p:sldId id="1635" r:id="rId10"/>
    <p:sldId id="1639" r:id="rId11"/>
    <p:sldId id="1628" r:id="rId12"/>
  </p:sldIdLst>
  <p:sldSz cx="12192000" cy="6858000"/>
  <p:notesSz cx="6858000" cy="99472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99"/>
    <a:srgbClr val="0066FF"/>
    <a:srgbClr val="C6913A"/>
    <a:srgbClr val="0000FF"/>
    <a:srgbClr val="4986CF"/>
    <a:srgbClr val="5B7BE3"/>
    <a:srgbClr val="50B5E2"/>
    <a:srgbClr val="1B7AA5"/>
    <a:srgbClr val="0066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81023" autoAdjust="0"/>
  </p:normalViewPr>
  <p:slideViewPr>
    <p:cSldViewPr>
      <p:cViewPr varScale="1">
        <p:scale>
          <a:sx n="111" d="100"/>
          <a:sy n="111" d="100"/>
        </p:scale>
        <p:origin x="1272" y="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915" y="-77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E2B571F6-0F46-43D6-BF59-2C8F4E9239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767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2940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956"/>
            <a:ext cx="5029200" cy="447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46CE8C4E-4E2B-4FAA-924F-F78D103AAC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2491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AFE70DC-C7E3-4C03-93E4-B49EBC9D86EE}" type="slidenum">
              <a:rPr lang="en-US" altLang="zh-CN" sz="1200" smtClean="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</a:t>
            </a:fld>
            <a:endParaRPr lang="en-US" altLang="zh-CN" sz="1200">
              <a:latin typeface="Times New Roman" pitchFamily="18" charset="0"/>
            </a:endParaRPr>
          </a:p>
        </p:txBody>
      </p:sp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1703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1939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1075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2496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6684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3283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49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608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1912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70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7"/>
          <p:cNvSpPr>
            <a:spLocks noChangeArrowheads="1"/>
          </p:cNvSpPr>
          <p:nvPr userDrawn="1"/>
        </p:nvSpPr>
        <p:spPr bwMode="auto">
          <a:xfrm>
            <a:off x="2641600" y="4191000"/>
            <a:ext cx="7416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7338" indent="-287338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  <a:buFont typeface="Wingdings" pitchFamily="2" charset="2"/>
              <a:buChar char="n"/>
            </a:pPr>
            <a:endParaRPr lang="en-GB" altLang="zh-CN" sz="1600"/>
          </a:p>
        </p:txBody>
      </p: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2743200"/>
            <a:ext cx="12192000" cy="1600200"/>
          </a:xfrm>
        </p:spPr>
        <p:txBody>
          <a:bodyPr anchor="ctr"/>
          <a:lstStyle>
            <a:lvl1pPr>
              <a:defRPr sz="44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582400" y="6486525"/>
            <a:ext cx="609600" cy="3810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1BCACC2-EB2E-41B5-88CE-73A61AB12F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8042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4B451-ED34-44AC-A294-F69DDAD52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54706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CA548-88A0-4B76-ACB8-541D048795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7685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28CAA-8BE4-46E1-93AA-6E4772B53C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04182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15D8D-A7E5-4C44-8276-4D9C4CFAE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62110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91312-4604-4E58-8319-6E38FD6FBB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61951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DC48A-AC36-4DC7-9F8C-4BFF4C034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0175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D5092-F570-4E83-87BB-25B42F38CC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1875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160E3-5837-415F-9BBB-C137EFF193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92862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D35B4-CD61-434F-B263-5E6E207B2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96323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52400"/>
            <a:ext cx="3048000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894080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8452F-4105-48B6-93DB-6861893DE9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7615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b="36090"/>
          <a:stretch>
            <a:fillRect/>
          </a:stretch>
        </p:blipFill>
        <p:spPr bwMode="auto">
          <a:xfrm>
            <a:off x="0" y="6048376"/>
            <a:ext cx="17272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0"/>
            <a:ext cx="11804651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12192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363200" y="6400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latin typeface="Tahoma" pitchFamily="34" charset="0"/>
                <a:ea typeface="宋体" charset="-122"/>
              </a:defRPr>
            </a:lvl1pPr>
          </a:lstStyle>
          <a:p>
            <a:pPr>
              <a:defRPr/>
            </a:pPr>
            <a:fld id="{3C3F5D21-47BA-43E3-9A7C-87A4E15DF7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0842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3pPr>
      <a:lvl4pPr marL="15414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83" name="Rectangle 7"/>
          <p:cNvSpPr>
            <a:spLocks noGrp="1" noChangeArrowheads="1"/>
          </p:cNvSpPr>
          <p:nvPr>
            <p:ph type="title"/>
          </p:nvPr>
        </p:nvSpPr>
        <p:spPr>
          <a:xfrm>
            <a:off x="18114" y="1828800"/>
            <a:ext cx="12192000" cy="1600200"/>
          </a:xfrm>
          <a:solidFill>
            <a:srgbClr val="336699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/>
              <a:t>第二讲：</a:t>
            </a:r>
            <a:r>
              <a:rPr lang="zh-CN" altLang="zh-CN" sz="5400" dirty="0"/>
              <a:t>数字逻辑与</a:t>
            </a:r>
            <a:r>
              <a:rPr lang="zh-CN" altLang="en-US" sz="5400" dirty="0"/>
              <a:t>数字系统</a:t>
            </a:r>
            <a:endParaRPr lang="en-US" altLang="zh-CN" sz="4000" dirty="0">
              <a:ea typeface="宋体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27848" y="4149080"/>
            <a:ext cx="1954381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2024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秋季 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作业提交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58478B-9009-4394-A735-CF39D146390A}"/>
              </a:ext>
            </a:extLst>
          </p:cNvPr>
          <p:cNvSpPr txBox="1"/>
          <p:nvPr/>
        </p:nvSpPr>
        <p:spPr>
          <a:xfrm>
            <a:off x="407368" y="1340768"/>
            <a:ext cx="10657184" cy="233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：作业的命名文件夹只有组号（如：</a:t>
            </a:r>
            <a:r>
              <a:rPr lang="en-US" altLang="zh-CN" dirty="0"/>
              <a:t>22</a:t>
            </a:r>
            <a:r>
              <a:rPr lang="zh-CN" altLang="en-US" dirty="0"/>
              <a:t>），所有的命名不要带任何中文，也不要用数字或者下划线开头。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：一组只交一份作业，实验报告直接交一个</a:t>
            </a:r>
            <a:r>
              <a:rPr lang="en-US" altLang="zh-CN" dirty="0"/>
              <a:t>word</a:t>
            </a:r>
            <a:r>
              <a:rPr lang="zh-CN" altLang="en-US" dirty="0"/>
              <a:t>文档，不要打压缩。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：一定要交全作业文件，千万别忘了交</a:t>
            </a:r>
            <a:r>
              <a:rPr lang="en-US" altLang="zh-CN" dirty="0" err="1"/>
              <a:t>vwf</a:t>
            </a:r>
            <a:r>
              <a:rPr lang="zh-CN" altLang="en-US" dirty="0"/>
              <a:t>文件。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en-US" dirty="0"/>
              <a:t>：实验报告发到</a:t>
            </a:r>
            <a:r>
              <a:rPr lang="en-US" altLang="zh-CN" dirty="0" err="1"/>
              <a:t>bnu</a:t>
            </a:r>
            <a:r>
              <a:rPr lang="zh-CN" altLang="en-US" dirty="0"/>
              <a:t>邮箱，代码打包发到</a:t>
            </a:r>
            <a:r>
              <a:rPr lang="en-US" altLang="zh-CN" dirty="0"/>
              <a:t>163</a:t>
            </a:r>
            <a:r>
              <a:rPr lang="zh-CN" altLang="en-US" dirty="0"/>
              <a:t>邮箱。</a:t>
            </a:r>
          </a:p>
        </p:txBody>
      </p:sp>
    </p:spTree>
    <p:extLst>
      <p:ext uri="{BB962C8B-B14F-4D97-AF65-F5344CB8AC3E}">
        <p14:creationId xmlns:p14="http://schemas.microsoft.com/office/powerpoint/2010/main" val="271468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57119DF-3E8B-4D50-917C-9E4A13B5D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836712"/>
            <a:ext cx="8267017" cy="554680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70C92E5-9495-4B96-9DC2-A7C8E991F832}"/>
              </a:ext>
            </a:extLst>
          </p:cNvPr>
          <p:cNvSpPr txBox="1"/>
          <p:nvPr/>
        </p:nvSpPr>
        <p:spPr>
          <a:xfrm>
            <a:off x="7478072" y="4240792"/>
            <a:ext cx="4104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0" i="0" dirty="0">
                <a:solidFill>
                  <a:srgbClr val="A626A4"/>
                </a:solidFill>
                <a:effectLst/>
                <a:latin typeface="Source Code Pro" panose="020B0604020202020204" pitchFamily="49" charset="0"/>
              </a:rPr>
              <a:t>assign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Source Code Pro" panose="020B0604020202020204" pitchFamily="49" charset="0"/>
              </a:rPr>
              <a:t> out = a | b;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6A01E5-E0DC-4DFB-8A43-5A7A1DEA1ECF}"/>
              </a:ext>
            </a:extLst>
          </p:cNvPr>
          <p:cNvSpPr txBox="1"/>
          <p:nvPr/>
        </p:nvSpPr>
        <p:spPr>
          <a:xfrm>
            <a:off x="7478072" y="4869160"/>
            <a:ext cx="3744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0" i="0" dirty="0">
                <a:solidFill>
                  <a:srgbClr val="A626A4"/>
                </a:solidFill>
                <a:effectLst/>
                <a:latin typeface="Source Code Pro" panose="020B0509030403020204" pitchFamily="49" charset="0"/>
              </a:rPr>
              <a:t>assign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 out = ~</a:t>
            </a:r>
            <a:r>
              <a:rPr lang="en-US" altLang="zh-CN" sz="2800" b="0" i="0" dirty="0">
                <a:solidFill>
                  <a:srgbClr val="A626A4"/>
                </a:solidFill>
                <a:effectLst/>
                <a:latin typeface="Source Code Pro" panose="020B0509030403020204" pitchFamily="49" charset="0"/>
              </a:rPr>
              <a:t>a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;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604D25-9D78-4C2F-9E15-79745316D57C}"/>
              </a:ext>
            </a:extLst>
          </p:cNvPr>
          <p:cNvSpPr txBox="1"/>
          <p:nvPr/>
        </p:nvSpPr>
        <p:spPr>
          <a:xfrm>
            <a:off x="8094669" y="1514562"/>
            <a:ext cx="3930626" cy="16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C00000"/>
                </a:solidFill>
                <a:effectLst/>
                <a:latin typeface="-apple-system"/>
              </a:rPr>
              <a:t>字母、数字、下划线、</a:t>
            </a:r>
            <a:r>
              <a:rPr lang="en-US" altLang="zh-CN" sz="2400" b="0" i="0" dirty="0">
                <a:solidFill>
                  <a:srgbClr val="C00000"/>
                </a:solidFill>
                <a:effectLst/>
                <a:latin typeface="-apple-system"/>
              </a:rPr>
              <a:t>$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C00000"/>
                </a:solidFill>
                <a:effectLst/>
                <a:latin typeface="-apple-system"/>
              </a:rPr>
              <a:t>必须以字母或下划线开头</a:t>
            </a:r>
            <a:endParaRPr lang="en-US" altLang="zh-CN" sz="2400" b="0" i="0" dirty="0">
              <a:solidFill>
                <a:srgbClr val="C00000"/>
              </a:solidFill>
              <a:effectLst/>
              <a:latin typeface="-apple-syste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C00000"/>
                </a:solidFill>
                <a:effectLst/>
                <a:latin typeface="-apple-system"/>
              </a:rPr>
              <a:t>大小写敏感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945B63-C249-4A2D-812B-4F76BF8CA037}"/>
              </a:ext>
            </a:extLst>
          </p:cNvPr>
          <p:cNvSpPr txBox="1"/>
          <p:nvPr/>
        </p:nvSpPr>
        <p:spPr>
          <a:xfrm>
            <a:off x="7478072" y="5555642"/>
            <a:ext cx="4014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A626A4"/>
                </a:solidFill>
                <a:effectLst/>
                <a:latin typeface="Source Code Pro" panose="020B0509030403020204" pitchFamily="49" charset="0"/>
              </a:rPr>
              <a:t>assign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 out = a ^ b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0354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14C9E2-893D-476B-9560-A4454B949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5511"/>
            <a:ext cx="4582661" cy="24482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1C58BCD-595F-4EBE-8191-FF847AE3B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586" y="731564"/>
            <a:ext cx="6777043" cy="579644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DBDD4B3-8686-442C-8249-7F61C945F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277" y="883475"/>
            <a:ext cx="3305175" cy="1743075"/>
          </a:xfrm>
          <a:prstGeom prst="rect">
            <a:avLst/>
          </a:prstGeom>
        </p:spPr>
      </p:pic>
      <p:sp>
        <p:nvSpPr>
          <p:cNvPr id="24" name="箭头: 上 23">
            <a:extLst>
              <a:ext uri="{FF2B5EF4-FFF2-40B4-BE49-F238E27FC236}">
                <a16:creationId xmlns:a16="http://schemas.microsoft.com/office/drawing/2014/main" id="{1D6B490D-214C-49A4-8560-2F74E0A60706}"/>
              </a:ext>
            </a:extLst>
          </p:cNvPr>
          <p:cNvSpPr/>
          <p:nvPr/>
        </p:nvSpPr>
        <p:spPr>
          <a:xfrm rot="10800000">
            <a:off x="1919535" y="2019206"/>
            <a:ext cx="216024" cy="1625817"/>
          </a:xfrm>
          <a:prstGeom prst="upArrow">
            <a:avLst/>
          </a:prstGeom>
          <a:solidFill>
            <a:schemeClr val="bg1"/>
          </a:solidFill>
          <a:ln w="254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C90883E-2492-4961-9EC2-F4757E01B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6" y="5727063"/>
            <a:ext cx="3095625" cy="733425"/>
          </a:xfrm>
          <a:prstGeom prst="rect">
            <a:avLst/>
          </a:prstGeom>
        </p:spPr>
      </p:pic>
      <p:sp>
        <p:nvSpPr>
          <p:cNvPr id="27" name="箭头: 上 26">
            <a:extLst>
              <a:ext uri="{FF2B5EF4-FFF2-40B4-BE49-F238E27FC236}">
                <a16:creationId xmlns:a16="http://schemas.microsoft.com/office/drawing/2014/main" id="{051FB1B1-76ED-4E9D-9251-5ECD4D9EB056}"/>
              </a:ext>
            </a:extLst>
          </p:cNvPr>
          <p:cNvSpPr/>
          <p:nvPr/>
        </p:nvSpPr>
        <p:spPr>
          <a:xfrm>
            <a:off x="1271464" y="4779464"/>
            <a:ext cx="216024" cy="1066559"/>
          </a:xfrm>
          <a:prstGeom prst="upArrow">
            <a:avLst/>
          </a:prstGeom>
          <a:solidFill>
            <a:schemeClr val="bg1"/>
          </a:solidFill>
          <a:ln w="2540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12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12D637-CDF6-46D1-943E-D2D59BC12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980728"/>
            <a:ext cx="10334625" cy="50863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3BF04DF-995C-4110-B9AA-856C01C9A493}"/>
              </a:ext>
            </a:extLst>
          </p:cNvPr>
          <p:cNvSpPr txBox="1"/>
          <p:nvPr/>
        </p:nvSpPr>
        <p:spPr>
          <a:xfrm>
            <a:off x="1919536" y="4108678"/>
            <a:ext cx="144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dirty="0">
                <a:solidFill>
                  <a:srgbClr val="C00000"/>
                </a:solidFill>
                <a:effectLst/>
                <a:latin typeface="+mj-lt"/>
              </a:rPr>
              <a:t>wire</a:t>
            </a:r>
            <a:endParaRPr lang="zh-CN" altLang="en-US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7D9511-401D-47F1-BC57-71AA24FA3C24}"/>
              </a:ext>
            </a:extLst>
          </p:cNvPr>
          <p:cNvSpPr txBox="1"/>
          <p:nvPr/>
        </p:nvSpPr>
        <p:spPr>
          <a:xfrm>
            <a:off x="8688288" y="3573016"/>
            <a:ext cx="144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dirty="0">
                <a:solidFill>
                  <a:srgbClr val="C00000"/>
                </a:solidFill>
                <a:effectLst/>
                <a:latin typeface="+mj-lt"/>
              </a:rPr>
              <a:t>wire</a:t>
            </a:r>
            <a:endParaRPr lang="zh-CN" altLang="en-US" sz="32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6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BB30F8F-D2D8-44EA-95F6-049F37F6C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908720"/>
            <a:ext cx="9102804" cy="338437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F2018D5-969A-40CB-854E-62CB9B5CB6C0}"/>
              </a:ext>
            </a:extLst>
          </p:cNvPr>
          <p:cNvSpPr txBox="1"/>
          <p:nvPr/>
        </p:nvSpPr>
        <p:spPr>
          <a:xfrm>
            <a:off x="2207568" y="4403299"/>
            <a:ext cx="694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C00000"/>
                </a:solidFill>
                <a:effectLst/>
                <a:latin typeface="-apple-system"/>
              </a:rPr>
              <a:t>定义了一个</a:t>
            </a:r>
            <a:r>
              <a:rPr lang="en-US" altLang="zh-CN" sz="2800" b="0" i="0" dirty="0">
                <a:solidFill>
                  <a:srgbClr val="C00000"/>
                </a:solidFill>
                <a:effectLst/>
                <a:latin typeface="-apple-system"/>
              </a:rPr>
              <a:t>4</a:t>
            </a:r>
            <a:r>
              <a:rPr lang="zh-CN" altLang="en-US" sz="2800" b="0" i="0" dirty="0">
                <a:solidFill>
                  <a:srgbClr val="C00000"/>
                </a:solidFill>
                <a:effectLst/>
                <a:latin typeface="-apple-system"/>
              </a:rPr>
              <a:t>位的向量，表示数字的宽度</a:t>
            </a:r>
            <a:endParaRPr lang="en-US" altLang="zh-CN" sz="2800" b="0" i="0" dirty="0">
              <a:solidFill>
                <a:srgbClr val="C00000"/>
              </a:solidFill>
              <a:effectLst/>
              <a:latin typeface="-apple-system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235327-8C59-4B89-9741-A6B76C1F81ED}"/>
              </a:ext>
            </a:extLst>
          </p:cNvPr>
          <p:cNvSpPr txBox="1"/>
          <p:nvPr/>
        </p:nvSpPr>
        <p:spPr>
          <a:xfrm>
            <a:off x="2567608" y="5036722"/>
            <a:ext cx="7718664" cy="122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b="0" i="0" dirty="0">
                <a:solidFill>
                  <a:srgbClr val="C00000"/>
                </a:solidFill>
                <a:effectLst/>
                <a:latin typeface="-apple-system"/>
              </a:rPr>
              <a:t>默认为</a:t>
            </a:r>
            <a:r>
              <a:rPr lang="en-US" altLang="zh-CN" sz="2600" b="0" i="0" dirty="0">
                <a:solidFill>
                  <a:srgbClr val="C00000"/>
                </a:solidFill>
                <a:effectLst/>
                <a:latin typeface="-apple-system"/>
              </a:rPr>
              <a:t>wire</a:t>
            </a:r>
            <a:r>
              <a:rPr lang="zh-CN" altLang="en-US" sz="2600" b="0" i="0" dirty="0">
                <a:solidFill>
                  <a:srgbClr val="C00000"/>
                </a:solidFill>
                <a:effectLst/>
                <a:latin typeface="-apple-system"/>
              </a:rPr>
              <a:t>，可以不写</a:t>
            </a:r>
            <a:endParaRPr lang="en-US" altLang="zh-CN" sz="2600" b="0" i="0" dirty="0">
              <a:solidFill>
                <a:srgbClr val="C00000"/>
              </a:solidFill>
              <a:effectLst/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solidFill>
                  <a:srgbClr val="C00000"/>
                </a:solidFill>
                <a:latin typeface="-apple-system"/>
              </a:rPr>
              <a:t>a[0]</a:t>
            </a:r>
            <a:r>
              <a:rPr lang="zh-CN" altLang="en-US" sz="2600" dirty="0">
                <a:solidFill>
                  <a:srgbClr val="C00000"/>
                </a:solidFill>
                <a:latin typeface="-apple-system"/>
              </a:rPr>
              <a:t>是最低位，</a:t>
            </a:r>
            <a:r>
              <a:rPr lang="en-US" altLang="zh-CN" sz="2600" dirty="0">
                <a:solidFill>
                  <a:srgbClr val="C00000"/>
                </a:solidFill>
                <a:latin typeface="-apple-system"/>
              </a:rPr>
              <a:t>a[3]</a:t>
            </a:r>
            <a:r>
              <a:rPr lang="zh-CN" altLang="en-US" sz="2600" dirty="0">
                <a:solidFill>
                  <a:srgbClr val="C00000"/>
                </a:solidFill>
                <a:latin typeface="-apple-system"/>
              </a:rPr>
              <a:t>是最高位</a:t>
            </a:r>
            <a:endParaRPr lang="en-US" altLang="zh-CN" sz="2600" dirty="0">
              <a:solidFill>
                <a:srgbClr val="C00000"/>
              </a:solidFill>
              <a:latin typeface="-apple-system"/>
            </a:endParaRPr>
          </a:p>
        </p:txBody>
      </p:sp>
      <p:sp>
        <p:nvSpPr>
          <p:cNvPr id="22" name="箭头: 上 21">
            <a:extLst>
              <a:ext uri="{FF2B5EF4-FFF2-40B4-BE49-F238E27FC236}">
                <a16:creationId xmlns:a16="http://schemas.microsoft.com/office/drawing/2014/main" id="{E75CFF84-BB79-45A8-B299-D8E017B4BAE4}"/>
              </a:ext>
            </a:extLst>
          </p:cNvPr>
          <p:cNvSpPr/>
          <p:nvPr/>
        </p:nvSpPr>
        <p:spPr>
          <a:xfrm rot="10800000">
            <a:off x="4007768" y="2818720"/>
            <a:ext cx="216024" cy="1474376"/>
          </a:xfrm>
          <a:prstGeom prst="upArrow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7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FEB936-5C70-4480-96B1-D108E0E28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55" y="908720"/>
            <a:ext cx="5711874" cy="5400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B9E91F9-3E8D-4C1F-B948-A7380D6F0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859" y="829671"/>
            <a:ext cx="5688632" cy="589054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98E42CF-F158-4436-BE19-B9F140DB3B04}"/>
              </a:ext>
            </a:extLst>
          </p:cNvPr>
          <p:cNvSpPr txBox="1"/>
          <p:nvPr/>
        </p:nvSpPr>
        <p:spPr>
          <a:xfrm>
            <a:off x="3719736" y="3068960"/>
            <a:ext cx="1728192" cy="1944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C00000"/>
                </a:solidFill>
                <a:latin typeface="-apple-system"/>
              </a:rPr>
              <a:t>全选</a:t>
            </a:r>
            <a:endParaRPr lang="en-US" altLang="zh-CN" sz="2800" dirty="0">
              <a:solidFill>
                <a:srgbClr val="C00000"/>
              </a:solidFill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C00000"/>
                </a:solidFill>
                <a:latin typeface="-apple-system"/>
              </a:rPr>
              <a:t>筛选</a:t>
            </a:r>
            <a:endParaRPr lang="en-US" altLang="zh-CN" sz="2800" dirty="0">
              <a:solidFill>
                <a:srgbClr val="C00000"/>
              </a:solidFill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C00000"/>
                </a:solidFill>
                <a:latin typeface="-apple-system"/>
              </a:rPr>
              <a:t>均可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86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80655CC-6090-42D8-A8A3-61AFA5F7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836711"/>
            <a:ext cx="9865096" cy="56624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50914CA-24FC-41BB-A58E-9792E3051EDF}"/>
              </a:ext>
            </a:extLst>
          </p:cNvPr>
          <p:cNvSpPr txBox="1"/>
          <p:nvPr/>
        </p:nvSpPr>
        <p:spPr>
          <a:xfrm>
            <a:off x="8184232" y="1061403"/>
            <a:ext cx="2088232" cy="2606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effectLst/>
                <a:latin typeface="-apple-system"/>
              </a:rPr>
              <a:t>选中</a:t>
            </a:r>
            <a:endParaRPr lang="en-US" altLang="zh-CN" sz="2800" b="0" i="0" dirty="0">
              <a:effectLst/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-apple-system"/>
              </a:rPr>
              <a:t>双击</a:t>
            </a:r>
            <a:endParaRPr lang="en-US" altLang="zh-CN" sz="2800" dirty="0"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-apple-system"/>
              </a:rPr>
              <a:t>修改</a:t>
            </a:r>
            <a:endParaRPr lang="en-US" altLang="zh-CN" sz="2800" dirty="0"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-apple-system"/>
              </a:rPr>
              <a:t>OK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5413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D16FDB-F215-4D4E-A9B7-23ED423BD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836712"/>
            <a:ext cx="6643496" cy="54262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3642458-713F-4B7A-B757-4002764F4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406" y="2513802"/>
            <a:ext cx="490446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1A2029"/>
                </a:solidFill>
                <a:effectLst/>
                <a:latin typeface="Arial Unicode MS"/>
                <a:ea typeface="ui-monospace"/>
              </a:rPr>
              <a:t>always @(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1A2029"/>
                </a:solidFill>
                <a:effectLst/>
                <a:latin typeface="Arial Unicode MS"/>
                <a:ea typeface="ui-monospace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1A2029"/>
                </a:solidFill>
                <a:effectLst/>
                <a:latin typeface="Arial Unicode MS"/>
                <a:ea typeface="ui-monospace"/>
              </a:rPr>
              <a:t>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1A2029"/>
                </a:solidFill>
                <a:effectLst/>
                <a:ea typeface="-apple-system"/>
              </a:rPr>
              <a:t> 块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1A2029"/>
                </a:solidFill>
                <a:effectLst/>
                <a:ea typeface="-apple-system"/>
              </a:rPr>
              <a:t>，</a:t>
            </a:r>
            <a:r>
              <a:rPr lang="zh-CN" altLang="en-US" sz="2400" b="0" i="0" dirty="0">
                <a:solidFill>
                  <a:srgbClr val="1A2029"/>
                </a:solidFill>
                <a:effectLst/>
                <a:latin typeface="-apple-system"/>
              </a:rPr>
              <a:t>将在任何输入信号变化时执行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59D0DD-E238-4A92-B56F-2917A294B26A}"/>
              </a:ext>
            </a:extLst>
          </p:cNvPr>
          <p:cNvSpPr txBox="1"/>
          <p:nvPr/>
        </p:nvSpPr>
        <p:spPr>
          <a:xfrm>
            <a:off x="7248128" y="5733256"/>
            <a:ext cx="459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2029"/>
                </a:solidFill>
                <a:effectLst/>
                <a:latin typeface="-apple-system"/>
              </a:rPr>
              <a:t>一个非门（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-apple-system"/>
              </a:rPr>
              <a:t>NOT gate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-apple-system"/>
              </a:rPr>
              <a:t>）的反相版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256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E248EF-1310-4873-95A3-2B00193836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31904" y="980728"/>
            <a:ext cx="6613199" cy="45365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653EFD1-7339-4F4F-8907-7C1EEA29A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95" y="836712"/>
            <a:ext cx="511256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4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latin typeface="PingFang SC"/>
              </a:rPr>
              <a:t>第</a:t>
            </a:r>
            <a:r>
              <a:rPr lang="en-US" altLang="zh-CN" dirty="0">
                <a:latin typeface="PingFang SC"/>
              </a:rPr>
              <a:t>11</a:t>
            </a:r>
            <a:r>
              <a:rPr lang="zh-CN" altLang="en-US" dirty="0">
                <a:latin typeface="PingFang SC"/>
              </a:rPr>
              <a:t>周实验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E0B5B6-3E2F-415B-A645-A84F3F5EB2AB}"/>
              </a:ext>
            </a:extLst>
          </p:cNvPr>
          <p:cNvSpPr txBox="1"/>
          <p:nvPr/>
        </p:nvSpPr>
        <p:spPr>
          <a:xfrm>
            <a:off x="277255" y="834323"/>
            <a:ext cx="9793088" cy="1783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请使用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Verilog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语言实现一位全加器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输入：加数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，加数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，低位进位输入</a:t>
            </a:r>
            <a:r>
              <a:rPr lang="en-US" altLang="zh-CN" sz="2400" b="1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C_in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输出：和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SUM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，本位进位输出</a:t>
            </a:r>
            <a:r>
              <a:rPr lang="en-US" altLang="zh-CN" sz="2400" b="1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C_out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CA132E-1C7E-4D03-BA93-9BBA4BA674F2}"/>
              </a:ext>
            </a:extLst>
          </p:cNvPr>
          <p:cNvSpPr txBox="1"/>
          <p:nvPr/>
        </p:nvSpPr>
        <p:spPr>
          <a:xfrm>
            <a:off x="289831" y="3542578"/>
            <a:ext cx="9793088" cy="66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请使用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Verilog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语言实现</a:t>
            </a:r>
            <a:r>
              <a:rPr lang="zh-CN" altLang="en-US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一个无符号</a:t>
            </a:r>
            <a:r>
              <a:rPr lang="en-US" altLang="zh-CN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位宽输入的比较器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D413D3-D9B8-4497-8151-D71BEFE32E45}"/>
              </a:ext>
            </a:extLst>
          </p:cNvPr>
          <p:cNvSpPr txBox="1"/>
          <p:nvPr/>
        </p:nvSpPr>
        <p:spPr>
          <a:xfrm>
            <a:off x="267775" y="2850547"/>
            <a:ext cx="7704856" cy="66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请使用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Verilog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语言实现</a:t>
            </a:r>
            <a:r>
              <a:rPr lang="zh-CN" altLang="en-US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lang="en-US" altLang="zh-CN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选</a:t>
            </a:r>
            <a:r>
              <a:rPr lang="en-US" altLang="zh-CN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表决器</a:t>
            </a:r>
            <a:endParaRPr lang="en-US" altLang="zh-CN" sz="2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F4B845-0206-41D1-BDDA-E9502FCB7608}"/>
              </a:ext>
            </a:extLst>
          </p:cNvPr>
          <p:cNvSpPr txBox="1"/>
          <p:nvPr/>
        </p:nvSpPr>
        <p:spPr>
          <a:xfrm>
            <a:off x="267775" y="4365104"/>
            <a:ext cx="1101722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4. 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设置常量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C1 =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‘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111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’，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C2 =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‘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010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’，请使用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Verilog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语言实现：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KEY =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‘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’时，输出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Q=C1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KEY =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‘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’时，输出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Q=C2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B84D5F-F88B-469B-8D24-D59CEC2ACD3B}"/>
              </a:ext>
            </a:extLst>
          </p:cNvPr>
          <p:cNvSpPr txBox="1"/>
          <p:nvPr/>
        </p:nvSpPr>
        <p:spPr>
          <a:xfrm>
            <a:off x="6600056" y="5196100"/>
            <a:ext cx="4199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定义常量</a:t>
            </a:r>
          </a:p>
          <a:p>
            <a:r>
              <a:rPr lang="en-US" altLang="zh-CN" dirty="0" err="1"/>
              <a:t>localparam</a:t>
            </a:r>
            <a:r>
              <a:rPr lang="en-US" altLang="zh-CN" dirty="0"/>
              <a:t> [2:0] C1 = 3'b111;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477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Blends">
      <a:majorFont>
        <a:latin typeface="Verdana"/>
        <a:ea typeface=""/>
        <a:cs typeface="Times New Roman"/>
      </a:majorFont>
      <a:minorFont>
        <a:latin typeface="Verdan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prstDash val="sysDash"/>
        </a:ln>
      </a:spPr>
      <a:bodyPr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itchFamily="2" charset="2"/>
          <a:buChar char="n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800080"/>
        </a:dk2>
        <a:lt2>
          <a:srgbClr val="1C1C1C"/>
        </a:lt2>
        <a:accent1>
          <a:srgbClr val="777777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E7BB01"/>
        </a:accent6>
        <a:hlink>
          <a:srgbClr val="80008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C:\Programs\MsOffice\Templates\Presentation Designs\Straight Edge.pot</Template>
  <TotalTime>96483</TotalTime>
  <Words>339</Words>
  <Application>Microsoft Office PowerPoint</Application>
  <PresentationFormat>宽屏</PresentationFormat>
  <Paragraphs>47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-apple-system</vt:lpstr>
      <vt:lpstr>Arial Unicode MS</vt:lpstr>
      <vt:lpstr>PingFang SC</vt:lpstr>
      <vt:lpstr>微软雅黑</vt:lpstr>
      <vt:lpstr>Arial</vt:lpstr>
      <vt:lpstr>Calibri</vt:lpstr>
      <vt:lpstr>Source Code Pro</vt:lpstr>
      <vt:lpstr>Tahoma</vt:lpstr>
      <vt:lpstr>Times New Roman</vt:lpstr>
      <vt:lpstr>Verdana</vt:lpstr>
      <vt:lpstr>Wingdings</vt:lpstr>
      <vt:lpstr>Blends</vt:lpstr>
      <vt:lpstr>第二讲：数字逻辑与数字系统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of Washington, CS 4 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zhao shifeng</cp:lastModifiedBy>
  <cp:revision>3248</cp:revision>
  <cp:lastPrinted>2019-10-24T05:03:19Z</cp:lastPrinted>
  <dcterms:created xsi:type="dcterms:W3CDTF">2009-04-22T19:24:48Z</dcterms:created>
  <dcterms:modified xsi:type="dcterms:W3CDTF">2024-11-13T10:35:09Z</dcterms:modified>
</cp:coreProperties>
</file>