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24" r:id="rId2"/>
    <p:sldId id="399" r:id="rId3"/>
    <p:sldId id="286" r:id="rId4"/>
    <p:sldId id="400" r:id="rId5"/>
    <p:sldId id="287" r:id="rId6"/>
    <p:sldId id="288" r:id="rId7"/>
    <p:sldId id="360" r:id="rId8"/>
    <p:sldId id="290" r:id="rId9"/>
    <p:sldId id="361" r:id="rId10"/>
    <p:sldId id="291" r:id="rId11"/>
    <p:sldId id="362" r:id="rId12"/>
    <p:sldId id="292" r:id="rId13"/>
    <p:sldId id="363" r:id="rId14"/>
    <p:sldId id="364" r:id="rId15"/>
    <p:sldId id="365" r:id="rId16"/>
    <p:sldId id="293" r:id="rId17"/>
    <p:sldId id="295" r:id="rId18"/>
    <p:sldId id="296" r:id="rId19"/>
    <p:sldId id="294" r:id="rId20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9" autoAdjust="0"/>
    <p:restoredTop sz="94671"/>
  </p:normalViewPr>
  <p:slideViewPr>
    <p:cSldViewPr>
      <p:cViewPr varScale="1">
        <p:scale>
          <a:sx n="341" d="100"/>
          <a:sy n="341" d="100"/>
        </p:scale>
        <p:origin x="5192" y="17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1">
            <a:extLst>
              <a:ext uri="{FF2B5EF4-FFF2-40B4-BE49-F238E27FC236}">
                <a16:creationId xmlns:a16="http://schemas.microsoft.com/office/drawing/2014/main" id="{3E283C63-07EF-414A-A6B7-A735AD57B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8195" name="AutoShape 2">
            <a:extLst>
              <a:ext uri="{FF2B5EF4-FFF2-40B4-BE49-F238E27FC236}">
                <a16:creationId xmlns:a16="http://schemas.microsoft.com/office/drawing/2014/main" id="{C664A8F8-2155-294B-B0BE-2668EB47B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28686D33-3A25-564C-A287-B51A68DBD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47DCD4B-0FD5-014E-A317-5EE6C0910146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8625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198" name="Rectangle 5">
            <a:extLst>
              <a:ext uri="{FF2B5EF4-FFF2-40B4-BE49-F238E27FC236}">
                <a16:creationId xmlns:a16="http://schemas.microsoft.com/office/drawing/2014/main" id="{EEBBFDE2-0B0F-5A48-8DA8-EBD1ABCA3AF0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1371600" y="1143000"/>
            <a:ext cx="4111625" cy="3082925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C548FF2F-9DA7-624E-8E99-E47BC47D1DE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400550"/>
            <a:ext cx="5483225" cy="3597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noProof="0"/>
          </a:p>
        </p:txBody>
      </p:sp>
      <p:sp>
        <p:nvSpPr>
          <p:cNvPr id="8200" name="Text Box 7">
            <a:extLst>
              <a:ext uri="{FF2B5EF4-FFF2-40B4-BE49-F238E27FC236}">
                <a16:creationId xmlns:a16="http://schemas.microsoft.com/office/drawing/2014/main" id="{1A2296E9-AA1A-1D45-BDD3-BA2D9F12A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E115C9BF-2BEF-694D-B48F-B26FDFB2B50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5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fld id="{52D6B0AF-4983-1241-AC13-06C23D40784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>
            <a:extLst>
              <a:ext uri="{FF2B5EF4-FFF2-40B4-BE49-F238E27FC236}">
                <a16:creationId xmlns:a16="http://schemas.microsoft.com/office/drawing/2014/main" id="{A3882E43-CE4B-F34A-AAE0-6405366A991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6F0CFF9C-2B02-B045-A957-46566D44E353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2291" name="Rectangle 1">
            <a:extLst>
              <a:ext uri="{FF2B5EF4-FFF2-40B4-BE49-F238E27FC236}">
                <a16:creationId xmlns:a16="http://schemas.microsoft.com/office/drawing/2014/main" id="{AB1395CD-25B2-8645-A3BB-99589452E2B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92" name="Text Box 2">
            <a:extLst>
              <a:ext uri="{FF2B5EF4-FFF2-40B4-BE49-F238E27FC236}">
                <a16:creationId xmlns:a16="http://schemas.microsoft.com/office/drawing/2014/main" id="{508C4A94-C63A-774A-BBC6-67809A4F2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768A7E92-19F2-0D4A-812E-25376037050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1975140B-49F6-EE4F-BA83-F0D51B9BB23D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4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4339" name="Rectangle 1">
            <a:extLst>
              <a:ext uri="{FF2B5EF4-FFF2-40B4-BE49-F238E27FC236}">
                <a16:creationId xmlns:a16="http://schemas.microsoft.com/office/drawing/2014/main" id="{C793A6D7-F3C7-1F46-85F5-A30C8B936F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40" name="Text Box 2">
            <a:extLst>
              <a:ext uri="{FF2B5EF4-FFF2-40B4-BE49-F238E27FC236}">
                <a16:creationId xmlns:a16="http://schemas.microsoft.com/office/drawing/2014/main" id="{FCADB9BD-E3DA-C34F-9B09-21934E41A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>
            <a:extLst>
              <a:ext uri="{FF2B5EF4-FFF2-40B4-BE49-F238E27FC236}">
                <a16:creationId xmlns:a16="http://schemas.microsoft.com/office/drawing/2014/main" id="{CC49634F-3CE7-ED48-B17D-B6DFEB7226A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885943E-FD18-6040-8107-1CE3FC78E97E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5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387" name="Rectangle 1">
            <a:extLst>
              <a:ext uri="{FF2B5EF4-FFF2-40B4-BE49-F238E27FC236}">
                <a16:creationId xmlns:a16="http://schemas.microsoft.com/office/drawing/2014/main" id="{641DD6B4-43D5-FE4A-BCF2-6EF51F60FF8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388" name="Text Box 2">
            <a:extLst>
              <a:ext uri="{FF2B5EF4-FFF2-40B4-BE49-F238E27FC236}">
                <a16:creationId xmlns:a16="http://schemas.microsoft.com/office/drawing/2014/main" id="{91E04D68-69D4-AA4A-A570-4EC1E9257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>
            <a:extLst>
              <a:ext uri="{FF2B5EF4-FFF2-40B4-BE49-F238E27FC236}">
                <a16:creationId xmlns:a16="http://schemas.microsoft.com/office/drawing/2014/main" id="{F6EBF054-14A1-ED44-940A-FC1712422C9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900D29B-EC57-094E-8F51-0D4588DE080C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6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8435" name="Rectangle 1">
            <a:extLst>
              <a:ext uri="{FF2B5EF4-FFF2-40B4-BE49-F238E27FC236}">
                <a16:creationId xmlns:a16="http://schemas.microsoft.com/office/drawing/2014/main" id="{B4A06781-4506-A048-AA96-B32EBEB3D7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6" name="Text Box 2">
            <a:extLst>
              <a:ext uri="{FF2B5EF4-FFF2-40B4-BE49-F238E27FC236}">
                <a16:creationId xmlns:a16="http://schemas.microsoft.com/office/drawing/2014/main" id="{7E4160C7-2FBA-3546-9797-47AD0076A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>
            <a:extLst>
              <a:ext uri="{FF2B5EF4-FFF2-40B4-BE49-F238E27FC236}">
                <a16:creationId xmlns:a16="http://schemas.microsoft.com/office/drawing/2014/main" id="{18690FFA-DF3A-0646-BFA5-5E1AFAF4887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1E106E44-3F52-C14B-B740-63528B4A61F5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7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F8614983-1763-2749-B27D-3E7F6B10B70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4" name="Text Box 2">
            <a:extLst>
              <a:ext uri="{FF2B5EF4-FFF2-40B4-BE49-F238E27FC236}">
                <a16:creationId xmlns:a16="http://schemas.microsoft.com/office/drawing/2014/main" id="{466D442B-217A-0842-A824-432C0FAA7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>
            <a:extLst>
              <a:ext uri="{FF2B5EF4-FFF2-40B4-BE49-F238E27FC236}">
                <a16:creationId xmlns:a16="http://schemas.microsoft.com/office/drawing/2014/main" id="{83DD5D11-3A29-FD4D-8EE9-6C0DBCB215E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5DD3C935-B343-0346-9425-217BE28CCEF4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8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22531" name="Rectangle 1">
            <a:extLst>
              <a:ext uri="{FF2B5EF4-FFF2-40B4-BE49-F238E27FC236}">
                <a16:creationId xmlns:a16="http://schemas.microsoft.com/office/drawing/2014/main" id="{235E4E48-CBD1-B540-802B-1B41F531311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2" name="Text Box 2">
            <a:extLst>
              <a:ext uri="{FF2B5EF4-FFF2-40B4-BE49-F238E27FC236}">
                <a16:creationId xmlns:a16="http://schemas.microsoft.com/office/drawing/2014/main" id="{FA077907-9215-934D-9AFB-AEBD59C03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>
            <a:extLst>
              <a:ext uri="{FF2B5EF4-FFF2-40B4-BE49-F238E27FC236}">
                <a16:creationId xmlns:a16="http://schemas.microsoft.com/office/drawing/2014/main" id="{443FD511-FE46-D04B-B4D5-7892B63578D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1EC696F3-8C87-B545-8275-FFA06A5EE276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9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9FADD1C4-C5BD-E94F-973E-1286F2E108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Text Box 2">
            <a:extLst>
              <a:ext uri="{FF2B5EF4-FFF2-40B4-BE49-F238E27FC236}">
                <a16:creationId xmlns:a16="http://schemas.microsoft.com/office/drawing/2014/main" id="{5E3DE2A3-EB6A-AC40-809B-8A7971CBA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4581" name="Text Box 3">
            <a:extLst>
              <a:ext uri="{FF2B5EF4-FFF2-40B4-BE49-F238E27FC236}">
                <a16:creationId xmlns:a16="http://schemas.microsoft.com/office/drawing/2014/main" id="{F29B6421-AFD8-6F46-9B62-B7206957D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379C1F3-3754-9C40-97E2-092066640A2E}" type="slidenum">
              <a:rPr lang="zh-CN" altLang="zh-CN">
                <a:latin typeface="华文中宋" panose="02010600040101010101" pitchFamily="2" charset="-122"/>
              </a:rPr>
              <a:pPr algn="r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zh-CN" altLang="zh-CN">
              <a:latin typeface="华文中宋" panose="02010600040101010101" pitchFamily="2" charset="-122"/>
            </a:endParaRPr>
          </a:p>
        </p:txBody>
      </p:sp>
      <p:sp>
        <p:nvSpPr>
          <p:cNvPr id="24582" name="备注占位符 1">
            <a:extLst>
              <a:ext uri="{FF2B5EF4-FFF2-40B4-BE49-F238E27FC236}">
                <a16:creationId xmlns:a16="http://schemas.microsoft.com/office/drawing/2014/main" id="{0FF1DC84-081E-C640-B10D-664CD7603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>
            <a:extLst>
              <a:ext uri="{FF2B5EF4-FFF2-40B4-BE49-F238E27FC236}">
                <a16:creationId xmlns:a16="http://schemas.microsoft.com/office/drawing/2014/main" id="{64501563-3576-4048-B15A-A98C7B456B2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A31B50A1-FCD2-4F4A-9BC0-EF70357C3B86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10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26627" name="Rectangle 1">
            <a:extLst>
              <a:ext uri="{FF2B5EF4-FFF2-40B4-BE49-F238E27FC236}">
                <a16:creationId xmlns:a16="http://schemas.microsoft.com/office/drawing/2014/main" id="{3D6E62B6-CBDE-A04B-918E-614BD5DF75B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8" name="Text Box 2">
            <a:extLst>
              <a:ext uri="{FF2B5EF4-FFF2-40B4-BE49-F238E27FC236}">
                <a16:creationId xmlns:a16="http://schemas.microsoft.com/office/drawing/2014/main" id="{C60D1F78-694D-7C4A-A25D-56E32FD60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6629" name="Text Box 3">
            <a:extLst>
              <a:ext uri="{FF2B5EF4-FFF2-40B4-BE49-F238E27FC236}">
                <a16:creationId xmlns:a16="http://schemas.microsoft.com/office/drawing/2014/main" id="{D5B96B99-48BC-6E4C-B2F5-FD1EEBC79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E99455D-41FB-E746-B46B-3C0143A96A36}" type="slidenum">
              <a:rPr lang="zh-CN" altLang="zh-CN">
                <a:latin typeface="华文中宋" panose="02010600040101010101" pitchFamily="2" charset="-122"/>
              </a:rPr>
              <a:pPr algn="r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zh-CN" altLang="zh-CN">
              <a:latin typeface="华文中宋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>
            <a:extLst>
              <a:ext uri="{FF2B5EF4-FFF2-40B4-BE49-F238E27FC236}">
                <a16:creationId xmlns:a16="http://schemas.microsoft.com/office/drawing/2014/main" id="{0D0D7049-FB73-4E41-A203-F223D9A9F74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E0715D4-83F2-584A-8CAD-F5B5231C8555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11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68E6DCAF-0343-FE4C-AF69-9F6BD285AE5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6" name="Text Box 2">
            <a:extLst>
              <a:ext uri="{FF2B5EF4-FFF2-40B4-BE49-F238E27FC236}">
                <a16:creationId xmlns:a16="http://schemas.microsoft.com/office/drawing/2014/main" id="{A9079D94-46BB-BC49-BC6F-B7BD25B88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8677" name="Text Box 3">
            <a:extLst>
              <a:ext uri="{FF2B5EF4-FFF2-40B4-BE49-F238E27FC236}">
                <a16:creationId xmlns:a16="http://schemas.microsoft.com/office/drawing/2014/main" id="{C20EC49F-E1F2-1D48-A459-DDBBC6D5E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0EB163E-B442-1A4F-A423-DB9AAD447946}" type="slidenum">
              <a:rPr lang="zh-CN" altLang="zh-CN">
                <a:latin typeface="华文中宋" panose="02010600040101010101" pitchFamily="2" charset="-122"/>
              </a:rPr>
              <a:pPr algn="r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zh-CN" altLang="zh-CN">
              <a:latin typeface="华文中宋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8">
            <a:extLst>
              <a:ext uri="{FF2B5EF4-FFF2-40B4-BE49-F238E27FC236}">
                <a16:creationId xmlns:a16="http://schemas.microsoft.com/office/drawing/2014/main" id="{A23E4B2A-4BE6-604B-9A28-6E3D8B20590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772987F5-CDAC-8043-A53D-33EA5E788301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12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246FB38A-D6FA-2B4F-B134-2A44276EAB1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4" name="Text Box 2">
            <a:extLst>
              <a:ext uri="{FF2B5EF4-FFF2-40B4-BE49-F238E27FC236}">
                <a16:creationId xmlns:a16="http://schemas.microsoft.com/office/drawing/2014/main" id="{3C64F4CF-2D5F-AE47-A3A9-E5FF5F34F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725" name="Text Box 3">
            <a:extLst>
              <a:ext uri="{FF2B5EF4-FFF2-40B4-BE49-F238E27FC236}">
                <a16:creationId xmlns:a16="http://schemas.microsoft.com/office/drawing/2014/main" id="{4FC44712-190B-3442-8F10-6C78F0E44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4BB70E1E-A353-BE41-9397-2FC030C4810F}" type="slidenum">
              <a:rPr lang="zh-CN" altLang="zh-CN">
                <a:latin typeface="华文中宋" panose="02010600040101010101" pitchFamily="2" charset="-122"/>
              </a:rPr>
              <a:pPr algn="r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zh-CN" altLang="zh-CN">
              <a:latin typeface="华文中宋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8">
            <a:extLst>
              <a:ext uri="{FF2B5EF4-FFF2-40B4-BE49-F238E27FC236}">
                <a16:creationId xmlns:a16="http://schemas.microsoft.com/office/drawing/2014/main" id="{8F59E1E2-55C5-CD44-A1A4-9CD5139BFD9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00FBA71-3EFC-7246-B49B-0CEC61EB061F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16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0CC68ACB-A24D-FF45-8528-F9F3573F70F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4" name="Text Box 2">
            <a:extLst>
              <a:ext uri="{FF2B5EF4-FFF2-40B4-BE49-F238E27FC236}">
                <a16:creationId xmlns:a16="http://schemas.microsoft.com/office/drawing/2014/main" id="{032A6ED3-9AED-5F45-92B9-1F5DA8AA5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5845" name="Text Box 3">
            <a:extLst>
              <a:ext uri="{FF2B5EF4-FFF2-40B4-BE49-F238E27FC236}">
                <a16:creationId xmlns:a16="http://schemas.microsoft.com/office/drawing/2014/main" id="{FA6D630E-825F-DB43-84F0-7875E46AA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D140C2E-00A9-9247-8190-4E1080C7A1B5}" type="slidenum">
              <a:rPr lang="zh-CN" altLang="zh-CN">
                <a:latin typeface="华文中宋" panose="02010600040101010101" pitchFamily="2" charset="-122"/>
              </a:rPr>
              <a:pPr algn="r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zh-CN" altLang="zh-CN">
              <a:latin typeface="华文中宋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8">
            <a:extLst>
              <a:ext uri="{FF2B5EF4-FFF2-40B4-BE49-F238E27FC236}">
                <a16:creationId xmlns:a16="http://schemas.microsoft.com/office/drawing/2014/main" id="{1C081585-3241-9E44-9872-CB72DA413E2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56468BA7-6BAC-FF4F-B93E-C9FBA0E547D9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17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3A8353C7-D2AA-DA4D-93DB-F7760449117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2" name="Text Box 2">
            <a:extLst>
              <a:ext uri="{FF2B5EF4-FFF2-40B4-BE49-F238E27FC236}">
                <a16:creationId xmlns:a16="http://schemas.microsoft.com/office/drawing/2014/main" id="{C9D27C51-1517-1444-979D-2B5D92B95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8">
            <a:extLst>
              <a:ext uri="{FF2B5EF4-FFF2-40B4-BE49-F238E27FC236}">
                <a16:creationId xmlns:a16="http://schemas.microsoft.com/office/drawing/2014/main" id="{EA7AC3F4-AE53-074C-A436-F4C63BA5239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04D4CE9-F8DD-C844-8FE6-5E72F168065C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18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39939" name="Rectangle 1">
            <a:extLst>
              <a:ext uri="{FF2B5EF4-FFF2-40B4-BE49-F238E27FC236}">
                <a16:creationId xmlns:a16="http://schemas.microsoft.com/office/drawing/2014/main" id="{0FACEF28-A3CD-9843-BA11-FB254315F19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0" name="Text Box 2">
            <a:extLst>
              <a:ext uri="{FF2B5EF4-FFF2-40B4-BE49-F238E27FC236}">
                <a16:creationId xmlns:a16="http://schemas.microsoft.com/office/drawing/2014/main" id="{290E755B-C7BB-8847-8314-BC176996B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>
            <a:extLst>
              <a:ext uri="{FF2B5EF4-FFF2-40B4-BE49-F238E27FC236}">
                <a16:creationId xmlns:a16="http://schemas.microsoft.com/office/drawing/2014/main" id="{66F73A29-1C1B-D942-A851-A1A0ED814C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60902CA6-42A7-B448-939F-FA38D10F7AF1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19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CF1FD811-9972-7E42-8D58-D79B8ABAEDB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8" name="Text Box 2">
            <a:extLst>
              <a:ext uri="{FF2B5EF4-FFF2-40B4-BE49-F238E27FC236}">
                <a16:creationId xmlns:a16="http://schemas.microsoft.com/office/drawing/2014/main" id="{7D211D65-2A79-2F45-AE7E-84773EA64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41989" name="Text Box 3">
            <a:extLst>
              <a:ext uri="{FF2B5EF4-FFF2-40B4-BE49-F238E27FC236}">
                <a16:creationId xmlns:a16="http://schemas.microsoft.com/office/drawing/2014/main" id="{833471CF-7AB8-5D4C-8354-5F482F019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3E1ED61-8DD8-A046-8E64-D9D4BC6C965C}" type="slidenum">
              <a:rPr lang="zh-CN" altLang="zh-CN">
                <a:latin typeface="华文中宋" panose="02010600040101010101" pitchFamily="2" charset="-122"/>
              </a:rPr>
              <a:pPr algn="r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zh-CN" altLang="zh-CN">
              <a:latin typeface="华文中宋" panose="0201060004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46C3CFF-1190-2A40-A37A-325B417AF7F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D066D967-06F5-0E4F-83B7-210058AC889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1244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FF62874E-4725-1A4F-9F75-E838B9CD91D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6425" cy="5256584"/>
          </a:xfrm>
        </p:spPr>
        <p:txBody>
          <a:bodyPr/>
          <a:lstStyle>
            <a:lvl1pPr marL="457200" indent="-457200"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914400" indent="-457200"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2573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7145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1717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E946A0-53CC-0C48-B791-9C4004CBBB4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439F1FF7-99AF-6346-91F6-AD9D82ACB4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87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无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367BA815-C2FE-874F-A3C6-CEA0FDD0AF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DD57A68-97A5-4E4A-A0E6-643C834995F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CD75799E-8A02-054F-9D92-57E0A1BD5E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08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AA2406C-9935-DB4B-A26E-E12C00FD406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BD7723B7-4745-8C43-AB3B-25CA0D23928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354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7">
            <a:extLst>
              <a:ext uri="{FF2B5EF4-FFF2-40B4-BE49-F238E27FC236}">
                <a16:creationId xmlns:a16="http://schemas.microsoft.com/office/drawing/2014/main" id="{1842C6B6-C4CA-6441-A467-214EB3FC3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813" y="6399213"/>
            <a:ext cx="44926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fld id="{BCB4D747-88F2-FE4E-9C16-5E443EF4A758}" type="slidenum"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 eaLnBrk="1" hangingPunct="1"/>
              <a:t>‹#›</a:t>
            </a:fld>
            <a:endParaRPr kumimoji="1"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59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23C3874-C6DC-0C4C-9FCB-E675CE925A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C2699-CA94-9D45-962E-B90CA0B3780B}" type="datetimeFigureOut">
              <a:rPr lang="en-US"/>
              <a:pPr>
                <a:defRPr/>
              </a:pPr>
              <a:t>3/26/25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7D5033-A746-9643-8192-675181071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A58AB9D-3013-B44E-B4A5-A056DCE7A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4EC77-623B-3148-A497-4C7D640055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16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5CE67BE6-D11D-964D-A438-07956CEC6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333375"/>
            <a:ext cx="8226425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单击鼠标编辑标题文字格式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A94B85AF-8C35-EA49-BFBF-7A7DA7E15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单击鼠标编辑大纲文字格式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第三大纲级别</a:t>
            </a:r>
          </a:p>
          <a:p>
            <a:pPr lvl="3"/>
            <a:r>
              <a:rPr lang="zh-CN" altLang="en-GB"/>
              <a:t>第四大纲级别</a:t>
            </a:r>
          </a:p>
          <a:p>
            <a:pPr lvl="4"/>
            <a:r>
              <a:rPr lang="zh-CN" altLang="en-GB"/>
              <a:t>第五大纲级别</a:t>
            </a:r>
          </a:p>
          <a:p>
            <a:pPr lvl="4"/>
            <a:r>
              <a:rPr lang="zh-CN" altLang="en-GB"/>
              <a:t>第六大纲级别</a:t>
            </a:r>
          </a:p>
          <a:p>
            <a:pPr lvl="4"/>
            <a:r>
              <a:rPr lang="zh-CN" altLang="en-GB"/>
              <a:t>第七大纲级别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FF871138-AC24-3640-8A04-D70607287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8651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78613018-DDF5-2047-B95B-382CF0B88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386513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960ECBD-02D2-D64E-8FF9-F7193C4728E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86513"/>
            <a:ext cx="2130425" cy="473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945626D8-169C-C54A-9DD3-BC22FB517F2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Box 6">
            <a:extLst>
              <a:ext uri="{FF2B5EF4-FFF2-40B4-BE49-F238E27FC236}">
                <a16:creationId xmlns:a16="http://schemas.microsoft.com/office/drawing/2014/main" id="{8C4C13C8-74BE-614C-B1AE-1A11C37F2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0"/>
            <a:ext cx="4030663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ts val="1000"/>
              </a:spcBef>
              <a:buSzPct val="100000"/>
              <a:defRPr/>
            </a:pPr>
            <a:r>
              <a:rPr lang="zh-CN" altLang="en-US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传感器技术与网络</a:t>
            </a:r>
            <a:r>
              <a:rPr lang="en-US" altLang="zh-CN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zh-CN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-2025</a:t>
            </a:r>
            <a:endParaRPr lang="zh-CN" altLang="zh-CN" sz="1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D85A03AF-4C60-2C45-9C9A-FB5302C96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620713"/>
            <a:ext cx="8569325" cy="1587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1033" name="Rectangle 8">
            <a:extLst>
              <a:ext uri="{FF2B5EF4-FFF2-40B4-BE49-F238E27FC236}">
                <a16:creationId xmlns:a16="http://schemas.microsoft.com/office/drawing/2014/main" id="{79C624AA-67BD-D94F-B9B1-3926E1C35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2449513" cy="7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pic>
        <p:nvPicPr>
          <p:cNvPr id="1034" name="Picture 12">
            <a:extLst>
              <a:ext uri="{FF2B5EF4-FFF2-40B4-BE49-F238E27FC236}">
                <a16:creationId xmlns:a16="http://schemas.microsoft.com/office/drawing/2014/main" id="{20259CFB-AEF1-D746-82E8-DA29344104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125413"/>
            <a:ext cx="14684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  <p:sldLayoutId id="2147483977" r:id="rId2"/>
    <p:sldLayoutId id="2147483978" r:id="rId3"/>
    <p:sldLayoutId id="2147483976" r:id="rId4"/>
    <p:sldLayoutId id="2147483979" r:id="rId5"/>
    <p:sldLayoutId id="2147483980" r:id="rId6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535F5D6A-B2FD-7F47-884C-404510F071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传感器技术与网络</a:t>
            </a:r>
          </a:p>
        </p:txBody>
      </p:sp>
      <p:sp>
        <p:nvSpPr>
          <p:cNvPr id="9218" name="副标题 2">
            <a:extLst>
              <a:ext uri="{FF2B5EF4-FFF2-40B4-BE49-F238E27FC236}">
                <a16:creationId xmlns:a16="http://schemas.microsoft.com/office/drawing/2014/main" id="{96D2E4D1-3B37-9342-BC25-F1337C1353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endParaRPr lang="en-US" altLang="zh-CN" dirty="0"/>
          </a:p>
          <a:p>
            <a:r>
              <a:rPr lang="en-US" altLang="zh-CN" dirty="0"/>
              <a:t>2025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文本框 1">
            <a:extLst>
              <a:ext uri="{FF2B5EF4-FFF2-40B4-BE49-F238E27FC236}">
                <a16:creationId xmlns:a16="http://schemas.microsoft.com/office/drawing/2014/main" id="{29CE7ABA-2F56-D545-8B48-2DFF55A66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76475"/>
            <a:ext cx="6985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kumimoji="1" lang="zh-CN" altLang="en-US" sz="66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红外遥控实验</a:t>
            </a:r>
            <a:endParaRPr lang="zh-CN" altLang="en-US"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7AC821EA-4843-2A41-8265-B9B6F054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8496300" cy="116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zh-CN" b="1">
                <a:solidFill>
                  <a:srgbClr val="C00000"/>
                </a:solidFill>
              </a:rPr>
              <a:t>红外遥控接收探头</a:t>
            </a:r>
          </a:p>
          <a:p>
            <a:pPr>
              <a:buClrTx/>
              <a:buFontTx/>
              <a:buNone/>
            </a:pPr>
            <a:r>
              <a:rPr lang="en-US" altLang="zh-CN" b="1">
                <a:solidFill>
                  <a:srgbClr val="C00000"/>
                </a:solidFill>
              </a:rPr>
              <a:t>IRM</a:t>
            </a:r>
            <a:r>
              <a:rPr lang="zh-CN" altLang="zh-CN" b="1">
                <a:solidFill>
                  <a:srgbClr val="C00000"/>
                </a:solidFill>
              </a:rPr>
              <a:t>（</a:t>
            </a:r>
            <a:r>
              <a:rPr lang="en-US" altLang="zh-CN">
                <a:solidFill>
                  <a:srgbClr val="C00000"/>
                </a:solidFill>
              </a:rPr>
              <a:t>Infrared Receiver Module</a:t>
            </a:r>
            <a:r>
              <a:rPr lang="zh-CN" altLang="zh-CN" b="1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B5FA257-DEC9-7D40-B379-EE3DDF54A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3133725"/>
            <a:ext cx="815975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红外</a:t>
            </a:r>
          </a:p>
        </p:txBody>
      </p:sp>
      <p:pic>
        <p:nvPicPr>
          <p:cNvPr id="11268" name="Picture 3">
            <a:extLst>
              <a:ext uri="{FF2B5EF4-FFF2-40B4-BE49-F238E27FC236}">
                <a16:creationId xmlns:a16="http://schemas.microsoft.com/office/drawing/2014/main" id="{2074DB13-39BF-CB44-9591-BA50B5FD1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2708275"/>
            <a:ext cx="1225550" cy="236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269" name="Picture 4">
            <a:extLst>
              <a:ext uri="{FF2B5EF4-FFF2-40B4-BE49-F238E27FC236}">
                <a16:creationId xmlns:a16="http://schemas.microsoft.com/office/drawing/2014/main" id="{6D806E47-6716-B84D-B3B9-608CCFB99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435225"/>
            <a:ext cx="1444625" cy="306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11270" name="AutoShape 5">
            <a:extLst>
              <a:ext uri="{FF2B5EF4-FFF2-40B4-BE49-F238E27FC236}">
                <a16:creationId xmlns:a16="http://schemas.microsoft.com/office/drawing/2014/main" id="{6F421012-1C29-2048-B2A8-2ECCE798178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932238" y="3959225"/>
            <a:ext cx="1373187" cy="1588"/>
          </a:xfrm>
          <a:prstGeom prst="straightConnector1">
            <a:avLst/>
          </a:prstGeom>
          <a:noFill/>
          <a:ln w="9360" cap="sq">
            <a:solidFill>
              <a:srgbClr val="00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71" name="Rectangle 6">
            <a:extLst>
              <a:ext uri="{FF2B5EF4-FFF2-40B4-BE49-F238E27FC236}">
                <a16:creationId xmlns:a16="http://schemas.microsoft.com/office/drawing/2014/main" id="{1D90D465-BDE2-2C4A-8E76-A34E10FAD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438" y="5310188"/>
            <a:ext cx="4321175" cy="131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VCC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引脚：接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+5v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VOUT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引脚：电压值输出（模拟值）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GND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引脚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接地</a:t>
            </a:r>
          </a:p>
        </p:txBody>
      </p:sp>
      <p:sp>
        <p:nvSpPr>
          <p:cNvPr id="11272" name="Rectangle 7">
            <a:extLst>
              <a:ext uri="{FF2B5EF4-FFF2-40B4-BE49-F238E27FC236}">
                <a16:creationId xmlns:a16="http://schemas.microsoft.com/office/drawing/2014/main" id="{89BE7D4D-D1CB-F344-98EA-96B14BE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025" y="1954213"/>
            <a:ext cx="3800475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无金属屏蔽罩：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HS0038</a:t>
            </a:r>
            <a:r>
              <a:rPr lang="zh-CN" altLang="zh-CN"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>
            <a:extLst>
              <a:ext uri="{FF2B5EF4-FFF2-40B4-BE49-F238E27FC236}">
                <a16:creationId xmlns:a16="http://schemas.microsoft.com/office/drawing/2014/main" id="{E8CBA2A9-95F8-A047-B7E2-9CE5CE697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8496300" cy="116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zh-CN" b="1">
                <a:solidFill>
                  <a:srgbClr val="C00000"/>
                </a:solidFill>
              </a:rPr>
              <a:t>红外遥控接收探头</a:t>
            </a:r>
          </a:p>
          <a:p>
            <a:pPr>
              <a:buClrTx/>
              <a:buFontTx/>
              <a:buNone/>
            </a:pPr>
            <a:r>
              <a:rPr lang="en-US" altLang="zh-CN" b="1">
                <a:solidFill>
                  <a:srgbClr val="C00000"/>
                </a:solidFill>
              </a:rPr>
              <a:t>IRM</a:t>
            </a:r>
            <a:r>
              <a:rPr lang="zh-CN" altLang="zh-CN" b="1">
                <a:solidFill>
                  <a:srgbClr val="C00000"/>
                </a:solidFill>
              </a:rPr>
              <a:t>（</a:t>
            </a:r>
            <a:r>
              <a:rPr lang="en-US" altLang="zh-CN">
                <a:solidFill>
                  <a:srgbClr val="C00000"/>
                </a:solidFill>
              </a:rPr>
              <a:t>Infrared Receiver Module</a:t>
            </a:r>
            <a:r>
              <a:rPr lang="zh-CN" altLang="zh-CN" b="1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13314" name="Rectangle 8">
            <a:extLst>
              <a:ext uri="{FF2B5EF4-FFF2-40B4-BE49-F238E27FC236}">
                <a16:creationId xmlns:a16="http://schemas.microsoft.com/office/drawing/2014/main" id="{0E7121F5-742D-5343-8C57-F1ED25925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338" y="2070100"/>
            <a:ext cx="4572000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一些有金属屏蔽罩，如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BS1838B</a:t>
            </a:r>
            <a:r>
              <a:rPr lang="zh-CN" altLang="zh-CN"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型；</a:t>
            </a:r>
          </a:p>
        </p:txBody>
      </p:sp>
      <p:pic>
        <p:nvPicPr>
          <p:cNvPr id="13315" name="Picture 9">
            <a:extLst>
              <a:ext uri="{FF2B5EF4-FFF2-40B4-BE49-F238E27FC236}">
                <a16:creationId xmlns:a16="http://schemas.microsoft.com/office/drawing/2014/main" id="{ED8AC039-A428-0449-907B-29562B3F6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2852738"/>
            <a:ext cx="2519362" cy="251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316" name="TextBox 11">
            <a:extLst>
              <a:ext uri="{FF2B5EF4-FFF2-40B4-BE49-F238E27FC236}">
                <a16:creationId xmlns:a16="http://schemas.microsoft.com/office/drawing/2014/main" id="{70707CC3-DF68-DF4D-99C2-124B2F41E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518150"/>
            <a:ext cx="73453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333333"/>
                </a:solidFill>
                <a:latin typeface="PingFang SC" panose="020B0600000000000000" pitchFamily="34" charset="-122"/>
                <a:ea typeface="PingFang SC" panose="020B0600000000000000" pitchFamily="34" charset="-122"/>
              </a:rPr>
              <a:t>实</a:t>
            </a:r>
            <a:r>
              <a:rPr lang="en-US" altLang="en-CN">
                <a:solidFill>
                  <a:srgbClr val="333333"/>
                </a:solidFill>
                <a:latin typeface="PingFang SC" panose="020B0600000000000000" pitchFamily="34" charset="-122"/>
                <a:ea typeface="PingFang SC" panose="020B0600000000000000" pitchFamily="34" charset="-122"/>
              </a:rPr>
              <a:t>HS0038 </a:t>
            </a:r>
            <a:r>
              <a:rPr lang="zh-CN" altLang="en-US">
                <a:solidFill>
                  <a:srgbClr val="333333"/>
                </a:solidFill>
                <a:latin typeface="PingFang SC" panose="020B0600000000000000" pitchFamily="34" charset="-122"/>
                <a:ea typeface="PingFang SC" panose="020B0600000000000000" pitchFamily="34" charset="-122"/>
              </a:rPr>
              <a:t>和</a:t>
            </a:r>
            <a:r>
              <a:rPr lang="en-US" altLang="en-CN">
                <a:solidFill>
                  <a:srgbClr val="333333"/>
                </a:solidFill>
                <a:latin typeface="PingFang SC" panose="020B0600000000000000" pitchFamily="34" charset="-122"/>
                <a:ea typeface="PingFang SC" panose="020B0600000000000000" pitchFamily="34" charset="-122"/>
              </a:rPr>
              <a:t>VS1838B </a:t>
            </a:r>
            <a:r>
              <a:rPr lang="zh-CN" altLang="en-US">
                <a:solidFill>
                  <a:srgbClr val="333333"/>
                </a:solidFill>
                <a:latin typeface="PingFang SC" panose="020B0600000000000000" pitchFamily="34" charset="-122"/>
                <a:ea typeface="PingFang SC" panose="020B0600000000000000" pitchFamily="34" charset="-122"/>
              </a:rPr>
              <a:t>没什么区别，性能指标有些差异！</a:t>
            </a:r>
          </a:p>
          <a:p>
            <a:r>
              <a:rPr lang="zh-CN" altLang="en-US">
                <a:solidFill>
                  <a:srgbClr val="333333"/>
                </a:solidFill>
                <a:latin typeface="PingFang SC" panose="020B0600000000000000" pitchFamily="34" charset="-122"/>
                <a:ea typeface="PingFang SC" panose="020B0600000000000000" pitchFamily="34" charset="-122"/>
              </a:rPr>
              <a:t> 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690E9F43-332D-EA4C-95FC-C5EF5B0B2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20713"/>
            <a:ext cx="7920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微软雅黑" panose="020B0503020204020204" pitchFamily="34" charset="-122"/>
              <a:buChar char="•"/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红外遥控接收探头块图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4BFF7656-6FAE-AE4B-A668-AB7AAFB0A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08275"/>
            <a:ext cx="8640762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716D29DF-EEB1-F546-9626-13AFA1C35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92150"/>
            <a:ext cx="79200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微软雅黑" panose="020B0503020204020204" pitchFamily="34" charset="-122"/>
              <a:buChar char="•"/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应用电路 </a:t>
            </a:r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888832F0-4891-5A49-8C16-8F1EEFA95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924175"/>
            <a:ext cx="8496300" cy="333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412" name="Rectangle 3">
            <a:extLst>
              <a:ext uri="{FF2B5EF4-FFF2-40B4-BE49-F238E27FC236}">
                <a16:creationId xmlns:a16="http://schemas.microsoft.com/office/drawing/2014/main" id="{6A806184-9C88-4841-AE2B-9E95FF80A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133600"/>
            <a:ext cx="3021013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微处理器软件解码</a:t>
            </a:r>
          </a:p>
        </p:txBody>
      </p:sp>
      <p:cxnSp>
        <p:nvCxnSpPr>
          <p:cNvPr id="17413" name="AutoShape 4">
            <a:extLst>
              <a:ext uri="{FF2B5EF4-FFF2-40B4-BE49-F238E27FC236}">
                <a16:creationId xmlns:a16="http://schemas.microsoft.com/office/drawing/2014/main" id="{193E2AA4-4225-B449-BDD9-19CCCD5B633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40650" y="2924175"/>
            <a:ext cx="215900" cy="1377950"/>
          </a:xfrm>
          <a:prstGeom prst="straightConnector1">
            <a:avLst/>
          </a:prstGeom>
          <a:noFill/>
          <a:ln w="9360" cap="sq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549F7927-068F-2740-B85F-D421940A4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404813"/>
            <a:ext cx="7920038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/>
              <a:t>NEC</a:t>
            </a:r>
            <a:r>
              <a:rPr lang="zh-CN" altLang="zh-CN"/>
              <a:t>协议</a:t>
            </a:r>
            <a:r>
              <a:rPr lang="en-US" altLang="zh-CN"/>
              <a:t>【</a:t>
            </a:r>
            <a:r>
              <a:rPr lang="zh-CN" altLang="zh-CN">
                <a:solidFill>
                  <a:srgbClr val="FF0000"/>
                </a:solidFill>
              </a:rPr>
              <a:t>以下按</a:t>
            </a:r>
            <a:r>
              <a:rPr lang="zh-CN" altLang="zh-CN" b="1" u="sng">
                <a:solidFill>
                  <a:srgbClr val="FF0000"/>
                </a:solidFill>
              </a:rPr>
              <a:t>发送端</a:t>
            </a:r>
            <a:r>
              <a:rPr lang="zh-CN" altLang="zh-CN">
                <a:solidFill>
                  <a:srgbClr val="FF0000"/>
                </a:solidFill>
              </a:rPr>
              <a:t>电平逻辑描述</a:t>
            </a:r>
            <a:r>
              <a:rPr lang="en-US" altLang="zh-CN"/>
              <a:t>】</a:t>
            </a:r>
            <a:r>
              <a:rPr lang="zh-CN" altLang="zh-CN"/>
              <a:t>： 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zh-CN"/>
              <a:t>8</a:t>
            </a:r>
            <a:r>
              <a:rPr lang="zh-CN" altLang="zh-CN"/>
              <a:t>位地址位，</a:t>
            </a:r>
            <a:r>
              <a:rPr lang="en-US" altLang="zh-CN"/>
              <a:t>8</a:t>
            </a:r>
            <a:r>
              <a:rPr lang="zh-CN" altLang="zh-CN"/>
              <a:t>位命令位 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zh-CN" altLang="zh-CN"/>
              <a:t>为了可靠性，地址位和命令位被传输两次 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zh-CN" altLang="zh-CN"/>
              <a:t>脉冲位置调制 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zh-CN" altLang="zh-CN"/>
              <a:t>载波频率</a:t>
            </a:r>
            <a:r>
              <a:rPr lang="en-US" altLang="zh-CN"/>
              <a:t>38khz 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zh-CN" altLang="zh-CN"/>
              <a:t>每一位的时间为</a:t>
            </a:r>
            <a:r>
              <a:rPr lang="en-US" altLang="zh-CN"/>
              <a:t>1.125ms</a:t>
            </a:r>
            <a:r>
              <a:rPr lang="zh-CN" altLang="zh-CN"/>
              <a:t>或</a:t>
            </a:r>
            <a:r>
              <a:rPr lang="en-US" altLang="zh-CN"/>
              <a:t>2.25ms </a:t>
            </a:r>
            <a:r>
              <a:rPr lang="zh-CN" altLang="zh-CN"/>
              <a:t> </a:t>
            </a:r>
          </a:p>
          <a:p>
            <a:pPr>
              <a:spcBef>
                <a:spcPts val="300"/>
              </a:spcBef>
              <a:buClrTx/>
              <a:buFontTx/>
              <a:buNone/>
            </a:pPr>
            <a:endParaRPr lang="en-US" altLang="zh-CN" sz="12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>
            <a:extLst>
              <a:ext uri="{FF2B5EF4-FFF2-40B4-BE49-F238E27FC236}">
                <a16:creationId xmlns:a16="http://schemas.microsoft.com/office/drawing/2014/main" id="{727D477A-8FBA-604F-A81B-297BD8B92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404813"/>
            <a:ext cx="7920038" cy="185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9775" indent="-282575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/>
              <a:t>NEC</a:t>
            </a:r>
            <a:r>
              <a:rPr lang="zh-CN" altLang="zh-CN"/>
              <a:t>协议</a:t>
            </a:r>
            <a:r>
              <a:rPr lang="en-US" altLang="zh-CN"/>
              <a:t>【</a:t>
            </a:r>
            <a:r>
              <a:rPr lang="zh-CN" altLang="zh-CN">
                <a:solidFill>
                  <a:srgbClr val="FF0000"/>
                </a:solidFill>
              </a:rPr>
              <a:t>以下按</a:t>
            </a:r>
            <a:r>
              <a:rPr lang="zh-CN" altLang="zh-CN" b="1" u="sng">
                <a:solidFill>
                  <a:srgbClr val="FF0000"/>
                </a:solidFill>
              </a:rPr>
              <a:t>发送端</a:t>
            </a:r>
            <a:r>
              <a:rPr lang="zh-CN" altLang="zh-CN">
                <a:solidFill>
                  <a:srgbClr val="FF0000"/>
                </a:solidFill>
              </a:rPr>
              <a:t>电平逻辑描述</a:t>
            </a:r>
            <a:r>
              <a:rPr lang="en-US" altLang="zh-CN"/>
              <a:t>】</a:t>
            </a:r>
            <a:endParaRPr lang="zh-CN" altLang="zh-CN"/>
          </a:p>
          <a:p>
            <a:pPr>
              <a:spcBef>
                <a:spcPts val="300"/>
              </a:spcBef>
              <a:buClrTx/>
              <a:buFontTx/>
              <a:buNone/>
            </a:pPr>
            <a:endParaRPr lang="en-US" altLang="zh-CN" sz="1200"/>
          </a:p>
          <a:p>
            <a:pPr>
              <a:spcBef>
                <a:spcPts val="300"/>
              </a:spcBef>
              <a:buClrTx/>
              <a:buFontTx/>
              <a:buNone/>
            </a:pPr>
            <a:endParaRPr lang="en-US" altLang="zh-CN" sz="1200"/>
          </a:p>
          <a:p>
            <a:pPr>
              <a:spcBef>
                <a:spcPts val="300"/>
              </a:spcBef>
              <a:buClrTx/>
              <a:buFontTx/>
              <a:buNone/>
            </a:pPr>
            <a:endParaRPr lang="en-US" altLang="zh-CN" sz="12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/>
              <a:t>逻辑</a:t>
            </a:r>
            <a:r>
              <a:rPr lang="en-US" altLang="zh-CN"/>
              <a:t>0</a:t>
            </a:r>
            <a:r>
              <a:rPr lang="zh-CN" altLang="zh-CN"/>
              <a:t>和</a:t>
            </a:r>
            <a:r>
              <a:rPr lang="en-US" altLang="zh-CN"/>
              <a:t>1</a:t>
            </a:r>
            <a:r>
              <a:rPr lang="zh-CN" altLang="zh-CN"/>
              <a:t>的定义如下图： </a:t>
            </a:r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E8095EBA-5018-3F4B-9802-0E522F619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2492375"/>
            <a:ext cx="763270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08" name="矩形 1">
            <a:extLst>
              <a:ext uri="{FF2B5EF4-FFF2-40B4-BE49-F238E27FC236}">
                <a16:creationId xmlns:a16="http://schemas.microsoft.com/office/drawing/2014/main" id="{DA1B8272-2794-BF45-8565-0DA04E44B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3068638"/>
            <a:ext cx="1008063" cy="11525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1509" name="矩形 6">
            <a:extLst>
              <a:ext uri="{FF2B5EF4-FFF2-40B4-BE49-F238E27FC236}">
                <a16:creationId xmlns:a16="http://schemas.microsoft.com/office/drawing/2014/main" id="{492873D4-058F-DF45-8156-EDCCF7014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850" y="3068638"/>
            <a:ext cx="1008063" cy="11525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1510" name="矩形 7">
            <a:extLst>
              <a:ext uri="{FF2B5EF4-FFF2-40B4-BE49-F238E27FC236}">
                <a16:creationId xmlns:a16="http://schemas.microsoft.com/office/drawing/2014/main" id="{D1EC9A9A-F988-4648-BD1C-C4E6FEC48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3068638"/>
            <a:ext cx="1008063" cy="11525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>
            <a:extLst>
              <a:ext uri="{FF2B5EF4-FFF2-40B4-BE49-F238E27FC236}">
                <a16:creationId xmlns:a16="http://schemas.microsoft.com/office/drawing/2014/main" id="{A035F8F9-1FBA-F543-B8F3-BA7E88C45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404813"/>
            <a:ext cx="7920038" cy="116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zh-CN"/>
              <a:t>短按时的发射脉冲</a:t>
            </a:r>
          </a:p>
          <a:p>
            <a:pPr>
              <a:buClrTx/>
              <a:buFontTx/>
              <a:buNone/>
            </a:pPr>
            <a:endParaRPr lang="zh-CN" altLang="zh-CN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2309A4D6-78AC-5445-8396-4A9FEFC2B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565400"/>
            <a:ext cx="8423275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555" name="Rectangle 4">
            <a:extLst>
              <a:ext uri="{FF2B5EF4-FFF2-40B4-BE49-F238E27FC236}">
                <a16:creationId xmlns:a16="http://schemas.microsoft.com/office/drawing/2014/main" id="{4E6E8E8F-6EE9-BE40-8697-788200329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03688"/>
            <a:ext cx="124618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引导码</a:t>
            </a:r>
          </a:p>
        </p:txBody>
      </p:sp>
      <p:cxnSp>
        <p:nvCxnSpPr>
          <p:cNvPr id="23556" name="AutoShape 5">
            <a:extLst>
              <a:ext uri="{FF2B5EF4-FFF2-40B4-BE49-F238E27FC236}">
                <a16:creationId xmlns:a16="http://schemas.microsoft.com/office/drawing/2014/main" id="{089F23A0-BCD6-7B4E-9570-CA5F824BD2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2938" y="4065588"/>
            <a:ext cx="1611312" cy="3175"/>
          </a:xfrm>
          <a:prstGeom prst="straightConnector1">
            <a:avLst/>
          </a:prstGeom>
          <a:noFill/>
          <a:ln w="9360" cap="sq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557" name="Rectangle 6">
            <a:extLst>
              <a:ext uri="{FF2B5EF4-FFF2-40B4-BE49-F238E27FC236}">
                <a16:creationId xmlns:a16="http://schemas.microsoft.com/office/drawing/2014/main" id="{60BD2531-FE66-6C43-BA90-BD46F05B6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4829175"/>
            <a:ext cx="5208587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引导码</a:t>
            </a:r>
            <a:r>
              <a:rPr lang="zh-CN" altLang="en-US" sz="2800">
                <a:solidFill>
                  <a:srgbClr val="0066FF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</a:rPr>
              <a:t>表示一个新命令的开始</a:t>
            </a:r>
            <a:endParaRPr lang="zh-CN" altLang="zh-CN" sz="280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>
            <a:extLst>
              <a:ext uri="{FF2B5EF4-FFF2-40B4-BE49-F238E27FC236}">
                <a16:creationId xmlns:a16="http://schemas.microsoft.com/office/drawing/2014/main" id="{CA9B590B-FC3F-6441-AC00-08551DE89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404813"/>
            <a:ext cx="7920038" cy="116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zh-CN"/>
              <a:t>短按时的发射脉冲</a:t>
            </a:r>
          </a:p>
          <a:p>
            <a:pPr>
              <a:buClrTx/>
              <a:buFontTx/>
              <a:buNone/>
            </a:pPr>
            <a:endParaRPr lang="zh-CN" altLang="zh-CN"/>
          </a:p>
        </p:txBody>
      </p:sp>
      <p:pic>
        <p:nvPicPr>
          <p:cNvPr id="25603" name="Picture 2">
            <a:extLst>
              <a:ext uri="{FF2B5EF4-FFF2-40B4-BE49-F238E27FC236}">
                <a16:creationId xmlns:a16="http://schemas.microsoft.com/office/drawing/2014/main" id="{C55EF924-0CCF-2240-848E-30E2EAB61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565400"/>
            <a:ext cx="8423275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04" name="Rectangle 3">
            <a:extLst>
              <a:ext uri="{FF2B5EF4-FFF2-40B4-BE49-F238E27FC236}">
                <a16:creationId xmlns:a16="http://schemas.microsoft.com/office/drawing/2014/main" id="{DCB41D96-4F8F-594C-9544-1A97888C4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6161088"/>
            <a:ext cx="5935662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MSB</a:t>
            </a:r>
            <a:r>
              <a:rPr lang="zh-CN" altLang="zh-CN" sz="2800">
                <a:latin typeface="宋体" panose="02010600030101010101" pitchFamily="2" charset="-122"/>
              </a:rPr>
              <a:t>（最高位）</a:t>
            </a:r>
            <a:r>
              <a:rPr lang="en-US" altLang="zh-CN" sz="2800">
                <a:latin typeface="宋体" panose="02010600030101010101" pitchFamily="2" charset="-122"/>
              </a:rPr>
              <a:t>   LSB</a:t>
            </a:r>
            <a:r>
              <a:rPr lang="zh-CN" altLang="zh-CN" sz="2800">
                <a:latin typeface="宋体" panose="02010600030101010101" pitchFamily="2" charset="-122"/>
              </a:rPr>
              <a:t>（最低位）</a:t>
            </a: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D7205CB1-783F-9B4E-953C-94ED1E84F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03688"/>
            <a:ext cx="124618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引导码</a:t>
            </a:r>
          </a:p>
        </p:txBody>
      </p:sp>
      <p:cxnSp>
        <p:nvCxnSpPr>
          <p:cNvPr id="25606" name="AutoShape 5">
            <a:extLst>
              <a:ext uri="{FF2B5EF4-FFF2-40B4-BE49-F238E27FC236}">
                <a16:creationId xmlns:a16="http://schemas.microsoft.com/office/drawing/2014/main" id="{958EDE83-800D-5648-9BAD-AC814F44D7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2938" y="4065588"/>
            <a:ext cx="1611312" cy="3175"/>
          </a:xfrm>
          <a:prstGeom prst="straightConnector1">
            <a:avLst/>
          </a:prstGeom>
          <a:noFill/>
          <a:ln w="9360" cap="sq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07" name="Rectangle 6">
            <a:extLst>
              <a:ext uri="{FF2B5EF4-FFF2-40B4-BE49-F238E27FC236}">
                <a16:creationId xmlns:a16="http://schemas.microsoft.com/office/drawing/2014/main" id="{19D95EC0-2115-FA4C-8CE9-054ED22F9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4829175"/>
            <a:ext cx="7466012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地址</a:t>
            </a:r>
            <a:r>
              <a:rPr lang="zh-CN" altLang="en-US" sz="2800">
                <a:solidFill>
                  <a:srgbClr val="0066FF"/>
                </a:solidFill>
                <a:latin typeface="宋体" panose="02010600030101010101" pitchFamily="2" charset="-122"/>
              </a:rPr>
              <a:t>码：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</a:rPr>
              <a:t>表示不同生产厂商。</a:t>
            </a:r>
            <a:endParaRPr lang="en-US" altLang="zh-CN" sz="28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zh-CN" sz="2800">
                <a:latin typeface="宋体" panose="02010600030101010101" pitchFamily="2" charset="-122"/>
              </a:rPr>
              <a:t>传输</a:t>
            </a:r>
            <a:r>
              <a:rPr lang="en-US" altLang="zh-CN" sz="2800">
                <a:latin typeface="宋体" panose="02010600030101010101" pitchFamily="2" charset="-122"/>
              </a:rPr>
              <a:t>2</a:t>
            </a:r>
            <a:r>
              <a:rPr lang="zh-CN" altLang="zh-CN" sz="2800">
                <a:latin typeface="宋体" panose="02010600030101010101" pitchFamily="2" charset="-122"/>
              </a:rPr>
              <a:t>次，第</a:t>
            </a:r>
            <a:r>
              <a:rPr lang="en-US" altLang="zh-CN" sz="2800">
                <a:latin typeface="宋体" panose="02010600030101010101" pitchFamily="2" charset="-122"/>
              </a:rPr>
              <a:t>2</a:t>
            </a:r>
            <a:r>
              <a:rPr lang="zh-CN" altLang="zh-CN" sz="2800">
                <a:latin typeface="宋体" panose="02010600030101010101" pitchFamily="2" charset="-122"/>
              </a:rPr>
              <a:t>次</a:t>
            </a:r>
            <a:r>
              <a:rPr lang="zh-CN" altLang="en-US" sz="2800">
                <a:latin typeface="宋体" panose="02010600030101010101" pitchFamily="2" charset="-122"/>
              </a:rPr>
              <a:t>为第一次的</a:t>
            </a:r>
            <a:r>
              <a:rPr lang="zh-CN" altLang="zh-CN" sz="2800">
                <a:latin typeface="宋体" panose="02010600030101010101" pitchFamily="2" charset="-122"/>
              </a:rPr>
              <a:t>取反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  <a:endParaRPr lang="en-US" altLang="zh-CN" sz="2800"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800">
                <a:latin typeface="宋体" panose="02010600030101010101" pitchFamily="2" charset="-122"/>
              </a:rPr>
              <a:t>一个遥控器上各个按钮具有相同的地址码。</a:t>
            </a:r>
            <a:endParaRPr lang="zh-CN" altLang="zh-CN" sz="2800">
              <a:latin typeface="宋体" panose="02010600030101010101" pitchFamily="2" charset="-122"/>
            </a:endParaRPr>
          </a:p>
        </p:txBody>
      </p:sp>
      <p:cxnSp>
        <p:nvCxnSpPr>
          <p:cNvPr id="25608" name="AutoShape 7">
            <a:extLst>
              <a:ext uri="{FF2B5EF4-FFF2-40B4-BE49-F238E27FC236}">
                <a16:creationId xmlns:a16="http://schemas.microsoft.com/office/drawing/2014/main" id="{BEF6EE85-B018-A441-813B-B7E6B6342D8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54250" y="4065588"/>
            <a:ext cx="3254375" cy="3175"/>
          </a:xfrm>
          <a:prstGeom prst="straightConnector1">
            <a:avLst/>
          </a:prstGeom>
          <a:noFill/>
          <a:ln w="9360" cap="sq">
            <a:solidFill>
              <a:srgbClr val="0066FF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609" name="Rectangle 8">
            <a:extLst>
              <a:ext uri="{FF2B5EF4-FFF2-40B4-BE49-F238E27FC236}">
                <a16:creationId xmlns:a16="http://schemas.microsoft.com/office/drawing/2014/main" id="{5D6FBC43-0B29-2940-AD58-F98D1BEAF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4095750"/>
            <a:ext cx="124618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地址码</a:t>
            </a:r>
          </a:p>
        </p:txBody>
      </p:sp>
      <p:sp>
        <p:nvSpPr>
          <p:cNvPr id="25610" name="Rectangle 11">
            <a:extLst>
              <a:ext uri="{FF2B5EF4-FFF2-40B4-BE49-F238E27FC236}">
                <a16:creationId xmlns:a16="http://schemas.microsoft.com/office/drawing/2014/main" id="{9059A8D8-9F5A-8441-B8EA-237656611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003425"/>
            <a:ext cx="10572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0x59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>
            <a:extLst>
              <a:ext uri="{FF2B5EF4-FFF2-40B4-BE49-F238E27FC236}">
                <a16:creationId xmlns:a16="http://schemas.microsoft.com/office/drawing/2014/main" id="{AFA8E385-66DF-FC43-9B49-0AFAD9F48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404813"/>
            <a:ext cx="7920038" cy="116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zh-CN"/>
              <a:t>短按时的发射脉冲</a:t>
            </a:r>
          </a:p>
          <a:p>
            <a:pPr>
              <a:buClrTx/>
              <a:buFontTx/>
              <a:buNone/>
            </a:pPr>
            <a:endParaRPr lang="zh-CN" altLang="zh-CN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47F4853A-B1C4-834A-B212-3F5E59E2B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565400"/>
            <a:ext cx="8423275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51" name="Rectangle 3">
            <a:extLst>
              <a:ext uri="{FF2B5EF4-FFF2-40B4-BE49-F238E27FC236}">
                <a16:creationId xmlns:a16="http://schemas.microsoft.com/office/drawing/2014/main" id="{7BDFCCA0-F5A8-4446-8F86-5195FF8C9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0" y="6148388"/>
            <a:ext cx="5935663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MSB</a:t>
            </a:r>
            <a:r>
              <a:rPr lang="zh-CN" altLang="zh-CN" sz="2800">
                <a:latin typeface="宋体" panose="02010600030101010101" pitchFamily="2" charset="-122"/>
              </a:rPr>
              <a:t>（最高位）</a:t>
            </a:r>
            <a:r>
              <a:rPr lang="en-US" altLang="zh-CN" sz="2800">
                <a:latin typeface="宋体" panose="02010600030101010101" pitchFamily="2" charset="-122"/>
              </a:rPr>
              <a:t>   LSB</a:t>
            </a:r>
            <a:r>
              <a:rPr lang="zh-CN" altLang="zh-CN" sz="2800">
                <a:latin typeface="宋体" panose="02010600030101010101" pitchFamily="2" charset="-122"/>
              </a:rPr>
              <a:t>（最低位）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F80C896D-0691-6C45-9ACA-FA8D18D3F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03688"/>
            <a:ext cx="124618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引导码</a:t>
            </a:r>
          </a:p>
        </p:txBody>
      </p:sp>
      <p:cxnSp>
        <p:nvCxnSpPr>
          <p:cNvPr id="27653" name="AutoShape 5">
            <a:extLst>
              <a:ext uri="{FF2B5EF4-FFF2-40B4-BE49-F238E27FC236}">
                <a16:creationId xmlns:a16="http://schemas.microsoft.com/office/drawing/2014/main" id="{62B438AC-07D4-1D42-B25D-F814B4B977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2938" y="4065588"/>
            <a:ext cx="1611312" cy="3175"/>
          </a:xfrm>
          <a:prstGeom prst="straightConnector1">
            <a:avLst/>
          </a:prstGeom>
          <a:noFill/>
          <a:ln w="9360" cap="sq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54" name="Rectangle 6">
            <a:extLst>
              <a:ext uri="{FF2B5EF4-FFF2-40B4-BE49-F238E27FC236}">
                <a16:creationId xmlns:a16="http://schemas.microsoft.com/office/drawing/2014/main" id="{D33A08B2-D32A-0143-934C-714231108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4829175"/>
            <a:ext cx="6029325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zh-CN" altLang="zh-CN" sz="2800">
                <a:solidFill>
                  <a:srgbClr val="00B050"/>
                </a:solidFill>
                <a:latin typeface="宋体" panose="02010600030101010101" pitchFamily="2" charset="-122"/>
              </a:rPr>
              <a:t>指令码</a:t>
            </a:r>
            <a:r>
              <a:rPr lang="zh-CN" altLang="en-US" sz="2800">
                <a:solidFill>
                  <a:srgbClr val="0066FF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</a:rPr>
              <a:t>遥控器上按钮的编码。</a:t>
            </a:r>
            <a:endParaRPr lang="en-US" altLang="zh-CN" sz="28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zh-CN" sz="2800">
                <a:latin typeface="宋体" panose="02010600030101010101" pitchFamily="2" charset="-122"/>
              </a:rPr>
              <a:t>传输</a:t>
            </a:r>
            <a:r>
              <a:rPr lang="en-US" altLang="zh-CN" sz="2800">
                <a:latin typeface="宋体" panose="02010600030101010101" pitchFamily="2" charset="-122"/>
              </a:rPr>
              <a:t>2</a:t>
            </a:r>
            <a:r>
              <a:rPr lang="zh-CN" altLang="zh-CN" sz="2800">
                <a:latin typeface="宋体" panose="02010600030101010101" pitchFamily="2" charset="-122"/>
              </a:rPr>
              <a:t>次，第</a:t>
            </a:r>
            <a:r>
              <a:rPr lang="en-US" altLang="zh-CN" sz="2800">
                <a:latin typeface="宋体" panose="02010600030101010101" pitchFamily="2" charset="-122"/>
              </a:rPr>
              <a:t>2</a:t>
            </a:r>
            <a:r>
              <a:rPr lang="zh-CN" altLang="zh-CN" sz="2800">
                <a:latin typeface="宋体" panose="02010600030101010101" pitchFamily="2" charset="-122"/>
              </a:rPr>
              <a:t>次</a:t>
            </a:r>
            <a:r>
              <a:rPr lang="zh-CN" altLang="en-US" sz="2800">
                <a:latin typeface="宋体" panose="02010600030101010101" pitchFamily="2" charset="-122"/>
              </a:rPr>
              <a:t>为第一次的</a:t>
            </a:r>
            <a:r>
              <a:rPr lang="zh-CN" altLang="zh-CN" sz="2800">
                <a:latin typeface="宋体" panose="02010600030101010101" pitchFamily="2" charset="-122"/>
              </a:rPr>
              <a:t>取反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  <a:endParaRPr lang="en-US" altLang="zh-CN" sz="2800"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800">
                <a:latin typeface="宋体" panose="02010600030101010101" pitchFamily="2" charset="-122"/>
              </a:rPr>
              <a:t>各个按键具有不同的指令码</a:t>
            </a:r>
            <a:endParaRPr lang="zh-CN" altLang="zh-CN" sz="2800">
              <a:latin typeface="宋体" panose="02010600030101010101" pitchFamily="2" charset="-122"/>
            </a:endParaRPr>
          </a:p>
        </p:txBody>
      </p:sp>
      <p:cxnSp>
        <p:nvCxnSpPr>
          <p:cNvPr id="27655" name="AutoShape 7">
            <a:extLst>
              <a:ext uri="{FF2B5EF4-FFF2-40B4-BE49-F238E27FC236}">
                <a16:creationId xmlns:a16="http://schemas.microsoft.com/office/drawing/2014/main" id="{AB075DB5-01B0-ED46-BCD2-329F3033B42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54250" y="4065588"/>
            <a:ext cx="3254375" cy="3175"/>
          </a:xfrm>
          <a:prstGeom prst="straightConnector1">
            <a:avLst/>
          </a:prstGeom>
          <a:noFill/>
          <a:ln w="9360" cap="sq">
            <a:solidFill>
              <a:srgbClr val="0066FF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56" name="Rectangle 8">
            <a:extLst>
              <a:ext uri="{FF2B5EF4-FFF2-40B4-BE49-F238E27FC236}">
                <a16:creationId xmlns:a16="http://schemas.microsoft.com/office/drawing/2014/main" id="{A2EFB5B4-B21F-074F-8EF2-D486289E9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4095750"/>
            <a:ext cx="124618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地址码</a:t>
            </a:r>
          </a:p>
        </p:txBody>
      </p:sp>
      <p:cxnSp>
        <p:nvCxnSpPr>
          <p:cNvPr id="27657" name="AutoShape 9">
            <a:extLst>
              <a:ext uri="{FF2B5EF4-FFF2-40B4-BE49-F238E27FC236}">
                <a16:creationId xmlns:a16="http://schemas.microsoft.com/office/drawing/2014/main" id="{A68BE270-4297-9947-94E4-B6951C8ABD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08625" y="4065588"/>
            <a:ext cx="3252788" cy="3175"/>
          </a:xfrm>
          <a:prstGeom prst="straightConnector1">
            <a:avLst/>
          </a:prstGeom>
          <a:noFill/>
          <a:ln w="9360" cap="sq">
            <a:solidFill>
              <a:srgbClr val="00B05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6B4F86AF-ED9A-BD44-A747-95C87BD3B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988" y="4073525"/>
            <a:ext cx="124618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00B050"/>
                </a:solidFill>
                <a:latin typeface="宋体" panose="02010600030101010101" pitchFamily="2" charset="-122"/>
              </a:rPr>
              <a:t>指令码</a:t>
            </a: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945C7170-A0A2-E04D-A52F-A3CC35BE0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003425"/>
            <a:ext cx="10572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0x59</a:t>
            </a:r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FDF46D26-4C6B-8A4D-BEDE-9167EBD92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2027238"/>
            <a:ext cx="10572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B050"/>
                </a:solidFill>
                <a:latin typeface="宋体" panose="02010600030101010101" pitchFamily="2" charset="-122"/>
              </a:rPr>
              <a:t>0x16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>
            <a:extLst>
              <a:ext uri="{FF2B5EF4-FFF2-40B4-BE49-F238E27FC236}">
                <a16:creationId xmlns:a16="http://schemas.microsoft.com/office/drawing/2014/main" id="{C008CCB6-1EB1-B341-9F3A-A046A3DF0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404813"/>
            <a:ext cx="7920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zh-CN"/>
              <a:t>长按时的发射脉冲：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85A3BA8D-E0B6-9C45-98AD-1D42AAD8A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6092825"/>
            <a:ext cx="71723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9ms</a:t>
            </a:r>
            <a:r>
              <a:rPr lang="zh-CN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高电平 </a:t>
            </a:r>
            <a:r>
              <a:rPr lang="en-US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2.25ms</a:t>
            </a:r>
            <a:r>
              <a:rPr lang="zh-CN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低电平 </a:t>
            </a:r>
            <a:r>
              <a:rPr lang="en-US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560</a:t>
            </a:r>
            <a:r>
              <a:rPr lang="el-GR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μ</a:t>
            </a:r>
            <a:r>
              <a:rPr lang="en-US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s</a:t>
            </a:r>
            <a:r>
              <a:rPr lang="zh-CN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高电平</a:t>
            </a:r>
          </a:p>
        </p:txBody>
      </p:sp>
      <p:pic>
        <p:nvPicPr>
          <p:cNvPr id="29700" name="Picture 3">
            <a:extLst>
              <a:ext uri="{FF2B5EF4-FFF2-40B4-BE49-F238E27FC236}">
                <a16:creationId xmlns:a16="http://schemas.microsoft.com/office/drawing/2014/main" id="{F219C9A1-BDEB-BA48-AF3E-9ABF36E14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2168525"/>
            <a:ext cx="8728075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701" name="Picture 4">
            <a:extLst>
              <a:ext uri="{FF2B5EF4-FFF2-40B4-BE49-F238E27FC236}">
                <a16:creationId xmlns:a16="http://schemas.microsoft.com/office/drawing/2014/main" id="{ED70AB2A-34C1-E84A-8AE5-8C626E19E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968750"/>
            <a:ext cx="245745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02" name="Line 5">
            <a:extLst>
              <a:ext uri="{FF2B5EF4-FFF2-40B4-BE49-F238E27FC236}">
                <a16:creationId xmlns:a16="http://schemas.microsoft.com/office/drawing/2014/main" id="{BECAA201-DED2-FB44-AEC6-90D157F75E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" y="3481388"/>
            <a:ext cx="1806575" cy="1243012"/>
          </a:xfrm>
          <a:prstGeom prst="line">
            <a:avLst/>
          </a:prstGeom>
          <a:noFill/>
          <a:ln w="9360" cap="sq">
            <a:solidFill>
              <a:srgbClr val="0066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29703" name="Line 6">
            <a:extLst>
              <a:ext uri="{FF2B5EF4-FFF2-40B4-BE49-F238E27FC236}">
                <a16:creationId xmlns:a16="http://schemas.microsoft.com/office/drawing/2014/main" id="{6F6F22D1-FCF0-3C4B-8385-771803AFA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7025" y="3417888"/>
            <a:ext cx="1733550" cy="1306512"/>
          </a:xfrm>
          <a:prstGeom prst="line">
            <a:avLst/>
          </a:prstGeom>
          <a:noFill/>
          <a:ln w="9360" cap="sq">
            <a:solidFill>
              <a:srgbClr val="0066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A610EC19-EC11-214D-AE99-D8FF7C4DF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4886325"/>
            <a:ext cx="1600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latin typeface="宋体" panose="02010600030101010101" pitchFamily="2" charset="-122"/>
              </a:rPr>
              <a:t>重复脉冲</a:t>
            </a:r>
          </a:p>
        </p:txBody>
      </p:sp>
      <p:sp>
        <p:nvSpPr>
          <p:cNvPr id="29705" name="Rectangle 8">
            <a:extLst>
              <a:ext uri="{FF2B5EF4-FFF2-40B4-BE49-F238E27FC236}">
                <a16:creationId xmlns:a16="http://schemas.microsoft.com/office/drawing/2014/main" id="{FCFF835F-D3F6-D644-B9C3-AF00D7C37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17625"/>
            <a:ext cx="1600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正常脉冲</a:t>
            </a:r>
          </a:p>
        </p:txBody>
      </p:sp>
      <p:cxnSp>
        <p:nvCxnSpPr>
          <p:cNvPr id="29706" name="AutoShape 9">
            <a:extLst>
              <a:ext uri="{FF2B5EF4-FFF2-40B4-BE49-F238E27FC236}">
                <a16:creationId xmlns:a16="http://schemas.microsoft.com/office/drawing/2014/main" id="{6A58C288-A368-314D-A929-76EC3DDB65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1188" y="1989138"/>
            <a:ext cx="1992312" cy="3175"/>
          </a:xfrm>
          <a:prstGeom prst="straightConnector1">
            <a:avLst/>
          </a:prstGeom>
          <a:noFill/>
          <a:ln w="9360" cap="sq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矩形 1">
            <a:extLst>
              <a:ext uri="{FF2B5EF4-FFF2-40B4-BE49-F238E27FC236}">
                <a16:creationId xmlns:a16="http://schemas.microsoft.com/office/drawing/2014/main" id="{0DBF1373-235D-874A-8EA1-6F9D778FB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573463"/>
            <a:ext cx="7488237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如何从红外探头输出来分割出 逻辑“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、逻辑“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、引寻脉冲、重复脉冲？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跟踪高低电平持续时间。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如何测量高电平或低电平的持续时间？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对接收到的波形的高电平段和低电平段进行测量</a:t>
            </a:r>
            <a:endParaRPr lang="zh-CN" altLang="en-US"/>
          </a:p>
        </p:txBody>
      </p:sp>
      <p:pic>
        <p:nvPicPr>
          <p:cNvPr id="31746" name="Picture 2">
            <a:extLst>
              <a:ext uri="{FF2B5EF4-FFF2-40B4-BE49-F238E27FC236}">
                <a16:creationId xmlns:a16="http://schemas.microsoft.com/office/drawing/2014/main" id="{3C03CD6F-0BCB-A447-A306-276484175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54113"/>
            <a:ext cx="8423275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747" name="Rectangle 4">
            <a:extLst>
              <a:ext uri="{FF2B5EF4-FFF2-40B4-BE49-F238E27FC236}">
                <a16:creationId xmlns:a16="http://schemas.microsoft.com/office/drawing/2014/main" id="{D68581CA-0591-674A-9E63-3D5B13DB9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692400"/>
            <a:ext cx="124618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引导码</a:t>
            </a:r>
          </a:p>
        </p:txBody>
      </p:sp>
      <p:cxnSp>
        <p:nvCxnSpPr>
          <p:cNvPr id="31748" name="AutoShape 5">
            <a:extLst>
              <a:ext uri="{FF2B5EF4-FFF2-40B4-BE49-F238E27FC236}">
                <a16:creationId xmlns:a16="http://schemas.microsoft.com/office/drawing/2014/main" id="{F09AACB5-D75B-774A-A188-082F43E791A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2938" y="2654300"/>
            <a:ext cx="1611312" cy="3175"/>
          </a:xfrm>
          <a:prstGeom prst="straightConnector1">
            <a:avLst/>
          </a:prstGeom>
          <a:noFill/>
          <a:ln w="9360" cap="sq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749" name="AutoShape 7">
            <a:extLst>
              <a:ext uri="{FF2B5EF4-FFF2-40B4-BE49-F238E27FC236}">
                <a16:creationId xmlns:a16="http://schemas.microsoft.com/office/drawing/2014/main" id="{2BAF7068-7C7C-8F43-8155-CD5B311449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54250" y="2654300"/>
            <a:ext cx="3254375" cy="3175"/>
          </a:xfrm>
          <a:prstGeom prst="straightConnector1">
            <a:avLst/>
          </a:prstGeom>
          <a:noFill/>
          <a:ln w="9360" cap="sq">
            <a:solidFill>
              <a:srgbClr val="0066FF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50" name="Rectangle 8">
            <a:extLst>
              <a:ext uri="{FF2B5EF4-FFF2-40B4-BE49-F238E27FC236}">
                <a16:creationId xmlns:a16="http://schemas.microsoft.com/office/drawing/2014/main" id="{4D174EBA-A61D-434C-8838-61E619CAE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2684463"/>
            <a:ext cx="124618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地址码</a:t>
            </a:r>
          </a:p>
        </p:txBody>
      </p:sp>
      <p:cxnSp>
        <p:nvCxnSpPr>
          <p:cNvPr id="31751" name="AutoShape 9">
            <a:extLst>
              <a:ext uri="{FF2B5EF4-FFF2-40B4-BE49-F238E27FC236}">
                <a16:creationId xmlns:a16="http://schemas.microsoft.com/office/drawing/2014/main" id="{04C0E35C-8187-0245-B1D3-CD4555FAE69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08625" y="2654300"/>
            <a:ext cx="3252788" cy="3175"/>
          </a:xfrm>
          <a:prstGeom prst="straightConnector1">
            <a:avLst/>
          </a:prstGeom>
          <a:noFill/>
          <a:ln w="9360" cap="sq">
            <a:solidFill>
              <a:srgbClr val="00B05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1752" name="Rectangle 10">
            <a:extLst>
              <a:ext uri="{FF2B5EF4-FFF2-40B4-BE49-F238E27FC236}">
                <a16:creationId xmlns:a16="http://schemas.microsoft.com/office/drawing/2014/main" id="{72D2C425-C94A-0747-90B4-C8E3A72E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988" y="2662238"/>
            <a:ext cx="124618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solidFill>
                  <a:srgbClr val="00B050"/>
                </a:solidFill>
                <a:latin typeface="宋体" panose="02010600030101010101" pitchFamily="2" charset="-122"/>
              </a:rPr>
              <a:t>指令码</a:t>
            </a:r>
          </a:p>
        </p:txBody>
      </p:sp>
      <p:sp>
        <p:nvSpPr>
          <p:cNvPr id="31753" name="Rectangle 11">
            <a:extLst>
              <a:ext uri="{FF2B5EF4-FFF2-40B4-BE49-F238E27FC236}">
                <a16:creationId xmlns:a16="http://schemas.microsoft.com/office/drawing/2014/main" id="{A8C55004-209E-9249-8A09-FEA60AA5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92138"/>
            <a:ext cx="10572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66FF"/>
                </a:solidFill>
                <a:latin typeface="宋体" panose="02010600030101010101" pitchFamily="2" charset="-122"/>
              </a:rPr>
              <a:t>0x59</a:t>
            </a:r>
          </a:p>
        </p:txBody>
      </p:sp>
      <p:sp>
        <p:nvSpPr>
          <p:cNvPr id="31754" name="Rectangle 12">
            <a:extLst>
              <a:ext uri="{FF2B5EF4-FFF2-40B4-BE49-F238E27FC236}">
                <a16:creationId xmlns:a16="http://schemas.microsoft.com/office/drawing/2014/main" id="{958621E5-AA2A-0447-96CE-33764FED6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615950"/>
            <a:ext cx="10572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00B050"/>
                </a:solidFill>
                <a:latin typeface="宋体" panose="02010600030101010101" pitchFamily="2" charset="-122"/>
              </a:rPr>
              <a:t>0x16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图片 1">
            <a:extLst>
              <a:ext uri="{FF2B5EF4-FFF2-40B4-BE49-F238E27FC236}">
                <a16:creationId xmlns:a16="http://schemas.microsoft.com/office/drawing/2014/main" id="{CF60C9F8-8402-4947-B03C-9B6DA9A70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349500"/>
            <a:ext cx="652462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0" name="矩形 2">
            <a:extLst>
              <a:ext uri="{FF2B5EF4-FFF2-40B4-BE49-F238E27FC236}">
                <a16:creationId xmlns:a16="http://schemas.microsoft.com/office/drawing/2014/main" id="{4E69F93B-7FF3-D945-BFCC-2B6A31809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692150"/>
            <a:ext cx="7489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tx1"/>
                </a:solidFill>
              </a:rPr>
              <a:t>Arduino </a:t>
            </a:r>
            <a:r>
              <a:rPr lang="zh-CN" altLang="en-US">
                <a:solidFill>
                  <a:schemeClr val="tx1"/>
                </a:solidFill>
              </a:rPr>
              <a:t>上定时器的使用</a:t>
            </a:r>
          </a:p>
        </p:txBody>
      </p:sp>
      <p:sp>
        <p:nvSpPr>
          <p:cNvPr id="32771" name="圆角矩形 3">
            <a:extLst>
              <a:ext uri="{FF2B5EF4-FFF2-40B4-BE49-F238E27FC236}">
                <a16:creationId xmlns:a16="http://schemas.microsoft.com/office/drawing/2014/main" id="{CA9E2D74-03BC-B846-9855-B42397E93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652963"/>
            <a:ext cx="1079500" cy="436562"/>
          </a:xfrm>
          <a:prstGeom prst="roundRect">
            <a:avLst>
              <a:gd name="adj" fmla="val 16667"/>
            </a:avLst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2772" name="TextBox 1">
            <a:extLst>
              <a:ext uri="{FF2B5EF4-FFF2-40B4-BE49-F238E27FC236}">
                <a16:creationId xmlns:a16="http://schemas.microsoft.com/office/drawing/2014/main" id="{0B174CBC-B279-194B-A306-89A0E68CD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273175"/>
            <a:ext cx="72009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en-CN" altLang="en-CN" sz="28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可以在网上找到实验所用Arduino</a:t>
            </a:r>
            <a:r>
              <a:rPr kumimoji="1"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kumimoji="1"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UNO</a:t>
            </a:r>
            <a:r>
              <a:rPr kumimoji="1"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板的单片机的更详细说明资料</a:t>
            </a:r>
            <a:endParaRPr kumimoji="1" lang="en-CN" altLang="en-CN" sz="2800" b="1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图片 1">
            <a:extLst>
              <a:ext uri="{FF2B5EF4-FFF2-40B4-BE49-F238E27FC236}">
                <a16:creationId xmlns:a16="http://schemas.microsoft.com/office/drawing/2014/main" id="{4373D194-3B9F-E04D-8968-302644991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628775"/>
            <a:ext cx="47910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图片 2">
            <a:extLst>
              <a:ext uri="{FF2B5EF4-FFF2-40B4-BE49-F238E27FC236}">
                <a16:creationId xmlns:a16="http://schemas.microsoft.com/office/drawing/2014/main" id="{C50B9822-B471-1843-B996-F9DCEFBA7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3357563"/>
            <a:ext cx="513397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图片 3">
            <a:extLst>
              <a:ext uri="{FF2B5EF4-FFF2-40B4-BE49-F238E27FC236}">
                <a16:creationId xmlns:a16="http://schemas.microsoft.com/office/drawing/2014/main" id="{205B96D7-8091-6849-8434-72B48757D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5157788"/>
            <a:ext cx="52959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矩形 4">
            <a:extLst>
              <a:ext uri="{FF2B5EF4-FFF2-40B4-BE49-F238E27FC236}">
                <a16:creationId xmlns:a16="http://schemas.microsoft.com/office/drawing/2014/main" id="{885156FC-2DFC-5548-84BB-BF16F7C72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25" y="2852738"/>
            <a:ext cx="7489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测量</a:t>
            </a:r>
            <a:r>
              <a:rPr lang="zh-CN" altLang="en-US">
                <a:solidFill>
                  <a:srgbClr val="FF0000"/>
                </a:solidFill>
              </a:rPr>
              <a:t>低</a:t>
            </a:r>
            <a:r>
              <a:rPr lang="zh-CN" altLang="en-US">
                <a:solidFill>
                  <a:schemeClr val="tx1"/>
                </a:solidFill>
              </a:rPr>
              <a:t>电平持续时间</a:t>
            </a:r>
          </a:p>
        </p:txBody>
      </p:sp>
      <p:sp>
        <p:nvSpPr>
          <p:cNvPr id="33797" name="矩形 5">
            <a:extLst>
              <a:ext uri="{FF2B5EF4-FFF2-40B4-BE49-F238E27FC236}">
                <a16:creationId xmlns:a16="http://schemas.microsoft.com/office/drawing/2014/main" id="{5CABCECE-8AF9-854D-AEEF-DA8EC67D4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597400"/>
            <a:ext cx="7488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测量</a:t>
            </a:r>
            <a:r>
              <a:rPr lang="zh-CN" altLang="en-US">
                <a:solidFill>
                  <a:srgbClr val="FF0000"/>
                </a:solidFill>
              </a:rPr>
              <a:t>高</a:t>
            </a:r>
            <a:r>
              <a:rPr lang="zh-CN" altLang="en-US">
                <a:solidFill>
                  <a:schemeClr val="tx1"/>
                </a:solidFill>
              </a:rPr>
              <a:t>电平持续时间</a:t>
            </a:r>
          </a:p>
        </p:txBody>
      </p:sp>
      <p:sp>
        <p:nvSpPr>
          <p:cNvPr id="33798" name="圆角矩形 10">
            <a:extLst>
              <a:ext uri="{FF2B5EF4-FFF2-40B4-BE49-F238E27FC236}">
                <a16:creationId xmlns:a16="http://schemas.microsoft.com/office/drawing/2014/main" id="{CB788924-D292-DC43-AB33-78B3C0029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857625"/>
            <a:ext cx="1079500" cy="434975"/>
          </a:xfrm>
          <a:prstGeom prst="roundRect">
            <a:avLst>
              <a:gd name="adj" fmla="val 16667"/>
            </a:avLst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3799" name="圆角矩形 11">
            <a:extLst>
              <a:ext uri="{FF2B5EF4-FFF2-40B4-BE49-F238E27FC236}">
                <a16:creationId xmlns:a16="http://schemas.microsoft.com/office/drawing/2014/main" id="{9BF8704E-40C6-DD49-B503-67C5A3E10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610225"/>
            <a:ext cx="1081088" cy="436563"/>
          </a:xfrm>
          <a:prstGeom prst="roundRect">
            <a:avLst>
              <a:gd name="adj" fmla="val 16667"/>
            </a:avLst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3">
            <a:extLst>
              <a:ext uri="{FF2B5EF4-FFF2-40B4-BE49-F238E27FC236}">
                <a16:creationId xmlns:a16="http://schemas.microsoft.com/office/drawing/2014/main" id="{B94AEA3A-99DD-2D49-B5E2-EC18833E7F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遥控器的编码</a:t>
            </a:r>
          </a:p>
        </p:txBody>
      </p:sp>
      <p:grpSp>
        <p:nvGrpSpPr>
          <p:cNvPr id="34819" name="Group 1">
            <a:extLst>
              <a:ext uri="{FF2B5EF4-FFF2-40B4-BE49-F238E27FC236}">
                <a16:creationId xmlns:a16="http://schemas.microsoft.com/office/drawing/2014/main" id="{2DEF6FB7-8A4F-EB41-A9E2-01018C98B329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1176338"/>
            <a:ext cx="5089525" cy="5264150"/>
            <a:chOff x="1565" y="741"/>
            <a:chExt cx="3206" cy="3316"/>
          </a:xfrm>
        </p:grpSpPr>
        <p:pic>
          <p:nvPicPr>
            <p:cNvPr id="34821" name="Picture 2">
              <a:extLst>
                <a:ext uri="{FF2B5EF4-FFF2-40B4-BE49-F238E27FC236}">
                  <a16:creationId xmlns:a16="http://schemas.microsoft.com/office/drawing/2014/main" id="{EF9B0557-5C6C-1E40-B6CF-E552A2B2F3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4" y="1563"/>
              <a:ext cx="1174" cy="2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4822" name="Rectangle 3">
              <a:extLst>
                <a:ext uri="{FF2B5EF4-FFF2-40B4-BE49-F238E27FC236}">
                  <a16:creationId xmlns:a16="http://schemas.microsoft.com/office/drawing/2014/main" id="{FB02EAE9-3E8E-CC4A-82EE-D9494E72D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773"/>
              <a:ext cx="8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华文中宋" panose="02010600040101010101" pitchFamily="2" charset="-122"/>
                  <a:ea typeface="华文中宋" panose="02010600040101010101" pitchFamily="2" charset="-122"/>
                </a:rPr>
                <a:t>0xff00</a:t>
              </a:r>
            </a:p>
          </p:txBody>
        </p:sp>
        <p:sp>
          <p:nvSpPr>
            <p:cNvPr id="34823" name="Rectangle 4">
              <a:extLst>
                <a:ext uri="{FF2B5EF4-FFF2-40B4-BE49-F238E27FC236}">
                  <a16:creationId xmlns:a16="http://schemas.microsoft.com/office/drawing/2014/main" id="{B9BAF17D-BF65-5841-A840-D549CA5E4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" y="2685"/>
              <a:ext cx="89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华文中宋" panose="02010600040101010101" pitchFamily="2" charset="-122"/>
                  <a:ea typeface="华文中宋" panose="02010600040101010101" pitchFamily="2" charset="-122"/>
                </a:rPr>
                <a:t>0xfe01</a:t>
              </a:r>
            </a:p>
          </p:txBody>
        </p:sp>
        <p:sp>
          <p:nvSpPr>
            <p:cNvPr id="34824" name="Rectangle 5">
              <a:extLst>
                <a:ext uri="{FF2B5EF4-FFF2-40B4-BE49-F238E27FC236}">
                  <a16:creationId xmlns:a16="http://schemas.microsoft.com/office/drawing/2014/main" id="{F0ECC83C-92C9-104A-8F24-A4F1E57F9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" y="2161"/>
              <a:ext cx="8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华文中宋" panose="02010600040101010101" pitchFamily="2" charset="-122"/>
                  <a:ea typeface="华文中宋" panose="02010600040101010101" pitchFamily="2" charset="-122"/>
                </a:rPr>
                <a:t>0xf609</a:t>
              </a:r>
            </a:p>
          </p:txBody>
        </p:sp>
        <p:cxnSp>
          <p:nvCxnSpPr>
            <p:cNvPr id="34825" name="AutoShape 6">
              <a:extLst>
                <a:ext uri="{FF2B5EF4-FFF2-40B4-BE49-F238E27FC236}">
                  <a16:creationId xmlns:a16="http://schemas.microsoft.com/office/drawing/2014/main" id="{68216C4D-CE8C-D44D-BBD8-F6A9496B44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89" y="2160"/>
              <a:ext cx="823" cy="295"/>
            </a:xfrm>
            <a:prstGeom prst="straightConnector1">
              <a:avLst/>
            </a:prstGeom>
            <a:noFill/>
            <a:ln w="9360" cap="sq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4826" name="AutoShape 7">
              <a:extLst>
                <a:ext uri="{FF2B5EF4-FFF2-40B4-BE49-F238E27FC236}">
                  <a16:creationId xmlns:a16="http://schemas.microsoft.com/office/drawing/2014/main" id="{96E4DF05-FA9B-B54A-ACCB-FC7C8E271168}"/>
                </a:ext>
              </a:extLst>
            </p:cNvPr>
            <p:cNvCxnSpPr>
              <a:cxnSpLocks noChangeShapeType="1"/>
              <a:stCxn id="34823" idx="1"/>
            </p:cNvCxnSpPr>
            <p:nvPr/>
          </p:nvCxnSpPr>
          <p:spPr bwMode="auto">
            <a:xfrm flipH="1" flipV="1">
              <a:off x="3058" y="2492"/>
              <a:ext cx="397" cy="375"/>
            </a:xfrm>
            <a:prstGeom prst="straightConnector1">
              <a:avLst/>
            </a:prstGeom>
            <a:noFill/>
            <a:ln w="9360" cap="sq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4827" name="AutoShape 8">
              <a:extLst>
                <a:ext uri="{FF2B5EF4-FFF2-40B4-BE49-F238E27FC236}">
                  <a16:creationId xmlns:a16="http://schemas.microsoft.com/office/drawing/2014/main" id="{7FA015EB-C706-9F44-9BDA-BE342228D7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54" y="1088"/>
              <a:ext cx="282" cy="758"/>
            </a:xfrm>
            <a:prstGeom prst="straightConnector1">
              <a:avLst/>
            </a:prstGeom>
            <a:noFill/>
            <a:ln w="9360" cap="sq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4828" name="Rectangle 9">
              <a:extLst>
                <a:ext uri="{FF2B5EF4-FFF2-40B4-BE49-F238E27FC236}">
                  <a16:creationId xmlns:a16="http://schemas.microsoft.com/office/drawing/2014/main" id="{B7C27656-342F-3D4D-959A-3F99D0CA8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" y="741"/>
              <a:ext cx="90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华文中宋" panose="02010600040101010101" pitchFamily="2" charset="-122"/>
                  <a:ea typeface="华文中宋" panose="02010600040101010101" pitchFamily="2" charset="-122"/>
                </a:rPr>
                <a:t>0xfb04</a:t>
              </a:r>
            </a:p>
          </p:txBody>
        </p:sp>
        <p:cxnSp>
          <p:nvCxnSpPr>
            <p:cNvPr id="34829" name="AutoShape 10">
              <a:extLst>
                <a:ext uri="{FF2B5EF4-FFF2-40B4-BE49-F238E27FC236}">
                  <a16:creationId xmlns:a16="http://schemas.microsoft.com/office/drawing/2014/main" id="{C5651EF1-E6DE-6541-8334-0CE56EF1F5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89" y="1041"/>
              <a:ext cx="139" cy="1042"/>
            </a:xfrm>
            <a:prstGeom prst="straightConnector1">
              <a:avLst/>
            </a:prstGeom>
            <a:noFill/>
            <a:ln w="9360" cap="sq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4830" name="Rectangle 11">
              <a:extLst>
                <a:ext uri="{FF2B5EF4-FFF2-40B4-BE49-F238E27FC236}">
                  <a16:creationId xmlns:a16="http://schemas.microsoft.com/office/drawing/2014/main" id="{7B35AD16-747A-0343-89A2-13E90E2F8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1397"/>
              <a:ext cx="8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华文中宋" panose="02010600040101010101" pitchFamily="2" charset="-122"/>
                  <a:ea typeface="华文中宋" panose="02010600040101010101" pitchFamily="2" charset="-122"/>
                </a:rPr>
                <a:t>0xf906</a:t>
              </a:r>
            </a:p>
          </p:txBody>
        </p:sp>
        <p:cxnSp>
          <p:nvCxnSpPr>
            <p:cNvPr id="34831" name="AutoShape 12">
              <a:extLst>
                <a:ext uri="{FF2B5EF4-FFF2-40B4-BE49-F238E27FC236}">
                  <a16:creationId xmlns:a16="http://schemas.microsoft.com/office/drawing/2014/main" id="{E6BD3EB4-F35A-2A40-97B2-B403AB6978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026" y="1562"/>
              <a:ext cx="773" cy="520"/>
            </a:xfrm>
            <a:prstGeom prst="straightConnector1">
              <a:avLst/>
            </a:prstGeom>
            <a:noFill/>
            <a:ln w="9360" cap="sq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34820" name="Text Box 67">
            <a:extLst>
              <a:ext uri="{FF2B5EF4-FFF2-40B4-BE49-F238E27FC236}">
                <a16:creationId xmlns:a16="http://schemas.microsoft.com/office/drawing/2014/main" id="{1348E548-179B-6848-A9B9-98AF0430A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0913" y="5238750"/>
            <a:ext cx="2570162" cy="11255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如何知道各个按键的编码？</a:t>
            </a:r>
            <a:endParaRPr kumimoji="1" lang="en-US" altLang="zh-CN" sz="2800" b="1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00F0EA20-B22F-3542-8F07-91A2B49EC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红外遥控实验</a:t>
            </a:r>
          </a:p>
        </p:txBody>
      </p:sp>
      <p:grpSp>
        <p:nvGrpSpPr>
          <p:cNvPr id="36867" name="Group 1">
            <a:extLst>
              <a:ext uri="{FF2B5EF4-FFF2-40B4-BE49-F238E27FC236}">
                <a16:creationId xmlns:a16="http://schemas.microsoft.com/office/drawing/2014/main" id="{AB5F9284-0A86-1748-88F2-AA28A3D24E10}"/>
              </a:ext>
            </a:extLst>
          </p:cNvPr>
          <p:cNvGrpSpPr>
            <a:grpSpLocks/>
          </p:cNvGrpSpPr>
          <p:nvPr/>
        </p:nvGrpSpPr>
        <p:grpSpPr bwMode="auto">
          <a:xfrm>
            <a:off x="1525588" y="2084388"/>
            <a:ext cx="7178675" cy="3930650"/>
            <a:chOff x="996" y="1236"/>
            <a:chExt cx="4522" cy="2476"/>
          </a:xfrm>
        </p:grpSpPr>
        <p:pic>
          <p:nvPicPr>
            <p:cNvPr id="36883" name="Picture 2">
              <a:extLst>
                <a:ext uri="{FF2B5EF4-FFF2-40B4-BE49-F238E27FC236}">
                  <a16:creationId xmlns:a16="http://schemas.microsoft.com/office/drawing/2014/main" id="{5E4F457F-FF51-AF47-8D71-43EF47CFF0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1" r="1385" b="57016"/>
            <a:stretch>
              <a:fillRect/>
            </a:stretch>
          </p:blipFill>
          <p:spPr bwMode="auto">
            <a:xfrm>
              <a:off x="996" y="1236"/>
              <a:ext cx="4522" cy="1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3651" r="1385" b="57016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6884" name="Picture 3">
              <a:extLst>
                <a:ext uri="{FF2B5EF4-FFF2-40B4-BE49-F238E27FC236}">
                  <a16:creationId xmlns:a16="http://schemas.microsoft.com/office/drawing/2014/main" id="{BB42CB55-6EAA-8140-AD4E-5D5F128408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225" b="40558"/>
            <a:stretch>
              <a:fillRect/>
            </a:stretch>
          </p:blipFill>
          <p:spPr bwMode="auto">
            <a:xfrm>
              <a:off x="996" y="2832"/>
              <a:ext cx="4522" cy="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t="32225" b="40558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6885" name="Text Box 4">
              <a:extLst>
                <a:ext uri="{FF2B5EF4-FFF2-40B4-BE49-F238E27FC236}">
                  <a16:creationId xmlns:a16="http://schemas.microsoft.com/office/drawing/2014/main" id="{9EF45BC1-C15D-EA4F-A6A6-F1BE963E4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3057"/>
              <a:ext cx="5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solidFill>
                    <a:srgbClr val="FFFF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00000000</a:t>
              </a:r>
            </a:p>
          </p:txBody>
        </p:sp>
        <p:sp>
          <p:nvSpPr>
            <p:cNvPr id="36886" name="Text Box 5">
              <a:extLst>
                <a:ext uri="{FF2B5EF4-FFF2-40B4-BE49-F238E27FC236}">
                  <a16:creationId xmlns:a16="http://schemas.microsoft.com/office/drawing/2014/main" id="{983CACA4-1D1D-D74E-8EB2-CA32FB01E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8" y="3057"/>
              <a:ext cx="7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11111111</a:t>
              </a:r>
            </a:p>
          </p:txBody>
        </p:sp>
        <p:sp>
          <p:nvSpPr>
            <p:cNvPr id="36887" name="Text Box 6">
              <a:extLst>
                <a:ext uri="{FF2B5EF4-FFF2-40B4-BE49-F238E27FC236}">
                  <a16:creationId xmlns:a16="http://schemas.microsoft.com/office/drawing/2014/main" id="{C8F7B53B-2072-434E-88C6-202C8CE3B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3057"/>
              <a:ext cx="67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solidFill>
                    <a:srgbClr val="FFFF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00 1 1 0000</a:t>
              </a:r>
            </a:p>
          </p:txBody>
        </p:sp>
        <p:sp>
          <p:nvSpPr>
            <p:cNvPr id="36888" name="Text Box 7">
              <a:extLst>
                <a:ext uri="{FF2B5EF4-FFF2-40B4-BE49-F238E27FC236}">
                  <a16:creationId xmlns:a16="http://schemas.microsoft.com/office/drawing/2014/main" id="{69ADD19C-1F8B-0A42-8AA7-9CABCAF36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3" y="3057"/>
              <a:ext cx="7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1 1 00 1 1  1  1</a:t>
              </a:r>
            </a:p>
          </p:txBody>
        </p:sp>
        <p:sp>
          <p:nvSpPr>
            <p:cNvPr id="36889" name="Text Box 8">
              <a:extLst>
                <a:ext uri="{FF2B5EF4-FFF2-40B4-BE49-F238E27FC236}">
                  <a16:creationId xmlns:a16="http://schemas.microsoft.com/office/drawing/2014/main" id="{2DC3DA68-E5DF-0E43-B246-E9456462C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2523"/>
              <a:ext cx="5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solidFill>
                    <a:srgbClr val="FFFF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00000000</a:t>
              </a:r>
            </a:p>
          </p:txBody>
        </p:sp>
        <p:sp>
          <p:nvSpPr>
            <p:cNvPr id="36890" name="Text Box 9">
              <a:extLst>
                <a:ext uri="{FF2B5EF4-FFF2-40B4-BE49-F238E27FC236}">
                  <a16:creationId xmlns:a16="http://schemas.microsoft.com/office/drawing/2014/main" id="{7BC96653-B985-EF4A-A177-870839B8D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8" y="2523"/>
              <a:ext cx="7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11111111</a:t>
              </a:r>
            </a:p>
          </p:txBody>
        </p:sp>
        <p:sp>
          <p:nvSpPr>
            <p:cNvPr id="36891" name="Text Box 10">
              <a:extLst>
                <a:ext uri="{FF2B5EF4-FFF2-40B4-BE49-F238E27FC236}">
                  <a16:creationId xmlns:a16="http://schemas.microsoft.com/office/drawing/2014/main" id="{35C2336B-A4A0-D741-8B9B-1B0D2B040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2523"/>
              <a:ext cx="67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solidFill>
                    <a:srgbClr val="FFFF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0 1 10 1 000</a:t>
              </a:r>
            </a:p>
          </p:txBody>
        </p:sp>
        <p:sp>
          <p:nvSpPr>
            <p:cNvPr id="36892" name="Text Box 11">
              <a:extLst>
                <a:ext uri="{FF2B5EF4-FFF2-40B4-BE49-F238E27FC236}">
                  <a16:creationId xmlns:a16="http://schemas.microsoft.com/office/drawing/2014/main" id="{7B706045-7FDE-5C4B-9883-B418E3C5C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3" y="2523"/>
              <a:ext cx="7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100 10 1  1  1</a:t>
              </a:r>
            </a:p>
          </p:txBody>
        </p:sp>
      </p:grpSp>
      <p:sp>
        <p:nvSpPr>
          <p:cNvPr id="36868" name="Text Box 13">
            <a:extLst>
              <a:ext uri="{FF2B5EF4-FFF2-40B4-BE49-F238E27FC236}">
                <a16:creationId xmlns:a16="http://schemas.microsoft.com/office/drawing/2014/main" id="{4FA74BAA-9768-DC40-9474-16F886EDC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3827463"/>
            <a:ext cx="11144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15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按键“</a:t>
            </a:r>
            <a:r>
              <a:rPr lang="en-US" altLang="zh-CN" sz="15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zh-CN" sz="15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</a:p>
        </p:txBody>
      </p:sp>
      <p:sp>
        <p:nvSpPr>
          <p:cNvPr id="36869" name="Text Box 14">
            <a:extLst>
              <a:ext uri="{FF2B5EF4-FFF2-40B4-BE49-F238E27FC236}">
                <a16:creationId xmlns:a16="http://schemas.microsoft.com/office/drawing/2014/main" id="{6EB66FF8-893A-5B46-83F2-F0EF08B5F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8" y="4691063"/>
            <a:ext cx="11144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15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按键“</a:t>
            </a:r>
            <a:r>
              <a:rPr lang="en-US" altLang="zh-CN" sz="15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zh-CN" sz="1500" b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</a:p>
        </p:txBody>
      </p:sp>
      <p:cxnSp>
        <p:nvCxnSpPr>
          <p:cNvPr id="36870" name="AutoShape 16">
            <a:extLst>
              <a:ext uri="{FF2B5EF4-FFF2-40B4-BE49-F238E27FC236}">
                <a16:creationId xmlns:a16="http://schemas.microsoft.com/office/drawing/2014/main" id="{5A2AE246-0388-A349-99C3-C0368DCB933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857750" y="3562350"/>
            <a:ext cx="1714500" cy="3175"/>
          </a:xfrm>
          <a:prstGeom prst="straightConnector1">
            <a:avLst/>
          </a:prstGeom>
          <a:noFill/>
          <a:ln w="19080" cap="sq">
            <a:solidFill>
              <a:srgbClr val="FFFF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871" name="Text Box 17">
            <a:extLst>
              <a:ext uri="{FF2B5EF4-FFF2-40B4-BE49-F238E27FC236}">
                <a16:creationId xmlns:a16="http://schemas.microsoft.com/office/drawing/2014/main" id="{FCE8F5BB-6316-954E-8038-0AC3EDF78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800" y="3286125"/>
            <a:ext cx="102552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5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0xE916</a:t>
            </a:r>
          </a:p>
        </p:txBody>
      </p:sp>
      <p:cxnSp>
        <p:nvCxnSpPr>
          <p:cNvPr id="36872" name="AutoShape 18">
            <a:extLst>
              <a:ext uri="{FF2B5EF4-FFF2-40B4-BE49-F238E27FC236}">
                <a16:creationId xmlns:a16="http://schemas.microsoft.com/office/drawing/2014/main" id="{543FC08D-7C9D-BF46-ADE3-18C5D231255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835525" y="5195888"/>
            <a:ext cx="1714500" cy="1587"/>
          </a:xfrm>
          <a:prstGeom prst="straightConnector1">
            <a:avLst/>
          </a:prstGeom>
          <a:noFill/>
          <a:ln w="19080" cap="sq">
            <a:solidFill>
              <a:srgbClr val="FFFF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873" name="Text Box 19">
            <a:extLst>
              <a:ext uri="{FF2B5EF4-FFF2-40B4-BE49-F238E27FC236}">
                <a16:creationId xmlns:a16="http://schemas.microsoft.com/office/drawing/2014/main" id="{FE345CB5-CCF4-AD44-B70F-0B3745382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7013" y="5268913"/>
            <a:ext cx="1025525" cy="32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5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0xF30C</a:t>
            </a:r>
          </a:p>
        </p:txBody>
      </p:sp>
      <p:sp>
        <p:nvSpPr>
          <p:cNvPr id="36874" name="Rectangle 20">
            <a:extLst>
              <a:ext uri="{FF2B5EF4-FFF2-40B4-BE49-F238E27FC236}">
                <a16:creationId xmlns:a16="http://schemas.microsoft.com/office/drawing/2014/main" id="{12F07A88-7F6A-9249-BDE5-2E04BBCA2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25" y="3286125"/>
            <a:ext cx="666750" cy="161925"/>
          </a:xfrm>
          <a:prstGeom prst="rect">
            <a:avLst/>
          </a:prstGeom>
          <a:noFill/>
          <a:ln w="25560" cap="sq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cxnSp>
        <p:nvCxnSpPr>
          <p:cNvPr id="36875" name="AutoShape 21">
            <a:extLst>
              <a:ext uri="{FF2B5EF4-FFF2-40B4-BE49-F238E27FC236}">
                <a16:creationId xmlns:a16="http://schemas.microsoft.com/office/drawing/2014/main" id="{DF15A78E-C4C2-C249-BBC5-4E37F85B0F0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43175" y="3448050"/>
            <a:ext cx="38100" cy="279400"/>
          </a:xfrm>
          <a:prstGeom prst="straightConnector1">
            <a:avLst/>
          </a:prstGeom>
          <a:noFill/>
          <a:ln w="12600" cap="sq">
            <a:solidFill>
              <a:srgbClr val="FFFF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876" name="Text Box 24">
            <a:extLst>
              <a:ext uri="{FF2B5EF4-FFF2-40B4-BE49-F238E27FC236}">
                <a16:creationId xmlns:a16="http://schemas.microsoft.com/office/drawing/2014/main" id="{E1957CD9-0361-C748-9FD3-52AD0BA56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5962650"/>
            <a:ext cx="8348662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Pdf</a:t>
            </a:r>
            <a:r>
              <a:rPr lang="zh-CN" altLang="zh-CN" sz="2400">
                <a:solidFill>
                  <a:srgbClr val="FF0000"/>
                </a:solidFill>
              </a:rPr>
              <a:t>中的参考代码是按照</a:t>
            </a:r>
            <a:r>
              <a:rPr lang="zh-CN" altLang="zh-CN" b="1" i="1">
                <a:solidFill>
                  <a:srgbClr val="FF0000"/>
                </a:solidFill>
              </a:rPr>
              <a:t>接收端 </a:t>
            </a:r>
            <a:r>
              <a:rPr lang="zh-CN" altLang="zh-CN" sz="2400">
                <a:solidFill>
                  <a:srgbClr val="FF0000"/>
                </a:solidFill>
              </a:rPr>
              <a:t>的电平逻辑</a:t>
            </a:r>
            <a:r>
              <a:rPr lang="zh-CN" altLang="zh-CN">
                <a:solidFill>
                  <a:srgbClr val="FF0000"/>
                </a:solidFill>
              </a:rPr>
              <a:t>！！！</a:t>
            </a:r>
          </a:p>
        </p:txBody>
      </p:sp>
      <p:grpSp>
        <p:nvGrpSpPr>
          <p:cNvPr id="36877" name="组合 7">
            <a:extLst>
              <a:ext uri="{FF2B5EF4-FFF2-40B4-BE49-F238E27FC236}">
                <a16:creationId xmlns:a16="http://schemas.microsoft.com/office/drawing/2014/main" id="{A49E959A-BDA0-BC49-982B-EDE3883874AB}"/>
              </a:ext>
            </a:extLst>
          </p:cNvPr>
          <p:cNvGrpSpPr>
            <a:grpSpLocks/>
          </p:cNvGrpSpPr>
          <p:nvPr/>
        </p:nvGrpSpPr>
        <p:grpSpPr bwMode="auto">
          <a:xfrm>
            <a:off x="398463" y="1120775"/>
            <a:ext cx="8515350" cy="757238"/>
            <a:chOff x="397669" y="1120775"/>
            <a:chExt cx="8515350" cy="757238"/>
          </a:xfrm>
        </p:grpSpPr>
        <p:pic>
          <p:nvPicPr>
            <p:cNvPr id="36880" name="Picture 12">
              <a:extLst>
                <a:ext uri="{FF2B5EF4-FFF2-40B4-BE49-F238E27FC236}">
                  <a16:creationId xmlns:a16="http://schemas.microsoft.com/office/drawing/2014/main" id="{CC80F4DE-C76C-1847-9E0E-6E1881DBF3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669" y="1120775"/>
              <a:ext cx="8515350" cy="757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cxnSp>
          <p:nvCxnSpPr>
            <p:cNvPr id="36881" name="直接连接符 4">
              <a:extLst>
                <a:ext uri="{FF2B5EF4-FFF2-40B4-BE49-F238E27FC236}">
                  <a16:creationId xmlns:a16="http://schemas.microsoft.com/office/drawing/2014/main" id="{96B6AEA6-8A0C-E949-ADB0-B8FF1897AA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32538" y="1499394"/>
              <a:ext cx="2497137" cy="0"/>
            </a:xfrm>
            <a:prstGeom prst="line">
              <a:avLst/>
            </a:prstGeom>
            <a:noFill/>
            <a:ln w="9525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2" name="直接连接符 6">
              <a:extLst>
                <a:ext uri="{FF2B5EF4-FFF2-40B4-BE49-F238E27FC236}">
                  <a16:creationId xmlns:a16="http://schemas.microsoft.com/office/drawing/2014/main" id="{22E210E6-763B-4948-B9C1-227FC26144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5138" y="1878013"/>
              <a:ext cx="557212" cy="0"/>
            </a:xfrm>
            <a:prstGeom prst="line">
              <a:avLst/>
            </a:prstGeom>
            <a:noFill/>
            <a:ln w="9525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878" name="圆角矩形 1">
            <a:extLst>
              <a:ext uri="{FF2B5EF4-FFF2-40B4-BE49-F238E27FC236}">
                <a16:creationId xmlns:a16="http://schemas.microsoft.com/office/drawing/2014/main" id="{701BF953-FBE1-CF43-9976-ACDB8EA74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120775"/>
            <a:ext cx="2673350" cy="379413"/>
          </a:xfrm>
          <a:prstGeom prst="roundRect">
            <a:avLst>
              <a:gd name="adj" fmla="val 16667"/>
            </a:avLst>
          </a:prstGeom>
          <a:solidFill>
            <a:srgbClr val="00B05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6879" name="圆角矩形 27">
            <a:extLst>
              <a:ext uri="{FF2B5EF4-FFF2-40B4-BE49-F238E27FC236}">
                <a16:creationId xmlns:a16="http://schemas.microsoft.com/office/drawing/2014/main" id="{0BD55A07-A0A3-1F4E-A8F0-AFC72B61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517650"/>
            <a:ext cx="687388" cy="377825"/>
          </a:xfrm>
          <a:prstGeom prst="roundRect">
            <a:avLst>
              <a:gd name="adj" fmla="val 16667"/>
            </a:avLst>
          </a:prstGeom>
          <a:solidFill>
            <a:srgbClr val="00B05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>
            <a:extLst>
              <a:ext uri="{FF2B5EF4-FFF2-40B4-BE49-F238E27FC236}">
                <a16:creationId xmlns:a16="http://schemas.microsoft.com/office/drawing/2014/main" id="{EF7A9F15-3F02-9249-BAF4-71F977C07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216150"/>
            <a:ext cx="5362575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15" name="AutoShape 3">
            <a:extLst>
              <a:ext uri="{FF2B5EF4-FFF2-40B4-BE49-F238E27FC236}">
                <a16:creationId xmlns:a16="http://schemas.microsoft.com/office/drawing/2014/main" id="{476A62C6-3339-A741-BE38-8ACA73FED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781300"/>
            <a:ext cx="4032250" cy="2663825"/>
          </a:xfrm>
          <a:prstGeom prst="roundRect">
            <a:avLst>
              <a:gd name="adj" fmla="val 16667"/>
            </a:avLst>
          </a:prstGeom>
          <a:solidFill>
            <a:srgbClr val="FF9900">
              <a:alpha val="25098"/>
            </a:srgbClr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DD0564D7-A769-3142-A16F-10C06B483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150" y="3759200"/>
            <a:ext cx="4270375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接收地址码部分代码修改为左侧形式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1E66E06E-F265-D447-B069-5394EAE37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873750"/>
            <a:ext cx="5040312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…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F0510F5C-883E-FB4D-83FE-941324072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5873750"/>
            <a:ext cx="374491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00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接收指令的代码不变</a:t>
            </a:r>
          </a:p>
        </p:txBody>
      </p:sp>
      <p:sp>
        <p:nvSpPr>
          <p:cNvPr id="38919" name="标题 1">
            <a:extLst>
              <a:ext uri="{FF2B5EF4-FFF2-40B4-BE49-F238E27FC236}">
                <a16:creationId xmlns:a16="http://schemas.microsoft.com/office/drawing/2014/main" id="{76B1DD81-9E4B-CA4E-A479-8B0421B14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红外遥控实验</a:t>
            </a:r>
          </a:p>
        </p:txBody>
      </p:sp>
      <p:sp>
        <p:nvSpPr>
          <p:cNvPr id="38920" name="内容占位符 2">
            <a:extLst>
              <a:ext uri="{FF2B5EF4-FFF2-40B4-BE49-F238E27FC236}">
                <a16:creationId xmlns:a16="http://schemas.microsoft.com/office/drawing/2014/main" id="{CD7521BF-30A4-624C-B249-7368F4FEFC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6425" cy="5256212"/>
          </a:xfrm>
        </p:spPr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修改地址码接收</a:t>
            </a:r>
            <a:r>
              <a:rPr lang="zh-CN" altLang="en-US"/>
              <a:t>函数</a:t>
            </a:r>
          </a:p>
        </p:txBody>
      </p:sp>
      <p:pic>
        <p:nvPicPr>
          <p:cNvPr id="38921" name="Picture 10" descr="地雷图册_360百科">
            <a:extLst>
              <a:ext uri="{FF2B5EF4-FFF2-40B4-BE49-F238E27FC236}">
                <a16:creationId xmlns:a16="http://schemas.microsoft.com/office/drawing/2014/main" id="{62338189-BFFF-6C45-B7AD-4A3D8FDA2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738" y="1157288"/>
            <a:ext cx="2789237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>
            <a:extLst>
              <a:ext uri="{FF2B5EF4-FFF2-40B4-BE49-F238E27FC236}">
                <a16:creationId xmlns:a16="http://schemas.microsoft.com/office/drawing/2014/main" id="{D3C5B924-4059-C44A-B15F-15D22497A9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红外遥控实验</a:t>
            </a:r>
          </a:p>
        </p:txBody>
      </p:sp>
      <p:sp>
        <p:nvSpPr>
          <p:cNvPr id="40963" name="内容占位符 3">
            <a:extLst>
              <a:ext uri="{FF2B5EF4-FFF2-40B4-BE49-F238E27FC236}">
                <a16:creationId xmlns:a16="http://schemas.microsoft.com/office/drawing/2014/main" id="{AE4F458F-BB32-8A47-9C9C-007F2C3380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6425" cy="5256212"/>
          </a:xfrm>
        </p:spPr>
        <p:txBody>
          <a:bodyPr/>
          <a:lstStyle/>
          <a:p>
            <a:r>
              <a:rPr lang="zh-CN" altLang="zh-CN" sz="2400" dirty="0"/>
              <a:t>用红外接收探头接收来自遥控器</a:t>
            </a:r>
            <a:r>
              <a:rPr lang="zh-CN" altLang="en-US" sz="2400" dirty="0"/>
              <a:t>（参考实验书第</a:t>
            </a:r>
            <a:r>
              <a:rPr lang="en-US" altLang="zh-CN" sz="2400" dirty="0"/>
              <a:t>9</a:t>
            </a:r>
            <a:r>
              <a:rPr lang="zh-CN" altLang="en-US" sz="2400" dirty="0"/>
              <a:t>课）</a:t>
            </a:r>
            <a:r>
              <a:rPr lang="zh-CN" altLang="zh-CN" sz="2400" dirty="0"/>
              <a:t>的信号，并且按如下要求显示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dirty="0"/>
              <a:t>	1</a:t>
            </a:r>
            <a:r>
              <a:rPr lang="zh-CN" altLang="zh-CN" sz="2400" dirty="0"/>
              <a:t>：短按数字</a:t>
            </a:r>
            <a:r>
              <a:rPr lang="en-US" altLang="zh-CN" sz="2400" dirty="0"/>
              <a:t>0-9</a:t>
            </a:r>
            <a:r>
              <a:rPr lang="zh-CN" altLang="zh-CN" sz="2400" dirty="0"/>
              <a:t>时在</a:t>
            </a:r>
            <a:r>
              <a:rPr lang="en-US" altLang="zh-CN" sz="2400" dirty="0"/>
              <a:t>LCD1602</a:t>
            </a:r>
            <a:r>
              <a:rPr lang="zh-CN" altLang="en-US" sz="2400" dirty="0"/>
              <a:t>上</a:t>
            </a:r>
            <a:r>
              <a:rPr lang="zh-CN" altLang="zh-CN" sz="2400" dirty="0"/>
              <a:t>显示数字</a:t>
            </a:r>
            <a:r>
              <a:rPr lang="zh-CN" altLang="en-US" sz="2400" dirty="0"/>
              <a:t>（不带闪烁效果）</a:t>
            </a:r>
            <a:endParaRPr lang="zh-CN" altLang="zh-CN" sz="2400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dirty="0"/>
              <a:t>	2</a:t>
            </a:r>
            <a:r>
              <a:rPr lang="zh-CN" altLang="zh-CN" sz="2400" dirty="0"/>
              <a:t>：长按数字</a:t>
            </a:r>
            <a:r>
              <a:rPr lang="en-US" altLang="zh-CN" sz="2400" dirty="0"/>
              <a:t>0-9</a:t>
            </a:r>
            <a:r>
              <a:rPr lang="zh-CN" altLang="zh-CN" sz="2400" dirty="0"/>
              <a:t>时</a:t>
            </a:r>
            <a:r>
              <a:rPr lang="zh-CN" altLang="en-US" sz="2400" dirty="0"/>
              <a:t>在</a:t>
            </a:r>
            <a:r>
              <a:rPr lang="en-US" altLang="zh-CN" sz="2400" dirty="0"/>
              <a:t>LCD1602</a:t>
            </a:r>
            <a:r>
              <a:rPr lang="zh-CN" altLang="en-US" sz="2400" dirty="0"/>
              <a:t>上显示数字（带</a:t>
            </a:r>
            <a:r>
              <a:rPr lang="zh-CN" altLang="zh-CN" sz="2400" dirty="0"/>
              <a:t>闪烁</a:t>
            </a:r>
            <a:r>
              <a:rPr lang="zh-CN" altLang="en-US" sz="2400" dirty="0"/>
              <a:t>效果），并蜂鸣器报警</a:t>
            </a:r>
            <a:r>
              <a:rPr lang="en-US" altLang="zh-CN" sz="2400" dirty="0"/>
              <a:t>1</a:t>
            </a:r>
            <a:r>
              <a:rPr lang="zh-CN" altLang="en-US" sz="2400" dirty="0"/>
              <a:t>秒</a:t>
            </a:r>
            <a:r>
              <a:rPr lang="zh-CN" altLang="en-CN" sz="2400" dirty="0"/>
              <a:t>钟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sz="2400" dirty="0"/>
              <a:t>			-</a:t>
            </a:r>
            <a:r>
              <a:rPr lang="zh-CN" altLang="en-US" sz="2400" dirty="0"/>
              <a:t>参考</a:t>
            </a:r>
            <a:r>
              <a:rPr lang="en-US" altLang="zh-CN" sz="2400" dirty="0"/>
              <a:t>blink</a:t>
            </a:r>
            <a:r>
              <a:rPr lang="zh-CN" altLang="en-US" sz="2400" dirty="0"/>
              <a:t> 和 </a:t>
            </a:r>
            <a:r>
              <a:rPr lang="en-US" altLang="zh-CN" sz="2400" dirty="0" err="1"/>
              <a:t>noblink</a:t>
            </a:r>
            <a:r>
              <a:rPr lang="zh-CN" altLang="en-US" sz="2400" dirty="0"/>
              <a:t>函数的使用</a:t>
            </a:r>
            <a:endParaRPr lang="en-US" altLang="zh-CN" sz="2400" dirty="0"/>
          </a:p>
          <a:p>
            <a:pPr>
              <a:buFont typeface="Arial" panose="020B0604020202020204" pitchFamily="34" charset="0"/>
              <a:buNone/>
            </a:pPr>
            <a:endParaRPr lang="en-US" altLang="zh-CN" sz="2400" dirty="0"/>
          </a:p>
          <a:p>
            <a:r>
              <a:rPr lang="zh-CN" altLang="en-US" sz="2400" dirty="0"/>
              <a:t>参考新发给大家的</a:t>
            </a:r>
            <a:r>
              <a:rPr lang="en-US" altLang="zh-CN" sz="2400" dirty="0">
                <a:highlight>
                  <a:srgbClr val="FFFF00"/>
                </a:highlight>
              </a:rPr>
              <a:t>pdf</a:t>
            </a:r>
            <a:r>
              <a:rPr lang="zh-CN" altLang="en-US" sz="2400" dirty="0">
                <a:highlight>
                  <a:srgbClr val="FFFF00"/>
                </a:highlight>
              </a:rPr>
              <a:t>文档中第十节 红外遥控</a:t>
            </a:r>
            <a:r>
              <a:rPr lang="zh-CN" altLang="zh-CN" sz="2400" dirty="0">
                <a:highlight>
                  <a:srgbClr val="FFFF00"/>
                </a:highlight>
              </a:rPr>
              <a:t>要求从底层的计时器开始写</a:t>
            </a:r>
            <a:r>
              <a:rPr lang="zh-CN" altLang="zh-CN" sz="2400" dirty="0"/>
              <a:t>，</a:t>
            </a:r>
            <a:r>
              <a:rPr lang="zh-CN" altLang="zh-CN" sz="2400" dirty="0">
                <a:solidFill>
                  <a:srgbClr val="FF0000"/>
                </a:solidFill>
              </a:rPr>
              <a:t>不</a:t>
            </a:r>
            <a:r>
              <a:rPr lang="zh-CN" altLang="zh-CN" sz="2400">
                <a:solidFill>
                  <a:srgbClr val="FF0000"/>
                </a:solidFill>
              </a:rPr>
              <a:t>能</a:t>
            </a:r>
            <a:r>
              <a:rPr lang="zh-CN" altLang="en-US" sz="2400">
                <a:solidFill>
                  <a:srgbClr val="FF0000"/>
                </a:solidFill>
              </a:rPr>
              <a:t>用</a:t>
            </a:r>
            <a:r>
              <a:rPr lang="zh-CN" altLang="en-US" sz="2400"/>
              <a:t>实验</a:t>
            </a:r>
            <a:r>
              <a:rPr lang="zh-CN" altLang="en-US" sz="2400" dirty="0"/>
              <a:t>书给出的红外通信</a:t>
            </a:r>
            <a:r>
              <a:rPr lang="zh-CN" altLang="zh-CN" sz="2400" dirty="0"/>
              <a:t>库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其他库可以使用现成的。</a:t>
            </a:r>
            <a:endParaRPr lang="en-US" altLang="zh-CN" sz="2400" dirty="0"/>
          </a:p>
          <a:p>
            <a:pPr lvl="1"/>
            <a:endParaRPr lang="zh-CN" altLang="zh-CN" sz="2400" dirty="0"/>
          </a:p>
          <a:p>
            <a:endParaRPr lang="zh-CN" altLang="en-US" sz="2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dirty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spDef>
    <a:lnDef>
      <a:spPr bwMode="auto">
        <a:solidFill>
          <a:srgbClr val="00B8FF"/>
        </a:solidFill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</a:spPr>
      <a:bodyPr wrap="square" rtlCol="0">
        <a:spAutoFit/>
      </a:bodyPr>
      <a:lstStyle>
        <a:defPPr eaLnBrk="1" hangingPunct="1">
          <a:lnSpc>
            <a:spcPct val="120000"/>
          </a:lnSpc>
          <a:spcBef>
            <a:spcPct val="0"/>
          </a:spcBef>
          <a:buClrTx/>
          <a:buSzTx/>
          <a:buFontTx/>
          <a:buNone/>
          <a:defRPr kumimoji="1" sz="2800" b="1" dirty="0" smtClean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tx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26239</TotalTime>
  <Words>640</Words>
  <Application>Microsoft Macintosh PowerPoint</Application>
  <PresentationFormat>On-screen Show (4:3)</PresentationFormat>
  <Paragraphs>127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华文中宋</vt:lpstr>
      <vt:lpstr>Arial</vt:lpstr>
      <vt:lpstr>宋体</vt:lpstr>
      <vt:lpstr>Times New Roman</vt:lpstr>
      <vt:lpstr>楷体_GB2312</vt:lpstr>
      <vt:lpstr>Noto Sans CJK SC Regular</vt:lpstr>
      <vt:lpstr>楷体</vt:lpstr>
      <vt:lpstr>微软雅黑</vt:lpstr>
      <vt:lpstr>PingFang SC</vt:lpstr>
      <vt:lpstr>黑体</vt:lpstr>
      <vt:lpstr>等线</vt:lpstr>
      <vt:lpstr>Office 主题​​</vt:lpstr>
      <vt:lpstr>传感器技术与网络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遥控器的编码</vt:lpstr>
      <vt:lpstr>红外遥控实验</vt:lpstr>
      <vt:lpstr>红外遥控实验</vt:lpstr>
      <vt:lpstr>红外遥控实验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IBM_ILY</dc:creator>
  <cp:keywords/>
  <dc:description/>
  <cp:lastModifiedBy>Microsoft Office User</cp:lastModifiedBy>
  <cp:revision>326</cp:revision>
  <cp:lastPrinted>1601-01-01T00:00:00Z</cp:lastPrinted>
  <dcterms:created xsi:type="dcterms:W3CDTF">2007-02-12T01:40:33Z</dcterms:created>
  <dcterms:modified xsi:type="dcterms:W3CDTF">2025-03-26T08:27:00Z</dcterms:modified>
</cp:coreProperties>
</file>