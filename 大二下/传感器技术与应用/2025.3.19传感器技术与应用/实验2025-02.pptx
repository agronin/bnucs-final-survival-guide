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98" r:id="rId2"/>
    <p:sldId id="284" r:id="rId3"/>
    <p:sldId id="285" r:id="rId4"/>
    <p:sldId id="297" r:id="rId5"/>
    <p:sldId id="298" r:id="rId6"/>
    <p:sldId id="399" r:id="rId7"/>
    <p:sldId id="390" r:id="rId8"/>
    <p:sldId id="316" r:id="rId9"/>
  </p:sldIdLst>
  <p:sldSz cx="9144000" cy="6858000" type="screen4x3"/>
  <p:notesSz cx="6858000" cy="9144000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1pPr>
    <a:lvl2pPr marL="742950" indent="-285750" algn="l" defTabSz="449263" rtl="0" eaLnBrk="0" fontAlgn="base" hangingPunct="0">
      <a:spcBef>
        <a:spcPct val="0"/>
      </a:spcBef>
      <a:spcAft>
        <a:spcPct val="0"/>
      </a:spcAft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2pPr>
    <a:lvl3pPr marL="1143000" indent="-228600" algn="l" defTabSz="449263" rtl="0" eaLnBrk="0" fontAlgn="base" hangingPunct="0">
      <a:spcBef>
        <a:spcPct val="0"/>
      </a:spcBef>
      <a:spcAft>
        <a:spcPct val="0"/>
      </a:spcAft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3pPr>
    <a:lvl4pPr marL="1600200" indent="-228600" algn="l" defTabSz="449263" rtl="0" eaLnBrk="0" fontAlgn="base" hangingPunct="0">
      <a:spcBef>
        <a:spcPct val="0"/>
      </a:spcBef>
      <a:spcAft>
        <a:spcPct val="0"/>
      </a:spcAft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4pPr>
    <a:lvl5pPr marL="2057400" indent="-228600" algn="l" defTabSz="449263" rtl="0" eaLnBrk="0" fontAlgn="base" hangingPunct="0">
      <a:spcBef>
        <a:spcPct val="0"/>
      </a:spcBef>
      <a:spcAft>
        <a:spcPct val="0"/>
      </a:spcAft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1229" autoAdjust="0"/>
    <p:restoredTop sz="86382"/>
  </p:normalViewPr>
  <p:slideViewPr>
    <p:cSldViewPr>
      <p:cViewPr varScale="1">
        <p:scale>
          <a:sx n="112" d="100"/>
          <a:sy n="112" d="100"/>
        </p:scale>
        <p:origin x="2000" y="184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144" y="-28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AutoShape 1">
            <a:extLst>
              <a:ext uri="{FF2B5EF4-FFF2-40B4-BE49-F238E27FC236}">
                <a16:creationId xmlns:a16="http://schemas.microsoft.com/office/drawing/2014/main" id="{C420AB98-1702-664B-A34D-B959017F7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360" cap="sq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10243" name="AutoShape 2">
            <a:extLst>
              <a:ext uri="{FF2B5EF4-FFF2-40B4-BE49-F238E27FC236}">
                <a16:creationId xmlns:a16="http://schemas.microsoft.com/office/drawing/2014/main" id="{34C5CEFE-8854-234C-96D0-DCB91529F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10244" name="Text Box 3">
            <a:extLst>
              <a:ext uri="{FF2B5EF4-FFF2-40B4-BE49-F238E27FC236}">
                <a16:creationId xmlns:a16="http://schemas.microsoft.com/office/drawing/2014/main" id="{CC107FDC-F402-E749-AEA0-9FF22B1389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C900F831-0097-7E46-972A-F3CFA6F37270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3884613" y="0"/>
            <a:ext cx="2968625" cy="4556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215900" indent="-214313" algn="r" eaLnBrk="1">
              <a:buSzPct val="4500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Noto Sans CJK SC Regular"/>
                <a:cs typeface="Noto Sans CJK SC Regular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246" name="Rectangle 5">
            <a:extLst>
              <a:ext uri="{FF2B5EF4-FFF2-40B4-BE49-F238E27FC236}">
                <a16:creationId xmlns:a16="http://schemas.microsoft.com/office/drawing/2014/main" id="{E619908B-AFA2-514A-9670-E3820C61FE28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371600" y="1143000"/>
            <a:ext cx="4111625" cy="3082925"/>
          </a:xfrm>
          <a:prstGeom prst="rect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81059E00-91B7-524C-88E2-F095DC837D74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400550"/>
            <a:ext cx="5483225" cy="35972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CN" altLang="zh-CN" noProof="0"/>
          </a:p>
        </p:txBody>
      </p:sp>
      <p:sp>
        <p:nvSpPr>
          <p:cNvPr id="10248" name="Text Box 7">
            <a:extLst>
              <a:ext uri="{FF2B5EF4-FFF2-40B4-BE49-F238E27FC236}">
                <a16:creationId xmlns:a16="http://schemas.microsoft.com/office/drawing/2014/main" id="{9E8BA36F-6A01-EE44-8818-2A673467F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3080" name="Rectangle 8">
            <a:extLst>
              <a:ext uri="{FF2B5EF4-FFF2-40B4-BE49-F238E27FC236}">
                <a16:creationId xmlns:a16="http://schemas.microsoft.com/office/drawing/2014/main" id="{D9BE5757-684B-6F42-AF08-604B738C725E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3884613" y="8685213"/>
            <a:ext cx="2968625" cy="45561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marL="215900" indent="-214313" algn="r" eaLnBrk="1">
              <a:buSzPct val="4500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 smtClean="0">
                <a:solidFill>
                  <a:srgbClr val="000000"/>
                </a:solidFill>
                <a:latin typeface="Times New Roman" panose="02020603050405020304" pitchFamily="18" charset="0"/>
                <a:ea typeface="Noto Sans CJK SC Regular"/>
                <a:cs typeface="Noto Sans CJK SC Regular"/>
              </a:defRPr>
            </a:lvl1pPr>
          </a:lstStyle>
          <a:p>
            <a:pPr>
              <a:defRPr/>
            </a:pPr>
            <a:fld id="{114CD102-B19B-6840-B314-7C88B6625921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8">
            <a:extLst>
              <a:ext uri="{FF2B5EF4-FFF2-40B4-BE49-F238E27FC236}">
                <a16:creationId xmlns:a16="http://schemas.microsoft.com/office/drawing/2014/main" id="{C9215C7C-B767-5447-AA38-70F2CAABBF5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15900" indent="-21431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138C0788-3D4E-4E4F-AB8E-899C573A9F9C}" type="slidenum">
              <a:rPr lang="zh-CN" altLang="zh-CN">
                <a:ea typeface="华文中宋" panose="02010600040101010101" pitchFamily="2" charset="-122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2</a:t>
            </a:fld>
            <a:endParaRPr lang="zh-CN" altLang="zh-CN">
              <a:ea typeface="华文中宋" panose="02010600040101010101" pitchFamily="2" charset="-122"/>
            </a:endParaRPr>
          </a:p>
        </p:txBody>
      </p:sp>
      <p:sp>
        <p:nvSpPr>
          <p:cNvPr id="108547" name="Rectangle 1">
            <a:extLst>
              <a:ext uri="{FF2B5EF4-FFF2-40B4-BE49-F238E27FC236}">
                <a16:creationId xmlns:a16="http://schemas.microsoft.com/office/drawing/2014/main" id="{43812280-A666-3342-A855-53EFA19850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8548" name="Text Box 2">
            <a:extLst>
              <a:ext uri="{FF2B5EF4-FFF2-40B4-BE49-F238E27FC236}">
                <a16:creationId xmlns:a16="http://schemas.microsoft.com/office/drawing/2014/main" id="{26F96D84-947F-DC40-ACD5-B040627C9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8">
            <a:extLst>
              <a:ext uri="{FF2B5EF4-FFF2-40B4-BE49-F238E27FC236}">
                <a16:creationId xmlns:a16="http://schemas.microsoft.com/office/drawing/2014/main" id="{955C9F0E-7866-C844-8F70-5EC6B11FB1E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15900" indent="-21431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9C121EEE-2C5D-F94D-9D35-BA6CB8A74A96}" type="slidenum">
              <a:rPr lang="zh-CN" altLang="zh-CN">
                <a:ea typeface="华文中宋" panose="02010600040101010101" pitchFamily="2" charset="-122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3</a:t>
            </a:fld>
            <a:endParaRPr lang="zh-CN" altLang="zh-CN">
              <a:ea typeface="华文中宋" panose="02010600040101010101" pitchFamily="2" charset="-122"/>
            </a:endParaRPr>
          </a:p>
        </p:txBody>
      </p:sp>
      <p:sp>
        <p:nvSpPr>
          <p:cNvPr id="110595" name="Rectangle 1">
            <a:extLst>
              <a:ext uri="{FF2B5EF4-FFF2-40B4-BE49-F238E27FC236}">
                <a16:creationId xmlns:a16="http://schemas.microsoft.com/office/drawing/2014/main" id="{48D3AC6B-77FD-E246-BC08-2D08A36AB5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0596" name="Text Box 2">
            <a:extLst>
              <a:ext uri="{FF2B5EF4-FFF2-40B4-BE49-F238E27FC236}">
                <a16:creationId xmlns:a16="http://schemas.microsoft.com/office/drawing/2014/main" id="{D50005DA-3C5A-A841-9DE5-BDF1BA9C7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8">
            <a:extLst>
              <a:ext uri="{FF2B5EF4-FFF2-40B4-BE49-F238E27FC236}">
                <a16:creationId xmlns:a16="http://schemas.microsoft.com/office/drawing/2014/main" id="{3952C782-12EA-544B-BB3E-2C9095BD3B4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15900" indent="-21431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3CE26F9E-D8FB-8243-8AF9-49C68BE6BCEF}" type="slidenum">
              <a:rPr lang="zh-CN" altLang="zh-CN">
                <a:ea typeface="华文中宋" panose="02010600040101010101" pitchFamily="2" charset="-122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4</a:t>
            </a:fld>
            <a:endParaRPr lang="zh-CN" altLang="zh-CN">
              <a:ea typeface="华文中宋" panose="02010600040101010101" pitchFamily="2" charset="-122"/>
            </a:endParaRPr>
          </a:p>
        </p:txBody>
      </p:sp>
      <p:sp>
        <p:nvSpPr>
          <p:cNvPr id="148483" name="Rectangle 1">
            <a:extLst>
              <a:ext uri="{FF2B5EF4-FFF2-40B4-BE49-F238E27FC236}">
                <a16:creationId xmlns:a16="http://schemas.microsoft.com/office/drawing/2014/main" id="{7B3EE54C-596F-B941-8122-FAEC5D9D7D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48484" name="Text Box 2">
            <a:extLst>
              <a:ext uri="{FF2B5EF4-FFF2-40B4-BE49-F238E27FC236}">
                <a16:creationId xmlns:a16="http://schemas.microsoft.com/office/drawing/2014/main" id="{978AC4D1-6459-AA4E-AF02-49D919CC62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148485" name="Text Box 3">
            <a:extLst>
              <a:ext uri="{FF2B5EF4-FFF2-40B4-BE49-F238E27FC236}">
                <a16:creationId xmlns:a16="http://schemas.microsoft.com/office/drawing/2014/main" id="{F54238D4-391C-F948-8E16-B3B02CD8D8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4EFF07B3-2E3F-5247-B9B6-D7BF18C43BB5}" type="slidenum">
              <a:rPr lang="zh-CN" altLang="zh-CN">
                <a:latin typeface="华文中宋" panose="02010600040101010101" pitchFamily="2" charset="-122"/>
              </a:rPr>
              <a:pPr algn="r"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zh-CN" altLang="zh-CN">
              <a:latin typeface="华文中宋" panose="0201060004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8">
            <a:extLst>
              <a:ext uri="{FF2B5EF4-FFF2-40B4-BE49-F238E27FC236}">
                <a16:creationId xmlns:a16="http://schemas.microsoft.com/office/drawing/2014/main" id="{D3190E94-24B1-0D45-BDD0-8CD366F0D89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15900" indent="-21431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734A2704-AA70-CF47-B9C8-97624BD2E738}" type="slidenum">
              <a:rPr lang="zh-CN" altLang="zh-CN">
                <a:ea typeface="华文中宋" panose="02010600040101010101" pitchFamily="2" charset="-122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5</a:t>
            </a:fld>
            <a:endParaRPr lang="zh-CN" altLang="zh-CN">
              <a:ea typeface="华文中宋" panose="02010600040101010101" pitchFamily="2" charset="-122"/>
            </a:endParaRPr>
          </a:p>
        </p:txBody>
      </p:sp>
      <p:sp>
        <p:nvSpPr>
          <p:cNvPr id="150531" name="Rectangle 1">
            <a:extLst>
              <a:ext uri="{FF2B5EF4-FFF2-40B4-BE49-F238E27FC236}">
                <a16:creationId xmlns:a16="http://schemas.microsoft.com/office/drawing/2014/main" id="{819E186B-02F8-5342-9EEF-E46BE427F8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0532" name="Text Box 2">
            <a:extLst>
              <a:ext uri="{FF2B5EF4-FFF2-40B4-BE49-F238E27FC236}">
                <a16:creationId xmlns:a16="http://schemas.microsoft.com/office/drawing/2014/main" id="{E4FFE406-DC3D-494B-9AB0-C1BBE31DA1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150533" name="Text Box 3">
            <a:extLst>
              <a:ext uri="{FF2B5EF4-FFF2-40B4-BE49-F238E27FC236}">
                <a16:creationId xmlns:a16="http://schemas.microsoft.com/office/drawing/2014/main" id="{04E8BDA8-FAD0-5B42-9121-B0C788A38C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6E21C443-8208-EE4C-8F0D-B0EC727BAD36}" type="slidenum">
              <a:rPr lang="zh-CN" altLang="zh-CN">
                <a:latin typeface="华文中宋" panose="02010600040101010101" pitchFamily="2" charset="-122"/>
              </a:rPr>
              <a:pPr algn="r"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zh-CN" altLang="zh-CN">
              <a:latin typeface="华文中宋" panose="0201060004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 b="1">
                <a:solidFill>
                  <a:srgbClr val="C0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5CE53B6-6395-594D-B752-0C2E3EB439F9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1</a:t>
            </a:r>
            <a:fld id="{C9D6B79C-7177-B243-B637-1875C622E78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8987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>
            <a:extLst>
              <a:ext uri="{FF2B5EF4-FFF2-40B4-BE49-F238E27FC236}">
                <a16:creationId xmlns:a16="http://schemas.microsoft.com/office/drawing/2014/main" id="{DFC5ABCA-72FD-CD48-989A-8178BE504B3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5288" y="1041400"/>
            <a:ext cx="8226425" cy="317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808080"/>
              </a:gs>
            </a:gsLst>
            <a:lin ang="108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313" y="333375"/>
            <a:ext cx="8226425" cy="655861"/>
          </a:xfrm>
        </p:spPr>
        <p:txBody>
          <a:bodyPr/>
          <a:lstStyle>
            <a:lvl1pPr algn="l">
              <a:defRPr sz="3600" baseline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6425" cy="5256584"/>
          </a:xfrm>
        </p:spPr>
        <p:txBody>
          <a:bodyPr/>
          <a:lstStyle>
            <a:lvl1pPr marL="457200" indent="-457200">
              <a:buClr>
                <a:srgbClr val="C00000"/>
              </a:buClr>
              <a:buSzPct val="110000"/>
              <a:buFont typeface="Arial" panose="020B0604020202020204" pitchFamily="34" charset="0"/>
              <a:buChar char="•"/>
              <a:defRPr sz="2800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914400" indent="-457200"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  <a:defRPr sz="2800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257300" indent="-342900">
              <a:buClr>
                <a:srgbClr val="C00000"/>
              </a:buClr>
              <a:buSzPct val="48000"/>
              <a:buFont typeface="Arial" panose="020B0604020202020204" pitchFamily="34" charset="0"/>
              <a:buChar char="•"/>
              <a:defRPr sz="2800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714500" indent="-342900">
              <a:buClr>
                <a:srgbClr val="C00000"/>
              </a:buClr>
              <a:buSzPct val="48000"/>
              <a:buFont typeface="Arial" panose="020B0604020202020204" pitchFamily="34" charset="0"/>
              <a:buChar char="•"/>
              <a:defRPr sz="2800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171700" indent="-342900">
              <a:buClr>
                <a:srgbClr val="C00000"/>
              </a:buClr>
              <a:buSzPct val="48000"/>
              <a:buFont typeface="Arial" panose="020B0604020202020204" pitchFamily="34" charset="0"/>
              <a:buChar char="•"/>
              <a:defRPr sz="2800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F8209DC-318D-EC4A-8656-0802ED7D76DA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xfrm>
            <a:off x="7956550" y="6432550"/>
            <a:ext cx="738188" cy="288925"/>
          </a:xfrm>
        </p:spPr>
        <p:txBody>
          <a:bodyPr/>
          <a:lstStyle>
            <a:lvl1pPr algn="r">
              <a:defRPr smtClean="0"/>
            </a:lvl1pPr>
          </a:lstStyle>
          <a:p>
            <a:pPr>
              <a:defRPr/>
            </a:pPr>
            <a:fld id="{9D15A467-BEC5-AD4B-A44A-F03C12F690F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3146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无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">
            <a:extLst>
              <a:ext uri="{FF2B5EF4-FFF2-40B4-BE49-F238E27FC236}">
                <a16:creationId xmlns:a16="http://schemas.microsoft.com/office/drawing/2014/main" id="{5301E24A-6AAE-9445-BA5E-FAF35B916C2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5288" y="1041400"/>
            <a:ext cx="8226425" cy="317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808080"/>
              </a:gs>
            </a:gsLst>
            <a:lin ang="108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68313" y="333375"/>
            <a:ext cx="8226425" cy="655861"/>
          </a:xfrm>
        </p:spPr>
        <p:txBody>
          <a:bodyPr/>
          <a:lstStyle>
            <a:lvl1pPr algn="l">
              <a:defRPr sz="3600" baseline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C665CBD-238D-5B48-8136-45B386B762C0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xfrm>
            <a:off x="7956550" y="6432550"/>
            <a:ext cx="738188" cy="288925"/>
          </a:xfrm>
        </p:spPr>
        <p:txBody>
          <a:bodyPr/>
          <a:lstStyle>
            <a:lvl1pPr algn="r">
              <a:defRPr smtClean="0"/>
            </a:lvl1pPr>
          </a:lstStyle>
          <a:p>
            <a:pPr>
              <a:defRPr/>
            </a:pPr>
            <a:fld id="{CCDAA88D-1142-0F4F-ACEE-277EABEEB6D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083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38CBB1DA-01B9-9547-833E-594DE9692849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1</a:t>
            </a:r>
            <a:fld id="{7397F042-5B4E-D046-8C0A-37067174E66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3035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7">
            <a:extLst>
              <a:ext uri="{FF2B5EF4-FFF2-40B4-BE49-F238E27FC236}">
                <a16:creationId xmlns:a16="http://schemas.microsoft.com/office/drawing/2014/main" id="{925C95B1-D679-7648-A3D3-A231361135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2813" y="6399213"/>
            <a:ext cx="449262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fld id="{8C219F9E-4321-8E44-B29F-F2710E0951F9}" type="slidenum">
              <a:rPr kumimoji="1" lang="zh-CN" altLang="en-US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pPr eaLnBrk="1" hangingPunct="1"/>
              <a:t>‹#›</a:t>
            </a:fld>
            <a:endParaRPr kumimoji="1" lang="zh-CN" altLang="en-US" sz="16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8434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09AEF61-0869-4949-82C5-4DE25C3DB4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BC0212-779B-5E47-9DA0-F3CBD7C9732C}" type="datetimeFigureOut">
              <a:rPr lang="en-US"/>
              <a:pPr>
                <a:defRPr/>
              </a:pPr>
              <a:t>3/19/25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2BDF11A-60D8-8C44-ACF4-52CA93142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9E29801-7F84-D74D-9632-0D82DBB54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B858B48-8AEB-7C40-9926-1FC95232FE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177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752600"/>
            <a:ext cx="3808413" cy="43418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752600"/>
            <a:ext cx="3810000" cy="43418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6172EC-D7EF-A44B-943A-41296B3D22DB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0FE80B0-7E03-3B4B-8300-05E9993D7BE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52549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>
            <a:extLst>
              <a:ext uri="{FF2B5EF4-FFF2-40B4-BE49-F238E27FC236}">
                <a16:creationId xmlns:a16="http://schemas.microsoft.com/office/drawing/2014/main" id="{0CC518F0-3E73-AD49-902B-6A2EDD9227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333375"/>
            <a:ext cx="8226425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GB"/>
              <a:t>单击鼠标编辑标题文字格式</a:t>
            </a:r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id="{CC0D1133-E690-DC45-8FCC-3318DFFCBD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6425" cy="452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GB"/>
              <a:t>单击鼠标编辑大纲文字格式</a:t>
            </a:r>
          </a:p>
          <a:p>
            <a:pPr lvl="1"/>
            <a:r>
              <a:rPr lang="zh-CN" altLang="en-GB"/>
              <a:t>第二个大纲级</a:t>
            </a:r>
          </a:p>
          <a:p>
            <a:pPr lvl="2"/>
            <a:r>
              <a:rPr lang="zh-CN" altLang="en-GB"/>
              <a:t>第三大纲级别</a:t>
            </a:r>
          </a:p>
          <a:p>
            <a:pPr lvl="3"/>
            <a:r>
              <a:rPr lang="zh-CN" altLang="en-GB"/>
              <a:t>第四大纲级别</a:t>
            </a:r>
          </a:p>
          <a:p>
            <a:pPr lvl="4"/>
            <a:r>
              <a:rPr lang="zh-CN" altLang="en-GB"/>
              <a:t>第五大纲级别</a:t>
            </a:r>
          </a:p>
          <a:p>
            <a:pPr lvl="4"/>
            <a:r>
              <a:rPr lang="zh-CN" altLang="en-GB"/>
              <a:t>第六大纲级别</a:t>
            </a:r>
          </a:p>
          <a:p>
            <a:pPr lvl="4"/>
            <a:r>
              <a:rPr lang="zh-CN" altLang="en-GB"/>
              <a:t>第七大纲级别</a:t>
            </a:r>
          </a:p>
        </p:txBody>
      </p:sp>
      <p:sp>
        <p:nvSpPr>
          <p:cNvPr id="1028" name="Text Box 3">
            <a:extLst>
              <a:ext uri="{FF2B5EF4-FFF2-40B4-BE49-F238E27FC236}">
                <a16:creationId xmlns:a16="http://schemas.microsoft.com/office/drawing/2014/main" id="{9760C4FE-D833-B84D-B588-5A548593B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386513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1029" name="Text Box 4">
            <a:extLst>
              <a:ext uri="{FF2B5EF4-FFF2-40B4-BE49-F238E27FC236}">
                <a16:creationId xmlns:a16="http://schemas.microsoft.com/office/drawing/2014/main" id="{21D3B49B-228E-5246-8A16-B5A5B2A3C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6386513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12CAF19D-254C-AE49-A303-93938A9A5348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386513"/>
            <a:ext cx="2130425" cy="4730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1</a:t>
            </a:r>
            <a:fld id="{A32663A9-7CDC-AD47-9DDC-D509AAF0D289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0" name="Text Box 6">
            <a:extLst>
              <a:ext uri="{FF2B5EF4-FFF2-40B4-BE49-F238E27FC236}">
                <a16:creationId xmlns:a16="http://schemas.microsoft.com/office/drawing/2014/main" id="{848F9A25-FD3B-1146-85A5-D8FD9FFFF0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0"/>
            <a:ext cx="4030663" cy="341313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ts val="1000"/>
              </a:spcBef>
              <a:buSzPct val="100000"/>
              <a:defRPr/>
            </a:pPr>
            <a:r>
              <a:rPr lang="zh-CN" altLang="en-US" sz="16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传感器技术与网络</a:t>
            </a:r>
            <a:r>
              <a:rPr lang="en-US" altLang="zh-CN" sz="16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zh-CN" altLang="en-US" sz="16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实验</a:t>
            </a:r>
            <a:r>
              <a:rPr lang="en-US" altLang="zh-CN" sz="16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-2025</a:t>
            </a:r>
            <a:endParaRPr lang="zh-CN" altLang="zh-CN" sz="1600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032" name="Line 7">
            <a:extLst>
              <a:ext uri="{FF2B5EF4-FFF2-40B4-BE49-F238E27FC236}">
                <a16:creationId xmlns:a16="http://schemas.microsoft.com/office/drawing/2014/main" id="{810432CF-06F9-5C46-A44E-42A2C652E1D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620713"/>
            <a:ext cx="8569325" cy="1587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CN"/>
          </a:p>
        </p:txBody>
      </p:sp>
      <p:sp>
        <p:nvSpPr>
          <p:cNvPr id="1033" name="Rectangle 8">
            <a:extLst>
              <a:ext uri="{FF2B5EF4-FFF2-40B4-BE49-F238E27FC236}">
                <a16:creationId xmlns:a16="http://schemas.microsoft.com/office/drawing/2014/main" id="{FD2C1466-F51D-7C4A-9ED3-B7E67E654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33375"/>
            <a:ext cx="2449513" cy="7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pic>
        <p:nvPicPr>
          <p:cNvPr id="1034" name="Picture 12">
            <a:extLst>
              <a:ext uri="{FF2B5EF4-FFF2-40B4-BE49-F238E27FC236}">
                <a16:creationId xmlns:a16="http://schemas.microsoft.com/office/drawing/2014/main" id="{18C65033-AF87-E843-A852-0027B2046EC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5188" y="125413"/>
            <a:ext cx="1468437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65" r:id="rId1"/>
    <p:sldLayoutId id="2147483967" r:id="rId2"/>
    <p:sldLayoutId id="2147483968" r:id="rId3"/>
    <p:sldLayoutId id="2147483966" r:id="rId4"/>
    <p:sldLayoutId id="2147483969" r:id="rId5"/>
    <p:sldLayoutId id="2147483970" r:id="rId6"/>
    <p:sldLayoutId id="2147483971" r:id="rId7"/>
  </p:sldLayoutIdLst>
  <p:txStyles>
    <p:titleStyle>
      <a:lvl1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 kern="12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25146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29718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34290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38862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defTabSz="449263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文本框 1">
            <a:extLst>
              <a:ext uri="{FF2B5EF4-FFF2-40B4-BE49-F238E27FC236}">
                <a16:creationId xmlns:a16="http://schemas.microsoft.com/office/drawing/2014/main" id="{76CA9E68-D201-124F-85C7-1CD401BDF6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2276475"/>
            <a:ext cx="69850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1" hangingPunct="1">
              <a:lnSpc>
                <a:spcPct val="120000"/>
              </a:lnSpc>
            </a:pPr>
            <a:r>
              <a:rPr kumimoji="1" lang="zh-CN" altLang="en-US" sz="66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温度传感器实验</a:t>
            </a:r>
            <a:endParaRPr lang="zh-CN" alt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3" name="Rectangle 2">
            <a:extLst>
              <a:ext uri="{FF2B5EF4-FFF2-40B4-BE49-F238E27FC236}">
                <a16:creationId xmlns:a16="http://schemas.microsoft.com/office/drawing/2014/main" id="{3AE79021-D0E8-C34B-82E4-7869E9A56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549275"/>
            <a:ext cx="6934200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Tx/>
              <a:buFontTx/>
              <a:buNone/>
            </a:pPr>
            <a:endParaRPr lang="zh-CN" altLang="zh-CN" b="1" dirty="0">
              <a:solidFill>
                <a:srgbClr val="C00000"/>
              </a:solidFill>
            </a:endParaRPr>
          </a:p>
        </p:txBody>
      </p:sp>
      <p:pic>
        <p:nvPicPr>
          <p:cNvPr id="107529" name="Picture 9" descr="NTC热敏电阻温度传感器5K和10K、50K、100K的区别">
            <a:extLst>
              <a:ext uri="{FF2B5EF4-FFF2-40B4-BE49-F238E27FC236}">
                <a16:creationId xmlns:a16="http://schemas.microsoft.com/office/drawing/2014/main" id="{512AB9E2-311C-A940-A7DB-80DBD0A1E6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116945"/>
            <a:ext cx="3866774" cy="2824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84F5692-FDF7-E243-A41D-31ECE390659B}"/>
              </a:ext>
            </a:extLst>
          </p:cNvPr>
          <p:cNvSpPr txBox="1"/>
          <p:nvPr/>
        </p:nvSpPr>
        <p:spPr bwMode="auto">
          <a:xfrm>
            <a:off x="1761620" y="918132"/>
            <a:ext cx="1627369" cy="55989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热敏电阻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8D205E-CCDB-4046-9930-3A49554ACC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48" t="26930" r="36349" b="34250"/>
          <a:stretch/>
        </p:blipFill>
        <p:spPr>
          <a:xfrm>
            <a:off x="5755013" y="1478029"/>
            <a:ext cx="1872208" cy="432613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1">
            <a:extLst>
              <a:ext uri="{FF2B5EF4-FFF2-40B4-BE49-F238E27FC236}">
                <a16:creationId xmlns:a16="http://schemas.microsoft.com/office/drawing/2014/main" id="{97FC7805-02CB-D949-9796-897741B232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549275"/>
            <a:ext cx="6934200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Tx/>
              <a:buFontTx/>
              <a:buNone/>
            </a:pPr>
            <a:r>
              <a:rPr lang="zh-CN" altLang="zh-CN" b="1" dirty="0">
                <a:solidFill>
                  <a:srgbClr val="C00000"/>
                </a:solidFill>
              </a:rPr>
              <a:t>温度传感器</a:t>
            </a:r>
            <a:r>
              <a:rPr lang="zh-CN" altLang="en-US" b="1" dirty="0">
                <a:solidFill>
                  <a:srgbClr val="C00000"/>
                </a:solidFill>
              </a:rPr>
              <a:t>响应时间</a:t>
            </a:r>
            <a:endParaRPr lang="zh-CN" altLang="zh-CN" b="1" dirty="0">
              <a:solidFill>
                <a:srgbClr val="C00000"/>
              </a:solidFill>
            </a:endParaRPr>
          </a:p>
        </p:txBody>
      </p:sp>
      <p:pic>
        <p:nvPicPr>
          <p:cNvPr id="109580" name="Picture 12">
            <a:extLst>
              <a:ext uri="{FF2B5EF4-FFF2-40B4-BE49-F238E27FC236}">
                <a16:creationId xmlns:a16="http://schemas.microsoft.com/office/drawing/2014/main" id="{3271E343-C9B9-1B4E-9209-D3BA59C61E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1268760"/>
            <a:ext cx="508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582" name="Picture 14">
            <a:extLst>
              <a:ext uri="{FF2B5EF4-FFF2-40B4-BE49-F238E27FC236}">
                <a16:creationId xmlns:a16="http://schemas.microsoft.com/office/drawing/2014/main" id="{0CBCD7D9-21CD-A241-9512-69719B21C9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4509120"/>
            <a:ext cx="3770764" cy="1866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标题 1">
            <a:extLst>
              <a:ext uri="{FF2B5EF4-FFF2-40B4-BE49-F238E27FC236}">
                <a16:creationId xmlns:a16="http://schemas.microsoft.com/office/drawing/2014/main" id="{BFA52152-0993-7348-A7E5-1F8F2F533D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226425" cy="655638"/>
          </a:xfrm>
        </p:spPr>
        <p:txBody>
          <a:bodyPr/>
          <a:lstStyle/>
          <a:p>
            <a:r>
              <a:rPr lang="en-US" altLang="zh-CN"/>
              <a:t>Arduino</a:t>
            </a:r>
            <a:r>
              <a:rPr lang="zh-CN" altLang="en-US"/>
              <a:t>串口的使用</a:t>
            </a:r>
          </a:p>
        </p:txBody>
      </p:sp>
      <p:pic>
        <p:nvPicPr>
          <p:cNvPr id="147459" name="Picture 2">
            <a:extLst>
              <a:ext uri="{FF2B5EF4-FFF2-40B4-BE49-F238E27FC236}">
                <a16:creationId xmlns:a16="http://schemas.microsoft.com/office/drawing/2014/main" id="{782FC125-83B2-1E40-8BE6-9EE7B8F81B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1268413"/>
            <a:ext cx="5086350" cy="547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47460" name="Text Box 3">
            <a:extLst>
              <a:ext uri="{FF2B5EF4-FFF2-40B4-BE49-F238E27FC236}">
                <a16:creationId xmlns:a16="http://schemas.microsoft.com/office/drawing/2014/main" id="{55BE8A12-C61D-AD42-9B79-0D5E79DB19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9563" y="1412875"/>
            <a:ext cx="2736850" cy="39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//</a:t>
            </a:r>
            <a:r>
              <a:rPr lang="zh-CN" altLang="zh-CN" sz="20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串口波特率</a:t>
            </a:r>
          </a:p>
        </p:txBody>
      </p:sp>
      <p:sp>
        <p:nvSpPr>
          <p:cNvPr id="147461" name="Text Box 4">
            <a:extLst>
              <a:ext uri="{FF2B5EF4-FFF2-40B4-BE49-F238E27FC236}">
                <a16:creationId xmlns:a16="http://schemas.microsoft.com/office/drawing/2014/main" id="{EE5AC6FD-C32B-5247-98E0-1C77F5A837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3875" y="2349500"/>
            <a:ext cx="2736850" cy="39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//</a:t>
            </a:r>
            <a:r>
              <a:rPr lang="zh-CN" altLang="zh-CN" sz="20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设置串口波特率</a:t>
            </a:r>
          </a:p>
        </p:txBody>
      </p:sp>
      <p:sp>
        <p:nvSpPr>
          <p:cNvPr id="147462" name="Text Box 5">
            <a:extLst>
              <a:ext uri="{FF2B5EF4-FFF2-40B4-BE49-F238E27FC236}">
                <a16:creationId xmlns:a16="http://schemas.microsoft.com/office/drawing/2014/main" id="{AF839112-B905-434F-ADBF-1A715478C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3284538"/>
            <a:ext cx="2736850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//</a:t>
            </a:r>
            <a:r>
              <a:rPr lang="zh-CN" altLang="zh-CN" sz="20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检测串口是否可用</a:t>
            </a:r>
          </a:p>
        </p:txBody>
      </p:sp>
      <p:sp>
        <p:nvSpPr>
          <p:cNvPr id="147463" name="Text Box 6">
            <a:extLst>
              <a:ext uri="{FF2B5EF4-FFF2-40B4-BE49-F238E27FC236}">
                <a16:creationId xmlns:a16="http://schemas.microsoft.com/office/drawing/2014/main" id="{B536CC54-57F7-E340-B04A-1B1C63F63F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6013" y="3586163"/>
            <a:ext cx="2787650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//</a:t>
            </a:r>
            <a:r>
              <a:rPr lang="zh-CN" altLang="zh-CN" sz="20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从串口读入</a:t>
            </a:r>
          </a:p>
        </p:txBody>
      </p:sp>
      <p:sp>
        <p:nvSpPr>
          <p:cNvPr id="147464" name="Text Box 7">
            <a:extLst>
              <a:ext uri="{FF2B5EF4-FFF2-40B4-BE49-F238E27FC236}">
                <a16:creationId xmlns:a16="http://schemas.microsoft.com/office/drawing/2014/main" id="{29F441F1-3640-3947-950A-73D957FDAC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4965700"/>
            <a:ext cx="2789237" cy="39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//</a:t>
            </a:r>
            <a:r>
              <a:rPr lang="zh-CN" altLang="zh-CN" sz="20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对串口写出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标题 3">
            <a:extLst>
              <a:ext uri="{FF2B5EF4-FFF2-40B4-BE49-F238E27FC236}">
                <a16:creationId xmlns:a16="http://schemas.microsoft.com/office/drawing/2014/main" id="{970AA3D8-C0F9-B147-A4B8-05622DF61C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226425" cy="655638"/>
          </a:xfrm>
        </p:spPr>
        <p:txBody>
          <a:bodyPr/>
          <a:lstStyle/>
          <a:p>
            <a:r>
              <a:rPr lang="en-US" altLang="zh-CN"/>
              <a:t>Arduino</a:t>
            </a:r>
            <a:r>
              <a:rPr lang="zh-CN" altLang="en-US"/>
              <a:t>串口的使用</a:t>
            </a:r>
          </a:p>
        </p:txBody>
      </p:sp>
      <p:sp>
        <p:nvSpPr>
          <p:cNvPr id="149507" name="Rectangle 1">
            <a:extLst>
              <a:ext uri="{FF2B5EF4-FFF2-40B4-BE49-F238E27FC236}">
                <a16:creationId xmlns:a16="http://schemas.microsoft.com/office/drawing/2014/main" id="{22A13A8F-B4AC-0F4E-8824-40806937C1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850" y="1331913"/>
            <a:ext cx="7920038" cy="52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457200" indent="-457200"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>
              <a:spcBef>
                <a:spcPts val="800"/>
              </a:spcBef>
              <a:buClr>
                <a:srgbClr val="C00000"/>
              </a:buClr>
              <a:buSzPct val="110000"/>
              <a:buFont typeface="Arial" panose="020B0604020202020204" pitchFamily="34" charset="0"/>
              <a:buChar char="•"/>
            </a:pPr>
            <a:r>
              <a:rPr lang="zh-CN" altLang="zh-CN"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串口打印格式控制</a:t>
            </a:r>
          </a:p>
        </p:txBody>
      </p:sp>
      <p:pic>
        <p:nvPicPr>
          <p:cNvPr id="149508" name="Picture 2">
            <a:extLst>
              <a:ext uri="{FF2B5EF4-FFF2-40B4-BE49-F238E27FC236}">
                <a16:creationId xmlns:a16="http://schemas.microsoft.com/office/drawing/2014/main" id="{68708538-88F9-664E-A02C-3BAFE9BF5D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850" y="2276475"/>
            <a:ext cx="8007350" cy="3887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0FD0ED-FBC1-F545-A416-C8F2499D9B53}"/>
              </a:ext>
            </a:extLst>
          </p:cNvPr>
          <p:cNvSpPr txBox="1"/>
          <p:nvPr/>
        </p:nvSpPr>
        <p:spPr bwMode="auto">
          <a:xfrm>
            <a:off x="971600" y="3717032"/>
            <a:ext cx="7200800" cy="101566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CN" dirty="0">
                <a:solidFill>
                  <a:schemeClr val="tx1"/>
                </a:solidFill>
              </a:rPr>
              <a:t>https://www.bilibili.com/video/BV14N41177az/?spm_id_from=autoNext&amp;vd_source=f0cac1ad50f678e68a7eac93516bc120</a:t>
            </a:r>
          </a:p>
        </p:txBody>
      </p:sp>
      <p:sp>
        <p:nvSpPr>
          <p:cNvPr id="6" name="矩形 1">
            <a:extLst>
              <a:ext uri="{FF2B5EF4-FFF2-40B4-BE49-F238E27FC236}">
                <a16:creationId xmlns:a16="http://schemas.microsoft.com/office/drawing/2014/main" id="{A703D856-B45E-5245-AD77-F3BE91B58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980728"/>
            <a:ext cx="183255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>
              <a:spcBef>
                <a:spcPts val="800"/>
              </a:spcBef>
              <a:buSzPct val="100000"/>
              <a:buFont typeface="Times New Roman" panose="02020603050405020304" pitchFamily="18" charset="0"/>
              <a:buNone/>
            </a:pPr>
            <a:r>
              <a:rPr lang="zh-CN" altLang="en-CN" sz="32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串口</a:t>
            </a: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通信</a:t>
            </a:r>
            <a:endParaRPr lang="en-US" altLang="zh-CN" sz="3200" b="1" dirty="0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7B579C4D-AFC4-7442-874C-56910A98FFE6}"/>
              </a:ext>
            </a:extLst>
          </p:cNvPr>
          <p:cNvSpPr txBox="1">
            <a:spLocks noChangeArrowheads="1"/>
          </p:cNvSpPr>
          <p:nvPr/>
        </p:nvSpPr>
        <p:spPr>
          <a:xfrm>
            <a:off x="915945" y="2852936"/>
            <a:ext cx="7688504" cy="655638"/>
          </a:xfrm>
          <a:prstGeom prst="rect">
            <a:avLst/>
          </a:prstGeom>
        </p:spPr>
        <p:txBody>
          <a:bodyPr/>
          <a:lstStyle>
            <a:lvl1pPr algn="ctr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4400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4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4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4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4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4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4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4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4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en-US" altLang="zh-CN" sz="2800" dirty="0"/>
              <a:t>Arduino</a:t>
            </a:r>
            <a:r>
              <a:rPr lang="zh-CN" altLang="en-US" sz="2800" dirty="0"/>
              <a:t>串口的使用更详细介绍，请参考以下视频</a:t>
            </a:r>
          </a:p>
        </p:txBody>
      </p:sp>
    </p:spTree>
    <p:extLst>
      <p:ext uri="{BB962C8B-B14F-4D97-AF65-F5344CB8AC3E}">
        <p14:creationId xmlns:p14="http://schemas.microsoft.com/office/powerpoint/2010/main" val="4242381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Content Placeholder 2">
            <a:extLst>
              <a:ext uri="{FF2B5EF4-FFF2-40B4-BE49-F238E27FC236}">
                <a16:creationId xmlns:a16="http://schemas.microsoft.com/office/drawing/2014/main" id="{69BE6E58-818D-F54F-B1B0-AF172B7E7D6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457200" y="2209800"/>
            <a:ext cx="4651375" cy="4113213"/>
          </a:xfrm>
        </p:spPr>
        <p:txBody>
          <a:bodyPr/>
          <a:lstStyle/>
          <a:p>
            <a:pPr marL="0" indent="0"/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zh-CN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zh-CN" alt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>
                <a:latin typeface="Courier New" panose="02070309020205020404" pitchFamily="49" charset="0"/>
                <a:cs typeface="Courier New" panose="02070309020205020404" pitchFamily="49" charset="0"/>
              </a:rPr>
              <a:t>analogRead</a:t>
            </a:r>
            <a:r>
              <a:rPr lang="zh-CN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（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pin</a:t>
            </a:r>
            <a:r>
              <a:rPr lang="zh-CN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）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/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analogWrite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(pin, 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/>
            <a:r>
              <a:rPr lang="en-US" altLang="zh-CN" dirty="0"/>
              <a:t>	</a:t>
            </a:r>
          </a:p>
          <a:p>
            <a:pPr marL="0" indent="0"/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pin</a:t>
            </a:r>
            <a:r>
              <a:rPr lang="en-US" altLang="zh-CN" sz="2400" b="1" dirty="0"/>
              <a:t> </a:t>
            </a:r>
            <a:r>
              <a:rPr lang="en-US" altLang="zh-CN" sz="2400" dirty="0"/>
              <a:t>– </a:t>
            </a:r>
            <a:r>
              <a:rPr lang="zh-CN" altLang="en-US" sz="2400" dirty="0"/>
              <a:t>输出模拟信号的引脚</a:t>
            </a:r>
            <a:r>
              <a:rPr lang="en-US" altLang="zh-CN" sz="2400" dirty="0"/>
              <a:t> (</a:t>
            </a:r>
            <a:r>
              <a:rPr lang="zh-CN" altLang="en-US" sz="2400" dirty="0"/>
              <a:t>局限于</a:t>
            </a:r>
            <a:r>
              <a:rPr lang="en-US" altLang="zh-CN" sz="2400" dirty="0"/>
              <a:t> 3, 5, 6, 9, 10, 11.)</a:t>
            </a:r>
          </a:p>
          <a:p>
            <a:pPr marL="0" indent="0"/>
            <a:endParaRPr lang="en-US" altLang="zh-CN" sz="2400" dirty="0"/>
          </a:p>
          <a:p>
            <a:pPr marL="0" indent="0"/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altLang="zh-CN" sz="2400" dirty="0"/>
              <a:t> – 8 </a:t>
            </a:r>
            <a:r>
              <a:rPr lang="zh-CN" altLang="en-US" sz="2400" dirty="0"/>
              <a:t>比特量</a:t>
            </a:r>
            <a:r>
              <a:rPr lang="en-US" altLang="zh-CN" sz="2400" dirty="0"/>
              <a:t> (0 – 255).  </a:t>
            </a:r>
          </a:p>
          <a:p>
            <a:pPr marL="0" indent="0"/>
            <a:r>
              <a:rPr lang="en-US" altLang="zh-CN" sz="2400" dirty="0"/>
              <a:t>	0 =&gt; 0V    |    255 =&gt; 5V  </a:t>
            </a:r>
          </a:p>
        </p:txBody>
      </p:sp>
      <p:sp>
        <p:nvSpPr>
          <p:cNvPr id="57346" name="Title 1">
            <a:extLst>
              <a:ext uri="{FF2B5EF4-FFF2-40B4-BE49-F238E27FC236}">
                <a16:creationId xmlns:a16="http://schemas.microsoft.com/office/drawing/2014/main" id="{4475E122-61CD-3346-8CAF-FB1D51DA1A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0813" cy="1141413"/>
          </a:xfrm>
        </p:spPr>
        <p:txBody>
          <a:bodyPr/>
          <a:lstStyle/>
          <a:p>
            <a:r>
              <a:rPr lang="zh-CN" altLang="en-US" dirty="0"/>
              <a:t>模拟信号输出</a:t>
            </a:r>
            <a:endParaRPr lang="en-US" altLang="zh-CN" dirty="0"/>
          </a:p>
        </p:txBody>
      </p:sp>
      <p:pic>
        <p:nvPicPr>
          <p:cNvPr id="57347" name="Picture 2" descr="http://arduino.cc/en/uploads/Tutorial/pwm.gif">
            <a:extLst>
              <a:ext uri="{FF2B5EF4-FFF2-40B4-BE49-F238E27FC236}">
                <a16:creationId xmlns:a16="http://schemas.microsoft.com/office/drawing/2014/main" id="{16BC6B00-2F4B-C248-9903-617442DED79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81600" y="1981200"/>
            <a:ext cx="3756025" cy="4113213"/>
          </a:xfrm>
        </p:spPr>
      </p:pic>
      <p:sp>
        <p:nvSpPr>
          <p:cNvPr id="57348" name="Rectangle 4">
            <a:extLst>
              <a:ext uri="{FF2B5EF4-FFF2-40B4-BE49-F238E27FC236}">
                <a16:creationId xmlns:a16="http://schemas.microsoft.com/office/drawing/2014/main" id="{1E3098B8-62B6-5247-BA3B-C41023359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222500"/>
            <a:ext cx="4572000" cy="1062484"/>
          </a:xfrm>
          <a:prstGeom prst="rect">
            <a:avLst/>
          </a:prstGeom>
          <a:noFill/>
          <a:ln w="9525" algn="ctr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矩形 1">
            <a:extLst>
              <a:ext uri="{FF2B5EF4-FFF2-40B4-BE49-F238E27FC236}">
                <a16:creationId xmlns:a16="http://schemas.microsoft.com/office/drawing/2014/main" id="{7E9298CD-642C-D541-819C-E9564C3C0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3" y="476672"/>
            <a:ext cx="8136904" cy="5098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>
              <a:spcBef>
                <a:spcPts val="800"/>
              </a:spcBef>
              <a:buSzPct val="100000"/>
              <a:buFont typeface="Times New Roman" panose="02020603050405020304" pitchFamily="18" charset="0"/>
              <a:buNone/>
            </a:pP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温度测量</a:t>
            </a:r>
            <a:endParaRPr lang="en-US" altLang="zh-CN" sz="3200" b="1" dirty="0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ts val="800"/>
              </a:spcBef>
              <a:buSzPct val="100000"/>
              <a:buFont typeface="Times New Roman" panose="02020603050405020304" pitchFamily="18" charset="0"/>
              <a:buNone/>
            </a:pPr>
            <a:endParaRPr lang="en-US" altLang="zh-CN" sz="2400" b="1" dirty="0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ts val="800"/>
              </a:spcBef>
              <a:buSzPct val="100000"/>
              <a:buFont typeface="Times New Roman" panose="02020603050405020304" pitchFamily="18" charset="0"/>
              <a:buAutoNum type="arabicPeriod"/>
            </a:pP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利用热敏电阻温度传感器（</a:t>
            </a:r>
            <a:r>
              <a:rPr lang="zh-CN" altLang="en-US" sz="2400" b="1" u="sng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参考第</a:t>
            </a:r>
            <a:r>
              <a:rPr lang="en-US" altLang="zh-CN" sz="2400" b="1" u="sng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18</a:t>
            </a:r>
            <a:r>
              <a:rPr lang="zh-CN" altLang="en-US" sz="2400" b="1" u="sng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课</a:t>
            </a: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）完成以下功能</a:t>
            </a:r>
            <a:endParaRPr lang="en-US" altLang="zh-CN" sz="2400" b="1" dirty="0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ts val="800"/>
              </a:spcBef>
              <a:buSzPct val="100000"/>
            </a:pP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		1.1</a:t>
            </a: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搭建测量系统。获取传感器输出的模拟和数字值。</a:t>
            </a:r>
            <a:endParaRPr lang="en-US" altLang="zh-CN" sz="2400" b="1" dirty="0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ts val="800"/>
              </a:spcBef>
              <a:buSzPct val="100000"/>
            </a:pP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		1.2</a:t>
            </a: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如果温度较高（如靠近笔记本散热口）双色</a:t>
            </a: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LED</a:t>
            </a: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亮红灯（</a:t>
            </a:r>
            <a:r>
              <a:rPr lang="zh-CN" altLang="en-US" sz="2400" b="1" u="sng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参考第</a:t>
            </a:r>
            <a:r>
              <a:rPr lang="en-US" altLang="zh-CN" sz="2400" b="1" u="sng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b="1" u="sng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课</a:t>
            </a: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），如果温度较低（室温）双色</a:t>
            </a: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LED</a:t>
            </a: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亮绿灯。</a:t>
            </a:r>
            <a:endParaRPr lang="en-US" altLang="zh-CN" sz="2400" b="1" dirty="0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ts val="800"/>
              </a:spcBef>
              <a:buSzPct val="100000"/>
            </a:pP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		1.3</a:t>
            </a: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通过</a:t>
            </a:r>
            <a:r>
              <a:rPr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串口</a:t>
            </a: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将温度传到计算机端，</a:t>
            </a:r>
            <a:endParaRPr lang="en-US" altLang="zh-CN" sz="2400" b="1" dirty="0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ts val="800"/>
              </a:spcBef>
              <a:buSzPct val="100000"/>
              <a:buFont typeface="Times New Roman" panose="02020603050405020304" pitchFamily="18" charset="0"/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计算机端用</a:t>
            </a: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Arduino IDE</a:t>
            </a: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的串口接收温度。</a:t>
            </a:r>
            <a:endParaRPr lang="en-US" altLang="zh-CN" sz="2400" b="1" dirty="0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ts val="800"/>
              </a:spcBef>
              <a:buSzPct val="100000"/>
              <a:buFont typeface="Times New Roman" panose="02020603050405020304" pitchFamily="18" charset="0"/>
              <a:buNone/>
            </a:pPr>
            <a:endParaRPr lang="en-US" altLang="zh-CN" sz="2400" b="1" dirty="0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ts val="800"/>
              </a:spcBef>
              <a:buSzPct val="100000"/>
              <a:buFont typeface="Times New Roman" panose="02020603050405020304" pitchFamily="18" charset="0"/>
              <a:buNone/>
            </a:pP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2. </a:t>
            </a: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在</a:t>
            </a: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LCD</a:t>
            </a: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显示屏（</a:t>
            </a:r>
            <a:r>
              <a:rPr lang="zh-CN" altLang="en-US" sz="2400" b="1" u="sng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参考第</a:t>
            </a:r>
            <a:r>
              <a:rPr lang="en-US" altLang="zh-CN" sz="2400" b="1" u="sng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24</a:t>
            </a:r>
            <a:r>
              <a:rPr lang="zh-CN" altLang="en-US" sz="2400" b="1" u="sng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课</a:t>
            </a: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）显示温度读数据。</a:t>
            </a:r>
            <a:endParaRPr lang="en-US" altLang="zh-CN" sz="2400" b="1" dirty="0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>
          <a:defRPr dirty="0">
            <a:solidFill>
              <a:srgbClr val="C00000"/>
            </a:solidFill>
            <a:latin typeface="Times New Roman" panose="02020603050405020304" pitchFamily="18" charset="0"/>
            <a:ea typeface="楷体" panose="02010609060101010101" pitchFamily="49" charset="-122"/>
          </a:defRPr>
        </a:defPPr>
      </a:lstStyle>
    </a:spDef>
    <a:lnDef>
      <a:spPr bwMode="auto">
        <a:solidFill>
          <a:srgbClr val="00B8FF"/>
        </a:solidFill>
        <a:ln w="9525" cap="flat" cmpd="sng" algn="ctr">
          <a:solidFill>
            <a:srgbClr val="C00000"/>
          </a:solidFill>
          <a:prstDash val="solid"/>
          <a:round/>
          <a:headEnd type="none" w="med" len="med"/>
          <a:tailEnd type="arrow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 bwMode="auto">
        <a:noFill/>
        <a:ln>
          <a:noFill/>
        </a:ln>
      </a:spPr>
      <a:bodyPr wrap="square" rtlCol="0">
        <a:spAutoFit/>
      </a:bodyPr>
      <a:lstStyle>
        <a:defPPr eaLnBrk="1" hangingPunct="1">
          <a:lnSpc>
            <a:spcPct val="120000"/>
          </a:lnSpc>
          <a:spcBef>
            <a:spcPct val="0"/>
          </a:spcBef>
          <a:buClrTx/>
          <a:buSzTx/>
          <a:buFontTx/>
          <a:buNone/>
          <a:defRPr kumimoji="1" sz="2800" b="1" dirty="0" smtClean="0">
            <a:solidFill>
              <a:srgbClr val="C00000"/>
            </a:solidFill>
            <a:latin typeface="Times New Roman" panose="02020603050405020304" pitchFamily="18" charset="0"/>
            <a:ea typeface="楷体" panose="02010609060101010101" pitchFamily="49" charset="-122"/>
          </a:defRPr>
        </a:defPPr>
      </a:lstStyle>
    </a:tx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28147</TotalTime>
  <Words>260</Words>
  <Application>Microsoft Macintosh PowerPoint</Application>
  <PresentationFormat>On-screen Show (4:3)</PresentationFormat>
  <Paragraphs>37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楷体_GB2312</vt:lpstr>
      <vt:lpstr>华文中宋</vt:lpstr>
      <vt:lpstr>Arial</vt:lpstr>
      <vt:lpstr>Courier New</vt:lpstr>
      <vt:lpstr>Times New Roman</vt:lpstr>
      <vt:lpstr>Office 主题​​</vt:lpstr>
      <vt:lpstr>PowerPoint Presentation</vt:lpstr>
      <vt:lpstr>PowerPoint Presentation</vt:lpstr>
      <vt:lpstr>PowerPoint Presentation</vt:lpstr>
      <vt:lpstr>Arduino串口的使用</vt:lpstr>
      <vt:lpstr>Arduino串口的使用</vt:lpstr>
      <vt:lpstr>PowerPoint Presentation</vt:lpstr>
      <vt:lpstr>模拟信号输出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IBM_ILY</dc:creator>
  <cp:keywords/>
  <dc:description/>
  <cp:lastModifiedBy>Microsoft Office User</cp:lastModifiedBy>
  <cp:revision>325</cp:revision>
  <cp:lastPrinted>1601-01-01T00:00:00Z</cp:lastPrinted>
  <dcterms:created xsi:type="dcterms:W3CDTF">2007-02-12T01:40:33Z</dcterms:created>
  <dcterms:modified xsi:type="dcterms:W3CDTF">2025-03-19T09:57:12Z</dcterms:modified>
</cp:coreProperties>
</file>