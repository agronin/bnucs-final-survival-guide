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24" r:id="rId2"/>
    <p:sldId id="400" r:id="rId3"/>
    <p:sldId id="320" r:id="rId4"/>
    <p:sldId id="323" r:id="rId5"/>
    <p:sldId id="321" r:id="rId6"/>
    <p:sldId id="322" r:id="rId7"/>
    <p:sldId id="299" r:id="rId8"/>
    <p:sldId id="300" r:id="rId9"/>
    <p:sldId id="301" r:id="rId10"/>
    <p:sldId id="367" r:id="rId11"/>
    <p:sldId id="368" r:id="rId12"/>
    <p:sldId id="369" r:id="rId13"/>
    <p:sldId id="401" r:id="rId14"/>
    <p:sldId id="402" r:id="rId15"/>
    <p:sldId id="404" r:id="rId16"/>
    <p:sldId id="403" r:id="rId17"/>
  </p:sldIdLst>
  <p:sldSz cx="9144000" cy="6858000" type="screen4x3"/>
  <p:notesSz cx="6858000" cy="9144000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bg1"/>
        </a:solidFill>
        <a:latin typeface="华文中宋" panose="02010600040101010101" pitchFamily="2" charset="-122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 autoAdjust="0"/>
    <p:restoredTop sz="94768"/>
  </p:normalViewPr>
  <p:slideViewPr>
    <p:cSldViewPr>
      <p:cViewPr varScale="1">
        <p:scale>
          <a:sx n="110" d="100"/>
          <a:sy n="110" d="100"/>
        </p:scale>
        <p:origin x="2360" y="16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1">
            <a:extLst>
              <a:ext uri="{FF2B5EF4-FFF2-40B4-BE49-F238E27FC236}">
                <a16:creationId xmlns:a16="http://schemas.microsoft.com/office/drawing/2014/main" id="{36E4F44B-80F2-C54E-83AF-5E9F425DC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360" cap="sq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3" name="AutoShape 2">
            <a:extLst>
              <a:ext uri="{FF2B5EF4-FFF2-40B4-BE49-F238E27FC236}">
                <a16:creationId xmlns:a16="http://schemas.microsoft.com/office/drawing/2014/main" id="{CF371CC4-5EDF-2849-8EDF-DF0361DD4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44" name="Text Box 3">
            <a:extLst>
              <a:ext uri="{FF2B5EF4-FFF2-40B4-BE49-F238E27FC236}">
                <a16:creationId xmlns:a16="http://schemas.microsoft.com/office/drawing/2014/main" id="{E4C75E4A-790A-5B49-BCB2-2063756D7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B6603CE-F110-6945-9807-4AFE1497C7FE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3884613" y="0"/>
            <a:ext cx="2968625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46" name="Rectangle 5">
            <a:extLst>
              <a:ext uri="{FF2B5EF4-FFF2-40B4-BE49-F238E27FC236}">
                <a16:creationId xmlns:a16="http://schemas.microsoft.com/office/drawing/2014/main" id="{A694BFF7-A90E-BC43-BF7B-6FB161618A8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1143000"/>
            <a:ext cx="4111625" cy="3082925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BE2BF54-FBC5-C140-912A-8F15801FC40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400550"/>
            <a:ext cx="5483225" cy="3597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 noProof="0"/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7095D3D7-C01B-E34E-B163-EA3F5C7ED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30665BA0-0036-3C4A-BF73-85748D95356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884613" y="8685213"/>
            <a:ext cx="2968625" cy="4556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marL="215900" indent="-214313" algn="r" eaLnBrk="1">
              <a:buSzPct val="4500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Noto Sans CJK SC Regular"/>
                <a:cs typeface="Noto Sans CJK SC Regular"/>
              </a:defRPr>
            </a:lvl1pPr>
          </a:lstStyle>
          <a:p>
            <a:pPr>
              <a:defRPr/>
            </a:pPr>
            <a:fld id="{2B0C41DA-8C65-CC4C-8831-ABF66866280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8">
            <a:extLst>
              <a:ext uri="{FF2B5EF4-FFF2-40B4-BE49-F238E27FC236}">
                <a16:creationId xmlns:a16="http://schemas.microsoft.com/office/drawing/2014/main" id="{8081AE2E-8CD0-6640-A5F8-CDF4E87A419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47B67656-AE91-504C-B83C-39A34345640B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7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57699" name="Rectangle 1">
            <a:extLst>
              <a:ext uri="{FF2B5EF4-FFF2-40B4-BE49-F238E27FC236}">
                <a16:creationId xmlns:a16="http://schemas.microsoft.com/office/drawing/2014/main" id="{6C400445-3CFE-3144-9DA5-893E8F308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7700" name="Text Box 2">
            <a:extLst>
              <a:ext uri="{FF2B5EF4-FFF2-40B4-BE49-F238E27FC236}">
                <a16:creationId xmlns:a16="http://schemas.microsoft.com/office/drawing/2014/main" id="{2E54DD09-FB01-0C4D-B043-163F4F8E6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8">
            <a:extLst>
              <a:ext uri="{FF2B5EF4-FFF2-40B4-BE49-F238E27FC236}">
                <a16:creationId xmlns:a16="http://schemas.microsoft.com/office/drawing/2014/main" id="{DE361872-66A9-9D4F-9579-5675C66B58C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81C03CAD-B6C3-2D4C-841A-45A993A6B46A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8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59747" name="Rectangle 1">
            <a:extLst>
              <a:ext uri="{FF2B5EF4-FFF2-40B4-BE49-F238E27FC236}">
                <a16:creationId xmlns:a16="http://schemas.microsoft.com/office/drawing/2014/main" id="{F8AF615F-4C36-F047-90D3-442FEFC819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9748" name="Text Box 2">
            <a:extLst>
              <a:ext uri="{FF2B5EF4-FFF2-40B4-BE49-F238E27FC236}">
                <a16:creationId xmlns:a16="http://schemas.microsoft.com/office/drawing/2014/main" id="{B893E611-3BB7-094F-BB72-3DA9EB862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8">
            <a:extLst>
              <a:ext uri="{FF2B5EF4-FFF2-40B4-BE49-F238E27FC236}">
                <a16:creationId xmlns:a16="http://schemas.microsoft.com/office/drawing/2014/main" id="{7E055C7D-1567-4A46-A073-6A464EF170E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700E2AD7-2C92-8C46-BC0A-6AE4451E9762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9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1795" name="Rectangle 1">
            <a:extLst>
              <a:ext uri="{FF2B5EF4-FFF2-40B4-BE49-F238E27FC236}">
                <a16:creationId xmlns:a16="http://schemas.microsoft.com/office/drawing/2014/main" id="{2B69EBE2-0AB0-7848-B044-B5D7F4F027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1796" name="Text Box 2">
            <a:extLst>
              <a:ext uri="{FF2B5EF4-FFF2-40B4-BE49-F238E27FC236}">
                <a16:creationId xmlns:a16="http://schemas.microsoft.com/office/drawing/2014/main" id="{91527FA0-A638-454B-AF47-0CF37E737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8">
            <a:extLst>
              <a:ext uri="{FF2B5EF4-FFF2-40B4-BE49-F238E27FC236}">
                <a16:creationId xmlns:a16="http://schemas.microsoft.com/office/drawing/2014/main" id="{1FF916C1-A1E3-4B46-B346-3652DB63EC4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66BBBB76-0215-FC45-A1CA-D7C1CE04DD19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10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4867" name="Rectangle 1">
            <a:extLst>
              <a:ext uri="{FF2B5EF4-FFF2-40B4-BE49-F238E27FC236}">
                <a16:creationId xmlns:a16="http://schemas.microsoft.com/office/drawing/2014/main" id="{CD6A6B3E-66AB-F743-94D9-424940483F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4868" name="Text Box 2">
            <a:extLst>
              <a:ext uri="{FF2B5EF4-FFF2-40B4-BE49-F238E27FC236}">
                <a16:creationId xmlns:a16="http://schemas.microsoft.com/office/drawing/2014/main" id="{C3A8640B-807A-B94B-8D9D-E3ACDE90A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8">
            <a:extLst>
              <a:ext uri="{FF2B5EF4-FFF2-40B4-BE49-F238E27FC236}">
                <a16:creationId xmlns:a16="http://schemas.microsoft.com/office/drawing/2014/main" id="{914E6A72-E428-CF4F-B07B-D0EFCE9A908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CE5D9AB9-DE27-924A-B195-3A3676CB6DD1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11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6915" name="Rectangle 1">
            <a:extLst>
              <a:ext uri="{FF2B5EF4-FFF2-40B4-BE49-F238E27FC236}">
                <a16:creationId xmlns:a16="http://schemas.microsoft.com/office/drawing/2014/main" id="{C7767190-3AD6-494F-BA80-A6E2D7FC4C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6916" name="Text Box 2">
            <a:extLst>
              <a:ext uri="{FF2B5EF4-FFF2-40B4-BE49-F238E27FC236}">
                <a16:creationId xmlns:a16="http://schemas.microsoft.com/office/drawing/2014/main" id="{FC83F5AE-685E-4948-99EA-EE905BAEE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8">
            <a:extLst>
              <a:ext uri="{FF2B5EF4-FFF2-40B4-BE49-F238E27FC236}">
                <a16:creationId xmlns:a16="http://schemas.microsoft.com/office/drawing/2014/main" id="{A5703DA5-F4B3-8B4B-A2F7-6007B4D339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E512D7BB-FC17-B84D-BB0B-47086F4BA89F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12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8963" name="Rectangle 1">
            <a:extLst>
              <a:ext uri="{FF2B5EF4-FFF2-40B4-BE49-F238E27FC236}">
                <a16:creationId xmlns:a16="http://schemas.microsoft.com/office/drawing/2014/main" id="{03DB29EC-8CB0-B941-B6E1-F9AC069C7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8964" name="Text Box 2">
            <a:extLst>
              <a:ext uri="{FF2B5EF4-FFF2-40B4-BE49-F238E27FC236}">
                <a16:creationId xmlns:a16="http://schemas.microsoft.com/office/drawing/2014/main" id="{0DA11748-6C96-704B-B03D-C995F662A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8">
            <a:extLst>
              <a:ext uri="{FF2B5EF4-FFF2-40B4-BE49-F238E27FC236}">
                <a16:creationId xmlns:a16="http://schemas.microsoft.com/office/drawing/2014/main" id="{A5703DA5-F4B3-8B4B-A2F7-6007B4D339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E512D7BB-FC17-B84D-BB0B-47086F4BA89F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13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8963" name="Rectangle 1">
            <a:extLst>
              <a:ext uri="{FF2B5EF4-FFF2-40B4-BE49-F238E27FC236}">
                <a16:creationId xmlns:a16="http://schemas.microsoft.com/office/drawing/2014/main" id="{03DB29EC-8CB0-B941-B6E1-F9AC069C7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8964" name="Text Box 2">
            <a:extLst>
              <a:ext uri="{FF2B5EF4-FFF2-40B4-BE49-F238E27FC236}">
                <a16:creationId xmlns:a16="http://schemas.microsoft.com/office/drawing/2014/main" id="{0DA11748-6C96-704B-B03D-C995F662A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03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8">
            <a:extLst>
              <a:ext uri="{FF2B5EF4-FFF2-40B4-BE49-F238E27FC236}">
                <a16:creationId xmlns:a16="http://schemas.microsoft.com/office/drawing/2014/main" id="{A5703DA5-F4B3-8B4B-A2F7-6007B4D339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E512D7BB-FC17-B84D-BB0B-47086F4BA89F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14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8963" name="Rectangle 1">
            <a:extLst>
              <a:ext uri="{FF2B5EF4-FFF2-40B4-BE49-F238E27FC236}">
                <a16:creationId xmlns:a16="http://schemas.microsoft.com/office/drawing/2014/main" id="{03DB29EC-8CB0-B941-B6E1-F9AC069C7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8964" name="Text Box 2">
            <a:extLst>
              <a:ext uri="{FF2B5EF4-FFF2-40B4-BE49-F238E27FC236}">
                <a16:creationId xmlns:a16="http://schemas.microsoft.com/office/drawing/2014/main" id="{0DA11748-6C96-704B-B03D-C995F662A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680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8">
            <a:extLst>
              <a:ext uri="{FF2B5EF4-FFF2-40B4-BE49-F238E27FC236}">
                <a16:creationId xmlns:a16="http://schemas.microsoft.com/office/drawing/2014/main" id="{A5703DA5-F4B3-8B4B-A2F7-6007B4D339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E512D7BB-FC17-B84D-BB0B-47086F4BA89F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15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8963" name="Rectangle 1">
            <a:extLst>
              <a:ext uri="{FF2B5EF4-FFF2-40B4-BE49-F238E27FC236}">
                <a16:creationId xmlns:a16="http://schemas.microsoft.com/office/drawing/2014/main" id="{03DB29EC-8CB0-B941-B6E1-F9AC069C7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8964" name="Text Box 2">
            <a:extLst>
              <a:ext uri="{FF2B5EF4-FFF2-40B4-BE49-F238E27FC236}">
                <a16:creationId xmlns:a16="http://schemas.microsoft.com/office/drawing/2014/main" id="{0DA11748-6C96-704B-B03D-C995F662A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543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8">
            <a:extLst>
              <a:ext uri="{FF2B5EF4-FFF2-40B4-BE49-F238E27FC236}">
                <a16:creationId xmlns:a16="http://schemas.microsoft.com/office/drawing/2014/main" id="{A5703DA5-F4B3-8B4B-A2F7-6007B4D339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215900" indent="-214313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E512D7BB-FC17-B84D-BB0B-47086F4BA89F}" type="slidenum">
              <a:rPr lang="zh-CN" altLang="zh-CN" smtClean="0">
                <a:ea typeface="华文中宋" panose="02010600040101010101" pitchFamily="2" charset="-122"/>
              </a:rPr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16</a:t>
            </a:fld>
            <a:endParaRPr lang="zh-CN" altLang="zh-CN">
              <a:ea typeface="华文中宋" panose="02010600040101010101" pitchFamily="2" charset="-122"/>
            </a:endParaRPr>
          </a:p>
        </p:txBody>
      </p:sp>
      <p:sp>
        <p:nvSpPr>
          <p:cNvPr id="168963" name="Rectangle 1">
            <a:extLst>
              <a:ext uri="{FF2B5EF4-FFF2-40B4-BE49-F238E27FC236}">
                <a16:creationId xmlns:a16="http://schemas.microsoft.com/office/drawing/2014/main" id="{03DB29EC-8CB0-B941-B6E1-F9AC069C7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8964" name="Text Box 2">
            <a:extLst>
              <a:ext uri="{FF2B5EF4-FFF2-40B4-BE49-F238E27FC236}">
                <a16:creationId xmlns:a16="http://schemas.microsoft.com/office/drawing/2014/main" id="{0DA11748-6C96-704B-B03D-C995F662A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139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3F702A-A028-BC4E-B0F8-B6C143FFE40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1275D221-AA37-704B-88B4-1688B5C434D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363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78F0B0B8-5E8C-1A4B-9707-9672C3320BC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4744"/>
            <a:ext cx="8226425" cy="5256584"/>
          </a:xfrm>
        </p:spPr>
        <p:txBody>
          <a:bodyPr/>
          <a:lstStyle>
            <a:lvl1pPr marL="457200" indent="-457200">
              <a:buClr>
                <a:srgbClr val="C00000"/>
              </a:buClr>
              <a:buSzPct val="11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914400" indent="-457200"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2573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7145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171700" indent="-342900">
              <a:buClr>
                <a:srgbClr val="C00000"/>
              </a:buClr>
              <a:buSzPct val="48000"/>
              <a:buFont typeface="Arial" panose="020B0604020202020204" pitchFamily="34" charset="0"/>
              <a:buChar char="•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437EAC-8895-F445-867A-7144C26ED42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E10DB18C-0AE8-8847-BD46-9446A5C5C9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67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无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>
            <a:extLst>
              <a:ext uri="{FF2B5EF4-FFF2-40B4-BE49-F238E27FC236}">
                <a16:creationId xmlns:a16="http://schemas.microsoft.com/office/drawing/2014/main" id="{7DEB32CC-BF48-7B47-BB96-FA76E3E552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5288" y="1041400"/>
            <a:ext cx="8226425" cy="317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8080"/>
              </a:gs>
            </a:gsLst>
            <a:lin ang="108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468313" y="333375"/>
            <a:ext cx="8226425" cy="655861"/>
          </a:xfrm>
        </p:spPr>
        <p:txBody>
          <a:bodyPr/>
          <a:lstStyle>
            <a:lvl1pPr algn="l">
              <a:defRPr sz="3600" baseline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9FBF6A3-D769-CD4C-BB3F-4C20057922B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xfrm>
            <a:off x="7956550" y="6432550"/>
            <a:ext cx="738188" cy="2889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B849348D-D14F-F740-A4DB-98CA86EE3D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A6951BA-9433-BF4C-801D-BB874A8028F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1</a:t>
            </a:r>
            <a:fld id="{50669944-44AD-644B-8B73-1EA606C6991A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132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7">
            <a:extLst>
              <a:ext uri="{FF2B5EF4-FFF2-40B4-BE49-F238E27FC236}">
                <a16:creationId xmlns:a16="http://schemas.microsoft.com/office/drawing/2014/main" id="{3BF0CCB4-96D0-8A41-B250-C63C89E54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813" y="6399213"/>
            <a:ext cx="449262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fld id="{FE3993C0-C3D0-814D-9986-31A19597D45E}" type="slidenum">
              <a:rPr kumimoji="1" lang="zh-CN" altLang="en-US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pPr eaLnBrk="1" hangingPunct="1"/>
              <a:t>‹#›</a:t>
            </a:fld>
            <a:endParaRPr kumimoji="1"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14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DC5D134-4F1B-BB4E-98C7-8366707BB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354BA1-A8BA-8748-81F1-B556AC1FA9F2}" type="datetimeFigureOut">
              <a:rPr lang="en-US"/>
              <a:pPr>
                <a:defRPr/>
              </a:pPr>
              <a:t>4/16/25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C5D60EE-FE89-DB45-BF24-34499DBB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58138E-B800-0A4D-9411-11E173A73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BE047-FB5D-9140-B980-1C7DA4089E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150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DC96FB76-0754-8545-9701-93CE99D77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333375"/>
            <a:ext cx="8226425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单击鼠标编辑标题文字格式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3575A9AF-885D-3C45-B604-22FE85270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6425" cy="4522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单击鼠标编辑大纲文字格式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第三大纲级别</a:t>
            </a:r>
          </a:p>
          <a:p>
            <a:pPr lvl="3"/>
            <a:r>
              <a:rPr lang="zh-CN" altLang="en-GB"/>
              <a:t>第四大纲级别</a:t>
            </a:r>
          </a:p>
          <a:p>
            <a:pPr lvl="4"/>
            <a:r>
              <a:rPr lang="zh-CN" altLang="en-GB"/>
              <a:t>第五大纲级别</a:t>
            </a:r>
          </a:p>
          <a:p>
            <a:pPr lvl="4"/>
            <a:r>
              <a:rPr lang="zh-CN" altLang="en-GB"/>
              <a:t>第六大纲级别</a:t>
            </a:r>
          </a:p>
          <a:p>
            <a:pPr lvl="4"/>
            <a:r>
              <a:rPr lang="zh-CN" altLang="en-GB"/>
              <a:t>第七大纲级别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A27A9DCA-4D2E-0D45-A50A-0DBD4E145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86513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F0B4BEBD-B20D-5E40-AACF-A89F70F33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6386513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E60CA45-30B3-C740-BCD5-4C84B8EE914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386513"/>
            <a:ext cx="2130425" cy="4730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fld id="{708EB795-CF63-7346-8874-2B0D6A8CC835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E64DCC2F-BB53-7642-9328-34F4900D0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620713"/>
            <a:ext cx="8569325" cy="1587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1033" name="Rectangle 8">
            <a:extLst>
              <a:ext uri="{FF2B5EF4-FFF2-40B4-BE49-F238E27FC236}">
                <a16:creationId xmlns:a16="http://schemas.microsoft.com/office/drawing/2014/main" id="{13FCE1B9-B1DD-6947-BC1B-EEFDA5493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3375"/>
            <a:ext cx="2449513" cy="7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zh-CN" altLang="en-US"/>
          </a:p>
        </p:txBody>
      </p:sp>
      <p:pic>
        <p:nvPicPr>
          <p:cNvPr id="1034" name="Picture 12">
            <a:extLst>
              <a:ext uri="{FF2B5EF4-FFF2-40B4-BE49-F238E27FC236}">
                <a16:creationId xmlns:a16="http://schemas.microsoft.com/office/drawing/2014/main" id="{CF0AA430-9121-C443-ADE8-345A355D96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125413"/>
            <a:ext cx="14684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1" r:id="rId2"/>
    <p:sldLayoutId id="2147483982" r:id="rId3"/>
    <p:sldLayoutId id="2147483980" r:id="rId4"/>
    <p:sldLayoutId id="2147483983" r:id="rId5"/>
    <p:sldLayoutId id="2147483984" r:id="rId6"/>
  </p:sldLayoutIdLst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 kern="12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25146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29718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34290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3886200" indent="-228600"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400">
          <a:solidFill>
            <a:srgbClr val="000000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1-Wir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lesburton/Arduino-Temperature-Control-Librar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1">
            <a:extLst>
              <a:ext uri="{FF2B5EF4-FFF2-40B4-BE49-F238E27FC236}">
                <a16:creationId xmlns:a16="http://schemas.microsoft.com/office/drawing/2014/main" id="{EFFE910C-A59A-C444-B79C-438F1C86B4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传感器技术与网络</a:t>
            </a:r>
          </a:p>
        </p:txBody>
      </p:sp>
      <p:sp>
        <p:nvSpPr>
          <p:cNvPr id="11266" name="副标题 2">
            <a:extLst>
              <a:ext uri="{FF2B5EF4-FFF2-40B4-BE49-F238E27FC236}">
                <a16:creationId xmlns:a16="http://schemas.microsoft.com/office/drawing/2014/main" id="{F80A89C3-EE3A-734D-9C8C-2DD25A35B3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endParaRPr lang="en-US" altLang="zh-CN" dirty="0"/>
          </a:p>
          <a:p>
            <a:r>
              <a:rPr lang="en-US" altLang="zh-CN" dirty="0"/>
              <a:t>2025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文本框 1">
            <a:extLst>
              <a:ext uri="{FF2B5EF4-FFF2-40B4-BE49-F238E27FC236}">
                <a16:creationId xmlns:a16="http://schemas.microsoft.com/office/drawing/2014/main" id="{42BC91DC-F134-AC42-BBCD-D03505EFD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276475"/>
            <a:ext cx="69850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lnSpc>
                <a:spcPct val="120000"/>
              </a:lnSpc>
            </a:pPr>
            <a:r>
              <a:rPr kumimoji="1" lang="zh-CN" altLang="en-US" sz="66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超声波测距实验</a:t>
            </a:r>
            <a:endParaRPr lang="zh-CN" altLang="en-US"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77" name="图片 1">
            <a:extLst>
              <a:ext uri="{FF2B5EF4-FFF2-40B4-BE49-F238E27FC236}">
                <a16:creationId xmlns:a16="http://schemas.microsoft.com/office/drawing/2014/main" id="{A1676BE2-C44B-1842-90F1-F6FDFDD1F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371600"/>
            <a:ext cx="7096125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578" name="Text Box 67">
            <a:extLst>
              <a:ext uri="{FF2B5EF4-FFF2-40B4-BE49-F238E27FC236}">
                <a16:creationId xmlns:a16="http://schemas.microsoft.com/office/drawing/2014/main" id="{492340AC-1116-6045-A5E4-3D98E17D9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5413375"/>
            <a:ext cx="6553200" cy="4762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蝙蝠是如何在黑夜中“看到”物体的？</a:t>
            </a:r>
            <a:endParaRPr kumimoji="1" lang="en-US" altLang="zh-CN" sz="2400" b="1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1026">
            <a:extLst>
              <a:ext uri="{FF2B5EF4-FFF2-40B4-BE49-F238E27FC236}">
                <a16:creationId xmlns:a16="http://schemas.microsoft.com/office/drawing/2014/main" id="{C8DD61B2-EDBD-7045-ACCC-893EE55F6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pPr eaLnBrk="1" hangingPunct="1"/>
            <a:r>
              <a:rPr lang="zh-CN" altLang="en-US"/>
              <a:t>什么是超声波</a:t>
            </a:r>
          </a:p>
        </p:txBody>
      </p:sp>
      <p:sp>
        <p:nvSpPr>
          <p:cNvPr id="8194" name="Rectangle 1027">
            <a:extLst>
              <a:ext uri="{FF2B5EF4-FFF2-40B4-BE49-F238E27FC236}">
                <a16:creationId xmlns:a16="http://schemas.microsoft.com/office/drawing/2014/main" id="{F05399B7-4137-244E-B5D1-31A9A53F9C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pPr eaLnBrk="1" hangingPunct="1"/>
            <a:r>
              <a:rPr lang="zh-CN" altLang="en-US"/>
              <a:t>频率</a:t>
            </a:r>
            <a:r>
              <a:rPr lang="zh-CN" altLang="en-US">
                <a:solidFill>
                  <a:srgbClr val="C00000"/>
                </a:solidFill>
              </a:rPr>
              <a:t>高于</a:t>
            </a:r>
            <a:r>
              <a:rPr lang="en-US" altLang="zh-CN">
                <a:solidFill>
                  <a:srgbClr val="C00000"/>
                </a:solidFill>
              </a:rPr>
              <a:t>20KHz</a:t>
            </a:r>
            <a:r>
              <a:rPr lang="zh-CN" altLang="en-US"/>
              <a:t>的声波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zh-CN" altLang="en-US" b="1">
                <a:solidFill>
                  <a:srgbClr val="C00000"/>
                </a:solidFill>
              </a:rPr>
              <a:t>特点</a:t>
            </a:r>
            <a:r>
              <a:rPr lang="zh-CN" altLang="en-US"/>
              <a:t>：</a:t>
            </a:r>
            <a:endParaRPr lang="en-US" altLang="zh-CN"/>
          </a:p>
          <a:p>
            <a:pPr lvl="1" eaLnBrk="1" hangingPunct="1"/>
            <a:r>
              <a:rPr lang="zh-CN" altLang="en-US"/>
              <a:t>方向性好</a:t>
            </a:r>
            <a:endParaRPr lang="en-US" altLang="zh-CN"/>
          </a:p>
          <a:p>
            <a:pPr lvl="1" eaLnBrk="1" hangingPunct="1"/>
            <a:r>
              <a:rPr lang="zh-CN" altLang="en-US"/>
              <a:t>穿透力强</a:t>
            </a:r>
            <a:endParaRPr lang="en-US" altLang="zh-CN"/>
          </a:p>
          <a:p>
            <a:pPr lvl="1" eaLnBrk="1" hangingPunct="1"/>
            <a:r>
              <a:rPr lang="zh-CN" altLang="en-US"/>
              <a:t>易于产生和接收</a:t>
            </a:r>
            <a:endParaRPr lang="en-US" altLang="zh-CN"/>
          </a:p>
          <a:p>
            <a:pPr lvl="1" eaLnBrk="1" hangingPunct="1"/>
            <a:r>
              <a:rPr lang="zh-CN" altLang="en-US"/>
              <a:t>探头体积小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标题 1">
            <a:extLst>
              <a:ext uri="{FF2B5EF4-FFF2-40B4-BE49-F238E27FC236}">
                <a16:creationId xmlns:a16="http://schemas.microsoft.com/office/drawing/2014/main" id="{C5B0D8E5-0173-FB40-8234-7BF87C347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pPr eaLnBrk="1" hangingPunct="1"/>
            <a:r>
              <a:rPr lang="zh-CN" altLang="en-US"/>
              <a:t>超声波的产生与接收</a:t>
            </a:r>
          </a:p>
        </p:txBody>
      </p:sp>
      <p:sp>
        <p:nvSpPr>
          <p:cNvPr id="154626" name="内容占位符 2">
            <a:extLst>
              <a:ext uri="{FF2B5EF4-FFF2-40B4-BE49-F238E27FC236}">
                <a16:creationId xmlns:a16="http://schemas.microsoft.com/office/drawing/2014/main" id="{602EBBDF-5FFB-9341-AD0D-A33A2357DB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6425" cy="5256212"/>
          </a:xfrm>
        </p:spPr>
        <p:txBody>
          <a:bodyPr/>
          <a:lstStyle/>
          <a:p>
            <a:pPr eaLnBrk="1" hangingPunct="1"/>
            <a:r>
              <a:rPr lang="zh-CN" altLang="en-US"/>
              <a:t>机械能与电能的相互转换</a:t>
            </a:r>
          </a:p>
        </p:txBody>
      </p:sp>
      <p:pic>
        <p:nvPicPr>
          <p:cNvPr id="154627" name="Picture 2">
            <a:extLst>
              <a:ext uri="{FF2B5EF4-FFF2-40B4-BE49-F238E27FC236}">
                <a16:creationId xmlns:a16="http://schemas.microsoft.com/office/drawing/2014/main" id="{C11890DA-8137-004D-94B1-26154AC05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1908175"/>
            <a:ext cx="8688388" cy="270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4628" name="组合 1">
            <a:extLst>
              <a:ext uri="{FF2B5EF4-FFF2-40B4-BE49-F238E27FC236}">
                <a16:creationId xmlns:a16="http://schemas.microsoft.com/office/drawing/2014/main" id="{D100EF68-02BC-6A45-A698-202B1430C7F2}"/>
              </a:ext>
            </a:extLst>
          </p:cNvPr>
          <p:cNvGrpSpPr>
            <a:grpSpLocks/>
          </p:cNvGrpSpPr>
          <p:nvPr/>
        </p:nvGrpSpPr>
        <p:grpSpPr bwMode="auto">
          <a:xfrm>
            <a:off x="358775" y="5373688"/>
            <a:ext cx="8335963" cy="1268412"/>
            <a:chOff x="358775" y="5373216"/>
            <a:chExt cx="8748713" cy="1268884"/>
          </a:xfrm>
        </p:grpSpPr>
        <p:sp>
          <p:nvSpPr>
            <p:cNvPr id="10" name="内容占位符 2">
              <a:extLst>
                <a:ext uri="{FF2B5EF4-FFF2-40B4-BE49-F238E27FC236}">
                  <a16:creationId xmlns:a16="http://schemas.microsoft.com/office/drawing/2014/main" id="{9FA93802-C6D3-2B4F-9F3D-7398E4AF800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58775" y="5373216"/>
              <a:ext cx="8748713" cy="12688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1432" tIns="45716" rIns="91432" bIns="45716"/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1363" indent="-284163"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1413" indent="-227013"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598613" indent="-227013"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5813" indent="-227013"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3013" indent="-227013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0213" indent="-227013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7413" indent="-227013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4613" indent="-227013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C00000"/>
                </a:buClr>
                <a:buSzPct val="60000"/>
                <a:buFont typeface="Wingdings" pitchFamily="2" charset="2"/>
                <a:buNone/>
                <a:defRPr/>
              </a:pPr>
              <a:r>
                <a:rPr lang="zh-CN" altLang="en-US" b="1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" panose="02010609060101010101" pitchFamily="49" charset="-122"/>
                </a:rPr>
                <a:t>逆压电效应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sym typeface="Wingdings" pitchFamily="2" charset="2"/>
                </a:rPr>
                <a:t>         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产生超声波</a:t>
              </a: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eaLnBrk="1" hangingPunct="1">
                <a:spcBef>
                  <a:spcPct val="20000"/>
                </a:spcBef>
                <a:buClr>
                  <a:srgbClr val="C00000"/>
                </a:buClr>
                <a:buSzPct val="60000"/>
                <a:buFont typeface="Wingdings" pitchFamily="2" charset="2"/>
                <a:buNone/>
                <a:defRPr/>
              </a:pP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   </a:t>
              </a:r>
              <a:r>
                <a:rPr lang="zh-CN" altLang="en-US" b="1">
                  <a:solidFill>
                    <a:srgbClr val="C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楷体" panose="02010609060101010101" pitchFamily="49" charset="-122"/>
                </a:rPr>
                <a:t>压电效应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 </a:t>
              </a:r>
              <a:r>
                <a:rPr lang="en-US" altLang="zh-CN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sym typeface="Wingdings" pitchFamily="2" charset="2"/>
                </a:rPr>
                <a:t>         </a:t>
              </a:r>
              <a:r>
                <a:rPr lang="zh-CN" altLang="en-US">
                  <a:solidFill>
                    <a:schemeClr val="tx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接收超声波</a:t>
              </a:r>
            </a:p>
            <a:p>
              <a:pPr eaLnBrk="1" hangingPunct="1">
                <a:spcBef>
                  <a:spcPct val="20000"/>
                </a:spcBef>
                <a:buClr>
                  <a:srgbClr val="C00000"/>
                </a:buClr>
                <a:buSzPct val="60000"/>
                <a:buFont typeface="Wingdings" pitchFamily="2" charset="2"/>
                <a:buNone/>
                <a:defRPr/>
              </a:pPr>
              <a:endParaRPr lang="en-US" altLang="zh-CN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eaLnBrk="1" hangingPunct="1">
                <a:spcBef>
                  <a:spcPct val="20000"/>
                </a:spcBef>
                <a:buClr>
                  <a:srgbClr val="C00000"/>
                </a:buClr>
                <a:buSzPct val="60000"/>
                <a:buFont typeface="Wingdings" pitchFamily="2" charset="2"/>
                <a:buChar char="l"/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  <a:p>
              <a:pPr eaLnBrk="1" hangingPunct="1">
                <a:spcBef>
                  <a:spcPct val="20000"/>
                </a:spcBef>
                <a:buClr>
                  <a:srgbClr val="C00000"/>
                </a:buClr>
                <a:buSzPct val="60000"/>
                <a:buFont typeface="Wingdings" pitchFamily="2" charset="2"/>
                <a:buChar char="l"/>
                <a:defRPr/>
              </a:pPr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154630" name="右箭头 4">
              <a:extLst>
                <a:ext uri="{FF2B5EF4-FFF2-40B4-BE49-F238E27FC236}">
                  <a16:creationId xmlns:a16="http://schemas.microsoft.com/office/drawing/2014/main" id="{2DBF54C6-431B-394A-99A7-FA839D377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795" y="5498877"/>
              <a:ext cx="635000" cy="306387"/>
            </a:xfrm>
            <a:prstGeom prst="rightArrow">
              <a:avLst>
                <a:gd name="adj1" fmla="val 50000"/>
                <a:gd name="adj2" fmla="val 50038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schemeClr val="tx1"/>
                </a:solidFill>
                <a:latin typeface="Tahoma" panose="020B060403050404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154631" name="右箭头 5">
              <a:extLst>
                <a:ext uri="{FF2B5EF4-FFF2-40B4-BE49-F238E27FC236}">
                  <a16:creationId xmlns:a16="http://schemas.microsoft.com/office/drawing/2014/main" id="{5D2A6132-DE47-E044-BBD3-F09C7BE95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867" y="6074941"/>
              <a:ext cx="635000" cy="306387"/>
            </a:xfrm>
            <a:prstGeom prst="rightArrow">
              <a:avLst>
                <a:gd name="adj1" fmla="val 50000"/>
                <a:gd name="adj2" fmla="val 50038"/>
              </a:avLst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ts val="8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spcBef>
                  <a:spcPts val="7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spcBef>
                  <a:spcPts val="6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spcBef>
                  <a:spcPts val="50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449263" eaLnBrk="0" fontAlgn="base" hangingPunct="0">
                <a:spcBef>
                  <a:spcPts val="5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zh-CN" altLang="en-US" sz="2400">
                <a:solidFill>
                  <a:schemeClr val="tx1"/>
                </a:solidFill>
                <a:latin typeface="Tahoma" panose="020B0604030504040204" pitchFamily="34" charset="0"/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标题 1">
            <a:extLst>
              <a:ext uri="{FF2B5EF4-FFF2-40B4-BE49-F238E27FC236}">
                <a16:creationId xmlns:a16="http://schemas.microsoft.com/office/drawing/2014/main" id="{C12E95C4-27AE-5D4B-9C22-9E852AE6B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pPr eaLnBrk="1" hangingPunct="1"/>
            <a:r>
              <a:rPr lang="zh-CN" altLang="en-US"/>
              <a:t>超声波的应用</a:t>
            </a:r>
          </a:p>
        </p:txBody>
      </p:sp>
      <p:pic>
        <p:nvPicPr>
          <p:cNvPr id="155650" name="图片 1">
            <a:extLst>
              <a:ext uri="{FF2B5EF4-FFF2-40B4-BE49-F238E27FC236}">
                <a16:creationId xmlns:a16="http://schemas.microsoft.com/office/drawing/2014/main" id="{485B24A4-92D2-3A4A-8255-5860FFC73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287838"/>
            <a:ext cx="2686050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1" name="图片 2">
            <a:extLst>
              <a:ext uri="{FF2B5EF4-FFF2-40B4-BE49-F238E27FC236}">
                <a16:creationId xmlns:a16="http://schemas.microsoft.com/office/drawing/2014/main" id="{0A8A7405-2DA3-6C48-BDE9-3C9168ABE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7"/>
          <a:stretch>
            <a:fillRect/>
          </a:stretch>
        </p:blipFill>
        <p:spPr bwMode="auto">
          <a:xfrm>
            <a:off x="539750" y="2232025"/>
            <a:ext cx="2390775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2" name="图片 3">
            <a:extLst>
              <a:ext uri="{FF2B5EF4-FFF2-40B4-BE49-F238E27FC236}">
                <a16:creationId xmlns:a16="http://schemas.microsoft.com/office/drawing/2014/main" id="{56D4AC6C-C459-864D-ABFB-71E307D2B3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82" b="6192"/>
          <a:stretch>
            <a:fillRect/>
          </a:stretch>
        </p:blipFill>
        <p:spPr bwMode="auto">
          <a:xfrm>
            <a:off x="7164388" y="3573463"/>
            <a:ext cx="1812925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5653" name="图片 4">
            <a:extLst>
              <a:ext uri="{FF2B5EF4-FFF2-40B4-BE49-F238E27FC236}">
                <a16:creationId xmlns:a16="http://schemas.microsoft.com/office/drawing/2014/main" id="{1726FB99-A8AE-8F49-80D6-CF646161CF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538" y="1885950"/>
            <a:ext cx="26987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5654" name="Text Box 67">
            <a:extLst>
              <a:ext uri="{FF2B5EF4-FFF2-40B4-BE49-F238E27FC236}">
                <a16:creationId xmlns:a16="http://schemas.microsoft.com/office/drawing/2014/main" id="{6E0B8F43-3AD6-2442-BD65-2C7CFC878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6308725"/>
            <a:ext cx="1511300" cy="4778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超声清洗</a:t>
            </a:r>
            <a:endParaRPr kumimoji="1" lang="en-US" altLang="zh-CN" sz="2400" b="1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5655" name="Text Box 67">
            <a:extLst>
              <a:ext uri="{FF2B5EF4-FFF2-40B4-BE49-F238E27FC236}">
                <a16:creationId xmlns:a16="http://schemas.microsoft.com/office/drawing/2014/main" id="{75F4014B-C2E3-5A4F-B532-1E3C8274F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724400"/>
            <a:ext cx="1511300" cy="4778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超声雾化</a:t>
            </a:r>
            <a:endParaRPr kumimoji="1" lang="en-US" altLang="zh-CN" sz="2400" b="1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5656" name="Text Box 67">
            <a:extLst>
              <a:ext uri="{FF2B5EF4-FFF2-40B4-BE49-F238E27FC236}">
                <a16:creationId xmlns:a16="http://schemas.microsoft.com/office/drawing/2014/main" id="{B44144F4-3BD8-1F45-89A6-EC0BDF45B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757613"/>
            <a:ext cx="1511300" cy="5349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超声加工</a:t>
            </a:r>
            <a:endParaRPr kumimoji="1" lang="en-US" altLang="zh-CN" sz="2400" b="1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5657" name="Text Box 67">
            <a:extLst>
              <a:ext uri="{FF2B5EF4-FFF2-40B4-BE49-F238E27FC236}">
                <a16:creationId xmlns:a16="http://schemas.microsoft.com/office/drawing/2014/main" id="{2C17A9B3-2B8A-E64F-96D5-5C1AEF155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6121400"/>
            <a:ext cx="1512888" cy="4762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超声焊接</a:t>
            </a:r>
            <a:endParaRPr kumimoji="1" lang="en-US" altLang="zh-CN" sz="2400" b="1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">
            <a:extLst>
              <a:ext uri="{FF2B5EF4-FFF2-40B4-BE49-F238E27FC236}">
                <a16:creationId xmlns:a16="http://schemas.microsoft.com/office/drawing/2014/main" id="{309A0E39-0E72-0842-B52B-2BEAE6EA0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超声波传感器</a:t>
            </a:r>
          </a:p>
        </p:txBody>
      </p:sp>
      <p:pic>
        <p:nvPicPr>
          <p:cNvPr id="156675" name="Picture 2">
            <a:extLst>
              <a:ext uri="{FF2B5EF4-FFF2-40B4-BE49-F238E27FC236}">
                <a16:creationId xmlns:a16="http://schemas.microsoft.com/office/drawing/2014/main" id="{CCF7A002-80AE-B047-908D-616543A18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127125"/>
            <a:ext cx="3959225" cy="264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6676" name="Picture 3">
            <a:extLst>
              <a:ext uri="{FF2B5EF4-FFF2-40B4-BE49-F238E27FC236}">
                <a16:creationId xmlns:a16="http://schemas.microsoft.com/office/drawing/2014/main" id="{695978A3-815F-9447-8B4D-B3F6B54AF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933825"/>
            <a:ext cx="7327900" cy="278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2" name="内容占位符 3">
            <a:extLst>
              <a:ext uri="{FF2B5EF4-FFF2-40B4-BE49-F238E27FC236}">
                <a16:creationId xmlns:a16="http://schemas.microsoft.com/office/drawing/2014/main" id="{05782F6A-3A5C-D041-BED8-2A8BDE36B2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9375" y="2863850"/>
            <a:ext cx="6515100" cy="666750"/>
          </a:xfrm>
        </p:spPr>
      </p:pic>
      <p:sp>
        <p:nvSpPr>
          <p:cNvPr id="158723" name="标题 1">
            <a:extLst>
              <a:ext uri="{FF2B5EF4-FFF2-40B4-BE49-F238E27FC236}">
                <a16:creationId xmlns:a16="http://schemas.microsoft.com/office/drawing/2014/main" id="{CA216221-1B42-BE4A-A20B-52DB31D29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超声波传感器时序</a:t>
            </a:r>
          </a:p>
        </p:txBody>
      </p:sp>
      <p:pic>
        <p:nvPicPr>
          <p:cNvPr id="158724" name="图片 4">
            <a:extLst>
              <a:ext uri="{FF2B5EF4-FFF2-40B4-BE49-F238E27FC236}">
                <a16:creationId xmlns:a16="http://schemas.microsoft.com/office/drawing/2014/main" id="{28AF9335-E4CA-324F-9F1C-43C43A8A7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4221163"/>
            <a:ext cx="6515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8725" name="图片 6">
            <a:extLst>
              <a:ext uri="{FF2B5EF4-FFF2-40B4-BE49-F238E27FC236}">
                <a16:creationId xmlns:a16="http://schemas.microsoft.com/office/drawing/2014/main" id="{763D6B00-7629-1E42-A983-E5F3A5ABA6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850" y="1589088"/>
            <a:ext cx="652462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26" name="矩形 10">
            <a:extLst>
              <a:ext uri="{FF2B5EF4-FFF2-40B4-BE49-F238E27FC236}">
                <a16:creationId xmlns:a16="http://schemas.microsoft.com/office/drawing/2014/main" id="{4ED86013-BA04-464D-A681-5AA48839C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400" y="5516563"/>
            <a:ext cx="5102225" cy="40005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如何测量时差？</a:t>
            </a:r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pulseIn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( 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，单位为 微妙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标题 1">
            <a:extLst>
              <a:ext uri="{FF2B5EF4-FFF2-40B4-BE49-F238E27FC236}">
                <a16:creationId xmlns:a16="http://schemas.microsoft.com/office/drawing/2014/main" id="{222D3DA1-2DBB-5049-9E81-93BDE2C156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6425" cy="655638"/>
          </a:xfrm>
        </p:spPr>
        <p:txBody>
          <a:bodyPr/>
          <a:lstStyle/>
          <a:p>
            <a:r>
              <a:rPr lang="zh-CN" altLang="en-US"/>
              <a:t>超声波传感器</a:t>
            </a:r>
          </a:p>
        </p:txBody>
      </p:sp>
      <p:pic>
        <p:nvPicPr>
          <p:cNvPr id="160771" name="Picture 1">
            <a:extLst>
              <a:ext uri="{FF2B5EF4-FFF2-40B4-BE49-F238E27FC236}">
                <a16:creationId xmlns:a16="http://schemas.microsoft.com/office/drawing/2014/main" id="{EFE853C4-CE44-154B-A37E-DCC104B08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1196975"/>
            <a:ext cx="7567612" cy="564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1" name="Picture 1">
            <a:extLst>
              <a:ext uri="{FF2B5EF4-FFF2-40B4-BE49-F238E27FC236}">
                <a16:creationId xmlns:a16="http://schemas.microsoft.com/office/drawing/2014/main" id="{B51FD5C0-938E-FE42-AB65-6DD8051B4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060575"/>
            <a:ext cx="6684963" cy="395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3842" name="Rectangle 2">
            <a:extLst>
              <a:ext uri="{FF2B5EF4-FFF2-40B4-BE49-F238E27FC236}">
                <a16:creationId xmlns:a16="http://schemas.microsoft.com/office/drawing/2014/main" id="{75FD89FA-9BFD-A141-84D5-71B99ADCC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23950"/>
            <a:ext cx="626427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</a:pPr>
            <a:r>
              <a:rPr lang="en-US" altLang="zh-CN" b="1">
                <a:solidFill>
                  <a:srgbClr val="C00000"/>
                </a:solidFill>
              </a:rPr>
              <a:t>LCD</a:t>
            </a:r>
            <a:r>
              <a:rPr lang="zh-CN" altLang="zh-CN" b="1">
                <a:solidFill>
                  <a:srgbClr val="C00000"/>
                </a:solidFill>
              </a:rPr>
              <a:t>显示屏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1">
            <a:extLst>
              <a:ext uri="{FF2B5EF4-FFF2-40B4-BE49-F238E27FC236}">
                <a16:creationId xmlns:a16="http://schemas.microsoft.com/office/drawing/2014/main" id="{B4209267-1001-6D4A-98D5-059CF8B9C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692150"/>
            <a:ext cx="76327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</a:pPr>
            <a:r>
              <a:rPr lang="zh-CN" altLang="zh-CN" b="1">
                <a:solidFill>
                  <a:srgbClr val="C00000"/>
                </a:solidFill>
              </a:rPr>
              <a:t>带有</a:t>
            </a:r>
            <a:r>
              <a:rPr lang="en-US" altLang="zh-CN" b="1">
                <a:solidFill>
                  <a:srgbClr val="C00000"/>
                </a:solidFill>
              </a:rPr>
              <a:t>I2C</a:t>
            </a:r>
            <a:r>
              <a:rPr lang="zh-CN" altLang="zh-CN" b="1">
                <a:solidFill>
                  <a:srgbClr val="C00000"/>
                </a:solidFill>
              </a:rPr>
              <a:t>接口的</a:t>
            </a:r>
            <a:r>
              <a:rPr lang="en-US" altLang="zh-CN" b="1">
                <a:solidFill>
                  <a:srgbClr val="C00000"/>
                </a:solidFill>
              </a:rPr>
              <a:t>LCD</a:t>
            </a:r>
            <a:r>
              <a:rPr lang="zh-CN" altLang="zh-CN" b="1">
                <a:solidFill>
                  <a:srgbClr val="C00000"/>
                </a:solidFill>
              </a:rPr>
              <a:t>显示屏</a:t>
            </a:r>
            <a:r>
              <a:rPr lang="zh-CN" altLang="en-US" b="1">
                <a:solidFill>
                  <a:srgbClr val="C00000"/>
                </a:solidFill>
              </a:rPr>
              <a:t>连线方法</a:t>
            </a:r>
            <a:endParaRPr lang="zh-CN" altLang="zh-CN" b="1">
              <a:solidFill>
                <a:srgbClr val="C00000"/>
              </a:solidFill>
            </a:endParaRPr>
          </a:p>
        </p:txBody>
      </p:sp>
      <p:pic>
        <p:nvPicPr>
          <p:cNvPr id="165890" name="Picture 2">
            <a:extLst>
              <a:ext uri="{FF2B5EF4-FFF2-40B4-BE49-F238E27FC236}">
                <a16:creationId xmlns:a16="http://schemas.microsoft.com/office/drawing/2014/main" id="{052079AE-4F64-1A40-94DF-5B5CDE053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885"/>
          <a:stretch>
            <a:fillRect/>
          </a:stretch>
        </p:blipFill>
        <p:spPr bwMode="auto">
          <a:xfrm>
            <a:off x="684213" y="1341438"/>
            <a:ext cx="71278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4288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5891" name="Text Box 3">
            <a:extLst>
              <a:ext uri="{FF2B5EF4-FFF2-40B4-BE49-F238E27FC236}">
                <a16:creationId xmlns:a16="http://schemas.microsoft.com/office/drawing/2014/main" id="{45BDD6F8-613E-8044-B8BC-7D3634671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4149725"/>
            <a:ext cx="4537075" cy="1312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GND –  GND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VCC – 5V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SDA – </a:t>
            </a:r>
            <a:r>
              <a:rPr lang="zh-CN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接</a:t>
            </a:r>
            <a:r>
              <a:rPr lang="en-US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Arduino 2560 </a:t>
            </a:r>
            <a:r>
              <a:rPr lang="zh-CN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号引脚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SCL – </a:t>
            </a:r>
            <a:r>
              <a:rPr lang="zh-CN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接</a:t>
            </a:r>
            <a:r>
              <a:rPr lang="en-US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Arduino 2560 </a:t>
            </a:r>
            <a:r>
              <a:rPr lang="zh-CN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zh-CN" sz="200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号引脚</a:t>
            </a:r>
          </a:p>
        </p:txBody>
      </p:sp>
      <p:cxnSp>
        <p:nvCxnSpPr>
          <p:cNvPr id="165892" name="AutoShape 4">
            <a:extLst>
              <a:ext uri="{FF2B5EF4-FFF2-40B4-BE49-F238E27FC236}">
                <a16:creationId xmlns:a16="http://schemas.microsoft.com/office/drawing/2014/main" id="{3CACB93F-BCFB-1D42-B502-04912858AA1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688013" y="2851150"/>
            <a:ext cx="755650" cy="1800225"/>
          </a:xfrm>
          <a:prstGeom prst="straightConnector1">
            <a:avLst/>
          </a:prstGeom>
          <a:noFill/>
          <a:ln w="76320" cap="sq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1">
            <a:extLst>
              <a:ext uri="{FF2B5EF4-FFF2-40B4-BE49-F238E27FC236}">
                <a16:creationId xmlns:a16="http://schemas.microsoft.com/office/drawing/2014/main" id="{F64AC33A-9268-3D41-8253-BEC843524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064500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下载 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BB </a:t>
            </a: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上驱动目录下的驱动文件：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LiquidCrystal_I2C.zip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并解压缩到</a:t>
            </a:r>
            <a:r>
              <a:rPr lang="en-US" altLang="zh-CN" sz="28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arduino</a:t>
            </a: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libraries</a:t>
            </a: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例如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\arduino-1.8.1\libraries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解压后的目录里面有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Example</a:t>
            </a: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目录，参考其中例程的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LCD</a:t>
            </a: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数码屏的使用方法</a:t>
            </a:r>
          </a:p>
        </p:txBody>
      </p:sp>
      <p:sp>
        <p:nvSpPr>
          <p:cNvPr id="167938" name="Rectangle 1">
            <a:extLst>
              <a:ext uri="{FF2B5EF4-FFF2-40B4-BE49-F238E27FC236}">
                <a16:creationId xmlns:a16="http://schemas.microsoft.com/office/drawing/2014/main" id="{23F84600-17E3-E147-A022-669B2DCB4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altLang="zh-CN" b="1">
                <a:solidFill>
                  <a:srgbClr val="C00000"/>
                </a:solidFill>
              </a:rPr>
              <a:t>LCD</a:t>
            </a:r>
            <a:r>
              <a:rPr lang="zh-CN" altLang="en-US" b="1">
                <a:solidFill>
                  <a:srgbClr val="C00000"/>
                </a:solidFill>
              </a:rPr>
              <a:t>的驱动与安装</a:t>
            </a:r>
            <a:endParaRPr lang="zh-CN" altLang="zh-CN" b="1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1">
            <a:extLst>
              <a:ext uri="{FF2B5EF4-FFF2-40B4-BE49-F238E27FC236}">
                <a16:creationId xmlns:a16="http://schemas.microsoft.com/office/drawing/2014/main" id="{F64AC33A-9268-3D41-8253-BEC843524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064500" cy="181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下载 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BB </a:t>
            </a: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上驱动目录下的驱动文件：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并解压缩到</a:t>
            </a:r>
            <a:r>
              <a:rPr lang="en-US" altLang="zh-CN" sz="28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arduino</a:t>
            </a: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libraries</a:t>
            </a: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例如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\arduino-1.8.1\libraries</a:t>
            </a:r>
          </a:p>
        </p:txBody>
      </p:sp>
      <p:sp>
        <p:nvSpPr>
          <p:cNvPr id="167938" name="Rectangle 1">
            <a:extLst>
              <a:ext uri="{FF2B5EF4-FFF2-40B4-BE49-F238E27FC236}">
                <a16:creationId xmlns:a16="http://schemas.microsoft.com/office/drawing/2014/main" id="{23F84600-17E3-E147-A022-669B2DCB4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en-US" altLang="zh-CN" b="1">
                <a:solidFill>
                  <a:srgbClr val="C00000"/>
                </a:solidFill>
              </a:rPr>
              <a:t>LCD</a:t>
            </a:r>
            <a:r>
              <a:rPr lang="zh-CN" altLang="en-US" b="1">
                <a:solidFill>
                  <a:srgbClr val="C00000"/>
                </a:solidFill>
              </a:rPr>
              <a:t>的驱动与安装</a:t>
            </a:r>
            <a:endParaRPr lang="zh-CN" altLang="zh-CN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7306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1">
            <a:extLst>
              <a:ext uri="{FF2B5EF4-FFF2-40B4-BE49-F238E27FC236}">
                <a16:creationId xmlns:a16="http://schemas.microsoft.com/office/drawing/2014/main" id="{F64AC33A-9268-3D41-8253-BEC843524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064500" cy="1305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DS18B20 1-Wire Temperature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The DS18B20 is a </a:t>
            </a:r>
            <a:r>
              <a:rPr lang="en-US" sz="2400" dirty="0">
                <a:latin typeface="Times New Roman" panose="02020603050405020304" pitchFamily="18" charset="0"/>
                <a:ea typeface="华文中宋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1-Wire®</a:t>
            </a:r>
            <a:r>
              <a:rPr 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 temperature sensor manufactured by Dallas Semiconductor</a:t>
            </a:r>
          </a:p>
        </p:txBody>
      </p:sp>
      <p:sp>
        <p:nvSpPr>
          <p:cNvPr id="167938" name="Rectangle 1">
            <a:extLst>
              <a:ext uri="{FF2B5EF4-FFF2-40B4-BE49-F238E27FC236}">
                <a16:creationId xmlns:a16="http://schemas.microsoft.com/office/drawing/2014/main" id="{23F84600-17E3-E147-A022-669B2DCB4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温度传感器</a:t>
            </a:r>
            <a:endParaRPr lang="zh-CN" altLang="zh-CN" b="1" dirty="0">
              <a:solidFill>
                <a:srgbClr val="C00000"/>
              </a:solidFill>
            </a:endParaRPr>
          </a:p>
        </p:txBody>
      </p:sp>
      <p:pic>
        <p:nvPicPr>
          <p:cNvPr id="211981" name="Picture 13" descr="Types Of DS18B20 Temperature Sensor">
            <a:extLst>
              <a:ext uri="{FF2B5EF4-FFF2-40B4-BE49-F238E27FC236}">
                <a16:creationId xmlns:a16="http://schemas.microsoft.com/office/drawing/2014/main" id="{B6E990F9-2786-E544-8C30-C583FFA6F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7" y="2780927"/>
            <a:ext cx="4830005" cy="352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7451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1">
            <a:extLst>
              <a:ext uri="{FF2B5EF4-FFF2-40B4-BE49-F238E27FC236}">
                <a16:creationId xmlns:a16="http://schemas.microsoft.com/office/drawing/2014/main" id="{F64AC33A-9268-3D41-8253-BEC843524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064500" cy="2515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The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</a:rPr>
              <a:t>1-Wire protocol </a:t>
            </a:r>
            <a:r>
              <a:rPr 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is a bit complicated, and it takes a lot of code to make it work.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DallasTemperature.h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</a:rPr>
              <a:t> </a:t>
            </a:r>
            <a:r>
              <a:rPr 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was written to abstract away this unnecessary complexity, allowing us to issue simple commands to obtain temperature readings from the sensor.</a:t>
            </a: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67938" name="Rectangle 1">
            <a:extLst>
              <a:ext uri="{FF2B5EF4-FFF2-40B4-BE49-F238E27FC236}">
                <a16:creationId xmlns:a16="http://schemas.microsoft.com/office/drawing/2014/main" id="{23F84600-17E3-E147-A022-669B2DCB4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温度传感器</a:t>
            </a:r>
            <a:endParaRPr lang="zh-CN" altLang="zh-CN" b="1" dirty="0">
              <a:solidFill>
                <a:srgbClr val="C00000"/>
              </a:solidFill>
            </a:endParaRPr>
          </a:p>
        </p:txBody>
      </p:sp>
      <p:pic>
        <p:nvPicPr>
          <p:cNvPr id="211979" name="Picture 11" descr="Wiring DS18B20 Temperature Sensor to Arduino">
            <a:extLst>
              <a:ext uri="{FF2B5EF4-FFF2-40B4-BE49-F238E27FC236}">
                <a16:creationId xmlns:a16="http://schemas.microsoft.com/office/drawing/2014/main" id="{FC6F6A15-D18D-F64F-AEA9-6EC10D290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48" y="3212976"/>
            <a:ext cx="5651652" cy="328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AC84F43-C053-0140-B635-EA946CE40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449" y="3735715"/>
            <a:ext cx="2448272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实验器材中已经集成了</a:t>
            </a:r>
            <a:r>
              <a:rPr lang="zh-CN" altLang="en-CN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上拉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电阻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50740CB-9DB3-C247-87D4-56A08D34C33A}"/>
              </a:ext>
            </a:extLst>
          </p:cNvPr>
          <p:cNvCxnSpPr/>
          <p:nvPr/>
        </p:nvCxnSpPr>
        <p:spPr bwMode="auto">
          <a:xfrm flipH="1">
            <a:off x="5412567" y="4221088"/>
            <a:ext cx="936104" cy="944527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C00000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779624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1">
            <a:extLst>
              <a:ext uri="{FF2B5EF4-FFF2-40B4-BE49-F238E27FC236}">
                <a16:creationId xmlns:a16="http://schemas.microsoft.com/office/drawing/2014/main" id="{F64AC33A-9268-3D41-8253-BEC843524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064500" cy="6003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使用超声波传感器（第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24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课）测量距离。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（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）将超声波测到的距离显示在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LCD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1602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屏上。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（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）当距离小于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0.2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米时启动蜂鸣器（第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10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课）报警。</a:t>
            </a: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</a:pP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（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）设</a:t>
            </a:r>
            <a:r>
              <a:rPr lang="en-US" altLang="zh-CN" sz="28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t</a:t>
            </a:r>
            <a:r>
              <a:rPr lang="en-US" sz="28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°C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时，空气中声速的理论值：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endParaRPr lang="en-US" altLang="zh-CN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请使用温度传感器（第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26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课）测温，并用上式修正（</a:t>
            </a:r>
            <a:r>
              <a:rPr lang="en-US" altLang="zh-CN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）中测到的距离值，同时显示出温度。</a:t>
            </a:r>
          </a:p>
          <a:p>
            <a:pPr>
              <a:buFont typeface="Arial" panose="020B0604020202020204" pitchFamily="34" charset="0"/>
              <a:buChar char="•"/>
            </a:pP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167938" name="Rectangle 1">
            <a:extLst>
              <a:ext uri="{FF2B5EF4-FFF2-40B4-BE49-F238E27FC236}">
                <a16:creationId xmlns:a16="http://schemas.microsoft.com/office/drawing/2014/main" id="{23F84600-17E3-E147-A022-669B2DCB4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49275"/>
            <a:ext cx="693420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CN" b="1" dirty="0">
                <a:solidFill>
                  <a:srgbClr val="C00000"/>
                </a:solidFill>
              </a:rPr>
              <a:t>超</a:t>
            </a:r>
            <a:r>
              <a:rPr lang="zh-CN" altLang="en-US" b="1" dirty="0">
                <a:solidFill>
                  <a:srgbClr val="C00000"/>
                </a:solidFill>
              </a:rPr>
              <a:t>声波实验内容</a:t>
            </a:r>
            <a:endParaRPr lang="zh-CN" altLang="zh-CN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A9B947F3-2015-FC49-9BAC-EE256275A7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720" y="4221088"/>
          <a:ext cx="4608512" cy="1220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26" name="公式" r:id="rId4" imgW="39497000" imgH="10528300" progId="Equation.3">
                  <p:embed/>
                </p:oleObj>
              </mc:Choice>
              <mc:Fallback>
                <p:oleObj name="公式" r:id="rId4" imgW="39497000" imgH="10528300" progId="Equation.3">
                  <p:embed/>
                  <p:pic>
                    <p:nvPicPr>
                      <p:cNvPr id="4" name="Object 14">
                        <a:extLst>
                          <a:ext uri="{FF2B5EF4-FFF2-40B4-BE49-F238E27FC236}">
                            <a16:creationId xmlns:a16="http://schemas.microsoft.com/office/drawing/2014/main" id="{A9B947F3-2015-FC49-9BAC-EE256275A7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4221088"/>
                        <a:ext cx="4608512" cy="1220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50439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dirty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spDef>
    <a:lnDef>
      <a:spPr bwMode="auto">
        <a:solidFill>
          <a:srgbClr val="00B8FF"/>
        </a:solidFill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arrow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</a:spPr>
      <a:bodyPr wrap="square" rtlCol="0">
        <a:spAutoFit/>
      </a:bodyPr>
      <a:lstStyle>
        <a:defPPr eaLnBrk="1" hangingPunct="1">
          <a:lnSpc>
            <a:spcPct val="120000"/>
          </a:lnSpc>
          <a:spcBef>
            <a:spcPct val="0"/>
          </a:spcBef>
          <a:buClrTx/>
          <a:buSzTx/>
          <a:buFontTx/>
          <a:buNone/>
          <a:defRPr kumimoji="1" sz="2800" b="1" dirty="0" smtClean="0">
            <a:solidFill>
              <a:srgbClr val="C00000"/>
            </a:solidFill>
            <a:latin typeface="Times New Roman" panose="02020603050405020304" pitchFamily="18" charset="0"/>
            <a:ea typeface="楷体" panose="02010609060101010101" pitchFamily="49" charset="-122"/>
          </a:defRPr>
        </a:defPPr>
      </a:lstStyle>
    </a:tx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26161</TotalTime>
  <Words>399</Words>
  <Application>Microsoft Macintosh PowerPoint</Application>
  <PresentationFormat>On-screen Show (4:3)</PresentationFormat>
  <Paragraphs>74</Paragraphs>
  <Slides>16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楷体</vt:lpstr>
      <vt:lpstr>华文中宋</vt:lpstr>
      <vt:lpstr>Arial</vt:lpstr>
      <vt:lpstr>Tahoma</vt:lpstr>
      <vt:lpstr>Times New Roman</vt:lpstr>
      <vt:lpstr>Wingdings</vt:lpstr>
      <vt:lpstr>Office 主题​​</vt:lpstr>
      <vt:lpstr>公式</vt:lpstr>
      <vt:lpstr>传感器技术与网络</vt:lpstr>
      <vt:lpstr>PowerPoint Presentation</vt:lpstr>
      <vt:lpstr>PowerPoint Presentation</vt:lpstr>
      <vt:lpstr>什么是超声波</vt:lpstr>
      <vt:lpstr>超声波的产生与接收</vt:lpstr>
      <vt:lpstr>超声波的应用</vt:lpstr>
      <vt:lpstr>超声波传感器</vt:lpstr>
      <vt:lpstr>超声波传感器时序</vt:lpstr>
      <vt:lpstr>超声波传感器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IBM_ILY</dc:creator>
  <cp:keywords/>
  <dc:description/>
  <cp:lastModifiedBy>Microsoft Office User</cp:lastModifiedBy>
  <cp:revision>326</cp:revision>
  <cp:lastPrinted>1601-01-01T00:00:00Z</cp:lastPrinted>
  <dcterms:created xsi:type="dcterms:W3CDTF">2007-02-12T01:40:33Z</dcterms:created>
  <dcterms:modified xsi:type="dcterms:W3CDTF">2025-04-16T09:58:39Z</dcterms:modified>
</cp:coreProperties>
</file>