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61" r:id="rId3"/>
    <p:sldId id="295" r:id="rId4"/>
    <p:sldId id="266" r:id="rId5"/>
    <p:sldId id="327" r:id="rId6"/>
    <p:sldId id="328" r:id="rId7"/>
    <p:sldId id="297" r:id="rId8"/>
    <p:sldId id="301" r:id="rId9"/>
    <p:sldId id="299" r:id="rId10"/>
    <p:sldId id="329" r:id="rId11"/>
    <p:sldId id="302" r:id="rId12"/>
    <p:sldId id="304" r:id="rId13"/>
    <p:sldId id="303" r:id="rId14"/>
    <p:sldId id="305" r:id="rId15"/>
    <p:sldId id="306" r:id="rId16"/>
    <p:sldId id="330" r:id="rId17"/>
    <p:sldId id="296" r:id="rId18"/>
    <p:sldId id="308" r:id="rId19"/>
    <p:sldId id="316" r:id="rId20"/>
    <p:sldId id="339" r:id="rId21"/>
    <p:sldId id="326" r:id="rId22"/>
    <p:sldId id="331" r:id="rId23"/>
    <p:sldId id="312" r:id="rId24"/>
    <p:sldId id="319" r:id="rId25"/>
    <p:sldId id="313" r:id="rId26"/>
    <p:sldId id="324" r:id="rId27"/>
    <p:sldId id="332" r:id="rId28"/>
    <p:sldId id="321" r:id="rId29"/>
    <p:sldId id="311" r:id="rId30"/>
    <p:sldId id="315" r:id="rId31"/>
    <p:sldId id="333" r:id="rId32"/>
    <p:sldId id="334" r:id="rId33"/>
    <p:sldId id="314" r:id="rId34"/>
    <p:sldId id="335" r:id="rId35"/>
    <p:sldId id="336" r:id="rId36"/>
    <p:sldId id="337" r:id="rId37"/>
    <p:sldId id="338" r:id="rId38"/>
    <p:sldId id="323" r:id="rId39"/>
    <p:sldId id="325" r:id="rId40"/>
    <p:sldId id="322" r:id="rId4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3"/>
    <p:restoredTop sz="94363"/>
  </p:normalViewPr>
  <p:slideViewPr>
    <p:cSldViewPr showGuides="1">
      <p:cViewPr varScale="1">
        <p:scale>
          <a:sx n="76" d="100"/>
          <a:sy n="76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EE6A9-A337-4424-B158-CEE40DDC4F13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F95C1-1C97-4AEE-8AFD-9E57812A37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 e(</a:t>
            </a:r>
            <a:r>
              <a:rPr lang="en-US" altLang="zh-CN" dirty="0" err="1"/>
              <a:t>avg_age</a:t>
            </a:r>
            <a:r>
              <a:rPr lang="en-US" altLang="zh-CN" dirty="0"/>
              <a:t>) as(</a:t>
            </a:r>
          </a:p>
          <a:p>
            <a:r>
              <a:rPr lang="en-US" altLang="zh-CN" dirty="0"/>
              <a:t>select </a:t>
            </a:r>
            <a:r>
              <a:rPr lang="en-US" altLang="zh-CN" dirty="0" err="1"/>
              <a:t>avg</a:t>
            </a:r>
            <a:r>
              <a:rPr lang="en-US" altLang="zh-CN" dirty="0"/>
              <a:t>(</a:t>
            </a:r>
            <a:r>
              <a:rPr lang="en-US" altLang="zh-CN" dirty="0" err="1"/>
              <a:t>eeage</a:t>
            </a:r>
            <a:r>
              <a:rPr lang="en-US" altLang="zh-CN" dirty="0"/>
              <a:t>)  from examinee group by </a:t>
            </a:r>
            <a:r>
              <a:rPr lang="en-US" altLang="zh-CN" dirty="0" err="1"/>
              <a:t>eesex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select max(</a:t>
            </a:r>
            <a:r>
              <a:rPr lang="en-US" altLang="zh-CN" dirty="0" err="1"/>
              <a:t>avg_age</a:t>
            </a:r>
            <a:r>
              <a:rPr lang="en-US" altLang="zh-CN" dirty="0"/>
              <a:t>) from 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 e(</a:t>
            </a:r>
            <a:r>
              <a:rPr lang="en-US" altLang="zh-CN" dirty="0" err="1"/>
              <a:t>avg_age</a:t>
            </a:r>
            <a:r>
              <a:rPr lang="en-US" altLang="zh-CN" dirty="0"/>
              <a:t>) as(</a:t>
            </a:r>
          </a:p>
          <a:p>
            <a:r>
              <a:rPr lang="en-US" altLang="zh-CN" dirty="0"/>
              <a:t>select </a:t>
            </a:r>
            <a:r>
              <a:rPr lang="en-US" altLang="zh-CN" dirty="0" err="1"/>
              <a:t>avg</a:t>
            </a:r>
            <a:r>
              <a:rPr lang="en-US" altLang="zh-CN" dirty="0"/>
              <a:t>(</a:t>
            </a:r>
            <a:r>
              <a:rPr lang="en-US" altLang="zh-CN" dirty="0" err="1"/>
              <a:t>eeage</a:t>
            </a:r>
            <a:r>
              <a:rPr lang="en-US" altLang="zh-CN" dirty="0"/>
              <a:t>)  from examinee group by </a:t>
            </a:r>
            <a:r>
              <a:rPr lang="en-US" altLang="zh-CN" dirty="0" err="1"/>
              <a:t>eesex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select max(</a:t>
            </a:r>
            <a:r>
              <a:rPr lang="en-US" altLang="zh-CN" dirty="0" err="1"/>
              <a:t>avg_age</a:t>
            </a:r>
            <a:r>
              <a:rPr lang="en-US" altLang="zh-CN" dirty="0"/>
              <a:t>) from e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select id from examinee 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eeage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 all(select </a:t>
            </a:r>
            <a:r>
              <a:rPr lang="en-US" altLang="zh-CN" dirty="0" err="1"/>
              <a:t>eeage</a:t>
            </a:r>
            <a:r>
              <a:rPr lang="en-US" altLang="zh-CN" dirty="0"/>
              <a:t> from examinee where </a:t>
            </a:r>
            <a:r>
              <a:rPr lang="en-US" altLang="zh-CN" dirty="0" err="1"/>
              <a:t>eesex</a:t>
            </a:r>
            <a:r>
              <a:rPr lang="en-US" altLang="zh-CN" dirty="0"/>
              <a:t>=‘</a:t>
            </a:r>
            <a:r>
              <a:rPr lang="zh-CN" altLang="en-US" dirty="0"/>
              <a:t>女</a:t>
            </a:r>
            <a:r>
              <a:rPr lang="en-US" altLang="zh-CN" dirty="0"/>
              <a:t>’) and </a:t>
            </a:r>
            <a:r>
              <a:rPr lang="en-US" altLang="zh-CN" dirty="0" err="1"/>
              <a:t>eesex</a:t>
            </a:r>
            <a:r>
              <a:rPr lang="en-US" altLang="zh-CN" dirty="0"/>
              <a:t>=‘</a:t>
            </a:r>
            <a:r>
              <a:rPr lang="zh-CN" altLang="en-US" dirty="0"/>
              <a:t>男</a:t>
            </a:r>
            <a:r>
              <a:rPr lang="en-US" altLang="zh-CN" dirty="0"/>
              <a:t>’;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F95C1-1C97-4AEE-8AFD-9E57812A3711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305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415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135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065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210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</a:lstStyle>
          <a:p>
            <a:pPr marL="0" algn="l" eaLnBrk="1" latinLnBrk="0" hangingPunct="1"/>
            <a:r>
              <a:rPr kumimoji="0" lang="zh-CN" altLang="en-US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</a:lstStyle>
          <a:p>
            <a:fld id="{0169BD0F-E4EE-49F4-9D55-D10E263893F4}" type="datetimeFigureOut">
              <a:rPr lang="zh-CN" altLang="en-US" smtClean="0"/>
              <a:t>2025/3/24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</a:lstStyle>
          <a:p>
            <a:fld id="{451496B8-45B0-43C8-B1CA-64AEA543BE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83210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 panose="05020102010507070707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490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 panose="020B0804030504040204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7095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990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894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25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15616" y="1628800"/>
            <a:ext cx="7920880" cy="1472184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dirty="0"/>
              <a:t>实验 基于</a:t>
            </a:r>
            <a:r>
              <a:rPr lang="en-US" altLang="zh-CN" sz="4000" dirty="0"/>
              <a:t>GaussDB</a:t>
            </a:r>
            <a:r>
              <a:rPr lang="zh-CN" altLang="en-US" sz="4000" dirty="0"/>
              <a:t>的高级数据查询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0185" y="4149090"/>
            <a:ext cx="6979285" cy="1752600"/>
          </a:xfrm>
        </p:spPr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韩浩岚</a:t>
            </a: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李梦佳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eaLnBrk="1" fontAlgn="auto" hangingPunct="1">
              <a:spcAft>
                <a:spcPts val="0"/>
              </a:spcAft>
              <a:buFont typeface="Wingdings 2" panose="05020102010507070707"/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Light" panose="020B0502040204020203" pitchFamily="34" charset="0"/>
              </a:rPr>
              <a:t>2025-3-24</a:t>
            </a:r>
            <a:endParaRPr lang="zh-CN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联接查询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笛卡儿积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自然联接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属性联接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嵌套查询</a:t>
            </a:r>
            <a:endParaRPr lang="en-US" altLang="zh-CN" sz="28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子查询作为表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子查询作为集合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子查询作为标量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联接查询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笛卡儿积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自然联接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属性联接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嵌套查询</a:t>
            </a:r>
            <a:endParaRPr lang="en-US" altLang="zh-CN" sz="28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子查询作为表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子查询作为集合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子查询作为标量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用到的数据表与数据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680744"/>
            <a:ext cx="7498080" cy="5149552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考生表：</a:t>
            </a:r>
            <a:r>
              <a:rPr lang="en-US" altLang="zh-CN" sz="2800" dirty="0"/>
              <a:t>examinee(ee</a:t>
            </a:r>
            <a:r>
              <a:rPr lang="en-US" altLang="zh-CN" sz="2800" dirty="0" err="1"/>
              <a:t>id,eename,eesex,eeage,dname</a:t>
            </a:r>
            <a:r>
              <a:rPr lang="en-US" altLang="zh-CN" sz="2800" dirty="0"/>
              <a:t>)</a:t>
            </a:r>
          </a:p>
          <a:p>
            <a:r>
              <a:rPr lang="zh-CN" altLang="en-US" sz="2800" dirty="0"/>
              <a:t>试卷表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exampaper</a:t>
            </a:r>
            <a:r>
              <a:rPr lang="en-US" altLang="zh-CN" sz="2800" dirty="0"/>
              <a:t>(</a:t>
            </a:r>
            <a:r>
              <a:rPr lang="en-US" altLang="zh-CN" sz="2800" dirty="0" err="1"/>
              <a:t>eid,ename,etype,duration</a:t>
            </a:r>
            <a:r>
              <a:rPr lang="en-US" altLang="zh-CN" sz="2800" dirty="0"/>
              <a:t>)</a:t>
            </a:r>
          </a:p>
          <a:p>
            <a:r>
              <a:rPr lang="zh-CN" altLang="zh-CN" sz="2800" dirty="0"/>
              <a:t>考生答卷表：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eeexam</a:t>
            </a:r>
            <a:r>
              <a:rPr lang="en-US" altLang="zh-CN" sz="2800" dirty="0"/>
              <a:t>(</a:t>
            </a:r>
            <a:r>
              <a:rPr lang="en-US" altLang="zh-CN" sz="2800" dirty="0" err="1"/>
              <a:t>eeid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eid,achieve</a:t>
            </a:r>
            <a:r>
              <a:rPr lang="en-US" altLang="zh-CN" sz="2800" dirty="0"/>
              <a:t>)</a:t>
            </a:r>
          </a:p>
          <a:p>
            <a:r>
              <a:rPr lang="zh-CN" altLang="en-US" sz="2800" dirty="0"/>
              <a:t>院系表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department(</a:t>
            </a:r>
            <a:r>
              <a:rPr lang="en-US" altLang="zh-CN" sz="2800" dirty="0" err="1"/>
              <a:t>id,dname,dloca,dtele</a:t>
            </a:r>
            <a:r>
              <a:rPr lang="en-US" altLang="zh-CN" sz="2800"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SQL</a:t>
            </a:r>
            <a:r>
              <a:rPr lang="zh-CN" altLang="en-US" sz="3300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196752"/>
            <a:ext cx="3528392" cy="3970318"/>
          </a:xfrm>
        </p:spPr>
        <p:txBody>
          <a:bodyPr>
            <a:normAutofit fontScale="55000" lnSpcReduction="20000"/>
          </a:bodyPr>
          <a:lstStyle/>
          <a:p>
            <a:pPr marL="82550" indent="0">
              <a:buNone/>
            </a:pPr>
            <a:r>
              <a:rPr lang="en-US" altLang="zh-CN" sz="2800" dirty="0"/>
              <a:t>create table examinee(</a:t>
            </a:r>
          </a:p>
          <a:p>
            <a:pPr marL="82550" indent="0">
              <a:buNone/>
            </a:pPr>
            <a:r>
              <a:rPr lang="en-US" altLang="zh-CN" sz="2800" dirty="0"/>
              <a:t>	eeid char(20) not null unique primary key,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eename</a:t>
            </a:r>
            <a:r>
              <a:rPr lang="en-US" altLang="zh-CN" sz="2800" dirty="0"/>
              <a:t> char(20),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eesex</a:t>
            </a:r>
            <a:r>
              <a:rPr lang="en-US" altLang="zh-CN" sz="2800" dirty="0"/>
              <a:t> char(20),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eeage</a:t>
            </a:r>
            <a:r>
              <a:rPr lang="en-US" altLang="zh-CN" sz="2800" dirty="0"/>
              <a:t> </a:t>
            </a:r>
            <a:r>
              <a:rPr lang="en-US" altLang="zh-CN" sz="2800" dirty="0" err="1"/>
              <a:t>smallint</a:t>
            </a:r>
            <a:r>
              <a:rPr lang="en-US" altLang="zh-CN" sz="2800" dirty="0"/>
              <a:t> default 18,</a:t>
            </a:r>
          </a:p>
          <a:p>
            <a:pPr marL="82550" indent="0">
              <a:buNone/>
            </a:pPr>
            <a:r>
              <a:rPr lang="en-US" altLang="zh-CN" sz="2800" dirty="0"/>
              <a:t>	dname char(20)</a:t>
            </a:r>
          </a:p>
          <a:p>
            <a:pPr marL="82550" indent="0">
              <a:buNone/>
            </a:pPr>
            <a:r>
              <a:rPr lang="en-US" altLang="zh-CN" sz="2800" dirty="0"/>
              <a:t>);</a:t>
            </a:r>
          </a:p>
          <a:p>
            <a:pPr marL="82550" indent="0">
              <a:buNone/>
            </a:pP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create table </a:t>
            </a:r>
            <a:r>
              <a:rPr lang="en-US" altLang="zh-CN" sz="2800" dirty="0" err="1"/>
              <a:t>exampaper</a:t>
            </a:r>
            <a:r>
              <a:rPr lang="en-US" altLang="zh-CN" sz="2800" dirty="0"/>
              <a:t>(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eid</a:t>
            </a:r>
            <a:r>
              <a:rPr lang="en-US" altLang="zh-CN" sz="2800" dirty="0"/>
              <a:t> char(20) primary key,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ename</a:t>
            </a:r>
            <a:r>
              <a:rPr lang="en-US" altLang="zh-CN" sz="2800" dirty="0"/>
              <a:t> char(20),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etype</a:t>
            </a:r>
            <a:r>
              <a:rPr lang="en-US" altLang="zh-CN" sz="2800" dirty="0"/>
              <a:t> char(20),</a:t>
            </a:r>
          </a:p>
          <a:p>
            <a:pPr marL="82550" indent="0">
              <a:buNone/>
            </a:pPr>
            <a:r>
              <a:rPr lang="en-US" altLang="zh-CN" sz="2800" dirty="0"/>
              <a:t>	</a:t>
            </a:r>
            <a:r>
              <a:rPr lang="en-US" altLang="zh-CN" sz="2800" dirty="0" err="1"/>
              <a:t>eduration</a:t>
            </a:r>
            <a:r>
              <a:rPr lang="en-US" altLang="zh-CN" sz="2800" dirty="0"/>
              <a:t> char(20)</a:t>
            </a:r>
          </a:p>
          <a:p>
            <a:pPr marL="82550" indent="0">
              <a:buNone/>
            </a:pPr>
            <a:r>
              <a:rPr lang="en-US" altLang="zh-CN" sz="2800" dirty="0"/>
              <a:t>);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20072" y="1196752"/>
            <a:ext cx="3384376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550" indent="0">
              <a:buNone/>
            </a:pPr>
            <a:r>
              <a:rPr lang="en-US" altLang="zh-CN" dirty="0"/>
              <a:t>create table </a:t>
            </a:r>
            <a:r>
              <a:rPr lang="en-US" altLang="zh-CN" dirty="0" err="1"/>
              <a:t>exam</a:t>
            </a:r>
            <a:r>
              <a:rPr lang="en-US" altLang="zh-CN" dirty="0"/>
              <a:t>(	</a:t>
            </a:r>
          </a:p>
          <a:p>
            <a:pPr marL="82550" indent="0">
              <a:buNone/>
            </a:pPr>
            <a:r>
              <a:rPr lang="en-US" altLang="zh-CN" dirty="0"/>
              <a:t>eeid char(20),</a:t>
            </a:r>
          </a:p>
          <a:p>
            <a:pPr marL="82550" indent="0">
              <a:buNone/>
            </a:pPr>
            <a:r>
              <a:rPr lang="en-US" altLang="zh-CN" dirty="0" err="1"/>
              <a:t>eid</a:t>
            </a:r>
            <a:r>
              <a:rPr lang="en-US" altLang="zh-CN" dirty="0"/>
              <a:t> char(20),	</a:t>
            </a:r>
          </a:p>
          <a:p>
            <a:pPr marL="82550" indent="0">
              <a:buNone/>
            </a:pPr>
            <a:r>
              <a:rPr lang="en-US" altLang="zh-CN" dirty="0"/>
              <a:t>achieve </a:t>
            </a:r>
            <a:r>
              <a:rPr lang="en-US" altLang="zh-CN" dirty="0" err="1"/>
              <a:t>smallint</a:t>
            </a:r>
            <a:r>
              <a:rPr lang="en-US" altLang="zh-CN" dirty="0"/>
              <a:t>,</a:t>
            </a:r>
          </a:p>
          <a:p>
            <a:pPr marL="82550" indent="0">
              <a:buNone/>
            </a:pPr>
            <a:r>
              <a:rPr lang="en-US" altLang="zh-CN" dirty="0"/>
              <a:t>primary key(</a:t>
            </a:r>
            <a:r>
              <a:rPr lang="en-US" altLang="zh-CN" dirty="0" err="1"/>
              <a:t>eeid,eid</a:t>
            </a:r>
            <a:r>
              <a:rPr lang="en-US" altLang="zh-CN" dirty="0"/>
              <a:t>)</a:t>
            </a:r>
          </a:p>
          <a:p>
            <a:pPr marL="82550" indent="0">
              <a:buNone/>
            </a:pPr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create table department(</a:t>
            </a:r>
          </a:p>
          <a:p>
            <a:r>
              <a:rPr lang="en-US" altLang="zh-CN" dirty="0"/>
              <a:t>	id char(20),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dname</a:t>
            </a:r>
            <a:r>
              <a:rPr lang="en-US" altLang="zh-CN" dirty="0"/>
              <a:t> char(20),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dloca</a:t>
            </a:r>
            <a:r>
              <a:rPr lang="en-US" altLang="zh-CN" dirty="0"/>
              <a:t> char(20),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dtele</a:t>
            </a:r>
            <a:r>
              <a:rPr lang="en-US" altLang="zh-CN" dirty="0"/>
              <a:t> char(20),</a:t>
            </a:r>
          </a:p>
          <a:p>
            <a:r>
              <a:rPr lang="en-US" altLang="zh-CN" dirty="0"/>
              <a:t>	primary key(id)</a:t>
            </a:r>
          </a:p>
          <a:p>
            <a:r>
              <a:rPr lang="en-US" altLang="zh-CN" dirty="0"/>
              <a:t>);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300" dirty="0"/>
              <a:t>SQL</a:t>
            </a:r>
            <a:r>
              <a:rPr lang="zh-CN" altLang="en-US" sz="3300" dirty="0"/>
              <a:t>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59885" y="1556797"/>
            <a:ext cx="4104456" cy="3970318"/>
          </a:xfrm>
        </p:spPr>
        <p:txBody>
          <a:bodyPr>
            <a:noAutofit/>
          </a:bodyPr>
          <a:lstStyle/>
          <a:p>
            <a:pPr marL="82550" indent="0">
              <a:buNone/>
            </a:pPr>
            <a:r>
              <a:rPr lang="en-US" altLang="zh-CN" sz="1600" dirty="0"/>
              <a:t>insert into examinee values </a:t>
            </a:r>
          </a:p>
          <a:p>
            <a:pPr marL="82550" indent="0">
              <a:buNone/>
            </a:pPr>
            <a:r>
              <a:rPr lang="en-US" altLang="zh-CN" sz="1600" dirty="0"/>
              <a:t>('218811011013', '</a:t>
            </a:r>
            <a:r>
              <a:rPr lang="zh-CN" altLang="en-US" sz="1600" dirty="0"/>
              <a:t>刘诗诗</a:t>
            </a:r>
            <a:r>
              <a:rPr lang="en-US" altLang="zh-CN" sz="1600" dirty="0"/>
              <a:t>','</a:t>
            </a:r>
            <a:r>
              <a:rPr lang="zh-CN" altLang="en-US" sz="1600" dirty="0"/>
              <a:t>女</a:t>
            </a:r>
            <a:r>
              <a:rPr lang="en-US" altLang="zh-CN" sz="1600" dirty="0"/>
              <a:t>',20,'</a:t>
            </a:r>
            <a:r>
              <a:rPr lang="zh-CN" altLang="en-US" sz="1600" dirty="0"/>
              <a:t>历史学院</a:t>
            </a:r>
            <a:r>
              <a:rPr lang="en-US" altLang="zh-CN" sz="1600" dirty="0"/>
              <a:t>'),</a:t>
            </a:r>
          </a:p>
          <a:p>
            <a:pPr marL="82550" indent="0">
              <a:buNone/>
            </a:pPr>
            <a:r>
              <a:rPr lang="en-US" altLang="zh-CN" sz="1600" dirty="0"/>
              <a:t>('218811011219', '</a:t>
            </a:r>
            <a:r>
              <a:rPr lang="zh-CN" altLang="en-US" sz="1600" dirty="0"/>
              <a:t>王琳懿</a:t>
            </a:r>
            <a:r>
              <a:rPr lang="en-US" altLang="zh-CN" sz="1600" dirty="0"/>
              <a:t>','</a:t>
            </a:r>
            <a:r>
              <a:rPr lang="zh-CN" altLang="en-US" sz="1600" dirty="0"/>
              <a:t>女</a:t>
            </a:r>
            <a:r>
              <a:rPr lang="en-US" altLang="zh-CN" sz="1600" dirty="0"/>
              <a:t>',18,'</a:t>
            </a:r>
            <a:r>
              <a:rPr lang="zh-CN" altLang="en-US" sz="1600" dirty="0"/>
              <a:t>文学院</a:t>
            </a:r>
            <a:r>
              <a:rPr lang="en-US" altLang="zh-CN" sz="1600" dirty="0"/>
              <a:t>'),</a:t>
            </a:r>
          </a:p>
          <a:p>
            <a:pPr marL="82550" indent="0">
              <a:buNone/>
            </a:pPr>
            <a:r>
              <a:rPr lang="en-US" altLang="zh-CN" sz="1600" dirty="0"/>
              <a:t>('218811011117', '</a:t>
            </a:r>
            <a:r>
              <a:rPr lang="zh-CN" altLang="en-US" sz="1600" dirty="0"/>
              <a:t>刘慧杰</a:t>
            </a:r>
            <a:r>
              <a:rPr lang="en-US" altLang="zh-CN" sz="1600" dirty="0"/>
              <a:t>','</a:t>
            </a:r>
            <a:r>
              <a:rPr lang="zh-CN" altLang="en-US" sz="1600" dirty="0"/>
              <a:t>男</a:t>
            </a:r>
            <a:r>
              <a:rPr lang="en-US" altLang="zh-CN" sz="1600" dirty="0"/>
              <a:t>',19,'</a:t>
            </a:r>
            <a:r>
              <a:rPr lang="zh-CN" altLang="en-US" sz="1600" dirty="0"/>
              <a:t>教育学部</a:t>
            </a:r>
            <a:r>
              <a:rPr lang="en-US" altLang="zh-CN" sz="1600" dirty="0"/>
              <a:t>');</a:t>
            </a:r>
          </a:p>
          <a:p>
            <a:pPr marL="82550" indent="0">
              <a:buNone/>
            </a:pPr>
            <a:endParaRPr lang="en-US" altLang="zh-CN" sz="1600" dirty="0"/>
          </a:p>
          <a:p>
            <a:pPr marL="82550" indent="0">
              <a:buNone/>
            </a:pPr>
            <a:r>
              <a:rPr lang="en-US" altLang="zh-CN" sz="1600" dirty="0"/>
              <a:t>insert into </a:t>
            </a:r>
            <a:r>
              <a:rPr lang="en-US" altLang="zh-CN" sz="1600" dirty="0" err="1"/>
              <a:t>exampaper</a:t>
            </a:r>
            <a:r>
              <a:rPr lang="en-US" altLang="zh-CN" sz="1600" dirty="0"/>
              <a:t> values</a:t>
            </a:r>
          </a:p>
          <a:p>
            <a:pPr marL="82550" indent="0">
              <a:buNone/>
            </a:pPr>
            <a:r>
              <a:rPr lang="en-US" altLang="zh-CN" sz="1600" dirty="0"/>
              <a:t>('0205000002','</a:t>
            </a:r>
            <a:r>
              <a:rPr lang="zh-CN" altLang="en-US" sz="1600" dirty="0"/>
              <a:t>中国近现代史纲要</a:t>
            </a:r>
            <a:r>
              <a:rPr lang="en-US" altLang="zh-CN" sz="1600" dirty="0"/>
              <a:t>','4','100'),</a:t>
            </a:r>
          </a:p>
          <a:p>
            <a:pPr marL="82550" indent="0">
              <a:buNone/>
            </a:pPr>
            <a:r>
              <a:rPr lang="en-US" altLang="zh-CN" sz="1600" dirty="0"/>
              <a:t>('0210000001','</a:t>
            </a:r>
            <a:r>
              <a:rPr lang="zh-CN" altLang="en-US" sz="1600" dirty="0"/>
              <a:t>大学外语</a:t>
            </a:r>
            <a:r>
              <a:rPr lang="en-US" altLang="zh-CN" sz="1600" dirty="0"/>
              <a:t>','2','180'),</a:t>
            </a:r>
          </a:p>
          <a:p>
            <a:pPr marL="82550" indent="0">
              <a:buNone/>
            </a:pPr>
            <a:r>
              <a:rPr lang="en-US" altLang="zh-CN" sz="1600" dirty="0"/>
              <a:t>('0201020001','</a:t>
            </a:r>
            <a:r>
              <a:rPr lang="zh-CN" altLang="en-US" sz="1600" dirty="0"/>
              <a:t>计算机应用基础</a:t>
            </a:r>
            <a:r>
              <a:rPr lang="en-US" altLang="zh-CN" sz="1600" dirty="0"/>
              <a:t>','4','120');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652180" y="1557134"/>
            <a:ext cx="33843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550" indent="0">
              <a:buNone/>
            </a:pPr>
            <a:r>
              <a:rPr lang="en-US" altLang="zh-CN" sz="1600" dirty="0"/>
              <a:t>insert into </a:t>
            </a:r>
            <a:r>
              <a:rPr lang="en-US" altLang="zh-CN" sz="1600" dirty="0" err="1"/>
              <a:t>eeexam</a:t>
            </a:r>
            <a:r>
              <a:rPr lang="en-US" altLang="zh-CN" sz="1600" dirty="0"/>
              <a:t> values </a:t>
            </a:r>
          </a:p>
          <a:p>
            <a:pPr marL="82550" indent="0">
              <a:buNone/>
            </a:pPr>
            <a:r>
              <a:rPr lang="en-US" altLang="zh-CN" sz="1600" dirty="0"/>
              <a:t>('218811011013', '0205000002',92),</a:t>
            </a:r>
          </a:p>
          <a:p>
            <a:pPr marL="82550" indent="0">
              <a:buNone/>
            </a:pPr>
            <a:r>
              <a:rPr lang="en-US" altLang="zh-CN" sz="1600" dirty="0"/>
              <a:t>('218811011013','0210000001', 85),</a:t>
            </a:r>
          </a:p>
          <a:p>
            <a:pPr marL="82550" indent="0">
              <a:buNone/>
            </a:pPr>
            <a:r>
              <a:rPr lang="en-US" altLang="zh-CN" sz="1600" dirty="0"/>
              <a:t>('218811011117', '0210000001',90),</a:t>
            </a:r>
          </a:p>
          <a:p>
            <a:pPr marL="82550" indent="0">
              <a:buNone/>
            </a:pPr>
            <a:r>
              <a:rPr lang="en-US" altLang="zh-CN" sz="1600" dirty="0"/>
              <a:t>('218811011117', '0201020001',80);</a:t>
            </a:r>
          </a:p>
          <a:p>
            <a:pPr marL="82550" indent="0">
              <a:buNone/>
            </a:pPr>
            <a:endParaRPr lang="en-US" altLang="zh-CN" sz="1600" dirty="0"/>
          </a:p>
          <a:p>
            <a:r>
              <a:rPr lang="en-US" altLang="zh-CN" sz="1600" dirty="0"/>
              <a:t>insert into department values </a:t>
            </a:r>
          </a:p>
          <a:p>
            <a:r>
              <a:rPr lang="en-US" altLang="zh-CN" sz="1600" dirty="0"/>
              <a:t>('01', '</a:t>
            </a:r>
            <a:r>
              <a:rPr lang="zh-CN" altLang="en-US" sz="1600" dirty="0"/>
              <a:t>历史学院</a:t>
            </a:r>
            <a:r>
              <a:rPr lang="en-US" altLang="zh-CN" sz="1600" dirty="0"/>
              <a:t>','</a:t>
            </a:r>
            <a:r>
              <a:rPr lang="zh-CN" altLang="en-US" sz="1600" dirty="0"/>
              <a:t>主楼</a:t>
            </a:r>
            <a:r>
              <a:rPr lang="en-US" altLang="zh-CN" sz="1600" dirty="0"/>
              <a:t>B2','58809289'),</a:t>
            </a:r>
          </a:p>
          <a:p>
            <a:r>
              <a:rPr lang="en-US" altLang="zh-CN" sz="1600" dirty="0"/>
              <a:t>('02','</a:t>
            </a:r>
            <a:r>
              <a:rPr lang="zh-CN" altLang="en-US" sz="1600" dirty="0"/>
              <a:t>文学院</a:t>
            </a:r>
            <a:r>
              <a:rPr lang="en-US" altLang="zh-CN" sz="1600" dirty="0"/>
              <a:t>', '</a:t>
            </a:r>
            <a:r>
              <a:rPr lang="zh-CN" altLang="en-US" sz="1600" dirty="0"/>
              <a:t>主楼</a:t>
            </a:r>
            <a:r>
              <a:rPr lang="en-US" altLang="zh-CN" sz="1600" dirty="0"/>
              <a:t>B7','58807998');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笛卡儿积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/>
            </a:pPr>
            <a:r>
              <a:rPr lang="zh-CN" altLang="en-US" sz="2800" dirty="0"/>
              <a:t>返回两个表生成的笛卡儿积：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</a:t>
            </a:r>
            <a:r>
              <a:rPr lang="zh-CN" altLang="en-US" sz="2800" dirty="0"/>
              <a:t>* </a:t>
            </a:r>
            <a:r>
              <a:rPr lang="en-US" altLang="zh-CN" sz="2800" dirty="0"/>
              <a:t>from </a:t>
            </a:r>
            <a:r>
              <a:rPr lang="en-US" altLang="zh-CN" sz="2800" dirty="0" err="1"/>
              <a:t>examinee,department</a:t>
            </a:r>
            <a:r>
              <a:rPr lang="en-US" altLang="zh-CN" sz="2800" dirty="0"/>
              <a:t>; </a:t>
            </a:r>
          </a:p>
        </p:txBody>
      </p:sp>
      <p:sp>
        <p:nvSpPr>
          <p:cNvPr id="6" name="乘号 5"/>
          <p:cNvSpPr/>
          <p:nvPr/>
        </p:nvSpPr>
        <p:spPr>
          <a:xfrm>
            <a:off x="6732209" y="3213691"/>
            <a:ext cx="614890" cy="56697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直角上 9"/>
          <p:cNvSpPr/>
          <p:nvPr/>
        </p:nvSpPr>
        <p:spPr>
          <a:xfrm rot="5400000">
            <a:off x="378526" y="4166188"/>
            <a:ext cx="809600" cy="632309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965" y="4077335"/>
            <a:ext cx="5672455" cy="7264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5" y="2853055"/>
            <a:ext cx="5993130" cy="11518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" y="4933315"/>
            <a:ext cx="4572635" cy="18091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45" y="4941570"/>
            <a:ext cx="5184140" cy="1770380"/>
          </a:xfrm>
          <a:prstGeom prst="rect">
            <a:avLst/>
          </a:prstGeom>
        </p:spPr>
      </p:pic>
      <p:sp>
        <p:nvSpPr>
          <p:cNvPr id="13" name="流程图: 过程 12"/>
          <p:cNvSpPr/>
          <p:nvPr/>
        </p:nvSpPr>
        <p:spPr>
          <a:xfrm>
            <a:off x="179705" y="5085080"/>
            <a:ext cx="9792970" cy="216535"/>
          </a:xfrm>
          <a:prstGeom prst="flowChartProcess">
            <a:avLst/>
          </a:prstGeom>
          <a:noFill/>
          <a:ln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笛卡儿积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 startAt="2"/>
            </a:pPr>
            <a:r>
              <a:rPr lang="zh-CN" altLang="en-US" sz="2800" dirty="0"/>
              <a:t>按</a:t>
            </a:r>
            <a:r>
              <a:rPr lang="en-US" altLang="zh-CN" sz="2800" dirty="0" err="1"/>
              <a:t>dname</a:t>
            </a:r>
            <a:r>
              <a:rPr lang="zh-CN" altLang="en-US" sz="2800" dirty="0"/>
              <a:t>相等进行筛选：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</a:t>
            </a:r>
            <a:r>
              <a:rPr lang="zh-CN" altLang="en-US" sz="2800" dirty="0"/>
              <a:t>* </a:t>
            </a:r>
            <a:r>
              <a:rPr lang="en-US" altLang="zh-CN" sz="2800" dirty="0"/>
              <a:t>from </a:t>
            </a:r>
            <a:r>
              <a:rPr lang="en-US" altLang="zh-CN" sz="2800" dirty="0" err="1"/>
              <a:t>examinee,department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where </a:t>
            </a:r>
            <a:r>
              <a:rPr lang="en-US" altLang="zh-CN" sz="2800" dirty="0" err="1">
                <a:solidFill>
                  <a:srgbClr val="FF0000"/>
                </a:solidFill>
              </a:rPr>
              <a:t>examinee.dname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en-US" altLang="zh-CN" sz="2800" dirty="0" err="1">
                <a:solidFill>
                  <a:srgbClr val="FF0000"/>
                </a:solidFill>
              </a:rPr>
              <a:t>department.dname</a:t>
            </a:r>
            <a:r>
              <a:rPr lang="en-US" altLang="zh-CN" sz="2800" dirty="0"/>
              <a:t>;</a:t>
            </a:r>
          </a:p>
        </p:txBody>
      </p:sp>
      <p:sp>
        <p:nvSpPr>
          <p:cNvPr id="6" name="矩形 5"/>
          <p:cNvSpPr/>
          <p:nvPr/>
        </p:nvSpPr>
        <p:spPr>
          <a:xfrm>
            <a:off x="7452360" y="3933190"/>
            <a:ext cx="935990" cy="93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4292600"/>
            <a:ext cx="8632190" cy="1430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r>
              <a:rPr lang="zh-CN" altLang="en-US" sz="2400" dirty="0"/>
              <a:t>查询年龄为</a:t>
            </a:r>
            <a:r>
              <a:rPr lang="en-US" altLang="zh-CN" sz="2400" dirty="0"/>
              <a:t>20</a:t>
            </a:r>
            <a:r>
              <a:rPr lang="zh-CN" altLang="en-US" sz="2400" dirty="0"/>
              <a:t>的考生所在的院系地址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笛卡儿积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 startAt="3"/>
            </a:pPr>
            <a:r>
              <a:rPr lang="zh-CN" altLang="en-US" sz="2800" dirty="0"/>
              <a:t>查询年龄为</a:t>
            </a:r>
            <a:r>
              <a:rPr lang="en-US" altLang="zh-CN" sz="2800" dirty="0"/>
              <a:t>20</a:t>
            </a:r>
            <a:r>
              <a:rPr lang="zh-CN" altLang="en-US" sz="2800" dirty="0"/>
              <a:t>的考生所在的院系地址：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</a:t>
            </a:r>
            <a:r>
              <a:rPr lang="en-US" altLang="zh-CN" sz="2800" dirty="0" err="1">
                <a:solidFill>
                  <a:srgbClr val="FF0000"/>
                </a:solidFill>
              </a:rPr>
              <a:t>dloca</a:t>
            </a:r>
            <a:r>
              <a:rPr lang="en-US" altLang="zh-CN" sz="2800" dirty="0"/>
              <a:t> from </a:t>
            </a:r>
            <a:r>
              <a:rPr lang="en-US" altLang="zh-CN" sz="2800" dirty="0" err="1"/>
              <a:t>examinee,department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where </a:t>
            </a:r>
            <a:r>
              <a:rPr lang="en-US" altLang="zh-CN" sz="2800" dirty="0" err="1"/>
              <a:t>examinee.dname</a:t>
            </a:r>
            <a:r>
              <a:rPr lang="en-US" altLang="zh-CN" sz="2800" dirty="0"/>
              <a:t>=</a:t>
            </a:r>
            <a:r>
              <a:rPr lang="en-US" altLang="zh-CN" sz="2800" dirty="0" err="1"/>
              <a:t>department.dname</a:t>
            </a:r>
            <a:r>
              <a:rPr lang="en-US" altLang="zh-CN" sz="2800" dirty="0"/>
              <a:t> </a:t>
            </a:r>
          </a:p>
          <a:p>
            <a:pPr marL="82550" indent="0">
              <a:buNone/>
            </a:pPr>
            <a:r>
              <a:rPr lang="en-US" altLang="zh-CN" sz="2800" dirty="0"/>
              <a:t>     and </a:t>
            </a:r>
            <a:r>
              <a:rPr lang="en-US" altLang="zh-CN" sz="2800" dirty="0" err="1">
                <a:solidFill>
                  <a:srgbClr val="FF0000"/>
                </a:solidFill>
              </a:rPr>
              <a:t>eeage</a:t>
            </a:r>
            <a:r>
              <a:rPr lang="en-US" altLang="zh-CN" sz="2800" dirty="0">
                <a:solidFill>
                  <a:srgbClr val="FF0000"/>
                </a:solidFill>
              </a:rPr>
              <a:t>=20;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40" y="4570095"/>
            <a:ext cx="6633845" cy="1526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7983" y="0"/>
            <a:ext cx="7498080" cy="1143000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endParaRPr lang="zh-CN" altLang="en-US" sz="24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052736"/>
            <a:ext cx="7930128" cy="5437584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自然连接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/>
            </a:pPr>
            <a:r>
              <a:rPr lang="zh-CN" altLang="en-US" sz="2800" dirty="0"/>
              <a:t>笛卡儿积</a:t>
            </a:r>
            <a:r>
              <a:rPr lang="en-US" altLang="zh-CN" sz="2800" dirty="0"/>
              <a:t>+</a:t>
            </a:r>
            <a:r>
              <a:rPr lang="zh-CN" altLang="en-US" sz="2800" dirty="0"/>
              <a:t>筛选（两张表在共同属性上的值相等）：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</a:t>
            </a:r>
            <a:r>
              <a:rPr lang="zh-CN" altLang="en-US" sz="2800" dirty="0"/>
              <a:t>*</a:t>
            </a:r>
            <a:r>
              <a:rPr lang="en-US" altLang="zh-CN" sz="2800" dirty="0"/>
              <a:t> from examinee </a:t>
            </a:r>
            <a:r>
              <a:rPr lang="en-US" altLang="zh-CN" sz="2800" dirty="0" err="1">
                <a:solidFill>
                  <a:srgbClr val="FF0000"/>
                </a:solidFill>
              </a:rPr>
              <a:t>inner join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err="1"/>
              <a:t>exam </a:t>
            </a:r>
            <a:r>
              <a:rPr lang="en-US" altLang="zh-CN" sz="2800" dirty="0" err="1">
                <a:solidFill>
                  <a:srgbClr val="FF0000"/>
                </a:solidFill>
              </a:rPr>
              <a:t>on</a:t>
            </a:r>
            <a:r>
              <a:rPr lang="en-US" altLang="zh-CN" sz="2800" dirty="0" err="1"/>
              <a:t> examinee.eeid = exam.eeid</a:t>
            </a:r>
            <a:r>
              <a:rPr lang="en-US" altLang="zh-CN" sz="2800" dirty="0"/>
              <a:t>;</a:t>
            </a:r>
          </a:p>
        </p:txBody>
      </p:sp>
      <p:sp>
        <p:nvSpPr>
          <p:cNvPr id="7" name="乘号 6"/>
          <p:cNvSpPr/>
          <p:nvPr/>
        </p:nvSpPr>
        <p:spPr>
          <a:xfrm>
            <a:off x="4356328" y="3644715"/>
            <a:ext cx="726884" cy="62296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直角上 8"/>
          <p:cNvSpPr/>
          <p:nvPr/>
        </p:nvSpPr>
        <p:spPr>
          <a:xfrm rot="5400000">
            <a:off x="234124" y="4958756"/>
            <a:ext cx="977064" cy="65354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5" y="4869180"/>
            <a:ext cx="6910705" cy="14376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05" y="3401695"/>
            <a:ext cx="3790315" cy="13125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945" y="3284855"/>
            <a:ext cx="4049395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自然连接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 startAt="2"/>
            </a:pPr>
            <a:r>
              <a:rPr lang="zh-CN" altLang="en-US" sz="2800" dirty="0"/>
              <a:t>查询性别为女性的考生的试卷号：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exam.</a:t>
            </a:r>
            <a:r>
              <a:rPr lang="en-US" altLang="zh-CN" sz="2800" dirty="0" err="1"/>
              <a:t>eid</a:t>
            </a:r>
            <a:r>
              <a:rPr lang="en-US" altLang="zh-CN" sz="2800" dirty="0"/>
              <a:t> from examinee </a:t>
            </a:r>
            <a:r>
              <a:rPr lang="en-US" altLang="zh-CN" sz="2800" dirty="0">
                <a:solidFill>
                  <a:srgbClr val="FF0000"/>
                </a:solidFill>
              </a:rPr>
              <a:t>inner join </a:t>
            </a:r>
            <a:r>
              <a:rPr lang="en-US" altLang="zh-CN" sz="2800" dirty="0" err="1"/>
              <a:t>exam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on</a:t>
            </a:r>
            <a:r>
              <a:rPr lang="en-US" altLang="zh-CN" sz="2800" dirty="0"/>
              <a:t> exam.eeid=examinee.eeid</a:t>
            </a:r>
          </a:p>
          <a:p>
            <a:pPr marL="82550" indent="0">
              <a:buNone/>
            </a:pPr>
            <a:r>
              <a:rPr lang="en-US" altLang="zh-CN" sz="2800" dirty="0"/>
              <a:t>     where </a:t>
            </a:r>
            <a:r>
              <a:rPr lang="en-US" altLang="zh-CN" sz="2800" dirty="0" err="1"/>
              <a:t>eesex</a:t>
            </a:r>
            <a:r>
              <a:rPr lang="en-US" altLang="zh-CN" sz="2800" dirty="0"/>
              <a:t>='</a:t>
            </a:r>
            <a:r>
              <a:rPr lang="zh-CN" altLang="en-US" sz="2800" dirty="0"/>
              <a:t>女</a:t>
            </a:r>
            <a:r>
              <a:rPr lang="en-US" altLang="zh-CN" sz="2800" dirty="0"/>
              <a:t>';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40" y="4220845"/>
            <a:ext cx="68961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r>
              <a:rPr lang="zh-CN" altLang="en-US" sz="2400" dirty="0"/>
              <a:t>查询年龄为</a:t>
            </a:r>
            <a:r>
              <a:rPr lang="en-US" altLang="zh-CN" sz="2400" dirty="0"/>
              <a:t>20</a:t>
            </a:r>
            <a:r>
              <a:rPr lang="zh-CN" altLang="en-US" sz="2400" dirty="0"/>
              <a:t>的考生所在的院系地址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052736"/>
            <a:ext cx="7498080" cy="5437584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条件联接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/>
            </a:pPr>
            <a:r>
              <a:rPr lang="zh-CN" altLang="en-US" sz="2800" dirty="0"/>
              <a:t>笛卡儿积</a:t>
            </a:r>
            <a:r>
              <a:rPr lang="en-US" altLang="zh-CN" sz="2800" dirty="0"/>
              <a:t>+</a:t>
            </a:r>
            <a:r>
              <a:rPr lang="zh-CN" altLang="en-US" sz="2800" dirty="0"/>
              <a:t>筛选</a:t>
            </a:r>
            <a:r>
              <a:rPr lang="zh-CN" altLang="en-US" sz="2800" dirty="0">
                <a:sym typeface="Wingdings" panose="05000000000000000000" pitchFamily="2" charset="2"/>
              </a:rPr>
              <a:t>（自定义的连接条件，且保留了所有属性列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select * from examinee </a:t>
            </a:r>
            <a:r>
              <a:rPr lang="en-US" altLang="zh-CN" sz="2800" dirty="0">
                <a:solidFill>
                  <a:srgbClr val="FF0000"/>
                </a:solidFill>
              </a:rPr>
              <a:t>join</a:t>
            </a:r>
            <a:r>
              <a:rPr lang="en-US" altLang="zh-CN" sz="2800" dirty="0"/>
              <a:t> department     </a:t>
            </a:r>
            <a:r>
              <a:rPr lang="en-US" altLang="zh-CN" sz="2800" dirty="0">
                <a:solidFill>
                  <a:srgbClr val="FF0000"/>
                </a:solidFill>
              </a:rPr>
              <a:t>on</a:t>
            </a:r>
            <a:r>
              <a:rPr lang="en-US" altLang="zh-CN" sz="2800" dirty="0"/>
              <a:t> </a:t>
            </a:r>
            <a:r>
              <a:rPr lang="en-US" altLang="zh-CN" sz="2800" dirty="0" err="1"/>
              <a:t>examinee.dname</a:t>
            </a:r>
            <a:r>
              <a:rPr lang="en-US" altLang="zh-CN" sz="2800" dirty="0"/>
              <a:t>=</a:t>
            </a:r>
            <a:r>
              <a:rPr lang="en-US" altLang="zh-CN" sz="2800" dirty="0" err="1"/>
              <a:t>department.dname</a:t>
            </a:r>
            <a:r>
              <a:rPr lang="en-US" altLang="zh-CN" sz="2800" dirty="0"/>
              <a:t>;</a:t>
            </a:r>
          </a:p>
        </p:txBody>
      </p:sp>
      <p:sp>
        <p:nvSpPr>
          <p:cNvPr id="9" name="箭头: 直角上 8"/>
          <p:cNvSpPr/>
          <p:nvPr/>
        </p:nvSpPr>
        <p:spPr>
          <a:xfrm rot="5400000">
            <a:off x="-68198" y="5068712"/>
            <a:ext cx="982112" cy="434196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乘号 15"/>
          <p:cNvSpPr/>
          <p:nvPr/>
        </p:nvSpPr>
        <p:spPr>
          <a:xfrm>
            <a:off x="4140139" y="3717397"/>
            <a:ext cx="614890" cy="56697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830" y="3500755"/>
            <a:ext cx="4171950" cy="9588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155" y="3429000"/>
            <a:ext cx="4474845" cy="11156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95" y="5023485"/>
            <a:ext cx="7976235" cy="11474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r>
              <a:rPr lang="zh-CN" altLang="en-US" sz="2400" dirty="0"/>
              <a:t>查询年龄为</a:t>
            </a:r>
            <a:r>
              <a:rPr lang="en-US" altLang="zh-CN" sz="2400" dirty="0"/>
              <a:t>20</a:t>
            </a:r>
            <a:r>
              <a:rPr lang="zh-CN" altLang="en-US" sz="2400" dirty="0"/>
              <a:t>的考生所在的院系地址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条件联接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 startAt="2"/>
            </a:pPr>
            <a:r>
              <a:rPr lang="zh-CN" altLang="en-US" sz="2800" dirty="0"/>
              <a:t>查询年龄为</a:t>
            </a:r>
            <a:r>
              <a:rPr lang="en-US" altLang="zh-CN" sz="2800" dirty="0"/>
              <a:t>20</a:t>
            </a:r>
            <a:r>
              <a:rPr lang="zh-CN" altLang="en-US" sz="2800" dirty="0"/>
              <a:t>的考生所在的院系地址：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</a:t>
            </a:r>
            <a:r>
              <a:rPr lang="en-US" altLang="zh-CN" sz="2800" dirty="0" err="1"/>
              <a:t>dloca</a:t>
            </a:r>
            <a:r>
              <a:rPr lang="en-US" altLang="zh-CN" sz="2800" dirty="0"/>
              <a:t> from examinee </a:t>
            </a:r>
            <a:r>
              <a:rPr lang="en-US" altLang="zh-CN" sz="2800" dirty="0">
                <a:solidFill>
                  <a:srgbClr val="FF0000"/>
                </a:solidFill>
              </a:rPr>
              <a:t>join</a:t>
            </a:r>
            <a:r>
              <a:rPr lang="en-US" altLang="zh-CN" sz="2800" dirty="0"/>
              <a:t>     department  </a:t>
            </a:r>
            <a:r>
              <a:rPr lang="en-US" altLang="zh-CN" sz="2800" dirty="0">
                <a:solidFill>
                  <a:srgbClr val="FF0000"/>
                </a:solidFill>
              </a:rPr>
              <a:t>on </a:t>
            </a:r>
            <a:r>
              <a:rPr lang="en-US" altLang="zh-CN" sz="2800" dirty="0" err="1"/>
              <a:t>examinee.dname</a:t>
            </a:r>
            <a:r>
              <a:rPr lang="en-US" altLang="zh-CN" sz="2800" dirty="0"/>
              <a:t>=</a:t>
            </a:r>
            <a:r>
              <a:rPr lang="en-US" altLang="zh-CN" sz="2800" dirty="0" err="1"/>
              <a:t>department.dname</a:t>
            </a:r>
            <a:r>
              <a:rPr lang="en-US" altLang="zh-CN" sz="2800" dirty="0"/>
              <a:t>     	where </a:t>
            </a:r>
            <a:r>
              <a:rPr lang="en-US" altLang="zh-CN" sz="2800" dirty="0" err="1"/>
              <a:t>eeage</a:t>
            </a:r>
            <a:r>
              <a:rPr lang="en-US" altLang="zh-CN" sz="2800" dirty="0"/>
              <a:t>=20;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4220845"/>
            <a:ext cx="5473065" cy="1229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980728"/>
            <a:ext cx="7498080" cy="550959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属性联接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/>
            </a:pPr>
            <a:r>
              <a:rPr lang="zh-CN" altLang="en-US" sz="2800" dirty="0"/>
              <a:t>笛卡儿积</a:t>
            </a:r>
            <a:r>
              <a:rPr lang="en-US" altLang="zh-CN" sz="2800" dirty="0"/>
              <a:t>+</a:t>
            </a:r>
            <a:r>
              <a:rPr lang="zh-CN" altLang="en-US" sz="2800" dirty="0"/>
              <a:t>筛选</a:t>
            </a:r>
            <a:r>
              <a:rPr lang="zh-CN" altLang="en-US" sz="2800" dirty="0">
                <a:sym typeface="Wingdings" panose="05000000000000000000" pitchFamily="2" charset="2"/>
              </a:rPr>
              <a:t>（两表指定共同属性上的值相等，结果会去掉指定的重复属性列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* from examinee </a:t>
            </a:r>
            <a:r>
              <a:rPr lang="en-US" altLang="zh-CN" sz="2800" dirty="0">
                <a:solidFill>
                  <a:srgbClr val="FF0000"/>
                </a:solidFill>
              </a:rPr>
              <a:t>join </a:t>
            </a:r>
            <a:r>
              <a:rPr lang="en-US" altLang="zh-CN" sz="2800" dirty="0"/>
              <a:t>department </a:t>
            </a:r>
          </a:p>
          <a:p>
            <a:pPr marL="82550" indent="0">
              <a:buNone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FF0000"/>
                </a:solidFill>
              </a:rPr>
              <a:t>using(</a:t>
            </a:r>
            <a:r>
              <a:rPr lang="en-US" altLang="zh-CN" sz="2800" dirty="0" err="1">
                <a:solidFill>
                  <a:srgbClr val="FF0000"/>
                </a:solidFill>
              </a:rPr>
              <a:t>dname</a:t>
            </a:r>
            <a:r>
              <a:rPr lang="en-US" altLang="zh-CN" sz="2800" dirty="0">
                <a:solidFill>
                  <a:srgbClr val="FF0000"/>
                </a:solidFill>
              </a:rPr>
              <a:t>);</a:t>
            </a:r>
          </a:p>
        </p:txBody>
      </p:sp>
      <p:sp>
        <p:nvSpPr>
          <p:cNvPr id="9" name="箭头: 直角上 8"/>
          <p:cNvSpPr/>
          <p:nvPr/>
        </p:nvSpPr>
        <p:spPr>
          <a:xfrm rot="5400000">
            <a:off x="171429" y="4829085"/>
            <a:ext cx="1090574" cy="102191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乘号 15"/>
          <p:cNvSpPr/>
          <p:nvPr/>
        </p:nvSpPr>
        <p:spPr>
          <a:xfrm>
            <a:off x="5106609" y="3356717"/>
            <a:ext cx="614890" cy="56697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595" y="5012690"/>
            <a:ext cx="7625080" cy="11709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755" y="4076700"/>
            <a:ext cx="4385310" cy="8966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" y="3500755"/>
            <a:ext cx="4297045" cy="10420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r>
              <a:rPr lang="zh-CN" altLang="en-US" sz="2400" dirty="0"/>
              <a:t>查询年龄为</a:t>
            </a:r>
            <a:r>
              <a:rPr lang="en-US" altLang="zh-CN" sz="2400" dirty="0"/>
              <a:t>20</a:t>
            </a:r>
            <a:r>
              <a:rPr lang="zh-CN" altLang="en-US" sz="2400" dirty="0"/>
              <a:t>的考生所在的院系地址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属性联接</a:t>
            </a:r>
            <a:endParaRPr lang="en-US" altLang="zh-CN" sz="2800" b="1" dirty="0"/>
          </a:p>
          <a:p>
            <a:pPr marL="596900" indent="-514350">
              <a:buFont typeface="+mj-ea"/>
              <a:buAutoNum type="circleNumDbPlain" startAt="2"/>
            </a:pPr>
            <a:r>
              <a:rPr lang="zh-CN" altLang="en-US" sz="2800" dirty="0"/>
              <a:t>查询年龄为</a:t>
            </a:r>
            <a:r>
              <a:rPr lang="en-US" altLang="zh-CN" sz="2800" dirty="0"/>
              <a:t>20</a:t>
            </a:r>
            <a:r>
              <a:rPr lang="zh-CN" altLang="en-US" sz="2800" dirty="0"/>
              <a:t>的考生所在的院系地址：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  select </a:t>
            </a:r>
            <a:r>
              <a:rPr lang="en-US" altLang="zh-CN" sz="2800" dirty="0" err="1"/>
              <a:t>dloca</a:t>
            </a:r>
            <a:r>
              <a:rPr lang="en-US" altLang="zh-CN" sz="2800" dirty="0"/>
              <a:t> from examinee </a:t>
            </a:r>
            <a:r>
              <a:rPr lang="en-US" altLang="zh-CN" sz="2800" dirty="0">
                <a:solidFill>
                  <a:srgbClr val="FF0000"/>
                </a:solidFill>
              </a:rPr>
              <a:t>join </a:t>
            </a:r>
            <a:r>
              <a:rPr lang="en-US" altLang="zh-CN" sz="2800" dirty="0"/>
              <a:t>department </a:t>
            </a:r>
          </a:p>
          <a:p>
            <a:pPr marL="82550" indent="0">
              <a:buNone/>
            </a:pPr>
            <a:r>
              <a:rPr lang="en-US" altLang="zh-CN" sz="2800" dirty="0"/>
              <a:t>     </a:t>
            </a:r>
            <a:r>
              <a:rPr lang="en-US" altLang="zh-CN" sz="2800" dirty="0">
                <a:solidFill>
                  <a:srgbClr val="FF0000"/>
                </a:solidFill>
              </a:rPr>
              <a:t>using(</a:t>
            </a:r>
            <a:r>
              <a:rPr lang="en-US" altLang="zh-CN" sz="2800" dirty="0" err="1">
                <a:solidFill>
                  <a:srgbClr val="FF0000"/>
                </a:solidFill>
              </a:rPr>
              <a:t>dname</a:t>
            </a:r>
            <a:r>
              <a:rPr lang="en-US" altLang="zh-CN" sz="2800" dirty="0">
                <a:solidFill>
                  <a:srgbClr val="FF0000"/>
                </a:solidFill>
              </a:rPr>
              <a:t>) </a:t>
            </a:r>
            <a:r>
              <a:rPr lang="en-US" altLang="zh-CN" sz="2800" dirty="0"/>
              <a:t>where </a:t>
            </a:r>
            <a:r>
              <a:rPr lang="en-US" altLang="zh-CN" sz="2800" dirty="0" err="1"/>
              <a:t>eeage</a:t>
            </a:r>
            <a:r>
              <a:rPr lang="en-US" altLang="zh-CN" sz="2800" dirty="0"/>
              <a:t>=20;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40" y="4364990"/>
            <a:ext cx="6604000" cy="165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8150" y="1340485"/>
            <a:ext cx="6761480" cy="2070100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r>
              <a:rPr lang="zh-CN" altLang="en-US" sz="2800" dirty="0"/>
              <a:t>查询历史学院的考生的所有考试成绩</a:t>
            </a:r>
            <a:br>
              <a:rPr lang="en-US" altLang="zh-CN" sz="2800" dirty="0"/>
            </a:br>
            <a:r>
              <a:rPr lang="en-US" altLang="zh-CN" sz="2800" dirty="0"/>
              <a:t>	</a:t>
            </a:r>
            <a:r>
              <a:rPr lang="zh-CN" altLang="en-US" sz="2800" dirty="0"/>
              <a:t>（笛卡儿积、内联接、条件联接、属性联接）</a:t>
            </a:r>
            <a:endParaRPr lang="zh-CN" alt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r>
              <a:rPr lang="zh-CN" altLang="en-US" sz="2800" dirty="0"/>
              <a:t>查询性别为女性的考生的</a:t>
            </a:r>
            <a:r>
              <a:rPr lang="zh-CN" altLang="en-US" sz="2800" dirty="0">
                <a:solidFill>
                  <a:srgbClr val="FF0000"/>
                </a:solidFill>
              </a:rPr>
              <a:t>试卷名</a:t>
            </a:r>
            <a:endParaRPr lang="zh-CN" altLang="en-US" sz="33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608" y="1680744"/>
            <a:ext cx="7498080" cy="5149552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考生表：</a:t>
            </a:r>
            <a:r>
              <a:rPr lang="en-US" altLang="zh-CN" sz="2800" dirty="0"/>
              <a:t>examinee(</a:t>
            </a:r>
            <a:r>
              <a:rPr lang="en-US" altLang="zh-CN" sz="2800" dirty="0" err="1"/>
              <a:t>id,eename,eesex,eeage,dname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r>
              <a:rPr lang="zh-CN" altLang="zh-CN" sz="2800" dirty="0"/>
              <a:t>试卷表：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exampaper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eid</a:t>
            </a:r>
            <a:r>
              <a:rPr lang="en-US" altLang="zh-CN" sz="2800" dirty="0"/>
              <a:t>, </a:t>
            </a:r>
            <a:r>
              <a:rPr lang="en-US" altLang="zh-CN" sz="2800" dirty="0" err="1">
                <a:solidFill>
                  <a:srgbClr val="FF0000"/>
                </a:solidFill>
              </a:rPr>
              <a:t>ename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etype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eduration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r>
              <a:rPr lang="zh-CN" altLang="zh-CN" sz="2800" dirty="0"/>
              <a:t>考生答卷表：</a:t>
            </a:r>
            <a:endParaRPr lang="en-US" altLang="zh-CN" sz="2800" dirty="0"/>
          </a:p>
          <a:p>
            <a:pPr marL="82550" indent="0"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eeexam</a:t>
            </a:r>
            <a:r>
              <a:rPr lang="en-US" altLang="zh-CN" sz="2800" dirty="0"/>
              <a:t>(</a:t>
            </a:r>
            <a:r>
              <a:rPr lang="en-US" altLang="zh-CN" sz="2800" dirty="0" err="1"/>
              <a:t>id,eid,achieve</a:t>
            </a:r>
            <a:r>
              <a:rPr lang="en-US" altLang="zh-CN" sz="2800" dirty="0"/>
              <a:t>)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联接查询：</a:t>
            </a:r>
            <a:r>
              <a:rPr lang="zh-CN" altLang="en-US" sz="2800" dirty="0"/>
              <a:t>查询性别为女性的考生的</a:t>
            </a:r>
            <a:r>
              <a:rPr lang="zh-CN" altLang="en-US" sz="2800" dirty="0">
                <a:solidFill>
                  <a:srgbClr val="FF0000"/>
                </a:solidFill>
              </a:rPr>
              <a:t>试卷名</a:t>
            </a:r>
            <a:endParaRPr lang="zh-CN" altLang="en-US" sz="33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三表联接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ename</a:t>
            </a:r>
            <a:r>
              <a:rPr lang="en-US" altLang="zh-CN" sz="2800" dirty="0"/>
              <a:t> from     </a:t>
            </a:r>
            <a:r>
              <a:rPr lang="en-US" altLang="zh-CN" sz="2800" dirty="0" err="1"/>
              <a:t>examinee,exam,exampaper</a:t>
            </a:r>
            <a:r>
              <a:rPr lang="en-US" altLang="zh-CN" sz="2800" dirty="0"/>
              <a:t> </a:t>
            </a:r>
          </a:p>
          <a:p>
            <a:pPr marL="82550" indent="0">
              <a:buNone/>
            </a:pPr>
            <a:r>
              <a:rPr lang="en-US" altLang="zh-CN" sz="2800" dirty="0"/>
              <a:t>where </a:t>
            </a:r>
            <a:r>
              <a:rPr lang="en-US" altLang="zh-CN" sz="2800" dirty="0">
                <a:solidFill>
                  <a:srgbClr val="FF0000"/>
                </a:solidFill>
              </a:rPr>
              <a:t>examinee.eeid=exam.eeid </a:t>
            </a:r>
          </a:p>
          <a:p>
            <a:pPr marL="82550" indent="0">
              <a:buNone/>
            </a:pPr>
            <a:r>
              <a:rPr lang="en-US" altLang="zh-CN" sz="2800" dirty="0"/>
              <a:t>and </a:t>
            </a:r>
            <a:r>
              <a:rPr lang="en-US" altLang="zh-CN" sz="2800" dirty="0" err="1">
                <a:solidFill>
                  <a:srgbClr val="FF0000"/>
                </a:solidFill>
              </a:rPr>
              <a:t>exam.eid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en-US" altLang="zh-CN" sz="2800" dirty="0" err="1">
                <a:solidFill>
                  <a:srgbClr val="FF0000"/>
                </a:solidFill>
              </a:rPr>
              <a:t>exampaper.eid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</a:p>
          <a:p>
            <a:pPr marL="82550" indent="0">
              <a:buNone/>
            </a:pPr>
            <a:r>
              <a:rPr lang="en-US" altLang="zh-CN" sz="2800" dirty="0"/>
              <a:t>and </a:t>
            </a:r>
            <a:r>
              <a:rPr lang="en-US" altLang="zh-CN" sz="2800" dirty="0" err="1"/>
              <a:t>eesex</a:t>
            </a:r>
            <a:r>
              <a:rPr lang="en-US" altLang="zh-CN" sz="2800" dirty="0"/>
              <a:t>='</a:t>
            </a:r>
            <a:r>
              <a:rPr lang="zh-CN" altLang="en-US" sz="2800" dirty="0"/>
              <a:t>女</a:t>
            </a:r>
            <a:r>
              <a:rPr lang="en-US" altLang="zh-CN" sz="2800" dirty="0"/>
              <a:t>';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95" y="4364990"/>
            <a:ext cx="71628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0650" y="2060575"/>
            <a:ext cx="7370445" cy="2259965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r>
              <a:rPr lang="zh-CN" altLang="en-US" sz="2800" dirty="0"/>
              <a:t>查询历史学院学生考试成绩分数大于</a:t>
            </a:r>
            <a:r>
              <a:rPr lang="en-US" altLang="zh-CN" sz="2800" dirty="0"/>
              <a:t>90</a:t>
            </a:r>
            <a:r>
              <a:rPr lang="zh-CN" altLang="en-US" sz="2800" dirty="0"/>
              <a:t>分的所有科目</a:t>
            </a:r>
            <a:r>
              <a:rPr lang="en-US" altLang="zh-CN" sz="2800" dirty="0"/>
              <a:t>	</a:t>
            </a:r>
            <a:br>
              <a:rPr lang="en-US" altLang="zh-CN" sz="2800" dirty="0"/>
            </a:br>
            <a:r>
              <a:rPr lang="zh-CN" altLang="en-US" sz="2800" dirty="0"/>
              <a:t>（笛卡儿积、自然联接、条件联接、属性联接）</a:t>
            </a:r>
            <a:endParaRPr lang="zh-CN" altLang="en-US" sz="3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联接查询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笛卡儿积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自然联接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属性联接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嵌套查询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子查询作为表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子查询作为集合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子查询作为标量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关于嵌套查询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有些嵌套查询的功能也可以通过联接查询完成，但是嵌套查询使得</a:t>
            </a:r>
            <a:r>
              <a:rPr lang="en-US" altLang="zh-CN" sz="2400" dirty="0"/>
              <a:t>SQL</a:t>
            </a:r>
            <a:r>
              <a:rPr lang="zh-CN" altLang="en-US" sz="2400" dirty="0"/>
              <a:t>代码更容易阅读和编写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有些查询只能通过嵌套查询完成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联接查询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笛卡儿积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自然联接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属性联接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嵌套查询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子查询作为表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子查询作为集合</a:t>
            </a:r>
            <a:endParaRPr lang="en-US" altLang="zh-CN" sz="2400" dirty="0"/>
          </a:p>
          <a:p>
            <a:pPr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子查询作为标量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查询平均成绩大于</a:t>
            </a:r>
            <a:r>
              <a:rPr lang="en-US" altLang="zh-CN" sz="2800" dirty="0"/>
              <a:t>85</a:t>
            </a:r>
            <a:r>
              <a:rPr lang="zh-CN" altLang="en-US" sz="2800" dirty="0"/>
              <a:t>分的考生的学号和平均成绩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from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zh-CN" altLang="en-US" sz="2800" dirty="0"/>
              <a:t>* </a:t>
            </a:r>
            <a:r>
              <a:rPr lang="en-US" altLang="zh-CN" sz="2800" dirty="0">
                <a:solidFill>
                  <a:srgbClr val="FF0000"/>
                </a:solidFill>
              </a:rPr>
              <a:t>from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(select ee</a:t>
            </a:r>
            <a:r>
              <a:rPr lang="en-US" altLang="zh-CN" sz="2800" dirty="0" err="1">
                <a:solidFill>
                  <a:schemeClr val="accent1"/>
                </a:solidFill>
              </a:rPr>
              <a:t>id,avg</a:t>
            </a:r>
            <a:r>
              <a:rPr lang="en-US" altLang="zh-CN" sz="2800" dirty="0">
                <a:solidFill>
                  <a:schemeClr val="accent1"/>
                </a:solidFill>
              </a:rPr>
              <a:t>(achieve) from </a:t>
            </a:r>
            <a:r>
              <a:rPr lang="en-US" altLang="zh-CN" sz="2800" dirty="0" err="1">
                <a:solidFill>
                  <a:schemeClr val="accent1"/>
                </a:solidFill>
              </a:rPr>
              <a:t>exam</a:t>
            </a:r>
            <a:r>
              <a:rPr lang="en-US" altLang="zh-CN" sz="2800" dirty="0">
                <a:solidFill>
                  <a:schemeClr val="accent1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group by ee</a:t>
            </a:r>
            <a:r>
              <a:rPr lang="en-US" altLang="zh-CN" sz="2800" dirty="0">
                <a:solidFill>
                  <a:schemeClr val="accent1"/>
                </a:solidFill>
              </a:rPr>
              <a:t>id) </a:t>
            </a:r>
            <a:r>
              <a:rPr lang="en-US" altLang="zh-CN" sz="2800" dirty="0">
                <a:solidFill>
                  <a:srgbClr val="FF0000"/>
                </a:solidFill>
              </a:rPr>
              <a:t>as </a:t>
            </a:r>
            <a:r>
              <a:rPr lang="en-US" altLang="zh-CN" sz="2800" dirty="0" err="1"/>
              <a:t>ee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new_id,avg_achi</a:t>
            </a:r>
            <a:r>
              <a:rPr lang="en-US" altLang="zh-CN" sz="2800" dirty="0"/>
              <a:t>) where </a:t>
            </a:r>
            <a:r>
              <a:rPr lang="en-US" altLang="zh-CN" sz="2800" dirty="0" err="1"/>
              <a:t>avg_achi</a:t>
            </a:r>
            <a:r>
              <a:rPr lang="en-US" altLang="zh-CN" sz="2800" dirty="0"/>
              <a:t>&gt;85</a:t>
            </a:r>
          </a:p>
        </p:txBody>
      </p:sp>
      <p:sp>
        <p:nvSpPr>
          <p:cNvPr id="8" name="箭头: 直角上 7"/>
          <p:cNvSpPr/>
          <p:nvPr/>
        </p:nvSpPr>
        <p:spPr>
          <a:xfrm rot="5400000">
            <a:off x="2893590" y="5070928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90" y="5490210"/>
            <a:ext cx="4138295" cy="8458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85" y="3284855"/>
            <a:ext cx="4919980" cy="17297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1268760"/>
            <a:ext cx="7498080" cy="2592288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br>
              <a:rPr lang="en-US" altLang="zh-CN" sz="2600" dirty="0"/>
            </a:br>
            <a:r>
              <a:rPr lang="zh-CN" altLang="en-US" sz="2600" dirty="0">
                <a:solidFill>
                  <a:srgbClr val="4F271C">
                    <a:satMod val="130000"/>
                  </a:srgbClr>
                </a:solidFill>
              </a:rPr>
              <a:t>查询考生表中男女考生的平均年龄中较大的那个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595" y="4004945"/>
            <a:ext cx="7435850" cy="16490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查询平均成绩大于</a:t>
            </a:r>
            <a:r>
              <a:rPr lang="en-US" altLang="zh-CN" sz="2800" dirty="0"/>
              <a:t>85</a:t>
            </a:r>
            <a:r>
              <a:rPr lang="zh-CN" altLang="en-US" sz="2800" dirty="0"/>
              <a:t>分的考生的学号和平均成绩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with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with</a:t>
            </a:r>
            <a:r>
              <a:rPr lang="en-US" altLang="zh-CN" sz="2800" dirty="0"/>
              <a:t> </a:t>
            </a:r>
            <a:r>
              <a:rPr lang="en-US" altLang="zh-CN" sz="2800" dirty="0" err="1"/>
              <a:t>ee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new_id,avg_achi</a:t>
            </a:r>
            <a:r>
              <a:rPr lang="en-US" altLang="zh-CN" sz="2800" dirty="0"/>
              <a:t>) </a:t>
            </a:r>
            <a:r>
              <a:rPr lang="en-US" altLang="zh-CN" sz="2800" dirty="0">
                <a:solidFill>
                  <a:srgbClr val="FF0000"/>
                </a:solidFill>
              </a:rPr>
              <a:t>as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(select </a:t>
            </a:r>
            <a:r>
              <a:rPr lang="en-US" altLang="zh-CN" sz="2800" dirty="0" err="1">
                <a:solidFill>
                  <a:schemeClr val="accent1"/>
                </a:solidFill>
              </a:rPr>
              <a:t>id,avg</a:t>
            </a:r>
            <a:r>
              <a:rPr lang="en-US" altLang="zh-CN" sz="2800" dirty="0">
                <a:solidFill>
                  <a:schemeClr val="accent1"/>
                </a:solidFill>
              </a:rPr>
              <a:t>(achieve) from </a:t>
            </a:r>
            <a:r>
              <a:rPr lang="en-US" altLang="zh-CN" sz="2800" dirty="0" err="1">
                <a:solidFill>
                  <a:schemeClr val="accent1"/>
                </a:solidFill>
              </a:rPr>
              <a:t>eeexam</a:t>
            </a:r>
            <a:r>
              <a:rPr lang="en-US" altLang="zh-CN" sz="2800" dirty="0">
                <a:solidFill>
                  <a:schemeClr val="accent1"/>
                </a:solidFill>
              </a:rPr>
              <a:t> group by id)</a:t>
            </a:r>
          </a:p>
          <a:p>
            <a:pPr marL="82550" indent="0">
              <a:buNone/>
            </a:pPr>
            <a:r>
              <a:rPr lang="en-US" altLang="zh-CN" sz="2800" dirty="0"/>
              <a:t>select * from </a:t>
            </a:r>
            <a:r>
              <a:rPr lang="en-US" altLang="zh-CN" sz="2800" dirty="0" err="1"/>
              <a:t>ee</a:t>
            </a:r>
            <a:r>
              <a:rPr lang="en-US" altLang="zh-CN" sz="2800" dirty="0"/>
              <a:t> where </a:t>
            </a:r>
            <a:r>
              <a:rPr lang="en-US" altLang="zh-CN" sz="2800" dirty="0" err="1"/>
              <a:t>avg_achi</a:t>
            </a:r>
            <a:r>
              <a:rPr lang="en-US" altLang="zh-CN" sz="2800" dirty="0"/>
              <a:t>&gt;85</a:t>
            </a:r>
          </a:p>
        </p:txBody>
      </p:sp>
      <p:sp>
        <p:nvSpPr>
          <p:cNvPr id="10" name="箭头: 直角上 9"/>
          <p:cNvSpPr/>
          <p:nvPr/>
        </p:nvSpPr>
        <p:spPr>
          <a:xfrm rot="5400000">
            <a:off x="1793770" y="5070928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735" y="3284855"/>
            <a:ext cx="6344285" cy="1822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5" y="5591810"/>
            <a:ext cx="4954270" cy="7442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1268760"/>
            <a:ext cx="7498080" cy="2592288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br>
              <a:rPr lang="en-US" altLang="zh-CN" sz="2600" dirty="0"/>
            </a:br>
            <a:r>
              <a:rPr lang="zh-CN" altLang="en-US" sz="2600" dirty="0">
                <a:solidFill>
                  <a:srgbClr val="4F271C">
                    <a:satMod val="130000"/>
                  </a:srgbClr>
                </a:solidFill>
              </a:rPr>
              <a:t>查询考生表中男女考生的平均年龄中较大的那个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" y="3860800"/>
            <a:ext cx="7435850" cy="16490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联接查询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笛卡儿积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自然联接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属性联接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嵌套查询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子查询作为表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子查询作为集合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子查询作为标量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426170"/>
          </a:xfrm>
        </p:spPr>
        <p:txBody>
          <a:bodyPr>
            <a:normAutofit fontScale="90000"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查询考生表中是否存在</a:t>
            </a:r>
            <a:r>
              <a:rPr lang="en-US" altLang="zh-CN" sz="2800" dirty="0"/>
              <a:t>id=218811011013</a:t>
            </a:r>
            <a:r>
              <a:rPr lang="zh-CN" altLang="en-US" sz="2800" dirty="0"/>
              <a:t>的考生，如果存在就查询该考生的考试记录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814869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where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* from </a:t>
            </a:r>
            <a:r>
              <a:rPr lang="en-US" altLang="zh-CN" sz="2800" dirty="0" err="1"/>
              <a:t>exam</a:t>
            </a:r>
            <a:r>
              <a:rPr lang="en-US" altLang="zh-CN" sz="2800" dirty="0"/>
              <a:t> where </a:t>
            </a:r>
            <a:r>
              <a:rPr lang="en-US" altLang="zh-CN" sz="2800" dirty="0">
                <a:solidFill>
                  <a:srgbClr val="FF0000"/>
                </a:solidFill>
              </a:rPr>
              <a:t>exists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(select * from examinee where eeid='218811011013') </a:t>
            </a:r>
            <a:r>
              <a:rPr lang="en-US" altLang="zh-CN" sz="2800" dirty="0"/>
              <a:t>and eeid='218811011013';</a:t>
            </a:r>
            <a:endParaRPr lang="en-US" altLang="zh-CN" sz="2800" dirty="0">
              <a:solidFill>
                <a:schemeClr val="accent1"/>
              </a:solidFill>
            </a:endParaRPr>
          </a:p>
        </p:txBody>
      </p:sp>
      <p:sp>
        <p:nvSpPr>
          <p:cNvPr id="11" name="箭头: 直角上 10"/>
          <p:cNvSpPr/>
          <p:nvPr/>
        </p:nvSpPr>
        <p:spPr>
          <a:xfrm rot="5400000">
            <a:off x="1722835" y="5126451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5" y="5300980"/>
            <a:ext cx="5638800" cy="1405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716655"/>
            <a:ext cx="4126865" cy="14293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420" y="3644900"/>
            <a:ext cx="4049395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查询性别为女性的考生的试卷号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where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eid</a:t>
            </a:r>
            <a:r>
              <a:rPr lang="en-US" altLang="zh-CN" sz="2800" dirty="0"/>
              <a:t> from </a:t>
            </a:r>
            <a:r>
              <a:rPr lang="en-US" altLang="zh-CN" sz="2800" dirty="0" err="1"/>
              <a:t>exam</a:t>
            </a:r>
            <a:r>
              <a:rPr lang="en-US" altLang="zh-CN" sz="2800" dirty="0"/>
              <a:t> </a:t>
            </a:r>
          </a:p>
          <a:p>
            <a:pPr marL="82550" indent="0">
              <a:buNone/>
            </a:pPr>
            <a:r>
              <a:rPr lang="en-US" altLang="zh-CN" sz="2800" dirty="0"/>
              <a:t>where id </a:t>
            </a:r>
            <a:r>
              <a:rPr lang="en-US" altLang="zh-CN" sz="2800" dirty="0">
                <a:solidFill>
                  <a:srgbClr val="FF0000"/>
                </a:solidFill>
              </a:rPr>
              <a:t>in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1"/>
                </a:solidFill>
              </a:rPr>
              <a:t>(select eeid from examinee where </a:t>
            </a:r>
            <a:r>
              <a:rPr lang="en-US" altLang="zh-CN" sz="2800" dirty="0" err="1">
                <a:solidFill>
                  <a:schemeClr val="accent1"/>
                </a:solidFill>
              </a:rPr>
              <a:t>eesex</a:t>
            </a:r>
            <a:r>
              <a:rPr lang="en-US" altLang="zh-CN" sz="2800" dirty="0">
                <a:solidFill>
                  <a:schemeClr val="accent1"/>
                </a:solidFill>
              </a:rPr>
              <a:t>='</a:t>
            </a:r>
            <a:r>
              <a:rPr lang="zh-CN" altLang="en-US" sz="2800" dirty="0">
                <a:solidFill>
                  <a:schemeClr val="accent1"/>
                </a:solidFill>
              </a:rPr>
              <a:t>女</a:t>
            </a:r>
            <a:r>
              <a:rPr lang="en-US" altLang="zh-CN" sz="2800" dirty="0">
                <a:solidFill>
                  <a:schemeClr val="accent1"/>
                </a:solidFill>
              </a:rPr>
              <a:t>');</a:t>
            </a:r>
          </a:p>
        </p:txBody>
      </p:sp>
      <p:sp>
        <p:nvSpPr>
          <p:cNvPr id="8" name="箭头: 直角上 7"/>
          <p:cNvSpPr/>
          <p:nvPr/>
        </p:nvSpPr>
        <p:spPr>
          <a:xfrm rot="5400000">
            <a:off x="2010489" y="4688489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" y="3356610"/>
            <a:ext cx="4126865" cy="1429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280" y="3356610"/>
            <a:ext cx="4049395" cy="1362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010" y="5012690"/>
            <a:ext cx="4534535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查询性别为女性的考生的试卷号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where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eid</a:t>
            </a:r>
            <a:r>
              <a:rPr lang="en-US" altLang="zh-CN" sz="2800" dirty="0"/>
              <a:t> from </a:t>
            </a:r>
            <a:r>
              <a:rPr lang="en-US" altLang="zh-CN" sz="2800" dirty="0" err="1"/>
              <a:t>exam</a:t>
            </a:r>
            <a:r>
              <a:rPr lang="en-US" altLang="zh-CN" sz="2800" dirty="0"/>
              <a:t> </a:t>
            </a:r>
          </a:p>
          <a:p>
            <a:pPr marL="82550" indent="0">
              <a:buNone/>
            </a:pPr>
            <a:r>
              <a:rPr lang="en-US" altLang="zh-CN" sz="2800" dirty="0"/>
              <a:t>where </a:t>
            </a:r>
            <a:r>
              <a:rPr lang="en-US" altLang="zh-CN" sz="2800" dirty="0" err="1"/>
              <a:t>eeid</a:t>
            </a:r>
            <a:r>
              <a:rPr lang="en-US" altLang="zh-CN" sz="2800" dirty="0">
                <a:solidFill>
                  <a:srgbClr val="FF0000"/>
                </a:solidFill>
              </a:rPr>
              <a:t>=any</a:t>
            </a:r>
            <a:r>
              <a:rPr lang="en-US" altLang="zh-CN" sz="2800" dirty="0">
                <a:solidFill>
                  <a:schemeClr val="accent1"/>
                </a:solidFill>
              </a:rPr>
              <a:t>(select </a:t>
            </a:r>
            <a:r>
              <a:rPr lang="en-US" altLang="zh-CN" sz="2800" dirty="0" err="1">
                <a:solidFill>
                  <a:schemeClr val="accent1"/>
                </a:solidFill>
              </a:rPr>
              <a:t>eeid</a:t>
            </a:r>
            <a:r>
              <a:rPr lang="en-US" altLang="zh-CN" sz="2800" dirty="0">
                <a:solidFill>
                  <a:schemeClr val="accent1"/>
                </a:solidFill>
              </a:rPr>
              <a:t> from examinee where </a:t>
            </a:r>
            <a:r>
              <a:rPr lang="en-US" altLang="zh-CN" sz="2800" dirty="0" err="1">
                <a:solidFill>
                  <a:schemeClr val="accent1"/>
                </a:solidFill>
              </a:rPr>
              <a:t>eesex</a:t>
            </a:r>
            <a:r>
              <a:rPr lang="en-US" altLang="zh-CN" sz="2800" dirty="0">
                <a:solidFill>
                  <a:schemeClr val="accent1"/>
                </a:solidFill>
              </a:rPr>
              <a:t>='</a:t>
            </a:r>
            <a:r>
              <a:rPr lang="zh-CN" altLang="en-US" sz="2800" dirty="0">
                <a:solidFill>
                  <a:schemeClr val="accent1"/>
                </a:solidFill>
              </a:rPr>
              <a:t>女</a:t>
            </a:r>
            <a:r>
              <a:rPr lang="en-US" altLang="zh-CN" sz="2800" dirty="0">
                <a:solidFill>
                  <a:schemeClr val="accent1"/>
                </a:solidFill>
              </a:rPr>
              <a:t>');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410" y="4004945"/>
            <a:ext cx="5632450" cy="176085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1268760"/>
            <a:ext cx="7498080" cy="2592288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br>
              <a:rPr lang="en-US" altLang="zh-CN" sz="3300" dirty="0"/>
            </a:br>
            <a:r>
              <a:rPr lang="en-US" altLang="zh-CN" sz="2600" dirty="0"/>
              <a:t>1. </a:t>
            </a:r>
            <a:r>
              <a:rPr lang="zh-CN" altLang="en-US" sz="2600" dirty="0">
                <a:solidFill>
                  <a:srgbClr val="4F271C">
                    <a:satMod val="130000"/>
                  </a:srgbClr>
                </a:solidFill>
              </a:rPr>
              <a:t>查询考生表中年龄大于</a:t>
            </a:r>
            <a:r>
              <a:rPr lang="zh-CN" altLang="en-US" sz="2600" dirty="0">
                <a:solidFill>
                  <a:srgbClr val="FF0000"/>
                </a:solidFill>
              </a:rPr>
              <a:t>某个</a:t>
            </a:r>
            <a:r>
              <a:rPr lang="zh-CN" altLang="en-US" sz="2600" dirty="0">
                <a:solidFill>
                  <a:srgbClr val="4F271C">
                    <a:satMod val="130000"/>
                  </a:srgbClr>
                </a:solidFill>
              </a:rPr>
              <a:t>女考生的男考生号</a:t>
            </a:r>
            <a:br>
              <a:rPr lang="en-US" altLang="zh-CN" sz="2600" dirty="0">
                <a:solidFill>
                  <a:srgbClr val="4F271C">
                    <a:satMod val="130000"/>
                  </a:srgbClr>
                </a:solidFill>
              </a:rPr>
            </a:br>
            <a:r>
              <a:rPr lang="en-US" altLang="zh-CN" sz="2600" dirty="0">
                <a:solidFill>
                  <a:srgbClr val="4F271C">
                    <a:satMod val="130000"/>
                  </a:srgbClr>
                </a:solidFill>
              </a:rPr>
              <a:t>2. </a:t>
            </a:r>
            <a:r>
              <a:rPr lang="zh-CN" altLang="en-US" sz="2600" dirty="0">
                <a:solidFill>
                  <a:srgbClr val="4F271C">
                    <a:satMod val="130000"/>
                  </a:srgbClr>
                </a:solidFill>
              </a:rPr>
              <a:t>查询考生表中年龄大于</a:t>
            </a:r>
            <a:r>
              <a:rPr lang="zh-CN" altLang="en-US" sz="2600" dirty="0">
                <a:solidFill>
                  <a:srgbClr val="FF0000"/>
                </a:solidFill>
              </a:rPr>
              <a:t>所有</a:t>
            </a:r>
            <a:r>
              <a:rPr lang="zh-CN" altLang="en-US" sz="2600" dirty="0">
                <a:solidFill>
                  <a:srgbClr val="4F271C">
                    <a:satMod val="130000"/>
                  </a:srgbClr>
                </a:solidFill>
              </a:rPr>
              <a:t>女考生的男考生号</a:t>
            </a:r>
            <a:endParaRPr lang="zh-CN" altLang="en-US" sz="2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830" y="3860800"/>
            <a:ext cx="5200015" cy="18008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3300" dirty="0">
                <a:solidFill>
                  <a:schemeClr val="tx2">
                    <a:satMod val="130000"/>
                  </a:schemeClr>
                </a:solidFill>
              </a:rPr>
              <a:t>主要内容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1428750" y="1368425"/>
            <a:ext cx="7499350" cy="4800600"/>
          </a:xfrm>
        </p:spPr>
        <p:txBody>
          <a:bodyPr>
            <a:normAutofit/>
          </a:bodyPr>
          <a:lstStyle/>
          <a:p>
            <a:pPr marL="82550" indent="0" eaLnBrk="1" hangingPunct="1">
              <a:buClrTx/>
              <a:buFont typeface="Wingdings 2" panose="05020102010507070707" pitchFamily="18" charset="2"/>
              <a:buNone/>
              <a:defRPr/>
            </a:pPr>
            <a:r>
              <a:rPr lang="zh-CN" altLang="en-US" sz="2800" dirty="0"/>
              <a:t>联接查询</a:t>
            </a:r>
            <a:endParaRPr lang="en-US" altLang="zh-CN" sz="20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笛卡儿积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自然联接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条件联接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属性联接</a:t>
            </a:r>
            <a:endParaRPr lang="en-US" altLang="zh-CN" sz="2400" dirty="0"/>
          </a:p>
          <a:p>
            <a:pPr marL="82550" indent="0" eaLnBrk="1" hangingPunct="1">
              <a:buClrTx/>
              <a:buNone/>
              <a:defRPr/>
            </a:pPr>
            <a:endParaRPr lang="en-US" altLang="zh-CN" dirty="0"/>
          </a:p>
          <a:p>
            <a:pPr marL="82550" indent="0" eaLnBrk="1" hangingPunct="1">
              <a:buFont typeface="Wingdings 2" panose="05020102010507070707" pitchFamily="18" charset="2"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嵌套查询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子查询作为表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/>
              <a:t>子查询作为集合</a:t>
            </a:r>
            <a:endParaRPr lang="en-US" altLang="zh-CN" sz="2400" dirty="0"/>
          </a:p>
          <a:p>
            <a:pPr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子查询作为标量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查询学号为</a:t>
            </a:r>
            <a:r>
              <a:rPr lang="en-US" altLang="zh-CN" sz="2800" dirty="0"/>
              <a:t>218811011119</a:t>
            </a:r>
            <a:r>
              <a:rPr lang="zh-CN" altLang="en-US" sz="2800" dirty="0"/>
              <a:t>的考生比年龄最大的考生小多少岁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select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>
                <a:solidFill>
                  <a:schemeClr val="accent1"/>
                </a:solidFill>
              </a:rPr>
              <a:t>(select max(</a:t>
            </a:r>
            <a:r>
              <a:rPr lang="en-US" altLang="zh-CN" sz="2800" dirty="0" err="1">
                <a:solidFill>
                  <a:schemeClr val="accent1"/>
                </a:solidFill>
              </a:rPr>
              <a:t>eeage</a:t>
            </a:r>
            <a:r>
              <a:rPr lang="en-US" altLang="zh-CN" sz="2800" dirty="0">
                <a:solidFill>
                  <a:schemeClr val="accent1"/>
                </a:solidFill>
              </a:rPr>
              <a:t>) from examinee)</a:t>
            </a:r>
            <a:r>
              <a:rPr lang="en-US" altLang="zh-CN" sz="2800" dirty="0"/>
              <a:t>-</a:t>
            </a:r>
            <a:r>
              <a:rPr lang="en-US" altLang="zh-CN" sz="2800" dirty="0">
                <a:solidFill>
                  <a:schemeClr val="accent1"/>
                </a:solidFill>
              </a:rPr>
              <a:t>(select </a:t>
            </a:r>
            <a:r>
              <a:rPr lang="en-US" altLang="zh-CN" sz="2800" dirty="0" err="1">
                <a:solidFill>
                  <a:schemeClr val="accent1"/>
                </a:solidFill>
              </a:rPr>
              <a:t>eeage</a:t>
            </a:r>
            <a:r>
              <a:rPr lang="en-US" altLang="zh-CN" sz="2800" dirty="0">
                <a:solidFill>
                  <a:schemeClr val="accent1"/>
                </a:solidFill>
              </a:rPr>
              <a:t> from examinee where eeid='218811011219') </a:t>
            </a:r>
            <a:r>
              <a:rPr lang="en-US" altLang="zh-CN" sz="2800" dirty="0">
                <a:solidFill>
                  <a:srgbClr val="FF0000"/>
                </a:solidFill>
              </a:rPr>
              <a:t>as</a:t>
            </a:r>
            <a:r>
              <a:rPr lang="en-US" altLang="zh-CN" sz="2800" dirty="0"/>
              <a:t> </a:t>
            </a:r>
            <a:r>
              <a:rPr lang="en-US" altLang="zh-CN" sz="2800" dirty="0" err="1"/>
              <a:t>age_dif</a:t>
            </a:r>
            <a:r>
              <a:rPr lang="en-US" altLang="zh-CN" sz="2800" dirty="0"/>
              <a:t>;</a:t>
            </a:r>
          </a:p>
        </p:txBody>
      </p:sp>
      <p:sp>
        <p:nvSpPr>
          <p:cNvPr id="8" name="箭头: 直角上 7"/>
          <p:cNvSpPr/>
          <p:nvPr/>
        </p:nvSpPr>
        <p:spPr>
          <a:xfrm rot="5400000">
            <a:off x="3234863" y="5055117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75" y="3284855"/>
            <a:ext cx="5200015" cy="1800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535" y="5445125"/>
            <a:ext cx="3720465" cy="9067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查询每个院系的平均分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Group by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400" dirty="0"/>
              <a:t>select </a:t>
            </a:r>
          </a:p>
          <a:p>
            <a:pPr marL="82550" indent="0">
              <a:buNone/>
            </a:pPr>
            <a:r>
              <a:rPr lang="en-US" altLang="zh-CN" sz="2400" dirty="0"/>
              <a:t>(	select </a:t>
            </a:r>
            <a:r>
              <a:rPr lang="en-US" altLang="zh-CN" sz="2400" dirty="0" err="1"/>
              <a:t>dname</a:t>
            </a:r>
            <a:r>
              <a:rPr lang="en-US" altLang="zh-CN" sz="2400" dirty="0"/>
              <a:t> from examinee where exam.eeid=examinee.eeid), </a:t>
            </a:r>
            <a:r>
              <a:rPr lang="en-US" altLang="zh-CN" sz="2400" dirty="0" err="1"/>
              <a:t>avg</a:t>
            </a:r>
            <a:r>
              <a:rPr lang="en-US" altLang="zh-CN" sz="2400" dirty="0"/>
              <a:t>(achieve)</a:t>
            </a:r>
          </a:p>
          <a:p>
            <a:pPr marL="82550" indent="0">
              <a:buNone/>
            </a:pPr>
            <a:r>
              <a:rPr lang="en-US" altLang="zh-CN" sz="2400" dirty="0"/>
              <a:t>from </a:t>
            </a:r>
            <a:r>
              <a:rPr lang="en-US" altLang="zh-CN" sz="2400" dirty="0" err="1"/>
              <a:t>exam</a:t>
            </a:r>
            <a:endParaRPr lang="en-US" altLang="zh-CN" sz="2400" dirty="0"/>
          </a:p>
          <a:p>
            <a:pPr marL="82550" indent="0">
              <a:buNone/>
            </a:pPr>
            <a:r>
              <a:rPr lang="en-US" altLang="zh-CN" sz="2400" dirty="0"/>
              <a:t>group by (select </a:t>
            </a:r>
            <a:r>
              <a:rPr lang="en-US" altLang="zh-CN" sz="2400" dirty="0" err="1"/>
              <a:t>dname</a:t>
            </a:r>
            <a:r>
              <a:rPr lang="en-US" altLang="zh-CN" sz="2400" dirty="0"/>
              <a:t> from examinee where exam.eeid=examinee.eeid)</a:t>
            </a:r>
          </a:p>
        </p:txBody>
      </p:sp>
      <p:sp>
        <p:nvSpPr>
          <p:cNvPr id="8" name="箭头: 直角上 7"/>
          <p:cNvSpPr/>
          <p:nvPr/>
        </p:nvSpPr>
        <p:spPr>
          <a:xfrm rot="5400000">
            <a:off x="2514545" y="4407702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45" y="5127782"/>
            <a:ext cx="4829175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197168"/>
            <a:ext cx="7498080" cy="1143000"/>
          </a:xfrm>
        </p:spPr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查询考生所在的院系、姓名和得分，按照院系名排序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order by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400" dirty="0"/>
              <a:t>select </a:t>
            </a:r>
          </a:p>
          <a:p>
            <a:pPr marL="82550" indent="0">
              <a:buNone/>
            </a:pPr>
            <a:r>
              <a:rPr lang="en-US" altLang="zh-CN" sz="2400" dirty="0"/>
              <a:t>(select </a:t>
            </a:r>
            <a:r>
              <a:rPr lang="en-US" altLang="zh-CN" sz="2400" dirty="0" err="1"/>
              <a:t>dname</a:t>
            </a:r>
            <a:r>
              <a:rPr lang="en-US" altLang="zh-CN" sz="2400" dirty="0"/>
              <a:t> from examinee where exam.eeid=examinee.eeid),</a:t>
            </a:r>
          </a:p>
          <a:p>
            <a:pPr marL="82550" indent="0">
              <a:buNone/>
            </a:pPr>
            <a:r>
              <a:rPr lang="en-US" altLang="zh-CN" sz="2400" dirty="0"/>
              <a:t>(select </a:t>
            </a:r>
            <a:r>
              <a:rPr lang="en-US" altLang="zh-CN" sz="2400" dirty="0" err="1"/>
              <a:t>eename</a:t>
            </a:r>
            <a:r>
              <a:rPr lang="en-US" altLang="zh-CN" sz="2400" dirty="0"/>
              <a:t> from examinee where exam.eeid=examinee.eeid),</a:t>
            </a:r>
          </a:p>
          <a:p>
            <a:pPr marL="82550" indent="0">
              <a:buNone/>
            </a:pPr>
            <a:r>
              <a:rPr lang="en-US" altLang="zh-CN" sz="2400" dirty="0"/>
              <a:t>achieve</a:t>
            </a:r>
          </a:p>
          <a:p>
            <a:pPr marL="82550" indent="0">
              <a:buNone/>
            </a:pPr>
            <a:r>
              <a:rPr lang="en-US" altLang="zh-CN" sz="2400" dirty="0"/>
              <a:t>from </a:t>
            </a:r>
            <a:r>
              <a:rPr lang="en-US" altLang="zh-CN" sz="2400" dirty="0" err="1"/>
              <a:t>exam</a:t>
            </a:r>
            <a:endParaRPr lang="en-US" altLang="zh-CN" sz="2400" dirty="0"/>
          </a:p>
          <a:p>
            <a:pPr marL="82550" indent="0">
              <a:buNone/>
            </a:pPr>
            <a:r>
              <a:rPr lang="en-US" altLang="zh-CN" sz="2400" dirty="0"/>
              <a:t>order by (select </a:t>
            </a:r>
            <a:r>
              <a:rPr lang="en-US" altLang="zh-CN" sz="2400" dirty="0" err="1"/>
              <a:t>dname</a:t>
            </a:r>
            <a:r>
              <a:rPr lang="en-US" altLang="zh-CN" sz="2400" dirty="0"/>
              <a:t> from examinee where exam.eeid=examinee.eeid)</a:t>
            </a:r>
          </a:p>
        </p:txBody>
      </p:sp>
      <p:sp>
        <p:nvSpPr>
          <p:cNvPr id="8" name="箭头: 直角上 7"/>
          <p:cNvSpPr/>
          <p:nvPr/>
        </p:nvSpPr>
        <p:spPr>
          <a:xfrm rot="5400000">
            <a:off x="2010489" y="5414447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255" y="5589270"/>
            <a:ext cx="4124960" cy="130429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显示最后两个考生信息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limit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400" dirty="0"/>
              <a:t>select * from examinee</a:t>
            </a:r>
          </a:p>
          <a:p>
            <a:pPr marL="82550" indent="0">
              <a:buNone/>
            </a:pPr>
            <a:r>
              <a:rPr lang="en-US" altLang="zh-CN" sz="2400" dirty="0"/>
              <a:t>order by eeid</a:t>
            </a:r>
          </a:p>
          <a:p>
            <a:pPr marL="82550" indent="0">
              <a:buNone/>
            </a:pPr>
            <a:r>
              <a:rPr lang="en-US" altLang="zh-CN" sz="2400" dirty="0"/>
              <a:t>limit 2 offset((select count(*)from examinee)-2)</a:t>
            </a:r>
          </a:p>
        </p:txBody>
      </p:sp>
      <p:sp>
        <p:nvSpPr>
          <p:cNvPr id="8" name="箭头: 直角上 7"/>
          <p:cNvSpPr/>
          <p:nvPr/>
        </p:nvSpPr>
        <p:spPr>
          <a:xfrm rot="5400000">
            <a:off x="2226513" y="3195464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85" y="4652645"/>
            <a:ext cx="7101205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r>
              <a:rPr lang="zh-CN" altLang="en-US" sz="2800" dirty="0"/>
              <a:t>查询每个考生的姓名及参加的考试门数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分别使用自然联接、</a:t>
            </a:r>
            <a:r>
              <a:rPr lang="en-US" altLang="zh-CN" sz="2800" b="1" dirty="0"/>
              <a:t>select</a:t>
            </a:r>
            <a:r>
              <a:rPr lang="zh-CN" altLang="en-US" sz="2800" b="1" dirty="0"/>
              <a:t>子句方法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练习：</a:t>
            </a:r>
            <a:r>
              <a:rPr lang="zh-CN" altLang="en-US" sz="2800" dirty="0"/>
              <a:t>查询每个考生的姓名及参加的考试门数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zh-CN" altLang="en-US" sz="2800" b="1" dirty="0"/>
              <a:t>自然联接：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eename,</a:t>
            </a:r>
            <a:r>
              <a:rPr lang="en-US" altLang="zh-CN" sz="2800" dirty="0" err="1">
                <a:solidFill>
                  <a:srgbClr val="FF0000"/>
                </a:solidFill>
              </a:rPr>
              <a:t>count</a:t>
            </a:r>
            <a:r>
              <a:rPr lang="en-US" altLang="zh-CN" sz="2800" dirty="0">
                <a:solidFill>
                  <a:srgbClr val="FF0000"/>
                </a:solidFill>
              </a:rPr>
              <a:t>(*) </a:t>
            </a:r>
            <a:r>
              <a:rPr lang="en-US" altLang="zh-CN" sz="2800" dirty="0"/>
              <a:t>from examinee </a:t>
            </a:r>
            <a:r>
              <a:rPr lang="en-US" altLang="zh-CN" sz="2800" dirty="0">
                <a:solidFill>
                  <a:srgbClr val="FF0000"/>
                </a:solidFill>
              </a:rPr>
              <a:t>inner join</a:t>
            </a:r>
            <a:r>
              <a:rPr lang="en-US" altLang="zh-CN" sz="2800" dirty="0"/>
              <a:t> </a:t>
            </a:r>
            <a:r>
              <a:rPr lang="en-US" altLang="zh-CN" sz="2800" dirty="0" err="1"/>
              <a:t>exam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on</a:t>
            </a:r>
            <a:r>
              <a:rPr lang="en-US" altLang="zh-CN" sz="2800" dirty="0"/>
              <a:t> exam.eeid=examinee.eeid </a:t>
            </a:r>
            <a:r>
              <a:rPr lang="en-US" altLang="zh-CN" sz="2800" dirty="0">
                <a:solidFill>
                  <a:srgbClr val="FF0000"/>
                </a:solidFill>
              </a:rPr>
              <a:t>group by </a:t>
            </a:r>
            <a:r>
              <a:rPr lang="en-US" altLang="zh-CN" sz="2800" dirty="0" err="1"/>
              <a:t>eename</a:t>
            </a:r>
            <a:r>
              <a:rPr lang="en-US" altLang="zh-CN" sz="2800" dirty="0"/>
              <a:t>;</a:t>
            </a:r>
          </a:p>
        </p:txBody>
      </p:sp>
      <p:sp>
        <p:nvSpPr>
          <p:cNvPr id="10" name="箭头: 直角上 9"/>
          <p:cNvSpPr/>
          <p:nvPr/>
        </p:nvSpPr>
        <p:spPr>
          <a:xfrm rot="5400000">
            <a:off x="2018873" y="4480935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110" y="5012690"/>
            <a:ext cx="4565650" cy="12776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" y="3212465"/>
            <a:ext cx="3773805" cy="1306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280" y="3212465"/>
            <a:ext cx="4049395" cy="13620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查询每个考生的姓名及参加的考试门数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select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>
                <a:solidFill>
                  <a:schemeClr val="accent1"/>
                </a:solidFill>
              </a:rPr>
              <a:t>(select </a:t>
            </a:r>
            <a:r>
              <a:rPr lang="en-US" altLang="zh-CN" sz="2800" dirty="0" err="1">
                <a:solidFill>
                  <a:schemeClr val="accent1"/>
                </a:solidFill>
              </a:rPr>
              <a:t>eename</a:t>
            </a:r>
            <a:r>
              <a:rPr lang="en-US" altLang="zh-CN" sz="2800" dirty="0">
                <a:solidFill>
                  <a:schemeClr val="accent1"/>
                </a:solidFill>
              </a:rPr>
              <a:t> from examinee where examinee.id=exam.id),</a:t>
            </a:r>
            <a:r>
              <a:rPr lang="en-US" altLang="zh-CN" sz="2800" dirty="0">
                <a:solidFill>
                  <a:srgbClr val="FF0000"/>
                </a:solidFill>
              </a:rPr>
              <a:t>count(*)</a:t>
            </a:r>
          </a:p>
          <a:p>
            <a:pPr marL="82550" indent="0">
              <a:buNone/>
            </a:pPr>
            <a:r>
              <a:rPr lang="en-US" altLang="zh-CN" sz="2800" dirty="0"/>
              <a:t>from </a:t>
            </a:r>
            <a:r>
              <a:rPr lang="en-US" altLang="zh-CN" sz="2800" dirty="0" err="1"/>
              <a:t>exam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group by </a:t>
            </a:r>
            <a:r>
              <a:rPr lang="en-US" altLang="zh-CN" sz="2800" dirty="0">
                <a:solidFill>
                  <a:schemeClr val="accent1"/>
                </a:solidFill>
              </a:rPr>
              <a:t>(select </a:t>
            </a:r>
            <a:r>
              <a:rPr lang="en-US" altLang="zh-CN" sz="2800" dirty="0" err="1">
                <a:solidFill>
                  <a:schemeClr val="accent1"/>
                </a:solidFill>
              </a:rPr>
              <a:t>eename</a:t>
            </a:r>
            <a:r>
              <a:rPr lang="en-US" altLang="zh-CN" sz="2800" dirty="0">
                <a:solidFill>
                  <a:schemeClr val="accent1"/>
                </a:solidFill>
              </a:rPr>
              <a:t> from examinee where examinee.id=exam.id)</a:t>
            </a:r>
          </a:p>
        </p:txBody>
      </p:sp>
      <p:sp>
        <p:nvSpPr>
          <p:cNvPr id="10" name="箭头: 直角上 9"/>
          <p:cNvSpPr/>
          <p:nvPr/>
        </p:nvSpPr>
        <p:spPr>
          <a:xfrm rot="5400000">
            <a:off x="1939117" y="5315606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4127500"/>
            <a:ext cx="3773805" cy="1306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4072255"/>
            <a:ext cx="4049395" cy="1362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65" y="5490210"/>
            <a:ext cx="3904615" cy="130429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300" dirty="0"/>
              <a:t>嵌套查询：</a:t>
            </a:r>
            <a:r>
              <a:rPr lang="zh-CN" altLang="en-US" sz="2800" dirty="0"/>
              <a:t>查询每个考生的姓名及参加的考试门数</a:t>
            </a:r>
            <a:endParaRPr lang="zh-CN" altLang="en-US" sz="33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340768"/>
            <a:ext cx="7498080" cy="5149552"/>
          </a:xfrm>
        </p:spPr>
        <p:txBody>
          <a:bodyPr>
            <a:normAutofit/>
          </a:bodyPr>
          <a:lstStyle/>
          <a:p>
            <a:pPr marL="82550" indent="0">
              <a:buNone/>
            </a:pPr>
            <a:r>
              <a:rPr lang="en-US" altLang="zh-CN" sz="2800" b="1" dirty="0"/>
              <a:t>select</a:t>
            </a:r>
            <a:r>
              <a:rPr lang="zh-CN" altLang="en-US" sz="2800" b="1" dirty="0"/>
              <a:t>子句嵌套：</a:t>
            </a:r>
            <a:endParaRPr lang="en-US" altLang="zh-CN" sz="2800" b="1" dirty="0"/>
          </a:p>
          <a:p>
            <a:pPr marL="82550" indent="0">
              <a:buNone/>
            </a:pPr>
            <a:r>
              <a:rPr lang="en-US" altLang="zh-CN" sz="2800" dirty="0"/>
              <a:t>select </a:t>
            </a:r>
            <a:r>
              <a:rPr lang="en-US" altLang="zh-CN" sz="2800" dirty="0" err="1"/>
              <a:t>eename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chemeClr val="accent1"/>
                </a:solidFill>
              </a:rPr>
              <a:t>(select count(*) from </a:t>
            </a:r>
            <a:r>
              <a:rPr lang="en-US" altLang="zh-CN" sz="2800" dirty="0" err="1">
                <a:solidFill>
                  <a:schemeClr val="accent1"/>
                </a:solidFill>
              </a:rPr>
              <a:t>exam</a:t>
            </a:r>
            <a:r>
              <a:rPr lang="en-US" altLang="zh-CN" sz="2800" dirty="0">
                <a:solidFill>
                  <a:schemeClr val="accent1"/>
                </a:solidFill>
              </a:rPr>
              <a:t> where </a:t>
            </a:r>
            <a:r>
              <a:rPr lang="en-US" altLang="zh-CN" sz="2800" dirty="0" err="1">
                <a:solidFill>
                  <a:srgbClr val="FF0000"/>
                </a:solidFill>
              </a:rPr>
              <a:t>exam.eeid</a:t>
            </a:r>
            <a:r>
              <a:rPr lang="en-US" altLang="zh-CN" sz="2800" dirty="0">
                <a:solidFill>
                  <a:srgbClr val="FF0000"/>
                </a:solidFill>
              </a:rPr>
              <a:t>=</a:t>
            </a:r>
            <a:r>
              <a:rPr lang="en-US" altLang="zh-CN" sz="2800" dirty="0" err="1">
                <a:solidFill>
                  <a:srgbClr val="FF0000"/>
                </a:solidFill>
              </a:rPr>
              <a:t>examinee.eeid</a:t>
            </a:r>
            <a:r>
              <a:rPr lang="en-US" altLang="zh-CN" sz="2800" dirty="0">
                <a:solidFill>
                  <a:schemeClr val="accent1"/>
                </a:solidFill>
              </a:rPr>
              <a:t>) </a:t>
            </a:r>
            <a:r>
              <a:rPr lang="en-US" altLang="zh-CN" sz="2800" dirty="0"/>
              <a:t>as </a:t>
            </a:r>
            <a:r>
              <a:rPr lang="en-US" altLang="zh-CN" sz="2800" dirty="0" err="1"/>
              <a:t>eecount</a:t>
            </a:r>
            <a:r>
              <a:rPr lang="en-US" altLang="zh-CN" sz="2800" dirty="0"/>
              <a:t> from examinee;</a:t>
            </a:r>
          </a:p>
        </p:txBody>
      </p:sp>
      <p:sp>
        <p:nvSpPr>
          <p:cNvPr id="10" name="箭头: 直角上 9"/>
          <p:cNvSpPr/>
          <p:nvPr/>
        </p:nvSpPr>
        <p:spPr>
          <a:xfrm rot="5400000">
            <a:off x="2018873" y="4480935"/>
            <a:ext cx="1090574" cy="144016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255" y="4806315"/>
            <a:ext cx="4236720" cy="16840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140710"/>
            <a:ext cx="4057015" cy="14046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284855"/>
            <a:ext cx="4049395" cy="1362075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73</TotalTime>
  <Words>1875</Words>
  <Application>Microsoft Macintosh PowerPoint</Application>
  <PresentationFormat>全屏显示(4:3)</PresentationFormat>
  <Paragraphs>252</Paragraphs>
  <Slides>40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等线</vt:lpstr>
      <vt:lpstr>Bahnschrift Light</vt:lpstr>
      <vt:lpstr>Gill Sans MT</vt:lpstr>
      <vt:lpstr>Verdana</vt:lpstr>
      <vt:lpstr>Wingdings</vt:lpstr>
      <vt:lpstr>Wingdings 2</vt:lpstr>
      <vt:lpstr>夏至</vt:lpstr>
      <vt:lpstr>实验 基于GaussDB的高级数据查询</vt:lpstr>
      <vt:lpstr>主要内容</vt:lpstr>
      <vt:lpstr>主要内容</vt:lpstr>
      <vt:lpstr>用到的数据表与数据</vt:lpstr>
      <vt:lpstr>SQL语句</vt:lpstr>
      <vt:lpstr>SQL语句</vt:lpstr>
      <vt:lpstr>联接查询：</vt:lpstr>
      <vt:lpstr>联接查询：</vt:lpstr>
      <vt:lpstr>联接查询：查询年龄为20的考生所在的院系地址</vt:lpstr>
      <vt:lpstr>联接查询：</vt:lpstr>
      <vt:lpstr>联接查询：</vt:lpstr>
      <vt:lpstr>联接查询：查询年龄为20的考生所在的院系地址</vt:lpstr>
      <vt:lpstr>联接查询：查询年龄为20的考生所在的院系地址</vt:lpstr>
      <vt:lpstr>联接查询：</vt:lpstr>
      <vt:lpstr>联接查询：查询年龄为20的考生所在的院系地址</vt:lpstr>
      <vt:lpstr>练习：查询历史学院的考生的所有考试成绩  （笛卡儿积、内联接、条件联接、属性联接）</vt:lpstr>
      <vt:lpstr>联接查询：查询性别为女性的考生的试卷名</vt:lpstr>
      <vt:lpstr>联接查询：查询性别为女性的考生的试卷名</vt:lpstr>
      <vt:lpstr>练习：查询历史学院学生考试成绩分数大于90分的所有科目  （笛卡儿积、自然联接、条件联接、属性联接）</vt:lpstr>
      <vt:lpstr>主要内容</vt:lpstr>
      <vt:lpstr>PowerPoint 演示文稿</vt:lpstr>
      <vt:lpstr>主要内容</vt:lpstr>
      <vt:lpstr>嵌套查询：查询平均成绩大于85分的考生的学号和平均成绩</vt:lpstr>
      <vt:lpstr>练习： 查询考生表中男女考生的平均年龄中较大的那个</vt:lpstr>
      <vt:lpstr>嵌套查询：查询平均成绩大于85分的考生的学号和平均成绩</vt:lpstr>
      <vt:lpstr>练习： 查询考生表中男女考生的平均年龄中较大的那个</vt:lpstr>
      <vt:lpstr>主要内容</vt:lpstr>
      <vt:lpstr>嵌套查询：查询考生表中是否存在id=218811011013的考生，如果存在就查询该考生的考试记录</vt:lpstr>
      <vt:lpstr>嵌套查询：查询性别为女性的考生的试卷号</vt:lpstr>
      <vt:lpstr>嵌套查询：查询性别为女性的考生的试卷号</vt:lpstr>
      <vt:lpstr>练习： 1. 查询考生表中年龄大于某个女考生的男考生号 2. 查询考生表中年龄大于所有女考生的男考生号</vt:lpstr>
      <vt:lpstr>主要内容</vt:lpstr>
      <vt:lpstr>嵌套查询：查询学号为218811011119的考生比年龄最大的考生小多少岁</vt:lpstr>
      <vt:lpstr>嵌套查询：查询每个院系的平均分</vt:lpstr>
      <vt:lpstr>嵌套查询：查询考生所在的院系、姓名和得分，按照院系名排序</vt:lpstr>
      <vt:lpstr>嵌套查询：显示最后两个考生信息</vt:lpstr>
      <vt:lpstr>练习：查询每个考生的姓名及参加的考试门数</vt:lpstr>
      <vt:lpstr>练习：查询每个考生的姓名及参加的考试门数</vt:lpstr>
      <vt:lpstr>嵌套查询：查询每个考生的姓名及参加的考试门数</vt:lpstr>
      <vt:lpstr>嵌套查询：查询每个考生的姓名及参加的考试门数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数据表的基本操作</dc:title>
  <dc:creator>yaoyingting</dc:creator>
  <cp:lastModifiedBy>Microsoft Office User</cp:lastModifiedBy>
  <cp:revision>197</cp:revision>
  <dcterms:created xsi:type="dcterms:W3CDTF">2025-03-23T07:04:03Z</dcterms:created>
  <dcterms:modified xsi:type="dcterms:W3CDTF">2025-03-24T11:30:42Z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2B75D48ECDAAF3BD079DDF6703F29DA5_42</vt:lpwstr>
  </property>
  <property fmtid="{D5CDD505-2E9C-101B-9397-08002B2CF9AE}" pid="3" name="KSOProductBuildVer">
    <vt:lpwstr>2052-6.13.1.8913</vt:lpwstr>
  </property>
</Properties>
</file>