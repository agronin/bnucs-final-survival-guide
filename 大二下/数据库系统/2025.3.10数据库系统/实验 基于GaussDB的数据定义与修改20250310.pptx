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61" r:id="rId4"/>
    <p:sldId id="270" r:id="rId5"/>
    <p:sldId id="266" r:id="rId6"/>
    <p:sldId id="271" r:id="rId7"/>
    <p:sldId id="272" r:id="rId8"/>
    <p:sldId id="275" r:id="rId9"/>
    <p:sldId id="274" r:id="rId10"/>
    <p:sldId id="290" r:id="rId11"/>
    <p:sldId id="291" r:id="rId12"/>
    <p:sldId id="295" r:id="rId13"/>
    <p:sldId id="277" r:id="rId14"/>
    <p:sldId id="276" r:id="rId16"/>
    <p:sldId id="296" r:id="rId17"/>
    <p:sldId id="279" r:id="rId18"/>
    <p:sldId id="278" r:id="rId19"/>
    <p:sldId id="280" r:id="rId20"/>
    <p:sldId id="281" r:id="rId21"/>
    <p:sldId id="282" r:id="rId22"/>
    <p:sldId id="283" r:id="rId23"/>
    <p:sldId id="292" r:id="rId24"/>
    <p:sldId id="297" r:id="rId25"/>
    <p:sldId id="284" r:id="rId26"/>
    <p:sldId id="285" r:id="rId27"/>
    <p:sldId id="298" r:id="rId28"/>
    <p:sldId id="286" r:id="rId29"/>
    <p:sldId id="289" r:id="rId30"/>
    <p:sldId id="288" r:id="rId31"/>
    <p:sldId id="293" r:id="rId32"/>
    <p:sldId id="299" r:id="rId3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120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6A9-A337-4424-B158-CEE40DDC4F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F95C1-1C97-4AEE-8AFD-9E57812A37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0169BD0F-E4EE-49F4-9D55-D10E26389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51496B8-45B0-43C8-B1CA-64AEA543BE80}" type="slidenum">
              <a:rPr lang="zh-CN" altLang="en-US" smtClean="0"/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8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2756" y="1988845"/>
            <a:ext cx="7920880" cy="1472184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/>
              <a:t>实验   基于</a:t>
            </a:r>
            <a:r>
              <a:rPr lang="en-US" altLang="zh-CN" sz="4000" dirty="0"/>
              <a:t>GaussDB</a:t>
            </a:r>
            <a:r>
              <a:rPr lang="zh-CN" altLang="en-US" sz="4000" dirty="0"/>
              <a:t>的数据定义与修改</a:t>
            </a:r>
            <a:endParaRPr lang="zh-CN" altLang="en-US" sz="4000" dirty="0"/>
          </a:p>
        </p:txBody>
      </p:sp>
      <p:sp>
        <p:nvSpPr>
          <p:cNvPr id="3" name="文本框 2"/>
          <p:cNvSpPr txBox="1"/>
          <p:nvPr/>
        </p:nvSpPr>
        <p:spPr>
          <a:xfrm>
            <a:off x="6444208" y="5013176"/>
            <a:ext cx="194421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韩浩岚</a:t>
            </a:r>
            <a:endParaRPr lang="zh-CN" altLang="en-US" dirty="0"/>
          </a:p>
          <a:p>
            <a:r>
              <a:rPr lang="zh-CN" altLang="en-US" dirty="0"/>
              <a:t>李梦佳</a:t>
            </a:r>
            <a:endParaRPr lang="en-US" altLang="zh-CN" dirty="0"/>
          </a:p>
          <a:p>
            <a:r>
              <a:rPr lang="en-US" altLang="zh-CN" dirty="0"/>
              <a:t>2025.03.10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基于</a:t>
            </a:r>
            <a:r>
              <a:rPr lang="en-US" altLang="zh-CN" sz="2800" dirty="0">
                <a:solidFill>
                  <a:srgbClr val="FF0000"/>
                </a:solidFill>
              </a:rPr>
              <a:t>GaussDB</a:t>
            </a:r>
            <a:r>
              <a:rPr lang="zh-CN" altLang="en-US" sz="2800" dirty="0">
                <a:solidFill>
                  <a:srgbClr val="FF0000"/>
                </a:solidFill>
              </a:rPr>
              <a:t>数据库的数据表基本操作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数据表的创建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数据应用场景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680744"/>
            <a:ext cx="7498080" cy="514955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exam</a:t>
            </a:r>
            <a:r>
              <a:rPr lang="zh-CN" altLang="en-US" sz="2800" dirty="0"/>
              <a:t>数据库中建立以下三个表：</a:t>
            </a:r>
            <a:endParaRPr lang="en-US" altLang="zh-CN" sz="2800" dirty="0"/>
          </a:p>
          <a:p>
            <a:r>
              <a:rPr lang="zh-CN" altLang="zh-CN" sz="2800" dirty="0"/>
              <a:t>考生表：</a:t>
            </a:r>
            <a:r>
              <a:rPr lang="en-US" altLang="zh-CN" sz="2800" dirty="0"/>
              <a:t>examinee(</a:t>
            </a:r>
            <a:r>
              <a:rPr lang="en-US" altLang="zh-CN" sz="2800" dirty="0" err="1"/>
              <a:t>eeid,eename,eesex,eeage,eedepa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r>
              <a:rPr lang="zh-CN" altLang="zh-CN" sz="2800" dirty="0"/>
              <a:t>试卷表：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exampaper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etype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eduration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r>
              <a:rPr lang="zh-CN" altLang="zh-CN" sz="2800" dirty="0"/>
              <a:t>考生答卷表：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eeexam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eeid,eid,achieve</a:t>
            </a:r>
            <a:r>
              <a:rPr lang="en-US" altLang="zh-CN" sz="2800" dirty="0"/>
              <a:t>)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9790" y="1196975"/>
            <a:ext cx="3133725" cy="46189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60648"/>
            <a:ext cx="749808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356796" y="1340768"/>
            <a:ext cx="7499350" cy="4800600"/>
          </a:xfrm>
        </p:spPr>
        <p:txBody>
          <a:bodyPr/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创建考生表：</a:t>
            </a:r>
            <a:endParaRPr lang="en-US" altLang="zh-CN" sz="28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create table </a:t>
            </a:r>
            <a:r>
              <a:rPr lang="en-US" altLang="zh-CN" sz="2400" dirty="0"/>
              <a:t>examinee(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 char(20) </a:t>
            </a:r>
            <a:r>
              <a:rPr lang="en-US" altLang="zh-CN" sz="2400" dirty="0">
                <a:solidFill>
                  <a:srgbClr val="FF0000"/>
                </a:solidFill>
              </a:rPr>
              <a:t>not null unique primary key</a:t>
            </a:r>
            <a:r>
              <a:rPr lang="en-US" altLang="zh-CN" sz="2400" dirty="0"/>
              <a:t>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eename</a:t>
            </a:r>
            <a:r>
              <a:rPr lang="en-US" altLang="zh-CN" sz="2400" dirty="0"/>
              <a:t> char(20),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eesex</a:t>
            </a:r>
            <a:r>
              <a:rPr lang="en-US" altLang="zh-CN" sz="2400" dirty="0"/>
              <a:t> char(20),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eeage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smallint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default</a:t>
            </a:r>
            <a:r>
              <a:rPr lang="en-US" altLang="zh-CN" sz="2400" dirty="0"/>
              <a:t> 18,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eedepa</a:t>
            </a:r>
            <a:r>
              <a:rPr lang="en-US" altLang="zh-CN" sz="2400" dirty="0"/>
              <a:t> char(20)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);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800" dirty="0"/>
          </a:p>
        </p:txBody>
      </p:sp>
      <p:sp>
        <p:nvSpPr>
          <p:cNvPr id="3" name="对话气泡: 矩形 2"/>
          <p:cNvSpPr/>
          <p:nvPr/>
        </p:nvSpPr>
        <p:spPr>
          <a:xfrm>
            <a:off x="4716394" y="2853323"/>
            <a:ext cx="256072" cy="288032"/>
          </a:xfrm>
          <a:prstGeom prst="wedgeRectCallout">
            <a:avLst>
              <a:gd name="adj1" fmla="val 104328"/>
              <a:gd name="adj2" fmla="val -303707"/>
            </a:avLst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27997" y="1484551"/>
            <a:ext cx="1531172" cy="5760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必须有逗号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对话气泡: 矩形 5"/>
          <p:cNvSpPr/>
          <p:nvPr/>
        </p:nvSpPr>
        <p:spPr>
          <a:xfrm>
            <a:off x="4715906" y="4137112"/>
            <a:ext cx="256072" cy="288032"/>
          </a:xfrm>
          <a:prstGeom prst="wedgeRectCallout">
            <a:avLst>
              <a:gd name="adj1" fmla="val 46617"/>
              <a:gd name="adj2" fmla="val 337636"/>
            </a:avLst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427917" y="5301208"/>
            <a:ext cx="1296144" cy="5760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没有逗号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56796" y="5104171"/>
            <a:ext cx="313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注意：要选中</a:t>
            </a:r>
            <a:r>
              <a:rPr lang="en-US" altLang="zh-CN" dirty="0">
                <a:solidFill>
                  <a:srgbClr val="FF0000"/>
                </a:solidFill>
              </a:rPr>
              <a:t>exam</a:t>
            </a:r>
            <a:r>
              <a:rPr lang="zh-CN" altLang="en-US" dirty="0">
                <a:solidFill>
                  <a:srgbClr val="FF0000"/>
                </a:solidFill>
              </a:rPr>
              <a:t>数据库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0170" y="981075"/>
            <a:ext cx="3763645" cy="53009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1728192"/>
          </a:xfrm>
        </p:spPr>
        <p:txBody>
          <a:bodyPr/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练习：</a:t>
            </a:r>
            <a:endParaRPr lang="en-US" altLang="zh-CN" sz="2800" dirty="0"/>
          </a:p>
          <a:p>
            <a:pPr marL="82550" indent="0">
              <a:buNone/>
              <a:defRPr/>
            </a:pPr>
            <a:r>
              <a:rPr lang="zh-CN" altLang="en-US" sz="2400" dirty="0"/>
              <a:t>创建试卷表</a:t>
            </a:r>
            <a:r>
              <a:rPr lang="en-US" altLang="zh-CN" sz="2400" dirty="0" err="1"/>
              <a:t>exampaper</a:t>
            </a:r>
            <a:r>
              <a:rPr lang="en-US" altLang="zh-CN" sz="2400" dirty="0"/>
              <a:t> (</a:t>
            </a:r>
            <a:r>
              <a:rPr lang="en-US" altLang="zh-CN" sz="2400" dirty="0" err="1"/>
              <a:t>eid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ename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etype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eduration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zh-CN" altLang="en-US" sz="2000" dirty="0"/>
              <a:t>（思考：数据类型？默认初始值？主键？非空？唯一？）</a:t>
            </a:r>
            <a:endParaRPr lang="zh-CN" altLang="zh-CN" sz="2000" dirty="0"/>
          </a:p>
          <a:p>
            <a:pPr marL="82550" indent="0">
              <a:buNone/>
              <a:defRPr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0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971600" y="3148035"/>
            <a:ext cx="7488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 indent="0"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create table </a:t>
            </a:r>
            <a:r>
              <a:rPr lang="en-US" altLang="zh-CN" dirty="0" err="1"/>
              <a:t>exampaper</a:t>
            </a:r>
            <a:r>
              <a:rPr lang="en-US" altLang="zh-CN" dirty="0"/>
              <a:t>(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eid</a:t>
            </a:r>
            <a:r>
              <a:rPr lang="en-US" altLang="zh-CN" dirty="0"/>
              <a:t> char(20) </a:t>
            </a:r>
            <a:r>
              <a:rPr lang="en-US" altLang="zh-CN" dirty="0">
                <a:solidFill>
                  <a:srgbClr val="FF0000"/>
                </a:solidFill>
              </a:rPr>
              <a:t>not null unique primary key</a:t>
            </a:r>
            <a:r>
              <a:rPr lang="en-US" altLang="zh-CN" dirty="0"/>
              <a:t>,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ename</a:t>
            </a:r>
            <a:r>
              <a:rPr lang="en-US" altLang="zh-CN" dirty="0"/>
              <a:t> char(20),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etype</a:t>
            </a:r>
            <a:r>
              <a:rPr lang="en-US" altLang="zh-CN" dirty="0"/>
              <a:t> char(20),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eduration</a:t>
            </a:r>
            <a:r>
              <a:rPr lang="en-US" altLang="zh-CN" dirty="0"/>
              <a:t> char(20)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);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创建考生答卷表：</a:t>
            </a:r>
            <a:endParaRPr lang="en-US" altLang="zh-CN" sz="2800" dirty="0"/>
          </a:p>
          <a:p>
            <a:pPr marL="82550" indent="0">
              <a:buNone/>
              <a:defRPr/>
            </a:pPr>
            <a:r>
              <a:rPr lang="nl-NL" altLang="zh-CN" sz="2400" dirty="0"/>
              <a:t>eeexam(eeid,eid,achieve)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zh-CN" altLang="en-US" sz="2000" dirty="0"/>
              <a:t>（思考：数据类型？默认初始值？主键？外键？非空？唯一？）</a:t>
            </a:r>
            <a:endParaRPr lang="zh-CN" altLang="zh-CN" sz="2000" dirty="0"/>
          </a:p>
          <a:p>
            <a:pPr marL="82550" indent="0">
              <a:buNone/>
              <a:defRPr/>
            </a:pP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907704" y="3573016"/>
            <a:ext cx="1072547" cy="68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</a:rPr>
              <a:t>考生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52120" y="3573016"/>
            <a:ext cx="1072547" cy="68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</a:rPr>
              <a:t>试卷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流程图: 决策 5"/>
          <p:cNvSpPr/>
          <p:nvPr/>
        </p:nvSpPr>
        <p:spPr>
          <a:xfrm>
            <a:off x="3556315" y="3573016"/>
            <a:ext cx="1512168" cy="72008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做答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cxnSp>
        <p:nvCxnSpPr>
          <p:cNvPr id="7" name="直接连接符 6"/>
          <p:cNvCxnSpPr>
            <a:stCxn id="4" idx="3"/>
            <a:endCxn id="6" idx="1"/>
          </p:cNvCxnSpPr>
          <p:nvPr/>
        </p:nvCxnSpPr>
        <p:spPr>
          <a:xfrm>
            <a:off x="2980251" y="3914281"/>
            <a:ext cx="576064" cy="18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6" idx="3"/>
            <a:endCxn id="5" idx="1"/>
          </p:cNvCxnSpPr>
          <p:nvPr/>
        </p:nvCxnSpPr>
        <p:spPr>
          <a:xfrm flipV="1">
            <a:off x="5068483" y="3914281"/>
            <a:ext cx="583637" cy="18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创建考生答卷表：</a:t>
            </a:r>
            <a:endParaRPr lang="en-US" altLang="zh-CN" sz="2800" dirty="0"/>
          </a:p>
          <a:p>
            <a:pPr marL="82550" indent="0">
              <a:buNone/>
              <a:defRPr/>
            </a:pPr>
            <a:r>
              <a:rPr lang="nl-NL" altLang="zh-CN" sz="2400" dirty="0"/>
              <a:t>eeexam(eeid,eid,achieve)</a:t>
            </a:r>
            <a:endParaRPr lang="en-US" altLang="zh-CN" sz="2400" dirty="0"/>
          </a:p>
          <a:p>
            <a:pPr marL="82550" lvl="0" indent="0">
              <a:buClr>
                <a:srgbClr val="3891A7"/>
              </a:buClr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</a:rPr>
              <a:t>（思考：数据类型？</a:t>
            </a:r>
            <a:endParaRPr lang="zh-CN" altLang="en-US" sz="2000" dirty="0">
              <a:solidFill>
                <a:prstClr val="black"/>
              </a:solidFill>
            </a:endParaRPr>
          </a:p>
          <a:p>
            <a:pPr marL="82550" lvl="0" indent="0">
              <a:buClr>
                <a:srgbClr val="3891A7"/>
              </a:buClr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</a:rPr>
              <a:t>默认初始值？主键？</a:t>
            </a:r>
            <a:endParaRPr lang="zh-CN" altLang="en-US" sz="2000" dirty="0">
              <a:solidFill>
                <a:prstClr val="black"/>
              </a:solidFill>
            </a:endParaRPr>
          </a:p>
          <a:p>
            <a:pPr marL="82550" lvl="0" indent="0">
              <a:buClr>
                <a:srgbClr val="3891A7"/>
              </a:buClr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</a:rPr>
              <a:t>外键？非空？唯一？）</a:t>
            </a:r>
            <a:endParaRPr lang="zh-CN" altLang="zh-CN" sz="2000" dirty="0">
              <a:solidFill>
                <a:prstClr val="black"/>
              </a:solidFill>
            </a:endParaRPr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090" y="1052830"/>
            <a:ext cx="3395345" cy="4634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创建考生答卷表：</a:t>
            </a:r>
            <a:endParaRPr lang="en-US" altLang="zh-CN" sz="28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create table </a:t>
            </a:r>
            <a:r>
              <a:rPr lang="en-US" altLang="zh-CN" sz="2400" dirty="0" err="1"/>
              <a:t>eeexam</a:t>
            </a:r>
            <a:r>
              <a:rPr lang="en-US" altLang="zh-CN" sz="2400" dirty="0"/>
              <a:t>(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 char(20),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/>
              <a:t>eid</a:t>
            </a:r>
            <a:r>
              <a:rPr lang="en-US" altLang="zh-CN" sz="2400" dirty="0"/>
              <a:t> char(20),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achieve </a:t>
            </a:r>
            <a:r>
              <a:rPr lang="en-US" altLang="zh-CN" sz="2400" dirty="0" err="1"/>
              <a:t>smallint</a:t>
            </a:r>
            <a:r>
              <a:rPr lang="en-US" altLang="zh-CN" sz="2400" dirty="0"/>
              <a:t>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primary key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eid</a:t>
            </a:r>
            <a:r>
              <a:rPr lang="en-US" altLang="zh-CN" sz="2400" dirty="0"/>
              <a:t>),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constraint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fk_examinee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foreign key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) 	</a:t>
            </a:r>
            <a:r>
              <a:rPr lang="en-US" altLang="zh-CN" sz="2400" dirty="0">
                <a:solidFill>
                  <a:srgbClr val="FF0000"/>
                </a:solidFill>
              </a:rPr>
              <a:t>references</a:t>
            </a:r>
            <a:r>
              <a:rPr lang="en-US" altLang="zh-CN" sz="2400" dirty="0"/>
              <a:t> examinee(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),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FF0000"/>
                </a:solidFill>
              </a:rPr>
              <a:t>constraint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fk_exampaper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foreign key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eid</a:t>
            </a:r>
            <a:r>
              <a:rPr lang="en-US" altLang="zh-CN" sz="2400" dirty="0"/>
              <a:t>) 	</a:t>
            </a:r>
            <a:r>
              <a:rPr lang="en-US" altLang="zh-CN" sz="2400" dirty="0">
                <a:solidFill>
                  <a:srgbClr val="FF0000"/>
                </a:solidFill>
              </a:rPr>
              <a:t>references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exampaper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eid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);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800" dirty="0"/>
          </a:p>
        </p:txBody>
      </p:sp>
      <p:sp>
        <p:nvSpPr>
          <p:cNvPr id="4" name="对话气泡: 矩形 5"/>
          <p:cNvSpPr/>
          <p:nvPr/>
        </p:nvSpPr>
        <p:spPr>
          <a:xfrm>
            <a:off x="2339752" y="4293096"/>
            <a:ext cx="3096344" cy="432048"/>
          </a:xfrm>
          <a:prstGeom prst="wedgeRectCallout">
            <a:avLst>
              <a:gd name="adj1" fmla="val 69322"/>
              <a:gd name="adj2" fmla="val -126548"/>
            </a:avLst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84168" y="3365678"/>
            <a:ext cx="2952328" cy="783402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建立约束以及给约束命名，若省略则自动给定。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数据表的创建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196752"/>
            <a:ext cx="7499350" cy="5160640"/>
          </a:xfrm>
        </p:spPr>
        <p:txBody>
          <a:bodyPr>
            <a:normAutofit lnSpcReduction="10000"/>
          </a:bodyPr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思考：</a:t>
            </a:r>
            <a:endParaRPr lang="en-US" altLang="zh-CN" sz="2800" dirty="0"/>
          </a:p>
          <a:p>
            <a:pPr marL="425450" indent="-342900">
              <a:defRPr/>
            </a:pPr>
            <a:r>
              <a:rPr lang="zh-CN" altLang="en-US" sz="2400" dirty="0"/>
              <a:t>每个表中都要有一个主键吗？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zh-CN" altLang="en-US" sz="2000" dirty="0"/>
              <a:t>主键的作用：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1</a:t>
            </a:r>
            <a:r>
              <a:rPr lang="zh-CN" altLang="en-US" sz="2000" dirty="0"/>
              <a:t>）保证实体的完整性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2</a:t>
            </a:r>
            <a:r>
              <a:rPr lang="zh-CN" altLang="en-US" sz="2000" dirty="0"/>
              <a:t>）加快数据库的操作速度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3</a:t>
            </a:r>
            <a:r>
              <a:rPr lang="zh-CN" altLang="en-US" sz="2000" dirty="0"/>
              <a:t>）在表中添加新纪录时，数据库会自动检查新纪录的主键值，不允许该值与其他记录的主键值重复。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4</a:t>
            </a:r>
            <a:r>
              <a:rPr lang="zh-CN" altLang="en-US" sz="2000" dirty="0"/>
              <a:t>）数据库自动按照主键值的顺序显示表中的记录。如果没有主键，则按照输入记录的顺序显示表中的记录。</a:t>
            </a:r>
            <a:endParaRPr lang="en-US" altLang="zh-CN" sz="2000" dirty="0"/>
          </a:p>
          <a:p>
            <a:pPr marL="82550" indent="0">
              <a:buNone/>
              <a:defRPr/>
            </a:pPr>
            <a:endParaRPr lang="en-US" altLang="zh-CN" sz="2000" dirty="0"/>
          </a:p>
          <a:p>
            <a:pPr marL="82550" indent="0">
              <a:buNone/>
              <a:defRPr/>
            </a:pPr>
            <a:r>
              <a:rPr lang="zh-CN" altLang="en-US" sz="2000" dirty="0"/>
              <a:t>主键是否需要，可以从：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1.</a:t>
            </a:r>
            <a:r>
              <a:rPr lang="zh-CN" altLang="en-US" sz="2000" dirty="0"/>
              <a:t>是否满足业务需求</a:t>
            </a:r>
            <a:endParaRPr lang="en-US" altLang="zh-CN" sz="2000" dirty="0"/>
          </a:p>
          <a:p>
            <a:pPr marL="82550" indent="0"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数据查询效率（主键可以提高查询效率。合理的索引替代也可以。）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数据表的修改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GaussDB</a:t>
            </a:r>
            <a:r>
              <a:rPr lang="zh-CN" altLang="en-US" sz="2800" dirty="0"/>
              <a:t>数据库的数据修改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数据表的修改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lvl="0" indent="-457200">
              <a:buClr>
                <a:srgbClr val="3891A7"/>
              </a:buClr>
              <a:defRPr/>
            </a:pPr>
            <a:r>
              <a:rPr lang="zh-CN" altLang="en-US" sz="2800" dirty="0">
                <a:solidFill>
                  <a:prstClr val="black"/>
                </a:solidFill>
              </a:rPr>
              <a:t>修改表名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将表</a:t>
            </a:r>
            <a:r>
              <a:rPr lang="en-US" altLang="zh-CN" sz="2400" dirty="0" err="1"/>
              <a:t>eeexam</a:t>
            </a:r>
            <a:r>
              <a:rPr lang="zh-CN" altLang="en-US" sz="2400" dirty="0"/>
              <a:t>的名称修改为</a:t>
            </a:r>
            <a:r>
              <a:rPr lang="en-US" altLang="zh-CN" sz="2400" dirty="0"/>
              <a:t>exam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 err="1"/>
              <a:t>eeexam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rename to </a:t>
            </a:r>
            <a:r>
              <a:rPr lang="en-US" altLang="zh-CN" sz="2400" dirty="0"/>
              <a:t>exam;</a:t>
            </a:r>
            <a:endParaRPr lang="en-US" altLang="zh-CN" sz="2800" dirty="0"/>
          </a:p>
          <a:p>
            <a:pPr marL="425450" indent="-342900">
              <a:defRPr/>
            </a:pPr>
            <a:r>
              <a:rPr lang="zh-CN" altLang="en-US" sz="2800" dirty="0"/>
              <a:t>修改字段的数据类型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修改</a:t>
            </a:r>
            <a:r>
              <a:rPr lang="en-US" altLang="zh-CN" sz="2400" dirty="0"/>
              <a:t>achieve</a:t>
            </a:r>
            <a:r>
              <a:rPr lang="zh-CN" altLang="en-US" sz="2400" dirty="0"/>
              <a:t>的数据类型：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exam </a:t>
            </a:r>
            <a:r>
              <a:rPr lang="en-US" altLang="zh-CN" sz="2400" dirty="0">
                <a:solidFill>
                  <a:srgbClr val="FF0000"/>
                </a:solidFill>
              </a:rPr>
              <a:t>alter column </a:t>
            </a:r>
            <a:r>
              <a:rPr lang="en-US" altLang="zh-CN" sz="2400" dirty="0"/>
              <a:t>achieve </a:t>
            </a:r>
            <a:r>
              <a:rPr lang="en-US" altLang="zh-CN" sz="2400" dirty="0">
                <a:solidFill>
                  <a:srgbClr val="FF0000"/>
                </a:solidFill>
              </a:rPr>
              <a:t>type </a:t>
            </a:r>
            <a:r>
              <a:rPr lang="en-US" altLang="zh-CN" sz="2400" dirty="0"/>
              <a:t>int; </a:t>
            </a:r>
            <a:endParaRPr lang="en-US" altLang="zh-CN" sz="2400" dirty="0"/>
          </a:p>
          <a:p>
            <a:pPr marL="539750" indent="-457200">
              <a:defRPr/>
            </a:pPr>
            <a:endParaRPr lang="en-US" altLang="zh-CN" sz="2800" dirty="0"/>
          </a:p>
          <a:p>
            <a:pPr marL="539750" indent="-457200">
              <a:defRPr/>
            </a:pPr>
            <a:r>
              <a:rPr lang="zh-CN" altLang="en-US" sz="2800" dirty="0"/>
              <a:t>修改字段名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修改</a:t>
            </a:r>
            <a:r>
              <a:rPr lang="en-US" altLang="zh-CN" sz="2400" dirty="0"/>
              <a:t>achieve</a:t>
            </a:r>
            <a:r>
              <a:rPr lang="zh-CN" altLang="en-US" sz="2400" dirty="0"/>
              <a:t>的字段名为</a:t>
            </a:r>
            <a:r>
              <a:rPr lang="en-US" altLang="zh-CN" sz="2400" dirty="0"/>
              <a:t>score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exam </a:t>
            </a:r>
            <a:r>
              <a:rPr lang="en-US" altLang="zh-CN" sz="2400" dirty="0">
                <a:solidFill>
                  <a:srgbClr val="FF0000"/>
                </a:solidFill>
              </a:rPr>
              <a:t>rename</a:t>
            </a:r>
            <a:r>
              <a:rPr lang="en-US" altLang="zh-CN" sz="2400" dirty="0"/>
              <a:t> achieve </a:t>
            </a:r>
            <a:r>
              <a:rPr lang="en-US" altLang="zh-CN" sz="2400" dirty="0">
                <a:solidFill>
                  <a:srgbClr val="FF0000"/>
                </a:solidFill>
              </a:rPr>
              <a:t>to </a:t>
            </a:r>
            <a:r>
              <a:rPr lang="en-US" altLang="zh-CN" sz="2400" dirty="0"/>
              <a:t>score;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  <p:sp>
        <p:nvSpPr>
          <p:cNvPr id="4" name="对话气泡: 矩形 2"/>
          <p:cNvSpPr/>
          <p:nvPr/>
        </p:nvSpPr>
        <p:spPr>
          <a:xfrm>
            <a:off x="6156176" y="2636912"/>
            <a:ext cx="256072" cy="288032"/>
          </a:xfrm>
          <a:prstGeom prst="wedgeRectCallout">
            <a:avLst>
              <a:gd name="adj1" fmla="val 104328"/>
              <a:gd name="adj2" fmla="val -303707"/>
            </a:avLst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868144" y="1417638"/>
            <a:ext cx="1331052" cy="44117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可以省略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315" y="1885950"/>
            <a:ext cx="1752600" cy="1168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09135"/>
            <a:ext cx="2221230" cy="13239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4293235"/>
            <a:ext cx="4661535" cy="450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数据表的修改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添加字段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向表</a:t>
            </a:r>
            <a:r>
              <a:rPr lang="en-US" altLang="zh-CN" sz="2400" dirty="0"/>
              <a:t>exam</a:t>
            </a:r>
            <a:r>
              <a:rPr lang="zh-CN" altLang="en-US" sz="2400" dirty="0"/>
              <a:t>中添加字段</a:t>
            </a:r>
            <a:r>
              <a:rPr lang="en-US" altLang="zh-CN" sz="2400" dirty="0" err="1"/>
              <a:t>eedate</a:t>
            </a:r>
            <a:r>
              <a:rPr lang="zh-CN" altLang="en-US" sz="2400" dirty="0"/>
              <a:t>来记录考试时间：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exam </a:t>
            </a:r>
            <a:r>
              <a:rPr lang="en-US" altLang="zh-CN" sz="2400" dirty="0">
                <a:solidFill>
                  <a:srgbClr val="FF0000"/>
                </a:solidFill>
              </a:rPr>
              <a:t>add column </a:t>
            </a:r>
            <a:r>
              <a:rPr lang="en-US" altLang="zh-CN" sz="2400" dirty="0" err="1"/>
              <a:t>eedate</a:t>
            </a:r>
            <a:r>
              <a:rPr lang="en-US" altLang="zh-CN" sz="2400" dirty="0"/>
              <a:t> date;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  <a:p>
            <a:pPr marL="425450" indent="-342900">
              <a:defRPr/>
            </a:pPr>
            <a:r>
              <a:rPr lang="zh-CN" altLang="en-US" sz="2800" dirty="0"/>
              <a:t>删除字段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删除字段</a:t>
            </a:r>
            <a:r>
              <a:rPr lang="en-US" altLang="zh-CN" sz="2400" dirty="0"/>
              <a:t>score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exam </a:t>
            </a:r>
            <a:r>
              <a:rPr lang="en-US" altLang="zh-CN" sz="2400" dirty="0">
                <a:solidFill>
                  <a:srgbClr val="FF0000"/>
                </a:solidFill>
              </a:rPr>
              <a:t>drop column </a:t>
            </a:r>
            <a:r>
              <a:rPr lang="en-US" altLang="zh-CN" sz="2400" dirty="0"/>
              <a:t>score;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数据表的删除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数据表的删除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删除表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drop table </a:t>
            </a:r>
            <a:r>
              <a:rPr lang="en-US" altLang="zh-CN" sz="2400" dirty="0" err="1"/>
              <a:t>exampaper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会出现什么情况？如何解决？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数据表的删除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删除表的外键约束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删除指定名称的外键约束：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alter table </a:t>
            </a:r>
            <a:r>
              <a:rPr lang="en-US" altLang="zh-CN" sz="2400" dirty="0"/>
              <a:t>exam </a:t>
            </a:r>
            <a:r>
              <a:rPr lang="en-US" altLang="zh-CN" sz="2400" dirty="0">
                <a:solidFill>
                  <a:srgbClr val="FF0000"/>
                </a:solidFill>
              </a:rPr>
              <a:t>drop constraint </a:t>
            </a:r>
            <a:r>
              <a:rPr lang="en-US" altLang="zh-CN" sz="2400" dirty="0" err="1"/>
              <a:t>fk_exampaper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基于</a:t>
            </a:r>
            <a:r>
              <a:rPr lang="en-US" altLang="zh-CN" sz="2800" dirty="0">
                <a:solidFill>
                  <a:srgbClr val="FF0000"/>
                </a:solidFill>
              </a:rPr>
              <a:t>SQL</a:t>
            </a:r>
            <a:r>
              <a:rPr lang="zh-CN" altLang="en-US" sz="2800" dirty="0">
                <a:solidFill>
                  <a:srgbClr val="FF0000"/>
                </a:solidFill>
              </a:rPr>
              <a:t>的数据修改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插入数据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插入数据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268760"/>
            <a:ext cx="7499350" cy="5088632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为表的所有字段插入数据</a:t>
            </a:r>
            <a:endParaRPr lang="en-US" altLang="zh-CN" sz="2800" dirty="0"/>
          </a:p>
          <a:p>
            <a:pPr marL="699770" lvl="1" indent="-342900">
              <a:defRPr/>
            </a:pPr>
            <a:r>
              <a:rPr lang="zh-CN" altLang="en-US" sz="2400" dirty="0"/>
              <a:t>向表</a:t>
            </a:r>
            <a:r>
              <a:rPr lang="en-US" altLang="zh-CN" sz="2400" dirty="0"/>
              <a:t>examinee(</a:t>
            </a:r>
            <a:r>
              <a:rPr lang="en-US" altLang="zh-CN" sz="2400" dirty="0" err="1"/>
              <a:t>eeid,eename,eesex,eeage,eedepa</a:t>
            </a:r>
            <a:r>
              <a:rPr lang="en-US" altLang="zh-CN" sz="2400" dirty="0"/>
              <a:t>)</a:t>
            </a:r>
            <a:r>
              <a:rPr lang="zh-CN" altLang="en-US" sz="2400" dirty="0"/>
              <a:t>中插入数据：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insert into </a:t>
            </a:r>
            <a:r>
              <a:rPr lang="en-US" altLang="zh-CN" sz="2400" dirty="0"/>
              <a:t>examinee </a:t>
            </a:r>
            <a:r>
              <a:rPr lang="en-US" altLang="zh-CN" sz="2400" dirty="0">
                <a:solidFill>
                  <a:srgbClr val="FF0000"/>
                </a:solidFill>
              </a:rPr>
              <a:t>values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/>
              <a:t>('218811011013', '</a:t>
            </a:r>
            <a:r>
              <a:rPr lang="zh-CN" altLang="en-US" sz="2400" dirty="0"/>
              <a:t>刘诗诗</a:t>
            </a:r>
            <a:r>
              <a:rPr lang="en-US" altLang="zh-CN" sz="2400" dirty="0"/>
              <a:t>','</a:t>
            </a:r>
            <a:r>
              <a:rPr lang="zh-CN" altLang="en-US" sz="2400" dirty="0"/>
              <a:t>女</a:t>
            </a:r>
            <a:r>
              <a:rPr lang="en-US" altLang="zh-CN" sz="2400" dirty="0"/>
              <a:t>',20,'</a:t>
            </a:r>
            <a:r>
              <a:rPr lang="zh-CN" altLang="en-US" sz="2400" dirty="0"/>
              <a:t>历史学院</a:t>
            </a:r>
            <a:r>
              <a:rPr lang="en-US" altLang="zh-CN" sz="2400" dirty="0"/>
              <a:t>');</a:t>
            </a:r>
            <a:endParaRPr lang="en-US" altLang="zh-CN" sz="2400" dirty="0"/>
          </a:p>
          <a:p>
            <a:pPr marL="699770" lvl="1" indent="-342900">
              <a:defRPr/>
            </a:pPr>
            <a:r>
              <a:rPr lang="zh-CN" altLang="en-US" sz="2400" dirty="0"/>
              <a:t>查看数据：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/>
              <a:t>select </a:t>
            </a:r>
            <a:r>
              <a:rPr lang="zh-CN" altLang="en-US" sz="2400" dirty="0"/>
              <a:t>* </a:t>
            </a:r>
            <a:r>
              <a:rPr lang="en-US" altLang="zh-CN" sz="2400" dirty="0"/>
              <a:t>from examinee;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15" y="4869180"/>
            <a:ext cx="8020685" cy="1593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插入数据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为表的指定字段插入数据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向表</a:t>
            </a:r>
            <a:r>
              <a:rPr lang="en-US" altLang="zh-CN" sz="2400" dirty="0"/>
              <a:t>examinee</a:t>
            </a:r>
            <a:r>
              <a:rPr lang="zh-CN" altLang="en-US" sz="2400" dirty="0"/>
              <a:t>中插入数据：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insert into</a:t>
            </a:r>
            <a:r>
              <a:rPr lang="en-US" altLang="zh-CN" sz="2400" dirty="0"/>
              <a:t> examinee(</a:t>
            </a:r>
            <a:r>
              <a:rPr lang="en-US" altLang="zh-CN" sz="2400" dirty="0" err="1"/>
              <a:t>eeid,eename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0000"/>
                </a:solidFill>
              </a:rPr>
              <a:t>values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56870" lvl="1" indent="0">
              <a:buNone/>
              <a:defRPr/>
            </a:pPr>
            <a:r>
              <a:rPr lang="en-US" altLang="zh-CN" sz="2400" dirty="0"/>
              <a:t>(‘218811011117’, ‘</a:t>
            </a:r>
            <a:r>
              <a:rPr lang="zh-CN" altLang="en-US" sz="2400" dirty="0"/>
              <a:t>刘慧杰</a:t>
            </a:r>
            <a:r>
              <a:rPr lang="en-US" altLang="zh-CN" sz="2400" dirty="0"/>
              <a:t>’);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插入数据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/>
          <a:lstStyle/>
          <a:p>
            <a:pPr marL="539750" indent="-457200">
              <a:defRPr/>
            </a:pPr>
            <a:r>
              <a:rPr lang="zh-CN" altLang="en-US" sz="2800" dirty="0"/>
              <a:t>同时插入多条记录</a:t>
            </a:r>
            <a:endParaRPr lang="en-US" altLang="zh-CN" sz="2800" dirty="0"/>
          </a:p>
          <a:p>
            <a:pPr marL="356870" lvl="1" indent="0">
              <a:buNone/>
              <a:defRPr/>
            </a:pPr>
            <a:r>
              <a:rPr lang="zh-CN" altLang="en-US" sz="2400" dirty="0"/>
              <a:t>向表</a:t>
            </a:r>
            <a:r>
              <a:rPr lang="en-US" altLang="zh-CN" sz="2400" dirty="0"/>
              <a:t>examinee</a:t>
            </a:r>
            <a:r>
              <a:rPr lang="zh-CN" altLang="en-US" sz="2400" dirty="0"/>
              <a:t>中插入数据：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insert into</a:t>
            </a:r>
            <a:r>
              <a:rPr lang="en-US" altLang="zh-CN" sz="2400" dirty="0"/>
              <a:t> examinee(</a:t>
            </a:r>
            <a:r>
              <a:rPr lang="en-US" altLang="zh-CN" sz="2400" dirty="0" err="1"/>
              <a:t>eeid,eename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FF0000"/>
                </a:solidFill>
              </a:rPr>
              <a:t>values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56870" lvl="1" indent="0">
              <a:buNone/>
              <a:defRPr/>
            </a:pPr>
            <a:r>
              <a:rPr lang="en-US" altLang="zh-CN" sz="2400" dirty="0"/>
              <a:t>(‘218811011027’, ‘</a:t>
            </a:r>
            <a:r>
              <a:rPr lang="zh-CN" altLang="en-US" sz="2400" dirty="0"/>
              <a:t>张立帆</a:t>
            </a:r>
            <a:r>
              <a:rPr lang="en-US" altLang="zh-CN" sz="2400" dirty="0"/>
              <a:t>’),</a:t>
            </a:r>
            <a:endParaRPr lang="en-US" altLang="zh-CN" sz="2400" dirty="0"/>
          </a:p>
          <a:p>
            <a:pPr marL="356870" lvl="1" indent="0">
              <a:buNone/>
              <a:defRPr/>
            </a:pPr>
            <a:r>
              <a:rPr lang="en-US" altLang="zh-CN" sz="2400" dirty="0"/>
              <a:t>(‘218811011219’,’</a:t>
            </a:r>
            <a:r>
              <a:rPr lang="zh-CN" altLang="en-US" sz="2400" dirty="0"/>
              <a:t>王琳懿</a:t>
            </a:r>
            <a:r>
              <a:rPr lang="en-US" altLang="zh-CN" sz="2400" dirty="0"/>
              <a:t>’);</a:t>
            </a:r>
            <a:endParaRPr lang="en-US" altLang="zh-CN" sz="2400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020" y="4077335"/>
            <a:ext cx="725678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插入数据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思考：</a:t>
            </a:r>
            <a:endParaRPr lang="en-US" altLang="zh-CN" sz="2800" dirty="0"/>
          </a:p>
          <a:p>
            <a:pPr marL="425450" indent="-342900">
              <a:defRPr/>
            </a:pPr>
            <a:r>
              <a:rPr lang="zh-CN" altLang="en-US" sz="2400" dirty="0"/>
              <a:t>插入记录时可以不指定字段名称吗？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更新数据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删除数据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更新数据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425450" indent="-342900">
              <a:defRPr/>
            </a:pPr>
            <a:r>
              <a:rPr lang="zh-CN" altLang="en-US" sz="2400" dirty="0"/>
              <a:t>更改</a:t>
            </a:r>
            <a:r>
              <a:rPr lang="en-US" altLang="zh-CN" sz="2400" dirty="0"/>
              <a:t>examinee</a:t>
            </a:r>
            <a:r>
              <a:rPr lang="zh-CN" altLang="en-US" sz="2400" dirty="0"/>
              <a:t>表中刘诗诗年龄为</a:t>
            </a:r>
            <a:r>
              <a:rPr lang="en-US" altLang="zh-CN" sz="2400" dirty="0"/>
              <a:t>21</a:t>
            </a:r>
            <a:r>
              <a:rPr lang="zh-CN" altLang="en-US" sz="2400" dirty="0"/>
              <a:t>岁：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update</a:t>
            </a:r>
            <a:r>
              <a:rPr lang="en-US" altLang="zh-CN" sz="2400" dirty="0"/>
              <a:t> examinee </a:t>
            </a:r>
            <a:r>
              <a:rPr lang="en-US" altLang="zh-CN" sz="2400" dirty="0">
                <a:solidFill>
                  <a:srgbClr val="FF0000"/>
                </a:solidFill>
              </a:rPr>
              <a:t>set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eeage</a:t>
            </a:r>
            <a:r>
              <a:rPr lang="en-US" altLang="zh-CN" sz="2400" dirty="0"/>
              <a:t>=21 </a:t>
            </a:r>
            <a:r>
              <a:rPr lang="en-US" altLang="zh-CN" sz="2400" dirty="0">
                <a:solidFill>
                  <a:srgbClr val="FF0000"/>
                </a:solidFill>
              </a:rPr>
              <a:t>where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eename</a:t>
            </a:r>
            <a:r>
              <a:rPr lang="en-US" altLang="zh-CN" sz="2400" dirty="0"/>
              <a:t>=‘</a:t>
            </a:r>
            <a:r>
              <a:rPr lang="zh-CN" altLang="en-US" sz="2400" dirty="0"/>
              <a:t>刘诗诗</a:t>
            </a:r>
            <a:r>
              <a:rPr lang="en-US" altLang="zh-CN" sz="2400" dirty="0"/>
              <a:t>’;</a:t>
            </a:r>
            <a:endParaRPr lang="en-US" altLang="zh-CN" sz="2400" dirty="0"/>
          </a:p>
          <a:p>
            <a:pPr marL="82550" indent="0">
              <a:buNone/>
              <a:defRPr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655" y="3227070"/>
            <a:ext cx="7722235" cy="19634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更新数据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None/>
              <a:defRPr/>
            </a:pPr>
            <a:r>
              <a:rPr lang="zh-CN" altLang="en-US" sz="2800" dirty="0"/>
              <a:t>练习</a:t>
            </a:r>
            <a:endParaRPr lang="en-US" altLang="zh-CN" sz="2800" dirty="0"/>
          </a:p>
          <a:p>
            <a:pPr marL="425450" indent="-342900">
              <a:defRPr/>
            </a:pPr>
            <a:r>
              <a:rPr lang="zh-CN" altLang="en-US" sz="2400" dirty="0"/>
              <a:t>更改王琳懿的院系为信科：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/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的数据表基本操作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数据表的创建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数据表的修改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数据表的删除</a:t>
            </a:r>
            <a:endParaRPr lang="en-US" altLang="zh-CN" sz="2000" dirty="0"/>
          </a:p>
          <a:p>
            <a:pPr marL="82550" indent="0" eaLnBrk="1" hangingPunct="1">
              <a:buClr>
                <a:schemeClr val="tx1"/>
              </a:buClr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基于</a:t>
            </a:r>
            <a:r>
              <a:rPr lang="en-US" altLang="zh-CN" sz="2800" dirty="0"/>
              <a:t>SQL</a:t>
            </a:r>
            <a:r>
              <a:rPr lang="zh-CN" altLang="en-US" sz="2800" dirty="0"/>
              <a:t>的数据修改</a:t>
            </a:r>
            <a:endParaRPr lang="en-US" altLang="zh-CN" sz="28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插入数据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/>
              <a:t>更新数据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删除数据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删除数据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425450" indent="-342900">
              <a:defRPr/>
            </a:pPr>
            <a:r>
              <a:rPr lang="zh-CN" altLang="en-US" sz="2400" dirty="0"/>
              <a:t>删除</a:t>
            </a:r>
            <a:r>
              <a:rPr lang="en-US" altLang="zh-CN" sz="2400" dirty="0"/>
              <a:t>id</a:t>
            </a:r>
            <a:r>
              <a:rPr lang="zh-CN" altLang="en-US" sz="2400" dirty="0"/>
              <a:t>号为</a:t>
            </a:r>
            <a:r>
              <a:rPr lang="en-US" altLang="zh-CN" sz="2400" dirty="0"/>
              <a:t>218811011013</a:t>
            </a:r>
            <a:r>
              <a:rPr lang="zh-CN" altLang="en-US" sz="2400" dirty="0"/>
              <a:t>的学生的记录：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delete</a:t>
            </a:r>
            <a:r>
              <a:rPr lang="en-US" altLang="zh-CN" sz="2400" dirty="0"/>
              <a:t> from examinee </a:t>
            </a:r>
            <a:r>
              <a:rPr lang="en-US" altLang="zh-CN" sz="2400" dirty="0">
                <a:solidFill>
                  <a:srgbClr val="FF0000"/>
                </a:solidFill>
              </a:rPr>
              <a:t>where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eeid</a:t>
            </a:r>
            <a:r>
              <a:rPr lang="en-US" altLang="zh-CN" sz="2400" dirty="0"/>
              <a:t>=‘218811011013’;</a:t>
            </a:r>
            <a:endParaRPr lang="en-US" altLang="zh-CN" sz="2400" dirty="0"/>
          </a:p>
          <a:p>
            <a:pPr marL="82550" indent="0"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删除数据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82550" indent="0">
              <a:buNone/>
              <a:defRPr/>
            </a:pPr>
            <a:r>
              <a:rPr lang="zh-CN" altLang="en-US" sz="2800" dirty="0"/>
              <a:t>练习</a:t>
            </a:r>
            <a:endParaRPr lang="en-US" altLang="zh-CN" sz="2800" dirty="0"/>
          </a:p>
          <a:p>
            <a:pPr marL="425450" indent="-342900">
              <a:defRPr/>
            </a:pPr>
            <a:r>
              <a:rPr lang="zh-CN" altLang="en-US" sz="2400" dirty="0"/>
              <a:t>删除姓名为刘慧杰的学生的记录：</a:t>
            </a:r>
            <a:endParaRPr lang="en-US" altLang="zh-CN" sz="2400" dirty="0"/>
          </a:p>
          <a:p>
            <a:pPr marL="82550" indent="0">
              <a:buNone/>
              <a:defRPr/>
            </a:pP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763688" y="2924944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delete</a:t>
            </a:r>
            <a:r>
              <a:rPr lang="en-US" altLang="zh-CN" dirty="0"/>
              <a:t> from examinee 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/>
              <a:t> </a:t>
            </a:r>
            <a:r>
              <a:rPr lang="en-US" altLang="zh-CN" dirty="0" err="1"/>
              <a:t>eename</a:t>
            </a:r>
            <a:r>
              <a:rPr lang="en-US" altLang="zh-CN" dirty="0"/>
              <a:t>=‘</a:t>
            </a:r>
            <a:r>
              <a:rPr lang="zh-CN" altLang="en-US"/>
              <a:t>刘慧杰</a:t>
            </a:r>
            <a:r>
              <a:rPr lang="en-US" altLang="zh-CN"/>
              <a:t>’;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/>
              <a:t>删除数据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425450" indent="-342900">
              <a:defRPr/>
            </a:pPr>
            <a:r>
              <a:rPr lang="zh-CN" altLang="en-US" sz="2400" dirty="0"/>
              <a:t>删除表中的所有记录：</a:t>
            </a:r>
            <a:endParaRPr lang="en-US" altLang="zh-CN" sz="2400" dirty="0"/>
          </a:p>
          <a:p>
            <a:pPr marL="82550" indent="0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delete from </a:t>
            </a:r>
            <a:r>
              <a:rPr lang="en-US" altLang="zh-CN" sz="2400" dirty="0"/>
              <a:t>examinee;</a:t>
            </a:r>
            <a:endParaRPr lang="en-US" altLang="zh-CN" sz="2400" dirty="0"/>
          </a:p>
          <a:p>
            <a:pPr marL="82550" indent="0">
              <a:buNone/>
              <a:defRPr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3141345"/>
            <a:ext cx="7668895" cy="22129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练习</a:t>
            </a:r>
            <a:endParaRPr lang="zh-CN" altLang="en-US" sz="33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35608" y="1556792"/>
            <a:ext cx="7499350" cy="4800600"/>
          </a:xfrm>
        </p:spPr>
        <p:txBody>
          <a:bodyPr>
            <a:normAutofit/>
          </a:bodyPr>
          <a:lstStyle/>
          <a:p>
            <a:pPr marL="425450" indent="-342900">
              <a:defRPr/>
            </a:pPr>
            <a:r>
              <a:rPr lang="zh-CN" altLang="en-US" sz="2400" dirty="0"/>
              <a:t>尝试向</a:t>
            </a:r>
            <a:r>
              <a:rPr lang="en-US" altLang="zh-CN" sz="2400" dirty="0"/>
              <a:t>exam</a:t>
            </a:r>
            <a:r>
              <a:rPr lang="zh-CN" altLang="en-US" sz="2400" dirty="0"/>
              <a:t>表中插入考生</a:t>
            </a:r>
            <a:r>
              <a:rPr lang="en-US" altLang="zh-CN" sz="2400" dirty="0"/>
              <a:t>218811011013</a:t>
            </a:r>
            <a:r>
              <a:rPr lang="zh-CN" altLang="en-US" sz="2400" dirty="0"/>
              <a:t>的考试数据：</a:t>
            </a:r>
            <a:endParaRPr lang="en-US" altLang="zh-CN" sz="2400" dirty="0"/>
          </a:p>
          <a:p>
            <a:pPr marL="425450" indent="-342900">
              <a:defRPr/>
            </a:pPr>
            <a:endParaRPr lang="en-US" altLang="zh-CN" sz="2400" dirty="0"/>
          </a:p>
          <a:p>
            <a:pPr marL="425450" indent="-342900">
              <a:defRPr/>
            </a:pPr>
            <a:endParaRPr lang="en-US" altLang="zh-CN" sz="2400" dirty="0"/>
          </a:p>
          <a:p>
            <a:pPr marL="425450" indent="-342900">
              <a:defRPr/>
            </a:pPr>
            <a:endParaRPr lang="en-US" altLang="zh-CN" sz="24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79712" y="227687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eedate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218811011013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0205000002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2019-08-26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35608" y="3573016"/>
            <a:ext cx="500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 indent="0">
              <a:buNone/>
              <a:defRPr/>
            </a:pPr>
            <a:r>
              <a:rPr lang="en-US" altLang="zh-CN" dirty="0"/>
              <a:t>insert into examinee values(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'218811011013', '</a:t>
            </a:r>
            <a:r>
              <a:rPr lang="zh-CN" altLang="en-US" dirty="0"/>
              <a:t>刘诗诗</a:t>
            </a:r>
            <a:r>
              <a:rPr lang="en-US" altLang="zh-CN" dirty="0"/>
              <a:t>','</a:t>
            </a:r>
            <a:r>
              <a:rPr lang="zh-CN" altLang="en-US" dirty="0"/>
              <a:t>女</a:t>
            </a:r>
            <a:r>
              <a:rPr lang="en-US" altLang="zh-CN" dirty="0"/>
              <a:t>',20,'</a:t>
            </a:r>
            <a:r>
              <a:rPr lang="zh-CN" altLang="en-US" dirty="0"/>
              <a:t>历史学院</a:t>
            </a:r>
            <a:r>
              <a:rPr lang="en-US" altLang="zh-CN" dirty="0"/>
              <a:t>'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);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insert into exam values(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'218811011013','020500002','2019-08-26'</a:t>
            </a:r>
            <a:endParaRPr lang="en-US" altLang="zh-CN" dirty="0"/>
          </a:p>
          <a:p>
            <a:pPr marL="82550" indent="0">
              <a:buNone/>
              <a:defRPr/>
            </a:pPr>
            <a:r>
              <a:rPr lang="en-US" altLang="zh-CN" dirty="0"/>
              <a:t>);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问题与思考   实验体会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</a:t>
            </a:r>
            <a:r>
              <a:rPr lang="zh-CN" altLang="zh-CN" dirty="0"/>
              <a:t>问题与思考</a:t>
            </a:r>
            <a:r>
              <a:rPr lang="zh-CN" altLang="en-US" dirty="0"/>
              <a:t>”以及“实验体会”在课程</a:t>
            </a:r>
            <a:r>
              <a:rPr lang="zh-CN" altLang="en-US" dirty="0">
                <a:solidFill>
                  <a:srgbClr val="FF0000"/>
                </a:solidFill>
              </a:rPr>
              <a:t>讨论区</a:t>
            </a:r>
            <a:r>
              <a:rPr lang="zh-CN" altLang="en-US" dirty="0"/>
              <a:t>，注意回答合理且与本次实验过程涉及到的概念和操作相关，以帮助大家深化认识、具体理解相关概念和知识点。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2990</Words>
  <Application>WPS 文字</Application>
  <PresentationFormat>全屏显示(4:3)</PresentationFormat>
  <Paragraphs>323</Paragraphs>
  <Slides>30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1" baseType="lpstr">
      <vt:lpstr>Arial</vt:lpstr>
      <vt:lpstr>宋体</vt:lpstr>
      <vt:lpstr>Wingdings</vt:lpstr>
      <vt:lpstr>Wingdings 2</vt:lpstr>
      <vt:lpstr>Verdana</vt:lpstr>
      <vt:lpstr>Wingdings 2</vt:lpstr>
      <vt:lpstr>Gill Sans MT</vt:lpstr>
      <vt:lpstr>苹方-简</vt:lpstr>
      <vt:lpstr>华文中宋</vt:lpstr>
      <vt:lpstr>汉仪书宋二KW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Wingdings</vt:lpstr>
      <vt:lpstr>Wingdings 2</vt:lpstr>
      <vt:lpstr>夏至</vt:lpstr>
      <vt:lpstr>实验   基于GaussDB的数据定义与修改</vt:lpstr>
      <vt:lpstr>主要内容</vt:lpstr>
      <vt:lpstr>主要内容</vt:lpstr>
      <vt:lpstr>数据应用场景</vt:lpstr>
      <vt:lpstr>数据表的创建</vt:lpstr>
      <vt:lpstr>数据表的创建</vt:lpstr>
      <vt:lpstr>数据表的创建</vt:lpstr>
      <vt:lpstr>数据表的创建</vt:lpstr>
      <vt:lpstr>数据表的创建</vt:lpstr>
      <vt:lpstr>数据表的创建</vt:lpstr>
      <vt:lpstr>主要内容</vt:lpstr>
      <vt:lpstr>数据表的修改</vt:lpstr>
      <vt:lpstr>数据表的修改</vt:lpstr>
      <vt:lpstr>主要内容</vt:lpstr>
      <vt:lpstr>数据表的删除</vt:lpstr>
      <vt:lpstr>数据表的删除</vt:lpstr>
      <vt:lpstr>主要内容</vt:lpstr>
      <vt:lpstr>插入数据</vt:lpstr>
      <vt:lpstr>插入数据</vt:lpstr>
      <vt:lpstr>插入数据</vt:lpstr>
      <vt:lpstr>插入数据</vt:lpstr>
      <vt:lpstr>主要内容</vt:lpstr>
      <vt:lpstr>更新数据</vt:lpstr>
      <vt:lpstr>更新数据</vt:lpstr>
      <vt:lpstr>主要内容</vt:lpstr>
      <vt:lpstr>删除数据</vt:lpstr>
      <vt:lpstr>删除数据</vt:lpstr>
      <vt:lpstr>删除数据</vt:lpstr>
      <vt:lpstr>练习</vt:lpstr>
      <vt:lpstr>问题与思考   实验体会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数据表的基本操作</dc:title>
  <dc:creator>yaoyingting</dc:creator>
  <cp:lastModifiedBy>卡特</cp:lastModifiedBy>
  <cp:revision>106</cp:revision>
  <dcterms:created xsi:type="dcterms:W3CDTF">2025-03-10T02:01:38Z</dcterms:created>
  <dcterms:modified xsi:type="dcterms:W3CDTF">2025-03-10T02:01:38Z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07B700326D793D4FB2E2CB679DC4D81B_42</vt:lpwstr>
  </property>
  <property fmtid="{D5CDD505-2E9C-101B-9397-08002B2CF9AE}" pid="3" name="KSOProductBuildVer">
    <vt:lpwstr>2052-6.13.1.8913</vt:lpwstr>
  </property>
</Properties>
</file>