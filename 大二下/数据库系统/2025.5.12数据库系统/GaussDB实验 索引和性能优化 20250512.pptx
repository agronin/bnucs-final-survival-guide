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61" r:id="rId4"/>
    <p:sldId id="354" r:id="rId6"/>
    <p:sldId id="353" r:id="rId7"/>
    <p:sldId id="356" r:id="rId8"/>
    <p:sldId id="357" r:id="rId9"/>
    <p:sldId id="358" r:id="rId10"/>
    <p:sldId id="359" r:id="rId11"/>
    <p:sldId id="360" r:id="rId12"/>
    <p:sldId id="361" r:id="rId13"/>
    <p:sldId id="362" r:id="rId14"/>
    <p:sldId id="363" r:id="rId15"/>
    <p:sldId id="364" r:id="rId16"/>
    <p:sldId id="365" r:id="rId17"/>
    <p:sldId id="366" r:id="rId18"/>
    <p:sldId id="367" r:id="rId19"/>
    <p:sldId id="368" r:id="rId20"/>
    <p:sldId id="369" r:id="rId21"/>
    <p:sldId id="370" r:id="rId22"/>
    <p:sldId id="371" r:id="rId23"/>
    <p:sldId id="378" r:id="rId24"/>
    <p:sldId id="379" r:id="rId2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53" autoAdjust="0"/>
    <p:restoredTop sz="89348" autoAdjust="0"/>
  </p:normalViewPr>
  <p:slideViewPr>
    <p:cSldViewPr showGuides="1">
      <p:cViewPr varScale="1">
        <p:scale>
          <a:sx n="64" d="100"/>
          <a:sy n="64" d="100"/>
        </p:scale>
        <p:origin x="1080" y="3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1EE6A9-A337-4424-B158-CEE40DDC4F1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4F95C1-1C97-4AEE-8AFD-9E57812A371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54F95C1-1C97-4AEE-8AFD-9E57812A371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54F95C1-1C97-4AEE-8AFD-9E57812A371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54F95C1-1C97-4AEE-8AFD-9E57812A3711}"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54F95C1-1C97-4AEE-8AFD-9E57812A3711}"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54F95C1-1C97-4AEE-8AFD-9E57812A3711}"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54F95C1-1C97-4AEE-8AFD-9E57812A3711}"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54F95C1-1C97-4AEE-8AFD-9E57812A3711}"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54F95C1-1C97-4AEE-8AFD-9E57812A3711}"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54F95C1-1C97-4AEE-8AFD-9E57812A3711}"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54F95C1-1C97-4AEE-8AFD-9E57812A3711}"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54F95C1-1C97-4AEE-8AFD-9E57812A3711}"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54F95C1-1C97-4AEE-8AFD-9E57812A3711}"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54F95C1-1C97-4AEE-8AFD-9E57812A3711}"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54F95C1-1C97-4AEE-8AFD-9E57812A3711}"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54F95C1-1C97-4AEE-8AFD-9E57812A3711}"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54F95C1-1C97-4AEE-8AFD-9E57812A3711}"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54F95C1-1C97-4AEE-8AFD-9E57812A3711}"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54F95C1-1C97-4AEE-8AFD-9E57812A3711}"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54F95C1-1C97-4AEE-8AFD-9E57812A3711}"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54F95C1-1C97-4AEE-8AFD-9E57812A3711}"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Bitmap</a:t>
            </a:r>
            <a:r>
              <a:rPr lang="zh-CN" altLang="en-US" dirty="0"/>
              <a:t>索引即位图索引，位图索引是适用于候选值较少却又广泛出现，但不频繁更新的列，比如性别等。</a:t>
            </a:r>
            <a:endParaRPr lang="zh-CN" altLang="en-US" dirty="0"/>
          </a:p>
        </p:txBody>
      </p:sp>
      <p:sp>
        <p:nvSpPr>
          <p:cNvPr id="4" name="灯片编号占位符 3"/>
          <p:cNvSpPr>
            <a:spLocks noGrp="1"/>
          </p:cNvSpPr>
          <p:nvPr>
            <p:ph type="sldNum" sz="quarter" idx="5"/>
          </p:nvPr>
        </p:nvSpPr>
        <p:spPr/>
        <p:txBody>
          <a:bodyPr/>
          <a:lstStyle/>
          <a:p>
            <a:fld id="{C54F95C1-1C97-4AEE-8AFD-9E57812A371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4" name="标题 13"/>
          <p:cNvSpPr>
            <a:spLocks noGrp="1"/>
          </p:cNvSpPr>
          <p:nvPr>
            <p:ph type="ctrTitle"/>
          </p:nvPr>
        </p:nvSpPr>
        <p:spPr>
          <a:xfrm>
            <a:off x="1432560" y="359898"/>
            <a:ext cx="7406640" cy="1472184"/>
          </a:xfrm>
        </p:spPr>
        <p:txBody>
          <a:bodyPr anchor="b"/>
          <a:lstStyle>
            <a:lvl1pPr algn="l">
              <a:defRPr/>
            </a:lvl1pPr>
          </a:lstStyle>
          <a:p>
            <a:r>
              <a:rPr kumimoji="0" lang="zh-CN" altLang="en-US"/>
              <a:t>单击此处编辑母版标题样式</a:t>
            </a:r>
            <a:endParaRPr kumimoji="0" lang="en-US"/>
          </a:p>
        </p:txBody>
      </p:sp>
      <p:sp>
        <p:nvSpPr>
          <p:cNvPr id="22" name="副标题 21"/>
          <p:cNvSpPr>
            <a:spLocks noGrp="1"/>
          </p:cNvSpPr>
          <p:nvPr>
            <p:ph type="subTitle" idx="1"/>
          </p:nvPr>
        </p:nvSpPr>
        <p:spPr>
          <a:xfrm>
            <a:off x="1432560" y="1850064"/>
            <a:ext cx="7406640" cy="1752600"/>
          </a:xfrm>
        </p:spPr>
        <p:txBody>
          <a:bodyPr tIns="0"/>
          <a:lstStyle>
            <a:lvl1pPr marL="27305"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a:t>单击此处编辑母版副标题样式</a:t>
            </a:r>
            <a:endParaRPr kumimoji="0" lang="en-US"/>
          </a:p>
        </p:txBody>
      </p:sp>
      <p:sp>
        <p:nvSpPr>
          <p:cNvPr id="7" name="日期占位符 6"/>
          <p:cNvSpPr>
            <a:spLocks noGrp="1"/>
          </p:cNvSpPr>
          <p:nvPr>
            <p:ph type="dt" sz="half" idx="10"/>
          </p:nvPr>
        </p:nvSpPr>
        <p:spPr/>
        <p:txBody>
          <a:bodyPr/>
          <a:lstStyle/>
          <a:p>
            <a:fld id="{0169BD0F-E4EE-49F4-9D55-D10E263893F4}" type="datetimeFigureOut">
              <a:rPr lang="zh-CN" altLang="en-US" smtClean="0"/>
            </a:fld>
            <a:endParaRPr lang="zh-CN" altLang="en-US"/>
          </a:p>
        </p:txBody>
      </p:sp>
      <p:sp>
        <p:nvSpPr>
          <p:cNvPr id="20" name="页脚占位符 19"/>
          <p:cNvSpPr>
            <a:spLocks noGrp="1"/>
          </p:cNvSpPr>
          <p:nvPr>
            <p:ph type="ftr" sz="quarter" idx="11"/>
          </p:nvPr>
        </p:nvSpPr>
        <p:spPr/>
        <p:txBody>
          <a:bodyPr/>
          <a:lstStyle/>
          <a:p>
            <a:endParaRPr lang="zh-CN" altLang="en-US"/>
          </a:p>
        </p:txBody>
      </p:sp>
      <p:sp>
        <p:nvSpPr>
          <p:cNvPr id="10" name="灯片编号占位符 9"/>
          <p:cNvSpPr>
            <a:spLocks noGrp="1"/>
          </p:cNvSpPr>
          <p:nvPr>
            <p:ph type="sldNum" sz="quarter" idx="12"/>
          </p:nvPr>
        </p:nvSpPr>
        <p:spPr/>
        <p:txBody>
          <a:bodyPr/>
          <a:lstStyle/>
          <a:p>
            <a:fld id="{451496B8-45B0-43C8-B1CA-64AEA543BE80}" type="slidenum">
              <a:rPr lang="zh-CN" altLang="en-US" smtClean="0"/>
            </a:fld>
            <a:endParaRPr lang="zh-CN" altLang="en-US"/>
          </a:p>
        </p:txBody>
      </p:sp>
      <p:sp>
        <p:nvSpPr>
          <p:cNvPr id="8" name="椭圆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椭圆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0169BD0F-E4EE-49F4-9D55-D10E263893F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51496B8-45B0-43C8-B1CA-64AEA543BE8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7" name="矩形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2578392" y="2600325"/>
            <a:ext cx="6400800" cy="2286000"/>
          </a:xfrm>
        </p:spPr>
        <p:txBody>
          <a:bodyPr anchor="t"/>
          <a:lstStyle>
            <a:lvl1pPr algn="l">
              <a:lnSpc>
                <a:spcPts val="4500"/>
              </a:lnSpc>
              <a:buNone/>
              <a:defRPr sz="4000" b="1"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2578392" y="1066800"/>
            <a:ext cx="6400800" cy="1509712"/>
          </a:xfrm>
        </p:spPr>
        <p:txBody>
          <a:bodyPr anchor="b"/>
          <a:lstStyle>
            <a:lvl1pPr marL="18415"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endParaRPr kumimoji="0" lang="zh-CN" altLang="en-US"/>
          </a:p>
        </p:txBody>
      </p:sp>
      <p:sp>
        <p:nvSpPr>
          <p:cNvPr id="4" name="日期占位符 3"/>
          <p:cNvSpPr>
            <a:spLocks noGrp="1"/>
          </p:cNvSpPr>
          <p:nvPr>
            <p:ph type="dt" sz="half" idx="10"/>
          </p:nvPr>
        </p:nvSpPr>
        <p:spPr/>
        <p:txBody>
          <a:bodyPr/>
          <a:lstStyle/>
          <a:p>
            <a:fld id="{0169BD0F-E4EE-49F4-9D55-D10E263893F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51496B8-45B0-43C8-B1CA-64AEA543BE80}" type="slidenum">
              <a:rPr lang="zh-CN" altLang="en-US" smtClean="0"/>
            </a:fld>
            <a:endParaRPr lang="zh-CN" altLang="en-US"/>
          </a:p>
        </p:txBody>
      </p:sp>
      <p:sp>
        <p:nvSpPr>
          <p:cNvPr id="10" name="矩形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椭圆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椭圆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435608" y="274320"/>
            <a:ext cx="7498080" cy="1143000"/>
          </a:xfrm>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内容占位符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0169BD0F-E4EE-49F4-9D55-D10E263893F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51496B8-45B0-43C8-B1CA-64AEA543BE8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5160336"/>
            <a:ext cx="8229600" cy="1143000"/>
          </a:xfrm>
        </p:spPr>
        <p:txBody>
          <a:bodyPr anchor="ctr"/>
          <a:lstStyle>
            <a:lvl1pPr algn="ctr">
              <a:defRPr sz="4500" b="1" cap="none" baseline="0"/>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endParaRPr kumimoji="0" lang="zh-CN" altLang="en-US"/>
          </a:p>
        </p:txBody>
      </p:sp>
      <p:sp>
        <p:nvSpPr>
          <p:cNvPr id="4" name="文本占位符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endParaRPr kumimoji="0" lang="zh-CN" altLang="en-US"/>
          </a:p>
        </p:txBody>
      </p:sp>
      <p:sp>
        <p:nvSpPr>
          <p:cNvPr id="5" name="内容占位符 4"/>
          <p:cNvSpPr>
            <a:spLocks noGrp="1"/>
          </p:cNvSpPr>
          <p:nvPr>
            <p:ph sz="quarter" idx="2"/>
          </p:nvPr>
        </p:nvSpPr>
        <p:spPr>
          <a:xfrm>
            <a:off x="457200" y="969336"/>
            <a:ext cx="402336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6" name="内容占位符 5"/>
          <p:cNvSpPr>
            <a:spLocks noGrp="1"/>
          </p:cNvSpPr>
          <p:nvPr>
            <p:ph sz="quarter" idx="4"/>
          </p:nvPr>
        </p:nvSpPr>
        <p:spPr>
          <a:xfrm>
            <a:off x="4663440" y="969336"/>
            <a:ext cx="402336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0169BD0F-E4EE-49F4-9D55-D10E263893F4}"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51496B8-45B0-43C8-B1CA-64AEA543BE80}"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435608" y="274320"/>
            <a:ext cx="7498080" cy="1143000"/>
          </a:xfrm>
        </p:spPr>
        <p:txBody>
          <a:bodyPr anchor="ct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0169BD0F-E4EE-49F4-9D55-D10E263893F4}"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51496B8-45B0-43C8-B1CA-64AEA543BE80}"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5" name="矩形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日期占位符 1"/>
          <p:cNvSpPr>
            <a:spLocks noGrp="1"/>
          </p:cNvSpPr>
          <p:nvPr>
            <p:ph type="dt" sz="half" idx="10"/>
          </p:nvPr>
        </p:nvSpPr>
        <p:spPr/>
        <p:txBody>
          <a:bodyPr/>
          <a:lstStyle/>
          <a:p>
            <a:fld id="{0169BD0F-E4EE-49F4-9D55-D10E263893F4}"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51496B8-45B0-43C8-B1CA-64AEA543BE80}" type="slidenum">
              <a:rPr lang="zh-CN" altLang="en-US" smtClean="0"/>
            </a:fld>
            <a:endParaRPr lang="zh-CN" altLang="en-US"/>
          </a:p>
        </p:txBody>
      </p:sp>
      <p:sp>
        <p:nvSpPr>
          <p:cNvPr id="6" name="矩形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lstStyle>
          <a:p>
            <a:r>
              <a:rPr kumimoji="0" lang="zh-CN" altLang="en-US"/>
              <a:t>单击此处编辑母版标题样式</a:t>
            </a:r>
            <a:endParaRPr kumimoji="0" lang="en-US"/>
          </a:p>
        </p:txBody>
      </p:sp>
      <p:sp>
        <p:nvSpPr>
          <p:cNvPr id="3" name="文本占位符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zh-CN" altLang="en-US"/>
              <a:t>单击此处编辑母版文本样式</a:t>
            </a:r>
            <a:endParaRPr kumimoji="0" lang="zh-CN" altLang="en-US"/>
          </a:p>
        </p:txBody>
      </p:sp>
      <p:sp>
        <p:nvSpPr>
          <p:cNvPr id="4" name="内容占位符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0169BD0F-E4EE-49F4-9D55-D10E263893F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51496B8-45B0-43C8-B1CA-64AEA543BE80}"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5886896" y="1066800"/>
            <a:ext cx="2743200" cy="1981200"/>
          </a:xfrm>
        </p:spPr>
        <p:txBody>
          <a:bodyPr anchor="b">
            <a:noAutofit/>
          </a:bodyPr>
          <a:lstStyle>
            <a:lvl1pPr algn="l">
              <a:buNone/>
              <a:defRPr sz="2100" b="1">
                <a:effectLst/>
              </a:defRPr>
            </a:lvl1pPr>
          </a:lstStyle>
          <a:p>
            <a:r>
              <a:rPr kumimoji="0" lang="zh-CN" altLang="en-US"/>
              <a:t>单击此处编辑母版标题样式</a:t>
            </a:r>
            <a:endParaRPr kumimoji="0" lang="en-US"/>
          </a:p>
        </p:txBody>
      </p:sp>
      <p:sp>
        <p:nvSpPr>
          <p:cNvPr id="5" name="日期占位符 4"/>
          <p:cNvSpPr>
            <a:spLocks noGrp="1"/>
          </p:cNvSpPr>
          <p:nvPr>
            <p:ph type="dt" sz="half" idx="10"/>
          </p:nvPr>
        </p:nvSpPr>
        <p:spPr/>
        <p:txBody>
          <a:bodyPr/>
          <a:lstStyle/>
          <a:p>
            <a:fld id="{0169BD0F-E4EE-49F4-9D55-D10E263893F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51496B8-45B0-43C8-B1CA-64AEA543BE80}" type="slidenum">
              <a:rPr lang="zh-CN" altLang="en-US" smtClean="0"/>
            </a:fld>
            <a:endParaRPr lang="zh-CN" altLang="en-US"/>
          </a:p>
        </p:txBody>
      </p:sp>
      <p:sp>
        <p:nvSpPr>
          <p:cNvPr id="8" name="矩形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210" algn="l" rtl="0" eaLnBrk="1" latinLnBrk="0" hangingPunct="1">
              <a:lnSpc>
                <a:spcPts val="3000"/>
              </a:lnSpc>
              <a:spcBef>
                <a:spcPts val="600"/>
              </a:spcBef>
              <a:buClr>
                <a:schemeClr val="accent1"/>
              </a:buClr>
              <a:buSzPct val="80000"/>
              <a:buFont typeface="Wingdings 2" panose="05020102010507070707"/>
              <a:buNone/>
            </a:pPr>
            <a:endParaRPr kumimoji="0" lang="en-US" sz="3200" kern="1200">
              <a:solidFill>
                <a:schemeClr val="tx1"/>
              </a:solidFill>
              <a:latin typeface="+mn-lt"/>
              <a:ea typeface="+mn-ea"/>
              <a:cs typeface="+mn-cs"/>
            </a:endParaRPr>
          </a:p>
        </p:txBody>
      </p:sp>
      <p:sp>
        <p:nvSpPr>
          <p:cNvPr id="3" name="图片占位符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lstStyle>
          <a:p>
            <a:pPr marL="0" algn="l" eaLnBrk="1" latinLnBrk="0" hangingPunct="1"/>
            <a:r>
              <a:rPr kumimoji="0" lang="zh-CN" altLang="en-US"/>
              <a:t>单击图标添加图片</a:t>
            </a:r>
            <a:endParaRPr kumimoji="0" lang="en-US" dirty="0"/>
          </a:p>
        </p:txBody>
      </p:sp>
      <p:sp>
        <p:nvSpPr>
          <p:cNvPr id="9" name="流程图: 过程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流程图: 过程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文本占位符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lvl="0" eaLnBrk="1" latinLnBrk="0" hangingPunct="1"/>
            <a:r>
              <a:rPr kumimoji="0" lang="zh-CN" altLang="en-US"/>
              <a:t>单击此处编辑母版文本样式</a:t>
            </a:r>
            <a:endParaRPr kumimoji="0"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0169BD0F-E4EE-49F4-9D55-D10E263893F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51496B8-45B0-43C8-B1CA-64AEA543BE80}"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274639"/>
            <a:ext cx="1828800" cy="5851525"/>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1143000" y="274640"/>
            <a:ext cx="5562600" cy="5851525"/>
          </a:xfrm>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0169BD0F-E4EE-49F4-9D55-D10E263893F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51496B8-45B0-43C8-B1CA-64AEA543BE8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饼形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椭圆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同心圆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矩形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标题占位符 4"/>
          <p:cNvSpPr>
            <a:spLocks noGrp="1"/>
          </p:cNvSpPr>
          <p:nvPr>
            <p:ph type="title"/>
          </p:nvPr>
        </p:nvSpPr>
        <p:spPr>
          <a:xfrm>
            <a:off x="1435608" y="274638"/>
            <a:ext cx="7498080" cy="1143000"/>
          </a:xfrm>
          <a:prstGeom prst="rect">
            <a:avLst/>
          </a:prstGeom>
        </p:spPr>
        <p:txBody>
          <a:bodyPr anchor="ctr">
            <a:normAutofit/>
          </a:bodyPr>
          <a:lstStyle/>
          <a:p>
            <a:r>
              <a:rPr kumimoji="0" lang="zh-CN" altLang="en-US"/>
              <a:t>单击此处编辑母版标题样式</a:t>
            </a:r>
            <a:endParaRPr kumimoji="0" lang="en-US"/>
          </a:p>
        </p:txBody>
      </p:sp>
      <p:sp>
        <p:nvSpPr>
          <p:cNvPr id="9" name="文本占位符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zh-CN" altLang="en-US"/>
              <a:t>单击此处编辑母版文本样式</a:t>
            </a:r>
            <a:endParaRPr kumimoji="0" lang="zh-CN" altLang="en-US"/>
          </a:p>
          <a:p>
            <a:pPr lvl="1" eaLnBrk="1" latinLnBrk="0" hangingPunct="1"/>
            <a:r>
              <a:rPr kumimoji="0" lang="zh-CN" altLang="en-US"/>
              <a:t>第二级</a:t>
            </a:r>
            <a:endParaRPr kumimoji="0" lang="zh-CN" altLang="en-US"/>
          </a:p>
          <a:p>
            <a:pPr lvl="2" eaLnBrk="1" latinLnBrk="0" hangingPunct="1"/>
            <a:r>
              <a:rPr kumimoji="0" lang="zh-CN" altLang="en-US"/>
              <a:t>第三级</a:t>
            </a:r>
            <a:endParaRPr kumimoji="0" lang="zh-CN" altLang="en-US"/>
          </a:p>
          <a:p>
            <a:pPr lvl="3" eaLnBrk="1" latinLnBrk="0" hangingPunct="1"/>
            <a:r>
              <a:rPr kumimoji="0" lang="zh-CN" altLang="en-US"/>
              <a:t>第四级</a:t>
            </a:r>
            <a:endParaRPr kumimoji="0" lang="zh-CN" altLang="en-US"/>
          </a:p>
          <a:p>
            <a:pPr lvl="4" eaLnBrk="1" latinLnBrk="0" hangingPunct="1"/>
            <a:r>
              <a:rPr kumimoji="0" lang="zh-CN" altLang="en-US"/>
              <a:t>第五级</a:t>
            </a:r>
            <a:endParaRPr kumimoji="0" lang="en-US"/>
          </a:p>
        </p:txBody>
      </p:sp>
      <p:sp>
        <p:nvSpPr>
          <p:cNvPr id="24" name="日期占位符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lstStyle>
          <a:p>
            <a:fld id="{0169BD0F-E4EE-49F4-9D55-D10E263893F4}" type="datetimeFigureOut">
              <a:rPr lang="zh-CN" altLang="en-US" smtClean="0"/>
            </a:fld>
            <a:endParaRPr lang="zh-CN" altLang="en-US"/>
          </a:p>
        </p:txBody>
      </p:sp>
      <p:sp>
        <p:nvSpPr>
          <p:cNvPr id="10" name="页脚占位符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lstStyle>
          <a:p>
            <a:endParaRPr lang="zh-CN" altLang="en-US"/>
          </a:p>
        </p:txBody>
      </p:sp>
      <p:sp>
        <p:nvSpPr>
          <p:cNvPr id="22" name="灯片编号占位符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lstStyle>
          <a:p>
            <a:fld id="{451496B8-45B0-43C8-B1CA-64AEA543BE80}" type="slidenum">
              <a:rPr lang="zh-CN" altLang="en-US" smtClean="0"/>
            </a:fld>
            <a:endParaRPr lang="zh-CN" altLang="en-US"/>
          </a:p>
        </p:txBody>
      </p:sp>
      <p:sp>
        <p:nvSpPr>
          <p:cNvPr id="15" name="矩形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p:titleStyle>
    <p:bodyStyle>
      <a:lvl1pPr marL="365760" indent="-283210" algn="l" rtl="0" eaLnBrk="1" latinLnBrk="0" hangingPunct="1">
        <a:lnSpc>
          <a:spcPct val="100000"/>
        </a:lnSpc>
        <a:spcBef>
          <a:spcPts val="600"/>
        </a:spcBef>
        <a:buClr>
          <a:schemeClr val="accent1"/>
        </a:buClr>
        <a:buSzPct val="80000"/>
        <a:buFont typeface="Wingdings 2" panose="05020102010507070707"/>
        <a:buChar char=""/>
        <a:defRPr kumimoji="0" sz="3200" kern="1200">
          <a:solidFill>
            <a:schemeClr val="tx1"/>
          </a:solidFill>
          <a:latin typeface="+mn-lt"/>
          <a:ea typeface="+mn-ea"/>
          <a:cs typeface="+mn-cs"/>
        </a:defRPr>
      </a:lvl1pPr>
      <a:lvl2pPr marL="640080" indent="-237490" algn="l" rtl="0" eaLnBrk="1" latinLnBrk="0" hangingPunct="1">
        <a:lnSpc>
          <a:spcPct val="100000"/>
        </a:lnSpc>
        <a:spcBef>
          <a:spcPts val="550"/>
        </a:spcBef>
        <a:buClr>
          <a:schemeClr val="accent1"/>
        </a:buClr>
        <a:buFont typeface="Verdana" panose="020B0604030504040204"/>
        <a:buChar char="◦"/>
        <a:defRPr kumimoji="0" sz="2800" kern="1200">
          <a:solidFill>
            <a:schemeClr val="tx1"/>
          </a:solidFill>
          <a:latin typeface="+mn-lt"/>
          <a:ea typeface="+mn-ea"/>
          <a:cs typeface="+mn-cs"/>
        </a:defRPr>
      </a:lvl2pPr>
      <a:lvl3pPr marL="887095" indent="-228600" algn="l" rtl="0" eaLnBrk="1" latinLnBrk="0" hangingPunct="1">
        <a:lnSpc>
          <a:spcPct val="100000"/>
        </a:lnSpc>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097280" indent="-173990" algn="l" rtl="0" eaLnBrk="1" latinLnBrk="0" hangingPunct="1">
        <a:lnSpc>
          <a:spcPct val="100000"/>
        </a:lnSpc>
        <a:spcBef>
          <a:spcPct val="20000"/>
        </a:spcBef>
        <a:buClr>
          <a:schemeClr val="accent3"/>
        </a:buClr>
        <a:buFont typeface="Wingdings 2" panose="05020102010507070707"/>
        <a:buChar char=""/>
        <a:defRPr kumimoji="0" sz="2000" kern="1200">
          <a:solidFill>
            <a:schemeClr val="tx1"/>
          </a:solidFill>
          <a:latin typeface="+mn-lt"/>
          <a:ea typeface="+mn-ea"/>
          <a:cs typeface="+mn-cs"/>
        </a:defRPr>
      </a:lvl4pPr>
      <a:lvl5pPr marL="1298575" indent="-182880" algn="l" rtl="0" eaLnBrk="1" latinLnBrk="0" hangingPunct="1">
        <a:lnSpc>
          <a:spcPct val="100000"/>
        </a:lnSpc>
        <a:spcBef>
          <a:spcPct val="20000"/>
        </a:spcBef>
        <a:buClr>
          <a:schemeClr val="accent4"/>
        </a:buClr>
        <a:buFont typeface="Wingdings 2" panose="05020102010507070707"/>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115616" y="1628800"/>
            <a:ext cx="7920880" cy="1472184"/>
          </a:xfrm>
        </p:spPr>
        <p:txBody>
          <a:bodyPr>
            <a:noAutofit/>
          </a:bodyPr>
          <a:lstStyle/>
          <a:p>
            <a:pPr algn="ctr">
              <a:lnSpc>
                <a:spcPct val="150000"/>
              </a:lnSpc>
            </a:pPr>
            <a:r>
              <a:rPr lang="zh-CN" altLang="en-US" sz="4000" dirty="0"/>
              <a:t>实验 </a:t>
            </a:r>
            <a:r>
              <a:rPr lang="en-US" altLang="zh-CN" sz="4000" dirty="0"/>
              <a:t>GaussDB</a:t>
            </a:r>
            <a:r>
              <a:rPr lang="zh-CN" altLang="en-US" sz="4000" dirty="0"/>
              <a:t>索引和性能优化</a:t>
            </a:r>
            <a:endParaRPr lang="zh-CN" altLang="en-US" sz="4000" dirty="0"/>
          </a:p>
        </p:txBody>
      </p:sp>
      <p:sp>
        <p:nvSpPr>
          <p:cNvPr id="3" name="Rectangle 3"/>
          <p:cNvSpPr>
            <a:spLocks noGrp="1" noChangeArrowheads="1"/>
          </p:cNvSpPr>
          <p:nvPr>
            <p:ph type="subTitle" idx="1"/>
          </p:nvPr>
        </p:nvSpPr>
        <p:spPr>
          <a:xfrm>
            <a:off x="1479922" y="4149080"/>
            <a:ext cx="7407275" cy="1752600"/>
          </a:xfrm>
        </p:spPr>
        <p:txBody>
          <a:bodyPr>
            <a:normAutofit/>
          </a:bodyPr>
          <a:lstStyle/>
          <a:p>
            <a:pPr algn="r" eaLnBrk="1" fontAlgn="auto" hangingPunct="1">
              <a:spcAft>
                <a:spcPts val="0"/>
              </a:spcAft>
              <a:buFont typeface="Wingdings 2" panose="05020102010507070707"/>
              <a:buNone/>
              <a:defRPr/>
            </a:pPr>
            <a:r>
              <a:rPr lang="zh-CN" altLang="en-US" dirty="0">
                <a:effectLst>
                  <a:outerShdw blurRad="38100" dist="38100" dir="2700000" algn="tl">
                    <a:srgbClr val="000000">
                      <a:alpha val="43137"/>
                    </a:srgbClr>
                  </a:outerShdw>
                </a:effectLst>
              </a:rPr>
              <a:t>李梦佳</a:t>
            </a:r>
            <a:endParaRPr lang="zh-CN" altLang="en-US" dirty="0">
              <a:effectLst>
                <a:outerShdw blurRad="38100" dist="38100" dir="2700000" algn="tl">
                  <a:srgbClr val="000000">
                    <a:alpha val="43137"/>
                  </a:srgbClr>
                </a:outerShdw>
              </a:effectLst>
            </a:endParaRPr>
          </a:p>
          <a:p>
            <a:pPr algn="r" eaLnBrk="1" fontAlgn="auto" hangingPunct="1">
              <a:spcAft>
                <a:spcPts val="0"/>
              </a:spcAft>
              <a:buFont typeface="Wingdings 2" panose="05020102010507070707"/>
              <a:buNone/>
              <a:defRPr/>
            </a:pPr>
            <a:r>
              <a:rPr lang="zh-CN" altLang="en-US" dirty="0">
                <a:effectLst>
                  <a:outerShdw blurRad="38100" dist="38100" dir="2700000" algn="tl">
                    <a:srgbClr val="000000">
                      <a:alpha val="43137"/>
                    </a:srgbClr>
                  </a:outerShdw>
                </a:effectLst>
              </a:rPr>
              <a:t>韩浩岚</a:t>
            </a:r>
            <a:endParaRPr lang="en-US" altLang="zh-CN" dirty="0">
              <a:effectLst>
                <a:outerShdw blurRad="38100" dist="38100" dir="2700000" algn="tl">
                  <a:srgbClr val="000000">
                    <a:alpha val="43137"/>
                  </a:srgbClr>
                </a:outerShdw>
              </a:effectLst>
            </a:endParaRPr>
          </a:p>
          <a:p>
            <a:pPr algn="r" eaLnBrk="1" fontAlgn="auto" hangingPunct="1">
              <a:spcAft>
                <a:spcPts val="0"/>
              </a:spcAft>
              <a:buFont typeface="Wingdings 2" panose="05020102010507070707"/>
              <a:buNone/>
              <a:defRPr/>
            </a:pPr>
            <a:r>
              <a:rPr lang="en-US" altLang="zh-CN" dirty="0">
                <a:effectLst>
                  <a:outerShdw blurRad="38100" dist="38100" dir="2700000" algn="tl">
                    <a:srgbClr val="000000">
                      <a:alpha val="43137"/>
                    </a:srgbClr>
                  </a:outerShdw>
                </a:effectLst>
                <a:latin typeface="Bahnschrift Light" panose="020B0502040204020203" pitchFamily="34" charset="0"/>
              </a:rPr>
              <a:t>2025-05-12</a:t>
            </a:r>
            <a:endParaRPr lang="zh-CN" altLang="zh-CN" dirty="0">
              <a:effectLst>
                <a:outerShdw blurRad="38100" dist="38100" dir="2700000" algn="tl">
                  <a:srgbClr val="000000">
                    <a:alpha val="43137"/>
                  </a:srgbClr>
                </a:outerShdw>
              </a:effectLst>
              <a:latin typeface="Bahnschrift Light" panose="020B0502040204020203"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sz="3300" dirty="0">
                <a:solidFill>
                  <a:schemeClr val="tx2">
                    <a:satMod val="130000"/>
                  </a:schemeClr>
                </a:solidFill>
              </a:rPr>
              <a:t>主要内容</a:t>
            </a:r>
            <a:endParaRPr lang="zh-CN" altLang="en-US" sz="3300" dirty="0">
              <a:solidFill>
                <a:schemeClr val="tx2">
                  <a:satMod val="130000"/>
                </a:schemeClr>
              </a:solidFill>
            </a:endParaRPr>
          </a:p>
        </p:txBody>
      </p:sp>
      <p:sp>
        <p:nvSpPr>
          <p:cNvPr id="7" name="内容占位符 2"/>
          <p:cNvSpPr txBox="1"/>
          <p:nvPr/>
        </p:nvSpPr>
        <p:spPr bwMode="auto">
          <a:xfrm>
            <a:off x="1099624" y="1484784"/>
            <a:ext cx="7834064" cy="462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91440" bIns="45720" numCol="1" anchor="t" anchorCtr="0" compatLnSpc="1"/>
          <a:lstStyle>
            <a:lvl1pPr marL="265430" indent="-265430" algn="l" rtl="0" eaLnBrk="0" fontAlgn="base" hangingPunct="0">
              <a:spcBef>
                <a:spcPts val="250"/>
              </a:spcBef>
              <a:spcAft>
                <a:spcPct val="0"/>
              </a:spcAft>
              <a:buClr>
                <a:schemeClr val="accent1"/>
              </a:buClr>
              <a:buSzPct val="80000"/>
              <a:buFont typeface="Wingdings 2" panose="05020102010507070707" pitchFamily="18" charset="2"/>
              <a:buChar char=""/>
              <a:defRPr sz="2800" kern="1200">
                <a:solidFill>
                  <a:schemeClr val="tx1"/>
                </a:solidFill>
                <a:latin typeface="+mn-lt"/>
                <a:ea typeface="+mn-ea"/>
                <a:cs typeface="+mn-cs"/>
              </a:defRPr>
            </a:lvl1pPr>
            <a:lvl2pPr marL="548005" indent="-200025" algn="l" rtl="0" eaLnBrk="0" fontAlgn="base" hangingPunct="0">
              <a:spcBef>
                <a:spcPts val="250"/>
              </a:spcBef>
              <a:spcAft>
                <a:spcPct val="0"/>
              </a:spcAft>
              <a:buClr>
                <a:schemeClr val="accent1"/>
              </a:buClr>
              <a:buSzPct val="100000"/>
              <a:buFont typeface="Wingdings 2" panose="05020102010507070707" pitchFamily="18" charset="2"/>
              <a:buChar char="◦"/>
              <a:defRPr sz="2400" kern="1200">
                <a:solidFill>
                  <a:schemeClr val="tx1"/>
                </a:solidFill>
                <a:latin typeface="+mn-lt"/>
                <a:ea typeface="+mn-ea"/>
                <a:cs typeface="+mn-cs"/>
              </a:defRPr>
            </a:lvl2pPr>
            <a:lvl3pPr marL="786130" indent="-182880" algn="l" rtl="0" eaLnBrk="0" fontAlgn="base" hangingPunct="0">
              <a:spcBef>
                <a:spcPts val="250"/>
              </a:spcBef>
              <a:spcAft>
                <a:spcPct val="0"/>
              </a:spcAft>
              <a:buClr>
                <a:srgbClr val="ED3742"/>
              </a:buClr>
              <a:buSzPct val="100000"/>
              <a:buFont typeface="Wingdings 2" panose="05020102010507070707" pitchFamily="18" charset="2"/>
              <a:buChar char=""/>
              <a:defRPr sz="2200" kern="1200">
                <a:solidFill>
                  <a:schemeClr val="tx1"/>
                </a:solidFill>
                <a:latin typeface="+mn-lt"/>
                <a:ea typeface="+mn-ea"/>
                <a:cs typeface="+mn-cs"/>
              </a:defRPr>
            </a:lvl3pPr>
            <a:lvl4pPr marL="1024255" indent="-182880" algn="l" rtl="0" eaLnBrk="0" fontAlgn="base" hangingPunct="0">
              <a:spcBef>
                <a:spcPts val="225"/>
              </a:spcBef>
              <a:spcAft>
                <a:spcPct val="0"/>
              </a:spcAft>
              <a:buClr>
                <a:srgbClr val="ED3742"/>
              </a:buClr>
              <a:buSzPct val="112000"/>
              <a:buFont typeface="Wingdings 2" panose="05020102010507070707" pitchFamily="18" charset="2"/>
              <a:buChar char="◦"/>
              <a:defRPr sz="1900" kern="1200">
                <a:solidFill>
                  <a:schemeClr val="tx1"/>
                </a:solidFill>
                <a:latin typeface="+mn-lt"/>
                <a:ea typeface="+mn-ea"/>
                <a:cs typeface="+mn-cs"/>
              </a:defRPr>
            </a:lvl4pPr>
            <a:lvl5pPr marL="1279525" indent="-182880" algn="l" rtl="0" eaLnBrk="0" fontAlgn="base" hangingPunct="0">
              <a:spcBef>
                <a:spcPts val="250"/>
              </a:spcBef>
              <a:spcAft>
                <a:spcPct val="0"/>
              </a:spcAft>
              <a:buClr>
                <a:srgbClr val="4A85BF"/>
              </a:buClr>
              <a:buSzPct val="100000"/>
              <a:buFont typeface="Wingdings 2" panose="05020102010507070707" pitchFamily="18" charset="2"/>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defRPr/>
            </a:pPr>
            <a:r>
              <a:rPr lang="zh-CN" altLang="en-US" sz="3200" dirty="0">
                <a:latin typeface="+mn-ea"/>
              </a:rPr>
              <a:t>索引</a:t>
            </a:r>
            <a:endParaRPr lang="en-US" altLang="zh-CN" sz="3200" dirty="0">
              <a:latin typeface="+mn-ea"/>
            </a:endParaRPr>
          </a:p>
          <a:p>
            <a:pPr eaLnBrk="1" hangingPunct="1">
              <a:defRPr/>
            </a:pPr>
            <a:endParaRPr lang="en-US" altLang="zh-CN" sz="3200" dirty="0">
              <a:latin typeface="+mn-ea"/>
            </a:endParaRPr>
          </a:p>
          <a:p>
            <a:pPr eaLnBrk="1" hangingPunct="1">
              <a:defRPr/>
            </a:pPr>
            <a:r>
              <a:rPr lang="zh-CN" altLang="en-US" sz="3200" dirty="0">
                <a:latin typeface="+mn-ea"/>
              </a:rPr>
              <a:t>性能优化</a:t>
            </a:r>
            <a:endParaRPr lang="en-US" altLang="zh-CN" sz="3200"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50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500"/>
                                  </p:stCondLst>
                                  <p:childTnLst>
                                    <p:set>
                                      <p:cBhvr>
                                        <p:cTn id="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sz="3300" dirty="0"/>
              <a:t>索引</a:t>
            </a:r>
            <a:r>
              <a:rPr lang="en-US" altLang="zh-CN" sz="3300" dirty="0"/>
              <a:t>——</a:t>
            </a:r>
            <a:r>
              <a:rPr lang="zh-CN" altLang="en-US" sz="3300" dirty="0"/>
              <a:t>了解索引</a:t>
            </a:r>
            <a:endParaRPr lang="zh-CN" altLang="en-US" sz="3300" dirty="0">
              <a:solidFill>
                <a:schemeClr val="tx2">
                  <a:satMod val="130000"/>
                </a:schemeClr>
              </a:solidFill>
            </a:endParaRPr>
          </a:p>
        </p:txBody>
      </p:sp>
      <p:sp>
        <p:nvSpPr>
          <p:cNvPr id="4" name="内容占位符 2"/>
          <p:cNvSpPr>
            <a:spLocks noGrp="1"/>
          </p:cNvSpPr>
          <p:nvPr>
            <p:ph idx="1"/>
          </p:nvPr>
        </p:nvSpPr>
        <p:spPr>
          <a:xfrm>
            <a:off x="1259632" y="1417638"/>
            <a:ext cx="7498080" cy="4800600"/>
          </a:xfrm>
        </p:spPr>
        <p:txBody>
          <a:bodyPr>
            <a:normAutofit fontScale="85000" lnSpcReduction="10000"/>
          </a:bodyPr>
          <a:lstStyle/>
          <a:p>
            <a:r>
              <a:rPr lang="zh-CN" altLang="en-US" dirty="0"/>
              <a:t>索引：</a:t>
            </a:r>
            <a:endParaRPr lang="en-US" altLang="zh-CN" dirty="0"/>
          </a:p>
          <a:p>
            <a:pPr lvl="1"/>
            <a:r>
              <a:rPr lang="zh-CN" altLang="en-US" sz="2400" dirty="0"/>
              <a:t>索引是对数据库表中一列或者多列的值进行排序的一种结构，使用索引可以提高数据库中的特定数据的查询速度。</a:t>
            </a:r>
            <a:endParaRPr lang="en-US" altLang="zh-CN" sz="2400" dirty="0"/>
          </a:p>
          <a:p>
            <a:pPr lvl="1"/>
            <a:r>
              <a:rPr lang="zh-CN" altLang="en-US" sz="2400" dirty="0"/>
              <a:t>索引是一个单独的、存储在磁盘上的数据库结构，它们包含对数据表里所有记录的引用指针。</a:t>
            </a:r>
            <a:endParaRPr lang="en-US" altLang="zh-CN" sz="2400" dirty="0"/>
          </a:p>
          <a:p>
            <a:pPr lvl="1"/>
            <a:r>
              <a:rPr lang="zh-CN" altLang="en-US" sz="2400" dirty="0">
                <a:solidFill>
                  <a:srgbClr val="FF0000"/>
                </a:solidFill>
              </a:rPr>
              <a:t>用于快速找出在某个列或多个列中有一特定值的行。</a:t>
            </a:r>
            <a:endParaRPr lang="en-US" altLang="zh-CN" sz="2400" dirty="0">
              <a:solidFill>
                <a:srgbClr val="FF0000"/>
              </a:solidFill>
            </a:endParaRPr>
          </a:p>
          <a:p>
            <a:pPr lvl="1"/>
            <a:endParaRPr lang="en-US" altLang="zh-CN" sz="2400" dirty="0"/>
          </a:p>
          <a:p>
            <a:pPr marL="365760" lvl="1" indent="-283210">
              <a:spcBef>
                <a:spcPts val="600"/>
              </a:spcBef>
              <a:buSzPct val="80000"/>
              <a:buFont typeface="Wingdings 2" panose="05020102010507070707"/>
              <a:buChar char=""/>
            </a:pPr>
            <a:r>
              <a:rPr lang="zh-CN" altLang="en-US" sz="3200" dirty="0"/>
              <a:t>例子：</a:t>
            </a:r>
            <a:endParaRPr lang="en-US" altLang="zh-CN" sz="3200" dirty="0"/>
          </a:p>
          <a:p>
            <a:pPr lvl="1">
              <a:buSzPct val="80000"/>
            </a:pPr>
            <a:r>
              <a:rPr lang="zh-CN" altLang="en-US" sz="2400" dirty="0"/>
              <a:t>数据库中有</a:t>
            </a:r>
            <a:r>
              <a:rPr lang="en-US" altLang="zh-CN" sz="2400" dirty="0"/>
              <a:t>2</a:t>
            </a:r>
            <a:r>
              <a:rPr lang="zh-CN" altLang="en-US" sz="2400" dirty="0"/>
              <a:t>万条考生记录，现在要执行查询：</a:t>
            </a:r>
            <a:r>
              <a:rPr lang="en-US" altLang="zh-CN" sz="2400" dirty="0"/>
              <a:t>select </a:t>
            </a:r>
            <a:r>
              <a:rPr lang="zh-CN" altLang="en-US" sz="2400" dirty="0"/>
              <a:t>* </a:t>
            </a:r>
            <a:r>
              <a:rPr lang="en-US" altLang="zh-CN" sz="2400" dirty="0"/>
              <a:t>from examinee where </a:t>
            </a:r>
            <a:r>
              <a:rPr lang="en-US" altLang="zh-CN" sz="2400" dirty="0" err="1"/>
              <a:t>eeage</a:t>
            </a:r>
            <a:r>
              <a:rPr lang="en-US" altLang="zh-CN" sz="2400" dirty="0"/>
              <a:t>=23;</a:t>
            </a:r>
            <a:endParaRPr lang="en-US" altLang="zh-CN" sz="2400" dirty="0"/>
          </a:p>
          <a:p>
            <a:pPr lvl="1">
              <a:buSzPct val="80000"/>
            </a:pPr>
            <a:r>
              <a:rPr lang="zh-CN" altLang="en-US" sz="2400" dirty="0"/>
              <a:t>如果没有索引，必须遍历整个表，直到</a:t>
            </a:r>
            <a:r>
              <a:rPr lang="en-US" altLang="zh-CN" sz="2400" dirty="0" err="1"/>
              <a:t>eeage</a:t>
            </a:r>
            <a:r>
              <a:rPr lang="en-US" altLang="zh-CN" sz="2400" dirty="0"/>
              <a:t>=23</a:t>
            </a:r>
            <a:r>
              <a:rPr lang="zh-CN" altLang="en-US" sz="2400" dirty="0"/>
              <a:t>的所有行被找到为止；</a:t>
            </a:r>
            <a:endParaRPr lang="en-US" altLang="zh-CN" sz="2400" dirty="0"/>
          </a:p>
          <a:p>
            <a:pPr lvl="1">
              <a:buSzPct val="80000"/>
            </a:pPr>
            <a:r>
              <a:rPr lang="zh-CN" altLang="en-US" sz="2400" dirty="0"/>
              <a:t>如果在</a:t>
            </a:r>
            <a:r>
              <a:rPr lang="en-US" altLang="zh-CN" sz="2400" dirty="0" err="1"/>
              <a:t>eeage</a:t>
            </a:r>
            <a:r>
              <a:rPr lang="zh-CN" altLang="en-US" sz="2400" dirty="0"/>
              <a:t>上创建索引，不需要任何扫描，直接在索引里面找</a:t>
            </a:r>
            <a:r>
              <a:rPr lang="en-US" altLang="zh-CN" sz="2400" dirty="0"/>
              <a:t>23</a:t>
            </a:r>
            <a:r>
              <a:rPr lang="zh-CN" altLang="en-US" sz="2400" dirty="0"/>
              <a:t>，就可以得到相应行的位置，直接访问就可。</a:t>
            </a:r>
            <a:endParaRPr lang="en-US" altLang="zh-CN"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sz="3300" dirty="0"/>
              <a:t>索引</a:t>
            </a:r>
            <a:r>
              <a:rPr lang="en-US" altLang="zh-CN" sz="3300" dirty="0"/>
              <a:t>——</a:t>
            </a:r>
            <a:r>
              <a:rPr lang="zh-CN" altLang="en-US" sz="3300" dirty="0"/>
              <a:t>了解索引</a:t>
            </a:r>
            <a:endParaRPr lang="zh-CN" altLang="en-US" sz="3300" dirty="0">
              <a:solidFill>
                <a:schemeClr val="tx2">
                  <a:satMod val="130000"/>
                </a:schemeClr>
              </a:solidFill>
            </a:endParaRPr>
          </a:p>
        </p:txBody>
      </p:sp>
      <p:sp>
        <p:nvSpPr>
          <p:cNvPr id="4" name="内容占位符 2"/>
          <p:cNvSpPr>
            <a:spLocks noGrp="1"/>
          </p:cNvSpPr>
          <p:nvPr>
            <p:ph idx="1"/>
          </p:nvPr>
        </p:nvSpPr>
        <p:spPr>
          <a:xfrm>
            <a:off x="1259632" y="1417638"/>
            <a:ext cx="7498080" cy="4800600"/>
          </a:xfrm>
        </p:spPr>
        <p:txBody>
          <a:bodyPr>
            <a:normAutofit/>
          </a:bodyPr>
          <a:lstStyle/>
          <a:p>
            <a:r>
              <a:rPr lang="zh-CN" altLang="en-US" dirty="0"/>
              <a:t>作用：</a:t>
            </a:r>
            <a:endParaRPr lang="en-US" altLang="zh-CN" dirty="0"/>
          </a:p>
          <a:p>
            <a:pPr lvl="1"/>
            <a:r>
              <a:rPr lang="zh-CN" altLang="en-US" dirty="0"/>
              <a:t>加快数据查询速度</a:t>
            </a:r>
            <a:endParaRPr lang="en-US" altLang="zh-CN" dirty="0"/>
          </a:p>
          <a:p>
            <a:pPr lvl="1"/>
            <a:r>
              <a:rPr lang="zh-CN" altLang="en-US" dirty="0"/>
              <a:t>加速表和表之间的连接</a:t>
            </a:r>
            <a:endParaRPr lang="en-US" altLang="zh-C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sz="3300" dirty="0"/>
              <a:t>索引</a:t>
            </a:r>
            <a:r>
              <a:rPr lang="en-US" altLang="zh-CN" sz="3300" dirty="0"/>
              <a:t>——</a:t>
            </a:r>
            <a:r>
              <a:rPr lang="zh-CN" altLang="en-US" sz="3300" dirty="0"/>
              <a:t>分类</a:t>
            </a:r>
            <a:endParaRPr lang="zh-CN" altLang="en-US" sz="3300" dirty="0">
              <a:solidFill>
                <a:schemeClr val="tx2">
                  <a:satMod val="130000"/>
                </a:schemeClr>
              </a:solidFill>
            </a:endParaRPr>
          </a:p>
        </p:txBody>
      </p:sp>
      <p:sp>
        <p:nvSpPr>
          <p:cNvPr id="4" name="内容占位符 2"/>
          <p:cNvSpPr>
            <a:spLocks noGrp="1"/>
          </p:cNvSpPr>
          <p:nvPr>
            <p:ph idx="1"/>
          </p:nvPr>
        </p:nvSpPr>
        <p:spPr>
          <a:xfrm>
            <a:off x="1156824" y="1410513"/>
            <a:ext cx="7776864" cy="4800600"/>
          </a:xfrm>
        </p:spPr>
        <p:txBody>
          <a:bodyPr>
            <a:normAutofit/>
          </a:bodyPr>
          <a:lstStyle/>
          <a:p>
            <a:r>
              <a:rPr lang="en-US" altLang="zh-CN" dirty="0"/>
              <a:t>B-tree</a:t>
            </a:r>
            <a:r>
              <a:rPr lang="zh-CN" altLang="en-US" dirty="0"/>
              <a:t>索引：</a:t>
            </a:r>
            <a:endParaRPr lang="en-US" altLang="zh-CN" dirty="0"/>
          </a:p>
          <a:p>
            <a:pPr lvl="1"/>
            <a:r>
              <a:rPr lang="en-US" altLang="zh-CN" sz="2400" dirty="0"/>
              <a:t>B-tree</a:t>
            </a:r>
            <a:r>
              <a:rPr lang="zh-CN" altLang="en-US" sz="2400" dirty="0"/>
              <a:t>适合处理能够按照顺序存储的数据，比如对于一些字段涉及到使用“</a:t>
            </a:r>
            <a:r>
              <a:rPr lang="en-US" altLang="zh-CN" sz="2400" dirty="0"/>
              <a:t>&lt;</a:t>
            </a:r>
            <a:r>
              <a:rPr lang="zh-CN" altLang="en-US" sz="2400" dirty="0"/>
              <a:t>”“</a:t>
            </a:r>
            <a:r>
              <a:rPr lang="en-US" altLang="zh-CN" sz="2400" dirty="0"/>
              <a:t>&lt;=</a:t>
            </a:r>
            <a:r>
              <a:rPr lang="zh-CN" altLang="en-US" sz="2400" dirty="0"/>
              <a:t>”“</a:t>
            </a:r>
            <a:r>
              <a:rPr lang="en-US" altLang="zh-CN" sz="2400" dirty="0"/>
              <a:t>=</a:t>
            </a:r>
            <a:r>
              <a:rPr lang="zh-CN" altLang="en-US" sz="2400" dirty="0"/>
              <a:t>”操作符进行操作时。</a:t>
            </a:r>
            <a:endParaRPr lang="zh-CN" altLang="en-US" sz="2400" dirty="0"/>
          </a:p>
        </p:txBody>
      </p:sp>
      <p:sp>
        <p:nvSpPr>
          <p:cNvPr id="3" name="文本框 2"/>
          <p:cNvSpPr txBox="1"/>
          <p:nvPr/>
        </p:nvSpPr>
        <p:spPr>
          <a:xfrm>
            <a:off x="1066165" y="3187700"/>
            <a:ext cx="7453630" cy="2958465"/>
          </a:xfrm>
          <a:prstGeom prst="rect">
            <a:avLst/>
          </a:prstGeom>
          <a:noFill/>
        </p:spPr>
        <p:txBody>
          <a:bodyPr wrap="square" rtlCol="0" anchor="t">
            <a:spAutoFit/>
          </a:bodyPr>
          <a:p>
            <a:pPr lvl="1" indent="-237490" algn="l">
              <a:spcBef>
                <a:spcPts val="550"/>
              </a:spcBef>
              <a:buClr>
                <a:schemeClr val="accent1"/>
              </a:buClr>
              <a:buSzTx/>
              <a:buFont typeface="Verdana" panose="020B0604030504040204"/>
              <a:buChar char="◦"/>
            </a:pPr>
            <a:r>
              <a:rPr lang="zh-CN" altLang="en-US" sz="2400" dirty="0">
                <a:sym typeface="+mn-ea"/>
              </a:rPr>
              <a:t>创建B-tree索引的命令：</a:t>
            </a:r>
            <a:endParaRPr lang="zh-CN" altLang="en-US" sz="2400" dirty="0"/>
          </a:p>
          <a:p>
            <a:pPr lvl="2" indent="-237490" algn="l">
              <a:spcBef>
                <a:spcPts val="550"/>
              </a:spcBef>
              <a:buClr>
                <a:schemeClr val="accent1"/>
              </a:buClr>
              <a:buSzTx/>
              <a:buFont typeface="Verdana" panose="020B0604030504040204"/>
              <a:buChar char="◦"/>
            </a:pPr>
            <a:r>
              <a:rPr lang="zh-CN" altLang="en-US" sz="2400" dirty="0">
                <a:sym typeface="+mn-ea"/>
              </a:rPr>
              <a:t>create index &lt;索引名&gt; on &lt;表名&gt; using btree(column)；</a:t>
            </a:r>
            <a:endParaRPr lang="zh-CN" altLang="en-US" sz="2400" dirty="0"/>
          </a:p>
          <a:p>
            <a:pPr lvl="1" indent="-237490" algn="l">
              <a:spcBef>
                <a:spcPts val="550"/>
              </a:spcBef>
              <a:buClr>
                <a:schemeClr val="accent1"/>
              </a:buClr>
              <a:buSzTx/>
              <a:buFont typeface="Verdana" panose="020B0604030504040204"/>
              <a:buChar char="◦"/>
            </a:pPr>
            <a:r>
              <a:rPr lang="zh-CN" altLang="en-US" sz="2400" dirty="0">
                <a:sym typeface="+mn-ea"/>
              </a:rPr>
              <a:t>例子：</a:t>
            </a:r>
            <a:endParaRPr lang="zh-CN" altLang="en-US" sz="2400" dirty="0"/>
          </a:p>
          <a:p>
            <a:pPr lvl="2" indent="-237490" algn="l">
              <a:spcBef>
                <a:spcPts val="550"/>
              </a:spcBef>
              <a:buClr>
                <a:schemeClr val="accent1"/>
              </a:buClr>
              <a:buSzTx/>
              <a:buFont typeface="Verdana" panose="020B0604030504040204"/>
              <a:buChar char="◦"/>
            </a:pPr>
            <a:r>
              <a:rPr lang="zh-CN" altLang="en-US" sz="2400" dirty="0">
                <a:sym typeface="+mn-ea"/>
              </a:rPr>
              <a:t>create index sy on examinee using  btree(eeage);   </a:t>
            </a:r>
            <a:endParaRPr lang="zh-CN" altLang="en-US" sz="2400" dirty="0"/>
          </a:p>
          <a:p>
            <a:pPr lvl="2" indent="-237490" algn="l">
              <a:spcBef>
                <a:spcPts val="550"/>
              </a:spcBef>
              <a:buClr>
                <a:schemeClr val="accent1"/>
              </a:buClr>
              <a:buSzTx/>
              <a:buFont typeface="Verdana" panose="020B0604030504040204"/>
              <a:buChar char="◦"/>
            </a:pPr>
            <a:r>
              <a:rPr lang="zh-CN" altLang="en-US" sz="2400" dirty="0">
                <a:sym typeface="+mn-ea"/>
              </a:rPr>
              <a:t>为考生表中的eeage建立B-tree索引，名字叫sy</a:t>
            </a:r>
            <a:endParaRPr lang="zh-CN" altLang="en-US" sz="2400" dirty="0">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sz="3300" dirty="0"/>
              <a:t>索引</a:t>
            </a:r>
            <a:r>
              <a:rPr lang="en-US" altLang="zh-CN" sz="3300" dirty="0"/>
              <a:t>——</a:t>
            </a:r>
            <a:r>
              <a:rPr lang="zh-CN" altLang="en-US" sz="3300" dirty="0"/>
              <a:t>分类</a:t>
            </a:r>
            <a:endParaRPr lang="zh-CN" altLang="en-US" sz="3300" dirty="0">
              <a:solidFill>
                <a:schemeClr val="tx2">
                  <a:satMod val="130000"/>
                </a:schemeClr>
              </a:solidFill>
            </a:endParaRPr>
          </a:p>
        </p:txBody>
      </p:sp>
      <p:sp>
        <p:nvSpPr>
          <p:cNvPr id="4" name="内容占位符 2"/>
          <p:cNvSpPr>
            <a:spLocks noGrp="1"/>
          </p:cNvSpPr>
          <p:nvPr>
            <p:ph idx="1"/>
          </p:nvPr>
        </p:nvSpPr>
        <p:spPr>
          <a:xfrm>
            <a:off x="1156824" y="1410513"/>
            <a:ext cx="7776864" cy="4800600"/>
          </a:xfrm>
        </p:spPr>
        <p:txBody>
          <a:bodyPr>
            <a:normAutofit/>
          </a:bodyPr>
          <a:lstStyle/>
          <a:p>
            <a:r>
              <a:rPr lang="en-US" altLang="zh-CN" sz="2800" dirty="0" err="1"/>
              <a:t>Hash</a:t>
            </a:r>
            <a:r>
              <a:rPr lang="zh-CN" altLang="en-US" sz="2800" dirty="0" err="1"/>
              <a:t>索引、</a:t>
            </a:r>
            <a:r>
              <a:rPr lang="en-US" altLang="zh-CN" sz="2800" dirty="0" err="1"/>
              <a:t>GiST</a:t>
            </a:r>
            <a:r>
              <a:rPr lang="zh-CN" altLang="en-US" sz="2800" dirty="0"/>
              <a:t>索引、</a:t>
            </a:r>
            <a:r>
              <a:rPr lang="en-US" altLang="zh-CN" sz="2800" dirty="0"/>
              <a:t>GIN</a:t>
            </a:r>
            <a:r>
              <a:rPr lang="zh-CN" altLang="en-US" sz="2800" dirty="0"/>
              <a:t>索引等</a:t>
            </a:r>
            <a:endParaRPr lang="en-US" altLang="zh-CN" sz="2800" dirty="0"/>
          </a:p>
          <a:p>
            <a:endParaRPr lang="en-US" altLang="zh-CN" sz="2800" dirty="0"/>
          </a:p>
          <a:p>
            <a:r>
              <a:rPr lang="zh-CN" altLang="en-US" sz="2800" dirty="0"/>
              <a:t>大多数情况下</a:t>
            </a:r>
            <a:r>
              <a:rPr lang="en-US" altLang="zh-CN" sz="2800" dirty="0"/>
              <a:t>B-tree</a:t>
            </a:r>
            <a:r>
              <a:rPr lang="zh-CN" altLang="en-US" sz="2800" dirty="0"/>
              <a:t>索引比较常用</a:t>
            </a:r>
            <a:endParaRPr lang="en-US" altLang="zh-CN"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sz="3300" dirty="0"/>
              <a:t>索引</a:t>
            </a:r>
            <a:r>
              <a:rPr lang="en-US" altLang="zh-CN" sz="3300" dirty="0"/>
              <a:t>——</a:t>
            </a:r>
            <a:r>
              <a:rPr lang="zh-CN" altLang="en-US" sz="3300" dirty="0"/>
              <a:t>设计原则</a:t>
            </a:r>
            <a:endParaRPr lang="zh-CN" altLang="en-US" sz="3300" dirty="0">
              <a:solidFill>
                <a:schemeClr val="tx2">
                  <a:satMod val="130000"/>
                </a:schemeClr>
              </a:solidFill>
            </a:endParaRPr>
          </a:p>
        </p:txBody>
      </p:sp>
      <p:sp>
        <p:nvSpPr>
          <p:cNvPr id="4" name="内容占位符 2"/>
          <p:cNvSpPr>
            <a:spLocks noGrp="1"/>
          </p:cNvSpPr>
          <p:nvPr>
            <p:ph idx="1"/>
          </p:nvPr>
        </p:nvSpPr>
        <p:spPr>
          <a:xfrm>
            <a:off x="1156824" y="1410513"/>
            <a:ext cx="7776864" cy="5447488"/>
          </a:xfrm>
        </p:spPr>
        <p:txBody>
          <a:bodyPr>
            <a:normAutofit lnSpcReduction="10000"/>
          </a:bodyPr>
          <a:lstStyle/>
          <a:p>
            <a:r>
              <a:rPr lang="zh-CN" altLang="en-US" sz="2800" dirty="0"/>
              <a:t>索引设计不合理或者缺少索引都会对数据库和应用程序的性能造成障碍。</a:t>
            </a:r>
            <a:endParaRPr lang="en-US" altLang="zh-CN" sz="2800" dirty="0"/>
          </a:p>
          <a:p>
            <a:r>
              <a:rPr lang="zh-CN" altLang="en-US" sz="2800" dirty="0"/>
              <a:t>原则：</a:t>
            </a:r>
            <a:endParaRPr lang="en-US" altLang="zh-CN" sz="2800" dirty="0"/>
          </a:p>
          <a:p>
            <a:pPr lvl="1"/>
            <a:r>
              <a:rPr lang="zh-CN" altLang="en-US" sz="2000" dirty="0"/>
              <a:t>索引并非越多越好。</a:t>
            </a:r>
            <a:endParaRPr lang="en-US" altLang="zh-CN" sz="2000" dirty="0"/>
          </a:p>
          <a:p>
            <a:pPr marL="648970" lvl="2" indent="0">
              <a:buNone/>
            </a:pPr>
            <a:r>
              <a:rPr lang="zh-CN" altLang="en-US" sz="2000" dirty="0">
                <a:solidFill>
                  <a:srgbClr val="0070C0"/>
                </a:solidFill>
              </a:rPr>
              <a:t>（理解：过多的索引会占用大量磁盘空间，还会影响</a:t>
            </a:r>
            <a:r>
              <a:rPr lang="en-US" altLang="zh-CN" sz="2000" dirty="0">
                <a:solidFill>
                  <a:srgbClr val="0070C0"/>
                </a:solidFill>
              </a:rPr>
              <a:t>insert</a:t>
            </a:r>
            <a:r>
              <a:rPr lang="zh-CN" altLang="en-US" sz="2000" dirty="0">
                <a:solidFill>
                  <a:srgbClr val="0070C0"/>
                </a:solidFill>
              </a:rPr>
              <a:t>、</a:t>
            </a:r>
            <a:r>
              <a:rPr lang="en-US" altLang="zh-CN" sz="2000" dirty="0">
                <a:solidFill>
                  <a:srgbClr val="0070C0"/>
                </a:solidFill>
              </a:rPr>
              <a:t>delete</a:t>
            </a:r>
            <a:r>
              <a:rPr lang="zh-CN" altLang="en-US" sz="2000" dirty="0">
                <a:solidFill>
                  <a:srgbClr val="0070C0"/>
                </a:solidFill>
              </a:rPr>
              <a:t>、</a:t>
            </a:r>
            <a:r>
              <a:rPr lang="en-US" altLang="zh-CN" sz="2000" dirty="0">
                <a:solidFill>
                  <a:srgbClr val="0070C0"/>
                </a:solidFill>
              </a:rPr>
              <a:t>update</a:t>
            </a:r>
            <a:r>
              <a:rPr lang="zh-CN" altLang="en-US" sz="2000" dirty="0">
                <a:solidFill>
                  <a:srgbClr val="0070C0"/>
                </a:solidFill>
              </a:rPr>
              <a:t>等语句的性能，因为更改表中的数据时，索引也会进行调整和更新。）</a:t>
            </a:r>
            <a:endParaRPr lang="en-US" altLang="zh-CN" sz="2000" dirty="0">
              <a:solidFill>
                <a:srgbClr val="0070C0"/>
              </a:solidFill>
            </a:endParaRPr>
          </a:p>
          <a:p>
            <a:pPr marL="648970" lvl="2" indent="0">
              <a:buNone/>
            </a:pPr>
            <a:endParaRPr lang="en-US" altLang="zh-CN" sz="2000" dirty="0"/>
          </a:p>
          <a:p>
            <a:pPr lvl="1"/>
            <a:r>
              <a:rPr lang="zh-CN" altLang="en-US" sz="2000" dirty="0"/>
              <a:t>避免对经常更新的表进行过多的索引，并且索引中的列尽可能少。对经常用于查询的字段应该创建索引，但要避免添加不必要的字段。</a:t>
            </a:r>
            <a:endParaRPr lang="en-US" altLang="zh-CN" sz="2000" dirty="0"/>
          </a:p>
          <a:p>
            <a:pPr lvl="1"/>
            <a:endParaRPr lang="en-US" altLang="zh-CN" sz="2000" b="1" dirty="0"/>
          </a:p>
          <a:p>
            <a:pPr lvl="1"/>
            <a:r>
              <a:rPr lang="zh-CN" altLang="en-US" sz="2000" dirty="0"/>
              <a:t>数据量小的表最好不要建索引。</a:t>
            </a:r>
            <a:endParaRPr lang="en-US" altLang="zh-CN" sz="2000" dirty="0"/>
          </a:p>
          <a:p>
            <a:pPr marL="648970" lvl="2" indent="0">
              <a:buNone/>
            </a:pPr>
            <a:r>
              <a:rPr lang="zh-CN" altLang="en-US" sz="2000" dirty="0">
                <a:solidFill>
                  <a:srgbClr val="0070C0"/>
                </a:solidFill>
              </a:rPr>
              <a:t>（理解：数据较少时，查询花费的时间可能比遍历索引的时间还要短，达不到优化的效果。）</a:t>
            </a:r>
            <a:endParaRPr lang="en-US" altLang="zh-CN" sz="2000" dirty="0">
              <a:solidFill>
                <a:srgbClr val="0070C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sz="3300" dirty="0"/>
              <a:t>索引</a:t>
            </a:r>
            <a:r>
              <a:rPr lang="en-US" altLang="zh-CN" sz="3300" dirty="0"/>
              <a:t>——</a:t>
            </a:r>
            <a:r>
              <a:rPr lang="zh-CN" altLang="en-US" sz="3300" dirty="0"/>
              <a:t>设计原则</a:t>
            </a:r>
            <a:endParaRPr lang="zh-CN" altLang="en-US" sz="3300" dirty="0">
              <a:solidFill>
                <a:schemeClr val="tx2">
                  <a:satMod val="130000"/>
                </a:schemeClr>
              </a:solidFill>
            </a:endParaRPr>
          </a:p>
        </p:txBody>
      </p:sp>
      <p:sp>
        <p:nvSpPr>
          <p:cNvPr id="4" name="内容占位符 2"/>
          <p:cNvSpPr>
            <a:spLocks noGrp="1"/>
          </p:cNvSpPr>
          <p:nvPr>
            <p:ph idx="1"/>
          </p:nvPr>
        </p:nvSpPr>
        <p:spPr>
          <a:xfrm>
            <a:off x="1156824" y="1410513"/>
            <a:ext cx="7776864" cy="4800600"/>
          </a:xfrm>
        </p:spPr>
        <p:txBody>
          <a:bodyPr>
            <a:normAutofit/>
          </a:bodyPr>
          <a:lstStyle/>
          <a:p>
            <a:r>
              <a:rPr lang="zh-CN" altLang="en-US" sz="2800" dirty="0"/>
              <a:t>原则：</a:t>
            </a:r>
            <a:endParaRPr lang="en-US" altLang="zh-CN" sz="2800" dirty="0"/>
          </a:p>
          <a:p>
            <a:pPr lvl="1"/>
            <a:r>
              <a:rPr lang="zh-CN" altLang="en-US" sz="2000" dirty="0"/>
              <a:t>在条件表达式中经常用到的、不同值较多的列上建立索引，在不同值少的列上不要建立索引。</a:t>
            </a:r>
            <a:endParaRPr lang="en-US" altLang="zh-CN" sz="2000" dirty="0"/>
          </a:p>
          <a:p>
            <a:pPr marL="648970" lvl="2" indent="0">
              <a:buNone/>
            </a:pPr>
            <a:r>
              <a:rPr lang="zh-CN" altLang="en-US" sz="2000" dirty="0">
                <a:solidFill>
                  <a:srgbClr val="0070C0"/>
                </a:solidFill>
              </a:rPr>
              <a:t>（理解：比如在</a:t>
            </a:r>
            <a:r>
              <a:rPr lang="en-US" altLang="zh-CN" sz="2000" dirty="0">
                <a:solidFill>
                  <a:srgbClr val="0070C0"/>
                </a:solidFill>
              </a:rPr>
              <a:t>examinee</a:t>
            </a:r>
            <a:r>
              <a:rPr lang="zh-CN" altLang="en-US" sz="2000" dirty="0">
                <a:solidFill>
                  <a:srgbClr val="0070C0"/>
                </a:solidFill>
              </a:rPr>
              <a:t>表的</a:t>
            </a:r>
            <a:r>
              <a:rPr lang="en-US" altLang="zh-CN" sz="2000" dirty="0" err="1">
                <a:solidFill>
                  <a:srgbClr val="0070C0"/>
                </a:solidFill>
              </a:rPr>
              <a:t>eesex</a:t>
            </a:r>
            <a:r>
              <a:rPr lang="zh-CN" altLang="en-US" sz="2000" dirty="0">
                <a:solidFill>
                  <a:srgbClr val="0070C0"/>
                </a:solidFill>
              </a:rPr>
              <a:t>字段上只有“男”、“女”两个不同值，就没有必要建立索引，建立索引不但不会提高查询效率，反而会严重降低更新速度。）</a:t>
            </a:r>
            <a:endParaRPr lang="en-US" altLang="zh-CN" sz="2000" dirty="0">
              <a:solidFill>
                <a:srgbClr val="0070C0"/>
              </a:solidFill>
            </a:endParaRPr>
          </a:p>
          <a:p>
            <a:pPr lvl="1"/>
            <a:endParaRPr lang="en-US" altLang="zh-CN" sz="2000" dirty="0"/>
          </a:p>
          <a:p>
            <a:pPr lvl="1"/>
            <a:r>
              <a:rPr lang="zh-CN" altLang="en-US" sz="2000" dirty="0"/>
              <a:t>当唯一性是某种数据本身的特征时，指定唯一索引。</a:t>
            </a:r>
            <a:endParaRPr lang="en-US" altLang="zh-CN" sz="2000" dirty="0"/>
          </a:p>
          <a:p>
            <a:pPr lvl="1"/>
            <a:endParaRPr lang="en-US" altLang="zh-CN" sz="2000" dirty="0"/>
          </a:p>
          <a:p>
            <a:pPr lvl="1"/>
            <a:r>
              <a:rPr lang="zh-CN" altLang="en-US" sz="2000" dirty="0"/>
              <a:t>在频繁进行排序和分组的列上建立索引时，如果待排序的列有多个，可建立组合索引。</a:t>
            </a:r>
            <a:endParaRPr lang="zh-CN" altLang="en-US" sz="2000" dirty="0"/>
          </a:p>
          <a:p>
            <a:endParaRPr lang="en-US" altLang="zh-C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sz="3300" dirty="0"/>
              <a:t>索引</a:t>
            </a:r>
            <a:r>
              <a:rPr lang="en-US" altLang="zh-CN" sz="3300" dirty="0"/>
              <a:t>——</a:t>
            </a:r>
            <a:r>
              <a:rPr lang="zh-CN" altLang="en-US" sz="3300" dirty="0"/>
              <a:t>创建</a:t>
            </a:r>
            <a:endParaRPr lang="zh-CN" altLang="en-US" sz="3300" dirty="0">
              <a:solidFill>
                <a:schemeClr val="tx2">
                  <a:satMod val="130000"/>
                </a:schemeClr>
              </a:solidFill>
            </a:endParaRPr>
          </a:p>
        </p:txBody>
      </p:sp>
      <p:sp>
        <p:nvSpPr>
          <p:cNvPr id="4" name="内容占位符 2"/>
          <p:cNvSpPr>
            <a:spLocks noGrp="1"/>
          </p:cNvSpPr>
          <p:nvPr>
            <p:ph idx="1"/>
          </p:nvPr>
        </p:nvSpPr>
        <p:spPr>
          <a:xfrm>
            <a:off x="1156824" y="1410513"/>
            <a:ext cx="7776864" cy="4800600"/>
          </a:xfrm>
        </p:spPr>
        <p:txBody>
          <a:bodyPr>
            <a:normAutofit/>
          </a:bodyPr>
          <a:lstStyle/>
          <a:p>
            <a:r>
              <a:rPr lang="zh-CN" altLang="en-US" sz="2800" dirty="0"/>
              <a:t>创建普通索引：</a:t>
            </a:r>
            <a:endParaRPr lang="en-US" altLang="zh-CN" sz="2800" dirty="0"/>
          </a:p>
          <a:p>
            <a:pPr lvl="1"/>
            <a:r>
              <a:rPr lang="en-US" altLang="zh-CN" sz="2400" dirty="0"/>
              <a:t>create </a:t>
            </a:r>
            <a:r>
              <a:rPr lang="en-US" altLang="zh-CN" sz="2400" dirty="0">
                <a:solidFill>
                  <a:srgbClr val="FF0000"/>
                </a:solidFill>
              </a:rPr>
              <a:t>index </a:t>
            </a:r>
            <a:r>
              <a:rPr lang="en-US" altLang="zh-CN" sz="2400" dirty="0" err="1"/>
              <a:t>eeagedx</a:t>
            </a:r>
            <a:r>
              <a:rPr lang="en-US" altLang="zh-CN" sz="2400" dirty="0"/>
              <a:t> </a:t>
            </a:r>
            <a:r>
              <a:rPr lang="en-US" altLang="zh-CN" sz="2400" dirty="0">
                <a:solidFill>
                  <a:srgbClr val="FF0000"/>
                </a:solidFill>
              </a:rPr>
              <a:t>on</a:t>
            </a:r>
            <a:r>
              <a:rPr lang="en-US" altLang="zh-CN" sz="2400" dirty="0"/>
              <a:t> examinee</a:t>
            </a:r>
            <a:r>
              <a:rPr lang="en-US" altLang="zh-CN" sz="2400" dirty="0">
                <a:solidFill>
                  <a:srgbClr val="FF0000"/>
                </a:solidFill>
              </a:rPr>
              <a:t>(</a:t>
            </a:r>
            <a:r>
              <a:rPr lang="en-US" altLang="zh-CN" sz="2400" dirty="0" err="1">
                <a:solidFill>
                  <a:srgbClr val="FF0000"/>
                </a:solidFill>
              </a:rPr>
              <a:t>eeage</a:t>
            </a:r>
            <a:r>
              <a:rPr lang="en-US" altLang="zh-CN" sz="2400" dirty="0">
                <a:solidFill>
                  <a:srgbClr val="FF0000"/>
                </a:solidFill>
              </a:rPr>
              <a:t>);</a:t>
            </a:r>
            <a:endParaRPr lang="en-US" altLang="zh-CN" sz="2400" dirty="0">
              <a:solidFill>
                <a:srgbClr val="FF0000"/>
              </a:solidFill>
            </a:endParaRPr>
          </a:p>
          <a:p>
            <a:pPr lvl="1"/>
            <a:r>
              <a:rPr lang="zh-CN" altLang="en-US" sz="2400" dirty="0"/>
              <a:t>查看索引：</a:t>
            </a:r>
            <a:endParaRPr lang="en-US" altLang="zh-CN" sz="2400" dirty="0"/>
          </a:p>
          <a:p>
            <a:pPr lvl="1"/>
            <a:endParaRPr lang="en-US" altLang="zh-CN" sz="2400" dirty="0"/>
          </a:p>
          <a:p>
            <a:endParaRPr lang="en-US" altLang="zh-CN" sz="2800" dirty="0"/>
          </a:p>
        </p:txBody>
      </p:sp>
      <p:pic>
        <p:nvPicPr>
          <p:cNvPr id="8" name="图片 7"/>
          <p:cNvPicPr>
            <a:picLocks noChangeAspect="1"/>
          </p:cNvPicPr>
          <p:nvPr/>
        </p:nvPicPr>
        <p:blipFill>
          <a:blip r:embed="rId1"/>
          <a:stretch>
            <a:fillRect/>
          </a:stretch>
        </p:blipFill>
        <p:spPr>
          <a:xfrm>
            <a:off x="2771775" y="3068955"/>
            <a:ext cx="2951480" cy="22809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sz="3300" dirty="0"/>
              <a:t>索引</a:t>
            </a:r>
            <a:r>
              <a:rPr lang="en-US" altLang="zh-CN" sz="3300" dirty="0"/>
              <a:t>——</a:t>
            </a:r>
            <a:r>
              <a:rPr lang="zh-CN" altLang="en-US" sz="3300" dirty="0"/>
              <a:t>创建</a:t>
            </a:r>
            <a:endParaRPr lang="zh-CN" altLang="en-US" sz="3300" dirty="0">
              <a:solidFill>
                <a:schemeClr val="tx2">
                  <a:satMod val="130000"/>
                </a:schemeClr>
              </a:solidFill>
            </a:endParaRPr>
          </a:p>
        </p:txBody>
      </p:sp>
      <p:sp>
        <p:nvSpPr>
          <p:cNvPr id="4" name="内容占位符 2"/>
          <p:cNvSpPr>
            <a:spLocks noGrp="1"/>
          </p:cNvSpPr>
          <p:nvPr>
            <p:ph idx="1"/>
          </p:nvPr>
        </p:nvSpPr>
        <p:spPr>
          <a:xfrm>
            <a:off x="1156824" y="1410513"/>
            <a:ext cx="7776864" cy="4800600"/>
          </a:xfrm>
        </p:spPr>
        <p:txBody>
          <a:bodyPr>
            <a:normAutofit/>
          </a:bodyPr>
          <a:lstStyle/>
          <a:p>
            <a:r>
              <a:rPr lang="zh-CN" altLang="en-US" sz="2800" dirty="0"/>
              <a:t>创建唯一索引：</a:t>
            </a:r>
            <a:endParaRPr lang="en-US" altLang="zh-CN" sz="2800" dirty="0"/>
          </a:p>
          <a:p>
            <a:pPr lvl="1"/>
            <a:r>
              <a:rPr lang="zh-CN" altLang="en-US" sz="2000" dirty="0"/>
              <a:t>目的：减少查询索引列操作的执行时间，尤其是比较庞大的数据表。</a:t>
            </a:r>
            <a:endParaRPr lang="zh-CN" altLang="en-US" sz="2000" dirty="0"/>
          </a:p>
          <a:p>
            <a:pPr lvl="1"/>
            <a:r>
              <a:rPr lang="zh-CN" altLang="en-US" sz="2000" dirty="0"/>
              <a:t>要求：索引列的值必须唯一，但允许空值。</a:t>
            </a:r>
            <a:endParaRPr lang="en-US" altLang="zh-CN" sz="2000" dirty="0"/>
          </a:p>
          <a:p>
            <a:pPr lvl="1"/>
            <a:r>
              <a:rPr lang="en-US" altLang="zh-CN" sz="2400" dirty="0"/>
              <a:t>create </a:t>
            </a:r>
            <a:r>
              <a:rPr lang="en-US" altLang="zh-CN" sz="2400" dirty="0">
                <a:solidFill>
                  <a:srgbClr val="FF0000"/>
                </a:solidFill>
              </a:rPr>
              <a:t>unique index </a:t>
            </a:r>
            <a:r>
              <a:rPr lang="en-US" altLang="zh-CN" sz="2400" dirty="0" err="1"/>
              <a:t>unieeiddx</a:t>
            </a:r>
            <a:r>
              <a:rPr lang="en-US" altLang="zh-CN" sz="2400" dirty="0"/>
              <a:t> </a:t>
            </a:r>
            <a:r>
              <a:rPr lang="en-US" altLang="zh-CN" sz="2400" dirty="0">
                <a:solidFill>
                  <a:srgbClr val="FF0000"/>
                </a:solidFill>
              </a:rPr>
              <a:t>on</a:t>
            </a:r>
            <a:r>
              <a:rPr lang="en-US" altLang="zh-CN" sz="2400" dirty="0"/>
              <a:t> examinee</a:t>
            </a:r>
            <a:r>
              <a:rPr lang="en-US" altLang="zh-CN" sz="2400" dirty="0">
                <a:solidFill>
                  <a:srgbClr val="FF0000"/>
                </a:solidFill>
              </a:rPr>
              <a:t>(</a:t>
            </a:r>
            <a:r>
              <a:rPr lang="en-US" altLang="zh-CN" sz="2400" dirty="0" err="1">
                <a:solidFill>
                  <a:srgbClr val="FF0000"/>
                </a:solidFill>
              </a:rPr>
              <a:t>eeid</a:t>
            </a:r>
            <a:r>
              <a:rPr lang="en-US" altLang="zh-CN" sz="2400" dirty="0">
                <a:solidFill>
                  <a:srgbClr val="FF0000"/>
                </a:solidFill>
              </a:rPr>
              <a:t>);</a:t>
            </a:r>
            <a:endParaRPr lang="en-US" altLang="zh-CN" sz="2400" dirty="0">
              <a:solidFill>
                <a:srgbClr val="FF0000"/>
              </a:solidFill>
            </a:endParaRPr>
          </a:p>
          <a:p>
            <a:pPr lvl="1"/>
            <a:endParaRPr lang="en-US" altLang="zh-CN" sz="2400" dirty="0"/>
          </a:p>
          <a:p>
            <a:endParaRPr lang="en-US" altLang="zh-CN"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sz="3300" dirty="0"/>
              <a:t>索引</a:t>
            </a:r>
            <a:r>
              <a:rPr lang="en-US" altLang="zh-CN" sz="3300" dirty="0"/>
              <a:t>——</a:t>
            </a:r>
            <a:r>
              <a:rPr lang="zh-CN" altLang="en-US" sz="3300" dirty="0"/>
              <a:t>创建</a:t>
            </a:r>
            <a:endParaRPr lang="zh-CN" altLang="en-US" sz="3300" dirty="0">
              <a:solidFill>
                <a:schemeClr val="tx2">
                  <a:satMod val="130000"/>
                </a:schemeClr>
              </a:solidFill>
            </a:endParaRPr>
          </a:p>
        </p:txBody>
      </p:sp>
      <p:sp>
        <p:nvSpPr>
          <p:cNvPr id="4" name="内容占位符 2"/>
          <p:cNvSpPr>
            <a:spLocks noGrp="1"/>
          </p:cNvSpPr>
          <p:nvPr>
            <p:ph idx="1"/>
          </p:nvPr>
        </p:nvSpPr>
        <p:spPr>
          <a:xfrm>
            <a:off x="1156824" y="1410513"/>
            <a:ext cx="7776864" cy="4800600"/>
          </a:xfrm>
        </p:spPr>
        <p:txBody>
          <a:bodyPr>
            <a:normAutofit/>
          </a:bodyPr>
          <a:lstStyle/>
          <a:p>
            <a:r>
              <a:rPr lang="zh-CN" altLang="en-US" sz="2800" dirty="0"/>
              <a:t>创建组合索引：</a:t>
            </a:r>
            <a:endParaRPr lang="en-US" altLang="zh-CN" sz="2800" dirty="0"/>
          </a:p>
          <a:p>
            <a:pPr lvl="1"/>
            <a:r>
              <a:rPr lang="en-US" altLang="zh-CN" sz="2400" dirty="0"/>
              <a:t>create </a:t>
            </a:r>
            <a:r>
              <a:rPr lang="en-US" altLang="zh-CN" sz="2400" dirty="0">
                <a:solidFill>
                  <a:srgbClr val="FF0000"/>
                </a:solidFill>
              </a:rPr>
              <a:t>index </a:t>
            </a:r>
            <a:r>
              <a:rPr lang="en-US" altLang="zh-CN" sz="2400" dirty="0" err="1"/>
              <a:t>asdx</a:t>
            </a:r>
            <a:r>
              <a:rPr lang="en-US" altLang="zh-CN" sz="2400" dirty="0"/>
              <a:t> </a:t>
            </a:r>
            <a:r>
              <a:rPr lang="en-US" altLang="zh-CN" sz="2400" dirty="0">
                <a:solidFill>
                  <a:srgbClr val="FF0000"/>
                </a:solidFill>
              </a:rPr>
              <a:t>on</a:t>
            </a:r>
            <a:r>
              <a:rPr lang="en-US" altLang="zh-CN" sz="2400" dirty="0"/>
              <a:t> examinee</a:t>
            </a:r>
            <a:r>
              <a:rPr lang="en-US" altLang="zh-CN" sz="2400" dirty="0">
                <a:solidFill>
                  <a:srgbClr val="FF0000"/>
                </a:solidFill>
              </a:rPr>
              <a:t>(</a:t>
            </a:r>
            <a:r>
              <a:rPr lang="en-US" altLang="zh-CN" sz="2400" dirty="0" err="1">
                <a:solidFill>
                  <a:srgbClr val="FF0000"/>
                </a:solidFill>
              </a:rPr>
              <a:t>eeage</a:t>
            </a:r>
            <a:r>
              <a:rPr lang="en-US" altLang="zh-CN" sz="2400" dirty="0">
                <a:solidFill>
                  <a:srgbClr val="FF0000"/>
                </a:solidFill>
              </a:rPr>
              <a:t>, </a:t>
            </a:r>
            <a:r>
              <a:rPr lang="en-US" altLang="zh-CN" sz="2400" dirty="0" err="1">
                <a:solidFill>
                  <a:srgbClr val="FF0000"/>
                </a:solidFill>
              </a:rPr>
              <a:t>eesex</a:t>
            </a:r>
            <a:r>
              <a:rPr lang="en-US" altLang="zh-CN" sz="2400" dirty="0">
                <a:solidFill>
                  <a:srgbClr val="FF0000"/>
                </a:solidFill>
              </a:rPr>
              <a:t>);</a:t>
            </a:r>
            <a:endParaRPr lang="en-US" altLang="zh-CN" sz="2400" dirty="0">
              <a:solidFill>
                <a:srgbClr val="FF0000"/>
              </a:solidFill>
            </a:endParaRPr>
          </a:p>
          <a:p>
            <a:pPr lvl="1"/>
            <a:endParaRPr lang="en-US" altLang="zh-CN" sz="2400" dirty="0"/>
          </a:p>
          <a:p>
            <a:endParaRPr lang="en-US" altLang="zh-CN" sz="2800" dirty="0"/>
          </a:p>
        </p:txBody>
      </p:sp>
      <p:pic>
        <p:nvPicPr>
          <p:cNvPr id="5" name="图片 4"/>
          <p:cNvPicPr>
            <a:picLocks noChangeAspect="1"/>
          </p:cNvPicPr>
          <p:nvPr/>
        </p:nvPicPr>
        <p:blipFill>
          <a:blip r:embed="rId1"/>
          <a:stretch>
            <a:fillRect/>
          </a:stretch>
        </p:blipFill>
        <p:spPr>
          <a:xfrm>
            <a:off x="3420110" y="2708910"/>
            <a:ext cx="2527300" cy="26371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sz="3300" dirty="0"/>
              <a:t>索引</a:t>
            </a:r>
            <a:r>
              <a:rPr lang="en-US" altLang="zh-CN" sz="3300" dirty="0"/>
              <a:t>——</a:t>
            </a:r>
            <a:r>
              <a:rPr lang="zh-CN" altLang="en-US" sz="3300" dirty="0"/>
              <a:t>修改和删除</a:t>
            </a:r>
            <a:endParaRPr lang="zh-CN" altLang="en-US" sz="3300" dirty="0">
              <a:solidFill>
                <a:schemeClr val="tx2">
                  <a:satMod val="130000"/>
                </a:schemeClr>
              </a:solidFill>
            </a:endParaRPr>
          </a:p>
        </p:txBody>
      </p:sp>
      <p:sp>
        <p:nvSpPr>
          <p:cNvPr id="4" name="内容占位符 2"/>
          <p:cNvSpPr>
            <a:spLocks noGrp="1"/>
          </p:cNvSpPr>
          <p:nvPr>
            <p:ph idx="1"/>
          </p:nvPr>
        </p:nvSpPr>
        <p:spPr>
          <a:xfrm>
            <a:off x="1156824" y="1410513"/>
            <a:ext cx="7776864" cy="4800600"/>
          </a:xfrm>
        </p:spPr>
        <p:txBody>
          <a:bodyPr>
            <a:normAutofit/>
          </a:bodyPr>
          <a:lstStyle/>
          <a:p>
            <a:r>
              <a:rPr lang="zh-CN" altLang="en-US" sz="2800" dirty="0"/>
              <a:t>重命名索引：</a:t>
            </a:r>
            <a:endParaRPr lang="en-US" altLang="zh-CN" sz="2800" dirty="0"/>
          </a:p>
          <a:p>
            <a:pPr lvl="1"/>
            <a:r>
              <a:rPr lang="en-US" altLang="zh-CN" sz="2400" dirty="0">
                <a:solidFill>
                  <a:srgbClr val="FF0000"/>
                </a:solidFill>
              </a:rPr>
              <a:t>alter</a:t>
            </a:r>
            <a:r>
              <a:rPr lang="en-US" altLang="zh-CN" sz="2400" dirty="0"/>
              <a:t> </a:t>
            </a:r>
            <a:r>
              <a:rPr lang="en-US" altLang="zh-CN" sz="2400" dirty="0">
                <a:solidFill>
                  <a:srgbClr val="FF0000"/>
                </a:solidFill>
              </a:rPr>
              <a:t>index </a:t>
            </a:r>
            <a:r>
              <a:rPr lang="en-US" altLang="zh-CN" sz="2400" dirty="0" err="1"/>
              <a:t>eeagedx</a:t>
            </a:r>
            <a:r>
              <a:rPr lang="en-US" altLang="zh-CN" sz="2400" dirty="0">
                <a:solidFill>
                  <a:srgbClr val="FF0000"/>
                </a:solidFill>
              </a:rPr>
              <a:t> rename to </a:t>
            </a:r>
            <a:r>
              <a:rPr lang="en-US" altLang="zh-CN" sz="2400" dirty="0" err="1"/>
              <a:t>agedx</a:t>
            </a:r>
            <a:r>
              <a:rPr lang="en-US" altLang="zh-CN" sz="2400" dirty="0"/>
              <a:t>;</a:t>
            </a:r>
            <a:endParaRPr lang="en-US" altLang="zh-CN" sz="2400" dirty="0"/>
          </a:p>
          <a:p>
            <a:pPr lvl="1"/>
            <a:endParaRPr lang="en-US" altLang="zh-CN" sz="2400" dirty="0">
              <a:solidFill>
                <a:srgbClr val="FF0000"/>
              </a:solidFill>
            </a:endParaRPr>
          </a:p>
          <a:p>
            <a:r>
              <a:rPr lang="zh-CN" altLang="en-US" sz="2800" dirty="0"/>
              <a:t>删除索引</a:t>
            </a:r>
            <a:endParaRPr lang="en-US" altLang="zh-CN" sz="2800" dirty="0"/>
          </a:p>
          <a:p>
            <a:pPr lvl="1"/>
            <a:r>
              <a:rPr lang="en-US" altLang="zh-CN" sz="2400" dirty="0">
                <a:solidFill>
                  <a:srgbClr val="FF0000"/>
                </a:solidFill>
              </a:rPr>
              <a:t>drop </a:t>
            </a:r>
            <a:r>
              <a:rPr lang="en-US" altLang="zh-CN" sz="2400" dirty="0"/>
              <a:t>index </a:t>
            </a:r>
            <a:r>
              <a:rPr lang="en-US" altLang="zh-CN" sz="2400" dirty="0" err="1"/>
              <a:t>agedx</a:t>
            </a:r>
            <a:r>
              <a:rPr lang="en-US" altLang="zh-CN" sz="2400" dirty="0"/>
              <a:t>;</a:t>
            </a:r>
            <a:endParaRPr lang="en-US" altLang="zh-CN" sz="2400" dirty="0"/>
          </a:p>
          <a:p>
            <a:pPr lvl="1"/>
            <a:endParaRPr lang="en-US" altLang="zh-CN" sz="2400" dirty="0"/>
          </a:p>
          <a:p>
            <a:endParaRPr lang="en-US" altLang="zh-CN"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sz="3300" dirty="0"/>
              <a:t>性能优化</a:t>
            </a:r>
            <a:r>
              <a:rPr lang="en-US" altLang="zh-CN" sz="3300" dirty="0"/>
              <a:t>——</a:t>
            </a:r>
            <a:r>
              <a:rPr lang="zh-CN" altLang="en-US" sz="3300" dirty="0"/>
              <a:t>了解优化</a:t>
            </a:r>
            <a:endParaRPr lang="zh-CN" altLang="en-US" sz="3300" dirty="0">
              <a:solidFill>
                <a:schemeClr val="tx2">
                  <a:satMod val="130000"/>
                </a:schemeClr>
              </a:solidFill>
            </a:endParaRPr>
          </a:p>
        </p:txBody>
      </p:sp>
      <p:sp>
        <p:nvSpPr>
          <p:cNvPr id="4" name="内容占位符 2"/>
          <p:cNvSpPr>
            <a:spLocks noGrp="1"/>
          </p:cNvSpPr>
          <p:nvPr>
            <p:ph idx="1"/>
          </p:nvPr>
        </p:nvSpPr>
        <p:spPr>
          <a:xfrm>
            <a:off x="1156824" y="1410513"/>
            <a:ext cx="7776864" cy="4800600"/>
          </a:xfrm>
        </p:spPr>
        <p:txBody>
          <a:bodyPr>
            <a:normAutofit/>
          </a:bodyPr>
          <a:lstStyle/>
          <a:p>
            <a:r>
              <a:rPr lang="zh-CN" altLang="en-US" sz="2800" dirty="0"/>
              <a:t>优化：</a:t>
            </a:r>
            <a:endParaRPr lang="zh-CN" altLang="en-US" sz="2800" dirty="0"/>
          </a:p>
          <a:p>
            <a:pPr lvl="1"/>
            <a:r>
              <a:rPr lang="zh-CN" altLang="en-US" sz="2200" dirty="0"/>
              <a:t>找出系统的瓶颈，提高数据库整体的性能。</a:t>
            </a:r>
            <a:endParaRPr lang="zh-CN" altLang="en-US" sz="2200" dirty="0"/>
          </a:p>
          <a:p>
            <a:pPr lvl="1"/>
            <a:r>
              <a:rPr lang="zh-CN" altLang="en-US" sz="2200" dirty="0"/>
              <a:t>合理的结构设计和参数调整，以提高用户操作响应的速度；同时要尽可能地节省系统资源，以便系统可以提供更大负荷的服务。</a:t>
            </a:r>
            <a:endParaRPr lang="zh-CN" altLang="en-US" sz="2200" dirty="0"/>
          </a:p>
          <a:p>
            <a:r>
              <a:rPr lang="zh-CN" altLang="en-US" sz="2800" dirty="0"/>
              <a:t>比如：</a:t>
            </a:r>
            <a:endParaRPr lang="zh-CN" altLang="en-US" sz="2800" dirty="0"/>
          </a:p>
          <a:p>
            <a:pPr lvl="1"/>
            <a:r>
              <a:rPr lang="zh-CN" altLang="en-US" sz="2200" dirty="0"/>
              <a:t>通过优化文件系统，提高磁盘</a:t>
            </a:r>
            <a:r>
              <a:rPr lang="en-US" altLang="zh-CN" sz="2200" dirty="0"/>
              <a:t>I/O</a:t>
            </a:r>
            <a:r>
              <a:rPr lang="zh-CN" altLang="en-US" sz="2200" dirty="0"/>
              <a:t>的读写速度；</a:t>
            </a:r>
            <a:endParaRPr lang="zh-CN" altLang="en-US" sz="2200" dirty="0"/>
          </a:p>
          <a:p>
            <a:pPr lvl="1"/>
            <a:r>
              <a:rPr lang="zh-CN" altLang="en-US" sz="2200" dirty="0"/>
              <a:t>通过优化操作系统调度策略，提高</a:t>
            </a:r>
            <a:r>
              <a:rPr lang="en-US" altLang="zh-CN" sz="2200" dirty="0"/>
              <a:t>GaussDB</a:t>
            </a:r>
            <a:r>
              <a:rPr lang="zh-CN" altLang="en-US" sz="2200" dirty="0"/>
              <a:t>在高负荷情况下的负载能力；</a:t>
            </a:r>
            <a:endParaRPr lang="zh-CN" altLang="en-US" sz="2200" dirty="0"/>
          </a:p>
          <a:p>
            <a:pPr lvl="1"/>
            <a:r>
              <a:rPr lang="zh-CN" altLang="en-US" sz="2200" dirty="0"/>
              <a:t>优化表结构、索引、查询语句等使查询响应更快。</a:t>
            </a:r>
            <a:endParaRPr lang="zh-CN" altLang="en-US" sz="2200" dirty="0"/>
          </a:p>
          <a:p>
            <a:endParaRPr lang="en-US" altLang="zh-CN"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sz="3300" dirty="0"/>
              <a:t>性能优化</a:t>
            </a:r>
            <a:r>
              <a:rPr lang="en-US" altLang="zh-CN" sz="3300" dirty="0"/>
              <a:t>——</a:t>
            </a:r>
            <a:r>
              <a:rPr lang="zh-CN" altLang="en-US" sz="3300" dirty="0"/>
              <a:t>查询分析</a:t>
            </a:r>
            <a:endParaRPr lang="zh-CN" altLang="en-US" sz="3300" dirty="0">
              <a:solidFill>
                <a:schemeClr val="tx2">
                  <a:satMod val="130000"/>
                </a:schemeClr>
              </a:solidFill>
            </a:endParaRPr>
          </a:p>
        </p:txBody>
      </p:sp>
      <p:sp>
        <p:nvSpPr>
          <p:cNvPr id="4" name="内容占位符 2"/>
          <p:cNvSpPr>
            <a:spLocks noGrp="1"/>
          </p:cNvSpPr>
          <p:nvPr>
            <p:ph idx="1"/>
          </p:nvPr>
        </p:nvSpPr>
        <p:spPr>
          <a:xfrm>
            <a:off x="1156824" y="1410513"/>
            <a:ext cx="7776864" cy="4800600"/>
          </a:xfrm>
        </p:spPr>
        <p:txBody>
          <a:bodyPr>
            <a:normAutofit/>
          </a:bodyPr>
          <a:lstStyle/>
          <a:p>
            <a:r>
              <a:rPr lang="zh-CN" altLang="en-US" sz="2800" dirty="0"/>
              <a:t>查询是数据库中最频繁的操作，查询速度的提高可以有效提高</a:t>
            </a:r>
            <a:r>
              <a:rPr lang="en-US" altLang="zh-CN" sz="2800" dirty="0"/>
              <a:t>GaussDB</a:t>
            </a:r>
            <a:r>
              <a:rPr lang="zh-CN" altLang="en-US" sz="2800" dirty="0"/>
              <a:t>数据库的性能。</a:t>
            </a:r>
            <a:endParaRPr lang="zh-CN" altLang="en-US" sz="2800" dirty="0"/>
          </a:p>
          <a:p>
            <a:endParaRPr lang="zh-CN" altLang="en-US" sz="2800" dirty="0"/>
          </a:p>
          <a:p>
            <a:r>
              <a:rPr lang="zh-CN" altLang="en-US" sz="2800" dirty="0"/>
              <a:t>分析查询语句</a:t>
            </a:r>
            <a:r>
              <a:rPr lang="en-US" altLang="zh-CN" sz="2800" dirty="0"/>
              <a:t>EXPLAIN</a:t>
            </a:r>
            <a:endParaRPr lang="en-US" altLang="zh-CN" sz="2800" dirty="0"/>
          </a:p>
          <a:p>
            <a:pPr lvl="1"/>
            <a:r>
              <a:rPr lang="zh-CN" altLang="en-US" sz="2200" dirty="0"/>
              <a:t>用于分析一个语句的执行规划</a:t>
            </a:r>
            <a:endParaRPr lang="zh-CN" altLang="en-US" sz="2200" dirty="0"/>
          </a:p>
          <a:p>
            <a:pPr lvl="1"/>
            <a:r>
              <a:rPr lang="zh-CN" altLang="en-US" sz="2200" dirty="0"/>
              <a:t>执行规划：</a:t>
            </a:r>
            <a:endParaRPr lang="zh-CN" altLang="en-US" sz="2200" dirty="0"/>
          </a:p>
          <a:p>
            <a:pPr lvl="2"/>
            <a:r>
              <a:rPr lang="zh-CN" altLang="en-US" sz="2000" dirty="0"/>
              <a:t>显示了语句引用的表是如何被扫描的，即是简单的顺序扫描，还是索引扫描；</a:t>
            </a:r>
            <a:endParaRPr lang="zh-CN" altLang="en-US" sz="2000" dirty="0"/>
          </a:p>
          <a:p>
            <a:pPr lvl="2"/>
            <a:r>
              <a:rPr lang="zh-CN" altLang="en-US" sz="2000" dirty="0"/>
              <a:t>如果引用了多个表，采用什么样的连接算法从每个输入的表中取出所需记录。</a:t>
            </a:r>
            <a:endParaRPr lang="zh-CN" altLang="en-US" sz="2000" dirty="0"/>
          </a:p>
          <a:p>
            <a:endParaRPr lang="en-US" altLang="zh-CN"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sz="3300" dirty="0"/>
              <a:t>性能优化</a:t>
            </a:r>
            <a:r>
              <a:rPr lang="en-US" altLang="zh-CN" sz="3300" dirty="0"/>
              <a:t>——</a:t>
            </a:r>
            <a:r>
              <a:rPr lang="zh-CN" altLang="en-US" sz="3300" dirty="0"/>
              <a:t>查询分析</a:t>
            </a:r>
            <a:endParaRPr lang="zh-CN" altLang="en-US" sz="3300" dirty="0">
              <a:solidFill>
                <a:schemeClr val="tx2">
                  <a:satMod val="130000"/>
                </a:schemeClr>
              </a:solidFill>
            </a:endParaRPr>
          </a:p>
        </p:txBody>
      </p:sp>
      <p:sp>
        <p:nvSpPr>
          <p:cNvPr id="4" name="内容占位符 2"/>
          <p:cNvSpPr>
            <a:spLocks noGrp="1"/>
          </p:cNvSpPr>
          <p:nvPr>
            <p:ph idx="1"/>
          </p:nvPr>
        </p:nvSpPr>
        <p:spPr>
          <a:xfrm>
            <a:off x="1156824" y="1410513"/>
            <a:ext cx="7776864" cy="4800600"/>
          </a:xfrm>
        </p:spPr>
        <p:txBody>
          <a:bodyPr>
            <a:normAutofit/>
          </a:bodyPr>
          <a:lstStyle/>
          <a:p>
            <a:r>
              <a:rPr lang="en-US" altLang="zh-CN" sz="2800" dirty="0"/>
              <a:t>EXPLAIN</a:t>
            </a:r>
            <a:r>
              <a:rPr lang="zh-CN" altLang="en-US" sz="2800" dirty="0"/>
              <a:t>基本语法：</a:t>
            </a:r>
            <a:endParaRPr lang="en-US" altLang="zh-CN" sz="2800" dirty="0"/>
          </a:p>
          <a:p>
            <a:pPr marL="82550" indent="0">
              <a:buNone/>
            </a:pPr>
            <a:r>
              <a:rPr lang="en-US" altLang="zh-CN" sz="2400" dirty="0">
                <a:solidFill>
                  <a:srgbClr val="FF0000"/>
                </a:solidFill>
              </a:rPr>
              <a:t>explain</a:t>
            </a:r>
            <a:r>
              <a:rPr lang="en-US" altLang="zh-CN" sz="2400" dirty="0"/>
              <a:t> [ analyze ] [ verbose ] statement </a:t>
            </a:r>
            <a:r>
              <a:rPr lang="en-US" altLang="zh-CN" sz="2400" dirty="0" err="1"/>
              <a:t>select_options</a:t>
            </a:r>
            <a:endParaRPr lang="zh-CN" altLang="en-US" sz="2800" dirty="0"/>
          </a:p>
          <a:p>
            <a:r>
              <a:rPr lang="zh-CN" altLang="en-US" sz="2600" dirty="0"/>
              <a:t>其中：</a:t>
            </a:r>
            <a:endParaRPr lang="zh-CN" altLang="en-US" sz="2600" dirty="0"/>
          </a:p>
          <a:p>
            <a:pPr lvl="1"/>
            <a:r>
              <a:rPr lang="en-US" altLang="zh-CN" sz="2200" dirty="0"/>
              <a:t>analyze</a:t>
            </a:r>
            <a:r>
              <a:rPr lang="zh-CN" altLang="en-US" sz="2200" dirty="0"/>
              <a:t>表示执行命令并显示实际运行时间；</a:t>
            </a:r>
            <a:endParaRPr lang="zh-CN" altLang="en-US" sz="2200" dirty="0"/>
          </a:p>
          <a:p>
            <a:pPr lvl="1"/>
            <a:r>
              <a:rPr lang="en-US" altLang="zh-CN" sz="2200" dirty="0"/>
              <a:t>verbose</a:t>
            </a:r>
            <a:r>
              <a:rPr lang="zh-CN" altLang="en-US" sz="2200" dirty="0"/>
              <a:t>表示显示规划树完整的内部的表现形式；</a:t>
            </a:r>
            <a:endParaRPr lang="zh-CN" altLang="en-US" sz="2200" dirty="0"/>
          </a:p>
          <a:p>
            <a:pPr lvl="1"/>
            <a:r>
              <a:rPr lang="en-US" altLang="zh-CN" sz="2200" dirty="0"/>
              <a:t>statement</a:t>
            </a:r>
            <a:r>
              <a:rPr lang="zh-CN" altLang="en-US" sz="2200" dirty="0"/>
              <a:t>表示要查看规划结果的任何</a:t>
            </a:r>
            <a:r>
              <a:rPr lang="en-US" altLang="zh-CN" sz="2200" dirty="0"/>
              <a:t>select</a:t>
            </a:r>
            <a:r>
              <a:rPr lang="zh-CN" altLang="en-US" sz="2200" dirty="0"/>
              <a:t>、</a:t>
            </a:r>
            <a:r>
              <a:rPr lang="en-US" altLang="zh-CN" sz="2200" dirty="0"/>
              <a:t>insert</a:t>
            </a:r>
            <a:r>
              <a:rPr lang="zh-CN" altLang="en-US" sz="2200" dirty="0"/>
              <a:t>、</a:t>
            </a:r>
            <a:r>
              <a:rPr lang="en-US" altLang="zh-CN" sz="2200" dirty="0"/>
              <a:t>update</a:t>
            </a:r>
            <a:r>
              <a:rPr lang="zh-CN" altLang="en-US" sz="2200" dirty="0"/>
              <a:t>、</a:t>
            </a:r>
            <a:r>
              <a:rPr lang="en-US" altLang="zh-CN" sz="2200" dirty="0"/>
              <a:t>delete</a:t>
            </a:r>
            <a:r>
              <a:rPr lang="zh-CN" altLang="en-US" sz="2200" dirty="0"/>
              <a:t>、</a:t>
            </a:r>
            <a:r>
              <a:rPr lang="en-US" altLang="zh-CN" sz="2200" dirty="0"/>
              <a:t>values</a:t>
            </a:r>
            <a:r>
              <a:rPr lang="zh-CN" altLang="en-US" sz="2200" dirty="0"/>
              <a:t>、</a:t>
            </a:r>
            <a:r>
              <a:rPr lang="en-US" altLang="zh-CN" sz="2200" dirty="0"/>
              <a:t>execute</a:t>
            </a:r>
            <a:r>
              <a:rPr lang="zh-CN" altLang="en-US" sz="2200" dirty="0"/>
              <a:t>和</a:t>
            </a:r>
            <a:r>
              <a:rPr lang="en-US" altLang="zh-CN" sz="2200" dirty="0"/>
              <a:t>declare</a:t>
            </a:r>
            <a:r>
              <a:rPr lang="zh-CN" altLang="en-US" sz="2200" dirty="0"/>
              <a:t>语句；</a:t>
            </a:r>
            <a:endParaRPr lang="zh-CN" altLang="en-US" sz="2200" dirty="0"/>
          </a:p>
          <a:p>
            <a:pPr lvl="1"/>
            <a:r>
              <a:rPr lang="en-US" altLang="zh-CN" sz="2200" dirty="0" err="1"/>
              <a:t>select_options</a:t>
            </a:r>
            <a:r>
              <a:rPr lang="zh-CN" altLang="en-US" sz="2200" dirty="0"/>
              <a:t>表示语句的查询选项，包括</a:t>
            </a:r>
            <a:r>
              <a:rPr lang="en-US" altLang="zh-CN" sz="2200" dirty="0"/>
              <a:t>from</a:t>
            </a:r>
            <a:r>
              <a:rPr lang="zh-CN" altLang="en-US" sz="2200" dirty="0"/>
              <a:t>和</a:t>
            </a:r>
            <a:r>
              <a:rPr lang="en-US" altLang="zh-CN" sz="2200" dirty="0"/>
              <a:t>where</a:t>
            </a:r>
            <a:r>
              <a:rPr lang="zh-CN" altLang="en-US" sz="2200" dirty="0"/>
              <a:t>子句等。</a:t>
            </a:r>
            <a:endParaRPr lang="zh-CN" altLang="en-US" sz="2200" dirty="0"/>
          </a:p>
          <a:p>
            <a:endParaRPr lang="en-US" altLang="zh-CN"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sz="3300" dirty="0"/>
              <a:t>性能优化</a:t>
            </a:r>
            <a:r>
              <a:rPr lang="en-US" altLang="zh-CN" sz="3300" dirty="0"/>
              <a:t>——</a:t>
            </a:r>
            <a:r>
              <a:rPr lang="zh-CN" altLang="en-US" sz="3300" dirty="0"/>
              <a:t>查询分析</a:t>
            </a:r>
            <a:endParaRPr lang="zh-CN" altLang="en-US" sz="3300" dirty="0">
              <a:solidFill>
                <a:schemeClr val="tx2">
                  <a:satMod val="130000"/>
                </a:schemeClr>
              </a:solidFill>
            </a:endParaRPr>
          </a:p>
        </p:txBody>
      </p:sp>
      <p:sp>
        <p:nvSpPr>
          <p:cNvPr id="4" name="内容占位符 2"/>
          <p:cNvSpPr>
            <a:spLocks noGrp="1"/>
          </p:cNvSpPr>
          <p:nvPr>
            <p:ph idx="1"/>
          </p:nvPr>
        </p:nvSpPr>
        <p:spPr>
          <a:xfrm>
            <a:off x="1156824" y="1410513"/>
            <a:ext cx="7776864" cy="4800600"/>
          </a:xfrm>
        </p:spPr>
        <p:txBody>
          <a:bodyPr>
            <a:normAutofit/>
          </a:bodyPr>
          <a:lstStyle/>
          <a:p>
            <a:r>
              <a:rPr lang="en-US" altLang="zh-CN" sz="2800" dirty="0"/>
              <a:t>EXPLAIN</a:t>
            </a:r>
            <a:r>
              <a:rPr lang="zh-CN" altLang="en-US" sz="2800" dirty="0"/>
              <a:t>例子：</a:t>
            </a:r>
            <a:endParaRPr lang="en-US" altLang="zh-CN" sz="2800" dirty="0"/>
          </a:p>
          <a:p>
            <a:pPr marL="356870" lvl="1" indent="0">
              <a:buNone/>
            </a:pPr>
            <a:r>
              <a:rPr lang="en-US" altLang="zh-CN" sz="2400" dirty="0"/>
              <a:t>explain analyze select * from examinee where </a:t>
            </a:r>
            <a:r>
              <a:rPr lang="en-US" altLang="zh-CN" sz="2400" dirty="0" err="1"/>
              <a:t>eeage</a:t>
            </a:r>
            <a:r>
              <a:rPr lang="en-US" altLang="zh-CN" sz="2400" dirty="0"/>
              <a:t>=20;</a:t>
            </a:r>
            <a:endParaRPr lang="en-US" altLang="zh-CN" sz="2400" dirty="0"/>
          </a:p>
          <a:p>
            <a:endParaRPr lang="en-US" altLang="zh-CN" sz="2800" dirty="0"/>
          </a:p>
        </p:txBody>
      </p:sp>
      <p:sp>
        <p:nvSpPr>
          <p:cNvPr id="8" name="文本框 7"/>
          <p:cNvSpPr txBox="1"/>
          <p:nvPr/>
        </p:nvSpPr>
        <p:spPr>
          <a:xfrm>
            <a:off x="5075992" y="3500446"/>
            <a:ext cx="2498843" cy="400110"/>
          </a:xfrm>
          <a:prstGeom prst="rect">
            <a:avLst/>
          </a:prstGeom>
          <a:noFill/>
        </p:spPr>
        <p:txBody>
          <a:bodyPr wrap="square" rtlCol="0">
            <a:spAutoFit/>
          </a:bodyPr>
          <a:lstStyle/>
          <a:p>
            <a:r>
              <a:rPr lang="en-US" altLang="zh-CN" sz="2000" dirty="0" err="1">
                <a:latin typeface="+mn-ea"/>
              </a:rPr>
              <a:t>eeage</a:t>
            </a:r>
            <a:r>
              <a:rPr lang="zh-CN" altLang="en-US" sz="2000" dirty="0">
                <a:latin typeface="+mn-ea"/>
              </a:rPr>
              <a:t>上没有索引</a:t>
            </a:r>
            <a:endParaRPr lang="en-US" altLang="zh-CN" sz="2000" dirty="0">
              <a:latin typeface="+mn-ea"/>
            </a:endParaRPr>
          </a:p>
        </p:txBody>
      </p:sp>
      <p:pic>
        <p:nvPicPr>
          <p:cNvPr id="3" name="图片 2"/>
          <p:cNvPicPr>
            <a:picLocks noChangeAspect="1"/>
          </p:cNvPicPr>
          <p:nvPr/>
        </p:nvPicPr>
        <p:blipFill>
          <a:blip r:embed="rId1"/>
          <a:stretch>
            <a:fillRect/>
          </a:stretch>
        </p:blipFill>
        <p:spPr>
          <a:xfrm>
            <a:off x="2555875" y="2924810"/>
            <a:ext cx="2031365" cy="1807845"/>
          </a:xfrm>
          <a:prstGeom prst="rect">
            <a:avLst/>
          </a:prstGeom>
        </p:spPr>
      </p:pic>
      <p:pic>
        <p:nvPicPr>
          <p:cNvPr id="5" name="图片 4"/>
          <p:cNvPicPr>
            <a:picLocks noChangeAspect="1"/>
          </p:cNvPicPr>
          <p:nvPr/>
        </p:nvPicPr>
        <p:blipFill>
          <a:blip r:embed="rId2"/>
          <a:stretch>
            <a:fillRect/>
          </a:stretch>
        </p:blipFill>
        <p:spPr>
          <a:xfrm>
            <a:off x="1647825" y="4940935"/>
            <a:ext cx="7073265" cy="136969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sz="3300" dirty="0"/>
              <a:t>性能优化</a:t>
            </a:r>
            <a:r>
              <a:rPr lang="en-US" altLang="zh-CN" sz="3300" dirty="0"/>
              <a:t>——</a:t>
            </a:r>
            <a:r>
              <a:rPr lang="zh-CN" altLang="en-US" sz="3300" dirty="0"/>
              <a:t>查询分析</a:t>
            </a:r>
            <a:endParaRPr lang="zh-CN" altLang="en-US" sz="3300" dirty="0">
              <a:solidFill>
                <a:schemeClr val="tx2">
                  <a:satMod val="130000"/>
                </a:schemeClr>
              </a:solidFill>
            </a:endParaRPr>
          </a:p>
        </p:txBody>
      </p:sp>
      <p:sp>
        <p:nvSpPr>
          <p:cNvPr id="8" name="内容占位符 2"/>
          <p:cNvSpPr>
            <a:spLocks noGrp="1"/>
          </p:cNvSpPr>
          <p:nvPr>
            <p:ph idx="1"/>
          </p:nvPr>
        </p:nvSpPr>
        <p:spPr>
          <a:xfrm>
            <a:off x="897247" y="3140968"/>
            <a:ext cx="8280920" cy="3600400"/>
          </a:xfrm>
        </p:spPr>
        <p:txBody>
          <a:bodyPr>
            <a:normAutofit fontScale="32500" lnSpcReduction="20000"/>
          </a:bodyPr>
          <a:lstStyle/>
          <a:p>
            <a:r>
              <a:rPr lang="en-US" altLang="zh-CN" sz="4800" dirty="0">
                <a:solidFill>
                  <a:srgbClr val="0070C0"/>
                </a:solidFill>
              </a:rPr>
              <a:t>Seq Scan on examinee</a:t>
            </a:r>
            <a:r>
              <a:rPr lang="zh-CN" altLang="en-US" sz="4800" dirty="0"/>
              <a:t>表明了这个节点的类型和作用对象，即在</a:t>
            </a:r>
            <a:r>
              <a:rPr lang="en-US" altLang="zh-CN" sz="4800" dirty="0"/>
              <a:t>examinee </a:t>
            </a:r>
            <a:r>
              <a:rPr lang="zh-CN" altLang="en-US" sz="4800" dirty="0"/>
              <a:t>表上进行了全表扫描</a:t>
            </a:r>
            <a:endParaRPr lang="zh-CN" altLang="en-US" sz="4800" dirty="0"/>
          </a:p>
          <a:p>
            <a:r>
              <a:rPr lang="en-US" altLang="zh-CN" sz="4800" dirty="0">
                <a:solidFill>
                  <a:srgbClr val="0070C0"/>
                </a:solidFill>
              </a:rPr>
              <a:t>(cost=0.00..1.12 rows=1 width=338) </a:t>
            </a:r>
            <a:r>
              <a:rPr lang="zh-CN" altLang="en-US" sz="4800" dirty="0"/>
              <a:t>表明了这个节点的代价估计</a:t>
            </a:r>
            <a:endParaRPr lang="en-US" altLang="zh-CN" sz="4800" dirty="0"/>
          </a:p>
          <a:p>
            <a:pPr lvl="1"/>
            <a:r>
              <a:rPr lang="zh-CN" altLang="en-US" sz="4400" dirty="0"/>
              <a:t> </a:t>
            </a:r>
            <a:r>
              <a:rPr lang="en-US" altLang="zh-CN" sz="4400" dirty="0">
                <a:solidFill>
                  <a:srgbClr val="0070C0"/>
                </a:solidFill>
              </a:rPr>
              <a:t>0.00</a:t>
            </a:r>
            <a:r>
              <a:rPr lang="zh-CN" altLang="en-US" sz="4400" dirty="0">
                <a:solidFill>
                  <a:srgbClr val="0070C0"/>
                </a:solidFill>
              </a:rPr>
              <a:t>：</a:t>
            </a:r>
            <a:r>
              <a:rPr lang="zh-CN" altLang="en-US" sz="4400" dirty="0"/>
              <a:t>预估的启动代价，即找到符合该节点条件的第一个结果预估所需要的代价</a:t>
            </a:r>
            <a:endParaRPr lang="en-US" altLang="zh-CN" sz="4400" dirty="0"/>
          </a:p>
          <a:p>
            <a:pPr lvl="1"/>
            <a:r>
              <a:rPr lang="en-US" altLang="zh-CN" sz="4400" dirty="0">
                <a:solidFill>
                  <a:srgbClr val="0070C0"/>
                </a:solidFill>
              </a:rPr>
              <a:t>1.04</a:t>
            </a:r>
            <a:r>
              <a:rPr lang="zh-CN" altLang="en-US" sz="4400" dirty="0">
                <a:solidFill>
                  <a:srgbClr val="0070C0"/>
                </a:solidFill>
              </a:rPr>
              <a:t>：</a:t>
            </a:r>
            <a:r>
              <a:rPr lang="zh-CN" altLang="en-US" sz="4400" dirty="0"/>
              <a:t>预估的总代价</a:t>
            </a:r>
            <a:endParaRPr lang="en-US" altLang="zh-CN" sz="4400" dirty="0"/>
          </a:p>
          <a:p>
            <a:pPr lvl="1"/>
            <a:r>
              <a:rPr lang="en-US" altLang="zh-CN" sz="4400" dirty="0">
                <a:solidFill>
                  <a:srgbClr val="0070C0"/>
                </a:solidFill>
              </a:rPr>
              <a:t>1</a:t>
            </a:r>
            <a:r>
              <a:rPr lang="zh-CN" altLang="en-US" sz="4400" dirty="0">
                <a:solidFill>
                  <a:srgbClr val="0070C0"/>
                </a:solidFill>
              </a:rPr>
              <a:t>：</a:t>
            </a:r>
            <a:r>
              <a:rPr lang="zh-CN" altLang="en-US" sz="4400" dirty="0"/>
              <a:t>预估的行数</a:t>
            </a:r>
            <a:endParaRPr lang="en-US" altLang="zh-CN" sz="4400" dirty="0"/>
          </a:p>
          <a:p>
            <a:pPr lvl="1"/>
            <a:r>
              <a:rPr lang="en-US" altLang="zh-CN" sz="4400" dirty="0">
                <a:solidFill>
                  <a:srgbClr val="0070C0"/>
                </a:solidFill>
              </a:rPr>
              <a:t>338</a:t>
            </a:r>
            <a:r>
              <a:rPr lang="zh-CN" altLang="en-US" sz="4400" dirty="0">
                <a:solidFill>
                  <a:srgbClr val="0070C0"/>
                </a:solidFill>
              </a:rPr>
              <a:t>：</a:t>
            </a:r>
            <a:r>
              <a:rPr lang="zh-CN" altLang="en-US" sz="4400" dirty="0"/>
              <a:t>预估的结果宽度，单位为字节</a:t>
            </a:r>
            <a:endParaRPr lang="en-US" altLang="zh-CN" sz="4400" dirty="0"/>
          </a:p>
          <a:p>
            <a:r>
              <a:rPr lang="en-US" altLang="zh-CN" sz="4800" dirty="0">
                <a:solidFill>
                  <a:srgbClr val="0070C0"/>
                </a:solidFill>
              </a:rPr>
              <a:t>(actual time=0.044..0.049 rows=4 loops=1) </a:t>
            </a:r>
            <a:r>
              <a:rPr lang="zh-CN" altLang="en-US" sz="4800" dirty="0"/>
              <a:t>表明了这个节点的真实执行信息</a:t>
            </a:r>
            <a:endParaRPr lang="zh-CN" altLang="en-US" sz="4800" dirty="0"/>
          </a:p>
          <a:p>
            <a:r>
              <a:rPr lang="en-US" altLang="zh-CN" sz="4800" dirty="0">
                <a:solidFill>
                  <a:srgbClr val="0070C0"/>
                </a:solidFill>
              </a:rPr>
              <a:t>Filter: (</a:t>
            </a:r>
            <a:r>
              <a:rPr lang="en-US" altLang="zh-CN" sz="4800" dirty="0" err="1">
                <a:solidFill>
                  <a:srgbClr val="0070C0"/>
                </a:solidFill>
              </a:rPr>
              <a:t>eeage</a:t>
            </a:r>
            <a:r>
              <a:rPr lang="en-US" altLang="zh-CN" sz="4800" dirty="0">
                <a:solidFill>
                  <a:srgbClr val="0070C0"/>
                </a:solidFill>
              </a:rPr>
              <a:t>=20) </a:t>
            </a:r>
            <a:r>
              <a:rPr lang="zh-CN" altLang="en-US" sz="4800" dirty="0"/>
              <a:t>表明了</a:t>
            </a:r>
            <a:r>
              <a:rPr lang="en-US" altLang="zh-CN" sz="4800" dirty="0"/>
              <a:t>Seq Scan </a:t>
            </a:r>
            <a:r>
              <a:rPr lang="zh-CN" altLang="en-US" sz="4800" dirty="0"/>
              <a:t>节点之上的</a:t>
            </a:r>
            <a:r>
              <a:rPr lang="en-US" altLang="zh-CN" sz="4800" dirty="0"/>
              <a:t>Filter </a:t>
            </a:r>
            <a:r>
              <a:rPr lang="zh-CN" altLang="en-US" sz="4800" dirty="0"/>
              <a:t>操作，即全表扫描时对每行记录进行过滤操作，过滤条件为</a:t>
            </a:r>
            <a:r>
              <a:rPr lang="en-US" altLang="zh-CN" sz="4800" dirty="0" err="1"/>
              <a:t>eeage</a:t>
            </a:r>
            <a:r>
              <a:rPr lang="en-US" altLang="zh-CN" sz="4800" dirty="0"/>
              <a:t>=20 </a:t>
            </a:r>
            <a:endParaRPr lang="en-US" altLang="zh-CN" sz="4800" dirty="0"/>
          </a:p>
          <a:p>
            <a:r>
              <a:rPr lang="en-US" altLang="zh-CN" sz="4800" dirty="0">
                <a:solidFill>
                  <a:srgbClr val="0070C0"/>
                </a:solidFill>
              </a:rPr>
              <a:t>Rows Removed by Filter: 6 </a:t>
            </a:r>
            <a:r>
              <a:rPr lang="zh-CN" altLang="en-US" sz="4800" dirty="0"/>
              <a:t>表明了过滤操作过滤了多少行记录</a:t>
            </a:r>
            <a:endParaRPr lang="zh-CN" altLang="en-US" sz="4800" dirty="0"/>
          </a:p>
          <a:p>
            <a:r>
              <a:rPr lang="en-US" altLang="zh-CN" sz="4800" dirty="0">
                <a:solidFill>
                  <a:srgbClr val="0070C0"/>
                </a:solidFill>
              </a:rPr>
              <a:t>Total Runtime: 0.070 </a:t>
            </a:r>
            <a:r>
              <a:rPr lang="en-US" altLang="zh-CN" sz="4800" dirty="0" err="1">
                <a:solidFill>
                  <a:srgbClr val="0070C0"/>
                </a:solidFill>
              </a:rPr>
              <a:t>ms</a:t>
            </a:r>
            <a:r>
              <a:rPr lang="en-US" altLang="zh-CN" sz="4800" dirty="0">
                <a:solidFill>
                  <a:srgbClr val="0070C0"/>
                </a:solidFill>
              </a:rPr>
              <a:t> </a:t>
            </a:r>
            <a:r>
              <a:rPr lang="zh-CN" altLang="en-US" sz="4800" dirty="0"/>
              <a:t>表明了总的</a:t>
            </a:r>
            <a:r>
              <a:rPr lang="zh-CN" altLang="en-US" sz="4800" dirty="0"/>
              <a:t>执行时间</a:t>
            </a:r>
            <a:endParaRPr lang="zh-CN" altLang="en-US" sz="4800" dirty="0"/>
          </a:p>
        </p:txBody>
      </p:sp>
      <p:pic>
        <p:nvPicPr>
          <p:cNvPr id="5" name="图片 4"/>
          <p:cNvPicPr>
            <a:picLocks noChangeAspect="1"/>
          </p:cNvPicPr>
          <p:nvPr/>
        </p:nvPicPr>
        <p:blipFill>
          <a:blip r:embed="rId1"/>
          <a:stretch>
            <a:fillRect/>
          </a:stretch>
        </p:blipFill>
        <p:spPr>
          <a:xfrm>
            <a:off x="1619250" y="1700530"/>
            <a:ext cx="7073265" cy="136969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sz="3300" dirty="0"/>
              <a:t>性能优化</a:t>
            </a:r>
            <a:r>
              <a:rPr lang="en-US" altLang="zh-CN" sz="3300" dirty="0"/>
              <a:t>——</a:t>
            </a:r>
            <a:r>
              <a:rPr lang="zh-CN" altLang="en-US" sz="3300" dirty="0"/>
              <a:t>查询分析</a:t>
            </a:r>
            <a:endParaRPr lang="zh-CN" altLang="en-US" sz="3300" dirty="0">
              <a:solidFill>
                <a:schemeClr val="tx2">
                  <a:satMod val="130000"/>
                </a:schemeClr>
              </a:solidFill>
            </a:endParaRPr>
          </a:p>
        </p:txBody>
      </p:sp>
      <p:sp>
        <p:nvSpPr>
          <p:cNvPr id="4" name="内容占位符 2"/>
          <p:cNvSpPr>
            <a:spLocks noGrp="1"/>
          </p:cNvSpPr>
          <p:nvPr>
            <p:ph idx="1"/>
          </p:nvPr>
        </p:nvSpPr>
        <p:spPr>
          <a:xfrm>
            <a:off x="1156824" y="1410513"/>
            <a:ext cx="7776864" cy="4800600"/>
          </a:xfrm>
        </p:spPr>
        <p:txBody>
          <a:bodyPr>
            <a:normAutofit/>
          </a:bodyPr>
          <a:lstStyle/>
          <a:p>
            <a:r>
              <a:rPr lang="en-US" altLang="zh-CN" sz="2800" dirty="0"/>
              <a:t>EXPLAIN——where</a:t>
            </a:r>
            <a:r>
              <a:rPr lang="zh-CN" altLang="en-US" sz="2800" dirty="0"/>
              <a:t>子句对速度的影响：</a:t>
            </a:r>
            <a:endParaRPr lang="en-US" altLang="zh-CN" sz="2800" dirty="0"/>
          </a:p>
          <a:p>
            <a:pPr marL="356870" lvl="1" indent="0">
              <a:buNone/>
            </a:pPr>
            <a:r>
              <a:rPr lang="en-US" altLang="zh-CN" sz="2400" dirty="0"/>
              <a:t>explain analyze select * from examinee;</a:t>
            </a:r>
            <a:endParaRPr lang="en-US" altLang="zh-CN" sz="2400" dirty="0"/>
          </a:p>
          <a:p>
            <a:endParaRPr lang="en-US" altLang="zh-CN" sz="2800" dirty="0"/>
          </a:p>
        </p:txBody>
      </p:sp>
      <p:sp>
        <p:nvSpPr>
          <p:cNvPr id="10" name="箭头: 上下 9"/>
          <p:cNvSpPr/>
          <p:nvPr/>
        </p:nvSpPr>
        <p:spPr>
          <a:xfrm>
            <a:off x="2200411" y="4069108"/>
            <a:ext cx="360040" cy="576064"/>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p:cNvSpPr/>
          <p:nvPr/>
        </p:nvSpPr>
        <p:spPr>
          <a:xfrm>
            <a:off x="2848483" y="4143800"/>
            <a:ext cx="792088"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比较：</a:t>
            </a:r>
            <a:endParaRPr lang="zh-CN" altLang="en-US" dirty="0"/>
          </a:p>
        </p:txBody>
      </p:sp>
      <p:sp>
        <p:nvSpPr>
          <p:cNvPr id="12" name="对话气泡: 圆角矩形 11"/>
          <p:cNvSpPr/>
          <p:nvPr/>
        </p:nvSpPr>
        <p:spPr>
          <a:xfrm>
            <a:off x="107504" y="5181825"/>
            <a:ext cx="1562878" cy="432048"/>
          </a:xfrm>
          <a:prstGeom prst="wedgeRoundRectCallout">
            <a:avLst>
              <a:gd name="adj1" fmla="val -48995"/>
              <a:gd name="adj2" fmla="val -660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有</a:t>
            </a:r>
            <a:r>
              <a:rPr lang="en-US" altLang="zh-CN" dirty="0"/>
              <a:t>where</a:t>
            </a:r>
            <a:r>
              <a:rPr lang="zh-CN" altLang="en-US" dirty="0"/>
              <a:t>子句</a:t>
            </a:r>
            <a:endParaRPr lang="zh-CN" altLang="en-US" dirty="0"/>
          </a:p>
        </p:txBody>
      </p:sp>
      <p:sp>
        <p:nvSpPr>
          <p:cNvPr id="13" name="对话气泡: 圆角矩形 12"/>
          <p:cNvSpPr/>
          <p:nvPr/>
        </p:nvSpPr>
        <p:spPr>
          <a:xfrm>
            <a:off x="107504" y="3109874"/>
            <a:ext cx="1562878" cy="432048"/>
          </a:xfrm>
          <a:prstGeom prst="wedgeRoundRectCallout">
            <a:avLst>
              <a:gd name="adj1" fmla="val -48995"/>
              <a:gd name="adj2" fmla="val -660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无</a:t>
            </a:r>
            <a:r>
              <a:rPr lang="en-US" altLang="zh-CN" dirty="0"/>
              <a:t>where</a:t>
            </a:r>
            <a:r>
              <a:rPr lang="zh-CN" altLang="en-US" dirty="0"/>
              <a:t>子句</a:t>
            </a:r>
            <a:endParaRPr lang="zh-CN" altLang="en-US" dirty="0"/>
          </a:p>
        </p:txBody>
      </p:sp>
      <p:sp>
        <p:nvSpPr>
          <p:cNvPr id="14" name="矩形 13"/>
          <p:cNvSpPr/>
          <p:nvPr/>
        </p:nvSpPr>
        <p:spPr>
          <a:xfrm>
            <a:off x="3858193" y="3789676"/>
            <a:ext cx="5022861" cy="922020"/>
          </a:xfrm>
          <a:prstGeom prst="rect">
            <a:avLst/>
          </a:prstGeom>
        </p:spPr>
        <p:txBody>
          <a:bodyPr wrap="square">
            <a:spAutoFit/>
          </a:bodyPr>
          <a:lstStyle/>
          <a:p>
            <a:r>
              <a:rPr lang="zh-CN" altLang="en-US" dirty="0"/>
              <a:t>增加</a:t>
            </a:r>
            <a:r>
              <a:rPr lang="en-US" altLang="zh-CN" dirty="0"/>
              <a:t>where</a:t>
            </a:r>
            <a:r>
              <a:rPr lang="zh-CN" altLang="en-US" dirty="0"/>
              <a:t>条件后，评估的输出记录数因为</a:t>
            </a:r>
            <a:r>
              <a:rPr lang="en-US" altLang="zh-CN" dirty="0"/>
              <a:t>where</a:t>
            </a:r>
            <a:r>
              <a:rPr lang="zh-CN" altLang="en-US" dirty="0"/>
              <a:t>子句变少了，但是扫描的数据还是全表，所以消耗没有减少，反而增加了一点</a:t>
            </a:r>
            <a:r>
              <a:rPr lang="en-US" altLang="zh-CN" dirty="0"/>
              <a:t>cpu</a:t>
            </a:r>
            <a:r>
              <a:rPr lang="zh-CN" altLang="en-US" dirty="0"/>
              <a:t>的计算时间</a:t>
            </a:r>
            <a:endParaRPr lang="zh-CN" altLang="en-US" dirty="0"/>
          </a:p>
        </p:txBody>
      </p:sp>
      <p:pic>
        <p:nvPicPr>
          <p:cNvPr id="5" name="图片 4"/>
          <p:cNvPicPr>
            <a:picLocks noChangeAspect="1"/>
          </p:cNvPicPr>
          <p:nvPr/>
        </p:nvPicPr>
        <p:blipFill>
          <a:blip r:embed="rId1"/>
          <a:stretch>
            <a:fillRect/>
          </a:stretch>
        </p:blipFill>
        <p:spPr>
          <a:xfrm>
            <a:off x="1835785" y="2708910"/>
            <a:ext cx="7205345" cy="950595"/>
          </a:xfrm>
          <a:prstGeom prst="rect">
            <a:avLst/>
          </a:prstGeom>
        </p:spPr>
      </p:pic>
      <p:sp>
        <p:nvSpPr>
          <p:cNvPr id="25" name="矩形 24"/>
          <p:cNvSpPr/>
          <p:nvPr/>
        </p:nvSpPr>
        <p:spPr>
          <a:xfrm>
            <a:off x="5510530" y="3184525"/>
            <a:ext cx="1597660" cy="24384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8" name="图片 7"/>
          <p:cNvPicPr>
            <a:picLocks noChangeAspect="1"/>
          </p:cNvPicPr>
          <p:nvPr/>
        </p:nvPicPr>
        <p:blipFill>
          <a:blip r:embed="rId2"/>
          <a:stretch>
            <a:fillRect/>
          </a:stretch>
        </p:blipFill>
        <p:spPr>
          <a:xfrm>
            <a:off x="1835785" y="4950460"/>
            <a:ext cx="6979285" cy="1358265"/>
          </a:xfrm>
          <a:prstGeom prst="rect">
            <a:avLst/>
          </a:prstGeom>
        </p:spPr>
      </p:pic>
      <p:sp>
        <p:nvSpPr>
          <p:cNvPr id="7" name="矩形 6"/>
          <p:cNvSpPr/>
          <p:nvPr/>
        </p:nvSpPr>
        <p:spPr>
          <a:xfrm>
            <a:off x="5436235" y="5445125"/>
            <a:ext cx="1496695" cy="24384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sz="3300" dirty="0"/>
              <a:t>性能优化</a:t>
            </a:r>
            <a:r>
              <a:rPr lang="en-US" altLang="zh-CN" sz="3300" dirty="0"/>
              <a:t>——</a:t>
            </a:r>
            <a:r>
              <a:rPr lang="zh-CN" altLang="en-US" sz="3300" dirty="0"/>
              <a:t>查询分析</a:t>
            </a:r>
            <a:endParaRPr lang="zh-CN" altLang="en-US" sz="3300" dirty="0">
              <a:solidFill>
                <a:schemeClr val="tx2">
                  <a:satMod val="130000"/>
                </a:schemeClr>
              </a:solidFill>
            </a:endParaRPr>
          </a:p>
        </p:txBody>
      </p:sp>
      <p:sp>
        <p:nvSpPr>
          <p:cNvPr id="4" name="内容占位符 2"/>
          <p:cNvSpPr>
            <a:spLocks noGrp="1"/>
          </p:cNvSpPr>
          <p:nvPr>
            <p:ph idx="1"/>
          </p:nvPr>
        </p:nvSpPr>
        <p:spPr>
          <a:xfrm>
            <a:off x="1156824" y="1410513"/>
            <a:ext cx="7987176" cy="4800600"/>
          </a:xfrm>
        </p:spPr>
        <p:txBody>
          <a:bodyPr>
            <a:normAutofit/>
          </a:bodyPr>
          <a:lstStyle/>
          <a:p>
            <a:r>
              <a:rPr lang="en-US" altLang="zh-CN" sz="2800" dirty="0"/>
              <a:t>EXPLAIN——</a:t>
            </a:r>
            <a:r>
              <a:rPr lang="zh-CN" altLang="en-US" sz="2800" dirty="0"/>
              <a:t>索引对速度的影响：</a:t>
            </a:r>
            <a:endParaRPr lang="en-US" altLang="zh-CN" sz="2800" dirty="0"/>
          </a:p>
          <a:p>
            <a:pPr marL="356870" lvl="1" indent="0">
              <a:buNone/>
            </a:pPr>
            <a:endParaRPr lang="en-US" altLang="zh-CN" sz="2400" dirty="0"/>
          </a:p>
          <a:p>
            <a:pPr marL="356870" lvl="1" indent="0">
              <a:buNone/>
            </a:pPr>
            <a:endParaRPr lang="en-US" altLang="zh-CN" sz="2400" dirty="0"/>
          </a:p>
          <a:p>
            <a:pPr marL="356870" lvl="1" indent="0">
              <a:buNone/>
            </a:pPr>
            <a:r>
              <a:rPr lang="en-US" altLang="zh-CN" sz="2400" dirty="0"/>
              <a:t>explain select * from examinee where </a:t>
            </a:r>
            <a:r>
              <a:rPr lang="en-US" altLang="zh-CN" sz="2400" dirty="0" err="1"/>
              <a:t>eeage</a:t>
            </a:r>
            <a:r>
              <a:rPr lang="en-US" altLang="zh-CN" sz="2400" dirty="0"/>
              <a:t>=22;</a:t>
            </a:r>
            <a:endParaRPr lang="en-US" altLang="zh-CN" sz="2400" dirty="0"/>
          </a:p>
          <a:p>
            <a:endParaRPr lang="en-US" altLang="zh-CN" sz="2800" dirty="0"/>
          </a:p>
        </p:txBody>
      </p:sp>
      <p:sp>
        <p:nvSpPr>
          <p:cNvPr id="16" name="文本框 15"/>
          <p:cNvSpPr txBox="1"/>
          <p:nvPr/>
        </p:nvSpPr>
        <p:spPr>
          <a:xfrm>
            <a:off x="4572000" y="2115785"/>
            <a:ext cx="2498843" cy="398780"/>
          </a:xfrm>
          <a:prstGeom prst="rect">
            <a:avLst/>
          </a:prstGeom>
          <a:noFill/>
        </p:spPr>
        <p:txBody>
          <a:bodyPr wrap="square" rtlCol="0">
            <a:spAutoFit/>
          </a:bodyPr>
          <a:lstStyle/>
          <a:p>
            <a:r>
              <a:rPr lang="en-US" altLang="zh-CN" sz="2000" dirty="0" err="1">
                <a:latin typeface="+mn-ea"/>
              </a:rPr>
              <a:t>eeage</a:t>
            </a:r>
            <a:r>
              <a:rPr lang="zh-CN" altLang="en-US" sz="2000" dirty="0">
                <a:latin typeface="+mn-ea"/>
              </a:rPr>
              <a:t>上</a:t>
            </a:r>
            <a:r>
              <a:rPr lang="zh-CN" altLang="en-US" sz="2000" dirty="0">
                <a:latin typeface="+mn-ea"/>
              </a:rPr>
              <a:t>没有索引</a:t>
            </a:r>
            <a:endParaRPr lang="en-US" altLang="zh-CN" sz="2000" dirty="0">
              <a:latin typeface="+mn-ea"/>
            </a:endParaRPr>
          </a:p>
        </p:txBody>
      </p:sp>
      <p:pic>
        <p:nvPicPr>
          <p:cNvPr id="5" name="图片 4"/>
          <p:cNvPicPr>
            <a:picLocks noChangeAspect="1"/>
          </p:cNvPicPr>
          <p:nvPr/>
        </p:nvPicPr>
        <p:blipFill>
          <a:blip r:embed="rId1"/>
          <a:stretch>
            <a:fillRect/>
          </a:stretch>
        </p:blipFill>
        <p:spPr>
          <a:xfrm>
            <a:off x="1908175" y="1844675"/>
            <a:ext cx="1503045" cy="958850"/>
          </a:xfrm>
          <a:prstGeom prst="rect">
            <a:avLst/>
          </a:prstGeom>
        </p:spPr>
      </p:pic>
      <p:pic>
        <p:nvPicPr>
          <p:cNvPr id="6" name="图片 5"/>
          <p:cNvPicPr>
            <a:picLocks noChangeAspect="1"/>
          </p:cNvPicPr>
          <p:nvPr/>
        </p:nvPicPr>
        <p:blipFill>
          <a:blip r:embed="rId2"/>
          <a:stretch>
            <a:fillRect/>
          </a:stretch>
        </p:blipFill>
        <p:spPr>
          <a:xfrm>
            <a:off x="1619250" y="3573145"/>
            <a:ext cx="6760210" cy="11366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sz="3300" dirty="0"/>
              <a:t>性能优化</a:t>
            </a:r>
            <a:r>
              <a:rPr lang="en-US" altLang="zh-CN" sz="3300" dirty="0"/>
              <a:t>——</a:t>
            </a:r>
            <a:r>
              <a:rPr lang="zh-CN" altLang="en-US" sz="3300" dirty="0"/>
              <a:t>查询分析</a:t>
            </a:r>
            <a:endParaRPr lang="zh-CN" altLang="en-US" sz="3300" dirty="0">
              <a:solidFill>
                <a:schemeClr val="tx2">
                  <a:satMod val="130000"/>
                </a:schemeClr>
              </a:solidFill>
            </a:endParaRPr>
          </a:p>
        </p:txBody>
      </p:sp>
      <p:sp>
        <p:nvSpPr>
          <p:cNvPr id="4" name="内容占位符 2"/>
          <p:cNvSpPr>
            <a:spLocks noGrp="1"/>
          </p:cNvSpPr>
          <p:nvPr>
            <p:ph idx="1"/>
          </p:nvPr>
        </p:nvSpPr>
        <p:spPr>
          <a:xfrm>
            <a:off x="1156824" y="1410513"/>
            <a:ext cx="7987176" cy="4800600"/>
          </a:xfrm>
        </p:spPr>
        <p:txBody>
          <a:bodyPr>
            <a:normAutofit/>
          </a:bodyPr>
          <a:lstStyle/>
          <a:p>
            <a:r>
              <a:rPr lang="en-US" altLang="zh-CN" sz="2800" dirty="0"/>
              <a:t>EXPLAIN——</a:t>
            </a:r>
            <a:r>
              <a:rPr lang="zh-CN" altLang="en-US" sz="2800" dirty="0"/>
              <a:t>索引对速度的影响：</a:t>
            </a:r>
            <a:endParaRPr lang="en-US" altLang="zh-CN" sz="2800" dirty="0"/>
          </a:p>
          <a:p>
            <a:pPr marL="0" lvl="1" indent="0">
              <a:buNone/>
            </a:pPr>
            <a:r>
              <a:rPr lang="en-US" altLang="zh-CN" sz="2400" dirty="0">
                <a:sym typeface="+mn-ea"/>
              </a:rPr>
              <a:t>  create </a:t>
            </a:r>
            <a:r>
              <a:rPr lang="en-US" altLang="zh-CN" sz="2400" dirty="0">
                <a:solidFill>
                  <a:srgbClr val="FF0000"/>
                </a:solidFill>
                <a:sym typeface="+mn-ea"/>
              </a:rPr>
              <a:t>index </a:t>
            </a:r>
            <a:r>
              <a:rPr lang="en-US" altLang="zh-CN" sz="2400" dirty="0" err="1">
                <a:sym typeface="+mn-ea"/>
              </a:rPr>
              <a:t>eeagedx</a:t>
            </a:r>
            <a:r>
              <a:rPr lang="en-US" altLang="zh-CN" sz="2400" dirty="0">
                <a:sym typeface="+mn-ea"/>
              </a:rPr>
              <a:t> </a:t>
            </a:r>
            <a:r>
              <a:rPr lang="en-US" altLang="zh-CN" sz="2400" dirty="0">
                <a:solidFill>
                  <a:srgbClr val="FF0000"/>
                </a:solidFill>
                <a:sym typeface="+mn-ea"/>
              </a:rPr>
              <a:t>on</a:t>
            </a:r>
            <a:r>
              <a:rPr lang="en-US" altLang="zh-CN" sz="2400" dirty="0">
                <a:sym typeface="+mn-ea"/>
              </a:rPr>
              <a:t> examinee</a:t>
            </a:r>
            <a:r>
              <a:rPr lang="en-US" altLang="zh-CN" sz="2400" dirty="0">
                <a:solidFill>
                  <a:srgbClr val="FF0000"/>
                </a:solidFill>
                <a:sym typeface="+mn-ea"/>
              </a:rPr>
              <a:t>(</a:t>
            </a:r>
            <a:r>
              <a:rPr lang="en-US" altLang="zh-CN" sz="2400" dirty="0" err="1">
                <a:solidFill>
                  <a:srgbClr val="FF0000"/>
                </a:solidFill>
                <a:sym typeface="+mn-ea"/>
              </a:rPr>
              <a:t>eeage</a:t>
            </a:r>
            <a:r>
              <a:rPr lang="en-US" altLang="zh-CN" sz="2400" dirty="0">
                <a:solidFill>
                  <a:srgbClr val="FF0000"/>
                </a:solidFill>
                <a:sym typeface="+mn-ea"/>
              </a:rPr>
              <a:t>);</a:t>
            </a:r>
            <a:endParaRPr lang="en-US" altLang="zh-CN" sz="2400" dirty="0"/>
          </a:p>
          <a:p>
            <a:pPr marL="356870" lvl="1" indent="0">
              <a:buNone/>
            </a:pPr>
            <a:r>
              <a:rPr lang="zh-CN" altLang="en-US" sz="2400" dirty="0">
                <a:sym typeface="+mn-ea"/>
              </a:rPr>
              <a:t>使用索引：</a:t>
            </a:r>
            <a:endParaRPr lang="zh-CN" altLang="en-US" sz="2400" dirty="0"/>
          </a:p>
          <a:p>
            <a:pPr marL="0" lvl="1" indent="0">
              <a:buNone/>
            </a:pPr>
            <a:r>
              <a:rPr lang="en-US" altLang="zh-CN" sz="2400" dirty="0">
                <a:sym typeface="+mn-ea"/>
              </a:rPr>
              <a:t>  </a:t>
            </a:r>
            <a:r>
              <a:rPr lang="en-US" altLang="zh-CN" sz="2400" dirty="0"/>
              <a:t>set </a:t>
            </a:r>
            <a:r>
              <a:rPr lang="en-US" altLang="zh-CN" sz="2400" dirty="0" err="1"/>
              <a:t>enable_seqscan</a:t>
            </a:r>
            <a:r>
              <a:rPr lang="en-US" altLang="zh-CN" sz="2400" dirty="0"/>
              <a:t> to off;</a:t>
            </a:r>
            <a:endParaRPr lang="en-US" altLang="zh-CN" sz="2400" dirty="0"/>
          </a:p>
          <a:p>
            <a:pPr marL="0" lvl="1" indent="0">
              <a:buNone/>
            </a:pPr>
            <a:r>
              <a:rPr lang="en-US" altLang="zh-CN" sz="2400" dirty="0"/>
              <a:t>  explain select * from examinee where </a:t>
            </a:r>
            <a:r>
              <a:rPr lang="en-US" altLang="zh-CN" sz="2400" dirty="0" err="1"/>
              <a:t>eeage</a:t>
            </a:r>
            <a:r>
              <a:rPr lang="en-US" altLang="zh-CN" sz="2400" dirty="0"/>
              <a:t>=22;</a:t>
            </a:r>
            <a:endParaRPr lang="en-US" altLang="zh-CN" sz="2400" dirty="0"/>
          </a:p>
          <a:p>
            <a:endParaRPr lang="en-US" altLang="zh-CN" sz="2800" dirty="0"/>
          </a:p>
        </p:txBody>
      </p:sp>
      <p:sp>
        <p:nvSpPr>
          <p:cNvPr id="11" name="对话气泡: 圆角矩形 10"/>
          <p:cNvSpPr/>
          <p:nvPr/>
        </p:nvSpPr>
        <p:spPr>
          <a:xfrm>
            <a:off x="2123475" y="5799485"/>
            <a:ext cx="4752528" cy="704434"/>
          </a:xfrm>
          <a:prstGeom prst="wedgeRoundRectCallout">
            <a:avLst>
              <a:gd name="adj1" fmla="val -48514"/>
              <a:gd name="adj2" fmla="val -4411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变成索引扫描。但是时间反而增加。因为表太小，所以增加的</a:t>
            </a:r>
            <a:r>
              <a:rPr lang="en-US" altLang="zh-CN" dirty="0" err="1"/>
              <a:t>cpu</a:t>
            </a:r>
            <a:r>
              <a:rPr lang="zh-CN" altLang="en-US" dirty="0"/>
              <a:t>时间反而显得更突出。</a:t>
            </a:r>
            <a:endParaRPr lang="zh-CN" altLang="en-US" dirty="0"/>
          </a:p>
        </p:txBody>
      </p:sp>
      <p:pic>
        <p:nvPicPr>
          <p:cNvPr id="5" name="图片 4"/>
          <p:cNvPicPr>
            <a:picLocks noChangeAspect="1"/>
          </p:cNvPicPr>
          <p:nvPr/>
        </p:nvPicPr>
        <p:blipFill>
          <a:blip r:embed="rId1"/>
          <a:stretch>
            <a:fillRect/>
          </a:stretch>
        </p:blipFill>
        <p:spPr>
          <a:xfrm>
            <a:off x="1403985" y="4149090"/>
            <a:ext cx="7134860" cy="1092200"/>
          </a:xfrm>
          <a:prstGeom prst="rect">
            <a:avLst/>
          </a:prstGeom>
        </p:spPr>
      </p:pic>
      <p:sp>
        <p:nvSpPr>
          <p:cNvPr id="10" name="矩形 9"/>
          <p:cNvSpPr/>
          <p:nvPr/>
        </p:nvSpPr>
        <p:spPr>
          <a:xfrm>
            <a:off x="6441440" y="4725035"/>
            <a:ext cx="1798955" cy="28257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箭头连接符 11"/>
          <p:cNvCxnSpPr/>
          <p:nvPr/>
        </p:nvCxnSpPr>
        <p:spPr>
          <a:xfrm flipH="1" flipV="1">
            <a:off x="4859806" y="5013355"/>
            <a:ext cx="671195" cy="808355"/>
          </a:xfrm>
          <a:prstGeom prst="straightConnector1">
            <a:avLst/>
          </a:prstGeom>
          <a:ln w="38100">
            <a:solidFill>
              <a:srgbClr val="26697A"/>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35608" y="125760"/>
            <a:ext cx="7498080" cy="1143000"/>
          </a:xfrm>
        </p:spPr>
        <p:txBody>
          <a:bodyPr/>
          <a:lstStyle/>
          <a:p>
            <a:pPr>
              <a:defRPr/>
            </a:pPr>
            <a:r>
              <a:rPr lang="zh-CN" altLang="en-US" sz="3300" dirty="0"/>
              <a:t>性能优化</a:t>
            </a:r>
            <a:r>
              <a:rPr lang="en-US" altLang="zh-CN" sz="3300" dirty="0"/>
              <a:t>——</a:t>
            </a:r>
            <a:r>
              <a:rPr lang="zh-CN" altLang="en-US" sz="3300" dirty="0"/>
              <a:t>查询分析</a:t>
            </a:r>
            <a:endParaRPr lang="zh-CN" altLang="en-US" sz="3300" dirty="0">
              <a:solidFill>
                <a:schemeClr val="tx2">
                  <a:satMod val="130000"/>
                </a:schemeClr>
              </a:solidFill>
            </a:endParaRPr>
          </a:p>
        </p:txBody>
      </p:sp>
      <p:sp>
        <p:nvSpPr>
          <p:cNvPr id="4" name="内容占位符 2"/>
          <p:cNvSpPr>
            <a:spLocks noGrp="1"/>
          </p:cNvSpPr>
          <p:nvPr>
            <p:ph idx="1"/>
          </p:nvPr>
        </p:nvSpPr>
        <p:spPr>
          <a:xfrm>
            <a:off x="1156824" y="908720"/>
            <a:ext cx="7987176" cy="5302393"/>
          </a:xfrm>
        </p:spPr>
        <p:txBody>
          <a:bodyPr>
            <a:normAutofit/>
          </a:bodyPr>
          <a:lstStyle/>
          <a:p>
            <a:pPr marL="356870" lvl="1" indent="0">
              <a:buNone/>
            </a:pPr>
            <a:r>
              <a:rPr lang="en-US" altLang="zh-CN" sz="2400" dirty="0"/>
              <a:t>insert into </a:t>
            </a:r>
            <a:r>
              <a:rPr lang="en-US" altLang="zh-CN" sz="2400" dirty="0" err="1"/>
              <a:t>eee</a:t>
            </a:r>
            <a:r>
              <a:rPr lang="en-US" altLang="zh-CN" sz="2400" dirty="0"/>
              <a:t> select </a:t>
            </a:r>
            <a:r>
              <a:rPr lang="en-US" altLang="zh-CN" sz="2400" dirty="0" err="1"/>
              <a:t>num,floor</a:t>
            </a:r>
            <a:r>
              <a:rPr lang="en-US" altLang="zh-CN" sz="2400" dirty="0"/>
              <a:t>(random()*10+15),floor(random()*30+1000) from </a:t>
            </a:r>
            <a:r>
              <a:rPr lang="en-US" altLang="zh-CN" sz="2400" dirty="0" err="1"/>
              <a:t>generate_series</a:t>
            </a:r>
            <a:r>
              <a:rPr lang="en-US" altLang="zh-CN" sz="2400" dirty="0"/>
              <a:t>(1,</a:t>
            </a:r>
            <a:r>
              <a:rPr lang="en-US" altLang="zh-CN" sz="2400" dirty="0">
                <a:solidFill>
                  <a:srgbClr val="FF0000"/>
                </a:solidFill>
              </a:rPr>
              <a:t>100000</a:t>
            </a:r>
            <a:r>
              <a:rPr lang="en-US" altLang="zh-CN" sz="2400" dirty="0"/>
              <a:t>) as t(</a:t>
            </a:r>
            <a:r>
              <a:rPr lang="en-US" altLang="zh-CN" sz="2400" dirty="0" err="1"/>
              <a:t>num</a:t>
            </a:r>
            <a:r>
              <a:rPr lang="en-US" altLang="zh-CN" sz="2400" dirty="0"/>
              <a:t>);</a:t>
            </a:r>
            <a:endParaRPr lang="en-US" altLang="zh-CN" sz="2400" dirty="0"/>
          </a:p>
          <a:p>
            <a:pPr marL="0" lvl="1" indent="0">
              <a:buNone/>
            </a:pPr>
            <a:r>
              <a:rPr lang="en-US" altLang="zh-CN" sz="2400" dirty="0">
                <a:sym typeface="+mn-ea"/>
              </a:rPr>
              <a:t>explain select * from eee where eeid='23';</a:t>
            </a:r>
            <a:endParaRPr lang="en-US" altLang="zh-CN" sz="2400" dirty="0"/>
          </a:p>
          <a:p>
            <a:pPr marL="356870" lvl="1" indent="0">
              <a:buNone/>
            </a:pPr>
            <a:endParaRPr lang="en-US" altLang="zh-CN" sz="2400" dirty="0"/>
          </a:p>
          <a:p>
            <a:pPr marL="356870" lvl="1" indent="0">
              <a:buNone/>
            </a:pPr>
            <a:endParaRPr lang="en-US" altLang="zh-CN" sz="2400" dirty="0"/>
          </a:p>
          <a:p>
            <a:pPr marL="356870" lvl="1" indent="0">
              <a:buNone/>
            </a:pPr>
            <a:endParaRPr lang="en-US" altLang="zh-CN" sz="2400" dirty="0"/>
          </a:p>
          <a:p>
            <a:pPr marL="356870" lvl="1" indent="0">
              <a:buNone/>
            </a:pPr>
            <a:r>
              <a:rPr lang="en-US" altLang="zh-CN" sz="2400" dirty="0"/>
              <a:t>create unique index </a:t>
            </a:r>
            <a:r>
              <a:rPr lang="en-US" altLang="zh-CN" sz="2400" dirty="0" err="1"/>
              <a:t>indexid</a:t>
            </a:r>
            <a:r>
              <a:rPr lang="en-US" altLang="zh-CN" sz="2400" dirty="0"/>
              <a:t> on </a:t>
            </a:r>
            <a:r>
              <a:rPr lang="en-US" altLang="zh-CN" sz="2400" dirty="0" err="1"/>
              <a:t>eee</a:t>
            </a:r>
            <a:r>
              <a:rPr lang="en-US" altLang="zh-CN" sz="2400" dirty="0"/>
              <a:t>(</a:t>
            </a:r>
            <a:r>
              <a:rPr lang="en-US" altLang="zh-CN" sz="2400" dirty="0" err="1"/>
              <a:t>eeid</a:t>
            </a:r>
            <a:r>
              <a:rPr lang="en-US" altLang="zh-CN" sz="2400" dirty="0"/>
              <a:t>);</a:t>
            </a:r>
            <a:endParaRPr lang="en-US" altLang="zh-CN" sz="2400" dirty="0"/>
          </a:p>
          <a:p>
            <a:pPr marL="356870" lvl="1" indent="0">
              <a:buNone/>
            </a:pPr>
            <a:r>
              <a:rPr lang="en-US" altLang="zh-CN" sz="2400" dirty="0"/>
              <a:t>explain select * from eee where eeid='23';</a:t>
            </a:r>
            <a:endParaRPr lang="en-US" altLang="zh-CN" sz="2400" dirty="0"/>
          </a:p>
        </p:txBody>
      </p:sp>
      <p:pic>
        <p:nvPicPr>
          <p:cNvPr id="3" name="图片 2"/>
          <p:cNvPicPr>
            <a:picLocks noChangeAspect="1"/>
          </p:cNvPicPr>
          <p:nvPr/>
        </p:nvPicPr>
        <p:blipFill>
          <a:blip r:embed="rId1"/>
          <a:stretch>
            <a:fillRect/>
          </a:stretch>
        </p:blipFill>
        <p:spPr>
          <a:xfrm>
            <a:off x="1331595" y="2564765"/>
            <a:ext cx="6998970" cy="1346200"/>
          </a:xfrm>
          <a:prstGeom prst="rect">
            <a:avLst/>
          </a:prstGeom>
        </p:spPr>
      </p:pic>
      <p:pic>
        <p:nvPicPr>
          <p:cNvPr id="5" name="图片 4"/>
          <p:cNvPicPr>
            <a:picLocks noChangeAspect="1"/>
          </p:cNvPicPr>
          <p:nvPr/>
        </p:nvPicPr>
        <p:blipFill>
          <a:blip r:embed="rId2"/>
          <a:stretch>
            <a:fillRect/>
          </a:stretch>
        </p:blipFill>
        <p:spPr>
          <a:xfrm>
            <a:off x="1259205" y="4869180"/>
            <a:ext cx="7283450" cy="145986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sz="3300" dirty="0"/>
              <a:t>性能优化</a:t>
            </a:r>
            <a:r>
              <a:rPr lang="en-US" altLang="zh-CN" sz="3300" dirty="0"/>
              <a:t>——</a:t>
            </a:r>
            <a:r>
              <a:rPr lang="zh-CN" altLang="en-US" sz="3300" dirty="0"/>
              <a:t>查询分析</a:t>
            </a:r>
            <a:endParaRPr lang="zh-CN" altLang="en-US" sz="3300" dirty="0">
              <a:solidFill>
                <a:schemeClr val="tx2">
                  <a:satMod val="130000"/>
                </a:schemeClr>
              </a:solidFill>
            </a:endParaRPr>
          </a:p>
        </p:txBody>
      </p:sp>
      <p:sp>
        <p:nvSpPr>
          <p:cNvPr id="4" name="内容占位符 2"/>
          <p:cNvSpPr>
            <a:spLocks noGrp="1"/>
          </p:cNvSpPr>
          <p:nvPr>
            <p:ph idx="1"/>
          </p:nvPr>
        </p:nvSpPr>
        <p:spPr>
          <a:xfrm>
            <a:off x="1156824" y="1410513"/>
            <a:ext cx="7987176" cy="4800600"/>
          </a:xfrm>
        </p:spPr>
        <p:txBody>
          <a:bodyPr>
            <a:normAutofit/>
          </a:bodyPr>
          <a:lstStyle/>
          <a:p>
            <a:pPr marL="356870" lvl="1" indent="0">
              <a:buNone/>
            </a:pPr>
            <a:r>
              <a:rPr lang="en-US" altLang="zh-CN" sz="2400" dirty="0"/>
              <a:t>explain select * from eee where eeage='28';</a:t>
            </a:r>
            <a:endParaRPr lang="en-US" altLang="zh-CN" sz="2400" dirty="0"/>
          </a:p>
          <a:p>
            <a:pPr marL="356870" lvl="1" indent="0">
              <a:buNone/>
            </a:pPr>
            <a:endParaRPr lang="en-US" altLang="zh-CN" sz="2400" dirty="0"/>
          </a:p>
          <a:p>
            <a:pPr marL="356870" lvl="1" indent="0">
              <a:buNone/>
            </a:pPr>
            <a:endParaRPr lang="en-US" altLang="zh-CN" sz="2400" dirty="0"/>
          </a:p>
          <a:p>
            <a:pPr marL="356870" lvl="1" indent="0">
              <a:buNone/>
            </a:pPr>
            <a:endParaRPr lang="en-US" altLang="zh-CN" sz="2400" dirty="0"/>
          </a:p>
          <a:p>
            <a:pPr marL="356870" lvl="1" indent="0">
              <a:buNone/>
            </a:pPr>
            <a:endParaRPr lang="en-US" altLang="zh-CN" sz="2400" dirty="0"/>
          </a:p>
          <a:p>
            <a:pPr marL="356870" lvl="1" indent="0">
              <a:buNone/>
            </a:pPr>
            <a:r>
              <a:rPr lang="en-US" altLang="zh-CN" sz="2400" dirty="0"/>
              <a:t>create index </a:t>
            </a:r>
            <a:r>
              <a:rPr lang="en-US" altLang="zh-CN" sz="2400" dirty="0" err="1"/>
              <a:t>indexage</a:t>
            </a:r>
            <a:r>
              <a:rPr lang="en-US" altLang="zh-CN" sz="2400" dirty="0"/>
              <a:t> on </a:t>
            </a:r>
            <a:r>
              <a:rPr lang="en-US" altLang="zh-CN" sz="2400" dirty="0" err="1"/>
              <a:t>eee</a:t>
            </a:r>
            <a:r>
              <a:rPr lang="en-US" altLang="zh-CN" sz="2400" dirty="0"/>
              <a:t>(</a:t>
            </a:r>
            <a:r>
              <a:rPr lang="en-US" altLang="zh-CN" sz="2400" dirty="0" err="1"/>
              <a:t>eeage</a:t>
            </a:r>
            <a:r>
              <a:rPr lang="en-US" altLang="zh-CN" sz="2400" dirty="0"/>
              <a:t>);</a:t>
            </a:r>
            <a:endParaRPr lang="en-US" altLang="zh-CN" sz="2400" dirty="0"/>
          </a:p>
          <a:p>
            <a:pPr marL="356870" lvl="1" indent="0">
              <a:buNone/>
            </a:pPr>
            <a:r>
              <a:rPr lang="en-US" altLang="zh-CN" sz="2400" dirty="0">
                <a:sym typeface="+mn-ea"/>
              </a:rPr>
              <a:t>explain select * from eee where eeage='28';</a:t>
            </a:r>
            <a:endParaRPr lang="en-US" altLang="zh-CN" sz="2400" dirty="0"/>
          </a:p>
          <a:p>
            <a:pPr marL="356870" lvl="1" indent="0">
              <a:buNone/>
            </a:pPr>
            <a:endParaRPr lang="en-US" altLang="zh-CN" dirty="0"/>
          </a:p>
          <a:p>
            <a:pPr marL="356870" lvl="1" indent="0">
              <a:buNone/>
            </a:pPr>
            <a:endParaRPr lang="en-US" altLang="zh-CN" sz="2800" dirty="0"/>
          </a:p>
        </p:txBody>
      </p:sp>
      <p:pic>
        <p:nvPicPr>
          <p:cNvPr id="8" name="图片 7"/>
          <p:cNvPicPr>
            <a:picLocks noChangeAspect="1"/>
          </p:cNvPicPr>
          <p:nvPr/>
        </p:nvPicPr>
        <p:blipFill>
          <a:blip r:embed="rId1"/>
          <a:stretch>
            <a:fillRect/>
          </a:stretch>
        </p:blipFill>
        <p:spPr>
          <a:xfrm>
            <a:off x="1476375" y="2060575"/>
            <a:ext cx="7215505" cy="1210310"/>
          </a:xfrm>
          <a:prstGeom prst="rect">
            <a:avLst/>
          </a:prstGeom>
        </p:spPr>
      </p:pic>
      <p:pic>
        <p:nvPicPr>
          <p:cNvPr id="9" name="图片 8"/>
          <p:cNvPicPr>
            <a:picLocks noChangeAspect="1"/>
          </p:cNvPicPr>
          <p:nvPr/>
        </p:nvPicPr>
        <p:blipFill>
          <a:blip r:embed="rId2"/>
          <a:stretch>
            <a:fillRect/>
          </a:stretch>
        </p:blipFill>
        <p:spPr>
          <a:xfrm>
            <a:off x="1476375" y="4653280"/>
            <a:ext cx="7216140" cy="1376045"/>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夏至">
  <a:themeElements>
    <a:clrScheme name="夏至">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夏至">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夏至">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Solstice</Template>
  <TotalTime>0</TotalTime>
  <Words>3185</Words>
  <Application>WPS 演示</Application>
  <PresentationFormat>全屏显示(4:3)</PresentationFormat>
  <Paragraphs>215</Paragraphs>
  <Slides>22</Slides>
  <Notes>23</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22</vt:i4>
      </vt:variant>
    </vt:vector>
  </HeadingPairs>
  <TitlesOfParts>
    <vt:vector size="35" baseType="lpstr">
      <vt:lpstr>Arial</vt:lpstr>
      <vt:lpstr>宋体</vt:lpstr>
      <vt:lpstr>Wingdings</vt:lpstr>
      <vt:lpstr>Wingdings 2</vt:lpstr>
      <vt:lpstr>Verdana</vt:lpstr>
      <vt:lpstr>Bahnschrift Light</vt:lpstr>
      <vt:lpstr>Wingdings 2</vt:lpstr>
      <vt:lpstr>Gill Sans MT</vt:lpstr>
      <vt:lpstr>华文中宋</vt:lpstr>
      <vt:lpstr>微软雅黑</vt:lpstr>
      <vt:lpstr>Arial Unicode MS</vt:lpstr>
      <vt:lpstr>等线</vt:lpstr>
      <vt:lpstr>夏至</vt:lpstr>
      <vt:lpstr>实验 GaussDB索引和性能优化</vt:lpstr>
      <vt:lpstr>主要内容</vt:lpstr>
      <vt:lpstr>索引——了解索引</vt:lpstr>
      <vt:lpstr>索引——了解索引</vt:lpstr>
      <vt:lpstr>索引——分类</vt:lpstr>
      <vt:lpstr>索引——分类</vt:lpstr>
      <vt:lpstr>索引——设计原则</vt:lpstr>
      <vt:lpstr>索引——设计原则</vt:lpstr>
      <vt:lpstr>索引——创建</vt:lpstr>
      <vt:lpstr>索引——创建</vt:lpstr>
      <vt:lpstr>索引——创建</vt:lpstr>
      <vt:lpstr>索引——修改和删除</vt:lpstr>
      <vt:lpstr>性能优化——了解优化</vt:lpstr>
      <vt:lpstr>性能优化——查询分析</vt:lpstr>
      <vt:lpstr>性能优化——查询分析</vt:lpstr>
      <vt:lpstr>性能优化——查询分析</vt:lpstr>
      <vt:lpstr>性能优化——查询分析</vt:lpstr>
      <vt:lpstr>性能优化——查询分析</vt:lpstr>
      <vt:lpstr>性能优化——查询分析</vt:lpstr>
      <vt:lpstr>性能优化——查询分析</vt:lpstr>
      <vt:lpstr>性能优化——查询分析</vt:lpstr>
      <vt:lpstr>性能优化——查询分析</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实验四 数据表的基本操作</dc:title>
  <dc:creator>yaoyingting</dc:creator>
  <cp:lastModifiedBy>WPS_1583584828</cp:lastModifiedBy>
  <cp:revision>525</cp:revision>
  <dcterms:created xsi:type="dcterms:W3CDTF">2015-03-23T01:41:00Z</dcterms:created>
  <dcterms:modified xsi:type="dcterms:W3CDTF">2025-05-12T09:36:44Z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429CD3EDEB80432EBBF9D8E18EF5A516_12</vt:lpwstr>
  </property>
  <property fmtid="{D5CDD505-2E9C-101B-9397-08002B2CF9AE}" pid="3" name="KSOProductBuildVer">
    <vt:lpwstr>2052-12.1.0.20784</vt:lpwstr>
  </property>
</Properties>
</file>