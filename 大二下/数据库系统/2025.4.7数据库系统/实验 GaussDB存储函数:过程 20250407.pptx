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346" r:id="rId4"/>
    <p:sldId id="267" r:id="rId5"/>
    <p:sldId id="269" r:id="rId7"/>
    <p:sldId id="270" r:id="rId8"/>
    <p:sldId id="268" r:id="rId9"/>
    <p:sldId id="273" r:id="rId10"/>
    <p:sldId id="280" r:id="rId11"/>
    <p:sldId id="277" r:id="rId12"/>
    <p:sldId id="281" r:id="rId13"/>
    <p:sldId id="282" r:id="rId14"/>
    <p:sldId id="348" r:id="rId15"/>
    <p:sldId id="287" r:id="rId16"/>
    <p:sldId id="274" r:id="rId17"/>
    <p:sldId id="275" r:id="rId18"/>
    <p:sldId id="349" r:id="rId19"/>
    <p:sldId id="350" r:id="rId20"/>
    <p:sldId id="351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2222" autoAdjust="0"/>
  </p:normalViewPr>
  <p:slideViewPr>
    <p:cSldViewPr showGuides="1">
      <p:cViewPr varScale="1">
        <p:scale>
          <a:sx n="81" d="100"/>
          <a:sy n="81" d="100"/>
        </p:scale>
        <p:origin x="167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EE6A9-A337-4424-B158-CEE40DDC4F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F95C1-1C97-4AEE-8AFD-9E57812A37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2F2B5-605C-4748-AB19-092E73919C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2F2B5-605C-4748-AB19-092E73919C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sum</a:t>
            </a:r>
            <a:r>
              <a:rPr lang="zh-CN" altLang="en-US" dirty="0"/>
              <a:t>：</a:t>
            </a:r>
            <a:r>
              <a:rPr lang="en-US" altLang="zh-CN" dirty="0"/>
              <a:t>=</a:t>
            </a:r>
            <a:r>
              <a:rPr lang="en-US" altLang="zh-CN" dirty="0" err="1"/>
              <a:t>a+b</a:t>
            </a:r>
            <a:endParaRPr lang="en-US" altLang="zh-CN" dirty="0"/>
          </a:p>
          <a:p>
            <a:r>
              <a:rPr lang="en-US" altLang="zh-CN" dirty="0"/>
              <a:t>return</a:t>
            </a:r>
            <a:r>
              <a:rPr lang="en-US" altLang="zh-CN" baseline="0" dirty="0"/>
              <a:t> sum</a:t>
            </a:r>
            <a:r>
              <a:rPr lang="zh-CN" altLang="en-US" baseline="0" dirty="0"/>
              <a:t>；</a:t>
            </a:r>
            <a:endParaRPr lang="en-US" altLang="zh-CN" baseline="0" dirty="0"/>
          </a:p>
          <a:p>
            <a:endParaRPr lang="en-US" altLang="zh-CN" baseline="0" dirty="0"/>
          </a:p>
          <a:p>
            <a:r>
              <a:rPr lang="en-US" altLang="zh-CN" baseline="0" dirty="0"/>
              <a:t>return </a:t>
            </a:r>
            <a:r>
              <a:rPr lang="en-US" altLang="zh-CN" baseline="0" dirty="0" err="1"/>
              <a:t>a+b</a:t>
            </a:r>
            <a:r>
              <a:rPr lang="zh-CN" altLang="en-US" baseline="0" dirty="0"/>
              <a:t>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2F2B5-605C-4748-AB19-092E73919C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2F2B5-605C-4748-AB19-092E73919C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2F2B5-605C-4748-AB19-092E73919C7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8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595" y="1844675"/>
            <a:ext cx="7491730" cy="165417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 smtClean="0"/>
              <a:t>实验 </a:t>
            </a:r>
            <a:r>
              <a:rPr lang="en-US" altLang="zh-CN" sz="4000" dirty="0" smtClean="0"/>
              <a:t>GaussDB</a:t>
            </a:r>
            <a:r>
              <a:rPr lang="zh-CN" altLang="en-US" sz="4000" dirty="0" smtClean="0"/>
              <a:t>存储函数</a:t>
            </a:r>
            <a:r>
              <a:rPr lang="en-US" altLang="zh-CN" sz="4000" dirty="0" smtClean="0"/>
              <a:t>/</a:t>
            </a:r>
            <a:r>
              <a:rPr lang="zh-CN" altLang="en-US" sz="4000" dirty="0" smtClean="0"/>
              <a:t>过程</a:t>
            </a:r>
            <a:endParaRPr lang="zh-CN" altLang="en-US" sz="4000" dirty="0" smtClean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9922" y="4149080"/>
            <a:ext cx="7407275" cy="1752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韩浩岚</a:t>
            </a:r>
            <a:endParaRPr lang="zh-CN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李梦佳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2025-4-07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>
              <a:buClrTx/>
              <a:buNone/>
              <a:defRPr/>
            </a:pPr>
            <a:r>
              <a:rPr lang="en-US" altLang="zh-CN" dirty="0"/>
              <a:t>python</a:t>
            </a:r>
            <a:r>
              <a:rPr lang="zh-CN" altLang="en-US" dirty="0"/>
              <a:t>连接数据库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800" dirty="0"/>
              <a:t>python</a:t>
            </a:r>
            <a:r>
              <a:rPr lang="zh-CN" altLang="en-US" sz="2800" dirty="0"/>
              <a:t>环境配置</a:t>
            </a:r>
            <a:endParaRPr lang="en-US" altLang="zh-CN" sz="28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800" dirty="0"/>
              <a:t>python</a:t>
            </a:r>
            <a:r>
              <a:rPr lang="zh-CN" altLang="en-US" sz="2800" dirty="0"/>
              <a:t>访问数据库</a:t>
            </a:r>
            <a:endParaRPr lang="en-US" altLang="zh-CN" sz="28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GaussDB</a:t>
            </a:r>
            <a:r>
              <a:rPr lang="zh-CN" altLang="en-US" sz="2800" dirty="0">
                <a:solidFill>
                  <a:srgbClr val="FF0000"/>
                </a:solidFill>
              </a:rPr>
              <a:t>存储函数</a:t>
            </a:r>
            <a:r>
              <a:rPr lang="en-US" altLang="zh-CN" sz="2800" dirty="0">
                <a:solidFill>
                  <a:srgbClr val="FF0000"/>
                </a:solidFill>
              </a:rPr>
              <a:t>/</a:t>
            </a:r>
            <a:r>
              <a:rPr lang="zh-CN" altLang="en-US" sz="2800" dirty="0">
                <a:solidFill>
                  <a:srgbClr val="FF0000"/>
                </a:solidFill>
              </a:rPr>
              <a:t>过程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程序的基本结构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基本语法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函数的编写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与基础</a:t>
            </a:r>
            <a:r>
              <a:rPr lang="en-US" altLang="zh-CN" sz="3300" dirty="0" err="1"/>
              <a:t>sql</a:t>
            </a:r>
            <a:r>
              <a:rPr lang="zh-CN" altLang="en-US" sz="3300" dirty="0"/>
              <a:t>的区别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基础</a:t>
            </a:r>
            <a:r>
              <a:rPr lang="en-US" altLang="zh-CN" sz="2800" dirty="0" err="1"/>
              <a:t>sql</a:t>
            </a:r>
            <a:r>
              <a:rPr lang="zh-CN" altLang="en-US" sz="2800" dirty="0"/>
              <a:t>：前几节课的内容（</a:t>
            </a:r>
            <a:r>
              <a:rPr lang="en-US" altLang="zh-CN" sz="2800" dirty="0"/>
              <a:t>create</a:t>
            </a:r>
            <a:r>
              <a:rPr lang="zh-CN" altLang="en-US" sz="2800" dirty="0"/>
              <a:t>，</a:t>
            </a:r>
            <a:r>
              <a:rPr lang="en-US" altLang="zh-CN" sz="2800" dirty="0"/>
              <a:t>select</a:t>
            </a:r>
            <a:r>
              <a:rPr lang="zh-CN" altLang="en-US" sz="2800" dirty="0"/>
              <a:t>，</a:t>
            </a:r>
            <a:r>
              <a:rPr lang="en-US" altLang="zh-CN" sz="2800" dirty="0"/>
              <a:t>……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r>
              <a:rPr lang="en-US" altLang="zh-CN" sz="2800" dirty="0" err="1"/>
              <a:t>SQL</a:t>
            </a:r>
            <a:r>
              <a:rPr lang="zh-CN" altLang="en-US" sz="2800" dirty="0"/>
              <a:t>除了基础</a:t>
            </a:r>
            <a:r>
              <a:rPr lang="en-US" altLang="zh-CN" sz="2800" dirty="0" err="1"/>
              <a:t>sql</a:t>
            </a:r>
            <a:r>
              <a:rPr lang="zh-CN" altLang="en-US" sz="2800" dirty="0"/>
              <a:t>语句，还包含了</a:t>
            </a:r>
            <a:r>
              <a:rPr lang="zh-CN" altLang="en-US" sz="2800" b="1" dirty="0">
                <a:solidFill>
                  <a:srgbClr val="FF0000"/>
                </a:solidFill>
              </a:rPr>
              <a:t>程序化</a:t>
            </a:r>
            <a:r>
              <a:rPr lang="zh-CN" altLang="en-US" sz="2800" dirty="0"/>
              <a:t>的元素，</a:t>
            </a:r>
            <a:endParaRPr lang="en-US" altLang="zh-CN" sz="2800" dirty="0"/>
          </a:p>
          <a:p>
            <a:pPr lvl="1"/>
            <a:r>
              <a:rPr lang="zh-CN" altLang="en-US" sz="2400" dirty="0"/>
              <a:t>比如在</a:t>
            </a:r>
            <a:r>
              <a:rPr lang="en-US" altLang="zh-CN" sz="2400" dirty="0"/>
              <a:t>PL/</a:t>
            </a:r>
            <a:r>
              <a:rPr lang="en-US" altLang="zh-CN" sz="2400" dirty="0" err="1"/>
              <a:t>pgSQL</a:t>
            </a:r>
            <a:r>
              <a:rPr lang="zh-CN" altLang="en-US" sz="2400" dirty="0"/>
              <a:t>中可以使用</a:t>
            </a:r>
            <a:r>
              <a:rPr lang="en-US" altLang="zh-CN" sz="2400" dirty="0"/>
              <a:t>if/then/else</a:t>
            </a:r>
            <a:r>
              <a:rPr lang="zh-CN" altLang="en-US" sz="2400" dirty="0"/>
              <a:t>语句和循环功能。</a:t>
            </a:r>
            <a:endParaRPr lang="en-US" altLang="zh-CN" sz="2400" dirty="0"/>
          </a:p>
          <a:p>
            <a:pPr lvl="1"/>
            <a:r>
              <a:rPr lang="zh-CN" altLang="en-US" sz="2400" dirty="0"/>
              <a:t>可以轻松地执行</a:t>
            </a:r>
            <a:r>
              <a:rPr lang="en-US" altLang="zh-CN" sz="2400" dirty="0"/>
              <a:t>SQL</a:t>
            </a:r>
            <a:r>
              <a:rPr lang="zh-CN" altLang="en-US" sz="2400" dirty="0"/>
              <a:t>语句，甚至对</a:t>
            </a:r>
            <a:r>
              <a:rPr lang="en-US" altLang="zh-CN" sz="2400" dirty="0"/>
              <a:t>SQL</a:t>
            </a:r>
            <a:r>
              <a:rPr lang="zh-CN" altLang="en-US" sz="2400" dirty="0"/>
              <a:t>语句的结果进行循环操作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为什么在服务器中进行程序设计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从一个简单的例子开始</a:t>
            </a:r>
            <a:endParaRPr lang="en-US" altLang="zh-CN" sz="2800" dirty="0"/>
          </a:p>
          <a:p>
            <a:pPr lvl="1"/>
            <a:r>
              <a:rPr lang="zh-CN" altLang="en-US" sz="2400" dirty="0"/>
              <a:t>需要实现：互换考生</a:t>
            </a:r>
            <a:r>
              <a:rPr lang="en-US" altLang="zh-CN" sz="2400" dirty="0"/>
              <a:t>A</a:t>
            </a:r>
            <a:r>
              <a:rPr lang="zh-CN" altLang="en-US" sz="2400" dirty="0"/>
              <a:t>和考生</a:t>
            </a:r>
            <a:r>
              <a:rPr lang="en-US" altLang="zh-CN" sz="2400" dirty="0"/>
              <a:t>B</a:t>
            </a:r>
            <a:r>
              <a:rPr lang="zh-CN" altLang="en-US" sz="2400" dirty="0"/>
              <a:t>的院系号</a:t>
            </a:r>
            <a:endParaRPr lang="en-US" altLang="zh-CN" sz="2400" dirty="0"/>
          </a:p>
          <a:p>
            <a:pPr lvl="1"/>
            <a:r>
              <a:rPr lang="zh-CN" altLang="en-US" sz="2400" dirty="0"/>
              <a:t>简单的</a:t>
            </a:r>
            <a:r>
              <a:rPr lang="en-US" altLang="zh-CN" sz="2400" dirty="0" err="1"/>
              <a:t>sql</a:t>
            </a:r>
            <a:r>
              <a:rPr lang="zh-CN" altLang="en-US" sz="2400" dirty="0"/>
              <a:t>语句</a:t>
            </a:r>
            <a:endParaRPr lang="en-US" altLang="zh-CN" sz="2400" dirty="0"/>
          </a:p>
          <a:p>
            <a:endParaRPr lang="en-US" altLang="zh-CN" sz="2800" dirty="0"/>
          </a:p>
          <a:p>
            <a:r>
              <a:rPr lang="zh-CN" altLang="en-US" sz="2800" dirty="0"/>
              <a:t>要确保有</a:t>
            </a:r>
            <a:r>
              <a:rPr lang="en-US" altLang="zh-CN" sz="2800" dirty="0"/>
              <a:t>id</a:t>
            </a:r>
            <a:r>
              <a:rPr lang="zh-CN" altLang="en-US" sz="2800" dirty="0"/>
              <a:t>号为</a:t>
            </a:r>
            <a:r>
              <a:rPr lang="en-US" altLang="zh-CN" sz="2800" dirty="0"/>
              <a:t>A</a:t>
            </a:r>
            <a:r>
              <a:rPr lang="zh-CN" altLang="en-US" sz="2800" dirty="0"/>
              <a:t>的考生，还要确保有</a:t>
            </a:r>
            <a:r>
              <a:rPr lang="en-US" altLang="zh-CN" sz="2800" dirty="0"/>
              <a:t>id</a:t>
            </a:r>
            <a:r>
              <a:rPr lang="zh-CN" altLang="en-US" sz="2800" dirty="0"/>
              <a:t>号为</a:t>
            </a:r>
            <a:r>
              <a:rPr lang="en-US" altLang="zh-CN" sz="2800" dirty="0"/>
              <a:t>B</a:t>
            </a:r>
            <a:r>
              <a:rPr lang="zh-CN" altLang="en-US" sz="2800" dirty="0"/>
              <a:t>的考生，然后再分别更新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的院系号。</a:t>
            </a:r>
            <a:endParaRPr lang="en-US" altLang="zh-CN" sz="2800" dirty="0"/>
          </a:p>
          <a:p>
            <a:r>
              <a:rPr lang="zh-CN" altLang="en-US" sz="2800" dirty="0"/>
              <a:t>都用</a:t>
            </a:r>
            <a:r>
              <a:rPr lang="en-US" altLang="zh-CN" sz="2800" dirty="0" err="1"/>
              <a:t>sql</a:t>
            </a:r>
            <a:r>
              <a:rPr lang="zh-CN" altLang="en-US" sz="2800" dirty="0"/>
              <a:t>语句来确认，很麻烦！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程序设计的方法就可以使得这些工作更加容易管理、更加安全和更加强健。</a:t>
            </a:r>
            <a:endParaRPr lang="en-US" altLang="zh-CN" sz="2800" dirty="0"/>
          </a:p>
          <a:p>
            <a:r>
              <a:rPr lang="zh-CN" altLang="en-US" sz="2800" dirty="0"/>
              <a:t>可以把计算、核对和数据操作全部放在一个用户定义的函数里面。</a:t>
            </a:r>
            <a:endParaRPr lang="en-US" altLang="zh-CN" sz="2800" dirty="0"/>
          </a:p>
          <a:p>
            <a:r>
              <a:rPr lang="zh-CN" altLang="en-US" sz="2800" dirty="0"/>
              <a:t>用户直接调用函数即可。</a:t>
            </a:r>
            <a:endParaRPr lang="en-US" altLang="zh-CN" sz="28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为什么在服务器中进行程序设计</a:t>
            </a:r>
            <a:endParaRPr lang="zh-CN" altLang="en-US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程序的基本结构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sz="3800" b="1" dirty="0"/>
              <a:t>create or replace function</a:t>
            </a:r>
            <a:endParaRPr lang="en-US" altLang="zh-CN" sz="3800" b="1" dirty="0"/>
          </a:p>
          <a:p>
            <a:r>
              <a:rPr lang="en-US" altLang="zh-CN" dirty="0"/>
              <a:t> example(id varchar, name varchar)</a:t>
            </a:r>
            <a:endParaRPr lang="en-US" altLang="zh-CN" dirty="0"/>
          </a:p>
          <a:p>
            <a:r>
              <a:rPr lang="en-US" altLang="zh-CN" dirty="0"/>
              <a:t> returns varchar</a:t>
            </a:r>
            <a:endParaRPr lang="en-US" altLang="zh-CN" dirty="0"/>
          </a:p>
          <a:p>
            <a:r>
              <a:rPr lang="en-US" altLang="zh-CN" b="1" dirty="0"/>
              <a:t> </a:t>
            </a:r>
            <a:r>
              <a:rPr lang="en-US" altLang="zh-CN" sz="4200" b="1" dirty="0"/>
              <a:t>as</a:t>
            </a:r>
            <a:endParaRPr lang="en-US" altLang="zh-CN" sz="4200" b="1" dirty="0"/>
          </a:p>
          <a:p>
            <a:r>
              <a:rPr lang="en-US" altLang="zh-CN" dirty="0"/>
              <a:t> </a:t>
            </a:r>
            <a:r>
              <a:rPr lang="en-US" altLang="zh-CN" sz="3800" b="1" dirty="0"/>
              <a:t>$$ </a:t>
            </a:r>
            <a:endParaRPr lang="en-US" altLang="zh-CN" sz="3800" b="1" dirty="0"/>
          </a:p>
          <a:p>
            <a:r>
              <a:rPr lang="en-US" altLang="zh-CN" sz="3800" b="1" dirty="0"/>
              <a:t>*******</a:t>
            </a:r>
            <a:endParaRPr lang="en-US" altLang="zh-CN" sz="3800" b="1" dirty="0"/>
          </a:p>
          <a:p>
            <a:r>
              <a:rPr lang="en-US" altLang="zh-CN" sz="3800" b="1" dirty="0"/>
              <a:t> begin</a:t>
            </a:r>
            <a:endParaRPr lang="en-US" altLang="zh-CN" sz="3800" b="1" dirty="0"/>
          </a:p>
          <a:p>
            <a:r>
              <a:rPr lang="en-US" altLang="zh-CN" dirty="0"/>
              <a:t>	</a:t>
            </a:r>
            <a:r>
              <a:rPr lang="en-US" altLang="zh-CN" sz="3800" b="1" dirty="0"/>
              <a:t>*******</a:t>
            </a:r>
            <a:endParaRPr lang="en-US" altLang="zh-CN" sz="3800" b="1" dirty="0"/>
          </a:p>
          <a:p>
            <a:r>
              <a:rPr lang="en-US" altLang="zh-CN" sz="3300" b="1" dirty="0"/>
              <a:t> </a:t>
            </a:r>
            <a:r>
              <a:rPr lang="en-US" altLang="zh-CN" sz="3800" b="1" dirty="0"/>
              <a:t>end;</a:t>
            </a:r>
            <a:endParaRPr lang="en-US" altLang="zh-CN" sz="3800" b="1" dirty="0"/>
          </a:p>
          <a:p>
            <a:r>
              <a:rPr lang="en-US" altLang="zh-CN" sz="3800" b="1" dirty="0"/>
              <a:t> $$</a:t>
            </a:r>
            <a:endParaRPr lang="en-US" altLang="zh-CN" sz="3800" b="1" dirty="0"/>
          </a:p>
          <a:p>
            <a:r>
              <a:rPr lang="en-US" altLang="zh-CN" sz="3300" b="1" dirty="0"/>
              <a:t>language </a:t>
            </a:r>
            <a:r>
              <a:rPr lang="en-US" altLang="zh-CN" sz="3300" b="1" dirty="0" err="1"/>
              <a:t>plpgsql</a:t>
            </a:r>
            <a:r>
              <a:rPr lang="en-US" altLang="zh-CN" sz="3300" b="1" dirty="0"/>
              <a:t>;</a:t>
            </a:r>
            <a:endParaRPr lang="en-US" altLang="zh-CN" sz="3300" b="1" dirty="0"/>
          </a:p>
        </p:txBody>
      </p:sp>
      <p:sp>
        <p:nvSpPr>
          <p:cNvPr id="4" name="流程图: 可选过程 3"/>
          <p:cNvSpPr/>
          <p:nvPr/>
        </p:nvSpPr>
        <p:spPr>
          <a:xfrm>
            <a:off x="1835696" y="1916832"/>
            <a:ext cx="5040560" cy="329878"/>
          </a:xfrm>
          <a:prstGeom prst="flowChartAlternate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可选过程 5"/>
          <p:cNvSpPr/>
          <p:nvPr/>
        </p:nvSpPr>
        <p:spPr>
          <a:xfrm>
            <a:off x="1835696" y="2339752"/>
            <a:ext cx="2448272" cy="297160"/>
          </a:xfrm>
          <a:prstGeom prst="flowChartAlternate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835696" y="2715742"/>
            <a:ext cx="4320480" cy="29037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标注 11"/>
          <p:cNvSpPr/>
          <p:nvPr/>
        </p:nvSpPr>
        <p:spPr>
          <a:xfrm>
            <a:off x="5580112" y="5956355"/>
            <a:ext cx="2016224" cy="369168"/>
          </a:xfrm>
          <a:prstGeom prst="wedgeRoundRectCallout">
            <a:avLst>
              <a:gd name="adj1" fmla="val -84609"/>
              <a:gd name="adj2" fmla="val -639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 </a:t>
            </a:r>
            <a:r>
              <a:rPr lang="zh-CN" altLang="en-US" dirty="0"/>
              <a:t>编程语言</a:t>
            </a:r>
            <a:endParaRPr lang="zh-CN" altLang="en-US" dirty="0"/>
          </a:p>
        </p:txBody>
      </p:sp>
      <p:sp>
        <p:nvSpPr>
          <p:cNvPr id="13" name="圆角矩形标注 12"/>
          <p:cNvSpPr/>
          <p:nvPr/>
        </p:nvSpPr>
        <p:spPr>
          <a:xfrm>
            <a:off x="7283706" y="1600145"/>
            <a:ext cx="1378408" cy="445368"/>
          </a:xfrm>
          <a:prstGeom prst="wedgeRoundRectCallout">
            <a:avLst>
              <a:gd name="adj1" fmla="val -74041"/>
              <a:gd name="adj2" fmla="val 560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 </a:t>
            </a:r>
            <a:r>
              <a:rPr lang="zh-CN" altLang="en-US" dirty="0"/>
              <a:t>函数声明</a:t>
            </a:r>
            <a:endParaRPr lang="zh-CN" altLang="en-US" dirty="0"/>
          </a:p>
        </p:txBody>
      </p:sp>
      <p:sp>
        <p:nvSpPr>
          <p:cNvPr id="14" name="圆角矩形标注 13"/>
          <p:cNvSpPr/>
          <p:nvPr/>
        </p:nvSpPr>
        <p:spPr>
          <a:xfrm>
            <a:off x="7021582" y="3717330"/>
            <a:ext cx="1440160" cy="504056"/>
          </a:xfrm>
          <a:prstGeom prst="wedgeRoundRectCallout">
            <a:avLst>
              <a:gd name="adj1" fmla="val -99538"/>
              <a:gd name="adj2" fmla="val -3387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 </a:t>
            </a:r>
            <a:r>
              <a:rPr lang="zh-CN" altLang="en-US" dirty="0"/>
              <a:t>主体部分</a:t>
            </a:r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>
          <a:xfrm>
            <a:off x="3563888" y="3254668"/>
            <a:ext cx="1872208" cy="413259"/>
          </a:xfrm>
          <a:prstGeom prst="wedgeRoundRectCallout">
            <a:avLst>
              <a:gd name="adj1" fmla="val -65657"/>
              <a:gd name="adj2" fmla="val 348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变量声明，定义</a:t>
            </a:r>
            <a:endParaRPr lang="zh-CN" altLang="en-US" dirty="0"/>
          </a:p>
        </p:txBody>
      </p:sp>
      <p:sp>
        <p:nvSpPr>
          <p:cNvPr id="15" name="圆角矩形标注 14"/>
          <p:cNvSpPr/>
          <p:nvPr/>
        </p:nvSpPr>
        <p:spPr>
          <a:xfrm>
            <a:off x="4139952" y="4156501"/>
            <a:ext cx="936104" cy="413259"/>
          </a:xfrm>
          <a:prstGeom prst="wedgeRoundRectCallout">
            <a:avLst>
              <a:gd name="adj1" fmla="val -88042"/>
              <a:gd name="adj2" fmla="val 371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编程</a:t>
            </a:r>
            <a:endParaRPr lang="zh-CN" altLang="en-US" dirty="0"/>
          </a:p>
        </p:txBody>
      </p:sp>
      <p:sp>
        <p:nvSpPr>
          <p:cNvPr id="16" name="流程图: 可选过程 15"/>
          <p:cNvSpPr/>
          <p:nvPr/>
        </p:nvSpPr>
        <p:spPr>
          <a:xfrm>
            <a:off x="1835696" y="5696652"/>
            <a:ext cx="2953122" cy="411451"/>
          </a:xfrm>
          <a:prstGeom prst="flowChartAlternate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标注 7"/>
          <p:cNvSpPr/>
          <p:nvPr/>
        </p:nvSpPr>
        <p:spPr>
          <a:xfrm>
            <a:off x="5148064" y="2331493"/>
            <a:ext cx="2016224" cy="369168"/>
          </a:xfrm>
          <a:prstGeom prst="wedgeRoundRectCallout">
            <a:avLst>
              <a:gd name="adj1" fmla="val -85082"/>
              <a:gd name="adj2" fmla="val -123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 </a:t>
            </a:r>
            <a:r>
              <a:rPr lang="zh-CN" altLang="en-US" dirty="0"/>
              <a:t>函数返回值类型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2627784" y="4941168"/>
            <a:ext cx="144016" cy="2708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427984" y="5773348"/>
            <a:ext cx="144016" cy="2708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云形标注 8"/>
          <p:cNvSpPr/>
          <p:nvPr/>
        </p:nvSpPr>
        <p:spPr>
          <a:xfrm>
            <a:off x="6542416" y="212260"/>
            <a:ext cx="2398491" cy="1000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思考：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create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create or replace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基本语法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735" y="1372235"/>
            <a:ext cx="7501890" cy="519239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变量定义：</a:t>
            </a:r>
            <a:endParaRPr lang="en-US" altLang="zh-CN" sz="2800" dirty="0"/>
          </a:p>
          <a:p>
            <a:pPr lvl="1"/>
            <a:r>
              <a:rPr lang="en-US" altLang="zh-CN" sz="2400" dirty="0"/>
              <a:t>PL/</a:t>
            </a:r>
            <a:r>
              <a:rPr lang="en-US" altLang="zh-CN" sz="2400" dirty="0" err="1"/>
              <a:t>pgSQL</a:t>
            </a:r>
            <a:r>
              <a:rPr lang="zh-CN" altLang="en-US" sz="2400" dirty="0"/>
              <a:t>可以使用</a:t>
            </a:r>
            <a:r>
              <a:rPr lang="en-US" altLang="zh-CN" sz="2400" dirty="0" err="1"/>
              <a:t>pgSQL</a:t>
            </a:r>
            <a:r>
              <a:rPr lang="zh-CN" altLang="en-US" sz="2400" dirty="0"/>
              <a:t>中的所有数据类型来声明变量。</a:t>
            </a:r>
            <a:endParaRPr lang="en-US" altLang="zh-CN" sz="2400" dirty="0"/>
          </a:p>
          <a:p>
            <a:pPr lvl="1"/>
            <a:r>
              <a:rPr lang="en-US" altLang="zh-CN" sz="2400" b="1" dirty="0"/>
              <a:t>Declare </a:t>
            </a:r>
            <a:r>
              <a:rPr lang="en-US" altLang="zh-CN" sz="2400" dirty="0">
                <a:solidFill>
                  <a:srgbClr val="FF0000"/>
                </a:solidFill>
              </a:rPr>
              <a:t>age int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r>
              <a:rPr lang="zh-CN" altLang="en-US" sz="2800" dirty="0"/>
              <a:t>变量赋值：</a:t>
            </a:r>
            <a:endParaRPr lang="en-US" altLang="zh-CN" sz="2800" dirty="0"/>
          </a:p>
          <a:p>
            <a:pPr lvl="1"/>
            <a:r>
              <a:rPr lang="en-US" altLang="zh-CN" sz="2400" dirty="0"/>
              <a:t>temp:=age;</a:t>
            </a:r>
            <a:endParaRPr lang="en-US" altLang="zh-CN" sz="2400" dirty="0"/>
          </a:p>
          <a:p>
            <a:r>
              <a:rPr lang="zh-CN" altLang="en-US" sz="2800" dirty="0"/>
              <a:t>如何把查询结果的值（单个结果）赋给变量</a:t>
            </a:r>
            <a:endParaRPr lang="en-US" altLang="zh-CN" sz="2800" dirty="0"/>
          </a:p>
          <a:p>
            <a:pPr lvl="1"/>
            <a:r>
              <a:rPr lang="en-US" altLang="zh-CN" sz="2400" dirty="0"/>
              <a:t>Select </a:t>
            </a:r>
            <a:r>
              <a:rPr lang="en-US" altLang="zh-CN" sz="2400" dirty="0" err="1"/>
              <a:t>eeage</a:t>
            </a:r>
            <a:r>
              <a:rPr lang="en-US" altLang="zh-CN" sz="2400" dirty="0"/>
              <a:t> from examinee where 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=</a:t>
            </a:r>
            <a:r>
              <a:rPr lang="en-US" altLang="zh-CN"/>
              <a:t>218811011013 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lvl="1"/>
            <a:r>
              <a:rPr lang="en-US" altLang="zh-CN" sz="2400" dirty="0"/>
              <a:t>Select </a:t>
            </a:r>
            <a:r>
              <a:rPr lang="en-US" altLang="zh-CN" sz="2400" dirty="0" err="1"/>
              <a:t>eeage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into age </a:t>
            </a:r>
            <a:r>
              <a:rPr lang="en-US" altLang="zh-CN" sz="2400" dirty="0"/>
              <a:t>from </a:t>
            </a:r>
            <a:r>
              <a:rPr lang="en-US" altLang="zh-CN" sz="2400" dirty="0" err="1"/>
              <a:t>examinee </a:t>
            </a:r>
            <a:r>
              <a:rPr lang="en-US" altLang="zh-CN" sz="2400" dirty="0"/>
              <a:t>where 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=</a:t>
            </a:r>
            <a:r>
              <a:rPr lang="en-US" altLang="zh-CN"/>
              <a:t>218811011013        </a:t>
            </a:r>
            <a:r>
              <a:rPr lang="en-US" altLang="zh-CN" sz="2400" dirty="0"/>
              <a:t>;</a:t>
            </a:r>
            <a:endParaRPr lang="zh-CN" altLang="en-US" sz="2400" dirty="0"/>
          </a:p>
        </p:txBody>
      </p:sp>
      <p:sp>
        <p:nvSpPr>
          <p:cNvPr id="4" name="圆角矩形标注 3"/>
          <p:cNvSpPr/>
          <p:nvPr/>
        </p:nvSpPr>
        <p:spPr>
          <a:xfrm>
            <a:off x="5508104" y="2407621"/>
            <a:ext cx="2664296" cy="413259"/>
          </a:xfrm>
          <a:prstGeom prst="wedgeRoundRectCallout">
            <a:avLst>
              <a:gd name="adj1" fmla="val -65657"/>
              <a:gd name="adj2" fmla="val 348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注意：不是 </a:t>
            </a:r>
            <a:r>
              <a:rPr lang="en-US" altLang="zh-CN" dirty="0"/>
              <a:t>int  age </a:t>
            </a:r>
            <a:r>
              <a:rPr lang="zh-CN" altLang="en-US" dirty="0"/>
              <a:t>！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139952" y="2844930"/>
            <a:ext cx="144016" cy="2708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292080" y="3151745"/>
            <a:ext cx="1368152" cy="360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以分号结尾</a:t>
            </a:r>
            <a:endParaRPr lang="zh-CN" altLang="en-US" dirty="0"/>
          </a:p>
        </p:txBody>
      </p:sp>
      <p:cxnSp>
        <p:nvCxnSpPr>
          <p:cNvPr id="10" name="肘形连接符 9"/>
          <p:cNvCxnSpPr/>
          <p:nvPr/>
        </p:nvCxnSpPr>
        <p:spPr>
          <a:xfrm>
            <a:off x="4283968" y="2996952"/>
            <a:ext cx="1009253" cy="277892"/>
          </a:xfrm>
          <a:prstGeom prst="bentConnector3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1  </a:t>
            </a:r>
            <a:r>
              <a:rPr lang="zh-CN" altLang="en-US" sz="3300" dirty="0"/>
              <a:t>加法函数</a:t>
            </a:r>
            <a:endParaRPr lang="zh-CN" altLang="en-US" sz="33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b="1" dirty="0"/>
              <a:t>要求：</a:t>
            </a:r>
            <a:r>
              <a:rPr lang="zh-CN" altLang="en-US" sz="2800" dirty="0"/>
              <a:t>创建一个函数，计算整数</a:t>
            </a:r>
            <a:r>
              <a:rPr lang="en-US" altLang="zh-CN" sz="2800" dirty="0"/>
              <a:t>a</a:t>
            </a:r>
            <a:r>
              <a:rPr lang="zh-CN" altLang="en-US" sz="2800" dirty="0"/>
              <a:t>与</a:t>
            </a:r>
            <a:r>
              <a:rPr lang="en-US" altLang="zh-CN" sz="2800" dirty="0"/>
              <a:t>b</a:t>
            </a:r>
            <a:r>
              <a:rPr lang="zh-CN" altLang="en-US" sz="2800" dirty="0"/>
              <a:t>的和，并返回计算结果。</a:t>
            </a:r>
            <a:endParaRPr lang="zh-CN" altLang="en-US" dirty="0"/>
          </a:p>
        </p:txBody>
      </p:sp>
      <p:sp>
        <p:nvSpPr>
          <p:cNvPr id="6" name="云形标注 5"/>
          <p:cNvSpPr/>
          <p:nvPr/>
        </p:nvSpPr>
        <p:spPr>
          <a:xfrm>
            <a:off x="4283968" y="3429000"/>
            <a:ext cx="3816424" cy="122413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变量个数，变量类型，返回值类型</a:t>
            </a:r>
            <a:endParaRPr lang="zh-CN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1  </a:t>
            </a:r>
            <a:r>
              <a:rPr lang="zh-CN" altLang="en-US" sz="3300" dirty="0"/>
              <a:t>加法函数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create function add(a </a:t>
            </a:r>
            <a:r>
              <a:rPr lang="en-US" altLang="zh-CN" dirty="0" err="1"/>
              <a:t>int,b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returns 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as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declare sum </a:t>
            </a:r>
            <a:r>
              <a:rPr lang="en-US" altLang="zh-CN" dirty="0" err="1"/>
              <a:t>int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begin</a:t>
            </a:r>
            <a:endParaRPr lang="en-US" altLang="zh-CN" dirty="0"/>
          </a:p>
          <a:p>
            <a:r>
              <a:rPr lang="en-US" altLang="zh-CN" dirty="0"/>
              <a:t>	select </a:t>
            </a:r>
            <a:r>
              <a:rPr lang="en-US" altLang="zh-CN" dirty="0" err="1"/>
              <a:t>a+b</a:t>
            </a:r>
            <a:r>
              <a:rPr lang="en-US" altLang="zh-CN" dirty="0"/>
              <a:t> into sum;</a:t>
            </a:r>
            <a:endParaRPr lang="en-US" altLang="zh-CN" dirty="0"/>
          </a:p>
          <a:p>
            <a:r>
              <a:rPr lang="en-US" altLang="zh-CN" dirty="0"/>
              <a:t>	return sum;</a:t>
            </a:r>
            <a:endParaRPr lang="en-US" altLang="zh-CN" dirty="0"/>
          </a:p>
          <a:p>
            <a:r>
              <a:rPr lang="en-US" altLang="zh-CN" dirty="0"/>
              <a:t>end;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language </a:t>
            </a:r>
            <a:r>
              <a:rPr lang="en-US" altLang="zh-CN" dirty="0" err="1"/>
              <a:t>plpgsql</a:t>
            </a:r>
            <a:r>
              <a:rPr lang="en-US" altLang="zh-CN" dirty="0"/>
              <a:t>;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192" y="2060848"/>
            <a:ext cx="2448273" cy="15660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00191" y="2060847"/>
            <a:ext cx="2376265" cy="144016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39752" y="3848100"/>
            <a:ext cx="3024336" cy="86409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35696" y="1879848"/>
            <a:ext cx="1584176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825031" y="3068960"/>
            <a:ext cx="2386929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763689" y="5964987"/>
            <a:ext cx="2664295" cy="65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调用函数：</a:t>
            </a:r>
            <a:endParaRPr lang="en-US" altLang="zh-CN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select </a:t>
            </a:r>
            <a:r>
              <a:rPr lang="en-US" altLang="zh-CN" sz="2400" dirty="0">
                <a:solidFill>
                  <a:schemeClr val="tx1"/>
                </a:solidFill>
              </a:rPr>
              <a:t>add(2,3);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11760" y="3933056"/>
            <a:ext cx="2880320" cy="34709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肘形连接符 12"/>
          <p:cNvCxnSpPr>
            <a:stCxn id="9" idx="2"/>
          </p:cNvCxnSpPr>
          <p:nvPr/>
        </p:nvCxnSpPr>
        <p:spPr>
          <a:xfrm rot="16200000" flipH="1">
            <a:off x="5105586" y="3026482"/>
            <a:ext cx="84956" cy="2592288"/>
          </a:xfrm>
          <a:prstGeom prst="bentConnector2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云形标注 10"/>
          <p:cNvSpPr/>
          <p:nvPr/>
        </p:nvSpPr>
        <p:spPr>
          <a:xfrm>
            <a:off x="6192178" y="4005064"/>
            <a:ext cx="2592289" cy="122413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</a:rPr>
              <a:t>思考：</a:t>
            </a:r>
            <a:r>
              <a:rPr lang="zh-CN" altLang="en-US" dirty="0"/>
              <a:t>还可以怎么写？</a:t>
            </a:r>
            <a:endParaRPr lang="zh-CN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2  </a:t>
            </a:r>
            <a:r>
              <a:rPr lang="zh-CN" altLang="en-US" sz="3300" dirty="0"/>
              <a:t>加法函数</a:t>
            </a:r>
            <a:r>
              <a:rPr lang="en-US" altLang="zh-CN" sz="3300" dirty="0"/>
              <a:t>2</a:t>
            </a:r>
            <a:endParaRPr lang="zh-CN" altLang="en-US" sz="33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b="1" dirty="0"/>
              <a:t>要求：</a:t>
            </a:r>
            <a:r>
              <a:rPr lang="zh-CN" altLang="en-US" sz="2800" dirty="0"/>
              <a:t>创建一个函数，将</a:t>
            </a:r>
            <a:r>
              <a:rPr lang="en-US" altLang="zh-CN" sz="2800" dirty="0" err="1"/>
              <a:t>examinee</a:t>
            </a:r>
            <a:r>
              <a:rPr lang="zh-CN" altLang="en-US" sz="2800" dirty="0"/>
              <a:t>表中所有考生年龄加</a:t>
            </a:r>
            <a:r>
              <a:rPr lang="en-US" altLang="zh-CN" sz="2800" dirty="0"/>
              <a:t>2,</a:t>
            </a:r>
            <a:r>
              <a:rPr lang="zh-CN" altLang="en-US" sz="2800" dirty="0"/>
              <a:t>，并返回考生人数。</a:t>
            </a:r>
            <a:endParaRPr lang="zh-CN" altLang="en-US" dirty="0"/>
          </a:p>
        </p:txBody>
      </p:sp>
      <p:sp>
        <p:nvSpPr>
          <p:cNvPr id="5" name="云形标注 4"/>
          <p:cNvSpPr/>
          <p:nvPr/>
        </p:nvSpPr>
        <p:spPr>
          <a:xfrm>
            <a:off x="4355976" y="3200028"/>
            <a:ext cx="3888432" cy="1296144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变量个数，变量类型，返回值类型</a:t>
            </a:r>
            <a:endParaRPr lang="zh-CN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2  </a:t>
            </a:r>
            <a:r>
              <a:rPr lang="zh-CN" altLang="en-US" sz="3300" dirty="0"/>
              <a:t>加法函数</a:t>
            </a:r>
            <a:r>
              <a:rPr lang="en-US" altLang="zh-CN" sz="3300" dirty="0"/>
              <a:t>2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03223" y="1196975"/>
            <a:ext cx="7498080" cy="4800600"/>
          </a:xfrm>
        </p:spPr>
        <p:txBody>
          <a:bodyPr>
            <a:normAutofit fontScale="82500"/>
          </a:bodyPr>
          <a:lstStyle/>
          <a:p>
            <a:r>
              <a:rPr lang="en-US" altLang="zh-CN" dirty="0"/>
              <a:t>create function </a:t>
            </a:r>
            <a:r>
              <a:rPr lang="en-US" altLang="zh-CN" dirty="0" err="1"/>
              <a:t>set_age</a:t>
            </a:r>
            <a:r>
              <a:rPr lang="en-US" altLang="zh-CN" dirty="0"/>
              <a:t>(</a:t>
            </a:r>
            <a:r>
              <a:rPr lang="en-US" altLang="zh-CN" dirty="0" err="1"/>
              <a:t>i_age</a:t>
            </a:r>
            <a:r>
              <a:rPr lang="en-US" altLang="zh-CN" dirty="0"/>
              <a:t> int)</a:t>
            </a:r>
            <a:endParaRPr lang="en-US" altLang="zh-CN" dirty="0"/>
          </a:p>
          <a:p>
            <a:r>
              <a:rPr lang="en-US" altLang="zh-CN" dirty="0"/>
              <a:t>returns 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as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begin</a:t>
            </a:r>
            <a:endParaRPr lang="en-US" altLang="zh-CN" dirty="0"/>
          </a:p>
          <a:p>
            <a:r>
              <a:rPr lang="en-US" altLang="zh-CN" dirty="0"/>
              <a:t>	update </a:t>
            </a:r>
            <a:r>
              <a:rPr lang="en-US" altLang="zh-CN" dirty="0" err="1"/>
              <a:t>examinee</a:t>
            </a:r>
            <a:r>
              <a:rPr lang="en-US" altLang="zh-CN" dirty="0"/>
              <a:t> set </a:t>
            </a:r>
            <a:r>
              <a:rPr lang="en-US" altLang="zh-CN" dirty="0" err="1"/>
              <a:t>eeage</a:t>
            </a:r>
            <a:r>
              <a:rPr lang="en-US" altLang="zh-CN" dirty="0"/>
              <a:t>=</a:t>
            </a:r>
            <a:r>
              <a:rPr lang="en-US" altLang="zh-CN" dirty="0" err="1"/>
              <a:t>eeage+i_age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return (select count(</a:t>
            </a:r>
            <a:r>
              <a:rPr lang="en-US" altLang="zh-CN" dirty="0" err="1"/>
              <a:t>eeid</a:t>
            </a:r>
            <a:r>
              <a:rPr lang="en-US" altLang="zh-CN" dirty="0"/>
              <a:t>) from </a:t>
            </a:r>
            <a:r>
              <a:rPr lang="en-US" altLang="zh-CN" dirty="0" err="1"/>
              <a:t>examinee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end;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language </a:t>
            </a:r>
            <a:r>
              <a:rPr lang="en-US" altLang="zh-CN" dirty="0" err="1"/>
              <a:t>plpgsql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835696" y="1879848"/>
            <a:ext cx="1800200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691934" y="6093257"/>
            <a:ext cx="3456384" cy="65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调用函数：</a:t>
            </a:r>
            <a:endParaRPr lang="en-US" altLang="zh-CN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select </a:t>
            </a:r>
            <a:r>
              <a:rPr lang="en-US" altLang="zh-CN" sz="2400" dirty="0" err="1">
                <a:solidFill>
                  <a:schemeClr val="tx1"/>
                </a:solidFill>
              </a:rPr>
              <a:t>set_age</a:t>
            </a:r>
            <a:r>
              <a:rPr lang="en-US" altLang="zh-CN" sz="2400" dirty="0">
                <a:solidFill>
                  <a:schemeClr val="tx1"/>
                </a:solidFill>
              </a:rPr>
              <a:t>(2);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39752" y="3706392"/>
            <a:ext cx="5904656" cy="8027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2  </a:t>
            </a:r>
            <a:r>
              <a:rPr lang="zh-CN" altLang="en-US" sz="3300" dirty="0"/>
              <a:t>加法函数</a:t>
            </a:r>
            <a:r>
              <a:rPr lang="en-US" altLang="zh-CN" sz="3300" dirty="0"/>
              <a:t>2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268730"/>
            <a:ext cx="7498080" cy="4800600"/>
          </a:xfrm>
        </p:spPr>
        <p:txBody>
          <a:bodyPr>
            <a:normAutofit fontScale="82500"/>
          </a:bodyPr>
          <a:lstStyle/>
          <a:p>
            <a:r>
              <a:rPr lang="en-US" altLang="zh-CN" dirty="0"/>
              <a:t>create function </a:t>
            </a:r>
            <a:r>
              <a:rPr lang="en-US" altLang="zh-CN" dirty="0" err="1"/>
              <a:t>set_age</a:t>
            </a:r>
            <a:r>
              <a:rPr lang="en-US" altLang="zh-CN" dirty="0"/>
              <a:t>(</a:t>
            </a:r>
            <a:r>
              <a:rPr lang="en-US" altLang="zh-CN" dirty="0" err="1"/>
              <a:t>i_age</a:t>
            </a:r>
            <a:r>
              <a:rPr lang="en-US" altLang="zh-CN" dirty="0"/>
              <a:t> int)</a:t>
            </a:r>
            <a:endParaRPr lang="en-US" altLang="zh-CN" dirty="0"/>
          </a:p>
          <a:p>
            <a:r>
              <a:rPr lang="en-US" altLang="zh-CN" dirty="0"/>
              <a:t>returns 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as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begin</a:t>
            </a:r>
            <a:endParaRPr lang="en-US" altLang="zh-CN" dirty="0"/>
          </a:p>
          <a:p>
            <a:r>
              <a:rPr lang="en-US" altLang="zh-CN" dirty="0"/>
              <a:t>	update </a:t>
            </a:r>
            <a:r>
              <a:rPr lang="en-US" altLang="zh-CN" dirty="0" err="1"/>
              <a:t>examinee</a:t>
            </a:r>
            <a:r>
              <a:rPr lang="en-US" altLang="zh-CN" dirty="0"/>
              <a:t> set </a:t>
            </a:r>
            <a:r>
              <a:rPr lang="en-US" altLang="zh-CN" dirty="0" err="1"/>
              <a:t>eeage</a:t>
            </a:r>
            <a:r>
              <a:rPr lang="en-US" altLang="zh-CN" dirty="0"/>
              <a:t>=</a:t>
            </a:r>
            <a:r>
              <a:rPr lang="en-US" altLang="zh-CN" dirty="0" err="1"/>
              <a:t>eeage+i_age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return (select count(</a:t>
            </a:r>
            <a:r>
              <a:rPr lang="en-US" altLang="zh-CN" dirty="0" err="1"/>
              <a:t>eeid</a:t>
            </a:r>
            <a:r>
              <a:rPr lang="en-US" altLang="zh-CN" dirty="0"/>
              <a:t>) from </a:t>
            </a:r>
            <a:r>
              <a:rPr lang="en-US" altLang="zh-CN" dirty="0" err="1"/>
              <a:t>examinee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end;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language </a:t>
            </a:r>
            <a:r>
              <a:rPr lang="en-US" altLang="zh-CN" dirty="0" err="1"/>
              <a:t>plpgsql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835696" y="1879848"/>
            <a:ext cx="1800200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763689" y="5964987"/>
            <a:ext cx="3456384" cy="65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调用函数：</a:t>
            </a:r>
            <a:endParaRPr lang="en-US" altLang="zh-CN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select </a:t>
            </a:r>
            <a:r>
              <a:rPr lang="en-US" altLang="zh-CN" sz="2400" dirty="0" err="1">
                <a:solidFill>
                  <a:schemeClr val="tx1"/>
                </a:solidFill>
              </a:rPr>
              <a:t>set_age</a:t>
            </a:r>
            <a:r>
              <a:rPr lang="en-US" altLang="zh-CN" sz="2400" dirty="0">
                <a:solidFill>
                  <a:schemeClr val="tx1"/>
                </a:solidFill>
              </a:rPr>
              <a:t>(2);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39752" y="3706392"/>
            <a:ext cx="5904656" cy="8027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云形标注 7"/>
          <p:cNvSpPr/>
          <p:nvPr/>
        </p:nvSpPr>
        <p:spPr>
          <a:xfrm>
            <a:off x="5018541" y="4762288"/>
            <a:ext cx="3888432" cy="1296144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rgbClr val="FF0000"/>
                </a:solidFill>
              </a:rPr>
              <a:t>思考：</a:t>
            </a:r>
            <a:r>
              <a:rPr lang="zh-CN" altLang="en-US" dirty="0"/>
              <a:t>如果返回的不是单个结果，而是一个数据集呢？</a:t>
            </a:r>
            <a:endParaRPr lang="zh-CN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2  </a:t>
            </a:r>
            <a:r>
              <a:rPr lang="zh-CN" altLang="en-US" sz="3300" dirty="0"/>
              <a:t>加法函数</a:t>
            </a:r>
            <a:r>
              <a:rPr lang="en-US" altLang="zh-CN" sz="3300" dirty="0"/>
              <a:t>2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2500"/>
          </a:bodyPr>
          <a:lstStyle/>
          <a:p>
            <a:r>
              <a:rPr lang="en-US" altLang="zh-CN" dirty="0"/>
              <a:t>create function </a:t>
            </a:r>
            <a:r>
              <a:rPr lang="en-US" altLang="zh-CN" dirty="0" err="1"/>
              <a:t>set_age</a:t>
            </a:r>
            <a:r>
              <a:rPr lang="en-US" altLang="zh-CN" dirty="0"/>
              <a:t>(</a:t>
            </a:r>
            <a:r>
              <a:rPr lang="en-US" altLang="zh-CN" dirty="0" err="1"/>
              <a:t>i_age</a:t>
            </a:r>
            <a:r>
              <a:rPr lang="en-US" altLang="zh-CN" dirty="0"/>
              <a:t> int)</a:t>
            </a:r>
            <a:endParaRPr lang="en-US" altLang="zh-CN" dirty="0"/>
          </a:p>
          <a:p>
            <a:r>
              <a:rPr lang="en-US" altLang="zh-CN" dirty="0"/>
              <a:t>returns </a:t>
            </a:r>
            <a:r>
              <a:rPr lang="en-US" altLang="zh-CN" dirty="0" err="1"/>
              <a:t>int</a:t>
            </a:r>
            <a:endParaRPr lang="en-US" altLang="zh-CN" dirty="0"/>
          </a:p>
          <a:p>
            <a:r>
              <a:rPr lang="en-US" altLang="zh-CN" dirty="0"/>
              <a:t>as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begin</a:t>
            </a:r>
            <a:endParaRPr lang="en-US" altLang="zh-CN" dirty="0"/>
          </a:p>
          <a:p>
            <a:r>
              <a:rPr lang="en-US" altLang="zh-CN" dirty="0"/>
              <a:t>	update </a:t>
            </a:r>
            <a:r>
              <a:rPr lang="en-US" altLang="zh-CN" dirty="0" err="1"/>
              <a:t>examinee</a:t>
            </a:r>
            <a:r>
              <a:rPr lang="en-US" altLang="zh-CN" dirty="0"/>
              <a:t> set </a:t>
            </a:r>
            <a:r>
              <a:rPr lang="en-US" altLang="zh-CN" dirty="0" err="1"/>
              <a:t>eeage</a:t>
            </a:r>
            <a:r>
              <a:rPr lang="en-US" altLang="zh-CN" dirty="0"/>
              <a:t>=</a:t>
            </a:r>
            <a:r>
              <a:rPr lang="en-US" altLang="zh-CN" dirty="0" err="1"/>
              <a:t>eeage+i_age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return (select count(</a:t>
            </a:r>
            <a:r>
              <a:rPr lang="en-US" altLang="zh-CN" dirty="0" err="1"/>
              <a:t>eeid</a:t>
            </a:r>
            <a:r>
              <a:rPr lang="en-US" altLang="zh-CN" dirty="0"/>
              <a:t>) from </a:t>
            </a:r>
            <a:r>
              <a:rPr lang="en-US" altLang="zh-CN" dirty="0" err="1"/>
              <a:t>examinee</a:t>
            </a:r>
            <a:r>
              <a:rPr lang="en-US" altLang="zh-CN" dirty="0"/>
              <a:t>);</a:t>
            </a:r>
            <a:endParaRPr lang="en-US" altLang="zh-CN" dirty="0"/>
          </a:p>
          <a:p>
            <a:r>
              <a:rPr lang="en-US" altLang="zh-CN" dirty="0"/>
              <a:t>end;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language </a:t>
            </a:r>
            <a:r>
              <a:rPr lang="en-US" altLang="zh-CN" dirty="0" err="1"/>
              <a:t>plpgsql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835696" y="1879848"/>
            <a:ext cx="1800200" cy="432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339975" y="3907790"/>
            <a:ext cx="6647815" cy="431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72253" y="2204921"/>
            <a:ext cx="3168352" cy="478916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5760" marR="0" lvl="0" indent="-28321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lang="en-US" altLang="zh-CN" sz="3000" dirty="0">
              <a:solidFill>
                <a:schemeClr val="tx1"/>
              </a:solidFill>
            </a:endParaRPr>
          </a:p>
          <a:p>
            <a:pPr marL="365760" marR="0" lvl="0" indent="-28321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lang="en-US" altLang="zh-CN" sz="3000" dirty="0">
                <a:solidFill>
                  <a:schemeClr val="tx1"/>
                </a:solidFill>
              </a:rPr>
              <a:t>returns</a:t>
            </a:r>
            <a:r>
              <a:rPr lang="zh-CN" altLang="en-US" sz="3000" dirty="0">
                <a:solidFill>
                  <a:schemeClr val="tx1"/>
                </a:solidFill>
              </a:rPr>
              <a:t> </a:t>
            </a:r>
            <a:r>
              <a:rPr lang="en-US" altLang="zh-CN" sz="3000" b="1" dirty="0" err="1">
                <a:solidFill>
                  <a:srgbClr val="FF0000"/>
                </a:solidFill>
              </a:rPr>
              <a:t>setof</a:t>
            </a:r>
            <a:r>
              <a:rPr lang="zh-CN" altLang="en-US" sz="3000" dirty="0">
                <a:solidFill>
                  <a:srgbClr val="FF0000"/>
                </a:solidFill>
              </a:rPr>
              <a:t> </a:t>
            </a:r>
            <a:r>
              <a:rPr lang="en-US" altLang="zh-CN" sz="3000" dirty="0" err="1">
                <a:solidFill>
                  <a:schemeClr val="tx1"/>
                </a:solidFill>
              </a:rPr>
              <a:t>examinee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  <p:cxnSp>
        <p:nvCxnSpPr>
          <p:cNvPr id="6" name="直线箭头连接符 5"/>
          <p:cNvCxnSpPr>
            <a:stCxn id="7" idx="3"/>
            <a:endCxn id="9" idx="1"/>
          </p:cNvCxnSpPr>
          <p:nvPr/>
        </p:nvCxnSpPr>
        <p:spPr>
          <a:xfrm>
            <a:off x="3635896" y="2095237"/>
            <a:ext cx="935990" cy="348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915920" y="6093460"/>
            <a:ext cx="5183505" cy="677545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5760" marR="0" lvl="0" indent="-28321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lang="en-US" altLang="zh-CN" sz="3000" dirty="0">
              <a:solidFill>
                <a:schemeClr val="tx1"/>
              </a:solidFill>
            </a:endParaRPr>
          </a:p>
          <a:p>
            <a:pPr marL="365760" marR="0" lvl="0" indent="-28321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r>
              <a:rPr lang="en-US" altLang="zh-CN" sz="3000" dirty="0">
                <a:solidFill>
                  <a:schemeClr val="tx1"/>
                </a:solidFill>
              </a:rPr>
              <a:t>return</a:t>
            </a:r>
            <a:r>
              <a:rPr lang="zh-CN" altLang="en-US" sz="3000" dirty="0">
                <a:solidFill>
                  <a:schemeClr val="tx1"/>
                </a:solidFill>
              </a:rPr>
              <a:t> </a:t>
            </a:r>
            <a:r>
              <a:rPr lang="en-US" altLang="zh-CN" sz="3000" dirty="0">
                <a:solidFill>
                  <a:srgbClr val="FF0000"/>
                </a:solidFill>
              </a:rPr>
              <a:t>query</a:t>
            </a:r>
            <a:r>
              <a:rPr lang="en-US" altLang="zh-CN" sz="3000" dirty="0">
                <a:solidFill>
                  <a:schemeClr val="tx1"/>
                </a:solidFill>
              </a:rPr>
              <a:t> select</a:t>
            </a:r>
            <a:r>
              <a:rPr lang="zh-CN" altLang="en-US" sz="3000" dirty="0">
                <a:solidFill>
                  <a:schemeClr val="tx1"/>
                </a:solidFill>
              </a:rPr>
              <a:t> * </a:t>
            </a:r>
            <a:r>
              <a:rPr lang="en-US" altLang="zh-CN" sz="3000" dirty="0">
                <a:solidFill>
                  <a:schemeClr val="tx1"/>
                </a:solidFill>
              </a:rPr>
              <a:t>from</a:t>
            </a:r>
            <a:r>
              <a:rPr lang="zh-CN" altLang="en-US" sz="3000" dirty="0">
                <a:solidFill>
                  <a:schemeClr val="tx1"/>
                </a:solidFill>
              </a:rPr>
              <a:t> </a:t>
            </a:r>
            <a:r>
              <a:rPr lang="en-US" altLang="zh-CN" sz="3000" dirty="0" err="1">
                <a:solidFill>
                  <a:schemeClr val="tx1"/>
                </a:solidFill>
              </a:rPr>
              <a:t>examinee</a:t>
            </a:r>
            <a:r>
              <a:rPr lang="en-US" altLang="zh-CN" sz="3000" dirty="0">
                <a:solidFill>
                  <a:schemeClr val="tx1"/>
                </a:solidFill>
              </a:rPr>
              <a:t>;</a:t>
            </a:r>
            <a:r>
              <a:rPr lang="zh-CN" altLang="en-US" sz="3000" dirty="0">
                <a:solidFill>
                  <a:schemeClr val="tx1"/>
                </a:solidFill>
              </a:rPr>
              <a:t> 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/>
          <p:cNvCxnSpPr/>
          <p:nvPr/>
        </p:nvCxnSpPr>
        <p:spPr>
          <a:xfrm>
            <a:off x="5636720" y="4486961"/>
            <a:ext cx="338003" cy="16417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076056" y="330093"/>
            <a:ext cx="3961063" cy="65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删除函数：</a:t>
            </a:r>
            <a:endParaRPr lang="en-US" altLang="zh-CN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drop function </a:t>
            </a:r>
            <a:r>
              <a:rPr lang="en-US" altLang="zh-CN" sz="2400" b="1" dirty="0" err="1">
                <a:solidFill>
                  <a:schemeClr val="tx1"/>
                </a:solidFill>
              </a:rPr>
              <a:t>set_age</a:t>
            </a:r>
            <a:r>
              <a:rPr lang="en-US" altLang="zh-CN" sz="2400" b="1" dirty="0">
                <a:solidFill>
                  <a:schemeClr val="tx1"/>
                </a:solidFill>
              </a:rPr>
              <a:t>(int)</a:t>
            </a:r>
            <a:r>
              <a:rPr lang="en-US" altLang="zh-CN" sz="2400" dirty="0">
                <a:solidFill>
                  <a:schemeClr val="tx1"/>
                </a:solidFill>
              </a:rPr>
              <a:t>;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例子</a:t>
            </a:r>
            <a:r>
              <a:rPr lang="en-US" altLang="zh-CN" sz="3300" dirty="0"/>
              <a:t>3</a:t>
            </a:r>
            <a:r>
              <a:rPr lang="zh-CN" altLang="en-US" sz="3300" dirty="0"/>
              <a:t> 互换考生</a:t>
            </a:r>
            <a:r>
              <a:rPr lang="en-US" altLang="zh-CN" sz="3300" dirty="0"/>
              <a:t>A</a:t>
            </a:r>
            <a:r>
              <a:rPr lang="zh-CN" altLang="en-US" sz="3300" dirty="0"/>
              <a:t>和考生</a:t>
            </a:r>
            <a:r>
              <a:rPr lang="en-US" altLang="zh-CN" sz="3300" dirty="0"/>
              <a:t>B</a:t>
            </a:r>
            <a:r>
              <a:rPr lang="zh-CN" altLang="en-US" sz="3300" dirty="0"/>
              <a:t>的院系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分析：</a:t>
            </a:r>
            <a:endParaRPr lang="en-US" altLang="zh-CN" sz="2800" dirty="0"/>
          </a:p>
          <a:p>
            <a:r>
              <a:rPr lang="zh-CN" altLang="en-US" sz="2800" dirty="0"/>
              <a:t>考生</a:t>
            </a:r>
            <a:r>
              <a:rPr lang="en-US" altLang="zh-CN" sz="2800" dirty="0"/>
              <a:t>A</a:t>
            </a:r>
            <a:r>
              <a:rPr lang="zh-CN" altLang="en-US" sz="2800" dirty="0"/>
              <a:t>是否存在</a:t>
            </a:r>
            <a:r>
              <a:rPr lang="en-US" altLang="zh-CN" sz="2800" dirty="0"/>
              <a:t>………….</a:t>
            </a:r>
            <a:r>
              <a:rPr lang="zh-CN" altLang="en-US" sz="2800" dirty="0"/>
              <a:t>考生</a:t>
            </a:r>
            <a:r>
              <a:rPr lang="en-US" altLang="zh-CN" sz="2800" dirty="0"/>
              <a:t>A</a:t>
            </a:r>
            <a:r>
              <a:rPr lang="zh-CN" altLang="en-US" sz="2800" dirty="0"/>
              <a:t>不存在</a:t>
            </a:r>
            <a:endParaRPr lang="en-US" altLang="zh-CN" sz="2800" dirty="0"/>
          </a:p>
          <a:p>
            <a:r>
              <a:rPr lang="zh-CN" altLang="en-US" sz="2800" dirty="0"/>
              <a:t>考生</a:t>
            </a:r>
            <a:r>
              <a:rPr lang="en-US" altLang="zh-CN" sz="2800" dirty="0"/>
              <a:t>B</a:t>
            </a:r>
            <a:r>
              <a:rPr lang="zh-CN" altLang="en-US" sz="2800" dirty="0"/>
              <a:t>是否存在</a:t>
            </a:r>
            <a:r>
              <a:rPr lang="en-US" altLang="zh-CN" sz="2800" dirty="0"/>
              <a:t>…………..</a:t>
            </a:r>
            <a:r>
              <a:rPr lang="zh-CN" altLang="en-US" sz="2800" dirty="0"/>
              <a:t>考生</a:t>
            </a:r>
            <a:r>
              <a:rPr lang="en-US" altLang="zh-CN" sz="2800" dirty="0"/>
              <a:t>B</a:t>
            </a:r>
            <a:r>
              <a:rPr lang="zh-CN" altLang="en-US" sz="2800" dirty="0"/>
              <a:t>不存在</a:t>
            </a:r>
            <a:endParaRPr lang="en-US" altLang="zh-CN" sz="2800" dirty="0"/>
          </a:p>
          <a:p>
            <a:r>
              <a:rPr lang="en-US" altLang="zh-CN" sz="2800" dirty="0"/>
              <a:t>………………………….....</a:t>
            </a:r>
            <a:r>
              <a:rPr lang="zh-CN" altLang="en-US" sz="2800" dirty="0"/>
              <a:t>操作成功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输入：</a:t>
            </a:r>
            <a:r>
              <a:rPr lang="en-US" altLang="zh-CN" sz="2800" dirty="0" err="1"/>
              <a:t>ida</a:t>
            </a:r>
            <a:r>
              <a:rPr lang="en-US" altLang="zh-CN" sz="2800" dirty="0"/>
              <a:t> bigint, </a:t>
            </a:r>
            <a:r>
              <a:rPr lang="en-US" altLang="zh-CN" sz="2800" dirty="0" err="1"/>
              <a:t>idb</a:t>
            </a:r>
            <a:r>
              <a:rPr lang="en-US" altLang="zh-CN" sz="2800" dirty="0"/>
              <a:t> </a:t>
            </a:r>
            <a:r>
              <a:rPr lang="en-US" altLang="zh-CN" sz="2800" dirty="0"/>
              <a:t>bigint</a:t>
            </a:r>
            <a:endParaRPr lang="en-US" altLang="zh-CN" sz="2800" dirty="0"/>
          </a:p>
          <a:p>
            <a:r>
              <a:rPr lang="zh-CN" altLang="en-US" sz="2800" dirty="0"/>
              <a:t>函数：</a:t>
            </a:r>
            <a:r>
              <a:rPr lang="en-US" altLang="zh-CN" sz="2800" dirty="0"/>
              <a:t>swap(</a:t>
            </a:r>
            <a:r>
              <a:rPr lang="en-US" altLang="zh-CN" sz="2800" dirty="0" err="1"/>
              <a:t>ida</a:t>
            </a:r>
            <a:r>
              <a:rPr lang="en-US" altLang="zh-CN" sz="2800" dirty="0"/>
              <a:t> bigint, </a:t>
            </a:r>
            <a:r>
              <a:rPr lang="en-US" altLang="zh-CN" sz="2800" dirty="0" err="1"/>
              <a:t>idb</a:t>
            </a:r>
            <a:r>
              <a:rPr lang="en-US" altLang="zh-CN" sz="2800" dirty="0"/>
              <a:t> </a:t>
            </a:r>
            <a:r>
              <a:rPr lang="en-US" altLang="zh-CN" sz="2800" dirty="0"/>
              <a:t>bigint)</a:t>
            </a:r>
            <a:endParaRPr lang="en-US" altLang="zh-CN" sz="2800" dirty="0"/>
          </a:p>
          <a:p>
            <a:r>
              <a:rPr lang="zh-CN" altLang="en-US" sz="2800" dirty="0"/>
              <a:t>返回类型：</a:t>
            </a:r>
            <a:r>
              <a:rPr lang="en-US" altLang="zh-CN" sz="2800" dirty="0"/>
              <a:t>returns text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274638"/>
            <a:ext cx="7498080" cy="6583362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create function swap(</a:t>
            </a:r>
            <a:r>
              <a:rPr lang="en-US" altLang="zh-CN" dirty="0" err="1"/>
              <a:t>ida</a:t>
            </a:r>
            <a:r>
              <a:rPr lang="en-US" altLang="zh-CN" dirty="0"/>
              <a:t> bigint, </a:t>
            </a:r>
            <a:r>
              <a:rPr lang="en-US" altLang="zh-CN" dirty="0" err="1"/>
              <a:t>idb</a:t>
            </a:r>
            <a:r>
              <a:rPr lang="en-US" altLang="zh-CN" dirty="0"/>
              <a:t> bigint)</a:t>
            </a:r>
            <a:endParaRPr lang="en-US" altLang="zh-CN" dirty="0"/>
          </a:p>
          <a:p>
            <a:r>
              <a:rPr lang="en-US" altLang="zh-CN" dirty="0"/>
              <a:t>returns text</a:t>
            </a:r>
            <a:endParaRPr lang="en-US" altLang="zh-CN" dirty="0"/>
          </a:p>
          <a:p>
            <a:r>
              <a:rPr lang="en-US" altLang="zh-CN" dirty="0"/>
              <a:t>as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declare </a:t>
            </a:r>
            <a:r>
              <a:rPr lang="en-US" altLang="zh-CN" dirty="0" err="1"/>
              <a:t>dname_a</a:t>
            </a:r>
            <a:r>
              <a:rPr lang="en-US" altLang="zh-CN" dirty="0"/>
              <a:t> varchar(20);</a:t>
            </a:r>
            <a:endParaRPr lang="en-US" altLang="zh-CN" dirty="0"/>
          </a:p>
          <a:p>
            <a:r>
              <a:rPr lang="en-US" altLang="zh-CN" dirty="0"/>
              <a:t>declare </a:t>
            </a:r>
            <a:r>
              <a:rPr lang="en-US" altLang="zh-CN" dirty="0" err="1"/>
              <a:t>dnamb_b</a:t>
            </a:r>
            <a:r>
              <a:rPr lang="en-US" altLang="zh-CN" dirty="0"/>
              <a:t> varchar(20);</a:t>
            </a:r>
            <a:endParaRPr lang="en-US" altLang="zh-CN" dirty="0"/>
          </a:p>
          <a:p>
            <a:r>
              <a:rPr lang="en-US" altLang="zh-CN" dirty="0"/>
              <a:t>begin</a:t>
            </a:r>
            <a:endParaRPr lang="en-US" altLang="zh-CN" dirty="0"/>
          </a:p>
          <a:p>
            <a:r>
              <a:rPr lang="en-US" altLang="zh-CN" dirty="0"/>
              <a:t>     select </a:t>
            </a:r>
            <a:r>
              <a:rPr lang="en-US" altLang="zh-CN" dirty="0" err="1"/>
              <a:t>dname</a:t>
            </a:r>
            <a:r>
              <a:rPr lang="en-US" altLang="zh-CN" dirty="0"/>
              <a:t> into </a:t>
            </a:r>
            <a:r>
              <a:rPr lang="en-US" altLang="zh-CN" dirty="0" err="1"/>
              <a:t>dname_b</a:t>
            </a:r>
            <a:r>
              <a:rPr lang="en-US" altLang="zh-CN" dirty="0"/>
              <a:t> from </a:t>
            </a:r>
            <a:r>
              <a:rPr lang="en-US" altLang="zh-CN" dirty="0" err="1"/>
              <a:t>examinee</a:t>
            </a:r>
            <a:r>
              <a:rPr lang="en-US" altLang="zh-CN" dirty="0"/>
              <a:t> where </a:t>
            </a:r>
            <a:r>
              <a:rPr lang="en-US" altLang="zh-CN" dirty="0" err="1"/>
              <a:t>eeid</a:t>
            </a:r>
            <a:r>
              <a:rPr lang="en-US" altLang="zh-CN" dirty="0"/>
              <a:t>=</a:t>
            </a:r>
            <a:r>
              <a:rPr lang="en-US" altLang="zh-CN" dirty="0" err="1"/>
              <a:t>ida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if not found then</a:t>
            </a:r>
            <a:endParaRPr lang="en-US" altLang="zh-CN" dirty="0"/>
          </a:p>
          <a:p>
            <a:r>
              <a:rPr lang="en-US" altLang="zh-CN" dirty="0"/>
              <a:t>	  return '</a:t>
            </a:r>
            <a:r>
              <a:rPr lang="zh-CN" altLang="en-US" dirty="0"/>
              <a:t>考生</a:t>
            </a:r>
            <a:r>
              <a:rPr lang="en-US" altLang="zh-CN" dirty="0"/>
              <a:t>A</a:t>
            </a:r>
            <a:r>
              <a:rPr lang="zh-CN" altLang="en-US" dirty="0"/>
              <a:t>不存在</a:t>
            </a:r>
            <a:r>
              <a:rPr lang="en-US" altLang="zh-CN" dirty="0"/>
              <a:t>';</a:t>
            </a:r>
            <a:endParaRPr lang="en-US" altLang="zh-CN" dirty="0"/>
          </a:p>
          <a:p>
            <a:r>
              <a:rPr lang="en-US" altLang="zh-CN" dirty="0"/>
              <a:t>     end if;</a:t>
            </a:r>
            <a:endParaRPr lang="en-US" altLang="zh-CN" dirty="0"/>
          </a:p>
          <a:p>
            <a:r>
              <a:rPr lang="en-US" altLang="zh-CN" dirty="0"/>
              <a:t>     select </a:t>
            </a:r>
            <a:r>
              <a:rPr lang="en-US" altLang="zh-CN" dirty="0" err="1"/>
              <a:t>dname</a:t>
            </a:r>
            <a:r>
              <a:rPr lang="en-US" altLang="zh-CN" dirty="0"/>
              <a:t> into </a:t>
            </a:r>
            <a:r>
              <a:rPr lang="en-US" altLang="zh-CN" dirty="0" err="1"/>
              <a:t>dname_a</a:t>
            </a:r>
            <a:r>
              <a:rPr lang="en-US" altLang="zh-CN" dirty="0"/>
              <a:t> from </a:t>
            </a:r>
            <a:r>
              <a:rPr lang="en-US" altLang="zh-CN" dirty="0" err="1"/>
              <a:t>examinee</a:t>
            </a:r>
            <a:r>
              <a:rPr lang="en-US" altLang="zh-CN" dirty="0"/>
              <a:t> where </a:t>
            </a:r>
            <a:r>
              <a:rPr lang="en-US" altLang="zh-CN" dirty="0" err="1"/>
              <a:t>eeid</a:t>
            </a:r>
            <a:r>
              <a:rPr lang="en-US" altLang="zh-CN" dirty="0"/>
              <a:t>=</a:t>
            </a:r>
            <a:r>
              <a:rPr lang="en-US" altLang="zh-CN" dirty="0" err="1"/>
              <a:t>idb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if not found then</a:t>
            </a:r>
            <a:endParaRPr lang="en-US" altLang="zh-CN" dirty="0"/>
          </a:p>
          <a:p>
            <a:r>
              <a:rPr lang="en-US" altLang="zh-CN" dirty="0"/>
              <a:t>	  return '</a:t>
            </a:r>
            <a:r>
              <a:rPr lang="zh-CN" altLang="en-US" dirty="0"/>
              <a:t>考生</a:t>
            </a:r>
            <a:r>
              <a:rPr lang="en-US" altLang="zh-CN" dirty="0"/>
              <a:t>B</a:t>
            </a:r>
            <a:r>
              <a:rPr lang="zh-CN" altLang="en-US" dirty="0"/>
              <a:t>不存在</a:t>
            </a:r>
            <a:r>
              <a:rPr lang="en-US" altLang="zh-CN" dirty="0"/>
              <a:t>';</a:t>
            </a:r>
            <a:endParaRPr lang="en-US" altLang="zh-CN" dirty="0"/>
          </a:p>
          <a:p>
            <a:r>
              <a:rPr lang="en-US" altLang="zh-CN" dirty="0"/>
              <a:t>     end if;     </a:t>
            </a:r>
            <a:endParaRPr lang="en-US" altLang="zh-CN" dirty="0"/>
          </a:p>
          <a:p>
            <a:r>
              <a:rPr lang="en-US" altLang="zh-CN" dirty="0"/>
              <a:t>     update </a:t>
            </a:r>
            <a:r>
              <a:rPr lang="en-US" altLang="zh-CN" dirty="0" err="1"/>
              <a:t>examinee</a:t>
            </a:r>
            <a:r>
              <a:rPr lang="en-US" altLang="zh-CN" dirty="0"/>
              <a:t> set </a:t>
            </a:r>
            <a:r>
              <a:rPr lang="en-US" altLang="zh-CN" dirty="0" err="1"/>
              <a:t>dname</a:t>
            </a:r>
            <a:r>
              <a:rPr lang="en-US" altLang="zh-CN" dirty="0"/>
              <a:t>=</a:t>
            </a:r>
            <a:r>
              <a:rPr lang="en-US" altLang="zh-CN" dirty="0" err="1"/>
              <a:t>dname_b</a:t>
            </a:r>
            <a:r>
              <a:rPr lang="en-US" altLang="zh-CN" dirty="0"/>
              <a:t> where </a:t>
            </a:r>
            <a:r>
              <a:rPr lang="en-US" altLang="zh-CN" dirty="0" err="1"/>
              <a:t>eeid</a:t>
            </a:r>
            <a:r>
              <a:rPr lang="en-US" altLang="zh-CN" dirty="0"/>
              <a:t>=</a:t>
            </a:r>
            <a:r>
              <a:rPr lang="en-US" altLang="zh-CN" dirty="0" err="1"/>
              <a:t>ida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update </a:t>
            </a:r>
            <a:r>
              <a:rPr lang="en-US" altLang="zh-CN" dirty="0" err="1"/>
              <a:t>examinee</a:t>
            </a:r>
            <a:r>
              <a:rPr lang="en-US" altLang="zh-CN" dirty="0"/>
              <a:t> set </a:t>
            </a:r>
            <a:r>
              <a:rPr lang="en-US" altLang="zh-CN" dirty="0" err="1"/>
              <a:t>dname</a:t>
            </a:r>
            <a:r>
              <a:rPr lang="en-US" altLang="zh-CN" dirty="0"/>
              <a:t>=</a:t>
            </a:r>
            <a:r>
              <a:rPr lang="en-US" altLang="zh-CN" dirty="0" err="1"/>
              <a:t>dname_a</a:t>
            </a:r>
            <a:r>
              <a:rPr lang="en-US" altLang="zh-CN" dirty="0"/>
              <a:t> where </a:t>
            </a:r>
            <a:r>
              <a:rPr lang="en-US" altLang="zh-CN" dirty="0" err="1"/>
              <a:t>eeid</a:t>
            </a:r>
            <a:r>
              <a:rPr lang="en-US" altLang="zh-CN" dirty="0"/>
              <a:t>=</a:t>
            </a:r>
            <a:r>
              <a:rPr lang="en-US" altLang="zh-CN" dirty="0" err="1"/>
              <a:t>idb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 return '</a:t>
            </a:r>
            <a:r>
              <a:rPr lang="zh-CN" altLang="en-US" dirty="0"/>
              <a:t>操作成功</a:t>
            </a:r>
            <a:r>
              <a:rPr lang="en-US" altLang="zh-CN" dirty="0"/>
              <a:t>';</a:t>
            </a:r>
            <a:endParaRPr lang="en-US" altLang="zh-CN" dirty="0"/>
          </a:p>
          <a:p>
            <a:r>
              <a:rPr lang="en-US" altLang="zh-CN" dirty="0"/>
              <a:t>end;</a:t>
            </a:r>
            <a:endParaRPr lang="en-US" altLang="zh-CN" dirty="0"/>
          </a:p>
          <a:p>
            <a:r>
              <a:rPr lang="en-US" altLang="zh-CN" dirty="0"/>
              <a:t>$$</a:t>
            </a:r>
            <a:endParaRPr lang="en-US" altLang="zh-CN" dirty="0"/>
          </a:p>
          <a:p>
            <a:r>
              <a:rPr lang="en-US" altLang="zh-CN" dirty="0"/>
              <a:t>language </a:t>
            </a:r>
            <a:r>
              <a:rPr lang="en-US" altLang="zh-CN" dirty="0" err="1"/>
              <a:t>plpgsql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23728" y="2334890"/>
            <a:ext cx="5688632" cy="23182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123728" y="4725144"/>
            <a:ext cx="5688632" cy="9361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815465" y="1412875"/>
            <a:ext cx="3323590" cy="64833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标注 1"/>
          <p:cNvSpPr/>
          <p:nvPr/>
        </p:nvSpPr>
        <p:spPr>
          <a:xfrm>
            <a:off x="6948264" y="980728"/>
            <a:ext cx="1985424" cy="648072"/>
          </a:xfrm>
          <a:prstGeom prst="wedgeRoundRectCallout">
            <a:avLst>
              <a:gd name="adj1" fmla="val -36665"/>
              <a:gd name="adj2" fmla="val 1318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判断考生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是否存在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6732240" y="5935588"/>
            <a:ext cx="1730794" cy="648072"/>
          </a:xfrm>
          <a:prstGeom prst="wedgeRoundRectCallout">
            <a:avLst>
              <a:gd name="adj1" fmla="val -84481"/>
              <a:gd name="adj2" fmla="val -712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更新考生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的院系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综合例子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创建一个函数，返回考生表中平均年龄最大的院系号和相应的平均年龄，并</a:t>
            </a:r>
            <a:r>
              <a:rPr lang="zh-CN" altLang="en-US" sz="2800" dirty="0" smtClean="0"/>
              <a:t>通过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调用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endParaRPr lang="en-US" altLang="zh-CN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综合例子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95" y="1340485"/>
            <a:ext cx="8235315" cy="4972685"/>
          </a:xfrm>
        </p:spPr>
        <p:txBody>
          <a:bodyPr>
            <a:normAutofit fontScale="82500"/>
          </a:bodyPr>
          <a:lstStyle/>
          <a:p>
            <a:r>
              <a:rPr lang="en-US" altLang="zh-CN" sz="2800" dirty="0"/>
              <a:t>create or replace function </a:t>
            </a:r>
            <a:r>
              <a:rPr lang="en-US" altLang="zh-CN" sz="2800" dirty="0" err="1"/>
              <a:t>sele</a:t>
            </a:r>
            <a:r>
              <a:rPr lang="en-US" altLang="zh-CN" sz="2800" dirty="0"/>
              <a:t>()</a:t>
            </a:r>
            <a:endParaRPr lang="en-US" altLang="zh-CN" sz="2800" dirty="0"/>
          </a:p>
          <a:p>
            <a:r>
              <a:rPr lang="en-US" altLang="zh-CN" sz="2800" dirty="0"/>
              <a:t>returns table(department_name varchar(20)</a:t>
            </a:r>
            <a:r>
              <a:rPr lang="en-US" altLang="zh-CN" sz="2800" dirty="0" err="1"/>
              <a:t>,age</a:t>
            </a:r>
            <a:r>
              <a:rPr lang="en-US" altLang="zh-CN" sz="2800" dirty="0"/>
              <a:t> numeric)</a:t>
            </a:r>
            <a:endParaRPr lang="en-US" altLang="zh-CN" sz="2800" dirty="0"/>
          </a:p>
          <a:p>
            <a:r>
              <a:rPr lang="en-US" altLang="zh-CN" sz="2800" dirty="0"/>
              <a:t>as</a:t>
            </a:r>
            <a:endParaRPr lang="en-US" altLang="zh-CN" sz="2800" dirty="0"/>
          </a:p>
          <a:p>
            <a:r>
              <a:rPr lang="en-US" altLang="zh-CN" sz="2800" dirty="0"/>
              <a:t>$$</a:t>
            </a:r>
            <a:endParaRPr lang="en-US" altLang="zh-CN" sz="2800" dirty="0"/>
          </a:p>
          <a:p>
            <a:r>
              <a:rPr lang="en-US" altLang="zh-CN" sz="2800" dirty="0"/>
              <a:t>begin</a:t>
            </a:r>
            <a:endParaRPr lang="en-US" altLang="zh-CN" sz="2800" dirty="0"/>
          </a:p>
          <a:p>
            <a:r>
              <a:rPr lang="en-US" altLang="zh-CN" sz="2800" dirty="0"/>
              <a:t>	return query (with </a:t>
            </a:r>
            <a:r>
              <a:rPr lang="en-US" altLang="zh-CN" sz="2800" dirty="0" err="1"/>
              <a:t>tt </a:t>
            </a:r>
            <a:r>
              <a:rPr lang="en-US" altLang="zh-CN" sz="2800" dirty="0"/>
              <a:t>as </a:t>
            </a:r>
            <a:r>
              <a:rPr lang="en-US" altLang="zh-CN" sz="2800" dirty="0">
                <a:solidFill>
                  <a:schemeClr val="accent1"/>
                </a:solidFill>
              </a:rPr>
              <a:t>(select </a:t>
            </a:r>
            <a:r>
              <a:rPr lang="en-US" altLang="zh-CN" sz="2800" dirty="0" err="1">
                <a:solidFill>
                  <a:schemeClr val="accent1"/>
                </a:solidFill>
              </a:rPr>
              <a:t>dname::varchar(20),avg</a:t>
            </a:r>
            <a:r>
              <a:rPr lang="en-US" altLang="zh-CN" sz="2800" dirty="0">
                <a:solidFill>
                  <a:schemeClr val="accent1"/>
                </a:solidFill>
              </a:rPr>
              <a:t>(</a:t>
            </a:r>
            <a:r>
              <a:rPr lang="en-US" altLang="zh-CN" sz="2800" dirty="0" err="1">
                <a:solidFill>
                  <a:schemeClr val="accent1"/>
                </a:solidFill>
              </a:rPr>
              <a:t>eeage</a:t>
            </a:r>
            <a:r>
              <a:rPr lang="en-US" altLang="zh-CN" sz="2800" dirty="0">
                <a:solidFill>
                  <a:schemeClr val="accent1"/>
                </a:solidFill>
              </a:rPr>
              <a:t>) as avg_age from </a:t>
            </a:r>
            <a:r>
              <a:rPr lang="en-US" altLang="zh-CN" sz="2800" dirty="0" err="1">
                <a:solidFill>
                  <a:schemeClr val="accent1"/>
                </a:solidFill>
              </a:rPr>
              <a:t>examinee</a:t>
            </a:r>
            <a:r>
              <a:rPr lang="en-US" altLang="zh-CN" sz="2800" dirty="0">
                <a:solidFill>
                  <a:schemeClr val="accent1"/>
                </a:solidFill>
              </a:rPr>
              <a:t> group by </a:t>
            </a:r>
            <a:r>
              <a:rPr lang="en-US" altLang="zh-CN" sz="2800" dirty="0" err="1">
                <a:solidFill>
                  <a:schemeClr val="accent1"/>
                </a:solidFill>
              </a:rPr>
              <a:t>dname</a:t>
            </a:r>
            <a:r>
              <a:rPr lang="en-US" altLang="zh-CN" sz="2800" dirty="0">
                <a:solidFill>
                  <a:schemeClr val="accent1"/>
                </a:solidFill>
              </a:rPr>
              <a:t>)  </a:t>
            </a:r>
            <a:r>
              <a:rPr lang="en-US" altLang="zh-CN" sz="2800" dirty="0"/>
              <a:t>	select * from </a:t>
            </a:r>
            <a:r>
              <a:rPr lang="en-US" altLang="zh-CN" sz="2800" dirty="0" err="1"/>
              <a:t>tt</a:t>
            </a:r>
            <a:r>
              <a:rPr lang="en-US" altLang="zh-CN" sz="2800" dirty="0"/>
              <a:t> where </a:t>
            </a:r>
            <a:r>
              <a:rPr lang="en-US" altLang="zh-CN" sz="2800" dirty="0" err="1"/>
              <a:t>avg_age</a:t>
            </a:r>
            <a:r>
              <a:rPr lang="en-US" altLang="zh-CN" sz="2800" dirty="0"/>
              <a:t>=(select max(</a:t>
            </a:r>
            <a:r>
              <a:rPr lang="en-US" altLang="zh-CN" sz="2800" dirty="0" err="1"/>
              <a:t>avg_age</a:t>
            </a:r>
            <a:r>
              <a:rPr lang="en-US" altLang="zh-CN" sz="2800" dirty="0"/>
              <a:t>) from </a:t>
            </a:r>
            <a:r>
              <a:rPr lang="en-US" altLang="zh-CN" sz="2800" dirty="0" err="1"/>
              <a:t>tt</a:t>
            </a:r>
            <a:r>
              <a:rPr lang="en-US" altLang="zh-CN" sz="2800" dirty="0"/>
              <a:t>)); </a:t>
            </a:r>
            <a:endParaRPr lang="en-US" altLang="zh-CN" sz="2800" dirty="0"/>
          </a:p>
          <a:p>
            <a:r>
              <a:rPr lang="en-US" altLang="zh-CN" sz="2800" dirty="0"/>
              <a:t>end;</a:t>
            </a:r>
            <a:endParaRPr lang="en-US" altLang="zh-CN" sz="2800" dirty="0"/>
          </a:p>
          <a:p>
            <a:r>
              <a:rPr lang="en-US" altLang="zh-CN" sz="2800" dirty="0"/>
              <a:t>$$</a:t>
            </a:r>
            <a:endParaRPr lang="en-US" altLang="zh-CN" sz="2800" dirty="0"/>
          </a:p>
          <a:p>
            <a:r>
              <a:rPr lang="en-US" altLang="zh-CN" sz="2800" dirty="0"/>
              <a:t>language </a:t>
            </a:r>
            <a:r>
              <a:rPr lang="en-US" altLang="zh-CN" sz="2800" dirty="0" err="1"/>
              <a:t>plpgsql</a:t>
            </a:r>
            <a:r>
              <a:rPr lang="en-US" altLang="zh-CN" sz="2800" dirty="0"/>
              <a:t>;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综合例子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思考：如果不使用嵌套呢？</a:t>
            </a:r>
            <a:endParaRPr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2829</Words>
  <Application>WPS 文字</Application>
  <PresentationFormat>全屏显示(4:3)</PresentationFormat>
  <Paragraphs>227</Paragraphs>
  <Slides>18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宋体</vt:lpstr>
      <vt:lpstr>Wingdings</vt:lpstr>
      <vt:lpstr>Wingdings 2</vt:lpstr>
      <vt:lpstr>Verdana</vt:lpstr>
      <vt:lpstr>Bahnschrift Light</vt:lpstr>
      <vt:lpstr>苹方-简</vt:lpstr>
      <vt:lpstr>Gill Sans MT</vt:lpstr>
      <vt:lpstr>华文中宋</vt:lpstr>
      <vt:lpstr>汉仪书宋二KW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Wingdings</vt:lpstr>
      <vt:lpstr>Wingdings 2</vt:lpstr>
      <vt:lpstr>夏至</vt:lpstr>
      <vt:lpstr>实验 PL/pgSQL函数</vt:lpstr>
      <vt:lpstr>主要内容</vt:lpstr>
      <vt:lpstr>与基础sql的区别</vt:lpstr>
      <vt:lpstr>为什么在服务器中进行程序设计</vt:lpstr>
      <vt:lpstr>为什么在服务器中进行程序设计</vt:lpstr>
      <vt:lpstr>程序的基本结构</vt:lpstr>
      <vt:lpstr>基本语法</vt:lpstr>
      <vt:lpstr>例子1  加法函数</vt:lpstr>
      <vt:lpstr>例子1  加法函数</vt:lpstr>
      <vt:lpstr>例子2  加法函数2</vt:lpstr>
      <vt:lpstr>例子2  加法函数2</vt:lpstr>
      <vt:lpstr>例子2  加法函数2</vt:lpstr>
      <vt:lpstr>例子2  加法函数2</vt:lpstr>
      <vt:lpstr>例子3 互换考生A和考生B的院系</vt:lpstr>
      <vt:lpstr>PowerPoint 演示文稿</vt:lpstr>
      <vt:lpstr>综合例子</vt:lpstr>
      <vt:lpstr>综合例子</vt:lpstr>
      <vt:lpstr>综合例子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数据表的基本操作</dc:title>
  <dc:creator>yaoyingting</dc:creator>
  <cp:lastModifiedBy>卡特</cp:lastModifiedBy>
  <cp:revision>313</cp:revision>
  <dcterms:created xsi:type="dcterms:W3CDTF">2025-04-04T04:08:28Z</dcterms:created>
  <dcterms:modified xsi:type="dcterms:W3CDTF">2025-04-04T04:08:28Z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06F5EAF777E73F16BB36E667D50B8619_43</vt:lpwstr>
  </property>
  <property fmtid="{D5CDD505-2E9C-101B-9397-08002B2CF9AE}" pid="3" name="KSOProductBuildVer">
    <vt:lpwstr>2052-6.13.1.8913</vt:lpwstr>
  </property>
</Properties>
</file>