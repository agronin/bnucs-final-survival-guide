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61" r:id="rId3"/>
    <p:sldId id="353" r:id="rId4"/>
    <p:sldId id="354" r:id="rId5"/>
    <p:sldId id="355" r:id="rId6"/>
    <p:sldId id="378" r:id="rId7"/>
    <p:sldId id="356" r:id="rId8"/>
    <p:sldId id="358" r:id="rId9"/>
    <p:sldId id="357" r:id="rId10"/>
    <p:sldId id="360" r:id="rId11"/>
    <p:sldId id="359" r:id="rId12"/>
    <p:sldId id="361" r:id="rId13"/>
    <p:sldId id="362" r:id="rId14"/>
    <p:sldId id="363" r:id="rId15"/>
    <p:sldId id="364" r:id="rId16"/>
    <p:sldId id="365" r:id="rId17"/>
    <p:sldId id="375" r:id="rId18"/>
    <p:sldId id="366" r:id="rId19"/>
    <p:sldId id="367" r:id="rId20"/>
    <p:sldId id="369" r:id="rId21"/>
    <p:sldId id="368" r:id="rId22"/>
    <p:sldId id="371" r:id="rId23"/>
    <p:sldId id="373" r:id="rId24"/>
    <p:sldId id="370" r:id="rId25"/>
    <p:sldId id="372" r:id="rId2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69" autoAdjust="0"/>
    <p:restoredTop sz="89325" autoAdjust="0"/>
  </p:normalViewPr>
  <p:slideViewPr>
    <p:cSldViewPr showGuides="1">
      <p:cViewPr varScale="1">
        <p:scale>
          <a:sx n="83" d="100"/>
          <a:sy n="83" d="100"/>
        </p:scale>
        <p:origin x="84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EE6A9-A337-4424-B158-CEE40DDC4F13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F95C1-1C97-4AEE-8AFD-9E57812A37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若唯一约束也涉及多个属性，也可以使用元组级约束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F95C1-1C97-4AEE-8AFD-9E57812A3711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F95C1-1C97-4AEE-8AFD-9E57812A3711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F95C1-1C97-4AEE-8AFD-9E57812A3711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Before</a:t>
            </a:r>
            <a:r>
              <a:rPr lang="zh-CN" altLang="en-US" dirty="0"/>
              <a:t>类型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F95C1-1C97-4AEE-8AFD-9E57812A3711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触发器函数和普通函数的调用方式是完全不一样的，普通函数由用户调用，触发器函数是系统自动调用，由事件触发的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F95C1-1C97-4AEE-8AFD-9E57812A3711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返回的</a:t>
            </a:r>
            <a:r>
              <a:rPr lang="en-US" altLang="zh-CN" dirty="0"/>
              <a:t>new</a:t>
            </a:r>
            <a:r>
              <a:rPr lang="zh-CN" altLang="en-US" dirty="0"/>
              <a:t>是对</a:t>
            </a:r>
            <a:r>
              <a:rPr lang="en-US" altLang="zh-CN" dirty="0"/>
              <a:t>examinee</a:t>
            </a:r>
            <a:r>
              <a:rPr lang="zh-CN" altLang="en-US" dirty="0"/>
              <a:t>操作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F95C1-1C97-4AEE-8AFD-9E57812A3711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insert into examinee values('1002',‘aa'), ('1003',‘bb');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F95C1-1C97-4AEE-8AFD-9E57812A3711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2" name="副标题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305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210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 eaLnBrk="1" latinLnBrk="0" hangingPunct="1"/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9" name="流程图: 过程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流程图: 过程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饼形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同心圆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4" name="日期占位符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fld id="{0169BD0F-E4EE-49F4-9D55-D10E263893F4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83210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 panose="05020102010507070707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490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 panose="020B0604030504040204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7095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 panose="05020102010507070707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990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15616" y="1628800"/>
            <a:ext cx="7920880" cy="1472184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dirty="0"/>
              <a:t>实验 完整性约束和触发器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79922" y="4149080"/>
            <a:ext cx="7407275" cy="1752600"/>
          </a:xfrm>
        </p:spPr>
        <p:txBody>
          <a:bodyPr>
            <a:normAutofit/>
          </a:bodyPr>
          <a:lstStyle/>
          <a:p>
            <a:pPr algn="r" eaLnBrk="1" fontAlgn="auto" hangingPunct="1">
              <a:spcAft>
                <a:spcPts val="0"/>
              </a:spcAft>
              <a:buFont typeface="Wingdings 2" panose="05020102010507070707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李梦佳</a:t>
            </a:r>
          </a:p>
          <a:p>
            <a:pPr algn="r" eaLnBrk="1" fontAlgn="auto" hangingPunct="1">
              <a:spcAft>
                <a:spcPts val="0"/>
              </a:spcAft>
              <a:buFont typeface="Wingdings 2" panose="05020102010507070707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韩浩岚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 eaLnBrk="1" fontAlgn="auto" hangingPunct="1">
              <a:spcAft>
                <a:spcPts val="0"/>
              </a:spcAft>
              <a:buFont typeface="Wingdings 2" panose="05020102010507070707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</a:rPr>
              <a:t>2025-04-2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</a:rPr>
              <a:t>1</a:t>
            </a:r>
            <a:endParaRPr lang="zh-CN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782762"/>
            <a:ext cx="7499350" cy="4800600"/>
          </a:xfrm>
        </p:spPr>
        <p:txBody>
          <a:bodyPr>
            <a:normAutofit/>
          </a:bodyPr>
          <a:lstStyle/>
          <a:p>
            <a:pPr marL="82550" indent="0">
              <a:buNone/>
              <a:defRPr/>
            </a:pPr>
            <a:r>
              <a:rPr lang="en-US" altLang="zh-CN" sz="2800" dirty="0"/>
              <a:t>1. </a:t>
            </a:r>
            <a:r>
              <a:rPr lang="zh-CN" altLang="en-US" sz="2800" dirty="0"/>
              <a:t>完整性约束</a:t>
            </a:r>
            <a:endParaRPr lang="en-US" altLang="zh-CN" sz="2800" dirty="0"/>
          </a:p>
          <a:p>
            <a:pPr marL="82550" indent="0" eaLnBrk="1" hangingPunct="1">
              <a:buClrTx/>
              <a:buNone/>
              <a:defRPr/>
            </a:pPr>
            <a:endParaRPr lang="en-US" altLang="zh-CN" dirty="0"/>
          </a:p>
          <a:p>
            <a:pPr marL="82550" indent="0">
              <a:buNone/>
              <a:defRPr/>
            </a:pPr>
            <a:r>
              <a:rPr lang="en-US" altLang="zh-CN" sz="2800" dirty="0"/>
              <a:t>2. </a:t>
            </a:r>
            <a:r>
              <a:rPr lang="zh-CN" altLang="en-US" sz="2800" dirty="0"/>
              <a:t>触发器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完整性约束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1435608" y="1417638"/>
            <a:ext cx="7543801" cy="4599455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630" indent="-21463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主键约束（主键值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不能重复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，且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不能为空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）</a:t>
            </a:r>
            <a:endParaRPr lang="en-US" altLang="zh-CN" sz="2400" dirty="0">
              <a:latin typeface="Adobe 仿宋 Std R" pitchFamily="18" charset="-122"/>
              <a:ea typeface="Adobe 仿宋 Std R" pitchFamily="18" charset="-122"/>
            </a:endParaRPr>
          </a:p>
          <a:p>
            <a:pPr marL="214630" indent="-21463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外键约束</a:t>
            </a:r>
            <a:endParaRPr lang="en-US" altLang="zh-CN" sz="2400" dirty="0">
              <a:latin typeface="Adobe 仿宋 Std R" pitchFamily="18" charset="-122"/>
              <a:ea typeface="Adobe 仿宋 Std R" pitchFamily="18" charset="-122"/>
            </a:endParaRPr>
          </a:p>
          <a:p>
            <a:pPr marL="635635" lvl="1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Adobe 仿宋 Std R" pitchFamily="18" charset="-122"/>
                <a:ea typeface="Adobe 仿宋 Std R" pitchFamily="18" charset="-122"/>
              </a:rPr>
              <a:t>拒绝执行，级联执行，设置为空值，设置为默认值</a:t>
            </a:r>
            <a:endParaRPr lang="en-US" altLang="zh-CN" sz="2000" dirty="0">
              <a:latin typeface="Adobe 仿宋 Std R" pitchFamily="18" charset="-122"/>
              <a:ea typeface="Adobe 仿宋 Std R" pitchFamily="18" charset="-122"/>
            </a:endParaRPr>
          </a:p>
          <a:p>
            <a:pPr marL="214630" indent="-21463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值非空（元组对应列值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不能为空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）</a:t>
            </a:r>
            <a:endParaRPr lang="en-US" altLang="zh-CN" sz="2400" dirty="0">
              <a:latin typeface="Adobe 仿宋 Std R" pitchFamily="18" charset="-122"/>
              <a:ea typeface="Adobe 仿宋 Std R" pitchFamily="18" charset="-122"/>
            </a:endParaRPr>
          </a:p>
          <a:p>
            <a:pPr marL="214630" indent="-21463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值唯一（属性值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唯一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，但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可以为空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）</a:t>
            </a:r>
            <a:endParaRPr lang="en-US" altLang="zh-CN" sz="2400" dirty="0">
              <a:latin typeface="Adobe 仿宋 Std R" pitchFamily="18" charset="-122"/>
              <a:ea typeface="Adobe 仿宋 Std R" pitchFamily="18" charset="-122"/>
            </a:endParaRPr>
          </a:p>
          <a:p>
            <a:pPr marL="214630" indent="-214630"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CHECK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约束</a:t>
            </a:r>
            <a:endParaRPr lang="en-US" altLang="zh-CN" sz="2400" dirty="0">
              <a:latin typeface="Adobe 仿宋 Std R" pitchFamily="18" charset="-122"/>
              <a:ea typeface="Adobe 仿宋 Std R" pitchFamily="18" charset="-122"/>
            </a:endParaRPr>
          </a:p>
          <a:p>
            <a:pPr marL="635635" lvl="1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Adobe 仿宋 Std R" pitchFamily="18" charset="-122"/>
              </a:rPr>
              <a:t>CHECK</a:t>
            </a:r>
            <a:r>
              <a:rPr lang="zh-CN" altLang="en-US" sz="2000" dirty="0">
                <a:ea typeface="Adobe 仿宋 Std R" pitchFamily="18" charset="-122"/>
              </a:rPr>
              <a:t>（</a:t>
            </a:r>
            <a:r>
              <a:rPr lang="en-US" altLang="zh-CN" sz="2000" dirty="0">
                <a:ea typeface="Adobe 仿宋 Std R" pitchFamily="18" charset="-122"/>
              </a:rPr>
              <a:t>P</a:t>
            </a:r>
            <a:r>
              <a:rPr lang="zh-CN" altLang="en-US" sz="2000" dirty="0">
                <a:ea typeface="Adobe 仿宋 Std R" pitchFamily="18" charset="-122"/>
              </a:rPr>
              <a:t>）</a:t>
            </a:r>
            <a:endParaRPr lang="en-US" altLang="zh-CN" sz="2000" dirty="0">
              <a:ea typeface="Adobe 仿宋 Std R" pitchFamily="18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约束声明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415725" y="1419800"/>
            <a:ext cx="7543801" cy="4599455"/>
          </a:xfrm>
        </p:spPr>
        <p:txBody>
          <a:bodyPr>
            <a:normAutofit/>
          </a:bodyPr>
          <a:lstStyle/>
          <a:p>
            <a:pPr marL="214630" indent="-21463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属性级约束（涉及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单个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属性）</a:t>
            </a:r>
            <a:endParaRPr lang="en-US" altLang="zh-CN" sz="2400" dirty="0">
              <a:latin typeface="Adobe 仿宋 Std R" pitchFamily="18" charset="-122"/>
              <a:ea typeface="Adobe 仿宋 Std R" pitchFamily="18" charset="-122"/>
            </a:endParaRPr>
          </a:p>
          <a:p>
            <a:pPr marL="214630" indent="-21463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元组级约束（涉及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单个或多个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属性）</a:t>
            </a:r>
            <a:endParaRPr lang="en-US" altLang="zh-CN" sz="2400" dirty="0">
              <a:latin typeface="Adobe 仿宋 Std R" pitchFamily="18" charset="-122"/>
              <a:ea typeface="Adobe 仿宋 Std R" pitchFamily="18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4074803"/>
            <a:ext cx="6192688" cy="237004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315303"/>
            <a:ext cx="7189300" cy="236786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主键、非空、唯一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80486" y="1633033"/>
            <a:ext cx="4944422" cy="2878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79712" y="5763088"/>
            <a:ext cx="5728680" cy="3302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" name="矩形标注 8"/>
          <p:cNvSpPr/>
          <p:nvPr/>
        </p:nvSpPr>
        <p:spPr>
          <a:xfrm>
            <a:off x="7201087" y="763722"/>
            <a:ext cx="1430245" cy="443884"/>
          </a:xfrm>
          <a:prstGeom prst="wedgeRectCallout">
            <a:avLst>
              <a:gd name="adj1" fmla="val -42572"/>
              <a:gd name="adj2" fmla="val 1179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属性级约束</a:t>
            </a:r>
          </a:p>
        </p:txBody>
      </p:sp>
      <p:sp>
        <p:nvSpPr>
          <p:cNvPr id="10" name="矩形标注 9"/>
          <p:cNvSpPr/>
          <p:nvPr/>
        </p:nvSpPr>
        <p:spPr>
          <a:xfrm>
            <a:off x="7380312" y="4843254"/>
            <a:ext cx="1430245" cy="443884"/>
          </a:xfrm>
          <a:prstGeom prst="wedgeRectCallout">
            <a:avLst>
              <a:gd name="adj1" fmla="val -41489"/>
              <a:gd name="adj2" fmla="val 1276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元组级约束</a:t>
            </a:r>
          </a:p>
        </p:txBody>
      </p:sp>
      <p:sp>
        <p:nvSpPr>
          <p:cNvPr id="11" name="云形标注 10"/>
          <p:cNvSpPr/>
          <p:nvPr/>
        </p:nvSpPr>
        <p:spPr>
          <a:xfrm>
            <a:off x="6182245" y="2362332"/>
            <a:ext cx="2760956" cy="1536228"/>
          </a:xfrm>
          <a:prstGeom prst="cloud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若涉及</a:t>
            </a:r>
            <a:r>
              <a:rPr lang="zh-CN" altLang="en-US" b="1" dirty="0">
                <a:solidFill>
                  <a:srgbClr val="FF0000"/>
                </a:solidFill>
              </a:rPr>
              <a:t>多个属性</a:t>
            </a:r>
            <a:r>
              <a:rPr lang="zh-CN" altLang="en-US" dirty="0">
                <a:solidFill>
                  <a:schemeClr val="tx1"/>
                </a:solidFill>
              </a:rPr>
              <a:t>，则只能使用元组级约束。</a:t>
            </a:r>
          </a:p>
        </p:txBody>
      </p:sp>
      <p:sp>
        <p:nvSpPr>
          <p:cNvPr id="14" name="矩形 13"/>
          <p:cNvSpPr/>
          <p:nvPr/>
        </p:nvSpPr>
        <p:spPr>
          <a:xfrm>
            <a:off x="4427984" y="4738175"/>
            <a:ext cx="2448272" cy="33020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数据应用场景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59879" y="1121919"/>
            <a:ext cx="7498080" cy="5705552"/>
          </a:xfrm>
        </p:spPr>
        <p:txBody>
          <a:bodyPr>
            <a:normAutofit fontScale="47500" lnSpcReduction="20000"/>
          </a:bodyPr>
          <a:lstStyle/>
          <a:p>
            <a:pPr marL="82550" indent="0">
              <a:buNone/>
            </a:pPr>
            <a:r>
              <a:rPr lang="en-US" altLang="zh-CN" sz="1600" dirty="0"/>
              <a:t>create table examinee(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eeid</a:t>
            </a:r>
            <a:r>
              <a:rPr lang="en-US" altLang="zh-CN" sz="1600" dirty="0"/>
              <a:t> char(9) constraint </a:t>
            </a:r>
            <a:r>
              <a:rPr lang="en-US" altLang="zh-CN" sz="1600" dirty="0" err="1"/>
              <a:t>examinee_pk</a:t>
            </a:r>
            <a:r>
              <a:rPr lang="en-US" altLang="zh-CN" sz="1600" dirty="0"/>
              <a:t> primary key,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eename</a:t>
            </a:r>
            <a:r>
              <a:rPr lang="en-US" altLang="zh-CN" sz="1600" dirty="0"/>
              <a:t> char(20) not null,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eesex</a:t>
            </a:r>
            <a:r>
              <a:rPr lang="en-US" altLang="zh-CN" sz="1600" dirty="0"/>
              <a:t> char(4),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eeage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smallint</a:t>
            </a:r>
            <a:r>
              <a:rPr lang="en-US" altLang="zh-CN" sz="1600" dirty="0"/>
              <a:t>,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eedepa</a:t>
            </a:r>
            <a:r>
              <a:rPr lang="en-US" altLang="zh-CN" sz="1600" dirty="0"/>
              <a:t> char(20)</a:t>
            </a:r>
          </a:p>
          <a:p>
            <a:pPr marL="82550" indent="0">
              <a:buNone/>
            </a:pPr>
            <a:r>
              <a:rPr lang="en-US" altLang="zh-CN" sz="1600" dirty="0"/>
              <a:t>);</a:t>
            </a:r>
          </a:p>
          <a:p>
            <a:pPr marL="82550" indent="0">
              <a:buNone/>
            </a:pPr>
            <a:r>
              <a:rPr lang="en-US" altLang="zh-CN" sz="1600" dirty="0"/>
              <a:t>create table </a:t>
            </a:r>
            <a:r>
              <a:rPr lang="en-US" altLang="zh-CN" sz="1600" dirty="0" err="1"/>
              <a:t>exampaper</a:t>
            </a:r>
            <a:r>
              <a:rPr lang="en-US" altLang="zh-CN" sz="1600" dirty="0"/>
              <a:t>(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eid</a:t>
            </a:r>
            <a:r>
              <a:rPr lang="en-US" altLang="zh-CN" sz="1600" dirty="0"/>
              <a:t> char(4),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ename</a:t>
            </a:r>
            <a:r>
              <a:rPr lang="en-US" altLang="zh-CN" sz="1600" dirty="0"/>
              <a:t> char(20) not null unique,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etype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smallint</a:t>
            </a:r>
            <a:r>
              <a:rPr lang="en-US" altLang="zh-CN" sz="1600" dirty="0"/>
              <a:t>,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eduration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,</a:t>
            </a:r>
          </a:p>
          <a:p>
            <a:pPr marL="82550" indent="0">
              <a:buNone/>
            </a:pPr>
            <a:r>
              <a:rPr lang="en-US" altLang="zh-CN" sz="1600" dirty="0"/>
              <a:t>	constraint </a:t>
            </a:r>
            <a:r>
              <a:rPr lang="en-US" altLang="zh-CN" sz="1600" dirty="0" err="1"/>
              <a:t>exampaper_pk</a:t>
            </a:r>
            <a:r>
              <a:rPr lang="en-US" altLang="zh-CN" sz="1600" dirty="0"/>
              <a:t> primary key(</a:t>
            </a:r>
            <a:r>
              <a:rPr lang="en-US" altLang="zh-CN" sz="1600" dirty="0" err="1"/>
              <a:t>eid</a:t>
            </a:r>
            <a:r>
              <a:rPr lang="en-US" altLang="zh-CN" sz="1600" dirty="0"/>
              <a:t>)</a:t>
            </a:r>
          </a:p>
          <a:p>
            <a:pPr marL="82550" indent="0">
              <a:buNone/>
            </a:pPr>
            <a:r>
              <a:rPr lang="en-US" altLang="zh-CN" sz="1600" dirty="0"/>
              <a:t>);</a:t>
            </a:r>
          </a:p>
          <a:p>
            <a:pPr marL="82550" indent="0">
              <a:buNone/>
            </a:pPr>
            <a:r>
              <a:rPr lang="en-US" altLang="zh-CN" sz="1600" dirty="0"/>
              <a:t>create table </a:t>
            </a:r>
            <a:r>
              <a:rPr lang="en-US" altLang="zh-CN" sz="1600" dirty="0" err="1"/>
              <a:t>eeexam</a:t>
            </a:r>
            <a:r>
              <a:rPr lang="en-US" altLang="zh-CN" sz="1600" dirty="0"/>
              <a:t>(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eeid</a:t>
            </a:r>
            <a:r>
              <a:rPr lang="en-US" altLang="zh-CN" sz="1600" dirty="0"/>
              <a:t> char(9) not null,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eid</a:t>
            </a:r>
            <a:r>
              <a:rPr lang="en-US" altLang="zh-CN" sz="1600" dirty="0"/>
              <a:t> char(4) not null,</a:t>
            </a:r>
          </a:p>
          <a:p>
            <a:pPr marL="82550" indent="0">
              <a:buNone/>
            </a:pPr>
            <a:r>
              <a:rPr lang="en-US" altLang="zh-CN" sz="1600" dirty="0"/>
              <a:t>	achieve </a:t>
            </a:r>
            <a:r>
              <a:rPr lang="en-US" altLang="zh-CN" sz="1600" dirty="0" err="1"/>
              <a:t>smallint</a:t>
            </a:r>
            <a:r>
              <a:rPr lang="en-US" altLang="zh-CN" sz="1600" dirty="0"/>
              <a:t>,</a:t>
            </a:r>
          </a:p>
          <a:p>
            <a:pPr marL="82550" indent="0">
              <a:buNone/>
            </a:pPr>
            <a:r>
              <a:rPr lang="en-US" altLang="zh-CN" sz="1600" dirty="0"/>
              <a:t>	primary key(</a:t>
            </a:r>
            <a:r>
              <a:rPr lang="en-US" altLang="zh-CN" sz="1600" dirty="0" err="1"/>
              <a:t>eeid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eid</a:t>
            </a:r>
            <a:r>
              <a:rPr lang="en-US" altLang="zh-CN" sz="1600" dirty="0"/>
              <a:t>),</a:t>
            </a:r>
          </a:p>
          <a:p>
            <a:pPr marL="82550" indent="0">
              <a:buNone/>
            </a:pPr>
            <a:r>
              <a:rPr lang="en-US" altLang="zh-CN" sz="1600" dirty="0"/>
              <a:t>	constraint </a:t>
            </a:r>
            <a:r>
              <a:rPr lang="en-US" altLang="zh-CN" sz="1600" dirty="0" err="1"/>
              <a:t>fk_examinee</a:t>
            </a:r>
            <a:r>
              <a:rPr lang="en-US" altLang="zh-CN" sz="1600" dirty="0"/>
              <a:t> foreign key(</a:t>
            </a:r>
            <a:r>
              <a:rPr lang="en-US" altLang="zh-CN" sz="1600" dirty="0" err="1"/>
              <a:t>eeid</a:t>
            </a:r>
            <a:r>
              <a:rPr lang="en-US" altLang="zh-CN" sz="1600" dirty="0"/>
              <a:t>) 	references examinee(</a:t>
            </a:r>
            <a:r>
              <a:rPr lang="en-US" altLang="zh-CN" sz="1600" dirty="0" err="1"/>
              <a:t>eeid</a:t>
            </a:r>
            <a:r>
              <a:rPr lang="en-US" altLang="zh-CN" sz="1600" dirty="0"/>
              <a:t>),</a:t>
            </a:r>
          </a:p>
          <a:p>
            <a:pPr marL="82550" indent="0">
              <a:buNone/>
            </a:pPr>
            <a:r>
              <a:rPr lang="en-US" altLang="zh-CN" sz="1600" dirty="0"/>
              <a:t>	constraint </a:t>
            </a:r>
            <a:r>
              <a:rPr lang="en-US" altLang="zh-CN" sz="1600" dirty="0" err="1"/>
              <a:t>fk_exampaper</a:t>
            </a:r>
            <a:r>
              <a:rPr lang="en-US" altLang="zh-CN" sz="1600" dirty="0"/>
              <a:t> foreign key(</a:t>
            </a:r>
            <a:r>
              <a:rPr lang="en-US" altLang="zh-CN" sz="1600" dirty="0" err="1"/>
              <a:t>eid</a:t>
            </a:r>
            <a:r>
              <a:rPr lang="en-US" altLang="zh-CN" sz="1600" dirty="0"/>
              <a:t>) 	references </a:t>
            </a:r>
            <a:r>
              <a:rPr lang="en-US" altLang="zh-CN" sz="1600" dirty="0" err="1"/>
              <a:t>exampaper</a:t>
            </a:r>
            <a:r>
              <a:rPr lang="en-US" altLang="zh-CN" sz="1600" dirty="0"/>
              <a:t>(</a:t>
            </a:r>
            <a:r>
              <a:rPr lang="en-US" altLang="zh-CN" sz="1600" dirty="0" err="1"/>
              <a:t>eid</a:t>
            </a:r>
            <a:r>
              <a:rPr lang="en-US" altLang="zh-CN" sz="1600" dirty="0"/>
              <a:t>)</a:t>
            </a:r>
          </a:p>
          <a:p>
            <a:pPr marL="82550" indent="0">
              <a:buNone/>
            </a:pPr>
            <a:r>
              <a:rPr lang="en-US" altLang="zh-CN" sz="1600" dirty="0"/>
              <a:t>);</a:t>
            </a:r>
          </a:p>
          <a:p>
            <a:pPr marL="82550" indent="0">
              <a:buFont typeface="Wingdings 2" panose="05020102010507070707" pitchFamily="18" charset="2"/>
              <a:buNone/>
              <a:defRPr/>
            </a:pPr>
            <a:r>
              <a:rPr lang="en-US" altLang="zh-CN" sz="1600" dirty="0"/>
              <a:t>create table </a:t>
            </a:r>
            <a:r>
              <a:rPr lang="en-US" altLang="zh-CN" sz="1600" dirty="0" err="1"/>
              <a:t>examinee_address</a:t>
            </a:r>
            <a:r>
              <a:rPr lang="en-US" altLang="zh-CN" sz="1600" dirty="0"/>
              <a:t>(</a:t>
            </a:r>
          </a:p>
          <a:p>
            <a:pPr marL="82550" indent="0">
              <a:buFont typeface="Wingdings 2" panose="05020102010507070707" pitchFamily="18" charset="2"/>
              <a:buNone/>
              <a:defRPr/>
            </a:pPr>
            <a:r>
              <a:rPr lang="en-US" altLang="zh-CN" sz="1600" dirty="0"/>
              <a:t>	</a:t>
            </a:r>
            <a:r>
              <a:rPr lang="en-US" altLang="zh-CN" sz="1600" dirty="0" err="1"/>
              <a:t>eeid</a:t>
            </a:r>
            <a:r>
              <a:rPr lang="en-US" altLang="zh-CN" sz="1600" dirty="0"/>
              <a:t> char(9) primary key,</a:t>
            </a:r>
          </a:p>
          <a:p>
            <a:pPr marL="82550" indent="0">
              <a:buFont typeface="Wingdings 2" panose="05020102010507070707" pitchFamily="18" charset="2"/>
              <a:buNone/>
              <a:defRPr/>
            </a:pPr>
            <a:r>
              <a:rPr lang="en-US" altLang="zh-CN" sz="1600" dirty="0"/>
              <a:t>	address char(20),</a:t>
            </a:r>
          </a:p>
          <a:p>
            <a:pPr marL="82550" indent="0">
              <a:spcBef>
                <a:spcPct val="3000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zh-CN" sz="1600" dirty="0"/>
              <a:t>	constraint </a:t>
            </a:r>
            <a:r>
              <a:rPr lang="en-US" altLang="zh-CN" sz="1600" dirty="0" err="1"/>
              <a:t>fk</a:t>
            </a:r>
            <a:r>
              <a:rPr lang="en-US" altLang="zh-CN" sz="1600" dirty="0"/>
              <a:t> foreign key(</a:t>
            </a:r>
            <a:r>
              <a:rPr lang="en-US" altLang="zh-CN" sz="1600" dirty="0" err="1"/>
              <a:t>eeid</a:t>
            </a:r>
            <a:r>
              <a:rPr lang="en-US" altLang="zh-CN" sz="1600" dirty="0"/>
              <a:t>) 	references examinee(</a:t>
            </a:r>
            <a:r>
              <a:rPr lang="en-US" altLang="zh-CN" sz="1600" dirty="0" err="1"/>
              <a:t>eeid</a:t>
            </a:r>
            <a:r>
              <a:rPr lang="en-US" altLang="zh-CN" sz="1600" dirty="0"/>
              <a:t>)</a:t>
            </a:r>
          </a:p>
          <a:p>
            <a:pPr marL="82550" indent="0">
              <a:buFont typeface="Wingdings 2" panose="05020102010507070707" pitchFamily="18" charset="2"/>
              <a:buNone/>
              <a:defRPr/>
            </a:pPr>
            <a:r>
              <a:rPr lang="en-US" altLang="zh-CN" sz="1600" dirty="0"/>
              <a:t>);</a:t>
            </a:r>
          </a:p>
          <a:p>
            <a:pPr marL="82550" indent="0">
              <a:buNone/>
            </a:pPr>
            <a:endParaRPr lang="en-US" altLang="zh-CN" sz="1600" dirty="0"/>
          </a:p>
          <a:p>
            <a:pPr marL="82550" indent="0">
              <a:buNone/>
            </a:pPr>
            <a:r>
              <a:rPr lang="en-US" altLang="zh-CN" sz="1600" dirty="0"/>
              <a:t>insert into examinee values('1001','</a:t>
            </a:r>
            <a:r>
              <a:rPr lang="zh-CN" altLang="en-US" sz="1600" dirty="0"/>
              <a:t>杨紫紫</a:t>
            </a:r>
            <a:r>
              <a:rPr lang="en-US" altLang="zh-CN" sz="1600" dirty="0"/>
              <a:t>','</a:t>
            </a:r>
            <a:r>
              <a:rPr lang="zh-CN" altLang="en-US" sz="1600" dirty="0"/>
              <a:t>女</a:t>
            </a:r>
            <a:r>
              <a:rPr lang="en-US" altLang="zh-CN" sz="1600" dirty="0"/>
              <a:t>',20,'</a:t>
            </a:r>
            <a:r>
              <a:rPr lang="zh-CN" altLang="en-US" sz="1600" dirty="0"/>
              <a:t>计算机</a:t>
            </a:r>
            <a:r>
              <a:rPr lang="en-US" altLang="zh-CN" sz="1600" dirty="0"/>
              <a:t>');</a:t>
            </a:r>
          </a:p>
          <a:p>
            <a:pPr marL="82550" indent="0">
              <a:buNone/>
            </a:pPr>
            <a:r>
              <a:rPr lang="en-US" altLang="zh-CN" sz="1600" dirty="0"/>
              <a:t>insert into </a:t>
            </a:r>
            <a:r>
              <a:rPr lang="en-US" altLang="zh-CN" sz="1600" dirty="0" err="1"/>
              <a:t>exampaper</a:t>
            </a:r>
            <a:r>
              <a:rPr lang="en-US" altLang="zh-CN" sz="1600" dirty="0"/>
              <a:t> values('2001','java',2,120);</a:t>
            </a:r>
          </a:p>
          <a:p>
            <a:pPr marL="82550" indent="0">
              <a:buNone/>
            </a:pPr>
            <a:r>
              <a:rPr lang="en-US" altLang="zh-CN" sz="1600" dirty="0"/>
              <a:t>insert into </a:t>
            </a:r>
            <a:r>
              <a:rPr lang="en-US" altLang="zh-CN" sz="1600" dirty="0" err="1"/>
              <a:t>eeexam</a:t>
            </a:r>
            <a:r>
              <a:rPr lang="en-US" altLang="zh-CN" sz="1600" dirty="0"/>
              <a:t> values('1001','2001',20);</a:t>
            </a:r>
          </a:p>
          <a:p>
            <a:pPr marL="82550" indent="0">
              <a:buNone/>
            </a:pPr>
            <a:r>
              <a:rPr lang="en-US" altLang="zh-CN" sz="1600" dirty="0"/>
              <a:t>insert into </a:t>
            </a:r>
            <a:r>
              <a:rPr lang="en-US" altLang="zh-CN" sz="1600" dirty="0" err="1"/>
              <a:t>examinee_address</a:t>
            </a:r>
            <a:r>
              <a:rPr lang="en-US" altLang="zh-CN" sz="1600" dirty="0"/>
              <a:t> values('1001',‘beijing');</a:t>
            </a:r>
            <a:endParaRPr lang="zh-CN" altLang="zh-CN" sz="1600" dirty="0"/>
          </a:p>
          <a:p>
            <a:pPr marL="82550" indent="0">
              <a:buNone/>
            </a:pPr>
            <a:endParaRPr lang="zh-CN" altLang="zh-CN" sz="1600" dirty="0"/>
          </a:p>
        </p:txBody>
      </p:sp>
      <p:sp>
        <p:nvSpPr>
          <p:cNvPr id="18" name="矩形标注 8"/>
          <p:cNvSpPr/>
          <p:nvPr/>
        </p:nvSpPr>
        <p:spPr>
          <a:xfrm>
            <a:off x="5147945" y="5896610"/>
            <a:ext cx="1580515" cy="267335"/>
          </a:xfrm>
          <a:prstGeom prst="wedgeRectCallout">
            <a:avLst>
              <a:gd name="adj1" fmla="val -169940"/>
              <a:gd name="adj2" fmla="val 1098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主键约束</a:t>
            </a:r>
          </a:p>
        </p:txBody>
      </p:sp>
      <p:sp>
        <p:nvSpPr>
          <p:cNvPr id="5" name="矩形标注 8"/>
          <p:cNvSpPr/>
          <p:nvPr/>
        </p:nvSpPr>
        <p:spPr>
          <a:xfrm>
            <a:off x="5652135" y="5516880"/>
            <a:ext cx="1580515" cy="267335"/>
          </a:xfrm>
          <a:prstGeom prst="wedgeRectCallout">
            <a:avLst>
              <a:gd name="adj1" fmla="val -169940"/>
              <a:gd name="adj2" fmla="val 1098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非空约束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1" y="1786807"/>
            <a:ext cx="9144000" cy="172034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35" y="3829611"/>
            <a:ext cx="8867775" cy="23336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外键约束</a:t>
            </a:r>
          </a:p>
        </p:txBody>
      </p:sp>
      <p:sp>
        <p:nvSpPr>
          <p:cNvPr id="16" name="矩形 15"/>
          <p:cNvSpPr/>
          <p:nvPr/>
        </p:nvSpPr>
        <p:spPr>
          <a:xfrm>
            <a:off x="2994246" y="2109267"/>
            <a:ext cx="6120681" cy="5450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67544" y="5276506"/>
            <a:ext cx="8466144" cy="5760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矩形标注 8"/>
          <p:cNvSpPr/>
          <p:nvPr/>
        </p:nvSpPr>
        <p:spPr>
          <a:xfrm>
            <a:off x="6671612" y="1189231"/>
            <a:ext cx="1430245" cy="443884"/>
          </a:xfrm>
          <a:prstGeom prst="wedgeRectCallout">
            <a:avLst>
              <a:gd name="adj1" fmla="val -42572"/>
              <a:gd name="adj2" fmla="val 1179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属性级约束</a:t>
            </a:r>
          </a:p>
        </p:txBody>
      </p:sp>
      <p:sp>
        <p:nvSpPr>
          <p:cNvPr id="19" name="矩形标注 9"/>
          <p:cNvSpPr/>
          <p:nvPr/>
        </p:nvSpPr>
        <p:spPr>
          <a:xfrm>
            <a:off x="7236296" y="4331117"/>
            <a:ext cx="1430245" cy="443884"/>
          </a:xfrm>
          <a:prstGeom prst="wedgeRectCallout">
            <a:avLst>
              <a:gd name="adj1" fmla="val -41489"/>
              <a:gd name="adj2" fmla="val 1276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元组级约束</a:t>
            </a:r>
          </a:p>
        </p:txBody>
      </p:sp>
      <p:sp>
        <p:nvSpPr>
          <p:cNvPr id="20" name="矩形 19"/>
          <p:cNvSpPr/>
          <p:nvPr/>
        </p:nvSpPr>
        <p:spPr>
          <a:xfrm>
            <a:off x="459265" y="4988474"/>
            <a:ext cx="2960608" cy="2880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2" name="矩形标注 9"/>
          <p:cNvSpPr/>
          <p:nvPr/>
        </p:nvSpPr>
        <p:spPr>
          <a:xfrm>
            <a:off x="3779912" y="4069910"/>
            <a:ext cx="2113741" cy="443884"/>
          </a:xfrm>
          <a:prstGeom prst="wedgeRectCallout">
            <a:avLst>
              <a:gd name="adj1" fmla="val -62255"/>
              <a:gd name="adj2" fmla="val 1734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主键涉及多个属性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53" y="1628800"/>
            <a:ext cx="8772525" cy="29718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外键约束（显示说明违约处理策略）</a:t>
            </a:r>
          </a:p>
        </p:txBody>
      </p:sp>
      <p:sp>
        <p:nvSpPr>
          <p:cNvPr id="17" name="矩形 16"/>
          <p:cNvSpPr/>
          <p:nvPr/>
        </p:nvSpPr>
        <p:spPr>
          <a:xfrm>
            <a:off x="827584" y="3429000"/>
            <a:ext cx="4464496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7584" y="4014800"/>
            <a:ext cx="4464496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00876" y="1488338"/>
            <a:ext cx="3728771" cy="1324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/>
              <a:t>/*</a:t>
            </a:r>
            <a:r>
              <a:rPr lang="zh-CN" altLang="en-US" sz="1400" dirty="0"/>
              <a:t>当对 </a:t>
            </a:r>
            <a:r>
              <a:rPr lang="en-US" altLang="zh-CN" sz="1400" dirty="0"/>
              <a:t>examinee </a:t>
            </a:r>
            <a:r>
              <a:rPr lang="zh-CN" altLang="en-US" sz="1400" dirty="0"/>
              <a:t>表的删除操作违背外键约束时，</a:t>
            </a:r>
            <a:r>
              <a:rPr lang="zh-CN" altLang="en-US" sz="1400" b="1" dirty="0">
                <a:solidFill>
                  <a:schemeClr val="tx1"/>
                </a:solidFill>
              </a:rPr>
              <a:t>级联删除 </a:t>
            </a:r>
            <a:r>
              <a:rPr lang="en-US" altLang="zh-CN" sz="1400" dirty="0" err="1"/>
              <a:t>eeexam</a:t>
            </a:r>
            <a:r>
              <a:rPr lang="en-US" altLang="zh-CN" sz="1400" dirty="0"/>
              <a:t> </a:t>
            </a:r>
            <a:r>
              <a:rPr lang="zh-CN" altLang="en-US" sz="1400" dirty="0"/>
              <a:t>表中相应的元组行*</a:t>
            </a:r>
            <a:r>
              <a:rPr lang="en-US" altLang="zh-CN" sz="1400" dirty="0"/>
              <a:t>/</a:t>
            </a:r>
          </a:p>
          <a:p>
            <a:endParaRPr lang="en-US" altLang="zh-CN" sz="1400" dirty="0"/>
          </a:p>
          <a:p>
            <a:r>
              <a:rPr lang="en-US" altLang="zh-CN" sz="1400" dirty="0"/>
              <a:t>/*</a:t>
            </a:r>
            <a:r>
              <a:rPr lang="zh-CN" altLang="en-US" sz="1400" dirty="0"/>
              <a:t>当对 </a:t>
            </a:r>
            <a:r>
              <a:rPr lang="en-US" altLang="zh-CN" sz="1400" dirty="0"/>
              <a:t>examinee </a:t>
            </a:r>
            <a:r>
              <a:rPr lang="zh-CN" altLang="en-US" sz="1400" dirty="0"/>
              <a:t>表的更新操作违背外键约束时，</a:t>
            </a:r>
            <a:r>
              <a:rPr lang="zh-CN" altLang="en-US" sz="1400" b="1" dirty="0">
                <a:solidFill>
                  <a:schemeClr val="tx1"/>
                </a:solidFill>
              </a:rPr>
              <a:t>级联更新 </a:t>
            </a:r>
            <a:r>
              <a:rPr lang="en-US" altLang="zh-CN" sz="1400" dirty="0" err="1"/>
              <a:t>eeexam</a:t>
            </a:r>
            <a:r>
              <a:rPr lang="en-US" altLang="zh-CN" sz="1400" dirty="0"/>
              <a:t> </a:t>
            </a:r>
            <a:r>
              <a:rPr lang="zh-CN" altLang="en-US" sz="1400" dirty="0"/>
              <a:t>表中相应的元组行*</a:t>
            </a:r>
            <a:r>
              <a:rPr lang="en-US" altLang="zh-CN" sz="1400" dirty="0"/>
              <a:t>/</a:t>
            </a:r>
          </a:p>
        </p:txBody>
      </p:sp>
      <p:sp>
        <p:nvSpPr>
          <p:cNvPr id="14" name="矩形 13"/>
          <p:cNvSpPr/>
          <p:nvPr/>
        </p:nvSpPr>
        <p:spPr>
          <a:xfrm>
            <a:off x="5120328" y="4548433"/>
            <a:ext cx="3709319" cy="1324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/>
              <a:t>/*</a:t>
            </a:r>
            <a:r>
              <a:rPr lang="zh-CN" altLang="en-US" sz="1400" dirty="0"/>
              <a:t>当对 </a:t>
            </a:r>
            <a:r>
              <a:rPr lang="en-US" altLang="zh-CN" sz="1400" dirty="0" err="1"/>
              <a:t>exampaper</a:t>
            </a:r>
            <a:r>
              <a:rPr lang="en-US" altLang="zh-CN" sz="1400" dirty="0"/>
              <a:t> </a:t>
            </a:r>
            <a:r>
              <a:rPr lang="zh-CN" altLang="en-US" sz="1400" dirty="0"/>
              <a:t>表的删除操作违背外键约束时，</a:t>
            </a:r>
            <a:r>
              <a:rPr lang="zh-CN" altLang="en-US" sz="1400" b="1" dirty="0">
                <a:solidFill>
                  <a:schemeClr val="tx1"/>
                </a:solidFill>
              </a:rPr>
              <a:t>拒绝删除</a:t>
            </a:r>
            <a:r>
              <a:rPr lang="zh-CN" altLang="en-US" sz="1400" dirty="0"/>
              <a:t>*</a:t>
            </a:r>
            <a:r>
              <a:rPr lang="en-US" altLang="zh-CN" sz="1400" dirty="0"/>
              <a:t>/</a:t>
            </a:r>
          </a:p>
          <a:p>
            <a:endParaRPr lang="en-US" altLang="zh-CN" sz="1400" dirty="0"/>
          </a:p>
          <a:p>
            <a:r>
              <a:rPr lang="en-US" altLang="zh-CN" sz="1400" dirty="0"/>
              <a:t>/*</a:t>
            </a:r>
            <a:r>
              <a:rPr lang="zh-CN" altLang="en-US" sz="1400" dirty="0"/>
              <a:t>当对</a:t>
            </a:r>
            <a:r>
              <a:rPr lang="en-US" altLang="zh-CN" sz="1400" dirty="0" err="1"/>
              <a:t>exampaper</a:t>
            </a:r>
            <a:r>
              <a:rPr lang="en-US" altLang="zh-CN" sz="1400" dirty="0"/>
              <a:t> </a:t>
            </a:r>
            <a:r>
              <a:rPr lang="zh-CN" altLang="en-US" sz="1400" dirty="0"/>
              <a:t>表的更新操作违背外键约束时，</a:t>
            </a:r>
            <a:r>
              <a:rPr lang="zh-CN" altLang="en-US" sz="1400" b="1" dirty="0">
                <a:solidFill>
                  <a:schemeClr val="tx1"/>
                </a:solidFill>
              </a:rPr>
              <a:t>级联更新</a:t>
            </a: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 err="1"/>
              <a:t>eeexam</a:t>
            </a:r>
            <a:r>
              <a:rPr lang="en-US" altLang="zh-CN" sz="1400" dirty="0"/>
              <a:t> </a:t>
            </a:r>
            <a:r>
              <a:rPr lang="zh-CN" altLang="en-US" sz="1400" dirty="0"/>
              <a:t>表中相应的元组行*</a:t>
            </a:r>
            <a:r>
              <a:rPr lang="en-US" altLang="zh-CN" sz="1400" dirty="0"/>
              <a:t>/</a:t>
            </a: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4097815" y="2150590"/>
            <a:ext cx="1003061" cy="12632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endCxn id="14" idx="1"/>
          </p:cNvCxnSpPr>
          <p:nvPr/>
        </p:nvCxnSpPr>
        <p:spPr>
          <a:xfrm>
            <a:off x="4283968" y="4333189"/>
            <a:ext cx="836360" cy="8774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83568" y="6084004"/>
            <a:ext cx="8146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Update examinee set </a:t>
            </a:r>
            <a:r>
              <a:rPr lang="en-US" altLang="zh-CN" dirty="0" err="1"/>
              <a:t>eeid</a:t>
            </a:r>
            <a:r>
              <a:rPr lang="en-US" altLang="zh-CN" dirty="0"/>
              <a:t>=‘1002’ where </a:t>
            </a:r>
            <a:r>
              <a:rPr lang="en-US" altLang="zh-CN" dirty="0" err="1"/>
              <a:t>eeid</a:t>
            </a:r>
            <a:r>
              <a:rPr lang="en-US" altLang="zh-CN" dirty="0"/>
              <a:t> =‘1001’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888" y="1570231"/>
            <a:ext cx="7106496" cy="24358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3300" dirty="0">
                <a:solidFill>
                  <a:schemeClr val="tx2">
                    <a:satMod val="130000"/>
                  </a:schemeClr>
                </a:solidFill>
              </a:rPr>
              <a:t>CHECK</a:t>
            </a: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约束</a:t>
            </a:r>
          </a:p>
        </p:txBody>
      </p:sp>
      <p:sp>
        <p:nvSpPr>
          <p:cNvPr id="12" name="矩形 11"/>
          <p:cNvSpPr/>
          <p:nvPr/>
        </p:nvSpPr>
        <p:spPr>
          <a:xfrm>
            <a:off x="4139952" y="2996952"/>
            <a:ext cx="4382432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35608" y="4221088"/>
            <a:ext cx="59447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2550" indent="0">
              <a:buNone/>
            </a:pPr>
            <a:r>
              <a:rPr lang="en-US" altLang="zh-CN" dirty="0"/>
              <a:t>create table </a:t>
            </a:r>
            <a:r>
              <a:rPr lang="en-US" altLang="zh-CN" dirty="0" err="1"/>
              <a:t>examinee_new</a:t>
            </a:r>
            <a:r>
              <a:rPr lang="en-US" altLang="zh-CN" dirty="0"/>
              <a:t>(</a:t>
            </a:r>
          </a:p>
          <a:p>
            <a:pPr marL="8255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eeid</a:t>
            </a:r>
            <a:r>
              <a:rPr lang="en-US" altLang="zh-CN" dirty="0"/>
              <a:t> char(9) primary key,</a:t>
            </a:r>
          </a:p>
          <a:p>
            <a:pPr marL="8255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eename</a:t>
            </a:r>
            <a:r>
              <a:rPr lang="en-US" altLang="zh-CN" dirty="0"/>
              <a:t> char(20) not null,</a:t>
            </a:r>
          </a:p>
          <a:p>
            <a:pPr marL="8255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eesex</a:t>
            </a:r>
            <a:r>
              <a:rPr lang="en-US" altLang="zh-CN" dirty="0"/>
              <a:t> char(4),</a:t>
            </a:r>
          </a:p>
          <a:p>
            <a:pPr marL="8255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eeage</a:t>
            </a:r>
            <a:r>
              <a:rPr lang="en-US" altLang="zh-CN" dirty="0"/>
              <a:t> </a:t>
            </a:r>
            <a:r>
              <a:rPr lang="en-US" altLang="zh-CN" dirty="0" err="1"/>
              <a:t>smallint</a:t>
            </a:r>
            <a:r>
              <a:rPr lang="en-US" altLang="zh-CN" dirty="0"/>
              <a:t> check(</a:t>
            </a:r>
            <a:r>
              <a:rPr lang="en-US" altLang="zh-CN" dirty="0" err="1"/>
              <a:t>eeage</a:t>
            </a:r>
            <a:r>
              <a:rPr lang="en-US" altLang="zh-CN" dirty="0"/>
              <a:t>&gt;10 and </a:t>
            </a:r>
            <a:r>
              <a:rPr lang="en-US" altLang="zh-CN" dirty="0" err="1"/>
              <a:t>eeage</a:t>
            </a:r>
            <a:r>
              <a:rPr lang="en-US" altLang="zh-CN" dirty="0"/>
              <a:t>&lt;60),</a:t>
            </a:r>
          </a:p>
          <a:p>
            <a:pPr marL="8255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eedepa</a:t>
            </a:r>
            <a:r>
              <a:rPr lang="en-US" altLang="zh-CN" dirty="0"/>
              <a:t> char(20)</a:t>
            </a:r>
          </a:p>
          <a:p>
            <a:pPr marL="82550" indent="0">
              <a:buNone/>
            </a:pPr>
            <a:r>
              <a:rPr lang="en-US" altLang="zh-CN" dirty="0"/>
              <a:t>);</a:t>
            </a:r>
          </a:p>
          <a:p>
            <a:pPr marL="82550" indent="0">
              <a:buNone/>
            </a:pPr>
            <a:r>
              <a:rPr lang="en-US" altLang="zh-CN" dirty="0"/>
              <a:t>Insert into </a:t>
            </a:r>
            <a:r>
              <a:rPr lang="en-US" altLang="zh-CN" dirty="0" err="1"/>
              <a:t>examinee_new</a:t>
            </a:r>
            <a:r>
              <a:rPr lang="en-US" altLang="zh-CN" dirty="0"/>
              <a:t> values(‘1001’,’aa’,’</a:t>
            </a:r>
            <a:r>
              <a:rPr lang="zh-CN" altLang="en-US" dirty="0"/>
              <a:t>男</a:t>
            </a:r>
            <a:r>
              <a:rPr lang="en-US" altLang="zh-CN" dirty="0"/>
              <a:t>’,65,’</a:t>
            </a:r>
            <a:r>
              <a:rPr lang="zh-CN" altLang="en-US" dirty="0"/>
              <a:t>计算机</a:t>
            </a:r>
            <a:r>
              <a:rPr lang="en-US" altLang="zh-CN" dirty="0"/>
              <a:t>’)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782762"/>
            <a:ext cx="7499350" cy="4800600"/>
          </a:xfrm>
        </p:spPr>
        <p:txBody>
          <a:bodyPr>
            <a:normAutofit/>
          </a:bodyPr>
          <a:lstStyle/>
          <a:p>
            <a:pPr marL="82550" indent="0">
              <a:buNone/>
              <a:defRPr/>
            </a:pPr>
            <a:r>
              <a:rPr lang="en-US" altLang="zh-CN" sz="2800" dirty="0"/>
              <a:t>2. </a:t>
            </a:r>
            <a:r>
              <a:rPr lang="zh-CN" altLang="en-US" sz="2800" dirty="0"/>
              <a:t>触发器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触发器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318826" y="1417320"/>
            <a:ext cx="7815014" cy="4023360"/>
          </a:xfrm>
        </p:spPr>
        <p:txBody>
          <a:bodyPr>
            <a:normAutofit/>
          </a:bodyPr>
          <a:lstStyle/>
          <a:p>
            <a:pPr marL="214630" indent="-21463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要求考生表的</a:t>
            </a: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id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号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长度必须为</a:t>
            </a:r>
            <a:r>
              <a:rPr lang="en-US" altLang="zh-CN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8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位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。如何做到？</a:t>
            </a:r>
            <a:endParaRPr lang="en-US" altLang="zh-CN" sz="2400" dirty="0">
              <a:latin typeface="Adobe 仿宋 Std R" pitchFamily="18" charset="-122"/>
              <a:ea typeface="Adobe 仿宋 Std R" pitchFamily="18" charset="-122"/>
            </a:endParaRPr>
          </a:p>
          <a:p>
            <a:pPr marL="635635" lvl="1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dobe 仿宋 Std R" pitchFamily="18" charset="-122"/>
                <a:ea typeface="Adobe 仿宋 Std R" pitchFamily="18" charset="-122"/>
              </a:rPr>
              <a:t>Insert into examinee values(‘123’,</a:t>
            </a:r>
            <a:r>
              <a:rPr lang="zh-CN" altLang="en-US" sz="2000" dirty="0">
                <a:latin typeface="Adobe 仿宋 Std R" pitchFamily="18" charset="-122"/>
                <a:ea typeface="Adobe 仿宋 Std R" pitchFamily="18" charset="-122"/>
              </a:rPr>
              <a:t>‘王琳琳’，</a:t>
            </a:r>
            <a:r>
              <a:rPr lang="en-US" altLang="zh-CN" sz="2000" dirty="0">
                <a:latin typeface="Adobe 仿宋 Std R" pitchFamily="18" charset="-122"/>
                <a:ea typeface="Adobe 仿宋 Std R" pitchFamily="18" charset="-122"/>
              </a:rPr>
              <a:t>23);</a:t>
            </a:r>
          </a:p>
          <a:p>
            <a:pPr marL="635635" lvl="1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Adobe 仿宋 Std R" pitchFamily="18" charset="-122"/>
                <a:ea typeface="Adobe 仿宋 Std R" pitchFamily="18" charset="-122"/>
              </a:rPr>
              <a:t>输出学号格式错误，并且不执行插入操作</a:t>
            </a:r>
            <a:endParaRPr lang="en-US" altLang="zh-CN" sz="2000" dirty="0">
              <a:latin typeface="Adobe 仿宋 Std R" pitchFamily="18" charset="-122"/>
              <a:ea typeface="Adobe 仿宋 Std R" pitchFamily="18" charset="-122"/>
            </a:endParaRPr>
          </a:p>
          <a:p>
            <a:pPr marL="214630" indent="-21463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当执行</a:t>
            </a: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insert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语句时，先进行</a:t>
            </a: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id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字段的格式判断，符合要求，成功插入；不符合要求，报错。</a:t>
            </a:r>
            <a:endParaRPr lang="en-US" altLang="zh-CN" sz="2400" dirty="0">
              <a:latin typeface="Adobe 仿宋 Std R" pitchFamily="18" charset="-122"/>
              <a:ea typeface="Adobe 仿宋 Std R" pitchFamily="18" charset="-122"/>
            </a:endParaRPr>
          </a:p>
          <a:p>
            <a:pPr marL="214630" indent="-21463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普通的</a:t>
            </a: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insert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语句做不到这点，我们需要通过触发器来实现。</a:t>
            </a:r>
            <a:endParaRPr lang="en-US" altLang="zh-CN" sz="2400" dirty="0">
              <a:latin typeface="Adobe 仿宋 Std R" pitchFamily="18" charset="-122"/>
              <a:ea typeface="Adobe 仿宋 Std R" pitchFamily="18" charset="-122"/>
            </a:endParaRPr>
          </a:p>
          <a:p>
            <a:pPr marL="214630" indent="-214630">
              <a:buFont typeface="Wingdings" panose="05000000000000000000" pitchFamily="2" charset="2"/>
              <a:buChar char="l"/>
            </a:pPr>
            <a:endParaRPr lang="zh-CN" altLang="en-US" sz="2400" dirty="0">
              <a:latin typeface="Adobe 仿宋 Std R" pitchFamily="18" charset="-122"/>
              <a:ea typeface="Adobe 仿宋 Std R" pitchFamily="18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触发器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331640" y="1412876"/>
            <a:ext cx="7543801" cy="4023360"/>
          </a:xfrm>
        </p:spPr>
        <p:txBody>
          <a:bodyPr>
            <a:normAutofit/>
          </a:bodyPr>
          <a:lstStyle/>
          <a:p>
            <a:pPr marL="214630" indent="-21463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触发器是用户定义在关系表上的由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事件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（</a:t>
            </a: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insert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、</a:t>
            </a: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update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、</a:t>
            </a: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delete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语句）驱动调用的函数。</a:t>
            </a:r>
            <a:endParaRPr lang="en-US" altLang="zh-CN" sz="2400" dirty="0">
              <a:latin typeface="Adobe 仿宋 Std R" pitchFamily="18" charset="-122"/>
              <a:ea typeface="Adobe 仿宋 Std R" pitchFamily="18" charset="-122"/>
            </a:endParaRPr>
          </a:p>
          <a:p>
            <a:pPr marL="214630" indent="-21463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如果定义了触发器，当数据库执行这些语句时，就会激活触发器去执行相应的操作。</a:t>
            </a:r>
            <a:endParaRPr lang="en-US" altLang="zh-CN" sz="2400" dirty="0">
              <a:latin typeface="Adobe 仿宋 Std R" pitchFamily="18" charset="-122"/>
              <a:ea typeface="Adobe 仿宋 Std R" pitchFamily="18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触发器分类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213576" y="1268760"/>
            <a:ext cx="7930424" cy="5225538"/>
          </a:xfrm>
        </p:spPr>
        <p:txBody>
          <a:bodyPr>
            <a:noAutofit/>
          </a:bodyPr>
          <a:lstStyle/>
          <a:p>
            <a:pPr marL="214630" indent="-214630" defTabSz="457200"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tx1"/>
                </a:solidFill>
                <a:latin typeface="Adobe 仿宋 Std R" pitchFamily="18" charset="-122"/>
                <a:ea typeface="Adobe 仿宋 Std R" pitchFamily="18" charset="-122"/>
              </a:rPr>
              <a:t>根据触发器定义在触发事件（如</a:t>
            </a:r>
            <a:r>
              <a:rPr lang="en-US" altLang="zh-CN" sz="2400" dirty="0">
                <a:solidFill>
                  <a:schemeClr val="tx1"/>
                </a:solidFill>
                <a:latin typeface="Adobe 仿宋 Std R" pitchFamily="18" charset="-122"/>
                <a:ea typeface="Adobe 仿宋 Std R" pitchFamily="18" charset="-122"/>
              </a:rPr>
              <a:t>insert</a:t>
            </a:r>
            <a:r>
              <a:rPr lang="zh-CN" altLang="en-US" sz="2400" dirty="0">
                <a:solidFill>
                  <a:schemeClr val="tx1"/>
                </a:solidFill>
                <a:latin typeface="Adobe 仿宋 Std R" pitchFamily="18" charset="-122"/>
                <a:ea typeface="Adobe 仿宋 Std R" pitchFamily="18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Adobe 仿宋 Std R" pitchFamily="18" charset="-122"/>
                <a:ea typeface="Adobe 仿宋 Std R" pitchFamily="18" charset="-122"/>
              </a:rPr>
              <a:t>delete</a:t>
            </a:r>
            <a:r>
              <a:rPr lang="zh-CN" altLang="en-US" sz="2400" dirty="0">
                <a:solidFill>
                  <a:schemeClr val="tx1"/>
                </a:solidFill>
                <a:latin typeface="Adobe 仿宋 Std R" pitchFamily="18" charset="-122"/>
                <a:ea typeface="Adobe 仿宋 Std R" pitchFamily="18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Adobe 仿宋 Std R" pitchFamily="18" charset="-122"/>
                <a:ea typeface="Adobe 仿宋 Std R" pitchFamily="18" charset="-122"/>
              </a:rPr>
              <a:t>update</a:t>
            </a:r>
            <a:r>
              <a:rPr lang="zh-CN" altLang="en-US" sz="2400" dirty="0">
                <a:solidFill>
                  <a:schemeClr val="tx1"/>
                </a:solidFill>
                <a:latin typeface="Adobe 仿宋 Std R" pitchFamily="18" charset="-122"/>
                <a:ea typeface="Adobe 仿宋 Std R" pitchFamily="18" charset="-122"/>
              </a:rPr>
              <a:t>）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之前</a:t>
            </a:r>
            <a:r>
              <a:rPr lang="zh-CN" altLang="en-US" sz="2400" dirty="0">
                <a:solidFill>
                  <a:schemeClr val="tx1"/>
                </a:solidFill>
                <a:latin typeface="Adobe 仿宋 Std R" pitchFamily="18" charset="-122"/>
                <a:ea typeface="Adobe 仿宋 Std R" pitchFamily="18" charset="-122"/>
              </a:rPr>
              <a:t>或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之后</a:t>
            </a:r>
            <a:endParaRPr lang="en-US" altLang="zh-CN" sz="2400" dirty="0">
              <a:solidFill>
                <a:srgbClr val="FF0000"/>
              </a:solidFill>
              <a:latin typeface="Adobe 仿宋 Std R" pitchFamily="18" charset="-122"/>
              <a:ea typeface="Adobe 仿宋 Std R" pitchFamily="18" charset="-122"/>
            </a:endParaRPr>
          </a:p>
          <a:p>
            <a:pPr marL="578485" lvl="1" indent="-285750" defTabSz="4572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</a:rPr>
              <a:t>Before</a:t>
            </a:r>
            <a:r>
              <a:rPr lang="zh-CN" altLang="en-US" sz="2000" dirty="0">
                <a:solidFill>
                  <a:schemeClr val="tx1"/>
                </a:solidFill>
              </a:rPr>
              <a:t>和</a:t>
            </a:r>
            <a:r>
              <a:rPr lang="en-US" altLang="zh-CN" sz="2000" dirty="0">
                <a:solidFill>
                  <a:srgbClr val="FF0000"/>
                </a:solidFill>
              </a:rPr>
              <a:t>After</a:t>
            </a:r>
            <a:r>
              <a:rPr lang="zh-CN" altLang="en-US" sz="2000" dirty="0">
                <a:solidFill>
                  <a:schemeClr val="tx1"/>
                </a:solidFill>
              </a:rPr>
              <a:t>触发器：分别在操作完成前和操作完成后触发执行触发器函数。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214630" indent="-214630" defTabSz="457200"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tx1"/>
                </a:solidFill>
                <a:latin typeface="Adobe 仿宋 Std R" pitchFamily="18" charset="-122"/>
                <a:ea typeface="Adobe 仿宋 Std R" pitchFamily="18" charset="-122"/>
              </a:rPr>
              <a:t>按行或按语句触发</a:t>
            </a:r>
            <a:endParaRPr lang="en-US" altLang="zh-CN" sz="2400" dirty="0">
              <a:solidFill>
                <a:schemeClr val="tx1"/>
              </a:solidFill>
              <a:latin typeface="Adobe 仿宋 Std R" pitchFamily="18" charset="-122"/>
              <a:ea typeface="Adobe 仿宋 Std R" pitchFamily="18" charset="-122"/>
            </a:endParaRPr>
          </a:p>
          <a:p>
            <a:pPr marL="578485" lvl="1" indent="-285750" defTabSz="4572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/>
                </a:solidFill>
              </a:rPr>
              <a:t>行级触发器</a:t>
            </a:r>
            <a:r>
              <a:rPr lang="en-US" altLang="zh-CN" sz="2000" dirty="0">
                <a:solidFill>
                  <a:srgbClr val="FF0000"/>
                </a:solidFill>
              </a:rPr>
              <a:t>for each row</a:t>
            </a:r>
            <a:r>
              <a:rPr lang="zh-CN" altLang="en-US" sz="2000" dirty="0">
                <a:solidFill>
                  <a:schemeClr val="tx1"/>
                </a:solidFill>
              </a:rPr>
              <a:t>和语句级触发器</a:t>
            </a:r>
            <a:r>
              <a:rPr lang="en-US" altLang="zh-CN" sz="2000" dirty="0">
                <a:solidFill>
                  <a:srgbClr val="FF0000"/>
                </a:solidFill>
              </a:rPr>
              <a:t>for each statement</a:t>
            </a:r>
            <a:r>
              <a:rPr lang="zh-CN" altLang="en-US" sz="2000" dirty="0">
                <a:solidFill>
                  <a:schemeClr val="tx1"/>
                </a:solidFill>
              </a:rPr>
              <a:t>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578485" lvl="1" indent="-285750" defTabSz="4572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/>
                </a:solidFill>
              </a:rPr>
              <a:t>例子：假设</a:t>
            </a:r>
            <a:r>
              <a:rPr lang="en-US" altLang="zh-CN" sz="2000" dirty="0">
                <a:solidFill>
                  <a:schemeClr val="tx1"/>
                </a:solidFill>
              </a:rPr>
              <a:t>examinee</a:t>
            </a:r>
            <a:r>
              <a:rPr lang="zh-CN" altLang="en-US" sz="2000" dirty="0">
                <a:solidFill>
                  <a:schemeClr val="tx1"/>
                </a:solidFill>
              </a:rPr>
              <a:t>表上创建了一个</a:t>
            </a:r>
            <a:r>
              <a:rPr lang="en-US" altLang="zh-CN" sz="2000" dirty="0">
                <a:solidFill>
                  <a:srgbClr val="FF0000"/>
                </a:solidFill>
              </a:rPr>
              <a:t>after update </a:t>
            </a:r>
            <a:r>
              <a:rPr lang="zh-CN" altLang="en-US" sz="2000" dirty="0">
                <a:solidFill>
                  <a:schemeClr val="tx1"/>
                </a:solidFill>
              </a:rPr>
              <a:t>触发器，如果有</a:t>
            </a:r>
            <a:r>
              <a:rPr lang="en-US" altLang="zh-CN" sz="2000" dirty="0">
                <a:solidFill>
                  <a:schemeClr val="tx1"/>
                </a:solidFill>
              </a:rPr>
              <a:t>1000</a:t>
            </a:r>
            <a:r>
              <a:rPr lang="zh-CN" altLang="en-US" sz="2000" dirty="0">
                <a:solidFill>
                  <a:schemeClr val="tx1"/>
                </a:solidFill>
              </a:rPr>
              <a:t>行执行</a:t>
            </a:r>
            <a:r>
              <a:rPr lang="en-US" altLang="zh-CN" sz="2000" dirty="0">
                <a:solidFill>
                  <a:schemeClr val="tx1"/>
                </a:solidFill>
              </a:rPr>
              <a:t>update examinee set </a:t>
            </a:r>
            <a:r>
              <a:rPr lang="en-US" altLang="zh-CN" sz="2000" dirty="0" err="1">
                <a:solidFill>
                  <a:schemeClr val="tx1"/>
                </a:solidFill>
              </a:rPr>
              <a:t>eename</a:t>
            </a:r>
            <a:r>
              <a:rPr lang="en-US" altLang="zh-CN" sz="2000" dirty="0">
                <a:solidFill>
                  <a:schemeClr val="tx1"/>
                </a:solidFill>
              </a:rPr>
              <a:t>=</a:t>
            </a:r>
            <a:r>
              <a:rPr lang="en-US" altLang="zh-CN" sz="2000" dirty="0"/>
              <a:t>‘xx’</a:t>
            </a:r>
            <a:r>
              <a:rPr lang="zh-CN" altLang="en-US" sz="2000" dirty="0">
                <a:solidFill>
                  <a:schemeClr val="tx1"/>
                </a:solidFill>
              </a:rPr>
              <a:t>；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578485" lvl="1" indent="-285750" defTabSz="4572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/>
                </a:solidFill>
              </a:rPr>
              <a:t>如果是语句级触发器，那么执行完</a:t>
            </a:r>
            <a:r>
              <a:rPr lang="en-US" altLang="zh-CN" sz="2000" dirty="0">
                <a:solidFill>
                  <a:schemeClr val="tx1"/>
                </a:solidFill>
              </a:rPr>
              <a:t>update</a:t>
            </a:r>
            <a:r>
              <a:rPr lang="zh-CN" altLang="en-US" sz="2000" dirty="0">
                <a:solidFill>
                  <a:schemeClr val="tx1"/>
                </a:solidFill>
              </a:rPr>
              <a:t>语句之后，触发动作只发生</a:t>
            </a:r>
            <a:r>
              <a:rPr lang="zh-CN" altLang="en-US" sz="2000" dirty="0">
                <a:solidFill>
                  <a:srgbClr val="FF0000"/>
                </a:solidFill>
              </a:rPr>
              <a:t>一次</a:t>
            </a:r>
            <a:r>
              <a:rPr lang="zh-CN" altLang="en-US" sz="2000" dirty="0">
                <a:solidFill>
                  <a:schemeClr val="tx1"/>
                </a:solidFill>
              </a:rPr>
              <a:t>；如果是行级触发器，触发动作将执行</a:t>
            </a:r>
            <a:r>
              <a:rPr lang="en-US" altLang="zh-CN" sz="2000" dirty="0">
                <a:solidFill>
                  <a:srgbClr val="FF0000"/>
                </a:solidFill>
              </a:rPr>
              <a:t>1000</a:t>
            </a:r>
            <a:r>
              <a:rPr lang="zh-CN" altLang="en-US" sz="2000" dirty="0">
                <a:solidFill>
                  <a:srgbClr val="FF0000"/>
                </a:solidFill>
              </a:rPr>
              <a:t>次</a:t>
            </a:r>
            <a:r>
              <a:rPr lang="zh-CN" altLang="en-US" sz="2000" dirty="0">
                <a:solidFill>
                  <a:schemeClr val="tx1"/>
                </a:solidFill>
              </a:rPr>
              <a:t>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214630" indent="-214630" defTabSz="457200">
              <a:buFont typeface="Wingdings" panose="05000000000000000000" pitchFamily="2" charset="2"/>
              <a:buChar char="l"/>
            </a:pP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5724128" y="5229200"/>
            <a:ext cx="2388093" cy="1042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Adobe 仿宋 Std R" pitchFamily="18" charset="-122"/>
                <a:ea typeface="Adobe 仿宋 Std R" pitchFamily="18" charset="-122"/>
              </a:rPr>
              <a:t>要求考生表的</a:t>
            </a:r>
            <a:r>
              <a:rPr lang="en-US" altLang="zh-CN" dirty="0">
                <a:latin typeface="Adobe 仿宋 Std R" pitchFamily="18" charset="-122"/>
                <a:ea typeface="Adobe 仿宋 Std R" pitchFamily="18" charset="-122"/>
              </a:rPr>
              <a:t>id</a:t>
            </a:r>
            <a:r>
              <a:rPr lang="zh-CN" altLang="en-US" dirty="0">
                <a:latin typeface="Adobe 仿宋 Std R" pitchFamily="18" charset="-122"/>
                <a:ea typeface="Adobe 仿宋 Std R" pitchFamily="18" charset="-122"/>
              </a:rPr>
              <a:t>号长度必须为</a:t>
            </a:r>
            <a:r>
              <a:rPr lang="en-US" altLang="zh-CN" dirty="0">
                <a:latin typeface="Adobe 仿宋 Std R" pitchFamily="18" charset="-122"/>
                <a:ea typeface="Adobe 仿宋 Std R" pitchFamily="18" charset="-122"/>
              </a:rPr>
              <a:t>8</a:t>
            </a:r>
            <a:r>
              <a:rPr lang="zh-CN" altLang="en-US" dirty="0">
                <a:latin typeface="Adobe 仿宋 Std R" pitchFamily="18" charset="-122"/>
                <a:ea typeface="Adobe 仿宋 Std R" pitchFamily="18" charset="-122"/>
              </a:rPr>
              <a:t>位，用</a:t>
            </a:r>
            <a:r>
              <a:rPr lang="en-US" altLang="zh-CN" dirty="0">
                <a:latin typeface="Adobe 仿宋 Std R" pitchFamily="18" charset="-122"/>
                <a:ea typeface="Adobe 仿宋 Std R" pitchFamily="18" charset="-122"/>
              </a:rPr>
              <a:t>before</a:t>
            </a:r>
            <a:r>
              <a:rPr lang="zh-CN" altLang="en-US" dirty="0">
                <a:latin typeface="Adobe 仿宋 Std R" pitchFamily="18" charset="-122"/>
                <a:ea typeface="Adobe 仿宋 Std R" pitchFamily="18" charset="-122"/>
              </a:rPr>
              <a:t>还是</a:t>
            </a:r>
            <a:r>
              <a:rPr lang="en-US" altLang="zh-CN" dirty="0">
                <a:latin typeface="Adobe 仿宋 Std R" pitchFamily="18" charset="-122"/>
                <a:ea typeface="Adobe 仿宋 Std R" pitchFamily="18" charset="-122"/>
              </a:rPr>
              <a:t>after</a:t>
            </a:r>
            <a:r>
              <a:rPr lang="zh-CN" altLang="en-US" dirty="0">
                <a:latin typeface="Adobe 仿宋 Std R" pitchFamily="18" charset="-122"/>
                <a:ea typeface="Adobe 仿宋 Std R" pitchFamily="18" charset="-122"/>
              </a:rPr>
              <a:t>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触发器函数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1259632" y="1417320"/>
            <a:ext cx="7543801" cy="1363608"/>
          </a:xfrm>
        </p:spPr>
        <p:txBody>
          <a:bodyPr>
            <a:normAutofit fontScale="92500" lnSpcReduction="20000"/>
          </a:bodyPr>
          <a:lstStyle/>
          <a:p>
            <a:pPr marL="214630" indent="-214630" defTabSz="4572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在</a:t>
            </a:r>
            <a:r>
              <a:rPr lang="en-US" altLang="zh-CN" sz="2400" dirty="0" err="1">
                <a:latin typeface="Adobe 仿宋 Std R" pitchFamily="18" charset="-122"/>
                <a:ea typeface="Adobe 仿宋 Std R" pitchFamily="18" charset="-122"/>
              </a:rPr>
              <a:t>GaussDB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中</a:t>
            </a:r>
            <a:r>
              <a:rPr lang="zh-CN" altLang="en-US" sz="2400" dirty="0">
                <a:solidFill>
                  <a:schemeClr val="tx1"/>
                </a:solidFill>
                <a:latin typeface="Adobe 仿宋 Std R" pitchFamily="18" charset="-122"/>
                <a:ea typeface="Adobe 仿宋 Std R" pitchFamily="18" charset="-122"/>
              </a:rPr>
              <a:t>使用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触发器函数</a:t>
            </a:r>
            <a:r>
              <a:rPr lang="zh-CN" altLang="en-US" sz="2400" dirty="0">
                <a:solidFill>
                  <a:schemeClr val="tx1"/>
                </a:solidFill>
                <a:latin typeface="Adobe 仿宋 Std R" pitchFamily="18" charset="-122"/>
                <a:ea typeface="Adobe 仿宋 Std R" pitchFamily="18" charset="-122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create trigger </a:t>
            </a:r>
            <a:r>
              <a:rPr lang="zh-CN" altLang="en-US" sz="2400" dirty="0">
                <a:solidFill>
                  <a:schemeClr val="tx1"/>
                </a:solidFill>
                <a:latin typeface="Adobe 仿宋 Std R" pitchFamily="18" charset="-122"/>
                <a:ea typeface="Adobe 仿宋 Std R" pitchFamily="18" charset="-122"/>
              </a:rPr>
              <a:t>命令建立触发器。</a:t>
            </a:r>
            <a:endParaRPr lang="en-US" altLang="zh-CN" sz="2400" dirty="0">
              <a:solidFill>
                <a:schemeClr val="tx1"/>
              </a:solidFill>
              <a:latin typeface="Adobe 仿宋 Std R" pitchFamily="18" charset="-122"/>
              <a:ea typeface="Adobe 仿宋 Std R" pitchFamily="18" charset="-122"/>
            </a:endParaRPr>
          </a:p>
          <a:p>
            <a:pPr marL="214630" lvl="0" indent="-214630" defTabSz="457200"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tx1"/>
                </a:solidFill>
                <a:latin typeface="Adobe 仿宋 Std R" pitchFamily="18" charset="-122"/>
                <a:ea typeface="Adobe 仿宋 Std R" pitchFamily="18" charset="-122"/>
              </a:rPr>
              <a:t>创建触发器以前，必须定义触发器使用的函数。这个函数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不能有任何参数</a:t>
            </a:r>
            <a:r>
              <a:rPr lang="zh-CN" altLang="en-US" sz="2400" dirty="0">
                <a:solidFill>
                  <a:schemeClr val="tx1"/>
                </a:solidFill>
                <a:latin typeface="Adobe 仿宋 Std R" pitchFamily="18" charset="-122"/>
                <a:ea typeface="Adobe 仿宋 Std R" pitchFamily="18" charset="-122"/>
              </a:rPr>
              <a:t>，并且要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返回</a:t>
            </a:r>
            <a:r>
              <a:rPr lang="en-US" altLang="zh-CN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trigger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类型</a:t>
            </a:r>
            <a:r>
              <a:rPr lang="zh-CN" altLang="en-US" sz="2400" dirty="0">
                <a:solidFill>
                  <a:schemeClr val="tx1"/>
                </a:solidFill>
                <a:latin typeface="Adobe 仿宋 Std R" pitchFamily="18" charset="-122"/>
                <a:ea typeface="Adobe 仿宋 Std R" pitchFamily="18" charset="-122"/>
              </a:rPr>
              <a:t>。</a:t>
            </a:r>
            <a:endParaRPr lang="en-US" altLang="zh-CN" sz="2400" dirty="0">
              <a:solidFill>
                <a:schemeClr val="tx1"/>
              </a:solidFill>
              <a:latin typeface="Adobe 仿宋 Std R" pitchFamily="18" charset="-122"/>
              <a:ea typeface="Adobe 仿宋 Std R" pitchFamily="18" charset="-122"/>
            </a:endParaRPr>
          </a:p>
          <a:p>
            <a:pPr marL="214630" lvl="0" indent="-214630" defTabSz="457200"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chemeClr val="tx1"/>
              </a:solidFill>
              <a:latin typeface="Adobe 仿宋 Std R" pitchFamily="18" charset="-122"/>
              <a:ea typeface="Adobe 仿宋 Std R" pitchFamily="18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56631" y="2713955"/>
            <a:ext cx="7211929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2550" lvl="0" defTabSz="914400">
              <a:spcBef>
                <a:spcPts val="600"/>
              </a:spcBef>
              <a:buClr>
                <a:srgbClr val="3891A7"/>
              </a:buClr>
              <a:buSzPct val="80000"/>
            </a:pPr>
            <a:r>
              <a:rPr lang="en-US" altLang="zh-CN" sz="2400" dirty="0">
                <a:latin typeface="Gill Sans MT"/>
                <a:ea typeface="华文中宋" panose="02010600040101010101" charset="-122"/>
              </a:rPr>
              <a:t>create or replace function </a:t>
            </a:r>
            <a:r>
              <a:rPr lang="en-US" altLang="zh-CN" sz="2400" dirty="0" err="1">
                <a:latin typeface="Gill Sans MT"/>
                <a:ea typeface="华文中宋" panose="02010600040101010101" charset="-122"/>
              </a:rPr>
              <a:t>examineeid</a:t>
            </a:r>
            <a:r>
              <a:rPr lang="en-US" altLang="zh-CN" sz="2400" dirty="0">
                <a:latin typeface="Gill Sans MT"/>
                <a:ea typeface="华文中宋" panose="02010600040101010101" charset="-122"/>
              </a:rPr>
              <a:t>() </a:t>
            </a:r>
          </a:p>
          <a:p>
            <a:pPr marL="82550" lvl="0" defTabSz="914400">
              <a:spcBef>
                <a:spcPts val="600"/>
              </a:spcBef>
              <a:buClr>
                <a:srgbClr val="3891A7"/>
              </a:buClr>
              <a:buSzPct val="80000"/>
            </a:pPr>
            <a:r>
              <a:rPr lang="en-US" altLang="zh-CN" sz="2400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returns trigger </a:t>
            </a:r>
            <a:r>
              <a:rPr lang="en-US" altLang="zh-CN" sz="2400" dirty="0">
                <a:latin typeface="Gill Sans MT"/>
                <a:ea typeface="华文中宋" panose="02010600040101010101" charset="-122"/>
              </a:rPr>
              <a:t>as $$</a:t>
            </a:r>
          </a:p>
          <a:p>
            <a:pPr marL="82550" lvl="0" defTabSz="914400">
              <a:spcBef>
                <a:spcPts val="600"/>
              </a:spcBef>
              <a:buClr>
                <a:srgbClr val="3891A7"/>
              </a:buClr>
              <a:buSzPct val="80000"/>
            </a:pPr>
            <a:r>
              <a:rPr lang="en-US" altLang="zh-CN" sz="2400" dirty="0">
                <a:latin typeface="Gill Sans MT"/>
                <a:ea typeface="华文中宋" panose="02010600040101010101" charset="-122"/>
              </a:rPr>
              <a:t>begin</a:t>
            </a:r>
          </a:p>
          <a:p>
            <a:pPr marL="82550" lvl="0" defTabSz="914400">
              <a:spcBef>
                <a:spcPts val="600"/>
              </a:spcBef>
              <a:buClr>
                <a:srgbClr val="3891A7"/>
              </a:buClr>
              <a:buSzPct val="80000"/>
            </a:pPr>
            <a:r>
              <a:rPr lang="en-US" altLang="zh-CN" sz="2400" dirty="0">
                <a:latin typeface="Gill Sans MT"/>
                <a:ea typeface="华文中宋" panose="02010600040101010101" charset="-122"/>
              </a:rPr>
              <a:t>     </a:t>
            </a:r>
            <a:r>
              <a:rPr lang="zh-CN" altLang="en-US" sz="2400" dirty="0">
                <a:latin typeface="Gill Sans MT"/>
                <a:ea typeface="华文中宋" panose="02010600040101010101" charset="-122"/>
              </a:rPr>
              <a:t>*********</a:t>
            </a:r>
            <a:endParaRPr lang="en-US" altLang="zh-CN" sz="2400" dirty="0">
              <a:latin typeface="Gill Sans MT"/>
              <a:ea typeface="华文中宋" panose="02010600040101010101" charset="-122"/>
            </a:endParaRPr>
          </a:p>
          <a:p>
            <a:pPr marL="82550" lvl="0" defTabSz="914400">
              <a:spcBef>
                <a:spcPts val="600"/>
              </a:spcBef>
              <a:buClr>
                <a:srgbClr val="3891A7"/>
              </a:buClr>
              <a:buSzPct val="80000"/>
            </a:pPr>
            <a:r>
              <a:rPr lang="en-US" altLang="zh-CN" sz="2400" dirty="0">
                <a:latin typeface="Gill Sans MT"/>
                <a:ea typeface="华文中宋" panose="02010600040101010101" charset="-122"/>
              </a:rPr>
              <a:t>end;</a:t>
            </a:r>
          </a:p>
          <a:p>
            <a:pPr marL="82550" lvl="0" defTabSz="914400">
              <a:spcBef>
                <a:spcPts val="600"/>
              </a:spcBef>
              <a:buClr>
                <a:srgbClr val="3891A7"/>
              </a:buClr>
              <a:buSzPct val="80000"/>
            </a:pPr>
            <a:r>
              <a:rPr lang="en-US" altLang="zh-CN" sz="2400" dirty="0">
                <a:latin typeface="Gill Sans MT"/>
                <a:ea typeface="华文中宋" panose="02010600040101010101" charset="-122"/>
              </a:rPr>
              <a:t>$$ language </a:t>
            </a:r>
            <a:r>
              <a:rPr lang="en-US" altLang="zh-CN" sz="2400" dirty="0" err="1">
                <a:latin typeface="Gill Sans MT"/>
                <a:ea typeface="华文中宋" panose="02010600040101010101" charset="-122"/>
              </a:rPr>
              <a:t>plpgsql</a:t>
            </a:r>
            <a:r>
              <a:rPr lang="en-US" altLang="zh-CN" sz="2400" dirty="0">
                <a:latin typeface="Gill Sans MT"/>
                <a:ea typeface="华文中宋" panose="02010600040101010101" charset="-122"/>
              </a:rPr>
              <a:t>;</a:t>
            </a:r>
          </a:p>
        </p:txBody>
      </p:sp>
      <p:sp>
        <p:nvSpPr>
          <p:cNvPr id="5" name="矩形 4"/>
          <p:cNvSpPr/>
          <p:nvPr/>
        </p:nvSpPr>
        <p:spPr>
          <a:xfrm>
            <a:off x="1656631" y="5661248"/>
            <a:ext cx="6768752" cy="830997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82550">
              <a:spcBef>
                <a:spcPts val="600"/>
              </a:spcBef>
              <a:buClr>
                <a:srgbClr val="3891A7"/>
              </a:buClr>
              <a:buSzPct val="80000"/>
            </a:pPr>
            <a:r>
              <a:rPr lang="en-US" altLang="zh-CN" sz="2400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create trigger </a:t>
            </a:r>
            <a:r>
              <a:rPr lang="en-US" altLang="zh-CN" sz="2400" dirty="0" err="1">
                <a:latin typeface="Gill Sans MT"/>
                <a:ea typeface="华文中宋" panose="02010600040101010101" charset="-122"/>
              </a:rPr>
              <a:t>eeid_insert</a:t>
            </a:r>
            <a:r>
              <a:rPr lang="en-US" altLang="zh-CN" sz="2400" dirty="0">
                <a:latin typeface="Gill Sans MT"/>
                <a:ea typeface="华文中宋" panose="02010600040101010101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before</a:t>
            </a:r>
            <a:r>
              <a:rPr lang="en-US" altLang="zh-CN" sz="2400" dirty="0">
                <a:latin typeface="Gill Sans MT"/>
                <a:ea typeface="华文中宋" panose="02010600040101010101" charset="-122"/>
              </a:rPr>
              <a:t> insert on examinee </a:t>
            </a:r>
            <a:r>
              <a:rPr lang="en-US" altLang="zh-CN" sz="2400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for each row execute procedure </a:t>
            </a:r>
            <a:r>
              <a:rPr lang="en-US" altLang="zh-CN" sz="2400" dirty="0" err="1">
                <a:latin typeface="Gill Sans MT"/>
                <a:ea typeface="华文中宋" panose="02010600040101010101" charset="-122"/>
              </a:rPr>
              <a:t>examineeid</a:t>
            </a:r>
            <a:r>
              <a:rPr lang="en-US" altLang="zh-CN" sz="2400" dirty="0">
                <a:latin typeface="Gill Sans MT"/>
                <a:ea typeface="华文中宋" panose="02010600040101010101" charset="-122"/>
              </a:rPr>
              <a:t>();</a:t>
            </a:r>
            <a:endParaRPr lang="zh-CN" altLang="zh-CN" sz="2400" dirty="0">
              <a:latin typeface="Gill Sans MT"/>
              <a:ea typeface="华文中宋" panose="02010600040101010101" charset="-122"/>
            </a:endParaRPr>
          </a:p>
        </p:txBody>
      </p:sp>
      <p:sp>
        <p:nvSpPr>
          <p:cNvPr id="9" name="云形标注 4"/>
          <p:cNvSpPr/>
          <p:nvPr/>
        </p:nvSpPr>
        <p:spPr>
          <a:xfrm>
            <a:off x="6728201" y="2896156"/>
            <a:ext cx="2259030" cy="1197808"/>
          </a:xfrm>
          <a:prstGeom prst="cloud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触发器函数和普通函数有什么</a:t>
            </a:r>
            <a:r>
              <a:rPr lang="zh-CN" altLang="en-US" b="1" dirty="0">
                <a:solidFill>
                  <a:srgbClr val="FF0000"/>
                </a:solidFill>
              </a:rPr>
              <a:t>区别</a:t>
            </a:r>
            <a:r>
              <a:rPr lang="zh-CN" altLang="en-US" dirty="0">
                <a:solidFill>
                  <a:schemeClr val="tx1"/>
                </a:solidFill>
              </a:rPr>
              <a:t>？</a:t>
            </a:r>
          </a:p>
        </p:txBody>
      </p:sp>
      <p:sp>
        <p:nvSpPr>
          <p:cNvPr id="10" name="矩形标注 9"/>
          <p:cNvSpPr/>
          <p:nvPr/>
        </p:nvSpPr>
        <p:spPr>
          <a:xfrm>
            <a:off x="5931927" y="4805382"/>
            <a:ext cx="1430245" cy="443884"/>
          </a:xfrm>
          <a:prstGeom prst="wedgeRectCallout">
            <a:avLst>
              <a:gd name="adj1" fmla="val -41489"/>
              <a:gd name="adj2" fmla="val 1276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创建触发器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触发器函数</a:t>
            </a:r>
          </a:p>
        </p:txBody>
      </p:sp>
      <p:sp>
        <p:nvSpPr>
          <p:cNvPr id="11" name="矩形 10"/>
          <p:cNvSpPr/>
          <p:nvPr/>
        </p:nvSpPr>
        <p:spPr>
          <a:xfrm>
            <a:off x="1187624" y="1340768"/>
            <a:ext cx="7589077" cy="545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630" lvl="1" indent="-21463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当一个函数作为触发器函数被调用时，系统自动在最外层的块创建一些</a:t>
            </a:r>
            <a:r>
              <a:rPr lang="zh-CN" altLang="en-US" sz="2400" dirty="0">
                <a:solidFill>
                  <a:srgbClr val="FF0000"/>
                </a:solidFill>
                <a:latin typeface="Adobe 仿宋 Std R" pitchFamily="18" charset="-122"/>
                <a:ea typeface="Adobe 仿宋 Std R" pitchFamily="18" charset="-122"/>
              </a:rPr>
              <a:t>特殊的变量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。常用的有：</a:t>
            </a:r>
            <a:endParaRPr lang="en-US" altLang="zh-CN" sz="2400" dirty="0">
              <a:latin typeface="Adobe 仿宋 Std R" pitchFamily="18" charset="-122"/>
              <a:ea typeface="Adobe 仿宋 Std R" pitchFamily="18" charset="-122"/>
            </a:endParaRPr>
          </a:p>
          <a:p>
            <a:pPr marL="578485" lvl="1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+mn-ea"/>
              </a:rPr>
              <a:t>NEW</a:t>
            </a:r>
            <a:r>
              <a:rPr lang="zh-CN" altLang="en-US" sz="2000" dirty="0">
                <a:latin typeface="+mn-ea"/>
              </a:rPr>
              <a:t>：对于行级触发器，其值是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INSERT 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或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UPDATE </a:t>
            </a:r>
            <a:r>
              <a:rPr lang="zh-CN" altLang="en-US" sz="2000" dirty="0">
                <a:latin typeface="+mn-ea"/>
              </a:rPr>
              <a:t>操作产生的新数据行。对于语句级触发器，其值是 </a:t>
            </a:r>
            <a:r>
              <a:rPr lang="en-US" altLang="zh-CN" sz="2000" dirty="0">
                <a:latin typeface="+mn-ea"/>
              </a:rPr>
              <a:t>NULL</a:t>
            </a:r>
            <a:r>
              <a:rPr lang="zh-CN" altLang="en-US" sz="2000" dirty="0">
                <a:latin typeface="+mn-ea"/>
              </a:rPr>
              <a:t>；</a:t>
            </a:r>
          </a:p>
          <a:p>
            <a:pPr marL="578485" lvl="1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+mn-ea"/>
              </a:rPr>
              <a:t>OLD</a:t>
            </a:r>
            <a:r>
              <a:rPr lang="zh-CN" altLang="en-US" sz="2000" dirty="0">
                <a:latin typeface="+mn-ea"/>
              </a:rPr>
              <a:t>：对于行级触发器，其值是被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UPDATE 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或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DELETE </a:t>
            </a:r>
            <a:r>
              <a:rPr lang="zh-CN" altLang="en-US" sz="2000" dirty="0">
                <a:latin typeface="+mn-ea"/>
              </a:rPr>
              <a:t>操作修改或删除的旧的数据行。对于语句级触发器，其值是 </a:t>
            </a:r>
            <a:r>
              <a:rPr lang="en-US" altLang="zh-CN" sz="2000" dirty="0">
                <a:latin typeface="+mn-ea"/>
              </a:rPr>
              <a:t>NULL</a:t>
            </a:r>
            <a:r>
              <a:rPr lang="zh-CN" altLang="en-US" sz="2000" dirty="0">
                <a:latin typeface="+mn-ea"/>
              </a:rPr>
              <a:t>；</a:t>
            </a:r>
            <a:endParaRPr lang="en-US" altLang="zh-CN" sz="2000" dirty="0">
              <a:latin typeface="+mn-ea"/>
            </a:endParaRPr>
          </a:p>
          <a:p>
            <a:pPr marL="214630" indent="-21463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返回值（</a:t>
            </a: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new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，</a:t>
            </a: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old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，</a:t>
            </a: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null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等）：</a:t>
            </a:r>
          </a:p>
          <a:p>
            <a:pPr marL="578485" lvl="1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触发器函数必须返回</a:t>
            </a:r>
            <a:r>
              <a:rPr lang="en-US" altLang="zh-CN" sz="2000" dirty="0">
                <a:latin typeface="+mn-ea"/>
              </a:rPr>
              <a:t>NULL</a:t>
            </a:r>
            <a:r>
              <a:rPr lang="zh-CN" altLang="en-US" sz="2000" dirty="0">
                <a:latin typeface="+mn-ea"/>
              </a:rPr>
              <a:t>或者一个元组类型的变量；</a:t>
            </a:r>
          </a:p>
          <a:p>
            <a:pPr marL="578485" lvl="1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语句级触发器应返回</a:t>
            </a:r>
            <a:r>
              <a:rPr lang="en-US" altLang="zh-CN" sz="2000" dirty="0">
                <a:latin typeface="+mn-ea"/>
              </a:rPr>
              <a:t>null</a:t>
            </a:r>
            <a:r>
              <a:rPr lang="zh-CN" altLang="en-US" sz="2000" dirty="0">
                <a:latin typeface="+mn-ea"/>
              </a:rPr>
              <a:t>；</a:t>
            </a:r>
            <a:endParaRPr lang="en-US" altLang="zh-CN" sz="2000" dirty="0">
              <a:latin typeface="+mn-ea"/>
            </a:endParaRPr>
          </a:p>
          <a:p>
            <a:pPr marL="578485" lvl="1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行级</a:t>
            </a:r>
            <a:r>
              <a:rPr lang="en-US" altLang="zh-CN" sz="2000" dirty="0">
                <a:latin typeface="+mn-ea"/>
              </a:rPr>
              <a:t>after</a:t>
            </a:r>
            <a:r>
              <a:rPr lang="zh-CN" altLang="en-US" sz="2000" dirty="0">
                <a:latin typeface="+mn-ea"/>
              </a:rPr>
              <a:t>触发器的值总是被忽略，可以返回</a:t>
            </a:r>
            <a:r>
              <a:rPr lang="en-US" altLang="zh-CN" sz="2000" dirty="0">
                <a:latin typeface="+mn-ea"/>
              </a:rPr>
              <a:t>null</a:t>
            </a:r>
            <a:r>
              <a:rPr lang="zh-CN" altLang="en-US" sz="2000" dirty="0">
                <a:latin typeface="+mn-ea"/>
              </a:rPr>
              <a:t>；</a:t>
            </a:r>
            <a:endParaRPr lang="en-US" altLang="zh-CN" sz="2000" dirty="0">
              <a:latin typeface="+mn-ea"/>
            </a:endParaRPr>
          </a:p>
          <a:p>
            <a:pPr marL="578485" lvl="1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行级</a:t>
            </a:r>
            <a:r>
              <a:rPr lang="en-US" altLang="zh-CN" sz="2000" dirty="0">
                <a:latin typeface="+mn-ea"/>
              </a:rPr>
              <a:t>before</a:t>
            </a:r>
            <a:r>
              <a:rPr lang="zh-CN" altLang="en-US" sz="2000" dirty="0">
                <a:latin typeface="+mn-ea"/>
              </a:rPr>
              <a:t>触发器的值不同，对触发器操作的影响也不同；</a:t>
            </a:r>
          </a:p>
          <a:p>
            <a:pPr marL="578485" lvl="1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原因  </a:t>
            </a:r>
            <a:r>
              <a:rPr lang="en-US" altLang="zh-CN" sz="2000" dirty="0">
                <a:latin typeface="+mn-ea"/>
              </a:rPr>
              <a:t>INSERT </a:t>
            </a:r>
            <a:r>
              <a:rPr lang="zh-CN" altLang="en-US" sz="2000" dirty="0">
                <a:latin typeface="+mn-ea"/>
              </a:rPr>
              <a:t>和 </a:t>
            </a:r>
            <a:r>
              <a:rPr lang="en-US" altLang="zh-CN" sz="2000" dirty="0">
                <a:latin typeface="+mn-ea"/>
              </a:rPr>
              <a:t>UPDATE </a:t>
            </a:r>
            <a:r>
              <a:rPr lang="zh-CN" altLang="en-US" sz="2000" dirty="0">
                <a:latin typeface="+mn-ea"/>
              </a:rPr>
              <a:t>行触发器：返回的行将成为被插入的行或者是成为将要更新的行。这样就允许触发器函数修改将要被插入或者更新的行。</a:t>
            </a:r>
          </a:p>
          <a:p>
            <a:pPr marL="578485" lvl="1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endParaRPr lang="zh-CN" altLang="en-US" sz="2000" dirty="0">
              <a:latin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285582" y="2785449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eeid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eename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eeage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21882001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张一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21882002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张二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285582" y="4580604"/>
          <a:ext cx="6096000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21882001</a:t>
                      </a:r>
                      <a:endParaRPr lang="zh-CN" alt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张一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7751190" y="4565804"/>
            <a:ext cx="1189608" cy="3708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new</a:t>
            </a:r>
          </a:p>
        </p:txBody>
      </p:sp>
      <p:sp>
        <p:nvSpPr>
          <p:cNvPr id="19" name="矩形 18"/>
          <p:cNvSpPr/>
          <p:nvPr/>
        </p:nvSpPr>
        <p:spPr>
          <a:xfrm>
            <a:off x="7751190" y="3155895"/>
            <a:ext cx="1189608" cy="370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old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3300" dirty="0"/>
              <a:t>new</a:t>
            </a:r>
            <a:r>
              <a:rPr lang="zh-CN" altLang="en-US" sz="3300" dirty="0"/>
              <a:t>和</a:t>
            </a:r>
            <a:r>
              <a:rPr lang="en-US" altLang="zh-CN" sz="3300" dirty="0"/>
              <a:t>old</a:t>
            </a:r>
            <a:r>
              <a:rPr lang="zh-CN" altLang="en-US" sz="3300" dirty="0"/>
              <a:t>到底是什么？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85582" y="1739168"/>
            <a:ext cx="72113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update examinee set </a:t>
            </a:r>
            <a:r>
              <a:rPr lang="en-US" altLang="zh-CN" sz="2400" dirty="0" err="1"/>
              <a:t>eeage</a:t>
            </a:r>
            <a:r>
              <a:rPr lang="en-US" altLang="zh-CN" sz="2400" dirty="0"/>
              <a:t>=18 where </a:t>
            </a:r>
            <a:r>
              <a:rPr lang="en-US" altLang="zh-CN" sz="2400" dirty="0" err="1"/>
              <a:t>eename</a:t>
            </a:r>
            <a:r>
              <a:rPr lang="en-US" altLang="zh-CN" sz="2400" dirty="0"/>
              <a:t>=‘</a:t>
            </a:r>
            <a:r>
              <a:rPr lang="zh-CN" altLang="en-US" sz="2400" dirty="0"/>
              <a:t>张一</a:t>
            </a:r>
            <a:r>
              <a:rPr lang="en-US" altLang="zh-CN" sz="2400" dirty="0"/>
              <a:t>’;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1285582" y="3155895"/>
            <a:ext cx="6096000" cy="329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85582" y="4580604"/>
            <a:ext cx="6096000" cy="329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数据应用场景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124744"/>
            <a:ext cx="7498080" cy="5705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en-US" altLang="zh-CN" sz="1600" dirty="0"/>
              <a:t>create table examinee(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eeid</a:t>
            </a:r>
            <a:r>
              <a:rPr lang="en-US" altLang="zh-CN" sz="1600" dirty="0"/>
              <a:t> char(9) primary key,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eename</a:t>
            </a:r>
            <a:r>
              <a:rPr lang="en-US" altLang="zh-CN" sz="1600" dirty="0"/>
              <a:t> char(20) not null,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eeage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smallint</a:t>
            </a:r>
            <a:endParaRPr lang="en-US" altLang="zh-CN" sz="1600" dirty="0"/>
          </a:p>
          <a:p>
            <a:pPr marL="82550" indent="0">
              <a:buNone/>
            </a:pPr>
            <a:r>
              <a:rPr lang="en-US" altLang="zh-CN" sz="1600" dirty="0"/>
              <a:t>);</a:t>
            </a:r>
          </a:p>
          <a:p>
            <a:pPr marL="82550" indent="0">
              <a:buNone/>
            </a:pPr>
            <a:endParaRPr lang="en-US" altLang="zh-CN" sz="1600" dirty="0"/>
          </a:p>
          <a:p>
            <a:pPr marL="82550" indent="0">
              <a:buNone/>
            </a:pPr>
            <a:r>
              <a:rPr lang="en-US" altLang="zh-CN" sz="1600" dirty="0"/>
              <a:t>create table </a:t>
            </a:r>
            <a:r>
              <a:rPr lang="en-US" altLang="zh-CN" sz="1600" dirty="0" err="1"/>
              <a:t>eeexam</a:t>
            </a:r>
            <a:r>
              <a:rPr lang="en-US" altLang="zh-CN" sz="1600" dirty="0"/>
              <a:t>(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eeid</a:t>
            </a:r>
            <a:r>
              <a:rPr lang="en-US" altLang="zh-CN" sz="1600" dirty="0"/>
              <a:t> char(9) not null,</a:t>
            </a:r>
          </a:p>
          <a:p>
            <a:pPr marL="8255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eid</a:t>
            </a:r>
            <a:r>
              <a:rPr lang="en-US" altLang="zh-CN" sz="1600" dirty="0"/>
              <a:t> char(4) not null,</a:t>
            </a:r>
          </a:p>
          <a:p>
            <a:pPr marL="82550" indent="0">
              <a:buNone/>
            </a:pPr>
            <a:r>
              <a:rPr lang="en-US" altLang="zh-CN" sz="1600" dirty="0"/>
              <a:t>	achieve </a:t>
            </a:r>
            <a:r>
              <a:rPr lang="en-US" altLang="zh-CN" sz="1600" dirty="0" err="1"/>
              <a:t>smallint</a:t>
            </a:r>
            <a:r>
              <a:rPr lang="en-US" altLang="zh-CN" sz="1600" dirty="0"/>
              <a:t>,</a:t>
            </a:r>
          </a:p>
          <a:p>
            <a:pPr marL="82550" indent="0">
              <a:buNone/>
            </a:pPr>
            <a:r>
              <a:rPr lang="en-US" altLang="zh-CN" sz="1600" dirty="0"/>
              <a:t>	primary key(</a:t>
            </a:r>
            <a:r>
              <a:rPr lang="en-US" altLang="zh-CN" sz="1600" dirty="0" err="1"/>
              <a:t>eeid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eid</a:t>
            </a:r>
            <a:r>
              <a:rPr lang="en-US" altLang="zh-CN" sz="1600" dirty="0"/>
              <a:t>)</a:t>
            </a:r>
          </a:p>
          <a:p>
            <a:pPr marL="82550" indent="0">
              <a:buNone/>
            </a:pPr>
            <a:r>
              <a:rPr lang="en-US" altLang="zh-CN" sz="1600" dirty="0"/>
              <a:t>);</a:t>
            </a:r>
          </a:p>
          <a:p>
            <a:pPr marL="82550" indent="0">
              <a:buNone/>
            </a:pPr>
            <a:r>
              <a:rPr lang="en-US" altLang="zh-CN" sz="1600" dirty="0"/>
              <a:t>insert into examinee values('21882001','</a:t>
            </a:r>
            <a:r>
              <a:rPr lang="zh-CN" altLang="en-US" sz="1600" dirty="0"/>
              <a:t>张一</a:t>
            </a:r>
            <a:r>
              <a:rPr lang="en-US" altLang="zh-CN" sz="1600" dirty="0"/>
              <a:t>',20),('21882002','</a:t>
            </a:r>
            <a:r>
              <a:rPr lang="zh-CN" altLang="en-US" sz="1600" dirty="0"/>
              <a:t>张二</a:t>
            </a:r>
            <a:r>
              <a:rPr lang="en-US" altLang="zh-CN" sz="1600" dirty="0"/>
              <a:t>',21);</a:t>
            </a:r>
          </a:p>
          <a:p>
            <a:pPr marL="82550" indent="0">
              <a:buNone/>
            </a:pPr>
            <a:r>
              <a:rPr lang="en-US" altLang="zh-CN" sz="1600" dirty="0"/>
              <a:t>insert into </a:t>
            </a:r>
            <a:r>
              <a:rPr lang="en-US" altLang="zh-CN" sz="1600" dirty="0" err="1"/>
              <a:t>eeexam</a:t>
            </a:r>
            <a:r>
              <a:rPr lang="en-US" altLang="zh-CN" sz="1600" dirty="0"/>
              <a:t> values('21882001','001',98),('21882002','001',60);</a:t>
            </a:r>
            <a:endParaRPr lang="zh-CN" altLang="zh-CN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300" dirty="0"/>
              <a:t>insert</a:t>
            </a:r>
            <a:r>
              <a:rPr lang="zh-CN" altLang="en-US" sz="3300" dirty="0"/>
              <a:t>触发器程序示例 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1625" y="1556792"/>
            <a:ext cx="813460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r>
              <a:rPr lang="en-US" altLang="zh-CN" sz="2000" dirty="0">
                <a:latin typeface="Gill Sans MT"/>
                <a:ea typeface="华文中宋" panose="02010600040101010101" charset="-122"/>
              </a:rPr>
              <a:t>create or replace function </a:t>
            </a:r>
            <a:r>
              <a:rPr lang="en-US" altLang="zh-CN" sz="2000" dirty="0" err="1">
                <a:latin typeface="Gill Sans MT"/>
                <a:ea typeface="华文中宋" panose="02010600040101010101" charset="-122"/>
              </a:rPr>
              <a:t>examineeid</a:t>
            </a:r>
            <a:r>
              <a:rPr lang="en-US" altLang="zh-CN" sz="2000" dirty="0">
                <a:latin typeface="Gill Sans MT"/>
                <a:ea typeface="华文中宋" panose="02010600040101010101" charset="-122"/>
              </a:rPr>
              <a:t>() returns trigger as $$</a:t>
            </a:r>
          </a:p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r>
              <a:rPr lang="en-US" altLang="zh-CN" sz="2000" dirty="0">
                <a:latin typeface="Gill Sans MT"/>
                <a:ea typeface="华文中宋" panose="02010600040101010101" charset="-122"/>
              </a:rPr>
              <a:t>begin</a:t>
            </a:r>
          </a:p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r>
              <a:rPr lang="en-US" altLang="zh-CN" sz="2000" dirty="0">
                <a:latin typeface="Gill Sans MT"/>
                <a:ea typeface="华文中宋" panose="02010600040101010101" charset="-122"/>
              </a:rPr>
              <a:t>	if  </a:t>
            </a:r>
            <a:r>
              <a:rPr lang="en-US" altLang="zh-CN" sz="2000" dirty="0" err="1">
                <a:latin typeface="Gill Sans MT"/>
                <a:ea typeface="华文中宋" panose="02010600040101010101" charset="-122"/>
              </a:rPr>
              <a:t>char_length</a:t>
            </a:r>
            <a:r>
              <a:rPr lang="en-US" altLang="zh-CN" sz="2000" dirty="0">
                <a:latin typeface="Gill Sans MT"/>
                <a:ea typeface="华文中宋" panose="02010600040101010101" charset="-122"/>
              </a:rPr>
              <a:t>(</a:t>
            </a:r>
            <a:r>
              <a:rPr lang="en-US" altLang="zh-CN" sz="2000" dirty="0" err="1">
                <a:latin typeface="Gill Sans MT"/>
                <a:ea typeface="华文中宋" panose="02010600040101010101" charset="-122"/>
              </a:rPr>
              <a:t>new.eeid</a:t>
            </a:r>
            <a:r>
              <a:rPr lang="en-US" altLang="zh-CN" sz="2000" dirty="0">
                <a:latin typeface="Gill Sans MT"/>
                <a:ea typeface="华文中宋" panose="02010600040101010101" charset="-122"/>
              </a:rPr>
              <a:t>)&lt;&gt;8 then  </a:t>
            </a:r>
          </a:p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r>
              <a:rPr lang="en-US" altLang="zh-CN" sz="2000" dirty="0">
                <a:latin typeface="Gill Sans MT"/>
                <a:ea typeface="华文中宋" panose="02010600040101010101" charset="-122"/>
              </a:rPr>
              <a:t>               raise exception  '</a:t>
            </a:r>
            <a:r>
              <a:rPr lang="zh-CN" altLang="en-US" sz="2000" dirty="0">
                <a:latin typeface="Gill Sans MT"/>
                <a:ea typeface="华文中宋" panose="02010600040101010101" charset="-122"/>
              </a:rPr>
              <a:t>学号格式错误</a:t>
            </a:r>
            <a:r>
              <a:rPr lang="en-US" altLang="zh-CN" sz="2000" dirty="0">
                <a:latin typeface="Gill Sans MT"/>
                <a:ea typeface="华文中宋" panose="02010600040101010101" charset="-122"/>
              </a:rPr>
              <a:t>';    </a:t>
            </a:r>
          </a:p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r>
              <a:rPr lang="en-US" altLang="zh-CN" sz="2000" dirty="0">
                <a:latin typeface="Gill Sans MT"/>
                <a:ea typeface="华文中宋" panose="02010600040101010101" charset="-122"/>
              </a:rPr>
              <a:t>               return null;  </a:t>
            </a:r>
          </a:p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r>
              <a:rPr lang="en-US" altLang="zh-CN" sz="2000" dirty="0">
                <a:latin typeface="Gill Sans MT"/>
                <a:ea typeface="华文中宋" panose="02010600040101010101" charset="-122"/>
              </a:rPr>
              <a:t>        end if;</a:t>
            </a:r>
          </a:p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r>
              <a:rPr lang="en-US" altLang="zh-CN" sz="2000" dirty="0">
                <a:latin typeface="Gill Sans MT"/>
                <a:ea typeface="华文中宋" panose="02010600040101010101" charset="-122"/>
              </a:rPr>
              <a:t>        return new;</a:t>
            </a:r>
          </a:p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r>
              <a:rPr lang="en-US" altLang="zh-CN" sz="2000" dirty="0">
                <a:latin typeface="Gill Sans MT"/>
                <a:ea typeface="华文中宋" panose="02010600040101010101" charset="-122"/>
              </a:rPr>
              <a:t>end;</a:t>
            </a:r>
          </a:p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r>
              <a:rPr lang="en-US" altLang="zh-CN" sz="2000" dirty="0">
                <a:latin typeface="Gill Sans MT"/>
                <a:ea typeface="华文中宋" panose="02010600040101010101" charset="-122"/>
              </a:rPr>
              <a:t>$$ language </a:t>
            </a:r>
            <a:r>
              <a:rPr lang="en-US" altLang="zh-CN" sz="2000" dirty="0" err="1">
                <a:latin typeface="Gill Sans MT"/>
                <a:ea typeface="华文中宋" panose="02010600040101010101" charset="-122"/>
              </a:rPr>
              <a:t>plpgsql</a:t>
            </a:r>
            <a:r>
              <a:rPr lang="en-US" altLang="zh-CN" sz="2000" dirty="0">
                <a:latin typeface="Gill Sans MT"/>
                <a:ea typeface="华文中宋" panose="02010600040101010101" charset="-122"/>
              </a:rPr>
              <a:t>;</a:t>
            </a:r>
          </a:p>
        </p:txBody>
      </p:sp>
      <p:sp>
        <p:nvSpPr>
          <p:cNvPr id="12" name="矩形 11"/>
          <p:cNvSpPr/>
          <p:nvPr/>
        </p:nvSpPr>
        <p:spPr>
          <a:xfrm>
            <a:off x="1083813" y="5173821"/>
            <a:ext cx="7730231" cy="1000274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r>
              <a:rPr lang="en-US" altLang="zh-CN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create trigger </a:t>
            </a:r>
            <a:r>
              <a:rPr lang="en-US" altLang="zh-CN" dirty="0" err="1">
                <a:latin typeface="Gill Sans MT"/>
                <a:ea typeface="华文中宋" panose="02010600040101010101" charset="-122"/>
              </a:rPr>
              <a:t>eeid_insert</a:t>
            </a:r>
            <a:r>
              <a:rPr lang="en-US" altLang="zh-CN" dirty="0">
                <a:solidFill>
                  <a:prstClr val="black"/>
                </a:solidFill>
                <a:latin typeface="Gill Sans MT"/>
                <a:ea typeface="华文中宋" panose="02010600040101010101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before</a:t>
            </a:r>
            <a:r>
              <a:rPr lang="en-US" altLang="zh-CN" dirty="0">
                <a:solidFill>
                  <a:prstClr val="black"/>
                </a:solidFill>
                <a:latin typeface="Gill Sans MT"/>
                <a:ea typeface="华文中宋" panose="02010600040101010101" charset="-122"/>
              </a:rPr>
              <a:t> insert on examinee</a:t>
            </a:r>
            <a:r>
              <a:rPr lang="en-US" altLang="zh-CN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 for each row execute procedure</a:t>
            </a:r>
            <a:r>
              <a:rPr lang="en-US" altLang="zh-CN" dirty="0">
                <a:solidFill>
                  <a:prstClr val="black"/>
                </a:solidFill>
                <a:latin typeface="Gill Sans MT"/>
                <a:ea typeface="华文中宋" panose="02010600040101010101" charset="-122"/>
              </a:rPr>
              <a:t> </a:t>
            </a:r>
            <a:r>
              <a:rPr lang="en-US" altLang="zh-CN" dirty="0" err="1">
                <a:latin typeface="Gill Sans MT"/>
                <a:ea typeface="华文中宋" panose="02010600040101010101" charset="-122"/>
              </a:rPr>
              <a:t>examineeid</a:t>
            </a:r>
            <a:r>
              <a:rPr lang="en-US" altLang="zh-CN" dirty="0">
                <a:solidFill>
                  <a:prstClr val="black"/>
                </a:solidFill>
                <a:latin typeface="Gill Sans MT"/>
                <a:ea typeface="华文中宋" panose="02010600040101010101" charset="-122"/>
              </a:rPr>
              <a:t>();</a:t>
            </a:r>
          </a:p>
          <a:p>
            <a:pPr marL="365760" lvl="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r>
              <a:rPr lang="en-US" altLang="zh-CN" dirty="0"/>
              <a:t>insert into examinee values('123','</a:t>
            </a:r>
            <a:r>
              <a:rPr lang="zh-CN" altLang="en-US" dirty="0"/>
              <a:t>王琳琳</a:t>
            </a:r>
            <a:r>
              <a:rPr lang="en-US" altLang="zh-CN" dirty="0"/>
              <a:t>',23);</a:t>
            </a:r>
            <a:endParaRPr lang="en-US" altLang="zh-CN" dirty="0">
              <a:solidFill>
                <a:prstClr val="black"/>
              </a:solidFill>
              <a:latin typeface="Gill Sans MT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113" y="3429000"/>
            <a:ext cx="4183575" cy="72070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90" y="4224655"/>
            <a:ext cx="2097405" cy="8750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300" dirty="0"/>
              <a:t>update</a:t>
            </a:r>
            <a:r>
              <a:rPr lang="zh-CN" altLang="en-US" sz="3300" dirty="0"/>
              <a:t>触发器程序示例 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43608" y="1417638"/>
            <a:ext cx="7543800" cy="1887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5450" indent="-342900" algn="just" defTabSz="914400">
              <a:spcBef>
                <a:spcPts val="6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Adobe 仿宋 Std R" pitchFamily="18" charset="-122"/>
                <a:ea typeface="Adobe 仿宋 Std R" pitchFamily="18" charset="-122"/>
              </a:rPr>
              <a:t>要求：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建立</a:t>
            </a: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update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触发器，对</a:t>
            </a: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examinee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表进行</a:t>
            </a: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update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操作时，若考生考号被修改，则将</a:t>
            </a:r>
            <a:r>
              <a:rPr lang="en-US" altLang="zh-CN" sz="2400" dirty="0" err="1">
                <a:latin typeface="Adobe 仿宋 Std R" pitchFamily="18" charset="-122"/>
                <a:ea typeface="Adobe 仿宋 Std R" pitchFamily="18" charset="-122"/>
              </a:rPr>
              <a:t>eeexam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表中的相应考号进行修改。</a:t>
            </a:r>
            <a:endParaRPr lang="en-US" altLang="zh-CN" sz="2400" dirty="0">
              <a:latin typeface="Adobe 仿宋 Std R" pitchFamily="18" charset="-122"/>
              <a:ea typeface="Adobe 仿宋 Std R" pitchFamily="18" charset="-122"/>
            </a:endParaRPr>
          </a:p>
          <a:p>
            <a:pPr marL="425450" indent="-342900" algn="just" defTabSz="914400">
              <a:spcBef>
                <a:spcPts val="6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035685" lvl="2" indent="-285750" algn="just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确定是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after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触发器，行级触发器。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300" dirty="0"/>
              <a:t>update</a:t>
            </a:r>
            <a:r>
              <a:rPr lang="zh-CN" altLang="en-US" sz="3300" dirty="0"/>
              <a:t>触发器程序示例 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3880" y="1268760"/>
            <a:ext cx="817012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/>
              <a:t>create or replace function </a:t>
            </a:r>
            <a:r>
              <a:rPr lang="en-US" altLang="zh-CN" dirty="0" err="1"/>
              <a:t>examinee_up</a:t>
            </a:r>
            <a:r>
              <a:rPr lang="en-US" altLang="zh-CN" dirty="0"/>
              <a:t>() returns trigger as 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/>
              <a:t>$$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/>
              <a:t>begin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/>
              <a:t>if (</a:t>
            </a:r>
            <a:r>
              <a:rPr lang="en-US" altLang="zh-CN" dirty="0" err="1"/>
              <a:t>new.eeid</a:t>
            </a:r>
            <a:r>
              <a:rPr lang="en-US" altLang="zh-CN" dirty="0"/>
              <a:t>&lt;&gt;</a:t>
            </a:r>
            <a:r>
              <a:rPr lang="en-US" altLang="zh-CN" dirty="0" err="1"/>
              <a:t>old.eeid</a:t>
            </a:r>
            <a:r>
              <a:rPr lang="en-US" altLang="zh-CN" dirty="0"/>
              <a:t>) then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/>
              <a:t>update </a:t>
            </a:r>
            <a:r>
              <a:rPr lang="en-US" altLang="zh-CN" dirty="0" err="1"/>
              <a:t>eeexam</a:t>
            </a:r>
            <a:r>
              <a:rPr lang="en-US" altLang="zh-CN" dirty="0"/>
              <a:t> set </a:t>
            </a:r>
            <a:r>
              <a:rPr lang="en-US" altLang="zh-CN" dirty="0" err="1"/>
              <a:t>eeid</a:t>
            </a:r>
            <a:r>
              <a:rPr lang="en-US" altLang="zh-CN" dirty="0"/>
              <a:t>=</a:t>
            </a:r>
            <a:r>
              <a:rPr lang="en-US" altLang="zh-CN" dirty="0" err="1">
                <a:solidFill>
                  <a:srgbClr val="FF0000"/>
                </a:solidFill>
              </a:rPr>
              <a:t>new.eeid</a:t>
            </a:r>
            <a:r>
              <a:rPr lang="en-US" altLang="zh-CN" dirty="0"/>
              <a:t> where </a:t>
            </a:r>
            <a:r>
              <a:rPr lang="en-US" altLang="zh-CN" dirty="0" err="1"/>
              <a:t>eeid</a:t>
            </a:r>
            <a:r>
              <a:rPr lang="en-US" altLang="zh-CN" dirty="0"/>
              <a:t>=</a:t>
            </a:r>
            <a:r>
              <a:rPr lang="en-US" altLang="zh-CN" dirty="0" err="1">
                <a:solidFill>
                  <a:srgbClr val="FF0000"/>
                </a:solidFill>
              </a:rPr>
              <a:t>old.eeid</a:t>
            </a:r>
            <a:r>
              <a:rPr lang="en-US" altLang="zh-CN" dirty="0"/>
              <a:t>;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/>
              <a:t>end if;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return new</a:t>
            </a:r>
            <a:r>
              <a:rPr lang="en-US" altLang="zh-CN" dirty="0"/>
              <a:t>;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/>
              <a:t>end;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/>
              <a:t>$$ language  </a:t>
            </a:r>
            <a:r>
              <a:rPr lang="en-US" altLang="zh-CN" dirty="0" err="1"/>
              <a:t>plpgsql</a:t>
            </a:r>
            <a:r>
              <a:rPr lang="en-US" altLang="zh-CN" dirty="0"/>
              <a:t>;</a:t>
            </a:r>
            <a:endParaRPr lang="en-US" altLang="zh-CN" dirty="0">
              <a:latin typeface="Gill Sans MT"/>
              <a:ea typeface="华文中宋" panose="02010600040101010101" charset="-122"/>
            </a:endParaRPr>
          </a:p>
          <a:p>
            <a:pPr marL="425450" indent="-34290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create trigger</a:t>
            </a:r>
            <a:r>
              <a:rPr lang="en-US" altLang="zh-CN" dirty="0">
                <a:latin typeface="Gill Sans MT"/>
                <a:ea typeface="华文中宋" panose="02010600040101010101" charset="-122"/>
              </a:rPr>
              <a:t> </a:t>
            </a:r>
            <a:r>
              <a:rPr lang="en-US" altLang="zh-CN" dirty="0" err="1">
                <a:latin typeface="Gill Sans MT"/>
                <a:ea typeface="华文中宋" panose="02010600040101010101" charset="-122"/>
              </a:rPr>
              <a:t>examinee_update</a:t>
            </a:r>
            <a:r>
              <a:rPr lang="en-US" altLang="zh-CN" dirty="0">
                <a:latin typeface="Gill Sans MT"/>
                <a:ea typeface="华文中宋" panose="02010600040101010101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after</a:t>
            </a:r>
            <a:r>
              <a:rPr lang="en-US" altLang="zh-CN" dirty="0">
                <a:latin typeface="Gill Sans MT"/>
                <a:ea typeface="华文中宋" panose="02010600040101010101" charset="-122"/>
              </a:rPr>
              <a:t> update on examinee </a:t>
            </a:r>
            <a:r>
              <a:rPr lang="en-US" altLang="zh-CN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for each row execute procedure</a:t>
            </a:r>
            <a:r>
              <a:rPr lang="en-US" altLang="zh-CN" dirty="0">
                <a:latin typeface="Gill Sans MT"/>
                <a:ea typeface="华文中宋" panose="02010600040101010101" charset="-122"/>
              </a:rPr>
              <a:t> </a:t>
            </a:r>
            <a:r>
              <a:rPr lang="en-US" altLang="zh-CN" dirty="0" err="1">
                <a:latin typeface="Gill Sans MT"/>
                <a:ea typeface="华文中宋" panose="02010600040101010101" charset="-122"/>
              </a:rPr>
              <a:t>examinee_up</a:t>
            </a:r>
            <a:r>
              <a:rPr lang="en-US" altLang="zh-CN" dirty="0">
                <a:latin typeface="Gill Sans MT"/>
                <a:ea typeface="华文中宋" panose="02010600040101010101" charset="-122"/>
              </a:rPr>
              <a:t>();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/>
              <a:t>update examinee set </a:t>
            </a:r>
            <a:r>
              <a:rPr lang="en-US" altLang="zh-CN" dirty="0" err="1"/>
              <a:t>eeid</a:t>
            </a:r>
            <a:r>
              <a:rPr lang="en-US" altLang="zh-CN" dirty="0"/>
              <a:t>='21881003' where </a:t>
            </a:r>
            <a:r>
              <a:rPr lang="en-US" altLang="zh-CN" dirty="0" err="1"/>
              <a:t>eename</a:t>
            </a:r>
            <a:r>
              <a:rPr lang="en-US" altLang="zh-CN" dirty="0"/>
              <a:t>='</a:t>
            </a:r>
            <a:r>
              <a:rPr lang="zh-CN" altLang="en-US" dirty="0"/>
              <a:t>张一</a:t>
            </a:r>
            <a:r>
              <a:rPr lang="en-US" altLang="zh-CN" dirty="0"/>
              <a:t>'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云形标注 3"/>
          <p:cNvSpPr/>
          <p:nvPr/>
        </p:nvSpPr>
        <p:spPr>
          <a:xfrm>
            <a:off x="1438872" y="5589240"/>
            <a:ext cx="7200800" cy="105273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把</a:t>
            </a:r>
            <a:r>
              <a:rPr lang="en-US" altLang="zh-CN" dirty="0">
                <a:solidFill>
                  <a:schemeClr val="tx1"/>
                </a:solidFill>
              </a:rPr>
              <a:t>return new</a:t>
            </a:r>
            <a:r>
              <a:rPr lang="zh-CN" altLang="en-US" dirty="0">
                <a:solidFill>
                  <a:schemeClr val="tx1"/>
                </a:solidFill>
              </a:rPr>
              <a:t>改成</a:t>
            </a:r>
            <a:r>
              <a:rPr lang="en-US" altLang="zh-CN" dirty="0">
                <a:solidFill>
                  <a:schemeClr val="tx1"/>
                </a:solidFill>
              </a:rPr>
              <a:t>return null</a:t>
            </a:r>
            <a:r>
              <a:rPr lang="zh-CN" altLang="en-US" dirty="0">
                <a:solidFill>
                  <a:schemeClr val="tx1"/>
                </a:solidFill>
              </a:rPr>
              <a:t>对结果有影响吗？为什么？</a:t>
            </a:r>
            <a:endParaRPr lang="en-US" altLang="zh-CN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如果是</a:t>
            </a:r>
            <a:r>
              <a:rPr lang="en-US" altLang="zh-CN" dirty="0">
                <a:solidFill>
                  <a:schemeClr val="tx1"/>
                </a:solidFill>
              </a:rPr>
              <a:t>before</a:t>
            </a:r>
            <a:r>
              <a:rPr lang="zh-CN" altLang="en-US" dirty="0">
                <a:solidFill>
                  <a:schemeClr val="tx1"/>
                </a:solidFill>
              </a:rPr>
              <a:t>触发器，把</a:t>
            </a:r>
            <a:r>
              <a:rPr lang="en-US" altLang="zh-CN" dirty="0">
                <a:solidFill>
                  <a:schemeClr val="tx1"/>
                </a:solidFill>
              </a:rPr>
              <a:t>return new</a:t>
            </a:r>
            <a:r>
              <a:rPr lang="zh-CN" altLang="en-US" dirty="0">
                <a:solidFill>
                  <a:schemeClr val="tx1"/>
                </a:solidFill>
              </a:rPr>
              <a:t>改成</a:t>
            </a:r>
            <a:r>
              <a:rPr lang="en-US" altLang="zh-CN" dirty="0">
                <a:solidFill>
                  <a:schemeClr val="tx1"/>
                </a:solidFill>
              </a:rPr>
              <a:t>return null</a:t>
            </a:r>
            <a:r>
              <a:rPr lang="zh-CN" altLang="en-US" dirty="0">
                <a:solidFill>
                  <a:schemeClr val="tx1"/>
                </a:solidFill>
              </a:rPr>
              <a:t>对结果有影响吗？</a:t>
            </a:r>
            <a:endParaRPr lang="en-US" altLang="zh-CN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</a:rPr>
              <a:t>思考：</a:t>
            </a:r>
            <a:r>
              <a:rPr lang="zh-CN" altLang="en-US" dirty="0">
                <a:solidFill>
                  <a:schemeClr val="tx1"/>
                </a:solidFill>
              </a:rPr>
              <a:t>返回来的数据行是用来干什么的？对</a:t>
            </a:r>
            <a:r>
              <a:rPr lang="zh-CN" altLang="en-US" b="1" dirty="0">
                <a:solidFill>
                  <a:schemeClr val="tx1"/>
                </a:solidFill>
              </a:rPr>
              <a:t>哪个表</a:t>
            </a:r>
            <a:r>
              <a:rPr lang="zh-CN" altLang="en-US" dirty="0">
                <a:solidFill>
                  <a:schemeClr val="tx1"/>
                </a:solidFill>
              </a:rPr>
              <a:t>做操作？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300" dirty="0"/>
              <a:t>delete</a:t>
            </a:r>
            <a:r>
              <a:rPr lang="zh-CN" altLang="en-US" sz="3300" dirty="0"/>
              <a:t>触发器程序示例 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1600" y="1628800"/>
            <a:ext cx="7543800" cy="1887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5450" indent="-342900" algn="just" defTabSz="914400">
              <a:spcBef>
                <a:spcPts val="6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Adobe 仿宋 Std R" pitchFamily="18" charset="-122"/>
                <a:ea typeface="Adobe 仿宋 Std R" pitchFamily="18" charset="-122"/>
              </a:rPr>
              <a:t>要求：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建立</a:t>
            </a: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delete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触发器，当</a:t>
            </a:r>
            <a:r>
              <a:rPr lang="en-US" altLang="zh-CN" sz="2400" dirty="0">
                <a:latin typeface="Adobe 仿宋 Std R" pitchFamily="18" charset="-122"/>
                <a:ea typeface="Adobe 仿宋 Std R" pitchFamily="18" charset="-122"/>
              </a:rPr>
              <a:t>examinee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表中考生元组被删除后，删除</a:t>
            </a:r>
            <a:r>
              <a:rPr lang="en-US" altLang="zh-CN" sz="2400" dirty="0" err="1">
                <a:latin typeface="Adobe 仿宋 Std R" pitchFamily="18" charset="-122"/>
                <a:ea typeface="Adobe 仿宋 Std R" pitchFamily="18" charset="-122"/>
              </a:rPr>
              <a:t>eeexam</a:t>
            </a:r>
            <a:r>
              <a:rPr lang="zh-CN" altLang="en-US" sz="2400" dirty="0">
                <a:latin typeface="Adobe 仿宋 Std R" pitchFamily="18" charset="-122"/>
                <a:ea typeface="Adobe 仿宋 Std R" pitchFamily="18" charset="-122"/>
              </a:rPr>
              <a:t>表中的相应的考生考试信息。</a:t>
            </a:r>
            <a:endParaRPr lang="en-US" altLang="zh-CN" sz="2400" dirty="0">
              <a:latin typeface="Adobe 仿宋 Std R" pitchFamily="18" charset="-122"/>
              <a:ea typeface="Adobe 仿宋 Std R" pitchFamily="18" charset="-122"/>
            </a:endParaRPr>
          </a:p>
          <a:p>
            <a:pPr marL="425450" indent="-342900" algn="just" defTabSz="914400">
              <a:spcBef>
                <a:spcPts val="6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035685" lvl="2" indent="-285750" algn="just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确定是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after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触发器， 行级触发器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300" dirty="0"/>
              <a:t>delete</a:t>
            </a:r>
            <a:r>
              <a:rPr lang="zh-CN" altLang="en-US" sz="3300" dirty="0"/>
              <a:t>触发器程序示例 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4489" y="1398362"/>
            <a:ext cx="8170120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2550">
              <a:spcBef>
                <a:spcPts val="600"/>
              </a:spcBef>
              <a:buClr>
                <a:srgbClr val="3891A7"/>
              </a:buClr>
              <a:buSzPct val="80000"/>
            </a:pPr>
            <a:r>
              <a:rPr lang="en-US" altLang="zh-CN" sz="2000" dirty="0"/>
              <a:t>create or replace function </a:t>
            </a:r>
            <a:r>
              <a:rPr lang="en-US" altLang="zh-CN" sz="2000" dirty="0" err="1"/>
              <a:t>examinee_dele</a:t>
            </a:r>
            <a:r>
              <a:rPr lang="en-US" altLang="zh-CN" sz="2000" dirty="0"/>
              <a:t>() returns trigger as $$</a:t>
            </a:r>
          </a:p>
          <a:p>
            <a:pPr marL="82550">
              <a:spcBef>
                <a:spcPts val="600"/>
              </a:spcBef>
              <a:buClr>
                <a:srgbClr val="3891A7"/>
              </a:buClr>
              <a:buSzPct val="80000"/>
            </a:pPr>
            <a:r>
              <a:rPr lang="en-US" altLang="zh-CN" sz="2000" dirty="0"/>
              <a:t>begin</a:t>
            </a:r>
          </a:p>
          <a:p>
            <a:pPr marL="82550">
              <a:spcBef>
                <a:spcPts val="600"/>
              </a:spcBef>
              <a:buClr>
                <a:srgbClr val="3891A7"/>
              </a:buClr>
              <a:buSzPct val="80000"/>
            </a:pPr>
            <a:r>
              <a:rPr lang="en-US" altLang="zh-CN" sz="2000" dirty="0"/>
              <a:t>delete from </a:t>
            </a:r>
            <a:r>
              <a:rPr lang="en-US" altLang="zh-CN" sz="2000" dirty="0" err="1"/>
              <a:t>eeexam</a:t>
            </a:r>
            <a:r>
              <a:rPr lang="en-US" altLang="zh-CN" sz="2000" dirty="0"/>
              <a:t> where </a:t>
            </a:r>
            <a:r>
              <a:rPr lang="en-US" altLang="zh-CN" sz="2000" dirty="0" err="1">
                <a:solidFill>
                  <a:srgbClr val="FF0000"/>
                </a:solidFill>
              </a:rPr>
              <a:t>eeexam.eeid</a:t>
            </a:r>
            <a:r>
              <a:rPr lang="en-US" altLang="zh-CN" sz="2000" dirty="0">
                <a:solidFill>
                  <a:srgbClr val="FF0000"/>
                </a:solidFill>
              </a:rPr>
              <a:t>=</a:t>
            </a:r>
            <a:r>
              <a:rPr lang="en-US" altLang="zh-CN" sz="2000" dirty="0" err="1">
                <a:solidFill>
                  <a:srgbClr val="FF0000"/>
                </a:solidFill>
              </a:rPr>
              <a:t>old.eeid</a:t>
            </a:r>
            <a:r>
              <a:rPr lang="en-US" altLang="zh-CN" sz="2000" dirty="0"/>
              <a:t> ;</a:t>
            </a:r>
          </a:p>
          <a:p>
            <a:pPr marL="82550">
              <a:spcBef>
                <a:spcPts val="600"/>
              </a:spcBef>
              <a:buClr>
                <a:srgbClr val="3891A7"/>
              </a:buClr>
              <a:buSzPct val="80000"/>
            </a:pPr>
            <a:r>
              <a:rPr lang="en-US" altLang="zh-CN" sz="2000" dirty="0"/>
              <a:t>return new;</a:t>
            </a:r>
          </a:p>
          <a:p>
            <a:pPr marL="82550">
              <a:spcBef>
                <a:spcPts val="600"/>
              </a:spcBef>
              <a:buClr>
                <a:srgbClr val="3891A7"/>
              </a:buClr>
              <a:buSzPct val="80000"/>
            </a:pPr>
            <a:r>
              <a:rPr lang="en-US" altLang="zh-CN" sz="2000" dirty="0"/>
              <a:t>end;</a:t>
            </a:r>
          </a:p>
          <a:p>
            <a:pPr marL="82550">
              <a:spcBef>
                <a:spcPts val="600"/>
              </a:spcBef>
              <a:buClr>
                <a:srgbClr val="3891A7"/>
              </a:buClr>
              <a:buSzPct val="80000"/>
            </a:pPr>
            <a:r>
              <a:rPr lang="en-US" altLang="zh-CN" sz="2000" dirty="0"/>
              <a:t>$$ language  </a:t>
            </a:r>
            <a:r>
              <a:rPr lang="en-US" altLang="zh-CN" sz="2000" dirty="0" err="1"/>
              <a:t>plpgsql</a:t>
            </a:r>
            <a:r>
              <a:rPr lang="en-US" altLang="zh-CN" sz="2000" dirty="0"/>
              <a:t>;</a:t>
            </a:r>
            <a:endParaRPr lang="en-US" altLang="zh-CN" sz="2000" dirty="0">
              <a:latin typeface="Gill Sans MT"/>
              <a:ea typeface="华文中宋" panose="02010600040101010101" charset="-122"/>
            </a:endParaRPr>
          </a:p>
          <a:p>
            <a:pPr marL="425450" indent="-34290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create trigger</a:t>
            </a:r>
            <a:r>
              <a:rPr lang="en-US" altLang="zh-CN" sz="2000" dirty="0">
                <a:latin typeface="Gill Sans MT"/>
                <a:ea typeface="华文中宋" panose="02010600040101010101" charset="-122"/>
              </a:rPr>
              <a:t> </a:t>
            </a:r>
            <a:r>
              <a:rPr lang="en-US" altLang="zh-CN" sz="2000" dirty="0" err="1">
                <a:latin typeface="Gill Sans MT"/>
                <a:ea typeface="华文中宋" panose="02010600040101010101" charset="-122"/>
              </a:rPr>
              <a:t>ee_delete</a:t>
            </a:r>
            <a:r>
              <a:rPr lang="en-US" altLang="zh-CN" sz="2000" dirty="0">
                <a:latin typeface="Gill Sans MT"/>
                <a:ea typeface="华文中宋" panose="02010600040101010101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after</a:t>
            </a:r>
            <a:r>
              <a:rPr lang="en-US" altLang="zh-CN" sz="2000" dirty="0">
                <a:latin typeface="Gill Sans MT"/>
                <a:ea typeface="华文中宋" panose="02010600040101010101" charset="-122"/>
              </a:rPr>
              <a:t> delete on examinee </a:t>
            </a:r>
            <a:r>
              <a:rPr lang="en-US" altLang="zh-CN" sz="2000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for each row execute procedure</a:t>
            </a:r>
            <a:r>
              <a:rPr lang="en-US" altLang="zh-CN" sz="2000" dirty="0">
                <a:latin typeface="Gill Sans MT"/>
                <a:ea typeface="华文中宋" panose="02010600040101010101" charset="-122"/>
              </a:rPr>
              <a:t> </a:t>
            </a:r>
            <a:r>
              <a:rPr lang="en-US" altLang="zh-CN" sz="2000" dirty="0" err="1">
                <a:latin typeface="Gill Sans MT"/>
                <a:ea typeface="华文中宋" panose="02010600040101010101" charset="-122"/>
              </a:rPr>
              <a:t>examinee_dele</a:t>
            </a:r>
            <a:r>
              <a:rPr lang="en-US" altLang="zh-CN" sz="2000" dirty="0">
                <a:latin typeface="Gill Sans MT"/>
                <a:ea typeface="华文中宋" panose="02010600040101010101" charset="-122"/>
              </a:rPr>
              <a:t>();</a:t>
            </a:r>
            <a:endParaRPr lang="en-US" altLang="zh-CN" sz="2000" dirty="0"/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delete from examinee where 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eeid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='21882002'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95" y="5516880"/>
            <a:ext cx="6487795" cy="6756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72895" y="5108575"/>
            <a:ext cx="501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执行后的</a:t>
            </a:r>
            <a:r>
              <a:rPr lang="en-US" altLang="zh-CN"/>
              <a:t>eeexam</a:t>
            </a:r>
            <a:r>
              <a:rPr lang="zh-CN" altLang="en-US"/>
              <a:t>表：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300" dirty="0"/>
              <a:t>行级触发器和语句级触发器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3880" y="1417638"/>
            <a:ext cx="817012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/>
              <a:t>create or replace function </a:t>
            </a:r>
            <a:r>
              <a:rPr lang="en-US" altLang="zh-CN" sz="2000" dirty="0" err="1"/>
              <a:t>examinee_up</a:t>
            </a:r>
            <a:r>
              <a:rPr lang="en-US" altLang="zh-CN" sz="2000" dirty="0"/>
              <a:t>() returns trigger as $$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/>
              <a:t>begin	      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/>
              <a:t>	update </a:t>
            </a:r>
            <a:r>
              <a:rPr lang="en-US" altLang="zh-CN" sz="2000" dirty="0" err="1"/>
              <a:t>eeexam</a:t>
            </a:r>
            <a:r>
              <a:rPr lang="en-US" altLang="zh-CN" sz="2000" dirty="0"/>
              <a:t> set achieve=achieve+1 where </a:t>
            </a:r>
            <a:r>
              <a:rPr lang="en-US" altLang="zh-CN" sz="2000" dirty="0" err="1"/>
              <a:t>eeid</a:t>
            </a:r>
            <a:r>
              <a:rPr lang="en-US" altLang="zh-CN" sz="2000" dirty="0"/>
              <a:t>='21881003';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/>
              <a:t>	return new;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/>
              <a:t>end;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/>
              <a:t>$$ language </a:t>
            </a:r>
            <a:r>
              <a:rPr lang="en-US" altLang="zh-CN" sz="2000" dirty="0" err="1"/>
              <a:t>plpgsql</a:t>
            </a:r>
            <a:r>
              <a:rPr lang="en-US" altLang="zh-CN" sz="2000" dirty="0"/>
              <a:t>;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/>
              <a:t>update examinee set </a:t>
            </a:r>
            <a:r>
              <a:rPr lang="en-US" altLang="zh-CN" sz="2000" dirty="0" err="1"/>
              <a:t>eename</a:t>
            </a:r>
            <a:r>
              <a:rPr lang="en-US" altLang="zh-CN" sz="2000" dirty="0"/>
              <a:t>='xx'</a:t>
            </a:r>
          </a:p>
          <a:p>
            <a:pPr marL="425450" indent="-3429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Gill Sans MT"/>
                <a:ea typeface="华文中宋" panose="02010600040101010101" charset="-122"/>
              </a:rPr>
              <a:t>行级触发器</a:t>
            </a:r>
            <a:endParaRPr lang="en-US" altLang="zh-CN" sz="2000" dirty="0">
              <a:latin typeface="Gill Sans MT"/>
              <a:ea typeface="华文中宋" panose="02010600040101010101" charset="-122"/>
            </a:endParaRPr>
          </a:p>
          <a:p>
            <a:pPr marL="539750" lvl="1">
              <a:spcBef>
                <a:spcPts val="600"/>
              </a:spcBef>
              <a:buClr>
                <a:srgbClr val="3891A7"/>
              </a:buClr>
              <a:buSzPct val="80000"/>
            </a:pPr>
            <a:r>
              <a:rPr lang="en-US" altLang="zh-CN" sz="2000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create trigger</a:t>
            </a:r>
            <a:r>
              <a:rPr lang="en-US" altLang="zh-CN" sz="2000" dirty="0">
                <a:latin typeface="Gill Sans MT"/>
                <a:ea typeface="华文中宋" panose="02010600040101010101" charset="-122"/>
              </a:rPr>
              <a:t> </a:t>
            </a:r>
            <a:r>
              <a:rPr lang="en-US" altLang="zh-CN" sz="2000" dirty="0" err="1">
                <a:latin typeface="Gill Sans MT"/>
                <a:ea typeface="华文中宋" panose="02010600040101010101" charset="-122"/>
              </a:rPr>
              <a:t>examinee_update</a:t>
            </a:r>
            <a:r>
              <a:rPr lang="en-US" altLang="zh-CN" sz="2000" dirty="0">
                <a:latin typeface="Gill Sans MT"/>
                <a:ea typeface="华文中宋" panose="02010600040101010101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after</a:t>
            </a:r>
            <a:r>
              <a:rPr lang="en-US" altLang="zh-CN" sz="2000" dirty="0">
                <a:latin typeface="Gill Sans MT"/>
                <a:ea typeface="华文中宋" panose="02010600040101010101" charset="-122"/>
              </a:rPr>
              <a:t> update on examinee </a:t>
            </a:r>
            <a:r>
              <a:rPr lang="en-US" altLang="zh-CN" sz="2000" b="1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for each row </a:t>
            </a:r>
            <a:r>
              <a:rPr lang="en-US" altLang="zh-CN" sz="2000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execute procedure</a:t>
            </a:r>
            <a:r>
              <a:rPr lang="en-US" altLang="zh-CN" sz="2000" dirty="0">
                <a:latin typeface="Gill Sans MT"/>
                <a:ea typeface="华文中宋" panose="02010600040101010101" charset="-122"/>
              </a:rPr>
              <a:t> </a:t>
            </a:r>
            <a:r>
              <a:rPr lang="en-US" altLang="zh-CN" sz="2000" dirty="0" err="1">
                <a:latin typeface="Gill Sans MT"/>
                <a:ea typeface="华文中宋" panose="02010600040101010101" charset="-122"/>
              </a:rPr>
              <a:t>examinee_up</a:t>
            </a:r>
            <a:r>
              <a:rPr lang="en-US" altLang="zh-CN" sz="2000" dirty="0">
                <a:latin typeface="Gill Sans MT"/>
                <a:ea typeface="华文中宋" panose="02010600040101010101" charset="-122"/>
              </a:rPr>
              <a:t>();</a:t>
            </a:r>
          </a:p>
          <a:p>
            <a:pPr marL="425450" indent="-34290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Gill Sans MT"/>
                <a:ea typeface="华文中宋" panose="02010600040101010101" charset="-122"/>
              </a:rPr>
              <a:t>语句级触发器</a:t>
            </a:r>
            <a:endParaRPr lang="en-US" altLang="zh-CN" sz="2000" dirty="0">
              <a:latin typeface="Gill Sans MT"/>
              <a:ea typeface="华文中宋" panose="02010600040101010101" charset="-122"/>
            </a:endParaRPr>
          </a:p>
          <a:p>
            <a:pPr marL="539750" lvl="1">
              <a:spcBef>
                <a:spcPts val="600"/>
              </a:spcBef>
              <a:buClr>
                <a:srgbClr val="3891A7"/>
              </a:buClr>
              <a:buSzPct val="80000"/>
            </a:pPr>
            <a:r>
              <a:rPr lang="en-US" altLang="zh-CN" sz="2000" dirty="0">
                <a:solidFill>
                  <a:srgbClr val="FF0000"/>
                </a:solidFill>
              </a:rPr>
              <a:t>create trigger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examinee_update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after</a:t>
            </a:r>
            <a:r>
              <a:rPr lang="en-US" altLang="zh-CN" sz="2000" dirty="0"/>
              <a:t> update on examinee </a:t>
            </a:r>
            <a:r>
              <a:rPr lang="en-US" altLang="zh-CN" sz="2000" b="1" dirty="0">
                <a:solidFill>
                  <a:srgbClr val="FF0000"/>
                </a:solidFill>
              </a:rPr>
              <a:t>for each statement</a:t>
            </a:r>
            <a:r>
              <a:rPr lang="en-US" altLang="zh-CN" sz="2000" dirty="0">
                <a:solidFill>
                  <a:srgbClr val="FF0000"/>
                </a:solidFill>
              </a:rPr>
              <a:t> execute procedure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examinee_up</a:t>
            </a:r>
            <a:r>
              <a:rPr lang="en-US" altLang="zh-CN" sz="2000" dirty="0"/>
              <a:t>();</a:t>
            </a:r>
            <a:br>
              <a:rPr lang="en-US" altLang="zh-CN" sz="2000" dirty="0"/>
            </a:br>
            <a:br>
              <a:rPr lang="en-US" altLang="zh-CN" sz="2000" dirty="0"/>
            </a:b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300" dirty="0"/>
              <a:t>查看和删除触发器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17553" y="1199029"/>
            <a:ext cx="7832768" cy="3491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r>
              <a:rPr lang="en-US" altLang="zh-CN" sz="2800" dirty="0">
                <a:solidFill>
                  <a:prstClr val="black"/>
                </a:solidFill>
                <a:latin typeface="Gill Sans MT"/>
                <a:ea typeface="华文中宋" panose="02010600040101010101" charset="-122"/>
              </a:rPr>
              <a:t>select * from </a:t>
            </a:r>
            <a:r>
              <a:rPr lang="en-US" altLang="zh-CN" sz="2800" dirty="0" err="1">
                <a:solidFill>
                  <a:prstClr val="black"/>
                </a:solidFill>
                <a:latin typeface="Gill Sans MT"/>
                <a:ea typeface="华文中宋" panose="02010600040101010101" charset="-122"/>
              </a:rPr>
              <a:t>information_schema.triggers</a:t>
            </a:r>
            <a:r>
              <a:rPr lang="en-US" altLang="zh-CN" sz="2800" dirty="0">
                <a:solidFill>
                  <a:prstClr val="black"/>
                </a:solidFill>
                <a:latin typeface="Gill Sans MT"/>
                <a:ea typeface="华文中宋" panose="02010600040101010101" charset="-122"/>
              </a:rPr>
              <a:t>;</a:t>
            </a:r>
          </a:p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endParaRPr lang="en-US" altLang="zh-CN" sz="2800" dirty="0">
              <a:solidFill>
                <a:prstClr val="black"/>
              </a:solidFill>
              <a:latin typeface="Gill Sans MT"/>
              <a:ea typeface="华文中宋" panose="02010600040101010101" charset="-122"/>
            </a:endParaRPr>
          </a:p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endParaRPr lang="en-US" altLang="zh-CN" sz="2800" dirty="0">
              <a:solidFill>
                <a:prstClr val="black"/>
              </a:solidFill>
              <a:latin typeface="Gill Sans MT"/>
              <a:ea typeface="华文中宋" panose="02010600040101010101" charset="-122"/>
            </a:endParaRPr>
          </a:p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endParaRPr lang="en-US" altLang="zh-CN" sz="2800" dirty="0">
              <a:solidFill>
                <a:prstClr val="black"/>
              </a:solidFill>
              <a:latin typeface="Gill Sans MT"/>
              <a:ea typeface="华文中宋" panose="02010600040101010101" charset="-122"/>
            </a:endParaRPr>
          </a:p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r>
              <a:rPr lang="en-US" altLang="zh-CN" sz="2800" dirty="0">
                <a:solidFill>
                  <a:prstClr val="black"/>
                </a:solidFill>
                <a:latin typeface="Gill Sans MT"/>
                <a:ea typeface="华文中宋" panose="02010600040101010101" charset="-122"/>
              </a:rPr>
              <a:t>drop trigger </a:t>
            </a:r>
            <a:r>
              <a:rPr lang="en-US" altLang="zh-CN" sz="2800" dirty="0" err="1">
                <a:latin typeface="Gill Sans MT"/>
                <a:ea typeface="华文中宋" panose="02010600040101010101" charset="-122"/>
              </a:rPr>
              <a:t>eeid_insert</a:t>
            </a:r>
            <a:r>
              <a:rPr lang="en-US" altLang="zh-CN" sz="2800" dirty="0">
                <a:solidFill>
                  <a:prstClr val="black"/>
                </a:solidFill>
                <a:latin typeface="Gill Sans MT"/>
                <a:ea typeface="华文中宋" panose="02010600040101010101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Gill Sans MT"/>
                <a:ea typeface="华文中宋" panose="02010600040101010101" charset="-122"/>
              </a:rPr>
              <a:t>on examinee</a:t>
            </a:r>
            <a:r>
              <a:rPr lang="en-US" altLang="zh-CN" sz="2800" dirty="0">
                <a:solidFill>
                  <a:prstClr val="black"/>
                </a:solidFill>
                <a:latin typeface="Gill Sans MT"/>
                <a:ea typeface="华文中宋" panose="02010600040101010101" charset="-122"/>
              </a:rPr>
              <a:t>;</a:t>
            </a:r>
          </a:p>
          <a:p>
            <a:pPr marL="365760" lvl="0" indent="-283210" defTabSz="914400"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</a:pPr>
            <a:r>
              <a:rPr lang="en-US" altLang="zh-CN" sz="2800" dirty="0">
                <a:solidFill>
                  <a:prstClr val="black"/>
                </a:solidFill>
                <a:latin typeface="Gill Sans MT"/>
                <a:ea typeface="华文中宋" panose="02010600040101010101" charset="-122"/>
              </a:rPr>
              <a:t>drop function </a:t>
            </a:r>
            <a:r>
              <a:rPr lang="en-US" altLang="zh-CN" sz="2800" dirty="0" err="1">
                <a:latin typeface="Gill Sans MT"/>
                <a:ea typeface="华文中宋" panose="02010600040101010101" charset="-122"/>
              </a:rPr>
              <a:t>examineeid</a:t>
            </a:r>
            <a:r>
              <a:rPr lang="en-US" altLang="zh-CN" sz="2800" dirty="0">
                <a:latin typeface="Gill Sans MT"/>
                <a:ea typeface="华文中宋" panose="02010600040101010101" charset="-122"/>
              </a:rPr>
              <a:t>()</a:t>
            </a:r>
            <a:r>
              <a:rPr lang="en-US" altLang="zh-CN" sz="2800" dirty="0">
                <a:solidFill>
                  <a:prstClr val="black"/>
                </a:solidFill>
                <a:latin typeface="Gill Sans MT"/>
                <a:ea typeface="华文中宋" panose="02010600040101010101" charset="-122"/>
              </a:rPr>
              <a:t>;</a:t>
            </a:r>
            <a:endParaRPr lang="zh-CN" altLang="en-US" sz="2800" dirty="0">
              <a:solidFill>
                <a:prstClr val="black"/>
              </a:solidFill>
              <a:latin typeface="Gill Sans MT"/>
              <a:ea typeface="华文中宋" panose="0201060004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35608" y="4868401"/>
            <a:ext cx="6880767" cy="129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/>
              <a:t>触发器比约束（比如外键）更灵活，可以实施各种复杂的检查和操作，具有更精细和强大的数据保护能力。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95" y="2112010"/>
            <a:ext cx="5133340" cy="1595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300" dirty="0"/>
              <a:t>扩展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43608" y="1459230"/>
            <a:ext cx="7670959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5450" lvl="0" indent="-342900" algn="just" defTabSz="914400">
              <a:spcBef>
                <a:spcPts val="6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prstClr val="black"/>
                </a:solidFill>
                <a:latin typeface="Adobe 仿宋 Std R" pitchFamily="18" charset="-122"/>
                <a:ea typeface="Adobe 仿宋 Std R" pitchFamily="18" charset="-122"/>
              </a:rPr>
              <a:t>一个触发器在执行的过程中，如果执行了其它的</a:t>
            </a:r>
            <a:r>
              <a:rPr lang="en-US" altLang="zh-CN" sz="2400" dirty="0">
                <a:solidFill>
                  <a:prstClr val="black"/>
                </a:solidFill>
                <a:latin typeface="Adobe 仿宋 Std R" pitchFamily="18" charset="-122"/>
                <a:ea typeface="Adobe 仿宋 Std R" pitchFamily="18" charset="-122"/>
              </a:rPr>
              <a:t>SQL</a:t>
            </a:r>
            <a:r>
              <a:rPr lang="zh-CN" altLang="en-US" sz="2400" dirty="0">
                <a:solidFill>
                  <a:prstClr val="black"/>
                </a:solidFill>
                <a:latin typeface="Adobe 仿宋 Std R" pitchFamily="18" charset="-122"/>
                <a:ea typeface="Adobe 仿宋 Std R" pitchFamily="18" charset="-122"/>
              </a:rPr>
              <a:t>命令，可能会触发其它的触发器，这被称作</a:t>
            </a:r>
            <a:r>
              <a:rPr lang="zh-CN" altLang="en-US" sz="2400" b="1" dirty="0">
                <a:solidFill>
                  <a:prstClr val="black"/>
                </a:solidFill>
                <a:latin typeface="Adobe 仿宋 Std R" pitchFamily="18" charset="-122"/>
                <a:ea typeface="Adobe 仿宋 Std R" pitchFamily="18" charset="-122"/>
              </a:rPr>
              <a:t>触发器级联</a:t>
            </a:r>
            <a:r>
              <a:rPr lang="zh-CN" altLang="en-US" sz="2400" dirty="0">
                <a:solidFill>
                  <a:prstClr val="black"/>
                </a:solidFill>
                <a:latin typeface="Adobe 仿宋 Std R" pitchFamily="18" charset="-122"/>
                <a:ea typeface="Adobe 仿宋 Std R" pitchFamily="18" charset="-122"/>
              </a:rPr>
              <a:t>。对于触发器级联的层次，系统没有任何限制，但触发器级联可能会调用前面已经执行过的触发器，从而引起</a:t>
            </a:r>
            <a:r>
              <a:rPr lang="zh-CN" altLang="en-US" sz="2400" b="1" dirty="0">
                <a:solidFill>
                  <a:prstClr val="black"/>
                </a:solidFill>
                <a:latin typeface="Adobe 仿宋 Std R" pitchFamily="18" charset="-122"/>
                <a:ea typeface="Adobe 仿宋 Std R" pitchFamily="18" charset="-122"/>
              </a:rPr>
              <a:t>死循环</a:t>
            </a:r>
            <a:r>
              <a:rPr lang="zh-CN" altLang="en-US" sz="2400" dirty="0">
                <a:solidFill>
                  <a:prstClr val="black"/>
                </a:solidFill>
                <a:latin typeface="Adobe 仿宋 Std R" pitchFamily="18" charset="-122"/>
                <a:ea typeface="Adobe 仿宋 Std R" pitchFamily="18" charset="-122"/>
              </a:rPr>
              <a:t>，系统不会检测这种现象，定义触发器的用户应该保证这种现象不会发生。</a:t>
            </a:r>
            <a:endParaRPr lang="en-US" altLang="zh-CN" sz="2400" dirty="0">
              <a:solidFill>
                <a:prstClr val="black"/>
              </a:solidFill>
              <a:latin typeface="Adobe 仿宋 Std R" pitchFamily="18" charset="-122"/>
              <a:ea typeface="Adobe 仿宋 Std R" pitchFamily="18" charset="-122"/>
            </a:endParaRPr>
          </a:p>
          <a:p>
            <a:pPr marL="425450" lvl="0" indent="-342900" algn="just" defTabSz="914400">
              <a:spcBef>
                <a:spcPts val="6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prstClr val="black"/>
              </a:solidFill>
              <a:latin typeface="Adobe 仿宋 Std R" pitchFamily="18" charset="-122"/>
              <a:ea typeface="Adobe 仿宋 Std R" pitchFamily="18" charset="-122"/>
            </a:endParaRPr>
          </a:p>
          <a:p>
            <a:pPr marL="425450" lvl="0" indent="-342900" algn="just" defTabSz="914400">
              <a:spcBef>
                <a:spcPts val="6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prstClr val="black"/>
                </a:solidFill>
                <a:latin typeface="Adobe 仿宋 Std R" pitchFamily="18" charset="-122"/>
                <a:ea typeface="Adobe 仿宋 Std R" pitchFamily="18" charset="-122"/>
              </a:rPr>
              <a:t>对于行级的</a:t>
            </a:r>
            <a:r>
              <a:rPr lang="en-US" altLang="zh-CN" sz="2400" dirty="0">
                <a:solidFill>
                  <a:prstClr val="black"/>
                </a:solidFill>
                <a:latin typeface="Adobe 仿宋 Std R" pitchFamily="18" charset="-122"/>
                <a:ea typeface="Adobe 仿宋 Std R" pitchFamily="18" charset="-122"/>
              </a:rPr>
              <a:t>BEFORE</a:t>
            </a:r>
            <a:r>
              <a:rPr lang="zh-CN" altLang="en-US" sz="2400" dirty="0">
                <a:solidFill>
                  <a:prstClr val="black"/>
                </a:solidFill>
                <a:latin typeface="Adobe 仿宋 Std R" pitchFamily="18" charset="-122"/>
                <a:ea typeface="Adobe 仿宋 Std R" pitchFamily="18" charset="-122"/>
              </a:rPr>
              <a:t>触发器，如果返回</a:t>
            </a:r>
            <a:r>
              <a:rPr lang="en-US" altLang="zh-CN" sz="2400" dirty="0">
                <a:solidFill>
                  <a:prstClr val="black"/>
                </a:solidFill>
                <a:latin typeface="Adobe 仿宋 Std R" pitchFamily="18" charset="-122"/>
                <a:ea typeface="Adobe 仿宋 Std R" pitchFamily="18" charset="-122"/>
              </a:rPr>
              <a:t>NULL</a:t>
            </a:r>
            <a:r>
              <a:rPr lang="zh-CN" altLang="en-US" sz="2400" dirty="0">
                <a:solidFill>
                  <a:prstClr val="black"/>
                </a:solidFill>
                <a:latin typeface="Adobe 仿宋 Std R" pitchFamily="18" charset="-122"/>
                <a:ea typeface="Adobe 仿宋 Std R" pitchFamily="18" charset="-122"/>
              </a:rPr>
              <a:t>，后面的触发器将不会被执行，触发这个触发器的</a:t>
            </a:r>
            <a:r>
              <a:rPr lang="en-US" altLang="zh-CN" sz="2400" dirty="0">
                <a:solidFill>
                  <a:prstClr val="black"/>
                </a:solidFill>
                <a:latin typeface="Adobe 仿宋 Std R" pitchFamily="18" charset="-122"/>
                <a:ea typeface="Adobe 仿宋 Std R" pitchFamily="18" charset="-122"/>
              </a:rPr>
              <a:t>INSERT/UPDATE/DELETE</a:t>
            </a:r>
            <a:r>
              <a:rPr lang="zh-CN" altLang="en-US" sz="2400" dirty="0">
                <a:solidFill>
                  <a:prstClr val="black"/>
                </a:solidFill>
                <a:latin typeface="Adobe 仿宋 Std R" pitchFamily="18" charset="-122"/>
                <a:ea typeface="Adobe 仿宋 Std R" pitchFamily="18" charset="-122"/>
              </a:rPr>
              <a:t>命令也不会执行。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955</TotalTime>
  <Words>2009</Words>
  <Application>Microsoft Macintosh PowerPoint</Application>
  <PresentationFormat>全屏显示(4:3)</PresentationFormat>
  <Paragraphs>232</Paragraphs>
  <Slides>25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等线</vt:lpstr>
      <vt:lpstr>华文中宋</vt:lpstr>
      <vt:lpstr>Adobe 仿宋 Std R</vt:lpstr>
      <vt:lpstr>Bahnschrift Light</vt:lpstr>
      <vt:lpstr>Gill Sans MT</vt:lpstr>
      <vt:lpstr>Verdana</vt:lpstr>
      <vt:lpstr>Wingdings</vt:lpstr>
      <vt:lpstr>Wingdings 2</vt:lpstr>
      <vt:lpstr>夏至</vt:lpstr>
      <vt:lpstr>实验 完整性约束和触发器</vt:lpstr>
      <vt:lpstr>主要内容</vt:lpstr>
      <vt:lpstr>完整性约束</vt:lpstr>
      <vt:lpstr>约束声明</vt:lpstr>
      <vt:lpstr>主键、非空、唯一</vt:lpstr>
      <vt:lpstr>数据应用场景</vt:lpstr>
      <vt:lpstr>外键约束</vt:lpstr>
      <vt:lpstr>外键约束（显示说明违约处理策略）</vt:lpstr>
      <vt:lpstr>CHECK约束</vt:lpstr>
      <vt:lpstr>主要内容</vt:lpstr>
      <vt:lpstr>触发器</vt:lpstr>
      <vt:lpstr>触发器</vt:lpstr>
      <vt:lpstr>触发器分类</vt:lpstr>
      <vt:lpstr>触发器函数</vt:lpstr>
      <vt:lpstr>触发器函数</vt:lpstr>
      <vt:lpstr>new和old到底是什么？</vt:lpstr>
      <vt:lpstr>数据应用场景</vt:lpstr>
      <vt:lpstr>insert触发器程序示例 </vt:lpstr>
      <vt:lpstr>update触发器程序示例 </vt:lpstr>
      <vt:lpstr>update触发器程序示例 </vt:lpstr>
      <vt:lpstr>delete触发器程序示例 </vt:lpstr>
      <vt:lpstr>delete触发器程序示例 </vt:lpstr>
      <vt:lpstr>行级触发器和语句级触发器</vt:lpstr>
      <vt:lpstr>查看和删除触发器</vt:lpstr>
      <vt:lpstr>扩展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实验四 数据表的基本操作</dc:title>
  <dc:creator>yaoyingting</dc:creator>
  <cp:lastModifiedBy>Microsoft Office User</cp:lastModifiedBy>
  <cp:revision>371</cp:revision>
  <dcterms:created xsi:type="dcterms:W3CDTF">2015-03-23T01:41:00Z</dcterms:created>
  <dcterms:modified xsi:type="dcterms:W3CDTF">2025-04-21T11:42:39Z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749E2369CC734A6CAF6A1D204A9A9EE5_12</vt:lpwstr>
  </property>
  <property fmtid="{D5CDD505-2E9C-101B-9397-08002B2CF9AE}" pid="3" name="KSOProductBuildVer">
    <vt:lpwstr>2052-12.1.0.20784</vt:lpwstr>
  </property>
</Properties>
</file>