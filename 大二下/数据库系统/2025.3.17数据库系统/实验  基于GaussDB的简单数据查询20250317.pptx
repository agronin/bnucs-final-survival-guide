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56" r:id="rId3"/>
    <p:sldId id="261" r:id="rId4"/>
    <p:sldId id="327" r:id="rId5"/>
    <p:sldId id="328" r:id="rId6"/>
    <p:sldId id="329" r:id="rId7"/>
    <p:sldId id="386" r:id="rId8"/>
    <p:sldId id="387" r:id="rId9"/>
    <p:sldId id="331" r:id="rId10"/>
    <p:sldId id="332" r:id="rId11"/>
    <p:sldId id="330" r:id="rId12"/>
    <p:sldId id="333" r:id="rId13"/>
    <p:sldId id="336" r:id="rId14"/>
    <p:sldId id="335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8" r:id="rId26"/>
    <p:sldId id="350" r:id="rId27"/>
    <p:sldId id="351" r:id="rId28"/>
    <p:sldId id="352" r:id="rId29"/>
    <p:sldId id="349" r:id="rId30"/>
    <p:sldId id="353" r:id="rId31"/>
    <p:sldId id="354" r:id="rId32"/>
    <p:sldId id="355" r:id="rId33"/>
    <p:sldId id="356" r:id="rId34"/>
    <p:sldId id="358" r:id="rId35"/>
    <p:sldId id="357" r:id="rId36"/>
    <p:sldId id="360" r:id="rId37"/>
    <p:sldId id="361" r:id="rId38"/>
    <p:sldId id="372" r:id="rId39"/>
    <p:sldId id="375" r:id="rId40"/>
    <p:sldId id="371" r:id="rId41"/>
    <p:sldId id="376" r:id="rId42"/>
    <p:sldId id="378" r:id="rId43"/>
    <p:sldId id="379" r:id="rId44"/>
    <p:sldId id="380" r:id="rId45"/>
    <p:sldId id="381" r:id="rId46"/>
    <p:sldId id="382" r:id="rId47"/>
    <p:sldId id="385" r:id="rId48"/>
    <p:sldId id="384" r:id="rId49"/>
    <p:sldId id="365" r:id="rId50"/>
    <p:sldId id="370" r:id="rId51"/>
    <p:sldId id="367" r:id="rId52"/>
    <p:sldId id="368" r:id="rId53"/>
    <p:sldId id="369" r:id="rId54"/>
    <p:sldId id="366" r:id="rId55"/>
    <p:sldId id="362" r:id="rId56"/>
    <p:sldId id="388" r:id="rId5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100"/>
    <p:restoredTop sz="83333"/>
  </p:normalViewPr>
  <p:slideViewPr>
    <p:cSldViewPr showGuides="1">
      <p:cViewPr varScale="1">
        <p:scale>
          <a:sx n="57" d="100"/>
          <a:sy n="57" d="100"/>
        </p:scale>
        <p:origin x="764" y="52"/>
      </p:cViewPr>
      <p:guideLst>
        <p:guide orient="horz" pos="218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4.xml"/><Relationship Id="rId59" Type="http://schemas.openxmlformats.org/officeDocument/2006/relationships/presProps" Target="presProps.xml"/><Relationship Id="rId58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58AC05-4E34-47A4-8958-5CBF591AD75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5450CC-3E6D-4245-9EC2-F04A337C60E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45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评分客观 系统判定</a:t>
            </a:r>
            <a:endParaRPr lang="zh-CN" altLang="en-US" dirty="0"/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157288" y="1344613"/>
            <a:ext cx="63500" cy="6508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7" name="日期占位符 6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页脚占位符 1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灯片编号占位符 9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9BD8C1-52E6-4C32-A927-117E9B995F09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B5A78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B5A78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82135-59EB-45DD-A9DD-308634A78D7C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B5A78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B5A78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07B256-8C4A-4D5C-B54C-022283F44909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B5A78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B5A78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82135-59EB-45DD-A9DD-308634A78D7C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B5A78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B5A78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4" name="日期占位符 6"/>
          <p:cNvSpPr>
            <a:spLocks noGrp="1"/>
          </p:cNvSpPr>
          <p:nvPr>
            <p:ph type="dt" sz="half" idx="1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ACD54E-E6BC-4C0F-889E-C87A3D5F9CEF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B5A78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B5A78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82135-59EB-45DD-A9DD-308634A78D7C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B5A78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B5A78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014413" y="0"/>
            <a:ext cx="81295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日期占位符 1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页脚占位符 2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5B7254-043A-477D-A6AA-F7AD2C69FE69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B5A78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B5A78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4" name="日期占位符 4"/>
          <p:cNvSpPr>
            <a:spLocks noGrp="1"/>
          </p:cNvSpPr>
          <p:nvPr>
            <p:ph type="dt" sz="half" idx="1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CB252C0-0348-434A-9343-1AC162FCFAF4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B5A78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B5A78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/>
          <a:p>
            <a:pPr marL="0" marR="0" lvl="0" indent="-283210" algn="l" defTabSz="914400" rtl="0" eaLnBrk="1" fontAlgn="base" latinLnBrk="0" hangingPunct="1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流程图: 过程 15"/>
          <p:cNvSpPr/>
          <p:nvPr/>
        </p:nvSpPr>
        <p:spPr>
          <a:xfrm rot="19468671">
            <a:off x="396875" y="954088"/>
            <a:ext cx="685800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流程图: 过程 1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vert="horz" wrap="square" lIns="91440" tIns="274320" rIns="91440" bIns="45720" numCol="1" anchor="t" anchorCtr="0" compatLnSpc="1">
            <a:normAutofit/>
          </a:bodyPr>
          <a:lstStyle>
            <a:lvl1pPr indent="0">
              <a:buNone/>
              <a:defRPr sz="3200"/>
            </a:lvl1pPr>
          </a:lstStyle>
          <a:p>
            <a:pPr marL="365125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8" name="日期占位符 4"/>
          <p:cNvSpPr>
            <a:spLocks noGrp="1"/>
          </p:cNvSpPr>
          <p:nvPr>
            <p:ph type="dt" sz="half" idx="1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页脚占位符 5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811A73-E839-47E0-827E-17741F5D1134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B5A78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B5A78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82135-59EB-45DD-A9DD-308634A78D7C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B5A78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B5A78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82135-59EB-45DD-A9DD-308634A78D7C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B5A78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B5A78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饼形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8275" y="20638"/>
            <a:ext cx="1703388" cy="1703388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028" name="同心圆 10"/>
          <p:cNvGrpSpPr/>
          <p:nvPr/>
        </p:nvGrpSpPr>
        <p:grpSpPr>
          <a:xfrm>
            <a:off x="165100" y="1041400"/>
            <a:ext cx="1155700" cy="1143000"/>
            <a:chOff x="104" y="656"/>
            <a:chExt cx="728" cy="720"/>
          </a:xfrm>
        </p:grpSpPr>
        <p:pic>
          <p:nvPicPr>
            <p:cNvPr id="1036" name="同心圆 10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104" y="656"/>
              <a:ext cx="728" cy="72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9" name="Text Box 5"/>
            <p:cNvSpPr txBox="1">
              <a:spLocks noChangeArrowheads="1"/>
            </p:cNvSpPr>
            <p:nvPr/>
          </p:nvSpPr>
          <p:spPr bwMode="auto">
            <a:xfrm rot="2315674">
              <a:off x="219" y="766"/>
              <a:ext cx="501" cy="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1" name="文本占位符 8"/>
          <p:cNvSpPr>
            <a:spLocks noGrp="1"/>
          </p:cNvSpPr>
          <p:nvPr>
            <p:ph type="body" idx="1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solidFill>
                  <a:srgbClr val="B5A788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82135-59EB-45DD-A9DD-308634A78D7C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B5A78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B5A78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华文中宋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华文中宋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华文中宋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华文中宋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华文中宋" panose="020106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华文中宋" panose="020106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华文中宋" panose="020106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华文中宋" panose="02010600040101010101" pitchFamily="2" charset="-122"/>
        </a:defRPr>
      </a:lvl9pPr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6855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355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7305" indent="-182880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58888" y="476250"/>
            <a:ext cx="7407275" cy="3016250"/>
          </a:xfrm>
        </p:spPr>
        <p:txBody>
          <a:bodyPr vert="horz" wrap="square" lIns="91440" tIns="45720" rIns="91440" bIns="45720" numCol="1" anchor="b" anchorCtr="0" compatLnSpc="1">
            <a:norm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  基于</a:t>
            </a:r>
            <a:r>
              <a:rPr kumimoji="0" lang="en-US" altLang="zh-CN" sz="33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GaussDB</a:t>
            </a: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的简单数据查询</a:t>
            </a:r>
            <a:endParaRPr kumimoji="0" lang="zh-CN" altLang="zh-CN" sz="43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19" name="Rectangle 3"/>
          <p:cNvSpPr txBox="1"/>
          <p:nvPr/>
        </p:nvSpPr>
        <p:spPr>
          <a:xfrm>
            <a:off x="6300788" y="4941888"/>
            <a:ext cx="2227262" cy="914400"/>
          </a:xfrm>
          <a:prstGeom prst="rect">
            <a:avLst/>
          </a:prstGeom>
          <a:noFill/>
          <a:ln w="9525">
            <a:noFill/>
          </a:ln>
        </p:spPr>
        <p:txBody>
          <a:bodyPr lIns="182880" tIns="91440"/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6855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3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7305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65430" lvl="0" indent="-265430" algn="r" eaLnBrk="1" hangingPunct="1">
              <a:lnSpc>
                <a:spcPct val="90000"/>
              </a:lnSpc>
              <a:spcBef>
                <a:spcPts val="250"/>
              </a:spcBef>
              <a:buNone/>
            </a:pPr>
            <a:r>
              <a:rPr lang="zh-CN" altLang="en-US" sz="2600" dirty="0"/>
              <a:t>李梦佳</a:t>
            </a:r>
            <a:endParaRPr lang="zh-CN" altLang="en-US" sz="2600" dirty="0"/>
          </a:p>
          <a:p>
            <a:pPr marL="265430" lvl="0" indent="-265430" algn="r" eaLnBrk="1" hangingPunct="1">
              <a:lnSpc>
                <a:spcPct val="90000"/>
              </a:lnSpc>
              <a:spcBef>
                <a:spcPts val="250"/>
              </a:spcBef>
              <a:buNone/>
            </a:pPr>
            <a:r>
              <a:rPr lang="zh-CN" altLang="en-US" sz="2600" dirty="0"/>
              <a:t>韩浩岚</a:t>
            </a:r>
            <a:r>
              <a:rPr lang="en-US" altLang="zh-CN" sz="2600" dirty="0"/>
              <a:t>                                              2025.03.17</a:t>
            </a:r>
            <a:endParaRPr lang="zh-CN" altLang="zh-CN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2051050" y="1341438"/>
            <a:ext cx="749935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查询语句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单表查询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聚集函数和分组查询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日期函数的应用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合并查询结果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取别名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将查询结果插入表中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2051050" y="1341438"/>
            <a:ext cx="749935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查询语句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单表查询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聚集函数和分组查询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日期函数的应用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合并查询结果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取别名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将查询结果插入表中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None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SELECT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语句的基本格式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1435100" y="1341438"/>
            <a:ext cx="7499350" cy="4800600"/>
          </a:xfrm>
          <a:ln/>
        </p:spPr>
        <p:txBody>
          <a:bodyPr vert="horz" wrap="square" lIns="91440" tIns="45720" rIns="91440" bIns="45720" anchor="t" anchorCtr="0"/>
          <a:p>
            <a:pPr marL="82550" indent="0"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{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| &lt;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字段列表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&gt;}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[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&lt;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1&gt;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2&gt;…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[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&lt;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[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GROUP BY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&lt;group by definition&gt;]  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[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HAVING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&lt;expression&gt;[{&lt;operator&gt; &lt;expression&gt;}…]]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[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ORDER BY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&lt;order by definition&gt;]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[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LIMIT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[&lt;offset&gt;,]&lt;row count&gt;]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]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[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字段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1,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字段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2,…,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字段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n] 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[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表或视图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[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查询条件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对话气泡: 椭圆形 3"/>
          <p:cNvSpPr/>
          <p:nvPr/>
        </p:nvSpPr>
        <p:spPr>
          <a:xfrm>
            <a:off x="4643438" y="715963"/>
            <a:ext cx="2160588" cy="1096963"/>
          </a:xfrm>
          <a:prstGeom prst="wedgeEllipseCallout">
            <a:avLst>
              <a:gd name="adj1" fmla="val -71627"/>
              <a:gd name="adj2" fmla="val 417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至少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个指定字段，多个用“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”隔开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5076825" y="2924175"/>
            <a:ext cx="7191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294" name="文本框 6"/>
          <p:cNvSpPr txBox="1"/>
          <p:nvPr/>
        </p:nvSpPr>
        <p:spPr>
          <a:xfrm>
            <a:off x="5795963" y="2740025"/>
            <a:ext cx="87788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可选项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6443663" y="3294063"/>
            <a:ext cx="72072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296" name="文本框 15"/>
          <p:cNvSpPr txBox="1"/>
          <p:nvPr/>
        </p:nvSpPr>
        <p:spPr>
          <a:xfrm>
            <a:off x="7164388" y="3109913"/>
            <a:ext cx="646112" cy="646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分组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403350" y="9048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查询用到的数据表及数据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692275" y="1471613"/>
          <a:ext cx="6218238" cy="2951163"/>
        </p:xfrm>
        <a:graphic>
          <a:graphicData uri="http://schemas.openxmlformats.org/drawingml/2006/table">
            <a:tbl>
              <a:tblPr/>
              <a:tblGrid>
                <a:gridCol w="871538"/>
                <a:gridCol w="1168400"/>
                <a:gridCol w="863600"/>
                <a:gridCol w="1016000"/>
                <a:gridCol w="1258887"/>
                <a:gridCol w="1039813"/>
              </a:tblGrid>
              <a:tr h="640232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eeid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(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主键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)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eename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eesex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grade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eebirth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eedepa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85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王明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男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86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1997-06-09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智能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</a:tr>
              <a:tr h="389014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李红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女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95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NULL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数学系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</a:tr>
              <a:tr h="389014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赵文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女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73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1998-05-16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外文系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</a:tr>
              <a:tr h="389014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4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王小路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男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56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1999-06-09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天文系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</a:tr>
              <a:tr h="389014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5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张路路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女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89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1998-05-14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智能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</a:tr>
              <a:tr h="389014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6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张路路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男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83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1997-04-19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外文系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8" marR="91438" marT="45742" marB="457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sp>
        <p:nvSpPr>
          <p:cNvPr id="13373" name="文本框 5"/>
          <p:cNvSpPr txBox="1"/>
          <p:nvPr/>
        </p:nvSpPr>
        <p:spPr>
          <a:xfrm>
            <a:off x="1682750" y="1047750"/>
            <a:ext cx="16478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表：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74" name="文本框 5"/>
          <p:cNvSpPr txBox="1"/>
          <p:nvPr/>
        </p:nvSpPr>
        <p:spPr>
          <a:xfrm>
            <a:off x="1619250" y="4657725"/>
            <a:ext cx="2082800" cy="647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Arial" panose="020B0604020202020204" pitchFamily="34" charset="0"/>
              </a:rPr>
              <a:t>examinee_old</a:t>
            </a:r>
            <a:r>
              <a:rPr lang="zh-CN" altLang="en-US" dirty="0">
                <a:latin typeface="Arial" panose="020B0604020202020204" pitchFamily="34" charset="0"/>
              </a:rPr>
              <a:t>表：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619250" y="5119688"/>
          <a:ext cx="6789738" cy="1379538"/>
        </p:xfrm>
        <a:graphic>
          <a:graphicData uri="http://schemas.openxmlformats.org/drawingml/2006/table">
            <a:tbl>
              <a:tblPr/>
              <a:tblGrid>
                <a:gridCol w="1131888"/>
                <a:gridCol w="1217612"/>
                <a:gridCol w="1046163"/>
                <a:gridCol w="874712"/>
                <a:gridCol w="1366838"/>
                <a:gridCol w="1152525"/>
              </a:tblGrid>
              <a:tr h="63998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eeid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(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主键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)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28" marR="91428"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eename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28" marR="91428"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eesex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28" marR="91428"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grade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28" marR="91428"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eebirth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28" marR="91428"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eedepa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28" marR="91428"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9774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0" marR="91430" marT="45674" marB="456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张三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0" marR="91430" marT="45674" marB="456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男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0" marR="91430" marT="45674" marB="456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96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0" marR="91430" marT="45674" marB="456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1997-06-09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0" marR="91430" marT="45674" marB="456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英语系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0" marR="91430" marT="45674" marB="456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</a:tr>
              <a:tr h="369774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0" marR="91430" marT="45674" marB="456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李四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0" marR="91430" marT="45674" marB="456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女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0" marR="91430" marT="45674" marB="456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92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0" marR="91430" marT="45674" marB="456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NULL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0" marR="91430" marT="45674" marB="456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数学系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0" marR="91430" marT="45674" marB="456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403350" y="9048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查询用到的数据表及数据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339" name="文本框 5"/>
          <p:cNvSpPr txBox="1"/>
          <p:nvPr/>
        </p:nvSpPr>
        <p:spPr>
          <a:xfrm>
            <a:off x="1682750" y="1047750"/>
            <a:ext cx="203200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所用的</a:t>
            </a:r>
            <a:r>
              <a:rPr lang="en-US" altLang="zh-CN" dirty="0">
                <a:latin typeface="Arial" panose="020B0604020202020204" pitchFamily="34" charset="0"/>
              </a:rPr>
              <a:t>SQL</a:t>
            </a:r>
            <a:r>
              <a:rPr lang="zh-CN" altLang="en-US" dirty="0">
                <a:latin typeface="Arial" panose="020B0604020202020204" pitchFamily="34" charset="0"/>
              </a:rPr>
              <a:t>语句：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340" name="文本框 5"/>
          <p:cNvSpPr txBox="1"/>
          <p:nvPr/>
        </p:nvSpPr>
        <p:spPr>
          <a:xfrm>
            <a:off x="1403350" y="1557338"/>
            <a:ext cx="7200900" cy="4800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Arial" panose="020B0604020202020204" pitchFamily="34" charset="0"/>
              </a:rPr>
              <a:t>create table examinee(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	eeid char(20) not null unique primary key,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	eename char(20),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	eesex char(20),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	grade smallint,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	eebirth char(20),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	eedepa char(20)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);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create table examinee_old(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	eeid char(20) not null unique primary key,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	eename char(20),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	eesex char(20),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	grade smallint,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	eebirth char(20),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	eedepa char(20)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);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403350" y="9048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查询用到的数据表及数据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363" name="文本框 5"/>
          <p:cNvSpPr txBox="1"/>
          <p:nvPr/>
        </p:nvSpPr>
        <p:spPr>
          <a:xfrm>
            <a:off x="1682750" y="1047750"/>
            <a:ext cx="18002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所用的</a:t>
            </a:r>
            <a:r>
              <a:rPr lang="en-US" altLang="zh-CN" dirty="0">
                <a:latin typeface="Arial" panose="020B0604020202020204" pitchFamily="34" charset="0"/>
              </a:rPr>
              <a:t>SQL</a:t>
            </a:r>
            <a:r>
              <a:rPr lang="zh-CN" altLang="en-US" dirty="0">
                <a:latin typeface="Arial" panose="020B0604020202020204" pitchFamily="34" charset="0"/>
              </a:rPr>
              <a:t>语句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364" name="文本框 5"/>
          <p:cNvSpPr txBox="1"/>
          <p:nvPr/>
        </p:nvSpPr>
        <p:spPr>
          <a:xfrm>
            <a:off x="1403350" y="1557338"/>
            <a:ext cx="7200900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Arial" panose="020B0604020202020204" pitchFamily="34" charset="0"/>
              </a:rPr>
              <a:t>insert into examinee values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('1','</a:t>
            </a:r>
            <a:r>
              <a:rPr lang="zh-CN" altLang="en-US" dirty="0">
                <a:latin typeface="Arial" panose="020B0604020202020204" pitchFamily="34" charset="0"/>
              </a:rPr>
              <a:t>王明</a:t>
            </a:r>
            <a:r>
              <a:rPr lang="en-US" altLang="zh-CN" dirty="0">
                <a:latin typeface="Arial" panose="020B0604020202020204" pitchFamily="34" charset="0"/>
              </a:rPr>
              <a:t>','</a:t>
            </a:r>
            <a:r>
              <a:rPr lang="zh-CN" altLang="en-US" dirty="0">
                <a:latin typeface="Arial" panose="020B0604020202020204" pitchFamily="34" charset="0"/>
              </a:rPr>
              <a:t>男</a:t>
            </a:r>
            <a:r>
              <a:rPr lang="en-US" altLang="zh-CN" dirty="0">
                <a:latin typeface="Arial" panose="020B0604020202020204" pitchFamily="34" charset="0"/>
              </a:rPr>
              <a:t>',86,'1997-06-09','</a:t>
            </a:r>
            <a:r>
              <a:rPr lang="zh-CN" altLang="en-US" dirty="0">
                <a:latin typeface="Arial" panose="020B0604020202020204" pitchFamily="34" charset="0"/>
              </a:rPr>
              <a:t>智能</a:t>
            </a:r>
            <a:r>
              <a:rPr lang="en-US" altLang="zh-CN" dirty="0">
                <a:latin typeface="Arial" panose="020B0604020202020204" pitchFamily="34" charset="0"/>
              </a:rPr>
              <a:t>'),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('2','</a:t>
            </a:r>
            <a:r>
              <a:rPr lang="zh-CN" altLang="en-US" dirty="0">
                <a:latin typeface="Arial" panose="020B0604020202020204" pitchFamily="34" charset="0"/>
              </a:rPr>
              <a:t>李红</a:t>
            </a:r>
            <a:r>
              <a:rPr lang="en-US" altLang="zh-CN" dirty="0">
                <a:latin typeface="Arial" panose="020B0604020202020204" pitchFamily="34" charset="0"/>
              </a:rPr>
              <a:t>','</a:t>
            </a:r>
            <a:r>
              <a:rPr lang="zh-CN" altLang="en-US" dirty="0">
                <a:latin typeface="Arial" panose="020B0604020202020204" pitchFamily="34" charset="0"/>
              </a:rPr>
              <a:t>女</a:t>
            </a:r>
            <a:r>
              <a:rPr lang="en-US" altLang="zh-CN" dirty="0">
                <a:latin typeface="Arial" panose="020B0604020202020204" pitchFamily="34" charset="0"/>
              </a:rPr>
              <a:t>',95,null,'</a:t>
            </a:r>
            <a:r>
              <a:rPr lang="zh-CN" altLang="en-US" dirty="0">
                <a:latin typeface="Arial" panose="020B0604020202020204" pitchFamily="34" charset="0"/>
              </a:rPr>
              <a:t>数学系</a:t>
            </a:r>
            <a:r>
              <a:rPr lang="en-US" altLang="zh-CN" dirty="0">
                <a:latin typeface="Arial" panose="020B0604020202020204" pitchFamily="34" charset="0"/>
              </a:rPr>
              <a:t>'),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('3','</a:t>
            </a:r>
            <a:r>
              <a:rPr lang="zh-CN" altLang="en-US" dirty="0">
                <a:latin typeface="Arial" panose="020B0604020202020204" pitchFamily="34" charset="0"/>
              </a:rPr>
              <a:t>赵文</a:t>
            </a:r>
            <a:r>
              <a:rPr lang="en-US" altLang="zh-CN" dirty="0">
                <a:latin typeface="Arial" panose="020B0604020202020204" pitchFamily="34" charset="0"/>
              </a:rPr>
              <a:t>','</a:t>
            </a:r>
            <a:r>
              <a:rPr lang="zh-CN" altLang="en-US" dirty="0">
                <a:latin typeface="Arial" panose="020B0604020202020204" pitchFamily="34" charset="0"/>
              </a:rPr>
              <a:t>女</a:t>
            </a:r>
            <a:r>
              <a:rPr lang="en-US" altLang="zh-CN" dirty="0">
                <a:latin typeface="Arial" panose="020B0604020202020204" pitchFamily="34" charset="0"/>
              </a:rPr>
              <a:t>',73,'1998-05-16','</a:t>
            </a:r>
            <a:r>
              <a:rPr lang="zh-CN" altLang="en-US" dirty="0">
                <a:latin typeface="Arial" panose="020B0604020202020204" pitchFamily="34" charset="0"/>
              </a:rPr>
              <a:t>外文系</a:t>
            </a:r>
            <a:r>
              <a:rPr lang="en-US" altLang="zh-CN" dirty="0">
                <a:latin typeface="Arial" panose="020B0604020202020204" pitchFamily="34" charset="0"/>
              </a:rPr>
              <a:t>'),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('4','</a:t>
            </a:r>
            <a:r>
              <a:rPr lang="zh-CN" altLang="en-US" dirty="0">
                <a:latin typeface="Arial" panose="020B0604020202020204" pitchFamily="34" charset="0"/>
              </a:rPr>
              <a:t>王小路</a:t>
            </a:r>
            <a:r>
              <a:rPr lang="en-US" altLang="zh-CN" dirty="0">
                <a:latin typeface="Arial" panose="020B0604020202020204" pitchFamily="34" charset="0"/>
              </a:rPr>
              <a:t>','</a:t>
            </a:r>
            <a:r>
              <a:rPr lang="zh-CN" altLang="en-US" dirty="0">
                <a:latin typeface="Arial" panose="020B0604020202020204" pitchFamily="34" charset="0"/>
              </a:rPr>
              <a:t>男</a:t>
            </a:r>
            <a:r>
              <a:rPr lang="en-US" altLang="zh-CN" dirty="0">
                <a:latin typeface="Arial" panose="020B0604020202020204" pitchFamily="34" charset="0"/>
              </a:rPr>
              <a:t>',56,'1999-06-09','</a:t>
            </a:r>
            <a:r>
              <a:rPr lang="zh-CN" altLang="en-US" dirty="0">
                <a:latin typeface="Arial" panose="020B0604020202020204" pitchFamily="34" charset="0"/>
              </a:rPr>
              <a:t>外文系</a:t>
            </a:r>
            <a:r>
              <a:rPr lang="en-US" altLang="zh-CN" dirty="0">
                <a:latin typeface="Arial" panose="020B0604020202020204" pitchFamily="34" charset="0"/>
              </a:rPr>
              <a:t>'),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('5','</a:t>
            </a:r>
            <a:r>
              <a:rPr lang="zh-CN" altLang="en-US" dirty="0">
                <a:latin typeface="Arial" panose="020B0604020202020204" pitchFamily="34" charset="0"/>
              </a:rPr>
              <a:t>张路路</a:t>
            </a:r>
            <a:r>
              <a:rPr lang="en-US" altLang="zh-CN" dirty="0">
                <a:latin typeface="Arial" panose="020B0604020202020204" pitchFamily="34" charset="0"/>
              </a:rPr>
              <a:t>','</a:t>
            </a:r>
            <a:r>
              <a:rPr lang="zh-CN" altLang="en-US" dirty="0">
                <a:latin typeface="Arial" panose="020B0604020202020204" pitchFamily="34" charset="0"/>
              </a:rPr>
              <a:t>女</a:t>
            </a:r>
            <a:r>
              <a:rPr lang="en-US" altLang="zh-CN" dirty="0">
                <a:latin typeface="Arial" panose="020B0604020202020204" pitchFamily="34" charset="0"/>
              </a:rPr>
              <a:t>',89,'1998-05-14','</a:t>
            </a:r>
            <a:r>
              <a:rPr lang="zh-CN" altLang="en-US" dirty="0">
                <a:latin typeface="Arial" panose="020B0604020202020204" pitchFamily="34" charset="0"/>
              </a:rPr>
              <a:t>智能</a:t>
            </a:r>
            <a:r>
              <a:rPr lang="en-US" altLang="zh-CN" dirty="0">
                <a:latin typeface="Arial" panose="020B0604020202020204" pitchFamily="34" charset="0"/>
              </a:rPr>
              <a:t>'),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('6','</a:t>
            </a:r>
            <a:r>
              <a:rPr lang="zh-CN" altLang="en-US" dirty="0">
                <a:latin typeface="Arial" panose="020B0604020202020204" pitchFamily="34" charset="0"/>
              </a:rPr>
              <a:t>张路路</a:t>
            </a:r>
            <a:r>
              <a:rPr lang="en-US" altLang="zh-CN" dirty="0">
                <a:latin typeface="Arial" panose="020B0604020202020204" pitchFamily="34" charset="0"/>
              </a:rPr>
              <a:t>','</a:t>
            </a:r>
            <a:r>
              <a:rPr lang="zh-CN" altLang="en-US" dirty="0">
                <a:latin typeface="Arial" panose="020B0604020202020204" pitchFamily="34" charset="0"/>
              </a:rPr>
              <a:t>男</a:t>
            </a:r>
            <a:r>
              <a:rPr lang="en-US" altLang="zh-CN" dirty="0">
                <a:latin typeface="Arial" panose="020B0604020202020204" pitchFamily="34" charset="0"/>
              </a:rPr>
              <a:t>',83,'1997-04-19','</a:t>
            </a:r>
            <a:r>
              <a:rPr lang="zh-CN" altLang="en-US" dirty="0">
                <a:latin typeface="Arial" panose="020B0604020202020204" pitchFamily="34" charset="0"/>
              </a:rPr>
              <a:t>外文</a:t>
            </a:r>
            <a:r>
              <a:rPr lang="en-US" altLang="zh-CN" dirty="0">
                <a:latin typeface="Arial" panose="020B0604020202020204" pitchFamily="34" charset="0"/>
              </a:rPr>
              <a:t>');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insert into examinee_old values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('1','</a:t>
            </a:r>
            <a:r>
              <a:rPr lang="zh-CN" altLang="en-US" dirty="0">
                <a:latin typeface="Arial" panose="020B0604020202020204" pitchFamily="34" charset="0"/>
              </a:rPr>
              <a:t>张三</a:t>
            </a:r>
            <a:r>
              <a:rPr lang="en-US" altLang="zh-CN" dirty="0">
                <a:latin typeface="Arial" panose="020B0604020202020204" pitchFamily="34" charset="0"/>
              </a:rPr>
              <a:t>','</a:t>
            </a:r>
            <a:r>
              <a:rPr lang="zh-CN" altLang="en-US" dirty="0">
                <a:latin typeface="Arial" panose="020B0604020202020204" pitchFamily="34" charset="0"/>
              </a:rPr>
              <a:t>男</a:t>
            </a:r>
            <a:r>
              <a:rPr lang="en-US" altLang="zh-CN" dirty="0">
                <a:latin typeface="Arial" panose="020B0604020202020204" pitchFamily="34" charset="0"/>
              </a:rPr>
              <a:t>',96,'1997-06-09','</a:t>
            </a:r>
            <a:r>
              <a:rPr lang="zh-CN" altLang="en-US" dirty="0">
                <a:latin typeface="Arial" panose="020B0604020202020204" pitchFamily="34" charset="0"/>
              </a:rPr>
              <a:t>英语系</a:t>
            </a:r>
            <a:r>
              <a:rPr lang="en-US" altLang="zh-CN" dirty="0">
                <a:latin typeface="Arial" panose="020B0604020202020204" pitchFamily="34" charset="0"/>
              </a:rPr>
              <a:t>'),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('2','</a:t>
            </a:r>
            <a:r>
              <a:rPr lang="zh-CN" altLang="en-US" dirty="0">
                <a:latin typeface="Arial" panose="020B0604020202020204" pitchFamily="34" charset="0"/>
              </a:rPr>
              <a:t>李四</a:t>
            </a:r>
            <a:r>
              <a:rPr lang="en-US" altLang="zh-CN" dirty="0">
                <a:latin typeface="Arial" panose="020B0604020202020204" pitchFamily="34" charset="0"/>
              </a:rPr>
              <a:t>','</a:t>
            </a:r>
            <a:r>
              <a:rPr lang="zh-CN" altLang="en-US" dirty="0">
                <a:latin typeface="Arial" panose="020B0604020202020204" pitchFamily="34" charset="0"/>
              </a:rPr>
              <a:t>女</a:t>
            </a:r>
            <a:r>
              <a:rPr lang="en-US" altLang="zh-CN" dirty="0">
                <a:latin typeface="Arial" panose="020B0604020202020204" pitchFamily="34" charset="0"/>
              </a:rPr>
              <a:t>',92,null,'</a:t>
            </a:r>
            <a:r>
              <a:rPr lang="zh-CN" altLang="en-US" dirty="0">
                <a:latin typeface="Arial" panose="020B0604020202020204" pitchFamily="34" charset="0"/>
              </a:rPr>
              <a:t>数学系</a:t>
            </a:r>
            <a:r>
              <a:rPr lang="en-US" altLang="zh-CN" dirty="0">
                <a:latin typeface="Arial" panose="020B0604020202020204" pitchFamily="34" charset="0"/>
              </a:rPr>
              <a:t>');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1435100" y="1844675"/>
            <a:ext cx="6953250" cy="1008063"/>
          </a:xfrm>
          <a:ln/>
        </p:spPr>
        <p:txBody>
          <a:bodyPr vert="horz" wrap="square" lIns="91440" tIns="45720" rIns="91440" bIns="45720" anchor="t" anchorCtr="0"/>
          <a:p>
            <a:pPr marL="82550" indent="0"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/>
              <a:t> eename, eedepa </a:t>
            </a:r>
            <a:r>
              <a:rPr lang="en-US" altLang="zh-CN" dirty="0">
                <a:solidFill>
                  <a:srgbClr val="FF0000"/>
                </a:solidFill>
              </a:rPr>
              <a:t>from</a:t>
            </a:r>
            <a:r>
              <a:rPr lang="en-US" altLang="zh-CN" dirty="0"/>
              <a:t> examinee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思想气泡: 云 5"/>
          <p:cNvSpPr/>
          <p:nvPr/>
        </p:nvSpPr>
        <p:spPr>
          <a:xfrm>
            <a:off x="2092325" y="3078163"/>
            <a:ext cx="1800225" cy="977900"/>
          </a:xfrm>
          <a:prstGeom prst="cloudCallout">
            <a:avLst>
              <a:gd name="adj1" fmla="val 40120"/>
              <a:gd name="adj2" fmla="val -981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查询的字段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7" name="思想气泡: 云 6"/>
          <p:cNvSpPr/>
          <p:nvPr/>
        </p:nvSpPr>
        <p:spPr>
          <a:xfrm>
            <a:off x="5535613" y="3284538"/>
            <a:ext cx="1800225" cy="1143000"/>
          </a:xfrm>
          <a:prstGeom prst="cloudCallout">
            <a:avLst>
              <a:gd name="adj1" fmla="val 21496"/>
              <a:gd name="adj2" fmla="val -115100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数据来源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90" name="矩形 7"/>
          <p:cNvSpPr/>
          <p:nvPr/>
        </p:nvSpPr>
        <p:spPr>
          <a:xfrm>
            <a:off x="1560513" y="1417638"/>
            <a:ext cx="5764212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使用</a:t>
            </a:r>
            <a:r>
              <a:rPr lang="en-US" altLang="zh-CN" dirty="0">
                <a:latin typeface="Arial" panose="020B0604020202020204" pitchFamily="34" charset="0"/>
              </a:rPr>
              <a:t>select</a:t>
            </a:r>
            <a:r>
              <a:rPr lang="zh-CN" altLang="en-US" dirty="0">
                <a:latin typeface="Arial" panose="020B0604020202020204" pitchFamily="34" charset="0"/>
              </a:rPr>
              <a:t>查询</a:t>
            </a:r>
            <a:r>
              <a:rPr lang="en-US" altLang="zh-CN" dirty="0">
                <a:latin typeface="Arial" panose="020B0604020202020204" pitchFamily="34" charset="0"/>
              </a:rPr>
              <a:t>examinee </a:t>
            </a:r>
            <a:r>
              <a:rPr lang="zh-CN" altLang="en-US" dirty="0">
                <a:latin typeface="Arial" panose="020B0604020202020204" pitchFamily="34" charset="0"/>
              </a:rPr>
              <a:t>表中的</a:t>
            </a:r>
            <a:r>
              <a:rPr lang="en-US" altLang="zh-CN" dirty="0">
                <a:latin typeface="Arial" panose="020B0604020202020204" pitchFamily="34" charset="0"/>
              </a:rPr>
              <a:t>eename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eedepa</a:t>
            </a:r>
            <a:r>
              <a:rPr lang="zh-CN" altLang="en-US" dirty="0">
                <a:latin typeface="Arial" panose="020B0604020202020204" pitchFamily="34" charset="0"/>
              </a:rPr>
              <a:t>字段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650365" y="4506595"/>
            <a:ext cx="4484370" cy="1736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2051050" y="1341438"/>
            <a:ext cx="749935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查询语句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单表查询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聚集函数和分组查询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日期函数的应用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合并查询结果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取别名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将查询结果插入表中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None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0000"/>
                </a:solidFill>
              </a:rPr>
              <a:t>查询所有字段、指定字段、指定元组</a:t>
            </a:r>
            <a:r>
              <a:rPr lang="en-US" altLang="zh-CN" sz="2400" dirty="0">
                <a:solidFill>
                  <a:srgbClr val="FF0000"/>
                </a:solidFill>
              </a:rPr>
              <a:t>/</a:t>
            </a:r>
            <a:r>
              <a:rPr lang="zh-CN" altLang="en-US" sz="2400" dirty="0">
                <a:solidFill>
                  <a:srgbClr val="FF0000"/>
                </a:solidFill>
              </a:rPr>
              <a:t>行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in</a:t>
            </a:r>
            <a:r>
              <a:rPr lang="zh-CN" altLang="en-US" sz="2400" dirty="0"/>
              <a:t>的关键字查询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between and</a:t>
            </a:r>
            <a:r>
              <a:rPr lang="zh-CN" altLang="en-US" sz="2400" dirty="0"/>
              <a:t>的范围查询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like</a:t>
            </a:r>
            <a:r>
              <a:rPr lang="zh-CN" altLang="en-US" sz="2400" dirty="0"/>
              <a:t>的字符匹配查询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空值查询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and</a:t>
            </a:r>
            <a:r>
              <a:rPr lang="zh-CN" altLang="en-US" sz="2400" dirty="0"/>
              <a:t>、</a:t>
            </a:r>
            <a:r>
              <a:rPr lang="en-US" altLang="zh-CN" sz="2400" dirty="0"/>
              <a:t>or</a:t>
            </a:r>
            <a:r>
              <a:rPr lang="zh-CN" altLang="en-US" sz="2400" dirty="0"/>
              <a:t>的多条件查询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对查询结果去重、排序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用</a:t>
            </a:r>
            <a:r>
              <a:rPr lang="en-US" altLang="zh-CN" sz="2400" dirty="0"/>
              <a:t>limit</a:t>
            </a:r>
            <a:r>
              <a:rPr lang="zh-CN" altLang="en-US" sz="2400" dirty="0"/>
              <a:t>限制查询结果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>
              <a:buNone/>
            </a:pPr>
            <a:endParaRPr lang="zh-CN" altLang="en-US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单表查询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1265238"/>
          </a:xfrm>
          <a:ln/>
        </p:spPr>
        <p:txBody>
          <a:bodyPr vert="horz" wrap="square" lIns="91440" tIns="45720" rIns="91440" bIns="45720" anchor="t" anchorCtr="0"/>
          <a:p>
            <a:pPr marL="82550" indent="0"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* 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表名</a:t>
            </a:r>
            <a:endParaRPr lang="en-US" altLang="zh-CN" sz="28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2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使用星号（*）按表中顺序返回所有列</a:t>
            </a:r>
            <a:endParaRPr lang="en-US" altLang="zh-CN" sz="18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dirty="0">
                <a:solidFill>
                  <a:srgbClr val="3B1D15"/>
                </a:solidFill>
              </a:rPr>
              <a:t> </a:t>
            </a:r>
            <a:endParaRPr lang="zh-CN" altLang="en-US" dirty="0">
              <a:solidFill>
                <a:srgbClr val="3B1D15"/>
              </a:solidFill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查询所有字段（一）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587500" y="2565400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461" name="矩形 5"/>
          <p:cNvSpPr/>
          <p:nvPr/>
        </p:nvSpPr>
        <p:spPr>
          <a:xfrm>
            <a:off x="2484438" y="3027363"/>
            <a:ext cx="3557587" cy="9239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从</a:t>
            </a:r>
            <a:r>
              <a:rPr lang="en-US" altLang="zh-CN" dirty="0">
                <a:latin typeface="Arial" panose="020B0604020202020204" pitchFamily="34" charset="0"/>
              </a:rPr>
              <a:t>examinee </a:t>
            </a:r>
            <a:r>
              <a:rPr lang="zh-CN" altLang="en-US" dirty="0">
                <a:latin typeface="Arial" panose="020B0604020202020204" pitchFamily="34" charset="0"/>
              </a:rPr>
              <a:t>表中查询所有字段。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   select  </a:t>
            </a:r>
            <a:r>
              <a:rPr lang="en-US" altLang="zh-CN" dirty="0">
                <a:latin typeface="Arial" panose="020B0604020202020204" pitchFamily="34" charset="0"/>
              </a:rPr>
              <a:t>*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 examinee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259205" y="4077335"/>
            <a:ext cx="7618095" cy="14973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2" name="内容占位符 2"/>
          <p:cNvPicPr>
            <a:picLocks noGrp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403350" y="1341438"/>
            <a:ext cx="7518400" cy="4876800"/>
          </a:xfrm>
          <a:ln/>
        </p:spPr>
      </p:pic>
      <p:sp>
        <p:nvSpPr>
          <p:cNvPr id="4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查询所有字段（二）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979488" y="2476500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5" name="矩形 5"/>
          <p:cNvSpPr/>
          <p:nvPr/>
        </p:nvSpPr>
        <p:spPr>
          <a:xfrm>
            <a:off x="1912938" y="2827338"/>
            <a:ext cx="6711950" cy="9239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从</a:t>
            </a:r>
            <a:r>
              <a:rPr lang="en-US" altLang="zh-CN" dirty="0">
                <a:latin typeface="Arial" panose="020B0604020202020204" pitchFamily="34" charset="0"/>
              </a:rPr>
              <a:t>examinee </a:t>
            </a:r>
            <a:r>
              <a:rPr lang="zh-CN" altLang="en-US" dirty="0">
                <a:latin typeface="Arial" panose="020B0604020202020204" pitchFamily="34" charset="0"/>
              </a:rPr>
              <a:t>表中查询所有字段。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dirty="0">
                <a:latin typeface="Arial" panose="020B0604020202020204" pitchFamily="34" charset="0"/>
              </a:rPr>
              <a:t> eeid,eename,eesex,grade,eebirth,eedepa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examinee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1187450" y="3861435"/>
            <a:ext cx="7438390" cy="15278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8255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SELECT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from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表名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8255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查询一个指定字段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587500" y="177323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509" name="矩形 5"/>
          <p:cNvSpPr/>
          <p:nvPr/>
        </p:nvSpPr>
        <p:spPr>
          <a:xfrm>
            <a:off x="1690688" y="2916238"/>
            <a:ext cx="5775325" cy="9239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从</a:t>
            </a:r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表中获取</a:t>
            </a:r>
            <a:r>
              <a:rPr lang="en-US" altLang="zh-CN" dirty="0">
                <a:latin typeface="Arial" panose="020B0604020202020204" pitchFamily="34" charset="0"/>
              </a:rPr>
              <a:t>eename</a:t>
            </a:r>
            <a:r>
              <a:rPr lang="zh-CN" altLang="en-US" dirty="0">
                <a:latin typeface="Arial" panose="020B0604020202020204" pitchFamily="34" charset="0"/>
              </a:rPr>
              <a:t>字段下的所有考生姓名。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   select  </a:t>
            </a:r>
            <a:r>
              <a:rPr lang="en-US" altLang="zh-CN" dirty="0">
                <a:latin typeface="Arial" panose="020B0604020202020204" pitchFamily="34" charset="0"/>
              </a:rPr>
              <a:t>eename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 examinee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5723890" y="3933190"/>
            <a:ext cx="2878455" cy="19691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30" name="内容占位符 2"/>
          <p:cNvPicPr>
            <a:picLocks noGrp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403350" y="1340803"/>
            <a:ext cx="7518400" cy="4876800"/>
          </a:xfrm>
          <a:ln/>
        </p:spPr>
      </p:pic>
      <p:sp>
        <p:nvSpPr>
          <p:cNvPr id="4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查询多个指定字段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182688" y="250348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3" name="矩形 5"/>
          <p:cNvSpPr/>
          <p:nvPr/>
        </p:nvSpPr>
        <p:spPr>
          <a:xfrm>
            <a:off x="2157413" y="2951163"/>
            <a:ext cx="4608512" cy="9239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从</a:t>
            </a:r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表中获取</a:t>
            </a:r>
            <a:r>
              <a:rPr lang="en-US" altLang="zh-CN" dirty="0">
                <a:latin typeface="Arial" panose="020B0604020202020204" pitchFamily="34" charset="0"/>
              </a:rPr>
              <a:t>eename, eesex</a:t>
            </a:r>
            <a:r>
              <a:rPr lang="zh-CN" altLang="en-US" dirty="0">
                <a:latin typeface="Arial" panose="020B0604020202020204" pitchFamily="34" charset="0"/>
              </a:rPr>
              <a:t>两列。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   select  </a:t>
            </a:r>
            <a:r>
              <a:rPr lang="en-US" altLang="zh-CN" dirty="0">
                <a:latin typeface="Arial" panose="020B0604020202020204" pitchFamily="34" charset="0"/>
              </a:rPr>
              <a:t>eename,eesex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 examinee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2"/>
          <a:srcRect l="7999"/>
          <a:stretch>
            <a:fillRect/>
          </a:stretch>
        </p:blipFill>
        <p:spPr>
          <a:xfrm>
            <a:off x="3936365" y="4221480"/>
            <a:ext cx="4745990" cy="1568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8255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子句对数据进行过滤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字段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1,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字段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2,…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字段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表名</a:t>
            </a:r>
            <a:endParaRPr lang="en-US" altLang="zh-CN" sz="24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en-US" altLang="zh-CN" sz="24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查询条件</a:t>
            </a:r>
            <a:endParaRPr lang="en-US" altLang="zh-CN" sz="24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sz="18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1800" dirty="0">
              <a:solidFill>
                <a:srgbClr val="3B1D15"/>
              </a:solidFill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查询指定元组</a:t>
            </a:r>
            <a:r>
              <a:rPr kumimoji="0" lang="en-US" altLang="zh-CN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/</a:t>
            </a: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行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8255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331913" y="3429000"/>
            <a:ext cx="7499350" cy="633413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80" name="矩形 5"/>
          <p:cNvSpPr/>
          <p:nvPr/>
        </p:nvSpPr>
        <p:spPr>
          <a:xfrm>
            <a:off x="2411413" y="3525838"/>
            <a:ext cx="581406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zh-CN" altLang="en-US" dirty="0">
                <a:latin typeface="Arial" panose="020B0604020202020204" pitchFamily="34" charset="0"/>
              </a:rPr>
              <a:t>查询</a:t>
            </a:r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表中信科的所有考生姓名。</a:t>
            </a:r>
            <a:endParaRPr lang="en-US" altLang="zh-CN" dirty="0">
              <a:latin typeface="Arial" panose="020B0604020202020204" pitchFamily="34" charset="0"/>
            </a:endParaRPr>
          </a:p>
          <a:p>
            <a:pPr algn="l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   select</a:t>
            </a:r>
            <a:r>
              <a:rPr lang="en-US" altLang="zh-CN" dirty="0">
                <a:latin typeface="Arial" panose="020B0604020202020204" pitchFamily="34" charset="0"/>
              </a:rPr>
              <a:t> eename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examinee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latin typeface="Arial" panose="020B0604020202020204" pitchFamily="34" charset="0"/>
              </a:rPr>
              <a:t> eedepa=</a:t>
            </a:r>
            <a:r>
              <a:rPr lang="en-US" altLang="zh-CN" dirty="0">
                <a:sym typeface="+mn-ea"/>
              </a:rPr>
              <a:t>'</a:t>
            </a:r>
            <a:r>
              <a:rPr lang="zh-CN" altLang="en-US" dirty="0">
                <a:latin typeface="Arial" panose="020B0604020202020204" pitchFamily="34" charset="0"/>
              </a:rPr>
              <a:t>智能</a:t>
            </a:r>
            <a:r>
              <a:rPr lang="en-US" altLang="zh-CN" dirty="0">
                <a:latin typeface="Arial" panose="020B0604020202020204" pitchFamily="34" charset="0"/>
              </a:rPr>
              <a:t>'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581" name="文本框 1"/>
          <p:cNvSpPr txBox="1"/>
          <p:nvPr/>
        </p:nvSpPr>
        <p:spPr>
          <a:xfrm>
            <a:off x="1476375" y="430213"/>
            <a:ext cx="5472113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常用的</a:t>
            </a:r>
            <a:r>
              <a:rPr lang="en-US" altLang="zh-CN" b="1" dirty="0">
                <a:latin typeface="Arial" panose="020B0604020202020204" pitchFamily="34" charset="0"/>
              </a:rPr>
              <a:t>WHERE</a:t>
            </a:r>
            <a:r>
              <a:rPr lang="zh-CN" altLang="en-US" b="1" dirty="0">
                <a:latin typeface="Arial" panose="020B0604020202020204" pitchFamily="34" charset="0"/>
              </a:rPr>
              <a:t>字节判断符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524000" y="1060450"/>
          <a:ext cx="6096000" cy="1857375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操作符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说明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=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相等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&lt;&gt;  ,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  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!=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不相等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&lt;  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小于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&lt;=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小于等于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3059113" y="4581208"/>
            <a:ext cx="3114675" cy="9810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查询所有字段、指定字段、指定元组</a:t>
            </a:r>
            <a:r>
              <a:rPr lang="en-US" altLang="zh-CN" sz="2400" dirty="0"/>
              <a:t>/</a:t>
            </a:r>
            <a:r>
              <a:rPr lang="zh-CN" altLang="en-US" sz="2400" dirty="0"/>
              <a:t>行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0000"/>
                </a:solidFill>
              </a:rPr>
              <a:t>带</a:t>
            </a:r>
            <a:r>
              <a:rPr lang="en-US" altLang="zh-CN" sz="2400" dirty="0">
                <a:solidFill>
                  <a:srgbClr val="FF0000"/>
                </a:solidFill>
              </a:rPr>
              <a:t>in</a:t>
            </a:r>
            <a:r>
              <a:rPr lang="zh-CN" altLang="en-US" sz="2400" dirty="0">
                <a:solidFill>
                  <a:srgbClr val="FF0000"/>
                </a:solidFill>
              </a:rPr>
              <a:t>的关键字查询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between and</a:t>
            </a:r>
            <a:r>
              <a:rPr lang="zh-CN" altLang="en-US" sz="2400" dirty="0"/>
              <a:t>的范围查询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like</a:t>
            </a:r>
            <a:r>
              <a:rPr lang="zh-CN" altLang="en-US" sz="2400" dirty="0"/>
              <a:t>的字符匹配查询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空值查询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and</a:t>
            </a:r>
            <a:r>
              <a:rPr lang="zh-CN" altLang="en-US" sz="2400" dirty="0"/>
              <a:t>、</a:t>
            </a:r>
            <a:r>
              <a:rPr lang="en-US" altLang="zh-CN" sz="2400" dirty="0"/>
              <a:t>or</a:t>
            </a:r>
            <a:r>
              <a:rPr lang="zh-CN" altLang="en-US" sz="2400" dirty="0"/>
              <a:t>的多条件查询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对查询结果去重、排序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用</a:t>
            </a:r>
            <a:r>
              <a:rPr lang="en-US" altLang="zh-CN" sz="2400" dirty="0"/>
              <a:t>limit</a:t>
            </a:r>
            <a:r>
              <a:rPr lang="zh-CN" altLang="en-US" sz="2400" dirty="0"/>
              <a:t>限制查询结果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>
              <a:buNone/>
            </a:pPr>
            <a:endParaRPr lang="zh-CN" altLang="en-US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单表查询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82550" indent="0">
              <a:buNone/>
            </a:pP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操作符查询满足指定条件的元组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2800" i="1" dirty="0">
                <a:latin typeface="黑体" panose="02010609060101010101" pitchFamily="49" charset="-122"/>
                <a:ea typeface="黑体" panose="02010609060101010101" pitchFamily="49" charset="-122"/>
              </a:rPr>
              <a:t> 注意：</a:t>
            </a:r>
            <a:r>
              <a:rPr lang="en-US" altLang="zh-CN" sz="2800" i="1" dirty="0">
                <a:latin typeface="黑体" panose="02010609060101010101" pitchFamily="49" charset="-122"/>
                <a:ea typeface="黑体" panose="02010609060101010101" pitchFamily="49" charset="-122"/>
              </a:rPr>
              <a:t>IN</a:t>
            </a:r>
            <a:r>
              <a:rPr lang="zh-CN" altLang="en-US" sz="2800" i="1" dirty="0">
                <a:latin typeface="黑体" panose="02010609060101010101" pitchFamily="49" charset="-122"/>
                <a:ea typeface="黑体" panose="02010609060101010101" pitchFamily="49" charset="-122"/>
              </a:rPr>
              <a:t>使用在</a:t>
            </a:r>
            <a:r>
              <a:rPr lang="en-US" altLang="zh-CN" sz="2800" i="1" dirty="0"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zh-CN" altLang="en-US" sz="2800" i="1" dirty="0">
                <a:latin typeface="黑体" panose="02010609060101010101" pitchFamily="49" charset="-122"/>
                <a:ea typeface="黑体" panose="02010609060101010101" pitchFamily="49" charset="-122"/>
              </a:rPr>
              <a:t>子句中！</a:t>
            </a:r>
            <a:endParaRPr lang="en-US" altLang="zh-CN" sz="2800" i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en-US" altLang="zh-CN" sz="24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sz="18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zh-CN" altLang="en-US" sz="1800" dirty="0">
              <a:solidFill>
                <a:srgbClr val="3B1D15"/>
              </a:solidFill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带</a:t>
            </a:r>
            <a:r>
              <a:rPr kumimoji="0" lang="en-US" altLang="zh-CN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IN</a:t>
            </a: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的关键词查询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282700" y="2981325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9" name="矩形 5"/>
          <p:cNvSpPr/>
          <p:nvPr/>
        </p:nvSpPr>
        <p:spPr>
          <a:xfrm>
            <a:off x="1387475" y="3941763"/>
            <a:ext cx="5216525" cy="9239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查询</a:t>
            </a:r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表中</a:t>
            </a:r>
            <a:r>
              <a:rPr lang="en-US" altLang="zh-CN" dirty="0">
                <a:latin typeface="Arial" panose="020B0604020202020204" pitchFamily="34" charset="0"/>
              </a:rPr>
              <a:t>eeid</a:t>
            </a:r>
            <a:r>
              <a:rPr lang="zh-CN" altLang="en-US" dirty="0">
                <a:latin typeface="Arial" panose="020B0604020202020204" pitchFamily="34" charset="0"/>
              </a:rPr>
              <a:t>为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的元组。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   select  </a:t>
            </a:r>
            <a:r>
              <a:rPr lang="zh-CN" altLang="en-US" dirty="0">
                <a:latin typeface="Arial" panose="020B0604020202020204" pitchFamily="34" charset="0"/>
              </a:rPr>
              <a:t>*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 examinee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latin typeface="Arial" panose="020B0604020202020204" pitchFamily="34" charset="0"/>
              </a:rPr>
              <a:t> eeid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('1','2')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" name="爆炸形: 8 pt  1"/>
          <p:cNvSpPr/>
          <p:nvPr/>
        </p:nvSpPr>
        <p:spPr>
          <a:xfrm>
            <a:off x="5957888" y="2441575"/>
            <a:ext cx="3128963" cy="1798638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In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中值的类型必须与字段类型保持一致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435100" y="5085080"/>
            <a:ext cx="712660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8255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使用关键字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NOT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检索不在条件范围内的记录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2800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en-US" altLang="zh-CN" sz="24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sz="18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zh-CN" altLang="en-US" sz="1800" dirty="0">
              <a:solidFill>
                <a:srgbClr val="3B1D15"/>
              </a:solidFill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带</a:t>
            </a:r>
            <a:r>
              <a:rPr kumimoji="0" lang="en-US" altLang="zh-CN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IN</a:t>
            </a: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的关键词查询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282700" y="2114550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3" name="矩形 5"/>
          <p:cNvSpPr/>
          <p:nvPr/>
        </p:nvSpPr>
        <p:spPr>
          <a:xfrm>
            <a:off x="2227263" y="2541588"/>
            <a:ext cx="5610225" cy="9239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查询</a:t>
            </a:r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表中</a:t>
            </a:r>
            <a:r>
              <a:rPr lang="en-US" altLang="zh-CN" dirty="0">
                <a:latin typeface="Arial" panose="020B0604020202020204" pitchFamily="34" charset="0"/>
              </a:rPr>
              <a:t>eeid</a:t>
            </a:r>
            <a:r>
              <a:rPr lang="zh-CN" altLang="en-US" dirty="0">
                <a:latin typeface="Arial" panose="020B0604020202020204" pitchFamily="34" charset="0"/>
              </a:rPr>
              <a:t>既不等于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也不等于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的元组。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   select  </a:t>
            </a:r>
            <a:r>
              <a:rPr lang="zh-CN" altLang="en-US" dirty="0">
                <a:latin typeface="Arial" panose="020B0604020202020204" pitchFamily="34" charset="0"/>
              </a:rPr>
              <a:t>*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 examinee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latin typeface="Arial" panose="020B0604020202020204" pitchFamily="34" charset="0"/>
              </a:rPr>
              <a:t> eeid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not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('1','2')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292225" y="3789045"/>
            <a:ext cx="7489825" cy="1061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查询所有字段、指定字段、指定元组</a:t>
            </a:r>
            <a:r>
              <a:rPr lang="en-US" altLang="zh-CN" sz="2400" dirty="0"/>
              <a:t>/</a:t>
            </a:r>
            <a:r>
              <a:rPr lang="zh-CN" altLang="en-US" sz="2400" dirty="0"/>
              <a:t>行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in</a:t>
            </a:r>
            <a:r>
              <a:rPr lang="zh-CN" altLang="en-US" sz="2400" dirty="0"/>
              <a:t>的关键字查询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0000"/>
                </a:solidFill>
              </a:rPr>
              <a:t>带</a:t>
            </a:r>
            <a:r>
              <a:rPr lang="en-US" altLang="zh-CN" sz="2400" dirty="0">
                <a:solidFill>
                  <a:srgbClr val="FF0000"/>
                </a:solidFill>
              </a:rPr>
              <a:t>between and</a:t>
            </a:r>
            <a:r>
              <a:rPr lang="zh-CN" altLang="en-US" sz="2400" dirty="0">
                <a:solidFill>
                  <a:srgbClr val="FF0000"/>
                </a:solidFill>
              </a:rPr>
              <a:t>的范围查询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like</a:t>
            </a:r>
            <a:r>
              <a:rPr lang="zh-CN" altLang="en-US" sz="2400" dirty="0"/>
              <a:t>的字符匹配查询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空值查询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and</a:t>
            </a:r>
            <a:r>
              <a:rPr lang="zh-CN" altLang="en-US" sz="2400" dirty="0"/>
              <a:t>、</a:t>
            </a:r>
            <a:r>
              <a:rPr lang="en-US" altLang="zh-CN" sz="2400" dirty="0"/>
              <a:t>or</a:t>
            </a:r>
            <a:r>
              <a:rPr lang="zh-CN" altLang="en-US" sz="2400" dirty="0"/>
              <a:t>的多条件查询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对查询结果去重、排序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用</a:t>
            </a:r>
            <a:r>
              <a:rPr lang="en-US" altLang="zh-CN" sz="2400" dirty="0"/>
              <a:t>limit</a:t>
            </a:r>
            <a:r>
              <a:rPr lang="zh-CN" altLang="en-US" sz="2400" dirty="0"/>
              <a:t>限制查询结果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>
              <a:buNone/>
            </a:pPr>
            <a:endParaRPr lang="zh-CN" altLang="en-US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单表查询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82550" indent="0">
              <a:buNone/>
            </a:pP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BETWEEN AND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用来查询某个范围内的值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between A  and  B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2800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en-US" altLang="zh-CN" sz="24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表示： </a:t>
            </a:r>
            <a:r>
              <a:rPr lang="en-US" altLang="zh-CN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&gt;= A    &lt;= B.   </a:t>
            </a: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相当于数学中的闭区间。</a:t>
            </a:r>
            <a:endParaRPr lang="en-US" altLang="zh-CN" sz="18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zh-CN" altLang="en-US" sz="1800" dirty="0">
              <a:solidFill>
                <a:srgbClr val="3B1D15"/>
              </a:solidFill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带</a:t>
            </a:r>
            <a:r>
              <a:rPr kumimoji="0" lang="en-US" altLang="zh-CN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BETWEEN  AND</a:t>
            </a: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的关键词查询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016000" y="354488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701" name="矩形 5"/>
          <p:cNvSpPr/>
          <p:nvPr/>
        </p:nvSpPr>
        <p:spPr>
          <a:xfrm>
            <a:off x="1851025" y="3960813"/>
            <a:ext cx="7302500" cy="9239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查询</a:t>
            </a:r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表中</a:t>
            </a:r>
            <a:r>
              <a:rPr lang="en-US" altLang="zh-CN" dirty="0">
                <a:latin typeface="Arial" panose="020B0604020202020204" pitchFamily="34" charset="0"/>
              </a:rPr>
              <a:t>grade</a:t>
            </a:r>
            <a:r>
              <a:rPr lang="zh-CN" altLang="en-US" dirty="0">
                <a:latin typeface="Arial" panose="020B0604020202020204" pitchFamily="34" charset="0"/>
              </a:rPr>
              <a:t>位于 </a:t>
            </a:r>
            <a:r>
              <a:rPr lang="en-US" altLang="zh-CN" dirty="0">
                <a:latin typeface="Arial" panose="020B0604020202020204" pitchFamily="34" charset="0"/>
              </a:rPr>
              <a:t>80 </a:t>
            </a:r>
            <a:r>
              <a:rPr lang="zh-CN" altLang="en-US" dirty="0">
                <a:latin typeface="Arial" panose="020B0604020202020204" pitchFamily="34" charset="0"/>
              </a:rPr>
              <a:t>和 </a:t>
            </a:r>
            <a:r>
              <a:rPr lang="en-US" altLang="zh-CN" dirty="0">
                <a:latin typeface="Arial" panose="020B0604020202020204" pitchFamily="34" charset="0"/>
              </a:rPr>
              <a:t>90 </a:t>
            </a:r>
            <a:r>
              <a:rPr lang="zh-CN" altLang="en-US" dirty="0">
                <a:latin typeface="Arial" panose="020B0604020202020204" pitchFamily="34" charset="0"/>
              </a:rPr>
              <a:t>之间的考生姓名和成绩。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dirty="0">
                <a:latin typeface="Arial" panose="020B0604020202020204" pitchFamily="34" charset="0"/>
              </a:rPr>
              <a:t> eename,grade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examinee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latin typeface="Arial" panose="020B0604020202020204" pitchFamily="34" charset="0"/>
              </a:rPr>
              <a:t> grade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between</a:t>
            </a:r>
            <a:r>
              <a:rPr lang="en-US" altLang="zh-CN" dirty="0">
                <a:latin typeface="Arial" panose="020B0604020202020204" pitchFamily="34" charset="0"/>
              </a:rPr>
              <a:t> 80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and</a:t>
            </a:r>
            <a:r>
              <a:rPr lang="en-US" altLang="zh-CN" dirty="0">
                <a:latin typeface="Arial" panose="020B0604020202020204" pitchFamily="34" charset="0"/>
              </a:rPr>
              <a:t> 90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3132138" y="2492375"/>
            <a:ext cx="0" cy="360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3" name="文本框 8"/>
          <p:cNvSpPr txBox="1"/>
          <p:nvPr/>
        </p:nvSpPr>
        <p:spPr>
          <a:xfrm>
            <a:off x="2617788" y="2973388"/>
            <a:ext cx="16827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范围开始值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704" name="文本框 9"/>
          <p:cNvSpPr txBox="1"/>
          <p:nvPr/>
        </p:nvSpPr>
        <p:spPr>
          <a:xfrm>
            <a:off x="3924300" y="2973388"/>
            <a:ext cx="16827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范围结束值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564063" y="2492375"/>
            <a:ext cx="0" cy="360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1"/>
          <a:srcRect l="3922" b="-5286"/>
          <a:stretch>
            <a:fillRect/>
          </a:stretch>
        </p:blipFill>
        <p:spPr>
          <a:xfrm>
            <a:off x="1547495" y="4923155"/>
            <a:ext cx="7062470" cy="9359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带</a:t>
            </a:r>
            <a:r>
              <a:rPr kumimoji="0" lang="en-US" altLang="zh-CN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BETWEEN  AND</a:t>
            </a: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的关键词查询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573213" y="268128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24" name="矩形 5"/>
          <p:cNvSpPr/>
          <p:nvPr/>
        </p:nvSpPr>
        <p:spPr>
          <a:xfrm>
            <a:off x="1519238" y="3748088"/>
            <a:ext cx="6699250" cy="1477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查询</a:t>
            </a:r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表中</a:t>
            </a:r>
            <a:r>
              <a:rPr lang="en-US" altLang="zh-CN" dirty="0">
                <a:latin typeface="Arial" panose="020B0604020202020204" pitchFamily="34" charset="0"/>
              </a:rPr>
              <a:t>grade</a:t>
            </a:r>
            <a:r>
              <a:rPr lang="zh-CN" altLang="en-US" dirty="0">
                <a:latin typeface="Arial" panose="020B0604020202020204" pitchFamily="34" charset="0"/>
              </a:rPr>
              <a:t>位于 </a:t>
            </a:r>
            <a:r>
              <a:rPr lang="en-US" altLang="zh-CN" dirty="0">
                <a:latin typeface="Arial" panose="020B0604020202020204" pitchFamily="34" charset="0"/>
              </a:rPr>
              <a:t>80 </a:t>
            </a:r>
            <a:r>
              <a:rPr lang="zh-CN" altLang="en-US" dirty="0">
                <a:latin typeface="Arial" panose="020B0604020202020204" pitchFamily="34" charset="0"/>
              </a:rPr>
              <a:t>和 </a:t>
            </a:r>
            <a:r>
              <a:rPr lang="en-US" altLang="zh-CN" dirty="0">
                <a:latin typeface="Arial" panose="020B0604020202020204" pitchFamily="34" charset="0"/>
              </a:rPr>
              <a:t>90 </a:t>
            </a:r>
            <a:r>
              <a:rPr lang="zh-CN" altLang="en-US" dirty="0">
                <a:latin typeface="Arial" panose="020B0604020202020204" pitchFamily="34" charset="0"/>
              </a:rPr>
              <a:t>之外的考生姓名和成绩。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dirty="0">
                <a:latin typeface="Arial" panose="020B0604020202020204" pitchFamily="34" charset="0"/>
              </a:rPr>
              <a:t> eename,grade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examinee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latin typeface="Arial" panose="020B0604020202020204" pitchFamily="34" charset="0"/>
              </a:rPr>
              <a:t> grade 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not between</a:t>
            </a:r>
            <a:r>
              <a:rPr lang="en-US" altLang="zh-CN" dirty="0">
                <a:latin typeface="Arial" panose="020B0604020202020204" pitchFamily="34" charset="0"/>
              </a:rPr>
              <a:t> 80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and</a:t>
            </a:r>
            <a:r>
              <a:rPr lang="en-US" altLang="zh-CN" dirty="0">
                <a:latin typeface="Arial" panose="020B0604020202020204" pitchFamily="34" charset="0"/>
              </a:rPr>
              <a:t> 90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30725" name="内容占位符 2"/>
          <p:cNvSpPr txBox="1"/>
          <p:nvPr/>
        </p:nvSpPr>
        <p:spPr>
          <a:xfrm>
            <a:off x="1641475" y="1773238"/>
            <a:ext cx="7499350" cy="7064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6855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3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7305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82550" lv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关键字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NOT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表示指定范围之外的值</a:t>
            </a:r>
            <a:endParaRPr lang="zh-CN" altLang="en-US" sz="1800" dirty="0">
              <a:solidFill>
                <a:srgbClr val="3B1D15"/>
              </a:solidFill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2108835" y="5301615"/>
            <a:ext cx="5492115" cy="8782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查询所有字段、指定字段、指定元组</a:t>
            </a:r>
            <a:r>
              <a:rPr lang="en-US" altLang="zh-CN" sz="2400" dirty="0"/>
              <a:t>/</a:t>
            </a:r>
            <a:r>
              <a:rPr lang="zh-CN" altLang="en-US" sz="2400" dirty="0"/>
              <a:t>行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in</a:t>
            </a:r>
            <a:r>
              <a:rPr lang="zh-CN" altLang="en-US" sz="2400" dirty="0"/>
              <a:t>的关键字查询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between and</a:t>
            </a:r>
            <a:r>
              <a:rPr lang="zh-CN" altLang="en-US" sz="2400" dirty="0"/>
              <a:t>的范围查询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0000"/>
                </a:solidFill>
              </a:rPr>
              <a:t>带</a:t>
            </a:r>
            <a:r>
              <a:rPr lang="en-US" altLang="zh-CN" sz="2400" dirty="0">
                <a:solidFill>
                  <a:srgbClr val="FF0000"/>
                </a:solidFill>
              </a:rPr>
              <a:t>like</a:t>
            </a:r>
            <a:r>
              <a:rPr lang="zh-CN" altLang="en-US" sz="2400" dirty="0">
                <a:solidFill>
                  <a:srgbClr val="FF0000"/>
                </a:solidFill>
              </a:rPr>
              <a:t>的字符匹配查询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空值查询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and</a:t>
            </a:r>
            <a:r>
              <a:rPr lang="zh-CN" altLang="en-US" sz="2400" dirty="0"/>
              <a:t>、</a:t>
            </a:r>
            <a:r>
              <a:rPr lang="en-US" altLang="zh-CN" sz="2400" dirty="0"/>
              <a:t>or</a:t>
            </a:r>
            <a:r>
              <a:rPr lang="zh-CN" altLang="en-US" sz="2400" dirty="0"/>
              <a:t>的多条件查询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对查询结果去重、排序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用</a:t>
            </a:r>
            <a:r>
              <a:rPr lang="en-US" altLang="zh-CN" sz="2400" dirty="0"/>
              <a:t>limit</a:t>
            </a:r>
            <a:r>
              <a:rPr lang="zh-CN" altLang="en-US" sz="2400" dirty="0"/>
              <a:t>限制查询结果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>
              <a:buNone/>
            </a:pPr>
            <a:endParaRPr lang="zh-CN" altLang="en-US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单表查询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内容占位符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492125"/>
          </a:xfrm>
          <a:ln/>
        </p:spPr>
        <p:txBody>
          <a:bodyPr vert="horz" wrap="square" lIns="91440" tIns="45720" rIns="91440" bIns="45720" anchor="t" anchorCtr="0"/>
          <a:p>
            <a:pPr marL="8255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LIKE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进行匹配查找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2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可以与</a:t>
            </a:r>
            <a:r>
              <a:rPr lang="en-US" altLang="zh-CN" sz="2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LIKE</a:t>
            </a:r>
            <a:r>
              <a:rPr lang="zh-CN" altLang="en-US" sz="2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一起使用的是通配符‘</a:t>
            </a:r>
            <a:r>
              <a:rPr lang="en-US" altLang="zh-CN" sz="2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2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’</a:t>
            </a:r>
            <a:endParaRPr lang="en-US" altLang="zh-CN" sz="24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sz="18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zh-CN" altLang="en-US" sz="1800" dirty="0">
              <a:solidFill>
                <a:srgbClr val="3B1D15"/>
              </a:solidFill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带</a:t>
            </a:r>
            <a:r>
              <a:rPr kumimoji="0" lang="en-US" altLang="zh-CN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LIKE</a:t>
            </a: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的字符匹配查询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587500" y="2781300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2773" name="矩形 5"/>
          <p:cNvSpPr/>
          <p:nvPr/>
        </p:nvSpPr>
        <p:spPr>
          <a:xfrm>
            <a:off x="1533525" y="3806825"/>
            <a:ext cx="7400925" cy="1201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查询</a:t>
            </a:r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表中所有姓王的考生姓名和院系。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dirty="0">
                <a:latin typeface="Arial" panose="020B0604020202020204" pitchFamily="34" charset="0"/>
              </a:rPr>
              <a:t> eename,eedepa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examinee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latin typeface="Arial" panose="020B0604020202020204" pitchFamily="34" charset="0"/>
              </a:rPr>
              <a:t> eename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like '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王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%'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爆炸形: 14 pt  1"/>
          <p:cNvSpPr/>
          <p:nvPr/>
        </p:nvSpPr>
        <p:spPr>
          <a:xfrm>
            <a:off x="5559425" y="2244725"/>
            <a:ext cx="3276600" cy="1538288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任何字符都可以匹配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619250" y="5135245"/>
            <a:ext cx="6730365" cy="9124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435100" y="104775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3795" name="矩形 5"/>
          <p:cNvSpPr/>
          <p:nvPr/>
        </p:nvSpPr>
        <p:spPr>
          <a:xfrm>
            <a:off x="1744663" y="1247775"/>
            <a:ext cx="7400925" cy="1477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查询</a:t>
            </a:r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表中所有姓名中带“路”字的考生姓名和院系。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dirty="0">
                <a:latin typeface="Arial" panose="020B0604020202020204" pitchFamily="34" charset="0"/>
              </a:rPr>
              <a:t> eename,eedepa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examinee 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latin typeface="Arial" panose="020B0604020202020204" pitchFamily="34" charset="0"/>
              </a:rPr>
              <a:t> eename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like '%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路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%' 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187450" y="3141345"/>
            <a:ext cx="7604125" cy="9417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查询所有字段、指定字段、指定元组</a:t>
            </a:r>
            <a:r>
              <a:rPr lang="en-US" altLang="zh-CN" sz="2400" dirty="0"/>
              <a:t>/</a:t>
            </a:r>
            <a:r>
              <a:rPr lang="zh-CN" altLang="en-US" sz="2400" dirty="0"/>
              <a:t>行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in</a:t>
            </a:r>
            <a:r>
              <a:rPr lang="zh-CN" altLang="en-US" sz="2400" dirty="0"/>
              <a:t>的关键字查询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between and</a:t>
            </a:r>
            <a:r>
              <a:rPr lang="zh-CN" altLang="en-US" sz="2400" dirty="0"/>
              <a:t>的范围查询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like</a:t>
            </a:r>
            <a:r>
              <a:rPr lang="zh-CN" altLang="en-US" sz="2400" dirty="0"/>
              <a:t>的字符匹配查询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0000"/>
                </a:solidFill>
              </a:rPr>
              <a:t>空值查询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and</a:t>
            </a:r>
            <a:r>
              <a:rPr lang="zh-CN" altLang="en-US" sz="2400" dirty="0"/>
              <a:t>、</a:t>
            </a:r>
            <a:r>
              <a:rPr lang="en-US" altLang="zh-CN" sz="2400" dirty="0"/>
              <a:t>or</a:t>
            </a:r>
            <a:r>
              <a:rPr lang="zh-CN" altLang="en-US" sz="2400" dirty="0"/>
              <a:t>的多条件查询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对查询结果去重、排序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用</a:t>
            </a:r>
            <a:r>
              <a:rPr lang="en-US" altLang="zh-CN" sz="2400" dirty="0"/>
              <a:t>limit</a:t>
            </a:r>
            <a:r>
              <a:rPr lang="zh-CN" altLang="en-US" sz="2400" dirty="0"/>
              <a:t>限制查询结果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>
              <a:buNone/>
            </a:pPr>
            <a:endParaRPr lang="zh-CN" altLang="en-US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单表查询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492125"/>
          </a:xfrm>
          <a:ln/>
        </p:spPr>
        <p:txBody>
          <a:bodyPr vert="horz" wrap="square" lIns="91440" tIns="45720" rIns="91440" bIns="45720" anchor="t" anchorCtr="0"/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空值 （</a:t>
            </a:r>
            <a:r>
              <a:rPr lang="en-US" altLang="zh-CN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NULL</a:t>
            </a: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不是</a:t>
            </a:r>
            <a:r>
              <a:rPr lang="en-US" altLang="zh-CN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，不是空字符串。</a:t>
            </a:r>
            <a:endParaRPr lang="en-US" altLang="zh-CN" sz="18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一般表示数据未知，不适用或者在以后添加。  </a:t>
            </a:r>
            <a:endParaRPr lang="en-US" altLang="zh-CN" sz="18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en-US" altLang="zh-CN" sz="1800" dirty="0">
              <a:solidFill>
                <a:srgbClr val="3B1D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IS NULL</a:t>
            </a:r>
            <a:r>
              <a:rPr lang="en-US" altLang="zh-CN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3B1D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子句查询某字段内容为空值。</a:t>
            </a:r>
            <a:endParaRPr lang="zh-CN" altLang="en-US" sz="1800" dirty="0">
              <a:solidFill>
                <a:srgbClr val="3B1D15"/>
              </a:solidFill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空值查询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587500" y="2781300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5845" name="矩形 5"/>
          <p:cNvSpPr/>
          <p:nvPr/>
        </p:nvSpPr>
        <p:spPr>
          <a:xfrm>
            <a:off x="1533525" y="3806825"/>
            <a:ext cx="7400925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查询 </a:t>
            </a:r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表中</a:t>
            </a:r>
            <a:r>
              <a:rPr lang="en-US" altLang="zh-CN" dirty="0">
                <a:latin typeface="Arial" panose="020B0604020202020204" pitchFamily="34" charset="0"/>
              </a:rPr>
              <a:t>eebirth </a:t>
            </a:r>
            <a:r>
              <a:rPr lang="zh-CN" altLang="en-US" dirty="0">
                <a:latin typeface="Arial" panose="020B0604020202020204" pitchFamily="34" charset="0"/>
              </a:rPr>
              <a:t>为空的考生姓名和性别。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dirty="0">
                <a:latin typeface="Arial" panose="020B0604020202020204" pitchFamily="34" charset="0"/>
              </a:rPr>
              <a:t> eename,eesex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examinee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latin typeface="Arial" panose="020B0604020202020204" pitchFamily="34" charset="0"/>
              </a:rPr>
              <a:t> eebirth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is</a:t>
            </a:r>
            <a:r>
              <a:rPr lang="en-US" altLang="zh-CN" dirty="0">
                <a:latin typeface="Arial" panose="020B0604020202020204" pitchFamily="34" charset="0"/>
              </a:rPr>
              <a:t> NULL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435100" y="4869180"/>
            <a:ext cx="7367905" cy="52006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552575" y="198913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6867" name="矩形 4"/>
          <p:cNvSpPr/>
          <p:nvPr/>
        </p:nvSpPr>
        <p:spPr>
          <a:xfrm>
            <a:off x="1773238" y="3203575"/>
            <a:ext cx="7400925" cy="922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查询</a:t>
            </a:r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表中 </a:t>
            </a:r>
            <a:r>
              <a:rPr lang="en-US" altLang="zh-CN" dirty="0">
                <a:latin typeface="Arial" panose="020B0604020202020204" pitchFamily="34" charset="0"/>
              </a:rPr>
              <a:t>eebirth </a:t>
            </a:r>
            <a:r>
              <a:rPr lang="zh-CN" altLang="en-US" dirty="0">
                <a:latin typeface="Arial" panose="020B0604020202020204" pitchFamily="34" charset="0"/>
              </a:rPr>
              <a:t>不为空的考生姓名和性别。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dirty="0">
                <a:latin typeface="Arial" panose="020B0604020202020204" pitchFamily="34" charset="0"/>
              </a:rPr>
              <a:t> eename,eesex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examinee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latin typeface="Arial" panose="020B0604020202020204" pitchFamily="34" charset="0"/>
              </a:rPr>
              <a:t> eebirth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is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not</a:t>
            </a:r>
            <a:r>
              <a:rPr lang="en-US" altLang="zh-CN" dirty="0">
                <a:latin typeface="Arial" panose="020B0604020202020204" pitchFamily="34" charset="0"/>
              </a:rPr>
              <a:t> NULL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空值查询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36869" name="文本框 6"/>
          <p:cNvSpPr txBox="1"/>
          <p:nvPr/>
        </p:nvSpPr>
        <p:spPr>
          <a:xfrm>
            <a:off x="1862138" y="1844675"/>
            <a:ext cx="6310312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与</a:t>
            </a:r>
            <a:r>
              <a:rPr lang="en-US" altLang="zh-CN" dirty="0">
                <a:latin typeface="Arial" panose="020B0604020202020204" pitchFamily="34" charset="0"/>
              </a:rPr>
              <a:t>IS NULL </a:t>
            </a:r>
            <a:r>
              <a:rPr lang="zh-CN" altLang="en-US" dirty="0">
                <a:latin typeface="Arial" panose="020B0604020202020204" pitchFamily="34" charset="0"/>
              </a:rPr>
              <a:t>相反的是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IS NOT NULL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表示不为空的字段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475740" y="4364990"/>
            <a:ext cx="7414895" cy="15532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查询所有字段、指定字段、指定元组</a:t>
            </a:r>
            <a:r>
              <a:rPr lang="en-US" altLang="zh-CN" sz="2400" dirty="0"/>
              <a:t>/</a:t>
            </a:r>
            <a:r>
              <a:rPr lang="zh-CN" altLang="en-US" sz="2400" dirty="0"/>
              <a:t>行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in</a:t>
            </a:r>
            <a:r>
              <a:rPr lang="zh-CN" altLang="en-US" sz="2400" dirty="0"/>
              <a:t>的关键字查询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between and</a:t>
            </a:r>
            <a:r>
              <a:rPr lang="zh-CN" altLang="en-US" sz="2400" dirty="0"/>
              <a:t>的范围查询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like</a:t>
            </a:r>
            <a:r>
              <a:rPr lang="zh-CN" altLang="en-US" sz="2400" dirty="0"/>
              <a:t>的字符匹配查询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空值查询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0000"/>
                </a:solidFill>
              </a:rPr>
              <a:t>带</a:t>
            </a:r>
            <a:r>
              <a:rPr lang="en-US" altLang="zh-CN" sz="2400" dirty="0">
                <a:solidFill>
                  <a:srgbClr val="FF0000"/>
                </a:solidFill>
              </a:rPr>
              <a:t>and</a:t>
            </a:r>
            <a:r>
              <a:rPr lang="zh-CN" altLang="en-US" sz="2400" dirty="0">
                <a:solidFill>
                  <a:srgbClr val="FF0000"/>
                </a:solidFill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</a:rPr>
              <a:t>or</a:t>
            </a:r>
            <a:r>
              <a:rPr lang="zh-CN" altLang="en-US" sz="2400" dirty="0">
                <a:solidFill>
                  <a:srgbClr val="FF0000"/>
                </a:solidFill>
              </a:rPr>
              <a:t>的多条件查询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对查询结果去重、排序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用</a:t>
            </a:r>
            <a:r>
              <a:rPr lang="en-US" altLang="zh-CN" sz="2400" dirty="0"/>
              <a:t>limit</a:t>
            </a:r>
            <a:r>
              <a:rPr lang="zh-CN" altLang="en-US" sz="2400" dirty="0"/>
              <a:t>限制查询结果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>
              <a:buNone/>
            </a:pPr>
            <a:endParaRPr lang="zh-CN" altLang="en-US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单表查询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552575" y="258603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8915" name="矩形 4"/>
          <p:cNvSpPr/>
          <p:nvPr/>
        </p:nvSpPr>
        <p:spPr>
          <a:xfrm>
            <a:off x="1547813" y="3821113"/>
            <a:ext cx="7400925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在</a:t>
            </a:r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中查询信科学院成绩大于</a:t>
            </a:r>
            <a:r>
              <a:rPr lang="en-US" altLang="zh-CN" dirty="0">
                <a:latin typeface="Arial" panose="020B0604020202020204" pitchFamily="34" charset="0"/>
              </a:rPr>
              <a:t>80</a:t>
            </a:r>
            <a:r>
              <a:rPr lang="zh-CN" altLang="en-US" dirty="0">
                <a:latin typeface="Arial" panose="020B0604020202020204" pitchFamily="34" charset="0"/>
              </a:rPr>
              <a:t>的女考生姓名和成绩。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dirty="0">
                <a:latin typeface="Arial" panose="020B0604020202020204" pitchFamily="34" charset="0"/>
              </a:rPr>
              <a:t> eename,grade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examinee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latin typeface="Arial" panose="020B0604020202020204" pitchFamily="34" charset="0"/>
              </a:rPr>
              <a:t>  grade &gt; 80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and</a:t>
            </a:r>
            <a:r>
              <a:rPr lang="en-US" altLang="zh-CN" dirty="0">
                <a:latin typeface="Arial" panose="020B0604020202020204" pitchFamily="34" charset="0"/>
              </a:rPr>
              <a:t> eesex='</a:t>
            </a:r>
            <a:r>
              <a:rPr lang="zh-CN" altLang="en-US" dirty="0">
                <a:latin typeface="Arial" panose="020B0604020202020204" pitchFamily="34" charset="0"/>
              </a:rPr>
              <a:t>女</a:t>
            </a:r>
            <a:r>
              <a:rPr lang="en-US" altLang="zh-CN" dirty="0">
                <a:sym typeface="+mn-ea"/>
              </a:rPr>
              <a:t>'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and</a:t>
            </a:r>
            <a:r>
              <a:rPr lang="en-US" altLang="zh-CN" dirty="0">
                <a:latin typeface="Arial" panose="020B0604020202020204" pitchFamily="34" charset="0"/>
              </a:rPr>
              <a:t> eedepa=</a:t>
            </a:r>
            <a:r>
              <a:rPr lang="en-US" altLang="zh-CN" dirty="0">
                <a:sym typeface="+mn-ea"/>
              </a:rPr>
              <a:t>'</a:t>
            </a:r>
            <a:r>
              <a:rPr lang="zh-CN" altLang="en-US" dirty="0">
                <a:latin typeface="Arial" panose="020B0604020202020204" pitchFamily="34" charset="0"/>
              </a:rPr>
              <a:t>智能</a:t>
            </a:r>
            <a:r>
              <a:rPr lang="en-US" altLang="zh-CN" dirty="0">
                <a:latin typeface="Arial" panose="020B0604020202020204" pitchFamily="34" charset="0"/>
              </a:rPr>
              <a:t>'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带</a:t>
            </a:r>
            <a:r>
              <a:rPr kumimoji="0" lang="en-US" altLang="zh-CN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AND</a:t>
            </a: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的多条件查询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38917" name="文本框 6"/>
          <p:cNvSpPr txBox="1"/>
          <p:nvPr/>
        </p:nvSpPr>
        <p:spPr>
          <a:xfrm>
            <a:off x="1862138" y="1844675"/>
            <a:ext cx="6597650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Arial" panose="020B0604020202020204" pitchFamily="34" charset="0"/>
              </a:rPr>
              <a:t>where </a:t>
            </a:r>
            <a:r>
              <a:rPr lang="zh-CN" altLang="en-US" dirty="0">
                <a:latin typeface="Arial" panose="020B0604020202020204" pitchFamily="34" charset="0"/>
              </a:rPr>
              <a:t>中的</a:t>
            </a:r>
            <a:r>
              <a:rPr lang="en-US" altLang="zh-CN" dirty="0">
                <a:latin typeface="Arial" panose="020B0604020202020204" pitchFamily="34" charset="0"/>
              </a:rPr>
              <a:t>and</a:t>
            </a:r>
            <a:r>
              <a:rPr lang="zh-CN" altLang="en-US" dirty="0">
                <a:latin typeface="Arial" panose="020B0604020202020204" pitchFamily="34" charset="0"/>
              </a:rPr>
              <a:t>子句只有满足所有查询条件才可以返回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and </a:t>
            </a:r>
            <a:r>
              <a:rPr lang="zh-CN" altLang="en-US" dirty="0">
                <a:latin typeface="Arial" panose="020B0604020202020204" pitchFamily="34" charset="0"/>
              </a:rPr>
              <a:t>可以连接两个或多个查询条件，多个查询条件用</a:t>
            </a:r>
            <a:r>
              <a:rPr lang="en-US" altLang="zh-CN" dirty="0">
                <a:latin typeface="Arial" panose="020B0604020202020204" pitchFamily="34" charset="0"/>
              </a:rPr>
              <a:t>and</a:t>
            </a:r>
            <a:r>
              <a:rPr lang="zh-CN" altLang="en-US" dirty="0">
                <a:latin typeface="Arial" panose="020B0604020202020204" pitchFamily="34" charset="0"/>
              </a:rPr>
              <a:t>分开。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405255" y="5661660"/>
            <a:ext cx="7054850" cy="6369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042988" y="245268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939" name="矩形 4"/>
          <p:cNvSpPr/>
          <p:nvPr/>
        </p:nvSpPr>
        <p:spPr>
          <a:xfrm>
            <a:off x="1743075" y="2857500"/>
            <a:ext cx="7400925" cy="1477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在</a:t>
            </a:r>
            <a:r>
              <a:rPr lang="en-US" altLang="zh-CN" dirty="0">
                <a:latin typeface="Arial" panose="020B0604020202020204" pitchFamily="34" charset="0"/>
              </a:rPr>
              <a:t>examinee</a:t>
            </a:r>
            <a:r>
              <a:rPr lang="zh-CN" altLang="en-US" dirty="0">
                <a:latin typeface="Arial" panose="020B0604020202020204" pitchFamily="34" charset="0"/>
              </a:rPr>
              <a:t>中查询女考生或者成绩大于</a:t>
            </a:r>
            <a:r>
              <a:rPr lang="en-US" altLang="zh-CN" dirty="0">
                <a:latin typeface="Arial" panose="020B0604020202020204" pitchFamily="34" charset="0"/>
              </a:rPr>
              <a:t>80</a:t>
            </a:r>
            <a:r>
              <a:rPr lang="zh-CN" altLang="en-US" dirty="0">
                <a:latin typeface="Arial" panose="020B0604020202020204" pitchFamily="34" charset="0"/>
              </a:rPr>
              <a:t>的考生的姓名和成绩。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dirty="0">
                <a:latin typeface="Arial" panose="020B0604020202020204" pitchFamily="34" charset="0"/>
              </a:rPr>
              <a:t> eename,grade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examinee 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latin typeface="Arial" panose="020B0604020202020204" pitchFamily="34" charset="0"/>
              </a:rPr>
              <a:t>  eesex='</a:t>
            </a:r>
            <a:r>
              <a:rPr lang="zh-CN" altLang="en-US" dirty="0">
                <a:latin typeface="Arial" panose="020B0604020202020204" pitchFamily="34" charset="0"/>
              </a:rPr>
              <a:t>女</a:t>
            </a:r>
            <a:r>
              <a:rPr lang="en-US" altLang="zh-CN" dirty="0">
                <a:latin typeface="Arial" panose="020B0604020202020204" pitchFamily="34" charset="0"/>
              </a:rPr>
              <a:t>'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or</a:t>
            </a:r>
            <a:r>
              <a:rPr lang="en-US" altLang="zh-CN" dirty="0">
                <a:latin typeface="Arial" panose="020B0604020202020204" pitchFamily="34" charset="0"/>
              </a:rPr>
              <a:t> grade&gt;80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带</a:t>
            </a:r>
            <a:r>
              <a:rPr kumimoji="0" lang="en-US" altLang="zh-CN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OR</a:t>
            </a: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的多条件查询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39941" name="文本框 6"/>
          <p:cNvSpPr txBox="1"/>
          <p:nvPr/>
        </p:nvSpPr>
        <p:spPr>
          <a:xfrm>
            <a:off x="1862138" y="1844675"/>
            <a:ext cx="6597650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Arial" panose="020B0604020202020204" pitchFamily="34" charset="0"/>
              </a:rPr>
              <a:t>where </a:t>
            </a:r>
            <a:r>
              <a:rPr lang="zh-CN" altLang="en-US" dirty="0">
                <a:latin typeface="Arial" panose="020B0604020202020204" pitchFamily="34" charset="0"/>
              </a:rPr>
              <a:t>中的</a:t>
            </a:r>
            <a:r>
              <a:rPr lang="en-US" altLang="zh-CN" dirty="0">
                <a:latin typeface="Arial" panose="020B0604020202020204" pitchFamily="34" charset="0"/>
              </a:rPr>
              <a:t>or</a:t>
            </a:r>
            <a:r>
              <a:rPr lang="zh-CN" altLang="en-US" dirty="0">
                <a:latin typeface="Arial" panose="020B0604020202020204" pitchFamily="34" charset="0"/>
              </a:rPr>
              <a:t>子句只有满足其中一个查询条件就可以返回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or </a:t>
            </a:r>
            <a:r>
              <a:rPr lang="zh-CN" altLang="en-US" dirty="0">
                <a:latin typeface="Arial" panose="020B0604020202020204" pitchFamily="34" charset="0"/>
              </a:rPr>
              <a:t>可以连接两个或多个查询条件，多个查询条件用</a:t>
            </a:r>
            <a:r>
              <a:rPr lang="en-US" altLang="zh-CN" dirty="0">
                <a:latin typeface="Arial" panose="020B0604020202020204" pitchFamily="34" charset="0"/>
              </a:rPr>
              <a:t>or</a:t>
            </a:r>
            <a:r>
              <a:rPr lang="zh-CN" altLang="en-US" dirty="0">
                <a:latin typeface="Arial" panose="020B0604020202020204" pitchFamily="34" charset="0"/>
              </a:rPr>
              <a:t>分开。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587500" y="4478655"/>
            <a:ext cx="6701155" cy="13874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查询所有字段、指定字段、指定元组</a:t>
            </a:r>
            <a:r>
              <a:rPr lang="en-US" altLang="zh-CN" sz="2400" dirty="0"/>
              <a:t>/</a:t>
            </a:r>
            <a:r>
              <a:rPr lang="zh-CN" altLang="en-US" sz="2400" dirty="0"/>
              <a:t>行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in</a:t>
            </a:r>
            <a:r>
              <a:rPr lang="zh-CN" altLang="en-US" sz="2400" dirty="0"/>
              <a:t>的关键字查询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between and</a:t>
            </a:r>
            <a:r>
              <a:rPr lang="zh-CN" altLang="en-US" sz="2400" dirty="0"/>
              <a:t>的范围查询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like</a:t>
            </a:r>
            <a:r>
              <a:rPr lang="zh-CN" altLang="en-US" sz="2400" dirty="0"/>
              <a:t>的字符匹配查询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空值查询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and</a:t>
            </a:r>
            <a:r>
              <a:rPr lang="zh-CN" altLang="en-US" sz="2400" dirty="0"/>
              <a:t>、</a:t>
            </a:r>
            <a:r>
              <a:rPr lang="en-US" altLang="zh-CN" sz="2400" dirty="0"/>
              <a:t>or</a:t>
            </a:r>
            <a:r>
              <a:rPr lang="zh-CN" altLang="en-US" sz="2400" dirty="0"/>
              <a:t>的多条件查询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0000"/>
                </a:solidFill>
              </a:rPr>
              <a:t>对查询结果去重、排序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用</a:t>
            </a:r>
            <a:r>
              <a:rPr lang="en-US" altLang="zh-CN" sz="2400" dirty="0"/>
              <a:t>limit</a:t>
            </a:r>
            <a:r>
              <a:rPr lang="zh-CN" altLang="en-US" sz="2400" dirty="0"/>
              <a:t>限制查询结果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endParaRPr lang="en-US" altLang="zh-CN" sz="2400" dirty="0">
              <a:solidFill>
                <a:srgbClr val="FF0000"/>
              </a:solidFill>
            </a:endParaRPr>
          </a:p>
          <a:p>
            <a:pPr>
              <a:buNone/>
            </a:pPr>
            <a:endParaRPr lang="zh-CN" altLang="en-US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单表查询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69963" y="2532063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7" name="矩形 4"/>
          <p:cNvSpPr/>
          <p:nvPr/>
        </p:nvSpPr>
        <p:spPr>
          <a:xfrm>
            <a:off x="969963" y="3387725"/>
            <a:ext cx="7400925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表中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eename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的值，并返回不重复的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eename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字段值。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distinct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eename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examinee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对查询结果去重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41989" name="文本框 6"/>
          <p:cNvSpPr txBox="1"/>
          <p:nvPr/>
        </p:nvSpPr>
        <p:spPr>
          <a:xfrm>
            <a:off x="1862138" y="1844675"/>
            <a:ext cx="6597650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distinct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关键字来去除重复数据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DISTINCT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字段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表名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爆炸形: 8 pt  1"/>
          <p:cNvSpPr/>
          <p:nvPr/>
        </p:nvSpPr>
        <p:spPr>
          <a:xfrm>
            <a:off x="5846763" y="1603375"/>
            <a:ext cx="2087563" cy="181292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只返回不同的值。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2483485" y="4437380"/>
            <a:ext cx="4047490" cy="18192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89013" y="2157413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3011" name="矩形 4"/>
          <p:cNvSpPr/>
          <p:nvPr/>
        </p:nvSpPr>
        <p:spPr>
          <a:xfrm>
            <a:off x="1284288" y="3044825"/>
            <a:ext cx="7400925" cy="1477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中查询考生姓名和成绩字段，并对成绩进行排序。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eename,grade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examinee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order by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对查询结果进行排序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3013" name="文本框 6"/>
          <p:cNvSpPr txBox="1"/>
          <p:nvPr/>
        </p:nvSpPr>
        <p:spPr>
          <a:xfrm>
            <a:off x="1862138" y="1844675"/>
            <a:ext cx="659765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Order by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子句可以对指定字段进行排序。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默认是对数据进行升序排序！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740" y="4593590"/>
            <a:ext cx="6962775" cy="178752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71550" y="250983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4035" name="矩形 4"/>
          <p:cNvSpPr/>
          <p:nvPr/>
        </p:nvSpPr>
        <p:spPr>
          <a:xfrm>
            <a:off x="1835150" y="2921000"/>
            <a:ext cx="7400925" cy="1754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eename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eebirth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，先按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eename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进行排序，再按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eebirth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进行排序。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eename,eebirth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examinee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order by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eename,eebirth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对查询结果进行排序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4037" name="文本框 6"/>
          <p:cNvSpPr txBox="1"/>
          <p:nvPr/>
        </p:nvSpPr>
        <p:spPr>
          <a:xfrm>
            <a:off x="1587500" y="1512888"/>
            <a:ext cx="659765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可以对多列进行排序。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首先排序的是第一列必须相同的列值才会对第二列进行排序，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如果第一列都是唯一的，就不会再对第二列进行排序。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691640" y="4739640"/>
            <a:ext cx="5482590" cy="129476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46150" y="2565400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5059" name="矩形 4"/>
          <p:cNvSpPr/>
          <p:nvPr/>
        </p:nvSpPr>
        <p:spPr>
          <a:xfrm>
            <a:off x="1835150" y="2965450"/>
            <a:ext cx="7400925" cy="1754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eename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eebirth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，先按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eename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降序排序，再按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eebirth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升序排序。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eename,eebirth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examinee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order by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eename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desc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,eebirth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对查询结果进行排序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5061" name="文本框 6"/>
          <p:cNvSpPr txBox="1"/>
          <p:nvPr/>
        </p:nvSpPr>
        <p:spPr>
          <a:xfrm>
            <a:off x="1835150" y="1631950"/>
            <a:ext cx="6599238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指定查询方向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ASC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升序 （默认方式，加不加都可以）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DESC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降序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763395" y="4797425"/>
            <a:ext cx="64071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查询所有字段、指定字段、指定元组</a:t>
            </a:r>
            <a:r>
              <a:rPr lang="en-US" altLang="zh-CN" sz="2400" dirty="0"/>
              <a:t>/</a:t>
            </a:r>
            <a:r>
              <a:rPr lang="zh-CN" altLang="en-US" sz="2400" dirty="0"/>
              <a:t>行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in</a:t>
            </a:r>
            <a:r>
              <a:rPr lang="zh-CN" altLang="en-US" sz="2400" dirty="0"/>
              <a:t>的关键字查询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between and</a:t>
            </a:r>
            <a:r>
              <a:rPr lang="zh-CN" altLang="en-US" sz="2400" dirty="0"/>
              <a:t>的范围查询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like</a:t>
            </a:r>
            <a:r>
              <a:rPr lang="zh-CN" altLang="en-US" sz="2400" dirty="0"/>
              <a:t>的字符匹配查询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空值查询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带</a:t>
            </a:r>
            <a:r>
              <a:rPr lang="en-US" altLang="zh-CN" sz="2400" dirty="0"/>
              <a:t>and</a:t>
            </a:r>
            <a:r>
              <a:rPr lang="zh-CN" altLang="en-US" sz="2400" dirty="0"/>
              <a:t>、</a:t>
            </a:r>
            <a:r>
              <a:rPr lang="en-US" altLang="zh-CN" sz="2400" dirty="0"/>
              <a:t>or</a:t>
            </a:r>
            <a:r>
              <a:rPr lang="zh-CN" altLang="en-US" sz="2400" dirty="0"/>
              <a:t>的多条件查询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/>
              <a:t>对查询结果去重、排序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0000"/>
                </a:solidFill>
              </a:rPr>
              <a:t>用</a:t>
            </a:r>
            <a:r>
              <a:rPr lang="en-US" altLang="zh-CN" sz="2400" dirty="0">
                <a:solidFill>
                  <a:srgbClr val="FF0000"/>
                </a:solidFill>
              </a:rPr>
              <a:t>limit</a:t>
            </a:r>
            <a:r>
              <a:rPr lang="zh-CN" altLang="en-US" sz="2400" dirty="0">
                <a:solidFill>
                  <a:srgbClr val="FF0000"/>
                </a:solidFill>
              </a:rPr>
              <a:t>限制查询结果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None/>
            </a:pPr>
            <a:endParaRPr lang="zh-CN" altLang="en-US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单表查询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98588" y="2112963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7107" name="矩形 4"/>
          <p:cNvSpPr/>
          <p:nvPr/>
        </p:nvSpPr>
        <p:spPr>
          <a:xfrm>
            <a:off x="1865313" y="2862263"/>
            <a:ext cx="7400925" cy="314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表，显示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条考生记录。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*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examinee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limit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3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表，显示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条考生记录，并从第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行开始显示。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*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examinee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limit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3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offset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1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用</a:t>
            </a:r>
            <a:r>
              <a:rPr kumimoji="0" lang="en-US" altLang="zh-CN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limit</a:t>
            </a: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限制查询语句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7109" name="文本框 6"/>
          <p:cNvSpPr txBox="1"/>
          <p:nvPr/>
        </p:nvSpPr>
        <p:spPr>
          <a:xfrm>
            <a:off x="1847850" y="1322388"/>
            <a:ext cx="6599238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Limit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行数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位置偏移量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offset]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不添加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位置偏移量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默认从第一行开始，默认位置偏移量为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若从第二行开始显示，则位置偏移量为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359535" y="3644900"/>
            <a:ext cx="7538720" cy="80327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1398905" y="5491480"/>
            <a:ext cx="7146290" cy="8159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>
          <a:xfrm>
            <a:off x="2051050" y="1341438"/>
            <a:ext cx="749935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查询语句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单表查询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聚集函数和分组查询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日期函数的应用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合并查询结果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取别名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将查询结果插入表中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None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聚集函数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08175" y="1844675"/>
          <a:ext cx="6048375" cy="2954338"/>
        </p:xfrm>
        <a:graphic>
          <a:graphicData uri="http://schemas.openxmlformats.org/drawingml/2006/table">
            <a:tbl>
              <a:tblPr/>
              <a:tblGrid>
                <a:gridCol w="3024188"/>
                <a:gridCol w="3024187"/>
              </a:tblGrid>
              <a:tr h="485775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函数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6" marR="91436"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作用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6" marR="91436"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93713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AVG()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6" marR="91436"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返回某列的平均值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6" marR="91436"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</a:tr>
              <a:tr h="493713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COUNT()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6" marR="91436"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返回某列的行数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6" marR="91436"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</a:tr>
              <a:tr h="493713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MAX()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6" marR="91436"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返回某列的最大值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6" marR="91436"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</a:tr>
              <a:tr h="493713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MIN()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6" marR="91436"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返回某列的最小值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6" marR="91436"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EF1"/>
                    </a:solidFill>
                  </a:tcPr>
                </a:tc>
              </a:tr>
              <a:tr h="493713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SUM()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6" marR="91436"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4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C32D2E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4AA33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anose="02010600040101010101" pitchFamily="2" charset="-122"/>
                        </a:rPr>
                        <a:t>返回某列值的和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华文中宋" panose="02010600040101010101" pitchFamily="2" charset="-122"/>
                      </a:endParaRPr>
                    </a:p>
                  </a:txBody>
                  <a:tcPr marL="91436" marR="91436"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C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587500" y="2895600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0179" name="矩形 4"/>
          <p:cNvSpPr/>
          <p:nvPr/>
        </p:nvSpPr>
        <p:spPr>
          <a:xfrm>
            <a:off x="1652588" y="3860800"/>
            <a:ext cx="7400925" cy="1477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表中有出生日期的考生总数，并将查询结果取别名为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num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count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(eebirth)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num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eebirth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is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not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null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80" name="文本框 6"/>
          <p:cNvSpPr txBox="1"/>
          <p:nvPr/>
        </p:nvSpPr>
        <p:spPr>
          <a:xfrm>
            <a:off x="1835150" y="1631950"/>
            <a:ext cx="6599238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count(*)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计算表中总行数，不管某列是否有数值或者为空值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count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（字段名）计算指定列下的总行数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585913" y="333375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COUNT()</a:t>
            </a: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函数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763395" y="5301615"/>
            <a:ext cx="4013835" cy="6375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587500" y="2895600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1203" name="矩形 4"/>
          <p:cNvSpPr/>
          <p:nvPr/>
        </p:nvSpPr>
        <p:spPr>
          <a:xfrm>
            <a:off x="1652588" y="3860800"/>
            <a:ext cx="7400925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表中大于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80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分考生的成绩总和。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sum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(grade)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grade &gt; 80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04" name="文本框 6"/>
          <p:cNvSpPr txBox="1"/>
          <p:nvPr/>
        </p:nvSpPr>
        <p:spPr>
          <a:xfrm>
            <a:off x="1835150" y="1631950"/>
            <a:ext cx="6599238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sum(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字段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求和函数，返回字段列值的总和。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585913" y="333375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SUM()</a:t>
            </a: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函数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763395" y="5085080"/>
            <a:ext cx="4959985" cy="65468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587500" y="2895600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2227" name="矩形 4"/>
          <p:cNvSpPr/>
          <p:nvPr/>
        </p:nvSpPr>
        <p:spPr>
          <a:xfrm>
            <a:off x="1652588" y="3860800"/>
            <a:ext cx="7400925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表中考生的平均成绩。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avg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(grade)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8" name="文本框 6"/>
          <p:cNvSpPr txBox="1"/>
          <p:nvPr/>
        </p:nvSpPr>
        <p:spPr>
          <a:xfrm>
            <a:off x="1835150" y="1631950"/>
            <a:ext cx="6599238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AVG(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字段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求平均值函数，返回字段列值的平均值。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585913" y="333375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AVG()</a:t>
            </a: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函数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652588" y="5013325"/>
            <a:ext cx="5553075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554163" y="2136775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3251" name="矩形 4"/>
          <p:cNvSpPr/>
          <p:nvPr/>
        </p:nvSpPr>
        <p:spPr>
          <a:xfrm>
            <a:off x="1585913" y="2938463"/>
            <a:ext cx="7400925" cy="314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表中分数最低的成绩。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min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(grade)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表中分数最高的成绩。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max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(grade)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252" name="文本框 6"/>
          <p:cNvSpPr txBox="1"/>
          <p:nvPr/>
        </p:nvSpPr>
        <p:spPr>
          <a:xfrm>
            <a:off x="1835150" y="1631950"/>
            <a:ext cx="6599238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最大值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MAX()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最小值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MIN()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585913" y="333375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最值函数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547495" y="3914775"/>
            <a:ext cx="4862195" cy="63817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1586230" y="5589270"/>
            <a:ext cx="4980305" cy="6413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71550" y="238283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4275" name="矩形 4"/>
          <p:cNvSpPr/>
          <p:nvPr/>
        </p:nvSpPr>
        <p:spPr>
          <a:xfrm>
            <a:off x="1187450" y="3213100"/>
            <a:ext cx="7400925" cy="3138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表中考生数量，按性别分组。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eesex,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count(*) from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group by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eesex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根据院系对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表中数据进行分组，并显示考生数量大于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的分组信息。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eedepa,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count(*) from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group by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eedepa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having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count(*) &gt; 1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276" name="文本框 6"/>
          <p:cNvSpPr txBox="1"/>
          <p:nvPr/>
        </p:nvSpPr>
        <p:spPr>
          <a:xfrm>
            <a:off x="1763713" y="1190625"/>
            <a:ext cx="6599237" cy="1477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[group by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字段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][having &lt;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条件表达式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Having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指定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group by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分组显示时所满足的条件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Group by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通常与聚集函数一块使用。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585913" y="333375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分组查询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5507990" y="2997200"/>
            <a:ext cx="3312160" cy="70421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1403350" y="5807075"/>
            <a:ext cx="66414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>
          <a:xfrm>
            <a:off x="2051050" y="1341438"/>
            <a:ext cx="749935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查询语句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单表查询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聚合函数和分组查询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日期函数的应用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合并查询结果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取别名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将查询结果插入表中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None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35038" y="2625725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6323" name="矩形 4"/>
          <p:cNvSpPr/>
          <p:nvPr/>
        </p:nvSpPr>
        <p:spPr>
          <a:xfrm>
            <a:off x="1258888" y="3386138"/>
            <a:ext cx="7400925" cy="2584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表中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eeid=1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的考生年龄。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eebirth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examinee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eeid=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'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'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extract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(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year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from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current_date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 - (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	select extract (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year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from date '1997-06-09')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4" name="文本框 6"/>
          <p:cNvSpPr txBox="1"/>
          <p:nvPr/>
        </p:nvSpPr>
        <p:spPr>
          <a:xfrm>
            <a:off x="1835150" y="1631950"/>
            <a:ext cx="6599238" cy="1754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CURRENT_DATE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获取当前日期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SELECT EXTRACT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YEAR FROM CURRENT_DATE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 获取当年年份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SELECT EXTRACT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YEAR FROM date 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 获取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年的年份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585913" y="333375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日期函数的应用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475740" y="4149090"/>
            <a:ext cx="4608195" cy="64579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1475740" y="5877560"/>
            <a:ext cx="4601210" cy="59118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2051050" y="1341438"/>
            <a:ext cx="749935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查询语句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单表查询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聚合函数和分组查询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日期函数的应用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合并查询结果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取别名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将查询结果插入表中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None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00113" y="2879725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8371" name="矩形 4"/>
          <p:cNvSpPr/>
          <p:nvPr/>
        </p:nvSpPr>
        <p:spPr>
          <a:xfrm>
            <a:off x="1731963" y="3302000"/>
            <a:ext cx="7400925" cy="1754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先查询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表的成绩大于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80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的考生信息，再查询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examinee_old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表中所有考生信息，并用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union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连接。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*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examinee where grade&gt;80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union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*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examinee_old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35113" y="309563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合并查询结果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8373" name="文本框 6"/>
          <p:cNvSpPr txBox="1"/>
          <p:nvPr/>
        </p:nvSpPr>
        <p:spPr>
          <a:xfrm>
            <a:off x="1535113" y="1209675"/>
            <a:ext cx="6599237" cy="2584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union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关键字合并多个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查询结果，并返回结果的唯一值。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union all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使用关键字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ALL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的作用是不会去除重复查询结果，也不对结果进行自动排序。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select column,… from table1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union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select column,… from table2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爆炸形: 8 pt  1"/>
          <p:cNvSpPr/>
          <p:nvPr/>
        </p:nvSpPr>
        <p:spPr>
          <a:xfrm>
            <a:off x="6516688" y="1676400"/>
            <a:ext cx="2665413" cy="173196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两个表结构和数据类型相同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4869180"/>
            <a:ext cx="7818755" cy="111696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2051050" y="1341438"/>
            <a:ext cx="749935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查询语句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单表查询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聚合函数和分组查询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日期函数的应用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合并查询结果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取别名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将查询结果插入表中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None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587500" y="2895600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0419" name="矩形 4"/>
          <p:cNvSpPr/>
          <p:nvPr/>
        </p:nvSpPr>
        <p:spPr>
          <a:xfrm>
            <a:off x="1587500" y="3673475"/>
            <a:ext cx="7400925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表取别名为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，查询女考生姓名，性别。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eename,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eesex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examinee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e.eesex='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女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'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为表取别名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0421" name="文本框 6"/>
          <p:cNvSpPr txBox="1"/>
          <p:nvPr/>
        </p:nvSpPr>
        <p:spPr>
          <a:xfrm>
            <a:off x="1835150" y="1631950"/>
            <a:ext cx="6599238" cy="1477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AS(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可选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关键字为查询结果中的某一列指定一个特定的名字。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表名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[AS]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表别名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子句中可以用别名代替表名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4725035"/>
            <a:ext cx="7334250" cy="88455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489075" y="257333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1443" name="矩形 4"/>
          <p:cNvSpPr/>
          <p:nvPr/>
        </p:nvSpPr>
        <p:spPr>
          <a:xfrm>
            <a:off x="1509713" y="3573463"/>
            <a:ext cx="7400925" cy="1754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表，为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eename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取别名为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n, grade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取别名为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取别名为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，查询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小于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80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的考生姓名和成绩。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eename as n,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grade as g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examinee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e.grade &lt; 80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为字段取别名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1445" name="文本框 6"/>
          <p:cNvSpPr txBox="1"/>
          <p:nvPr/>
        </p:nvSpPr>
        <p:spPr>
          <a:xfrm>
            <a:off x="1835150" y="1631950"/>
            <a:ext cx="6599238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AS(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可选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关键字为查询结果中的某一列指定一个特定的名字。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列名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[AS]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列别名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爆炸形: 8 pt  2"/>
          <p:cNvSpPr/>
          <p:nvPr/>
        </p:nvSpPr>
        <p:spPr>
          <a:xfrm>
            <a:off x="3911600" y="2141538"/>
            <a:ext cx="2447925" cy="11430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itchFamily="34" charset="0"/>
                <a:ea typeface="华文中宋" panose="02010600040101010101" pitchFamily="2" charset="-122"/>
                <a:cs typeface="+mn-cs"/>
              </a:rPr>
              <a:t>列别名为新的字段名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itchFamily="34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488440" y="5445125"/>
            <a:ext cx="6974205" cy="59372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3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2051050" y="1341438"/>
            <a:ext cx="749935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查询语句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单表查询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聚合函数和分组查询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日期函数的应用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合并查询结果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取别名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将查询结果插入表中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Tx/>
              <a:buNone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89000" y="2205038"/>
            <a:ext cx="7499350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练习：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3491" name="矩形 4"/>
          <p:cNvSpPr/>
          <p:nvPr/>
        </p:nvSpPr>
        <p:spPr>
          <a:xfrm>
            <a:off x="1773238" y="2663825"/>
            <a:ext cx="7400925" cy="20300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将examinee_old表的eeid末尾追加字符0，然后将 examinee_old 表中的 eeid,eename 插入到 examinee 表中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update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examinee_old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set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eeid=eeid||'0'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insert into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examinee(eeid,eename)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eeid,</a:t>
            </a:r>
            <a:r>
              <a:rPr lang="en-US" altLang="zh-CN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eename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examinee_old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87500" y="4270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57231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将查询结果插入到表中</a:t>
            </a: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rgbClr val="57231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3493" name="文本框 6"/>
          <p:cNvSpPr txBox="1"/>
          <p:nvPr/>
        </p:nvSpPr>
        <p:spPr>
          <a:xfrm>
            <a:off x="1835150" y="1631950"/>
            <a:ext cx="6599238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insert into table_name1 (column_list1)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Select (column_list2) from table_name2 where (condition)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403350" y="4509135"/>
            <a:ext cx="7584440" cy="130111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实验报告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65125" marR="0" lvl="0" indent="-28257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按微信群中的文档“实验报告提纲”撰写。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125" marR="0" lvl="0" indent="-28257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实验报告中，需对所执行情况的“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原始状态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”以及“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执行内容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”以及“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执行结果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”都截图表示，若有源程序则需在截图后附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可编辑的代码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（即复制代码）。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125" marR="0" lvl="0" indent="-28257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注意附加记分项的要求。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7617</Words>
  <Application>WPS 演示</Application>
  <PresentationFormat>全屏显示(4:3)</PresentationFormat>
  <Paragraphs>891</Paragraphs>
  <Slides>55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8" baseType="lpstr">
      <vt:lpstr>Arial</vt:lpstr>
      <vt:lpstr>宋体</vt:lpstr>
      <vt:lpstr>Wingdings</vt:lpstr>
      <vt:lpstr>Gill Sans MT</vt:lpstr>
      <vt:lpstr>华文中宋</vt:lpstr>
      <vt:lpstr>Wingdings 2</vt:lpstr>
      <vt:lpstr>Verdana</vt:lpstr>
      <vt:lpstr>等线</vt:lpstr>
      <vt:lpstr>黑体</vt:lpstr>
      <vt:lpstr>Wingdings 2</vt:lpstr>
      <vt:lpstr>微软雅黑</vt:lpstr>
      <vt:lpstr>Arial Unicode MS</vt:lpstr>
      <vt:lpstr>夏至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实验三  数据库的基本操作</dc:title>
  <dc:creator>Administrator</dc:creator>
  <cp:lastModifiedBy>WPS_1583584828</cp:lastModifiedBy>
  <cp:revision>649</cp:revision>
  <dcterms:created xsi:type="dcterms:W3CDTF">2015-03-14T02:46:35Z</dcterms:created>
  <dcterms:modified xsi:type="dcterms:W3CDTF">2025-03-12T12:14:24Z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89A6FE594F4C4C9BA7E7547FE3A92CC0_12</vt:lpwstr>
  </property>
</Properties>
</file>