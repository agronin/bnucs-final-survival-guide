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347" r:id="rId3"/>
    <p:sldId id="261" r:id="rId4"/>
    <p:sldId id="328" r:id="rId5"/>
    <p:sldId id="353" r:id="rId6"/>
    <p:sldId id="330" r:id="rId7"/>
    <p:sldId id="363" r:id="rId8"/>
    <p:sldId id="364" r:id="rId9"/>
    <p:sldId id="362" r:id="rId10"/>
    <p:sldId id="365" r:id="rId11"/>
    <p:sldId id="356" r:id="rId12"/>
    <p:sldId id="359" r:id="rId13"/>
    <p:sldId id="339" r:id="rId14"/>
    <p:sldId id="360" r:id="rId15"/>
    <p:sldId id="341" r:id="rId16"/>
    <p:sldId id="343" r:id="rId17"/>
    <p:sldId id="344" r:id="rId18"/>
    <p:sldId id="345" r:id="rId1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0" userDrawn="1">
          <p15:clr>
            <a:srgbClr val="A4A3A4"/>
          </p15:clr>
        </p15:guide>
        <p15:guide id="2" pos="2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4" autoAdjust="0"/>
    <p:restoredTop sz="92257" autoAdjust="0"/>
  </p:normalViewPr>
  <p:slideViewPr>
    <p:cSldViewPr showGuides="1">
      <p:cViewPr varScale="1">
        <p:scale>
          <a:sx n="108" d="100"/>
          <a:sy n="108" d="100"/>
        </p:scale>
        <p:origin x="576" y="184"/>
      </p:cViewPr>
      <p:guideLst>
        <p:guide orient="horz" pos="2190"/>
        <p:guide pos="28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1EE6A9-A337-4424-B158-CEE40DDC4F13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4F95C1-1C97-4AEE-8AFD-9E57812A37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241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查询时无需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方法提交当前事务。如果不调用这个方法，无论做了什么修改，自从上次调用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#commit()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是不可见的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F95C1-1C97-4AEE-8AFD-9E57812A371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1195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 err="1">
                <a:solidFill>
                  <a:srgbClr val="FF0000"/>
                </a:solidFill>
              </a:rPr>
              <a:t>fetchone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F95C1-1C97-4AEE-8AFD-9E57812A371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8766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2" name="副标题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305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椭圆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415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椭圆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椭圆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135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135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065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065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210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</a:lstStyle>
          <a:p>
            <a:pPr marL="0" algn="l" eaLnBrk="1" latinLnBrk="0" hangingPunct="1"/>
            <a:r>
              <a:rPr kumimoji="0" lang="zh-CN" altLang="en-US"/>
              <a:t>单击图标添加图片</a:t>
            </a:r>
            <a:endParaRPr kumimoji="0" lang="en-US" dirty="0"/>
          </a:p>
        </p:txBody>
      </p:sp>
      <p:sp>
        <p:nvSpPr>
          <p:cNvPr id="9" name="流程图: 过程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流程图: 过程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饼形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椭圆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同心圆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标题占位符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24" name="日期占位符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fld id="{0169BD0F-E4EE-49F4-9D55-D10E263893F4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endParaRPr lang="zh-CN" altLang="en-US"/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fld id="{451496B8-45B0-43C8-B1CA-64AEA543BE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5" name="矩形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65760" indent="-283210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 panose="05020102010507070707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490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 panose="020B0604030504040204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7095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 panose="05020102010507070707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990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575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8945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425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15616" y="1628800"/>
            <a:ext cx="7920880" cy="2304256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00" dirty="0"/>
              <a:t>实验 </a:t>
            </a:r>
            <a:r>
              <a:rPr lang="en-US" altLang="zh-CN" sz="4000" dirty="0"/>
              <a:t>python</a:t>
            </a:r>
            <a:r>
              <a:rPr lang="zh-CN" altLang="en-US" sz="4000" dirty="0"/>
              <a:t>连接</a:t>
            </a:r>
            <a:r>
              <a:rPr lang="en-US" altLang="zh-CN" sz="4000" dirty="0"/>
              <a:t>GaussDB</a:t>
            </a:r>
            <a:r>
              <a:rPr lang="zh-CN" altLang="en-US" sz="4000" dirty="0"/>
              <a:t>数据库</a:t>
            </a:r>
            <a:br>
              <a:rPr lang="en-US" altLang="zh-CN" sz="4000" dirty="0"/>
            </a:br>
            <a:endParaRPr lang="zh-CN" altLang="en-US" sz="4000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79922" y="4149080"/>
            <a:ext cx="7407275" cy="1752600"/>
          </a:xfrm>
        </p:spPr>
        <p:txBody>
          <a:bodyPr>
            <a:normAutofit/>
          </a:bodyPr>
          <a:lstStyle/>
          <a:p>
            <a:pPr algn="r" eaLnBrk="1" fontAlgn="auto" hangingPunct="1">
              <a:spcAft>
                <a:spcPts val="0"/>
              </a:spcAft>
              <a:buFont typeface="Wingdings 2" panose="05020102010507070707"/>
              <a:buNone/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李梦佳</a:t>
            </a:r>
          </a:p>
          <a:p>
            <a:pPr algn="r" eaLnBrk="1" fontAlgn="auto" hangingPunct="1">
              <a:spcAft>
                <a:spcPts val="0"/>
              </a:spcAft>
              <a:buFont typeface="Wingdings 2" panose="05020102010507070707"/>
              <a:buNone/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韩浩岚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 eaLnBrk="1" fontAlgn="auto" hangingPunct="1">
              <a:spcAft>
                <a:spcPts val="0"/>
              </a:spcAft>
              <a:buFont typeface="Wingdings 2" panose="05020102010507070707"/>
              <a:buNone/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" panose="020B0502040204020203" pitchFamily="34" charset="0"/>
              </a:rPr>
              <a:t>2025.3.31</a:t>
            </a:r>
            <a:endParaRPr lang="zh-CN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Light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>
                <a:solidFill>
                  <a:schemeClr val="tx2">
                    <a:satMod val="130000"/>
                  </a:schemeClr>
                </a:solidFill>
              </a:rPr>
              <a:t>主要内容</a:t>
            </a: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28750" y="1368425"/>
            <a:ext cx="7499350" cy="4800600"/>
          </a:xfrm>
        </p:spPr>
        <p:txBody>
          <a:bodyPr>
            <a:normAutofit/>
          </a:bodyPr>
          <a:lstStyle/>
          <a:p>
            <a:pPr marL="82550" indent="0">
              <a:buClrTx/>
              <a:buNone/>
              <a:defRPr/>
            </a:pPr>
            <a:r>
              <a:rPr lang="en-US" altLang="zh-CN" sz="2800" dirty="0">
                <a:solidFill>
                  <a:srgbClr val="FF0000"/>
                </a:solidFill>
              </a:rPr>
              <a:t>python</a:t>
            </a:r>
            <a:r>
              <a:rPr lang="zh-CN" altLang="en-US" sz="2800" dirty="0">
                <a:solidFill>
                  <a:srgbClr val="FF0000"/>
                </a:solidFill>
              </a:rPr>
              <a:t>连接数据库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400" dirty="0"/>
              <a:t>python</a:t>
            </a:r>
            <a:r>
              <a:rPr lang="zh-CN" altLang="en-US" sz="2400" dirty="0"/>
              <a:t>环境配置</a:t>
            </a:r>
            <a:endParaRPr lang="en-US" altLang="zh-CN" sz="2400" dirty="0"/>
          </a:p>
          <a:p>
            <a:pPr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400" dirty="0"/>
              <a:t>python</a:t>
            </a:r>
            <a:r>
              <a:rPr lang="zh-CN" altLang="en-US" sz="2400"/>
              <a:t>访问数据库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>
                <a:solidFill>
                  <a:schemeClr val="tx2">
                    <a:satMod val="130000"/>
                  </a:schemeClr>
                </a:solidFill>
              </a:rPr>
              <a:t>主要内容</a:t>
            </a: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28750" y="1368425"/>
            <a:ext cx="7499350" cy="4800600"/>
          </a:xfrm>
        </p:spPr>
        <p:txBody>
          <a:bodyPr>
            <a:normAutofit/>
          </a:bodyPr>
          <a:lstStyle/>
          <a:p>
            <a:pPr marL="82550" indent="0" eaLnBrk="1" hangingPunct="1">
              <a:buClrTx/>
              <a:buFont typeface="Wingdings 2" panose="05020102010507070707" pitchFamily="18" charset="2"/>
              <a:buNone/>
              <a:defRPr/>
            </a:pPr>
            <a:r>
              <a:rPr lang="en-US" altLang="zh-CN" sz="2800" dirty="0"/>
              <a:t>python</a:t>
            </a:r>
            <a:r>
              <a:rPr lang="zh-CN" altLang="en-US" sz="2800" dirty="0"/>
              <a:t>连接数据库</a:t>
            </a:r>
            <a:endParaRPr lang="en-US" altLang="zh-CN" sz="20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400" dirty="0"/>
              <a:t>python</a:t>
            </a:r>
            <a:r>
              <a:rPr lang="zh-CN" altLang="en-US" sz="2400" dirty="0"/>
              <a:t>环境配置</a:t>
            </a:r>
            <a:endParaRPr lang="en-US" altLang="zh-CN" sz="24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400" dirty="0"/>
              <a:t>python</a:t>
            </a:r>
            <a:r>
              <a:rPr lang="zh-CN" altLang="en-US" sz="2400" dirty="0"/>
              <a:t>访问数据库</a:t>
            </a:r>
            <a:endParaRPr lang="zh-CN" altLang="en-US" sz="2400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300" dirty="0"/>
              <a:t>python</a:t>
            </a:r>
            <a:r>
              <a:rPr lang="zh-CN" altLang="en-US" sz="3300" dirty="0"/>
              <a:t>环境配置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35608" y="1417638"/>
            <a:ext cx="7498080" cy="5149552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安装过程：</a:t>
            </a:r>
            <a:endParaRPr lang="en-US" altLang="zh-CN" sz="2800" dirty="0"/>
          </a:p>
          <a:p>
            <a:r>
              <a:rPr lang="zh-CN" altLang="en-US" sz="2800" dirty="0"/>
              <a:t>下载安装</a:t>
            </a:r>
            <a:r>
              <a:rPr lang="en-US" altLang="zh-CN" sz="2800" dirty="0"/>
              <a:t>Python</a:t>
            </a:r>
            <a:r>
              <a:rPr lang="zh-CN" altLang="en-US" sz="2800" dirty="0"/>
              <a:t>解释器</a:t>
            </a:r>
            <a:endParaRPr lang="en-US" altLang="zh-CN" sz="2800" dirty="0"/>
          </a:p>
          <a:p>
            <a:r>
              <a:rPr lang="en-US" altLang="zh-CN" sz="2800" dirty="0" err="1"/>
              <a:t>pycharm</a:t>
            </a:r>
            <a:r>
              <a:rPr lang="en-US" altLang="zh-CN" sz="2800" dirty="0"/>
              <a:t>——Python IDE</a:t>
            </a:r>
            <a:endParaRPr lang="zh-CN" altLang="en-US" sz="2800" dirty="0"/>
          </a:p>
          <a:p>
            <a:r>
              <a:rPr lang="en-US" altLang="zh-CN" sz="2800" dirty="0"/>
              <a:t>psycopg2——Python</a:t>
            </a:r>
            <a:r>
              <a:rPr lang="zh-CN" altLang="en-US" sz="2800" dirty="0"/>
              <a:t>的</a:t>
            </a:r>
            <a:r>
              <a:rPr lang="en-US" altLang="zh-CN" sz="2800" dirty="0"/>
              <a:t>GaussDB</a:t>
            </a:r>
            <a:r>
              <a:rPr lang="zh-CN" altLang="en-US" sz="2800" dirty="0"/>
              <a:t>数据库接口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在如下链接中下载</a:t>
            </a:r>
            <a:r>
              <a:rPr lang="en-US" altLang="zh-CN" sz="2400" dirty="0"/>
              <a:t>Python</a:t>
            </a:r>
            <a:r>
              <a:rPr lang="zh-CN" altLang="en-US" sz="2400" dirty="0"/>
              <a:t>解释器：</a:t>
            </a:r>
          </a:p>
          <a:p>
            <a:pPr marL="82550" indent="0">
              <a:buNone/>
            </a:pPr>
            <a:r>
              <a:rPr lang="en-US" altLang="zh-CN" sz="2400" dirty="0"/>
              <a:t>https://www.python.org/downloads/windows/</a:t>
            </a:r>
          </a:p>
          <a:p>
            <a:r>
              <a:rPr lang="zh-CN" altLang="en-US" sz="2400" dirty="0"/>
              <a:t>根据自己电脑的实际选择安装包。</a:t>
            </a:r>
          </a:p>
          <a:p>
            <a:pPr marL="82550" indent="0">
              <a:buNone/>
            </a:pPr>
            <a:endParaRPr lang="zh-CN" altLang="en-US" sz="2400" dirty="0"/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</p:spPr>
        <p:txBody>
          <a:bodyPr>
            <a:normAutofit/>
          </a:bodyPr>
          <a:lstStyle/>
          <a:p>
            <a:r>
              <a:rPr lang="en-US" altLang="zh-CN" sz="3300" dirty="0"/>
              <a:t>1. </a:t>
            </a:r>
            <a:r>
              <a:rPr lang="zh-CN" altLang="en-US" sz="3300" dirty="0"/>
              <a:t>下载</a:t>
            </a:r>
            <a:r>
              <a:rPr lang="en-US" altLang="zh-CN" sz="3300" dirty="0"/>
              <a:t>Python</a:t>
            </a:r>
            <a:r>
              <a:rPr lang="zh-CN" altLang="en-US" sz="3300" dirty="0"/>
              <a:t>解释器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830" y="2924810"/>
            <a:ext cx="3952875" cy="2105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300" dirty="0"/>
              <a:t>2. </a:t>
            </a:r>
            <a:r>
              <a:rPr lang="zh-CN" altLang="en-US" sz="3300" dirty="0"/>
              <a:t>安装</a:t>
            </a:r>
            <a:r>
              <a:rPr lang="en-US" altLang="zh-CN" sz="3300" dirty="0"/>
              <a:t>python</a:t>
            </a:r>
            <a:r>
              <a:rPr lang="zh-CN" altLang="en-US" sz="3300" dirty="0"/>
              <a:t>解释器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35608" y="1417638"/>
            <a:ext cx="7498080" cy="5149552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单击安装文件进行安装。</a:t>
            </a:r>
          </a:p>
          <a:p>
            <a:pPr marL="82550" indent="0">
              <a:buNone/>
            </a:pPr>
            <a:endParaRPr lang="en-US" altLang="zh-CN" sz="2800" dirty="0"/>
          </a:p>
          <a:p>
            <a:pPr marL="82550" indent="0">
              <a:buNone/>
            </a:pPr>
            <a:endParaRPr lang="zh-CN" altLang="en-US" sz="2800" dirty="0"/>
          </a:p>
          <a:p>
            <a:r>
              <a:rPr lang="zh-CN" altLang="en-US" sz="2800" dirty="0"/>
              <a:t>勾选</a:t>
            </a:r>
            <a:r>
              <a:rPr lang="en-US" altLang="zh-CN" sz="2800" dirty="0"/>
              <a:t>“AddPython3.9 toPATH”</a:t>
            </a:r>
            <a:r>
              <a:rPr lang="zh-CN" altLang="en-US" sz="2800" dirty="0"/>
              <a:t>，单击</a:t>
            </a:r>
            <a:r>
              <a:rPr lang="en-US" altLang="zh-CN" sz="2800" dirty="0"/>
              <a:t>“Customizeinstallation”</a:t>
            </a:r>
            <a:r>
              <a:rPr lang="zh-CN" altLang="en-US" sz="2800" dirty="0"/>
              <a:t>。</a:t>
            </a:r>
          </a:p>
          <a:p>
            <a:pPr marL="82550" indent="0">
              <a:buNone/>
            </a:pPr>
            <a:endParaRPr lang="zh-CN" altLang="en-US" sz="28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395" y="2061210"/>
            <a:ext cx="4099560" cy="5422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975" y="3933190"/>
            <a:ext cx="39624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300" dirty="0"/>
              <a:t>2. </a:t>
            </a:r>
            <a:r>
              <a:rPr lang="zh-CN" altLang="en-US" sz="3300" dirty="0"/>
              <a:t>安装</a:t>
            </a:r>
            <a:r>
              <a:rPr lang="en-US" altLang="zh-CN" sz="3300" dirty="0"/>
              <a:t>python</a:t>
            </a:r>
            <a:r>
              <a:rPr lang="zh-CN" altLang="en-US" sz="3300" dirty="0"/>
              <a:t>解释器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35608" y="1130618"/>
            <a:ext cx="7498080" cy="5149552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等待安装完成。</a:t>
            </a:r>
          </a:p>
          <a:p>
            <a:pPr marL="82550" indent="0">
              <a:buNone/>
            </a:pPr>
            <a:endParaRPr lang="zh-CN" altLang="en-US" sz="28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685" y="1670050"/>
            <a:ext cx="3451860" cy="212471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457960" y="3834448"/>
            <a:ext cx="5080000" cy="52197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65760" indent="-283210" algn="l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Char char=""/>
            </a:pPr>
            <a:r>
              <a:rPr lang="zh-CN" altLang="en-US" sz="2800" dirty="0"/>
              <a:t>安装成功后，单击Close。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685" y="4364990"/>
            <a:ext cx="3549650" cy="218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300" dirty="0"/>
              <a:t>2. </a:t>
            </a:r>
            <a:r>
              <a:rPr lang="zh-CN" altLang="en-US" sz="3300" dirty="0"/>
              <a:t>安装</a:t>
            </a:r>
            <a:r>
              <a:rPr lang="en-US" altLang="zh-CN" sz="3300" dirty="0"/>
              <a:t>python</a:t>
            </a:r>
            <a:r>
              <a:rPr lang="zh-CN" altLang="en-US" sz="3300" dirty="0"/>
              <a:t>解释器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35608" y="1130618"/>
            <a:ext cx="7498080" cy="514955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测试是否安装成功</a:t>
            </a:r>
          </a:p>
          <a:p>
            <a:pPr marL="82550" indent="0" algn="l">
              <a:lnSpc>
                <a:spcPct val="150000"/>
              </a:lnSpc>
              <a:buNone/>
            </a:pPr>
            <a:r>
              <a:rPr lang="zh-CN" altLang="en-US" sz="2800" dirty="0"/>
              <a:t>打开CMD 命令行，输入Python，进入Python 环境则安装成功。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885" y="2708910"/>
            <a:ext cx="6570345" cy="6165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300" dirty="0"/>
              <a:t>3. </a:t>
            </a:r>
            <a:r>
              <a:rPr lang="zh-CN" altLang="en-US" sz="3300" dirty="0"/>
              <a:t>安装</a:t>
            </a:r>
            <a:r>
              <a:rPr lang="en-US" altLang="zh-CN" sz="3300" dirty="0"/>
              <a:t>PyCharm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35608" y="1130618"/>
            <a:ext cx="7498080" cy="5149552"/>
          </a:xfrm>
        </p:spPr>
        <p:txBody>
          <a:bodyPr>
            <a:normAutofit/>
          </a:bodyPr>
          <a:lstStyle/>
          <a:p>
            <a:pPr algn="l" defTabSz="914400"/>
            <a:r>
              <a:rPr lang="zh-CN" altLang="en-US" sz="2800" dirty="0"/>
              <a:t>官网下载pycharm（注意选择自己对应的版本）</a:t>
            </a:r>
          </a:p>
          <a:p>
            <a:pPr algn="l" defTabSz="914400"/>
            <a:r>
              <a:rPr lang="zh-CN" altLang="en-US" sz="2800" dirty="0"/>
              <a:t>安装</a:t>
            </a:r>
          </a:p>
          <a:p>
            <a:pPr marL="82550" indent="0" algn="l" defTabSz="914400">
              <a:buNone/>
            </a:pPr>
            <a:endParaRPr lang="zh-CN" altLang="en-US" sz="2800" dirty="0"/>
          </a:p>
          <a:p>
            <a:pPr marL="82550" indent="0">
              <a:buNone/>
            </a:pPr>
            <a:endParaRPr lang="zh-CN" altLang="en-US" sz="28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065" y="2277110"/>
            <a:ext cx="3430270" cy="25336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300" dirty="0"/>
              <a:t>3. </a:t>
            </a:r>
            <a:r>
              <a:rPr lang="zh-CN" altLang="en-US" sz="3300" dirty="0"/>
              <a:t>安装</a:t>
            </a:r>
            <a:r>
              <a:rPr lang="en-US" altLang="zh-CN" sz="3300" dirty="0"/>
              <a:t>PyCharm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35608" y="1130618"/>
            <a:ext cx="7498080" cy="514955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/>
              <a:t>Pycharm</a:t>
            </a:r>
            <a:r>
              <a:rPr lang="zh-CN" altLang="en-US" sz="2800" dirty="0"/>
              <a:t>下载好后需要与</a:t>
            </a:r>
            <a:r>
              <a:rPr lang="en-US" altLang="zh-CN" sz="2800" dirty="0"/>
              <a:t>python</a:t>
            </a:r>
            <a:r>
              <a:rPr lang="zh-CN" altLang="en-US" sz="2800" dirty="0"/>
              <a:t>进行绑定</a:t>
            </a:r>
          </a:p>
          <a:p>
            <a:pPr>
              <a:lnSpc>
                <a:spcPct val="150000"/>
              </a:lnSpc>
            </a:pPr>
            <a:r>
              <a:rPr lang="en-US" altLang="zh-CN" sz="2800" dirty="0"/>
              <a:t>File-settings-python interpreter-</a:t>
            </a:r>
            <a:r>
              <a:rPr lang="zh-CN" altLang="en-US" sz="2800" dirty="0"/>
              <a:t>选择对应</a:t>
            </a:r>
            <a:r>
              <a:rPr lang="en-US" altLang="zh-CN" sz="2800" dirty="0"/>
              <a:t>python</a:t>
            </a:r>
          </a:p>
          <a:p>
            <a:pPr marL="82550" indent="0">
              <a:lnSpc>
                <a:spcPct val="150000"/>
              </a:lnSpc>
              <a:buNone/>
            </a:pPr>
            <a:endParaRPr lang="zh-CN" altLang="en-US" sz="28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630" y="3284855"/>
            <a:ext cx="4316730" cy="31000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ffectLst/>
              </a:rPr>
              <a:t>4. psycopg2</a:t>
            </a:r>
            <a:r>
              <a:rPr lang="zh-CN" altLang="en-US" sz="3300" dirty="0"/>
              <a:t>的安装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35608" y="1417638"/>
            <a:ext cx="7498080" cy="5149552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安装通用</a:t>
            </a:r>
            <a:r>
              <a:rPr lang="en-US" altLang="zh-CN" sz="2400" dirty="0"/>
              <a:t> psycopg2 </a:t>
            </a:r>
            <a:r>
              <a:rPr lang="zh-CN" altLang="en-US" sz="2400" dirty="0"/>
              <a:t>包。</a:t>
            </a:r>
          </a:p>
          <a:p>
            <a:pPr marL="82550" indent="0">
              <a:buNone/>
            </a:pPr>
            <a:r>
              <a:rPr lang="zh-CN" altLang="en-US" sz="2400" dirty="0"/>
              <a:t>到有访问权限的</a:t>
            </a:r>
            <a:r>
              <a:rPr lang="en-US" altLang="zh-CN" sz="2400" dirty="0"/>
              <a:t> python </a:t>
            </a:r>
            <a:r>
              <a:rPr lang="zh-CN" altLang="en-US" sz="2400" dirty="0"/>
              <a:t>镜像服务器中下载并安装</a:t>
            </a:r>
            <a:r>
              <a:rPr lang="en-US" altLang="zh-CN" sz="2400" dirty="0"/>
              <a:t> psycopg2</a:t>
            </a:r>
            <a:r>
              <a:rPr lang="zh-CN" altLang="en-US" sz="2400" dirty="0"/>
              <a:t>，此实验中，使用清华的镜像。</a:t>
            </a:r>
          </a:p>
          <a:p>
            <a:pPr algn="l"/>
            <a:r>
              <a:rPr lang="zh-CN" altLang="en-US" sz="2400" dirty="0"/>
              <a:t>打开 CMD 命令行，输入如下命令：</a:t>
            </a:r>
          </a:p>
          <a:p>
            <a:pPr marL="82550" indent="0">
              <a:buNone/>
            </a:pPr>
            <a:r>
              <a:rPr lang="en-US" altLang="zh-CN" sz="2400" dirty="0"/>
              <a:t>pip install --trusted-host pypi.tuna.tsinghua.edu.cn -i </a:t>
            </a:r>
          </a:p>
          <a:p>
            <a:pPr marL="82550" indent="0">
              <a:buNone/>
            </a:pPr>
            <a:r>
              <a:rPr lang="en-US" altLang="zh-CN" sz="2400" dirty="0"/>
              <a:t>https://pypi.tuna.tsinghua.edu.cn/simple/ -U psycopg2</a:t>
            </a:r>
          </a:p>
          <a:p>
            <a:pPr algn="l"/>
            <a:r>
              <a:rPr lang="zh-CN" altLang="en-US" sz="2400" dirty="0"/>
              <a:t>过程和返回结果如下。</a:t>
            </a:r>
          </a:p>
          <a:p>
            <a:pPr marL="82550" indent="0" algn="l">
              <a:buNone/>
            </a:pPr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885" y="4437380"/>
            <a:ext cx="6967220" cy="21253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ffectLst/>
              </a:rPr>
              <a:t>4. psycopg2</a:t>
            </a:r>
            <a:r>
              <a:rPr lang="zh-CN" altLang="en-US" sz="3300" dirty="0"/>
              <a:t>的安装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35608" y="1417638"/>
            <a:ext cx="7498080" cy="5149552"/>
          </a:xfrm>
        </p:spPr>
        <p:txBody>
          <a:bodyPr>
            <a:normAutofit/>
          </a:bodyPr>
          <a:lstStyle/>
          <a:p>
            <a:pPr algn="l"/>
            <a:r>
              <a:rPr lang="zh-CN" altLang="en-US" sz="2000" dirty="0"/>
              <a:t>检查是否安装成功</a:t>
            </a:r>
            <a:r>
              <a:rPr lang="en-US" altLang="zh-CN" sz="2000" dirty="0"/>
              <a:t>psycopg2</a:t>
            </a:r>
          </a:p>
          <a:p>
            <a:pPr marL="82550" indent="0" algn="l">
              <a:buNone/>
            </a:pPr>
            <a:r>
              <a:rPr lang="en-US" altLang="zh-CN" sz="2000" dirty="0"/>
              <a:t>import psycopg2</a:t>
            </a:r>
          </a:p>
          <a:p>
            <a:pPr marL="82550" indent="0" algn="l">
              <a:buNone/>
            </a:pPr>
            <a:r>
              <a:rPr lang="en-US" altLang="zh-CN" sz="2000" dirty="0"/>
              <a:t>def cp():</a:t>
            </a:r>
          </a:p>
          <a:p>
            <a:pPr marL="82550" indent="457200" algn="l">
              <a:buNone/>
            </a:pPr>
            <a:r>
              <a:rPr lang="en-US" altLang="zh-CN" sz="2000" dirty="0"/>
              <a:t>print("111")</a:t>
            </a:r>
          </a:p>
          <a:p>
            <a:pPr marL="82550" indent="0" algn="l">
              <a:buNone/>
            </a:pPr>
            <a:r>
              <a:rPr lang="en-US" altLang="zh-CN" sz="2000" dirty="0"/>
              <a:t>if __name__=='__main__':</a:t>
            </a:r>
          </a:p>
          <a:p>
            <a:pPr marL="82550" indent="457200" algn="l">
              <a:buNone/>
            </a:pPr>
            <a:r>
              <a:rPr lang="en-US" altLang="zh-CN" sz="2000" dirty="0"/>
              <a:t>cp()</a:t>
            </a:r>
          </a:p>
          <a:p>
            <a:pPr marL="82550" indent="457200" algn="l">
              <a:buNone/>
            </a:pPr>
            <a:endParaRPr lang="en-US" altLang="zh-CN" sz="2000" dirty="0"/>
          </a:p>
          <a:p>
            <a:pPr algn="l"/>
            <a:r>
              <a:rPr lang="zh-CN" altLang="en-US" sz="2000" dirty="0"/>
              <a:t>出现</a:t>
            </a:r>
            <a:r>
              <a:rPr lang="en-US" altLang="zh-CN" sz="2000" dirty="0"/>
              <a:t>I I I</a:t>
            </a:r>
            <a:r>
              <a:rPr lang="zh-CN" altLang="en-US" sz="2000" dirty="0"/>
              <a:t>则</a:t>
            </a:r>
            <a:r>
              <a:rPr lang="zh-CN" altLang="en-US" sz="2000" dirty="0">
                <a:solidFill>
                  <a:srgbClr val="FF0000"/>
                </a:solidFill>
              </a:rPr>
              <a:t>安装成功！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335" y="1557020"/>
            <a:ext cx="3357880" cy="28416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300" dirty="0"/>
              <a:t>python</a:t>
            </a:r>
            <a:r>
              <a:rPr lang="zh-CN" altLang="en-US" sz="3300" dirty="0"/>
              <a:t>访问数据库</a:t>
            </a:r>
            <a:r>
              <a:rPr lang="en-US" altLang="zh-CN" sz="3300" dirty="0"/>
              <a:t>—</a:t>
            </a:r>
            <a:r>
              <a:rPr lang="zh-CN" altLang="en-US" sz="3300" dirty="0"/>
              <a:t>编写程序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35608" y="1417638"/>
            <a:ext cx="7498080" cy="5149552"/>
          </a:xfrm>
        </p:spPr>
        <p:txBody>
          <a:bodyPr>
            <a:normAutofit/>
          </a:bodyPr>
          <a:lstStyle/>
          <a:p>
            <a:pPr marL="82550" indent="0">
              <a:buNone/>
            </a:pPr>
            <a:r>
              <a:rPr lang="en-US" altLang="zh-CN" sz="2400" dirty="0"/>
              <a:t>Python</a:t>
            </a:r>
            <a:r>
              <a:rPr lang="zh-CN" altLang="en-US" sz="2400" dirty="0"/>
              <a:t>语言操作</a:t>
            </a:r>
            <a:r>
              <a:rPr lang="en-US" altLang="zh-CN" sz="2400" dirty="0"/>
              <a:t>GaussDB</a:t>
            </a:r>
            <a:r>
              <a:rPr lang="zh-CN" altLang="en-US" sz="2400" dirty="0"/>
              <a:t>数据库的过程如下：</a:t>
            </a:r>
          </a:p>
          <a:p>
            <a:pPr marL="8255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	导入相关库和模块</a:t>
            </a:r>
          </a:p>
          <a:p>
            <a:pPr marL="8255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	使用</a:t>
            </a:r>
            <a:r>
              <a:rPr lang="en-US" altLang="zh-CN" sz="2400" dirty="0"/>
              <a:t>connect()</a:t>
            </a:r>
            <a:r>
              <a:rPr lang="zh-CN" altLang="en-US" sz="2400" dirty="0"/>
              <a:t>建立与数据库的连接，并获取数据库连接对象</a:t>
            </a:r>
          </a:p>
          <a:p>
            <a:pPr marL="8255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	使用连接对象的</a:t>
            </a:r>
            <a:r>
              <a:rPr lang="en-US" altLang="zh-CN" sz="2400" dirty="0"/>
              <a:t>cursor()</a:t>
            </a:r>
            <a:r>
              <a:rPr lang="zh-CN" altLang="en-US" sz="2400" dirty="0"/>
              <a:t>获取游标对象；并使用游标对象的相关方法</a:t>
            </a:r>
            <a:r>
              <a:rPr lang="en-US" altLang="zh-CN" sz="2400" dirty="0"/>
              <a:t>(execute()</a:t>
            </a:r>
            <a:r>
              <a:rPr lang="zh-CN" altLang="en-US" sz="2400" dirty="0"/>
              <a:t>、</a:t>
            </a:r>
            <a:r>
              <a:rPr lang="en-US" altLang="zh-CN" sz="2400" dirty="0"/>
              <a:t>commit())</a:t>
            </a:r>
            <a:r>
              <a:rPr lang="zh-CN" altLang="en-US" sz="2400" dirty="0"/>
              <a:t>操作数据库</a:t>
            </a:r>
          </a:p>
          <a:p>
            <a:pPr marL="8255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4</a:t>
            </a:r>
            <a:r>
              <a:rPr lang="zh-CN" altLang="en-US" sz="2400" dirty="0"/>
              <a:t>）	使用</a:t>
            </a:r>
            <a:r>
              <a:rPr lang="en-US" altLang="zh-CN" sz="2400" dirty="0"/>
              <a:t>close()</a:t>
            </a:r>
            <a:r>
              <a:rPr lang="zh-CN" altLang="en-US" sz="2400" dirty="0"/>
              <a:t>关闭数据库连接和游标对象</a:t>
            </a:r>
          </a:p>
          <a:p>
            <a:pPr marL="82550" indent="457200">
              <a:buNone/>
            </a:pPr>
            <a:r>
              <a:rPr lang="en-US" altLang="zh-CN" sz="2400" dirty="0"/>
              <a:t>IAM</a:t>
            </a:r>
            <a:r>
              <a:rPr lang="zh-CN" altLang="en-US" sz="2400" dirty="0"/>
              <a:t>用户与以前相同，</a:t>
            </a:r>
            <a:r>
              <a:rPr lang="zh-CN" altLang="en-US" sz="2400" dirty="0">
                <a:solidFill>
                  <a:srgbClr val="FF0000"/>
                </a:solidFill>
              </a:rPr>
              <a:t>在登录数据库时的用户用群里</a:t>
            </a:r>
            <a:r>
              <a:rPr lang="en-US" altLang="zh-CN" sz="2400" dirty="0">
                <a:solidFill>
                  <a:srgbClr val="FF0000"/>
                </a:solidFill>
              </a:rPr>
              <a:t>excel</a:t>
            </a:r>
            <a:r>
              <a:rPr lang="zh-CN" altLang="en-US" sz="2400" dirty="0">
                <a:solidFill>
                  <a:srgbClr val="FF0000"/>
                </a:solidFill>
              </a:rPr>
              <a:t>表中的新的用户</a:t>
            </a:r>
            <a:r>
              <a:rPr lang="zh-CN" altLang="en-US" sz="2400" dirty="0"/>
              <a:t>，否则不能成功连接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5608" y="112659"/>
            <a:ext cx="7498080" cy="1143000"/>
          </a:xfrm>
        </p:spPr>
        <p:txBody>
          <a:bodyPr>
            <a:normAutofit/>
          </a:bodyPr>
          <a:lstStyle/>
          <a:p>
            <a:r>
              <a:rPr lang="en-US" altLang="zh-CN" sz="3300" dirty="0"/>
              <a:t>python</a:t>
            </a:r>
            <a:r>
              <a:rPr lang="zh-CN" altLang="en-US" sz="3300" dirty="0"/>
              <a:t>访问数据库</a:t>
            </a:r>
            <a:r>
              <a:rPr lang="en-US" altLang="zh-CN" sz="3300" dirty="0"/>
              <a:t>—</a:t>
            </a:r>
            <a:r>
              <a:rPr lang="zh-CN" altLang="en-US" sz="3300" dirty="0"/>
              <a:t>连接数据库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35608" y="1340768"/>
            <a:ext cx="7498080" cy="5400600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cs typeface="Arial" panose="020B0604020202020204" pitchFamily="34" charset="0"/>
              </a:rPr>
              <a:t>import psycopg2  # </a:t>
            </a:r>
            <a:r>
              <a:rPr lang="zh-CN" altLang="en-US" sz="2800" dirty="0">
                <a:cs typeface="Arial" panose="020B0604020202020204" pitchFamily="34" charset="0"/>
              </a:rPr>
              <a:t>导入模块</a:t>
            </a:r>
          </a:p>
          <a:p>
            <a:endParaRPr lang="zh-CN" altLang="en-US" sz="2800" dirty="0">
              <a:cs typeface="Arial" panose="020B0604020202020204" pitchFamily="34" charset="0"/>
            </a:endParaRPr>
          </a:p>
          <a:p>
            <a:r>
              <a:rPr lang="en-US" altLang="zh-CN" sz="2800" dirty="0">
                <a:cs typeface="Arial" panose="020B0604020202020204" pitchFamily="34" charset="0"/>
              </a:rPr>
              <a:t>conn=psycopg2.connect(</a:t>
            </a:r>
            <a:r>
              <a:rPr lang="en-US" altLang="zh-CN" sz="2800" dirty="0">
                <a:cs typeface="Arial" panose="020B0604020202020204" pitchFamily="34" charset="0"/>
                <a:sym typeface="+mn-ea"/>
              </a:rPr>
              <a:t>database="finance01",user="python_user",password="python_user@123",</a:t>
            </a:r>
            <a:r>
              <a:rPr lang="en-US" altLang="zh-CN" sz="2800" dirty="0">
                <a:cs typeface="Arial" panose="020B0604020202020204" pitchFamily="34" charset="0"/>
              </a:rPr>
              <a:t>host="110.41.118.248",port=8000)  # </a:t>
            </a:r>
            <a:r>
              <a:rPr lang="zh-CN" altLang="en-US" sz="2800" dirty="0">
                <a:cs typeface="Arial" panose="020B0604020202020204" pitchFamily="34" charset="0"/>
              </a:rPr>
              <a:t>使用</a:t>
            </a:r>
            <a:r>
              <a:rPr lang="en-US" altLang="zh-CN" sz="2800" dirty="0">
                <a:cs typeface="Arial" panose="020B0604020202020204" pitchFamily="34" charset="0"/>
              </a:rPr>
              <a:t>connect()</a:t>
            </a:r>
            <a:r>
              <a:rPr lang="zh-CN" altLang="en-US" sz="2800" dirty="0">
                <a:cs typeface="Arial" panose="020B0604020202020204" pitchFamily="34" charset="0"/>
              </a:rPr>
              <a:t>建立与数据库的连接，并获取数据库连接对象</a:t>
            </a:r>
          </a:p>
          <a:p>
            <a:r>
              <a:rPr lang="en-US" altLang="zh-CN" sz="2800" dirty="0">
                <a:cs typeface="Arial" panose="020B0604020202020204" pitchFamily="34" charset="0"/>
              </a:rPr>
              <a:t>print('connect successful!')</a:t>
            </a:r>
          </a:p>
          <a:p>
            <a:r>
              <a:rPr lang="en-US" altLang="zh-CN" sz="2800" dirty="0" err="1">
                <a:cs typeface="Arial" panose="020B0604020202020204" pitchFamily="34" charset="0"/>
              </a:rPr>
              <a:t>conn.close</a:t>
            </a:r>
            <a:r>
              <a:rPr lang="en-US" altLang="zh-CN" sz="2800" dirty="0">
                <a:cs typeface="Arial" panose="020B0604020202020204" pitchFamily="34" charset="0"/>
              </a:rPr>
              <a:t>()  # </a:t>
            </a:r>
            <a:r>
              <a:rPr lang="zh-CN" altLang="en-US" sz="2800" dirty="0">
                <a:cs typeface="Arial" panose="020B0604020202020204" pitchFamily="34" charset="0"/>
              </a:rPr>
              <a:t>使用</a:t>
            </a:r>
            <a:r>
              <a:rPr lang="en-US" altLang="zh-CN" sz="2800" dirty="0">
                <a:cs typeface="Arial" panose="020B0604020202020204" pitchFamily="34" charset="0"/>
              </a:rPr>
              <a:t>close()</a:t>
            </a:r>
            <a:r>
              <a:rPr lang="zh-CN" altLang="en-US" sz="2800" dirty="0">
                <a:cs typeface="Arial" panose="020B0604020202020204" pitchFamily="34" charset="0"/>
              </a:rPr>
              <a:t>关闭数据库连接和游标对象</a:t>
            </a:r>
          </a:p>
        </p:txBody>
      </p:sp>
      <p:grpSp>
        <p:nvGrpSpPr>
          <p:cNvPr id="4" name="矩形 3"/>
          <p:cNvGrpSpPr/>
          <p:nvPr/>
        </p:nvGrpSpPr>
        <p:grpSpPr>
          <a:xfrm>
            <a:off x="6363702" y="1045410"/>
            <a:ext cx="1421906" cy="552519"/>
            <a:chOff x="-1" y="-1"/>
            <a:chExt cx="1403650" cy="936106"/>
          </a:xfrm>
        </p:grpSpPr>
        <p:sp>
          <p:nvSpPr>
            <p:cNvPr id="5" name="矩形"/>
            <p:cNvSpPr/>
            <p:nvPr/>
          </p:nvSpPr>
          <p:spPr>
            <a:xfrm>
              <a:off x="-1" y="-1"/>
              <a:ext cx="1403650" cy="936106"/>
            </a:xfrm>
            <a:prstGeom prst="rect">
              <a:avLst/>
            </a:prstGeom>
            <a:solidFill>
              <a:schemeClr val="accent1"/>
            </a:solidFill>
            <a:ln w="25400" cap="flat">
              <a:solidFill>
                <a:srgbClr val="296A7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6" name="要连接的数据库名字"/>
            <p:cNvSpPr txBox="1"/>
            <p:nvPr/>
          </p:nvSpPr>
          <p:spPr>
            <a:xfrm>
              <a:off x="-1" y="283387"/>
              <a:ext cx="1403650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rPr dirty="0" err="1"/>
                <a:t>数据库名字</a:t>
              </a:r>
              <a:endParaRPr dirty="0"/>
            </a:p>
          </p:txBody>
        </p:sp>
      </p:grpSp>
      <p:sp>
        <p:nvSpPr>
          <p:cNvPr id="7" name="直接箭头连接符 5"/>
          <p:cNvSpPr/>
          <p:nvPr/>
        </p:nvSpPr>
        <p:spPr>
          <a:xfrm flipV="1">
            <a:off x="6581393" y="1918349"/>
            <a:ext cx="1152128" cy="1127212"/>
          </a:xfrm>
          <a:prstGeom prst="line">
            <a:avLst/>
          </a:prstGeom>
          <a:ln>
            <a:solidFill>
              <a:schemeClr val="accent1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8" name="矩形 6"/>
          <p:cNvGrpSpPr/>
          <p:nvPr/>
        </p:nvGrpSpPr>
        <p:grpSpPr>
          <a:xfrm>
            <a:off x="7825646" y="1519013"/>
            <a:ext cx="874600" cy="509446"/>
            <a:chOff x="0" y="0"/>
            <a:chExt cx="1584176" cy="611088"/>
          </a:xfrm>
        </p:grpSpPr>
        <p:sp>
          <p:nvSpPr>
            <p:cNvPr id="9" name="矩形"/>
            <p:cNvSpPr/>
            <p:nvPr/>
          </p:nvSpPr>
          <p:spPr>
            <a:xfrm>
              <a:off x="0" y="0"/>
              <a:ext cx="1584176" cy="611088"/>
            </a:xfrm>
            <a:prstGeom prst="rect">
              <a:avLst/>
            </a:prstGeom>
            <a:solidFill>
              <a:schemeClr val="accent1"/>
            </a:solidFill>
            <a:ln w="25400" cap="flat">
              <a:solidFill>
                <a:srgbClr val="296A7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0" name="加载驱动器类"/>
            <p:cNvSpPr txBox="1"/>
            <p:nvPr/>
          </p:nvSpPr>
          <p:spPr>
            <a:xfrm>
              <a:off x="0" y="120879"/>
              <a:ext cx="1584176" cy="3693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rPr lang="zh-CN" altLang="en-US" dirty="0"/>
                <a:t>密码</a:t>
              </a:r>
              <a:endParaRPr dirty="0"/>
            </a:p>
          </p:txBody>
        </p:sp>
      </p:grpSp>
      <p:sp>
        <p:nvSpPr>
          <p:cNvPr id="15" name="直接箭头连接符 5"/>
          <p:cNvSpPr/>
          <p:nvPr/>
        </p:nvSpPr>
        <p:spPr>
          <a:xfrm flipV="1">
            <a:off x="5513163" y="1683037"/>
            <a:ext cx="1440161" cy="1003747"/>
          </a:xfrm>
          <a:prstGeom prst="line">
            <a:avLst/>
          </a:prstGeom>
          <a:ln>
            <a:solidFill>
              <a:schemeClr val="accent1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5608" y="112659"/>
            <a:ext cx="7498080" cy="1143000"/>
          </a:xfrm>
        </p:spPr>
        <p:txBody>
          <a:bodyPr>
            <a:normAutofit/>
          </a:bodyPr>
          <a:lstStyle/>
          <a:p>
            <a:r>
              <a:rPr lang="en-US" altLang="zh-CN" sz="3300" dirty="0"/>
              <a:t>python</a:t>
            </a:r>
            <a:r>
              <a:rPr lang="zh-CN" altLang="en-US" sz="3300" dirty="0"/>
              <a:t>访问数据库</a:t>
            </a:r>
            <a:r>
              <a:rPr lang="en-US" altLang="zh-CN" sz="3300" dirty="0"/>
              <a:t>—</a:t>
            </a:r>
            <a:r>
              <a:rPr lang="zh-CN" altLang="en-US" sz="3300" dirty="0"/>
              <a:t>创建表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35608" y="1340768"/>
            <a:ext cx="7498080" cy="5400600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sz="2800" dirty="0">
                <a:cs typeface="Arial" panose="020B0604020202020204" pitchFamily="34" charset="0"/>
              </a:rPr>
              <a:t>import psycopg2  # </a:t>
            </a:r>
            <a:r>
              <a:rPr lang="zh-CN" altLang="en-US" sz="2800" dirty="0">
                <a:cs typeface="Arial" panose="020B0604020202020204" pitchFamily="34" charset="0"/>
              </a:rPr>
              <a:t>导入模块</a:t>
            </a:r>
          </a:p>
          <a:p>
            <a:r>
              <a:rPr lang="en-US" altLang="zh-CN" sz="2800" dirty="0">
                <a:cs typeface="Arial" panose="020B0604020202020204" pitchFamily="34" charset="0"/>
              </a:rPr>
              <a:t>conn=psycopg2.connect(</a:t>
            </a:r>
            <a:r>
              <a:rPr lang="en-US" altLang="zh-CN" sz="2800" dirty="0">
                <a:cs typeface="Arial" panose="020B0604020202020204" pitchFamily="34" charset="0"/>
                <a:sym typeface="+mn-ea"/>
              </a:rPr>
              <a:t>database="finance01",user="python_user",password="python_user@123",host="110.41.118.248",port=8000</a:t>
            </a:r>
            <a:r>
              <a:rPr lang="en-US" altLang="zh-CN" sz="2800" dirty="0">
                <a:cs typeface="Arial" panose="020B0604020202020204" pitchFamily="34" charset="0"/>
              </a:rPr>
              <a:t>) </a:t>
            </a:r>
          </a:p>
          <a:p>
            <a:r>
              <a:rPr lang="en-US" altLang="zh-CN" sz="2800" dirty="0">
                <a:cs typeface="Arial" panose="020B0604020202020204" pitchFamily="34" charset="0"/>
              </a:rPr>
              <a:t>print('connect successful!')</a:t>
            </a:r>
          </a:p>
          <a:p>
            <a:r>
              <a:rPr lang="en-US" altLang="zh-CN" sz="2800" dirty="0">
                <a:solidFill>
                  <a:srgbClr val="FF0000"/>
                </a:solidFill>
                <a:cs typeface="Arial" panose="020B0604020202020204" pitchFamily="34" charset="0"/>
              </a:rPr>
              <a:t>cursor=</a:t>
            </a:r>
            <a:r>
              <a:rPr lang="en-US" altLang="zh-CN" sz="2800" dirty="0" err="1">
                <a:solidFill>
                  <a:srgbClr val="FF0000"/>
                </a:solidFill>
                <a:cs typeface="Arial" panose="020B0604020202020204" pitchFamily="34" charset="0"/>
              </a:rPr>
              <a:t>conn.cursor</a:t>
            </a:r>
            <a:r>
              <a:rPr lang="en-US" altLang="zh-CN" sz="2800" dirty="0">
                <a:solidFill>
                  <a:srgbClr val="FF0000"/>
                </a:solidFill>
                <a:cs typeface="Arial" panose="020B0604020202020204" pitchFamily="34" charset="0"/>
              </a:rPr>
              <a:t>()</a:t>
            </a:r>
            <a:r>
              <a:rPr lang="zh-CN" altLang="en-US" sz="2800" dirty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cs typeface="Arial" panose="020B0604020202020204" pitchFamily="34" charset="0"/>
              </a:rPr>
              <a:t>#</a:t>
            </a:r>
            <a:r>
              <a:rPr lang="zh-CN" altLang="en-US" sz="2800" dirty="0">
                <a:solidFill>
                  <a:srgbClr val="FF0000"/>
                </a:solidFill>
                <a:cs typeface="Arial" panose="020B0604020202020204" pitchFamily="34" charset="0"/>
              </a:rPr>
              <a:t>使用连接对象的</a:t>
            </a:r>
            <a:r>
              <a:rPr lang="en-US" altLang="zh-CN" sz="2800" dirty="0">
                <a:solidFill>
                  <a:srgbClr val="FF0000"/>
                </a:solidFill>
                <a:cs typeface="Arial" panose="020B0604020202020204" pitchFamily="34" charset="0"/>
              </a:rPr>
              <a:t>cursor()</a:t>
            </a:r>
            <a:r>
              <a:rPr lang="zh-CN" altLang="en-US" sz="2800" dirty="0">
                <a:solidFill>
                  <a:srgbClr val="FF0000"/>
                </a:solidFill>
                <a:cs typeface="Arial" panose="020B0604020202020204" pitchFamily="34" charset="0"/>
              </a:rPr>
              <a:t>获取游标对象</a:t>
            </a:r>
            <a:endParaRPr lang="en-US" altLang="zh-CN" sz="2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r>
              <a:rPr lang="en-US" altLang="zh-CN" sz="2800" dirty="0" err="1">
                <a:solidFill>
                  <a:srgbClr val="FF0000"/>
                </a:solidFill>
                <a:cs typeface="Arial" panose="020B0604020202020204" pitchFamily="34" charset="0"/>
              </a:rPr>
              <a:t>sql</a:t>
            </a:r>
            <a:r>
              <a:rPr lang="en-US" altLang="zh-CN" sz="2800" dirty="0">
                <a:solidFill>
                  <a:srgbClr val="FF0000"/>
                </a:solidFill>
                <a:cs typeface="Arial" panose="020B0604020202020204" pitchFamily="34" charset="0"/>
              </a:rPr>
              <a:t>="create table </a:t>
            </a:r>
            <a:r>
              <a:rPr lang="en-US" altLang="zh-CN" sz="2800" dirty="0" err="1">
                <a:solidFill>
                  <a:srgbClr val="FF0000"/>
                </a:solidFill>
                <a:cs typeface="Arial" panose="020B0604020202020204" pitchFamily="34" charset="0"/>
              </a:rPr>
              <a:t>eee</a:t>
            </a:r>
            <a:r>
              <a:rPr lang="en-US" altLang="zh-CN" sz="2800" dirty="0">
                <a:solidFill>
                  <a:srgbClr val="FF0000"/>
                </a:solidFill>
                <a:cs typeface="Arial" panose="020B0604020202020204" pitchFamily="34" charset="0"/>
              </a:rPr>
              <a:t>(</a:t>
            </a:r>
            <a:r>
              <a:rPr lang="en-US" altLang="zh-CN" sz="2800" dirty="0" err="1">
                <a:solidFill>
                  <a:srgbClr val="FF0000"/>
                </a:solidFill>
                <a:cs typeface="Arial" panose="020B0604020202020204" pitchFamily="34" charset="0"/>
              </a:rPr>
              <a:t>eeid</a:t>
            </a:r>
            <a:r>
              <a:rPr lang="en-US" altLang="zh-CN" sz="2800" dirty="0">
                <a:solidFill>
                  <a:srgbClr val="FF0000"/>
                </a:solidFill>
                <a:cs typeface="Arial" panose="020B0604020202020204" pitchFamily="34" charset="0"/>
              </a:rPr>
              <a:t> integer primary </a:t>
            </a:r>
            <a:r>
              <a:rPr lang="en-US" altLang="zh-CN" sz="2800" dirty="0" err="1">
                <a:solidFill>
                  <a:srgbClr val="FF0000"/>
                </a:solidFill>
                <a:cs typeface="Arial" panose="020B0604020202020204" pitchFamily="34" charset="0"/>
              </a:rPr>
              <a:t>key,eeage</a:t>
            </a:r>
            <a:r>
              <a:rPr lang="en-US" altLang="zh-CN" sz="2800" dirty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en-US" altLang="zh-CN" sz="2800" dirty="0" err="1">
                <a:solidFill>
                  <a:srgbClr val="FF0000"/>
                </a:solidFill>
                <a:cs typeface="Arial" panose="020B0604020202020204" pitchFamily="34" charset="0"/>
              </a:rPr>
              <a:t>integer,dep_id</a:t>
            </a:r>
            <a:r>
              <a:rPr lang="en-US" altLang="zh-CN" sz="2800" dirty="0">
                <a:solidFill>
                  <a:srgbClr val="FF0000"/>
                </a:solidFill>
                <a:cs typeface="Arial" panose="020B0604020202020204" pitchFamily="34" charset="0"/>
              </a:rPr>
              <a:t> integer)"</a:t>
            </a:r>
          </a:p>
          <a:p>
            <a:r>
              <a:rPr lang="en-US" altLang="zh-CN" sz="2800" dirty="0" err="1">
                <a:cs typeface="Arial" panose="020B0604020202020204" pitchFamily="34" charset="0"/>
              </a:rPr>
              <a:t>cursor.execute</a:t>
            </a:r>
            <a:r>
              <a:rPr lang="en-US" altLang="zh-CN" sz="2800" dirty="0">
                <a:cs typeface="Arial" panose="020B0604020202020204" pitchFamily="34" charset="0"/>
              </a:rPr>
              <a:t>(</a:t>
            </a:r>
            <a:r>
              <a:rPr lang="en-US" altLang="zh-CN" sz="2800" dirty="0" err="1">
                <a:cs typeface="Arial" panose="020B0604020202020204" pitchFamily="34" charset="0"/>
              </a:rPr>
              <a:t>sql</a:t>
            </a:r>
            <a:r>
              <a:rPr lang="en-US" altLang="zh-CN" sz="2800" dirty="0">
                <a:cs typeface="Arial" panose="020B0604020202020204" pitchFamily="34" charset="0"/>
              </a:rPr>
              <a:t>)</a:t>
            </a:r>
          </a:p>
          <a:p>
            <a:r>
              <a:rPr lang="en-US" altLang="zh-CN" sz="2800" dirty="0" err="1">
                <a:cs typeface="Arial" panose="020B0604020202020204" pitchFamily="34" charset="0"/>
              </a:rPr>
              <a:t>conn.commit</a:t>
            </a:r>
            <a:r>
              <a:rPr lang="en-US" altLang="zh-CN" sz="2800" dirty="0">
                <a:cs typeface="Arial" panose="020B0604020202020204" pitchFamily="34" charset="0"/>
              </a:rPr>
              <a:t>()</a:t>
            </a:r>
          </a:p>
          <a:p>
            <a:r>
              <a:rPr lang="en-US" altLang="zh-CN" sz="2800" dirty="0">
                <a:cs typeface="Arial" panose="020B0604020202020204" pitchFamily="34" charset="0"/>
              </a:rPr>
              <a:t>print ('table </a:t>
            </a:r>
            <a:r>
              <a:rPr lang="en-US" altLang="zh-CN" sz="2800" dirty="0" err="1">
                <a:cs typeface="Arial" panose="020B0604020202020204" pitchFamily="34" charset="0"/>
              </a:rPr>
              <a:t>eee</a:t>
            </a:r>
            <a:r>
              <a:rPr lang="en-US" altLang="zh-CN" sz="2800" dirty="0">
                <a:cs typeface="Arial" panose="020B0604020202020204" pitchFamily="34" charset="0"/>
              </a:rPr>
              <a:t> is created!')</a:t>
            </a:r>
          </a:p>
          <a:p>
            <a:r>
              <a:rPr lang="en-US" altLang="zh-CN" sz="2800" dirty="0" err="1">
                <a:cs typeface="Arial" panose="020B0604020202020204" pitchFamily="34" charset="0"/>
              </a:rPr>
              <a:t>conn.close</a:t>
            </a:r>
            <a:r>
              <a:rPr lang="en-US" altLang="zh-CN" sz="2800" dirty="0">
                <a:cs typeface="Arial" panose="020B0604020202020204" pitchFamily="34" charset="0"/>
              </a:rPr>
              <a:t>()  # </a:t>
            </a:r>
            <a:r>
              <a:rPr lang="zh-CN" altLang="en-US" sz="2800" dirty="0">
                <a:cs typeface="Arial" panose="020B0604020202020204" pitchFamily="34" charset="0"/>
              </a:rPr>
              <a:t>使用</a:t>
            </a:r>
            <a:r>
              <a:rPr lang="en-US" altLang="zh-CN" sz="2800" dirty="0">
                <a:cs typeface="Arial" panose="020B0604020202020204" pitchFamily="34" charset="0"/>
              </a:rPr>
              <a:t>close()</a:t>
            </a:r>
            <a:r>
              <a:rPr lang="zh-CN" altLang="en-US" sz="2800" dirty="0">
                <a:cs typeface="Arial" panose="020B0604020202020204" pitchFamily="34" charset="0"/>
              </a:rPr>
              <a:t>关闭数据库连接和游标对象</a:t>
            </a:r>
          </a:p>
        </p:txBody>
      </p:sp>
      <p:grpSp>
        <p:nvGrpSpPr>
          <p:cNvPr id="12" name="矩形 8"/>
          <p:cNvGrpSpPr/>
          <p:nvPr/>
        </p:nvGrpSpPr>
        <p:grpSpPr>
          <a:xfrm>
            <a:off x="539552" y="3846912"/>
            <a:ext cx="1051961" cy="518192"/>
            <a:chOff x="0" y="3179"/>
            <a:chExt cx="1224137" cy="720082"/>
          </a:xfrm>
        </p:grpSpPr>
        <p:sp>
          <p:nvSpPr>
            <p:cNvPr id="13" name="矩形"/>
            <p:cNvSpPr/>
            <p:nvPr/>
          </p:nvSpPr>
          <p:spPr>
            <a:xfrm>
              <a:off x="0" y="3179"/>
              <a:ext cx="1224137" cy="720082"/>
            </a:xfrm>
            <a:prstGeom prst="rect">
              <a:avLst/>
            </a:prstGeom>
            <a:solidFill>
              <a:schemeClr val="accent2"/>
            </a:solidFill>
            <a:ln w="25400" cap="flat">
              <a:solidFill>
                <a:srgbClr val="B9860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4" name="关键1：sql语句"/>
            <p:cNvSpPr txBox="1"/>
            <p:nvPr/>
          </p:nvSpPr>
          <p:spPr>
            <a:xfrm>
              <a:off x="0" y="122412"/>
              <a:ext cx="1224137" cy="4816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r>
                <a:rPr dirty="0" err="1"/>
                <a:t>sql语句</a:t>
              </a:r>
              <a:endParaRPr dirty="0"/>
            </a:p>
          </p:txBody>
        </p:sp>
      </p:grpSp>
      <p:grpSp>
        <p:nvGrpSpPr>
          <p:cNvPr id="16" name="矩形 9"/>
          <p:cNvGrpSpPr/>
          <p:nvPr/>
        </p:nvGrpSpPr>
        <p:grpSpPr>
          <a:xfrm>
            <a:off x="6300192" y="4365104"/>
            <a:ext cx="1400112" cy="817271"/>
            <a:chOff x="0" y="15097"/>
            <a:chExt cx="1224137" cy="1013746"/>
          </a:xfrm>
        </p:grpSpPr>
        <p:sp>
          <p:nvSpPr>
            <p:cNvPr id="17" name="矩形"/>
            <p:cNvSpPr/>
            <p:nvPr/>
          </p:nvSpPr>
          <p:spPr>
            <a:xfrm>
              <a:off x="0" y="15097"/>
              <a:ext cx="1224137" cy="1013746"/>
            </a:xfrm>
            <a:prstGeom prst="rect">
              <a:avLst/>
            </a:prstGeom>
            <a:solidFill>
              <a:schemeClr val="accent2"/>
            </a:solidFill>
            <a:ln w="25400" cap="flat">
              <a:solidFill>
                <a:srgbClr val="B9860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" name="关键2：sql语句的执行"/>
            <p:cNvSpPr txBox="1"/>
            <p:nvPr/>
          </p:nvSpPr>
          <p:spPr>
            <a:xfrm>
              <a:off x="0" y="121116"/>
              <a:ext cx="1224137" cy="8017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r>
                <a:rPr dirty="0" err="1"/>
                <a:t>sql语句的执行</a:t>
              </a:r>
              <a:endParaRPr dirty="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03648" y="-13990"/>
            <a:ext cx="7498080" cy="850702"/>
          </a:xfrm>
        </p:spPr>
        <p:txBody>
          <a:bodyPr>
            <a:normAutofit/>
          </a:bodyPr>
          <a:lstStyle/>
          <a:p>
            <a:r>
              <a:rPr lang="en-US" altLang="zh-CN" sz="3300" dirty="0"/>
              <a:t>python</a:t>
            </a:r>
            <a:r>
              <a:rPr lang="zh-CN" altLang="en-US" sz="3300" dirty="0"/>
              <a:t>访问数据库</a:t>
            </a:r>
            <a:r>
              <a:rPr lang="en-US" altLang="zh-CN" sz="3300" dirty="0"/>
              <a:t>—</a:t>
            </a:r>
            <a:r>
              <a:rPr lang="zh-CN" altLang="en-US" sz="3300" dirty="0"/>
              <a:t>插入数据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45352" y="836712"/>
            <a:ext cx="7956376" cy="5904656"/>
          </a:xfrm>
        </p:spPr>
        <p:txBody>
          <a:bodyPr>
            <a:normAutofit lnSpcReduction="10000"/>
          </a:bodyPr>
          <a:lstStyle/>
          <a:p>
            <a:pPr marL="402590" lvl="1" indent="0">
              <a:buNone/>
            </a:pPr>
            <a:r>
              <a:rPr lang="en-US" altLang="zh-CN" sz="2400" dirty="0"/>
              <a:t>import psycopg2  # </a:t>
            </a:r>
            <a:r>
              <a:rPr lang="zh-CN" altLang="en-US" sz="2400" dirty="0"/>
              <a:t>导入模块</a:t>
            </a:r>
          </a:p>
          <a:p>
            <a:pPr marL="402590" lvl="1" indent="0">
              <a:buNone/>
            </a:pPr>
            <a:endParaRPr lang="zh-CN" altLang="en-US" sz="2400" dirty="0"/>
          </a:p>
          <a:p>
            <a:pPr marL="402590" lvl="1" indent="0">
              <a:buNone/>
            </a:pPr>
            <a:r>
              <a:rPr lang="en-US" altLang="zh-CN" sz="2400" dirty="0"/>
              <a:t>conn =psycopg2.connect(host="127.0.0.1", port=5432, user="</a:t>
            </a:r>
            <a:r>
              <a:rPr lang="en-US" altLang="zh-CN" sz="2400" dirty="0" err="1"/>
              <a:t>postgres</a:t>
            </a:r>
            <a:r>
              <a:rPr lang="en-US" altLang="zh-CN" sz="2400" dirty="0"/>
              <a:t>", password="123456",database="exam")  # </a:t>
            </a:r>
            <a:r>
              <a:rPr lang="zh-CN" altLang="en-US" sz="2400" dirty="0"/>
              <a:t>使用</a:t>
            </a:r>
            <a:r>
              <a:rPr lang="en-US" altLang="zh-CN" sz="2400" dirty="0"/>
              <a:t>connect()</a:t>
            </a:r>
            <a:r>
              <a:rPr lang="zh-CN" altLang="en-US" sz="2400" dirty="0"/>
              <a:t>建立与数据库的连接，并获取数据库连接对象</a:t>
            </a:r>
          </a:p>
          <a:p>
            <a:pPr marL="402590" lvl="1" indent="0">
              <a:buNone/>
            </a:pPr>
            <a:r>
              <a:rPr lang="en-US" altLang="zh-CN" sz="2400" dirty="0"/>
              <a:t>print('connect successful!')</a:t>
            </a:r>
          </a:p>
          <a:p>
            <a:pPr marL="402590" lvl="1" indent="0">
              <a:buNone/>
            </a:pPr>
            <a:r>
              <a:rPr lang="en-US" altLang="zh-CN" sz="2400" dirty="0"/>
              <a:t>cursor=</a:t>
            </a:r>
            <a:r>
              <a:rPr lang="en-US" altLang="zh-CN" sz="2400" dirty="0" err="1"/>
              <a:t>conn.cursor</a:t>
            </a:r>
            <a:r>
              <a:rPr lang="en-US" altLang="zh-CN" sz="2400" dirty="0"/>
              <a:t>()</a:t>
            </a:r>
          </a:p>
          <a:p>
            <a:pPr marL="402590" lvl="1" indent="0">
              <a:buNone/>
            </a:pPr>
            <a:r>
              <a:rPr lang="en-US" altLang="zh-CN" sz="2400" dirty="0" err="1">
                <a:solidFill>
                  <a:srgbClr val="FF0000"/>
                </a:solidFill>
              </a:rPr>
              <a:t>sql</a:t>
            </a:r>
            <a:r>
              <a:rPr lang="en-US" altLang="zh-CN" sz="2400" dirty="0">
                <a:solidFill>
                  <a:srgbClr val="FF0000"/>
                </a:solidFill>
              </a:rPr>
              <a:t>="insert into </a:t>
            </a:r>
            <a:r>
              <a:rPr lang="en-US" altLang="zh-CN" sz="2400" dirty="0" err="1">
                <a:solidFill>
                  <a:srgbClr val="FF0000"/>
                </a:solidFill>
              </a:rPr>
              <a:t>eee</a:t>
            </a:r>
            <a:r>
              <a:rPr lang="en-US" altLang="zh-CN" sz="2400" dirty="0">
                <a:solidFill>
                  <a:srgbClr val="FF0000"/>
                </a:solidFill>
              </a:rPr>
              <a:t> select </a:t>
            </a:r>
            <a:r>
              <a:rPr lang="en-US" altLang="zh-CN" sz="2400" dirty="0" err="1">
                <a:solidFill>
                  <a:srgbClr val="FF0000"/>
                </a:solidFill>
              </a:rPr>
              <a:t>num,floor</a:t>
            </a:r>
            <a:r>
              <a:rPr lang="en-US" altLang="zh-CN" sz="2400" dirty="0">
                <a:solidFill>
                  <a:srgbClr val="FF0000"/>
                </a:solidFill>
              </a:rPr>
              <a:t>(random()*10+15),floor(random()*30+1000) from </a:t>
            </a:r>
            <a:r>
              <a:rPr lang="en-US" altLang="zh-CN" sz="2400" dirty="0" err="1">
                <a:solidFill>
                  <a:srgbClr val="FF0000"/>
                </a:solidFill>
              </a:rPr>
              <a:t>generate_series</a:t>
            </a:r>
            <a:r>
              <a:rPr lang="en-US" altLang="zh-CN" sz="2400" dirty="0">
                <a:solidFill>
                  <a:srgbClr val="FF0000"/>
                </a:solidFill>
              </a:rPr>
              <a:t>(1,100) as t(</a:t>
            </a:r>
            <a:r>
              <a:rPr lang="en-US" altLang="zh-CN" sz="2400" dirty="0" err="1">
                <a:solidFill>
                  <a:srgbClr val="FF0000"/>
                </a:solidFill>
              </a:rPr>
              <a:t>num</a:t>
            </a:r>
            <a:r>
              <a:rPr lang="en-US" altLang="zh-CN" sz="2400" dirty="0">
                <a:solidFill>
                  <a:srgbClr val="FF0000"/>
                </a:solidFill>
              </a:rPr>
              <a:t>)"</a:t>
            </a:r>
          </a:p>
          <a:p>
            <a:pPr marL="402590" lvl="1" indent="0">
              <a:buNone/>
            </a:pPr>
            <a:r>
              <a:rPr lang="en-US" altLang="zh-CN" sz="2400" dirty="0" err="1"/>
              <a:t>cursor.execute</a:t>
            </a:r>
            <a:r>
              <a:rPr lang="en-US" altLang="zh-CN" sz="2400" dirty="0"/>
              <a:t>(</a:t>
            </a:r>
            <a:r>
              <a:rPr lang="en-US" altLang="zh-CN" sz="2400" dirty="0" err="1"/>
              <a:t>sql</a:t>
            </a:r>
            <a:r>
              <a:rPr lang="en-US" altLang="zh-CN" sz="2400" dirty="0"/>
              <a:t>)</a:t>
            </a:r>
          </a:p>
          <a:p>
            <a:pPr marL="402590" lvl="1" indent="0">
              <a:buNone/>
            </a:pPr>
            <a:r>
              <a:rPr lang="en-US" altLang="zh-CN" sz="2400" dirty="0" err="1"/>
              <a:t>conn.commit</a:t>
            </a:r>
            <a:r>
              <a:rPr lang="en-US" altLang="zh-CN" sz="2400" dirty="0"/>
              <a:t>()</a:t>
            </a:r>
          </a:p>
          <a:p>
            <a:pPr marL="402590" lvl="1" indent="0">
              <a:buNone/>
            </a:pPr>
            <a:r>
              <a:rPr lang="en-US" altLang="zh-CN" sz="2400" dirty="0"/>
              <a:t>print ('successful!')</a:t>
            </a:r>
          </a:p>
          <a:p>
            <a:pPr marL="402590" lvl="1" indent="0">
              <a:buNone/>
            </a:pPr>
            <a:r>
              <a:rPr lang="en-US" altLang="zh-CN" sz="2400" dirty="0" err="1"/>
              <a:t>conn.close</a:t>
            </a:r>
            <a:r>
              <a:rPr lang="en-US" altLang="zh-CN" sz="2400" dirty="0"/>
              <a:t>()  # </a:t>
            </a:r>
            <a:r>
              <a:rPr lang="zh-CN" altLang="en-US" sz="2400" dirty="0"/>
              <a:t>使用</a:t>
            </a:r>
            <a:r>
              <a:rPr lang="en-US" altLang="zh-CN" sz="2400" dirty="0"/>
              <a:t>close()</a:t>
            </a:r>
            <a:r>
              <a:rPr lang="zh-CN" altLang="en-US" sz="2400" dirty="0"/>
              <a:t>关闭数据库连接和游标对象</a:t>
            </a:r>
            <a:endParaRPr lang="en-US" altLang="zh-CN" sz="2000" dirty="0"/>
          </a:p>
        </p:txBody>
      </p:sp>
      <p:grpSp>
        <p:nvGrpSpPr>
          <p:cNvPr id="5" name="矩形 5"/>
          <p:cNvGrpSpPr/>
          <p:nvPr/>
        </p:nvGrpSpPr>
        <p:grpSpPr>
          <a:xfrm>
            <a:off x="5501369" y="2731282"/>
            <a:ext cx="3103079" cy="1323437"/>
            <a:chOff x="0" y="1282"/>
            <a:chExt cx="1449409" cy="1676388"/>
          </a:xfrm>
        </p:grpSpPr>
        <p:sp>
          <p:nvSpPr>
            <p:cNvPr id="6" name="矩形"/>
            <p:cNvSpPr/>
            <p:nvPr/>
          </p:nvSpPr>
          <p:spPr>
            <a:xfrm>
              <a:off x="0" y="64168"/>
              <a:ext cx="1449409" cy="1550604"/>
            </a:xfrm>
            <a:prstGeom prst="rect">
              <a:avLst/>
            </a:prstGeom>
            <a:solidFill>
              <a:schemeClr val="accent1"/>
            </a:solidFill>
            <a:ln w="25400" cap="flat">
              <a:solidFill>
                <a:srgbClr val="296A7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" name="通过connection对象创建SQL语句执行对象"/>
            <p:cNvSpPr txBox="1"/>
            <p:nvPr/>
          </p:nvSpPr>
          <p:spPr>
            <a:xfrm>
              <a:off x="0" y="1282"/>
              <a:ext cx="1449409" cy="16763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r>
                <a:rPr lang="zh-CN" altLang="en-US" sz="1600" dirty="0"/>
                <a:t>随机生成</a:t>
              </a:r>
              <a:r>
                <a:rPr lang="en-US" altLang="zh-CN" sz="1600" dirty="0"/>
                <a:t>100</a:t>
              </a:r>
              <a:r>
                <a:rPr lang="zh-CN" altLang="en-US" sz="1600" dirty="0"/>
                <a:t>条测试数据，</a:t>
              </a:r>
              <a:endParaRPr lang="en-US" altLang="zh-CN" sz="1600" dirty="0"/>
            </a:p>
            <a:p>
              <a:pPr>
                <a:defRPr>
                  <a:solidFill>
                    <a:srgbClr val="FFFFFF"/>
                  </a:solidFill>
                </a:defRPr>
              </a:pPr>
              <a:r>
                <a:rPr lang="en-US" altLang="zh-CN" sz="1600" dirty="0" err="1"/>
                <a:t>eeid</a:t>
              </a:r>
              <a:r>
                <a:rPr lang="zh-CN" altLang="en-US" sz="1600" dirty="0"/>
                <a:t>为</a:t>
              </a:r>
              <a:r>
                <a:rPr lang="en-US" altLang="zh-CN" sz="1600" dirty="0"/>
                <a:t>1~100</a:t>
              </a:r>
              <a:r>
                <a:rPr lang="zh-CN" altLang="en-US" sz="1600" dirty="0"/>
                <a:t>，不重复，</a:t>
              </a:r>
              <a:endParaRPr lang="en-US" altLang="zh-CN" sz="1600" dirty="0"/>
            </a:p>
            <a:p>
              <a:pPr>
                <a:defRPr>
                  <a:solidFill>
                    <a:srgbClr val="FFFFFF"/>
                  </a:solidFill>
                </a:defRPr>
              </a:pPr>
              <a:r>
                <a:rPr lang="en-US" altLang="zh-CN" sz="1600" dirty="0" err="1"/>
                <a:t>eeage</a:t>
              </a:r>
              <a:r>
                <a:rPr lang="zh-CN" altLang="en-US" sz="1600" dirty="0"/>
                <a:t>在</a:t>
              </a:r>
              <a:r>
                <a:rPr lang="en-US" altLang="zh-CN" sz="1600" dirty="0"/>
                <a:t>15~24</a:t>
              </a:r>
              <a:r>
                <a:rPr lang="zh-CN" altLang="en-US" sz="1600" dirty="0"/>
                <a:t>之间，可重复，</a:t>
              </a:r>
              <a:r>
                <a:rPr lang="en-US" altLang="zh-CN" sz="1600" dirty="0" err="1"/>
                <a:t>dep_id</a:t>
              </a:r>
              <a:r>
                <a:rPr lang="zh-CN" altLang="en-US" sz="1600" dirty="0"/>
                <a:t>在</a:t>
              </a:r>
              <a:r>
                <a:rPr lang="en-US" altLang="zh-CN" sz="1600" dirty="0"/>
                <a:t>1000~1029</a:t>
              </a:r>
              <a:r>
                <a:rPr lang="zh-CN" altLang="en-US" sz="1600" dirty="0"/>
                <a:t>之间，可重复</a:t>
              </a:r>
              <a:endParaRPr sz="1600" dirty="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03648" y="-13990"/>
            <a:ext cx="7498080" cy="850702"/>
          </a:xfrm>
        </p:spPr>
        <p:txBody>
          <a:bodyPr>
            <a:normAutofit/>
          </a:bodyPr>
          <a:lstStyle/>
          <a:p>
            <a:r>
              <a:rPr lang="en-US" altLang="zh-CN" sz="3300" dirty="0"/>
              <a:t>python</a:t>
            </a:r>
            <a:r>
              <a:rPr lang="zh-CN" altLang="en-US" sz="3300" dirty="0"/>
              <a:t>访问数据库</a:t>
            </a:r>
            <a:r>
              <a:rPr lang="en-US" altLang="zh-CN" sz="3300" dirty="0"/>
              <a:t>—</a:t>
            </a:r>
            <a:r>
              <a:rPr lang="zh-CN" altLang="en-US" sz="3300" dirty="0"/>
              <a:t>动态参数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87624" y="967096"/>
            <a:ext cx="7956376" cy="5904656"/>
          </a:xfrm>
        </p:spPr>
        <p:txBody>
          <a:bodyPr>
            <a:normAutofit fontScale="92500" lnSpcReduction="20000"/>
          </a:bodyPr>
          <a:lstStyle/>
          <a:p>
            <a:pPr marL="81280" indent="0" defTabSz="905510">
              <a:lnSpc>
                <a:spcPct val="90000"/>
              </a:lnSpc>
              <a:spcBef>
                <a:spcPts val="500"/>
              </a:spcBef>
              <a:buNone/>
              <a:defRPr sz="3170"/>
            </a:pPr>
            <a:r>
              <a:rPr lang="en-US" altLang="zh-CN" sz="2800" dirty="0"/>
              <a:t>import psycopg2  # </a:t>
            </a:r>
            <a:r>
              <a:rPr lang="zh-CN" altLang="en-US" sz="2800" dirty="0"/>
              <a:t>导入模块</a:t>
            </a:r>
          </a:p>
          <a:p>
            <a:pPr marL="81280" indent="0" defTabSz="905510">
              <a:lnSpc>
                <a:spcPct val="90000"/>
              </a:lnSpc>
              <a:spcBef>
                <a:spcPts val="500"/>
              </a:spcBef>
              <a:buNone/>
              <a:defRPr sz="3170"/>
            </a:pPr>
            <a:endParaRPr lang="zh-CN" altLang="en-US" sz="2800" dirty="0"/>
          </a:p>
          <a:p>
            <a:pPr marL="81280" indent="0" defTabSz="905510">
              <a:lnSpc>
                <a:spcPct val="90000"/>
              </a:lnSpc>
              <a:spcBef>
                <a:spcPts val="500"/>
              </a:spcBef>
              <a:buNone/>
              <a:defRPr sz="3170"/>
            </a:pPr>
            <a:r>
              <a:rPr lang="en-US" altLang="zh-CN" sz="2800" dirty="0"/>
              <a:t>conn =psycopg2.connect(host="127.0.0.1", port=5432, user="</a:t>
            </a:r>
            <a:r>
              <a:rPr lang="en-US" altLang="zh-CN" sz="2800" dirty="0" err="1"/>
              <a:t>postgres</a:t>
            </a:r>
            <a:r>
              <a:rPr lang="en-US" altLang="zh-CN" sz="2800" dirty="0"/>
              <a:t>", password="123456",database="exam") print('connect successful!')</a:t>
            </a:r>
          </a:p>
          <a:p>
            <a:pPr marL="81280" indent="0" defTabSz="905510">
              <a:lnSpc>
                <a:spcPct val="90000"/>
              </a:lnSpc>
              <a:spcBef>
                <a:spcPts val="500"/>
              </a:spcBef>
              <a:buNone/>
              <a:defRPr sz="3170"/>
            </a:pPr>
            <a:r>
              <a:rPr lang="en-US" altLang="zh-CN" sz="2800" dirty="0"/>
              <a:t>cursor=</a:t>
            </a:r>
            <a:r>
              <a:rPr lang="en-US" altLang="zh-CN" sz="2800" dirty="0" err="1"/>
              <a:t>conn.cursor</a:t>
            </a:r>
            <a:r>
              <a:rPr lang="en-US" altLang="zh-CN" sz="2800" dirty="0"/>
              <a:t>()</a:t>
            </a:r>
          </a:p>
          <a:p>
            <a:pPr marL="81280" indent="0" defTabSz="905510">
              <a:lnSpc>
                <a:spcPct val="90000"/>
              </a:lnSpc>
              <a:spcBef>
                <a:spcPts val="500"/>
              </a:spcBef>
              <a:buNone/>
              <a:defRPr sz="3170"/>
            </a:pPr>
            <a:r>
              <a:rPr lang="en-US" altLang="zh-CN" sz="2800" dirty="0"/>
              <a:t>x=input('please input </a:t>
            </a:r>
            <a:r>
              <a:rPr lang="en-US" altLang="zh-CN" sz="2800" dirty="0" err="1"/>
              <a:t>eeid</a:t>
            </a:r>
            <a:r>
              <a:rPr lang="en-US" altLang="zh-CN" sz="2800" dirty="0"/>
              <a:t>:')</a:t>
            </a:r>
          </a:p>
          <a:p>
            <a:pPr marL="81280" indent="0" defTabSz="905510">
              <a:lnSpc>
                <a:spcPct val="90000"/>
              </a:lnSpc>
              <a:spcBef>
                <a:spcPts val="500"/>
              </a:spcBef>
              <a:buNone/>
              <a:defRPr sz="3170"/>
            </a:pPr>
            <a:r>
              <a:rPr lang="en-US" altLang="zh-CN" sz="2800" dirty="0"/>
              <a:t>x=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(x)</a:t>
            </a:r>
          </a:p>
          <a:p>
            <a:pPr marL="81280" indent="0" defTabSz="905510">
              <a:lnSpc>
                <a:spcPct val="90000"/>
              </a:lnSpc>
              <a:spcBef>
                <a:spcPts val="500"/>
              </a:spcBef>
              <a:buNone/>
              <a:defRPr sz="3170"/>
            </a:pPr>
            <a:r>
              <a:rPr lang="en-US" altLang="zh-CN" sz="2800" dirty="0"/>
              <a:t>#x=101</a:t>
            </a:r>
          </a:p>
          <a:p>
            <a:pPr marL="81280" indent="0" defTabSz="905510">
              <a:lnSpc>
                <a:spcPct val="90000"/>
              </a:lnSpc>
              <a:spcBef>
                <a:spcPts val="500"/>
              </a:spcBef>
              <a:buNone/>
              <a:defRPr sz="3170"/>
            </a:pPr>
            <a:r>
              <a:rPr lang="en-US" altLang="zh-CN" sz="2800" dirty="0"/>
              <a:t>y=20</a:t>
            </a:r>
          </a:p>
          <a:p>
            <a:pPr marL="81280" indent="0" defTabSz="905510">
              <a:lnSpc>
                <a:spcPct val="90000"/>
              </a:lnSpc>
              <a:spcBef>
                <a:spcPts val="500"/>
              </a:spcBef>
              <a:buNone/>
              <a:defRPr sz="3170"/>
            </a:pPr>
            <a:r>
              <a:rPr lang="en-US" altLang="zh-CN" sz="2800" dirty="0"/>
              <a:t>z=1001</a:t>
            </a:r>
          </a:p>
          <a:p>
            <a:pPr marL="81280" indent="0" defTabSz="905510">
              <a:lnSpc>
                <a:spcPct val="90000"/>
              </a:lnSpc>
              <a:spcBef>
                <a:spcPts val="500"/>
              </a:spcBef>
              <a:buNone/>
              <a:defRPr sz="3170"/>
            </a:pPr>
            <a:r>
              <a:rPr lang="en-US" altLang="zh-CN" sz="2800" dirty="0" err="1">
                <a:solidFill>
                  <a:srgbClr val="FF0000"/>
                </a:solidFill>
              </a:rPr>
              <a:t>sql</a:t>
            </a:r>
            <a:r>
              <a:rPr lang="en-US" altLang="zh-CN" sz="2800" dirty="0">
                <a:solidFill>
                  <a:srgbClr val="FF0000"/>
                </a:solidFill>
              </a:rPr>
              <a:t>="insert into </a:t>
            </a:r>
            <a:r>
              <a:rPr lang="en-US" altLang="zh-CN" sz="2800" dirty="0" err="1">
                <a:solidFill>
                  <a:srgbClr val="FF0000"/>
                </a:solidFill>
              </a:rPr>
              <a:t>eee</a:t>
            </a:r>
            <a:r>
              <a:rPr lang="en-US" altLang="zh-CN" sz="2800" dirty="0">
                <a:solidFill>
                  <a:srgbClr val="FF0000"/>
                </a:solidFill>
              </a:rPr>
              <a:t> values('%</a:t>
            </a:r>
            <a:r>
              <a:rPr lang="en-US" altLang="zh-CN" sz="2800" dirty="0" err="1">
                <a:solidFill>
                  <a:srgbClr val="FF0000"/>
                </a:solidFill>
              </a:rPr>
              <a:t>d','%d','%d</a:t>
            </a:r>
            <a:r>
              <a:rPr lang="en-US" altLang="zh-CN" sz="2800" dirty="0">
                <a:solidFill>
                  <a:srgbClr val="FF0000"/>
                </a:solidFill>
              </a:rPr>
              <a:t>')"%(</a:t>
            </a:r>
            <a:r>
              <a:rPr lang="en-US" altLang="zh-CN" sz="2800" dirty="0" err="1">
                <a:solidFill>
                  <a:srgbClr val="FF0000"/>
                </a:solidFill>
              </a:rPr>
              <a:t>x,y,z</a:t>
            </a:r>
            <a:r>
              <a:rPr lang="en-US" altLang="zh-CN" sz="2800" dirty="0">
                <a:solidFill>
                  <a:srgbClr val="FF0000"/>
                </a:solidFill>
              </a:rPr>
              <a:t>)</a:t>
            </a:r>
          </a:p>
          <a:p>
            <a:pPr marL="81280" indent="0" defTabSz="905510">
              <a:lnSpc>
                <a:spcPct val="90000"/>
              </a:lnSpc>
              <a:spcBef>
                <a:spcPts val="500"/>
              </a:spcBef>
              <a:buNone/>
              <a:defRPr sz="3170"/>
            </a:pPr>
            <a:r>
              <a:rPr lang="en-US" altLang="zh-CN" sz="2800" dirty="0" err="1"/>
              <a:t>cursor.execute</a:t>
            </a:r>
            <a:r>
              <a:rPr lang="en-US" altLang="zh-CN" sz="2800" dirty="0"/>
              <a:t>(</a:t>
            </a:r>
            <a:r>
              <a:rPr lang="en-US" altLang="zh-CN" sz="2800" dirty="0" err="1"/>
              <a:t>sql</a:t>
            </a:r>
            <a:r>
              <a:rPr lang="en-US" altLang="zh-CN" sz="2800" dirty="0"/>
              <a:t>)</a:t>
            </a:r>
          </a:p>
          <a:p>
            <a:pPr marL="81280" indent="0" defTabSz="905510">
              <a:lnSpc>
                <a:spcPct val="90000"/>
              </a:lnSpc>
              <a:spcBef>
                <a:spcPts val="500"/>
              </a:spcBef>
              <a:buNone/>
              <a:defRPr sz="3170"/>
            </a:pPr>
            <a:r>
              <a:rPr lang="en-US" altLang="zh-CN" sz="2800" dirty="0" err="1"/>
              <a:t>conn.commit</a:t>
            </a:r>
            <a:r>
              <a:rPr lang="en-US" altLang="zh-CN" sz="2800" dirty="0"/>
              <a:t>()</a:t>
            </a:r>
          </a:p>
          <a:p>
            <a:pPr marL="81280" indent="0" defTabSz="905510">
              <a:lnSpc>
                <a:spcPct val="90000"/>
              </a:lnSpc>
              <a:spcBef>
                <a:spcPts val="500"/>
              </a:spcBef>
              <a:buNone/>
              <a:defRPr sz="3170"/>
            </a:pPr>
            <a:r>
              <a:rPr lang="en-US" altLang="zh-CN" sz="2800" dirty="0"/>
              <a:t>print ('successful!')</a:t>
            </a:r>
          </a:p>
          <a:p>
            <a:pPr marL="81280" indent="0" defTabSz="905510">
              <a:lnSpc>
                <a:spcPct val="90000"/>
              </a:lnSpc>
              <a:spcBef>
                <a:spcPts val="500"/>
              </a:spcBef>
              <a:buNone/>
              <a:defRPr sz="3170"/>
            </a:pPr>
            <a:r>
              <a:rPr lang="en-US" altLang="zh-CN" sz="2800" dirty="0" err="1"/>
              <a:t>conn.close</a:t>
            </a:r>
            <a:r>
              <a:rPr lang="en-US" altLang="zh-CN" sz="2800" dirty="0"/>
              <a:t>()  # </a:t>
            </a:r>
            <a:r>
              <a:rPr lang="zh-CN" altLang="en-US" sz="2800" dirty="0"/>
              <a:t>使用</a:t>
            </a:r>
            <a:r>
              <a:rPr lang="en-US" altLang="zh-CN" sz="2800" dirty="0"/>
              <a:t>close()</a:t>
            </a:r>
            <a:r>
              <a:rPr lang="zh-CN" altLang="en-US" sz="2800" dirty="0"/>
              <a:t>关闭数据库连接和游标对象</a:t>
            </a:r>
            <a:endParaRPr lang="en-US" altLang="zh-CN" sz="2400" dirty="0"/>
          </a:p>
        </p:txBody>
      </p:sp>
      <p:grpSp>
        <p:nvGrpSpPr>
          <p:cNvPr id="14" name="矩形 5"/>
          <p:cNvGrpSpPr/>
          <p:nvPr/>
        </p:nvGrpSpPr>
        <p:grpSpPr>
          <a:xfrm>
            <a:off x="2555776" y="3595387"/>
            <a:ext cx="1512169" cy="648073"/>
            <a:chOff x="0" y="0"/>
            <a:chExt cx="1512168" cy="648072"/>
          </a:xfrm>
        </p:grpSpPr>
        <p:sp>
          <p:nvSpPr>
            <p:cNvPr id="15" name="矩形"/>
            <p:cNvSpPr/>
            <p:nvPr/>
          </p:nvSpPr>
          <p:spPr>
            <a:xfrm>
              <a:off x="-1" y="-1"/>
              <a:ext cx="1512170" cy="648074"/>
            </a:xfrm>
            <a:prstGeom prst="rect">
              <a:avLst/>
            </a:prstGeom>
            <a:solidFill>
              <a:schemeClr val="accent1"/>
            </a:solidFill>
            <a:ln w="25400" cap="flat">
              <a:solidFill>
                <a:srgbClr val="296A7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" name="设置参数"/>
            <p:cNvSpPr txBox="1"/>
            <p:nvPr/>
          </p:nvSpPr>
          <p:spPr>
            <a:xfrm>
              <a:off x="-1" y="119565"/>
              <a:ext cx="1512170" cy="408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设置参数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03648" y="-13990"/>
            <a:ext cx="7498080" cy="634678"/>
          </a:xfrm>
        </p:spPr>
        <p:txBody>
          <a:bodyPr>
            <a:normAutofit/>
          </a:bodyPr>
          <a:lstStyle/>
          <a:p>
            <a:r>
              <a:rPr lang="en-US" altLang="zh-CN" sz="3300" dirty="0"/>
              <a:t>python</a:t>
            </a:r>
            <a:r>
              <a:rPr lang="zh-CN" altLang="en-US" sz="3300" dirty="0"/>
              <a:t>访问数据库</a:t>
            </a:r>
            <a:r>
              <a:rPr lang="en-US" altLang="zh-CN" sz="3300" dirty="0"/>
              <a:t>—</a:t>
            </a:r>
            <a:r>
              <a:rPr lang="zh-CN" altLang="en-US" sz="3300" dirty="0"/>
              <a:t>查询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52128" y="548680"/>
            <a:ext cx="7956376" cy="6408712"/>
          </a:xfrm>
        </p:spPr>
        <p:txBody>
          <a:bodyPr>
            <a:normAutofit/>
          </a:bodyPr>
          <a:lstStyle/>
          <a:p>
            <a:pPr marL="81280" indent="0" defTabSz="905510">
              <a:lnSpc>
                <a:spcPct val="90000"/>
              </a:lnSpc>
              <a:spcBef>
                <a:spcPts val="500"/>
              </a:spcBef>
              <a:buNone/>
              <a:defRPr sz="3170"/>
            </a:pPr>
            <a:r>
              <a:rPr lang="en-US" altLang="zh-CN" sz="2800" dirty="0"/>
              <a:t>import psycopg2  # </a:t>
            </a:r>
            <a:r>
              <a:rPr lang="zh-CN" altLang="en-US" sz="2800" dirty="0"/>
              <a:t>导入模块</a:t>
            </a:r>
          </a:p>
          <a:p>
            <a:pPr marL="81280" indent="0" defTabSz="905510">
              <a:lnSpc>
                <a:spcPct val="90000"/>
              </a:lnSpc>
              <a:spcBef>
                <a:spcPts val="500"/>
              </a:spcBef>
              <a:buNone/>
              <a:defRPr sz="3170"/>
            </a:pPr>
            <a:endParaRPr lang="zh-CN" altLang="en-US" sz="2800" dirty="0"/>
          </a:p>
          <a:p>
            <a:pPr marL="81280" indent="0" defTabSz="905510">
              <a:lnSpc>
                <a:spcPct val="90000"/>
              </a:lnSpc>
              <a:spcBef>
                <a:spcPts val="500"/>
              </a:spcBef>
              <a:buNone/>
              <a:defRPr sz="3170"/>
            </a:pPr>
            <a:r>
              <a:rPr lang="en-US" altLang="zh-CN" sz="2800" dirty="0"/>
              <a:t>conn =psycopg2.connect(host="127.0.0.1", port=5432, user="</a:t>
            </a:r>
            <a:r>
              <a:rPr lang="en-US" altLang="zh-CN" sz="2800" dirty="0" err="1"/>
              <a:t>postgres</a:t>
            </a:r>
            <a:r>
              <a:rPr lang="en-US" altLang="zh-CN" sz="2800" dirty="0"/>
              <a:t>", password="123456",database="exam") cursor=</a:t>
            </a:r>
            <a:r>
              <a:rPr lang="en-US" altLang="zh-CN" sz="2800" dirty="0" err="1"/>
              <a:t>conn.cursor</a:t>
            </a:r>
            <a:r>
              <a:rPr lang="en-US" altLang="zh-CN" sz="2800" dirty="0"/>
              <a:t>()</a:t>
            </a:r>
          </a:p>
          <a:p>
            <a:pPr marL="81280" indent="0" defTabSz="905510">
              <a:lnSpc>
                <a:spcPct val="90000"/>
              </a:lnSpc>
              <a:spcBef>
                <a:spcPts val="500"/>
              </a:spcBef>
              <a:buNone/>
              <a:defRPr sz="3170"/>
            </a:pPr>
            <a:r>
              <a:rPr lang="en-US" altLang="zh-CN" sz="2800" dirty="0" err="1">
                <a:solidFill>
                  <a:srgbClr val="FF0000"/>
                </a:solidFill>
              </a:rPr>
              <a:t>sql</a:t>
            </a:r>
            <a:r>
              <a:rPr lang="en-US" altLang="zh-CN" sz="2800" dirty="0">
                <a:solidFill>
                  <a:srgbClr val="FF0000"/>
                </a:solidFill>
              </a:rPr>
              <a:t> = "select * from </a:t>
            </a:r>
            <a:r>
              <a:rPr lang="en-US" altLang="zh-CN" sz="2800" dirty="0" err="1">
                <a:solidFill>
                  <a:srgbClr val="FF0000"/>
                </a:solidFill>
              </a:rPr>
              <a:t>eee</a:t>
            </a:r>
            <a:r>
              <a:rPr lang="en-US" altLang="zh-CN" sz="2800" dirty="0">
                <a:solidFill>
                  <a:srgbClr val="FF0000"/>
                </a:solidFill>
              </a:rPr>
              <a:t> where </a:t>
            </a:r>
            <a:r>
              <a:rPr lang="en-US" altLang="zh-CN" sz="2800" dirty="0" err="1">
                <a:solidFill>
                  <a:srgbClr val="FF0000"/>
                </a:solidFill>
              </a:rPr>
              <a:t>dep_id</a:t>
            </a:r>
            <a:r>
              <a:rPr lang="en-US" altLang="zh-CN" sz="2800" dirty="0">
                <a:solidFill>
                  <a:srgbClr val="FF0000"/>
                </a:solidFill>
              </a:rPr>
              <a:t>=1002;"</a:t>
            </a:r>
          </a:p>
          <a:p>
            <a:pPr marL="81280" indent="0" defTabSz="905510">
              <a:lnSpc>
                <a:spcPct val="90000"/>
              </a:lnSpc>
              <a:spcBef>
                <a:spcPts val="500"/>
              </a:spcBef>
              <a:buNone/>
              <a:defRPr sz="3170"/>
            </a:pPr>
            <a:r>
              <a:rPr lang="en-US" altLang="zh-CN" sz="2800" dirty="0" err="1"/>
              <a:t>cursor.execute</a:t>
            </a:r>
            <a:r>
              <a:rPr lang="en-US" altLang="zh-CN" sz="2800" dirty="0"/>
              <a:t>(</a:t>
            </a:r>
            <a:r>
              <a:rPr lang="en-US" altLang="zh-CN" sz="2800" dirty="0" err="1"/>
              <a:t>sql</a:t>
            </a:r>
            <a:r>
              <a:rPr lang="en-US" altLang="zh-CN" sz="2800" dirty="0"/>
              <a:t>)</a:t>
            </a:r>
          </a:p>
          <a:p>
            <a:pPr marL="81280" indent="0" defTabSz="905510">
              <a:lnSpc>
                <a:spcPct val="90000"/>
              </a:lnSpc>
              <a:spcBef>
                <a:spcPts val="500"/>
              </a:spcBef>
              <a:buNone/>
              <a:defRPr sz="3170"/>
            </a:pPr>
            <a:r>
              <a:rPr lang="en-US" altLang="zh-CN" sz="2800" dirty="0"/>
              <a:t>print(</a:t>
            </a:r>
            <a:r>
              <a:rPr lang="en-US" altLang="zh-CN" sz="2800" dirty="0" err="1"/>
              <a:t>cursor.rowcount</a:t>
            </a:r>
            <a:r>
              <a:rPr lang="en-US" altLang="zh-CN" sz="2800" dirty="0"/>
              <a:t>)</a:t>
            </a:r>
          </a:p>
          <a:p>
            <a:pPr marL="81280" indent="0" defTabSz="905510">
              <a:lnSpc>
                <a:spcPct val="90000"/>
              </a:lnSpc>
              <a:spcBef>
                <a:spcPts val="500"/>
              </a:spcBef>
              <a:buNone/>
              <a:defRPr sz="3170"/>
            </a:pPr>
            <a:r>
              <a:rPr lang="en-US" altLang="zh-CN" sz="2800" dirty="0">
                <a:solidFill>
                  <a:srgbClr val="FF0000"/>
                </a:solidFill>
              </a:rPr>
              <a:t>result=</a:t>
            </a:r>
            <a:r>
              <a:rPr lang="en-US" altLang="zh-CN" sz="2800" dirty="0" err="1">
                <a:solidFill>
                  <a:srgbClr val="FF0000"/>
                </a:solidFill>
              </a:rPr>
              <a:t>cursor.fetchall</a:t>
            </a:r>
            <a:r>
              <a:rPr lang="en-US" altLang="zh-CN" sz="2800" dirty="0">
                <a:solidFill>
                  <a:srgbClr val="FF0000"/>
                </a:solidFill>
              </a:rPr>
              <a:t>()</a:t>
            </a:r>
          </a:p>
          <a:p>
            <a:pPr marL="81280" indent="0" defTabSz="905510">
              <a:lnSpc>
                <a:spcPct val="90000"/>
              </a:lnSpc>
              <a:spcBef>
                <a:spcPts val="500"/>
              </a:spcBef>
              <a:buNone/>
              <a:defRPr sz="3170"/>
            </a:pPr>
            <a:r>
              <a:rPr lang="en-US" altLang="zh-CN" sz="2800" dirty="0"/>
              <a:t>print(result)</a:t>
            </a:r>
          </a:p>
          <a:p>
            <a:pPr marL="81280" indent="0" defTabSz="905510">
              <a:lnSpc>
                <a:spcPct val="90000"/>
              </a:lnSpc>
              <a:spcBef>
                <a:spcPts val="500"/>
              </a:spcBef>
              <a:buNone/>
              <a:defRPr sz="3170"/>
            </a:pPr>
            <a:r>
              <a:rPr lang="en-US" altLang="zh-CN" sz="2800" dirty="0"/>
              <a:t>print ('successful!')</a:t>
            </a:r>
          </a:p>
          <a:p>
            <a:pPr marL="81280" indent="0" defTabSz="905510">
              <a:lnSpc>
                <a:spcPct val="90000"/>
              </a:lnSpc>
              <a:spcBef>
                <a:spcPts val="500"/>
              </a:spcBef>
              <a:buNone/>
              <a:defRPr sz="3170"/>
            </a:pPr>
            <a:r>
              <a:rPr lang="en-US" altLang="zh-CN" sz="2800" dirty="0" err="1"/>
              <a:t>conn.close</a:t>
            </a:r>
            <a:r>
              <a:rPr lang="en-US" altLang="zh-CN" sz="2800" dirty="0"/>
              <a:t>()  # </a:t>
            </a:r>
            <a:r>
              <a:rPr lang="zh-CN" altLang="en-US" sz="2800" dirty="0"/>
              <a:t>使用</a:t>
            </a:r>
            <a:r>
              <a:rPr lang="en-US" altLang="zh-CN" sz="2800" dirty="0"/>
              <a:t>close()</a:t>
            </a:r>
            <a:r>
              <a:rPr lang="zh-CN" altLang="en-US" sz="2800" dirty="0"/>
              <a:t>关闭数据库连接和游标对象</a:t>
            </a:r>
            <a:endParaRPr lang="en-US" altLang="zh-CN" sz="24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夏至">
  <a:themeElements>
    <a:clrScheme name="夏至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夏至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夏至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62</TotalTime>
  <Words>1036</Words>
  <Application>Microsoft Macintosh PowerPoint</Application>
  <PresentationFormat>全屏显示(4:3)</PresentationFormat>
  <Paragraphs>126</Paragraphs>
  <Slides>18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等线</vt:lpstr>
      <vt:lpstr>Bahnschrift Light</vt:lpstr>
      <vt:lpstr>Gill Sans MT</vt:lpstr>
      <vt:lpstr>Verdana</vt:lpstr>
      <vt:lpstr>Wingdings</vt:lpstr>
      <vt:lpstr>Wingdings 2</vt:lpstr>
      <vt:lpstr>夏至</vt:lpstr>
      <vt:lpstr>实验 python连接GaussDB数据库 </vt:lpstr>
      <vt:lpstr>主要内容</vt:lpstr>
      <vt:lpstr>主要内容</vt:lpstr>
      <vt:lpstr>python环境配置</vt:lpstr>
      <vt:lpstr>1. 下载Python解释器</vt:lpstr>
      <vt:lpstr>2. 安装python解释器</vt:lpstr>
      <vt:lpstr>2. 安装python解释器</vt:lpstr>
      <vt:lpstr>2. 安装python解释器</vt:lpstr>
      <vt:lpstr>3. 安装PyCharm</vt:lpstr>
      <vt:lpstr>3. 安装PyCharm</vt:lpstr>
      <vt:lpstr>4. psycopg2的安装</vt:lpstr>
      <vt:lpstr>4. psycopg2的安装</vt:lpstr>
      <vt:lpstr>python访问数据库—编写程序</vt:lpstr>
      <vt:lpstr>python访问数据库—连接数据库</vt:lpstr>
      <vt:lpstr>python访问数据库—创建表</vt:lpstr>
      <vt:lpstr>python访问数据库—插入数据</vt:lpstr>
      <vt:lpstr>python访问数据库—动态参数</vt:lpstr>
      <vt:lpstr>python访问数据库—查询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实验四 数据表的基本操作</dc:title>
  <dc:creator>yaoyingting</dc:creator>
  <cp:lastModifiedBy>Microsoft Office User</cp:lastModifiedBy>
  <cp:revision>314</cp:revision>
  <dcterms:created xsi:type="dcterms:W3CDTF">2015-03-23T01:41:00Z</dcterms:created>
  <dcterms:modified xsi:type="dcterms:W3CDTF">2025-03-31T11:04:32Z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EBA0B7600E7D4C8089A73D16F53CF47A_12</vt:lpwstr>
  </property>
  <property fmtid="{D5CDD505-2E9C-101B-9397-08002B2CF9AE}" pid="3" name="KSOProductBuildVer">
    <vt:lpwstr>2052-12.1.0.20305</vt:lpwstr>
  </property>
</Properties>
</file>