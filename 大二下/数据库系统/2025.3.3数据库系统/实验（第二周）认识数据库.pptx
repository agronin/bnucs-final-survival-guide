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9"/>
  </p:notesMasterIdLst>
  <p:sldIdLst>
    <p:sldId id="358" r:id="rId3"/>
    <p:sldId id="328" r:id="rId4"/>
    <p:sldId id="333" r:id="rId5"/>
    <p:sldId id="312" r:id="rId6"/>
    <p:sldId id="330" r:id="rId7"/>
    <p:sldId id="331" r:id="rId8"/>
    <p:sldId id="332" r:id="rId9"/>
    <p:sldId id="356" r:id="rId10"/>
    <p:sldId id="257" r:id="rId11"/>
    <p:sldId id="334" r:id="rId12"/>
    <p:sldId id="316" r:id="rId13"/>
    <p:sldId id="338" r:id="rId14"/>
    <p:sldId id="335" r:id="rId15"/>
    <p:sldId id="336" r:id="rId16"/>
    <p:sldId id="337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270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26" r:id="rId36"/>
    <p:sldId id="357" r:id="rId37"/>
    <p:sldId id="274" r:id="rId3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33"/>
    <p:restoredTop sz="94014"/>
  </p:normalViewPr>
  <p:slideViewPr>
    <p:cSldViewPr showGuides="1">
      <p:cViewPr varScale="1">
        <p:scale>
          <a:sx n="120" d="100"/>
          <a:sy n="120" d="100"/>
        </p:scale>
        <p:origin x="328" y="184"/>
      </p:cViewPr>
      <p:guideLst>
        <p:guide orient="horz" pos="2133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EC58E8-7533-4F6B-B9FE-C2578E580D2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2025/3/3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2E2517-09A2-4FBF-ADD0-9B516141223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r>
              <a:rPr lang="en-US" altLang="zh-CN" dirty="0"/>
              <a:t>QBE(</a:t>
            </a:r>
            <a:r>
              <a:rPr lang="zh-CN" altLang="en-US" dirty="0"/>
              <a:t>即实例查询语言。它是一种基于图形的点击式查询数据库的方法。</a:t>
            </a:r>
            <a:r>
              <a:rPr lang="en-US" altLang="zh-CN" dirty="0"/>
              <a:t>)</a:t>
            </a:r>
            <a:r>
              <a:rPr lang="zh-CN" altLang="en-US" dirty="0"/>
              <a:t>与</a:t>
            </a:r>
            <a:r>
              <a:rPr lang="en-US" altLang="zh-CN" dirty="0"/>
              <a:t>SQL</a:t>
            </a:r>
            <a:r>
              <a:rPr lang="zh-CN" altLang="en-US" dirty="0"/>
              <a:t>的最大区别就是，</a:t>
            </a:r>
            <a:r>
              <a:rPr lang="en-US" altLang="zh-CN" dirty="0"/>
              <a:t>QBE</a:t>
            </a:r>
            <a:r>
              <a:rPr lang="zh-CN" altLang="en-US" dirty="0"/>
              <a:t>具有图形用户界面，允许用户通过在屏幕上创建示例表来编写查询。</a:t>
            </a:r>
            <a:r>
              <a:rPr lang="en-US" altLang="zh-CN" dirty="0"/>
              <a:t>QBE</a:t>
            </a:r>
            <a:r>
              <a:rPr lang="zh-CN" altLang="en-US" dirty="0"/>
              <a:t>适合于不太复杂、可用几个表描述的查询。</a:t>
            </a: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如果公共关键字在一个关系中是主关键字，那么这个公共关键字被称为另一个关系的外键。</a:t>
            </a:r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24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0" name="副标题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830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2" name="日期占位符 18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41BDE2-7324-403F-BC5C-E326E87B9792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83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C4F84C-9D58-4AF5-9F43-FC28BC3BD042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8BE311-F0BE-48DF-BB85-BCD25F0DDE51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415" marR="18415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单圆角矩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 vert="horz" wrap="square" lIns="182880" tIns="9144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79CE21-437C-4BBC-9DA2-AB06B42CC28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0" name="副标题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830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2" name="日期占位符 18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41BDE2-7324-403F-BC5C-E326E87B9792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83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C4F84C-9D58-4AF5-9F43-FC28BC3BD042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8BE311-F0BE-48DF-BB85-BCD25F0DDE51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415" marR="18415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单圆角矩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 vert="horz" wrap="square" lIns="182880" tIns="9144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79CE21-437C-4BBC-9DA2-AB06B42CC28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31" name="文本占位符 3"/>
          <p:cNvSpPr>
            <a:spLocks noGrp="1"/>
          </p:cNvSpPr>
          <p:nvPr>
            <p:ph type="body" idx="1"/>
          </p:nvPr>
        </p:nvSpPr>
        <p:spPr>
          <a:xfrm>
            <a:off x="503238" y="530225"/>
            <a:ext cx="8183562" cy="4187825"/>
          </a:xfrm>
          <a:prstGeom prst="rect">
            <a:avLst/>
          </a:prstGeom>
          <a:noFill/>
          <a:ln w="9525">
            <a:noFill/>
          </a:ln>
        </p:spPr>
        <p:txBody>
          <a:bodyPr lIns="182880" tIns="9144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>
                <a:solidFill>
                  <a:srgbClr val="A7A39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9pPr>
    </p:titleStyle>
    <p:bodyStyle>
      <a:lvl1pPr marL="265430" indent="-265430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anose="020B0604030504040204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130" indent="-182880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anose="05020102010507070707" pitchFamily="18" charset="2"/>
        <a:buChar char="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255" indent="-182880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anose="020B0604030504040204" pitchFamily="34" charset="0"/>
        <a:buChar char="◦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880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490345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53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31" name="文本占位符 3"/>
          <p:cNvSpPr>
            <a:spLocks noGrp="1"/>
          </p:cNvSpPr>
          <p:nvPr>
            <p:ph type="body" idx="1"/>
          </p:nvPr>
        </p:nvSpPr>
        <p:spPr>
          <a:xfrm>
            <a:off x="503238" y="530225"/>
            <a:ext cx="8183562" cy="4187825"/>
          </a:xfrm>
          <a:prstGeom prst="rect">
            <a:avLst/>
          </a:prstGeom>
          <a:noFill/>
          <a:ln w="9525">
            <a:noFill/>
          </a:ln>
        </p:spPr>
        <p:txBody>
          <a:bodyPr lIns="182880" tIns="9144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>
                <a:solidFill>
                  <a:srgbClr val="A7A39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F50D-CF15-4258-B410-659FABC53716}" type="slidenum">
              <a:rPr kumimoji="0" lang="zh-CN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A7A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rgbClr val="A7A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anose="020B0604030504040204"/>
          <a:ea typeface="微软雅黑" panose="020B0503020204020204" pitchFamily="34" charset="-122"/>
        </a:defRPr>
      </a:lvl9pPr>
    </p:titleStyle>
    <p:bodyStyle>
      <a:lvl1pPr marL="265430" indent="-265430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anose="020B0604030504040204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130" indent="-182880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anose="05020102010507070707" pitchFamily="18" charset="2"/>
        <a:buChar char="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255" indent="-182880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anose="020B0604030504040204" pitchFamily="34" charset="0"/>
        <a:buChar char="◦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880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490345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53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3260" y="3861118"/>
            <a:ext cx="7772400" cy="1828800"/>
          </a:xfrm>
        </p:spPr>
        <p:txBody>
          <a:bodyPr vert="horz" lIns="45720" rIns="45720" bIns="45720" anchor="b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实验（第二周） </a:t>
            </a: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认识数据库</a:t>
            </a:r>
            <a:b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提前到的同学请熟悉台式机中</a:t>
            </a: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Access</a:t>
            </a: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软件或在笔记本中下载</a:t>
            </a: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503238" y="1125538"/>
            <a:ext cx="8183563" cy="3592513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由一个或多个表组成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本次任务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通过最简单易学的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ACCESS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对数据库有一个直观理解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怎样写数据库系统原理实验报告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怎样互评数据库系统原理实验报告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内容占位符 2"/>
          <p:cNvSpPr>
            <a:spLocks noGrp="1"/>
          </p:cNvSpPr>
          <p:nvPr>
            <p:ph idx="1"/>
          </p:nvPr>
        </p:nvSpPr>
        <p:spPr>
          <a:xfrm>
            <a:off x="557213" y="1989138"/>
            <a:ext cx="8183562" cy="2663825"/>
          </a:xfrm>
        </p:spPr>
        <p:txBody>
          <a:bodyPr vert="horz" wrap="square" lIns="182880" tIns="91440" rIns="91440" bIns="45720" anchor="t" anchorCtr="0"/>
          <a:lstStyle/>
          <a:p>
            <a:pPr marL="0" indent="0" algn="ctr">
              <a:buNone/>
            </a:pPr>
            <a:r>
              <a:rPr lang="zh-CN" altLang="en-US" sz="4000" dirty="0"/>
              <a:t>实验（第二周） 认识数据库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3588" y="-242887"/>
            <a:ext cx="7772400" cy="1828800"/>
          </a:xfrm>
          <a:prstGeom prst="rect">
            <a:avLst/>
          </a:prstGeom>
        </p:spPr>
        <p:txBody>
          <a:bodyPr lIns="45720" rIns="45720" anchor="b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5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题目</a:t>
            </a:r>
            <a:endParaRPr kumimoji="0" lang="zh-CN" altLang="zh-CN" sz="4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558800" y="1225550"/>
            <a:ext cx="8183563" cy="2908300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了解数据库的概念。</a:t>
            </a:r>
          </a:p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了解数据库中表、行、列的概念。</a:t>
            </a:r>
          </a:p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了解查询的概念和基于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QBE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的查询方法。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（按照完整度比例得分；按不完整比例扣分）</a:t>
            </a: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对实验指导书中给出的实验目的，可以直接拷贝，也可以用自认为更好的表述方式来表达，但应包括实验指导书给出的全部要点。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3588" y="-603250"/>
            <a:ext cx="7772400" cy="1828800"/>
          </a:xfrm>
          <a:prstGeom prst="rect">
            <a:avLst/>
          </a:prstGeom>
        </p:spPr>
        <p:txBody>
          <a:bodyPr lIns="45720" rIns="45720" anchor="b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5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0" lang="zh-CN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实验目的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557213" y="1700213"/>
            <a:ext cx="8183563" cy="3384550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硬件：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（如：笔记本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台式机等）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操作系统：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（如：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Windows10/Mac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等）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数据库管理系统：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（如：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Access/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pgsql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等）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（按照完整度比例得分；按不完整比例扣分）</a:t>
            </a: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对实验指导书中给出的实验环境，可以拷贝，也可以进一步补充更详细的细节信息。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3588" y="42863"/>
            <a:ext cx="7772400" cy="1828800"/>
          </a:xfrm>
          <a:prstGeom prst="rect">
            <a:avLst/>
          </a:prstGeom>
        </p:spPr>
        <p:txBody>
          <a:bodyPr lIns="45720" rIns="45720" anchor="b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5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 </a:t>
            </a:r>
            <a:r>
              <a:rPr kumimoji="0" lang="zh-CN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实验环境</a:t>
            </a:r>
            <a:endParaRPr kumimoji="0" lang="en-US" altLang="zh-CN" sz="45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tint val="88000"/>
                  <a:satMod val="1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（写清硬件配置和软件版本）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557213" y="1370013"/>
            <a:ext cx="8183563" cy="2808288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熟悉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Access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工作环境。</a:t>
            </a:r>
          </a:p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创建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Access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数据库表。</a:t>
            </a:r>
          </a:p>
          <a:p>
            <a:pPr marL="265430" marR="0" lvl="0" indent="-26543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对所创建的表进行查询。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（按照完整度比例得分）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对实验指导书中给出的实验内容，可以拷贝，也可以用自认为更好的表述方式来表达，但应包括实验指导书给出的全部技术点。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3588" y="-458787"/>
            <a:ext cx="7772400" cy="1828800"/>
          </a:xfrm>
          <a:prstGeom prst="rect">
            <a:avLst/>
          </a:prstGeom>
        </p:spPr>
        <p:txBody>
          <a:bodyPr lIns="45720" rIns="45720" anchor="b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5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 </a:t>
            </a:r>
            <a:r>
              <a:rPr kumimoji="0" lang="zh-CN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实验内容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2"/>
          <p:cNvSpPr>
            <a:spLocks noGrp="1"/>
          </p:cNvSpPr>
          <p:nvPr>
            <p:ph idx="1"/>
          </p:nvPr>
        </p:nvSpPr>
        <p:spPr>
          <a:xfrm>
            <a:off x="557213" y="1628775"/>
            <a:ext cx="8183562" cy="4248150"/>
          </a:xfrm>
        </p:spPr>
        <p:txBody>
          <a:bodyPr vert="horz" wrap="square" lIns="182880" tIns="9144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zh-CN" dirty="0"/>
              <a:t>创建数据库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创建表，并设主键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为表插入数据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单表</a:t>
            </a:r>
            <a:r>
              <a:rPr lang="zh-CN" altLang="zh-CN" dirty="0"/>
              <a:t>查询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建立表和表之间的关系，并设外键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多表查询</a:t>
            </a:r>
          </a:p>
          <a:p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3588" y="-242887"/>
            <a:ext cx="7772400" cy="1828800"/>
          </a:xfrm>
          <a:prstGeom prst="rect">
            <a:avLst/>
          </a:prstGeom>
        </p:spPr>
        <p:txBody>
          <a:bodyPr lIns="45720" rIns="45720" anchor="b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5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4. </a:t>
            </a:r>
            <a:r>
              <a:rPr kumimoji="0" lang="zh-CN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实验作业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333375"/>
            <a:ext cx="8183563" cy="1052513"/>
          </a:xfrm>
        </p:spPr>
        <p:txBody>
          <a:bodyPr vert="horz" anchor="b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8D3E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4.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8D3E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实验作业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8D3E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8D3E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具体要求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395288" y="1628775"/>
            <a:ext cx="8183562" cy="4187825"/>
          </a:xfrm>
        </p:spPr>
        <p:txBody>
          <a:bodyPr vert="horz" wrap="square" lIns="182880" tIns="91440" rIns="91440" bIns="45720" anchor="t" anchorCtr="0"/>
          <a:lstStyle/>
          <a:p>
            <a:r>
              <a:rPr lang="zh-CN" altLang="en-US" dirty="0"/>
              <a:t>重要步骤使用截图和文字说明实验过程。</a:t>
            </a:r>
          </a:p>
          <a:p>
            <a:r>
              <a:rPr lang="zh-CN" altLang="en-US" dirty="0"/>
              <a:t>截图包括：</a:t>
            </a:r>
            <a:r>
              <a:rPr lang="zh-CN" altLang="en-US" dirty="0">
                <a:solidFill>
                  <a:srgbClr val="FF0000"/>
                </a:solidFill>
              </a:rPr>
              <a:t>操作界面截图及操作点突出显示、源程序截图和源程序运行截图</a:t>
            </a:r>
            <a:r>
              <a:rPr lang="en-US" altLang="zh-CN" dirty="0"/>
              <a:t>&lt;</a:t>
            </a:r>
            <a:r>
              <a:rPr lang="zh-CN" altLang="en-US" dirty="0"/>
              <a:t>包括初始和结果，如果有程序的话</a:t>
            </a:r>
            <a:r>
              <a:rPr lang="en-US" altLang="zh-CN" dirty="0"/>
              <a:t>&gt;</a:t>
            </a:r>
            <a:r>
              <a:rPr lang="zh-CN" altLang="en-US" dirty="0"/>
              <a:t>。注意截图尺寸，一般不要截全屏，可尽量聚焦</a:t>
            </a:r>
            <a:r>
              <a:rPr lang="zh-CN" altLang="en-US" dirty="0">
                <a:solidFill>
                  <a:srgbClr val="FF0000"/>
                </a:solidFill>
              </a:rPr>
              <a:t>操作点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说明包括：</a:t>
            </a:r>
            <a:r>
              <a:rPr lang="zh-CN" altLang="en-US" dirty="0">
                <a:solidFill>
                  <a:srgbClr val="FF0000"/>
                </a:solidFill>
              </a:rPr>
              <a:t>操作说明、源程序注释和源程序说明</a:t>
            </a:r>
            <a:r>
              <a:rPr lang="en-US" altLang="zh-CN" dirty="0"/>
              <a:t>&lt;</a:t>
            </a:r>
            <a:r>
              <a:rPr lang="zh-CN" altLang="en-US" dirty="0"/>
              <a:t>如果有程序的话</a:t>
            </a:r>
            <a:r>
              <a:rPr lang="en-US" altLang="zh-CN" dirty="0"/>
              <a:t>&gt;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截图或说明不完整的，按不完整比例扣分。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908050"/>
            <a:ext cx="8447088" cy="535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477838" y="5253038"/>
            <a:ext cx="8183563" cy="701675"/>
          </a:xfr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Access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工作界面</a:t>
            </a: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5548313" y="671513"/>
            <a:ext cx="647700" cy="1762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9" name="文本框 11"/>
          <p:cNvSpPr txBox="1"/>
          <p:nvPr/>
        </p:nvSpPr>
        <p:spPr>
          <a:xfrm>
            <a:off x="6196013" y="477838"/>
            <a:ext cx="15843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标题栏</a:t>
            </a:r>
          </a:p>
        </p:txBody>
      </p:sp>
      <p:sp>
        <p:nvSpPr>
          <p:cNvPr id="3" name="矩形 2"/>
          <p:cNvSpPr/>
          <p:nvPr/>
        </p:nvSpPr>
        <p:spPr>
          <a:xfrm>
            <a:off x="279400" y="917575"/>
            <a:ext cx="8578850" cy="2238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2575" y="1125538"/>
            <a:ext cx="8578850" cy="9350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82575" y="2339975"/>
            <a:ext cx="1193800" cy="3022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93" name="文本框 11"/>
          <p:cNvSpPr txBox="1"/>
          <p:nvPr/>
        </p:nvSpPr>
        <p:spPr>
          <a:xfrm>
            <a:off x="7966075" y="1546225"/>
            <a:ext cx="102393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功能区</a:t>
            </a:r>
          </a:p>
        </p:txBody>
      </p:sp>
      <p:sp>
        <p:nvSpPr>
          <p:cNvPr id="16394" name="文本框 11"/>
          <p:cNvSpPr txBox="1"/>
          <p:nvPr/>
        </p:nvSpPr>
        <p:spPr>
          <a:xfrm>
            <a:off x="365125" y="3992563"/>
            <a:ext cx="15843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导航窗口</a:t>
            </a:r>
          </a:p>
        </p:txBody>
      </p:sp>
      <p:sp>
        <p:nvSpPr>
          <p:cNvPr id="16395" name="文本框 11"/>
          <p:cNvSpPr txBox="1"/>
          <p:nvPr/>
        </p:nvSpPr>
        <p:spPr>
          <a:xfrm>
            <a:off x="5894388" y="3595688"/>
            <a:ext cx="24288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数据库对象工作区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531813" y="795338"/>
            <a:ext cx="8183562" cy="4937125"/>
          </a:xfrm>
        </p:spPr>
        <p:txBody>
          <a:bodyPr vert="horz" wrap="square" lIns="182880" tIns="9144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zh-CN" sz="3200" dirty="0">
                <a:solidFill>
                  <a:srgbClr val="FF0000"/>
                </a:solidFill>
              </a:rPr>
              <a:t>创建数据库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创建表，并设主键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为表插入数据</a:t>
            </a:r>
          </a:p>
          <a:p>
            <a:pPr>
              <a:lnSpc>
                <a:spcPct val="150000"/>
              </a:lnSpc>
            </a:pPr>
            <a:r>
              <a:rPr lang="zh-CN" altLang="en-US" sz="3200" dirty="0"/>
              <a:t>单表</a:t>
            </a:r>
            <a:r>
              <a:rPr lang="zh-CN" altLang="zh-CN" sz="3200" dirty="0"/>
              <a:t>查询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建立表和表之间的关系，并设外键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多表查询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484313"/>
            <a:ext cx="6191250" cy="4176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演示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新建空白数据库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</a:t>
            </a: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68538" y="2638425"/>
            <a:ext cx="1150938" cy="1150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2" cy="4187825"/>
          </a:xfrm>
        </p:spPr>
        <p:txBody>
          <a:bodyPr vert="horz" wrap="square" lIns="182880" tIns="91440" rIns="91440" bIns="45720" anchor="t" anchorCtr="0"/>
          <a:lstStyle/>
          <a:p>
            <a:r>
              <a:rPr lang="zh-CN" altLang="en-US" b="1" dirty="0">
                <a:solidFill>
                  <a:srgbClr val="002060"/>
                </a:solidFill>
              </a:rPr>
              <a:t>练习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/>
            <a:r>
              <a:rPr lang="zh-CN" altLang="zh-CN" dirty="0"/>
              <a:t>使用</a:t>
            </a:r>
            <a:r>
              <a:rPr lang="en-US" altLang="zh-CN" dirty="0"/>
              <a:t>Access</a:t>
            </a:r>
            <a:r>
              <a:rPr lang="zh-CN" altLang="zh-CN" dirty="0"/>
              <a:t>创建一个数据库，以</a:t>
            </a:r>
            <a:r>
              <a:rPr lang="en-US" altLang="zh-CN" dirty="0"/>
              <a:t>“Hospital”</a:t>
            </a:r>
            <a:r>
              <a:rPr lang="zh-CN" altLang="zh-CN" dirty="0"/>
              <a:t>命名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531813" y="795338"/>
            <a:ext cx="8183562" cy="4937125"/>
          </a:xfrm>
        </p:spPr>
        <p:txBody>
          <a:bodyPr vert="horz" wrap="square" lIns="182880" tIns="9144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zh-CN" sz="3200" dirty="0"/>
              <a:t>创建数据库</a:t>
            </a:r>
          </a:p>
          <a:p>
            <a:pPr>
              <a:lnSpc>
                <a:spcPct val="150000"/>
              </a:lnSpc>
            </a:pPr>
            <a:r>
              <a:rPr lang="zh-CN" altLang="zh-CN" sz="3200" dirty="0">
                <a:solidFill>
                  <a:srgbClr val="FF0000"/>
                </a:solidFill>
              </a:rPr>
              <a:t>创建表，并设主键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为表插入数据</a:t>
            </a:r>
          </a:p>
          <a:p>
            <a:pPr>
              <a:lnSpc>
                <a:spcPct val="150000"/>
              </a:lnSpc>
            </a:pPr>
            <a:r>
              <a:rPr lang="zh-CN" altLang="en-US" sz="3200" dirty="0"/>
              <a:t>单表</a:t>
            </a:r>
            <a:r>
              <a:rPr lang="zh-CN" altLang="zh-CN" sz="3200" dirty="0"/>
              <a:t>查询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建立表和表之间的关系，并设外键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多表查询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演示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创建院系表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，设置字段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dname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dloc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dtel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选择合适的数据类型，并设置主键。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253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8" y="1901825"/>
            <a:ext cx="7027862" cy="397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2" cy="4187825"/>
          </a:xfrm>
        </p:spPr>
        <p:txBody>
          <a:bodyPr vert="horz" wrap="square" lIns="182880" tIns="91440" rIns="91440" bIns="45720" anchor="t" anchorCtr="0"/>
          <a:lstStyle/>
          <a:p>
            <a:r>
              <a:rPr lang="zh-CN" altLang="en-US" b="1" dirty="0">
                <a:solidFill>
                  <a:srgbClr val="002060"/>
                </a:solidFill>
              </a:rPr>
              <a:t>练习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/>
            <a:r>
              <a:rPr lang="zh-CN" altLang="en-US" dirty="0"/>
              <a:t>创建科室表</a:t>
            </a:r>
            <a:r>
              <a:rPr lang="en-US" altLang="zh-CN" dirty="0"/>
              <a:t>department</a:t>
            </a:r>
            <a:r>
              <a:rPr lang="zh-CN" altLang="en-US" dirty="0"/>
              <a:t>，</a:t>
            </a:r>
            <a:r>
              <a:rPr lang="en-US" altLang="zh-CN" dirty="0"/>
              <a:t>department</a:t>
            </a:r>
            <a:r>
              <a:rPr lang="zh-CN" altLang="en-US" dirty="0"/>
              <a:t>表包括</a:t>
            </a:r>
            <a:r>
              <a:rPr lang="en-US" altLang="zh-CN" dirty="0"/>
              <a:t>depart_id</a:t>
            </a:r>
            <a:r>
              <a:rPr lang="zh-CN" altLang="en-US" dirty="0"/>
              <a:t>，</a:t>
            </a:r>
            <a:r>
              <a:rPr lang="en-US" altLang="zh-CN" dirty="0"/>
              <a:t>depart_name</a:t>
            </a:r>
            <a:r>
              <a:rPr lang="zh-CN" altLang="en-US" dirty="0"/>
              <a:t>，</a:t>
            </a:r>
            <a:r>
              <a:rPr lang="en-US" altLang="zh-CN" dirty="0"/>
              <a:t>depart_location, depart_tel</a:t>
            </a:r>
            <a:r>
              <a:rPr lang="zh-CN" altLang="en-US" dirty="0"/>
              <a:t>共</a:t>
            </a:r>
            <a:r>
              <a:rPr lang="en-US" altLang="zh-CN" dirty="0"/>
              <a:t>4</a:t>
            </a:r>
            <a:r>
              <a:rPr lang="zh-CN" altLang="en-US" dirty="0"/>
              <a:t>个属性，并设立</a:t>
            </a:r>
            <a:r>
              <a:rPr lang="en-US" altLang="zh-CN" dirty="0"/>
              <a:t>depart_id</a:t>
            </a:r>
            <a:r>
              <a:rPr lang="zh-CN" altLang="en-US" dirty="0"/>
              <a:t>为主键。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531813" y="795338"/>
            <a:ext cx="8183562" cy="4937125"/>
          </a:xfrm>
        </p:spPr>
        <p:txBody>
          <a:bodyPr vert="horz" wrap="square" lIns="182880" tIns="9144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zh-CN" sz="3200" dirty="0"/>
              <a:t>创建数据库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创建表，并设主键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>
                <a:solidFill>
                  <a:srgbClr val="FF0000"/>
                </a:solidFill>
              </a:rPr>
              <a:t>为表插入数据</a:t>
            </a:r>
          </a:p>
          <a:p>
            <a:pPr>
              <a:lnSpc>
                <a:spcPct val="150000"/>
              </a:lnSpc>
            </a:pPr>
            <a:r>
              <a:rPr lang="zh-CN" altLang="en-US" sz="3200" dirty="0"/>
              <a:t>单表</a:t>
            </a:r>
            <a:r>
              <a:rPr lang="zh-CN" altLang="zh-CN" sz="3200" dirty="0"/>
              <a:t>查询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建立表和表之间的关系，并设外键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多表查询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演示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向院系表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中插入数据</a:t>
            </a: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560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1557338"/>
            <a:ext cx="7510462" cy="4187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15938" y="549275"/>
            <a:ext cx="8183563" cy="10636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练习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为科室表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插入以下数据</a:t>
            </a: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7" name="文本框 3"/>
          <p:cNvSpPr txBox="1"/>
          <p:nvPr/>
        </p:nvSpPr>
        <p:spPr>
          <a:xfrm>
            <a:off x="755650" y="3789363"/>
            <a:ext cx="72009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zh-CN" alt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思考：插入第</a:t>
            </a:r>
            <a:r>
              <a:rPr lang="en-US" altLang="zh-CN" sz="2000" b="1" dirty="0">
                <a:solidFill>
                  <a:srgbClr val="00206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行数据时会出现什么情况？为什么会出现这种状况？出现这种状况应如何解决？</a:t>
            </a:r>
            <a:endParaRPr lang="en-US" altLang="zh-CN" sz="2000" b="1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00113" y="1700213"/>
          <a:ext cx="7416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/>
                        <a:t>depart_id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/>
                        <a:t>depart_name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/>
                        <a:t>depart_location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/>
                        <a:t>depart_tel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外科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一楼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58701111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内科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二楼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58701234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内科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二楼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58701255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耳鼻喉科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三楼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58701523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900113" y="3141663"/>
            <a:ext cx="7416800" cy="412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531813" y="795338"/>
            <a:ext cx="8183562" cy="4937125"/>
          </a:xfrm>
        </p:spPr>
        <p:txBody>
          <a:bodyPr vert="horz" wrap="square" lIns="182880" tIns="9144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zh-CN" sz="3200" dirty="0"/>
              <a:t>创建数据库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创建表，并设主键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为表插入数据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单表</a:t>
            </a:r>
            <a:r>
              <a:rPr lang="zh-CN" altLang="zh-CN" sz="3200" dirty="0">
                <a:solidFill>
                  <a:srgbClr val="FF0000"/>
                </a:solidFill>
              </a:rPr>
              <a:t>查询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建立表和表之间的关系，并设外键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多表查询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演示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查询“位于一楼的院系名称和电话”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86130" marR="0" lvl="2" indent="-18288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创建查询设计，添加需要的表</a:t>
            </a:r>
          </a:p>
          <a:p>
            <a:pPr marL="786130" marR="0" lvl="2" indent="-18288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设置查询条件，点击“运行”</a:t>
            </a: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8675" name="图片 1"/>
          <p:cNvPicPr>
            <a:picLocks noChangeAspect="1"/>
          </p:cNvPicPr>
          <p:nvPr/>
        </p:nvPicPr>
        <p:blipFill>
          <a:blip r:embed="rId2"/>
          <a:srcRect b="6854"/>
          <a:stretch>
            <a:fillRect/>
          </a:stretch>
        </p:blipFill>
        <p:spPr>
          <a:xfrm>
            <a:off x="1258888" y="2165350"/>
            <a:ext cx="6408737" cy="4187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6" name="矩形 2"/>
          <p:cNvSpPr/>
          <p:nvPr/>
        </p:nvSpPr>
        <p:spPr>
          <a:xfrm>
            <a:off x="3779838" y="3573463"/>
            <a:ext cx="226218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</a:rPr>
              <a:t>查询所使用的表对象</a:t>
            </a:r>
          </a:p>
        </p:txBody>
      </p:sp>
      <p:sp>
        <p:nvSpPr>
          <p:cNvPr id="28677" name="矩形 5"/>
          <p:cNvSpPr/>
          <p:nvPr/>
        </p:nvSpPr>
        <p:spPr>
          <a:xfrm>
            <a:off x="5257800" y="5883275"/>
            <a:ext cx="15700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</a:rPr>
              <a:t>查询设计网格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练习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：查找科室位于三楼的科室名称和电话；</a:t>
            </a: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：查找内科的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所有信息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查询时，首先思考查询用到了哪些字段，然后思考查询条件是什么。</a:t>
            </a: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531813" y="795338"/>
            <a:ext cx="8183562" cy="4937125"/>
          </a:xfrm>
        </p:spPr>
        <p:txBody>
          <a:bodyPr vert="horz" wrap="square" lIns="182880" tIns="9144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zh-CN" sz="3200" dirty="0"/>
              <a:t>创建数据库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创建表，并设主键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为表插入数据</a:t>
            </a:r>
          </a:p>
          <a:p>
            <a:pPr>
              <a:lnSpc>
                <a:spcPct val="150000"/>
              </a:lnSpc>
            </a:pPr>
            <a:r>
              <a:rPr lang="zh-CN" altLang="en-US" sz="3200" dirty="0"/>
              <a:t>单表</a:t>
            </a:r>
            <a:r>
              <a:rPr lang="zh-CN" altLang="zh-CN" sz="3200" dirty="0"/>
              <a:t>查询</a:t>
            </a:r>
          </a:p>
          <a:p>
            <a:pPr>
              <a:lnSpc>
                <a:spcPct val="150000"/>
              </a:lnSpc>
            </a:pPr>
            <a:r>
              <a:rPr lang="zh-CN" altLang="zh-CN" sz="3200" dirty="0">
                <a:solidFill>
                  <a:srgbClr val="FF0000"/>
                </a:solidFill>
              </a:rPr>
              <a:t>建立表和表之间的关系，并设外键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多表查询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演示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创建考生表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examinee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，设置字段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ename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esex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edep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eage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选择合适的数据类型，并设置主键。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1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练习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创建医生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doctor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，包括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doc_id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doc_name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doc_age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doc_sex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depart_id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等信息，并将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doc_id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设为主键。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演示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建立院系表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和考生表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examinee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之间的表关系，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edep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为外键。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外键表示了两个关系之间的相关联系。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86130" marR="0" lvl="2" indent="-18288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数据库工具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添加表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examinee</a:t>
            </a:r>
          </a:p>
          <a:p>
            <a:pPr marL="786130" marR="0" lvl="2" indent="-18288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选中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dname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，按住左键不放将其拖至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examinee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edep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</a:t>
            </a: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2771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852738"/>
            <a:ext cx="7635875" cy="3587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84213" y="5084763"/>
            <a:ext cx="3778250" cy="3698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注意：关闭其他打开的表或查询。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8" y="5475288"/>
            <a:ext cx="3935412" cy="110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4" name="矩形 5"/>
          <p:cNvSpPr/>
          <p:nvPr/>
        </p:nvSpPr>
        <p:spPr>
          <a:xfrm>
            <a:off x="5916613" y="5013325"/>
            <a:ext cx="291465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1" dirty="0">
                <a:latin typeface="Arial" panose="020B0604020202020204" pitchFamily="34" charset="0"/>
              </a:rPr>
              <a:t>可以规范表之间的关系，拒绝那些会影响表的关系的有效性的数据，防止数据的误删和错误录入。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385763" y="765175"/>
            <a:ext cx="8074025" cy="4392613"/>
          </a:xfrm>
        </p:spPr>
        <p:txBody>
          <a:bodyPr vert="horz" wrap="square" lIns="182880" tIns="9144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三种类型的表关系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一对一关系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第一个表中的每条记录在第二个表中只有一个匹配记录，而第二个表中的每条记录在第一个表中也只有一个匹配记录。例：一个学生对应一份学生档案材料。一对一关系我们一般表示为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1:1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一对多关系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第一个表中的每条记录可以与第二个表中的一到多个记录匹配，但是第二个表中的每条记录在第一个表中只有一个匹配记录。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例：一个班级对应多名学生，但一个学生只属于一个班。一对多关系我们一般表示为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多对多关系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一个表的每条记录可以与第二个表中的一到多个记录匹配，同时，第二个表中的每条记录可以与第一个表中的一到多个记录匹配。例：每个学生可以选择多门课程，而每门课程也可以由多个学生选择。多对多关系我们一般表示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m:n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练习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建立医生表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doctor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和科室表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n:1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的关系，其中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doctor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表的外键为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depart_id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演示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向考生表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examinee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中插入数据</a:t>
            </a: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686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38" y="1557338"/>
            <a:ext cx="8231187" cy="3287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8" name="文本框 3"/>
          <p:cNvSpPr txBox="1"/>
          <p:nvPr/>
        </p:nvSpPr>
        <p:spPr>
          <a:xfrm>
            <a:off x="527050" y="5013325"/>
            <a:ext cx="80057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zh-CN" altLang="en-US" b="1" dirty="0">
                <a:solidFill>
                  <a:srgbClr val="002060"/>
                </a:solidFill>
                <a:latin typeface="Arial" panose="020B0604020202020204" pitchFamily="34" charset="0"/>
              </a:rPr>
              <a:t>试一试：插入一名考生，其院系设置为“文学”会怎么样？这种情况该如何解决？这一情况的出现与我们之前的哪个操作有关？</a:t>
            </a:r>
            <a:endParaRPr lang="en-US" altLang="zh-CN" b="1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练习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doctor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表中添加如下数据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7980" marR="0" lvl="1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58888" y="1773238"/>
          <a:ext cx="6842126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doc_id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doc_name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doc_age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doc_sex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Depart_id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张三</a:t>
                      </a:r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35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女</a:t>
                      </a:r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李四</a:t>
                      </a:r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32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男</a:t>
                      </a:r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王五</a:t>
                      </a:r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41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男</a:t>
                      </a:r>
                    </a:p>
                  </a:txBody>
                  <a:tcPr marL="91458" marR="91458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58" marR="91458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内容占位符 2"/>
          <p:cNvSpPr>
            <a:spLocks noGrp="1"/>
          </p:cNvSpPr>
          <p:nvPr>
            <p:ph idx="1"/>
          </p:nvPr>
        </p:nvSpPr>
        <p:spPr>
          <a:xfrm>
            <a:off x="531813" y="795338"/>
            <a:ext cx="8183562" cy="4937125"/>
          </a:xfrm>
        </p:spPr>
        <p:txBody>
          <a:bodyPr vert="horz" wrap="square" lIns="182880" tIns="9144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zh-CN" sz="3200" dirty="0"/>
              <a:t>创建数据库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创建表，并设主键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为表插入数据</a:t>
            </a:r>
          </a:p>
          <a:p>
            <a:pPr>
              <a:lnSpc>
                <a:spcPct val="150000"/>
              </a:lnSpc>
            </a:pPr>
            <a:r>
              <a:rPr lang="zh-CN" altLang="en-US" sz="3200" dirty="0"/>
              <a:t>单表</a:t>
            </a:r>
            <a:r>
              <a:rPr lang="zh-CN" altLang="zh-CN" sz="3200" dirty="0"/>
              <a:t>查询</a:t>
            </a:r>
          </a:p>
          <a:p>
            <a:pPr>
              <a:lnSpc>
                <a:spcPct val="150000"/>
              </a:lnSpc>
            </a:pPr>
            <a:r>
              <a:rPr lang="zh-CN" altLang="zh-CN" sz="3200" dirty="0"/>
              <a:t>建立表和表之间的关系，并设外键</a:t>
            </a:r>
          </a:p>
          <a:p>
            <a:pPr>
              <a:lnSpc>
                <a:spcPct val="150000"/>
              </a:lnSpc>
            </a:pPr>
            <a:r>
              <a:rPr lang="zh-CN" altLang="zh-CN" sz="3200" dirty="0">
                <a:solidFill>
                  <a:srgbClr val="FF0000"/>
                </a:solidFill>
              </a:rPr>
              <a:t>多表查询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演示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查询“性别为女性的考生所在院系名及联系电话”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86130" marR="0" lvl="2" indent="-18288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创建查询设计，添加需要的表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86130" marR="0" lvl="2" indent="-18288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设置查询条件，点击“运行”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993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179638"/>
            <a:ext cx="6697663" cy="4340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0" name="文本框 1"/>
          <p:cNvSpPr txBox="1"/>
          <p:nvPr/>
        </p:nvSpPr>
        <p:spPr>
          <a:xfrm>
            <a:off x="6211888" y="3644900"/>
            <a:ext cx="2386012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lvl="1" indent="0"/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查询时，首先思考查询用到了哪些字段，然后思考查询条件是什么。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3" cy="4187825"/>
          </a:xfrm>
        </p:spPr>
        <p:txBody>
          <a:bodyPr vert="horz" wrap="square" lIns="182880" tIns="91440" rIns="91440" bIns="45720" numCol="1" anchor="t" anchorCtr="0" compatLnSpc="1"/>
          <a:lstStyle/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练习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查询“医生张三的科室名称和科室地址 ”</a:t>
            </a:r>
          </a:p>
          <a:p>
            <a:pPr marL="548005" marR="0" lvl="1" indent="-200025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430" marR="0" lvl="0" indent="-26543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611188" y="2133600"/>
            <a:ext cx="8183562" cy="3671888"/>
          </a:xfrm>
        </p:spPr>
        <p:txBody>
          <a:bodyPr vert="horz" wrap="square" lIns="182880" tIns="91440" rIns="91440" bIns="45720" anchor="t" anchorCtr="0"/>
          <a:lstStyle/>
          <a:p>
            <a:r>
              <a:rPr lang="en-US" altLang="zh-CN" dirty="0"/>
              <a:t>Access</a:t>
            </a:r>
            <a:r>
              <a:rPr lang="zh-CN" altLang="zh-CN" dirty="0"/>
              <a:t>与</a:t>
            </a:r>
            <a:r>
              <a:rPr lang="en-US" altLang="zh-CN" dirty="0"/>
              <a:t>Excel</a:t>
            </a:r>
            <a:r>
              <a:rPr lang="zh-CN" altLang="zh-CN" dirty="0"/>
              <a:t>创建的表有什么区别？</a:t>
            </a:r>
          </a:p>
          <a:p>
            <a:pPr marL="347980" lvl="1" indent="0">
              <a:buNone/>
            </a:pPr>
            <a:r>
              <a:rPr lang="zh-CN" altLang="en-US" dirty="0"/>
              <a:t>（需要</a:t>
            </a:r>
            <a:r>
              <a:rPr lang="zh-CN" altLang="zh-CN" dirty="0"/>
              <a:t>与本次实验过程涉及的概念和操作相关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7980" lvl="1" indent="0">
              <a:buNone/>
            </a:pP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（尽可能用自己的语言表达清楚自己的理解，可联系实验作业过程，必要时也可以给出自己补充的实验操作截图）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3588" y="-242887"/>
            <a:ext cx="7772400" cy="1828800"/>
          </a:xfrm>
          <a:prstGeom prst="rect">
            <a:avLst/>
          </a:prstGeom>
        </p:spPr>
        <p:txBody>
          <a:bodyPr lIns="45720" rIns="45720" anchor="b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5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 </a:t>
            </a:r>
            <a:r>
              <a:rPr kumimoji="0" lang="zh-CN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问题与思考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/>
          <p:cNvSpPr>
            <a:spLocks noGrp="1"/>
          </p:cNvSpPr>
          <p:nvPr>
            <p:ph idx="1"/>
          </p:nvPr>
        </p:nvSpPr>
        <p:spPr>
          <a:xfrm>
            <a:off x="457200" y="1989138"/>
            <a:ext cx="8283575" cy="2735262"/>
          </a:xfrm>
        </p:spPr>
        <p:txBody>
          <a:bodyPr vert="horz" wrap="square" lIns="182880" tIns="91440" rIns="91440" bIns="45720" anchor="t" anchorCtr="0"/>
          <a:lstStyle/>
          <a:p>
            <a:r>
              <a:rPr lang="zh-CN" altLang="zh-CN" dirty="0"/>
              <a:t>（自己总结，与实验目的相对应）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（结合本次实验目的；实验过程中遇到了什么问题，是如何解决的；实验中产生的错误及其原因分析、实验中得到的主要收获；实验过程中有什么印象深刻的操作或现象）</a:t>
            </a:r>
            <a:endParaRPr lang="zh-CN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3588" y="-242887"/>
            <a:ext cx="7772400" cy="1828800"/>
          </a:xfrm>
          <a:prstGeom prst="rect">
            <a:avLst/>
          </a:prstGeom>
        </p:spPr>
        <p:txBody>
          <a:bodyPr lIns="45720" rIns="45720" anchor="b"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5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8D3E"/>
                </a:solidFill>
                <a:latin typeface="Verdana" panose="020B0604030504040204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6.	</a:t>
            </a:r>
            <a:r>
              <a:rPr kumimoji="0" lang="zh-CN" altLang="zh-CN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实验体会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2" cy="4554538"/>
          </a:xfrm>
        </p:spPr>
        <p:txBody>
          <a:bodyPr vert="horz" wrap="square" lIns="182880" tIns="91440" rIns="91440" bIns="45720" anchor="t" anchorCtr="0"/>
          <a:lstStyle/>
          <a:p>
            <a:r>
              <a:rPr lang="zh-CN" altLang="zh-CN" b="1" dirty="0"/>
              <a:t>附加计分项</a:t>
            </a:r>
            <a:endParaRPr lang="zh-CN" altLang="zh-CN" dirty="0"/>
          </a:p>
          <a:p>
            <a:pPr lvl="1"/>
            <a:r>
              <a:rPr lang="zh-CN" altLang="en-US" dirty="0"/>
              <a:t>附加计分项（</a:t>
            </a:r>
            <a:r>
              <a:rPr lang="en-US" altLang="zh-CN" dirty="0"/>
              <a:t>3</a:t>
            </a:r>
            <a:r>
              <a:rPr lang="zh-CN" altLang="en-US" dirty="0"/>
              <a:t>分）</a:t>
            </a:r>
          </a:p>
          <a:p>
            <a:pPr lvl="1"/>
            <a:r>
              <a:rPr lang="zh-CN" altLang="en-US" dirty="0"/>
              <a:t>其中分三个小项计分：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）作业是否整体排版清晰，若是得</a:t>
            </a:r>
            <a:r>
              <a:rPr lang="en-US" altLang="zh-CN" dirty="0"/>
              <a:t>1 </a:t>
            </a:r>
            <a:r>
              <a:rPr lang="zh-CN" altLang="en-US" dirty="0"/>
              <a:t>分；否则 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）各节小标题是否准确，若是得</a:t>
            </a:r>
            <a:r>
              <a:rPr lang="en-US" altLang="zh-CN" dirty="0"/>
              <a:t>1 </a:t>
            </a:r>
            <a:r>
              <a:rPr lang="zh-CN" altLang="en-US" dirty="0"/>
              <a:t>分；否则得 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）是否去掉了评分说明蓝色文字，若是得</a:t>
            </a:r>
            <a:r>
              <a:rPr lang="en-US" altLang="zh-CN" dirty="0"/>
              <a:t>1 </a:t>
            </a:r>
            <a:r>
              <a:rPr lang="zh-CN" altLang="en-US" dirty="0"/>
              <a:t>分；否则得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三个小项满分共</a:t>
            </a:r>
            <a:r>
              <a:rPr lang="en-US" altLang="zh-CN" dirty="0"/>
              <a:t>3</a:t>
            </a:r>
            <a:r>
              <a:rPr lang="zh-CN" altLang="en-US" dirty="0"/>
              <a:t>分。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503238" y="530225"/>
            <a:ext cx="8183562" cy="4554538"/>
          </a:xfrm>
        </p:spPr>
        <p:txBody>
          <a:bodyPr vert="horz" wrap="square" lIns="182880" tIns="91440" rIns="91440" bIns="45720" anchor="t" anchorCtr="0"/>
          <a:lstStyle/>
          <a:p>
            <a:pPr lvl="1"/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注</a:t>
            </a:r>
            <a:endParaRPr lang="en-US" altLang="zh-CN" b="1" dirty="0"/>
          </a:p>
          <a:p>
            <a:pPr lvl="1"/>
            <a:r>
              <a:rPr lang="zh-CN" altLang="en-US" dirty="0"/>
              <a:t>评分时遵循“总分公平合理”，比如打分过程中出现觉得应该给 </a:t>
            </a:r>
            <a:r>
              <a:rPr lang="en-US" altLang="zh-CN" dirty="0"/>
              <a:t>0.5 </a:t>
            </a:r>
            <a:r>
              <a:rPr lang="zh-CN" altLang="en-US" dirty="0"/>
              <a:t>分，那么可以第一个 </a:t>
            </a:r>
            <a:r>
              <a:rPr lang="en-US" altLang="zh-CN" dirty="0"/>
              <a:t>0.5 </a:t>
            </a:r>
            <a:r>
              <a:rPr lang="zh-CN" altLang="en-US" dirty="0"/>
              <a:t>进位，第二个 </a:t>
            </a:r>
            <a:r>
              <a:rPr lang="en-US" altLang="zh-CN" dirty="0"/>
              <a:t>0.5 </a:t>
            </a:r>
            <a:r>
              <a:rPr lang="zh-CN" altLang="en-US" dirty="0"/>
              <a:t>舍去，依次类推；或第一个 </a:t>
            </a:r>
            <a:r>
              <a:rPr lang="en-US" altLang="zh-CN" dirty="0"/>
              <a:t>0.5 </a:t>
            </a:r>
            <a:r>
              <a:rPr lang="zh-CN" altLang="en-US" dirty="0"/>
              <a:t>舍去第二个 </a:t>
            </a:r>
            <a:r>
              <a:rPr lang="en-US" altLang="zh-CN" dirty="0"/>
              <a:t>0.5 </a:t>
            </a:r>
            <a:r>
              <a:rPr lang="zh-CN" altLang="en-US" dirty="0"/>
              <a:t>进位等等。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rcRect l="932"/>
          <a:stretch>
            <a:fillRect/>
          </a:stretch>
        </p:blipFill>
        <p:spPr>
          <a:xfrm>
            <a:off x="509588" y="1289050"/>
            <a:ext cx="8124825" cy="4454525"/>
          </a:xfr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339975" y="238125"/>
            <a:ext cx="8183563" cy="1050925"/>
          </a:xfrm>
        </p:spPr>
        <p:txBody>
          <a:bodyPr vert="horz" anchor="b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8D3E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附录 常见查询条件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视点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视点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视点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视点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80</TotalTime>
  <Words>1793</Words>
  <Application>Microsoft Macintosh PowerPoint</Application>
  <PresentationFormat>全屏显示(4:3)</PresentationFormat>
  <Paragraphs>300</Paragraphs>
  <Slides>36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Arial</vt:lpstr>
      <vt:lpstr>Calibri</vt:lpstr>
      <vt:lpstr>Verdana</vt:lpstr>
      <vt:lpstr>Wingdings</vt:lpstr>
      <vt:lpstr>Wingdings 2</vt:lpstr>
      <vt:lpstr>视点</vt:lpstr>
      <vt:lpstr>1_视点</vt:lpstr>
      <vt:lpstr>实验（第二周）  认识数据库   提前到的同学请熟悉台式机中Access软件或在笔记本中下载Access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实验作业-具体要求</vt:lpstr>
      <vt:lpstr>Access 工作界面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附录 常见查询条件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ChuangXia Chen</dc:creator>
  <cp:lastModifiedBy>Microsoft Office User</cp:lastModifiedBy>
  <cp:revision>170</cp:revision>
  <dcterms:created xsi:type="dcterms:W3CDTF">2025-02-27T04:39:00Z</dcterms:created>
  <dcterms:modified xsi:type="dcterms:W3CDTF">2025-03-03T11:36:24Z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14E67F7380D34FD3A2B6D06EAD4A3C54_12</vt:lpwstr>
  </property>
</Properties>
</file>