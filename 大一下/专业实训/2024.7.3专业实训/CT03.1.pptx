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442" r:id="rId4"/>
    <p:sldId id="302" r:id="rId5"/>
    <p:sldId id="441" r:id="rId6"/>
    <p:sldId id="427" r:id="rId7"/>
    <p:sldId id="417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>
                <a:sym typeface="+mn-ea"/>
              </a:rPr>
              <a:t>前缀和</a:t>
            </a:r>
            <a:endParaRPr lang="zh-CN" altLang="x-none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01520"/>
            <a:ext cx="10264140" cy="4676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8980" y="1417955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子矩阵的和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45" y="3849370"/>
            <a:ext cx="7121525" cy="2232025"/>
          </a:xfrm>
          <a:prstGeom prst="rect">
            <a:avLst/>
          </a:prstGeom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</p:pic>
      <p:sp>
        <p:nvSpPr>
          <p:cNvPr id="6" name="文本框 5"/>
          <p:cNvSpPr txBox="1"/>
          <p:nvPr/>
        </p:nvSpPr>
        <p:spPr>
          <a:xfrm>
            <a:off x="8046720" y="253492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3 4 10</a:t>
            </a:r>
            <a:endParaRPr lang="zh-CN" altLang="en-US"/>
          </a:p>
          <a:p>
            <a:r>
              <a:rPr lang="zh-CN" altLang="en-US"/>
              <a:t>1 2 3 4</a:t>
            </a:r>
            <a:endParaRPr lang="zh-CN" altLang="en-US"/>
          </a:p>
          <a:p>
            <a:r>
              <a:rPr lang="zh-CN" altLang="en-US"/>
              <a:t>5 6 7 8</a:t>
            </a:r>
            <a:endParaRPr lang="zh-CN" altLang="en-US"/>
          </a:p>
          <a:p>
            <a:r>
              <a:rPr lang="zh-CN" altLang="en-US"/>
              <a:t>9 10 11 12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351895" y="2560955"/>
            <a:ext cx="4641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19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076950" y="249428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输入样例</a:t>
            </a:r>
            <a:endParaRPr lang="zh-CN" altLang="en-US" sz="3200"/>
          </a:p>
        </p:txBody>
      </p:sp>
      <p:sp>
        <p:nvSpPr>
          <p:cNvPr id="19" name="文本框 18"/>
          <p:cNvSpPr txBox="1"/>
          <p:nvPr/>
        </p:nvSpPr>
        <p:spPr>
          <a:xfrm>
            <a:off x="9476105" y="249428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输出样例</a:t>
            </a:r>
            <a:endParaRPr lang="zh-CN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>
                <a:sym typeface="+mn-ea"/>
              </a:rPr>
              <a:t>前缀和</a:t>
            </a:r>
            <a:endParaRPr lang="zh-CN" altLang="x-none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54480"/>
            <a:ext cx="8424545" cy="5046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330" y="1459230"/>
            <a:ext cx="2379345" cy="526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>
                <a:sym typeface="+mn-ea"/>
              </a:rPr>
              <a:t>前缀和</a:t>
            </a:r>
            <a:endParaRPr lang="zh-CN" altLang="x-none"/>
          </a:p>
        </p:txBody>
      </p:sp>
      <p:sp>
        <p:nvSpPr>
          <p:cNvPr id="8" name="文本框 7"/>
          <p:cNvSpPr txBox="1"/>
          <p:nvPr/>
        </p:nvSpPr>
        <p:spPr>
          <a:xfrm>
            <a:off x="609600" y="1617345"/>
            <a:ext cx="82073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/>
              <a:t>2021</a:t>
            </a:r>
            <a:r>
              <a:rPr lang="zh-CN" altLang="en-US" sz="3200"/>
              <a:t>年</a:t>
            </a:r>
            <a:r>
              <a:rPr lang="en-US" altLang="zh-CN" sz="3200"/>
              <a:t>4</a:t>
            </a:r>
            <a:r>
              <a:rPr lang="zh-CN" altLang="en-US" sz="3200"/>
              <a:t>月第</a:t>
            </a:r>
            <a:r>
              <a:rPr lang="en-US" altLang="zh-CN" sz="3200"/>
              <a:t>22</a:t>
            </a:r>
            <a:r>
              <a:rPr lang="zh-CN" altLang="en-US" sz="3200"/>
              <a:t>次</a:t>
            </a:r>
            <a:r>
              <a:rPr lang="en-US" altLang="zh-CN" sz="3200"/>
              <a:t>CSP</a:t>
            </a:r>
            <a:r>
              <a:rPr lang="zh-CN" altLang="en-US" sz="3200"/>
              <a:t>认证第二题，邻域均值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3609340" y="2484755"/>
            <a:ext cx="2540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4 16 1 6</a:t>
            </a:r>
            <a:endParaRPr lang="zh-CN" altLang="en-US"/>
          </a:p>
          <a:p>
            <a:r>
              <a:rPr lang="zh-CN" altLang="en-US"/>
              <a:t>0 1 2 3</a:t>
            </a:r>
            <a:endParaRPr lang="zh-CN" altLang="en-US"/>
          </a:p>
          <a:p>
            <a:r>
              <a:rPr lang="zh-CN" altLang="en-US"/>
              <a:t>4 5 6 7</a:t>
            </a:r>
            <a:endParaRPr lang="zh-CN" altLang="en-US"/>
          </a:p>
          <a:p>
            <a:r>
              <a:rPr lang="zh-CN" altLang="en-US"/>
              <a:t>8 9 10 11</a:t>
            </a:r>
            <a:endParaRPr lang="zh-CN" altLang="en-US"/>
          </a:p>
          <a:p>
            <a:r>
              <a:rPr lang="zh-CN" altLang="en-US"/>
              <a:t>12 13 14 15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33005" y="2484755"/>
            <a:ext cx="2540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11 8 2 2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  <a:p>
            <a:r>
              <a:rPr lang="zh-CN" altLang="en-US"/>
              <a:t>0 7 0 0 0 7 0 0 7 7 0</a:t>
            </a:r>
            <a:endParaRPr lang="zh-CN" altLang="en-US"/>
          </a:p>
          <a:p>
            <a:r>
              <a:rPr lang="zh-CN" altLang="en-US"/>
              <a:t>7 0 7 0 7 0 7 0 7 0 7</a:t>
            </a:r>
            <a:endParaRPr lang="zh-CN" altLang="en-US"/>
          </a:p>
          <a:p>
            <a:r>
              <a:rPr lang="zh-CN" altLang="en-US"/>
              <a:t>7 0 0 0 7 0 0 0 7 0 7</a:t>
            </a:r>
            <a:endParaRPr lang="zh-CN" altLang="en-US"/>
          </a:p>
          <a:p>
            <a:r>
              <a:rPr lang="zh-CN" altLang="en-US"/>
              <a:t>7 0 0 0 0 7 0 0 7 7 0</a:t>
            </a:r>
            <a:endParaRPr lang="zh-CN" altLang="en-US"/>
          </a:p>
          <a:p>
            <a:r>
              <a:rPr lang="zh-CN" altLang="en-US"/>
              <a:t>7 0 0 0 0 0 7 0 7 0 0</a:t>
            </a:r>
            <a:endParaRPr lang="zh-CN" altLang="en-US"/>
          </a:p>
          <a:p>
            <a:r>
              <a:rPr lang="zh-CN" altLang="en-US"/>
              <a:t>7 0 7 0 7 0 7 0 7 0 0</a:t>
            </a:r>
            <a:endParaRPr lang="zh-CN" altLang="en-US"/>
          </a:p>
          <a:p>
            <a:r>
              <a:rPr lang="zh-CN" altLang="en-US"/>
              <a:t>0 7 0 0 0 7 0 0 7 0 0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09340" y="61950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33005" y="61950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83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568450" y="5171440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1</a:t>
            </a:r>
            <a:r>
              <a:rPr lang="zh-CN" altLang="en-US" sz="3200"/>
              <a:t>输出</a:t>
            </a:r>
            <a:endParaRPr lang="zh-CN" altLang="en-US" sz="3200"/>
          </a:p>
        </p:txBody>
      </p:sp>
      <p:sp>
        <p:nvSpPr>
          <p:cNvPr id="14" name="文本框 13"/>
          <p:cNvSpPr txBox="1"/>
          <p:nvPr/>
        </p:nvSpPr>
        <p:spPr>
          <a:xfrm>
            <a:off x="1508760" y="2345055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1</a:t>
            </a:r>
            <a:r>
              <a:rPr lang="zh-CN" altLang="en-US" sz="3200"/>
              <a:t>输入</a:t>
            </a:r>
            <a:endParaRPr lang="zh-CN" altLang="en-US" sz="3200"/>
          </a:p>
        </p:txBody>
      </p:sp>
      <p:sp>
        <p:nvSpPr>
          <p:cNvPr id="15" name="文本框 14"/>
          <p:cNvSpPr txBox="1"/>
          <p:nvPr/>
        </p:nvSpPr>
        <p:spPr>
          <a:xfrm>
            <a:off x="5352415" y="5171440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2</a:t>
            </a:r>
            <a:r>
              <a:rPr lang="zh-CN" altLang="en-US" sz="3200"/>
              <a:t>输出</a:t>
            </a:r>
            <a:endParaRPr lang="zh-CN" altLang="en-US" sz="3200"/>
          </a:p>
        </p:txBody>
      </p:sp>
      <p:sp>
        <p:nvSpPr>
          <p:cNvPr id="16" name="文本框 15"/>
          <p:cNvSpPr txBox="1"/>
          <p:nvPr/>
        </p:nvSpPr>
        <p:spPr>
          <a:xfrm>
            <a:off x="5292725" y="2345055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2</a:t>
            </a:r>
            <a:r>
              <a:rPr lang="zh-CN" altLang="en-US" sz="3200"/>
              <a:t>输入</a:t>
            </a:r>
            <a:endParaRPr lang="zh-CN" altLang="en-US" sz="3200"/>
          </a:p>
        </p:txBody>
      </p:sp>
      <p:sp>
        <p:nvSpPr>
          <p:cNvPr id="18" name="文本框 17"/>
          <p:cNvSpPr txBox="1"/>
          <p:nvPr/>
        </p:nvSpPr>
        <p:spPr>
          <a:xfrm>
            <a:off x="3609340" y="61950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树结构初步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09600" y="1626870"/>
            <a:ext cx="1047242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Nearest Common Ancestors</a:t>
            </a: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LCA</a:t>
            </a:r>
            <a:r>
              <a:rPr lang="x-none" altLang="en-US"/>
              <a:t>, </a:t>
            </a:r>
            <a:r>
              <a:rPr lang="en-US" altLang="zh-CN"/>
              <a:t>Least </a:t>
            </a:r>
            <a:r>
              <a:rPr lang="zh-CN" altLang="en-US">
                <a:sym typeface="+mn-ea"/>
              </a:rPr>
              <a:t>Common Ancestors）</a:t>
            </a:r>
            <a:endParaRPr lang="zh-CN" altLang="en-US"/>
          </a:p>
          <a:p>
            <a:r>
              <a:rPr lang="zh-CN" altLang="en-US"/>
              <a:t>题目大意：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求树上两个点的LCA（最近公共祖先）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输入格式：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T代表数据组数，n代表节点数目。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n-1行每行两个数a，b分别代表a是b的父节点，ab间有一条无向边。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最后一行为两个数a，b，代表求a，b的LCA。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输出格式：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对于每一组数据输出LCA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2120" y="1947545"/>
            <a:ext cx="30099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树结构初步</a:t>
            </a:r>
            <a:endParaRPr lang="zh-CN" altLang="x-none"/>
          </a:p>
        </p:txBody>
      </p:sp>
      <p:sp>
        <p:nvSpPr>
          <p:cNvPr id="2" name="文本框 1"/>
          <p:cNvSpPr txBox="1"/>
          <p:nvPr/>
        </p:nvSpPr>
        <p:spPr>
          <a:xfrm>
            <a:off x="2047875" y="118745"/>
            <a:ext cx="2540000" cy="6739255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2</a:t>
            </a:r>
            <a:endParaRPr lang="zh-CN" altLang="en-US"/>
          </a:p>
          <a:p>
            <a:r>
              <a:rPr lang="zh-CN" altLang="en-US"/>
              <a:t>16</a:t>
            </a:r>
            <a:endParaRPr lang="zh-CN" altLang="en-US"/>
          </a:p>
          <a:p>
            <a:r>
              <a:rPr lang="zh-CN" altLang="en-US"/>
              <a:t>1 14</a:t>
            </a:r>
            <a:endParaRPr lang="zh-CN" altLang="en-US"/>
          </a:p>
          <a:p>
            <a:r>
              <a:rPr lang="zh-CN" altLang="en-US"/>
              <a:t>8 5</a:t>
            </a:r>
            <a:endParaRPr lang="zh-CN" altLang="en-US"/>
          </a:p>
          <a:p>
            <a:r>
              <a:rPr lang="zh-CN" altLang="en-US"/>
              <a:t>10 16</a:t>
            </a:r>
            <a:endParaRPr lang="zh-CN" altLang="en-US"/>
          </a:p>
          <a:p>
            <a:r>
              <a:rPr lang="zh-CN" altLang="en-US"/>
              <a:t>5 9</a:t>
            </a:r>
            <a:endParaRPr lang="zh-CN" altLang="en-US"/>
          </a:p>
          <a:p>
            <a:r>
              <a:rPr lang="zh-CN" altLang="en-US"/>
              <a:t>4 6</a:t>
            </a:r>
            <a:endParaRPr lang="zh-CN" altLang="en-US"/>
          </a:p>
          <a:p>
            <a:r>
              <a:rPr lang="zh-CN" altLang="en-US"/>
              <a:t>8 4</a:t>
            </a:r>
            <a:endParaRPr lang="zh-CN" altLang="en-US"/>
          </a:p>
          <a:p>
            <a:r>
              <a:rPr lang="zh-CN" altLang="en-US"/>
              <a:t>4 10</a:t>
            </a:r>
            <a:endParaRPr lang="zh-CN" altLang="en-US"/>
          </a:p>
          <a:p>
            <a:r>
              <a:rPr lang="zh-CN" altLang="en-US"/>
              <a:t>1 13</a:t>
            </a:r>
            <a:endParaRPr lang="zh-CN" altLang="en-US"/>
          </a:p>
          <a:p>
            <a:r>
              <a:rPr lang="zh-CN" altLang="en-US"/>
              <a:t>6 15</a:t>
            </a:r>
            <a:endParaRPr lang="zh-CN" altLang="en-US"/>
          </a:p>
          <a:p>
            <a:r>
              <a:rPr lang="zh-CN" altLang="en-US"/>
              <a:t>10 11</a:t>
            </a:r>
            <a:endParaRPr lang="zh-CN" altLang="en-US"/>
          </a:p>
          <a:p>
            <a:r>
              <a:rPr lang="zh-CN" altLang="en-US"/>
              <a:t>6 7</a:t>
            </a:r>
            <a:endParaRPr lang="zh-CN" altLang="en-US"/>
          </a:p>
          <a:p>
            <a:r>
              <a:rPr lang="zh-CN" altLang="en-US"/>
              <a:t>10 2</a:t>
            </a:r>
            <a:endParaRPr lang="zh-CN" altLang="en-US"/>
          </a:p>
          <a:p>
            <a:r>
              <a:rPr lang="zh-CN" altLang="en-US"/>
              <a:t>16 3</a:t>
            </a:r>
            <a:endParaRPr lang="zh-CN" altLang="en-US"/>
          </a:p>
          <a:p>
            <a:r>
              <a:rPr lang="zh-CN" altLang="en-US"/>
              <a:t>8 1</a:t>
            </a:r>
            <a:endParaRPr lang="zh-CN" altLang="en-US"/>
          </a:p>
          <a:p>
            <a:r>
              <a:rPr lang="zh-CN" altLang="en-US"/>
              <a:t>16 12</a:t>
            </a:r>
            <a:endParaRPr lang="zh-CN" altLang="en-US"/>
          </a:p>
          <a:p>
            <a:r>
              <a:rPr lang="zh-CN" altLang="en-US"/>
              <a:t>16 7</a:t>
            </a:r>
            <a:endParaRPr lang="zh-CN" altLang="en-US"/>
          </a:p>
          <a:p>
            <a:r>
              <a:rPr lang="zh-CN" altLang="en-US"/>
              <a:t>5</a:t>
            </a:r>
            <a:endParaRPr lang="zh-CN" altLang="en-US"/>
          </a:p>
          <a:p>
            <a:r>
              <a:rPr lang="zh-CN" altLang="en-US"/>
              <a:t>2 3</a:t>
            </a:r>
            <a:endParaRPr lang="zh-CN" altLang="en-US"/>
          </a:p>
          <a:p>
            <a:r>
              <a:rPr lang="zh-CN" altLang="en-US"/>
              <a:t>3 4</a:t>
            </a:r>
            <a:endParaRPr lang="zh-CN" altLang="en-US"/>
          </a:p>
          <a:p>
            <a:r>
              <a:rPr lang="zh-CN" altLang="en-US"/>
              <a:t>3 1</a:t>
            </a:r>
            <a:endParaRPr lang="zh-CN" altLang="en-US"/>
          </a:p>
          <a:p>
            <a:r>
              <a:rPr lang="zh-CN" altLang="en-US"/>
              <a:t>1 5</a:t>
            </a:r>
            <a:endParaRPr lang="zh-CN" altLang="en-US"/>
          </a:p>
          <a:p>
            <a:r>
              <a:rPr lang="zh-CN" altLang="en-US"/>
              <a:t>3 5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73900" y="3881120"/>
            <a:ext cx="944880" cy="64516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4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3</a:t>
            </a:r>
            <a:endParaRPr lang="zh-CN" altLang="en-US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1450" y="163703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输入样例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5134610" y="388112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输出样例</a:t>
            </a:r>
            <a:endParaRPr lang="zh-CN" alt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WPS 演示</Application>
  <PresentationFormat>宽屏</PresentationFormat>
  <Paragraphs>112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DejaVu Sans</vt:lpstr>
      <vt:lpstr>方正书宋_GBK</vt:lpstr>
      <vt:lpstr>微软雅黑</vt:lpstr>
      <vt:lpstr>Arial Unicode MS</vt:lpstr>
      <vt:lpstr>DejaVu Sans</vt:lpstr>
      <vt:lpstr>默认设计模板</vt:lpstr>
      <vt:lpstr>编程实训</vt:lpstr>
      <vt:lpstr>前缀和</vt:lpstr>
      <vt:lpstr>标记数组法</vt:lpstr>
      <vt:lpstr>前缀和</vt:lpstr>
      <vt:lpstr>素数问题</vt:lpstr>
      <vt:lpstr>树结构初步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209</cp:revision>
  <dcterms:created xsi:type="dcterms:W3CDTF">2024-07-02T22:48:39Z</dcterms:created>
  <dcterms:modified xsi:type="dcterms:W3CDTF">2024-07-02T22:48:39Z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