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3"/>
    <p:sldId id="302" r:id="rId4"/>
    <p:sldId id="406" r:id="rId5"/>
    <p:sldId id="414" r:id="rId6"/>
    <p:sldId id="399" r:id="rId7"/>
    <p:sldId id="400" r:id="rId8"/>
    <p:sldId id="346" r:id="rId9"/>
    <p:sldId id="426" r:id="rId10"/>
    <p:sldId id="427" r:id="rId11"/>
    <p:sldId id="401" r:id="rId12"/>
    <p:sldId id="415" r:id="rId13"/>
    <p:sldId id="416" r:id="rId14"/>
    <p:sldId id="342" r:id="rId15"/>
    <p:sldId id="420" r:id="rId16"/>
    <p:sldId id="435" r:id="rId17"/>
    <p:sldId id="436" r:id="rId18"/>
    <p:sldId id="440" r:id="rId19"/>
    <p:sldId id="439" r:id="rId20"/>
    <p:sldId id="441" r:id="rId21"/>
    <p:sldId id="417" r:id="rId22"/>
    <p:sldId id="398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/>
              <a:t>标记数组法</a:t>
            </a:r>
            <a:endParaRPr lang="zh-CN" altLang="x-none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79" b="2838"/>
          <a:stretch>
            <a:fillRect/>
          </a:stretch>
        </p:blipFill>
        <p:spPr>
          <a:xfrm>
            <a:off x="612775" y="1630045"/>
            <a:ext cx="9299575" cy="49790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2625" y="1417955"/>
            <a:ext cx="27965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2014</a:t>
            </a:r>
            <a:r>
              <a:rPr lang="zh-CN" altLang="x-none"/>
              <a:t>年</a:t>
            </a:r>
            <a:r>
              <a:rPr lang="en-US" altLang="zh-CN"/>
              <a:t>3</a:t>
            </a:r>
            <a:r>
              <a:rPr lang="zh-CN" altLang="en-US"/>
              <a:t>月第</a:t>
            </a:r>
            <a:r>
              <a:rPr lang="en-US" altLang="zh-CN"/>
              <a:t>1</a:t>
            </a:r>
            <a:r>
              <a:rPr lang="zh-CN" altLang="en-US"/>
              <a:t>题，相反数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/>
              <a:t>标记数组法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82625" y="1417955"/>
            <a:ext cx="30251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2014</a:t>
            </a:r>
            <a:r>
              <a:rPr lang="zh-CN" altLang="x-none"/>
              <a:t>年</a:t>
            </a:r>
            <a:r>
              <a:rPr lang="en-US" altLang="zh-CN"/>
              <a:t>3</a:t>
            </a:r>
            <a:r>
              <a:rPr lang="zh-CN" altLang="en-US"/>
              <a:t>月第</a:t>
            </a:r>
            <a:r>
              <a:rPr lang="en-US" altLang="zh-CN"/>
              <a:t>1</a:t>
            </a:r>
            <a:r>
              <a:rPr lang="zh-CN" altLang="en-US"/>
              <a:t>题，相邻数对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23875" y="1901190"/>
            <a:ext cx="82969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   </a:t>
            </a:r>
            <a:r>
              <a:rPr lang="zh-CN" altLang="en-US" b="1"/>
              <a:t>问题描述</a:t>
            </a:r>
            <a:endParaRPr lang="zh-CN" altLang="en-US"/>
          </a:p>
          <a:p>
            <a:r>
              <a:rPr lang="zh-CN" altLang="en-US"/>
              <a:t>　　给定n个不同的整数，问这些数中有多少对整数，它们的值正好相差1。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输入格式</a:t>
            </a:r>
            <a:endParaRPr lang="zh-CN" altLang="en-US"/>
          </a:p>
          <a:p>
            <a:r>
              <a:rPr lang="zh-CN" altLang="en-US"/>
              <a:t>　　输入的第一行包含一个整数n，表示给定整数的个数。</a:t>
            </a:r>
            <a:endParaRPr lang="zh-CN" altLang="en-US"/>
          </a:p>
          <a:p>
            <a:r>
              <a:rPr lang="zh-CN" altLang="en-US"/>
              <a:t>　　第二行包含所给定的n个整数。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输出格式</a:t>
            </a:r>
            <a:endParaRPr lang="zh-CN" altLang="en-US"/>
          </a:p>
          <a:p>
            <a:r>
              <a:rPr lang="zh-CN" altLang="en-US"/>
              <a:t>　　输出一个整数，表示值正好相差1的数对的个数。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样例输入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6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10 2 6 3 7 8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样例输出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3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样例说明</a:t>
            </a:r>
            <a:endParaRPr lang="zh-CN" altLang="en-US"/>
          </a:p>
          <a:p>
            <a:r>
              <a:rPr lang="zh-CN" altLang="en-US"/>
              <a:t>    值正好相差1的数对包括(2, 3), (6, 7), (7, 8)。</a:t>
            </a:r>
            <a:endParaRPr lang="zh-CN" altLang="en-US"/>
          </a:p>
          <a:p>
            <a:r>
              <a:rPr lang="zh-CN" altLang="en-US"/>
              <a:t>    评测用例规模与约定</a:t>
            </a:r>
            <a:endParaRPr lang="zh-CN" altLang="en-US"/>
          </a:p>
          <a:p>
            <a:r>
              <a:rPr lang="zh-CN" altLang="en-US"/>
              <a:t>    1&lt;=n&lt;=1000，给定的整数为不超过10000的非负整数。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557260" y="2732405"/>
            <a:ext cx="259969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/>
              <a:t>解法</a:t>
            </a:r>
            <a:r>
              <a:rPr lang="en-US" altLang="zh-CN"/>
              <a:t>1</a:t>
            </a:r>
            <a:r>
              <a:rPr lang="zh-CN" altLang="en-US"/>
              <a:t>：双循环直接求解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解法</a:t>
            </a:r>
            <a:r>
              <a:rPr lang="en-US" altLang="zh-CN"/>
              <a:t>2</a:t>
            </a:r>
            <a:r>
              <a:rPr lang="zh-CN" altLang="en-US"/>
              <a:t>：排序法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解法</a:t>
            </a:r>
            <a:r>
              <a:rPr lang="en-US" altLang="zh-CN"/>
              <a:t>3</a:t>
            </a:r>
            <a:r>
              <a:rPr lang="zh-CN" altLang="en-US"/>
              <a:t>：标记数组法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/>
              <a:t>标记数组法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82625" y="1417955"/>
            <a:ext cx="3155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2014</a:t>
            </a:r>
            <a:r>
              <a:rPr lang="zh-CN" altLang="x-none"/>
              <a:t>年</a:t>
            </a:r>
            <a:r>
              <a:rPr lang="en-US" altLang="zh-CN"/>
              <a:t>12</a:t>
            </a:r>
            <a:r>
              <a:rPr lang="zh-CN" altLang="en-US"/>
              <a:t>月第</a:t>
            </a:r>
            <a:r>
              <a:rPr lang="en-US" altLang="zh-CN"/>
              <a:t>1</a:t>
            </a:r>
            <a:r>
              <a:rPr lang="zh-CN" altLang="en-US"/>
              <a:t>题，门禁系统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4350" y="1991995"/>
            <a:ext cx="111633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问题描述</a:t>
            </a:r>
            <a:endParaRPr lang="zh-CN" altLang="en-US"/>
          </a:p>
          <a:p>
            <a:r>
              <a:rPr lang="zh-CN" altLang="en-US"/>
              <a:t>涛涛最近要负责图书馆的管理工作，需要记录下每天读者的到访情况。每位读者有一个编号，每条记录用读者的编号来表示。给出读者的来访记录，请问每一条记录中的读者是第几次出现。</a:t>
            </a:r>
            <a:endParaRPr lang="zh-CN" altLang="en-US"/>
          </a:p>
          <a:p>
            <a:r>
              <a:rPr lang="zh-CN" altLang="en-US" b="1"/>
              <a:t>输入格式</a:t>
            </a:r>
            <a:endParaRPr lang="zh-CN" altLang="en-US"/>
          </a:p>
          <a:p>
            <a:r>
              <a:rPr lang="zh-CN" altLang="en-US"/>
              <a:t>输入的第一行包含一个整数n，表示涛涛的记录条数。</a:t>
            </a:r>
            <a:endParaRPr lang="zh-CN" altLang="en-US"/>
          </a:p>
          <a:p>
            <a:r>
              <a:rPr lang="zh-CN" altLang="en-US"/>
              <a:t>第二行包含n个整数，依次表示涛涛的记录中每位读者的编号。</a:t>
            </a:r>
            <a:endParaRPr lang="zh-CN" altLang="en-US"/>
          </a:p>
          <a:p>
            <a:r>
              <a:rPr lang="zh-CN" altLang="en-US" b="1"/>
              <a:t>输出格式</a:t>
            </a:r>
            <a:endParaRPr lang="zh-CN" altLang="en-US"/>
          </a:p>
          <a:p>
            <a:r>
              <a:rPr lang="zh-CN" altLang="en-US"/>
              <a:t>输出一行，包含n个整数，由空格分隔，依次表示每条记录中的读者编号是第几次出现。</a:t>
            </a:r>
            <a:endParaRPr lang="zh-CN" altLang="en-US"/>
          </a:p>
          <a:p>
            <a:r>
              <a:rPr lang="zh-CN" altLang="en-US" b="1"/>
              <a:t>样例输入</a:t>
            </a:r>
            <a:endParaRPr lang="zh-CN" altLang="en-US"/>
          </a:p>
          <a:p>
            <a:r>
              <a:rPr lang="zh-CN" altLang="en-US"/>
              <a:t>5</a:t>
            </a:r>
            <a:endParaRPr lang="zh-CN" altLang="en-US"/>
          </a:p>
          <a:p>
            <a:r>
              <a:rPr lang="zh-CN" altLang="en-US"/>
              <a:t>1 2 1 1 3</a:t>
            </a:r>
            <a:endParaRPr lang="zh-CN" altLang="en-US"/>
          </a:p>
          <a:p>
            <a:r>
              <a:rPr lang="zh-CN" altLang="en-US" b="1"/>
              <a:t>样例输出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1 1 2 3 1</a:t>
            </a:r>
            <a:endParaRPr lang="zh-CN" altLang="en-US"/>
          </a:p>
          <a:p>
            <a:r>
              <a:rPr lang="zh-CN" altLang="en-US" b="1"/>
              <a:t>评测用例规模与约定</a:t>
            </a:r>
            <a:endParaRPr lang="zh-CN" altLang="en-US" b="1"/>
          </a:p>
          <a:p>
            <a:pPr algn="l">
              <a:buClrTx/>
              <a:buSzTx/>
              <a:buFontTx/>
            </a:pPr>
            <a:r>
              <a:rPr lang="zh-CN" altLang="en-US"/>
              <a:t>1≤n≤1,000，读者的编号为不超过n的正整数。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朴素筛法求素数。</a:t>
            </a:r>
            <a:endParaRPr lang="zh-CN" altLang="x-none"/>
          </a:p>
        </p:txBody>
      </p:sp>
      <p:sp>
        <p:nvSpPr>
          <p:cNvPr id="7" name="矩形 6"/>
          <p:cNvSpPr/>
          <p:nvPr/>
        </p:nvSpPr>
        <p:spPr bwMode="auto">
          <a:xfrm>
            <a:off x="660400" y="1994535"/>
            <a:ext cx="5933440" cy="329184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int primes[N], cnt;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primes[]存储所有素数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bool st[N];    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st[x]存储x是否被筛掉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void get_primes(int n)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n;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(st[i]) continue;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primes[cnt ++ ] = i;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for (int j = i + i; j &lt;= n; j += i)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st[j] = true;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79895" y="1994535"/>
            <a:ext cx="485076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此筛选法的时间复杂度是O(nloglogn) 空间复杂度是O(n)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不足之处</a:t>
            </a:r>
            <a:r>
              <a:rPr lang="x-none" altLang="zh-CN"/>
              <a:t>: </a:t>
            </a:r>
            <a:r>
              <a:rPr lang="zh-CN" altLang="en-US"/>
              <a:t>很多数被重复处理了，例如6，在素数为2的时候标记了1次，为3的时候又标记</a:t>
            </a:r>
            <a:r>
              <a:rPr lang="en-US" altLang="zh-CN"/>
              <a:t>1</a:t>
            </a:r>
            <a:r>
              <a:rPr lang="zh-CN" altLang="en-US"/>
              <a:t>次，造成了一些浪费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>
                <a:sym typeface="+mn-ea"/>
              </a:rPr>
              <a:t>线性筛法求素数</a:t>
            </a:r>
            <a:r>
              <a:rPr lang="zh-CN" altLang="x-none"/>
              <a:t>。（欧拉筛法）</a:t>
            </a:r>
            <a:endParaRPr lang="zh-CN" altLang="x-none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78660"/>
            <a:ext cx="9209405" cy="48304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955530" y="1978660"/>
            <a:ext cx="20059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要点在于保证每个合数只会被它的最小质因数筛去，因此每个数只会被标记一次，所以时间复杂度是O(n)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素数问题</a:t>
            </a:r>
            <a:endParaRPr lang="zh-CN" altLang="x-none"/>
          </a:p>
        </p:txBody>
      </p:sp>
      <p:sp>
        <p:nvSpPr>
          <p:cNvPr id="2" name="矩形 1"/>
          <p:cNvSpPr/>
          <p:nvPr/>
        </p:nvSpPr>
        <p:spPr bwMode="auto">
          <a:xfrm>
            <a:off x="1818640" y="2251075"/>
            <a:ext cx="5046345" cy="156845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for(i=2;i&lt;n;i++)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if(n%i==0)    break;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if(i==n)    printf("YES\n");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else           printf("NO\n");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818640" y="4371975"/>
            <a:ext cx="6358255" cy="181483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x=(int)sqrt(n);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for(i=2;i&lt;=x;i++)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if(n%i==0)    break;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if(i&gt;x)    printf("YES\n");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else           printf("NO\n");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试除法判断是否是素数。</a:t>
            </a:r>
            <a:endParaRPr lang="zh-CN" altLang="x-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>
                <a:sym typeface="+mn-ea"/>
              </a:rPr>
              <a:t>线性筛法求素数</a:t>
            </a:r>
            <a:r>
              <a:rPr lang="zh-CN" altLang="x-none"/>
              <a:t>。（欧拉筛法）</a:t>
            </a:r>
            <a:endParaRPr lang="zh-CN" altLang="x-none"/>
          </a:p>
        </p:txBody>
      </p:sp>
      <p:sp>
        <p:nvSpPr>
          <p:cNvPr id="7" name="矩形 6"/>
          <p:cNvSpPr/>
          <p:nvPr/>
        </p:nvSpPr>
        <p:spPr bwMode="auto">
          <a:xfrm>
            <a:off x="660400" y="1994535"/>
            <a:ext cx="5933440" cy="37846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int primes[N], cnt;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primes[]存储所有素数</a:t>
            </a:r>
            <a:endParaRPr lang="en-US" altLang="zh-CN" sz="1600" dirty="0" smtClean="0">
              <a:solidFill>
                <a:srgbClr val="00B050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bool st[N];    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st[x]存储x是否被筛掉</a:t>
            </a:r>
            <a:endParaRPr lang="en-US" altLang="zh-CN" sz="1600" dirty="0" smtClean="0">
              <a:solidFill>
                <a:srgbClr val="00B050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void get_primes(int n)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n;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(!st[i]) primes[cnt ++ ] = i;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for (int j = 0; primes[j] &lt;= n / i; j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st[primes[j] * i] = true;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if (i % primes[j] == 0) break;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19290" y="1932940"/>
            <a:ext cx="4563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要点在于保证每个合数只会被它的最小质因数筛去，因此每个数只会被标记一次，所以时间复杂度是O(n)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19290" y="3571875"/>
            <a:ext cx="456438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举个例子，对于一个数9，9*2=18将18标记为合数，循环继续；9*3=27将27标记为合数，此时发现9%3=0，循环退出。如果将循环继续下去会出现筛除9*5=45的情况，而45=15*3，在15时会被在筛去一次，故不可行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素数问题</a:t>
            </a:r>
            <a:endParaRPr lang="zh-CN" altLang="x-none"/>
          </a:p>
        </p:txBody>
      </p:sp>
      <p:sp>
        <p:nvSpPr>
          <p:cNvPr id="5" name="矩形 4"/>
          <p:cNvSpPr/>
          <p:nvPr/>
        </p:nvSpPr>
        <p:spPr bwMode="auto">
          <a:xfrm>
            <a:off x="609600" y="2142490"/>
            <a:ext cx="4549775" cy="230695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bool is_prime(int x)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 (x &lt; 2) return false;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x / i;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(x % i == 0)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return false;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return true;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试除法判断是否是素数。</a:t>
            </a:r>
            <a:endParaRPr lang="zh-CN" altLang="x-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试除法分解质因数。</a:t>
            </a:r>
            <a:endParaRPr lang="zh-CN" altLang="x-none"/>
          </a:p>
        </p:txBody>
      </p:sp>
      <p:sp>
        <p:nvSpPr>
          <p:cNvPr id="7" name="矩形 6"/>
          <p:cNvSpPr/>
          <p:nvPr/>
        </p:nvSpPr>
        <p:spPr bwMode="auto">
          <a:xfrm>
            <a:off x="660400" y="1994535"/>
            <a:ext cx="5933440" cy="304609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void divide(int x)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x / i;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(x % i == 0)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int s = 0;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while (x % i == 0) x /= i, s ++ 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cout &lt;&lt; i &lt;&lt; ' ' &lt;&lt; s &lt;&lt; endl;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 (x &gt; 1) cout &lt;&lt; x &lt;&lt; ' ' &lt;&lt; 1 &lt;&lt; endl;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cout &lt;&lt; endl;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159" r="1337" b="51992"/>
          <a:stretch>
            <a:fillRect/>
          </a:stretch>
        </p:blipFill>
        <p:spPr>
          <a:xfrm>
            <a:off x="508000" y="1861820"/>
            <a:ext cx="11176635" cy="4290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2625" y="1417955"/>
            <a:ext cx="3155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</a:t>
            </a:r>
            <a:r>
              <a:rPr lang="en-US" altLang="x-none"/>
              <a:t>23</a:t>
            </a:r>
            <a:r>
              <a:rPr lang="zh-CN" altLang="x-none"/>
              <a:t>年</a:t>
            </a:r>
            <a:r>
              <a:rPr lang="en-US" altLang="zh-CN"/>
              <a:t>12</a:t>
            </a:r>
            <a:r>
              <a:rPr lang="zh-CN" altLang="en-US"/>
              <a:t>月第</a:t>
            </a:r>
            <a:r>
              <a:rPr lang="en-US" altLang="zh-CN"/>
              <a:t>2</a:t>
            </a:r>
            <a:r>
              <a:rPr lang="zh-CN" altLang="en-US"/>
              <a:t>题，因子分解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73" t="49707" r="1196"/>
          <a:stretch>
            <a:fillRect/>
          </a:stretch>
        </p:blipFill>
        <p:spPr>
          <a:xfrm>
            <a:off x="609600" y="1887220"/>
            <a:ext cx="11204575" cy="44767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2625" y="1417955"/>
            <a:ext cx="3155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</a:t>
            </a:r>
            <a:r>
              <a:rPr lang="en-US" altLang="x-none"/>
              <a:t>23</a:t>
            </a:r>
            <a:r>
              <a:rPr lang="zh-CN" altLang="x-none"/>
              <a:t>年</a:t>
            </a:r>
            <a:r>
              <a:rPr lang="en-US" altLang="zh-CN"/>
              <a:t>12</a:t>
            </a:r>
            <a:r>
              <a:rPr lang="zh-CN" altLang="en-US"/>
              <a:t>月第</a:t>
            </a:r>
            <a:r>
              <a:rPr lang="en-US" altLang="zh-CN"/>
              <a:t>2</a:t>
            </a:r>
            <a:r>
              <a:rPr lang="zh-CN" altLang="en-US"/>
              <a:t>题，因子分解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假设一个单调递增的数组里的每个元素都是整数并且是唯一的。请编程实现一个函数找出数组中任意一个数值等于其下标的元素。</a:t>
            </a:r>
            <a:endParaRPr lang="zh-CN" altLang="en-US"/>
          </a:p>
          <a:p>
            <a:pPr lvl="1"/>
            <a:r>
              <a:rPr lang="zh-CN" altLang="en-US"/>
              <a:t>例如，在数组 [−3,−1,1,3,5] 中，数字 3 和它的下标相等。</a:t>
            </a:r>
            <a:endParaRPr lang="zh-CN" altLang="en-US"/>
          </a:p>
          <a:p>
            <a:pPr lvl="1"/>
            <a:r>
              <a:rPr lang="zh-CN" altLang="en-US"/>
              <a:t>数据范围</a:t>
            </a:r>
            <a:r>
              <a:rPr lang="en-US" altLang="zh-CN"/>
              <a:t>:</a:t>
            </a:r>
            <a:r>
              <a:rPr lang="zh-CN" altLang="en-US"/>
              <a:t>数组长度 [1,100]。</a:t>
            </a:r>
            <a:endParaRPr lang="zh-CN" altLang="en-US"/>
          </a:p>
          <a:p>
            <a:pPr lvl="1"/>
            <a:r>
              <a:rPr lang="zh-CN" altLang="en-US"/>
              <a:t>样例</a:t>
            </a:r>
            <a:r>
              <a:rPr lang="en-US" altLang="zh-CN"/>
              <a:t>,</a:t>
            </a:r>
            <a:r>
              <a:rPr lang="zh-CN" altLang="en-US"/>
              <a:t>输入：[-3, -1, 1, 3, 5]</a:t>
            </a:r>
            <a:r>
              <a:rPr lang="en-US" altLang="zh-CN"/>
              <a:t>   </a:t>
            </a:r>
            <a:r>
              <a:rPr lang="zh-CN" altLang="en-US"/>
              <a:t>输出：3</a:t>
            </a:r>
            <a:endParaRPr lang="zh-CN" altLang="en-US"/>
          </a:p>
          <a:p>
            <a:pPr lvl="1"/>
            <a:r>
              <a:rPr lang="zh-CN" altLang="en-US"/>
              <a:t>注意:如果不存在，则返回-1。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sp>
        <p:nvSpPr>
          <p:cNvPr id="3" name="文本框 2"/>
          <p:cNvSpPr txBox="1"/>
          <p:nvPr/>
        </p:nvSpPr>
        <p:spPr>
          <a:xfrm>
            <a:off x="609600" y="1509395"/>
            <a:ext cx="10842625" cy="3784600"/>
          </a:xfrm>
          <a:prstGeom prst="rect">
            <a:avLst/>
          </a:prstGeom>
          <a:noFill/>
          <a:ln w="12700" cmpd="sng">
            <a:solidFill>
              <a:srgbClr val="92D050"/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int </a:t>
            </a:r>
            <a:r>
              <a:rPr lang="en-US" altLang="zh-CN" sz="2400">
                <a:sym typeface="+mn-ea"/>
              </a:rPr>
              <a:t>s</a:t>
            </a:r>
            <a:r>
              <a:rPr lang="zh-CN" altLang="en-US" sz="2400">
                <a:sym typeface="+mn-ea"/>
              </a:rPr>
              <a:t>ameAsIndex(</a:t>
            </a:r>
            <a:r>
              <a:rPr lang="x-none" altLang="zh-CN" sz="2400">
                <a:sym typeface="+mn-ea"/>
              </a:rPr>
              <a:t>nums</a:t>
            </a:r>
            <a:r>
              <a:rPr lang="en-US" altLang="zh-CN" sz="2400">
                <a:sym typeface="+mn-ea"/>
              </a:rPr>
              <a:t>,n</a:t>
            </a:r>
            <a:r>
              <a:rPr lang="zh-CN" altLang="en-US" sz="2400">
                <a:sym typeface="+mn-ea"/>
              </a:rPr>
              <a:t>) {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int l=0,r=</a:t>
            </a:r>
            <a:r>
              <a:rPr lang="en-US" altLang="zh-CN" sz="2400">
                <a:sym typeface="+mn-ea"/>
              </a:rPr>
              <a:t>n</a:t>
            </a:r>
            <a:r>
              <a:rPr lang="en-US" altLang="zh-CN" sz="2400">
                <a:sym typeface="+mn-ea"/>
              </a:rPr>
              <a:t>-1</a:t>
            </a:r>
            <a:r>
              <a:rPr lang="zh-CN" altLang="en-US" sz="2400">
                <a:sym typeface="+mn-ea"/>
              </a:rPr>
              <a:t>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while(l&lt;=r){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int mid=(l+r)/2;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if(nums[mid]==mid)return mid;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if(nums[mid]&gt;mid)r=mid-1;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else l=mid+1;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}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return -1;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}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231140" y="1581150"/>
            <a:ext cx="1164082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儿童节那天有 K位小朋友到小明家做客。小明拿出了珍藏的巧克力招待小朋友们。小明一共有 N块巧克力，其中第 i 块是 Hi×Wi的方格组成的长方形。为了公平起见，小明需要从这 N块巧克力中切出 K块巧克力分给小朋友们。切出的巧克力需要满足：形状是正方形，边长是整数,大小相同例如一块 6×5的巧克力可以切出 6 块 2×2 的巧克力或者 2 块 3×3的巧克力。当然小朋友们都希望得到的巧克力尽可能大，你能帮小明计算出最大的边长是多少么？</a:t>
            </a:r>
            <a:endParaRPr lang="zh-CN" altLang="en-US"/>
          </a:p>
          <a:p>
            <a:r>
              <a:rPr lang="zh-CN" altLang="en-US"/>
              <a:t>输入格式</a:t>
            </a:r>
            <a:endParaRPr lang="zh-CN" altLang="en-US"/>
          </a:p>
          <a:p>
            <a:r>
              <a:rPr lang="zh-CN" altLang="en-US"/>
              <a:t>第一行包含两个整数 N和 K。以下 N行每行包含两个整数 Hi 和 Wi。</a:t>
            </a:r>
            <a:endParaRPr lang="zh-CN" altLang="en-US"/>
          </a:p>
          <a:p>
            <a:r>
              <a:rPr lang="zh-CN" altLang="en-US"/>
              <a:t>输入保证每位小朋友至少能获得一块 1×1的巧克力。</a:t>
            </a:r>
            <a:endParaRPr lang="zh-CN" altLang="en-US"/>
          </a:p>
          <a:p>
            <a:r>
              <a:rPr lang="zh-CN" altLang="en-US"/>
              <a:t>输出格式</a:t>
            </a:r>
            <a:endParaRPr lang="zh-CN" altLang="en-US"/>
          </a:p>
          <a:p>
            <a:r>
              <a:rPr lang="zh-CN" altLang="en-US"/>
              <a:t>输出切出的正方形巧克力最大可能的边长。</a:t>
            </a:r>
            <a:endParaRPr lang="zh-CN" altLang="en-US"/>
          </a:p>
          <a:p>
            <a:r>
              <a:rPr lang="zh-CN" altLang="en-US"/>
              <a:t>数据范围</a:t>
            </a:r>
            <a:endParaRPr lang="zh-CN" altLang="en-US"/>
          </a:p>
          <a:p>
            <a:r>
              <a:rPr lang="zh-CN" altLang="en-US"/>
              <a:t>1≤N,K≤10</a:t>
            </a:r>
            <a:r>
              <a:rPr lang="zh-CN" altLang="en-US" baseline="30000"/>
              <a:t>5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1≤Hi,Wi≤10</a:t>
            </a:r>
            <a:r>
              <a:rPr lang="zh-CN" altLang="en-US" baseline="30000"/>
              <a:t>5</a:t>
            </a:r>
            <a:endParaRPr lang="zh-CN" altLang="en-US"/>
          </a:p>
          <a:p>
            <a:r>
              <a:rPr lang="zh-CN" altLang="en-US"/>
              <a:t>输入样例：</a:t>
            </a:r>
            <a:endParaRPr lang="zh-CN" altLang="en-US"/>
          </a:p>
          <a:p>
            <a:r>
              <a:rPr lang="zh-CN" altLang="en-US"/>
              <a:t>2 10</a:t>
            </a:r>
            <a:endParaRPr lang="zh-CN" altLang="en-US"/>
          </a:p>
          <a:p>
            <a:r>
              <a:rPr lang="zh-CN" altLang="en-US"/>
              <a:t>6 5</a:t>
            </a:r>
            <a:endParaRPr lang="zh-CN" altLang="en-US"/>
          </a:p>
          <a:p>
            <a:r>
              <a:rPr lang="zh-CN" altLang="en-US"/>
              <a:t>5 6</a:t>
            </a:r>
            <a:endParaRPr lang="zh-CN" altLang="en-US"/>
          </a:p>
          <a:p>
            <a:r>
              <a:rPr lang="zh-CN" altLang="en-US"/>
              <a:t>输出样例：</a:t>
            </a:r>
            <a:endParaRPr lang="zh-CN" altLang="en-US"/>
          </a:p>
          <a:p>
            <a:r>
              <a:rPr lang="zh-CN" altLang="en-US"/>
              <a:t>2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65" y="2093595"/>
            <a:ext cx="11880000" cy="454090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25" y="1708150"/>
            <a:ext cx="681037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00" y="1463675"/>
            <a:ext cx="11880000" cy="39795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35310"/>
          <a:stretch>
            <a:fillRect/>
          </a:stretch>
        </p:blipFill>
        <p:spPr>
          <a:xfrm>
            <a:off x="156210" y="389255"/>
            <a:ext cx="1743075" cy="2286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00" y="2762250"/>
            <a:ext cx="11880000" cy="365163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73028"/>
          <a:stretch>
            <a:fillRect/>
          </a:stretch>
        </p:blipFill>
        <p:spPr>
          <a:xfrm>
            <a:off x="1369060" y="1661795"/>
            <a:ext cx="1743075" cy="9531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00" y="1458595"/>
            <a:ext cx="11880000" cy="27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220" y="2494915"/>
            <a:ext cx="1866900" cy="36099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2014</a:t>
            </a:r>
            <a:r>
              <a:rPr lang="zh-CN" altLang="en-US"/>
              <a:t>年</a:t>
            </a:r>
            <a:r>
              <a:rPr lang="en-US" altLang="zh-CN"/>
              <a:t>3</a:t>
            </a:r>
            <a:r>
              <a:rPr lang="zh-CN" altLang="en-US"/>
              <a:t>月</a:t>
            </a:r>
            <a:r>
              <a:rPr lang="en-US" altLang="zh-CN"/>
              <a:t>CSP</a:t>
            </a:r>
            <a:r>
              <a:rPr lang="zh-CN" altLang="en-US"/>
              <a:t>认证第</a:t>
            </a:r>
            <a:r>
              <a:rPr lang="en-US" altLang="zh-CN"/>
              <a:t>2</a:t>
            </a:r>
            <a:r>
              <a:rPr lang="zh-CN" altLang="en-US"/>
              <a:t>题</a:t>
            </a:r>
            <a:r>
              <a:rPr lang="en-US" altLang="zh-CN"/>
              <a:t> </a:t>
            </a:r>
            <a:r>
              <a:rPr lang="zh-CN" altLang="en-US"/>
              <a:t>窗口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3178" y="1556385"/>
            <a:ext cx="960564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问题描述</a:t>
            </a:r>
            <a:endParaRPr lang="zh-CN" altLang="en-US" b="1"/>
          </a:p>
          <a:p>
            <a:r>
              <a:rPr lang="zh-CN" altLang="en-US"/>
              <a:t>　　在某图形操作系统中,有 N 个窗口,每个窗口都是一个两边与坐标轴分别平行的矩形区域。窗口的边界上的点也属于该窗口。窗口之间有层次的区别,在多于一个窗口重叠的区域里,只会显示位于顶层的窗口里的内容。</a:t>
            </a:r>
            <a:endParaRPr lang="zh-CN" altLang="en-US"/>
          </a:p>
          <a:p>
            <a:r>
              <a:rPr lang="zh-CN" altLang="en-US"/>
              <a:t>　　当你点击屏幕上一个点的时候,你就选择了处于被点击位置的最顶层窗口,并且这个窗口就会被移到所有窗口的最顶层,而剩余的窗口的层次顺序不变。如果你点击的位置不属于任何窗口,则系统会忽略你这次点击。</a:t>
            </a:r>
            <a:endParaRPr lang="zh-CN" altLang="en-US"/>
          </a:p>
          <a:p>
            <a:r>
              <a:rPr lang="zh-CN" altLang="en-US"/>
              <a:t>　　现在我们希望你写一个程序模拟点击窗口的过程。</a:t>
            </a:r>
            <a:endParaRPr lang="zh-CN" altLang="en-US"/>
          </a:p>
          <a:p>
            <a:r>
              <a:rPr lang="zh-CN" altLang="en-US" b="1"/>
              <a:t>输入格式</a:t>
            </a:r>
            <a:endParaRPr lang="zh-CN" altLang="en-US" b="1"/>
          </a:p>
          <a:p>
            <a:r>
              <a:rPr lang="zh-CN" altLang="en-US"/>
              <a:t>　　输入的第一行有两个正整数,即 N 和 M。(1 ≤ N ≤ 10,1 ≤ M ≤ 10)</a:t>
            </a:r>
            <a:endParaRPr lang="zh-CN" altLang="en-US"/>
          </a:p>
          <a:p>
            <a:r>
              <a:rPr lang="zh-CN" altLang="en-US"/>
              <a:t>　　接下来 N 行按照从最下层到最顶层的顺序给出 N 个窗口的位置。 每行包含四个非负整数 x1, y1, x2, y2,表示该窗口的一对顶点坐标分别为 (x1, y1) 和 (x2, y2)。保证 x1 &lt; x2,y1 2。</a:t>
            </a:r>
            <a:endParaRPr lang="zh-CN" altLang="en-US"/>
          </a:p>
          <a:p>
            <a:r>
              <a:rPr lang="zh-CN" altLang="en-US"/>
              <a:t>　　接下来 M 行每行包含两个非负整数 x, y,表示一次鼠标点击的坐标。</a:t>
            </a:r>
            <a:endParaRPr lang="zh-CN" altLang="en-US"/>
          </a:p>
          <a:p>
            <a:r>
              <a:rPr lang="zh-CN" altLang="en-US"/>
              <a:t>　　题目中涉及到的所有点和矩形的顶点的 x, y 坐标分别不超过 2559 和　　1439。</a:t>
            </a:r>
            <a:endParaRPr lang="zh-CN" altLang="en-US"/>
          </a:p>
          <a:p>
            <a:r>
              <a:rPr lang="zh-CN" altLang="en-US" b="1"/>
              <a:t>输出格式</a:t>
            </a:r>
            <a:endParaRPr lang="zh-CN" altLang="en-US" b="1"/>
          </a:p>
          <a:p>
            <a:r>
              <a:rPr lang="zh-CN" altLang="en-US"/>
              <a:t>　　输出包括 M 行,每一行表示一次鼠标点击的结果。如果该次鼠标点击选择了一个窗口,则输出这个窗口的编号(窗口按照输入中的顺序从 1 编号到 N);如果没有,则输出"IGNORED"(不含双引号)。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2014</a:t>
            </a:r>
            <a:r>
              <a:rPr lang="zh-CN" altLang="en-US"/>
              <a:t>年</a:t>
            </a:r>
            <a:r>
              <a:rPr lang="en-US" altLang="zh-CN"/>
              <a:t>3</a:t>
            </a:r>
            <a:r>
              <a:rPr lang="zh-CN" altLang="en-US"/>
              <a:t>月</a:t>
            </a:r>
            <a:r>
              <a:rPr lang="en-US" altLang="zh-CN"/>
              <a:t>CSP</a:t>
            </a:r>
            <a:r>
              <a:rPr lang="zh-CN" altLang="en-US"/>
              <a:t>认证第</a:t>
            </a:r>
            <a:r>
              <a:rPr lang="en-US" altLang="zh-CN"/>
              <a:t>2</a:t>
            </a:r>
            <a:r>
              <a:rPr lang="zh-CN" altLang="en-US"/>
              <a:t>题</a:t>
            </a:r>
            <a:r>
              <a:rPr lang="en-US" altLang="zh-CN"/>
              <a:t> </a:t>
            </a:r>
            <a:r>
              <a:rPr lang="zh-CN" altLang="en-US"/>
              <a:t>窗口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1863090"/>
            <a:ext cx="28905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样例输入</a:t>
            </a:r>
            <a:endParaRPr lang="zh-CN" altLang="en-US"/>
          </a:p>
          <a:p>
            <a:r>
              <a:rPr lang="zh-CN" altLang="en-US"/>
              <a:t>3 4</a:t>
            </a:r>
            <a:endParaRPr lang="zh-CN" altLang="en-US"/>
          </a:p>
          <a:p>
            <a:r>
              <a:rPr lang="zh-CN" altLang="en-US"/>
              <a:t>0 0 4 4</a:t>
            </a:r>
            <a:endParaRPr lang="zh-CN" altLang="en-US"/>
          </a:p>
          <a:p>
            <a:r>
              <a:rPr lang="zh-CN" altLang="en-US"/>
              <a:t>1 1 5 5</a:t>
            </a:r>
            <a:endParaRPr lang="zh-CN" altLang="en-US"/>
          </a:p>
          <a:p>
            <a:r>
              <a:rPr lang="zh-CN" altLang="en-US"/>
              <a:t>2 2 6 6</a:t>
            </a:r>
            <a:endParaRPr lang="zh-CN" altLang="en-US"/>
          </a:p>
          <a:p>
            <a:r>
              <a:rPr lang="zh-CN" altLang="en-US"/>
              <a:t>1 1</a:t>
            </a:r>
            <a:endParaRPr lang="zh-CN" altLang="en-US"/>
          </a:p>
          <a:p>
            <a:r>
              <a:rPr lang="zh-CN" altLang="en-US"/>
              <a:t>0 0</a:t>
            </a:r>
            <a:endParaRPr lang="zh-CN" altLang="en-US"/>
          </a:p>
          <a:p>
            <a:r>
              <a:rPr lang="zh-CN" altLang="en-US"/>
              <a:t>4 4</a:t>
            </a:r>
            <a:endParaRPr lang="zh-CN" altLang="en-US"/>
          </a:p>
          <a:p>
            <a:r>
              <a:rPr lang="zh-CN" altLang="en-US"/>
              <a:t>0 5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40635" y="3784600"/>
            <a:ext cx="927227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样例说明：</a:t>
            </a:r>
            <a:endParaRPr lang="zh-CN" altLang="en-US"/>
          </a:p>
          <a:p>
            <a:r>
              <a:rPr lang="zh-CN" altLang="en-US"/>
              <a:t>第一次点击的位置同时属于第 1 和第 2 个窗口,但是由于第 2 个窗口在上面,它被选择并且被置于顶层。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第二次点击的位置只属于第 1 个窗口,因此该次点击选择了此窗口并将其置于顶层。现在的三个窗口的层次关系与初始状态恰好相反了。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第三次点击的位置同时属于三个窗口的范围,但是由于现在第 1 个窗口处于顶层,它被选择。最后点击的 (0, 5) 不属于任何窗口。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81375" y="1863090"/>
            <a:ext cx="27959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样例输出</a:t>
            </a:r>
            <a:endParaRPr lang="zh-CN" altLang="en-US"/>
          </a:p>
          <a:p>
            <a:r>
              <a:rPr lang="zh-CN" altLang="en-US"/>
              <a:t>2</a:t>
            </a:r>
            <a:endParaRPr lang="zh-CN" altLang="en-US"/>
          </a:p>
          <a:p>
            <a:r>
              <a:rPr lang="zh-CN" altLang="en-US"/>
              <a:t>1</a:t>
            </a:r>
            <a:endParaRPr lang="zh-CN" altLang="en-US"/>
          </a:p>
          <a:p>
            <a:r>
              <a:rPr lang="zh-CN" altLang="en-US"/>
              <a:t>1</a:t>
            </a:r>
            <a:endParaRPr lang="zh-CN" altLang="en-US"/>
          </a:p>
          <a:p>
            <a:r>
              <a:rPr lang="zh-CN" altLang="en-US"/>
              <a:t>IGNORED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3902</Words>
  <Application>WPS 演示</Application>
  <PresentationFormat>宽屏</PresentationFormat>
  <Paragraphs>250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DejaVu Sans</vt:lpstr>
      <vt:lpstr>方正书宋_GBK</vt:lpstr>
      <vt:lpstr>Times New Roman</vt:lpstr>
      <vt:lpstr>Consolas</vt:lpstr>
      <vt:lpstr>微软雅黑</vt:lpstr>
      <vt:lpstr>Arial Unicode MS</vt:lpstr>
      <vt:lpstr>默认设计模板</vt:lpstr>
      <vt:lpstr>编程实训</vt:lpstr>
      <vt:lpstr>标记数组法</vt:lpstr>
      <vt:lpstr>标记数组法</vt:lpstr>
      <vt:lpstr>标记数组法</vt:lpstr>
      <vt:lpstr>素数问题</vt:lpstr>
      <vt:lpstr>素数问题</vt:lpstr>
      <vt:lpstr>素数问题</vt:lpstr>
      <vt:lpstr>素数问题</vt:lpstr>
      <vt:lpstr>素数问题</vt:lpstr>
      <vt:lpstr>素数问题</vt:lpstr>
      <vt:lpstr>素数问题</vt:lpstr>
      <vt:lpstr>素数问题</vt:lpstr>
      <vt:lpstr>二分法初步</vt:lpstr>
      <vt:lpstr>二分法初步</vt:lpstr>
      <vt:lpstr>二分法初步</vt:lpstr>
      <vt:lpstr>二分法初步</vt:lpstr>
      <vt:lpstr>二分法初步</vt:lpstr>
      <vt:lpstr>二分法初步</vt:lpstr>
      <vt:lpstr>二分法初步</vt:lpstr>
      <vt:lpstr>示例2014年3月CSP认证第2题 窗口</vt:lpstr>
      <vt:lpstr>示例2014年3月CSP认证第2题 窗口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203</cp:revision>
  <dcterms:created xsi:type="dcterms:W3CDTF">2024-07-03T00:35:14Z</dcterms:created>
  <dcterms:modified xsi:type="dcterms:W3CDTF">2024-07-03T00:35:14Z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