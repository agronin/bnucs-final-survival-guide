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28"/>
  </p:handoutMasterIdLst>
  <p:sldIdLst>
    <p:sldId id="256" r:id="rId3"/>
    <p:sldId id="346" r:id="rId4"/>
    <p:sldId id="361" r:id="rId5"/>
    <p:sldId id="362" r:id="rId6"/>
    <p:sldId id="379" r:id="rId7"/>
    <p:sldId id="363" r:id="rId8"/>
    <p:sldId id="302" r:id="rId9"/>
    <p:sldId id="328" r:id="rId10"/>
    <p:sldId id="329" r:id="rId11"/>
    <p:sldId id="330" r:id="rId12"/>
    <p:sldId id="331" r:id="rId13"/>
    <p:sldId id="332" r:id="rId14"/>
    <p:sldId id="333" r:id="rId15"/>
    <p:sldId id="336" r:id="rId17"/>
    <p:sldId id="334" r:id="rId18"/>
    <p:sldId id="335" r:id="rId19"/>
    <p:sldId id="311" r:id="rId20"/>
    <p:sldId id="342" r:id="rId21"/>
    <p:sldId id="377" r:id="rId22"/>
    <p:sldId id="326" r:id="rId23"/>
    <p:sldId id="395" r:id="rId24"/>
    <p:sldId id="396" r:id="rId25"/>
    <p:sldId id="397" r:id="rId26"/>
    <p:sldId id="398" r:id="rId2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C4F9"/>
    <a:srgbClr val="DAD95E"/>
    <a:srgbClr val="FFFD39"/>
    <a:srgbClr val="D5DDB6"/>
    <a:srgbClr val="D8EEC0"/>
    <a:srgbClr val="B2B2B2"/>
    <a:srgbClr val="202020"/>
    <a:srgbClr val="323232"/>
    <a:srgbClr val="CC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7D9A98-2B42-4142-BB4A-011734DDEA8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45CD9-59AE-47D5-A754-1A2E716032D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C0B74-A019-4836-B5B5-59DC98D9D11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E9ABB-008D-4A49-98AB-65CBC48B6E0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1AF4AC-5AFC-4379-B912-FCE9AB7477D3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CB94C3-E8AB-48D9-9ACF-D6A872E379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F3D532-36F8-4FDA-B03A-4B8348962AD1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E36FBE-6B4B-43FF-96F5-6DA1400F83A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DejaVu Sans" panose="020B0606030804020204" charset="2"/>
              </a:rPr>
            </a:fld>
            <a:endParaRPr lang="zh-CN" altLang="en-US" dirty="0">
              <a:latin typeface="DejaVu Sans" panose="020B0606030804020204" charset="2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7154CD-0EEC-4E10-9317-350E399CCCA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DejaVu Sans" panose="020B0606030804020204" charset="2"/>
              </a:rPr>
            </a:fld>
            <a:endParaRPr lang="zh-CN" altLang="en-US" dirty="0">
              <a:latin typeface="DejaVu Sans" panose="020B0606030804020204" charset="2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x-none"/>
              <a:t>编程实训</a:t>
            </a:r>
            <a:endParaRPr lang="zh-CN" altLang="x-none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  <a:p>
            <a:r>
              <a:rPr lang="zh-CN" altLang="en-US" sz="3200"/>
              <a:t>人工智能学院</a:t>
            </a:r>
            <a:endParaRPr lang="zh-CN" alt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x-none" altLang="en-US"/>
              <a:t>C++</a:t>
            </a:r>
            <a:r>
              <a:rPr lang="zh-CN" altLang="x-none"/>
              <a:t>引用</a:t>
            </a:r>
            <a:r>
              <a:rPr lang="x-none" altLang="zh-CN"/>
              <a:t> / </a:t>
            </a:r>
            <a:r>
              <a:rPr lang="zh-CN" altLang="en-US"/>
              <a:t>输入输出</a:t>
            </a:r>
            <a:endParaRPr lang="zh-CN" altLang="x-none"/>
          </a:p>
        </p:txBody>
      </p:sp>
      <p:sp>
        <p:nvSpPr>
          <p:cNvPr id="2" name="文本框 1"/>
          <p:cNvSpPr txBox="1"/>
          <p:nvPr/>
        </p:nvSpPr>
        <p:spPr>
          <a:xfrm>
            <a:off x="609600" y="1832610"/>
            <a:ext cx="80670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引用变量是一个别名，也就是说，它是某个已存在变量的另一个名字。一旦把引用初始化为某个变量，就可以使用该引用名称或变量名称来指向变量。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2831465"/>
            <a:ext cx="806704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C++ 引用 vs 指针</a:t>
            </a:r>
            <a:r>
              <a:rPr lang="x-none" altLang="zh-CN"/>
              <a:t>    </a:t>
            </a:r>
            <a:r>
              <a:rPr lang="zh-CN" altLang="en-US"/>
              <a:t>三个主要的不同：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不存在空引用。引用必须连接到一块合法的内存。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一旦引用被初始化为一个对象，就不能被指向到另一个对象。指针可以在任</a:t>
            </a:r>
            <a:endParaRPr lang="zh-CN" altLang="en-US"/>
          </a:p>
          <a:p>
            <a:r>
              <a:rPr lang="zh-CN" altLang="en-US"/>
              <a:t> </a:t>
            </a:r>
            <a:r>
              <a:rPr lang="x-none" altLang="zh-CN"/>
              <a:t>   </a:t>
            </a:r>
            <a:r>
              <a:rPr lang="zh-CN" altLang="en-US"/>
              <a:t>何时候指向到另一个对象。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引用必须在创建时被初始化。指针可以在任何时间被初始化。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x-none" altLang="en-US">
                <a:sym typeface="+mn-ea"/>
              </a:rPr>
              <a:t>C++</a:t>
            </a:r>
            <a:r>
              <a:rPr lang="zh-CN" altLang="x-none">
                <a:sym typeface="+mn-ea"/>
              </a:rPr>
              <a:t>引用</a:t>
            </a:r>
            <a:r>
              <a:rPr lang="x-none" altLang="zh-CN">
                <a:sym typeface="+mn-ea"/>
              </a:rPr>
              <a:t> / </a:t>
            </a:r>
            <a:r>
              <a:rPr lang="zh-CN" altLang="en-US">
                <a:sym typeface="+mn-ea"/>
              </a:rPr>
              <a:t>输入输出</a:t>
            </a:r>
            <a:endParaRPr lang="zh-CN" altLang="x-none"/>
          </a:p>
        </p:txBody>
      </p:sp>
      <p:sp>
        <p:nvSpPr>
          <p:cNvPr id="6" name="文本框 5"/>
          <p:cNvSpPr txBox="1"/>
          <p:nvPr/>
        </p:nvSpPr>
        <p:spPr>
          <a:xfrm>
            <a:off x="2799398" y="1560195"/>
            <a:ext cx="6593205" cy="5077460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int main ()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int    i;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double d;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int&amp;    r = i;       </a:t>
            </a:r>
            <a:r>
              <a:rPr lang="x-none" altLang="zh-CN">
                <a:solidFill>
                  <a:srgbClr val="00B050"/>
                </a:solidFill>
                <a:sym typeface="+mn-ea"/>
              </a:rPr>
              <a:t>// 声明引用变量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double&amp; s = d;  </a:t>
            </a:r>
            <a:r>
              <a:rPr lang="x-none" altLang="zh-CN">
                <a:solidFill>
                  <a:srgbClr val="00B050"/>
                </a:solidFill>
                <a:sym typeface="+mn-ea"/>
              </a:rPr>
              <a:t>// 声明引用变量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i = 5;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cout &lt;&lt; "Value of i : " &lt;&lt; i &lt;&lt; endl;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cout &lt;&lt; "Value of i reference : " &lt;&lt; r  &lt;&lt; endl;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d = 11.7;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cout &lt;&lt; "Value of d : " &lt;&lt; d &lt;&lt; endl;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cout &lt;&lt; "Value of d reference : " &lt;&lt; s  &lt;&lt; endl;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return 0;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x-none" altLang="en-US">
                <a:sym typeface="+mn-ea"/>
              </a:rPr>
              <a:t>C++</a:t>
            </a:r>
            <a:r>
              <a:rPr lang="zh-CN" altLang="x-none">
                <a:sym typeface="+mn-ea"/>
              </a:rPr>
              <a:t>引用</a:t>
            </a:r>
            <a:r>
              <a:rPr lang="x-none" altLang="zh-CN">
                <a:sym typeface="+mn-ea"/>
              </a:rPr>
              <a:t> / </a:t>
            </a:r>
            <a:r>
              <a:rPr lang="zh-CN" altLang="en-US">
                <a:sym typeface="+mn-ea"/>
              </a:rPr>
              <a:t>输入输出</a:t>
            </a:r>
            <a:endParaRPr lang="zh-CN" altLang="x-none"/>
          </a:p>
        </p:txBody>
      </p:sp>
      <p:sp>
        <p:nvSpPr>
          <p:cNvPr id="6" name="文本框 5"/>
          <p:cNvSpPr txBox="1"/>
          <p:nvPr/>
        </p:nvSpPr>
        <p:spPr>
          <a:xfrm>
            <a:off x="609600" y="1579880"/>
            <a:ext cx="5328920" cy="4246245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void change_i(int&amp; x)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x = 6;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int main ()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int    i = 3;	   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change_i(i);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cout &lt;&lt; "Value of i : " &lt;&lt; i &lt;&lt; endl;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return 0;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01410" y="1579880"/>
            <a:ext cx="5328920" cy="4523105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void nochange_i(const int&amp; x)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int y=x+2;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cout &lt;&lt; y;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int main ()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int    i = 3;	   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nochange_i(i);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cout &lt;&lt; "Value of i : " &lt;&lt; i &lt;&lt; endl;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return 0;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68245" y="2137410"/>
            <a:ext cx="33426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x-non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的引用，因此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的改变直接改变了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变量，在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语言里面是用指针实现的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86800" y="2137410"/>
            <a:ext cx="27527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x-non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的常量引用，意为把变量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当作一个常量来使用，如果代码试图改变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的值，编译会报错。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4355" y="6096635"/>
            <a:ext cx="104247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引用在函数传递参数时避免了变量的复制，如果传递的是一个占用内存比较大的结构变量，则使用应用将提高效率。而常量引用在保证高效率的同时还保证参数不被改变。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x-none" altLang="en-US">
                <a:sym typeface="+mn-ea"/>
              </a:rPr>
              <a:t>C++</a:t>
            </a:r>
            <a:r>
              <a:rPr lang="zh-CN" altLang="x-none">
                <a:sym typeface="+mn-ea"/>
              </a:rPr>
              <a:t>引用</a:t>
            </a:r>
            <a:r>
              <a:rPr lang="x-none" altLang="zh-CN">
                <a:sym typeface="+mn-ea"/>
              </a:rPr>
              <a:t> / </a:t>
            </a:r>
            <a:r>
              <a:rPr lang="zh-CN" altLang="en-US">
                <a:sym typeface="+mn-ea"/>
              </a:rPr>
              <a:t>输入输出</a:t>
            </a:r>
            <a:endParaRPr lang="zh-CN" altLang="x-none"/>
          </a:p>
        </p:txBody>
      </p:sp>
      <p:sp>
        <p:nvSpPr>
          <p:cNvPr id="6" name="文本框 5"/>
          <p:cNvSpPr txBox="1"/>
          <p:nvPr/>
        </p:nvSpPr>
        <p:spPr>
          <a:xfrm>
            <a:off x="609600" y="1579880"/>
            <a:ext cx="5328920" cy="4246245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class A{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...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void change_Aobj(A&amp; a)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a.set_value(6);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int main ()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A x;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change_Aobj(x);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return 0;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53480" y="1579880"/>
            <a:ext cx="5328920" cy="4246245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class A{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...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void use_without_change_Aobj(const A&amp; a)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cout &lt;&lt; a.get_value() &lt;&lt;endl;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int main ()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A x;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use_without_change_Aobj(x);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return 0;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83603" y="5997575"/>
            <a:ext cx="104247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引用在函数传递参数时避免了变量的复制，如果传递的是一个占用内存比较大的结构变量，则使用应用将提高效率。而常量引用在保证高效率的同时还保证参数不被改变。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x-none" altLang="en-US">
                <a:sym typeface="+mn-ea"/>
              </a:rPr>
              <a:t>C++</a:t>
            </a:r>
            <a:r>
              <a:rPr lang="zh-CN" altLang="x-none">
                <a:sym typeface="+mn-ea"/>
              </a:rPr>
              <a:t>引用</a:t>
            </a:r>
            <a:r>
              <a:rPr lang="x-none" altLang="zh-CN">
                <a:sym typeface="+mn-ea"/>
              </a:rPr>
              <a:t> / </a:t>
            </a:r>
            <a:r>
              <a:rPr lang="zh-CN" altLang="en-US">
                <a:sym typeface="+mn-ea"/>
              </a:rPr>
              <a:t>输入输出</a:t>
            </a:r>
            <a:endParaRPr lang="zh-CN" altLang="x-none"/>
          </a:p>
        </p:txBody>
      </p:sp>
      <p:sp>
        <p:nvSpPr>
          <p:cNvPr id="3" name="文本框 2"/>
          <p:cNvSpPr txBox="1"/>
          <p:nvPr/>
        </p:nvSpPr>
        <p:spPr>
          <a:xfrm>
            <a:off x="609600" y="1832610"/>
            <a:ext cx="8067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C++</a:t>
            </a:r>
            <a:r>
              <a:rPr lang="zh-CN" altLang="en-US"/>
              <a:t>输入输出是</a:t>
            </a:r>
            <a:r>
              <a:rPr lang="en-US" altLang="zh-CN"/>
              <a:t>cin</a:t>
            </a:r>
            <a:r>
              <a:rPr lang="zh-CN" altLang="en-US"/>
              <a:t>和</a:t>
            </a:r>
            <a:r>
              <a:rPr lang="en-US" altLang="zh-CN"/>
              <a:t>cout</a:t>
            </a:r>
            <a:r>
              <a:rPr lang="zh-CN" altLang="en-US"/>
              <a:t>，使用起来比</a:t>
            </a:r>
            <a:r>
              <a:rPr lang="en-US" altLang="zh-CN"/>
              <a:t>scanf</a:t>
            </a:r>
            <a:r>
              <a:rPr lang="zh-CN" altLang="en-US"/>
              <a:t>和</a:t>
            </a:r>
            <a:r>
              <a:rPr lang="en-US" altLang="zh-CN"/>
              <a:t>printf</a:t>
            </a:r>
            <a:r>
              <a:rPr lang="zh-CN" altLang="en-US"/>
              <a:t>要方便许多。</a:t>
            </a:r>
            <a:endParaRPr lang="zh-CN" altLang="en-US"/>
          </a:p>
          <a:p>
            <a:r>
              <a:rPr lang="zh-CN" altLang="en-US"/>
              <a:t>需要包含</a:t>
            </a:r>
            <a:r>
              <a:rPr lang="x-none" altLang="zh-CN"/>
              <a:t>&lt;iostream&gt;</a:t>
            </a:r>
            <a:endParaRPr lang="x-none" altLang="zh-CN"/>
          </a:p>
          <a:p>
            <a:endParaRPr lang="x-none" altLang="zh-CN"/>
          </a:p>
          <a:p>
            <a:r>
              <a:rPr lang="x-none" altLang="zh-CN"/>
              <a:t>#include &lt;iostream&gt;</a:t>
            </a:r>
            <a:endParaRPr lang="x-none" altLang="zh-CN"/>
          </a:p>
          <a:p>
            <a:r>
              <a:rPr lang="x-none" altLang="zh-CN"/>
              <a:t>using namespace std;</a:t>
            </a:r>
            <a:endParaRPr lang="x-none" altLang="zh-CN"/>
          </a:p>
          <a:p>
            <a:endParaRPr lang="x-none" altLang="zh-CN"/>
          </a:p>
          <a:p>
            <a:r>
              <a:rPr lang="zh-CN" altLang="en-US"/>
              <a:t>然而使用方便的代价是</a:t>
            </a:r>
            <a:r>
              <a:rPr lang="en-US" altLang="zh-CN"/>
              <a:t>cin</a:t>
            </a:r>
            <a:r>
              <a:rPr lang="zh-CN" altLang="en-US"/>
              <a:t>，</a:t>
            </a:r>
            <a:r>
              <a:rPr lang="en-US" altLang="zh-CN"/>
              <a:t>cout</a:t>
            </a:r>
            <a:r>
              <a:rPr lang="zh-CN" altLang="en-US"/>
              <a:t>比起</a:t>
            </a:r>
            <a:r>
              <a:rPr lang="en-US" altLang="zh-CN"/>
              <a:t>scanf</a:t>
            </a:r>
            <a:r>
              <a:rPr lang="zh-CN" altLang="en-US"/>
              <a:t>和</a:t>
            </a:r>
            <a:r>
              <a:rPr lang="en-US" altLang="zh-CN"/>
              <a:t>printf</a:t>
            </a:r>
            <a:r>
              <a:rPr lang="zh-CN" altLang="en-US"/>
              <a:t>的效率要低一些。因此在需要大量输入输出的时候，也许使用</a:t>
            </a:r>
            <a:r>
              <a:rPr lang="en-US" altLang="zh-CN"/>
              <a:t>scanf</a:t>
            </a:r>
            <a:r>
              <a:rPr lang="zh-CN" altLang="en-US"/>
              <a:t>和</a:t>
            </a:r>
            <a:r>
              <a:rPr lang="en-US" altLang="zh-CN"/>
              <a:t>printf</a:t>
            </a:r>
            <a:r>
              <a:rPr lang="zh-CN" altLang="en-US"/>
              <a:t>要快不少。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如何在</a:t>
            </a:r>
            <a:r>
              <a:rPr lang="en-US" altLang="zh-CN"/>
              <a:t>C++</a:t>
            </a:r>
            <a:r>
              <a:rPr lang="zh-CN" altLang="en-US"/>
              <a:t>里面使用</a:t>
            </a:r>
            <a:r>
              <a:rPr lang="en-US" altLang="zh-CN"/>
              <a:t>scanf</a:t>
            </a:r>
            <a:r>
              <a:rPr lang="zh-CN" altLang="en-US"/>
              <a:t>和</a:t>
            </a:r>
            <a:r>
              <a:rPr lang="en-US" altLang="zh-CN"/>
              <a:t>printf</a:t>
            </a:r>
            <a:r>
              <a:rPr lang="zh-CN" altLang="en-US"/>
              <a:t>呢？</a:t>
            </a:r>
            <a:endParaRPr lang="zh-CN" altLang="en-US"/>
          </a:p>
          <a:p>
            <a:r>
              <a:rPr lang="zh-CN" altLang="en-US"/>
              <a:t>只需要包含</a:t>
            </a:r>
            <a:r>
              <a:rPr lang="x-none" altLang="zh-CN"/>
              <a:t>&lt;cstdio&gt;</a:t>
            </a:r>
            <a:endParaRPr lang="x-none" altLang="zh-CN"/>
          </a:p>
          <a:p>
            <a:endParaRPr lang="x-none" altLang="zh-CN"/>
          </a:p>
          <a:p>
            <a:r>
              <a:rPr lang="x-none" altLang="zh-CN"/>
              <a:t>#include &lt;cstdio&gt;</a:t>
            </a:r>
            <a:endParaRPr lang="x-none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r>
              <a:rPr lang="x-none"/>
              <a:t>STL vector</a:t>
            </a:r>
            <a:r>
              <a:rPr lang="zh-CN" altLang="x-none"/>
              <a:t>的使用</a:t>
            </a:r>
            <a:endParaRPr lang="zh-CN" altLang="x-none"/>
          </a:p>
        </p:txBody>
      </p:sp>
      <p:sp>
        <p:nvSpPr>
          <p:cNvPr id="22533" name="矩形 4"/>
          <p:cNvSpPr>
            <a:spLocks noChangeArrowheads="1"/>
          </p:cNvSpPr>
          <p:nvPr/>
        </p:nvSpPr>
        <p:spPr bwMode="auto">
          <a:xfrm>
            <a:off x="818952" y="1507153"/>
            <a:ext cx="8352928" cy="526224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6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  <a:endParaRPr lang="en-US" altLang="zh-CN" sz="1600" dirty="0" smtClean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   vector&lt;</a:t>
            </a:r>
            <a:r>
              <a:rPr lang="en-US" altLang="zh-CN" sz="16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 v</a:t>
            </a:r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int </a:t>
            </a:r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n=0;</a:t>
            </a:r>
            <a:endParaRPr lang="x-none" alt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cin &gt;&gt; n;   </a:t>
            </a:r>
            <a:r>
              <a:rPr lang="x-none" altLang="en-US" sz="16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// number of input data</a:t>
            </a:r>
            <a:endParaRPr lang="x-none" alt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=0;i&lt;</a:t>
            </a:r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 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;i++)</a:t>
            </a:r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x-none" alt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int d;</a:t>
            </a:r>
            <a:endParaRPr lang="x-none" alt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1"/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cin &gt;&gt; d;</a:t>
            </a:r>
            <a:endParaRPr lang="x-none" alt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1"/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  <a:sym typeface="+mn-ea"/>
              </a:rPr>
              <a:t>	v</a:t>
            </a:r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  <a:sym typeface="+mn-ea"/>
              </a:rPr>
              <a:t>data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  <a:sym typeface="+mn-ea"/>
              </a:rPr>
              <a:t>.</a:t>
            </a:r>
            <a:r>
              <a:rPr lang="en-US" altLang="zh-CN" sz="1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sym typeface="+mn-ea"/>
              </a:rPr>
              <a:t>push_back</a:t>
            </a:r>
            <a:r>
              <a:rPr lang="en-US" altLang="zh-CN" sz="16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sym typeface="+mn-ea"/>
              </a:rPr>
              <a:t>(</a:t>
            </a:r>
            <a:r>
              <a:rPr lang="x-none" altLang="en-US" sz="16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sym typeface="+mn-ea"/>
              </a:rPr>
              <a:t>d</a:t>
            </a:r>
            <a:r>
              <a:rPr lang="en-US" altLang="zh-CN" sz="16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sym typeface="+mn-ea"/>
              </a:rPr>
              <a:t>)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  <a:sym typeface="+mn-ea"/>
              </a:rPr>
              <a:t>;</a:t>
            </a:r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  <a:sym typeface="+mn-ea"/>
              </a:rPr>
              <a:t>  </a:t>
            </a:r>
            <a:r>
              <a:rPr lang="x-none" altLang="en-US" sz="1600" dirty="0" smtClean="0">
                <a:solidFill>
                  <a:srgbClr val="00B050"/>
                </a:solidFill>
                <a:latin typeface="Consolas" panose="020B0609020204030204" pitchFamily="49" charset="0"/>
                <a:sym typeface="+mn-ea"/>
              </a:rPr>
              <a:t>// add input data to vector</a:t>
            </a:r>
            <a:endParaRPr lang="x-none" alt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x-none" alt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=0;i&lt;v1.</a:t>
            </a:r>
            <a:r>
              <a:rPr lang="en-US" altLang="zh-CN" sz="1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size()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x-none" altLang="en-US" sz="16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// output data</a:t>
            </a:r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&lt;&lt;v1[</a:t>
            </a:r>
            <a:r>
              <a:rPr lang="en-US" altLang="zh-CN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]&lt;&lt;</a:t>
            </a:r>
            <a:r>
              <a:rPr lang="en-US" altLang="zh-CN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"\t"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31165" y="363220"/>
            <a:ext cx="10723880" cy="1819910"/>
          </a:xfrm>
          <a:noFill/>
        </p:spPr>
        <p:txBody>
          <a:bodyPr/>
          <a:p>
            <a:pPr algn="just">
              <a:buNone/>
            </a:pP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vector</a:t>
            </a:r>
            <a:r>
              <a:rPr lang="zh-CN" altLang="en-US" dirty="0">
                <a:ea typeface="宋体" panose="02010600030101010101" pitchFamily="2" charset="-122"/>
              </a:rPr>
              <a:t>： 数组，</a:t>
            </a:r>
            <a:r>
              <a:rPr lang="zh-CN" altLang="en-US" dirty="0" smtClean="0">
                <a:latin typeface="宋体" panose="02010600030101010101" pitchFamily="2" charset="-122"/>
              </a:rPr>
              <a:t>内存中连续存储多个元素，大小可变</a:t>
            </a:r>
            <a:endParaRPr lang="zh-CN" altLang="en-US" dirty="0" smtClean="0">
              <a:latin typeface="宋体" panose="02010600030101010101" pitchFamily="2" charset="-122"/>
            </a:endParaRPr>
          </a:p>
          <a:p>
            <a:pPr algn="just">
              <a:buNone/>
            </a:pPr>
            <a:endParaRPr lang="en-US" altLang="zh-CN" dirty="0" smtClean="0">
              <a:latin typeface="宋体" panose="02010600030101010101" pitchFamily="2" charset="-122"/>
            </a:endParaRPr>
          </a:p>
          <a:p>
            <a:pPr marL="0" indent="0">
              <a:buSzPct val="75000"/>
              <a:buNone/>
            </a:pPr>
            <a:endParaRPr lang="en-US" altLang="zh-CN" sz="2400" b="0" dirty="0">
              <a:latin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31165" y="2935605"/>
            <a:ext cx="8280920" cy="3276600"/>
            <a:chOff x="593950" y="3717033"/>
            <a:chExt cx="8280920" cy="2881884"/>
          </a:xfrm>
        </p:grpSpPr>
        <p:sp>
          <p:nvSpPr>
            <p:cNvPr id="7" name="文本框 6"/>
            <p:cNvSpPr txBox="1"/>
            <p:nvPr/>
          </p:nvSpPr>
          <p:spPr>
            <a:xfrm>
              <a:off x="828632" y="3813031"/>
              <a:ext cx="57606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 smtClean="0"/>
                <a:t>例如：</a:t>
              </a:r>
              <a:endParaRPr lang="zh-CN" alt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593950" y="3717033"/>
              <a:ext cx="8280920" cy="2881884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317295" y="4856112"/>
            <a:ext cx="677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dirty="0" smtClean="0">
                <a:solidFill>
                  <a:srgbClr val="C00000"/>
                </a:solidFill>
              </a:rPr>
              <a:t>元素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98917" y="3100220"/>
            <a:ext cx="2881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 smtClean="0"/>
              <a:t>容量：</a:t>
            </a:r>
            <a:r>
              <a:rPr lang="en-US" altLang="zh-CN" sz="2000" dirty="0" smtClean="0">
                <a:solidFill>
                  <a:srgbClr val="006600"/>
                </a:solidFill>
              </a:rPr>
              <a:t>capacity</a:t>
            </a:r>
            <a:r>
              <a:rPr lang="en-US" altLang="zh-CN" sz="2000" dirty="0" smtClean="0"/>
              <a:t>=16</a:t>
            </a:r>
            <a:endParaRPr lang="zh-CN" altLang="en-US" sz="2000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390425" y="4240727"/>
          <a:ext cx="6665328" cy="4551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583"/>
                <a:gridCol w="416583"/>
                <a:gridCol w="416583"/>
                <a:gridCol w="416583"/>
                <a:gridCol w="416583"/>
                <a:gridCol w="416583"/>
                <a:gridCol w="416583"/>
                <a:gridCol w="416583"/>
                <a:gridCol w="416583"/>
                <a:gridCol w="416583"/>
                <a:gridCol w="416583"/>
                <a:gridCol w="416583"/>
                <a:gridCol w="416583"/>
                <a:gridCol w="416583"/>
                <a:gridCol w="401119"/>
                <a:gridCol w="432047"/>
              </a:tblGrid>
              <a:tr h="455103"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1341531" y="3142206"/>
            <a:ext cx="0" cy="109852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1341532" y="3304623"/>
            <a:ext cx="20573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570637" y="3662747"/>
            <a:ext cx="17827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 smtClean="0"/>
              <a:t>大小：</a:t>
            </a:r>
            <a:r>
              <a:rPr lang="en-US" altLang="zh-CN" sz="2000" dirty="0" smtClean="0">
                <a:solidFill>
                  <a:srgbClr val="006600"/>
                </a:solidFill>
              </a:rPr>
              <a:t>size</a:t>
            </a:r>
            <a:r>
              <a:rPr lang="en-US" altLang="zh-CN" sz="2000" dirty="0" smtClean="0"/>
              <a:t>=10</a:t>
            </a:r>
            <a:endParaRPr lang="zh-CN" altLang="en-US" sz="2000" dirty="0"/>
          </a:p>
        </p:txBody>
      </p:sp>
      <p:cxnSp>
        <p:nvCxnSpPr>
          <p:cNvPr id="29" name="直接连接符 28"/>
          <p:cNvCxnSpPr/>
          <p:nvPr/>
        </p:nvCxnSpPr>
        <p:spPr>
          <a:xfrm>
            <a:off x="8068017" y="3088599"/>
            <a:ext cx="0" cy="109852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7" idx="1"/>
          </p:cNvCxnSpPr>
          <p:nvPr/>
        </p:nvCxnSpPr>
        <p:spPr>
          <a:xfrm flipH="1">
            <a:off x="1341531" y="3862802"/>
            <a:ext cx="12291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7" idx="3"/>
          </p:cNvCxnSpPr>
          <p:nvPr/>
        </p:nvCxnSpPr>
        <p:spPr>
          <a:xfrm flipV="1">
            <a:off x="4353350" y="3861857"/>
            <a:ext cx="967191" cy="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5554711" y="3637859"/>
            <a:ext cx="0" cy="60286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V="1">
            <a:off x="5710713" y="3301220"/>
            <a:ext cx="235730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5410200" y="4786072"/>
            <a:ext cx="2765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dirty="0" smtClean="0">
                <a:solidFill>
                  <a:srgbClr val="C00000"/>
                </a:solidFill>
              </a:rPr>
              <a:t>已分配内存但无元素值</a:t>
            </a:r>
            <a:endParaRPr lang="en-US" altLang="zh-CN" sz="1800" dirty="0" smtClean="0">
              <a:solidFill>
                <a:srgbClr val="C00000"/>
              </a:solidFill>
            </a:endParaRPr>
          </a:p>
          <a:p>
            <a:r>
              <a:rPr lang="zh-CN" altLang="en-US" sz="1800" dirty="0" smtClean="0">
                <a:solidFill>
                  <a:srgbClr val="C00000"/>
                </a:solidFill>
              </a:rPr>
              <a:t>（预备差值新元素）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7668344" y="4680309"/>
            <a:ext cx="216024" cy="191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1648465" y="4695830"/>
            <a:ext cx="0" cy="184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62915" y="1168400"/>
            <a:ext cx="1065974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当创建空容器时，容量(capacity)为 0;</a:t>
            </a:r>
            <a:endParaRPr lang="zh-CN" altLang="en-US"/>
          </a:p>
          <a:p>
            <a:r>
              <a:rPr lang="zh-CN" altLang="en-US"/>
              <a:t>当用完时，capacity增加到原容量的 </a:t>
            </a:r>
            <a:r>
              <a:rPr lang="en-US" altLang="zh-CN"/>
              <a:t>1.5</a:t>
            </a:r>
            <a:r>
              <a:rPr lang="zh-CN" altLang="en-US"/>
              <a:t>倍或</a:t>
            </a:r>
            <a:r>
              <a:rPr lang="en-US" altLang="zh-CN"/>
              <a:t>2</a:t>
            </a:r>
            <a:r>
              <a:rPr lang="zh-CN" altLang="en-US"/>
              <a:t>倍。 </a:t>
            </a:r>
            <a:endParaRPr lang="zh-CN" altLang="en-US"/>
          </a:p>
          <a:p>
            <a:r>
              <a:rPr lang="zh-CN" altLang="en-US"/>
              <a:t> </a:t>
            </a:r>
            <a:endParaRPr lang="zh-CN" altLang="en-US"/>
          </a:p>
          <a:p>
            <a:r>
              <a:rPr lang="zh-CN" altLang="en-US"/>
              <a:t>capacity 一般大于size，原因是为了避免每次增加数据时都要重新分配内存，所以一般会生成一个较大的空间，以便随后的数据插入。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873490" y="2935605"/>
            <a:ext cx="2903220" cy="22453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800">
                <a:sym typeface="+mn-ea"/>
              </a:rPr>
              <a:t>v</a:t>
            </a:r>
            <a:r>
              <a:rPr lang="x-none" altLang="en-US" sz="2800">
                <a:sym typeface="+mn-ea"/>
              </a:rPr>
              <a:t>data.</a:t>
            </a:r>
            <a:r>
              <a:rPr lang="zh-CN" altLang="en-US" sz="2800">
                <a:sym typeface="+mn-ea"/>
              </a:rPr>
              <a:t>size()</a:t>
            </a:r>
            <a:r>
              <a:rPr lang="x-none" altLang="zh-CN" sz="2800">
                <a:sym typeface="+mn-ea"/>
              </a:rPr>
              <a:t>;</a:t>
            </a:r>
            <a:endParaRPr lang="zh-CN" altLang="en-US" sz="2800">
              <a:sym typeface="+mn-ea"/>
            </a:endParaRPr>
          </a:p>
          <a:p>
            <a:r>
              <a:rPr lang="zh-CN" altLang="en-US" sz="2800">
                <a:sym typeface="+mn-ea"/>
              </a:rPr>
              <a:t>返回值为</a:t>
            </a:r>
            <a:r>
              <a:rPr lang="en-US" altLang="zh-CN" sz="2800">
                <a:sym typeface="+mn-ea"/>
              </a:rPr>
              <a:t>10</a:t>
            </a:r>
            <a:endParaRPr lang="en-US" altLang="zh-CN" sz="2800">
              <a:sym typeface="+mn-ea"/>
            </a:endParaRPr>
          </a:p>
          <a:p>
            <a:endParaRPr lang="zh-CN" altLang="en-US" sz="2800">
              <a:sym typeface="+mn-ea"/>
            </a:endParaRPr>
          </a:p>
          <a:p>
            <a:r>
              <a:rPr lang="x-none" altLang="zh-CN" sz="2800">
                <a:sym typeface="+mn-ea"/>
              </a:rPr>
              <a:t>vdata.</a:t>
            </a:r>
            <a:r>
              <a:rPr lang="zh-CN" altLang="en-US" sz="2800">
                <a:sym typeface="+mn-ea"/>
              </a:rPr>
              <a:t>capacity()</a:t>
            </a:r>
            <a:r>
              <a:rPr lang="x-none" altLang="zh-CN" sz="2800">
                <a:sym typeface="+mn-ea"/>
              </a:rPr>
              <a:t>;</a:t>
            </a:r>
            <a:endParaRPr lang="zh-CN" altLang="en-US" sz="2800">
              <a:sym typeface="+mn-ea"/>
            </a:endParaRPr>
          </a:p>
          <a:p>
            <a:r>
              <a:rPr lang="zh-CN" altLang="en-US" sz="2800">
                <a:sym typeface="+mn-ea"/>
              </a:rPr>
              <a:t>返回值为</a:t>
            </a:r>
            <a:r>
              <a:rPr lang="en-US" altLang="zh-CN" sz="2800">
                <a:sym typeface="+mn-ea"/>
              </a:rPr>
              <a:t>16</a:t>
            </a:r>
            <a:endParaRPr lang="en-US" altLang="zh-CN" sz="280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0685" y="151765"/>
            <a:ext cx="11390630" cy="6554470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en-US" sz="2000"/>
              <a:t>vector</a:t>
            </a:r>
            <a:r>
              <a:rPr lang="x-none" altLang="zh-CN" sz="2000"/>
              <a:t>&lt;int&gt;</a:t>
            </a:r>
            <a:r>
              <a:rPr lang="zh-CN" altLang="en-US" sz="2000"/>
              <a:t> v; </a:t>
            </a:r>
            <a:r>
              <a:rPr lang="zh-CN" altLang="en-US" sz="2000">
                <a:solidFill>
                  <a:srgbClr val="00B050"/>
                </a:solidFill>
              </a:rPr>
              <a:t>//此时没有初始化，所以size()和capacity()都是0；</a:t>
            </a:r>
            <a:endParaRPr lang="zh-CN" altLang="en-US" sz="2000"/>
          </a:p>
          <a:p>
            <a:r>
              <a:rPr lang="zh-CN" altLang="en-US" sz="2000"/>
              <a:t>cout&lt;&lt;v.size()&lt;&lt;endl&lt;&lt;v.capacity()&lt;&lt;endl;</a:t>
            </a:r>
            <a:endParaRPr lang="zh-CN" altLang="en-US" sz="2000"/>
          </a:p>
          <a:p>
            <a:r>
              <a:rPr lang="zh-CN" altLang="en-US" sz="2000"/>
              <a:t>v.push_back(1);</a:t>
            </a:r>
            <a:endParaRPr lang="zh-CN" altLang="en-US" sz="2000"/>
          </a:p>
          <a:p>
            <a:r>
              <a:rPr lang="zh-CN" altLang="en-US" sz="2000"/>
              <a:t>cout&lt;&lt;v.size()&lt;&lt;endl&lt;&lt;v.capacity()&lt;&lt;endl;</a:t>
            </a:r>
            <a:r>
              <a:rPr lang="zh-CN" altLang="en-US" sz="2000">
                <a:solidFill>
                  <a:srgbClr val="00B050"/>
                </a:solidFill>
              </a:rPr>
              <a:t>//此时容器内有一个元素了，那么size()和capacity()都是1</a:t>
            </a:r>
            <a:endParaRPr lang="zh-CN" altLang="en-US" sz="2000">
              <a:solidFill>
                <a:srgbClr val="00B050"/>
              </a:solidFill>
            </a:endParaRPr>
          </a:p>
          <a:p>
            <a:endParaRPr lang="zh-CN" altLang="en-US" sz="2000">
              <a:solidFill>
                <a:srgbClr val="00B050"/>
              </a:solidFill>
            </a:endParaRPr>
          </a:p>
          <a:p>
            <a:r>
              <a:rPr lang="zh-CN" altLang="en-US" sz="2000"/>
              <a:t>v.push_back(1);</a:t>
            </a:r>
            <a:endParaRPr lang="zh-CN" altLang="en-US" sz="2000"/>
          </a:p>
          <a:p>
            <a:r>
              <a:rPr lang="zh-CN" altLang="en-US" sz="2000"/>
              <a:t>cout&lt;&lt;v.size()&lt;&lt;endl&lt;&lt;v.capacity()&lt;&lt;endl;</a:t>
            </a:r>
            <a:r>
              <a:rPr lang="zh-CN" altLang="en-US" sz="2000">
                <a:solidFill>
                  <a:srgbClr val="00B050"/>
                </a:solidFill>
              </a:rPr>
              <a:t>//此时容器内能够提供的空间capacity()不够用了，需要申请内容，申请多少呢，申请后的大小应该是以前的2倍，那就应该是2了，此时有两个元素，size</a:t>
            </a:r>
            <a:r>
              <a:rPr lang="x-none" altLang="zh-CN" sz="2000">
                <a:solidFill>
                  <a:srgbClr val="00B050"/>
                </a:solidFill>
              </a:rPr>
              <a:t>()</a:t>
            </a:r>
            <a:r>
              <a:rPr lang="zh-CN" altLang="en-US" sz="2000">
                <a:solidFill>
                  <a:srgbClr val="00B050"/>
                </a:solidFill>
              </a:rPr>
              <a:t>为2，capacity</a:t>
            </a:r>
            <a:r>
              <a:rPr lang="x-none" altLang="zh-CN" sz="2000">
                <a:solidFill>
                  <a:srgbClr val="00B050"/>
                </a:solidFill>
              </a:rPr>
              <a:t>()</a:t>
            </a:r>
            <a:r>
              <a:rPr lang="zh-CN" altLang="en-US" sz="2000">
                <a:solidFill>
                  <a:srgbClr val="00B050"/>
                </a:solidFill>
              </a:rPr>
              <a:t>也是2</a:t>
            </a:r>
            <a:endParaRPr lang="zh-CN" altLang="en-US" sz="2000">
              <a:solidFill>
                <a:srgbClr val="00B050"/>
              </a:solidFill>
            </a:endParaRPr>
          </a:p>
          <a:p>
            <a:endParaRPr lang="zh-CN" altLang="en-US" sz="2000">
              <a:solidFill>
                <a:srgbClr val="00B050"/>
              </a:solidFill>
            </a:endParaRPr>
          </a:p>
          <a:p>
            <a:r>
              <a:rPr lang="zh-CN" altLang="en-US" sz="2000"/>
              <a:t>v.push_back(1);</a:t>
            </a:r>
            <a:endParaRPr lang="zh-CN" altLang="en-US" sz="2000"/>
          </a:p>
          <a:p>
            <a:r>
              <a:rPr lang="zh-CN" altLang="en-US" sz="2000"/>
              <a:t>cout&lt;&lt;v.size()&lt;&lt;endl&lt;&lt;v.capacity()&lt;&lt;endl;</a:t>
            </a:r>
            <a:r>
              <a:rPr lang="zh-CN" altLang="en-US" sz="2000">
                <a:solidFill>
                  <a:srgbClr val="00B050"/>
                </a:solidFill>
              </a:rPr>
              <a:t>//此时容器能够提供的空间是2，又增加元素，不够，需要申请空间，申请后的空间为原来2倍，就是4了，那么size()为3，capacity</a:t>
            </a:r>
            <a:r>
              <a:rPr lang="x-none" altLang="zh-CN" sz="2000">
                <a:solidFill>
                  <a:srgbClr val="00B050"/>
                </a:solidFill>
              </a:rPr>
              <a:t>()</a:t>
            </a:r>
            <a:r>
              <a:rPr lang="zh-CN" altLang="en-US" sz="2000">
                <a:solidFill>
                  <a:srgbClr val="00B050"/>
                </a:solidFill>
              </a:rPr>
              <a:t>为4</a:t>
            </a:r>
            <a:endParaRPr lang="zh-CN" altLang="en-US" sz="2000">
              <a:solidFill>
                <a:srgbClr val="00B050"/>
              </a:solidFill>
            </a:endParaRPr>
          </a:p>
          <a:p>
            <a:endParaRPr lang="zh-CN" altLang="en-US" sz="2000">
              <a:solidFill>
                <a:srgbClr val="00B050"/>
              </a:solidFill>
            </a:endParaRPr>
          </a:p>
          <a:p>
            <a:r>
              <a:rPr lang="zh-CN" altLang="en-US" sz="2000"/>
              <a:t>v.push_back(1);</a:t>
            </a:r>
            <a:endParaRPr lang="zh-CN" altLang="en-US" sz="2000"/>
          </a:p>
          <a:p>
            <a:r>
              <a:rPr lang="zh-CN" altLang="en-US" sz="2000"/>
              <a:t>cout&lt;&lt;v.size()&lt;&lt;endl&lt;&lt;v.capacity()&lt;&lt;endl;</a:t>
            </a:r>
            <a:r>
              <a:rPr lang="zh-CN" altLang="en-US" sz="2000">
                <a:solidFill>
                  <a:srgbClr val="00B050"/>
                </a:solidFill>
              </a:rPr>
              <a:t>//容器还能够提供一个空间，不需要申请新空间，size()为4，capacity</a:t>
            </a:r>
            <a:r>
              <a:rPr lang="x-none" altLang="zh-CN" sz="2000">
                <a:solidFill>
                  <a:srgbClr val="00B050"/>
                </a:solidFill>
              </a:rPr>
              <a:t>()</a:t>
            </a:r>
            <a:r>
              <a:rPr lang="zh-CN" altLang="en-US" sz="2000">
                <a:solidFill>
                  <a:srgbClr val="00B050"/>
                </a:solidFill>
              </a:rPr>
              <a:t>为4</a:t>
            </a:r>
            <a:endParaRPr lang="zh-CN" altLang="en-US" sz="2000">
              <a:solidFill>
                <a:srgbClr val="00B050"/>
              </a:solidFill>
            </a:endParaRPr>
          </a:p>
          <a:p>
            <a:endParaRPr lang="zh-CN" altLang="en-US" sz="2000">
              <a:solidFill>
                <a:srgbClr val="00B050"/>
              </a:solidFill>
            </a:endParaRPr>
          </a:p>
          <a:p>
            <a:r>
              <a:rPr lang="zh-CN" altLang="en-US" sz="2000"/>
              <a:t>v.push_back(1);</a:t>
            </a:r>
            <a:endParaRPr lang="zh-CN" altLang="en-US" sz="2000"/>
          </a:p>
          <a:p>
            <a:r>
              <a:rPr lang="zh-CN" altLang="en-US" sz="2000"/>
              <a:t>cout&lt;&lt;v.size()&lt;&lt;endl&lt;&lt;v.capacity()&lt;&lt;endl;</a:t>
            </a:r>
            <a:r>
              <a:rPr lang="zh-CN" altLang="en-US" sz="2000">
                <a:solidFill>
                  <a:srgbClr val="00B050"/>
                </a:solidFill>
              </a:rPr>
              <a:t>//空间不够，需要申请，size()为5，capacity</a:t>
            </a:r>
            <a:r>
              <a:rPr lang="x-none" altLang="zh-CN" sz="2000">
                <a:solidFill>
                  <a:srgbClr val="00B050"/>
                </a:solidFill>
              </a:rPr>
              <a:t>()</a:t>
            </a:r>
            <a:r>
              <a:rPr lang="zh-CN" altLang="en-US" sz="2000">
                <a:solidFill>
                  <a:srgbClr val="00B050"/>
                </a:solidFill>
              </a:rPr>
              <a:t>为8</a:t>
            </a:r>
            <a:endParaRPr lang="zh-CN" altLang="en-US" sz="20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80110" y="502920"/>
            <a:ext cx="8844280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/>
              <a:t>（4）resize 改变vector的size</a:t>
            </a:r>
            <a:endParaRPr lang="zh-CN" altLang="en-US" sz="2000"/>
          </a:p>
          <a:p>
            <a:r>
              <a:rPr lang="zh-CN" altLang="en-US" sz="2000"/>
              <a:t>resize()函数用于更改vector容器的大小，以容纳指定数量的元素。 </a:t>
            </a:r>
            <a:endParaRPr lang="zh-CN" altLang="en-US" sz="2000"/>
          </a:p>
          <a:p>
            <a:r>
              <a:rPr lang="zh-CN" altLang="en-US" sz="2000"/>
              <a:t>当新的大小大于当前大小时，额外的元素将被默认构造或复制构造。</a:t>
            </a:r>
            <a:endParaRPr lang="zh-CN" altLang="en-US" sz="2000"/>
          </a:p>
          <a:p>
            <a:r>
              <a:rPr lang="zh-CN" altLang="en-US" sz="2000"/>
              <a:t>当新的大小小于当前大小时，超出新大小的元素将会被删除。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（5）reserve 改变vector的capacity</a:t>
            </a:r>
            <a:endParaRPr lang="zh-CN" altLang="en-US" sz="2000"/>
          </a:p>
          <a:p>
            <a:r>
              <a:rPr lang="zh-CN" altLang="en-US" sz="2000"/>
              <a:t>reserve()函数用于为容器预留一定的存储空间，以便在之后添加元素时减少重新分配内存的次数。 它接受一个参数，即预留空间的大小。注意，预留的空间大小并不会直接改变vector的size。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使用reserve()函数的目的是优化性能，当我们预知容器可能需要存储大量元素时，可以使用reserve()函数提前分配足够的内存空间，避免频繁的内存重新分配和数据复制。</a:t>
            </a:r>
            <a:endParaRPr lang="zh-CN" altLang="en-US" sz="2000"/>
          </a:p>
          <a:p>
            <a:endParaRPr lang="x-none" altLang="zh-CN" sz="2000"/>
          </a:p>
          <a:p>
            <a:r>
              <a:rPr lang="x-none" altLang="zh-CN" sz="2000"/>
              <a:t>resize在开空间的同时还会进行初始化，影响size。</a:t>
            </a:r>
            <a:endParaRPr lang="x-none" altLang="zh-CN" sz="2000"/>
          </a:p>
          <a:p>
            <a:r>
              <a:rPr lang="x-none" altLang="zh-CN" sz="2000"/>
              <a:t>reserve只负责开辟空间，</a:t>
            </a:r>
            <a:r>
              <a:rPr lang="zh-CN" altLang="x-none" sz="2000"/>
              <a:t>不初始化。</a:t>
            </a:r>
            <a:endParaRPr lang="zh-CN" altLang="x-none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用</a:t>
            </a:r>
            <a:r>
              <a:rPr lang="en-US" altLang="zh-CN"/>
              <a:t>vector</a:t>
            </a:r>
            <a:r>
              <a:rPr lang="zh-CN" altLang="en-US"/>
              <a:t>排序</a:t>
            </a: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71145" y="1267647"/>
            <a:ext cx="8229600" cy="4525963"/>
          </a:xfrm>
          <a:noFill/>
        </p:spPr>
        <p:txBody>
          <a:bodyPr/>
          <a:p>
            <a:r>
              <a:rPr lang="zh-CN" altLang="en-US" dirty="0" smtClean="0">
                <a:latin typeface="宋体" panose="02010600030101010101" pitchFamily="2" charset="-122"/>
              </a:rPr>
              <a:t>迭代器范围</a:t>
            </a:r>
            <a:r>
              <a:rPr lang="en-US" altLang="zh-CN" dirty="0" smtClean="0">
                <a:latin typeface="宋体" panose="02010600030101010101" pitchFamily="2" charset="-122"/>
              </a:rPr>
              <a:t>(iterator range)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 marL="319405" lvl="1" indent="0">
              <a:buNone/>
            </a:pP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左闭右开区间 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[</a:t>
            </a:r>
            <a:r>
              <a:rPr lang="en-US" altLang="zh-CN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begin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, </a:t>
            </a:r>
            <a:r>
              <a:rPr lang="en-US" altLang="zh-CN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end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)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latin typeface="宋体" panose="02010600030101010101" pitchFamily="2" charset="-122"/>
              </a:rPr>
              <a:t>	</a:t>
            </a:r>
            <a:r>
              <a:rPr lang="en-US" altLang="zh-CN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begin</a:t>
            </a:r>
            <a:r>
              <a:rPr lang="x-none" altLang="en-US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()</a:t>
            </a:r>
            <a:r>
              <a:rPr lang="zh-CN" altLang="en-US" dirty="0" smtClean="0">
                <a:latin typeface="宋体" panose="02010600030101010101" pitchFamily="2" charset="-122"/>
              </a:rPr>
              <a:t>：指向迭代的开始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</a:rPr>
              <a:t>	</a:t>
            </a:r>
            <a:r>
              <a:rPr lang="en-US" altLang="zh-CN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end</a:t>
            </a:r>
            <a:r>
              <a:rPr lang="x-none" altLang="en-US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()</a:t>
            </a:r>
            <a:r>
              <a:rPr lang="zh-CN" altLang="en-US" dirty="0" smtClean="0">
                <a:latin typeface="宋体" panose="02010600030101010101" pitchFamily="2" charset="-122"/>
              </a:rPr>
              <a:t>：指向迭代的结束（</a:t>
            </a: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不含</a:t>
            </a:r>
            <a:r>
              <a:rPr lang="zh-CN" altLang="en-US" dirty="0" smtClean="0">
                <a:latin typeface="宋体" panose="02010600030101010101" pitchFamily="2" charset="-122"/>
              </a:rPr>
              <a:t>）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>
              <a:buSzPct val="75000"/>
            </a:pPr>
            <a:endParaRPr lang="en-US" altLang="zh-CN" sz="2400" b="0" dirty="0">
              <a:latin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48425" y="3787775"/>
            <a:ext cx="8280920" cy="2881884"/>
            <a:chOff x="593950" y="3717033"/>
            <a:chExt cx="8280920" cy="2881884"/>
          </a:xfrm>
        </p:grpSpPr>
        <p:grpSp>
          <p:nvGrpSpPr>
            <p:cNvPr id="5" name="组合 4"/>
            <p:cNvGrpSpPr/>
            <p:nvPr/>
          </p:nvGrpSpPr>
          <p:grpSpPr>
            <a:xfrm>
              <a:off x="881982" y="4307264"/>
              <a:ext cx="7524836" cy="2014944"/>
              <a:chOff x="503548" y="3789040"/>
              <a:chExt cx="8388932" cy="2339863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03548" y="3789040"/>
                <a:ext cx="8280920" cy="2339863"/>
              </a:xfrm>
              <a:prstGeom prst="rect">
                <a:avLst/>
              </a:prstGeom>
            </p:spPr>
          </p:pic>
          <p:sp>
            <p:nvSpPr>
              <p:cNvPr id="6" name="矩形 5"/>
              <p:cNvSpPr/>
              <p:nvPr/>
            </p:nvSpPr>
            <p:spPr>
              <a:xfrm>
                <a:off x="2647034" y="3972148"/>
                <a:ext cx="1008112" cy="504056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5275326" y="3972148"/>
                <a:ext cx="1008112" cy="504056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503548" y="5296354"/>
                <a:ext cx="8388932" cy="724986"/>
              </a:xfrm>
              <a:prstGeom prst="rect">
                <a:avLst/>
              </a:prstGeom>
              <a:solidFill>
                <a:srgbClr val="FFFF00">
                  <a:alpha val="1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828632" y="3813031"/>
              <a:ext cx="57606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 smtClean="0"/>
                <a:t>例如：整个列表作为迭代范围：</a:t>
              </a:r>
              <a:endParaRPr lang="zh-CN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593950" y="3717033"/>
              <a:ext cx="8280920" cy="2881884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542903" y="6229584"/>
              <a:ext cx="14773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800" dirty="0" smtClean="0">
                  <a:solidFill>
                    <a:srgbClr val="C00000"/>
                  </a:solidFill>
                </a:rPr>
                <a:t>列表中元素</a:t>
              </a:r>
              <a:endParaRPr lang="zh-CN" altLang="en-US" sz="1800" dirty="0">
                <a:solidFill>
                  <a:srgbClr val="C00000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637507" y="4115239"/>
              <a:ext cx="1207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800" dirty="0" smtClean="0">
                  <a:solidFill>
                    <a:srgbClr val="C00000"/>
                  </a:solidFill>
                </a:rPr>
                <a:t>迭代器</a:t>
              </a:r>
              <a:endParaRPr lang="zh-CN" altLang="en-US" sz="1800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用迭代器对</a:t>
            </a:r>
            <a:r>
              <a:rPr lang="en-US" altLang="zh-CN">
                <a:sym typeface="+mn-ea"/>
              </a:rPr>
              <a:t>vector</a:t>
            </a:r>
            <a:r>
              <a:rPr lang="zh-CN" altLang="en-US"/>
              <a:t>遍历或排序</a:t>
            </a: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71145" y="1267647"/>
            <a:ext cx="8229600" cy="4525963"/>
          </a:xfrm>
          <a:noFill/>
        </p:spPr>
        <p:txBody>
          <a:bodyPr/>
          <a:p>
            <a:r>
              <a:rPr lang="zh-CN" altLang="en-US" dirty="0" smtClean="0">
                <a:latin typeface="宋体" panose="02010600030101010101" pitchFamily="2" charset="-122"/>
              </a:rPr>
              <a:t>迭代器范围</a:t>
            </a:r>
            <a:endParaRPr lang="zh-CN" altLang="en-US" dirty="0" smtClean="0">
              <a:latin typeface="宋体" panose="02010600030101010101" pitchFamily="2" charset="-122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左闭右开区间 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[</a:t>
            </a:r>
            <a:r>
              <a:rPr lang="en-US" altLang="zh-CN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begin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, </a:t>
            </a:r>
            <a:r>
              <a:rPr lang="en-US" altLang="zh-CN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end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)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begin</a:t>
            </a:r>
            <a:r>
              <a:rPr lang="x-none" altLang="en-US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()</a:t>
            </a:r>
            <a:r>
              <a:rPr lang="zh-CN" altLang="en-US" dirty="0" smtClean="0">
                <a:latin typeface="宋体" panose="02010600030101010101" pitchFamily="2" charset="-122"/>
              </a:rPr>
              <a:t>：指向迭代的开始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end</a:t>
            </a:r>
            <a:r>
              <a:rPr lang="x-none" altLang="en-US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()</a:t>
            </a:r>
            <a:r>
              <a:rPr lang="zh-CN" altLang="en-US" dirty="0" smtClean="0">
                <a:latin typeface="宋体" panose="02010600030101010101" pitchFamily="2" charset="-122"/>
              </a:rPr>
              <a:t>：指向迭代的结束（</a:t>
            </a: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不含</a:t>
            </a:r>
            <a:r>
              <a:rPr lang="zh-CN" altLang="en-US" dirty="0" smtClean="0">
                <a:latin typeface="宋体" panose="02010600030101010101" pitchFamily="2" charset="-122"/>
              </a:rPr>
              <a:t>）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>
              <a:buSzPct val="75000"/>
            </a:pPr>
            <a:endParaRPr lang="en-US" altLang="zh-CN" sz="2400" b="0" dirty="0">
              <a:latin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48425" y="3837305"/>
            <a:ext cx="8280920" cy="2881884"/>
            <a:chOff x="593950" y="3717033"/>
            <a:chExt cx="8280920" cy="2881884"/>
          </a:xfrm>
        </p:grpSpPr>
        <p:grpSp>
          <p:nvGrpSpPr>
            <p:cNvPr id="5" name="组合 4"/>
            <p:cNvGrpSpPr/>
            <p:nvPr/>
          </p:nvGrpSpPr>
          <p:grpSpPr>
            <a:xfrm>
              <a:off x="881982" y="4307264"/>
              <a:ext cx="7524836" cy="2014944"/>
              <a:chOff x="503548" y="3789040"/>
              <a:chExt cx="8388932" cy="2339863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03548" y="3789040"/>
                <a:ext cx="8280920" cy="2339863"/>
              </a:xfrm>
              <a:prstGeom prst="rect">
                <a:avLst/>
              </a:prstGeom>
            </p:spPr>
          </p:pic>
          <p:sp>
            <p:nvSpPr>
              <p:cNvPr id="6" name="矩形 5"/>
              <p:cNvSpPr/>
              <p:nvPr/>
            </p:nvSpPr>
            <p:spPr>
              <a:xfrm>
                <a:off x="2647034" y="3972148"/>
                <a:ext cx="1008112" cy="504056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5275326" y="3972148"/>
                <a:ext cx="1008112" cy="504056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503548" y="5296354"/>
                <a:ext cx="8388932" cy="724986"/>
              </a:xfrm>
              <a:prstGeom prst="rect">
                <a:avLst/>
              </a:prstGeom>
              <a:solidFill>
                <a:srgbClr val="FFFF00">
                  <a:alpha val="1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828632" y="3813031"/>
              <a:ext cx="57606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 smtClean="0"/>
                <a:t>例如：整个列表作为迭代范围：</a:t>
              </a:r>
              <a:endParaRPr lang="zh-CN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593950" y="3717033"/>
              <a:ext cx="8280920" cy="2881884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542903" y="6229584"/>
              <a:ext cx="14773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800" dirty="0" smtClean="0">
                  <a:solidFill>
                    <a:srgbClr val="C00000"/>
                  </a:solidFill>
                </a:rPr>
                <a:t>列表中元素</a:t>
              </a:r>
              <a:endParaRPr lang="zh-CN" altLang="en-US" sz="1800" dirty="0">
                <a:solidFill>
                  <a:srgbClr val="C00000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637507" y="4115239"/>
              <a:ext cx="1207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800" dirty="0" smtClean="0">
                  <a:solidFill>
                    <a:srgbClr val="C00000"/>
                  </a:solidFill>
                </a:rPr>
                <a:t>迭代器</a:t>
              </a:r>
              <a:endParaRPr lang="zh-CN" altLang="en-US" sz="1800" dirty="0">
                <a:solidFill>
                  <a:srgbClr val="C00000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6343650" y="1241425"/>
            <a:ext cx="5720715" cy="2553335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none" rtlCol="0" anchor="t">
            <a:spAutoFit/>
          </a:bodyPr>
          <a:p>
            <a:r>
              <a:rPr lang="x-none" altLang="en-US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+mn-ea"/>
              </a:rPr>
              <a:t>vector&lt;int&gt;::iterator iter;</a:t>
            </a:r>
            <a:endParaRPr lang="x-none" altLang="en-US" sz="32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r>
              <a:rPr lang="x-none" altLang="en-US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+mn-ea"/>
              </a:rPr>
              <a:t>for (iter=vdata.begin();</a:t>
            </a:r>
            <a:endParaRPr lang="x-none" altLang="en-US" sz="32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r>
              <a:rPr lang="x-none" altLang="en-US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+mn-ea"/>
              </a:rPr>
              <a:t>     iter!=vdata.</a:t>
            </a:r>
            <a:r>
              <a:rPr lang="en-US" altLang="zh-CN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+mn-ea"/>
              </a:rPr>
              <a:t>end</a:t>
            </a:r>
            <a:r>
              <a:rPr lang="x-none" altLang="en-US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+mn-ea"/>
              </a:rPr>
              <a:t>();</a:t>
            </a:r>
            <a:endParaRPr lang="x-none" altLang="en-US" sz="32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r>
              <a:rPr lang="x-none" altLang="en-US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+mn-ea"/>
              </a:rPr>
              <a:t>     iter++)</a:t>
            </a:r>
            <a:endParaRPr lang="x-none" altLang="en-US" sz="32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r>
              <a:rPr lang="x-none" altLang="en-US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+mn-ea"/>
              </a:rPr>
              <a:t>	cout &lt;&lt; *iter &lt;&lt; endl;</a:t>
            </a:r>
            <a:endParaRPr lang="x-none" altLang="en-US" sz="32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用迭代器对</a:t>
            </a:r>
            <a:r>
              <a:rPr lang="en-US" altLang="zh-CN">
                <a:sym typeface="+mn-ea"/>
              </a:rPr>
              <a:t>vector</a:t>
            </a:r>
            <a:r>
              <a:rPr lang="zh-CN" altLang="en-US">
                <a:sym typeface="+mn-ea"/>
              </a:rPr>
              <a:t>遍历或排序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47725" y="1471930"/>
            <a:ext cx="5043805" cy="5077460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en-US"/>
              <a:t>#include &lt;vector&gt;</a:t>
            </a:r>
            <a:endParaRPr lang="zh-CN" altLang="en-US"/>
          </a:p>
          <a:p>
            <a:r>
              <a:rPr lang="zh-CN" altLang="en-US"/>
              <a:t>#include &lt;iostream&gt;</a:t>
            </a:r>
            <a:endParaRPr lang="zh-CN" altLang="en-US"/>
          </a:p>
          <a:p>
            <a:r>
              <a:rPr lang="zh-CN" altLang="en-US"/>
              <a:t>#include &lt;algorithm&gt;</a:t>
            </a:r>
            <a:endParaRPr lang="zh-CN" altLang="en-US"/>
          </a:p>
          <a:p>
            <a:r>
              <a:rPr lang="zh-CN" altLang="en-US"/>
              <a:t>using namespace std;</a:t>
            </a:r>
            <a:endParaRPr lang="zh-CN" altLang="en-US"/>
          </a:p>
          <a:p>
            <a:r>
              <a:rPr lang="zh-CN" altLang="en-US"/>
              <a:t> </a:t>
            </a:r>
            <a:endParaRPr lang="zh-CN" altLang="en-US"/>
          </a:p>
          <a:p>
            <a:r>
              <a:rPr lang="zh-CN" altLang="en-US"/>
              <a:t>int main()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x-none" altLang="zh-CN"/>
              <a:t>    int number=0;</a:t>
            </a:r>
            <a:endParaRPr lang="zh-CN" altLang="en-US"/>
          </a:p>
          <a:p>
            <a:r>
              <a:rPr lang="zh-CN" altLang="en-US"/>
              <a:t>    vector&lt;int&gt;</a:t>
            </a:r>
            <a:r>
              <a:rPr lang="x-none" altLang="zh-CN"/>
              <a:t> v</a:t>
            </a:r>
            <a:r>
              <a:rPr lang="zh-CN" altLang="en-US"/>
              <a:t>;</a:t>
            </a:r>
            <a:endParaRPr lang="zh-CN" altLang="en-US"/>
          </a:p>
          <a:p>
            <a:r>
              <a:rPr lang="x-none" altLang="zh-CN"/>
              <a:t>    v.reserve(10);</a:t>
            </a:r>
            <a:endParaRPr lang="x-none" altLang="zh-CN"/>
          </a:p>
          <a:p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x-none" altLang="en-US"/>
              <a:t>for (int i=0; i&lt;10; i++)</a:t>
            </a:r>
            <a:endParaRPr lang="x-none" altLang="en-US"/>
          </a:p>
          <a:p>
            <a:r>
              <a:rPr lang="x-none" altLang="en-US"/>
              <a:t>   {</a:t>
            </a:r>
            <a:endParaRPr lang="x-none" altLang="en-US"/>
          </a:p>
          <a:p>
            <a:r>
              <a:rPr lang="x-none" altLang="en-US"/>
              <a:t>	cin &gt;&gt; number;</a:t>
            </a:r>
            <a:endParaRPr lang="x-none" altLang="en-US"/>
          </a:p>
          <a:p>
            <a:r>
              <a:rPr lang="x-none" altLang="en-US"/>
              <a:t>	v.push_back(number);</a:t>
            </a:r>
            <a:endParaRPr lang="x-none" altLang="en-US"/>
          </a:p>
          <a:p>
            <a:r>
              <a:rPr lang="x-none" altLang="en-US"/>
              <a:t>   }</a:t>
            </a:r>
            <a:endParaRPr lang="x-none" altLang="en-US"/>
          </a:p>
          <a:p>
            <a:endParaRPr lang="x-none" altLang="en-US"/>
          </a:p>
          <a:p>
            <a:r>
              <a:rPr lang="zh-CN" altLang="en-US"/>
              <a:t>   sort(</a:t>
            </a:r>
            <a:r>
              <a:rPr lang="x-none" altLang="zh-CN"/>
              <a:t> v</a:t>
            </a:r>
            <a:r>
              <a:rPr lang="zh-CN" altLang="en-US"/>
              <a:t>.begin(),</a:t>
            </a:r>
            <a:r>
              <a:rPr lang="x-none" altLang="zh-CN"/>
              <a:t> v</a:t>
            </a:r>
            <a:r>
              <a:rPr lang="zh-CN" altLang="en-US"/>
              <a:t>.end()</a:t>
            </a:r>
            <a:r>
              <a:rPr lang="x-none" altLang="zh-CN"/>
              <a:t> </a:t>
            </a:r>
            <a:r>
              <a:rPr lang="zh-CN" altLang="en-US"/>
              <a:t>);</a:t>
            </a:r>
            <a:r>
              <a:rPr lang="x-none" altLang="zh-CN"/>
              <a:t> </a:t>
            </a:r>
            <a:r>
              <a:rPr lang="zh-CN" altLang="en-US">
                <a:solidFill>
                  <a:srgbClr val="00B050"/>
                </a:solidFill>
              </a:rPr>
              <a:t>//从小到大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2190" y="1471930"/>
            <a:ext cx="5316855" cy="5077460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en-US"/>
              <a:t>    cout</a:t>
            </a:r>
            <a:r>
              <a:rPr lang="x-none" altLang="zh-CN"/>
              <a:t> </a:t>
            </a:r>
            <a:r>
              <a:rPr lang="zh-CN" altLang="en-US"/>
              <a:t>&lt;&lt;</a:t>
            </a:r>
            <a:r>
              <a:rPr lang="x-none" altLang="zh-CN"/>
              <a:t> </a:t>
            </a:r>
            <a:r>
              <a:rPr lang="zh-CN" altLang="en-US"/>
              <a:t>"Ascending</a:t>
            </a:r>
            <a:r>
              <a:rPr lang="x-none" altLang="zh-CN"/>
              <a:t> </a:t>
            </a:r>
            <a:r>
              <a:rPr lang="zh-CN" altLang="en-US"/>
              <a:t>order</a:t>
            </a:r>
            <a:r>
              <a:rPr lang="x-none" altLang="zh-CN"/>
              <a:t>:</a:t>
            </a:r>
            <a:r>
              <a:rPr lang="zh-CN" altLang="en-US"/>
              <a:t>"</a:t>
            </a:r>
            <a:r>
              <a:rPr lang="x-none" altLang="zh-CN"/>
              <a:t> </a:t>
            </a:r>
            <a:r>
              <a:rPr lang="zh-CN" altLang="en-US"/>
              <a:t>&lt;&lt;</a:t>
            </a:r>
            <a:r>
              <a:rPr lang="x-none" altLang="zh-CN"/>
              <a:t> </a:t>
            </a:r>
            <a:r>
              <a:rPr lang="zh-CN" altLang="en-US"/>
              <a:t>endl;</a:t>
            </a:r>
            <a:endParaRPr lang="zh-CN" altLang="en-US"/>
          </a:p>
          <a:p>
            <a:r>
              <a:rPr lang="zh-CN" altLang="en-US"/>
              <a:t>    for(int i=0;</a:t>
            </a:r>
            <a:r>
              <a:rPr lang="x-none" altLang="zh-CN"/>
              <a:t> </a:t>
            </a:r>
            <a:r>
              <a:rPr lang="zh-CN" altLang="en-US"/>
              <a:t>i&lt;</a:t>
            </a:r>
            <a:r>
              <a:rPr lang="x-none" altLang="zh-CN"/>
              <a:t>v</a:t>
            </a:r>
            <a:r>
              <a:rPr lang="zh-CN" altLang="en-US"/>
              <a:t>.size();</a:t>
            </a:r>
            <a:r>
              <a:rPr lang="x-none" altLang="zh-CN"/>
              <a:t> </a:t>
            </a:r>
            <a:r>
              <a:rPr lang="zh-CN" altLang="en-US"/>
              <a:t>i++)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cout&lt;&lt;</a:t>
            </a:r>
            <a:r>
              <a:rPr lang="x-none" altLang="zh-CN"/>
              <a:t>v</a:t>
            </a:r>
            <a:r>
              <a:rPr lang="zh-CN" altLang="en-US"/>
              <a:t>[i]&lt;&lt;",";  </a:t>
            </a:r>
            <a:endParaRPr lang="zh-CN" altLang="en-US"/>
          </a:p>
          <a:p>
            <a:r>
              <a:rPr lang="zh-CN" altLang="en-US"/>
              <a:t>    } </a:t>
            </a:r>
            <a:endParaRPr lang="zh-CN" altLang="en-US"/>
          </a:p>
          <a:p>
            <a:r>
              <a:rPr lang="zh-CN" altLang="en-US"/>
              <a:t> 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>
                <a:sym typeface="+mn-ea"/>
              </a:rPr>
              <a:t>reverse(</a:t>
            </a:r>
            <a:r>
              <a:rPr lang="x-none" altLang="zh-CN">
                <a:sym typeface="+mn-ea"/>
              </a:rPr>
              <a:t> v</a:t>
            </a:r>
            <a:r>
              <a:rPr lang="zh-CN" altLang="en-US">
                <a:sym typeface="+mn-ea"/>
              </a:rPr>
              <a:t>.begin(),</a:t>
            </a:r>
            <a:r>
              <a:rPr lang="x-none" altLang="zh-CN">
                <a:sym typeface="+mn-ea"/>
              </a:rPr>
              <a:t> v</a:t>
            </a:r>
            <a:r>
              <a:rPr lang="zh-CN" altLang="en-US">
                <a:sym typeface="+mn-ea"/>
              </a:rPr>
              <a:t>.end()</a:t>
            </a:r>
            <a:r>
              <a:rPr lang="x-none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);</a:t>
            </a:r>
            <a:r>
              <a:rPr lang="x-none" altLang="zh-CN">
                <a:sym typeface="+mn-ea"/>
              </a:rPr>
              <a:t>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//从大到小</a:t>
            </a:r>
            <a:r>
              <a:rPr lang="zh-CN" altLang="en-US">
                <a:sym typeface="+mn-ea"/>
              </a:rPr>
              <a:t> 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</a:t>
            </a:r>
            <a:r>
              <a:rPr lang="x-none" altLang="zh-CN">
                <a:sym typeface="+mn-ea"/>
              </a:rPr>
              <a:t>   </a:t>
            </a:r>
            <a:r>
              <a:rPr lang="zh-CN" altLang="en-US"/>
              <a:t>cout</a:t>
            </a:r>
            <a:r>
              <a:rPr lang="x-none" altLang="zh-CN"/>
              <a:t> </a:t>
            </a:r>
            <a:r>
              <a:rPr lang="zh-CN" altLang="en-US"/>
              <a:t>&lt;&lt;</a:t>
            </a:r>
            <a:r>
              <a:rPr lang="x-none" altLang="zh-CN"/>
              <a:t> </a:t>
            </a:r>
            <a:r>
              <a:rPr lang="zh-CN" altLang="en-US"/>
              <a:t>endl</a:t>
            </a:r>
            <a:r>
              <a:rPr lang="x-none" altLang="zh-CN"/>
              <a:t> </a:t>
            </a:r>
            <a:r>
              <a:rPr lang="zh-CN" altLang="en-US"/>
              <a:t>&lt;&lt;"Descending</a:t>
            </a:r>
            <a:r>
              <a:rPr lang="x-none" altLang="zh-CN"/>
              <a:t> </a:t>
            </a:r>
            <a:r>
              <a:rPr lang="zh-CN" altLang="en-US"/>
              <a:t>order:"&lt;&lt;endl;    </a:t>
            </a:r>
            <a:endParaRPr lang="zh-CN" altLang="en-US"/>
          </a:p>
          <a:p>
            <a:r>
              <a:rPr lang="zh-CN" altLang="en-US"/>
              <a:t> </a:t>
            </a:r>
            <a:r>
              <a:rPr lang="x-none" altLang="zh-CN"/>
              <a:t>   </a:t>
            </a:r>
            <a:r>
              <a:rPr lang="zh-CN" altLang="en-US"/>
              <a:t>for(</a:t>
            </a:r>
            <a:r>
              <a:rPr lang="x-none" altLang="zh-CN"/>
              <a:t> </a:t>
            </a:r>
            <a:r>
              <a:rPr lang="zh-CN" altLang="en-US"/>
              <a:t>int i=0;</a:t>
            </a:r>
            <a:r>
              <a:rPr lang="x-none" altLang="zh-CN"/>
              <a:t> </a:t>
            </a:r>
            <a:r>
              <a:rPr lang="zh-CN" altLang="en-US"/>
              <a:t>i&lt;</a:t>
            </a:r>
            <a:r>
              <a:rPr lang="x-none" altLang="zh-CN"/>
              <a:t>v</a:t>
            </a:r>
            <a:r>
              <a:rPr lang="zh-CN" altLang="en-US"/>
              <a:t>.size();</a:t>
            </a:r>
            <a:r>
              <a:rPr lang="x-none" altLang="zh-CN"/>
              <a:t> </a:t>
            </a:r>
            <a:r>
              <a:rPr lang="zh-CN" altLang="en-US"/>
              <a:t>i++)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cout&lt;&lt;</a:t>
            </a:r>
            <a:r>
              <a:rPr lang="x-none" altLang="zh-CN"/>
              <a:t> v</a:t>
            </a:r>
            <a:r>
              <a:rPr lang="zh-CN" altLang="en-US"/>
              <a:t>[i]</a:t>
            </a:r>
            <a:r>
              <a:rPr lang="x-none" altLang="zh-CN"/>
              <a:t> </a:t>
            </a:r>
            <a:r>
              <a:rPr lang="zh-CN" altLang="en-US"/>
              <a:t>&lt;&lt;",";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return 0;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							vector</a:t>
            </a:r>
            <a:r>
              <a:rPr lang="zh-CN" altLang="en-US">
                <a:sym typeface="+mn-ea"/>
              </a:rPr>
              <a:t>二维数组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3515" y="197803"/>
            <a:ext cx="7063740" cy="6462395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#include &lt;vector&gt;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#include &lt;iostream&gt;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using namespace std;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int main()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{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int N=5, M=6; 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vector&lt;vector&lt;int&gt; &gt; </a:t>
            </a:r>
            <a:r>
              <a:rPr lang="x-none" altLang="zh-CN">
                <a:sym typeface="+mn-ea"/>
              </a:rPr>
              <a:t>v</a:t>
            </a:r>
            <a:r>
              <a:rPr lang="zh-CN" altLang="en-US">
                <a:sym typeface="+mn-ea"/>
              </a:rPr>
              <a:t>(N);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//定义二维动态数组大小5行</a:t>
            </a:r>
            <a:r>
              <a:rPr lang="zh-CN" altLang="en-US">
                <a:sym typeface="+mn-ea"/>
              </a:rPr>
              <a:t> 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for(int i =0; i&lt; </a:t>
            </a:r>
            <a:r>
              <a:rPr lang="x-none" altLang="zh-CN">
                <a:sym typeface="+mn-ea"/>
              </a:rPr>
              <a:t>v</a:t>
            </a:r>
            <a:r>
              <a:rPr lang="zh-CN" altLang="en-US">
                <a:sym typeface="+mn-ea"/>
              </a:rPr>
              <a:t>.size(); i++)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//动态二维数组为5行6列，值全为0</a:t>
            </a:r>
            <a:r>
              <a:rPr lang="zh-CN" altLang="en-US">
                <a:sym typeface="+mn-ea"/>
              </a:rPr>
              <a:t> 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    </a:t>
            </a:r>
            <a:r>
              <a:rPr lang="x-none" altLang="zh-CN">
                <a:sym typeface="+mn-ea"/>
              </a:rPr>
              <a:t>v</a:t>
            </a:r>
            <a:r>
              <a:rPr lang="zh-CN" altLang="en-US">
                <a:sym typeface="+mn-ea"/>
              </a:rPr>
              <a:t>[i].resize(M);  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ym typeface="+mn-ea"/>
              </a:rPr>
              <a:t>   </a:t>
            </a:r>
            <a:r>
              <a:rPr lang="x-none" altLang="en-US">
                <a:sym typeface="+mn-ea"/>
              </a:rPr>
              <a:t> . . . . . .</a:t>
            </a:r>
            <a:endParaRPr lang="x-none" altLang="en-US"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for(int i=0; i&lt; </a:t>
            </a:r>
            <a:r>
              <a:rPr lang="x-none" altLang="zh-CN">
                <a:sym typeface="+mn-ea"/>
              </a:rPr>
              <a:t>v</a:t>
            </a:r>
            <a:r>
              <a:rPr lang="zh-CN" altLang="en-US">
                <a:sym typeface="+mn-ea"/>
              </a:rPr>
              <a:t>.size(); i++)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//输出二维动态数组</a:t>
            </a:r>
            <a:r>
              <a:rPr lang="zh-CN" altLang="en-US">
                <a:sym typeface="+mn-ea"/>
              </a:rPr>
              <a:t> 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{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    for(int j=0;j&lt;</a:t>
            </a:r>
            <a:r>
              <a:rPr lang="x-none" altLang="zh-CN">
                <a:sym typeface="+mn-ea"/>
              </a:rPr>
              <a:t>v</a:t>
            </a:r>
            <a:r>
              <a:rPr lang="zh-CN" altLang="en-US">
                <a:sym typeface="+mn-ea"/>
              </a:rPr>
              <a:t>[i].size();j++)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    {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        cout&lt;&lt;</a:t>
            </a:r>
            <a:r>
              <a:rPr lang="x-none" altLang="zh-CN">
                <a:sym typeface="+mn-ea"/>
              </a:rPr>
              <a:t>v</a:t>
            </a:r>
            <a:r>
              <a:rPr lang="zh-CN" altLang="en-US">
                <a:sym typeface="+mn-ea"/>
              </a:rPr>
              <a:t>[i][j]&lt;&lt;" ";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    }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    cout&lt;&lt;"\n";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}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return 0;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}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53035" y="61595"/>
            <a:ext cx="4538980" cy="6739255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en-US"/>
              <a:t>#include &lt;iostream&gt;</a:t>
            </a:r>
            <a:endParaRPr lang="zh-CN" altLang="en-US"/>
          </a:p>
          <a:p>
            <a:r>
              <a:rPr lang="zh-CN" altLang="en-US"/>
              <a:t>#include &lt;vector&gt;</a:t>
            </a:r>
            <a:endParaRPr lang="zh-CN" altLang="en-US"/>
          </a:p>
          <a:p>
            <a:r>
              <a:rPr lang="zh-CN" altLang="en-US"/>
              <a:t>#include &lt;algorithm&gt;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using namespace std;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int main()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	int n;</a:t>
            </a:r>
            <a:endParaRPr lang="zh-CN" altLang="en-US"/>
          </a:p>
          <a:p>
            <a:r>
              <a:rPr lang="zh-CN" altLang="en-US"/>
              <a:t>	cin &gt;&gt; n;</a:t>
            </a:r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vector 变量</a:t>
            </a:r>
            <a:endParaRPr lang="zh-CN" altLang="en-US"/>
          </a:p>
          <a:p>
            <a:r>
              <a:rPr lang="zh-CN" altLang="en-US"/>
              <a:t>	vector&lt;int&gt; v;</a:t>
            </a:r>
            <a:endParaRPr lang="zh-CN" altLang="en-US"/>
          </a:p>
          <a:p>
            <a:r>
              <a:rPr lang="zh-CN" altLang="en-US"/>
              <a:t>	</a:t>
            </a:r>
            <a:endParaRPr lang="zh-CN" altLang="en-US"/>
          </a:p>
          <a:p>
            <a:r>
              <a:rPr lang="zh-CN" altLang="en-US"/>
              <a:t>	for (int i=0; i&lt;n; i++)</a:t>
            </a:r>
            <a:endParaRPr lang="zh-CN" altLang="en-US"/>
          </a:p>
          <a:p>
            <a:r>
              <a:rPr lang="zh-CN" altLang="en-US"/>
              <a:t>	{</a:t>
            </a:r>
            <a:endParaRPr lang="zh-CN" altLang="en-US"/>
          </a:p>
          <a:p>
            <a:r>
              <a:rPr lang="zh-CN" altLang="en-US"/>
              <a:t>		int number;</a:t>
            </a:r>
            <a:endParaRPr lang="zh-CN" altLang="en-US"/>
          </a:p>
          <a:p>
            <a:r>
              <a:rPr lang="zh-CN" altLang="en-US"/>
              <a:t>		cin &gt;&gt; number;</a:t>
            </a:r>
            <a:endParaRPr lang="zh-CN" altLang="en-US"/>
          </a:p>
          <a:p>
            <a:r>
              <a:rPr lang="x-none" altLang="zh-CN">
                <a:sym typeface="+mn-ea"/>
              </a:rPr>
              <a:t>		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//从后面加入数据</a:t>
            </a:r>
            <a:endParaRPr lang="zh-CN" altLang="en-US"/>
          </a:p>
          <a:p>
            <a:r>
              <a:rPr lang="zh-CN" altLang="en-US"/>
              <a:t>		v.push_back(number); </a:t>
            </a:r>
            <a:endParaRPr lang="zh-CN" altLang="en-US"/>
          </a:p>
          <a:p>
            <a:r>
              <a:rPr lang="zh-CN" altLang="en-US"/>
              <a:t>	}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vector 的头尾元素</a:t>
            </a:r>
            <a:endParaRPr lang="zh-CN" altLang="en-US"/>
          </a:p>
          <a:p>
            <a:r>
              <a:rPr lang="zh-CN" altLang="en-US"/>
              <a:t>	cout &lt;&lt; v.front() &lt;&lt; endl;</a:t>
            </a:r>
            <a:endParaRPr lang="zh-CN" altLang="en-US"/>
          </a:p>
          <a:p>
            <a:r>
              <a:rPr lang="zh-CN" altLang="en-US"/>
              <a:t>	cout &lt;&lt; v.back()  &lt;&lt; endl;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773930" y="61595"/>
            <a:ext cx="7052310" cy="6739255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x-none" altLang="zh-CN"/>
              <a:t> 	</a:t>
            </a:r>
            <a:r>
              <a:rPr lang="zh-CN" altLang="en-US">
                <a:solidFill>
                  <a:srgbClr val="00B050"/>
                </a:solidFill>
              </a:rPr>
              <a:t>// vector 迭代器</a:t>
            </a:r>
            <a:endParaRPr lang="zh-CN" altLang="en-US">
              <a:solidFill>
                <a:srgbClr val="00B050"/>
              </a:solidFill>
            </a:endParaRPr>
          </a:p>
          <a:p>
            <a:r>
              <a:rPr lang="zh-CN" altLang="en-US"/>
              <a:t>	vector&lt;int&gt;::iterator it;</a:t>
            </a:r>
            <a:endParaRPr lang="zh-CN" altLang="en-US"/>
          </a:p>
          <a:p>
            <a:r>
              <a:rPr lang="zh-CN" altLang="en-US"/>
              <a:t>	it = v.begin();</a:t>
            </a:r>
            <a:endParaRPr lang="zh-CN" altLang="en-US"/>
          </a:p>
          <a:p>
            <a:r>
              <a:rPr lang="zh-CN" altLang="en-US"/>
              <a:t>	cout &lt;&lt; *it &lt;&lt; endl;</a:t>
            </a:r>
            <a:endParaRPr lang="zh-CN" altLang="en-US"/>
          </a:p>
          <a:p>
            <a:r>
              <a:rPr lang="zh-CN" altLang="en-US"/>
              <a:t>	it = v.end();  </a:t>
            </a:r>
            <a:r>
              <a:rPr lang="zh-CN" altLang="en-US">
                <a:solidFill>
                  <a:srgbClr val="00B050"/>
                </a:solidFill>
              </a:rPr>
              <a:t>// vector 的 end() 表示数据的结尾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vector 删除</a:t>
            </a:r>
            <a:endParaRPr lang="zh-CN" altLang="en-US"/>
          </a:p>
          <a:p>
            <a:r>
              <a:rPr lang="zh-CN" altLang="en-US"/>
              <a:t>	v.pop_back();</a:t>
            </a:r>
            <a:endParaRPr lang="zh-CN" altLang="en-US"/>
          </a:p>
          <a:p>
            <a:r>
              <a:rPr lang="zh-CN" altLang="en-US"/>
              <a:t>	v.erase(v.begin());</a:t>
            </a:r>
            <a:endParaRPr lang="zh-CN" altLang="en-US"/>
          </a:p>
          <a:p>
            <a:r>
              <a:rPr lang="zh-CN" altLang="en-US"/>
              <a:t>	v.erase(v.begin()+1, v.end()-2);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vector 里面的数据个数</a:t>
            </a:r>
            <a:endParaRPr lang="zh-CN" altLang="en-US"/>
          </a:p>
          <a:p>
            <a:r>
              <a:rPr lang="zh-CN" altLang="en-US"/>
              <a:t>	cout &lt;&lt; v.size() &lt;&lt; endl;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vector 遍历</a:t>
            </a:r>
            <a:endParaRPr lang="zh-CN" altLang="en-US"/>
          </a:p>
          <a:p>
            <a:r>
              <a:rPr lang="zh-CN" altLang="en-US"/>
              <a:t>	for (int i=0; i&lt;v.size(); i++)</a:t>
            </a:r>
            <a:endParaRPr lang="zh-CN" altLang="en-US"/>
          </a:p>
          <a:p>
            <a:r>
              <a:rPr lang="zh-CN" altLang="en-US"/>
              <a:t>		cout &lt;&lt; v[i] &lt;&lt; " ";</a:t>
            </a:r>
            <a:endParaRPr lang="zh-CN" altLang="en-US"/>
          </a:p>
          <a:p>
            <a:r>
              <a:rPr lang="zh-CN" altLang="en-US"/>
              <a:t>	cout &lt;&lt; endl;	</a:t>
            </a:r>
            <a:endParaRPr lang="zh-CN" altLang="en-US"/>
          </a:p>
          <a:p>
            <a:r>
              <a:rPr lang="zh-CN" altLang="en-US"/>
              <a:t>	for (vector&lt;int&gt;::iterator it=v.begin(); it!=v.end(); it++)</a:t>
            </a:r>
            <a:endParaRPr lang="zh-CN" altLang="en-US"/>
          </a:p>
          <a:p>
            <a:r>
              <a:rPr lang="zh-CN" altLang="en-US"/>
              <a:t>		cout &lt;&lt; *it &lt;&lt; " ";</a:t>
            </a:r>
            <a:endParaRPr lang="zh-CN" altLang="en-US"/>
          </a:p>
          <a:p>
            <a:r>
              <a:rPr lang="zh-CN" altLang="en-US"/>
              <a:t>	cout &lt;&lt; endl;</a:t>
            </a:r>
            <a:endParaRPr lang="zh-CN" altLang="en-US"/>
          </a:p>
          <a:p>
            <a:endParaRPr lang="zh-CN" altLang="en-US"/>
          </a:p>
          <a:p>
            <a:r>
              <a:rPr lang="x-none" altLang="zh-CN">
                <a:sym typeface="+mn-ea"/>
              </a:rPr>
              <a:t>	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// vector 排序</a:t>
            </a:r>
            <a:endParaRPr lang="zh-CN" altLang="en-US"/>
          </a:p>
          <a:p>
            <a:r>
              <a:rPr lang="zh-CN" altLang="en-US">
                <a:sym typeface="+mn-ea"/>
              </a:rPr>
              <a:t>	sort(v.begin(), v.end());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421005" y="1043940"/>
            <a:ext cx="8904605" cy="5354320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en-US"/>
              <a:t>	</a:t>
            </a:r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vector 从前向后寻找值的2的元素，若找到，返回迭代器，否则，返回end()</a:t>
            </a:r>
            <a:endParaRPr lang="zh-CN" altLang="en-US">
              <a:solidFill>
                <a:srgbClr val="00B050"/>
              </a:solidFill>
            </a:endParaRPr>
          </a:p>
          <a:p>
            <a:r>
              <a:rPr lang="zh-CN" altLang="en-US"/>
              <a:t>	vector&lt;int&gt;::iterator iter = find(v.begin(), v.end(), 2);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vector中值为2 的元素个数</a:t>
            </a:r>
            <a:endParaRPr lang="zh-CN" altLang="en-US">
              <a:solidFill>
                <a:srgbClr val="00B050"/>
              </a:solidFill>
            </a:endParaRPr>
          </a:p>
          <a:p>
            <a:r>
              <a:rPr lang="zh-CN" altLang="en-US"/>
              <a:t>	cout &lt;&lt; count(v.begin(), v.end(), 2) &lt;&lt; endl;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vector 是否为空？</a:t>
            </a:r>
            <a:endParaRPr lang="zh-CN" altLang="en-US"/>
          </a:p>
          <a:p>
            <a:r>
              <a:rPr lang="zh-CN" altLang="en-US"/>
              <a:t>	if (v.empty()) cout &lt;&lt; "v is empty \n";</a:t>
            </a:r>
            <a:endParaRPr lang="zh-CN" altLang="en-US"/>
          </a:p>
          <a:p>
            <a:r>
              <a:rPr lang="zh-CN" altLang="en-US"/>
              <a:t>	else cout &lt;&lt; "v is not empty\n";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清空 vector</a:t>
            </a:r>
            <a:endParaRPr lang="zh-CN" altLang="en-US">
              <a:solidFill>
                <a:srgbClr val="00B050"/>
              </a:solidFill>
            </a:endParaRPr>
          </a:p>
          <a:p>
            <a:r>
              <a:rPr lang="zh-CN" altLang="en-US"/>
              <a:t>	v.clear();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if (v.empty()) cout &lt;&lt; "v now is empty after clear itself.\n";</a:t>
            </a:r>
            <a:endParaRPr lang="zh-CN" altLang="en-US"/>
          </a:p>
          <a:p>
            <a:r>
              <a:rPr lang="zh-CN" altLang="en-US"/>
              <a:t>	else cout &lt;&lt; "something is wrong when clearing v.\n";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return 0;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D8EEC0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1 </a:t>
            </a:r>
            <a:r>
              <a:rPr lang="zh-CN" altLang="en-US"/>
              <a:t>木块问题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27965" y="1461770"/>
            <a:ext cx="11736070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计算机科学的许多领域都使用简单、抽象的领域进行分析和实证研究。例如，早期的人工智能规划和机器人（strips）研究使用了一个方块世界，在这个世界中，机器人手臂执行涉及块操作的任务。在这个问题中，您将在特定的规则和约束下建模一个简单的块世界。您将“编程”一个机械臂来响应有限的一组命令，而不是确定如何实现指定的状态。问题是要解析一系列命令，这些命令指示机器人手臂如何操作放在地面的块。最初，地面有n个块（编号从0到n</a:t>
            </a:r>
            <a:r>
              <a:rPr lang="en-US" altLang="zh-CN"/>
              <a:t>-</a:t>
            </a:r>
            <a:r>
              <a:rPr lang="zh-CN" altLang="en-US"/>
              <a:t>1），所有0≤i&lt;n</a:t>
            </a:r>
            <a:r>
              <a:rPr lang="en-US" altLang="zh-CN"/>
              <a:t>-</a:t>
            </a:r>
            <a:r>
              <a:rPr lang="zh-CN" altLang="en-US"/>
              <a:t>1的块bi与块bi+1相邻，如下图所示：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					</a:t>
            </a:r>
            <a:r>
              <a:rPr lang="x-none" altLang="en-US"/>
              <a:t>          </a:t>
            </a:r>
            <a:r>
              <a:rPr lang="zh-CN" altLang="en-US"/>
              <a:t>初始块世界：</a:t>
            </a:r>
            <a:endParaRPr lang="zh-CN" altLang="en-US"/>
          </a:p>
          <a:p>
            <a:r>
              <a:rPr lang="zh-CN" altLang="en-US"/>
              <a:t>操作块的机器人臂的有效命令是：</a:t>
            </a:r>
            <a:endParaRPr lang="zh-CN" altLang="en-US"/>
          </a:p>
          <a:p>
            <a:r>
              <a:rPr lang="zh-CN" altLang="en-US"/>
              <a:t>move a onto b</a:t>
            </a:r>
            <a:endParaRPr lang="zh-CN" altLang="en-US"/>
          </a:p>
          <a:p>
            <a:r>
              <a:rPr lang="zh-CN" altLang="en-US"/>
              <a:t>将堆叠在块A和B上方的所有块返回到其初始位置，再将块A放在块B上方。</a:t>
            </a:r>
            <a:endParaRPr lang="zh-CN" altLang="en-US"/>
          </a:p>
          <a:p>
            <a:r>
              <a:rPr lang="zh-CN" altLang="en-US"/>
              <a:t>move a over b</a:t>
            </a:r>
            <a:endParaRPr lang="zh-CN" altLang="en-US"/>
          </a:p>
          <a:p>
            <a:r>
              <a:rPr lang="zh-CN" altLang="en-US"/>
              <a:t>将堆叠在块A上方的所有块返回到其初始位置，再将块A放在块B的最上方。</a:t>
            </a:r>
            <a:endParaRPr lang="zh-CN" altLang="en-US"/>
          </a:p>
          <a:p>
            <a:r>
              <a:rPr lang="zh-CN" altLang="en-US"/>
              <a:t>pile a onto b</a:t>
            </a:r>
            <a:endParaRPr lang="zh-CN" altLang="en-US"/>
          </a:p>
          <a:p>
            <a:r>
              <a:rPr lang="zh-CN" altLang="en-US"/>
              <a:t>将堆叠在块B上方的所有块返回到其初始位置，将块A和块A以上的所有块整体放到块B的上方。</a:t>
            </a:r>
            <a:endParaRPr lang="zh-CN" altLang="en-US"/>
          </a:p>
          <a:p>
            <a:r>
              <a:rPr lang="zh-CN" altLang="en-US"/>
              <a:t>pile a over b</a:t>
            </a:r>
            <a:endParaRPr lang="zh-CN" altLang="en-US"/>
          </a:p>
          <a:p>
            <a:r>
              <a:rPr lang="zh-CN" altLang="en-US"/>
              <a:t>将块A和块A以上的所有块整体放到块B的最上方。</a:t>
            </a:r>
            <a:endParaRPr lang="zh-CN" altLang="en-US"/>
          </a:p>
          <a:p>
            <a:r>
              <a:rPr lang="zh-CN" altLang="en-US"/>
              <a:t>quit</a:t>
            </a:r>
            <a:endParaRPr lang="zh-CN" altLang="en-US"/>
          </a:p>
          <a:p>
            <a:r>
              <a:rPr lang="zh-CN" altLang="en-US"/>
              <a:t>终止</a:t>
            </a:r>
            <a:endParaRPr lang="zh-CN" altLang="en-US"/>
          </a:p>
          <a:p>
            <a:r>
              <a:rPr lang="zh-CN" altLang="en-US"/>
              <a:t>（若a和b在同一堆，则该指令非法，应当忽略）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957695" y="3051318"/>
            <a:ext cx="756000" cy="75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998550" y="3051318"/>
            <a:ext cx="756920" cy="75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x-none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-1</a:t>
            </a:r>
            <a:endParaRPr lang="x-none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723220" y="3051318"/>
            <a:ext cx="755650" cy="75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x-none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88395" y="3051318"/>
            <a:ext cx="755650" cy="75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x-none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253570" y="3051318"/>
            <a:ext cx="755650" cy="75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x-none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010775" y="3051175"/>
            <a:ext cx="978535" cy="756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......</a:t>
            </a:r>
            <a:endParaRPr lang="x-none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D8EEC0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1 </a:t>
            </a:r>
            <a:r>
              <a:rPr lang="zh-CN" altLang="en-US"/>
              <a:t>木块问题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819"/>
          <a:stretch>
            <a:fillRect/>
          </a:stretch>
        </p:blipFill>
        <p:spPr>
          <a:xfrm>
            <a:off x="1017270" y="1743075"/>
            <a:ext cx="2775585" cy="46837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510" y="2364740"/>
            <a:ext cx="2315210" cy="40620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510" y="1743075"/>
            <a:ext cx="1478280" cy="4521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042400" y="2654300"/>
            <a:ext cx="25400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10</a:t>
            </a:r>
            <a:endParaRPr lang="zh-CN" altLang="en-US"/>
          </a:p>
          <a:p>
            <a:r>
              <a:rPr lang="zh-CN" altLang="en-US"/>
              <a:t>move 9 onto 1</a:t>
            </a:r>
            <a:endParaRPr lang="zh-CN" altLang="en-US"/>
          </a:p>
          <a:p>
            <a:r>
              <a:rPr lang="zh-CN" altLang="en-US"/>
              <a:t>move 8 over 1</a:t>
            </a:r>
            <a:endParaRPr lang="zh-CN" altLang="en-US"/>
          </a:p>
          <a:p>
            <a:r>
              <a:rPr lang="zh-CN" altLang="en-US"/>
              <a:t>move 7 over 1</a:t>
            </a:r>
            <a:endParaRPr lang="zh-CN" altLang="en-US"/>
          </a:p>
          <a:p>
            <a:r>
              <a:rPr lang="zh-CN" altLang="en-US"/>
              <a:t>move 6 over 1</a:t>
            </a:r>
            <a:endParaRPr lang="zh-CN" altLang="en-US"/>
          </a:p>
          <a:p>
            <a:r>
              <a:rPr lang="zh-CN" altLang="en-US"/>
              <a:t>pile 8 over 6</a:t>
            </a:r>
            <a:endParaRPr lang="zh-CN" altLang="en-US"/>
          </a:p>
          <a:p>
            <a:r>
              <a:rPr lang="zh-CN" altLang="en-US"/>
              <a:t>pile 8 over 5</a:t>
            </a:r>
            <a:endParaRPr lang="zh-CN" altLang="en-US"/>
          </a:p>
          <a:p>
            <a:r>
              <a:rPr lang="zh-CN" altLang="en-US"/>
              <a:t>move 2 over 1</a:t>
            </a:r>
            <a:endParaRPr lang="zh-CN" altLang="en-US"/>
          </a:p>
          <a:p>
            <a:r>
              <a:rPr lang="zh-CN" altLang="en-US"/>
              <a:t>move 4 over 9</a:t>
            </a:r>
            <a:endParaRPr lang="zh-CN" altLang="en-US"/>
          </a:p>
          <a:p>
            <a:r>
              <a:rPr lang="zh-CN" altLang="en-US"/>
              <a:t>quit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DAD95E"/>
          </a:solidFill>
        </p:spPr>
        <p:txBody>
          <a:bodyPr/>
          <a:p>
            <a:r>
              <a:rPr lang="x-none"/>
              <a:t>STL string</a:t>
            </a:r>
            <a:r>
              <a:rPr lang="zh-CN" altLang="x-none"/>
              <a:t>的使用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9600" y="1560830"/>
            <a:ext cx="109728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C++中提供了一种新的数据类型——字符串类型(string)。实际上string并不是C++的基本类型，它是在C++标准库中声明的一个字符串类，用这种数据类型可以定义对象，每一个字符串变量都是string类的一个对象。标准库类型string表示可变长的字符序列，使用string类型必须首先包含它的头文件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作为标准库的一部分，string定义在命名空间std中。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#include</a:t>
            </a:r>
            <a:r>
              <a:rPr lang="x-none" altLang="en-US"/>
              <a:t> &lt;string&gt;</a:t>
            </a:r>
            <a:endParaRPr lang="x-none" altLang="en-US"/>
          </a:p>
          <a:p>
            <a:r>
              <a:rPr lang="x-none" altLang="en-US"/>
              <a:t>using namespace std;</a:t>
            </a:r>
            <a:endParaRPr lang="x-none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DAD95E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09600" y="1572895"/>
            <a:ext cx="530288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/>
              <a:t>反转字符串：</a:t>
            </a:r>
            <a:endParaRPr lang="zh-CN" altLang="x-none"/>
          </a:p>
          <a:p>
            <a:r>
              <a:rPr lang="zh-CN" altLang="x-none"/>
              <a:t>输入一个字符串，将其字符顺序反转过来输出。</a:t>
            </a:r>
            <a:endParaRPr lang="zh-CN" altLang="x-none"/>
          </a:p>
          <a:p>
            <a:r>
              <a:rPr lang="zh-CN" altLang="x-none"/>
              <a:t>例</a:t>
            </a:r>
            <a:endParaRPr lang="zh-CN" altLang="x-none"/>
          </a:p>
          <a:p>
            <a:r>
              <a:rPr lang="zh-CN" altLang="x-none"/>
              <a:t>输入：</a:t>
            </a:r>
            <a:endParaRPr lang="zh-CN" altLang="x-none"/>
          </a:p>
          <a:p>
            <a:r>
              <a:rPr lang="en-US" altLang="zh-CN"/>
              <a:t>abcdefg</a:t>
            </a:r>
            <a:endParaRPr lang="en-US" altLang="zh-CN"/>
          </a:p>
          <a:p>
            <a:r>
              <a:rPr lang="zh-CN" altLang="en-US"/>
              <a:t>输出：</a:t>
            </a:r>
            <a:endParaRPr lang="zh-CN" altLang="en-US"/>
          </a:p>
          <a:p>
            <a:r>
              <a:rPr lang="en-US" altLang="zh-CN"/>
              <a:t>gfedcba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9600" y="4006850"/>
            <a:ext cx="676338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/>
              <a:t>思路</a:t>
            </a:r>
            <a:r>
              <a:rPr lang="en-US" altLang="zh-CN"/>
              <a:t>1.   </a:t>
            </a:r>
            <a:r>
              <a:rPr lang="zh-CN" altLang="en-US"/>
              <a:t>利用</a:t>
            </a:r>
            <a:r>
              <a:rPr lang="x-none" altLang="zh-CN"/>
              <a:t>&lt;algorithm&gt; </a:t>
            </a:r>
            <a:r>
              <a:rPr lang="zh-CN" altLang="x-none"/>
              <a:t>的</a:t>
            </a:r>
            <a:r>
              <a:rPr lang="en-US" altLang="zh-CN"/>
              <a:t>reverse</a:t>
            </a:r>
            <a:r>
              <a:rPr lang="zh-CN" altLang="en-US"/>
              <a:t>函数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思路</a:t>
            </a:r>
            <a:r>
              <a:rPr lang="en-US" altLang="zh-CN"/>
              <a:t>2.  </a:t>
            </a:r>
            <a:r>
              <a:rPr lang="zh-CN" altLang="en-US"/>
              <a:t>自己写一个函数，把字符串头和尾依次交换即可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DAD95E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09600" y="1572895"/>
            <a:ext cx="87376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/>
              <a:t>反转字符串：</a:t>
            </a:r>
            <a:endParaRPr lang="zh-CN" altLang="x-none"/>
          </a:p>
          <a:p>
            <a:r>
              <a:rPr lang="zh-CN" altLang="x-none"/>
              <a:t>输入一个字符串，将其字符顺序反转过来输出。其中字符串可以包括空格等字符</a:t>
            </a:r>
            <a:endParaRPr lang="zh-CN" altLang="x-none"/>
          </a:p>
          <a:p>
            <a:r>
              <a:rPr lang="zh-CN" altLang="x-none"/>
              <a:t>例</a:t>
            </a:r>
            <a:endParaRPr lang="zh-CN" altLang="x-none"/>
          </a:p>
          <a:p>
            <a:r>
              <a:rPr lang="zh-CN" altLang="x-none"/>
              <a:t>输入：</a:t>
            </a:r>
            <a:endParaRPr lang="zh-CN" altLang="x-none"/>
          </a:p>
          <a:p>
            <a:r>
              <a:rPr lang="en-US" altLang="zh-CN"/>
              <a:t>abcd e  fg</a:t>
            </a:r>
            <a:endParaRPr lang="en-US" altLang="zh-CN"/>
          </a:p>
          <a:p>
            <a:r>
              <a:rPr lang="zh-CN" altLang="en-US"/>
              <a:t>输出：</a:t>
            </a:r>
            <a:endParaRPr lang="zh-CN" altLang="en-US"/>
          </a:p>
          <a:p>
            <a:r>
              <a:rPr lang="en-US" altLang="zh-CN"/>
              <a:t>gf  e dcba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9600" y="4006850"/>
            <a:ext cx="83610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/>
              <a:t>思路：</a:t>
            </a:r>
            <a:r>
              <a:rPr lang="en-US" altLang="zh-CN"/>
              <a:t> </a:t>
            </a:r>
            <a:r>
              <a:rPr lang="zh-CN" altLang="en-US"/>
              <a:t>只需要使用</a:t>
            </a:r>
            <a:r>
              <a:rPr lang="en-US" altLang="zh-CN"/>
              <a:t>getline</a:t>
            </a:r>
            <a:r>
              <a:rPr lang="zh-CN" altLang="en-US"/>
              <a:t>函数来读取一行输入数据并存储到字符串即可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DAD95E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09600" y="1572895"/>
            <a:ext cx="87376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/>
              <a:t>反转字符串：</a:t>
            </a:r>
            <a:endParaRPr lang="zh-CN" altLang="x-none"/>
          </a:p>
          <a:p>
            <a:r>
              <a:rPr lang="zh-CN" altLang="x-none"/>
              <a:t>输入一个字符串，只将其中的字母反转过来，但其他不是字母的字符保持原有的顺序和位置输出。</a:t>
            </a:r>
            <a:endParaRPr lang="zh-CN" altLang="x-none"/>
          </a:p>
          <a:p>
            <a:r>
              <a:rPr lang="zh-CN" altLang="x-none"/>
              <a:t>例</a:t>
            </a:r>
            <a:endParaRPr lang="zh-CN" altLang="x-none"/>
          </a:p>
          <a:p>
            <a:r>
              <a:rPr lang="zh-CN" altLang="x-none"/>
              <a:t>输入：</a:t>
            </a:r>
            <a:endParaRPr lang="zh-CN" altLang="x-none"/>
          </a:p>
          <a:p>
            <a:r>
              <a:rPr lang="en-US" altLang="zh-CN"/>
              <a:t>ab</a:t>
            </a:r>
            <a:r>
              <a:rPr lang="x-none" altLang="en-US"/>
              <a:t>12</a:t>
            </a:r>
            <a:r>
              <a:rPr lang="en-US" altLang="zh-CN"/>
              <a:t>cd e </a:t>
            </a:r>
            <a:r>
              <a:rPr lang="x-none" altLang="en-US"/>
              <a:t>+</a:t>
            </a:r>
            <a:r>
              <a:rPr lang="en-US" altLang="zh-CN"/>
              <a:t>fg</a:t>
            </a:r>
            <a:endParaRPr lang="en-US" altLang="zh-CN"/>
          </a:p>
          <a:p>
            <a:r>
              <a:rPr lang="zh-CN" altLang="en-US"/>
              <a:t>输出：</a:t>
            </a:r>
            <a:endParaRPr lang="zh-CN" altLang="en-US"/>
          </a:p>
          <a:p>
            <a:r>
              <a:rPr lang="en-US" altLang="zh-CN"/>
              <a:t>gf</a:t>
            </a:r>
            <a:r>
              <a:rPr lang="x-none" altLang="en-US"/>
              <a:t>12</a:t>
            </a:r>
            <a:r>
              <a:rPr lang="en-US" altLang="zh-CN"/>
              <a:t>ed</a:t>
            </a:r>
            <a:r>
              <a:rPr lang="x-none" altLang="en-US"/>
              <a:t> </a:t>
            </a:r>
            <a:r>
              <a:rPr lang="en-US" altLang="zh-CN"/>
              <a:t>c</a:t>
            </a:r>
            <a:r>
              <a:rPr lang="x-none" altLang="en-US"/>
              <a:t>  +</a:t>
            </a:r>
            <a:r>
              <a:rPr lang="en-US" altLang="zh-CN"/>
              <a:t>ba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9600" y="4006850"/>
            <a:ext cx="83610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/>
              <a:t>思路：</a:t>
            </a:r>
            <a:r>
              <a:rPr lang="en-US" altLang="zh-CN"/>
              <a:t> </a:t>
            </a:r>
            <a:r>
              <a:rPr lang="zh-CN" altLang="en-US"/>
              <a:t>判断是不是字母，不是则跳过，是则交换（注意：两边都是字母才交换）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DAD95E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09600" y="1572895"/>
            <a:ext cx="87376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/>
              <a:t>求最后一个字符串的长度：</a:t>
            </a:r>
            <a:endParaRPr lang="zh-CN" altLang="x-none"/>
          </a:p>
          <a:p>
            <a:r>
              <a:rPr lang="zh-CN" altLang="x-none"/>
              <a:t>输入一行若干个字符串，输出最后一个字符串的长度</a:t>
            </a:r>
            <a:endParaRPr lang="zh-CN" altLang="x-none"/>
          </a:p>
          <a:p>
            <a:r>
              <a:rPr lang="zh-CN" altLang="x-none"/>
              <a:t>例</a:t>
            </a:r>
            <a:endParaRPr lang="zh-CN" altLang="x-none"/>
          </a:p>
          <a:p>
            <a:r>
              <a:rPr lang="zh-CN" altLang="x-none"/>
              <a:t>输入：</a:t>
            </a:r>
            <a:endParaRPr lang="zh-CN" altLang="x-none"/>
          </a:p>
          <a:p>
            <a:r>
              <a:rPr lang="en-US" altLang="zh-CN"/>
              <a:t>hello this new world</a:t>
            </a:r>
            <a:r>
              <a:rPr lang="x-none" altLang="en-US"/>
              <a:t>!</a:t>
            </a:r>
            <a:endParaRPr lang="en-US" altLang="zh-CN"/>
          </a:p>
          <a:p>
            <a:r>
              <a:rPr lang="zh-CN" altLang="en-US"/>
              <a:t>输出：</a:t>
            </a:r>
            <a:endParaRPr lang="zh-CN" altLang="en-US"/>
          </a:p>
          <a:p>
            <a:r>
              <a:rPr lang="x-none" altLang="en-US"/>
              <a:t>6</a:t>
            </a:r>
            <a:endParaRPr lang="x-none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09600" y="4006850"/>
            <a:ext cx="83610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/>
              <a:t>思路：</a:t>
            </a:r>
            <a:r>
              <a:rPr lang="en-US" altLang="zh-CN"/>
              <a:t> </a:t>
            </a:r>
            <a:r>
              <a:rPr lang="zh-CN" altLang="en-US"/>
              <a:t>利用前面的思路，只需要定位到最后一个字符串即可，考虑最后一个字符串前面的那个空格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DAD95E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09600" y="1572895"/>
            <a:ext cx="87376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/>
              <a:t>拆分字符串：</a:t>
            </a:r>
            <a:endParaRPr lang="zh-CN" altLang="x-none"/>
          </a:p>
          <a:p>
            <a:r>
              <a:rPr lang="zh-CN" altLang="x-none"/>
              <a:t>输入一行若干个字符串，把这些字符串拆出来，并反向输出</a:t>
            </a:r>
            <a:endParaRPr lang="zh-CN" altLang="x-none"/>
          </a:p>
          <a:p>
            <a:r>
              <a:rPr lang="zh-CN" altLang="x-none"/>
              <a:t>例</a:t>
            </a:r>
            <a:endParaRPr lang="zh-CN" altLang="x-none"/>
          </a:p>
          <a:p>
            <a:r>
              <a:rPr lang="zh-CN" altLang="x-none"/>
              <a:t>输入：</a:t>
            </a:r>
            <a:endParaRPr lang="zh-CN" altLang="x-none"/>
          </a:p>
          <a:p>
            <a:r>
              <a:rPr lang="en-US" altLang="zh-CN"/>
              <a:t>hello this new world</a:t>
            </a:r>
            <a:r>
              <a:rPr lang="x-none" altLang="en-US"/>
              <a:t>!</a:t>
            </a:r>
            <a:endParaRPr lang="en-US" altLang="zh-CN"/>
          </a:p>
          <a:p>
            <a:r>
              <a:rPr lang="zh-CN" altLang="en-US"/>
              <a:t>输出：</a:t>
            </a:r>
            <a:endParaRPr lang="zh-CN" altLang="en-US"/>
          </a:p>
          <a:p>
            <a:r>
              <a:rPr lang="x-none" altLang="en-US"/>
              <a:t>world! new this hello</a:t>
            </a:r>
            <a:endParaRPr lang="x-none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09600" y="4006850"/>
            <a:ext cx="94202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/>
              <a:t>思路：</a:t>
            </a:r>
            <a:r>
              <a:rPr lang="en-US" altLang="zh-CN"/>
              <a:t> </a:t>
            </a:r>
            <a:r>
              <a:rPr lang="zh-CN" altLang="en-US"/>
              <a:t>利用前面的思路，只需要定位到下一个字符串即可，需要考虑连续空格的情况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DejaVu Sans"/>
        <a:ea typeface="方正书宋_GBK"/>
        <a:cs typeface=""/>
      </a:majorFont>
      <a:minorFont>
        <a:latin typeface="DejaVu Sans"/>
        <a:ea typeface="方正书宋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EF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7022</Words>
  <Application>WPS 演示</Application>
  <PresentationFormat>宽屏</PresentationFormat>
  <Paragraphs>494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宋体</vt:lpstr>
      <vt:lpstr>Wingdings</vt:lpstr>
      <vt:lpstr>DejaVu Sans</vt:lpstr>
      <vt:lpstr>方正书宋_GBK</vt:lpstr>
      <vt:lpstr>微软雅黑</vt:lpstr>
      <vt:lpstr>Arial Unicode MS</vt:lpstr>
      <vt:lpstr>MesloLGS NF</vt:lpstr>
      <vt:lpstr>Times New Roman</vt:lpstr>
      <vt:lpstr>Consolas</vt:lpstr>
      <vt:lpstr>DejaVu Sans</vt:lpstr>
      <vt:lpstr>默认设计模板</vt:lpstr>
      <vt:lpstr>编程实训</vt:lpstr>
      <vt:lpstr>C++引用 / 输入输出</vt:lpstr>
      <vt:lpstr>C++引用 / 输入输出</vt:lpstr>
      <vt:lpstr>C++引用 / 输入输出</vt:lpstr>
      <vt:lpstr>C++引用 / 输入输出</vt:lpstr>
      <vt:lpstr>C++引用 / 输入输出</vt:lpstr>
      <vt:lpstr>STL vector的使用</vt:lpstr>
      <vt:lpstr>PowerPoint 演示文稿</vt:lpstr>
      <vt:lpstr>PowerPoint 演示文稿</vt:lpstr>
      <vt:lpstr>PowerPoint 演示文稿</vt:lpstr>
      <vt:lpstr>用vector排序</vt:lpstr>
      <vt:lpstr>用迭代器对vector遍历或排序</vt:lpstr>
      <vt:lpstr>用迭代器对vector遍历或排序</vt:lpstr>
      <vt:lpstr>							vector二维数组</vt:lpstr>
      <vt:lpstr>PowerPoint 演示文稿</vt:lpstr>
      <vt:lpstr>PowerPoint 演示文稿</vt:lpstr>
      <vt:lpstr>示例1 木块问题</vt:lpstr>
      <vt:lpstr>示例1 木块问题</vt:lpstr>
      <vt:lpstr>STL string的使用</vt:lpstr>
      <vt:lpstr>示例2</vt:lpstr>
      <vt:lpstr>示例3</vt:lpstr>
      <vt:lpstr>示例4</vt:lpstr>
      <vt:lpstr>示例5</vt:lpstr>
      <vt:lpstr>示例6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huxy</dc:creator>
  <cp:lastModifiedBy>huxy</cp:lastModifiedBy>
  <cp:revision>159</cp:revision>
  <dcterms:created xsi:type="dcterms:W3CDTF">2024-07-02T01:18:16Z</dcterms:created>
  <dcterms:modified xsi:type="dcterms:W3CDTF">2024-07-02T01:18:16Z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2052-11.1.0.11719</vt:lpwstr>
  </property>
  <property fmtid="{D5CDD505-2E9C-101B-9397-08002B2CF9AE}" pid="3" name="ICV">
    <vt:lpwstr/>
  </property>
</Properties>
</file>