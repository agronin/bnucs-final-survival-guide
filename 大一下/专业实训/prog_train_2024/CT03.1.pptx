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442" r:id="rId4"/>
    <p:sldId id="302" r:id="rId5"/>
    <p:sldId id="441" r:id="rId6"/>
    <p:sldId id="447" r:id="rId7"/>
    <p:sldId id="427" r:id="rId8"/>
    <p:sldId id="417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4F9"/>
    <a:srgbClr val="DAD95E"/>
    <a:srgbClr val="FFFD39"/>
    <a:srgbClr val="D5DDB6"/>
    <a:srgbClr val="D8EEC0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7D9A98-2B42-4142-BB4A-011734DDEA8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45CD9-59AE-47D5-A754-1A2E716032D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C0B74-A019-4836-B5B5-59DC98D9D11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E9ABB-008D-4A49-98AB-65CBC48B6E0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1AF4AC-5AFC-4379-B912-FCE9AB7477D3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B94C3-E8AB-48D9-9ACF-D6A872E379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F3D532-36F8-4FDA-B03A-4B8348962AD1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E36FBE-6B4B-43FF-96F5-6DA1400F83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154CD-0EEC-4E10-9317-350E399CCC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x-none"/>
              <a:t>编程实训</a:t>
            </a:r>
            <a:endParaRPr lang="zh-CN" altLang="x-none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  <a:p>
            <a:r>
              <a:rPr lang="zh-CN" altLang="en-US" sz="3200"/>
              <a:t>人工智能学院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>
                <a:sym typeface="+mn-ea"/>
              </a:rPr>
              <a:t>前缀和</a:t>
            </a:r>
            <a:endParaRPr lang="zh-CN" altLang="x-none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001520"/>
            <a:ext cx="10264140" cy="46761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28980" y="1417955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子矩阵的和</a:t>
            </a:r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945" y="3849370"/>
            <a:ext cx="7121525" cy="2232025"/>
          </a:xfrm>
          <a:prstGeom prst="rect">
            <a:avLst/>
          </a:prstGeom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</p:pic>
      <p:sp>
        <p:nvSpPr>
          <p:cNvPr id="6" name="文本框 5"/>
          <p:cNvSpPr txBox="1"/>
          <p:nvPr/>
        </p:nvSpPr>
        <p:spPr>
          <a:xfrm>
            <a:off x="8046720" y="253492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3 4 10</a:t>
            </a:r>
            <a:endParaRPr lang="zh-CN" altLang="en-US"/>
          </a:p>
          <a:p>
            <a:r>
              <a:rPr lang="zh-CN" altLang="en-US"/>
              <a:t>1 2 3 4</a:t>
            </a:r>
            <a:endParaRPr lang="zh-CN" altLang="en-US"/>
          </a:p>
          <a:p>
            <a:r>
              <a:rPr lang="zh-CN" altLang="en-US"/>
              <a:t>5 6 7 8</a:t>
            </a:r>
            <a:endParaRPr lang="zh-CN" altLang="en-US"/>
          </a:p>
          <a:p>
            <a:r>
              <a:rPr lang="zh-CN" altLang="en-US"/>
              <a:t>9 10 11 12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351895" y="2560955"/>
            <a:ext cx="4641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19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076950" y="249428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输入样例</a:t>
            </a:r>
            <a:endParaRPr lang="zh-CN" altLang="en-US" sz="3200"/>
          </a:p>
        </p:txBody>
      </p:sp>
      <p:sp>
        <p:nvSpPr>
          <p:cNvPr id="19" name="文本框 18"/>
          <p:cNvSpPr txBox="1"/>
          <p:nvPr/>
        </p:nvSpPr>
        <p:spPr>
          <a:xfrm>
            <a:off x="9476105" y="249428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输出样例</a:t>
            </a:r>
            <a:endParaRPr lang="zh-CN" alt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>
                <a:sym typeface="+mn-ea"/>
              </a:rPr>
              <a:t>前缀和</a:t>
            </a:r>
            <a:endParaRPr lang="zh-CN" altLang="x-none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54480"/>
            <a:ext cx="8424545" cy="50469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330" y="1459230"/>
            <a:ext cx="2379345" cy="5262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>
                <a:sym typeface="+mn-ea"/>
              </a:rPr>
              <a:t>前缀和</a:t>
            </a:r>
            <a:endParaRPr lang="zh-CN" altLang="x-none"/>
          </a:p>
        </p:txBody>
      </p:sp>
      <p:sp>
        <p:nvSpPr>
          <p:cNvPr id="8" name="文本框 7"/>
          <p:cNvSpPr txBox="1"/>
          <p:nvPr/>
        </p:nvSpPr>
        <p:spPr>
          <a:xfrm>
            <a:off x="609600" y="1617345"/>
            <a:ext cx="82073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3200"/>
              <a:t>2021</a:t>
            </a:r>
            <a:r>
              <a:rPr lang="zh-CN" altLang="en-US" sz="3200"/>
              <a:t>年</a:t>
            </a:r>
            <a:r>
              <a:rPr lang="en-US" altLang="zh-CN" sz="3200"/>
              <a:t>4</a:t>
            </a:r>
            <a:r>
              <a:rPr lang="zh-CN" altLang="en-US" sz="3200"/>
              <a:t>月第</a:t>
            </a:r>
            <a:r>
              <a:rPr lang="en-US" altLang="zh-CN" sz="3200"/>
              <a:t>22</a:t>
            </a:r>
            <a:r>
              <a:rPr lang="zh-CN" altLang="en-US" sz="3200"/>
              <a:t>次</a:t>
            </a:r>
            <a:r>
              <a:rPr lang="en-US" altLang="zh-CN" sz="3200"/>
              <a:t>CSP</a:t>
            </a:r>
            <a:r>
              <a:rPr lang="zh-CN" altLang="en-US" sz="3200"/>
              <a:t>认证第二题，邻域均值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>
          <a:xfrm>
            <a:off x="3609340" y="2484755"/>
            <a:ext cx="2540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4 16 1 6</a:t>
            </a:r>
            <a:endParaRPr lang="zh-CN" altLang="en-US"/>
          </a:p>
          <a:p>
            <a:r>
              <a:rPr lang="zh-CN" altLang="en-US"/>
              <a:t>0 1 2 3</a:t>
            </a:r>
            <a:endParaRPr lang="zh-CN" altLang="en-US"/>
          </a:p>
          <a:p>
            <a:r>
              <a:rPr lang="zh-CN" altLang="en-US"/>
              <a:t>4 5 6 7</a:t>
            </a:r>
            <a:endParaRPr lang="zh-CN" altLang="en-US"/>
          </a:p>
          <a:p>
            <a:r>
              <a:rPr lang="zh-CN" altLang="en-US"/>
              <a:t>8 9 10 11</a:t>
            </a:r>
            <a:endParaRPr lang="zh-CN" altLang="en-US"/>
          </a:p>
          <a:p>
            <a:r>
              <a:rPr lang="zh-CN" altLang="en-US"/>
              <a:t>12 13 14 15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533005" y="2484755"/>
            <a:ext cx="25400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11 8 2 2</a:t>
            </a:r>
            <a:endParaRPr lang="zh-CN" altLang="en-US"/>
          </a:p>
          <a:p>
            <a:r>
              <a:rPr lang="zh-CN" altLang="en-US"/>
              <a:t>0 0 0 0 0 0 0 0 0 0 0</a:t>
            </a:r>
            <a:endParaRPr lang="zh-CN" altLang="en-US"/>
          </a:p>
          <a:p>
            <a:r>
              <a:rPr lang="zh-CN" altLang="en-US"/>
              <a:t>0 0 0 0 0 0 0 0 0 0 0</a:t>
            </a:r>
            <a:endParaRPr lang="zh-CN" altLang="en-US"/>
          </a:p>
          <a:p>
            <a:r>
              <a:rPr lang="zh-CN" altLang="en-US"/>
              <a:t>0 7 0 0 0 7 0 0 7 7 0</a:t>
            </a:r>
            <a:endParaRPr lang="zh-CN" altLang="en-US"/>
          </a:p>
          <a:p>
            <a:r>
              <a:rPr lang="zh-CN" altLang="en-US"/>
              <a:t>7 0 7 0 7 0 7 0 7 0 7</a:t>
            </a:r>
            <a:endParaRPr lang="zh-CN" altLang="en-US"/>
          </a:p>
          <a:p>
            <a:r>
              <a:rPr lang="zh-CN" altLang="en-US"/>
              <a:t>7 0 0 0 7 0 0 0 7 0 7</a:t>
            </a:r>
            <a:endParaRPr lang="zh-CN" altLang="en-US"/>
          </a:p>
          <a:p>
            <a:r>
              <a:rPr lang="zh-CN" altLang="en-US"/>
              <a:t>7 0 0 0 0 7 0 0 7 7 0</a:t>
            </a:r>
            <a:endParaRPr lang="zh-CN" altLang="en-US"/>
          </a:p>
          <a:p>
            <a:r>
              <a:rPr lang="zh-CN" altLang="en-US"/>
              <a:t>7 0 0 0 0 0 7 0 7 0 0</a:t>
            </a:r>
            <a:endParaRPr lang="zh-CN" altLang="en-US"/>
          </a:p>
          <a:p>
            <a:r>
              <a:rPr lang="zh-CN" altLang="en-US"/>
              <a:t>7 0 7 0 7 0 7 0 7 0 0</a:t>
            </a:r>
            <a:endParaRPr lang="zh-CN" altLang="en-US"/>
          </a:p>
          <a:p>
            <a:r>
              <a:rPr lang="zh-CN" altLang="en-US"/>
              <a:t>0 7 0 0 0 7 0 0 7 0 0</a:t>
            </a:r>
            <a:endParaRPr lang="zh-CN" altLang="en-US"/>
          </a:p>
          <a:p>
            <a:r>
              <a:rPr lang="zh-CN" altLang="en-US"/>
              <a:t>0 0 0 0 0 0 0 0 0 0 0</a:t>
            </a:r>
            <a:endParaRPr lang="zh-CN" altLang="en-US"/>
          </a:p>
          <a:p>
            <a:r>
              <a:rPr lang="zh-CN" altLang="en-US"/>
              <a:t>0 0 0 0 0 0 0 0 0 0 0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609340" y="619506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7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533005" y="619506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83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568450" y="5171440"/>
            <a:ext cx="20408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样例</a:t>
            </a:r>
            <a:r>
              <a:rPr lang="en-US" altLang="zh-CN" sz="3200"/>
              <a:t>1</a:t>
            </a:r>
            <a:r>
              <a:rPr lang="zh-CN" altLang="en-US" sz="3200"/>
              <a:t>输出</a:t>
            </a:r>
            <a:endParaRPr lang="zh-CN" altLang="en-US" sz="3200"/>
          </a:p>
        </p:txBody>
      </p:sp>
      <p:sp>
        <p:nvSpPr>
          <p:cNvPr id="14" name="文本框 13"/>
          <p:cNvSpPr txBox="1"/>
          <p:nvPr/>
        </p:nvSpPr>
        <p:spPr>
          <a:xfrm>
            <a:off x="1508760" y="2345055"/>
            <a:ext cx="20408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样例</a:t>
            </a:r>
            <a:r>
              <a:rPr lang="en-US" altLang="zh-CN" sz="3200"/>
              <a:t>1</a:t>
            </a:r>
            <a:r>
              <a:rPr lang="zh-CN" altLang="en-US" sz="3200"/>
              <a:t>输入</a:t>
            </a:r>
            <a:endParaRPr lang="zh-CN" altLang="en-US" sz="3200"/>
          </a:p>
        </p:txBody>
      </p:sp>
      <p:sp>
        <p:nvSpPr>
          <p:cNvPr id="15" name="文本框 14"/>
          <p:cNvSpPr txBox="1"/>
          <p:nvPr/>
        </p:nvSpPr>
        <p:spPr>
          <a:xfrm>
            <a:off x="5352415" y="5171440"/>
            <a:ext cx="20408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样例</a:t>
            </a:r>
            <a:r>
              <a:rPr lang="en-US" altLang="zh-CN" sz="3200"/>
              <a:t>2</a:t>
            </a:r>
            <a:r>
              <a:rPr lang="zh-CN" altLang="en-US" sz="3200"/>
              <a:t>输出</a:t>
            </a:r>
            <a:endParaRPr lang="zh-CN" altLang="en-US" sz="3200"/>
          </a:p>
        </p:txBody>
      </p:sp>
      <p:sp>
        <p:nvSpPr>
          <p:cNvPr id="16" name="文本框 15"/>
          <p:cNvSpPr txBox="1"/>
          <p:nvPr/>
        </p:nvSpPr>
        <p:spPr>
          <a:xfrm>
            <a:off x="5292725" y="2345055"/>
            <a:ext cx="20408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样例</a:t>
            </a:r>
            <a:r>
              <a:rPr lang="en-US" altLang="zh-CN" sz="3200"/>
              <a:t>2</a:t>
            </a:r>
            <a:r>
              <a:rPr lang="zh-CN" altLang="en-US" sz="3200"/>
              <a:t>输入</a:t>
            </a:r>
            <a:endParaRPr lang="zh-CN" altLang="en-US" sz="3200"/>
          </a:p>
        </p:txBody>
      </p:sp>
      <p:sp>
        <p:nvSpPr>
          <p:cNvPr id="18" name="文本框 17"/>
          <p:cNvSpPr txBox="1"/>
          <p:nvPr/>
        </p:nvSpPr>
        <p:spPr>
          <a:xfrm>
            <a:off x="3609340" y="619506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7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矩形 12"/>
          <p:cNvSpPr/>
          <p:nvPr/>
        </p:nvSpPr>
        <p:spPr>
          <a:xfrm>
            <a:off x="5758815" y="2064385"/>
            <a:ext cx="5488305" cy="43643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758815" y="1766570"/>
            <a:ext cx="307975" cy="2978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066790" y="1766570"/>
            <a:ext cx="307975" cy="2978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450840" y="2064385"/>
            <a:ext cx="307975" cy="2978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758815" y="2064385"/>
            <a:ext cx="307975" cy="29781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66790" y="2064385"/>
            <a:ext cx="307975" cy="297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450840" y="2362200"/>
            <a:ext cx="307975" cy="2978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066790" y="2362200"/>
            <a:ext cx="307975" cy="297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758815" y="2362200"/>
            <a:ext cx="307975" cy="297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450840" y="1766570"/>
            <a:ext cx="307975" cy="2978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/>
              <a:t>树结构初步</a:t>
            </a:r>
            <a:endParaRPr lang="zh-CN" altLang="x-none"/>
          </a:p>
        </p:txBody>
      </p:sp>
      <p:sp>
        <p:nvSpPr>
          <p:cNvPr id="3" name="文本框 2"/>
          <p:cNvSpPr txBox="1"/>
          <p:nvPr/>
        </p:nvSpPr>
        <p:spPr>
          <a:xfrm>
            <a:off x="609600" y="1626870"/>
            <a:ext cx="1047242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Nearest Common Ancestors</a:t>
            </a:r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LCA</a:t>
            </a:r>
            <a:r>
              <a:rPr lang="x-none" altLang="en-US"/>
              <a:t>, </a:t>
            </a:r>
            <a:r>
              <a:rPr lang="en-US" altLang="zh-CN"/>
              <a:t>Least </a:t>
            </a:r>
            <a:r>
              <a:rPr lang="zh-CN" altLang="en-US">
                <a:sym typeface="+mn-ea"/>
              </a:rPr>
              <a:t>Common Ancestors）</a:t>
            </a:r>
            <a:endParaRPr lang="zh-CN" altLang="en-US"/>
          </a:p>
          <a:p>
            <a:r>
              <a:rPr lang="zh-CN" altLang="en-US"/>
              <a:t>题目大意：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求树上两个点的LCA（最近公共祖先）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输入格式：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T代表数据组数，n代表节点数目。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n-1行每行两个数a，b分别代表a是b的父节点，ab间有一条无向边。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最后一行为两个数a，b，代表求a，b的LCA。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输出格式：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对于每一组数据输出LCA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2120" y="1947545"/>
            <a:ext cx="30099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/>
              <a:t>树结构初步</a:t>
            </a:r>
            <a:endParaRPr lang="zh-CN" altLang="x-none"/>
          </a:p>
        </p:txBody>
      </p:sp>
      <p:sp>
        <p:nvSpPr>
          <p:cNvPr id="2" name="文本框 1"/>
          <p:cNvSpPr txBox="1"/>
          <p:nvPr/>
        </p:nvSpPr>
        <p:spPr>
          <a:xfrm>
            <a:off x="2047875" y="118745"/>
            <a:ext cx="2540000" cy="6739255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2</a:t>
            </a:r>
            <a:endParaRPr lang="zh-CN" altLang="en-US"/>
          </a:p>
          <a:p>
            <a:r>
              <a:rPr lang="zh-CN" altLang="en-US"/>
              <a:t>16</a:t>
            </a:r>
            <a:endParaRPr lang="zh-CN" altLang="en-US"/>
          </a:p>
          <a:p>
            <a:r>
              <a:rPr lang="zh-CN" altLang="en-US"/>
              <a:t>1 14</a:t>
            </a:r>
            <a:endParaRPr lang="zh-CN" altLang="en-US"/>
          </a:p>
          <a:p>
            <a:r>
              <a:rPr lang="zh-CN" altLang="en-US"/>
              <a:t>8 5</a:t>
            </a:r>
            <a:endParaRPr lang="zh-CN" altLang="en-US"/>
          </a:p>
          <a:p>
            <a:r>
              <a:rPr lang="zh-CN" altLang="en-US"/>
              <a:t>10 16</a:t>
            </a:r>
            <a:endParaRPr lang="zh-CN" altLang="en-US"/>
          </a:p>
          <a:p>
            <a:r>
              <a:rPr lang="zh-CN" altLang="en-US"/>
              <a:t>5 9</a:t>
            </a:r>
            <a:endParaRPr lang="zh-CN" altLang="en-US"/>
          </a:p>
          <a:p>
            <a:r>
              <a:rPr lang="zh-CN" altLang="en-US"/>
              <a:t>4 6</a:t>
            </a:r>
            <a:endParaRPr lang="zh-CN" altLang="en-US"/>
          </a:p>
          <a:p>
            <a:r>
              <a:rPr lang="zh-CN" altLang="en-US"/>
              <a:t>8 4</a:t>
            </a:r>
            <a:endParaRPr lang="zh-CN" altLang="en-US"/>
          </a:p>
          <a:p>
            <a:r>
              <a:rPr lang="zh-CN" altLang="en-US"/>
              <a:t>4 10</a:t>
            </a:r>
            <a:endParaRPr lang="zh-CN" altLang="en-US"/>
          </a:p>
          <a:p>
            <a:r>
              <a:rPr lang="zh-CN" altLang="en-US"/>
              <a:t>1 13</a:t>
            </a:r>
            <a:endParaRPr lang="zh-CN" altLang="en-US"/>
          </a:p>
          <a:p>
            <a:r>
              <a:rPr lang="zh-CN" altLang="en-US"/>
              <a:t>6 15</a:t>
            </a:r>
            <a:endParaRPr lang="zh-CN" altLang="en-US"/>
          </a:p>
          <a:p>
            <a:r>
              <a:rPr lang="zh-CN" altLang="en-US"/>
              <a:t>10 11</a:t>
            </a:r>
            <a:endParaRPr lang="zh-CN" altLang="en-US"/>
          </a:p>
          <a:p>
            <a:r>
              <a:rPr lang="zh-CN" altLang="en-US"/>
              <a:t>6 7</a:t>
            </a:r>
            <a:endParaRPr lang="zh-CN" altLang="en-US"/>
          </a:p>
          <a:p>
            <a:r>
              <a:rPr lang="zh-CN" altLang="en-US"/>
              <a:t>10 2</a:t>
            </a:r>
            <a:endParaRPr lang="zh-CN" altLang="en-US"/>
          </a:p>
          <a:p>
            <a:r>
              <a:rPr lang="zh-CN" altLang="en-US"/>
              <a:t>16 3</a:t>
            </a:r>
            <a:endParaRPr lang="zh-CN" altLang="en-US"/>
          </a:p>
          <a:p>
            <a:r>
              <a:rPr lang="zh-CN" altLang="en-US"/>
              <a:t>8 1</a:t>
            </a:r>
            <a:endParaRPr lang="zh-CN" altLang="en-US"/>
          </a:p>
          <a:p>
            <a:r>
              <a:rPr lang="zh-CN" altLang="en-US"/>
              <a:t>16 12</a:t>
            </a:r>
            <a:endParaRPr lang="zh-CN" altLang="en-US"/>
          </a:p>
          <a:p>
            <a:r>
              <a:rPr lang="zh-CN" altLang="en-US"/>
              <a:t>16 7</a:t>
            </a:r>
            <a:endParaRPr lang="zh-CN" altLang="en-US"/>
          </a:p>
          <a:p>
            <a:r>
              <a:rPr lang="zh-CN" altLang="en-US"/>
              <a:t>5</a:t>
            </a:r>
            <a:endParaRPr lang="zh-CN" altLang="en-US"/>
          </a:p>
          <a:p>
            <a:r>
              <a:rPr lang="zh-CN" altLang="en-US"/>
              <a:t>2 3</a:t>
            </a:r>
            <a:endParaRPr lang="zh-CN" altLang="en-US"/>
          </a:p>
          <a:p>
            <a:r>
              <a:rPr lang="zh-CN" altLang="en-US"/>
              <a:t>3 4</a:t>
            </a:r>
            <a:endParaRPr lang="zh-CN" altLang="en-US"/>
          </a:p>
          <a:p>
            <a:r>
              <a:rPr lang="zh-CN" altLang="en-US"/>
              <a:t>3 1</a:t>
            </a:r>
            <a:endParaRPr lang="zh-CN" altLang="en-US"/>
          </a:p>
          <a:p>
            <a:r>
              <a:rPr lang="zh-CN" altLang="en-US"/>
              <a:t>1 5</a:t>
            </a:r>
            <a:endParaRPr lang="zh-CN" altLang="en-US"/>
          </a:p>
          <a:p>
            <a:r>
              <a:rPr lang="zh-CN" altLang="en-US"/>
              <a:t>3 5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73900" y="3881120"/>
            <a:ext cx="944880" cy="64516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4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3</a:t>
            </a:r>
            <a:endParaRPr lang="zh-CN" altLang="en-US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71450" y="163703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输入样例</a:t>
            </a:r>
            <a:endParaRPr lang="zh-CN" altLang="en-US" sz="3200"/>
          </a:p>
        </p:txBody>
      </p:sp>
      <p:sp>
        <p:nvSpPr>
          <p:cNvPr id="6" name="文本框 5"/>
          <p:cNvSpPr txBox="1"/>
          <p:nvPr/>
        </p:nvSpPr>
        <p:spPr>
          <a:xfrm>
            <a:off x="5134610" y="388112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/>
              <a:t>输出样例</a:t>
            </a:r>
            <a:endParaRPr lang="zh-CN" altLang="en-US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EF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WPS 演示</Application>
  <PresentationFormat>宽屏</PresentationFormat>
  <Paragraphs>112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DejaVu Sans</vt:lpstr>
      <vt:lpstr>方正书宋_GBK</vt:lpstr>
      <vt:lpstr>微软雅黑</vt:lpstr>
      <vt:lpstr>Arial Unicode MS</vt:lpstr>
      <vt:lpstr>默认设计模板</vt:lpstr>
      <vt:lpstr>编程实训</vt:lpstr>
      <vt:lpstr>前缀和</vt:lpstr>
      <vt:lpstr>前缀和</vt:lpstr>
      <vt:lpstr>前缀和</vt:lpstr>
      <vt:lpstr>PowerPoint 演示文稿</vt:lpstr>
      <vt:lpstr>树结构初步</vt:lpstr>
      <vt:lpstr>树结构初步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huxy</dc:creator>
  <cp:lastModifiedBy>huxy</cp:lastModifiedBy>
  <cp:revision>210</cp:revision>
  <dcterms:created xsi:type="dcterms:W3CDTF">2024-07-03T06:36:13Z</dcterms:created>
  <dcterms:modified xsi:type="dcterms:W3CDTF">2024-07-03T06:36:13Z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