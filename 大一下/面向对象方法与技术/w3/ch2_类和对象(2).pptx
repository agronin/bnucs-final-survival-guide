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93" r:id="rId2"/>
    <p:sldId id="294" r:id="rId3"/>
    <p:sldId id="256" r:id="rId4"/>
    <p:sldId id="257" r:id="rId5"/>
    <p:sldId id="322" r:id="rId6"/>
    <p:sldId id="259" r:id="rId7"/>
    <p:sldId id="296" r:id="rId8"/>
    <p:sldId id="260" r:id="rId9"/>
    <p:sldId id="261" r:id="rId10"/>
    <p:sldId id="323" r:id="rId11"/>
    <p:sldId id="295" r:id="rId12"/>
    <p:sldId id="262" r:id="rId13"/>
    <p:sldId id="263" r:id="rId14"/>
    <p:sldId id="264" r:id="rId15"/>
    <p:sldId id="265" r:id="rId16"/>
    <p:sldId id="266" r:id="rId17"/>
    <p:sldId id="268" r:id="rId18"/>
    <p:sldId id="269" r:id="rId19"/>
    <p:sldId id="270" r:id="rId20"/>
    <p:sldId id="271" r:id="rId21"/>
    <p:sldId id="274" r:id="rId22"/>
    <p:sldId id="275" r:id="rId23"/>
    <p:sldId id="276" r:id="rId24"/>
    <p:sldId id="316" r:id="rId25"/>
    <p:sldId id="308" r:id="rId26"/>
    <p:sldId id="309" r:id="rId27"/>
    <p:sldId id="311" r:id="rId28"/>
    <p:sldId id="312" r:id="rId29"/>
    <p:sldId id="313" r:id="rId30"/>
    <p:sldId id="314" r:id="rId31"/>
    <p:sldId id="277" r:id="rId32"/>
    <p:sldId id="326" r:id="rId33"/>
    <p:sldId id="279" r:id="rId34"/>
    <p:sldId id="315" r:id="rId35"/>
    <p:sldId id="283" r:id="rId36"/>
    <p:sldId id="284" r:id="rId37"/>
    <p:sldId id="285" r:id="rId38"/>
    <p:sldId id="286" r:id="rId39"/>
    <p:sldId id="287" r:id="rId40"/>
    <p:sldId id="324" r:id="rId41"/>
    <p:sldId id="318" r:id="rId42"/>
    <p:sldId id="317" r:id="rId43"/>
    <p:sldId id="319" r:id="rId44"/>
    <p:sldId id="320" r:id="rId45"/>
    <p:sldId id="288" r:id="rId46"/>
    <p:sldId id="321" r:id="rId47"/>
    <p:sldId id="289" r:id="rId48"/>
    <p:sldId id="290" r:id="rId49"/>
    <p:sldId id="291" r:id="rId50"/>
    <p:sldId id="292" r:id="rId51"/>
    <p:sldId id="325" r:id="rId52"/>
    <p:sldId id="305" r:id="rId53"/>
    <p:sldId id="306"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393"/>
    <p:restoredTop sz="86395" autoAdjust="0"/>
  </p:normalViewPr>
  <p:slideViewPr>
    <p:cSldViewPr>
      <p:cViewPr varScale="1">
        <p:scale>
          <a:sx n="110" d="100"/>
          <a:sy n="110" d="100"/>
        </p:scale>
        <p:origin x="97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70" d="100"/>
        <a:sy n="170" d="100"/>
      </p:scale>
      <p:origin x="0" y="291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990311-5DCC-4F5A-BE24-EDEB0887C913}" type="datetimeFigureOut">
              <a:rPr lang="zh-CN" altLang="en-US" smtClean="0"/>
              <a:t>2024/3/6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DE9D4BF-8649-449B-B4D7-E8C5666F8697}" type="slidenum">
              <a:rPr lang="zh-CN" altLang="en-US" smtClean="0"/>
              <a:t>‹#›</a:t>
            </a:fld>
            <a:endParaRPr lang="zh-CN" altLang="en-US"/>
          </a:p>
        </p:txBody>
      </p:sp>
    </p:spTree>
    <p:extLst>
      <p:ext uri="{BB962C8B-B14F-4D97-AF65-F5344CB8AC3E}">
        <p14:creationId xmlns:p14="http://schemas.microsoft.com/office/powerpoint/2010/main" val="131622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49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1F761CE-D6CA-4BA6-9A41-0AACC51B823E}" type="slidenum">
              <a:rPr lang="zh-CN" altLang="en-US" smtClean="0">
                <a:latin typeface="Times New Roman" pitchFamily="18" charset="0"/>
                <a:ea typeface="宋体" charset="-122"/>
              </a:rPr>
              <a:pPr eaLnBrk="1" hangingPunct="1">
                <a:spcBef>
                  <a:spcPct val="0"/>
                </a:spcBef>
              </a:pPr>
              <a:t>8</a:t>
            </a:fld>
            <a:endParaRPr lang="zh-CN" altLang="en-US">
              <a:latin typeface="Times New Roman" pitchFamily="18" charset="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lnSpc>
                <a:spcPct val="90000"/>
              </a:lnSpc>
            </a:pPr>
            <a:r>
              <a:rPr lang="zh-CN" altLang="en-US" dirty="0"/>
              <a:t>注意</a:t>
            </a:r>
          </a:p>
          <a:p>
            <a:pPr marL="609600" indent="-609600" eaLnBrk="1" hangingPunct="1">
              <a:lnSpc>
                <a:spcPct val="90000"/>
              </a:lnSpc>
            </a:pPr>
            <a:r>
              <a:rPr lang="zh-CN" altLang="en-US" dirty="0">
                <a:solidFill>
                  <a:srgbClr val="FF3300"/>
                </a:solidFill>
              </a:rPr>
              <a:t>关于无参构造函数：</a:t>
            </a:r>
            <a:r>
              <a:rPr lang="en-US" altLang="zh-CN" dirty="0">
                <a:solidFill>
                  <a:srgbClr val="FF3300"/>
                </a:solidFill>
              </a:rPr>
              <a:t>X::X(){}</a:t>
            </a:r>
          </a:p>
          <a:p>
            <a:pPr marL="609600" indent="-609600" eaLnBrk="1" hangingPunct="1">
              <a:lnSpc>
                <a:spcPct val="90000"/>
              </a:lnSpc>
            </a:pPr>
            <a:endParaRPr lang="en-US" altLang="zh-CN" dirty="0">
              <a:solidFill>
                <a:srgbClr val="FF3300"/>
              </a:solidFill>
            </a:endParaRPr>
          </a:p>
          <a:p>
            <a:pPr marL="609600" indent="-609600" eaLnBrk="1" hangingPunct="1">
              <a:lnSpc>
                <a:spcPct val="90000"/>
              </a:lnSpc>
              <a:buFont typeface="Wingdings" pitchFamily="2" charset="2"/>
              <a:buAutoNum type="arabicPeriod"/>
            </a:pPr>
            <a:r>
              <a:rPr lang="zh-CN" altLang="en-US" dirty="0"/>
              <a:t>在</a:t>
            </a:r>
            <a:r>
              <a:rPr lang="en-US" altLang="zh-CN" dirty="0"/>
              <a:t>class</a:t>
            </a:r>
            <a:r>
              <a:rPr lang="zh-CN" altLang="en-US" dirty="0"/>
              <a:t>没有定义任何构造函数时，系统会自动产生</a:t>
            </a:r>
            <a:r>
              <a:rPr lang="zh-CN" altLang="en-US" dirty="0">
                <a:solidFill>
                  <a:srgbClr val="FF0000"/>
                </a:solidFill>
              </a:rPr>
              <a:t>缺省无参构造函数</a:t>
            </a:r>
            <a:r>
              <a:rPr lang="zh-CN" altLang="en-US" dirty="0"/>
              <a:t>。</a:t>
            </a:r>
          </a:p>
          <a:p>
            <a:pPr marL="609600" indent="-609600" eaLnBrk="1" hangingPunct="1">
              <a:lnSpc>
                <a:spcPct val="90000"/>
              </a:lnSpc>
              <a:buFont typeface="Wingdings" pitchFamily="2" charset="2"/>
              <a:buAutoNum type="arabicPeriod"/>
            </a:pPr>
            <a:endParaRPr lang="zh-CN" altLang="en-US" dirty="0"/>
          </a:p>
          <a:p>
            <a:pPr marL="609600" indent="-609600" eaLnBrk="1" hangingPunct="1">
              <a:lnSpc>
                <a:spcPct val="90000"/>
              </a:lnSpc>
              <a:buFont typeface="Wingdings" pitchFamily="2" charset="2"/>
              <a:buAutoNum type="arabicPeriod"/>
            </a:pPr>
            <a:r>
              <a:rPr lang="zh-CN" altLang="en-US" dirty="0"/>
              <a:t>一旦定义了任意的构造函数。系统就不会产生缺省的无参构造函数</a:t>
            </a:r>
          </a:p>
          <a:p>
            <a:endParaRPr lang="zh-CN" altLang="en-US" dirty="0"/>
          </a:p>
        </p:txBody>
      </p:sp>
      <p:sp>
        <p:nvSpPr>
          <p:cNvPr id="4" name="灯片编号占位符 3"/>
          <p:cNvSpPr>
            <a:spLocks noGrp="1"/>
          </p:cNvSpPr>
          <p:nvPr>
            <p:ph type="sldNum" sz="quarter" idx="10"/>
          </p:nvPr>
        </p:nvSpPr>
        <p:spPr/>
        <p:txBody>
          <a:bodyPr/>
          <a:lstStyle/>
          <a:p>
            <a:fld id="{DDE9D4BF-8649-449B-B4D7-E8C5666F8697}" type="slidenum">
              <a:rPr lang="zh-CN" altLang="en-US" smtClean="0"/>
              <a:t>14</a:t>
            </a:fld>
            <a:endParaRPr lang="zh-CN" altLang="en-US"/>
          </a:p>
        </p:txBody>
      </p:sp>
    </p:spTree>
    <p:extLst>
      <p:ext uri="{BB962C8B-B14F-4D97-AF65-F5344CB8AC3E}">
        <p14:creationId xmlns:p14="http://schemas.microsoft.com/office/powerpoint/2010/main" val="284658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DE9D4BF-8649-449B-B4D7-E8C5666F8697}" type="slidenum">
              <a:rPr lang="zh-CN" altLang="en-US" smtClean="0"/>
              <a:t>18</a:t>
            </a:fld>
            <a:endParaRPr lang="zh-CN" altLang="en-US"/>
          </a:p>
        </p:txBody>
      </p:sp>
    </p:spTree>
    <p:extLst>
      <p:ext uri="{BB962C8B-B14F-4D97-AF65-F5344CB8AC3E}">
        <p14:creationId xmlns:p14="http://schemas.microsoft.com/office/powerpoint/2010/main" val="2616829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17C4CC13-510B-40B7-AC97-ADF2413B3C97}" type="slidenum">
              <a:rPr lang="en-US" altLang="zh-CN" sz="1200">
                <a:solidFill>
                  <a:prstClr val="black"/>
                </a:solidFill>
              </a:rPr>
              <a:pPr eaLnBrk="1" hangingPunct="1"/>
              <a:t>24</a:t>
            </a:fld>
            <a:endParaRPr lang="en-US" altLang="zh-CN" sz="1200">
              <a:solidFill>
                <a:prstClr val="black"/>
              </a:solidFill>
            </a:endParaRPr>
          </a:p>
        </p:txBody>
      </p:sp>
      <p:sp>
        <p:nvSpPr>
          <p:cNvPr id="135171" name="Rectangle 2"/>
          <p:cNvSpPr>
            <a:spLocks noGrp="1" noRot="1" noChangeAspect="1" noChangeArrowheads="1" noTextEdit="1"/>
          </p:cNvSpPr>
          <p:nvPr>
            <p:ph type="sldImg"/>
          </p:nvPr>
        </p:nvSpPr>
        <p:spPr>
          <a:xfrm>
            <a:off x="1143000" y="685800"/>
            <a:ext cx="4572000" cy="3429000"/>
          </a:xfrm>
          <a:ln/>
        </p:spPr>
      </p:sp>
      <p:sp>
        <p:nvSpPr>
          <p:cNvPr id="13517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06C11633-5756-48CA-8CE1-92CCF9518CFF}" type="slidenum">
              <a:rPr lang="en-US" altLang="zh-CN" sz="1200">
                <a:solidFill>
                  <a:prstClr val="black"/>
                </a:solidFill>
              </a:rPr>
              <a:pPr eaLnBrk="1" hangingPunct="1"/>
              <a:t>27</a:t>
            </a:fld>
            <a:endParaRPr lang="en-US" altLang="zh-CN" sz="1200">
              <a:solidFill>
                <a:prstClr val="black"/>
              </a:solidFill>
            </a:endParaRPr>
          </a:p>
        </p:txBody>
      </p:sp>
      <p:sp>
        <p:nvSpPr>
          <p:cNvPr id="137219" name="Rectangle 2"/>
          <p:cNvSpPr>
            <a:spLocks noGrp="1" noRot="1" noChangeAspect="1" noChangeArrowheads="1" noTextEdit="1"/>
          </p:cNvSpPr>
          <p:nvPr>
            <p:ph type="sldImg"/>
          </p:nvPr>
        </p:nvSpPr>
        <p:spPr>
          <a:xfrm>
            <a:off x="1143000" y="685800"/>
            <a:ext cx="4572000" cy="3429000"/>
          </a:xfrm>
          <a:ln/>
        </p:spPr>
      </p:sp>
      <p:sp>
        <p:nvSpPr>
          <p:cNvPr id="13722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881DBF81-79DA-4961-B4E5-8806CAEDBD28}" type="slidenum">
              <a:rPr lang="en-US" altLang="zh-CN" sz="1200">
                <a:solidFill>
                  <a:prstClr val="black"/>
                </a:solidFill>
              </a:rPr>
              <a:pPr eaLnBrk="1" hangingPunct="1"/>
              <a:t>28</a:t>
            </a:fld>
            <a:endParaRPr lang="en-US" altLang="zh-CN" sz="1200">
              <a:solidFill>
                <a:prstClr val="black"/>
              </a:solidFill>
            </a:endParaRPr>
          </a:p>
        </p:txBody>
      </p:sp>
      <p:sp>
        <p:nvSpPr>
          <p:cNvPr id="138243" name="Rectangle 2"/>
          <p:cNvSpPr>
            <a:spLocks noGrp="1" noRot="1" noChangeAspect="1" noChangeArrowheads="1" noTextEdit="1"/>
          </p:cNvSpPr>
          <p:nvPr>
            <p:ph type="sldImg"/>
          </p:nvPr>
        </p:nvSpPr>
        <p:spPr>
          <a:xfrm>
            <a:off x="1143000" y="685800"/>
            <a:ext cx="4572000" cy="3429000"/>
          </a:xfrm>
          <a:ln/>
        </p:spPr>
      </p:sp>
      <p:sp>
        <p:nvSpPr>
          <p:cNvPr id="13824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881DBF81-79DA-4961-B4E5-8806CAEDBD28}" type="slidenum">
              <a:rPr lang="en-US" altLang="zh-CN" sz="1200">
                <a:solidFill>
                  <a:prstClr val="black"/>
                </a:solidFill>
              </a:rPr>
              <a:pPr eaLnBrk="1" hangingPunct="1"/>
              <a:t>29</a:t>
            </a:fld>
            <a:endParaRPr lang="en-US" altLang="zh-CN" sz="1200">
              <a:solidFill>
                <a:prstClr val="black"/>
              </a:solidFill>
            </a:endParaRPr>
          </a:p>
        </p:txBody>
      </p:sp>
      <p:sp>
        <p:nvSpPr>
          <p:cNvPr id="138243" name="Rectangle 2"/>
          <p:cNvSpPr>
            <a:spLocks noGrp="1" noRot="1" noChangeAspect="1" noChangeArrowheads="1" noTextEdit="1"/>
          </p:cNvSpPr>
          <p:nvPr>
            <p:ph type="sldImg"/>
          </p:nvPr>
        </p:nvSpPr>
        <p:spPr>
          <a:xfrm>
            <a:off x="1143000" y="685800"/>
            <a:ext cx="4572000" cy="3429000"/>
          </a:xfrm>
          <a:ln/>
        </p:spPr>
      </p:sp>
      <p:sp>
        <p:nvSpPr>
          <p:cNvPr id="13824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1CC9E508-120D-4983-8988-49FC850D5746}" type="slidenum">
              <a:rPr lang="en-US" altLang="zh-CN" sz="1200">
                <a:solidFill>
                  <a:prstClr val="black"/>
                </a:solidFill>
              </a:rPr>
              <a:pPr eaLnBrk="1" hangingPunct="1"/>
              <a:t>30</a:t>
            </a:fld>
            <a:endParaRPr lang="en-US" altLang="zh-CN" sz="1200">
              <a:solidFill>
                <a:prstClr val="black"/>
              </a:solidFill>
            </a:endParaRPr>
          </a:p>
        </p:txBody>
      </p:sp>
      <p:sp>
        <p:nvSpPr>
          <p:cNvPr id="139267" name="Rectangle 2"/>
          <p:cNvSpPr>
            <a:spLocks noGrp="1" noRot="1" noChangeAspect="1" noChangeArrowheads="1" noTextEdit="1"/>
          </p:cNvSpPr>
          <p:nvPr>
            <p:ph type="sldImg"/>
          </p:nvPr>
        </p:nvSpPr>
        <p:spPr>
          <a:xfrm>
            <a:off x="1143000" y="685800"/>
            <a:ext cx="4572000" cy="3429000"/>
          </a:xfrm>
          <a:ln/>
        </p:spPr>
      </p:sp>
      <p:sp>
        <p:nvSpPr>
          <p:cNvPr id="13926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DE9D4BF-8649-449B-B4D7-E8C5666F8697}" type="slidenum">
              <a:rPr lang="zh-CN" altLang="en-US" smtClean="0"/>
              <a:t>31</a:t>
            </a:fld>
            <a:endParaRPr lang="zh-CN" altLang="en-US"/>
          </a:p>
        </p:txBody>
      </p:sp>
    </p:spTree>
    <p:extLst>
      <p:ext uri="{BB962C8B-B14F-4D97-AF65-F5344CB8AC3E}">
        <p14:creationId xmlns:p14="http://schemas.microsoft.com/office/powerpoint/2010/main" val="3142376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17C4CC13-510B-40B7-AC97-ADF2413B3C97}" type="slidenum">
              <a:rPr lang="en-US" altLang="zh-CN" sz="1200">
                <a:solidFill>
                  <a:prstClr val="black"/>
                </a:solidFill>
              </a:rPr>
              <a:pPr eaLnBrk="1" hangingPunct="1"/>
              <a:t>41</a:t>
            </a:fld>
            <a:endParaRPr lang="en-US" altLang="zh-CN" sz="1200">
              <a:solidFill>
                <a:prstClr val="black"/>
              </a:solidFill>
            </a:endParaRPr>
          </a:p>
        </p:txBody>
      </p:sp>
      <p:sp>
        <p:nvSpPr>
          <p:cNvPr id="135171" name="Rectangle 2"/>
          <p:cNvSpPr>
            <a:spLocks noGrp="1" noRot="1" noChangeAspect="1" noChangeArrowheads="1" noTextEdit="1"/>
          </p:cNvSpPr>
          <p:nvPr>
            <p:ph type="sldImg"/>
          </p:nvPr>
        </p:nvSpPr>
        <p:spPr>
          <a:xfrm>
            <a:off x="1143000" y="685800"/>
            <a:ext cx="4572000" cy="3429000"/>
          </a:xfrm>
          <a:ln/>
        </p:spPr>
      </p:sp>
      <p:sp>
        <p:nvSpPr>
          <p:cNvPr id="13517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t>2024/3/6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637024" y="1124744"/>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eaLnBrk="0" hangingPunct="0">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eaLnBrk="0" hangingPunct="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eaLnBrk="0" hangingPunct="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eaLnBrk="0" hangingPunct="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eaLnBrk="0" hangingPunct="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lgn="ctr" eaLnBrk="1" hangingPunct="1">
              <a:spcBef>
                <a:spcPct val="0"/>
              </a:spcBef>
              <a:buClrTx/>
              <a:buSzTx/>
              <a:buFontTx/>
              <a:buNone/>
            </a:pPr>
            <a:r>
              <a:rPr lang="zh-CN" altLang="en-US" sz="5400" dirty="0">
                <a:latin typeface="幼圆" pitchFamily="49" charset="-122"/>
                <a:ea typeface="幼圆" pitchFamily="49" charset="-122"/>
              </a:rPr>
              <a:t>第</a:t>
            </a:r>
            <a:r>
              <a:rPr lang="en-US" altLang="zh-CN" sz="5400" dirty="0">
                <a:latin typeface="幼圆" pitchFamily="49" charset="-122"/>
                <a:ea typeface="幼圆" pitchFamily="49" charset="-122"/>
              </a:rPr>
              <a:t>2</a:t>
            </a:r>
            <a:r>
              <a:rPr lang="zh-CN" altLang="en-US" sz="5400" dirty="0">
                <a:latin typeface="幼圆" pitchFamily="49" charset="-122"/>
                <a:ea typeface="幼圆" pitchFamily="49" charset="-122"/>
              </a:rPr>
              <a:t>讲 类和对象</a:t>
            </a:r>
            <a:r>
              <a:rPr lang="en-US" altLang="zh-CN" sz="5400" dirty="0">
                <a:latin typeface="幼圆" pitchFamily="49" charset="-122"/>
                <a:ea typeface="幼圆" pitchFamily="49" charset="-122"/>
              </a:rPr>
              <a:t>(2)</a:t>
            </a:r>
          </a:p>
        </p:txBody>
      </p:sp>
      <p:sp>
        <p:nvSpPr>
          <p:cNvPr id="5" name="Rectangle 4"/>
          <p:cNvSpPr>
            <a:spLocks noChangeArrowheads="1"/>
          </p:cNvSpPr>
          <p:nvPr/>
        </p:nvSpPr>
        <p:spPr bwMode="auto">
          <a:xfrm>
            <a:off x="789424" y="2564904"/>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eaLnBrk="0" hangingPunct="0">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eaLnBrk="0" hangingPunct="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eaLnBrk="0" hangingPunct="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eaLnBrk="0" hangingPunct="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eaLnBrk="0" hangingPunct="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lgn="ctr" eaLnBrk="1" hangingPunct="1">
              <a:spcBef>
                <a:spcPct val="0"/>
              </a:spcBef>
              <a:buClrTx/>
              <a:buSzTx/>
              <a:buFontTx/>
              <a:buNone/>
            </a:pPr>
            <a:r>
              <a:rPr lang="zh-CN" altLang="en-US" sz="4400" dirty="0">
                <a:latin typeface="幼圆" pitchFamily="49" charset="-122"/>
                <a:ea typeface="幼圆" pitchFamily="49" charset="-122"/>
              </a:rPr>
              <a:t>构造函数和析构函数</a:t>
            </a:r>
            <a:endParaRPr lang="en-US" altLang="zh-CN" sz="4400" dirty="0">
              <a:latin typeface="幼圆" pitchFamily="49" charset="-122"/>
              <a:ea typeface="幼圆" pitchFamily="49" charset="-122"/>
            </a:endParaRPr>
          </a:p>
        </p:txBody>
      </p:sp>
      <p:sp>
        <p:nvSpPr>
          <p:cNvPr id="6" name="Rectangle 4"/>
          <p:cNvSpPr>
            <a:spLocks noChangeArrowheads="1"/>
          </p:cNvSpPr>
          <p:nvPr/>
        </p:nvSpPr>
        <p:spPr bwMode="auto">
          <a:xfrm>
            <a:off x="1835696" y="3933056"/>
            <a:ext cx="518457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eaLnBrk="0" hangingPunct="0">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eaLnBrk="0" hangingPunct="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eaLnBrk="0" hangingPunct="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eaLnBrk="0" hangingPunct="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eaLnBrk="0" hangingPunct="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lgn="ctr" eaLnBrk="1" hangingPunct="1">
              <a:spcBef>
                <a:spcPct val="0"/>
              </a:spcBef>
              <a:buClrTx/>
              <a:buSzTx/>
              <a:buFontTx/>
              <a:buNone/>
            </a:pPr>
            <a:r>
              <a:rPr lang="zh-CN" altLang="en-US" sz="4400" dirty="0">
                <a:latin typeface="幼圆" pitchFamily="49" charset="-122"/>
                <a:ea typeface="幼圆" pitchFamily="49" charset="-122"/>
              </a:rPr>
              <a:t>对象生灭</a:t>
            </a:r>
            <a:endParaRPr lang="en-US" altLang="zh-CN" sz="4400" dirty="0">
              <a:latin typeface="幼圆" pitchFamily="49" charset="-122"/>
              <a:ea typeface="幼圆" pitchFamily="49" charset="-122"/>
            </a:endParaRPr>
          </a:p>
        </p:txBody>
      </p:sp>
    </p:spTree>
    <p:extLst>
      <p:ext uri="{BB962C8B-B14F-4D97-AF65-F5344CB8AC3E}">
        <p14:creationId xmlns:p14="http://schemas.microsoft.com/office/powerpoint/2010/main" val="695126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a:xfrm>
            <a:off x="1177280" y="1600200"/>
            <a:ext cx="6995120" cy="4525963"/>
          </a:xfrm>
        </p:spPr>
        <p:txBody>
          <a:bodyPr/>
          <a:lstStyle/>
          <a:p>
            <a:pPr marL="0" indent="0">
              <a:buNone/>
            </a:pPr>
            <a:r>
              <a:rPr lang="en-US" altLang="zh-CN" b="1" dirty="0"/>
              <a:t>1. </a:t>
            </a:r>
            <a:r>
              <a:rPr lang="zh-CN" altLang="en-US" b="1" dirty="0"/>
              <a:t>构造函数</a:t>
            </a:r>
            <a:r>
              <a:rPr lang="zh-CN" altLang="en-US" dirty="0"/>
              <a:t>（</a:t>
            </a:r>
            <a:r>
              <a:rPr lang="en-US" altLang="zh-CN" dirty="0"/>
              <a:t>constructor</a:t>
            </a:r>
            <a:r>
              <a:rPr lang="zh-CN" altLang="en-US" dirty="0"/>
              <a:t>）</a:t>
            </a:r>
            <a:endParaRPr lang="en-US" altLang="zh-CN" b="1" dirty="0"/>
          </a:p>
          <a:p>
            <a:pPr marL="0" indent="0">
              <a:buNone/>
            </a:pPr>
            <a:r>
              <a:rPr lang="en-US" altLang="zh-CN" b="1" dirty="0"/>
              <a:t>2. </a:t>
            </a:r>
            <a:r>
              <a:rPr lang="zh-CN" altLang="en-US" b="1" dirty="0"/>
              <a:t>拷贝构造函数</a:t>
            </a:r>
            <a:r>
              <a:rPr lang="zh-CN" altLang="en-US" dirty="0"/>
              <a:t>（</a:t>
            </a:r>
            <a:r>
              <a:rPr lang="en-US" altLang="zh-CN" dirty="0"/>
              <a:t>copy constructor</a:t>
            </a:r>
            <a:r>
              <a:rPr lang="zh-CN" altLang="en-US" dirty="0"/>
              <a:t>）</a:t>
            </a:r>
            <a:endParaRPr lang="en-US" altLang="zh-CN" b="1" dirty="0"/>
          </a:p>
          <a:p>
            <a:pPr marL="0" indent="0">
              <a:buNone/>
            </a:pPr>
            <a:r>
              <a:rPr lang="en-US" altLang="zh-CN" b="1" dirty="0"/>
              <a:t>3. </a:t>
            </a:r>
            <a:r>
              <a:rPr lang="zh-CN" altLang="en-US" b="1" dirty="0"/>
              <a:t>构造函数的初始化列表</a:t>
            </a:r>
            <a:endParaRPr lang="en-US" altLang="zh-CN" b="1" dirty="0"/>
          </a:p>
          <a:p>
            <a:pPr marL="0" indent="0">
              <a:buNone/>
            </a:pPr>
            <a:r>
              <a:rPr lang="en-US" altLang="zh-CN" b="1" dirty="0">
                <a:latin typeface="Times New Roman" pitchFamily="18" charset="0"/>
              </a:rPr>
              <a:t>4. </a:t>
            </a:r>
            <a:r>
              <a:rPr lang="zh-CN" altLang="en-US" b="1" dirty="0">
                <a:latin typeface="Times New Roman" pitchFamily="18" charset="0"/>
              </a:rPr>
              <a:t>析构函数</a:t>
            </a:r>
            <a:r>
              <a:rPr lang="zh-CN" altLang="en-US" dirty="0"/>
              <a:t>（</a:t>
            </a:r>
            <a:r>
              <a:rPr lang="en-US" altLang="zh-CN" dirty="0" err="1"/>
              <a:t>deconstructor</a:t>
            </a:r>
            <a:r>
              <a:rPr lang="zh-CN" altLang="en-US" dirty="0"/>
              <a:t>）</a:t>
            </a:r>
            <a:endParaRPr lang="zh-CN" altLang="en-US" b="1" dirty="0">
              <a:latin typeface="Times New Roman" pitchFamily="18" charset="0"/>
            </a:endParaRPr>
          </a:p>
          <a:p>
            <a:pPr marL="0" indent="0">
              <a:buNone/>
            </a:pPr>
            <a:endParaRPr lang="zh-CN" altLang="en-US" dirty="0"/>
          </a:p>
        </p:txBody>
      </p:sp>
    </p:spTree>
    <p:extLst>
      <p:ext uri="{BB962C8B-B14F-4D97-AF65-F5344CB8AC3E}">
        <p14:creationId xmlns:p14="http://schemas.microsoft.com/office/powerpoint/2010/main" val="41965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4213" y="260350"/>
            <a:ext cx="7772400" cy="1143000"/>
          </a:xfrm>
        </p:spPr>
        <p:txBody>
          <a:bodyPr/>
          <a:lstStyle/>
          <a:p>
            <a:pPr eaLnBrk="1" hangingPunct="1"/>
            <a:r>
              <a:rPr lang="zh-CN" altLang="en-US" b="1" dirty="0"/>
              <a:t>构造</a:t>
            </a:r>
            <a:r>
              <a:rPr lang="zh-CN" altLang="en-US" b="1" dirty="0">
                <a:solidFill>
                  <a:schemeClr val="tx1"/>
                </a:solidFill>
              </a:rPr>
              <a:t>函数与析构函数</a:t>
            </a:r>
          </a:p>
        </p:txBody>
      </p:sp>
      <p:sp>
        <p:nvSpPr>
          <p:cNvPr id="34819" name="Rectangle 3"/>
          <p:cNvSpPr>
            <a:spLocks noGrp="1" noChangeArrowheads="1"/>
          </p:cNvSpPr>
          <p:nvPr>
            <p:ph idx="1"/>
          </p:nvPr>
        </p:nvSpPr>
        <p:spPr/>
        <p:txBody>
          <a:bodyPr/>
          <a:lstStyle/>
          <a:p>
            <a:pPr eaLnBrk="1" hangingPunct="1"/>
            <a:r>
              <a:rPr lang="zh-CN" altLang="en-US" sz="2800" dirty="0">
                <a:solidFill>
                  <a:srgbClr val="FF0000"/>
                </a:solidFill>
              </a:rPr>
              <a:t>构造函数</a:t>
            </a:r>
            <a:r>
              <a:rPr lang="zh-CN" altLang="en-US" sz="2800" dirty="0"/>
              <a:t>与</a:t>
            </a:r>
            <a:r>
              <a:rPr lang="zh-CN" altLang="en-US" sz="2800" dirty="0">
                <a:solidFill>
                  <a:srgbClr val="FF0000"/>
                </a:solidFill>
              </a:rPr>
              <a:t>析构函数</a:t>
            </a:r>
            <a:r>
              <a:rPr lang="zh-CN" altLang="en-US" sz="2800" dirty="0"/>
              <a:t>是两个极其特殊的函数，它们由系统自动执行，在程序中不可显式地调用它们。</a:t>
            </a:r>
          </a:p>
          <a:p>
            <a:pPr eaLnBrk="1" hangingPunct="1"/>
            <a:endParaRPr lang="zh-CN" altLang="en-US" sz="2800" dirty="0"/>
          </a:p>
          <a:p>
            <a:pPr eaLnBrk="1" hangingPunct="1"/>
            <a:r>
              <a:rPr lang="zh-CN" altLang="en-US" sz="2800" dirty="0">
                <a:solidFill>
                  <a:srgbClr val="FF0000"/>
                </a:solidFill>
              </a:rPr>
              <a:t>构造函数</a:t>
            </a:r>
            <a:r>
              <a:rPr lang="zh-CN" altLang="en-US" sz="2800" dirty="0"/>
              <a:t>的主要作用是在建立对象时对对象的数据成员分配内存空间、以及进行</a:t>
            </a:r>
            <a:r>
              <a:rPr lang="zh-CN" altLang="en-US" sz="2800" dirty="0">
                <a:solidFill>
                  <a:srgbClr val="FF0000"/>
                </a:solidFill>
              </a:rPr>
              <a:t>初始化</a:t>
            </a:r>
            <a:r>
              <a:rPr lang="zh-CN" altLang="en-US" sz="2800" dirty="0"/>
              <a:t>；</a:t>
            </a:r>
            <a:endParaRPr lang="en-US" altLang="zh-CN" sz="2800" dirty="0"/>
          </a:p>
          <a:p>
            <a:pPr marL="355600" indent="0" eaLnBrk="1" hangingPunct="1">
              <a:buNone/>
            </a:pPr>
            <a:r>
              <a:rPr lang="zh-CN" altLang="en-US" sz="2800" dirty="0"/>
              <a:t>而</a:t>
            </a:r>
            <a:r>
              <a:rPr lang="zh-CN" altLang="en-US" sz="2800" dirty="0">
                <a:solidFill>
                  <a:srgbClr val="FF0000"/>
                </a:solidFill>
              </a:rPr>
              <a:t>析构函数</a:t>
            </a:r>
            <a:r>
              <a:rPr lang="zh-CN" altLang="en-US" sz="2800" dirty="0"/>
              <a:t>主要用于对象生命期结束时</a:t>
            </a:r>
            <a:r>
              <a:rPr lang="zh-CN" altLang="en-US" sz="2800" dirty="0">
                <a:solidFill>
                  <a:srgbClr val="FF0000"/>
                </a:solidFill>
              </a:rPr>
              <a:t>回收</a:t>
            </a:r>
            <a:r>
              <a:rPr lang="zh-CN" altLang="en-US" sz="2800" dirty="0"/>
              <a:t>对象的内存空间。</a:t>
            </a:r>
          </a:p>
        </p:txBody>
      </p:sp>
    </p:spTree>
    <p:extLst>
      <p:ext uri="{BB962C8B-B14F-4D97-AF65-F5344CB8AC3E}">
        <p14:creationId xmlns:p14="http://schemas.microsoft.com/office/powerpoint/2010/main" val="1799559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4213" y="260350"/>
            <a:ext cx="7772400" cy="1008063"/>
          </a:xfrm>
        </p:spPr>
        <p:txBody>
          <a:bodyPr/>
          <a:lstStyle/>
          <a:p>
            <a:r>
              <a:rPr lang="en-US" altLang="zh-CN" b="1" dirty="0"/>
              <a:t>4_2.1 </a:t>
            </a:r>
            <a:r>
              <a:rPr lang="zh-CN" altLang="en-US" b="1" dirty="0"/>
              <a:t>构造</a:t>
            </a:r>
            <a:r>
              <a:rPr lang="zh-CN" altLang="en-US" b="1" dirty="0">
                <a:solidFill>
                  <a:schemeClr val="tx1"/>
                </a:solidFill>
              </a:rPr>
              <a:t>函数</a:t>
            </a:r>
          </a:p>
        </p:txBody>
      </p:sp>
      <p:sp>
        <p:nvSpPr>
          <p:cNvPr id="35843" name="Rectangle 3"/>
          <p:cNvSpPr>
            <a:spLocks noGrp="1" noChangeArrowheads="1"/>
          </p:cNvSpPr>
          <p:nvPr>
            <p:ph idx="1"/>
          </p:nvPr>
        </p:nvSpPr>
        <p:spPr>
          <a:xfrm>
            <a:off x="685800" y="1412875"/>
            <a:ext cx="7772400" cy="4683125"/>
          </a:xfrm>
        </p:spPr>
        <p:txBody>
          <a:bodyPr>
            <a:normAutofit/>
          </a:bodyPr>
          <a:lstStyle/>
          <a:p>
            <a:pPr eaLnBrk="1" hangingPunct="1">
              <a:buFontTx/>
              <a:buNone/>
            </a:pPr>
            <a:r>
              <a:rPr lang="en-US" altLang="zh-CN" sz="2800" b="1" dirty="0"/>
              <a:t>1</a:t>
            </a:r>
            <a:r>
              <a:rPr lang="zh-CN" altLang="en-US" sz="2800" b="1" dirty="0"/>
              <a:t>、构造函数的概念</a:t>
            </a:r>
          </a:p>
          <a:p>
            <a:pPr indent="107950" eaLnBrk="1" hangingPunct="1">
              <a:buFontTx/>
              <a:buNone/>
            </a:pPr>
            <a:r>
              <a:rPr lang="zh-CN" altLang="en-US" sz="2800" dirty="0"/>
              <a:t>构造函数（</a:t>
            </a:r>
            <a:r>
              <a:rPr lang="en-US" altLang="zh-CN" sz="2800" dirty="0"/>
              <a:t>constructor</a:t>
            </a:r>
            <a:r>
              <a:rPr lang="zh-CN" altLang="en-US" sz="2800" dirty="0"/>
              <a:t>）是与</a:t>
            </a:r>
            <a:r>
              <a:rPr lang="zh-CN" altLang="en-US" sz="2800" dirty="0">
                <a:solidFill>
                  <a:srgbClr val="FF0000"/>
                </a:solidFill>
              </a:rPr>
              <a:t>类同名</a:t>
            </a:r>
            <a:r>
              <a:rPr lang="zh-CN" altLang="en-US" sz="2800" dirty="0"/>
              <a:t>的特殊成员函数，主要用来</a:t>
            </a:r>
            <a:r>
              <a:rPr lang="zh-CN" altLang="en-US" sz="2800" dirty="0">
                <a:solidFill>
                  <a:srgbClr val="FF0000"/>
                </a:solidFill>
              </a:rPr>
              <a:t>初始化</a:t>
            </a:r>
            <a:r>
              <a:rPr lang="zh-CN" altLang="en-US" sz="2800" dirty="0"/>
              <a:t>对象的数据成员。其在类中的定义形式如下：</a:t>
            </a:r>
          </a:p>
          <a:p>
            <a:pPr eaLnBrk="1" hangingPunct="1">
              <a:buFontTx/>
              <a:buNone/>
            </a:pPr>
            <a:endParaRPr lang="zh-CN" altLang="en-US" sz="2800" dirty="0"/>
          </a:p>
          <a:p>
            <a:pPr lvl="1" eaLnBrk="1" hangingPunct="1">
              <a:buFontTx/>
              <a:buNone/>
            </a:pPr>
            <a:r>
              <a:rPr lang="en-US" altLang="zh-CN" dirty="0"/>
              <a:t>class X</a:t>
            </a:r>
          </a:p>
          <a:p>
            <a:pPr lvl="1" eaLnBrk="1" hangingPunct="1">
              <a:buFontTx/>
              <a:buNone/>
            </a:pPr>
            <a:r>
              <a:rPr lang="en-US" altLang="zh-CN" dirty="0"/>
              <a:t>{ public:</a:t>
            </a:r>
          </a:p>
          <a:p>
            <a:pPr lvl="1" eaLnBrk="1" hangingPunct="1">
              <a:buFontTx/>
              <a:buNone/>
            </a:pPr>
            <a:r>
              <a:rPr lang="en-US" altLang="zh-CN" b="1" dirty="0">
                <a:solidFill>
                  <a:srgbClr val="FF3300"/>
                </a:solidFill>
              </a:rPr>
              <a:t>        X(</a:t>
            </a:r>
            <a:r>
              <a:rPr lang="en-US" altLang="zh-CN" b="1" dirty="0">
                <a:solidFill>
                  <a:srgbClr val="FF3300"/>
                </a:solidFill>
                <a:latin typeface="Arial" charset="0"/>
              </a:rPr>
              <a:t>…</a:t>
            </a:r>
            <a:r>
              <a:rPr lang="en-US" altLang="zh-CN" b="1" dirty="0">
                <a:solidFill>
                  <a:srgbClr val="FF3300"/>
                </a:solidFill>
              </a:rPr>
              <a:t>) { …  }</a:t>
            </a:r>
            <a:endParaRPr lang="zh-CN" altLang="en-US" b="1" dirty="0">
              <a:solidFill>
                <a:srgbClr val="FF3300"/>
              </a:solidFill>
            </a:endParaRPr>
          </a:p>
          <a:p>
            <a:pPr lvl="1" eaLnBrk="1" hangingPunct="1">
              <a:buFontTx/>
              <a:buNone/>
            </a:pPr>
            <a:r>
              <a:rPr lang="en-US" altLang="zh-CN" dirty="0"/>
              <a:t>} </a:t>
            </a:r>
            <a:r>
              <a:rPr lang="zh-CN" altLang="en-US" dirty="0"/>
              <a:t>；</a:t>
            </a:r>
            <a:endParaRPr lang="en-US" altLang="zh-CN" dirty="0"/>
          </a:p>
          <a:p>
            <a:pPr eaLnBrk="1" hangingPunct="1">
              <a:buFontTx/>
              <a:buNone/>
            </a:pPr>
            <a:endParaRPr lang="zh-CN" altLang="en-US" sz="2800" dirty="0"/>
          </a:p>
          <a:p>
            <a:pPr eaLnBrk="1" hangingPunct="1"/>
            <a:endParaRPr lang="zh-CN" altLang="en-US" sz="2800" dirty="0"/>
          </a:p>
        </p:txBody>
      </p:sp>
      <p:sp>
        <p:nvSpPr>
          <p:cNvPr id="4" name="矩形 3"/>
          <p:cNvSpPr>
            <a:spLocks noChangeArrowheads="1"/>
          </p:cNvSpPr>
          <p:nvPr/>
        </p:nvSpPr>
        <p:spPr bwMode="auto">
          <a:xfrm>
            <a:off x="4283968" y="4869160"/>
            <a:ext cx="15859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r>
              <a:rPr lang="en-US" altLang="zh-CN" sz="2400" b="1" dirty="0">
                <a:solidFill>
                  <a:srgbClr val="FF0000"/>
                </a:solidFill>
                <a:latin typeface="Times New Roman" pitchFamily="18" charset="0"/>
              </a:rPr>
              <a:t>//</a:t>
            </a:r>
            <a:r>
              <a:rPr lang="zh-CN" altLang="en-US" sz="2400" b="1" dirty="0">
                <a:solidFill>
                  <a:srgbClr val="FF0000"/>
                </a:solidFill>
                <a:latin typeface="Times New Roman" pitchFamily="18" charset="0"/>
              </a:rPr>
              <a:t>构造函数</a:t>
            </a:r>
          </a:p>
        </p:txBody>
      </p:sp>
    </p:spTree>
    <p:extLst>
      <p:ext uri="{BB962C8B-B14F-4D97-AF65-F5344CB8AC3E}">
        <p14:creationId xmlns:p14="http://schemas.microsoft.com/office/powerpoint/2010/main" val="1302731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827584" y="404664"/>
            <a:ext cx="7772400" cy="2016224"/>
          </a:xfrm>
        </p:spPr>
        <p:txBody>
          <a:bodyPr/>
          <a:lstStyle/>
          <a:p>
            <a:pPr eaLnBrk="1" hangingPunct="1">
              <a:lnSpc>
                <a:spcPct val="120000"/>
              </a:lnSpc>
              <a:buFontTx/>
              <a:buNone/>
            </a:pPr>
            <a:r>
              <a:rPr lang="en-US" altLang="zh-CN" b="1" dirty="0"/>
              <a:t>2</a:t>
            </a:r>
            <a:r>
              <a:rPr lang="zh-CN" altLang="en-US" b="1" dirty="0"/>
              <a:t>、构造函数的功能</a:t>
            </a:r>
            <a:endParaRPr lang="zh-CN" altLang="en-US" dirty="0"/>
          </a:p>
          <a:p>
            <a:pPr lvl="1" eaLnBrk="1" hangingPunct="1">
              <a:lnSpc>
                <a:spcPct val="120000"/>
              </a:lnSpc>
            </a:pPr>
            <a:r>
              <a:rPr lang="zh-CN" altLang="en-US" dirty="0"/>
              <a:t>为新对象分配空间</a:t>
            </a:r>
          </a:p>
          <a:p>
            <a:pPr lvl="1" eaLnBrk="1" hangingPunct="1">
              <a:lnSpc>
                <a:spcPct val="120000"/>
              </a:lnSpc>
            </a:pPr>
            <a:r>
              <a:rPr lang="zh-CN" altLang="en-US" dirty="0"/>
              <a:t>初始化新对象</a:t>
            </a:r>
            <a:endParaRPr lang="en-US" altLang="zh-CN" dirty="0"/>
          </a:p>
        </p:txBody>
      </p:sp>
      <p:sp>
        <p:nvSpPr>
          <p:cNvPr id="5" name="Rectangle 3"/>
          <p:cNvSpPr txBox="1">
            <a:spLocks noChangeArrowheads="1"/>
          </p:cNvSpPr>
          <p:nvPr/>
        </p:nvSpPr>
        <p:spPr>
          <a:xfrm>
            <a:off x="760040" y="2564904"/>
            <a:ext cx="7772400" cy="3673008"/>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120000"/>
              </a:lnSpc>
              <a:buFontTx/>
              <a:buNone/>
            </a:pPr>
            <a:r>
              <a:rPr lang="en-US" altLang="zh-CN" b="1" dirty="0"/>
              <a:t>3</a:t>
            </a:r>
            <a:r>
              <a:rPr lang="zh-CN" altLang="en-US" b="1" dirty="0"/>
              <a:t>、构造函数的特点</a:t>
            </a:r>
          </a:p>
          <a:p>
            <a:pPr lvl="1">
              <a:lnSpc>
                <a:spcPct val="120000"/>
              </a:lnSpc>
            </a:pPr>
            <a:r>
              <a:rPr lang="zh-CN" altLang="en-US" dirty="0"/>
              <a:t>构造函数</a:t>
            </a:r>
            <a:r>
              <a:rPr lang="zh-CN" altLang="en-US" dirty="0">
                <a:solidFill>
                  <a:srgbClr val="FF0000"/>
                </a:solidFill>
              </a:rPr>
              <a:t>与类同名</a:t>
            </a:r>
            <a:r>
              <a:rPr lang="zh-CN" altLang="en-US" dirty="0"/>
              <a:t>。</a:t>
            </a:r>
          </a:p>
          <a:p>
            <a:pPr lvl="1">
              <a:lnSpc>
                <a:spcPct val="120000"/>
              </a:lnSpc>
            </a:pPr>
            <a:r>
              <a:rPr lang="zh-CN" altLang="en-US" dirty="0"/>
              <a:t>构造函数</a:t>
            </a:r>
            <a:r>
              <a:rPr lang="zh-CN" altLang="en-US" dirty="0">
                <a:solidFill>
                  <a:srgbClr val="FF0000"/>
                </a:solidFill>
              </a:rPr>
              <a:t>没有返回类型</a:t>
            </a:r>
            <a:r>
              <a:rPr lang="zh-CN" altLang="en-US" dirty="0"/>
              <a:t>。</a:t>
            </a:r>
          </a:p>
          <a:p>
            <a:pPr lvl="1">
              <a:lnSpc>
                <a:spcPct val="120000"/>
              </a:lnSpc>
            </a:pPr>
            <a:r>
              <a:rPr lang="zh-CN" altLang="en-US" dirty="0"/>
              <a:t>构造函数可以被</a:t>
            </a:r>
            <a:r>
              <a:rPr lang="zh-CN" altLang="en-US" dirty="0">
                <a:solidFill>
                  <a:srgbClr val="FF0000"/>
                </a:solidFill>
              </a:rPr>
              <a:t>重载</a:t>
            </a:r>
            <a:r>
              <a:rPr lang="zh-CN" altLang="en-US" dirty="0"/>
              <a:t>。即可以有多个参数表不同的构造函数。</a:t>
            </a:r>
          </a:p>
          <a:p>
            <a:pPr lvl="1">
              <a:lnSpc>
                <a:spcPct val="120000"/>
              </a:lnSpc>
            </a:pPr>
            <a:r>
              <a:rPr lang="zh-CN" altLang="en-US" dirty="0"/>
              <a:t>构造函数由系统</a:t>
            </a:r>
            <a:r>
              <a:rPr lang="zh-CN" altLang="en-US" dirty="0">
                <a:solidFill>
                  <a:srgbClr val="FF0000"/>
                </a:solidFill>
              </a:rPr>
              <a:t>自动</a:t>
            </a:r>
            <a:r>
              <a:rPr lang="zh-CN" altLang="en-US" dirty="0"/>
              <a:t>调用，</a:t>
            </a:r>
            <a:r>
              <a:rPr lang="zh-CN" altLang="en-US" dirty="0">
                <a:solidFill>
                  <a:srgbClr val="FF0000"/>
                </a:solidFill>
              </a:rPr>
              <a:t>不允许</a:t>
            </a:r>
            <a:r>
              <a:rPr lang="zh-CN" altLang="en-US" dirty="0"/>
              <a:t>在程序中</a:t>
            </a:r>
            <a:r>
              <a:rPr lang="zh-CN" altLang="en-US" dirty="0">
                <a:solidFill>
                  <a:srgbClr val="FF0000"/>
                </a:solidFill>
              </a:rPr>
              <a:t>显式调用</a:t>
            </a:r>
            <a:r>
              <a:rPr lang="zh-CN" altLang="en-US" dirty="0"/>
              <a:t>。</a:t>
            </a:r>
            <a:endParaRPr lang="en-US" altLang="zh-CN" dirty="0"/>
          </a:p>
          <a:p>
            <a:pPr lvl="1">
              <a:lnSpc>
                <a:spcPct val="120000"/>
              </a:lnSpc>
            </a:pPr>
            <a:endParaRPr lang="zh-CN" altLang="en-US" dirty="0"/>
          </a:p>
        </p:txBody>
      </p:sp>
    </p:spTree>
    <p:extLst>
      <p:ext uri="{BB962C8B-B14F-4D97-AF65-F5344CB8AC3E}">
        <p14:creationId xmlns:p14="http://schemas.microsoft.com/office/powerpoint/2010/main" val="227361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4294967295"/>
          </p:nvPr>
        </p:nvSpPr>
        <p:spPr>
          <a:xfrm>
            <a:off x="35496" y="620688"/>
            <a:ext cx="4608512" cy="3600400"/>
          </a:xfrm>
        </p:spPr>
        <p:txBody>
          <a:bodyPr>
            <a:noAutofit/>
          </a:bodyPr>
          <a:lstStyle/>
          <a:p>
            <a:pPr eaLnBrk="1" hangingPunct="1">
              <a:lnSpc>
                <a:spcPct val="90000"/>
              </a:lnSpc>
              <a:buFontTx/>
              <a:buNone/>
            </a:pPr>
            <a:r>
              <a:rPr lang="en-US" altLang="zh-CN" sz="2400" dirty="0"/>
              <a:t>4</a:t>
            </a:r>
            <a:r>
              <a:rPr lang="zh-CN" altLang="en-US" sz="2400" dirty="0"/>
              <a:t>、构造函数的调用</a:t>
            </a:r>
          </a:p>
          <a:p>
            <a:pPr lvl="1" eaLnBrk="1" hangingPunct="1"/>
            <a:r>
              <a:rPr lang="zh-CN" altLang="en-US" sz="2400" dirty="0"/>
              <a:t>只能在定义对象时，由系统自动调用！</a:t>
            </a:r>
          </a:p>
          <a:p>
            <a:pPr lvl="1" eaLnBrk="1" hangingPunct="1"/>
            <a:r>
              <a:rPr lang="zh-CN" altLang="en-US" sz="2400" dirty="0"/>
              <a:t>调用形式：</a:t>
            </a:r>
            <a:br>
              <a:rPr lang="zh-CN" altLang="en-US" sz="2400" dirty="0"/>
            </a:br>
            <a:r>
              <a:rPr lang="zh-CN" altLang="en-US" sz="2400" dirty="0">
                <a:solidFill>
                  <a:schemeClr val="accent2"/>
                </a:solidFill>
              </a:rPr>
              <a:t>类名    对象名（参数表）；</a:t>
            </a:r>
          </a:p>
          <a:p>
            <a:pPr lvl="2" eaLnBrk="1" hangingPunct="1"/>
            <a:r>
              <a:rPr lang="zh-CN" altLang="en-US" sz="2000" b="1" dirty="0">
                <a:solidFill>
                  <a:srgbClr val="FF3300"/>
                </a:solidFill>
              </a:rPr>
              <a:t>系统将根据参数表调用某个构造函数</a:t>
            </a:r>
          </a:p>
          <a:p>
            <a:pPr lvl="2" eaLnBrk="1" hangingPunct="1"/>
            <a:r>
              <a:rPr lang="zh-CN" altLang="en-US" sz="2000" b="1" dirty="0">
                <a:solidFill>
                  <a:srgbClr val="FF3300"/>
                </a:solidFill>
              </a:rPr>
              <a:t>若无参数表将调用缺省构造函数（无参构造函数）</a:t>
            </a:r>
          </a:p>
          <a:p>
            <a:pPr lvl="1" eaLnBrk="1" hangingPunct="1">
              <a:buFontTx/>
              <a:buNone/>
            </a:pPr>
            <a:r>
              <a:rPr lang="zh-CN" altLang="en-US" sz="2400" dirty="0">
                <a:solidFill>
                  <a:srgbClr val="FF3300"/>
                </a:solidFill>
              </a:rPr>
              <a:t>   </a:t>
            </a:r>
          </a:p>
        </p:txBody>
      </p:sp>
      <p:sp>
        <p:nvSpPr>
          <p:cNvPr id="2" name="矩形 1"/>
          <p:cNvSpPr/>
          <p:nvPr/>
        </p:nvSpPr>
        <p:spPr>
          <a:xfrm>
            <a:off x="4572000" y="2636912"/>
            <a:ext cx="2808312"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p1</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A31515"/>
                </a:solidFill>
                <a:latin typeface="Consolas" panose="020B0609020204030204" pitchFamily="49" charset="0"/>
                <a:ea typeface="新宋体"/>
                <a:cs typeface="Consolas" panose="020B0609020204030204" pitchFamily="49" charset="0"/>
              </a:rPr>
              <a:t>"</a:t>
            </a:r>
            <a:r>
              <a:rPr lang="zh-CN" altLang="en-US" dirty="0">
                <a:solidFill>
                  <a:srgbClr val="A31515"/>
                </a:solidFill>
                <a:latin typeface="Consolas" panose="020B0609020204030204" pitchFamily="49" charset="0"/>
                <a:ea typeface="新宋体"/>
                <a:cs typeface="Consolas" panose="020B0609020204030204" pitchFamily="49" charset="0"/>
              </a:rPr>
              <a:t>张勇</a:t>
            </a:r>
            <a:r>
              <a:rPr lang="en-US" altLang="zh-CN" dirty="0">
                <a:solidFill>
                  <a:srgbClr val="A31515"/>
                </a:solidFill>
                <a:latin typeface="Consolas" panose="020B0609020204030204" pitchFamily="49" charset="0"/>
                <a:ea typeface="新宋体"/>
                <a:cs typeface="Consolas" panose="020B0609020204030204" pitchFamily="49" charset="0"/>
              </a:rPr>
              <a:t>"</a:t>
            </a:r>
            <a:r>
              <a:rPr lang="en-US" altLang="zh-CN" dirty="0">
                <a:solidFill>
                  <a:srgbClr val="000000"/>
                </a:solidFill>
                <a:latin typeface="Consolas" panose="020B0609020204030204" pitchFamily="49" charset="0"/>
                <a:ea typeface="新宋体"/>
                <a:cs typeface="Consolas" panose="020B0609020204030204" pitchFamily="49" charset="0"/>
              </a:rPr>
              <a:t>,21);</a:t>
            </a:r>
          </a:p>
        </p:txBody>
      </p:sp>
      <p:sp>
        <p:nvSpPr>
          <p:cNvPr id="4" name="矩形 3"/>
          <p:cNvSpPr/>
          <p:nvPr/>
        </p:nvSpPr>
        <p:spPr>
          <a:xfrm>
            <a:off x="4572000" y="3491716"/>
            <a:ext cx="1512168"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p1</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3" name="矩形 2"/>
          <p:cNvSpPr/>
          <p:nvPr/>
        </p:nvSpPr>
        <p:spPr>
          <a:xfrm>
            <a:off x="4716016" y="4365104"/>
            <a:ext cx="3024336" cy="646331"/>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p1</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err="1">
                <a:solidFill>
                  <a:srgbClr val="000000"/>
                </a:solidFill>
                <a:latin typeface="Consolas" panose="020B0609020204030204" pitchFamily="49" charset="0"/>
                <a:ea typeface="新宋体"/>
                <a:cs typeface="Consolas" panose="020B0609020204030204" pitchFamily="49" charset="0"/>
              </a:rPr>
              <a:t>p1.</a:t>
            </a:r>
            <a:r>
              <a:rPr lang="en-US" altLang="zh-CN" dirty="0" err="1">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A31515"/>
                </a:solidFill>
                <a:latin typeface="Consolas" panose="020B0609020204030204" pitchFamily="49" charset="0"/>
                <a:ea typeface="新宋体"/>
                <a:cs typeface="Consolas" panose="020B0609020204030204" pitchFamily="49" charset="0"/>
              </a:rPr>
              <a:t>"</a:t>
            </a:r>
            <a:r>
              <a:rPr lang="zh-CN" altLang="en-US" dirty="0">
                <a:solidFill>
                  <a:srgbClr val="A31515"/>
                </a:solidFill>
                <a:latin typeface="Consolas" panose="020B0609020204030204" pitchFamily="49" charset="0"/>
                <a:ea typeface="新宋体"/>
                <a:cs typeface="Consolas" panose="020B0609020204030204" pitchFamily="49" charset="0"/>
              </a:rPr>
              <a:t>张勇</a:t>
            </a:r>
            <a:r>
              <a:rPr lang="en-US" altLang="zh-CN" dirty="0">
                <a:solidFill>
                  <a:srgbClr val="A31515"/>
                </a:solidFill>
                <a:latin typeface="Consolas" panose="020B0609020204030204" pitchFamily="49" charset="0"/>
                <a:ea typeface="新宋体"/>
                <a:cs typeface="Consolas" panose="020B0609020204030204" pitchFamily="49" charset="0"/>
              </a:rPr>
              <a:t>"</a:t>
            </a:r>
            <a:r>
              <a:rPr lang="en-US" altLang="zh-CN" dirty="0">
                <a:solidFill>
                  <a:srgbClr val="000000"/>
                </a:solidFill>
                <a:latin typeface="Consolas" panose="020B0609020204030204" pitchFamily="49" charset="0"/>
                <a:ea typeface="新宋体"/>
                <a:cs typeface="Consolas" panose="020B0609020204030204" pitchFamily="49" charset="0"/>
              </a:rPr>
              <a:t>, 21);</a:t>
            </a:r>
            <a:endParaRPr lang="zh-CN" altLang="en-US" dirty="0">
              <a:latin typeface="Consolas" panose="020B0609020204030204" pitchFamily="49" charset="0"/>
              <a:cs typeface="Consolas" panose="020B0609020204030204" pitchFamily="49" charset="0"/>
            </a:endParaRPr>
          </a:p>
        </p:txBody>
      </p:sp>
      <p:sp>
        <p:nvSpPr>
          <p:cNvPr id="8" name="Rectangle 3"/>
          <p:cNvSpPr txBox="1">
            <a:spLocks noChangeArrowheads="1"/>
          </p:cNvSpPr>
          <p:nvPr/>
        </p:nvSpPr>
        <p:spPr>
          <a:xfrm>
            <a:off x="-36512" y="4221088"/>
            <a:ext cx="4608512" cy="1368152"/>
          </a:xfrm>
          <a:prstGeom prst="rect">
            <a:avLst/>
          </a:prstGeom>
        </p:spPr>
        <p:txBody>
          <a:bodyPr vert="horz" rtlCol="0">
            <a:no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lvl="1"/>
            <a:r>
              <a:rPr lang="zh-CN" altLang="en-US" sz="2400" dirty="0"/>
              <a:t>不允许程序员在程序中显式调用构造函数，任何时候都不允许！</a:t>
            </a:r>
          </a:p>
          <a:p>
            <a:pPr lvl="1"/>
            <a:endParaRPr lang="en-US" altLang="zh-CN" sz="2400" dirty="0"/>
          </a:p>
        </p:txBody>
      </p:sp>
      <p:grpSp>
        <p:nvGrpSpPr>
          <p:cNvPr id="13" name="组合 12"/>
          <p:cNvGrpSpPr/>
          <p:nvPr/>
        </p:nvGrpSpPr>
        <p:grpSpPr>
          <a:xfrm>
            <a:off x="5508104" y="1556792"/>
            <a:ext cx="3550096" cy="1080120"/>
            <a:chOff x="5508104" y="1556792"/>
            <a:chExt cx="3550096" cy="1080120"/>
          </a:xfrm>
        </p:grpSpPr>
        <p:sp>
          <p:nvSpPr>
            <p:cNvPr id="6" name="矩形 5"/>
            <p:cNvSpPr/>
            <p:nvPr/>
          </p:nvSpPr>
          <p:spPr>
            <a:xfrm>
              <a:off x="5508104" y="1556792"/>
              <a:ext cx="3550096"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r>
                <a:rPr lang="en-US" altLang="zh-CN" dirty="0" err="1">
                  <a:solidFill>
                    <a:srgbClr val="0000FF"/>
                  </a:solidFill>
                  <a:latin typeface="Consolas" panose="020B0609020204030204" pitchFamily="49" charset="0"/>
                  <a:ea typeface="新宋体"/>
                  <a:cs typeface="Consolas" panose="020B0609020204030204" pitchFamily="49" charset="0"/>
                </a:rPr>
                <a:t>const</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0000FF"/>
                  </a:solidFill>
                  <a:latin typeface="Consolas" panose="020B0609020204030204" pitchFamily="49" charset="0"/>
                  <a:ea typeface="新宋体"/>
                  <a:cs typeface="Consolas" panose="020B0609020204030204" pitchFamily="49" charset="0"/>
                </a:rPr>
                <a:t>char</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FF"/>
                  </a:solidFill>
                  <a:latin typeface="Consolas" panose="020B0609020204030204" pitchFamily="49" charset="0"/>
                  <a:ea typeface="新宋体"/>
                  <a:cs typeface="Consolas" panose="020B0609020204030204" pitchFamily="49" charset="0"/>
                </a:rPr>
                <a:t>int</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10" name="右箭头 9"/>
            <p:cNvSpPr/>
            <p:nvPr/>
          </p:nvSpPr>
          <p:spPr>
            <a:xfrm rot="16200000">
              <a:off x="6183179" y="2231867"/>
              <a:ext cx="684076" cy="12601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444208" y="2110208"/>
              <a:ext cx="1107996" cy="276999"/>
            </a:xfrm>
            <a:prstGeom prst="rect">
              <a:avLst/>
            </a:prstGeom>
          </p:spPr>
          <p:txBody>
            <a:bodyPr wrap="none">
              <a:spAutoFit/>
            </a:bodyPr>
            <a:lstStyle/>
            <a:p>
              <a:r>
                <a:rPr lang="zh-CN" altLang="en-US" sz="1200" dirty="0"/>
                <a:t>调用构造函数</a:t>
              </a:r>
            </a:p>
          </p:txBody>
        </p:sp>
      </p:grpSp>
      <p:grpSp>
        <p:nvGrpSpPr>
          <p:cNvPr id="15" name="组合 14"/>
          <p:cNvGrpSpPr/>
          <p:nvPr/>
        </p:nvGrpSpPr>
        <p:grpSpPr>
          <a:xfrm>
            <a:off x="6084168" y="3212976"/>
            <a:ext cx="2088232" cy="648072"/>
            <a:chOff x="6084168" y="3212976"/>
            <a:chExt cx="2088232" cy="648072"/>
          </a:xfrm>
        </p:grpSpPr>
        <p:sp>
          <p:nvSpPr>
            <p:cNvPr id="7" name="矩形 6"/>
            <p:cNvSpPr/>
            <p:nvPr/>
          </p:nvSpPr>
          <p:spPr>
            <a:xfrm>
              <a:off x="6876256" y="3491716"/>
              <a:ext cx="1296144"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p>
          </p:txBody>
        </p:sp>
        <p:sp>
          <p:nvSpPr>
            <p:cNvPr id="12" name="右箭头 11"/>
            <p:cNvSpPr/>
            <p:nvPr/>
          </p:nvSpPr>
          <p:spPr>
            <a:xfrm>
              <a:off x="6084168" y="3591018"/>
              <a:ext cx="792088" cy="12601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163434" y="3212976"/>
              <a:ext cx="712822" cy="461665"/>
            </a:xfrm>
            <a:prstGeom prst="rect">
              <a:avLst/>
            </a:prstGeom>
          </p:spPr>
          <p:txBody>
            <a:bodyPr wrap="square">
              <a:spAutoFit/>
            </a:bodyPr>
            <a:lstStyle/>
            <a:p>
              <a:r>
                <a:rPr lang="zh-CN" altLang="en-US" sz="1200" dirty="0"/>
                <a:t>调用构造函数</a:t>
              </a:r>
            </a:p>
          </p:txBody>
        </p:sp>
      </p:grpSp>
      <p:sp>
        <p:nvSpPr>
          <p:cNvPr id="16" name="乘号 15"/>
          <p:cNvSpPr/>
          <p:nvPr/>
        </p:nvSpPr>
        <p:spPr>
          <a:xfrm>
            <a:off x="7740352" y="4437112"/>
            <a:ext cx="576064" cy="684947"/>
          </a:xfrm>
          <a:prstGeom prst="mathMultiply">
            <a:avLst>
              <a:gd name="adj1" fmla="val 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1110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89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89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P spid="2" grpId="0" animBg="1"/>
      <p:bldP spid="4" grpId="0" animBg="1"/>
      <p:bldP spid="3" grpId="0" animBg="1"/>
      <p:bldP spid="8"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024" y="-27384"/>
            <a:ext cx="6588224" cy="6832640"/>
          </a:xfrm>
          <a:prstGeom prst="rect">
            <a:avLst/>
          </a:prstGeom>
          <a:solidFill>
            <a:schemeClr val="bg1"/>
          </a:solidFill>
          <a:ln>
            <a:solidFill>
              <a:schemeClr val="accent1"/>
            </a:solidFill>
          </a:ln>
        </p:spPr>
        <p:txBody>
          <a:bodyPr wrap="square">
            <a:spAutoFit/>
          </a:bodyPr>
          <a:lstStyle/>
          <a:p>
            <a:r>
              <a:rPr lang="en-US" altLang="zh-CN" sz="1400" dirty="0">
                <a:solidFill>
                  <a:srgbClr val="0000FF"/>
                </a:solidFill>
                <a:latin typeface="Consolas"/>
              </a:rPr>
              <a:t>#include</a:t>
            </a:r>
            <a:r>
              <a:rPr lang="en-US" altLang="zh-CN" sz="1400" dirty="0">
                <a:solidFill>
                  <a:prstClr val="black"/>
                </a:solidFill>
                <a:latin typeface="Consolas"/>
              </a:rPr>
              <a:t> </a:t>
            </a:r>
            <a:r>
              <a:rPr lang="en-US" altLang="zh-CN" sz="1400" dirty="0">
                <a:solidFill>
                  <a:srgbClr val="A31515"/>
                </a:solidFill>
                <a:latin typeface="Consolas"/>
              </a:rPr>
              <a:t>&lt;</a:t>
            </a:r>
            <a:r>
              <a:rPr lang="en-US" altLang="zh-CN" sz="1400" dirty="0" err="1">
                <a:solidFill>
                  <a:srgbClr val="A31515"/>
                </a:solidFill>
                <a:latin typeface="Consolas"/>
              </a:rPr>
              <a:t>iostream</a:t>
            </a:r>
            <a:r>
              <a:rPr lang="en-US" altLang="zh-CN" sz="1400" dirty="0">
                <a:solidFill>
                  <a:srgbClr val="A31515"/>
                </a:solidFill>
                <a:latin typeface="Consolas"/>
              </a:rPr>
              <a:t>&gt;</a:t>
            </a:r>
            <a:endParaRPr lang="en-US" altLang="zh-CN" sz="1400" dirty="0">
              <a:solidFill>
                <a:prstClr val="black"/>
              </a:solidFill>
              <a:latin typeface="Consolas"/>
            </a:endParaRPr>
          </a:p>
          <a:p>
            <a:r>
              <a:rPr lang="en-US" altLang="zh-CN" sz="1400" dirty="0">
                <a:solidFill>
                  <a:srgbClr val="0000FF"/>
                </a:solidFill>
                <a:latin typeface="Consolas"/>
              </a:rPr>
              <a:t>using</a:t>
            </a:r>
            <a:r>
              <a:rPr lang="en-US" altLang="zh-CN" sz="1400" dirty="0">
                <a:solidFill>
                  <a:prstClr val="black"/>
                </a:solidFill>
                <a:latin typeface="Consolas"/>
              </a:rPr>
              <a:t> </a:t>
            </a:r>
            <a:r>
              <a:rPr lang="en-US" altLang="zh-CN" sz="1400" dirty="0">
                <a:solidFill>
                  <a:srgbClr val="0000FF"/>
                </a:solidFill>
                <a:latin typeface="Consolas"/>
              </a:rPr>
              <a:t>namespace</a:t>
            </a:r>
            <a:r>
              <a:rPr lang="en-US" altLang="zh-CN" sz="1400" dirty="0">
                <a:solidFill>
                  <a:prstClr val="black"/>
                </a:solidFill>
                <a:latin typeface="Consolas"/>
              </a:rPr>
              <a:t> </a:t>
            </a:r>
            <a:r>
              <a:rPr lang="en-US" altLang="zh-CN" sz="1400" dirty="0" err="1">
                <a:solidFill>
                  <a:prstClr val="black"/>
                </a:solidFill>
                <a:latin typeface="Consolas"/>
              </a:rPr>
              <a:t>std</a:t>
            </a:r>
            <a:r>
              <a:rPr lang="en-US" altLang="zh-CN" sz="1400" dirty="0">
                <a:solidFill>
                  <a:prstClr val="black"/>
                </a:solidFill>
                <a:latin typeface="Consolas"/>
              </a:rPr>
              <a:t>;</a:t>
            </a:r>
          </a:p>
          <a:p>
            <a:r>
              <a:rPr lang="en-US" altLang="zh-CN" sz="2400" dirty="0">
                <a:solidFill>
                  <a:srgbClr val="0000FF"/>
                </a:solidFill>
                <a:latin typeface="Consolas"/>
              </a:rPr>
              <a:t>class</a:t>
            </a:r>
            <a:r>
              <a:rPr lang="en-US" altLang="zh-CN" sz="2400" dirty="0">
                <a:solidFill>
                  <a:prstClr val="black"/>
                </a:solidFill>
                <a:latin typeface="Consolas"/>
              </a:rPr>
              <a:t> Desk</a:t>
            </a:r>
          </a:p>
          <a:p>
            <a:r>
              <a:rPr lang="en-US" altLang="zh-CN" sz="2400" dirty="0">
                <a:solidFill>
                  <a:prstClr val="black"/>
                </a:solidFill>
                <a:latin typeface="Consolas"/>
              </a:rPr>
              <a:t>{</a:t>
            </a:r>
            <a:r>
              <a:rPr lang="en-US" altLang="zh-CN" sz="2400" dirty="0">
                <a:solidFill>
                  <a:srgbClr val="0000FF"/>
                </a:solidFill>
                <a:latin typeface="Consolas"/>
              </a:rPr>
              <a:t>public</a:t>
            </a:r>
            <a:r>
              <a:rPr lang="en-US" altLang="zh-CN" sz="2400" dirty="0">
                <a:solidFill>
                  <a:prstClr val="black"/>
                </a:solidFill>
                <a:latin typeface="Consolas"/>
              </a:rPr>
              <a:t>:</a:t>
            </a:r>
          </a:p>
          <a:p>
            <a:r>
              <a:rPr lang="en-US" altLang="zh-CN" sz="2400" dirty="0">
                <a:solidFill>
                  <a:prstClr val="black"/>
                </a:solidFill>
                <a:latin typeface="Consolas"/>
              </a:rPr>
              <a:t>    Desk(</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a:solidFill>
                  <a:prstClr val="black"/>
                </a:solidFill>
                <a:latin typeface="Consolas"/>
              </a:rPr>
              <a:t>);</a:t>
            </a:r>
          </a:p>
          <a:p>
            <a:r>
              <a:rPr lang="en-US" altLang="zh-CN" sz="2400" dirty="0">
                <a:solidFill>
                  <a:prstClr val="black"/>
                </a:solidFill>
                <a:latin typeface="Consolas"/>
              </a:rPr>
              <a:t>    </a:t>
            </a:r>
            <a:r>
              <a:rPr lang="en-US" altLang="zh-CN" sz="2400" dirty="0">
                <a:solidFill>
                  <a:srgbClr val="0000FF"/>
                </a:solidFill>
                <a:latin typeface="Consolas"/>
              </a:rPr>
              <a:t>void</a:t>
            </a:r>
            <a:r>
              <a:rPr lang="en-US" altLang="zh-CN" sz="2400" dirty="0">
                <a:solidFill>
                  <a:prstClr val="black"/>
                </a:solidFill>
                <a:latin typeface="Consolas"/>
              </a:rPr>
              <a:t> </a:t>
            </a:r>
            <a:r>
              <a:rPr lang="en-US" altLang="zh-CN" sz="2400" dirty="0" err="1">
                <a:solidFill>
                  <a:prstClr val="black"/>
                </a:solidFill>
                <a:latin typeface="Consolas"/>
              </a:rPr>
              <a:t>setWeight</a:t>
            </a:r>
            <a:r>
              <a:rPr lang="en-US" altLang="zh-CN" sz="2400" dirty="0">
                <a:solidFill>
                  <a:prstClr val="black"/>
                </a:solidFill>
                <a:latin typeface="Consolas"/>
              </a:rPr>
              <a:t>(</a:t>
            </a:r>
            <a:r>
              <a:rPr lang="en-US" altLang="zh-CN" sz="2400" dirty="0" err="1">
                <a:solidFill>
                  <a:srgbClr val="0000FF"/>
                </a:solidFill>
                <a:latin typeface="Consolas"/>
              </a:rPr>
              <a:t>int</a:t>
            </a:r>
            <a:r>
              <a:rPr lang="en-US" altLang="zh-CN" sz="2400" dirty="0">
                <a:solidFill>
                  <a:prstClr val="black"/>
                </a:solidFill>
                <a:latin typeface="Consolas"/>
              </a:rPr>
              <a:t> w) { weight=w;}</a:t>
            </a:r>
            <a:endParaRPr lang="en-US" altLang="zh-CN" dirty="0">
              <a:solidFill>
                <a:prstClr val="black"/>
              </a:solidFill>
              <a:latin typeface="Consolas"/>
            </a:endParaRPr>
          </a:p>
          <a:p>
            <a:r>
              <a:rPr lang="en-US" altLang="zh-CN" sz="2400" dirty="0">
                <a:solidFill>
                  <a:srgbClr val="0000FF"/>
                </a:solidFill>
                <a:latin typeface="Consolas"/>
              </a:rPr>
              <a:t>private</a:t>
            </a:r>
            <a:r>
              <a:rPr lang="en-US" altLang="zh-CN" sz="2400" dirty="0">
                <a:solidFill>
                  <a:prstClr val="black"/>
                </a:solidFill>
                <a:latin typeface="Consolas"/>
              </a:rPr>
              <a:t>:</a:t>
            </a:r>
          </a:p>
          <a:p>
            <a:r>
              <a:rPr lang="en-US" altLang="zh-CN" sz="2400" dirty="0">
                <a:solidFill>
                  <a:prstClr val="black"/>
                </a:solidFill>
                <a:latin typeface="Consolas"/>
              </a:rPr>
              <a:t>    </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weight,length,width,high</a:t>
            </a:r>
            <a:r>
              <a:rPr lang="en-US" altLang="zh-CN" sz="2400" dirty="0">
                <a:solidFill>
                  <a:prstClr val="black"/>
                </a:solidFill>
                <a:latin typeface="Consolas"/>
              </a:rPr>
              <a:t>;</a:t>
            </a:r>
          </a:p>
          <a:p>
            <a:r>
              <a:rPr lang="en-US" altLang="zh-CN" sz="2400" dirty="0">
                <a:solidFill>
                  <a:prstClr val="black"/>
                </a:solidFill>
                <a:latin typeface="Consolas"/>
              </a:rPr>
              <a:t>};</a:t>
            </a:r>
          </a:p>
          <a:p>
            <a:r>
              <a:rPr lang="en-US" altLang="zh-CN" sz="2400" dirty="0">
                <a:solidFill>
                  <a:prstClr val="black"/>
                </a:solidFill>
                <a:latin typeface="Consolas"/>
              </a:rPr>
              <a:t>Desk::Desk(</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ww,</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l,</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a:t>
            </a:r>
            <a:r>
              <a:rPr lang="en-US" altLang="zh-CN" sz="2400" dirty="0" err="1">
                <a:solidFill>
                  <a:srgbClr val="0000FF"/>
                </a:solidFill>
                <a:latin typeface="Consolas"/>
              </a:rPr>
              <a:t>int</a:t>
            </a:r>
            <a:r>
              <a:rPr lang="en-US" altLang="zh-CN" sz="2400" dirty="0">
                <a:solidFill>
                  <a:prstClr val="black"/>
                </a:solidFill>
                <a:latin typeface="Consolas"/>
              </a:rPr>
              <a:t> h) </a:t>
            </a:r>
          </a:p>
          <a:p>
            <a:r>
              <a:rPr lang="en-US" altLang="zh-CN" sz="2400" dirty="0">
                <a:solidFill>
                  <a:prstClr val="black"/>
                </a:solidFill>
                <a:latin typeface="Consolas"/>
              </a:rPr>
              <a:t>{   weight=</a:t>
            </a:r>
            <a:r>
              <a:rPr lang="en-US" altLang="zh-CN" sz="2400" dirty="0" err="1">
                <a:solidFill>
                  <a:prstClr val="black"/>
                </a:solidFill>
                <a:latin typeface="Consolas"/>
              </a:rPr>
              <a:t>ww</a:t>
            </a:r>
            <a:r>
              <a:rPr lang="en-US" altLang="zh-CN" sz="2400" dirty="0">
                <a:solidFill>
                  <a:prstClr val="black"/>
                </a:solidFill>
                <a:latin typeface="Consolas"/>
              </a:rPr>
              <a:t>; </a:t>
            </a:r>
          </a:p>
          <a:p>
            <a:r>
              <a:rPr lang="en-US" altLang="zh-CN" sz="2400" dirty="0">
                <a:solidFill>
                  <a:prstClr val="black"/>
                </a:solidFill>
                <a:latin typeface="Consolas"/>
              </a:rPr>
              <a:t>    high=l;</a:t>
            </a:r>
          </a:p>
          <a:p>
            <a:r>
              <a:rPr lang="en-US" altLang="zh-CN" sz="2400" dirty="0">
                <a:solidFill>
                  <a:prstClr val="black"/>
                </a:solidFill>
                <a:latin typeface="Consolas"/>
              </a:rPr>
              <a:t>    width=w;   </a:t>
            </a:r>
          </a:p>
          <a:p>
            <a:r>
              <a:rPr lang="en-US" altLang="zh-CN" sz="2400" dirty="0">
                <a:solidFill>
                  <a:prstClr val="black"/>
                </a:solidFill>
                <a:latin typeface="Consolas"/>
              </a:rPr>
              <a:t>    length=h;</a:t>
            </a:r>
          </a:p>
          <a:p>
            <a:r>
              <a:rPr lang="en-US" altLang="zh-CN" sz="2400" dirty="0">
                <a:solidFill>
                  <a:prstClr val="black"/>
                </a:solidFill>
                <a:latin typeface="Consolas"/>
              </a:rPr>
              <a:t>    </a:t>
            </a:r>
            <a:r>
              <a:rPr lang="en-US" altLang="zh-CN" sz="2400" dirty="0" err="1">
                <a:solidFill>
                  <a:prstClr val="black"/>
                </a:solidFill>
                <a:latin typeface="Consolas"/>
              </a:rPr>
              <a:t>cout</a:t>
            </a:r>
            <a:r>
              <a:rPr lang="en-US" altLang="zh-CN" sz="2400" dirty="0">
                <a:solidFill>
                  <a:prstClr val="black"/>
                </a:solidFill>
                <a:latin typeface="Consolas"/>
              </a:rPr>
              <a:t>&lt;&lt;</a:t>
            </a:r>
            <a:r>
              <a:rPr lang="en-US" altLang="zh-CN" sz="2400" dirty="0">
                <a:solidFill>
                  <a:srgbClr val="A31515"/>
                </a:solidFill>
                <a:latin typeface="Consolas"/>
              </a:rPr>
              <a:t>"call constructor !"</a:t>
            </a:r>
            <a:r>
              <a:rPr lang="en-US" altLang="zh-CN" sz="2400" dirty="0">
                <a:solidFill>
                  <a:prstClr val="black"/>
                </a:solidFill>
                <a:latin typeface="Consolas"/>
              </a:rPr>
              <a:t>&lt;&lt;</a:t>
            </a:r>
            <a:r>
              <a:rPr lang="en-US" altLang="zh-CN" sz="2400" dirty="0" err="1">
                <a:solidFill>
                  <a:prstClr val="black"/>
                </a:solidFill>
                <a:latin typeface="Consolas"/>
              </a:rPr>
              <a:t>endl</a:t>
            </a:r>
            <a:r>
              <a:rPr lang="en-US" altLang="zh-CN" sz="2400" dirty="0">
                <a:solidFill>
                  <a:prstClr val="black"/>
                </a:solidFill>
                <a:latin typeface="Consolas"/>
              </a:rPr>
              <a:t>;</a:t>
            </a:r>
          </a:p>
          <a:p>
            <a:r>
              <a:rPr lang="en-US" altLang="zh-CN" sz="2400" dirty="0">
                <a:solidFill>
                  <a:prstClr val="black"/>
                </a:solidFill>
                <a:latin typeface="Consolas"/>
              </a:rPr>
              <a:t>}</a:t>
            </a:r>
          </a:p>
          <a:p>
            <a:r>
              <a:rPr lang="en-US" altLang="zh-CN" sz="2400" dirty="0" err="1">
                <a:solidFill>
                  <a:srgbClr val="0000FF"/>
                </a:solidFill>
                <a:latin typeface="Consolas"/>
              </a:rPr>
              <a:t>int</a:t>
            </a:r>
            <a:r>
              <a:rPr lang="en-US" altLang="zh-CN" sz="2400" dirty="0">
                <a:solidFill>
                  <a:prstClr val="black"/>
                </a:solidFill>
                <a:latin typeface="Consolas"/>
              </a:rPr>
              <a:t> main()</a:t>
            </a:r>
          </a:p>
          <a:p>
            <a:pPr>
              <a:lnSpc>
                <a:spcPts val="2000"/>
              </a:lnSpc>
            </a:pPr>
            <a:r>
              <a:rPr lang="en-US" altLang="zh-CN" sz="2400" dirty="0">
                <a:solidFill>
                  <a:prstClr val="black"/>
                </a:solidFill>
                <a:latin typeface="Consolas"/>
              </a:rPr>
              <a:t>{   Desk d1(2,3,4,5);</a:t>
            </a:r>
          </a:p>
          <a:p>
            <a:pPr>
              <a:lnSpc>
                <a:spcPts val="2000"/>
              </a:lnSpc>
            </a:pPr>
            <a:r>
              <a:rPr lang="en-US" altLang="zh-CN" sz="2400" dirty="0">
                <a:solidFill>
                  <a:srgbClr val="0000FF"/>
                </a:solidFill>
                <a:latin typeface="Consolas"/>
              </a:rPr>
              <a:t>    return</a:t>
            </a:r>
            <a:r>
              <a:rPr lang="en-US" altLang="zh-CN" sz="2400" dirty="0">
                <a:solidFill>
                  <a:prstClr val="black"/>
                </a:solidFill>
                <a:latin typeface="Consolas"/>
              </a:rPr>
              <a:t> 0;</a:t>
            </a:r>
            <a:endParaRPr lang="en-US" altLang="zh-CN" sz="2800" dirty="0">
              <a:solidFill>
                <a:prstClr val="black"/>
              </a:solidFill>
              <a:latin typeface="Consolas"/>
            </a:endParaRPr>
          </a:p>
          <a:p>
            <a:pPr>
              <a:lnSpc>
                <a:spcPts val="2000"/>
              </a:lnSpc>
            </a:pPr>
            <a:r>
              <a:rPr lang="en-US" altLang="zh-CN" sz="2400" dirty="0">
                <a:solidFill>
                  <a:prstClr val="black"/>
                </a:solidFill>
                <a:latin typeface="Consolas"/>
              </a:rPr>
              <a:t>}</a:t>
            </a:r>
          </a:p>
        </p:txBody>
      </p:sp>
      <p:sp>
        <p:nvSpPr>
          <p:cNvPr id="3" name="Rectangle 3"/>
          <p:cNvSpPr txBox="1">
            <a:spLocks noChangeArrowheads="1"/>
          </p:cNvSpPr>
          <p:nvPr/>
        </p:nvSpPr>
        <p:spPr>
          <a:xfrm>
            <a:off x="2843808" y="0"/>
            <a:ext cx="5617913" cy="575965"/>
          </a:xfrm>
          <a:prstGeom prst="rect">
            <a:avLst/>
          </a:prstGeom>
        </p:spPr>
        <p:txBody>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80000"/>
              </a:lnSpc>
              <a:buFontTx/>
              <a:buNone/>
            </a:pPr>
            <a:r>
              <a:rPr lang="en-US" altLang="zh-CN" sz="2800" b="1" dirty="0"/>
              <a:t>【</a:t>
            </a:r>
            <a:r>
              <a:rPr lang="zh-CN" altLang="en-US" sz="2800" b="1" dirty="0"/>
              <a:t>例</a:t>
            </a:r>
            <a:r>
              <a:rPr lang="en-US" altLang="zh-CN" sz="2800" b="1" dirty="0"/>
              <a:t>】  </a:t>
            </a:r>
            <a:r>
              <a:rPr lang="zh-CN" altLang="en-US" sz="2800" b="1" dirty="0"/>
              <a:t>桌子类的构造函数</a:t>
            </a:r>
          </a:p>
        </p:txBody>
      </p:sp>
      <p:grpSp>
        <p:nvGrpSpPr>
          <p:cNvPr id="10" name="组合 9"/>
          <p:cNvGrpSpPr/>
          <p:nvPr/>
        </p:nvGrpSpPr>
        <p:grpSpPr>
          <a:xfrm>
            <a:off x="720080" y="1052835"/>
            <a:ext cx="7884368" cy="575965"/>
            <a:chOff x="720080" y="1052835"/>
            <a:chExt cx="7884368" cy="575965"/>
          </a:xfrm>
        </p:grpSpPr>
        <p:sp>
          <p:nvSpPr>
            <p:cNvPr id="5" name="圆角矩形 4"/>
            <p:cNvSpPr/>
            <p:nvPr/>
          </p:nvSpPr>
          <p:spPr>
            <a:xfrm>
              <a:off x="720080" y="1124744"/>
              <a:ext cx="4355976"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3"/>
            <p:cNvSpPr txBox="1">
              <a:spLocks noChangeArrowheads="1"/>
            </p:cNvSpPr>
            <p:nvPr/>
          </p:nvSpPr>
          <p:spPr>
            <a:xfrm>
              <a:off x="5652765" y="1052835"/>
              <a:ext cx="2951683" cy="575965"/>
            </a:xfrm>
            <a:prstGeom prst="rect">
              <a:avLst/>
            </a:prstGeom>
            <a:solidFill>
              <a:schemeClr val="bg2">
                <a:lumMod val="90000"/>
              </a:schemeClr>
            </a:solidFill>
          </p:spPr>
          <p:txBody>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80000"/>
                </a:lnSpc>
                <a:buFontTx/>
                <a:buNone/>
              </a:pPr>
              <a:r>
                <a:rPr lang="zh-CN" altLang="en-US" sz="2800" dirty="0"/>
                <a:t>构造函数的声明</a:t>
              </a:r>
            </a:p>
          </p:txBody>
        </p:sp>
      </p:grpSp>
      <p:grpSp>
        <p:nvGrpSpPr>
          <p:cNvPr id="11" name="组合 10"/>
          <p:cNvGrpSpPr/>
          <p:nvPr/>
        </p:nvGrpSpPr>
        <p:grpSpPr>
          <a:xfrm>
            <a:off x="216024" y="2924944"/>
            <a:ext cx="8388424" cy="2736304"/>
            <a:chOff x="216024" y="2924944"/>
            <a:chExt cx="8388424" cy="2736304"/>
          </a:xfrm>
        </p:grpSpPr>
        <p:sp>
          <p:nvSpPr>
            <p:cNvPr id="4" name="圆角矩形 3"/>
            <p:cNvSpPr/>
            <p:nvPr/>
          </p:nvSpPr>
          <p:spPr>
            <a:xfrm>
              <a:off x="216024" y="2924944"/>
              <a:ext cx="6444208" cy="27363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3"/>
            <p:cNvSpPr txBox="1">
              <a:spLocks noChangeArrowheads="1"/>
            </p:cNvSpPr>
            <p:nvPr/>
          </p:nvSpPr>
          <p:spPr>
            <a:xfrm>
              <a:off x="5805165" y="3645123"/>
              <a:ext cx="2799283" cy="575965"/>
            </a:xfrm>
            <a:prstGeom prst="rect">
              <a:avLst/>
            </a:prstGeom>
            <a:solidFill>
              <a:schemeClr val="bg2">
                <a:lumMod val="90000"/>
              </a:schemeClr>
            </a:solidFill>
          </p:spPr>
          <p:txBody>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80000"/>
                </a:lnSpc>
                <a:buFontTx/>
                <a:buNone/>
              </a:pPr>
              <a:r>
                <a:rPr lang="zh-CN" altLang="en-US" sz="2800" dirty="0"/>
                <a:t>构造函数的实现</a:t>
              </a:r>
            </a:p>
          </p:txBody>
        </p:sp>
      </p:grpSp>
      <p:grpSp>
        <p:nvGrpSpPr>
          <p:cNvPr id="12" name="组合 11"/>
          <p:cNvGrpSpPr/>
          <p:nvPr/>
        </p:nvGrpSpPr>
        <p:grpSpPr>
          <a:xfrm>
            <a:off x="872480" y="5805363"/>
            <a:ext cx="7587952" cy="575965"/>
            <a:chOff x="872480" y="5805363"/>
            <a:chExt cx="7587952" cy="575965"/>
          </a:xfrm>
        </p:grpSpPr>
        <p:sp>
          <p:nvSpPr>
            <p:cNvPr id="6" name="圆角矩形 5"/>
            <p:cNvSpPr/>
            <p:nvPr/>
          </p:nvSpPr>
          <p:spPr>
            <a:xfrm>
              <a:off x="872480" y="5877272"/>
              <a:ext cx="3195464"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p:cNvSpPr txBox="1">
              <a:spLocks noChangeArrowheads="1"/>
            </p:cNvSpPr>
            <p:nvPr/>
          </p:nvSpPr>
          <p:spPr>
            <a:xfrm>
              <a:off x="5661149" y="5805363"/>
              <a:ext cx="2799283" cy="575965"/>
            </a:xfrm>
            <a:prstGeom prst="rect">
              <a:avLst/>
            </a:prstGeom>
            <a:solidFill>
              <a:schemeClr val="bg2">
                <a:lumMod val="90000"/>
              </a:schemeClr>
            </a:solidFill>
          </p:spPr>
          <p:txBody>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80000"/>
                </a:lnSpc>
                <a:buFontTx/>
                <a:buNone/>
              </a:pPr>
              <a:r>
                <a:rPr lang="zh-CN" altLang="en-US" sz="2800" dirty="0"/>
                <a:t>构造函数的调用</a:t>
              </a:r>
            </a:p>
          </p:txBody>
        </p:sp>
      </p:grpSp>
    </p:spTree>
    <p:extLst>
      <p:ext uri="{BB962C8B-B14F-4D97-AF65-F5344CB8AC3E}">
        <p14:creationId xmlns:p14="http://schemas.microsoft.com/office/powerpoint/2010/main" val="377961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024" y="-27384"/>
            <a:ext cx="6588224" cy="6832640"/>
          </a:xfrm>
          <a:prstGeom prst="rect">
            <a:avLst/>
          </a:prstGeom>
          <a:solidFill>
            <a:schemeClr val="bg1"/>
          </a:solidFill>
          <a:ln>
            <a:solidFill>
              <a:schemeClr val="accent1"/>
            </a:solidFill>
          </a:ln>
        </p:spPr>
        <p:txBody>
          <a:bodyPr wrap="square">
            <a:spAutoFit/>
          </a:bodyPr>
          <a:lstStyle/>
          <a:p>
            <a:r>
              <a:rPr lang="en-US" altLang="zh-CN" sz="1400" dirty="0">
                <a:solidFill>
                  <a:srgbClr val="0000FF"/>
                </a:solidFill>
                <a:latin typeface="Consolas"/>
              </a:rPr>
              <a:t>#include</a:t>
            </a:r>
            <a:r>
              <a:rPr lang="en-US" altLang="zh-CN" sz="1400" dirty="0">
                <a:solidFill>
                  <a:prstClr val="black"/>
                </a:solidFill>
                <a:latin typeface="Consolas"/>
              </a:rPr>
              <a:t> </a:t>
            </a:r>
            <a:r>
              <a:rPr lang="en-US" altLang="zh-CN" sz="1400" dirty="0">
                <a:solidFill>
                  <a:srgbClr val="A31515"/>
                </a:solidFill>
                <a:latin typeface="Consolas"/>
              </a:rPr>
              <a:t>&lt;</a:t>
            </a:r>
            <a:r>
              <a:rPr lang="en-US" altLang="zh-CN" sz="1400" dirty="0" err="1">
                <a:solidFill>
                  <a:srgbClr val="A31515"/>
                </a:solidFill>
                <a:latin typeface="Consolas"/>
              </a:rPr>
              <a:t>iostream</a:t>
            </a:r>
            <a:r>
              <a:rPr lang="en-US" altLang="zh-CN" sz="1400" dirty="0">
                <a:solidFill>
                  <a:srgbClr val="A31515"/>
                </a:solidFill>
                <a:latin typeface="Consolas"/>
              </a:rPr>
              <a:t>&gt;</a:t>
            </a:r>
            <a:endParaRPr lang="en-US" altLang="zh-CN" sz="1400" dirty="0">
              <a:solidFill>
                <a:prstClr val="black"/>
              </a:solidFill>
              <a:latin typeface="Consolas"/>
            </a:endParaRPr>
          </a:p>
          <a:p>
            <a:r>
              <a:rPr lang="en-US" altLang="zh-CN" sz="1400" dirty="0">
                <a:solidFill>
                  <a:srgbClr val="0000FF"/>
                </a:solidFill>
                <a:latin typeface="Consolas"/>
              </a:rPr>
              <a:t>using</a:t>
            </a:r>
            <a:r>
              <a:rPr lang="en-US" altLang="zh-CN" sz="1400" dirty="0">
                <a:solidFill>
                  <a:prstClr val="black"/>
                </a:solidFill>
                <a:latin typeface="Consolas"/>
              </a:rPr>
              <a:t> </a:t>
            </a:r>
            <a:r>
              <a:rPr lang="en-US" altLang="zh-CN" sz="1400" dirty="0">
                <a:solidFill>
                  <a:srgbClr val="0000FF"/>
                </a:solidFill>
                <a:latin typeface="Consolas"/>
              </a:rPr>
              <a:t>namespace</a:t>
            </a:r>
            <a:r>
              <a:rPr lang="en-US" altLang="zh-CN" sz="1400" dirty="0">
                <a:solidFill>
                  <a:prstClr val="black"/>
                </a:solidFill>
                <a:latin typeface="Consolas"/>
              </a:rPr>
              <a:t> </a:t>
            </a:r>
            <a:r>
              <a:rPr lang="en-US" altLang="zh-CN" sz="1400" dirty="0" err="1">
                <a:solidFill>
                  <a:prstClr val="black"/>
                </a:solidFill>
                <a:latin typeface="Consolas"/>
              </a:rPr>
              <a:t>std</a:t>
            </a:r>
            <a:r>
              <a:rPr lang="en-US" altLang="zh-CN" sz="1400" dirty="0">
                <a:solidFill>
                  <a:prstClr val="black"/>
                </a:solidFill>
                <a:latin typeface="Consolas"/>
              </a:rPr>
              <a:t>;</a:t>
            </a:r>
          </a:p>
          <a:p>
            <a:r>
              <a:rPr lang="en-US" altLang="zh-CN" sz="2400" dirty="0">
                <a:solidFill>
                  <a:srgbClr val="0000FF"/>
                </a:solidFill>
                <a:latin typeface="Consolas"/>
              </a:rPr>
              <a:t>class</a:t>
            </a:r>
            <a:r>
              <a:rPr lang="en-US" altLang="zh-CN" sz="2400" dirty="0">
                <a:solidFill>
                  <a:prstClr val="black"/>
                </a:solidFill>
                <a:latin typeface="Consolas"/>
              </a:rPr>
              <a:t> Desk</a:t>
            </a:r>
          </a:p>
          <a:p>
            <a:r>
              <a:rPr lang="en-US" altLang="zh-CN" sz="2400" dirty="0">
                <a:solidFill>
                  <a:prstClr val="black"/>
                </a:solidFill>
                <a:latin typeface="Consolas"/>
              </a:rPr>
              <a:t>{</a:t>
            </a:r>
            <a:r>
              <a:rPr lang="en-US" altLang="zh-CN" sz="2400" dirty="0">
                <a:solidFill>
                  <a:srgbClr val="0000FF"/>
                </a:solidFill>
                <a:latin typeface="Consolas"/>
              </a:rPr>
              <a:t>public</a:t>
            </a:r>
            <a:r>
              <a:rPr lang="en-US" altLang="zh-CN" sz="2400" dirty="0">
                <a:solidFill>
                  <a:prstClr val="black"/>
                </a:solidFill>
                <a:latin typeface="Consolas"/>
              </a:rPr>
              <a:t>:</a:t>
            </a:r>
          </a:p>
          <a:p>
            <a:r>
              <a:rPr lang="en-US" altLang="zh-CN" sz="2400" dirty="0">
                <a:solidFill>
                  <a:prstClr val="black"/>
                </a:solidFill>
                <a:latin typeface="Consolas"/>
              </a:rPr>
              <a:t>    Desk(</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err="1">
                <a:solidFill>
                  <a:prstClr val="black"/>
                </a:solidFill>
                <a:latin typeface="Consolas"/>
              </a:rPr>
              <a:t>,</a:t>
            </a:r>
            <a:r>
              <a:rPr lang="en-US" altLang="zh-CN" sz="2400" dirty="0" err="1">
                <a:solidFill>
                  <a:srgbClr val="0000FF"/>
                </a:solidFill>
                <a:latin typeface="Consolas"/>
              </a:rPr>
              <a:t>int</a:t>
            </a:r>
            <a:r>
              <a:rPr lang="en-US" altLang="zh-CN" sz="2400" dirty="0">
                <a:solidFill>
                  <a:prstClr val="black"/>
                </a:solidFill>
                <a:latin typeface="Consolas"/>
              </a:rPr>
              <a:t>);</a:t>
            </a:r>
          </a:p>
          <a:p>
            <a:r>
              <a:rPr lang="en-US" altLang="zh-CN" sz="2400" dirty="0">
                <a:solidFill>
                  <a:prstClr val="black"/>
                </a:solidFill>
                <a:latin typeface="Consolas"/>
              </a:rPr>
              <a:t>    </a:t>
            </a:r>
            <a:r>
              <a:rPr lang="en-US" altLang="zh-CN" sz="2400" dirty="0">
                <a:solidFill>
                  <a:srgbClr val="0000FF"/>
                </a:solidFill>
                <a:latin typeface="Consolas"/>
              </a:rPr>
              <a:t>void</a:t>
            </a:r>
            <a:r>
              <a:rPr lang="en-US" altLang="zh-CN" sz="2400" dirty="0">
                <a:solidFill>
                  <a:prstClr val="black"/>
                </a:solidFill>
                <a:latin typeface="Consolas"/>
              </a:rPr>
              <a:t> </a:t>
            </a:r>
            <a:r>
              <a:rPr lang="en-US" altLang="zh-CN" sz="2400" dirty="0" err="1">
                <a:solidFill>
                  <a:prstClr val="black"/>
                </a:solidFill>
                <a:latin typeface="Consolas"/>
              </a:rPr>
              <a:t>setWeight</a:t>
            </a:r>
            <a:r>
              <a:rPr lang="en-US" altLang="zh-CN" sz="2400" dirty="0">
                <a:solidFill>
                  <a:prstClr val="black"/>
                </a:solidFill>
                <a:latin typeface="Consolas"/>
              </a:rPr>
              <a:t>(</a:t>
            </a:r>
            <a:r>
              <a:rPr lang="en-US" altLang="zh-CN" sz="2400" dirty="0" err="1">
                <a:solidFill>
                  <a:srgbClr val="0000FF"/>
                </a:solidFill>
                <a:latin typeface="Consolas"/>
              </a:rPr>
              <a:t>int</a:t>
            </a:r>
            <a:r>
              <a:rPr lang="en-US" altLang="zh-CN" sz="2400" dirty="0">
                <a:solidFill>
                  <a:prstClr val="black"/>
                </a:solidFill>
                <a:latin typeface="Consolas"/>
              </a:rPr>
              <a:t> w) { weight=w;}</a:t>
            </a:r>
            <a:endParaRPr lang="en-US" altLang="zh-CN" dirty="0">
              <a:solidFill>
                <a:prstClr val="black"/>
              </a:solidFill>
              <a:latin typeface="Consolas"/>
            </a:endParaRPr>
          </a:p>
          <a:p>
            <a:r>
              <a:rPr lang="en-US" altLang="zh-CN" sz="2400" dirty="0">
                <a:solidFill>
                  <a:srgbClr val="0000FF"/>
                </a:solidFill>
                <a:latin typeface="Consolas"/>
              </a:rPr>
              <a:t>private</a:t>
            </a:r>
            <a:r>
              <a:rPr lang="en-US" altLang="zh-CN" sz="2400" dirty="0">
                <a:solidFill>
                  <a:prstClr val="black"/>
                </a:solidFill>
                <a:latin typeface="Consolas"/>
              </a:rPr>
              <a:t>:</a:t>
            </a:r>
          </a:p>
          <a:p>
            <a:r>
              <a:rPr lang="en-US" altLang="zh-CN" sz="2400" dirty="0">
                <a:solidFill>
                  <a:prstClr val="black"/>
                </a:solidFill>
                <a:latin typeface="Consolas"/>
              </a:rPr>
              <a:t>    </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weight,length,width,high</a:t>
            </a:r>
            <a:r>
              <a:rPr lang="en-US" altLang="zh-CN" sz="2400" dirty="0">
                <a:solidFill>
                  <a:prstClr val="black"/>
                </a:solidFill>
                <a:latin typeface="Consolas"/>
              </a:rPr>
              <a:t>;</a:t>
            </a:r>
          </a:p>
          <a:p>
            <a:r>
              <a:rPr lang="en-US" altLang="zh-CN" sz="2400" dirty="0">
                <a:solidFill>
                  <a:prstClr val="black"/>
                </a:solidFill>
                <a:latin typeface="Consolas"/>
              </a:rPr>
              <a:t>};</a:t>
            </a:r>
          </a:p>
          <a:p>
            <a:r>
              <a:rPr lang="en-US" altLang="zh-CN" sz="2400" dirty="0">
                <a:solidFill>
                  <a:prstClr val="black"/>
                </a:solidFill>
                <a:latin typeface="Consolas"/>
              </a:rPr>
              <a:t>Desk::Desk(</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ww,</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l,</a:t>
            </a:r>
            <a:r>
              <a:rPr lang="en-US" altLang="zh-CN" sz="2400" dirty="0" err="1">
                <a:solidFill>
                  <a:srgbClr val="0000FF"/>
                </a:solidFill>
                <a:latin typeface="Consolas"/>
              </a:rPr>
              <a:t>int</a:t>
            </a:r>
            <a:r>
              <a:rPr lang="en-US" altLang="zh-CN" sz="2400" dirty="0">
                <a:solidFill>
                  <a:prstClr val="black"/>
                </a:solidFill>
                <a:latin typeface="Consolas"/>
              </a:rPr>
              <a:t> </a:t>
            </a:r>
            <a:r>
              <a:rPr lang="en-US" altLang="zh-CN" sz="2400" dirty="0" err="1">
                <a:solidFill>
                  <a:prstClr val="black"/>
                </a:solidFill>
                <a:latin typeface="Consolas"/>
              </a:rPr>
              <a:t>w,</a:t>
            </a:r>
            <a:r>
              <a:rPr lang="en-US" altLang="zh-CN" sz="2400" dirty="0" err="1">
                <a:solidFill>
                  <a:srgbClr val="0000FF"/>
                </a:solidFill>
                <a:latin typeface="Consolas"/>
              </a:rPr>
              <a:t>int</a:t>
            </a:r>
            <a:r>
              <a:rPr lang="en-US" altLang="zh-CN" sz="2400" dirty="0">
                <a:solidFill>
                  <a:prstClr val="black"/>
                </a:solidFill>
                <a:latin typeface="Consolas"/>
              </a:rPr>
              <a:t> h) </a:t>
            </a:r>
          </a:p>
          <a:p>
            <a:r>
              <a:rPr lang="en-US" altLang="zh-CN" sz="2400" dirty="0">
                <a:solidFill>
                  <a:prstClr val="black"/>
                </a:solidFill>
                <a:latin typeface="Consolas"/>
              </a:rPr>
              <a:t>{   weight=</a:t>
            </a:r>
            <a:r>
              <a:rPr lang="en-US" altLang="zh-CN" sz="2400" dirty="0" err="1">
                <a:solidFill>
                  <a:prstClr val="black"/>
                </a:solidFill>
                <a:latin typeface="Consolas"/>
              </a:rPr>
              <a:t>ww</a:t>
            </a:r>
            <a:r>
              <a:rPr lang="en-US" altLang="zh-CN" sz="2400" dirty="0">
                <a:solidFill>
                  <a:prstClr val="black"/>
                </a:solidFill>
                <a:latin typeface="Consolas"/>
              </a:rPr>
              <a:t>; </a:t>
            </a:r>
          </a:p>
          <a:p>
            <a:r>
              <a:rPr lang="en-US" altLang="zh-CN" sz="2400" dirty="0">
                <a:solidFill>
                  <a:prstClr val="black"/>
                </a:solidFill>
                <a:latin typeface="Consolas"/>
              </a:rPr>
              <a:t>    high=l;</a:t>
            </a:r>
          </a:p>
          <a:p>
            <a:r>
              <a:rPr lang="en-US" altLang="zh-CN" sz="2400" dirty="0">
                <a:solidFill>
                  <a:prstClr val="black"/>
                </a:solidFill>
                <a:latin typeface="Consolas"/>
              </a:rPr>
              <a:t>    width=w;   </a:t>
            </a:r>
          </a:p>
          <a:p>
            <a:r>
              <a:rPr lang="en-US" altLang="zh-CN" sz="2400" dirty="0">
                <a:solidFill>
                  <a:prstClr val="black"/>
                </a:solidFill>
                <a:latin typeface="Consolas"/>
              </a:rPr>
              <a:t>    length=h;</a:t>
            </a:r>
          </a:p>
          <a:p>
            <a:r>
              <a:rPr lang="en-US" altLang="zh-CN" sz="2400" dirty="0">
                <a:solidFill>
                  <a:prstClr val="black"/>
                </a:solidFill>
                <a:latin typeface="Consolas"/>
              </a:rPr>
              <a:t>    </a:t>
            </a:r>
            <a:r>
              <a:rPr lang="en-US" altLang="zh-CN" sz="2400" dirty="0" err="1">
                <a:solidFill>
                  <a:prstClr val="black"/>
                </a:solidFill>
                <a:latin typeface="Consolas"/>
              </a:rPr>
              <a:t>cout</a:t>
            </a:r>
            <a:r>
              <a:rPr lang="en-US" altLang="zh-CN" sz="2400" dirty="0">
                <a:solidFill>
                  <a:prstClr val="black"/>
                </a:solidFill>
                <a:latin typeface="Consolas"/>
              </a:rPr>
              <a:t>&lt;&lt;</a:t>
            </a:r>
            <a:r>
              <a:rPr lang="en-US" altLang="zh-CN" sz="2400" dirty="0">
                <a:solidFill>
                  <a:srgbClr val="A31515"/>
                </a:solidFill>
                <a:latin typeface="Consolas"/>
              </a:rPr>
              <a:t>"call constructor !"</a:t>
            </a:r>
            <a:r>
              <a:rPr lang="en-US" altLang="zh-CN" sz="2400" dirty="0">
                <a:solidFill>
                  <a:prstClr val="black"/>
                </a:solidFill>
                <a:latin typeface="Consolas"/>
              </a:rPr>
              <a:t>&lt;&lt;</a:t>
            </a:r>
            <a:r>
              <a:rPr lang="en-US" altLang="zh-CN" sz="2400" dirty="0" err="1">
                <a:solidFill>
                  <a:prstClr val="black"/>
                </a:solidFill>
                <a:latin typeface="Consolas"/>
              </a:rPr>
              <a:t>endl</a:t>
            </a:r>
            <a:r>
              <a:rPr lang="en-US" altLang="zh-CN" sz="2400" dirty="0">
                <a:solidFill>
                  <a:prstClr val="black"/>
                </a:solidFill>
                <a:latin typeface="Consolas"/>
              </a:rPr>
              <a:t>;</a:t>
            </a:r>
          </a:p>
          <a:p>
            <a:r>
              <a:rPr lang="en-US" altLang="zh-CN" sz="2400" dirty="0">
                <a:solidFill>
                  <a:prstClr val="black"/>
                </a:solidFill>
                <a:latin typeface="Consolas"/>
              </a:rPr>
              <a:t>}</a:t>
            </a:r>
          </a:p>
          <a:p>
            <a:r>
              <a:rPr lang="en-US" altLang="zh-CN" sz="2400" dirty="0" err="1">
                <a:solidFill>
                  <a:srgbClr val="0000FF"/>
                </a:solidFill>
                <a:latin typeface="Consolas"/>
              </a:rPr>
              <a:t>int</a:t>
            </a:r>
            <a:r>
              <a:rPr lang="en-US" altLang="zh-CN" sz="2400" dirty="0">
                <a:solidFill>
                  <a:prstClr val="black"/>
                </a:solidFill>
                <a:latin typeface="Consolas"/>
              </a:rPr>
              <a:t> main()</a:t>
            </a:r>
          </a:p>
          <a:p>
            <a:pPr>
              <a:lnSpc>
                <a:spcPts val="2000"/>
              </a:lnSpc>
            </a:pPr>
            <a:r>
              <a:rPr lang="en-US" altLang="zh-CN" sz="2400" dirty="0">
                <a:solidFill>
                  <a:prstClr val="black"/>
                </a:solidFill>
                <a:latin typeface="Consolas"/>
              </a:rPr>
              <a:t>{   Desk d1(2,3,4,5);</a:t>
            </a:r>
          </a:p>
          <a:p>
            <a:pPr>
              <a:lnSpc>
                <a:spcPts val="2000"/>
              </a:lnSpc>
            </a:pPr>
            <a:r>
              <a:rPr lang="en-US" altLang="zh-CN" sz="2400" dirty="0">
                <a:solidFill>
                  <a:srgbClr val="0000FF"/>
                </a:solidFill>
                <a:latin typeface="Consolas"/>
              </a:rPr>
              <a:t>    return</a:t>
            </a:r>
            <a:r>
              <a:rPr lang="en-US" altLang="zh-CN" sz="2400" dirty="0">
                <a:solidFill>
                  <a:prstClr val="black"/>
                </a:solidFill>
                <a:latin typeface="Consolas"/>
              </a:rPr>
              <a:t> 0;</a:t>
            </a:r>
            <a:endParaRPr lang="en-US" altLang="zh-CN" sz="2800" dirty="0">
              <a:solidFill>
                <a:prstClr val="black"/>
              </a:solidFill>
              <a:latin typeface="Consolas"/>
            </a:endParaRPr>
          </a:p>
          <a:p>
            <a:pPr>
              <a:lnSpc>
                <a:spcPts val="2000"/>
              </a:lnSpc>
            </a:pPr>
            <a:r>
              <a:rPr lang="en-US" altLang="zh-CN" sz="2400" dirty="0">
                <a:solidFill>
                  <a:prstClr val="black"/>
                </a:solidFill>
                <a:latin typeface="Consolas"/>
              </a:rPr>
              <a:t>}</a:t>
            </a:r>
          </a:p>
        </p:txBody>
      </p:sp>
      <p:sp>
        <p:nvSpPr>
          <p:cNvPr id="4" name="矩形 3"/>
          <p:cNvSpPr/>
          <p:nvPr/>
        </p:nvSpPr>
        <p:spPr>
          <a:xfrm>
            <a:off x="4139952" y="6218148"/>
            <a:ext cx="2842509" cy="523220"/>
          </a:xfrm>
          <a:prstGeom prst="rect">
            <a:avLst/>
          </a:prstGeom>
          <a:solidFill>
            <a:schemeClr val="tx1"/>
          </a:solidFill>
        </p:spPr>
        <p:txBody>
          <a:bodyPr wrap="none">
            <a:spAutoFit/>
          </a:bodyPr>
          <a:lstStyle/>
          <a:p>
            <a:r>
              <a:rPr lang="en-US" altLang="zh-CN" sz="2800" dirty="0">
                <a:solidFill>
                  <a:schemeClr val="bg1"/>
                </a:solidFill>
              </a:rPr>
              <a:t>call constructor  !</a:t>
            </a:r>
            <a:endParaRPr lang="zh-CN" altLang="en-US" sz="2800" dirty="0">
              <a:solidFill>
                <a:schemeClr val="bg1"/>
              </a:solidFill>
            </a:endParaRPr>
          </a:p>
        </p:txBody>
      </p:sp>
      <p:sp>
        <p:nvSpPr>
          <p:cNvPr id="7" name="矩形 6"/>
          <p:cNvSpPr>
            <a:spLocks noChangeArrowheads="1"/>
          </p:cNvSpPr>
          <p:nvPr/>
        </p:nvSpPr>
        <p:spPr bwMode="auto">
          <a:xfrm>
            <a:off x="7476678" y="6351413"/>
            <a:ext cx="1847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zh-CN" altLang="en-US" sz="2400" b="1" dirty="0">
                <a:latin typeface="Times New Roman" pitchFamily="18" charset="0"/>
              </a:rPr>
              <a:t>栈（</a:t>
            </a:r>
            <a:r>
              <a:rPr lang="en-US" altLang="zh-CN" sz="2400" b="1" dirty="0">
                <a:latin typeface="Times New Roman" pitchFamily="18" charset="0"/>
              </a:rPr>
              <a:t>Stack</a:t>
            </a:r>
            <a:r>
              <a:rPr lang="zh-CN" altLang="en-US" sz="2400" b="1" dirty="0">
                <a:latin typeface="Times New Roman" pitchFamily="18" charset="0"/>
              </a:rPr>
              <a:t>）</a:t>
            </a:r>
          </a:p>
        </p:txBody>
      </p:sp>
      <p:sp>
        <p:nvSpPr>
          <p:cNvPr id="23" name="等腰三角形 22"/>
          <p:cNvSpPr/>
          <p:nvPr/>
        </p:nvSpPr>
        <p:spPr bwMode="auto">
          <a:xfrm>
            <a:off x="35878" y="5949280"/>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5" name="组合 44"/>
          <p:cNvGrpSpPr/>
          <p:nvPr/>
        </p:nvGrpSpPr>
        <p:grpSpPr>
          <a:xfrm>
            <a:off x="4975205" y="3501008"/>
            <a:ext cx="2693139" cy="1810652"/>
            <a:chOff x="4975205" y="3501008"/>
            <a:chExt cx="2693139" cy="1810652"/>
          </a:xfrm>
        </p:grpSpPr>
        <p:sp>
          <p:nvSpPr>
            <p:cNvPr id="5" name="矩形 4"/>
            <p:cNvSpPr/>
            <p:nvPr/>
          </p:nvSpPr>
          <p:spPr>
            <a:xfrm>
              <a:off x="5220072" y="3501008"/>
              <a:ext cx="466794" cy="400110"/>
            </a:xfrm>
            <a:prstGeom prst="rect">
              <a:avLst/>
            </a:prstGeom>
          </p:spPr>
          <p:txBody>
            <a:bodyPr wrap="none">
              <a:spAutoFit/>
            </a:bodyPr>
            <a:lstStyle/>
            <a:p>
              <a:r>
                <a:rPr lang="en-US" altLang="zh-CN" sz="2000" dirty="0">
                  <a:solidFill>
                    <a:prstClr val="black"/>
                  </a:solidFill>
                  <a:latin typeface="Consolas"/>
                </a:rPr>
                <a:t>d1</a:t>
              </a:r>
              <a:endParaRPr lang="zh-CN" altLang="en-US" sz="1600" dirty="0"/>
            </a:p>
          </p:txBody>
        </p:sp>
        <p:sp>
          <p:nvSpPr>
            <p:cNvPr id="6" name="矩形 5"/>
            <p:cNvSpPr/>
            <p:nvPr/>
          </p:nvSpPr>
          <p:spPr>
            <a:xfrm>
              <a:off x="6810417" y="3532946"/>
              <a:ext cx="857927" cy="338554"/>
            </a:xfrm>
            <a:prstGeom prst="rect">
              <a:avLst/>
            </a:prstGeom>
          </p:spPr>
          <p:txBody>
            <a:bodyPr wrap="none">
              <a:spAutoFit/>
            </a:bodyPr>
            <a:lstStyle/>
            <a:p>
              <a:r>
                <a:rPr lang="en-US" altLang="zh-CN" sz="1600" dirty="0">
                  <a:solidFill>
                    <a:prstClr val="black"/>
                  </a:solidFill>
                  <a:latin typeface="Consolas"/>
                </a:rPr>
                <a:t>weight</a:t>
              </a:r>
              <a:endParaRPr lang="zh-CN" altLang="en-US" sz="1200" dirty="0"/>
            </a:p>
          </p:txBody>
        </p:sp>
        <p:sp>
          <p:nvSpPr>
            <p:cNvPr id="25" name="矩形 24"/>
            <p:cNvSpPr/>
            <p:nvPr/>
          </p:nvSpPr>
          <p:spPr>
            <a:xfrm>
              <a:off x="6810417" y="4037002"/>
              <a:ext cx="857927" cy="338554"/>
            </a:xfrm>
            <a:prstGeom prst="rect">
              <a:avLst/>
            </a:prstGeom>
          </p:spPr>
          <p:txBody>
            <a:bodyPr wrap="none">
              <a:spAutoFit/>
            </a:bodyPr>
            <a:lstStyle/>
            <a:p>
              <a:r>
                <a:rPr lang="en-US" altLang="zh-CN" sz="1600" dirty="0">
                  <a:solidFill>
                    <a:prstClr val="black"/>
                  </a:solidFill>
                  <a:latin typeface="Consolas"/>
                </a:rPr>
                <a:t>length</a:t>
              </a:r>
              <a:endParaRPr lang="zh-CN" altLang="en-US" sz="1200" dirty="0"/>
            </a:p>
          </p:txBody>
        </p:sp>
        <p:sp>
          <p:nvSpPr>
            <p:cNvPr id="26" name="矩形 25"/>
            <p:cNvSpPr/>
            <p:nvPr/>
          </p:nvSpPr>
          <p:spPr>
            <a:xfrm>
              <a:off x="6850619" y="4541058"/>
              <a:ext cx="745717" cy="338554"/>
            </a:xfrm>
            <a:prstGeom prst="rect">
              <a:avLst/>
            </a:prstGeom>
          </p:spPr>
          <p:txBody>
            <a:bodyPr wrap="none">
              <a:spAutoFit/>
            </a:bodyPr>
            <a:lstStyle/>
            <a:p>
              <a:r>
                <a:rPr lang="en-US" altLang="zh-CN" sz="1600" dirty="0">
                  <a:solidFill>
                    <a:prstClr val="black"/>
                  </a:solidFill>
                  <a:latin typeface="Consolas"/>
                </a:rPr>
                <a:t>width</a:t>
              </a:r>
              <a:endParaRPr lang="zh-CN" altLang="en-US" sz="1200" dirty="0"/>
            </a:p>
          </p:txBody>
        </p:sp>
        <p:sp>
          <p:nvSpPr>
            <p:cNvPr id="27" name="矩形 26"/>
            <p:cNvSpPr/>
            <p:nvPr/>
          </p:nvSpPr>
          <p:spPr>
            <a:xfrm>
              <a:off x="6890821" y="4973106"/>
              <a:ext cx="633507" cy="338554"/>
            </a:xfrm>
            <a:prstGeom prst="rect">
              <a:avLst/>
            </a:prstGeom>
          </p:spPr>
          <p:txBody>
            <a:bodyPr wrap="none">
              <a:spAutoFit/>
            </a:bodyPr>
            <a:lstStyle/>
            <a:p>
              <a:r>
                <a:rPr lang="en-US" altLang="zh-CN" sz="1600" dirty="0">
                  <a:solidFill>
                    <a:prstClr val="black"/>
                  </a:solidFill>
                  <a:latin typeface="Consolas"/>
                </a:rPr>
                <a:t>high</a:t>
              </a:r>
              <a:endParaRPr lang="zh-CN" altLang="en-US" sz="1200" dirty="0"/>
            </a:p>
          </p:txBody>
        </p:sp>
        <p:sp>
          <p:nvSpPr>
            <p:cNvPr id="28" name="矩形 27"/>
            <p:cNvSpPr/>
            <p:nvPr/>
          </p:nvSpPr>
          <p:spPr>
            <a:xfrm>
              <a:off x="4975205" y="4253026"/>
              <a:ext cx="748923" cy="400110"/>
            </a:xfrm>
            <a:prstGeom prst="rect">
              <a:avLst/>
            </a:prstGeom>
            <a:solidFill>
              <a:schemeClr val="accent5">
                <a:lumMod val="20000"/>
                <a:lumOff val="80000"/>
              </a:schemeClr>
            </a:solidFill>
          </p:spPr>
          <p:txBody>
            <a:bodyPr wrap="none">
              <a:spAutoFit/>
            </a:bodyPr>
            <a:lstStyle/>
            <a:p>
              <a:r>
                <a:rPr lang="en-US" altLang="zh-CN" sz="2000" dirty="0">
                  <a:solidFill>
                    <a:prstClr val="black"/>
                  </a:solidFill>
                  <a:latin typeface="Consolas"/>
                </a:rPr>
                <a:t>main</a:t>
              </a:r>
              <a:endParaRPr lang="zh-CN" altLang="en-US" sz="1600" dirty="0"/>
            </a:p>
          </p:txBody>
        </p:sp>
      </p:grpSp>
      <p:grpSp>
        <p:nvGrpSpPr>
          <p:cNvPr id="39939" name="组合 39938"/>
          <p:cNvGrpSpPr/>
          <p:nvPr/>
        </p:nvGrpSpPr>
        <p:grpSpPr>
          <a:xfrm>
            <a:off x="7596336" y="260648"/>
            <a:ext cx="1464668" cy="6022023"/>
            <a:chOff x="7715844" y="260648"/>
            <a:chExt cx="1464668" cy="6022023"/>
          </a:xfrm>
        </p:grpSpPr>
        <p:grpSp>
          <p:nvGrpSpPr>
            <p:cNvPr id="8" name="组合 7"/>
            <p:cNvGrpSpPr>
              <a:grpSpLocks/>
            </p:cNvGrpSpPr>
            <p:nvPr/>
          </p:nvGrpSpPr>
          <p:grpSpPr bwMode="auto">
            <a:xfrm>
              <a:off x="7715844" y="260648"/>
              <a:ext cx="1464668" cy="6022023"/>
              <a:chOff x="7451627" y="881357"/>
              <a:chExt cx="1465362" cy="4360568"/>
            </a:xfrm>
          </p:grpSpPr>
          <p:grpSp>
            <p:nvGrpSpPr>
              <p:cNvPr id="9" name="组合 5"/>
              <p:cNvGrpSpPr>
                <a:grpSpLocks/>
              </p:cNvGrpSpPr>
              <p:nvPr/>
            </p:nvGrpSpPr>
            <p:grpSpPr bwMode="auto">
              <a:xfrm>
                <a:off x="7474856" y="881357"/>
                <a:ext cx="1442133" cy="4360568"/>
                <a:chOff x="6659550" y="881223"/>
                <a:chExt cx="1440842" cy="4360682"/>
              </a:xfrm>
            </p:grpSpPr>
            <p:grpSp>
              <p:nvGrpSpPr>
                <p:cNvPr id="11" name="组合 20"/>
                <p:cNvGrpSpPr>
                  <a:grpSpLocks/>
                </p:cNvGrpSpPr>
                <p:nvPr/>
              </p:nvGrpSpPr>
              <p:grpSpPr bwMode="auto">
                <a:xfrm>
                  <a:off x="6659550" y="1037649"/>
                  <a:ext cx="1440842" cy="4204256"/>
                  <a:chOff x="6659550" y="1037649"/>
                  <a:chExt cx="1440842" cy="4204256"/>
                </a:xfrm>
              </p:grpSpPr>
              <p:cxnSp>
                <p:nvCxnSpPr>
                  <p:cNvPr id="14" name="直接连接符 13"/>
                  <p:cNvCxnSpPr/>
                  <p:nvPr/>
                </p:nvCxnSpPr>
                <p:spPr>
                  <a:xfrm>
                    <a:off x="6659550" y="1037649"/>
                    <a:ext cx="0" cy="4204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100392" y="1037649"/>
                    <a:ext cx="0" cy="4171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659550" y="1715503"/>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59550" y="2341215"/>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659550" y="2654071"/>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659550" y="3279782"/>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659550" y="3957637"/>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659550" y="4596137"/>
                    <a:ext cx="144084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矩形 31"/>
                <p:cNvSpPr>
                  <a:spLocks noChangeArrowheads="1"/>
                </p:cNvSpPr>
                <p:nvPr/>
              </p:nvSpPr>
              <p:spPr bwMode="auto">
                <a:xfrm>
                  <a:off x="7020272" y="470804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en-US" altLang="zh-CN" sz="2400" dirty="0">
                      <a:latin typeface="Times New Roman" pitchFamily="18" charset="0"/>
                    </a:rPr>
                    <a:t>……</a:t>
                  </a:r>
                  <a:endParaRPr lang="zh-CN" altLang="en-US" sz="2400" dirty="0">
                    <a:latin typeface="Times New Roman" pitchFamily="18" charset="0"/>
                  </a:endParaRPr>
                </a:p>
              </p:txBody>
            </p:sp>
            <p:sp>
              <p:nvSpPr>
                <p:cNvPr id="13" name="矩形 32"/>
                <p:cNvSpPr>
                  <a:spLocks noChangeArrowheads="1"/>
                </p:cNvSpPr>
                <p:nvPr/>
              </p:nvSpPr>
              <p:spPr bwMode="auto">
                <a:xfrm>
                  <a:off x="7020272" y="88122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en-US" altLang="zh-CN" sz="2400" dirty="0">
                      <a:latin typeface="Times New Roman" pitchFamily="18" charset="0"/>
                    </a:rPr>
                    <a:t>……</a:t>
                  </a:r>
                  <a:endParaRPr lang="zh-CN" altLang="en-US" sz="2400" dirty="0">
                    <a:latin typeface="Times New Roman" pitchFamily="18" charset="0"/>
                  </a:endParaRPr>
                </a:p>
              </p:txBody>
            </p:sp>
          </p:grpSp>
          <p:cxnSp>
            <p:nvCxnSpPr>
              <p:cNvPr id="10" name="直接连接符 9"/>
              <p:cNvCxnSpPr/>
              <p:nvPr/>
            </p:nvCxnSpPr>
            <p:spPr bwMode="auto">
              <a:xfrm>
                <a:off x="7451627" y="5229225"/>
                <a:ext cx="144213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0" name="直接连接符 29"/>
            <p:cNvCxnSpPr/>
            <p:nvPr/>
          </p:nvCxnSpPr>
          <p:spPr bwMode="auto">
            <a:xfrm>
              <a:off x="7739062" y="4941168"/>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auto">
            <a:xfrm>
              <a:off x="7739062" y="4005064"/>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auto">
            <a:xfrm>
              <a:off x="7739062" y="3140968"/>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auto">
            <a:xfrm>
              <a:off x="7739062" y="1844824"/>
              <a:ext cx="1441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auto">
            <a:xfrm>
              <a:off x="7739062" y="980728"/>
              <a:ext cx="144145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5940175" y="940658"/>
            <a:ext cx="1641862" cy="2168372"/>
            <a:chOff x="5983317" y="940658"/>
            <a:chExt cx="1641862" cy="2168372"/>
          </a:xfrm>
        </p:grpSpPr>
        <p:sp>
          <p:nvSpPr>
            <p:cNvPr id="29" name="矩形 28"/>
            <p:cNvSpPr/>
            <p:nvPr/>
          </p:nvSpPr>
          <p:spPr>
            <a:xfrm>
              <a:off x="5983317" y="1916832"/>
              <a:ext cx="748923" cy="400110"/>
            </a:xfrm>
            <a:prstGeom prst="rect">
              <a:avLst/>
            </a:prstGeom>
            <a:solidFill>
              <a:schemeClr val="accent5">
                <a:lumMod val="20000"/>
                <a:lumOff val="80000"/>
              </a:schemeClr>
            </a:solidFill>
          </p:spPr>
          <p:txBody>
            <a:bodyPr wrap="none">
              <a:spAutoFit/>
            </a:bodyPr>
            <a:lstStyle/>
            <a:p>
              <a:r>
                <a:rPr lang="en-US" altLang="zh-CN" sz="2000" dirty="0">
                  <a:solidFill>
                    <a:prstClr val="black"/>
                  </a:solidFill>
                  <a:latin typeface="Consolas"/>
                </a:rPr>
                <a:t>Desk</a:t>
              </a:r>
              <a:endParaRPr lang="zh-CN" altLang="en-US" sz="1600" dirty="0"/>
            </a:p>
          </p:txBody>
        </p:sp>
        <p:sp>
          <p:nvSpPr>
            <p:cNvPr id="36" name="矩形 35"/>
            <p:cNvSpPr/>
            <p:nvPr/>
          </p:nvSpPr>
          <p:spPr>
            <a:xfrm>
              <a:off x="7057534" y="1372706"/>
              <a:ext cx="466794" cy="400110"/>
            </a:xfrm>
            <a:prstGeom prst="rect">
              <a:avLst/>
            </a:prstGeom>
          </p:spPr>
          <p:txBody>
            <a:bodyPr wrap="none">
              <a:spAutoFit/>
            </a:bodyPr>
            <a:lstStyle/>
            <a:p>
              <a:r>
                <a:rPr lang="en-US" altLang="zh-CN" sz="2000" dirty="0" err="1">
                  <a:solidFill>
                    <a:prstClr val="black"/>
                  </a:solidFill>
                  <a:latin typeface="Consolas"/>
                </a:rPr>
                <a:t>ww</a:t>
              </a:r>
              <a:endParaRPr lang="zh-CN" altLang="en-US" sz="1600" dirty="0"/>
            </a:p>
          </p:txBody>
        </p:sp>
        <p:sp>
          <p:nvSpPr>
            <p:cNvPr id="37" name="矩形 36"/>
            <p:cNvSpPr/>
            <p:nvPr/>
          </p:nvSpPr>
          <p:spPr>
            <a:xfrm>
              <a:off x="7037574" y="1876762"/>
              <a:ext cx="325730" cy="400110"/>
            </a:xfrm>
            <a:prstGeom prst="rect">
              <a:avLst/>
            </a:prstGeom>
          </p:spPr>
          <p:txBody>
            <a:bodyPr wrap="none">
              <a:spAutoFit/>
            </a:bodyPr>
            <a:lstStyle/>
            <a:p>
              <a:r>
                <a:rPr lang="en-US" altLang="zh-CN" sz="2000" dirty="0">
                  <a:solidFill>
                    <a:prstClr val="black"/>
                  </a:solidFill>
                  <a:latin typeface="Consolas"/>
                </a:rPr>
                <a:t>l</a:t>
              </a:r>
              <a:endParaRPr lang="zh-CN" altLang="en-US" sz="1600" dirty="0"/>
            </a:p>
          </p:txBody>
        </p:sp>
        <p:sp>
          <p:nvSpPr>
            <p:cNvPr id="38" name="矩形 37"/>
            <p:cNvSpPr/>
            <p:nvPr/>
          </p:nvSpPr>
          <p:spPr>
            <a:xfrm>
              <a:off x="7037574" y="2348880"/>
              <a:ext cx="325730" cy="400110"/>
            </a:xfrm>
            <a:prstGeom prst="rect">
              <a:avLst/>
            </a:prstGeom>
          </p:spPr>
          <p:txBody>
            <a:bodyPr wrap="none">
              <a:spAutoFit/>
            </a:bodyPr>
            <a:lstStyle/>
            <a:p>
              <a:r>
                <a:rPr lang="en-US" altLang="zh-CN" sz="2000" dirty="0">
                  <a:solidFill>
                    <a:prstClr val="black"/>
                  </a:solidFill>
                  <a:latin typeface="Consolas"/>
                </a:rPr>
                <a:t>w</a:t>
              </a:r>
              <a:endParaRPr lang="zh-CN" altLang="en-US" sz="1600" dirty="0"/>
            </a:p>
          </p:txBody>
        </p:sp>
        <p:sp>
          <p:nvSpPr>
            <p:cNvPr id="39" name="矩形 38"/>
            <p:cNvSpPr/>
            <p:nvPr/>
          </p:nvSpPr>
          <p:spPr>
            <a:xfrm>
              <a:off x="7054582" y="2708920"/>
              <a:ext cx="325730" cy="400110"/>
            </a:xfrm>
            <a:prstGeom prst="rect">
              <a:avLst/>
            </a:prstGeom>
          </p:spPr>
          <p:txBody>
            <a:bodyPr wrap="none">
              <a:spAutoFit/>
            </a:bodyPr>
            <a:lstStyle/>
            <a:p>
              <a:r>
                <a:rPr lang="en-US" altLang="zh-CN" sz="2000" dirty="0">
                  <a:solidFill>
                    <a:prstClr val="black"/>
                  </a:solidFill>
                  <a:latin typeface="Consolas"/>
                </a:rPr>
                <a:t>h</a:t>
              </a:r>
              <a:endParaRPr lang="zh-CN" altLang="en-US" sz="1600" dirty="0"/>
            </a:p>
          </p:txBody>
        </p:sp>
        <p:sp>
          <p:nvSpPr>
            <p:cNvPr id="47" name="矩形 46"/>
            <p:cNvSpPr/>
            <p:nvPr/>
          </p:nvSpPr>
          <p:spPr>
            <a:xfrm>
              <a:off x="6876256" y="940658"/>
              <a:ext cx="748923" cy="400110"/>
            </a:xfrm>
            <a:prstGeom prst="rect">
              <a:avLst/>
            </a:prstGeom>
          </p:spPr>
          <p:txBody>
            <a:bodyPr wrap="none">
              <a:spAutoFit/>
            </a:bodyPr>
            <a:lstStyle/>
            <a:p>
              <a:r>
                <a:rPr lang="en-US" altLang="zh-CN" sz="2000" dirty="0">
                  <a:solidFill>
                    <a:prstClr val="black"/>
                  </a:solidFill>
                  <a:latin typeface="Consolas"/>
                </a:rPr>
                <a:t>this</a:t>
              </a:r>
              <a:endParaRPr lang="zh-CN" altLang="en-US" sz="1600" dirty="0"/>
            </a:p>
          </p:txBody>
        </p:sp>
      </p:grpSp>
      <p:sp>
        <p:nvSpPr>
          <p:cNvPr id="44" name="矩形 43"/>
          <p:cNvSpPr/>
          <p:nvPr/>
        </p:nvSpPr>
        <p:spPr>
          <a:xfrm>
            <a:off x="5652120" y="3522494"/>
            <a:ext cx="973600" cy="307777"/>
          </a:xfrm>
          <a:prstGeom prst="rect">
            <a:avLst/>
          </a:prstGeom>
          <a:solidFill>
            <a:schemeClr val="accent5">
              <a:lumMod val="20000"/>
              <a:lumOff val="80000"/>
            </a:schemeClr>
          </a:solidFill>
        </p:spPr>
        <p:txBody>
          <a:bodyPr wrap="none">
            <a:spAutoFit/>
          </a:bodyPr>
          <a:lstStyle/>
          <a:p>
            <a:r>
              <a:rPr lang="en-US" altLang="zh-CN" sz="1400" dirty="0"/>
              <a:t>0036F8FC</a:t>
            </a:r>
            <a:endParaRPr lang="zh-CN" altLang="en-US" sz="1400" dirty="0"/>
          </a:p>
        </p:txBody>
      </p:sp>
      <p:grpSp>
        <p:nvGrpSpPr>
          <p:cNvPr id="39936" name="组合 39935"/>
          <p:cNvGrpSpPr/>
          <p:nvPr/>
        </p:nvGrpSpPr>
        <p:grpSpPr>
          <a:xfrm>
            <a:off x="7774864" y="1032991"/>
            <a:ext cx="973600" cy="2116109"/>
            <a:chOff x="7774864" y="1032991"/>
            <a:chExt cx="973600" cy="2116109"/>
          </a:xfrm>
        </p:grpSpPr>
        <p:sp>
          <p:nvSpPr>
            <p:cNvPr id="40" name="矩形 39"/>
            <p:cNvSpPr/>
            <p:nvPr/>
          </p:nvSpPr>
          <p:spPr>
            <a:xfrm>
              <a:off x="8065646" y="1412776"/>
              <a:ext cx="325730" cy="400110"/>
            </a:xfrm>
            <a:prstGeom prst="rect">
              <a:avLst/>
            </a:prstGeom>
          </p:spPr>
          <p:txBody>
            <a:bodyPr wrap="none">
              <a:spAutoFit/>
            </a:bodyPr>
            <a:lstStyle/>
            <a:p>
              <a:r>
                <a:rPr lang="en-US" altLang="zh-CN" sz="2000" dirty="0">
                  <a:solidFill>
                    <a:prstClr val="black"/>
                  </a:solidFill>
                  <a:latin typeface="Consolas"/>
                </a:rPr>
                <a:t>2</a:t>
              </a:r>
              <a:endParaRPr lang="zh-CN" altLang="en-US" sz="1600" dirty="0"/>
            </a:p>
          </p:txBody>
        </p:sp>
        <p:sp>
          <p:nvSpPr>
            <p:cNvPr id="41" name="矩形 40"/>
            <p:cNvSpPr/>
            <p:nvPr/>
          </p:nvSpPr>
          <p:spPr>
            <a:xfrm>
              <a:off x="8045686" y="1916832"/>
              <a:ext cx="325730" cy="400110"/>
            </a:xfrm>
            <a:prstGeom prst="rect">
              <a:avLst/>
            </a:prstGeom>
          </p:spPr>
          <p:txBody>
            <a:bodyPr wrap="none">
              <a:spAutoFit/>
            </a:bodyPr>
            <a:lstStyle/>
            <a:p>
              <a:r>
                <a:rPr lang="en-US" altLang="zh-CN" sz="2000" dirty="0">
                  <a:solidFill>
                    <a:prstClr val="black"/>
                  </a:solidFill>
                  <a:latin typeface="Consolas"/>
                </a:rPr>
                <a:t>3</a:t>
              </a:r>
              <a:endParaRPr lang="zh-CN" altLang="en-US" sz="1600" dirty="0"/>
            </a:p>
          </p:txBody>
        </p:sp>
        <p:sp>
          <p:nvSpPr>
            <p:cNvPr id="42" name="矩形 41"/>
            <p:cNvSpPr/>
            <p:nvPr/>
          </p:nvSpPr>
          <p:spPr>
            <a:xfrm>
              <a:off x="8045686" y="2388950"/>
              <a:ext cx="298480" cy="338554"/>
            </a:xfrm>
            <a:prstGeom prst="rect">
              <a:avLst/>
            </a:prstGeom>
          </p:spPr>
          <p:txBody>
            <a:bodyPr wrap="none">
              <a:spAutoFit/>
            </a:bodyPr>
            <a:lstStyle/>
            <a:p>
              <a:r>
                <a:rPr lang="en-US" altLang="zh-CN" sz="1600" dirty="0"/>
                <a:t>4</a:t>
              </a:r>
              <a:endParaRPr lang="zh-CN" altLang="en-US" sz="1600" dirty="0"/>
            </a:p>
          </p:txBody>
        </p:sp>
        <p:sp>
          <p:nvSpPr>
            <p:cNvPr id="43" name="矩形 42"/>
            <p:cNvSpPr/>
            <p:nvPr/>
          </p:nvSpPr>
          <p:spPr>
            <a:xfrm>
              <a:off x="8062694" y="2748990"/>
              <a:ext cx="325730" cy="400110"/>
            </a:xfrm>
            <a:prstGeom prst="rect">
              <a:avLst/>
            </a:prstGeom>
          </p:spPr>
          <p:txBody>
            <a:bodyPr wrap="none">
              <a:spAutoFit/>
            </a:bodyPr>
            <a:lstStyle/>
            <a:p>
              <a:r>
                <a:rPr lang="en-US" altLang="zh-CN" sz="2000" dirty="0">
                  <a:solidFill>
                    <a:prstClr val="black"/>
                  </a:solidFill>
                  <a:latin typeface="Consolas"/>
                </a:rPr>
                <a:t>5</a:t>
              </a:r>
              <a:endParaRPr lang="zh-CN" altLang="en-US" sz="1600" dirty="0"/>
            </a:p>
          </p:txBody>
        </p:sp>
        <p:sp>
          <p:nvSpPr>
            <p:cNvPr id="50" name="矩形 49"/>
            <p:cNvSpPr/>
            <p:nvPr/>
          </p:nvSpPr>
          <p:spPr>
            <a:xfrm>
              <a:off x="7774864" y="1032991"/>
              <a:ext cx="973600" cy="307777"/>
            </a:xfrm>
            <a:prstGeom prst="rect">
              <a:avLst/>
            </a:prstGeom>
          </p:spPr>
          <p:txBody>
            <a:bodyPr wrap="none">
              <a:spAutoFit/>
            </a:bodyPr>
            <a:lstStyle/>
            <a:p>
              <a:r>
                <a:rPr lang="en-US" altLang="zh-CN" sz="1400" dirty="0"/>
                <a:t>0036F8FC</a:t>
              </a:r>
              <a:endParaRPr lang="zh-CN" altLang="en-US" sz="1400" dirty="0"/>
            </a:p>
          </p:txBody>
        </p:sp>
      </p:grpSp>
      <p:sp>
        <p:nvSpPr>
          <p:cNvPr id="51" name="矩形 50"/>
          <p:cNvSpPr/>
          <p:nvPr/>
        </p:nvSpPr>
        <p:spPr>
          <a:xfrm>
            <a:off x="8048344" y="3564884"/>
            <a:ext cx="325730" cy="400110"/>
          </a:xfrm>
          <a:prstGeom prst="rect">
            <a:avLst/>
          </a:prstGeom>
        </p:spPr>
        <p:txBody>
          <a:bodyPr wrap="none">
            <a:spAutoFit/>
          </a:bodyPr>
          <a:lstStyle/>
          <a:p>
            <a:r>
              <a:rPr lang="en-US" altLang="zh-CN" sz="2000" dirty="0">
                <a:solidFill>
                  <a:prstClr val="black"/>
                </a:solidFill>
                <a:latin typeface="Consolas"/>
              </a:rPr>
              <a:t>2</a:t>
            </a:r>
            <a:endParaRPr lang="zh-CN" altLang="en-US" sz="1600" dirty="0"/>
          </a:p>
        </p:txBody>
      </p:sp>
      <p:sp>
        <p:nvSpPr>
          <p:cNvPr id="52" name="矩形 51"/>
          <p:cNvSpPr/>
          <p:nvPr/>
        </p:nvSpPr>
        <p:spPr>
          <a:xfrm>
            <a:off x="8028384" y="4973106"/>
            <a:ext cx="325730" cy="400110"/>
          </a:xfrm>
          <a:prstGeom prst="rect">
            <a:avLst/>
          </a:prstGeom>
        </p:spPr>
        <p:txBody>
          <a:bodyPr wrap="none">
            <a:spAutoFit/>
          </a:bodyPr>
          <a:lstStyle/>
          <a:p>
            <a:r>
              <a:rPr lang="en-US" altLang="zh-CN" sz="2000" dirty="0">
                <a:solidFill>
                  <a:prstClr val="black"/>
                </a:solidFill>
                <a:latin typeface="Consolas"/>
              </a:rPr>
              <a:t>3</a:t>
            </a:r>
            <a:endParaRPr lang="zh-CN" altLang="en-US" sz="1600" dirty="0"/>
          </a:p>
        </p:txBody>
      </p:sp>
      <p:sp>
        <p:nvSpPr>
          <p:cNvPr id="53" name="矩形 52"/>
          <p:cNvSpPr/>
          <p:nvPr/>
        </p:nvSpPr>
        <p:spPr>
          <a:xfrm>
            <a:off x="8028384" y="4541058"/>
            <a:ext cx="325730" cy="400110"/>
          </a:xfrm>
          <a:prstGeom prst="rect">
            <a:avLst/>
          </a:prstGeom>
        </p:spPr>
        <p:txBody>
          <a:bodyPr wrap="none">
            <a:spAutoFit/>
          </a:bodyPr>
          <a:lstStyle/>
          <a:p>
            <a:r>
              <a:rPr lang="en-US" altLang="zh-CN" sz="2000" dirty="0">
                <a:solidFill>
                  <a:prstClr val="black"/>
                </a:solidFill>
                <a:latin typeface="Consolas"/>
              </a:rPr>
              <a:t>4</a:t>
            </a:r>
            <a:endParaRPr lang="zh-CN" altLang="en-US" sz="1600" dirty="0"/>
          </a:p>
        </p:txBody>
      </p:sp>
      <p:sp>
        <p:nvSpPr>
          <p:cNvPr id="54" name="矩形 53"/>
          <p:cNvSpPr/>
          <p:nvPr/>
        </p:nvSpPr>
        <p:spPr>
          <a:xfrm>
            <a:off x="8028384" y="4077072"/>
            <a:ext cx="325730" cy="400110"/>
          </a:xfrm>
          <a:prstGeom prst="rect">
            <a:avLst/>
          </a:prstGeom>
        </p:spPr>
        <p:txBody>
          <a:bodyPr wrap="none">
            <a:spAutoFit/>
          </a:bodyPr>
          <a:lstStyle/>
          <a:p>
            <a:r>
              <a:rPr lang="en-US" altLang="zh-CN" sz="2000" dirty="0">
                <a:solidFill>
                  <a:prstClr val="black"/>
                </a:solidFill>
                <a:latin typeface="Consolas"/>
              </a:rPr>
              <a:t>5</a:t>
            </a:r>
            <a:endParaRPr lang="zh-CN" altLang="en-US" sz="1600" dirty="0"/>
          </a:p>
        </p:txBody>
      </p:sp>
      <p:grpSp>
        <p:nvGrpSpPr>
          <p:cNvPr id="55" name="组合 54"/>
          <p:cNvGrpSpPr>
            <a:grpSpLocks/>
          </p:cNvGrpSpPr>
          <p:nvPr/>
        </p:nvGrpSpPr>
        <p:grpSpPr bwMode="auto">
          <a:xfrm>
            <a:off x="124" y="3140967"/>
            <a:ext cx="179388" cy="2989289"/>
            <a:chOff x="581268" y="5265390"/>
            <a:chExt cx="180020" cy="2980532"/>
          </a:xfrm>
        </p:grpSpPr>
        <p:sp>
          <p:nvSpPr>
            <p:cNvPr id="56" name="等腰三角形 55"/>
            <p:cNvSpPr/>
            <p:nvPr/>
          </p:nvSpPr>
          <p:spPr>
            <a:xfrm>
              <a:off x="616765" y="5265390"/>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矩形 56"/>
            <p:cNvSpPr/>
            <p:nvPr/>
          </p:nvSpPr>
          <p:spPr>
            <a:xfrm>
              <a:off x="581268" y="8065476"/>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58" name="组合 57"/>
          <p:cNvGrpSpPr>
            <a:grpSpLocks/>
          </p:cNvGrpSpPr>
          <p:nvPr/>
        </p:nvGrpSpPr>
        <p:grpSpPr bwMode="auto">
          <a:xfrm>
            <a:off x="123" y="3104015"/>
            <a:ext cx="179388" cy="469230"/>
            <a:chOff x="-684584" y="5300908"/>
            <a:chExt cx="180020" cy="467858"/>
          </a:xfrm>
        </p:grpSpPr>
        <p:sp>
          <p:nvSpPr>
            <p:cNvPr id="59" name="等腰三角形 58"/>
            <p:cNvSpPr/>
            <p:nvPr/>
          </p:nvSpPr>
          <p:spPr>
            <a:xfrm>
              <a:off x="-648580" y="5696758"/>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0" name="矩形 59"/>
            <p:cNvSpPr/>
            <p:nvPr/>
          </p:nvSpPr>
          <p:spPr>
            <a:xfrm>
              <a:off x="-684584" y="5300908"/>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1" name="组合 60"/>
          <p:cNvGrpSpPr>
            <a:grpSpLocks/>
          </p:cNvGrpSpPr>
          <p:nvPr/>
        </p:nvGrpSpPr>
        <p:grpSpPr bwMode="auto">
          <a:xfrm>
            <a:off x="124" y="3464054"/>
            <a:ext cx="179387" cy="471223"/>
            <a:chOff x="-684463" y="5479129"/>
            <a:chExt cx="180020" cy="469846"/>
          </a:xfrm>
        </p:grpSpPr>
        <p:sp>
          <p:nvSpPr>
            <p:cNvPr id="62" name="等腰三角形 61"/>
            <p:cNvSpPr/>
            <p:nvPr/>
          </p:nvSpPr>
          <p:spPr>
            <a:xfrm>
              <a:off x="-648580" y="5876967"/>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矩形 62"/>
            <p:cNvSpPr/>
            <p:nvPr/>
          </p:nvSpPr>
          <p:spPr>
            <a:xfrm>
              <a:off x="-684463" y="5479129"/>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4" name="组合 63"/>
          <p:cNvGrpSpPr>
            <a:grpSpLocks/>
          </p:cNvGrpSpPr>
          <p:nvPr/>
        </p:nvGrpSpPr>
        <p:grpSpPr bwMode="auto">
          <a:xfrm>
            <a:off x="124" y="3824095"/>
            <a:ext cx="179387" cy="469003"/>
            <a:chOff x="-684463" y="5481344"/>
            <a:chExt cx="180020" cy="467631"/>
          </a:xfrm>
        </p:grpSpPr>
        <p:sp>
          <p:nvSpPr>
            <p:cNvPr id="65" name="等腰三角形 64"/>
            <p:cNvSpPr/>
            <p:nvPr/>
          </p:nvSpPr>
          <p:spPr>
            <a:xfrm>
              <a:off x="-648580" y="5876967"/>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6" name="矩形 65"/>
            <p:cNvSpPr/>
            <p:nvPr/>
          </p:nvSpPr>
          <p:spPr>
            <a:xfrm>
              <a:off x="-684463" y="5481344"/>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7" name="组合 66"/>
          <p:cNvGrpSpPr>
            <a:grpSpLocks/>
          </p:cNvGrpSpPr>
          <p:nvPr/>
        </p:nvGrpSpPr>
        <p:grpSpPr bwMode="auto">
          <a:xfrm>
            <a:off x="123" y="4149090"/>
            <a:ext cx="179388" cy="576059"/>
            <a:chOff x="-684584" y="5446397"/>
            <a:chExt cx="180020" cy="574374"/>
          </a:xfrm>
        </p:grpSpPr>
        <p:sp>
          <p:nvSpPr>
            <p:cNvPr id="68" name="等腰三角形 67"/>
            <p:cNvSpPr/>
            <p:nvPr/>
          </p:nvSpPr>
          <p:spPr>
            <a:xfrm>
              <a:off x="-648580" y="5948763"/>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9" name="矩形 68"/>
            <p:cNvSpPr/>
            <p:nvPr/>
          </p:nvSpPr>
          <p:spPr>
            <a:xfrm>
              <a:off x="-684584" y="5446397"/>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70" name="组合 69"/>
          <p:cNvGrpSpPr>
            <a:grpSpLocks/>
          </p:cNvGrpSpPr>
          <p:nvPr/>
        </p:nvGrpSpPr>
        <p:grpSpPr bwMode="auto">
          <a:xfrm>
            <a:off x="123" y="4616171"/>
            <a:ext cx="179388" cy="469223"/>
            <a:chOff x="-684584" y="5409531"/>
            <a:chExt cx="180020" cy="467851"/>
          </a:xfrm>
        </p:grpSpPr>
        <p:sp>
          <p:nvSpPr>
            <p:cNvPr id="71" name="等腰三角形 70"/>
            <p:cNvSpPr/>
            <p:nvPr/>
          </p:nvSpPr>
          <p:spPr>
            <a:xfrm>
              <a:off x="-648580" y="5805374"/>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2" name="矩形 71"/>
            <p:cNvSpPr/>
            <p:nvPr/>
          </p:nvSpPr>
          <p:spPr>
            <a:xfrm>
              <a:off x="-684584" y="5409531"/>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73" name="组合 72"/>
          <p:cNvGrpSpPr>
            <a:grpSpLocks/>
          </p:cNvGrpSpPr>
          <p:nvPr/>
        </p:nvGrpSpPr>
        <p:grpSpPr bwMode="auto">
          <a:xfrm>
            <a:off x="125" y="4941173"/>
            <a:ext cx="179387" cy="504262"/>
            <a:chOff x="-395413" y="5302794"/>
            <a:chExt cx="180020" cy="502787"/>
          </a:xfrm>
        </p:grpSpPr>
        <p:sp>
          <p:nvSpPr>
            <p:cNvPr id="74" name="等腰三角形 73"/>
            <p:cNvSpPr/>
            <p:nvPr/>
          </p:nvSpPr>
          <p:spPr>
            <a:xfrm>
              <a:off x="-359409" y="5733573"/>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5" name="矩形 74"/>
            <p:cNvSpPr/>
            <p:nvPr/>
          </p:nvSpPr>
          <p:spPr>
            <a:xfrm>
              <a:off x="-395413" y="5302794"/>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9941" name="组合 39940"/>
          <p:cNvGrpSpPr/>
          <p:nvPr/>
        </p:nvGrpSpPr>
        <p:grpSpPr>
          <a:xfrm>
            <a:off x="-36512" y="932526"/>
            <a:ext cx="8709599" cy="5377009"/>
            <a:chOff x="125" y="932526"/>
            <a:chExt cx="8709599" cy="5377009"/>
          </a:xfrm>
        </p:grpSpPr>
        <p:grpSp>
          <p:nvGrpSpPr>
            <p:cNvPr id="79" name="组合 78"/>
            <p:cNvGrpSpPr>
              <a:grpSpLocks/>
            </p:cNvGrpSpPr>
            <p:nvPr/>
          </p:nvGrpSpPr>
          <p:grpSpPr bwMode="auto">
            <a:xfrm>
              <a:off x="125" y="5301209"/>
              <a:ext cx="179387" cy="1008326"/>
              <a:chOff x="688902" y="4800200"/>
              <a:chExt cx="180020" cy="1005374"/>
            </a:xfrm>
          </p:grpSpPr>
          <p:sp>
            <p:nvSpPr>
              <p:cNvPr id="80" name="等腰三角形 79"/>
              <p:cNvSpPr/>
              <p:nvPr/>
            </p:nvSpPr>
            <p:spPr>
              <a:xfrm>
                <a:off x="724906" y="5733566"/>
                <a:ext cx="144016" cy="72008"/>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1" name="矩形 80"/>
              <p:cNvSpPr/>
              <p:nvPr/>
            </p:nvSpPr>
            <p:spPr>
              <a:xfrm>
                <a:off x="688902" y="4800200"/>
                <a:ext cx="180020" cy="1804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9937" name="组合 39936"/>
            <p:cNvGrpSpPr/>
            <p:nvPr/>
          </p:nvGrpSpPr>
          <p:grpSpPr>
            <a:xfrm>
              <a:off x="5976789" y="932526"/>
              <a:ext cx="2732935" cy="2208442"/>
              <a:chOff x="9548346" y="932526"/>
              <a:chExt cx="2732935" cy="2208442"/>
            </a:xfrm>
          </p:grpSpPr>
          <p:grpSp>
            <p:nvGrpSpPr>
              <p:cNvPr id="87" name="组合 86"/>
              <p:cNvGrpSpPr/>
              <p:nvPr/>
            </p:nvGrpSpPr>
            <p:grpSpPr>
              <a:xfrm>
                <a:off x="9548346" y="932526"/>
                <a:ext cx="1576382" cy="2106816"/>
                <a:chOff x="5947946" y="940658"/>
                <a:chExt cx="1576382" cy="2106816"/>
              </a:xfrm>
            </p:grpSpPr>
            <p:sp>
              <p:nvSpPr>
                <p:cNvPr id="88" name="矩形 87"/>
                <p:cNvSpPr/>
                <p:nvPr/>
              </p:nvSpPr>
              <p:spPr>
                <a:xfrm>
                  <a:off x="5947946" y="1924964"/>
                  <a:ext cx="748923" cy="432000"/>
                </a:xfrm>
                <a:prstGeom prst="rect">
                  <a:avLst/>
                </a:prstGeom>
                <a:solidFill>
                  <a:schemeClr val="bg1"/>
                </a:solidFill>
              </p:spPr>
              <p:txBody>
                <a:bodyPr wrap="none">
                  <a:spAutoFit/>
                </a:bodyPr>
                <a:lstStyle/>
                <a:p>
                  <a:r>
                    <a:rPr lang="en-US" altLang="zh-CN" sz="2000" dirty="0">
                      <a:solidFill>
                        <a:prstClr val="black"/>
                      </a:solidFill>
                      <a:latin typeface="Consolas"/>
                    </a:rPr>
                    <a:t>    </a:t>
                  </a:r>
                  <a:endParaRPr lang="zh-CN" altLang="en-US" sz="1600" dirty="0"/>
                </a:p>
              </p:txBody>
            </p:sp>
            <p:sp useBgFill="1">
              <p:nvSpPr>
                <p:cNvPr id="89" name="矩形 88"/>
                <p:cNvSpPr/>
                <p:nvPr/>
              </p:nvSpPr>
              <p:spPr>
                <a:xfrm>
                  <a:off x="7057534" y="1372706"/>
                  <a:ext cx="466794"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0" name="矩形 89"/>
                <p:cNvSpPr/>
                <p:nvPr/>
              </p:nvSpPr>
              <p:spPr>
                <a:xfrm>
                  <a:off x="7037574" y="1876762"/>
                  <a:ext cx="229550" cy="338554"/>
                </a:xfrm>
                <a:prstGeom prst="rect">
                  <a:avLst/>
                </a:prstGeom>
              </p:spPr>
              <p:txBody>
                <a:bodyPr wrap="none">
                  <a:spAutoFit/>
                </a:bodyPr>
                <a:lstStyle/>
                <a:p>
                  <a:r>
                    <a:rPr lang="en-US" altLang="zh-CN" sz="1600" dirty="0"/>
                    <a:t> </a:t>
                  </a:r>
                  <a:endParaRPr lang="zh-CN" altLang="en-US" sz="1600" dirty="0"/>
                </a:p>
              </p:txBody>
            </p:sp>
            <p:sp useBgFill="1">
              <p:nvSpPr>
                <p:cNvPr id="91" name="矩形 90"/>
                <p:cNvSpPr/>
                <p:nvPr/>
              </p:nvSpPr>
              <p:spPr>
                <a:xfrm>
                  <a:off x="7037574" y="2348880"/>
                  <a:ext cx="325730"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2" name="矩形 91"/>
                <p:cNvSpPr/>
                <p:nvPr/>
              </p:nvSpPr>
              <p:spPr>
                <a:xfrm>
                  <a:off x="7054582" y="2708920"/>
                  <a:ext cx="229550" cy="338554"/>
                </a:xfrm>
                <a:prstGeom prst="rect">
                  <a:avLst/>
                </a:prstGeom>
              </p:spPr>
              <p:txBody>
                <a:bodyPr wrap="none">
                  <a:spAutoFit/>
                </a:bodyPr>
                <a:lstStyle/>
                <a:p>
                  <a:r>
                    <a:rPr lang="en-US" altLang="zh-CN" sz="1600" dirty="0"/>
                    <a:t> </a:t>
                  </a:r>
                  <a:endParaRPr lang="zh-CN" altLang="en-US" sz="1600" dirty="0"/>
                </a:p>
              </p:txBody>
            </p:sp>
            <p:sp useBgFill="1">
              <p:nvSpPr>
                <p:cNvPr id="93" name="矩形 92"/>
                <p:cNvSpPr/>
                <p:nvPr/>
              </p:nvSpPr>
              <p:spPr>
                <a:xfrm>
                  <a:off x="6876255" y="940658"/>
                  <a:ext cx="576000" cy="338554"/>
                </a:xfrm>
                <a:prstGeom prst="rect">
                  <a:avLst/>
                </a:prstGeom>
              </p:spPr>
              <p:txBody>
                <a:bodyPr wrap="none">
                  <a:spAutoFit/>
                </a:bodyPr>
                <a:lstStyle/>
                <a:p>
                  <a:r>
                    <a:rPr lang="en-US" altLang="zh-CN" sz="1600" dirty="0"/>
                    <a:t>        </a:t>
                  </a:r>
                  <a:endParaRPr lang="zh-CN" altLang="en-US" sz="1600" dirty="0"/>
                </a:p>
              </p:txBody>
            </p:sp>
          </p:grpSp>
          <p:grpSp>
            <p:nvGrpSpPr>
              <p:cNvPr id="94" name="组合 93"/>
              <p:cNvGrpSpPr/>
              <p:nvPr/>
            </p:nvGrpSpPr>
            <p:grpSpPr>
              <a:xfrm>
                <a:off x="11375264" y="1024859"/>
                <a:ext cx="906017" cy="2116109"/>
                <a:chOff x="7774864" y="1032991"/>
                <a:chExt cx="906017" cy="2116109"/>
              </a:xfrm>
            </p:grpSpPr>
            <p:sp useBgFill="1">
              <p:nvSpPr>
                <p:cNvPr id="95" name="矩形 94"/>
                <p:cNvSpPr/>
                <p:nvPr/>
              </p:nvSpPr>
              <p:spPr>
                <a:xfrm>
                  <a:off x="8065646" y="1492948"/>
                  <a:ext cx="325730" cy="28800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6" name="矩形 95"/>
                <p:cNvSpPr/>
                <p:nvPr/>
              </p:nvSpPr>
              <p:spPr>
                <a:xfrm>
                  <a:off x="8045686" y="1916832"/>
                  <a:ext cx="325730" cy="32400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7" name="矩形 96"/>
                <p:cNvSpPr/>
                <p:nvPr/>
              </p:nvSpPr>
              <p:spPr>
                <a:xfrm>
                  <a:off x="8045686" y="2388950"/>
                  <a:ext cx="325730" cy="32400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8" name="矩形 97"/>
                <p:cNvSpPr/>
                <p:nvPr/>
              </p:nvSpPr>
              <p:spPr>
                <a:xfrm>
                  <a:off x="8062694" y="2748990"/>
                  <a:ext cx="325730"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99" name="矩形 98"/>
                <p:cNvSpPr/>
                <p:nvPr/>
              </p:nvSpPr>
              <p:spPr>
                <a:xfrm>
                  <a:off x="7774864" y="1032991"/>
                  <a:ext cx="906017" cy="307777"/>
                </a:xfrm>
                <a:prstGeom prst="rect">
                  <a:avLst/>
                </a:prstGeom>
              </p:spPr>
              <p:txBody>
                <a:bodyPr wrap="none">
                  <a:spAutoFit/>
                </a:bodyPr>
                <a:lstStyle/>
                <a:p>
                  <a:r>
                    <a:rPr lang="en-US" altLang="zh-CN" sz="1400" dirty="0"/>
                    <a:t>                  </a:t>
                  </a:r>
                  <a:endParaRPr lang="zh-CN" altLang="en-US" sz="1400" dirty="0"/>
                </a:p>
              </p:txBody>
            </p:sp>
          </p:grpSp>
        </p:grpSp>
      </p:grpSp>
      <p:grpSp>
        <p:nvGrpSpPr>
          <p:cNvPr id="39942" name="组合 39941"/>
          <p:cNvGrpSpPr/>
          <p:nvPr/>
        </p:nvGrpSpPr>
        <p:grpSpPr>
          <a:xfrm>
            <a:off x="125" y="6200352"/>
            <a:ext cx="179387" cy="324992"/>
            <a:chOff x="-647947" y="6200352"/>
            <a:chExt cx="179387" cy="324992"/>
          </a:xfrm>
        </p:grpSpPr>
        <p:sp>
          <p:nvSpPr>
            <p:cNvPr id="104" name="等腰三角形 103"/>
            <p:cNvSpPr/>
            <p:nvPr/>
          </p:nvSpPr>
          <p:spPr bwMode="auto">
            <a:xfrm>
              <a:off x="-612070" y="6453125"/>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5" name="矩形 104"/>
            <p:cNvSpPr/>
            <p:nvPr/>
          </p:nvSpPr>
          <p:spPr bwMode="auto">
            <a:xfrm>
              <a:off x="-647947" y="6200352"/>
              <a:ext cx="179387" cy="1809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9944" name="组合 39943"/>
          <p:cNvGrpSpPr/>
          <p:nvPr/>
        </p:nvGrpSpPr>
        <p:grpSpPr>
          <a:xfrm>
            <a:off x="-1594" y="3501008"/>
            <a:ext cx="8331536" cy="3096344"/>
            <a:chOff x="125" y="3501008"/>
            <a:chExt cx="8331536" cy="3096344"/>
          </a:xfrm>
        </p:grpSpPr>
        <p:grpSp>
          <p:nvGrpSpPr>
            <p:cNvPr id="39943" name="组合 39942"/>
            <p:cNvGrpSpPr/>
            <p:nvPr/>
          </p:nvGrpSpPr>
          <p:grpSpPr>
            <a:xfrm>
              <a:off x="4933758" y="3501008"/>
              <a:ext cx="3397903" cy="1912278"/>
              <a:chOff x="9225395" y="3581400"/>
              <a:chExt cx="3397903" cy="1912278"/>
            </a:xfrm>
          </p:grpSpPr>
          <p:grpSp>
            <p:nvGrpSpPr>
              <p:cNvPr id="120" name="组合 119"/>
              <p:cNvGrpSpPr/>
              <p:nvPr/>
            </p:nvGrpSpPr>
            <p:grpSpPr>
              <a:xfrm>
                <a:off x="9225395" y="3653408"/>
                <a:ext cx="2662578" cy="1840270"/>
                <a:chOff x="4904915" y="3501008"/>
                <a:chExt cx="2662578" cy="1840270"/>
              </a:xfrm>
            </p:grpSpPr>
            <p:sp>
              <p:nvSpPr>
                <p:cNvPr id="121" name="矩形 120"/>
                <p:cNvSpPr/>
                <p:nvPr/>
              </p:nvSpPr>
              <p:spPr>
                <a:xfrm>
                  <a:off x="5220072" y="3501008"/>
                  <a:ext cx="325730" cy="400110"/>
                </a:xfrm>
                <a:prstGeom prst="rect">
                  <a:avLst/>
                </a:prstGeom>
                <a:solidFill>
                  <a:schemeClr val="bg1"/>
                </a:solidFill>
              </p:spPr>
              <p:txBody>
                <a:bodyPr wrap="none">
                  <a:spAutoFit/>
                </a:bodyPr>
                <a:lstStyle/>
                <a:p>
                  <a:r>
                    <a:rPr lang="en-US" altLang="zh-CN" sz="2000" dirty="0">
                      <a:solidFill>
                        <a:prstClr val="black"/>
                      </a:solidFill>
                      <a:latin typeface="Consolas"/>
                    </a:rPr>
                    <a:t> </a:t>
                  </a:r>
                  <a:endParaRPr lang="zh-CN" altLang="en-US" sz="1600" dirty="0"/>
                </a:p>
              </p:txBody>
            </p:sp>
            <p:sp useBgFill="1">
              <p:nvSpPr>
                <p:cNvPr id="122" name="矩形 121"/>
                <p:cNvSpPr/>
                <p:nvPr/>
              </p:nvSpPr>
              <p:spPr>
                <a:xfrm>
                  <a:off x="6818570" y="3532946"/>
                  <a:ext cx="748923"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123" name="矩形 122"/>
                <p:cNvSpPr/>
                <p:nvPr/>
              </p:nvSpPr>
              <p:spPr>
                <a:xfrm>
                  <a:off x="6818570" y="4005064"/>
                  <a:ext cx="748923"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124" name="矩形 123"/>
                <p:cNvSpPr/>
                <p:nvPr/>
              </p:nvSpPr>
              <p:spPr>
                <a:xfrm>
                  <a:off x="6887626" y="4437112"/>
                  <a:ext cx="607859"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useBgFill="1">
              <p:nvSpPr>
                <p:cNvPr id="125" name="矩形 124"/>
                <p:cNvSpPr/>
                <p:nvPr/>
              </p:nvSpPr>
              <p:spPr>
                <a:xfrm>
                  <a:off x="6887626" y="4941168"/>
                  <a:ext cx="607859" cy="400110"/>
                </a:xfrm>
                <a:prstGeom prst="rect">
                  <a:avLst/>
                </a:prstGeom>
              </p:spPr>
              <p:txBody>
                <a:bodyPr wrap="none">
                  <a:spAutoFit/>
                </a:bodyPr>
                <a:lstStyle/>
                <a:p>
                  <a:r>
                    <a:rPr lang="en-US" altLang="zh-CN" sz="2000" dirty="0">
                      <a:solidFill>
                        <a:prstClr val="black"/>
                      </a:solidFill>
                      <a:latin typeface="Consolas"/>
                    </a:rPr>
                    <a:t>   </a:t>
                  </a:r>
                  <a:endParaRPr lang="zh-CN" altLang="en-US" sz="1600" dirty="0"/>
                </a:p>
              </p:txBody>
            </p:sp>
            <p:sp>
              <p:nvSpPr>
                <p:cNvPr id="126" name="矩形 125"/>
                <p:cNvSpPr/>
                <p:nvPr/>
              </p:nvSpPr>
              <p:spPr>
                <a:xfrm>
                  <a:off x="4904915" y="4181018"/>
                  <a:ext cx="792000" cy="400110"/>
                </a:xfrm>
                <a:prstGeom prst="rect">
                  <a:avLst/>
                </a:prstGeom>
                <a:solidFill>
                  <a:schemeClr val="bg1"/>
                </a:solidFill>
              </p:spPr>
              <p:txBody>
                <a:bodyPr wrap="none">
                  <a:spAutoFit/>
                </a:bodyPr>
                <a:lstStyle/>
                <a:p>
                  <a:r>
                    <a:rPr lang="en-US" altLang="zh-CN" sz="2000" dirty="0">
                      <a:solidFill>
                        <a:prstClr val="black"/>
                      </a:solidFill>
                      <a:latin typeface="Consolas"/>
                    </a:rPr>
                    <a:t>    </a:t>
                  </a:r>
                  <a:endParaRPr lang="zh-CN" altLang="en-US" sz="1600" dirty="0"/>
                </a:p>
              </p:txBody>
            </p:sp>
          </p:grpSp>
          <p:sp>
            <p:nvSpPr>
              <p:cNvPr id="127" name="矩形 126"/>
              <p:cNvSpPr/>
              <p:nvPr/>
            </p:nvSpPr>
            <p:spPr>
              <a:xfrm>
                <a:off x="9945476" y="3581400"/>
                <a:ext cx="1008000" cy="432000"/>
              </a:xfrm>
              <a:prstGeom prst="rect">
                <a:avLst/>
              </a:prstGeom>
              <a:solidFill>
                <a:schemeClr val="bg1"/>
              </a:solidFill>
            </p:spPr>
            <p:txBody>
              <a:bodyPr wrap="none">
                <a:spAutoFit/>
              </a:bodyPr>
              <a:lstStyle/>
              <a:p>
                <a:r>
                  <a:rPr lang="en-US" altLang="zh-CN" sz="1400" dirty="0"/>
                  <a:t>                 </a:t>
                </a:r>
                <a:endParaRPr lang="zh-CN" altLang="en-US" sz="1400" dirty="0"/>
              </a:p>
            </p:txBody>
          </p:sp>
          <p:sp useBgFill="1">
            <p:nvSpPr>
              <p:cNvPr id="128" name="矩形 127"/>
              <p:cNvSpPr/>
              <p:nvPr/>
            </p:nvSpPr>
            <p:spPr>
              <a:xfrm>
                <a:off x="12392029" y="3717284"/>
                <a:ext cx="184731" cy="338554"/>
              </a:xfrm>
              <a:prstGeom prst="rect">
                <a:avLst/>
              </a:prstGeom>
            </p:spPr>
            <p:txBody>
              <a:bodyPr wrap="none">
                <a:spAutoFit/>
              </a:bodyPr>
              <a:lstStyle/>
              <a:p>
                <a:endParaRPr lang="zh-CN" altLang="en-US" sz="1600" dirty="0"/>
              </a:p>
            </p:txBody>
          </p:sp>
          <p:sp useBgFill="1">
            <p:nvSpPr>
              <p:cNvPr id="129" name="矩形 128"/>
              <p:cNvSpPr/>
              <p:nvPr/>
            </p:nvSpPr>
            <p:spPr>
              <a:xfrm>
                <a:off x="12392029" y="5125506"/>
                <a:ext cx="229550" cy="338554"/>
              </a:xfrm>
              <a:prstGeom prst="rect">
                <a:avLst/>
              </a:prstGeom>
            </p:spPr>
            <p:txBody>
              <a:bodyPr wrap="none">
                <a:spAutoFit/>
              </a:bodyPr>
              <a:lstStyle/>
              <a:p>
                <a:r>
                  <a:rPr lang="en-US" altLang="zh-CN" sz="1600" dirty="0"/>
                  <a:t> </a:t>
                </a:r>
                <a:endParaRPr lang="zh-CN" altLang="en-US" sz="1600" dirty="0"/>
              </a:p>
            </p:txBody>
          </p:sp>
          <p:sp useBgFill="1">
            <p:nvSpPr>
              <p:cNvPr id="130" name="矩形 129"/>
              <p:cNvSpPr/>
              <p:nvPr/>
            </p:nvSpPr>
            <p:spPr>
              <a:xfrm>
                <a:off x="12392029" y="4661520"/>
                <a:ext cx="229550" cy="338554"/>
              </a:xfrm>
              <a:prstGeom prst="rect">
                <a:avLst/>
              </a:prstGeom>
            </p:spPr>
            <p:txBody>
              <a:bodyPr wrap="none">
                <a:spAutoFit/>
              </a:bodyPr>
              <a:lstStyle/>
              <a:p>
                <a:r>
                  <a:rPr lang="en-US" altLang="zh-CN" sz="1600" dirty="0"/>
                  <a:t> </a:t>
                </a:r>
                <a:endParaRPr lang="zh-CN" altLang="en-US" sz="1600" dirty="0"/>
              </a:p>
            </p:txBody>
          </p:sp>
          <p:sp useBgFill="1">
            <p:nvSpPr>
              <p:cNvPr id="131" name="矩形 130"/>
              <p:cNvSpPr/>
              <p:nvPr/>
            </p:nvSpPr>
            <p:spPr>
              <a:xfrm>
                <a:off x="12393748" y="4157464"/>
                <a:ext cx="229550" cy="338554"/>
              </a:xfrm>
              <a:prstGeom prst="rect">
                <a:avLst/>
              </a:prstGeom>
            </p:spPr>
            <p:txBody>
              <a:bodyPr wrap="none">
                <a:spAutoFit/>
              </a:bodyPr>
              <a:lstStyle/>
              <a:p>
                <a:r>
                  <a:rPr lang="en-US" altLang="zh-CN" sz="1600" dirty="0"/>
                  <a:t> </a:t>
                </a:r>
                <a:endParaRPr lang="zh-CN" altLang="en-US" sz="1600" dirty="0"/>
              </a:p>
            </p:txBody>
          </p:sp>
        </p:grpSp>
        <p:sp>
          <p:nvSpPr>
            <p:cNvPr id="133" name="矩形 132"/>
            <p:cNvSpPr/>
            <p:nvPr/>
          </p:nvSpPr>
          <p:spPr bwMode="auto">
            <a:xfrm>
              <a:off x="125" y="6416376"/>
              <a:ext cx="179387" cy="1809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extLst>
      <p:ext uri="{BB962C8B-B14F-4D97-AF65-F5344CB8AC3E}">
        <p14:creationId xmlns:p14="http://schemas.microsoft.com/office/powerpoint/2010/main" val="268535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9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994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99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9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23" grpId="0" animBg="1"/>
      <p:bldP spid="44" grpId="0" animBg="1"/>
      <p:bldP spid="51" grpId="0"/>
      <p:bldP spid="52" grpId="0"/>
      <p:bldP spid="53" grpId="0"/>
      <p:bldP spid="5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611560" y="332656"/>
            <a:ext cx="8064896" cy="6552728"/>
          </a:xfrm>
        </p:spPr>
        <p:txBody>
          <a:bodyPr>
            <a:normAutofit fontScale="92500" lnSpcReduction="20000"/>
          </a:bodyPr>
          <a:lstStyle/>
          <a:p>
            <a:pPr eaLnBrk="1" hangingPunct="1">
              <a:lnSpc>
                <a:spcPct val="80000"/>
              </a:lnSpc>
              <a:buFontTx/>
              <a:buNone/>
            </a:pPr>
            <a:r>
              <a:rPr lang="en-US" altLang="zh-CN" sz="3200" b="1" dirty="0"/>
              <a:t>4</a:t>
            </a:r>
            <a:r>
              <a:rPr lang="zh-CN" altLang="en-US" sz="3200" b="1" dirty="0"/>
              <a:t>、使用构造函数函数应注意的问题</a:t>
            </a:r>
            <a:endParaRPr lang="en-US" altLang="zh-CN" sz="3200" b="1" dirty="0"/>
          </a:p>
          <a:p>
            <a:pPr eaLnBrk="1" hangingPunct="1">
              <a:lnSpc>
                <a:spcPct val="80000"/>
              </a:lnSpc>
              <a:buFontTx/>
              <a:buNone/>
            </a:pPr>
            <a:endParaRPr lang="zh-CN" altLang="en-US" sz="3200" b="1" dirty="0">
              <a:solidFill>
                <a:srgbClr val="FF3300"/>
              </a:solidFill>
            </a:endParaRPr>
          </a:p>
          <a:p>
            <a:pPr eaLnBrk="1" hangingPunct="1">
              <a:lnSpc>
                <a:spcPct val="80000"/>
              </a:lnSpc>
              <a:buFontTx/>
              <a:buNone/>
            </a:pPr>
            <a:r>
              <a:rPr lang="zh-CN" altLang="en-US" sz="2000" b="1" dirty="0"/>
              <a:t>① </a:t>
            </a:r>
            <a:r>
              <a:rPr lang="zh-CN" altLang="en-US" sz="2800" dirty="0"/>
              <a:t>构造函数</a:t>
            </a:r>
            <a:r>
              <a:rPr lang="zh-CN" altLang="en-US" sz="2800" dirty="0">
                <a:solidFill>
                  <a:srgbClr val="FF0000"/>
                </a:solidFill>
              </a:rPr>
              <a:t>不能有返回类型</a:t>
            </a:r>
            <a:r>
              <a:rPr lang="zh-CN" altLang="en-US" sz="2800" dirty="0"/>
              <a:t>，即使</a:t>
            </a:r>
            <a:r>
              <a:rPr lang="en-US" altLang="zh-CN" sz="2800" dirty="0"/>
              <a:t>void</a:t>
            </a:r>
            <a:r>
              <a:rPr lang="zh-CN" altLang="en-US" sz="2800" dirty="0"/>
              <a:t>也不行。</a:t>
            </a:r>
            <a:endParaRPr lang="en-US" altLang="zh-CN" sz="2800" dirty="0"/>
          </a:p>
          <a:p>
            <a:pPr eaLnBrk="1" hangingPunct="1">
              <a:lnSpc>
                <a:spcPct val="80000"/>
              </a:lnSpc>
              <a:buFontTx/>
              <a:buNone/>
            </a:pPr>
            <a:endParaRPr lang="zh-CN" altLang="en-US" sz="2800" dirty="0"/>
          </a:p>
          <a:p>
            <a:pPr eaLnBrk="1" hangingPunct="1">
              <a:lnSpc>
                <a:spcPct val="120000"/>
              </a:lnSpc>
              <a:buFontTx/>
              <a:buNone/>
            </a:pPr>
            <a:r>
              <a:rPr lang="zh-CN" altLang="en-US" sz="2800" dirty="0">
                <a:solidFill>
                  <a:schemeClr val="accent2"/>
                </a:solidFill>
              </a:rPr>
              <a:t>②构造函数由系统</a:t>
            </a:r>
            <a:r>
              <a:rPr lang="zh-CN" altLang="en-US" sz="2800" dirty="0">
                <a:solidFill>
                  <a:srgbClr val="FF0000"/>
                </a:solidFill>
              </a:rPr>
              <a:t>自动</a:t>
            </a:r>
            <a:r>
              <a:rPr lang="zh-CN" altLang="en-US" sz="2800" dirty="0">
                <a:solidFill>
                  <a:schemeClr val="accent2"/>
                </a:solidFill>
              </a:rPr>
              <a:t>调用，不能在程序中显式调用构造函数。</a:t>
            </a:r>
            <a:endParaRPr lang="en-US" altLang="zh-CN" sz="2800" dirty="0">
              <a:solidFill>
                <a:schemeClr val="accent2"/>
              </a:solidFill>
            </a:endParaRPr>
          </a:p>
          <a:p>
            <a:pPr eaLnBrk="1" hangingPunct="1">
              <a:lnSpc>
                <a:spcPct val="120000"/>
              </a:lnSpc>
              <a:buFontTx/>
              <a:buNone/>
            </a:pPr>
            <a:r>
              <a:rPr lang="en-US" altLang="zh-CN" sz="2800" dirty="0">
                <a:solidFill>
                  <a:schemeClr val="accent2"/>
                </a:solidFill>
              </a:rPr>
              <a:t>	</a:t>
            </a:r>
            <a:r>
              <a:rPr lang="en-US" altLang="zh-CN" sz="2800" dirty="0"/>
              <a:t>Person </a:t>
            </a:r>
            <a:r>
              <a:rPr lang="en-US" altLang="zh-CN" sz="2800" dirty="0" err="1"/>
              <a:t>wang</a:t>
            </a:r>
            <a:r>
              <a:rPr lang="en-US" altLang="zh-CN" sz="2800" dirty="0"/>
              <a:t>;				</a:t>
            </a:r>
            <a:r>
              <a:rPr lang="en-US" altLang="zh-CN" sz="2800" dirty="0">
                <a:solidFill>
                  <a:srgbClr val="FF0000"/>
                </a:solidFill>
              </a:rPr>
              <a:t>//</a:t>
            </a:r>
            <a:r>
              <a:rPr lang="zh-CN" altLang="en-US" sz="2800" dirty="0">
                <a:solidFill>
                  <a:srgbClr val="FF0000"/>
                </a:solidFill>
              </a:rPr>
              <a:t>调用构造函数</a:t>
            </a:r>
            <a:endParaRPr lang="en-US" altLang="zh-CN" sz="2800" dirty="0">
              <a:solidFill>
                <a:srgbClr val="FF0000"/>
              </a:solidFill>
            </a:endParaRPr>
          </a:p>
          <a:p>
            <a:pPr eaLnBrk="1" hangingPunct="1">
              <a:lnSpc>
                <a:spcPct val="120000"/>
              </a:lnSpc>
              <a:buFontTx/>
              <a:buNone/>
            </a:pPr>
            <a:r>
              <a:rPr lang="en-US" altLang="zh-CN" sz="2800" dirty="0"/>
              <a:t>	</a:t>
            </a:r>
            <a:r>
              <a:rPr lang="en-US" altLang="zh-CN" sz="2800" dirty="0" err="1"/>
              <a:t>Wang.Person</a:t>
            </a:r>
            <a:r>
              <a:rPr lang="en-US" altLang="zh-CN" sz="2800" dirty="0"/>
              <a:t>(“WangWei”,20);		</a:t>
            </a:r>
            <a:r>
              <a:rPr lang="en-US" altLang="zh-CN" sz="2800" dirty="0">
                <a:solidFill>
                  <a:srgbClr val="FF0000"/>
                </a:solidFill>
              </a:rPr>
              <a:t>//error</a:t>
            </a:r>
          </a:p>
          <a:p>
            <a:pPr eaLnBrk="1" hangingPunct="1">
              <a:lnSpc>
                <a:spcPct val="80000"/>
              </a:lnSpc>
              <a:buFontTx/>
              <a:buNone/>
            </a:pPr>
            <a:endParaRPr lang="zh-CN" altLang="en-US" sz="2800" dirty="0">
              <a:solidFill>
                <a:schemeClr val="accent2"/>
              </a:solidFill>
            </a:endParaRPr>
          </a:p>
          <a:p>
            <a:pPr eaLnBrk="1" hangingPunct="1">
              <a:lnSpc>
                <a:spcPct val="120000"/>
              </a:lnSpc>
              <a:buFontTx/>
              <a:buNone/>
            </a:pPr>
            <a:r>
              <a:rPr lang="zh-CN" altLang="en-US" sz="2800" dirty="0"/>
              <a:t>③ 构造函数的调用时机是定义对象之后的第一时间，即构造函数是对象</a:t>
            </a:r>
            <a:r>
              <a:rPr lang="zh-CN" altLang="en-US" sz="2800" dirty="0">
                <a:solidFill>
                  <a:srgbClr val="FF0000"/>
                </a:solidFill>
              </a:rPr>
              <a:t>第一个</a:t>
            </a:r>
            <a:r>
              <a:rPr lang="zh-CN" altLang="en-US" sz="2800" dirty="0"/>
              <a:t>被调用的函数。 </a:t>
            </a:r>
            <a:endParaRPr lang="en-US" altLang="zh-CN" sz="2800" dirty="0"/>
          </a:p>
          <a:p>
            <a:pPr eaLnBrk="1" hangingPunct="1">
              <a:lnSpc>
                <a:spcPct val="80000"/>
              </a:lnSpc>
              <a:buFontTx/>
              <a:buNone/>
            </a:pPr>
            <a:endParaRPr lang="zh-CN" altLang="en-US" sz="2800" dirty="0"/>
          </a:p>
          <a:p>
            <a:pPr eaLnBrk="1" hangingPunct="1">
              <a:lnSpc>
                <a:spcPct val="120000"/>
              </a:lnSpc>
              <a:buFontTx/>
              <a:buNone/>
            </a:pPr>
            <a:r>
              <a:rPr lang="zh-CN" altLang="en-US" sz="2800" dirty="0"/>
              <a:t>④  构造函数</a:t>
            </a:r>
            <a:r>
              <a:rPr lang="zh-CN" altLang="en-US" sz="2800" dirty="0">
                <a:solidFill>
                  <a:srgbClr val="FF0000"/>
                </a:solidFill>
              </a:rPr>
              <a:t>通常应定义为公有成员</a:t>
            </a:r>
            <a:r>
              <a:rPr lang="zh-CN" altLang="en-US" sz="2800" dirty="0"/>
              <a:t>，因为在程序中定义对象时，要涉及构造函数的调用，尽管是由编译系统进行的隐式调用，但也是在类外进行的成员函数访问。  </a:t>
            </a:r>
          </a:p>
        </p:txBody>
      </p:sp>
      <p:sp>
        <p:nvSpPr>
          <p:cNvPr id="2" name="乘号 1"/>
          <p:cNvSpPr/>
          <p:nvPr/>
        </p:nvSpPr>
        <p:spPr>
          <a:xfrm>
            <a:off x="5436096" y="3068960"/>
            <a:ext cx="432048" cy="432048"/>
          </a:xfrm>
          <a:prstGeom prst="mathMultiply">
            <a:avLst>
              <a:gd name="adj1" fmla="val 882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58196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552" y="301299"/>
            <a:ext cx="8778928" cy="1039469"/>
          </a:xfrm>
        </p:spPr>
        <p:txBody>
          <a:bodyPr>
            <a:normAutofit/>
          </a:bodyPr>
          <a:lstStyle/>
          <a:p>
            <a:pPr marL="0" indent="0">
              <a:buNone/>
            </a:pPr>
            <a:r>
              <a:rPr lang="zh-CN" altLang="en-US" sz="2400" dirty="0"/>
              <a:t>⑤ 定义对象数组或用</a:t>
            </a:r>
            <a:r>
              <a:rPr lang="en-US" altLang="zh-CN" sz="2400" dirty="0"/>
              <a:t>new</a:t>
            </a:r>
            <a:r>
              <a:rPr lang="zh-CN" altLang="en-US" sz="2400" dirty="0"/>
              <a:t>创建动态对象时，也要调用构造函数。但定义数组对象时，通常必须有不需要参数的构造函数。 </a:t>
            </a:r>
            <a:endParaRPr lang="en-US" altLang="zh-CN" sz="2400" dirty="0"/>
          </a:p>
          <a:p>
            <a:endParaRPr lang="zh-CN" altLang="en-US" sz="2400" dirty="0"/>
          </a:p>
        </p:txBody>
      </p:sp>
      <p:sp>
        <p:nvSpPr>
          <p:cNvPr id="5" name="矩形 4"/>
          <p:cNvSpPr/>
          <p:nvPr/>
        </p:nvSpPr>
        <p:spPr>
          <a:xfrm>
            <a:off x="323528" y="1619508"/>
            <a:ext cx="4320480" cy="369332"/>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ptrSomeone</a:t>
            </a:r>
            <a:r>
              <a:rPr lang="en-US" altLang="zh-CN" dirty="0">
                <a:solidFill>
                  <a:srgbClr val="000000"/>
                </a:solidFill>
                <a:latin typeface="Consolas" panose="020B0609020204030204" pitchFamily="49" charset="0"/>
                <a:ea typeface="新宋体"/>
                <a:cs typeface="Consolas" panose="020B0609020204030204" pitchFamily="49" charset="0"/>
              </a:rPr>
              <a:t> = </a:t>
            </a:r>
            <a:r>
              <a:rPr lang="en-US" altLang="zh-CN" dirty="0">
                <a:solidFill>
                  <a:srgbClr val="0000FF"/>
                </a:solidFill>
                <a:latin typeface="Consolas" panose="020B0609020204030204" pitchFamily="49" charset="0"/>
                <a:ea typeface="新宋体"/>
                <a:cs typeface="Consolas" panose="020B0609020204030204" pitchFamily="49" charset="0"/>
              </a:rPr>
              <a:t>new</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6" name="矩形 5"/>
          <p:cNvSpPr/>
          <p:nvPr/>
        </p:nvSpPr>
        <p:spPr>
          <a:xfrm>
            <a:off x="323528" y="2330296"/>
            <a:ext cx="5760640" cy="369332"/>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ptrSomeone</a:t>
            </a:r>
            <a:r>
              <a:rPr lang="en-US" altLang="zh-CN" dirty="0">
                <a:solidFill>
                  <a:srgbClr val="000000"/>
                </a:solidFill>
                <a:latin typeface="Consolas" panose="020B0609020204030204" pitchFamily="49" charset="0"/>
                <a:ea typeface="新宋体"/>
                <a:cs typeface="Consolas" panose="020B0609020204030204" pitchFamily="49" charset="0"/>
              </a:rPr>
              <a:t> = </a:t>
            </a:r>
            <a:r>
              <a:rPr lang="en-US" altLang="zh-CN" dirty="0">
                <a:solidFill>
                  <a:srgbClr val="0000FF"/>
                </a:solidFill>
                <a:latin typeface="Consolas" panose="020B0609020204030204" pitchFamily="49" charset="0"/>
                <a:ea typeface="新宋体"/>
                <a:cs typeface="Consolas" panose="020B0609020204030204" pitchFamily="49" charset="0"/>
              </a:rPr>
              <a:t>new</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A31515"/>
                </a:solidFill>
                <a:latin typeface="Consolas" panose="020B0609020204030204" pitchFamily="49" charset="0"/>
                <a:ea typeface="新宋体"/>
                <a:cs typeface="Consolas" panose="020B0609020204030204" pitchFamily="49" charset="0"/>
              </a:rPr>
              <a:t>"</a:t>
            </a:r>
            <a:r>
              <a:rPr lang="en-US" altLang="zh-CN" dirty="0" err="1">
                <a:solidFill>
                  <a:srgbClr val="A31515"/>
                </a:solidFill>
                <a:latin typeface="Consolas" panose="020B0609020204030204" pitchFamily="49" charset="0"/>
                <a:ea typeface="新宋体"/>
                <a:cs typeface="Consolas" panose="020B0609020204030204" pitchFamily="49" charset="0"/>
              </a:rPr>
              <a:t>Wang"</a:t>
            </a:r>
            <a:r>
              <a:rPr lang="en-US" altLang="zh-CN" dirty="0" err="1">
                <a:solidFill>
                  <a:srgbClr val="000000"/>
                </a:solidFill>
                <a:latin typeface="Consolas" panose="020B0609020204030204" pitchFamily="49" charset="0"/>
                <a:ea typeface="新宋体"/>
                <a:cs typeface="Consolas" panose="020B0609020204030204" pitchFamily="49" charset="0"/>
              </a:rPr>
              <a:t>,20</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7" name="矩形 6"/>
          <p:cNvSpPr/>
          <p:nvPr/>
        </p:nvSpPr>
        <p:spPr>
          <a:xfrm>
            <a:off x="323528" y="3914472"/>
            <a:ext cx="2880320" cy="369332"/>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arrayPer</a:t>
            </a:r>
            <a:r>
              <a:rPr lang="en-US" altLang="zh-CN" dirty="0">
                <a:solidFill>
                  <a:srgbClr val="000000"/>
                </a:solidFill>
                <a:latin typeface="Consolas" panose="020B0609020204030204" pitchFamily="49" charset="0"/>
                <a:ea typeface="新宋体"/>
                <a:cs typeface="Consolas" panose="020B0609020204030204" pitchFamily="49" charset="0"/>
              </a:rPr>
              <a:t>[10];</a:t>
            </a:r>
          </a:p>
        </p:txBody>
      </p:sp>
      <p:sp>
        <p:nvSpPr>
          <p:cNvPr id="8" name="矩形 7"/>
          <p:cNvSpPr/>
          <p:nvPr/>
        </p:nvSpPr>
        <p:spPr>
          <a:xfrm>
            <a:off x="329576" y="4787860"/>
            <a:ext cx="7986840" cy="369332"/>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arrayPer</a:t>
            </a:r>
            <a:r>
              <a:rPr lang="en-US" altLang="zh-CN" dirty="0">
                <a:solidFill>
                  <a:srgbClr val="000000"/>
                </a:solidFill>
                <a:latin typeface="Consolas" panose="020B0609020204030204" pitchFamily="49" charset="0"/>
                <a:ea typeface="新宋体"/>
                <a:cs typeface="Consolas" panose="020B0609020204030204" pitchFamily="49" charset="0"/>
              </a:rPr>
              <a:t>[10] = {</a:t>
            </a:r>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A31515"/>
                </a:solidFill>
                <a:latin typeface="Consolas" panose="020B0609020204030204" pitchFamily="49" charset="0"/>
                <a:ea typeface="新宋体"/>
                <a:cs typeface="Consolas" panose="020B0609020204030204" pitchFamily="49" charset="0"/>
              </a:rPr>
              <a:t>"</a:t>
            </a:r>
            <a:r>
              <a:rPr lang="en-US" altLang="zh-CN" dirty="0" err="1">
                <a:solidFill>
                  <a:srgbClr val="A31515"/>
                </a:solidFill>
                <a:latin typeface="Consolas" panose="020B0609020204030204" pitchFamily="49" charset="0"/>
                <a:ea typeface="新宋体"/>
                <a:cs typeface="Consolas" panose="020B0609020204030204" pitchFamily="49" charset="0"/>
              </a:rPr>
              <a:t>Zhang"</a:t>
            </a:r>
            <a:r>
              <a:rPr lang="en-US" altLang="zh-CN" dirty="0" err="1">
                <a:solidFill>
                  <a:srgbClr val="000000"/>
                </a:solidFill>
                <a:latin typeface="Consolas" panose="020B0609020204030204" pitchFamily="49" charset="0"/>
                <a:ea typeface="新宋体"/>
                <a:cs typeface="Consolas" panose="020B0609020204030204" pitchFamily="49" charset="0"/>
              </a:rPr>
              <a:t>,10</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2B91AF"/>
                </a:solidFill>
                <a:latin typeface="Consolas" panose="020B0609020204030204" pitchFamily="49" charset="0"/>
                <a:ea typeface="新宋体"/>
                <a:cs typeface="Consolas" panose="020B0609020204030204" pitchFamily="49" charset="0"/>
              </a:rPr>
              <a:t>Person</a:t>
            </a:r>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A31515"/>
                </a:solidFill>
                <a:latin typeface="Consolas" panose="020B0609020204030204" pitchFamily="49" charset="0"/>
                <a:ea typeface="新宋体"/>
                <a:cs typeface="Consolas" panose="020B0609020204030204" pitchFamily="49" charset="0"/>
              </a:rPr>
              <a:t>"</a:t>
            </a:r>
            <a:r>
              <a:rPr lang="en-US" altLang="zh-CN" dirty="0" err="1">
                <a:solidFill>
                  <a:srgbClr val="A31515"/>
                </a:solidFill>
                <a:latin typeface="Consolas" panose="020B0609020204030204" pitchFamily="49" charset="0"/>
                <a:ea typeface="新宋体"/>
                <a:cs typeface="Consolas" panose="020B0609020204030204" pitchFamily="49" charset="0"/>
              </a:rPr>
              <a:t>Zhao"</a:t>
            </a:r>
            <a:r>
              <a:rPr lang="en-US" altLang="zh-CN" dirty="0" err="1">
                <a:solidFill>
                  <a:srgbClr val="000000"/>
                </a:solidFill>
                <a:latin typeface="Consolas" panose="020B0609020204030204" pitchFamily="49" charset="0"/>
                <a:ea typeface="新宋体"/>
                <a:cs typeface="Consolas" panose="020B0609020204030204" pitchFamily="49" charset="0"/>
              </a:rPr>
              <a:t>,30</a:t>
            </a:r>
            <a:r>
              <a:rPr lang="en-US" altLang="zh-CN" dirty="0">
                <a:solidFill>
                  <a:srgbClr val="000000"/>
                </a:solidFill>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grpSp>
        <p:nvGrpSpPr>
          <p:cNvPr id="9" name="组合 8"/>
          <p:cNvGrpSpPr/>
          <p:nvPr/>
        </p:nvGrpSpPr>
        <p:grpSpPr>
          <a:xfrm>
            <a:off x="5292080" y="2492896"/>
            <a:ext cx="3550096" cy="781055"/>
            <a:chOff x="4914208" y="1582634"/>
            <a:chExt cx="3550096" cy="781055"/>
          </a:xfrm>
        </p:grpSpPr>
        <p:sp>
          <p:nvSpPr>
            <p:cNvPr id="10" name="矩形 9"/>
            <p:cNvSpPr/>
            <p:nvPr/>
          </p:nvSpPr>
          <p:spPr>
            <a:xfrm>
              <a:off x="4914208" y="1994357"/>
              <a:ext cx="3550096"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r>
                <a:rPr lang="en-US" altLang="zh-CN" dirty="0" err="1">
                  <a:solidFill>
                    <a:srgbClr val="0000FF"/>
                  </a:solidFill>
                  <a:latin typeface="Consolas" panose="020B0609020204030204" pitchFamily="49" charset="0"/>
                  <a:ea typeface="新宋体"/>
                  <a:cs typeface="Consolas" panose="020B0609020204030204" pitchFamily="49" charset="0"/>
                </a:rPr>
                <a:t>const</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0000FF"/>
                  </a:solidFill>
                  <a:latin typeface="Consolas" panose="020B0609020204030204" pitchFamily="49" charset="0"/>
                  <a:ea typeface="新宋体"/>
                  <a:cs typeface="Consolas" panose="020B0609020204030204" pitchFamily="49" charset="0"/>
                </a:rPr>
                <a:t>char</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FF"/>
                  </a:solidFill>
                  <a:latin typeface="Consolas" panose="020B0609020204030204" pitchFamily="49" charset="0"/>
                  <a:ea typeface="新宋体"/>
                  <a:cs typeface="Consolas" panose="020B0609020204030204" pitchFamily="49" charset="0"/>
                </a:rPr>
                <a:t>int</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11" name="右箭头 10"/>
            <p:cNvSpPr/>
            <p:nvPr/>
          </p:nvSpPr>
          <p:spPr>
            <a:xfrm rot="779416">
              <a:off x="5279658" y="1802362"/>
              <a:ext cx="684076" cy="12601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346256" y="1582634"/>
              <a:ext cx="1415772" cy="276999"/>
            </a:xfrm>
            <a:prstGeom prst="rect">
              <a:avLst/>
            </a:prstGeom>
          </p:spPr>
          <p:txBody>
            <a:bodyPr wrap="none">
              <a:spAutoFit/>
            </a:bodyPr>
            <a:lstStyle/>
            <a:p>
              <a:r>
                <a:rPr lang="zh-CN" altLang="en-US" sz="1200" dirty="0"/>
                <a:t>调用有参构造函数</a:t>
              </a:r>
            </a:p>
          </p:txBody>
        </p:sp>
      </p:grpSp>
      <p:grpSp>
        <p:nvGrpSpPr>
          <p:cNvPr id="13" name="组合 12"/>
          <p:cNvGrpSpPr/>
          <p:nvPr/>
        </p:nvGrpSpPr>
        <p:grpSpPr>
          <a:xfrm>
            <a:off x="4716016" y="1268760"/>
            <a:ext cx="2232248" cy="720080"/>
            <a:chOff x="6048164" y="3140968"/>
            <a:chExt cx="2232248" cy="720080"/>
          </a:xfrm>
        </p:grpSpPr>
        <p:sp>
          <p:nvSpPr>
            <p:cNvPr id="14" name="矩形 13"/>
            <p:cNvSpPr/>
            <p:nvPr/>
          </p:nvSpPr>
          <p:spPr>
            <a:xfrm>
              <a:off x="6984268" y="3491716"/>
              <a:ext cx="1296144"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p>
          </p:txBody>
        </p:sp>
        <p:sp>
          <p:nvSpPr>
            <p:cNvPr id="15" name="右箭头 14"/>
            <p:cNvSpPr/>
            <p:nvPr/>
          </p:nvSpPr>
          <p:spPr>
            <a:xfrm>
              <a:off x="6084168" y="3591018"/>
              <a:ext cx="792088" cy="12601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048164" y="3140968"/>
              <a:ext cx="900100" cy="523220"/>
            </a:xfrm>
            <a:prstGeom prst="rect">
              <a:avLst/>
            </a:prstGeom>
          </p:spPr>
          <p:txBody>
            <a:bodyPr wrap="square">
              <a:spAutoFit/>
            </a:bodyPr>
            <a:lstStyle/>
            <a:p>
              <a:r>
                <a:rPr lang="zh-CN" altLang="en-US" sz="1400" dirty="0"/>
                <a:t>调用无参</a:t>
              </a:r>
              <a:endParaRPr lang="en-US" altLang="zh-CN" sz="1400" dirty="0"/>
            </a:p>
            <a:p>
              <a:r>
                <a:rPr lang="zh-CN" altLang="en-US" sz="1400" dirty="0"/>
                <a:t>构造函数</a:t>
              </a:r>
            </a:p>
          </p:txBody>
        </p:sp>
      </p:grpSp>
      <p:grpSp>
        <p:nvGrpSpPr>
          <p:cNvPr id="25" name="组合 24"/>
          <p:cNvGrpSpPr/>
          <p:nvPr/>
        </p:nvGrpSpPr>
        <p:grpSpPr>
          <a:xfrm>
            <a:off x="3275856" y="3760584"/>
            <a:ext cx="3312368" cy="532512"/>
            <a:chOff x="6012160" y="3337828"/>
            <a:chExt cx="3312368" cy="532512"/>
          </a:xfrm>
        </p:grpSpPr>
        <p:sp>
          <p:nvSpPr>
            <p:cNvPr id="26" name="矩形 25"/>
            <p:cNvSpPr/>
            <p:nvPr/>
          </p:nvSpPr>
          <p:spPr>
            <a:xfrm>
              <a:off x="8028384" y="3501008"/>
              <a:ext cx="1296144"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p>
          </p:txBody>
        </p:sp>
        <p:sp>
          <p:nvSpPr>
            <p:cNvPr id="27" name="右箭头 26"/>
            <p:cNvSpPr/>
            <p:nvPr/>
          </p:nvSpPr>
          <p:spPr>
            <a:xfrm>
              <a:off x="6012160" y="3613666"/>
              <a:ext cx="2016224" cy="17537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012160" y="3337828"/>
              <a:ext cx="2016224" cy="307777"/>
            </a:xfrm>
            <a:prstGeom prst="rect">
              <a:avLst/>
            </a:prstGeom>
          </p:spPr>
          <p:txBody>
            <a:bodyPr wrap="square">
              <a:spAutoFit/>
            </a:bodyPr>
            <a:lstStyle/>
            <a:p>
              <a:r>
                <a:rPr lang="zh-CN" altLang="en-US" sz="1400" dirty="0"/>
                <a:t>调用无参构造函数</a:t>
              </a:r>
              <a:r>
                <a:rPr lang="en-US" altLang="zh-CN" sz="1400" dirty="0"/>
                <a:t>10</a:t>
              </a:r>
              <a:r>
                <a:rPr lang="zh-CN" altLang="en-US" sz="1400" dirty="0"/>
                <a:t>次</a:t>
              </a:r>
            </a:p>
          </p:txBody>
        </p:sp>
      </p:grpSp>
      <p:grpSp>
        <p:nvGrpSpPr>
          <p:cNvPr id="30" name="组合 29"/>
          <p:cNvGrpSpPr/>
          <p:nvPr/>
        </p:nvGrpSpPr>
        <p:grpSpPr>
          <a:xfrm>
            <a:off x="1115616" y="5187938"/>
            <a:ext cx="3550096" cy="680042"/>
            <a:chOff x="3042000" y="1683647"/>
            <a:chExt cx="3550096" cy="680042"/>
          </a:xfrm>
        </p:grpSpPr>
        <p:sp>
          <p:nvSpPr>
            <p:cNvPr id="31" name="矩形 30"/>
            <p:cNvSpPr/>
            <p:nvPr/>
          </p:nvSpPr>
          <p:spPr>
            <a:xfrm>
              <a:off x="3042000" y="1994357"/>
              <a:ext cx="3550096"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r>
                <a:rPr lang="en-US" altLang="zh-CN" dirty="0" err="1">
                  <a:solidFill>
                    <a:srgbClr val="0000FF"/>
                  </a:solidFill>
                  <a:latin typeface="Consolas" panose="020B0609020204030204" pitchFamily="49" charset="0"/>
                  <a:ea typeface="新宋体"/>
                  <a:cs typeface="Consolas" panose="020B0609020204030204" pitchFamily="49" charset="0"/>
                </a:rPr>
                <a:t>const</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0000FF"/>
                  </a:solidFill>
                  <a:latin typeface="Consolas" panose="020B0609020204030204" pitchFamily="49" charset="0"/>
                  <a:ea typeface="新宋体"/>
                  <a:cs typeface="Consolas" panose="020B0609020204030204" pitchFamily="49" charset="0"/>
                </a:rPr>
                <a:t>char</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FF"/>
                  </a:solidFill>
                  <a:latin typeface="Consolas" panose="020B0609020204030204" pitchFamily="49" charset="0"/>
                  <a:ea typeface="新宋体"/>
                  <a:cs typeface="Consolas" panose="020B0609020204030204" pitchFamily="49" charset="0"/>
                </a:rPr>
                <a:t>int</a:t>
              </a:r>
              <a:r>
                <a:rPr lang="en-US" altLang="zh-CN" dirty="0">
                  <a:solidFill>
                    <a:srgbClr val="000000"/>
                  </a:solidFill>
                  <a:latin typeface="Consolas" panose="020B0609020204030204" pitchFamily="49" charset="0"/>
                  <a:ea typeface="新宋体"/>
                  <a:cs typeface="Consolas" panose="020B0609020204030204" pitchFamily="49" charset="0"/>
                </a:rPr>
                <a:t>);</a:t>
              </a:r>
            </a:p>
          </p:txBody>
        </p:sp>
        <p:sp>
          <p:nvSpPr>
            <p:cNvPr id="32" name="右箭头 31"/>
            <p:cNvSpPr/>
            <p:nvPr/>
          </p:nvSpPr>
          <p:spPr>
            <a:xfrm rot="8976756">
              <a:off x="5279658" y="1802362"/>
              <a:ext cx="684076" cy="126014"/>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3690072" y="1683647"/>
              <a:ext cx="1899879" cy="307777"/>
            </a:xfrm>
            <a:prstGeom prst="rect">
              <a:avLst/>
            </a:prstGeom>
          </p:spPr>
          <p:txBody>
            <a:bodyPr wrap="none">
              <a:spAutoFit/>
            </a:bodyPr>
            <a:lstStyle/>
            <a:p>
              <a:r>
                <a:rPr lang="zh-CN" altLang="en-US" sz="1400" dirty="0"/>
                <a:t>调用有参构造函数</a:t>
              </a:r>
              <a:r>
                <a:rPr lang="en-US" altLang="zh-CN" sz="1400" dirty="0"/>
                <a:t>2</a:t>
              </a:r>
              <a:r>
                <a:rPr lang="zh-CN" altLang="en-US" sz="1400" dirty="0"/>
                <a:t>次</a:t>
              </a:r>
            </a:p>
          </p:txBody>
        </p:sp>
      </p:grpSp>
      <p:grpSp>
        <p:nvGrpSpPr>
          <p:cNvPr id="34" name="组合 33"/>
          <p:cNvGrpSpPr/>
          <p:nvPr/>
        </p:nvGrpSpPr>
        <p:grpSpPr>
          <a:xfrm>
            <a:off x="6156176" y="5215771"/>
            <a:ext cx="2448272" cy="724217"/>
            <a:chOff x="6876256" y="3146123"/>
            <a:chExt cx="2448272" cy="724217"/>
          </a:xfrm>
        </p:grpSpPr>
        <p:sp>
          <p:nvSpPr>
            <p:cNvPr id="35" name="矩形 34"/>
            <p:cNvSpPr/>
            <p:nvPr/>
          </p:nvSpPr>
          <p:spPr>
            <a:xfrm>
              <a:off x="8028384" y="3501008"/>
              <a:ext cx="1296144" cy="369332"/>
            </a:xfrm>
            <a:prstGeom prst="rect">
              <a:avLst/>
            </a:prstGeom>
            <a:solidFill>
              <a:schemeClr val="bg1"/>
            </a:solidFill>
            <a:ln>
              <a:solidFill>
                <a:schemeClr val="tx2">
                  <a:lumMod val="75000"/>
                  <a:lumOff val="25000"/>
                </a:schemeClr>
              </a:solidFill>
            </a:ln>
          </p:spPr>
          <p:txBody>
            <a:bodyPr wrap="square">
              <a:spAutoFit/>
            </a:bodyPr>
            <a:lstStyle/>
            <a:p>
              <a:r>
                <a:rPr lang="en-US" altLang="zh-CN" dirty="0">
                  <a:solidFill>
                    <a:srgbClr val="000000"/>
                  </a:solidFill>
                  <a:latin typeface="Consolas" panose="020B0609020204030204" pitchFamily="49" charset="0"/>
                  <a:ea typeface="新宋体"/>
                  <a:cs typeface="Consolas" panose="020B0609020204030204" pitchFamily="49" charset="0"/>
                </a:rPr>
                <a:t>Person();</a:t>
              </a:r>
            </a:p>
          </p:txBody>
        </p:sp>
        <p:sp>
          <p:nvSpPr>
            <p:cNvPr id="36" name="右箭头 35"/>
            <p:cNvSpPr/>
            <p:nvPr/>
          </p:nvSpPr>
          <p:spPr>
            <a:xfrm rot="2220571" flipV="1">
              <a:off x="8451290" y="3221560"/>
              <a:ext cx="687561" cy="109961"/>
            </a:xfrm>
            <a:prstGeom prst="rightArrow">
              <a:avLst>
                <a:gd name="adj1" fmla="val 26440"/>
                <a:gd name="adj2" fmla="val 452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876256" y="3146123"/>
              <a:ext cx="2102900" cy="307777"/>
            </a:xfrm>
            <a:prstGeom prst="rect">
              <a:avLst/>
            </a:prstGeom>
          </p:spPr>
          <p:txBody>
            <a:bodyPr wrap="square">
              <a:spAutoFit/>
            </a:bodyPr>
            <a:lstStyle/>
            <a:p>
              <a:r>
                <a:rPr lang="zh-CN" altLang="en-US" sz="1400" dirty="0"/>
                <a:t>调用无参构造函数</a:t>
              </a:r>
              <a:r>
                <a:rPr lang="en-US" altLang="zh-CN" sz="1400" dirty="0"/>
                <a:t>8</a:t>
              </a:r>
              <a:r>
                <a:rPr lang="zh-CN" altLang="en-US" sz="1400" dirty="0"/>
                <a:t>次</a:t>
              </a:r>
            </a:p>
          </p:txBody>
        </p:sp>
      </p:grpSp>
      <p:cxnSp>
        <p:nvCxnSpPr>
          <p:cNvPr id="39" name="直接连接符 38"/>
          <p:cNvCxnSpPr/>
          <p:nvPr/>
        </p:nvCxnSpPr>
        <p:spPr>
          <a:xfrm>
            <a:off x="179512" y="3501008"/>
            <a:ext cx="86626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0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构造函数的分类</a:t>
            </a:r>
          </a:p>
        </p:txBody>
      </p:sp>
      <p:sp>
        <p:nvSpPr>
          <p:cNvPr id="3" name="内容占位符 2"/>
          <p:cNvSpPr>
            <a:spLocks noGrp="1"/>
          </p:cNvSpPr>
          <p:nvPr>
            <p:ph idx="1"/>
          </p:nvPr>
        </p:nvSpPr>
        <p:spPr>
          <a:xfrm>
            <a:off x="4884400" y="1506488"/>
            <a:ext cx="3432016" cy="1706488"/>
          </a:xfrm>
          <a:solidFill>
            <a:schemeClr val="bg2">
              <a:lumMod val="90000"/>
            </a:schemeClr>
          </a:solidFill>
        </p:spPr>
        <p:txBody>
          <a:bodyPr>
            <a:normAutofit/>
          </a:bodyPr>
          <a:lstStyle/>
          <a:p>
            <a:pPr marL="0" indent="0">
              <a:buNone/>
            </a:pPr>
            <a:r>
              <a:rPr lang="zh-CN" altLang="en-US" sz="2800" dirty="0"/>
              <a:t>按照有参或无参分：</a:t>
            </a:r>
            <a:endParaRPr lang="en-US" altLang="zh-CN" sz="2800" dirty="0"/>
          </a:p>
          <a:p>
            <a:r>
              <a:rPr lang="zh-CN" altLang="en-US" sz="2800" dirty="0"/>
              <a:t>无参构造函数</a:t>
            </a:r>
            <a:endParaRPr lang="en-US" altLang="zh-CN" sz="2800" dirty="0"/>
          </a:p>
          <a:p>
            <a:r>
              <a:rPr lang="zh-CN" altLang="en-US" sz="2800" dirty="0"/>
              <a:t>有参构造函数</a:t>
            </a:r>
          </a:p>
        </p:txBody>
      </p:sp>
      <p:sp>
        <p:nvSpPr>
          <p:cNvPr id="4" name="内容占位符 2"/>
          <p:cNvSpPr txBox="1">
            <a:spLocks/>
          </p:cNvSpPr>
          <p:nvPr/>
        </p:nvSpPr>
        <p:spPr>
          <a:xfrm>
            <a:off x="4848944" y="3356992"/>
            <a:ext cx="3971528" cy="2160240"/>
          </a:xfrm>
          <a:prstGeom prst="rect">
            <a:avLst/>
          </a:prstGeom>
          <a:solidFill>
            <a:schemeClr val="bg2">
              <a:lumMod val="90000"/>
            </a:schemeClr>
          </a:solidFill>
        </p:spPr>
        <p:txBody>
          <a:bodyPr vert="horz" rtlCol="0">
            <a:norm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buNone/>
            </a:pPr>
            <a:r>
              <a:rPr lang="zh-CN" altLang="en-US" sz="2800" dirty="0"/>
              <a:t>按照是否系统默认来分：</a:t>
            </a:r>
            <a:endParaRPr lang="en-US" altLang="zh-CN" sz="2800" dirty="0"/>
          </a:p>
          <a:p>
            <a:r>
              <a:rPr lang="zh-CN" altLang="en-US" sz="2800" dirty="0"/>
              <a:t>默认构造函数</a:t>
            </a:r>
            <a:endParaRPr lang="en-US" altLang="zh-CN" sz="2800" dirty="0"/>
          </a:p>
          <a:p>
            <a:r>
              <a:rPr lang="zh-CN" altLang="en-US" sz="2800" dirty="0"/>
              <a:t>重载构造函数</a:t>
            </a:r>
          </a:p>
        </p:txBody>
      </p:sp>
      <p:sp>
        <p:nvSpPr>
          <p:cNvPr id="7" name="内容占位符 2"/>
          <p:cNvSpPr txBox="1">
            <a:spLocks/>
          </p:cNvSpPr>
          <p:nvPr/>
        </p:nvSpPr>
        <p:spPr>
          <a:xfrm>
            <a:off x="179512" y="1556792"/>
            <a:ext cx="4381400" cy="4176464"/>
          </a:xfrm>
          <a:prstGeom prst="rect">
            <a:avLst/>
          </a:prstGeom>
        </p:spPr>
        <p:txBody>
          <a:bodyPr vert="horz" rtlCol="0">
            <a:norm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buFont typeface="Wingdings 2"/>
              <a:buNone/>
            </a:pPr>
            <a:r>
              <a:rPr lang="zh-CN" altLang="en-US" dirty="0"/>
              <a:t>默认构造函数</a:t>
            </a:r>
            <a:endParaRPr lang="en-US" altLang="zh-CN" dirty="0"/>
          </a:p>
          <a:p>
            <a:pPr marL="0" indent="0">
              <a:buNone/>
            </a:pPr>
            <a:r>
              <a:rPr lang="zh-CN" altLang="en-US" dirty="0"/>
              <a:t>无参构造函数</a:t>
            </a:r>
            <a:endParaRPr lang="en-US" altLang="zh-CN" dirty="0"/>
          </a:p>
          <a:p>
            <a:pPr marL="0" indent="0">
              <a:buNone/>
            </a:pPr>
            <a:r>
              <a:rPr lang="zh-CN" altLang="en-US" dirty="0"/>
              <a:t>有参构造函数</a:t>
            </a:r>
          </a:p>
          <a:p>
            <a:pPr marL="0" indent="0">
              <a:buFont typeface="Wingdings 2"/>
              <a:buNone/>
            </a:pPr>
            <a:r>
              <a:rPr lang="zh-CN" altLang="en-US" dirty="0"/>
              <a:t>缺省形参值的构造函数</a:t>
            </a:r>
          </a:p>
        </p:txBody>
      </p:sp>
    </p:spTree>
    <p:extLst>
      <p:ext uri="{BB962C8B-B14F-4D97-AF65-F5344CB8AC3E}">
        <p14:creationId xmlns:p14="http://schemas.microsoft.com/office/powerpoint/2010/main" val="315496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55650" y="260350"/>
            <a:ext cx="7772400" cy="1143000"/>
          </a:xfrm>
        </p:spPr>
        <p:txBody>
          <a:bodyPr/>
          <a:lstStyle/>
          <a:p>
            <a:pPr eaLnBrk="1" hangingPunct="1"/>
            <a:r>
              <a:rPr lang="en-US" altLang="zh-CN" b="1" dirty="0"/>
              <a:t>4_2.1.1 </a:t>
            </a:r>
            <a:r>
              <a:rPr lang="zh-CN" altLang="en-US" b="1" dirty="0"/>
              <a:t>无参</a:t>
            </a:r>
            <a:r>
              <a:rPr lang="zh-CN" altLang="en-US" b="1" dirty="0">
                <a:solidFill>
                  <a:schemeClr val="tx1"/>
                </a:solidFill>
              </a:rPr>
              <a:t>构造函数</a:t>
            </a:r>
            <a:endParaRPr lang="en-US" altLang="zh-CN" b="1" dirty="0">
              <a:solidFill>
                <a:schemeClr val="tx1"/>
              </a:solidFill>
            </a:endParaRPr>
          </a:p>
        </p:txBody>
      </p:sp>
      <p:sp>
        <p:nvSpPr>
          <p:cNvPr id="41987" name="Rectangle 3"/>
          <p:cNvSpPr>
            <a:spLocks noGrp="1" noChangeArrowheads="1"/>
          </p:cNvSpPr>
          <p:nvPr>
            <p:ph idx="1"/>
          </p:nvPr>
        </p:nvSpPr>
        <p:spPr>
          <a:xfrm>
            <a:off x="684212" y="1628775"/>
            <a:ext cx="8208267" cy="4683125"/>
          </a:xfrm>
        </p:spPr>
        <p:txBody>
          <a:bodyPr>
            <a:normAutofit/>
          </a:bodyPr>
          <a:lstStyle/>
          <a:p>
            <a:pPr eaLnBrk="1" hangingPunct="1"/>
            <a:r>
              <a:rPr lang="zh-CN" altLang="en-US" dirty="0"/>
              <a:t>无参数构造函数指在定义对象时，不需要提供参数的构造函数。</a:t>
            </a:r>
            <a:endParaRPr lang="en-US" altLang="zh-CN" dirty="0"/>
          </a:p>
          <a:p>
            <a:pPr eaLnBrk="1" hangingPunct="1"/>
            <a:r>
              <a:rPr lang="zh-CN" altLang="en-US" dirty="0"/>
              <a:t>在一些情况下</a:t>
            </a:r>
            <a:r>
              <a:rPr lang="en-US" altLang="zh-CN" dirty="0"/>
              <a:t>,</a:t>
            </a:r>
          </a:p>
          <a:p>
            <a:pPr marL="0" indent="0" eaLnBrk="1" hangingPunct="1">
              <a:buNone/>
            </a:pPr>
            <a:r>
              <a:rPr lang="en-US" altLang="zh-CN" dirty="0"/>
              <a:t>			</a:t>
            </a:r>
            <a:r>
              <a:rPr lang="zh-CN" altLang="en-US" dirty="0"/>
              <a:t>如： </a:t>
            </a:r>
            <a:r>
              <a:rPr lang="en-US" altLang="zh-CN" dirty="0"/>
              <a:t>Person  a; </a:t>
            </a:r>
          </a:p>
          <a:p>
            <a:pPr marL="0" indent="0" eaLnBrk="1" hangingPunct="1">
              <a:buNone/>
            </a:pPr>
            <a:r>
              <a:rPr lang="en-US" altLang="zh-CN" dirty="0"/>
              <a:t>	</a:t>
            </a:r>
            <a:r>
              <a:rPr lang="zh-CN" altLang="en-US" dirty="0"/>
              <a:t>或定义数组 ：</a:t>
            </a:r>
            <a:r>
              <a:rPr lang="en-US" altLang="zh-CN" dirty="0"/>
              <a:t>	Person  a[10];</a:t>
            </a:r>
          </a:p>
          <a:p>
            <a:pPr marL="0" indent="0" eaLnBrk="1" hangingPunct="1">
              <a:buNone/>
            </a:pPr>
            <a:r>
              <a:rPr lang="en-US" altLang="zh-CN" dirty="0"/>
              <a:t>   </a:t>
            </a:r>
            <a:r>
              <a:rPr lang="zh-CN" altLang="en-US" dirty="0"/>
              <a:t>需要使用无参构造函数，因此需要引起重视</a:t>
            </a:r>
            <a:r>
              <a:rPr lang="zh-CN" altLang="en-US" b="1" dirty="0"/>
              <a:t>。</a:t>
            </a:r>
          </a:p>
          <a:p>
            <a:pPr eaLnBrk="1" hangingPunct="1">
              <a:buFontTx/>
              <a:buNone/>
            </a:pPr>
            <a:endParaRPr lang="en-US" altLang="zh-CN" b="1" dirty="0"/>
          </a:p>
        </p:txBody>
      </p:sp>
    </p:spTree>
    <p:extLst>
      <p:ext uri="{BB962C8B-B14F-4D97-AF65-F5344CB8AC3E}">
        <p14:creationId xmlns:p14="http://schemas.microsoft.com/office/powerpoint/2010/main" val="3905237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5650" y="44624"/>
            <a:ext cx="7772400" cy="1143000"/>
          </a:xfrm>
        </p:spPr>
        <p:txBody>
          <a:bodyPr/>
          <a:lstStyle/>
          <a:p>
            <a:pPr eaLnBrk="1" hangingPunct="1"/>
            <a:r>
              <a:rPr lang="zh-CN" altLang="en-US" b="1" dirty="0"/>
              <a:t>无参</a:t>
            </a:r>
            <a:r>
              <a:rPr lang="zh-CN" altLang="en-US" b="1" dirty="0">
                <a:solidFill>
                  <a:schemeClr val="tx1"/>
                </a:solidFill>
              </a:rPr>
              <a:t>构造函数</a:t>
            </a:r>
            <a:endParaRPr lang="en-US" altLang="zh-CN" b="1" dirty="0">
              <a:solidFill>
                <a:schemeClr val="tx1"/>
              </a:solidFill>
            </a:endParaRPr>
          </a:p>
        </p:txBody>
      </p:sp>
      <p:sp>
        <p:nvSpPr>
          <p:cNvPr id="56323" name="Rectangle 3"/>
          <p:cNvSpPr>
            <a:spLocks noGrp="1" noChangeArrowheads="1"/>
          </p:cNvSpPr>
          <p:nvPr>
            <p:ph idx="1"/>
          </p:nvPr>
        </p:nvSpPr>
        <p:spPr>
          <a:xfrm>
            <a:off x="611560" y="1196752"/>
            <a:ext cx="8136904" cy="5256584"/>
          </a:xfrm>
        </p:spPr>
        <p:txBody>
          <a:bodyPr>
            <a:normAutofit fontScale="62500" lnSpcReduction="20000"/>
          </a:bodyPr>
          <a:lstStyle/>
          <a:p>
            <a:pPr eaLnBrk="1" hangingPunct="1">
              <a:buFontTx/>
              <a:buNone/>
            </a:pPr>
            <a:r>
              <a:rPr lang="en-US" altLang="zh-CN" sz="2800" b="1" dirty="0"/>
              <a:t>1</a:t>
            </a:r>
            <a:r>
              <a:rPr lang="zh-CN" altLang="en-US" sz="2800" b="1" dirty="0"/>
              <a:t>、</a:t>
            </a:r>
            <a:r>
              <a:rPr lang="zh-CN" altLang="en-US" dirty="0"/>
              <a:t>系统默认构造函数</a:t>
            </a:r>
            <a:endParaRPr lang="en-US" altLang="zh-CN" dirty="0"/>
          </a:p>
          <a:p>
            <a:pPr eaLnBrk="1" hangingPunct="1">
              <a:buFontTx/>
              <a:buNone/>
            </a:pPr>
            <a:endParaRPr lang="zh-CN" altLang="en-US" dirty="0"/>
          </a:p>
          <a:p>
            <a:pPr marL="444500" lvl="1" indent="-3175" eaLnBrk="1" hangingPunct="1">
              <a:buFontTx/>
              <a:buNone/>
            </a:pPr>
            <a:r>
              <a:rPr lang="en-US" altLang="zh-CN" sz="3200" dirty="0"/>
              <a:t>C++</a:t>
            </a:r>
            <a:r>
              <a:rPr lang="zh-CN" altLang="en-US" sz="3200" dirty="0"/>
              <a:t>规定，每个类必须有构造函数，如果一个类没有定义任何构造函数，编译器将会为它生成一个</a:t>
            </a:r>
            <a:r>
              <a:rPr lang="zh-CN" altLang="en-US" sz="3200" dirty="0">
                <a:solidFill>
                  <a:srgbClr val="FF3300"/>
                </a:solidFill>
              </a:rPr>
              <a:t>默认构造</a:t>
            </a:r>
            <a:r>
              <a:rPr lang="zh-CN" altLang="en-US" sz="3200" dirty="0"/>
              <a:t>函数。 </a:t>
            </a:r>
          </a:p>
          <a:p>
            <a:pPr lvl="1" eaLnBrk="1" hangingPunct="1">
              <a:buFontTx/>
              <a:buNone/>
            </a:pPr>
            <a:endParaRPr lang="zh-CN" altLang="en-US" dirty="0"/>
          </a:p>
          <a:p>
            <a:pPr marL="449263" lvl="2" indent="23813" eaLnBrk="1" hangingPunct="1">
              <a:buFontTx/>
              <a:buNone/>
            </a:pPr>
            <a:r>
              <a:rPr lang="en-US" altLang="zh-CN" sz="2800" dirty="0">
                <a:solidFill>
                  <a:schemeClr val="accent2"/>
                </a:solidFill>
              </a:rPr>
              <a:t>class X</a:t>
            </a:r>
          </a:p>
          <a:p>
            <a:pPr marL="449263" lvl="2" indent="23813" eaLnBrk="1" hangingPunct="1">
              <a:buFontTx/>
              <a:buNone/>
            </a:pPr>
            <a:r>
              <a:rPr lang="en-US" altLang="zh-CN" sz="2800" dirty="0">
                <a:solidFill>
                  <a:schemeClr val="accent2"/>
                </a:solidFill>
              </a:rPr>
              <a:t> {</a:t>
            </a:r>
          </a:p>
          <a:p>
            <a:pPr marL="449263" lvl="2" indent="23813" eaLnBrk="1" hangingPunct="1">
              <a:buFontTx/>
              <a:buNone/>
            </a:pPr>
            <a:r>
              <a:rPr lang="en-US" altLang="zh-CN" sz="2800" dirty="0">
                <a:solidFill>
                  <a:schemeClr val="accent2"/>
                </a:solidFill>
              </a:rPr>
              <a:t>    </a:t>
            </a:r>
            <a:r>
              <a:rPr lang="en-US" altLang="zh-CN" sz="2800" b="1" dirty="0">
                <a:solidFill>
                  <a:schemeClr val="accent2"/>
                </a:solidFill>
              </a:rPr>
              <a:t>X(){}    //</a:t>
            </a:r>
            <a:r>
              <a:rPr lang="zh-CN" altLang="en-US" sz="2800" b="1" dirty="0">
                <a:solidFill>
                  <a:schemeClr val="accent2"/>
                </a:solidFill>
              </a:rPr>
              <a:t>系统默认构造函数</a:t>
            </a:r>
          </a:p>
          <a:p>
            <a:pPr marL="449263" lvl="2" indent="23813" eaLnBrk="1" hangingPunct="1">
              <a:buFontTx/>
              <a:buNone/>
            </a:pPr>
            <a:r>
              <a:rPr lang="en-US" altLang="zh-CN" sz="2800" dirty="0">
                <a:solidFill>
                  <a:schemeClr val="accent2"/>
                </a:solidFill>
              </a:rPr>
              <a:t>    </a:t>
            </a:r>
            <a:r>
              <a:rPr lang="en-US" altLang="zh-CN" sz="2800" dirty="0">
                <a:solidFill>
                  <a:schemeClr val="accent2"/>
                </a:solidFill>
                <a:latin typeface="Arial" charset="0"/>
              </a:rPr>
              <a:t>……</a:t>
            </a:r>
            <a:endParaRPr lang="en-US" altLang="zh-CN" sz="2800" dirty="0">
              <a:solidFill>
                <a:schemeClr val="accent2"/>
              </a:solidFill>
            </a:endParaRPr>
          </a:p>
          <a:p>
            <a:pPr marL="449263" lvl="2" indent="23813" eaLnBrk="1" hangingPunct="1">
              <a:buFontTx/>
              <a:buNone/>
            </a:pPr>
            <a:r>
              <a:rPr lang="en-US" altLang="zh-CN" sz="2800" dirty="0">
                <a:solidFill>
                  <a:schemeClr val="accent2"/>
                </a:solidFill>
              </a:rPr>
              <a:t>}</a:t>
            </a:r>
            <a:r>
              <a:rPr lang="zh-CN" altLang="en-US" sz="2800" dirty="0">
                <a:solidFill>
                  <a:schemeClr val="accent2"/>
                </a:solidFill>
              </a:rPr>
              <a:t>；</a:t>
            </a:r>
            <a:endParaRPr lang="en-US" altLang="zh-CN" sz="2800" dirty="0">
              <a:solidFill>
                <a:schemeClr val="accent2"/>
              </a:solidFill>
            </a:endParaRPr>
          </a:p>
          <a:p>
            <a:pPr marL="449263" lvl="2" indent="23813" eaLnBrk="1" hangingPunct="1">
              <a:buFontTx/>
              <a:buNone/>
            </a:pPr>
            <a:endParaRPr lang="en-US" altLang="zh-CN" sz="2800" dirty="0">
              <a:solidFill>
                <a:schemeClr val="accent2"/>
              </a:solidFill>
            </a:endParaRPr>
          </a:p>
          <a:p>
            <a:pPr marL="369888" lvl="2" indent="-7938" eaLnBrk="1" hangingPunct="1">
              <a:buFontTx/>
              <a:buNone/>
            </a:pPr>
            <a:r>
              <a:rPr lang="en-US" altLang="zh-CN" dirty="0">
                <a:solidFill>
                  <a:schemeClr val="accent2"/>
                </a:solidFill>
              </a:rPr>
              <a:t>	</a:t>
            </a:r>
            <a:r>
              <a:rPr lang="zh-CN" altLang="en-US" sz="3100" dirty="0"/>
              <a:t>在用默认构造函数创建对象时，如果创建的是</a:t>
            </a:r>
            <a:r>
              <a:rPr lang="zh-CN" altLang="en-US" sz="3100" dirty="0">
                <a:solidFill>
                  <a:srgbClr val="FF0000"/>
                </a:solidFill>
              </a:rPr>
              <a:t>全局对象或静态对象</a:t>
            </a:r>
            <a:r>
              <a:rPr lang="zh-CN" altLang="en-US" sz="3100" dirty="0"/>
              <a:t>，则对象所有数据成员</a:t>
            </a:r>
            <a:r>
              <a:rPr lang="zh-CN" altLang="en-US" sz="3100" dirty="0">
                <a:solidFill>
                  <a:srgbClr val="FF0000"/>
                </a:solidFill>
              </a:rPr>
              <a:t>初始化为</a:t>
            </a:r>
            <a:r>
              <a:rPr lang="en-US" altLang="zh-CN" sz="3100" dirty="0">
                <a:solidFill>
                  <a:srgbClr val="FF0000"/>
                </a:solidFill>
              </a:rPr>
              <a:t>0</a:t>
            </a:r>
            <a:r>
              <a:rPr lang="zh-CN" altLang="en-US" sz="3100" dirty="0"/>
              <a:t>；如果创建的是</a:t>
            </a:r>
            <a:r>
              <a:rPr lang="zh-CN" altLang="en-US" sz="3100" dirty="0">
                <a:solidFill>
                  <a:srgbClr val="FF0000"/>
                </a:solidFill>
              </a:rPr>
              <a:t>局部非静态对象</a:t>
            </a:r>
            <a:r>
              <a:rPr lang="zh-CN" altLang="en-US" sz="3100" dirty="0"/>
              <a:t>，即</a:t>
            </a:r>
            <a:r>
              <a:rPr lang="zh-CN" altLang="en-US" sz="3100" dirty="0">
                <a:solidFill>
                  <a:srgbClr val="FF0000"/>
                </a:solidFill>
              </a:rPr>
              <a:t>不</a:t>
            </a:r>
            <a:r>
              <a:rPr lang="zh-CN" altLang="en-US" sz="3100" dirty="0"/>
              <a:t>进行对象数据成员的</a:t>
            </a:r>
            <a:r>
              <a:rPr lang="zh-CN" altLang="en-US" sz="3100" dirty="0">
                <a:solidFill>
                  <a:srgbClr val="FF0000"/>
                </a:solidFill>
              </a:rPr>
              <a:t>初始化</a:t>
            </a:r>
            <a:r>
              <a:rPr lang="zh-CN" altLang="en-US" sz="3100" dirty="0"/>
              <a:t>。</a:t>
            </a:r>
            <a:endParaRPr lang="en-US" altLang="zh-CN" sz="3100" dirty="0"/>
          </a:p>
          <a:p>
            <a:pPr marL="369888" lvl="2" indent="-7938" eaLnBrk="1" hangingPunct="1">
              <a:buFontTx/>
              <a:buNone/>
            </a:pPr>
            <a:endParaRPr lang="en-US" altLang="zh-CN" sz="3100" dirty="0"/>
          </a:p>
          <a:p>
            <a:pPr marL="369888" lvl="2" indent="-7938">
              <a:buNone/>
            </a:pPr>
            <a:r>
              <a:rPr lang="zh-CN" altLang="en-US" sz="3100" dirty="0"/>
              <a:t>全局对象：定义在函数之外的对象。</a:t>
            </a:r>
            <a:endParaRPr lang="en-US" altLang="zh-CN" sz="3100" dirty="0"/>
          </a:p>
          <a:p>
            <a:pPr marL="369888" lvl="2" indent="-7938">
              <a:buNone/>
            </a:pPr>
            <a:r>
              <a:rPr lang="zh-CN" altLang="en-US" sz="3100" dirty="0"/>
              <a:t>局部对象：定义在函数中的对象。</a:t>
            </a:r>
          </a:p>
          <a:p>
            <a:pPr>
              <a:buNone/>
            </a:pPr>
            <a:r>
              <a:rPr lang="en-US" altLang="zh-CN" sz="3600" b="1" dirty="0"/>
              <a:t>	</a:t>
            </a:r>
            <a:r>
              <a:rPr lang="zh-CN" altLang="en-US" sz="3100" dirty="0"/>
              <a:t>静态对象：定义时</a:t>
            </a:r>
            <a:r>
              <a:rPr lang="zh-CN" altLang="en-US" sz="3600" dirty="0"/>
              <a:t>用</a:t>
            </a:r>
            <a:r>
              <a:rPr lang="en-US" altLang="zh-CN" sz="3600" dirty="0"/>
              <a:t>static</a:t>
            </a:r>
            <a:r>
              <a:rPr lang="zh-CN" altLang="en-US" sz="3600" dirty="0"/>
              <a:t>修饰的对象，如 </a:t>
            </a:r>
            <a:r>
              <a:rPr lang="en-US" altLang="zh-CN" sz="3600" dirty="0"/>
              <a:t>static </a:t>
            </a:r>
            <a:r>
              <a:rPr lang="en-US" altLang="zh-CN" sz="3600" dirty="0" err="1"/>
              <a:t>int</a:t>
            </a:r>
            <a:r>
              <a:rPr lang="en-US" altLang="zh-CN" sz="3600" dirty="0"/>
              <a:t> a;</a:t>
            </a:r>
            <a:r>
              <a:rPr lang="en-US" altLang="zh-CN" sz="3600" dirty="0">
                <a:solidFill>
                  <a:srgbClr val="FF0000"/>
                </a:solidFill>
              </a:rPr>
              <a:t> </a:t>
            </a:r>
            <a:endParaRPr lang="en-US" altLang="zh-CN" sz="3600" b="1" dirty="0">
              <a:solidFill>
                <a:schemeClr val="accent2"/>
              </a:solidFill>
            </a:endParaRPr>
          </a:p>
        </p:txBody>
      </p:sp>
    </p:spTree>
    <p:extLst>
      <p:ext uri="{BB962C8B-B14F-4D97-AF65-F5344CB8AC3E}">
        <p14:creationId xmlns:p14="http://schemas.microsoft.com/office/powerpoint/2010/main" val="663548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32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32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32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32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32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3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512" y="-19959"/>
            <a:ext cx="7848872" cy="6905343"/>
          </a:xfrm>
          <a:prstGeom prst="rect">
            <a:avLst/>
          </a:prstGeom>
          <a:solidFill>
            <a:schemeClr val="bg1"/>
          </a:solidFill>
          <a:ln>
            <a:solidFill>
              <a:schemeClr val="accent1">
                <a:shade val="50000"/>
              </a:schemeClr>
            </a:solidFill>
          </a:ln>
        </p:spPr>
        <p:txBody>
          <a:bodyPr wrap="square" lIns="72000" tIns="72000" rIns="0" bIns="0">
            <a:spAutoFit/>
          </a:bodyPr>
          <a:lstStyle/>
          <a:p>
            <a:r>
              <a:rPr lang="en-US" altLang="zh-CN" dirty="0">
                <a:solidFill>
                  <a:srgbClr val="808080"/>
                </a:solidFill>
                <a:highlight>
                  <a:srgbClr val="FFFFFF"/>
                </a:highlight>
                <a:latin typeface="新宋体"/>
                <a:ea typeface="新宋体"/>
              </a:rPr>
              <a:t>#include</a:t>
            </a:r>
            <a:r>
              <a:rPr lang="en-US" altLang="zh-CN" dirty="0">
                <a:solidFill>
                  <a:srgbClr val="000000"/>
                </a:solidFill>
                <a:highlight>
                  <a:srgbClr val="FFFFFF"/>
                </a:highlight>
                <a:latin typeface="新宋体"/>
                <a:ea typeface="新宋体"/>
              </a:rPr>
              <a:t> </a:t>
            </a:r>
            <a:r>
              <a:rPr lang="en-US" altLang="zh-CN" dirty="0">
                <a:solidFill>
                  <a:srgbClr val="A31515"/>
                </a:solidFill>
                <a:highlight>
                  <a:srgbClr val="FFFFFF"/>
                </a:highlight>
                <a:latin typeface="新宋体"/>
                <a:ea typeface="新宋体"/>
              </a:rPr>
              <a:t>&lt;</a:t>
            </a:r>
            <a:r>
              <a:rPr lang="en-US" altLang="zh-CN" dirty="0" err="1">
                <a:solidFill>
                  <a:srgbClr val="A31515"/>
                </a:solidFill>
                <a:highlight>
                  <a:srgbClr val="FFFFFF"/>
                </a:highlight>
                <a:latin typeface="新宋体"/>
                <a:ea typeface="新宋体"/>
              </a:rPr>
              <a:t>iostream</a:t>
            </a:r>
            <a:r>
              <a:rPr lang="en-US" altLang="zh-CN" dirty="0">
                <a:solidFill>
                  <a:srgbClr val="A31515"/>
                </a:solidFill>
                <a:highlight>
                  <a:srgbClr val="FFFFFF"/>
                </a:highlight>
                <a:latin typeface="新宋体"/>
                <a:ea typeface="新宋体"/>
              </a:rPr>
              <a:t>&gt;</a:t>
            </a:r>
            <a:endParaRPr lang="en-US" altLang="zh-CN"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using</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namespace</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std</a:t>
            </a:r>
            <a:r>
              <a:rPr lang="en-US" altLang="zh-CN"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x, y;</a:t>
            </a:r>
          </a:p>
          <a:p>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358775"/>
            <a:r>
              <a:rPr lang="en-US" altLang="zh-CN" sz="2400" dirty="0">
                <a:solidFill>
                  <a:srgbClr val="0000FF"/>
                </a:solidFill>
                <a:highlight>
                  <a:srgbClr val="FFFFFF"/>
                </a:highlight>
                <a:latin typeface="新宋体"/>
                <a:ea typeface="新宋体"/>
              </a:rPr>
              <a:t>void</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setpoint</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a</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b</a:t>
            </a:r>
            <a:r>
              <a:rPr lang="en-US" altLang="zh-CN" sz="2400" dirty="0">
                <a:solidFill>
                  <a:srgbClr val="000000"/>
                </a:solidFill>
                <a:highlight>
                  <a:srgbClr val="FFFFFF"/>
                </a:highlight>
                <a:latin typeface="新宋体"/>
                <a:ea typeface="新宋体"/>
              </a:rPr>
              <a:t>) { x = </a:t>
            </a:r>
            <a:r>
              <a:rPr lang="en-US" altLang="zh-CN" sz="2400" dirty="0">
                <a:solidFill>
                  <a:srgbClr val="808080"/>
                </a:solidFill>
                <a:highlight>
                  <a:srgbClr val="FFFFFF"/>
                </a:highlight>
                <a:latin typeface="新宋体"/>
                <a:ea typeface="新宋体"/>
              </a:rPr>
              <a:t>a</a:t>
            </a:r>
            <a:r>
              <a:rPr lang="en-US" altLang="zh-CN" sz="2400" dirty="0">
                <a:solidFill>
                  <a:srgbClr val="000000"/>
                </a:solidFill>
                <a:highlight>
                  <a:srgbClr val="FFFFFF"/>
                </a:highlight>
                <a:latin typeface="新宋体"/>
                <a:ea typeface="新宋体"/>
              </a:rPr>
              <a:t>; y = </a:t>
            </a:r>
            <a:r>
              <a:rPr lang="en-US" altLang="zh-CN" sz="2400" dirty="0">
                <a:solidFill>
                  <a:srgbClr val="808080"/>
                </a:solidFill>
                <a:highlight>
                  <a:srgbClr val="FFFFFF"/>
                </a:highlight>
                <a:latin typeface="新宋体"/>
                <a:ea typeface="新宋体"/>
              </a:rPr>
              <a:t>b</a:t>
            </a:r>
            <a:r>
              <a:rPr lang="en-US" altLang="zh-CN" sz="2400" dirty="0">
                <a:solidFill>
                  <a:srgbClr val="000000"/>
                </a:solidFill>
                <a:highlight>
                  <a:srgbClr val="FFFFFF"/>
                </a:highlight>
                <a:latin typeface="新宋体"/>
                <a:ea typeface="新宋体"/>
              </a:rPr>
              <a:t>; }</a:t>
            </a:r>
          </a:p>
          <a:p>
            <a:pPr marL="35877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getx</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x; }</a:t>
            </a:r>
          </a:p>
          <a:p>
            <a:pPr marL="35877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gety</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y; }</a:t>
            </a:r>
          </a:p>
          <a:p>
            <a:r>
              <a:rPr lang="en-US" altLang="zh-CN" sz="2400" dirty="0">
                <a:solidFill>
                  <a:srgbClr val="000000"/>
                </a:solidFill>
                <a:highlight>
                  <a:srgbClr val="FFFFFF"/>
                </a:highlight>
                <a:latin typeface="新宋体"/>
                <a:ea typeface="新宋体"/>
              </a:rPr>
              <a:t>};</a:t>
            </a:r>
          </a:p>
          <a:p>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p1;</a:t>
            </a:r>
          </a:p>
          <a:p>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main() </a:t>
            </a:r>
          </a:p>
          <a:p>
            <a:r>
              <a:rPr lang="en-US" altLang="zh-CN" sz="2400" dirty="0">
                <a:solidFill>
                  <a:srgbClr val="000000"/>
                </a:solidFill>
                <a:highlight>
                  <a:srgbClr val="FFFFFF"/>
                </a:highlight>
                <a:latin typeface="新宋体"/>
                <a:ea typeface="新宋体"/>
              </a:rPr>
              <a:t>{  </a:t>
            </a:r>
            <a:r>
              <a:rPr lang="en-US" altLang="zh-CN" sz="2400" dirty="0">
                <a:solidFill>
                  <a:srgbClr val="0000FF"/>
                </a:solidFill>
                <a:highlight>
                  <a:srgbClr val="FFFFFF"/>
                </a:highlight>
                <a:latin typeface="新宋体"/>
                <a:ea typeface="新宋体"/>
              </a:rPr>
              <a:t>static</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p2;</a:t>
            </a:r>
          </a:p>
          <a:p>
            <a:pPr marL="358775"/>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p3;</a:t>
            </a:r>
          </a:p>
          <a:p>
            <a:pPr marL="35877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"p1: "</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p1.getx()</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p1.gety()</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pPr marL="35877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"p2: "</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p2.getx()</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p2.gety()</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pPr marL="35877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"p3: "</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p3.getx()</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p3.gety()</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pPr marL="358775"/>
            <a:r>
              <a:rPr lang="en-US" altLang="zh-CN" sz="2400" dirty="0">
                <a:solidFill>
                  <a:srgbClr val="000000"/>
                </a:solidFill>
                <a:highlight>
                  <a:srgbClr val="FFFFFF"/>
                </a:highlight>
                <a:latin typeface="新宋体"/>
                <a:ea typeface="新宋体"/>
              </a:rPr>
              <a:t>return 0;</a:t>
            </a:r>
          </a:p>
          <a:p>
            <a:r>
              <a:rPr lang="en-US" altLang="zh-CN" sz="2400" dirty="0">
                <a:solidFill>
                  <a:srgbClr val="000000"/>
                </a:solidFill>
                <a:highlight>
                  <a:srgbClr val="FFFFFF"/>
                </a:highlight>
                <a:latin typeface="新宋体"/>
                <a:ea typeface="新宋体"/>
              </a:rPr>
              <a:t>}</a:t>
            </a:r>
          </a:p>
        </p:txBody>
      </p:sp>
      <p:sp>
        <p:nvSpPr>
          <p:cNvPr id="4" name="矩形 3"/>
          <p:cNvSpPr/>
          <p:nvPr/>
        </p:nvSpPr>
        <p:spPr>
          <a:xfrm>
            <a:off x="2987824" y="252032"/>
            <a:ext cx="4458272" cy="396134"/>
          </a:xfrm>
          <a:prstGeom prst="rect">
            <a:avLst/>
          </a:prstGeom>
        </p:spPr>
        <p:txBody>
          <a:bodyPr wrap="none">
            <a:spAutoFit/>
          </a:bodyPr>
          <a:lstStyle/>
          <a:p>
            <a:pPr marL="342900" lvl="0" indent="-342900">
              <a:lnSpc>
                <a:spcPct val="80000"/>
              </a:lnSpc>
              <a:spcBef>
                <a:spcPct val="20000"/>
              </a:spcBef>
              <a:buClr>
                <a:srgbClr val="477AB1"/>
              </a:buClr>
              <a:buSzPct val="50000"/>
            </a:pPr>
            <a:r>
              <a:rPr lang="en-US" altLang="zh-CN" sz="2400" b="1" dirty="0">
                <a:solidFill>
                  <a:prstClr val="black"/>
                </a:solidFill>
              </a:rPr>
              <a:t>【</a:t>
            </a:r>
            <a:r>
              <a:rPr lang="zh-CN" altLang="en-US" sz="2400" b="1" dirty="0">
                <a:solidFill>
                  <a:prstClr val="black"/>
                </a:solidFill>
              </a:rPr>
              <a:t>例</a:t>
            </a:r>
            <a:r>
              <a:rPr lang="en-US" altLang="zh-CN" sz="2400" b="1" dirty="0">
                <a:solidFill>
                  <a:prstClr val="black"/>
                </a:solidFill>
              </a:rPr>
              <a:t>】  point</a:t>
            </a:r>
            <a:r>
              <a:rPr lang="zh-CN" altLang="en-US" sz="2400" b="1" dirty="0">
                <a:solidFill>
                  <a:prstClr val="black"/>
                </a:solidFill>
              </a:rPr>
              <a:t>类的默认构造函数</a:t>
            </a:r>
          </a:p>
        </p:txBody>
      </p:sp>
      <p:sp>
        <p:nvSpPr>
          <p:cNvPr id="6" name="矩形 5"/>
          <p:cNvSpPr/>
          <p:nvPr/>
        </p:nvSpPr>
        <p:spPr>
          <a:xfrm>
            <a:off x="5076056" y="2649537"/>
            <a:ext cx="4056464" cy="1200329"/>
          </a:xfrm>
          <a:prstGeom prst="rect">
            <a:avLst/>
          </a:prstGeom>
          <a:solidFill>
            <a:schemeClr val="tx1"/>
          </a:solidFill>
        </p:spPr>
        <p:txBody>
          <a:bodyPr wrap="square">
            <a:spAutoFit/>
          </a:bodyPr>
          <a:lstStyle/>
          <a:p>
            <a:r>
              <a:rPr lang="nn-NO" altLang="zh-CN" sz="2400" dirty="0">
                <a:solidFill>
                  <a:schemeClr val="bg1"/>
                </a:solidFill>
              </a:rPr>
              <a:t>p1: 0,0</a:t>
            </a:r>
          </a:p>
          <a:p>
            <a:r>
              <a:rPr lang="nn-NO" altLang="zh-CN" sz="2400" dirty="0">
                <a:solidFill>
                  <a:schemeClr val="bg1"/>
                </a:solidFill>
              </a:rPr>
              <a:t>p2: 0,0</a:t>
            </a:r>
          </a:p>
          <a:p>
            <a:r>
              <a:rPr lang="nn-NO" altLang="zh-CN" sz="2400" dirty="0">
                <a:solidFill>
                  <a:schemeClr val="bg1"/>
                </a:solidFill>
              </a:rPr>
              <a:t>p3: -858993460,-858993460</a:t>
            </a:r>
            <a:endParaRPr lang="zh-CN" altLang="en-US" sz="2400" dirty="0">
              <a:solidFill>
                <a:schemeClr val="bg1"/>
              </a:solidFill>
            </a:endParaRPr>
          </a:p>
        </p:txBody>
      </p:sp>
      <p:grpSp>
        <p:nvGrpSpPr>
          <p:cNvPr id="16" name="组合 15"/>
          <p:cNvGrpSpPr/>
          <p:nvPr/>
        </p:nvGrpSpPr>
        <p:grpSpPr>
          <a:xfrm>
            <a:off x="179512" y="3429000"/>
            <a:ext cx="4816023" cy="504056"/>
            <a:chOff x="179512" y="3429000"/>
            <a:chExt cx="4816023" cy="504056"/>
          </a:xfrm>
        </p:grpSpPr>
        <p:sp>
          <p:nvSpPr>
            <p:cNvPr id="7" name="矩形 6"/>
            <p:cNvSpPr/>
            <p:nvPr/>
          </p:nvSpPr>
          <p:spPr>
            <a:xfrm>
              <a:off x="1835696" y="3429000"/>
              <a:ext cx="3159839" cy="461665"/>
            </a:xfrm>
            <a:prstGeom prst="rect">
              <a:avLst/>
            </a:prstGeom>
            <a:solidFill>
              <a:schemeClr val="tx2">
                <a:lumMod val="10000"/>
                <a:lumOff val="90000"/>
              </a:schemeClr>
            </a:solidFill>
          </p:spPr>
          <p:txBody>
            <a:bodyPr wrap="none">
              <a:spAutoFit/>
            </a:bodyPr>
            <a:lstStyle/>
            <a:p>
              <a:pPr lvl="0">
                <a:spcBef>
                  <a:spcPct val="0"/>
                </a:spcBef>
              </a:pPr>
              <a:r>
                <a:rPr lang="zh-CN" altLang="en-US" sz="2400" dirty="0">
                  <a:solidFill>
                    <a:prstClr val="black"/>
                  </a:solidFill>
                  <a:latin typeface="Times New Roman" pitchFamily="18" charset="0"/>
                </a:rPr>
                <a:t>全局对象</a:t>
              </a:r>
              <a:r>
                <a:rPr lang="en-US" altLang="zh-CN" sz="2400" dirty="0">
                  <a:solidFill>
                    <a:prstClr val="black"/>
                  </a:solidFill>
                  <a:latin typeface="Times New Roman" pitchFamily="18" charset="0"/>
                </a:rPr>
                <a:t>(</a:t>
              </a:r>
              <a:r>
                <a:rPr lang="zh-CN" altLang="en-US" sz="2400" dirty="0">
                  <a:solidFill>
                    <a:prstClr val="black"/>
                  </a:solidFill>
                  <a:latin typeface="Times New Roman" pitchFamily="18" charset="0"/>
                </a:rPr>
                <a:t>静态存储区</a:t>
              </a:r>
              <a:r>
                <a:rPr lang="en-US" altLang="zh-CN" sz="2400" dirty="0">
                  <a:solidFill>
                    <a:prstClr val="black"/>
                  </a:solidFill>
                  <a:latin typeface="Times New Roman" pitchFamily="18" charset="0"/>
                </a:rPr>
                <a:t>)</a:t>
              </a:r>
            </a:p>
          </p:txBody>
        </p:sp>
        <p:cxnSp>
          <p:nvCxnSpPr>
            <p:cNvPr id="14" name="直接连接符 13"/>
            <p:cNvCxnSpPr/>
            <p:nvPr/>
          </p:nvCxnSpPr>
          <p:spPr>
            <a:xfrm>
              <a:off x="179512" y="3933056"/>
              <a:ext cx="1296144"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83568" y="4221088"/>
            <a:ext cx="7000652" cy="461665"/>
            <a:chOff x="683568" y="4221088"/>
            <a:chExt cx="7000652" cy="461665"/>
          </a:xfrm>
        </p:grpSpPr>
        <p:sp>
          <p:nvSpPr>
            <p:cNvPr id="10" name="矩形 9"/>
            <p:cNvSpPr/>
            <p:nvPr/>
          </p:nvSpPr>
          <p:spPr>
            <a:xfrm>
              <a:off x="3908827" y="4221088"/>
              <a:ext cx="3775393" cy="461665"/>
            </a:xfrm>
            <a:prstGeom prst="rect">
              <a:avLst/>
            </a:prstGeom>
            <a:solidFill>
              <a:schemeClr val="tx2">
                <a:lumMod val="10000"/>
                <a:lumOff val="90000"/>
              </a:schemeClr>
            </a:solidFill>
          </p:spPr>
          <p:txBody>
            <a:bodyPr wrap="none">
              <a:spAutoFit/>
            </a:bodyPr>
            <a:lstStyle/>
            <a:p>
              <a:pPr>
                <a:spcBef>
                  <a:spcPct val="0"/>
                </a:spcBef>
              </a:pPr>
              <a:r>
                <a:rPr lang="zh-CN" altLang="en-US" sz="2400" dirty="0">
                  <a:solidFill>
                    <a:prstClr val="black"/>
                  </a:solidFill>
                  <a:latin typeface="Times New Roman" pitchFamily="18" charset="0"/>
                </a:rPr>
                <a:t>静态局部对象</a:t>
              </a:r>
              <a:r>
                <a:rPr lang="en-US" altLang="zh-CN" sz="2400" dirty="0">
                  <a:solidFill>
                    <a:prstClr val="black"/>
                  </a:solidFill>
                  <a:latin typeface="Times New Roman" pitchFamily="18" charset="0"/>
                </a:rPr>
                <a:t>(</a:t>
              </a:r>
              <a:r>
                <a:rPr lang="zh-CN" altLang="en-US" sz="2400" dirty="0">
                  <a:solidFill>
                    <a:prstClr val="black"/>
                  </a:solidFill>
                  <a:latin typeface="Times New Roman" pitchFamily="18" charset="0"/>
                </a:rPr>
                <a:t>静态存储区</a:t>
              </a:r>
              <a:r>
                <a:rPr lang="en-US" altLang="zh-CN" sz="2400" dirty="0">
                  <a:solidFill>
                    <a:prstClr val="black"/>
                  </a:solidFill>
                  <a:latin typeface="Times New Roman" pitchFamily="18" charset="0"/>
                </a:rPr>
                <a:t>)</a:t>
              </a:r>
            </a:p>
          </p:txBody>
        </p:sp>
        <p:cxnSp>
          <p:nvCxnSpPr>
            <p:cNvPr id="17" name="直接连接符 16"/>
            <p:cNvCxnSpPr/>
            <p:nvPr/>
          </p:nvCxnSpPr>
          <p:spPr>
            <a:xfrm>
              <a:off x="683568" y="4653136"/>
              <a:ext cx="2304256"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611560" y="4653136"/>
            <a:ext cx="3725219" cy="400110"/>
            <a:chOff x="611560" y="4653136"/>
            <a:chExt cx="3725219" cy="400110"/>
          </a:xfrm>
        </p:grpSpPr>
        <p:sp>
          <p:nvSpPr>
            <p:cNvPr id="11" name="矩形 10"/>
            <p:cNvSpPr/>
            <p:nvPr/>
          </p:nvSpPr>
          <p:spPr>
            <a:xfrm>
              <a:off x="2699792" y="4653136"/>
              <a:ext cx="1636987" cy="400110"/>
            </a:xfrm>
            <a:prstGeom prst="rect">
              <a:avLst/>
            </a:prstGeom>
            <a:solidFill>
              <a:schemeClr val="tx2">
                <a:lumMod val="10000"/>
                <a:lumOff val="90000"/>
              </a:schemeClr>
            </a:solidFill>
          </p:spPr>
          <p:txBody>
            <a:bodyPr wrap="none">
              <a:spAutoFit/>
            </a:bodyPr>
            <a:lstStyle/>
            <a:p>
              <a:pPr lvl="0">
                <a:spcBef>
                  <a:spcPct val="0"/>
                </a:spcBef>
              </a:pPr>
              <a:r>
                <a:rPr lang="zh-CN" altLang="en-US" sz="2000" dirty="0">
                  <a:solidFill>
                    <a:prstClr val="black"/>
                  </a:solidFill>
                  <a:latin typeface="Times New Roman" pitchFamily="18" charset="0"/>
                </a:rPr>
                <a:t>局部对象</a:t>
              </a:r>
              <a:r>
                <a:rPr lang="en-US" altLang="zh-CN" sz="2000" dirty="0">
                  <a:solidFill>
                    <a:prstClr val="black"/>
                  </a:solidFill>
                  <a:latin typeface="Times New Roman" pitchFamily="18" charset="0"/>
                </a:rPr>
                <a:t>(</a:t>
              </a:r>
              <a:r>
                <a:rPr lang="zh-CN" altLang="en-US" sz="2000" dirty="0">
                  <a:solidFill>
                    <a:prstClr val="black"/>
                  </a:solidFill>
                  <a:latin typeface="Times New Roman" pitchFamily="18" charset="0"/>
                </a:rPr>
                <a:t>栈</a:t>
              </a:r>
              <a:r>
                <a:rPr lang="en-US" altLang="zh-CN" sz="2000" dirty="0">
                  <a:solidFill>
                    <a:prstClr val="black"/>
                  </a:solidFill>
                  <a:latin typeface="Times New Roman" pitchFamily="18" charset="0"/>
                </a:rPr>
                <a:t>)</a:t>
              </a:r>
            </a:p>
          </p:txBody>
        </p:sp>
        <p:cxnSp>
          <p:nvCxnSpPr>
            <p:cNvPr id="19" name="直接连接符 18"/>
            <p:cNvCxnSpPr/>
            <p:nvPr/>
          </p:nvCxnSpPr>
          <p:spPr>
            <a:xfrm>
              <a:off x="611560" y="5013176"/>
              <a:ext cx="1296144"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827585" y="1226949"/>
            <a:ext cx="3801233" cy="833899"/>
            <a:chOff x="827585" y="1226949"/>
            <a:chExt cx="3801233" cy="833899"/>
          </a:xfrm>
        </p:grpSpPr>
        <p:sp>
          <p:nvSpPr>
            <p:cNvPr id="12" name="矩形 11"/>
            <p:cNvSpPr/>
            <p:nvPr/>
          </p:nvSpPr>
          <p:spPr>
            <a:xfrm>
              <a:off x="2762601" y="1226949"/>
              <a:ext cx="1866217" cy="523220"/>
            </a:xfrm>
            <a:prstGeom prst="rect">
              <a:avLst/>
            </a:prstGeom>
            <a:solidFill>
              <a:srgbClr val="FFFF00"/>
            </a:solidFill>
          </p:spPr>
          <p:txBody>
            <a:bodyPr wrap="none">
              <a:spAutoFit/>
            </a:bodyPr>
            <a:lstStyle/>
            <a:p>
              <a:r>
                <a:rPr lang="en-US" altLang="zh-CN" sz="2800" dirty="0"/>
                <a:t> point() { } </a:t>
              </a:r>
              <a:endParaRPr lang="zh-CN" altLang="en-US" sz="2800" dirty="0"/>
            </a:p>
          </p:txBody>
        </p:sp>
        <p:cxnSp>
          <p:nvCxnSpPr>
            <p:cNvPr id="22" name="直接箭头连接符 21"/>
            <p:cNvCxnSpPr/>
            <p:nvPr/>
          </p:nvCxnSpPr>
          <p:spPr>
            <a:xfrm flipH="1">
              <a:off x="827585" y="1750169"/>
              <a:ext cx="1935016" cy="3106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49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108520" y="116633"/>
            <a:ext cx="9144000" cy="936104"/>
          </a:xfrm>
        </p:spPr>
        <p:txBody>
          <a:bodyPr>
            <a:normAutofit/>
          </a:bodyPr>
          <a:lstStyle/>
          <a:p>
            <a:pPr eaLnBrk="1" hangingPunct="1">
              <a:lnSpc>
                <a:spcPct val="80000"/>
              </a:lnSpc>
            </a:pPr>
            <a:r>
              <a:rPr lang="zh-CN" altLang="en-US" sz="2000" dirty="0"/>
              <a:t>说明：在类没有定义任何构造函数时，系统才会产生默认构造函数。</a:t>
            </a:r>
          </a:p>
          <a:p>
            <a:pPr eaLnBrk="1" hangingPunct="1">
              <a:lnSpc>
                <a:spcPct val="80000"/>
              </a:lnSpc>
            </a:pPr>
            <a:r>
              <a:rPr lang="zh-CN" altLang="en-US" sz="2000" dirty="0">
                <a:solidFill>
                  <a:srgbClr val="FF3300"/>
                </a:solidFill>
              </a:rPr>
              <a:t>一旦定义了任何形式的构造函数，系统就不再产生默认构造函数。</a:t>
            </a:r>
          </a:p>
          <a:p>
            <a:pPr lvl="1" eaLnBrk="1" hangingPunct="1">
              <a:lnSpc>
                <a:spcPct val="80000"/>
              </a:lnSpc>
              <a:buFontTx/>
              <a:buNone/>
            </a:pPr>
            <a:r>
              <a:rPr lang="en-US" altLang="zh-CN" sz="1800" dirty="0"/>
              <a:t>【</a:t>
            </a:r>
            <a:r>
              <a:rPr lang="zh-CN" altLang="en-US" sz="1800" dirty="0"/>
              <a:t>例</a:t>
            </a:r>
            <a:r>
              <a:rPr lang="en-US" altLang="zh-CN" sz="1800" dirty="0"/>
              <a:t>】  </a:t>
            </a:r>
            <a:r>
              <a:rPr lang="zh-CN" altLang="en-US" sz="1800" dirty="0"/>
              <a:t>未定义无参构造函数引发的错误。</a:t>
            </a:r>
          </a:p>
        </p:txBody>
      </p:sp>
      <p:sp>
        <p:nvSpPr>
          <p:cNvPr id="3" name="矩形 2"/>
          <p:cNvSpPr/>
          <p:nvPr/>
        </p:nvSpPr>
        <p:spPr>
          <a:xfrm>
            <a:off x="395536" y="1052736"/>
            <a:ext cx="6552728" cy="5816977"/>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808080"/>
                </a:solidFill>
                <a:highlight>
                  <a:srgbClr val="FFFFFF"/>
                </a:highlight>
                <a:latin typeface="新宋体"/>
                <a:ea typeface="新宋体"/>
              </a:rPr>
              <a:t>#include</a:t>
            </a:r>
            <a:r>
              <a:rPr lang="en-US" altLang="zh-CN" dirty="0">
                <a:solidFill>
                  <a:srgbClr val="000000"/>
                </a:solidFill>
                <a:highlight>
                  <a:srgbClr val="FFFFFF"/>
                </a:highlight>
                <a:latin typeface="新宋体"/>
                <a:ea typeface="新宋体"/>
              </a:rPr>
              <a:t> </a:t>
            </a:r>
            <a:r>
              <a:rPr lang="en-US" altLang="zh-CN" dirty="0">
                <a:solidFill>
                  <a:srgbClr val="A31515"/>
                </a:solidFill>
                <a:highlight>
                  <a:srgbClr val="FFFFFF"/>
                </a:highlight>
                <a:latin typeface="新宋体"/>
                <a:ea typeface="新宋体"/>
              </a:rPr>
              <a:t>&lt;</a:t>
            </a:r>
            <a:r>
              <a:rPr lang="en-US" altLang="zh-CN" dirty="0" err="1">
                <a:solidFill>
                  <a:srgbClr val="A31515"/>
                </a:solidFill>
                <a:highlight>
                  <a:srgbClr val="FFFFFF"/>
                </a:highlight>
                <a:latin typeface="新宋体"/>
                <a:ea typeface="新宋体"/>
              </a:rPr>
              <a:t>iostream</a:t>
            </a:r>
            <a:r>
              <a:rPr lang="en-US" altLang="zh-CN" dirty="0">
                <a:solidFill>
                  <a:srgbClr val="A31515"/>
                </a:solidFill>
                <a:highlight>
                  <a:srgbClr val="FFFFFF"/>
                </a:highlight>
                <a:latin typeface="新宋体"/>
                <a:ea typeface="新宋体"/>
              </a:rPr>
              <a:t>&gt;</a:t>
            </a:r>
            <a:endParaRPr lang="en-US" altLang="zh-CN"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using</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namespace</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std</a:t>
            </a:r>
            <a:r>
              <a:rPr lang="en-US" altLang="zh-CN"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a:t>
            </a: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x, y;</a:t>
            </a:r>
          </a:p>
          <a:p>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   point(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a</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b</a:t>
            </a:r>
            <a:r>
              <a:rPr lang="en-US" altLang="zh-CN" sz="2400" dirty="0">
                <a:solidFill>
                  <a:srgbClr val="000000"/>
                </a:solidFill>
                <a:highlight>
                  <a:srgbClr val="FFFFFF"/>
                </a:highlight>
                <a:latin typeface="新宋体"/>
                <a:ea typeface="新宋体"/>
              </a:rPr>
              <a:t>) { x = </a:t>
            </a:r>
            <a:r>
              <a:rPr lang="en-US" altLang="zh-CN" sz="2400" dirty="0">
                <a:solidFill>
                  <a:srgbClr val="808080"/>
                </a:solidFill>
                <a:highlight>
                  <a:srgbClr val="FFFFFF"/>
                </a:highlight>
                <a:latin typeface="新宋体"/>
                <a:ea typeface="新宋体"/>
              </a:rPr>
              <a:t>a</a:t>
            </a:r>
            <a:r>
              <a:rPr lang="en-US" altLang="zh-CN" sz="2400" dirty="0">
                <a:solidFill>
                  <a:srgbClr val="000000"/>
                </a:solidFill>
                <a:highlight>
                  <a:srgbClr val="FFFFFF"/>
                </a:highlight>
                <a:latin typeface="新宋体"/>
                <a:ea typeface="新宋体"/>
              </a:rPr>
              <a:t>; y = </a:t>
            </a:r>
            <a:r>
              <a:rPr lang="en-US" altLang="zh-CN" sz="2400" dirty="0">
                <a:solidFill>
                  <a:srgbClr val="808080"/>
                </a:solidFill>
                <a:highlight>
                  <a:srgbClr val="FFFFFF"/>
                </a:highlight>
                <a:latin typeface="新宋体"/>
                <a:ea typeface="新宋体"/>
              </a:rPr>
              <a:t>b</a:t>
            </a:r>
            <a:r>
              <a:rPr lang="en-US" altLang="zh-CN" sz="2400" dirty="0">
                <a:solidFill>
                  <a:srgbClr val="000000"/>
                </a:solidFill>
                <a:highlight>
                  <a:srgbClr val="FFFFFF"/>
                </a:highlight>
                <a:latin typeface="新宋体"/>
                <a:ea typeface="新宋体"/>
              </a:rPr>
              <a:t>; }</a:t>
            </a:r>
          </a:p>
          <a:p>
            <a:r>
              <a:rPr lang="en-US" altLang="zh-CN" sz="2400" dirty="0">
                <a:solidFill>
                  <a:srgbClr val="008000"/>
                </a:solidFill>
                <a:highlight>
                  <a:srgbClr val="FFFFFF"/>
                </a:highlight>
                <a:latin typeface="新宋体"/>
                <a:ea typeface="新宋体"/>
              </a:rPr>
              <a:t>   //……</a:t>
            </a:r>
            <a:endParaRPr lang="zh-CN" altLang="en-US"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p>
          <a:p>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p1;</a:t>
            </a:r>
          </a:p>
          <a:p>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main()</a:t>
            </a:r>
          </a:p>
          <a:p>
            <a:r>
              <a:rPr lang="en-US" altLang="zh-CN" sz="2400" dirty="0">
                <a:solidFill>
                  <a:srgbClr val="000000"/>
                </a:solidFill>
                <a:highlight>
                  <a:srgbClr val="FFFFFF"/>
                </a:highlight>
                <a:latin typeface="新宋体"/>
                <a:ea typeface="新宋体"/>
              </a:rPr>
              <a:t>{  </a:t>
            </a:r>
            <a:r>
              <a:rPr lang="en-US" altLang="zh-CN" sz="2400" dirty="0">
                <a:solidFill>
                  <a:srgbClr val="0000FF"/>
                </a:solidFill>
                <a:highlight>
                  <a:srgbClr val="FFFFFF"/>
                </a:highlight>
                <a:latin typeface="新宋体"/>
                <a:ea typeface="新宋体"/>
              </a:rPr>
              <a:t>static</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 p2;</a:t>
            </a:r>
          </a:p>
          <a:p>
            <a:r>
              <a:rPr lang="en-US" altLang="zh-CN" sz="2400" dirty="0">
                <a:solidFill>
                  <a:srgbClr val="2B91AF"/>
                </a:solidFill>
                <a:highlight>
                  <a:srgbClr val="FFFFFF"/>
                </a:highlight>
                <a:latin typeface="新宋体"/>
                <a:ea typeface="新宋体"/>
              </a:rPr>
              <a:t>   point</a:t>
            </a:r>
            <a:r>
              <a:rPr lang="en-US" altLang="zh-CN" sz="2400" dirty="0">
                <a:solidFill>
                  <a:srgbClr val="000000"/>
                </a:solidFill>
                <a:highlight>
                  <a:srgbClr val="FFFFFF"/>
                </a:highlight>
                <a:latin typeface="新宋体"/>
                <a:ea typeface="新宋体"/>
              </a:rPr>
              <a:t> p3, *p4, a[10];</a:t>
            </a:r>
          </a:p>
          <a:p>
            <a:r>
              <a:rPr lang="en-US" altLang="zh-CN" sz="2400" dirty="0">
                <a:solidFill>
                  <a:srgbClr val="000000"/>
                </a:solidFill>
                <a:highlight>
                  <a:srgbClr val="FFFFFF"/>
                </a:highlight>
                <a:latin typeface="新宋体"/>
                <a:ea typeface="新宋体"/>
              </a:rPr>
              <a:t>   p4 = </a:t>
            </a:r>
            <a:r>
              <a:rPr lang="en-US" altLang="zh-CN" sz="2400" dirty="0">
                <a:solidFill>
                  <a:srgbClr val="008080"/>
                </a:solidFill>
                <a:highlight>
                  <a:srgbClr val="FFFFFF"/>
                </a:highlight>
                <a:latin typeface="新宋体"/>
                <a:ea typeface="新宋体"/>
              </a:rPr>
              <a:t>new</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   return</a:t>
            </a:r>
            <a:r>
              <a:rPr lang="en-US" altLang="zh-CN" sz="2400" dirty="0">
                <a:solidFill>
                  <a:srgbClr val="000000"/>
                </a:solidFill>
                <a:highlight>
                  <a:srgbClr val="FFFFFF"/>
                </a:highlight>
                <a:latin typeface="新宋体"/>
                <a:ea typeface="新宋体"/>
              </a:rPr>
              <a:t> 0</a:t>
            </a:r>
            <a:r>
              <a:rPr lang="zh-CN" altLang="en-US"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p:txBody>
      </p:sp>
      <p:sp>
        <p:nvSpPr>
          <p:cNvPr id="6" name="乘号 5"/>
          <p:cNvSpPr/>
          <p:nvPr/>
        </p:nvSpPr>
        <p:spPr>
          <a:xfrm>
            <a:off x="3131840" y="4941168"/>
            <a:ext cx="432048" cy="432048"/>
          </a:xfrm>
          <a:prstGeom prst="mathMultiply">
            <a:avLst>
              <a:gd name="adj1" fmla="val 2356"/>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乘号 8"/>
          <p:cNvSpPr/>
          <p:nvPr/>
        </p:nvSpPr>
        <p:spPr>
          <a:xfrm>
            <a:off x="1979712" y="5301208"/>
            <a:ext cx="432048" cy="432048"/>
          </a:xfrm>
          <a:prstGeom prst="mathMultiply">
            <a:avLst>
              <a:gd name="adj1" fmla="val 2356"/>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乘号 9"/>
          <p:cNvSpPr/>
          <p:nvPr/>
        </p:nvSpPr>
        <p:spPr>
          <a:xfrm>
            <a:off x="3203848" y="5301208"/>
            <a:ext cx="432048" cy="432048"/>
          </a:xfrm>
          <a:prstGeom prst="mathMultiply">
            <a:avLst>
              <a:gd name="adj1" fmla="val 2356"/>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乘号 10"/>
          <p:cNvSpPr/>
          <p:nvPr/>
        </p:nvSpPr>
        <p:spPr>
          <a:xfrm>
            <a:off x="2699792" y="5661248"/>
            <a:ext cx="432048" cy="432048"/>
          </a:xfrm>
          <a:prstGeom prst="mathMultiply">
            <a:avLst>
              <a:gd name="adj1" fmla="val 2356"/>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059832" y="4164746"/>
            <a:ext cx="6012160" cy="646331"/>
          </a:xfrm>
          <a:prstGeom prst="rect">
            <a:avLst/>
          </a:prstGeom>
          <a:solidFill>
            <a:srgbClr val="FFC000"/>
          </a:solidFill>
        </p:spPr>
        <p:txBody>
          <a:bodyPr wrap="square">
            <a:spAutoFit/>
          </a:bodyPr>
          <a:lstStyle/>
          <a:p>
            <a:r>
              <a:rPr lang="zh-CN" altLang="en-US" b="1" dirty="0">
                <a:latin typeface="Segoe UI"/>
              </a:rPr>
              <a:t>严重性	代码	说明	</a:t>
            </a:r>
          </a:p>
          <a:p>
            <a:r>
              <a:rPr lang="zh-CN" altLang="en-US" b="1" dirty="0">
                <a:latin typeface="Segoe UI"/>
              </a:rPr>
              <a:t>错误	</a:t>
            </a:r>
            <a:r>
              <a:rPr lang="en-US" altLang="zh-CN" b="1" dirty="0">
                <a:latin typeface="Segoe UI"/>
              </a:rPr>
              <a:t>C2512	“point”: </a:t>
            </a:r>
            <a:r>
              <a:rPr lang="zh-CN" altLang="en-US" b="1" dirty="0">
                <a:latin typeface="Segoe UI"/>
              </a:rPr>
              <a:t>没有合适的默认构造函数可用</a:t>
            </a:r>
            <a:endParaRPr lang="en-US" altLang="zh-CN" b="1" dirty="0">
              <a:latin typeface="Segoe UI"/>
            </a:endParaRPr>
          </a:p>
        </p:txBody>
      </p:sp>
      <p:grpSp>
        <p:nvGrpSpPr>
          <p:cNvPr id="14" name="组合 13"/>
          <p:cNvGrpSpPr/>
          <p:nvPr/>
        </p:nvGrpSpPr>
        <p:grpSpPr>
          <a:xfrm>
            <a:off x="899592" y="2564904"/>
            <a:ext cx="7880816" cy="936104"/>
            <a:chOff x="899592" y="2564904"/>
            <a:chExt cx="7880816" cy="936104"/>
          </a:xfrm>
        </p:grpSpPr>
        <p:sp>
          <p:nvSpPr>
            <p:cNvPr id="8" name="矩形 7"/>
            <p:cNvSpPr/>
            <p:nvPr/>
          </p:nvSpPr>
          <p:spPr>
            <a:xfrm>
              <a:off x="5364088" y="2564904"/>
              <a:ext cx="3416320" cy="446789"/>
            </a:xfrm>
            <a:prstGeom prst="rect">
              <a:avLst/>
            </a:prstGeom>
            <a:solidFill>
              <a:schemeClr val="bg2">
                <a:lumMod val="75000"/>
              </a:schemeClr>
            </a:solidFill>
          </p:spPr>
          <p:txBody>
            <a:bodyPr wrap="none">
              <a:spAutoFit/>
            </a:bodyPr>
            <a:lstStyle/>
            <a:p>
              <a:pPr lvl="0">
                <a:lnSpc>
                  <a:spcPct val="80000"/>
                </a:lnSpc>
                <a:spcBef>
                  <a:spcPct val="20000"/>
                </a:spcBef>
                <a:buClr>
                  <a:srgbClr val="477AB1"/>
                </a:buClr>
                <a:buSzPct val="50000"/>
              </a:pPr>
              <a:r>
                <a:rPr lang="zh-CN" altLang="en-US" sz="2800" dirty="0">
                  <a:solidFill>
                    <a:prstClr val="black"/>
                  </a:solidFill>
                </a:rPr>
                <a:t>重载的有参构造函数</a:t>
              </a:r>
            </a:p>
          </p:txBody>
        </p:sp>
        <p:cxnSp>
          <p:nvCxnSpPr>
            <p:cNvPr id="13" name="直接连接符 12"/>
            <p:cNvCxnSpPr/>
            <p:nvPr/>
          </p:nvCxnSpPr>
          <p:spPr>
            <a:xfrm>
              <a:off x="899592" y="3501008"/>
              <a:ext cx="554461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2" name="乘号 11"/>
          <p:cNvSpPr/>
          <p:nvPr/>
        </p:nvSpPr>
        <p:spPr>
          <a:xfrm>
            <a:off x="1547664" y="4221088"/>
            <a:ext cx="432048" cy="432048"/>
          </a:xfrm>
          <a:prstGeom prst="mathMultiply">
            <a:avLst>
              <a:gd name="adj1" fmla="val 2356"/>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742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7"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a:xfrm>
            <a:off x="684213" y="260350"/>
            <a:ext cx="7772400" cy="1143000"/>
          </a:xfrm>
          <a:noFill/>
        </p:spPr>
        <p:txBody>
          <a:bodyPr/>
          <a:lstStyle/>
          <a:p>
            <a:pPr eaLnBrk="1" hangingPunct="1"/>
            <a:r>
              <a:rPr lang="zh-CN" altLang="en-US" b="1" dirty="0"/>
              <a:t>无参构造函数</a:t>
            </a:r>
            <a:endParaRPr lang="en-US" altLang="zh-CN" b="1" dirty="0"/>
          </a:p>
        </p:txBody>
      </p:sp>
      <p:sp>
        <p:nvSpPr>
          <p:cNvPr id="58371" name="Rectangle 3"/>
          <p:cNvSpPr>
            <a:spLocks noGrp="1" noChangeArrowheads="1"/>
          </p:cNvSpPr>
          <p:nvPr>
            <p:ph idx="1"/>
          </p:nvPr>
        </p:nvSpPr>
        <p:spPr>
          <a:xfrm>
            <a:off x="685800" y="1714500"/>
            <a:ext cx="7772400" cy="4381500"/>
          </a:xfrm>
        </p:spPr>
        <p:txBody>
          <a:bodyPr>
            <a:normAutofit fontScale="92500"/>
          </a:bodyPr>
          <a:lstStyle/>
          <a:p>
            <a:pPr eaLnBrk="1" hangingPunct="1">
              <a:spcAft>
                <a:spcPts val="500"/>
              </a:spcAft>
              <a:buFontTx/>
              <a:buNone/>
            </a:pPr>
            <a:r>
              <a:rPr lang="en-US" altLang="zh-CN" b="1" dirty="0"/>
              <a:t>2</a:t>
            </a:r>
            <a:r>
              <a:rPr lang="zh-CN" altLang="en-US" b="1" dirty="0"/>
              <a:t>、</a:t>
            </a:r>
            <a:r>
              <a:rPr lang="zh-CN" altLang="en-US" dirty="0"/>
              <a:t>重载的无参数构造函数</a:t>
            </a:r>
          </a:p>
          <a:p>
            <a:pPr eaLnBrk="1" hangingPunct="1">
              <a:spcAft>
                <a:spcPts val="500"/>
              </a:spcAft>
            </a:pPr>
            <a:r>
              <a:rPr lang="zh-CN" altLang="en-US" dirty="0"/>
              <a:t>系统生成的默认无参数构造函数，并未对对象的数据成员作什么实际的初始化工作。</a:t>
            </a:r>
          </a:p>
          <a:p>
            <a:pPr eaLnBrk="1" hangingPunct="1">
              <a:spcAft>
                <a:spcPts val="500"/>
              </a:spcAft>
            </a:pPr>
            <a:r>
              <a:rPr lang="en-US" altLang="zh-CN" dirty="0"/>
              <a:t>C++</a:t>
            </a:r>
            <a:r>
              <a:rPr lang="zh-CN" altLang="en-US" dirty="0"/>
              <a:t>允许显式定义无参数的构造函数，这样就能通过它为对象的数据成员提供初始值。</a:t>
            </a:r>
          </a:p>
          <a:p>
            <a:pPr eaLnBrk="1" hangingPunct="1">
              <a:spcAft>
                <a:spcPts val="500"/>
              </a:spcAft>
            </a:pPr>
            <a:r>
              <a:rPr lang="zh-CN" altLang="en-US" dirty="0"/>
              <a:t>有时为了让类能够正常工作，必须显示提供无参构造函数。</a:t>
            </a:r>
          </a:p>
          <a:p>
            <a:pPr eaLnBrk="1" hangingPunct="1">
              <a:lnSpc>
                <a:spcPct val="90000"/>
              </a:lnSpc>
            </a:pPr>
            <a:endParaRPr lang="zh-CN" altLang="en-US" b="1" dirty="0"/>
          </a:p>
        </p:txBody>
      </p:sp>
    </p:spTree>
    <p:extLst>
      <p:ext uri="{BB962C8B-B14F-4D97-AF65-F5344CB8AC3E}">
        <p14:creationId xmlns:p14="http://schemas.microsoft.com/office/powerpoint/2010/main" val="3888488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73832" y="44624"/>
            <a:ext cx="6534472" cy="6955750"/>
          </a:xfrm>
          <a:prstGeom prst="rect">
            <a:avLst/>
          </a:prstGeom>
          <a:solidFill>
            <a:schemeClr val="bg1"/>
          </a:solidFill>
          <a:ln>
            <a:solidFill>
              <a:schemeClr val="bg2">
                <a:lumMod val="25000"/>
              </a:schemeClr>
            </a:solidFill>
          </a:ln>
        </p:spPr>
        <p:txBody>
          <a:bodyPr wrap="square">
            <a:spAutoFit/>
          </a:bodyPr>
          <a:lstStyle/>
          <a:p>
            <a:r>
              <a:rPr lang="en-US" altLang="zh-CN" sz="1600" dirty="0">
                <a:solidFill>
                  <a:srgbClr val="808080"/>
                </a:solidFill>
                <a:highlight>
                  <a:srgbClr val="FFFFFF"/>
                </a:highlight>
                <a:latin typeface="新宋体" panose="02010609030101010101" pitchFamily="49" charset="-122"/>
                <a:ea typeface="新宋体" panose="02010609030101010101" pitchFamily="49" charset="-122"/>
              </a:rPr>
              <a:t>#include</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&lt;</a:t>
            </a:r>
            <a:r>
              <a:rPr lang="en-US" altLang="zh-CN" sz="1600" dirty="0" err="1">
                <a:solidFill>
                  <a:srgbClr val="A31515"/>
                </a:solidFill>
                <a:highlight>
                  <a:srgbClr val="FFFFFF"/>
                </a:highlight>
                <a:latin typeface="新宋体" panose="02010609030101010101" pitchFamily="49" charset="-122"/>
                <a:ea typeface="新宋体" panose="02010609030101010101" pitchFamily="49" charset="-122"/>
              </a:rPr>
              <a:t>iostream</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&gt;</a:t>
            </a:r>
            <a:endParaRPr lang="en-US" altLang="zh-CN" sz="1600" dirty="0">
              <a:solidFill>
                <a:srgbClr val="000000"/>
              </a:solidFill>
              <a:highlight>
                <a:srgbClr val="FFFFFF"/>
              </a:highlight>
              <a:latin typeface="新宋体" panose="02010609030101010101" pitchFamily="49" charset="-122"/>
              <a:ea typeface="新宋体" panose="02010609030101010101" pitchFamily="49" charset="-122"/>
            </a:endParaRPr>
          </a:p>
          <a:p>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using</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namespace</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std</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class</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private</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x, y;</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public</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point(</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a</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b</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 x =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a</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y =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b</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00"/>
                </a:solidFill>
                <a:highlight>
                  <a:srgbClr val="FFFFFF"/>
                </a:highlight>
                <a:latin typeface="新宋体" panose="02010609030101010101" pitchFamily="49" charset="-122"/>
                <a:ea typeface="新宋体" panose="02010609030101010101" pitchFamily="49" charset="-122"/>
              </a:rPr>
              <a:t>getx</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x; }</a:t>
            </a:r>
          </a:p>
          <a:p>
            <a:pPr marL="365125"/>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00"/>
                </a:solidFill>
                <a:highlight>
                  <a:srgbClr val="FFFFFF"/>
                </a:highlight>
                <a:latin typeface="新宋体" panose="02010609030101010101" pitchFamily="49" charset="-122"/>
                <a:ea typeface="新宋体" panose="02010609030101010101" pitchFamily="49" charset="-122"/>
              </a:rPr>
              <a:t>gety</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y; }</a:t>
            </a:r>
          </a:p>
          <a:p>
            <a:pPr marL="365125"/>
            <a:r>
              <a:rPr lang="fr-FR" altLang="zh-CN" sz="2000" dirty="0">
                <a:solidFill>
                  <a:srgbClr val="000000"/>
                </a:solidFill>
                <a:highlight>
                  <a:srgbClr val="FFFFFF"/>
                </a:highlight>
                <a:latin typeface="新宋体" panose="02010609030101010101" pitchFamily="49" charset="-122"/>
                <a:ea typeface="新宋体" panose="02010609030101010101" pitchFamily="49" charset="-122"/>
              </a:rPr>
              <a:t>point() { x = 0; y = 0;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p1(1, 1);</a:t>
            </a:r>
          </a:p>
          <a:p>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main()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static</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p2;</a:t>
            </a:r>
          </a:p>
          <a:p>
            <a:pPr marL="365125"/>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p3, a[10];</a:t>
            </a:r>
          </a:p>
          <a:p>
            <a:pPr marL="365125"/>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*p4;</a:t>
            </a:r>
          </a:p>
          <a:p>
            <a:pPr marL="365125"/>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p4 = </a:t>
            </a:r>
            <a:r>
              <a:rPr lang="en-US" altLang="zh-CN" sz="2000" dirty="0">
                <a:solidFill>
                  <a:srgbClr val="008080"/>
                </a:solidFill>
                <a:highlight>
                  <a:srgbClr val="FFFFFF"/>
                </a:highlight>
                <a:latin typeface="新宋体" panose="02010609030101010101" pitchFamily="49" charset="-122"/>
                <a:ea typeface="新宋体" panose="02010609030101010101" pitchFamily="49" charset="-122"/>
              </a:rPr>
              <a:t>new</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"p1: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p1.getx()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p1.gety()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"p2: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p2.getx()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p2.gety()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"p3: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p3.getx()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p3.gety()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zh-CN" altLang="en-US"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p4: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p4-&gt;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getx</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p4-&gt;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gety</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delete p4;</a:t>
            </a:r>
          </a:p>
          <a:p>
            <a:pPr marL="365125"/>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0;</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p:txBody>
      </p:sp>
      <p:sp>
        <p:nvSpPr>
          <p:cNvPr id="48130" name="Rectangle 2"/>
          <p:cNvSpPr>
            <a:spLocks noGrp="1" noChangeArrowheads="1"/>
          </p:cNvSpPr>
          <p:nvPr>
            <p:ph idx="1"/>
          </p:nvPr>
        </p:nvSpPr>
        <p:spPr>
          <a:xfrm>
            <a:off x="2699792" y="332656"/>
            <a:ext cx="5976664" cy="504056"/>
          </a:xfrm>
        </p:spPr>
        <p:txBody>
          <a:bodyPr>
            <a:noAutofit/>
          </a:bodyPr>
          <a:lstStyle/>
          <a:p>
            <a:pPr eaLnBrk="1" hangingPunct="1">
              <a:lnSpc>
                <a:spcPct val="80000"/>
              </a:lnSpc>
              <a:buFontTx/>
              <a:buNone/>
            </a:pPr>
            <a:r>
              <a:rPr lang="en-US" altLang="zh-CN" sz="2400" b="1" dirty="0"/>
              <a:t>【</a:t>
            </a:r>
            <a:r>
              <a:rPr lang="zh-CN" altLang="en-US" sz="2400" b="1" dirty="0"/>
              <a:t>例</a:t>
            </a:r>
            <a:r>
              <a:rPr lang="en-US" altLang="zh-CN" sz="2400" b="1" dirty="0"/>
              <a:t>】  </a:t>
            </a:r>
            <a:r>
              <a:rPr lang="zh-CN" altLang="en-US" sz="2400" b="1" dirty="0"/>
              <a:t>定义</a:t>
            </a:r>
            <a:r>
              <a:rPr lang="en-US" altLang="zh-CN" sz="2400" b="1" dirty="0"/>
              <a:t>Point</a:t>
            </a:r>
            <a:r>
              <a:rPr lang="zh-CN" altLang="en-US" sz="2400" b="1" dirty="0"/>
              <a:t>类的无参数构造函数，</a:t>
            </a:r>
            <a:endParaRPr lang="en-US" altLang="zh-CN" sz="2400" b="1" dirty="0"/>
          </a:p>
          <a:p>
            <a:pPr eaLnBrk="1" hangingPunct="1">
              <a:lnSpc>
                <a:spcPct val="80000"/>
              </a:lnSpc>
              <a:buFontTx/>
              <a:buNone/>
            </a:pPr>
            <a:r>
              <a:rPr lang="zh-CN" altLang="en-US" sz="2400" b="1" dirty="0"/>
              <a:t>将</a:t>
            </a:r>
            <a:r>
              <a:rPr lang="en-US" altLang="zh-CN" sz="2400" b="1" dirty="0"/>
              <a:t>point</a:t>
            </a:r>
            <a:r>
              <a:rPr lang="zh-CN" altLang="en-US" sz="2400" b="1" dirty="0"/>
              <a:t>对象的数据成员初始化为</a:t>
            </a:r>
            <a:r>
              <a:rPr lang="en-US" altLang="zh-CN" sz="2400" b="1" dirty="0"/>
              <a:t>0</a:t>
            </a:r>
            <a:r>
              <a:rPr lang="zh-CN" altLang="en-US" sz="2400" b="1" dirty="0"/>
              <a:t>。</a:t>
            </a:r>
          </a:p>
        </p:txBody>
      </p:sp>
      <p:sp>
        <p:nvSpPr>
          <p:cNvPr id="6" name="矩形 5"/>
          <p:cNvSpPr/>
          <p:nvPr/>
        </p:nvSpPr>
        <p:spPr>
          <a:xfrm>
            <a:off x="6516216" y="2614558"/>
            <a:ext cx="1728192" cy="1323439"/>
          </a:xfrm>
          <a:prstGeom prst="rect">
            <a:avLst/>
          </a:prstGeom>
          <a:solidFill>
            <a:schemeClr val="tx1"/>
          </a:solidFill>
        </p:spPr>
        <p:txBody>
          <a:bodyPr wrap="square">
            <a:spAutoFit/>
          </a:bodyPr>
          <a:lstStyle/>
          <a:p>
            <a:r>
              <a:rPr lang="nn-NO" altLang="zh-CN" sz="2000" dirty="0">
                <a:solidFill>
                  <a:schemeClr val="bg1"/>
                </a:solidFill>
              </a:rPr>
              <a:t>p1: 1,1</a:t>
            </a:r>
          </a:p>
          <a:p>
            <a:r>
              <a:rPr lang="nn-NO" altLang="zh-CN" sz="2000" dirty="0">
                <a:solidFill>
                  <a:schemeClr val="bg1"/>
                </a:solidFill>
              </a:rPr>
              <a:t>p2: 0,0</a:t>
            </a:r>
          </a:p>
          <a:p>
            <a:r>
              <a:rPr lang="nn-NO" altLang="zh-CN" sz="2000" dirty="0">
                <a:solidFill>
                  <a:schemeClr val="bg1"/>
                </a:solidFill>
              </a:rPr>
              <a:t>p3: 0,0</a:t>
            </a:r>
          </a:p>
          <a:p>
            <a:r>
              <a:rPr lang="zh-CN" altLang="en-US" sz="2000" dirty="0">
                <a:solidFill>
                  <a:schemeClr val="bg1"/>
                </a:solidFill>
              </a:rPr>
              <a:t>*</a:t>
            </a:r>
            <a:r>
              <a:rPr lang="nn-NO" altLang="zh-CN" sz="2000" dirty="0">
                <a:solidFill>
                  <a:schemeClr val="bg1"/>
                </a:solidFill>
              </a:rPr>
              <a:t>p4: 0,0</a:t>
            </a:r>
            <a:endParaRPr lang="zh-CN" altLang="en-US" sz="2000" dirty="0">
              <a:solidFill>
                <a:schemeClr val="bg1"/>
              </a:solidFill>
            </a:endParaRPr>
          </a:p>
        </p:txBody>
      </p:sp>
      <p:cxnSp>
        <p:nvCxnSpPr>
          <p:cNvPr id="8" name="直接连接符 7"/>
          <p:cNvCxnSpPr/>
          <p:nvPr/>
        </p:nvCxnSpPr>
        <p:spPr>
          <a:xfrm>
            <a:off x="827584" y="3645024"/>
            <a:ext cx="1800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8129" name="组合 48128"/>
          <p:cNvGrpSpPr/>
          <p:nvPr/>
        </p:nvGrpSpPr>
        <p:grpSpPr>
          <a:xfrm>
            <a:off x="1259632" y="692696"/>
            <a:ext cx="6840760" cy="2376264"/>
            <a:chOff x="1259632" y="692696"/>
            <a:chExt cx="6840760" cy="2376264"/>
          </a:xfrm>
        </p:grpSpPr>
        <p:cxnSp>
          <p:nvCxnSpPr>
            <p:cNvPr id="5" name="直接连接符 4"/>
            <p:cNvCxnSpPr/>
            <p:nvPr/>
          </p:nvCxnSpPr>
          <p:spPr>
            <a:xfrm>
              <a:off x="1259632" y="3068960"/>
              <a:ext cx="31683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995936" y="692696"/>
              <a:ext cx="4104456"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8131" name="组合 48130"/>
          <p:cNvGrpSpPr/>
          <p:nvPr/>
        </p:nvGrpSpPr>
        <p:grpSpPr>
          <a:xfrm>
            <a:off x="143508" y="1916832"/>
            <a:ext cx="5508612" cy="1728192"/>
            <a:chOff x="143508" y="1916832"/>
            <a:chExt cx="5508612" cy="1728192"/>
          </a:xfrm>
        </p:grpSpPr>
        <p:sp>
          <p:nvSpPr>
            <p:cNvPr id="20" name="左弧形箭头 19"/>
            <p:cNvSpPr/>
            <p:nvPr/>
          </p:nvSpPr>
          <p:spPr>
            <a:xfrm>
              <a:off x="143508" y="1916832"/>
              <a:ext cx="684076" cy="1728192"/>
            </a:xfrm>
            <a:prstGeom prst="curvedRightArrow">
              <a:avLst>
                <a:gd name="adj1" fmla="val 9154"/>
                <a:gd name="adj2" fmla="val 22041"/>
                <a:gd name="adj3" fmla="val 13861"/>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 name="直接连接符 21"/>
            <p:cNvCxnSpPr/>
            <p:nvPr/>
          </p:nvCxnSpPr>
          <p:spPr>
            <a:xfrm>
              <a:off x="1259632" y="2132856"/>
              <a:ext cx="439248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8132" name="组合 48131"/>
          <p:cNvGrpSpPr/>
          <p:nvPr/>
        </p:nvGrpSpPr>
        <p:grpSpPr>
          <a:xfrm>
            <a:off x="1259632" y="3068960"/>
            <a:ext cx="3852428" cy="1152128"/>
            <a:chOff x="1259632" y="3068960"/>
            <a:chExt cx="3852428" cy="1152128"/>
          </a:xfrm>
        </p:grpSpPr>
        <p:sp>
          <p:nvSpPr>
            <p:cNvPr id="27" name="左弧形箭头 26"/>
            <p:cNvSpPr/>
            <p:nvPr/>
          </p:nvSpPr>
          <p:spPr>
            <a:xfrm>
              <a:off x="4427984" y="3068960"/>
              <a:ext cx="684076" cy="1135058"/>
            </a:xfrm>
            <a:prstGeom prst="curvedRightArrow">
              <a:avLst>
                <a:gd name="adj1" fmla="val 9154"/>
                <a:gd name="adj2" fmla="val 22041"/>
                <a:gd name="adj3" fmla="val 13861"/>
              </a:avLst>
            </a:prstGeom>
            <a:solidFill>
              <a:schemeClr val="accent3">
                <a:lumMod val="75000"/>
              </a:schemeClr>
            </a:solidFill>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8" name="直接连接符 27"/>
            <p:cNvCxnSpPr/>
            <p:nvPr/>
          </p:nvCxnSpPr>
          <p:spPr>
            <a:xfrm>
              <a:off x="1259632" y="4221088"/>
              <a:ext cx="2196244"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48133" name="组合 48132"/>
          <p:cNvGrpSpPr/>
          <p:nvPr/>
        </p:nvGrpSpPr>
        <p:grpSpPr>
          <a:xfrm>
            <a:off x="1259632" y="2996952"/>
            <a:ext cx="3852428" cy="1584176"/>
            <a:chOff x="1259632" y="2996952"/>
            <a:chExt cx="3852428" cy="1584176"/>
          </a:xfrm>
        </p:grpSpPr>
        <p:sp>
          <p:nvSpPr>
            <p:cNvPr id="26" name="左弧形箭头 25"/>
            <p:cNvSpPr/>
            <p:nvPr/>
          </p:nvSpPr>
          <p:spPr>
            <a:xfrm>
              <a:off x="4427984" y="2996952"/>
              <a:ext cx="684076" cy="1584176"/>
            </a:xfrm>
            <a:prstGeom prst="curvedRightArrow">
              <a:avLst>
                <a:gd name="adj1" fmla="val 9154"/>
                <a:gd name="adj2" fmla="val 22041"/>
                <a:gd name="adj3" fmla="val 13861"/>
              </a:avLst>
            </a:prstGeom>
            <a:solidFill>
              <a:schemeClr val="accent3">
                <a:lumMod val="75000"/>
              </a:schemeClr>
            </a:solidFill>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9" name="直接连接符 28"/>
            <p:cNvCxnSpPr/>
            <p:nvPr/>
          </p:nvCxnSpPr>
          <p:spPr>
            <a:xfrm>
              <a:off x="1259632" y="4581128"/>
              <a:ext cx="2016224"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48134" name="组合 48133"/>
          <p:cNvGrpSpPr/>
          <p:nvPr/>
        </p:nvGrpSpPr>
        <p:grpSpPr>
          <a:xfrm>
            <a:off x="1259632" y="2924944"/>
            <a:ext cx="3888432" cy="2232248"/>
            <a:chOff x="1259632" y="2924944"/>
            <a:chExt cx="3888432" cy="2232248"/>
          </a:xfrm>
        </p:grpSpPr>
        <p:sp>
          <p:nvSpPr>
            <p:cNvPr id="25" name="左弧形箭头 24"/>
            <p:cNvSpPr/>
            <p:nvPr/>
          </p:nvSpPr>
          <p:spPr>
            <a:xfrm>
              <a:off x="4463988" y="2924944"/>
              <a:ext cx="684076" cy="2232248"/>
            </a:xfrm>
            <a:prstGeom prst="curvedRightArrow">
              <a:avLst>
                <a:gd name="adj1" fmla="val 9154"/>
                <a:gd name="adj2" fmla="val 22041"/>
                <a:gd name="adj3" fmla="val 13861"/>
              </a:avLst>
            </a:prstGeom>
            <a:solidFill>
              <a:schemeClr val="accent3">
                <a:lumMod val="75000"/>
              </a:schemeClr>
            </a:solidFill>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0" name="直接连接符 29"/>
            <p:cNvCxnSpPr/>
            <p:nvPr/>
          </p:nvCxnSpPr>
          <p:spPr>
            <a:xfrm>
              <a:off x="1259632" y="5157192"/>
              <a:ext cx="2016224"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6649767" y="4797152"/>
            <a:ext cx="1450625" cy="1938992"/>
          </a:xfrm>
          <a:prstGeom prst="rect">
            <a:avLst/>
          </a:prstGeom>
          <a:solidFill>
            <a:schemeClr val="tx1"/>
          </a:solidFill>
        </p:spPr>
        <p:txBody>
          <a:bodyPr wrap="square">
            <a:spAutoFit/>
          </a:bodyPr>
          <a:lstStyle/>
          <a:p>
            <a:r>
              <a:rPr lang="en-US" altLang="zh-CN" sz="2000" dirty="0">
                <a:solidFill>
                  <a:schemeClr val="bg1"/>
                </a:solidFill>
              </a:rPr>
              <a:t>a[0]</a:t>
            </a:r>
            <a:r>
              <a:rPr lang="nn-NO" altLang="zh-CN" sz="2000" dirty="0">
                <a:solidFill>
                  <a:schemeClr val="bg1"/>
                </a:solidFill>
              </a:rPr>
              <a:t>: 0,0</a:t>
            </a:r>
          </a:p>
          <a:p>
            <a:r>
              <a:rPr lang="en-US" altLang="zh-CN" sz="2000" dirty="0">
                <a:solidFill>
                  <a:schemeClr val="bg1"/>
                </a:solidFill>
              </a:rPr>
              <a:t>a[1]</a:t>
            </a:r>
            <a:r>
              <a:rPr lang="nn-NO" altLang="zh-CN" sz="2000" dirty="0">
                <a:solidFill>
                  <a:schemeClr val="bg1"/>
                </a:solidFill>
              </a:rPr>
              <a:t>: 0,0</a:t>
            </a:r>
          </a:p>
          <a:p>
            <a:endParaRPr lang="nn-NO" altLang="zh-CN" sz="2000" dirty="0">
              <a:solidFill>
                <a:schemeClr val="bg1"/>
              </a:solidFill>
            </a:endParaRPr>
          </a:p>
          <a:p>
            <a:r>
              <a:rPr lang="nn-NO" altLang="zh-CN" sz="2000" dirty="0">
                <a:solidFill>
                  <a:schemeClr val="bg1"/>
                </a:solidFill>
              </a:rPr>
              <a:t>...</a:t>
            </a:r>
          </a:p>
          <a:p>
            <a:r>
              <a:rPr lang="en-US" altLang="zh-CN" sz="2000" dirty="0">
                <a:solidFill>
                  <a:schemeClr val="bg1"/>
                </a:solidFill>
              </a:rPr>
              <a:t>a[9]</a:t>
            </a:r>
            <a:r>
              <a:rPr lang="nn-NO" altLang="zh-CN" sz="2000" dirty="0">
                <a:solidFill>
                  <a:schemeClr val="bg1"/>
                </a:solidFill>
              </a:rPr>
              <a:t>: 0,0</a:t>
            </a:r>
          </a:p>
          <a:p>
            <a:endParaRPr lang="nn-NO" altLang="zh-CN" sz="2000" dirty="0">
              <a:solidFill>
                <a:schemeClr val="bg1"/>
              </a:solidFill>
            </a:endParaRPr>
          </a:p>
        </p:txBody>
      </p:sp>
    </p:spTree>
    <p:extLst>
      <p:ext uri="{BB962C8B-B14F-4D97-AF65-F5344CB8AC3E}">
        <p14:creationId xmlns:p14="http://schemas.microsoft.com/office/powerpoint/2010/main" val="412124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1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1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4213" y="116632"/>
            <a:ext cx="7772400" cy="811213"/>
          </a:xfrm>
        </p:spPr>
        <p:txBody>
          <a:bodyPr>
            <a:normAutofit fontScale="90000"/>
          </a:bodyPr>
          <a:lstStyle/>
          <a:p>
            <a:r>
              <a:rPr lang="en-US" altLang="zh-CN" b="1" dirty="0"/>
              <a:t>4_2.1.2  </a:t>
            </a:r>
            <a:r>
              <a:rPr lang="zh-CN" altLang="en-US" dirty="0"/>
              <a:t>缺省参数值的构造函数</a:t>
            </a:r>
            <a:endParaRPr lang="zh-CN" altLang="en-US" b="1" dirty="0">
              <a:solidFill>
                <a:srgbClr val="FF3300"/>
              </a:solidFill>
            </a:endParaRPr>
          </a:p>
        </p:txBody>
      </p:sp>
      <p:sp>
        <p:nvSpPr>
          <p:cNvPr id="60419" name="Rectangle 3"/>
          <p:cNvSpPr>
            <a:spLocks noGrp="1" noChangeArrowheads="1"/>
          </p:cNvSpPr>
          <p:nvPr>
            <p:ph idx="1"/>
          </p:nvPr>
        </p:nvSpPr>
        <p:spPr>
          <a:xfrm>
            <a:off x="611560" y="836712"/>
            <a:ext cx="7772400" cy="1367482"/>
          </a:xfrm>
        </p:spPr>
        <p:txBody>
          <a:bodyPr>
            <a:normAutofit/>
          </a:bodyPr>
          <a:lstStyle/>
          <a:p>
            <a:pPr eaLnBrk="1" hangingPunct="1"/>
            <a:r>
              <a:rPr lang="zh-CN" altLang="en-US" sz="2400" dirty="0">
                <a:solidFill>
                  <a:schemeClr val="accent2"/>
                </a:solidFill>
              </a:rPr>
              <a:t>在数据成员的取值比较固定时，可以通过为构造函数的参数提供缺省值初始化它们。</a:t>
            </a:r>
          </a:p>
          <a:p>
            <a:pPr eaLnBrk="1" hangingPunct="1">
              <a:lnSpc>
                <a:spcPct val="80000"/>
              </a:lnSpc>
              <a:buFontTx/>
              <a:buNone/>
            </a:pPr>
            <a:r>
              <a:rPr lang="en-US" altLang="zh-CN" sz="2400" dirty="0"/>
              <a:t>【</a:t>
            </a:r>
            <a:r>
              <a:rPr lang="zh-CN" altLang="en-US" sz="2400" dirty="0"/>
              <a:t>例</a:t>
            </a:r>
            <a:r>
              <a:rPr lang="en-US" altLang="zh-CN" sz="2400" dirty="0"/>
              <a:t>】  </a:t>
            </a:r>
            <a:r>
              <a:rPr lang="zh-CN" altLang="en-US" sz="2400" dirty="0"/>
              <a:t>定义</a:t>
            </a:r>
            <a:r>
              <a:rPr lang="en-US" altLang="zh-CN" sz="2400" dirty="0"/>
              <a:t>point</a:t>
            </a:r>
            <a:r>
              <a:rPr lang="zh-CN" altLang="en-US" sz="2400" dirty="0"/>
              <a:t>类的具有缺省参数值的构造函数。</a:t>
            </a:r>
          </a:p>
        </p:txBody>
      </p:sp>
      <p:sp>
        <p:nvSpPr>
          <p:cNvPr id="6" name="矩形 5"/>
          <p:cNvSpPr/>
          <p:nvPr/>
        </p:nvSpPr>
        <p:spPr>
          <a:xfrm>
            <a:off x="35496" y="1988840"/>
            <a:ext cx="6534472" cy="3354765"/>
          </a:xfrm>
          <a:prstGeom prst="rect">
            <a:avLst/>
          </a:prstGeom>
          <a:solidFill>
            <a:schemeClr val="bg1"/>
          </a:solidFill>
          <a:ln>
            <a:solidFill>
              <a:schemeClr val="accent1"/>
            </a:solidFill>
          </a:ln>
        </p:spPr>
        <p:txBody>
          <a:bodyPr wrap="square">
            <a:spAutoFit/>
          </a:bodyPr>
          <a:lstStyle/>
          <a:p>
            <a:r>
              <a:rPr lang="en-US" altLang="zh-CN" sz="1600" dirty="0">
                <a:solidFill>
                  <a:srgbClr val="808080"/>
                </a:solidFill>
                <a:highlight>
                  <a:srgbClr val="FFFFFF"/>
                </a:highlight>
                <a:latin typeface="新宋体" panose="02010609030101010101" pitchFamily="49" charset="-122"/>
                <a:ea typeface="新宋体" panose="02010609030101010101" pitchFamily="49" charset="-122"/>
              </a:rPr>
              <a:t>#include</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&lt;</a:t>
            </a:r>
            <a:r>
              <a:rPr lang="en-US" altLang="zh-CN" sz="1600" dirty="0" err="1">
                <a:solidFill>
                  <a:srgbClr val="A31515"/>
                </a:solidFill>
                <a:highlight>
                  <a:srgbClr val="FFFFFF"/>
                </a:highlight>
                <a:latin typeface="新宋体" panose="02010609030101010101" pitchFamily="49" charset="-122"/>
                <a:ea typeface="新宋体" panose="02010609030101010101" pitchFamily="49" charset="-122"/>
              </a:rPr>
              <a:t>iostream</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&gt;</a:t>
            </a:r>
            <a:endParaRPr lang="en-US" altLang="zh-CN" sz="1600" dirty="0">
              <a:solidFill>
                <a:srgbClr val="000000"/>
              </a:solidFill>
              <a:highlight>
                <a:srgbClr val="FFFFFF"/>
              </a:highlight>
              <a:latin typeface="新宋体" panose="02010609030101010101" pitchFamily="49" charset="-122"/>
              <a:ea typeface="新宋体" panose="02010609030101010101" pitchFamily="49" charset="-122"/>
            </a:endParaRPr>
          </a:p>
          <a:p>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using</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namespace</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std</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class</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private</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x, y;</a:t>
            </a:r>
          </a:p>
          <a:p>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public</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point(</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a=0</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b=0</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p>
          <a:p>
            <a:pPr marL="365125"/>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x =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a</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y = </a:t>
            </a:r>
            <a:r>
              <a:rPr lang="en-US" altLang="zh-CN" sz="2000" dirty="0">
                <a:solidFill>
                  <a:srgbClr val="808080"/>
                </a:solidFill>
                <a:highlight>
                  <a:srgbClr val="FFFFFF"/>
                </a:highlight>
                <a:latin typeface="新宋体" panose="02010609030101010101" pitchFamily="49" charset="-122"/>
                <a:ea typeface="新宋体" panose="02010609030101010101" pitchFamily="49" charset="-122"/>
              </a:rPr>
              <a:t>b</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00"/>
                </a:solidFill>
                <a:highlight>
                  <a:srgbClr val="FFFFFF"/>
                </a:highlight>
                <a:latin typeface="新宋体" panose="02010609030101010101" pitchFamily="49" charset="-122"/>
                <a:ea typeface="新宋体" panose="02010609030101010101" pitchFamily="49" charset="-122"/>
              </a:rPr>
              <a:t>getx</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x; }</a:t>
            </a:r>
          </a:p>
          <a:p>
            <a:pPr marL="365125"/>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err="1">
                <a:solidFill>
                  <a:srgbClr val="000000"/>
                </a:solidFill>
                <a:highlight>
                  <a:srgbClr val="FFFFFF"/>
                </a:highlight>
                <a:latin typeface="新宋体" panose="02010609030101010101" pitchFamily="49" charset="-122"/>
                <a:ea typeface="新宋体" panose="02010609030101010101" pitchFamily="49" charset="-122"/>
              </a:rPr>
              <a:t>gety</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y;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p:txBody>
      </p:sp>
      <p:sp>
        <p:nvSpPr>
          <p:cNvPr id="7" name="矩形 6"/>
          <p:cNvSpPr/>
          <p:nvPr/>
        </p:nvSpPr>
        <p:spPr>
          <a:xfrm>
            <a:off x="3779912" y="3068960"/>
            <a:ext cx="5328592" cy="3970318"/>
          </a:xfrm>
          <a:prstGeom prst="rect">
            <a:avLst/>
          </a:prstGeom>
          <a:solidFill>
            <a:schemeClr val="bg1"/>
          </a:solidFill>
          <a:ln>
            <a:solidFill>
              <a:schemeClr val="accent1"/>
            </a:solidFill>
          </a:ln>
        </p:spPr>
        <p:txBody>
          <a:bodyPr wrap="square">
            <a:spAutoFit/>
          </a:bodyPr>
          <a:lstStyle/>
          <a:p>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p1(1,1);</a:t>
            </a:r>
          </a:p>
          <a:p>
            <a:r>
              <a:rPr lang="en-US" altLang="zh-CN" sz="2000" dirty="0" err="1">
                <a:solidFill>
                  <a:srgbClr val="0000FF"/>
                </a:solidFill>
                <a:highlight>
                  <a:srgbClr val="FFFFFF"/>
                </a:highlight>
                <a:latin typeface="新宋体" panose="02010609030101010101" pitchFamily="49" charset="-122"/>
                <a:ea typeface="新宋体" panose="02010609030101010101" pitchFamily="49" charset="-122"/>
              </a:rPr>
              <a:t>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main() </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0000FF"/>
                </a:solidFill>
                <a:highlight>
                  <a:srgbClr val="FFFFFF"/>
                </a:highlight>
                <a:latin typeface="新宋体" panose="02010609030101010101" pitchFamily="49" charset="-122"/>
                <a:ea typeface="新宋体" panose="02010609030101010101" pitchFamily="49" charset="-122"/>
              </a:rPr>
              <a:t>static</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p2;</a:t>
            </a:r>
          </a:p>
          <a:p>
            <a:pPr marL="365125"/>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p3, a[10];</a:t>
            </a:r>
          </a:p>
          <a:p>
            <a:pPr marL="365125"/>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*p4;</a:t>
            </a:r>
          </a:p>
          <a:p>
            <a:pPr marL="365125"/>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p4 = </a:t>
            </a:r>
            <a:r>
              <a:rPr lang="en-US" altLang="zh-CN" sz="2000" dirty="0">
                <a:solidFill>
                  <a:srgbClr val="008080"/>
                </a:solidFill>
                <a:highlight>
                  <a:srgbClr val="FFFFFF"/>
                </a:highlight>
                <a:latin typeface="新宋体" panose="02010609030101010101" pitchFamily="49" charset="-122"/>
                <a:ea typeface="新宋体" panose="02010609030101010101" pitchFamily="49" charset="-122"/>
              </a:rPr>
              <a:t>new</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 </a:t>
            </a:r>
            <a:r>
              <a:rPr lang="en-US" altLang="zh-CN" sz="2000" dirty="0">
                <a:solidFill>
                  <a:srgbClr val="2B91AF"/>
                </a:solidFill>
                <a:highlight>
                  <a:srgbClr val="FFFFFF"/>
                </a:highlight>
                <a:latin typeface="新宋体" panose="02010609030101010101" pitchFamily="49" charset="-122"/>
                <a:ea typeface="新宋体" panose="02010609030101010101" pitchFamily="49" charset="-122"/>
              </a:rPr>
              <a:t>point</a:t>
            </a:r>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"p1: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p1.getx()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p1.gety()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"p2: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p2.getx()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p2.gety()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"p3: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p3.getx()</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p3.gety()</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cout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zh-CN" altLang="en-US"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p4: "</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p4-&gt;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getx</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A31515"/>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p4-&gt;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gety</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r>
              <a:rPr lang="en-US" altLang="zh-CN" sz="1600" dirty="0">
                <a:solidFill>
                  <a:srgbClr val="008080"/>
                </a:solidFill>
                <a:highlight>
                  <a:srgbClr val="FFFFFF"/>
                </a:highlight>
                <a:latin typeface="新宋体" panose="02010609030101010101" pitchFamily="49" charset="-122"/>
                <a:ea typeface="新宋体" panose="02010609030101010101" pitchFamily="49" charset="-122"/>
              </a:rPr>
              <a:t>&lt;&lt;</a:t>
            </a:r>
            <a:r>
              <a:rPr lang="en-US" altLang="zh-CN" sz="1600" dirty="0" err="1">
                <a:solidFill>
                  <a:srgbClr val="000000"/>
                </a:solidFill>
                <a:highlight>
                  <a:srgbClr val="FFFFFF"/>
                </a:highlight>
                <a:latin typeface="新宋体" panose="02010609030101010101" pitchFamily="49" charset="-122"/>
                <a:ea typeface="新宋体" panose="02010609030101010101" pitchFamily="49" charset="-122"/>
              </a:rPr>
              <a:t>endl</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a:t>
            </a:r>
          </a:p>
          <a:p>
            <a:pPr marL="365125"/>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delete p4;</a:t>
            </a:r>
          </a:p>
          <a:p>
            <a:pPr marL="365125"/>
            <a:r>
              <a:rPr lang="en-US" altLang="zh-CN" sz="1600" dirty="0">
                <a:solidFill>
                  <a:srgbClr val="0000FF"/>
                </a:solidFill>
                <a:highlight>
                  <a:srgbClr val="FFFFFF"/>
                </a:highlight>
                <a:latin typeface="新宋体" panose="02010609030101010101" pitchFamily="49" charset="-122"/>
                <a:ea typeface="新宋体" panose="02010609030101010101" pitchFamily="49" charset="-122"/>
              </a:rPr>
              <a:t>return</a:t>
            </a:r>
            <a:r>
              <a:rPr lang="en-US" altLang="zh-CN" sz="1600" dirty="0">
                <a:solidFill>
                  <a:srgbClr val="000000"/>
                </a:solidFill>
                <a:highlight>
                  <a:srgbClr val="FFFFFF"/>
                </a:highlight>
                <a:latin typeface="新宋体" panose="02010609030101010101" pitchFamily="49" charset="-122"/>
                <a:ea typeface="新宋体" panose="02010609030101010101" pitchFamily="49" charset="-122"/>
              </a:rPr>
              <a:t> 0;</a:t>
            </a:r>
          </a:p>
          <a:p>
            <a:r>
              <a:rPr lang="en-US" altLang="zh-CN" sz="2000" dirty="0">
                <a:solidFill>
                  <a:srgbClr val="000000"/>
                </a:solidFill>
                <a:highlight>
                  <a:srgbClr val="FFFFFF"/>
                </a:highlight>
                <a:latin typeface="新宋体" panose="02010609030101010101" pitchFamily="49" charset="-122"/>
                <a:ea typeface="新宋体" panose="02010609030101010101" pitchFamily="49" charset="-122"/>
              </a:rPr>
              <a:t>}</a:t>
            </a:r>
          </a:p>
        </p:txBody>
      </p:sp>
      <p:sp>
        <p:nvSpPr>
          <p:cNvPr id="4" name="圆角矩形 3"/>
          <p:cNvSpPr/>
          <p:nvPr/>
        </p:nvSpPr>
        <p:spPr>
          <a:xfrm>
            <a:off x="323528" y="3789040"/>
            <a:ext cx="3240360" cy="576064"/>
          </a:xfrm>
          <a:prstGeom prst="round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699792" y="2348880"/>
            <a:ext cx="3262432" cy="1359733"/>
            <a:chOff x="2699792" y="2348880"/>
            <a:chExt cx="3262432" cy="1359733"/>
          </a:xfrm>
        </p:grpSpPr>
        <p:sp>
          <p:nvSpPr>
            <p:cNvPr id="5" name="矩形 4"/>
            <p:cNvSpPr/>
            <p:nvPr/>
          </p:nvSpPr>
          <p:spPr>
            <a:xfrm>
              <a:off x="2699792" y="2348880"/>
              <a:ext cx="3262432" cy="461665"/>
            </a:xfrm>
            <a:prstGeom prst="rect">
              <a:avLst/>
            </a:prstGeom>
            <a:solidFill>
              <a:schemeClr val="accent3"/>
            </a:solidFill>
          </p:spPr>
          <p:txBody>
            <a:bodyPr wrap="none">
              <a:spAutoFit/>
            </a:bodyPr>
            <a:lstStyle/>
            <a:p>
              <a:r>
                <a:rPr lang="zh-CN" altLang="en-US" sz="2400" dirty="0">
                  <a:solidFill>
                    <a:srgbClr val="FFFF00"/>
                  </a:solidFill>
                </a:rPr>
                <a:t>缺省参数值的构造函数</a:t>
              </a:r>
            </a:p>
          </p:txBody>
        </p:sp>
        <p:sp>
          <p:nvSpPr>
            <p:cNvPr id="8" name="下箭头 7"/>
            <p:cNvSpPr/>
            <p:nvPr/>
          </p:nvSpPr>
          <p:spPr>
            <a:xfrm>
              <a:off x="2819087" y="2780928"/>
              <a:ext cx="168737" cy="927685"/>
            </a:xfrm>
            <a:prstGeom prst="downArrow">
              <a:avLst>
                <a:gd name="adj1" fmla="val 30106"/>
                <a:gd name="adj2" fmla="val 5376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箭头连接符 10"/>
          <p:cNvCxnSpPr/>
          <p:nvPr/>
        </p:nvCxnSpPr>
        <p:spPr>
          <a:xfrm flipH="1">
            <a:off x="3563888" y="3356992"/>
            <a:ext cx="1080120" cy="43204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3563888" y="4005064"/>
            <a:ext cx="2398336" cy="7200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3563888" y="4221088"/>
            <a:ext cx="144016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3563888" y="4297288"/>
            <a:ext cx="2016224" cy="762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3563888" y="4373488"/>
            <a:ext cx="1872208" cy="49567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7380312" y="2492896"/>
            <a:ext cx="1512168" cy="2246769"/>
          </a:xfrm>
          <a:prstGeom prst="rect">
            <a:avLst/>
          </a:prstGeom>
          <a:solidFill>
            <a:schemeClr val="tx1"/>
          </a:solidFill>
        </p:spPr>
        <p:txBody>
          <a:bodyPr wrap="square">
            <a:spAutoFit/>
          </a:bodyPr>
          <a:lstStyle/>
          <a:p>
            <a:r>
              <a:rPr lang="nn-NO" altLang="zh-CN" sz="2800" dirty="0">
                <a:solidFill>
                  <a:schemeClr val="bg1"/>
                </a:solidFill>
              </a:rPr>
              <a:t>p1: 1,1</a:t>
            </a:r>
          </a:p>
          <a:p>
            <a:r>
              <a:rPr lang="nn-NO" altLang="zh-CN" sz="2800" dirty="0">
                <a:solidFill>
                  <a:schemeClr val="bg1"/>
                </a:solidFill>
              </a:rPr>
              <a:t>p2: 0,0</a:t>
            </a:r>
          </a:p>
          <a:p>
            <a:r>
              <a:rPr lang="nn-NO" altLang="zh-CN" sz="2800" dirty="0">
                <a:solidFill>
                  <a:schemeClr val="bg1"/>
                </a:solidFill>
              </a:rPr>
              <a:t>p3: 0,0</a:t>
            </a:r>
          </a:p>
          <a:p>
            <a:r>
              <a:rPr lang="zh-CN" altLang="en-US" sz="2800" dirty="0">
                <a:solidFill>
                  <a:schemeClr val="bg1"/>
                </a:solidFill>
              </a:rPr>
              <a:t>*</a:t>
            </a:r>
            <a:r>
              <a:rPr lang="nn-NO" altLang="zh-CN" sz="2800" dirty="0">
                <a:solidFill>
                  <a:schemeClr val="bg1"/>
                </a:solidFill>
              </a:rPr>
              <a:t>p4: 0,0</a:t>
            </a:r>
          </a:p>
          <a:p>
            <a:r>
              <a:rPr lang="en-US" altLang="zh-CN" sz="2800" dirty="0">
                <a:solidFill>
                  <a:schemeClr val="bg1"/>
                </a:solidFill>
              </a:rPr>
              <a:t>a[</a:t>
            </a:r>
            <a:r>
              <a:rPr lang="en-US" altLang="zh-CN" sz="2800" dirty="0" err="1">
                <a:solidFill>
                  <a:schemeClr val="bg1"/>
                </a:solidFill>
              </a:rPr>
              <a:t>i</a:t>
            </a:r>
            <a:r>
              <a:rPr lang="en-US" altLang="zh-CN" sz="2800" dirty="0">
                <a:solidFill>
                  <a:schemeClr val="bg1"/>
                </a:solidFill>
              </a:rPr>
              <a:t>]: 0,0</a:t>
            </a:r>
            <a:endParaRPr lang="zh-CN" altLang="en-US" sz="2800" dirty="0">
              <a:solidFill>
                <a:schemeClr val="bg1"/>
              </a:solidFill>
            </a:endParaRPr>
          </a:p>
        </p:txBody>
      </p:sp>
    </p:spTree>
    <p:extLst>
      <p:ext uri="{BB962C8B-B14F-4D97-AF65-F5344CB8AC3E}">
        <p14:creationId xmlns:p14="http://schemas.microsoft.com/office/powerpoint/2010/main" val="40631781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144016" y="116632"/>
            <a:ext cx="8829923" cy="864096"/>
          </a:xfrm>
        </p:spPr>
        <p:txBody>
          <a:bodyPr>
            <a:normAutofit/>
          </a:bodyPr>
          <a:lstStyle/>
          <a:p>
            <a:pPr algn="l" eaLnBrk="1" fontAlgn="auto" hangingPunct="1">
              <a:lnSpc>
                <a:spcPts val="3000"/>
              </a:lnSpc>
              <a:spcAft>
                <a:spcPts val="0"/>
              </a:spcAft>
              <a:defRPr/>
            </a:pPr>
            <a:r>
              <a:rPr lang="zh-CN" altLang="en-US" sz="3200" b="1" dirty="0"/>
              <a:t>缺省参数的构造函数与无参构造函数的</a:t>
            </a:r>
            <a:r>
              <a:rPr lang="zh-CN" altLang="en-US" sz="3200" b="1" dirty="0">
                <a:solidFill>
                  <a:srgbClr val="FF0000"/>
                </a:solidFill>
              </a:rPr>
              <a:t>冲突</a:t>
            </a:r>
            <a:r>
              <a:rPr lang="zh-CN" altLang="en-US" sz="3200" b="1" dirty="0"/>
              <a:t>问题  </a:t>
            </a:r>
          </a:p>
        </p:txBody>
      </p:sp>
      <p:sp>
        <p:nvSpPr>
          <p:cNvPr id="2" name="矩形 1"/>
          <p:cNvSpPr/>
          <p:nvPr/>
        </p:nvSpPr>
        <p:spPr>
          <a:xfrm>
            <a:off x="560522" y="1196752"/>
            <a:ext cx="5379630" cy="5262979"/>
          </a:xfrm>
          <a:prstGeom prst="rect">
            <a:avLst/>
          </a:prstGeom>
          <a:solidFill>
            <a:schemeClr val="bg1"/>
          </a:solidFill>
          <a:ln>
            <a:solidFill>
              <a:schemeClr val="bg2">
                <a:lumMod val="25000"/>
              </a:schemeClr>
            </a:solidFill>
          </a:ln>
        </p:spPr>
        <p:txBody>
          <a:bodyPr wrap="square">
            <a:spAutoFit/>
          </a:bodyPr>
          <a:lstStyle/>
          <a:p>
            <a:r>
              <a:rPr lang="en-US" altLang="zh-CN" sz="2800" dirty="0">
                <a:solidFill>
                  <a:srgbClr val="0000FF"/>
                </a:solidFill>
                <a:highlight>
                  <a:srgbClr val="FFFFFF"/>
                </a:highlight>
                <a:latin typeface="新宋体"/>
                <a:ea typeface="新宋体"/>
              </a:rPr>
              <a:t>class</a:t>
            </a:r>
            <a:r>
              <a:rPr lang="en-US" altLang="zh-CN" sz="2800" dirty="0">
                <a:solidFill>
                  <a:srgbClr val="000000"/>
                </a:solidFill>
                <a:highlight>
                  <a:srgbClr val="FFFFFF"/>
                </a:highlight>
                <a:latin typeface="新宋体"/>
                <a:ea typeface="新宋体"/>
              </a:rPr>
              <a:t> </a:t>
            </a:r>
            <a:r>
              <a:rPr lang="en-US" altLang="zh-CN" sz="2800" dirty="0">
                <a:solidFill>
                  <a:srgbClr val="2B91AF"/>
                </a:solidFill>
                <a:highlight>
                  <a:srgbClr val="FFFFFF"/>
                </a:highlight>
                <a:latin typeface="新宋体"/>
                <a:ea typeface="新宋体"/>
              </a:rPr>
              <a:t>X</a:t>
            </a:r>
            <a:r>
              <a:rPr lang="en-US" altLang="zh-CN" sz="2800" dirty="0">
                <a:solidFill>
                  <a:srgbClr val="000000"/>
                </a:solidFill>
                <a:highlight>
                  <a:srgbClr val="FFFFFF"/>
                </a:highlight>
                <a:latin typeface="新宋体"/>
                <a:ea typeface="新宋体"/>
              </a:rPr>
              <a:t> </a:t>
            </a:r>
          </a:p>
          <a:p>
            <a:r>
              <a:rPr lang="en-US" altLang="zh-CN" sz="2800" dirty="0">
                <a:solidFill>
                  <a:srgbClr val="000000"/>
                </a:solidFill>
                <a:highlight>
                  <a:srgbClr val="FFFFFF"/>
                </a:highlight>
                <a:latin typeface="新宋体"/>
                <a:ea typeface="新宋体"/>
              </a:rPr>
              <a:t>{</a:t>
            </a:r>
            <a:r>
              <a:rPr lang="en-US" altLang="zh-CN" sz="2800" dirty="0">
                <a:solidFill>
                  <a:srgbClr val="0000FF"/>
                </a:solidFill>
                <a:highlight>
                  <a:srgbClr val="FFFFFF"/>
                </a:highlight>
                <a:latin typeface="新宋体"/>
                <a:ea typeface="新宋体"/>
              </a:rPr>
              <a:t>public</a:t>
            </a:r>
            <a:r>
              <a:rPr lang="en-US" altLang="zh-CN" sz="2800" dirty="0">
                <a:solidFill>
                  <a:srgbClr val="000000"/>
                </a:solidFill>
                <a:highlight>
                  <a:srgbClr val="FFFFFF"/>
                </a:highlight>
                <a:latin typeface="新宋体"/>
                <a:ea typeface="新宋体"/>
              </a:rPr>
              <a:t>:</a:t>
            </a:r>
          </a:p>
          <a:p>
            <a:pPr marL="533400"/>
            <a:r>
              <a:rPr lang="en-US" altLang="zh-CN" sz="2800" dirty="0">
                <a:solidFill>
                  <a:srgbClr val="000000"/>
                </a:solidFill>
                <a:highlight>
                  <a:srgbClr val="FFFFFF"/>
                </a:highlight>
                <a:latin typeface="新宋体"/>
                <a:ea typeface="新宋体"/>
              </a:rPr>
              <a:t>X() {}</a:t>
            </a:r>
          </a:p>
          <a:p>
            <a:pPr marL="533400"/>
            <a:r>
              <a:rPr lang="en-US" altLang="zh-CN" sz="2800" dirty="0">
                <a:solidFill>
                  <a:srgbClr val="000000"/>
                </a:solidFill>
                <a:highlight>
                  <a:srgbClr val="FFFFFF"/>
                </a:highlight>
                <a:latin typeface="新宋体"/>
                <a:ea typeface="新宋体"/>
              </a:rPr>
              <a:t>X(</a:t>
            </a:r>
            <a:r>
              <a:rPr lang="en-US" altLang="zh-CN" sz="2800" dirty="0" err="1">
                <a:solidFill>
                  <a:srgbClr val="0000FF"/>
                </a:solidFill>
                <a:highlight>
                  <a:srgbClr val="FFFFFF"/>
                </a:highlight>
                <a:latin typeface="新宋体"/>
                <a:ea typeface="新宋体"/>
              </a:rPr>
              <a:t>int</a:t>
            </a:r>
            <a:r>
              <a:rPr lang="en-US" altLang="zh-CN" sz="2800" dirty="0">
                <a:solidFill>
                  <a:srgbClr val="000000"/>
                </a:solidFill>
                <a:highlight>
                  <a:srgbClr val="FFFFFF"/>
                </a:highlight>
                <a:latin typeface="新宋体"/>
                <a:ea typeface="新宋体"/>
              </a:rPr>
              <a:t> </a:t>
            </a:r>
            <a:r>
              <a:rPr lang="en-US" altLang="zh-CN" sz="2800" dirty="0" err="1">
                <a:solidFill>
                  <a:srgbClr val="808080"/>
                </a:solidFill>
                <a:highlight>
                  <a:srgbClr val="FFFFFF"/>
                </a:highlight>
                <a:latin typeface="新宋体"/>
                <a:ea typeface="新宋体"/>
              </a:rPr>
              <a:t>i</a:t>
            </a:r>
            <a:r>
              <a:rPr lang="en-US" altLang="zh-CN" sz="2800" dirty="0">
                <a:solidFill>
                  <a:srgbClr val="000000"/>
                </a:solidFill>
                <a:highlight>
                  <a:srgbClr val="FFFFFF"/>
                </a:highlight>
                <a:latin typeface="新宋体"/>
                <a:ea typeface="新宋体"/>
              </a:rPr>
              <a:t> = 0) { x = </a:t>
            </a:r>
            <a:r>
              <a:rPr lang="en-US" altLang="zh-CN" sz="2800" dirty="0" err="1">
                <a:solidFill>
                  <a:srgbClr val="808080"/>
                </a:solidFill>
                <a:highlight>
                  <a:srgbClr val="FFFFFF"/>
                </a:highlight>
                <a:latin typeface="新宋体"/>
                <a:ea typeface="新宋体"/>
              </a:rPr>
              <a:t>i</a:t>
            </a:r>
            <a:r>
              <a:rPr lang="en-US" altLang="zh-CN" sz="2800" dirty="0">
                <a:solidFill>
                  <a:srgbClr val="000000"/>
                </a:solidFill>
                <a:highlight>
                  <a:srgbClr val="FFFFFF"/>
                </a:highlight>
                <a:latin typeface="新宋体"/>
                <a:ea typeface="新宋体"/>
              </a:rPr>
              <a:t>; }</a:t>
            </a:r>
          </a:p>
          <a:p>
            <a:r>
              <a:rPr lang="en-US" altLang="zh-CN" sz="2800" dirty="0">
                <a:solidFill>
                  <a:srgbClr val="0000FF"/>
                </a:solidFill>
                <a:highlight>
                  <a:srgbClr val="FFFFFF"/>
                </a:highlight>
                <a:latin typeface="新宋体"/>
                <a:ea typeface="新宋体"/>
              </a:rPr>
              <a:t>private</a:t>
            </a:r>
            <a:r>
              <a:rPr lang="en-US" altLang="zh-CN" sz="2800" dirty="0">
                <a:solidFill>
                  <a:srgbClr val="000000"/>
                </a:solidFill>
                <a:highlight>
                  <a:srgbClr val="FFFFFF"/>
                </a:highlight>
                <a:latin typeface="新宋体"/>
                <a:ea typeface="新宋体"/>
              </a:rPr>
              <a:t>:</a:t>
            </a:r>
          </a:p>
          <a:p>
            <a:pPr marL="441325"/>
            <a:r>
              <a:rPr lang="en-US" altLang="zh-CN" sz="2800" dirty="0" err="1">
                <a:solidFill>
                  <a:srgbClr val="0000FF"/>
                </a:solidFill>
                <a:highlight>
                  <a:srgbClr val="FFFFFF"/>
                </a:highlight>
                <a:latin typeface="新宋体"/>
                <a:ea typeface="新宋体"/>
              </a:rPr>
              <a:t>int</a:t>
            </a:r>
            <a:r>
              <a:rPr lang="en-US" altLang="zh-CN" sz="2800" dirty="0">
                <a:solidFill>
                  <a:srgbClr val="000000"/>
                </a:solidFill>
                <a:highlight>
                  <a:srgbClr val="FFFFFF"/>
                </a:highlight>
                <a:latin typeface="新宋体"/>
                <a:ea typeface="新宋体"/>
              </a:rPr>
              <a:t> x;</a:t>
            </a:r>
          </a:p>
          <a:p>
            <a:r>
              <a:rPr lang="en-US" altLang="zh-CN" sz="2800" dirty="0">
                <a:solidFill>
                  <a:srgbClr val="000000"/>
                </a:solidFill>
                <a:highlight>
                  <a:srgbClr val="FFFFFF"/>
                </a:highlight>
                <a:latin typeface="新宋体"/>
                <a:ea typeface="新宋体"/>
              </a:rPr>
              <a:t>};</a:t>
            </a:r>
          </a:p>
          <a:p>
            <a:r>
              <a:rPr lang="en-US" altLang="zh-CN" sz="2800" dirty="0" err="1">
                <a:solidFill>
                  <a:srgbClr val="0000FF"/>
                </a:solidFill>
                <a:highlight>
                  <a:srgbClr val="FFFFFF"/>
                </a:highlight>
                <a:latin typeface="新宋体"/>
                <a:ea typeface="新宋体"/>
              </a:rPr>
              <a:t>int</a:t>
            </a:r>
            <a:r>
              <a:rPr lang="en-US" altLang="zh-CN" sz="2800" dirty="0">
                <a:solidFill>
                  <a:srgbClr val="000000"/>
                </a:solidFill>
                <a:highlight>
                  <a:srgbClr val="FFFFFF"/>
                </a:highlight>
                <a:latin typeface="新宋体"/>
                <a:ea typeface="新宋体"/>
              </a:rPr>
              <a:t> main()</a:t>
            </a:r>
          </a:p>
          <a:p>
            <a:r>
              <a:rPr lang="en-US" altLang="zh-CN" sz="2800" dirty="0">
                <a:solidFill>
                  <a:srgbClr val="000000"/>
                </a:solidFill>
                <a:highlight>
                  <a:srgbClr val="FFFFFF"/>
                </a:highlight>
                <a:latin typeface="新宋体"/>
                <a:ea typeface="新宋体"/>
              </a:rPr>
              <a:t>{  </a:t>
            </a:r>
            <a:r>
              <a:rPr lang="en-US" altLang="zh-CN" sz="2800" dirty="0">
                <a:solidFill>
                  <a:srgbClr val="2B91AF"/>
                </a:solidFill>
                <a:highlight>
                  <a:srgbClr val="FFFFFF"/>
                </a:highlight>
                <a:latin typeface="新宋体"/>
                <a:ea typeface="新宋体"/>
              </a:rPr>
              <a:t>X</a:t>
            </a:r>
            <a:r>
              <a:rPr lang="en-US" altLang="zh-CN" sz="2800" dirty="0">
                <a:solidFill>
                  <a:srgbClr val="000000"/>
                </a:solidFill>
                <a:highlight>
                  <a:srgbClr val="FFFFFF"/>
                </a:highlight>
                <a:latin typeface="新宋体"/>
                <a:ea typeface="新宋体"/>
              </a:rPr>
              <a:t> one(12);</a:t>
            </a:r>
          </a:p>
          <a:p>
            <a:pPr marL="533400"/>
            <a:r>
              <a:rPr lang="en-US" altLang="zh-CN" sz="2800" dirty="0">
                <a:solidFill>
                  <a:srgbClr val="2B91AF"/>
                </a:solidFill>
                <a:highlight>
                  <a:srgbClr val="FFFFFF"/>
                </a:highlight>
                <a:latin typeface="新宋体"/>
                <a:ea typeface="新宋体"/>
              </a:rPr>
              <a:t>X</a:t>
            </a:r>
            <a:r>
              <a:rPr lang="en-US" altLang="zh-CN" sz="2800" dirty="0">
                <a:solidFill>
                  <a:srgbClr val="000000"/>
                </a:solidFill>
                <a:highlight>
                  <a:srgbClr val="FFFFFF"/>
                </a:highlight>
                <a:latin typeface="新宋体"/>
                <a:ea typeface="新宋体"/>
              </a:rPr>
              <a:t> two;</a:t>
            </a:r>
          </a:p>
          <a:p>
            <a:pPr marL="533400"/>
            <a:r>
              <a:rPr lang="en-US" altLang="zh-CN" sz="2800" dirty="0">
                <a:solidFill>
                  <a:srgbClr val="0000FF"/>
                </a:solidFill>
                <a:highlight>
                  <a:srgbClr val="FFFFFF"/>
                </a:highlight>
                <a:latin typeface="新宋体"/>
                <a:ea typeface="新宋体"/>
              </a:rPr>
              <a:t>return</a:t>
            </a:r>
            <a:r>
              <a:rPr lang="en-US" altLang="zh-CN" sz="2800" dirty="0">
                <a:solidFill>
                  <a:srgbClr val="000000"/>
                </a:solidFill>
                <a:highlight>
                  <a:srgbClr val="FFFFFF"/>
                </a:highlight>
                <a:latin typeface="新宋体"/>
                <a:ea typeface="新宋体"/>
              </a:rPr>
              <a:t> 0;</a:t>
            </a:r>
          </a:p>
          <a:p>
            <a:r>
              <a:rPr lang="en-US" altLang="zh-CN" sz="2800" dirty="0">
                <a:solidFill>
                  <a:srgbClr val="000000"/>
                </a:solidFill>
                <a:highlight>
                  <a:srgbClr val="FFFFFF"/>
                </a:highlight>
                <a:latin typeface="新宋体"/>
                <a:ea typeface="新宋体"/>
              </a:rPr>
              <a:t>}</a:t>
            </a:r>
            <a:endParaRPr lang="zh-CN" altLang="en-US" sz="2800" dirty="0"/>
          </a:p>
        </p:txBody>
      </p:sp>
      <p:sp>
        <p:nvSpPr>
          <p:cNvPr id="103428" name="AutoShape 4"/>
          <p:cNvSpPr>
            <a:spLocks noChangeArrowheads="1"/>
          </p:cNvSpPr>
          <p:nvPr/>
        </p:nvSpPr>
        <p:spPr bwMode="auto">
          <a:xfrm>
            <a:off x="5076056" y="4437112"/>
            <a:ext cx="3673475" cy="1833007"/>
          </a:xfrm>
          <a:prstGeom prst="wedgeRoundRectCallout">
            <a:avLst>
              <a:gd name="adj1" fmla="val -129357"/>
              <a:gd name="adj2" fmla="val 2336"/>
              <a:gd name="adj3" fmla="val 16667"/>
            </a:avLst>
          </a:prstGeom>
          <a:solidFill>
            <a:srgbClr val="FFC000"/>
          </a:solidFill>
          <a:ln w="3175">
            <a:solidFill>
              <a:schemeClr val="bg1"/>
            </a:solidFill>
            <a:miter lim="800000"/>
            <a:headEnd/>
            <a:tailEnd/>
          </a:ln>
        </p:spPr>
        <p:txBody>
          <a:bodyPr lIns="92075" tIns="46038" rIns="92075" bIns="46038"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r>
              <a:rPr kumimoji="1" lang="zh-CN" altLang="en-US" sz="2400" b="1" dirty="0">
                <a:latin typeface="Times New Roman" pitchFamily="18" charset="0"/>
              </a:rPr>
              <a:t>调用：</a:t>
            </a:r>
          </a:p>
          <a:p>
            <a:pPr algn="ctr" eaLnBrk="1" hangingPunct="1">
              <a:spcBef>
                <a:spcPct val="0"/>
              </a:spcBef>
              <a:buClrTx/>
              <a:buSzTx/>
              <a:buFontTx/>
              <a:buNone/>
            </a:pPr>
            <a:r>
              <a:rPr kumimoji="1" lang="en-US" altLang="zh-CN" sz="2400" b="1" dirty="0">
                <a:latin typeface="Times New Roman" pitchFamily="18" charset="0"/>
              </a:rPr>
              <a:t>X:</a:t>
            </a:r>
            <a:r>
              <a:rPr kumimoji="1" lang="en-US" altLang="zh-CN" sz="2400" b="1" dirty="0">
                <a:latin typeface="Times New Roman" pitchFamily="18" charset="0"/>
                <a:sym typeface="Wingdings" pitchFamily="2" charset="2"/>
              </a:rPr>
              <a:t>X()       </a:t>
            </a:r>
            <a:r>
              <a:rPr kumimoji="1" lang="zh-CN" altLang="en-US" sz="2400" b="1" dirty="0">
                <a:latin typeface="Times New Roman" pitchFamily="18" charset="0"/>
                <a:sym typeface="Wingdings" pitchFamily="2" charset="2"/>
              </a:rPr>
              <a:t>？</a:t>
            </a:r>
            <a:endParaRPr kumimoji="1" lang="en-US" altLang="zh-CN" sz="2400" b="1" dirty="0">
              <a:latin typeface="Times New Roman" pitchFamily="18" charset="0"/>
              <a:sym typeface="Wingdings" pitchFamily="2" charset="2"/>
            </a:endParaRPr>
          </a:p>
          <a:p>
            <a:pPr eaLnBrk="1" hangingPunct="1">
              <a:spcBef>
                <a:spcPct val="0"/>
              </a:spcBef>
              <a:buClrTx/>
              <a:buSzTx/>
              <a:buFontTx/>
              <a:buNone/>
            </a:pPr>
            <a:r>
              <a:rPr kumimoji="1" lang="zh-CN" altLang="en-US" sz="2400" b="1" dirty="0">
                <a:latin typeface="Times New Roman" pitchFamily="18" charset="0"/>
                <a:sym typeface="Wingdings" pitchFamily="2" charset="2"/>
              </a:rPr>
              <a:t>还是</a:t>
            </a:r>
          </a:p>
          <a:p>
            <a:pPr algn="ctr" eaLnBrk="1" hangingPunct="1">
              <a:spcBef>
                <a:spcPct val="0"/>
              </a:spcBef>
              <a:buClrTx/>
              <a:buSzTx/>
              <a:buFontTx/>
              <a:buNone/>
            </a:pPr>
            <a:r>
              <a:rPr kumimoji="1" lang="en-US" altLang="zh-CN" sz="2400" b="1" dirty="0">
                <a:latin typeface="Times New Roman" pitchFamily="18" charset="0"/>
                <a:sym typeface="Wingdings" pitchFamily="2" charset="2"/>
              </a:rPr>
              <a:t>X:X(int </a:t>
            </a:r>
            <a:r>
              <a:rPr kumimoji="1" lang="en-US" altLang="zh-CN" sz="2400" b="1" dirty="0" err="1">
                <a:latin typeface="Times New Roman" pitchFamily="18" charset="0"/>
                <a:sym typeface="Wingdings" pitchFamily="2" charset="2"/>
              </a:rPr>
              <a:t>i</a:t>
            </a:r>
            <a:r>
              <a:rPr kumimoji="1" lang="en-US" altLang="zh-CN" sz="2400" b="1" dirty="0">
                <a:latin typeface="Times New Roman" pitchFamily="18" charset="0"/>
                <a:sym typeface="Wingdings" pitchFamily="2" charset="2"/>
              </a:rPr>
              <a:t>=0)     </a:t>
            </a:r>
            <a:r>
              <a:rPr kumimoji="1" lang="zh-CN" altLang="en-US" sz="2400" b="1" dirty="0">
                <a:latin typeface="Times New Roman" pitchFamily="18" charset="0"/>
                <a:sym typeface="Wingdings" pitchFamily="2" charset="2"/>
              </a:rPr>
              <a:t>？</a:t>
            </a:r>
            <a:endParaRPr kumimoji="1" lang="en-US" altLang="zh-CN" sz="2400" b="1" dirty="0">
              <a:latin typeface="Times New Roman" pitchFamily="18" charset="0"/>
            </a:endParaRPr>
          </a:p>
        </p:txBody>
      </p:sp>
      <p:grpSp>
        <p:nvGrpSpPr>
          <p:cNvPr id="4" name="组合 3"/>
          <p:cNvGrpSpPr/>
          <p:nvPr/>
        </p:nvGrpSpPr>
        <p:grpSpPr>
          <a:xfrm>
            <a:off x="971600" y="1088740"/>
            <a:ext cx="7930331" cy="1548172"/>
            <a:chOff x="971600" y="1088740"/>
            <a:chExt cx="7930331" cy="1548172"/>
          </a:xfrm>
        </p:grpSpPr>
        <p:sp>
          <p:nvSpPr>
            <p:cNvPr id="3" name="圆角矩形 2"/>
            <p:cNvSpPr/>
            <p:nvPr/>
          </p:nvSpPr>
          <p:spPr>
            <a:xfrm>
              <a:off x="971600" y="2060848"/>
              <a:ext cx="1584176" cy="504056"/>
            </a:xfrm>
            <a:prstGeom prst="roundRect">
              <a:avLst/>
            </a:prstGeom>
            <a:solidFill>
              <a:schemeClr val="accent1">
                <a:tint val="100000"/>
                <a:shade val="100000"/>
                <a:hueMod val="100000"/>
                <a:satMod val="100000"/>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4"/>
            <p:cNvSpPr>
              <a:spLocks noChangeArrowheads="1"/>
            </p:cNvSpPr>
            <p:nvPr/>
          </p:nvSpPr>
          <p:spPr bwMode="auto">
            <a:xfrm>
              <a:off x="5228456" y="1088740"/>
              <a:ext cx="3673475" cy="1548172"/>
            </a:xfrm>
            <a:prstGeom prst="wedgeRoundRectCallout">
              <a:avLst>
                <a:gd name="adj1" fmla="val -125065"/>
                <a:gd name="adj2" fmla="val 35019"/>
                <a:gd name="adj3" fmla="val 16667"/>
              </a:avLst>
            </a:prstGeom>
            <a:solidFill>
              <a:schemeClr val="bg2">
                <a:lumMod val="75000"/>
              </a:schemeClr>
            </a:solidFill>
            <a:ln w="3175">
              <a:solidFill>
                <a:schemeClr val="bg1"/>
              </a:solidFill>
              <a:miter lim="800000"/>
              <a:headEnd/>
              <a:tailEnd/>
            </a:ln>
          </p:spPr>
          <p:txBody>
            <a:bodyPr lIns="92075" tIns="46038" rIns="92075" bIns="46038"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zh-CN" altLang="en-US" sz="2400" b="1" dirty="0">
                  <a:latin typeface="Times New Roman" pitchFamily="18" charset="0"/>
                </a:rPr>
                <a:t>解决方法</a:t>
              </a:r>
              <a:r>
                <a:rPr kumimoji="1" lang="en-US" altLang="zh-CN" sz="2400" b="1" dirty="0">
                  <a:latin typeface="Times New Roman" pitchFamily="18" charset="0"/>
                </a:rPr>
                <a:t>1</a:t>
              </a:r>
              <a:r>
                <a:rPr kumimoji="1" lang="zh-CN" altLang="en-US" sz="2400" b="1" dirty="0">
                  <a:latin typeface="Times New Roman" pitchFamily="18" charset="0"/>
                </a:rPr>
                <a:t>：</a:t>
              </a:r>
              <a:endParaRPr kumimoji="1" lang="en-US" altLang="zh-CN" sz="2400" b="1" dirty="0">
                <a:latin typeface="Times New Roman" pitchFamily="18" charset="0"/>
              </a:endParaRPr>
            </a:p>
            <a:p>
              <a:pPr algn="ctr" eaLnBrk="1" hangingPunct="1">
                <a:spcBef>
                  <a:spcPct val="0"/>
                </a:spcBef>
                <a:buClrTx/>
                <a:buSzTx/>
                <a:buFontTx/>
                <a:buNone/>
              </a:pPr>
              <a:r>
                <a:rPr kumimoji="1" lang="zh-CN" altLang="en-US" sz="2400" b="1" dirty="0">
                  <a:latin typeface="Times New Roman" pitchFamily="18" charset="0"/>
                </a:rPr>
                <a:t>去掉无参构造函数</a:t>
              </a:r>
              <a:endParaRPr kumimoji="1" lang="en-US" altLang="zh-CN" sz="2400" b="1" dirty="0">
                <a:latin typeface="Times New Roman" pitchFamily="18" charset="0"/>
              </a:endParaRPr>
            </a:p>
          </p:txBody>
        </p:sp>
      </p:grpSp>
      <p:grpSp>
        <p:nvGrpSpPr>
          <p:cNvPr id="8" name="组合 7"/>
          <p:cNvGrpSpPr/>
          <p:nvPr/>
        </p:nvGrpSpPr>
        <p:grpSpPr>
          <a:xfrm>
            <a:off x="2555775" y="2564904"/>
            <a:ext cx="6418164" cy="1656184"/>
            <a:chOff x="2483767" y="980728"/>
            <a:chExt cx="6418164" cy="1656184"/>
          </a:xfrm>
        </p:grpSpPr>
        <p:sp>
          <p:nvSpPr>
            <p:cNvPr id="9" name="圆角矩形 8"/>
            <p:cNvSpPr/>
            <p:nvPr/>
          </p:nvSpPr>
          <p:spPr>
            <a:xfrm>
              <a:off x="2483767" y="980728"/>
              <a:ext cx="694561" cy="504056"/>
            </a:xfrm>
            <a:prstGeom prst="roundRect">
              <a:avLst/>
            </a:prstGeom>
            <a:solidFill>
              <a:schemeClr val="accent1">
                <a:tint val="100000"/>
                <a:shade val="100000"/>
                <a:hueMod val="100000"/>
                <a:satMod val="100000"/>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AutoShape 4"/>
            <p:cNvSpPr>
              <a:spLocks noChangeArrowheads="1"/>
            </p:cNvSpPr>
            <p:nvPr/>
          </p:nvSpPr>
          <p:spPr bwMode="auto">
            <a:xfrm>
              <a:off x="5228456" y="1088740"/>
              <a:ext cx="3673475" cy="1548172"/>
            </a:xfrm>
            <a:prstGeom prst="wedgeRoundRectCallout">
              <a:avLst>
                <a:gd name="adj1" fmla="val -106611"/>
                <a:gd name="adj2" fmla="val -30154"/>
                <a:gd name="adj3" fmla="val 16667"/>
              </a:avLst>
            </a:prstGeom>
            <a:solidFill>
              <a:schemeClr val="bg2">
                <a:lumMod val="75000"/>
              </a:schemeClr>
            </a:solidFill>
            <a:ln w="3175">
              <a:solidFill>
                <a:schemeClr val="bg1"/>
              </a:solidFill>
              <a:miter lim="800000"/>
              <a:headEnd/>
              <a:tailEnd/>
            </a:ln>
          </p:spPr>
          <p:txBody>
            <a:bodyPr lIns="92075" tIns="46038" rIns="92075" bIns="46038"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zh-CN" altLang="en-US" sz="2400" b="1" dirty="0">
                  <a:latin typeface="Times New Roman" pitchFamily="18" charset="0"/>
                </a:rPr>
                <a:t>解决方法</a:t>
              </a:r>
              <a:r>
                <a:rPr kumimoji="1" lang="en-US" altLang="zh-CN" sz="2400" b="1" dirty="0">
                  <a:latin typeface="Times New Roman" pitchFamily="18" charset="0"/>
                </a:rPr>
                <a:t>2</a:t>
              </a:r>
              <a:r>
                <a:rPr kumimoji="1" lang="zh-CN" altLang="en-US" sz="2400" b="1" dirty="0">
                  <a:latin typeface="Times New Roman" pitchFamily="18" charset="0"/>
                </a:rPr>
                <a:t>：</a:t>
              </a:r>
              <a:endParaRPr kumimoji="1" lang="en-US" altLang="zh-CN" sz="2400" b="1" dirty="0">
                <a:latin typeface="Times New Roman" pitchFamily="18" charset="0"/>
              </a:endParaRPr>
            </a:p>
            <a:p>
              <a:pPr algn="ctr" eaLnBrk="1" hangingPunct="1">
                <a:spcBef>
                  <a:spcPct val="0"/>
                </a:spcBef>
                <a:buClrTx/>
                <a:buSzTx/>
                <a:buFontTx/>
                <a:buNone/>
              </a:pPr>
              <a:r>
                <a:rPr kumimoji="1" lang="zh-CN" altLang="en-US" sz="2400" b="1" dirty="0">
                  <a:latin typeface="Times New Roman" pitchFamily="18" charset="0"/>
                </a:rPr>
                <a:t>去掉有参构造函数的默认值</a:t>
              </a:r>
              <a:endParaRPr kumimoji="1" lang="en-US" altLang="zh-CN" sz="2400" b="1" dirty="0">
                <a:latin typeface="Times New Roman" pitchFamily="18" charset="0"/>
              </a:endParaRPr>
            </a:p>
          </p:txBody>
        </p:sp>
      </p:grpSp>
    </p:spTree>
    <p:extLst>
      <p:ext uri="{BB962C8B-B14F-4D97-AF65-F5344CB8AC3E}">
        <p14:creationId xmlns:p14="http://schemas.microsoft.com/office/powerpoint/2010/main" val="31244201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3"/>
          <p:cNvSpPr>
            <a:spLocks noGrp="1" noChangeArrowheads="1"/>
          </p:cNvSpPr>
          <p:nvPr>
            <p:ph type="body" idx="4294967295"/>
          </p:nvPr>
        </p:nvSpPr>
        <p:spPr>
          <a:xfrm>
            <a:off x="0" y="836712"/>
            <a:ext cx="8072438" cy="1367358"/>
          </a:xfrm>
        </p:spPr>
        <p:txBody>
          <a:bodyPr>
            <a:normAutofit/>
          </a:bodyPr>
          <a:lstStyle/>
          <a:p>
            <a:pPr eaLnBrk="1" hangingPunct="1"/>
            <a:r>
              <a:rPr lang="zh-CN" altLang="en-US" sz="2400" b="1" dirty="0"/>
              <a:t>构造函数可以重载。与普通函数的重载一样，重载的构造函数必须具有不同的函数原型。</a:t>
            </a:r>
          </a:p>
          <a:p>
            <a:pPr algn="just" eaLnBrk="1" hangingPunct="1"/>
            <a:r>
              <a:rPr lang="zh-CN" altLang="zh-CN" sz="2400" b="1" dirty="0">
                <a:solidFill>
                  <a:srgbClr val="FF3300"/>
                </a:solidFill>
              </a:rPr>
              <a:t>【例</a:t>
            </a:r>
            <a:r>
              <a:rPr lang="en-US" altLang="zh-CN" sz="2400" b="1" dirty="0">
                <a:solidFill>
                  <a:srgbClr val="FF3300"/>
                </a:solidFill>
              </a:rPr>
              <a:t>3-7】  </a:t>
            </a:r>
            <a:r>
              <a:rPr lang="zh-CN" altLang="en-US" sz="2400" b="1" dirty="0">
                <a:solidFill>
                  <a:srgbClr val="FF3300"/>
                </a:solidFill>
              </a:rPr>
              <a:t>日期类，重载其构造函数。</a:t>
            </a:r>
          </a:p>
        </p:txBody>
      </p:sp>
      <p:sp>
        <p:nvSpPr>
          <p:cNvPr id="51203" name="Rectangle 6"/>
          <p:cNvSpPr>
            <a:spLocks noChangeArrowheads="1"/>
          </p:cNvSpPr>
          <p:nvPr/>
        </p:nvSpPr>
        <p:spPr bwMode="auto">
          <a:xfrm>
            <a:off x="684213" y="-99392"/>
            <a:ext cx="77724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en-US" altLang="zh-CN" sz="4000" b="1" dirty="0">
                <a:solidFill>
                  <a:schemeClr val="tx2"/>
                </a:solidFill>
                <a:latin typeface="Times New Roman" pitchFamily="18" charset="0"/>
              </a:rPr>
              <a:t>4_2.1.3 </a:t>
            </a:r>
            <a:r>
              <a:rPr lang="zh-CN" altLang="en-US" sz="4000" b="1" dirty="0">
                <a:solidFill>
                  <a:schemeClr val="tx2"/>
                </a:solidFill>
                <a:latin typeface="Times New Roman" pitchFamily="18" charset="0"/>
              </a:rPr>
              <a:t>重载</a:t>
            </a:r>
            <a:r>
              <a:rPr lang="zh-CN" altLang="en-US" sz="4000" b="1" dirty="0">
                <a:latin typeface="Times New Roman" pitchFamily="18" charset="0"/>
              </a:rPr>
              <a:t>构造函数</a:t>
            </a:r>
          </a:p>
        </p:txBody>
      </p:sp>
      <p:sp>
        <p:nvSpPr>
          <p:cNvPr id="2" name="矩形 1"/>
          <p:cNvSpPr/>
          <p:nvPr/>
        </p:nvSpPr>
        <p:spPr>
          <a:xfrm>
            <a:off x="467544" y="2132856"/>
            <a:ext cx="6120680" cy="4524315"/>
          </a:xfrm>
          <a:prstGeom prst="rect">
            <a:avLst/>
          </a:prstGeom>
          <a:solidFill>
            <a:schemeClr val="bg1"/>
          </a:solidFill>
          <a:ln>
            <a:solidFill>
              <a:schemeClr val="bg2">
                <a:lumMod val="25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err="1">
                <a:solidFill>
                  <a:srgbClr val="2B91AF"/>
                </a:solidFill>
                <a:highlight>
                  <a:srgbClr val="FFFFFF"/>
                </a:highlight>
                <a:latin typeface="新宋体"/>
                <a:ea typeface="新宋体"/>
              </a:rPr>
              <a:t>Tdate</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441325"/>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p>
          <a:p>
            <a:pPr marL="441325"/>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d);</a:t>
            </a:r>
          </a:p>
          <a:p>
            <a:pPr marL="441325"/>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d);</a:t>
            </a:r>
          </a:p>
          <a:p>
            <a:pPr marL="441325"/>
            <a:r>
              <a:rPr lang="fr-FR" altLang="zh-CN" sz="2400" dirty="0">
                <a:solidFill>
                  <a:srgbClr val="000000"/>
                </a:solidFill>
                <a:highlight>
                  <a:srgbClr val="FFFFFF"/>
                </a:highlight>
                <a:latin typeface="新宋体"/>
                <a:ea typeface="新宋体"/>
              </a:rPr>
              <a:t>Tdate(</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m, </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d, </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y);</a:t>
            </a:r>
          </a:p>
          <a:p>
            <a:pPr marL="441325"/>
            <a:r>
              <a:rPr lang="en-US" altLang="zh-CN" sz="2400" dirty="0">
                <a:solidFill>
                  <a:srgbClr val="008000"/>
                </a:solidFill>
                <a:highlight>
                  <a:srgbClr val="FFFFFF"/>
                </a:highlight>
                <a:latin typeface="新宋体"/>
                <a:ea typeface="新宋体"/>
              </a:rPr>
              <a:t>//......</a:t>
            </a:r>
            <a:endParaRPr lang="zh-CN" altLang="en-US" sz="2400" dirty="0">
              <a:solidFill>
                <a:srgbClr val="000000"/>
              </a:solidFill>
              <a:highlight>
                <a:srgbClr val="FFFFFF"/>
              </a:highlight>
              <a:latin typeface="新宋体"/>
              <a:ea typeface="新宋体"/>
            </a:endParaRPr>
          </a:p>
          <a:p>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pPr marL="36512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month;</a:t>
            </a:r>
          </a:p>
          <a:p>
            <a:pPr marL="36512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day;</a:t>
            </a:r>
          </a:p>
          <a:p>
            <a:pPr marL="36512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year;</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5" name="矩形 4"/>
          <p:cNvSpPr/>
          <p:nvPr/>
        </p:nvSpPr>
        <p:spPr>
          <a:xfrm>
            <a:off x="467544" y="688712"/>
            <a:ext cx="7416824" cy="6001643"/>
          </a:xfrm>
          <a:prstGeom prst="rect">
            <a:avLst/>
          </a:prstGeom>
          <a:solidFill>
            <a:schemeClr val="bg1"/>
          </a:solidFill>
          <a:ln>
            <a:solidFill>
              <a:schemeClr val="bg2">
                <a:lumMod val="25000"/>
              </a:schemeClr>
            </a:solidFill>
          </a:ln>
        </p:spPr>
        <p:txBody>
          <a:bodyPr wrap="square">
            <a:spAutoFit/>
          </a:bodyPr>
          <a:lstStyle/>
          <a:p>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  month = 1; day = 1; year = 2017;</a:t>
            </a:r>
          </a:p>
          <a:p>
            <a:pPr marL="363538"/>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  month = 1; day =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 year = 2017;</a:t>
            </a:r>
          </a:p>
          <a:p>
            <a:pPr marL="36512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  month = </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 day =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 year = 2017;</a:t>
            </a:r>
          </a:p>
          <a:p>
            <a:pPr marL="36512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  month = </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 day =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 year = </a:t>
            </a:r>
            <a:r>
              <a:rPr lang="en-US" altLang="zh-CN" sz="2400" dirty="0">
                <a:solidFill>
                  <a:srgbClr val="80808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a:t>
            </a:r>
          </a:p>
          <a:p>
            <a:pPr marL="365125"/>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6" name="矩形 5"/>
          <p:cNvSpPr/>
          <p:nvPr/>
        </p:nvSpPr>
        <p:spPr>
          <a:xfrm>
            <a:off x="4139952" y="688712"/>
            <a:ext cx="4716524" cy="3539430"/>
          </a:xfrm>
          <a:prstGeom prst="rect">
            <a:avLst/>
          </a:prstGeom>
          <a:solidFill>
            <a:schemeClr val="bg1"/>
          </a:solidFill>
          <a:ln>
            <a:solidFill>
              <a:schemeClr val="bg2">
                <a:lumMod val="25000"/>
              </a:schemeClr>
            </a:solidFill>
          </a:ln>
        </p:spPr>
        <p:txBody>
          <a:bodyPr wrap="square">
            <a:spAutoFit/>
          </a:bodyPr>
          <a:lstStyle/>
          <a:p>
            <a:r>
              <a:rPr lang="en-US" altLang="zh-CN" sz="2800" dirty="0" err="1">
                <a:solidFill>
                  <a:srgbClr val="0000FF"/>
                </a:solidFill>
                <a:highlight>
                  <a:srgbClr val="FFFFFF"/>
                </a:highlight>
                <a:latin typeface="新宋体"/>
                <a:ea typeface="新宋体"/>
              </a:rPr>
              <a:t>int</a:t>
            </a:r>
            <a:r>
              <a:rPr lang="en-US" altLang="zh-CN" sz="2800" dirty="0">
                <a:solidFill>
                  <a:srgbClr val="000000"/>
                </a:solidFill>
                <a:highlight>
                  <a:srgbClr val="FFFFFF"/>
                </a:highlight>
                <a:latin typeface="新宋体"/>
                <a:ea typeface="新宋体"/>
              </a:rPr>
              <a:t> main()</a:t>
            </a:r>
          </a:p>
          <a:p>
            <a:r>
              <a:rPr lang="en-US" altLang="zh-CN" sz="2800" dirty="0">
                <a:solidFill>
                  <a:srgbClr val="000000"/>
                </a:solidFill>
                <a:highlight>
                  <a:srgbClr val="FFFFFF"/>
                </a:highlight>
                <a:latin typeface="新宋体"/>
                <a:ea typeface="新宋体"/>
              </a:rPr>
              <a:t>{  </a:t>
            </a:r>
            <a:r>
              <a:rPr lang="en-US" altLang="zh-CN" sz="2800" dirty="0" err="1">
                <a:solidFill>
                  <a:srgbClr val="2B91AF"/>
                </a:solidFill>
                <a:highlight>
                  <a:srgbClr val="FFFFFF"/>
                </a:highlight>
                <a:latin typeface="新宋体"/>
                <a:ea typeface="新宋体"/>
              </a:rPr>
              <a:t>Tdate</a:t>
            </a:r>
            <a:r>
              <a:rPr lang="en-US" altLang="zh-CN" sz="2800" dirty="0">
                <a:solidFill>
                  <a:srgbClr val="000000"/>
                </a:solidFill>
                <a:highlight>
                  <a:srgbClr val="FFFFFF"/>
                </a:highlight>
                <a:latin typeface="新宋体"/>
                <a:ea typeface="新宋体"/>
              </a:rPr>
              <a:t> </a:t>
            </a:r>
            <a:r>
              <a:rPr lang="en-US" altLang="zh-CN" sz="2800" dirty="0" err="1">
                <a:solidFill>
                  <a:srgbClr val="000000"/>
                </a:solidFill>
                <a:highlight>
                  <a:srgbClr val="FFFFFF"/>
                </a:highlight>
                <a:latin typeface="新宋体"/>
                <a:ea typeface="新宋体"/>
              </a:rPr>
              <a:t>aday</a:t>
            </a:r>
            <a:r>
              <a:rPr lang="en-US" altLang="zh-CN" sz="2800" dirty="0">
                <a:solidFill>
                  <a:srgbClr val="000000"/>
                </a:solidFill>
                <a:highlight>
                  <a:srgbClr val="FFFFFF"/>
                </a:highlight>
                <a:latin typeface="新宋体"/>
                <a:ea typeface="新宋体"/>
              </a:rPr>
              <a:t>;</a:t>
            </a:r>
          </a:p>
          <a:p>
            <a:pPr marL="533400"/>
            <a:r>
              <a:rPr lang="en-US" altLang="zh-CN" sz="2800" dirty="0" err="1">
                <a:solidFill>
                  <a:srgbClr val="2B91AF"/>
                </a:solidFill>
                <a:highlight>
                  <a:srgbClr val="FFFFFF"/>
                </a:highlight>
                <a:latin typeface="新宋体"/>
                <a:ea typeface="新宋体"/>
              </a:rPr>
              <a:t>Tdate</a:t>
            </a:r>
            <a:r>
              <a:rPr lang="en-US" altLang="zh-CN" sz="2800" dirty="0">
                <a:solidFill>
                  <a:srgbClr val="000000"/>
                </a:solidFill>
                <a:highlight>
                  <a:srgbClr val="FFFFFF"/>
                </a:highlight>
                <a:latin typeface="新宋体"/>
                <a:ea typeface="新宋体"/>
              </a:rPr>
              <a:t> </a:t>
            </a:r>
            <a:r>
              <a:rPr lang="en-US" altLang="zh-CN" sz="2800" dirty="0" err="1">
                <a:solidFill>
                  <a:srgbClr val="000000"/>
                </a:solidFill>
                <a:highlight>
                  <a:srgbClr val="FFFFFF"/>
                </a:highlight>
                <a:latin typeface="新宋体"/>
                <a:ea typeface="新宋体"/>
              </a:rPr>
              <a:t>bday</a:t>
            </a:r>
            <a:r>
              <a:rPr lang="en-US" altLang="zh-CN" sz="2800" dirty="0">
                <a:solidFill>
                  <a:srgbClr val="000000"/>
                </a:solidFill>
                <a:highlight>
                  <a:srgbClr val="FFFFFF"/>
                </a:highlight>
                <a:latin typeface="新宋体"/>
                <a:ea typeface="新宋体"/>
              </a:rPr>
              <a:t>(10);</a:t>
            </a:r>
          </a:p>
          <a:p>
            <a:pPr marL="533400"/>
            <a:r>
              <a:rPr lang="en-US" altLang="zh-CN" sz="2800" dirty="0" err="1">
                <a:solidFill>
                  <a:srgbClr val="2B91AF"/>
                </a:solidFill>
                <a:highlight>
                  <a:srgbClr val="FFFFFF"/>
                </a:highlight>
                <a:latin typeface="新宋体"/>
                <a:ea typeface="新宋体"/>
              </a:rPr>
              <a:t>Tdate</a:t>
            </a:r>
            <a:r>
              <a:rPr lang="en-US" altLang="zh-CN" sz="2800" dirty="0">
                <a:solidFill>
                  <a:srgbClr val="000000"/>
                </a:solidFill>
                <a:highlight>
                  <a:srgbClr val="FFFFFF"/>
                </a:highlight>
                <a:latin typeface="新宋体"/>
                <a:ea typeface="新宋体"/>
              </a:rPr>
              <a:t> </a:t>
            </a:r>
            <a:r>
              <a:rPr lang="en-US" altLang="zh-CN" sz="2800" dirty="0" err="1">
                <a:solidFill>
                  <a:srgbClr val="000000"/>
                </a:solidFill>
                <a:highlight>
                  <a:srgbClr val="FFFFFF"/>
                </a:highlight>
                <a:latin typeface="新宋体"/>
                <a:ea typeface="新宋体"/>
              </a:rPr>
              <a:t>cday</a:t>
            </a:r>
            <a:r>
              <a:rPr lang="en-US" altLang="zh-CN" sz="2800" dirty="0">
                <a:solidFill>
                  <a:srgbClr val="000000"/>
                </a:solidFill>
                <a:highlight>
                  <a:srgbClr val="FFFFFF"/>
                </a:highlight>
                <a:latin typeface="新宋体"/>
                <a:ea typeface="新宋体"/>
              </a:rPr>
              <a:t>(2, 12);</a:t>
            </a:r>
          </a:p>
          <a:p>
            <a:pPr marL="533400"/>
            <a:r>
              <a:rPr lang="en-US" altLang="zh-CN" sz="2800" dirty="0" err="1">
                <a:solidFill>
                  <a:srgbClr val="2B91AF"/>
                </a:solidFill>
                <a:highlight>
                  <a:srgbClr val="FFFFFF"/>
                </a:highlight>
                <a:latin typeface="新宋体"/>
                <a:ea typeface="新宋体"/>
              </a:rPr>
              <a:t>Tdate</a:t>
            </a:r>
            <a:r>
              <a:rPr lang="en-US" altLang="zh-CN" sz="2800" dirty="0">
                <a:solidFill>
                  <a:srgbClr val="000000"/>
                </a:solidFill>
                <a:highlight>
                  <a:srgbClr val="FFFFFF"/>
                </a:highlight>
                <a:latin typeface="新宋体"/>
                <a:ea typeface="新宋体"/>
              </a:rPr>
              <a:t> </a:t>
            </a:r>
            <a:r>
              <a:rPr lang="en-US" altLang="zh-CN" sz="2800" dirty="0" err="1">
                <a:solidFill>
                  <a:srgbClr val="000000"/>
                </a:solidFill>
                <a:highlight>
                  <a:srgbClr val="FFFFFF"/>
                </a:highlight>
                <a:latin typeface="新宋体"/>
                <a:ea typeface="新宋体"/>
              </a:rPr>
              <a:t>dday</a:t>
            </a:r>
            <a:r>
              <a:rPr lang="en-US" altLang="zh-CN" sz="2800" dirty="0">
                <a:solidFill>
                  <a:srgbClr val="000000"/>
                </a:solidFill>
                <a:highlight>
                  <a:srgbClr val="FFFFFF"/>
                </a:highlight>
                <a:latin typeface="新宋体"/>
                <a:ea typeface="新宋体"/>
              </a:rPr>
              <a:t>(1, 2, 2008);</a:t>
            </a:r>
          </a:p>
          <a:p>
            <a:pPr marL="533400"/>
            <a:r>
              <a:rPr lang="en-US" altLang="zh-CN" sz="2800" dirty="0" err="1">
                <a:solidFill>
                  <a:schemeClr val="tx2">
                    <a:lumMod val="50000"/>
                    <a:lumOff val="50000"/>
                  </a:schemeClr>
                </a:solidFill>
                <a:highlight>
                  <a:srgbClr val="FFFFFF"/>
                </a:highlight>
                <a:latin typeface="新宋体"/>
                <a:ea typeface="新宋体"/>
              </a:rPr>
              <a:t>Tdate</a:t>
            </a:r>
            <a:r>
              <a:rPr lang="en-US" altLang="zh-CN" sz="2800" dirty="0">
                <a:solidFill>
                  <a:srgbClr val="000000"/>
                </a:solidFill>
                <a:highlight>
                  <a:srgbClr val="FFFFFF"/>
                </a:highlight>
                <a:latin typeface="新宋体"/>
                <a:ea typeface="新宋体"/>
              </a:rPr>
              <a:t> </a:t>
            </a:r>
            <a:r>
              <a:rPr lang="en-US" altLang="zh-CN" sz="2800" dirty="0" err="1">
                <a:solidFill>
                  <a:srgbClr val="000000"/>
                </a:solidFill>
                <a:highlight>
                  <a:srgbClr val="FFFFFF"/>
                </a:highlight>
                <a:latin typeface="新宋体"/>
                <a:ea typeface="新宋体"/>
              </a:rPr>
              <a:t>eday</a:t>
            </a:r>
            <a:r>
              <a:rPr lang="en-US" altLang="zh-CN" sz="2800" dirty="0">
                <a:solidFill>
                  <a:srgbClr val="000000"/>
                </a:solidFill>
                <a:highlight>
                  <a:srgbClr val="FFFFFF"/>
                </a:highlight>
                <a:latin typeface="新宋体"/>
                <a:ea typeface="新宋体"/>
              </a:rPr>
              <a:t> = 5;</a:t>
            </a:r>
          </a:p>
          <a:p>
            <a:pPr marL="533400"/>
            <a:r>
              <a:rPr lang="en-US" altLang="zh-CN" sz="2800" dirty="0">
                <a:solidFill>
                  <a:srgbClr val="0000FF"/>
                </a:solidFill>
                <a:highlight>
                  <a:srgbClr val="FFFFFF"/>
                </a:highlight>
                <a:latin typeface="新宋体"/>
                <a:ea typeface="新宋体"/>
              </a:rPr>
              <a:t>return</a:t>
            </a:r>
            <a:r>
              <a:rPr lang="en-US" altLang="zh-CN" sz="2800" dirty="0">
                <a:solidFill>
                  <a:srgbClr val="000000"/>
                </a:solidFill>
                <a:highlight>
                  <a:srgbClr val="FFFFFF"/>
                </a:highlight>
                <a:latin typeface="新宋体"/>
                <a:ea typeface="新宋体"/>
              </a:rPr>
              <a:t> 0;</a:t>
            </a:r>
          </a:p>
          <a:p>
            <a:r>
              <a:rPr lang="en-US" altLang="zh-CN" sz="2800" dirty="0">
                <a:solidFill>
                  <a:srgbClr val="000000"/>
                </a:solidFill>
                <a:highlight>
                  <a:srgbClr val="FFFFFF"/>
                </a:highlight>
                <a:latin typeface="新宋体"/>
                <a:ea typeface="新宋体"/>
              </a:rPr>
              <a:t>}</a:t>
            </a:r>
            <a:endParaRPr lang="zh-CN" altLang="en-US" sz="2800" dirty="0"/>
          </a:p>
        </p:txBody>
      </p:sp>
      <p:sp>
        <p:nvSpPr>
          <p:cNvPr id="3" name="矩形 2"/>
          <p:cNvSpPr/>
          <p:nvPr/>
        </p:nvSpPr>
        <p:spPr>
          <a:xfrm>
            <a:off x="6876256" y="3568948"/>
            <a:ext cx="2130504" cy="2308324"/>
          </a:xfrm>
          <a:prstGeom prst="rect">
            <a:avLst/>
          </a:prstGeom>
          <a:solidFill>
            <a:schemeClr val="tx1"/>
          </a:solidFill>
        </p:spPr>
        <p:txBody>
          <a:bodyPr wrap="square">
            <a:spAutoFit/>
          </a:bodyPr>
          <a:lstStyle/>
          <a:p>
            <a:r>
              <a:rPr lang="en-US" altLang="zh-CN" sz="2400" dirty="0">
                <a:solidFill>
                  <a:schemeClr val="bg1"/>
                </a:solidFill>
              </a:rPr>
              <a:t>1/1/2017</a:t>
            </a:r>
          </a:p>
          <a:p>
            <a:r>
              <a:rPr lang="en-US" altLang="zh-CN" sz="2400" dirty="0">
                <a:solidFill>
                  <a:schemeClr val="bg1"/>
                </a:solidFill>
              </a:rPr>
              <a:t>1/10/2017</a:t>
            </a:r>
          </a:p>
          <a:p>
            <a:r>
              <a:rPr lang="en-US" altLang="zh-CN" sz="2400" dirty="0">
                <a:solidFill>
                  <a:schemeClr val="bg1"/>
                </a:solidFill>
              </a:rPr>
              <a:t>2/12/2017</a:t>
            </a:r>
          </a:p>
          <a:p>
            <a:r>
              <a:rPr lang="en-US" altLang="zh-CN" sz="2400" dirty="0">
                <a:solidFill>
                  <a:schemeClr val="bg1"/>
                </a:solidFill>
              </a:rPr>
              <a:t>1/2/2008</a:t>
            </a:r>
          </a:p>
          <a:p>
            <a:r>
              <a:rPr lang="en-US" altLang="zh-CN" sz="2400" dirty="0">
                <a:solidFill>
                  <a:schemeClr val="bg1"/>
                </a:solidFill>
              </a:rPr>
              <a:t>1/5/2017</a:t>
            </a:r>
          </a:p>
          <a:p>
            <a:endParaRPr lang="zh-CN" altLang="en-US" sz="2400" dirty="0">
              <a:solidFill>
                <a:schemeClr val="bg1"/>
              </a:solidFill>
            </a:endParaRPr>
          </a:p>
        </p:txBody>
      </p:sp>
      <p:sp>
        <p:nvSpPr>
          <p:cNvPr id="7" name="圆角矩形 6"/>
          <p:cNvSpPr/>
          <p:nvPr/>
        </p:nvSpPr>
        <p:spPr>
          <a:xfrm>
            <a:off x="7020272" y="2879804"/>
            <a:ext cx="288032" cy="461665"/>
          </a:xfrm>
          <a:prstGeom prst="roundRect">
            <a:avLst/>
          </a:prstGeom>
          <a:solidFill>
            <a:srgbClr val="FFC000">
              <a:alpha val="6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876256" y="2879804"/>
            <a:ext cx="1402563" cy="461665"/>
          </a:xfrm>
          <a:prstGeom prst="rect">
            <a:avLst/>
          </a:prstGeom>
          <a:solidFill>
            <a:srgbClr val="FFC000"/>
          </a:solidFill>
        </p:spPr>
        <p:txBody>
          <a:bodyPr wrap="none">
            <a:spAutoFit/>
          </a:bodyPr>
          <a:lstStyle/>
          <a:p>
            <a:r>
              <a:rPr lang="en-US" altLang="zh-CN" sz="2400" dirty="0" err="1"/>
              <a:t>Tdate</a:t>
            </a:r>
            <a:r>
              <a:rPr lang="en-US" altLang="zh-CN" sz="2400" dirty="0"/>
              <a:t>(5);</a:t>
            </a:r>
            <a:endParaRPr lang="zh-CN" altLang="en-US" sz="2400" dirty="0"/>
          </a:p>
        </p:txBody>
      </p:sp>
    </p:spTree>
    <p:extLst>
      <p:ext uri="{BB962C8B-B14F-4D97-AF65-F5344CB8AC3E}">
        <p14:creationId xmlns:p14="http://schemas.microsoft.com/office/powerpoint/2010/main" val="30861286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51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45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3" grpId="0" animBg="1"/>
      <p:bldP spid="7"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1" y="1412776"/>
            <a:ext cx="9144001" cy="720675"/>
          </a:xfrm>
        </p:spPr>
        <p:txBody>
          <a:bodyPr>
            <a:normAutofit/>
          </a:bodyPr>
          <a:lstStyle/>
          <a:p>
            <a:pPr eaLnBrk="1" hangingPunct="1">
              <a:lnSpc>
                <a:spcPct val="80000"/>
              </a:lnSpc>
            </a:pPr>
            <a:r>
              <a:rPr lang="zh-CN" altLang="en-US" sz="2400" dirty="0"/>
              <a:t>利用缺省形参值的构造函数，将上面的几个构造函数结合成一个：</a:t>
            </a:r>
          </a:p>
        </p:txBody>
      </p:sp>
      <p:sp>
        <p:nvSpPr>
          <p:cNvPr id="54275" name="Rectangle 6"/>
          <p:cNvSpPr>
            <a:spLocks noChangeArrowheads="1"/>
          </p:cNvSpPr>
          <p:nvPr/>
        </p:nvSpPr>
        <p:spPr bwMode="auto">
          <a:xfrm>
            <a:off x="684213" y="3333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zh-CN" altLang="en-US" sz="4400" b="1" dirty="0">
                <a:solidFill>
                  <a:schemeClr val="tx2"/>
                </a:solidFill>
                <a:latin typeface="Times New Roman" pitchFamily="18" charset="0"/>
              </a:rPr>
              <a:t>重载</a:t>
            </a:r>
            <a:r>
              <a:rPr lang="zh-CN" altLang="en-US" sz="4400" b="1" dirty="0">
                <a:latin typeface="Times New Roman" pitchFamily="18" charset="0"/>
              </a:rPr>
              <a:t>构造函数</a:t>
            </a:r>
          </a:p>
        </p:txBody>
      </p:sp>
      <p:sp>
        <p:nvSpPr>
          <p:cNvPr id="2" name="矩形 1"/>
          <p:cNvSpPr/>
          <p:nvPr/>
        </p:nvSpPr>
        <p:spPr>
          <a:xfrm>
            <a:off x="323528" y="1844824"/>
            <a:ext cx="8280920" cy="4524315"/>
          </a:xfrm>
          <a:prstGeom prst="rect">
            <a:avLst/>
          </a:prstGeom>
          <a:solidFill>
            <a:schemeClr val="bg1"/>
          </a:solidFill>
          <a:ln>
            <a:solidFill>
              <a:schemeClr val="bg2">
                <a:lumMod val="25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441325"/>
            <a:r>
              <a:rPr lang="fr-FR" altLang="zh-CN" sz="2400" dirty="0">
                <a:solidFill>
                  <a:srgbClr val="000000"/>
                </a:solidFill>
                <a:highlight>
                  <a:srgbClr val="FFFFFF"/>
                </a:highlight>
                <a:latin typeface="新宋体"/>
                <a:ea typeface="新宋体"/>
              </a:rPr>
              <a:t>Tdate(</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a:t>
            </a:r>
            <a:r>
              <a:rPr lang="fr-FR" altLang="zh-CN" sz="2400" dirty="0">
                <a:solidFill>
                  <a:srgbClr val="808080"/>
                </a:solidFill>
                <a:highlight>
                  <a:srgbClr val="FFFFFF"/>
                </a:highlight>
                <a:latin typeface="新宋体"/>
                <a:ea typeface="新宋体"/>
              </a:rPr>
              <a:t>m</a:t>
            </a:r>
            <a:r>
              <a:rPr lang="fr-FR" altLang="zh-CN" sz="2400" dirty="0">
                <a:solidFill>
                  <a:srgbClr val="000000"/>
                </a:solidFill>
                <a:highlight>
                  <a:srgbClr val="FFFFFF"/>
                </a:highlight>
                <a:latin typeface="新宋体"/>
                <a:ea typeface="新宋体"/>
              </a:rPr>
              <a:t> = </a:t>
            </a:r>
            <a:r>
              <a:rPr lang="en-US" altLang="zh-CN" sz="2400" dirty="0">
                <a:solidFill>
                  <a:srgbClr val="000000"/>
                </a:solidFill>
                <a:highlight>
                  <a:srgbClr val="FFFFFF"/>
                </a:highlight>
                <a:latin typeface="新宋体"/>
                <a:ea typeface="新宋体"/>
              </a:rPr>
              <a:t>1</a:t>
            </a:r>
            <a:r>
              <a:rPr lang="fr-FR" altLang="zh-CN" sz="2400" dirty="0">
                <a:solidFill>
                  <a:srgbClr val="000000"/>
                </a:solidFill>
                <a:highlight>
                  <a:srgbClr val="FFFFFF"/>
                </a:highlight>
                <a:latin typeface="新宋体"/>
                <a:ea typeface="新宋体"/>
              </a:rPr>
              <a:t>, </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a:t>
            </a:r>
            <a:r>
              <a:rPr lang="fr-FR" altLang="zh-CN" sz="2400" dirty="0">
                <a:solidFill>
                  <a:srgbClr val="808080"/>
                </a:solidFill>
                <a:highlight>
                  <a:srgbClr val="FFFFFF"/>
                </a:highlight>
                <a:latin typeface="新宋体"/>
                <a:ea typeface="新宋体"/>
              </a:rPr>
              <a:t>d</a:t>
            </a:r>
            <a:r>
              <a:rPr lang="fr-FR" altLang="zh-CN" sz="2400" dirty="0">
                <a:solidFill>
                  <a:srgbClr val="000000"/>
                </a:solidFill>
                <a:highlight>
                  <a:srgbClr val="FFFFFF"/>
                </a:highlight>
                <a:latin typeface="新宋体"/>
                <a:ea typeface="新宋体"/>
              </a:rPr>
              <a:t> = 1, </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a:t>
            </a:r>
            <a:r>
              <a:rPr lang="fr-FR" altLang="zh-CN" sz="2400" dirty="0">
                <a:solidFill>
                  <a:srgbClr val="808080"/>
                </a:solidFill>
                <a:highlight>
                  <a:srgbClr val="FFFFFF"/>
                </a:highlight>
                <a:latin typeface="新宋体"/>
                <a:ea typeface="新宋体"/>
              </a:rPr>
              <a:t>y</a:t>
            </a:r>
            <a:r>
              <a:rPr lang="fr-FR" altLang="zh-CN" sz="2400" dirty="0">
                <a:solidFill>
                  <a:srgbClr val="000000"/>
                </a:solidFill>
                <a:highlight>
                  <a:srgbClr val="FFFFFF"/>
                </a:highlight>
                <a:latin typeface="新宋体"/>
                <a:ea typeface="新宋体"/>
              </a:rPr>
              <a:t> = </a:t>
            </a:r>
            <a:r>
              <a:rPr lang="en-US" altLang="zh-CN" sz="2400" dirty="0">
                <a:solidFill>
                  <a:srgbClr val="000000"/>
                </a:solidFill>
                <a:highlight>
                  <a:srgbClr val="FFFFFF"/>
                </a:highlight>
                <a:latin typeface="新宋体"/>
                <a:ea typeface="新宋体"/>
              </a:rPr>
              <a:t>2017</a:t>
            </a:r>
            <a:r>
              <a:rPr lang="fr-FR" altLang="zh-CN" sz="2400" dirty="0">
                <a:solidFill>
                  <a:srgbClr val="000000"/>
                </a:solidFill>
                <a:highlight>
                  <a:srgbClr val="FFFFFF"/>
                </a:highlight>
                <a:latin typeface="新宋体"/>
                <a:ea typeface="新宋体"/>
              </a:rPr>
              <a:t>)</a:t>
            </a:r>
          </a:p>
          <a:p>
            <a:pPr marL="441325"/>
            <a:r>
              <a:rPr lang="en-US" altLang="zh-CN" sz="2400" dirty="0">
                <a:solidFill>
                  <a:srgbClr val="000000"/>
                </a:solidFill>
                <a:highlight>
                  <a:srgbClr val="FFFFFF"/>
                </a:highlight>
                <a:latin typeface="新宋体"/>
                <a:ea typeface="新宋体"/>
              </a:rPr>
              <a:t>{  month = </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  day = </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  year = </a:t>
            </a:r>
            <a:r>
              <a:rPr lang="en-US" altLang="zh-CN" sz="2400" dirty="0">
                <a:solidFill>
                  <a:srgbClr val="80808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a:t>
            </a:r>
          </a:p>
          <a:p>
            <a:pPr marL="441325"/>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pPr marL="441325"/>
            <a:r>
              <a:rPr lang="en-US" altLang="zh-CN" sz="2400" dirty="0">
                <a:solidFill>
                  <a:srgbClr val="000000"/>
                </a:solidFill>
                <a:highlight>
                  <a:srgbClr val="FFFFFF"/>
                </a:highlight>
                <a:latin typeface="新宋体"/>
                <a:ea typeface="新宋体"/>
              </a:rPr>
              <a:t>}</a:t>
            </a:r>
          </a:p>
          <a:p>
            <a:pPr marL="363538"/>
            <a:r>
              <a:rPr lang="en-US" altLang="zh-CN" sz="2400" dirty="0">
                <a:solidFill>
                  <a:srgbClr val="008000"/>
                </a:solidFill>
                <a:highlight>
                  <a:srgbClr val="FFFFFF"/>
                </a:highlight>
                <a:latin typeface="新宋体"/>
                <a:ea typeface="新宋体"/>
              </a:rPr>
              <a:t>//......</a:t>
            </a:r>
            <a:endParaRPr lang="zh-CN" altLang="en-US" sz="2400" dirty="0">
              <a:solidFill>
                <a:srgbClr val="000000"/>
              </a:solidFill>
              <a:highlight>
                <a:srgbClr val="FFFFFF"/>
              </a:highlight>
              <a:latin typeface="新宋体"/>
              <a:ea typeface="新宋体"/>
            </a:endParaRPr>
          </a:p>
          <a:p>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month;</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day;</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year;</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3" name="圆角矩形 2"/>
          <p:cNvSpPr/>
          <p:nvPr/>
        </p:nvSpPr>
        <p:spPr>
          <a:xfrm>
            <a:off x="684213" y="2636912"/>
            <a:ext cx="6840115" cy="139806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23828" y="3847688"/>
            <a:ext cx="4716524" cy="3046988"/>
          </a:xfrm>
          <a:prstGeom prst="rect">
            <a:avLst/>
          </a:prstGeom>
          <a:solidFill>
            <a:schemeClr val="bg1"/>
          </a:solidFill>
          <a:ln>
            <a:solidFill>
              <a:schemeClr val="bg2">
                <a:lumMod val="25000"/>
              </a:schemeClr>
            </a:solidFill>
          </a:ln>
        </p:spPr>
        <p:txBody>
          <a:bodyPr wrap="square">
            <a:spAutoFit/>
          </a:bodyPr>
          <a:lstStyle/>
          <a:p>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main()</a:t>
            </a:r>
          </a:p>
          <a:p>
            <a:r>
              <a:rPr lang="en-US" altLang="zh-CN" sz="2400" dirty="0">
                <a:solidFill>
                  <a:srgbClr val="000000"/>
                </a:solidFill>
                <a:highlight>
                  <a:srgbClr val="FFFFFF"/>
                </a:highlight>
                <a:latin typeface="新宋体"/>
                <a:ea typeface="新宋体"/>
              </a:rPr>
              <a:t>{  </a:t>
            </a:r>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aday</a:t>
            </a:r>
            <a:r>
              <a:rPr lang="en-US" altLang="zh-CN" sz="2400" dirty="0">
                <a:solidFill>
                  <a:srgbClr val="000000"/>
                </a:solidFill>
                <a:highlight>
                  <a:srgbClr val="FFFFFF"/>
                </a:highlight>
                <a:latin typeface="新宋体"/>
                <a:ea typeface="新宋体"/>
              </a:rPr>
              <a:t>;</a:t>
            </a:r>
          </a:p>
          <a:p>
            <a:pPr marL="533400"/>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bday</a:t>
            </a:r>
            <a:r>
              <a:rPr lang="en-US" altLang="zh-CN" sz="2400" dirty="0">
                <a:solidFill>
                  <a:srgbClr val="000000"/>
                </a:solidFill>
                <a:highlight>
                  <a:srgbClr val="FFFFFF"/>
                </a:highlight>
                <a:latin typeface="新宋体"/>
                <a:ea typeface="新宋体"/>
              </a:rPr>
              <a:t>(10);</a:t>
            </a:r>
          </a:p>
          <a:p>
            <a:pPr marL="533400"/>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cday</a:t>
            </a:r>
            <a:r>
              <a:rPr lang="en-US" altLang="zh-CN" sz="2400" dirty="0">
                <a:solidFill>
                  <a:srgbClr val="000000"/>
                </a:solidFill>
                <a:highlight>
                  <a:srgbClr val="FFFFFF"/>
                </a:highlight>
                <a:latin typeface="新宋体"/>
                <a:ea typeface="新宋体"/>
              </a:rPr>
              <a:t>(2, 12);</a:t>
            </a:r>
          </a:p>
          <a:p>
            <a:pPr marL="533400"/>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dday</a:t>
            </a:r>
            <a:r>
              <a:rPr lang="en-US" altLang="zh-CN" sz="2400" dirty="0">
                <a:solidFill>
                  <a:srgbClr val="000000"/>
                </a:solidFill>
                <a:highlight>
                  <a:srgbClr val="FFFFFF"/>
                </a:highlight>
                <a:latin typeface="新宋体"/>
                <a:ea typeface="新宋体"/>
              </a:rPr>
              <a:t>(1, 2, 2008);</a:t>
            </a:r>
          </a:p>
          <a:p>
            <a:pPr marL="533400"/>
            <a:r>
              <a:rPr lang="en-US" altLang="zh-CN" sz="2400" dirty="0" err="1">
                <a:solidFill>
                  <a:schemeClr val="tx2">
                    <a:lumMod val="50000"/>
                    <a:lumOff val="50000"/>
                  </a:schemeClr>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eday</a:t>
            </a:r>
            <a:r>
              <a:rPr lang="en-US" altLang="zh-CN" sz="2400" dirty="0">
                <a:solidFill>
                  <a:srgbClr val="000000"/>
                </a:solidFill>
                <a:highlight>
                  <a:srgbClr val="FFFFFF"/>
                </a:highlight>
                <a:latin typeface="新宋体"/>
                <a:ea typeface="新宋体"/>
              </a:rPr>
              <a:t> = 5;</a:t>
            </a:r>
          </a:p>
          <a:p>
            <a:pPr marL="533400"/>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0;</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4" name="矩形 3"/>
          <p:cNvSpPr/>
          <p:nvPr/>
        </p:nvSpPr>
        <p:spPr>
          <a:xfrm>
            <a:off x="7092280" y="4221088"/>
            <a:ext cx="2016224" cy="1938992"/>
          </a:xfrm>
          <a:prstGeom prst="rect">
            <a:avLst/>
          </a:prstGeom>
          <a:solidFill>
            <a:schemeClr val="tx1"/>
          </a:solidFill>
        </p:spPr>
        <p:txBody>
          <a:bodyPr wrap="square">
            <a:spAutoFit/>
          </a:bodyPr>
          <a:lstStyle/>
          <a:p>
            <a:r>
              <a:rPr lang="en-US" altLang="zh-CN" sz="2400" dirty="0">
                <a:solidFill>
                  <a:schemeClr val="bg1"/>
                </a:solidFill>
              </a:rPr>
              <a:t>1/1/2017</a:t>
            </a:r>
          </a:p>
          <a:p>
            <a:r>
              <a:rPr lang="en-US" altLang="zh-CN" sz="2400" dirty="0">
                <a:solidFill>
                  <a:schemeClr val="bg1"/>
                </a:solidFill>
              </a:rPr>
              <a:t>10/1/2017</a:t>
            </a:r>
          </a:p>
          <a:p>
            <a:r>
              <a:rPr lang="en-US" altLang="zh-CN" sz="2400" dirty="0">
                <a:solidFill>
                  <a:schemeClr val="bg1"/>
                </a:solidFill>
              </a:rPr>
              <a:t>2/12/2017</a:t>
            </a:r>
          </a:p>
          <a:p>
            <a:r>
              <a:rPr lang="en-US" altLang="zh-CN" sz="2400" dirty="0">
                <a:solidFill>
                  <a:schemeClr val="bg1"/>
                </a:solidFill>
              </a:rPr>
              <a:t>1/2/2008</a:t>
            </a:r>
          </a:p>
          <a:p>
            <a:r>
              <a:rPr lang="en-US" altLang="zh-CN" sz="2400" dirty="0">
                <a:solidFill>
                  <a:schemeClr val="bg1"/>
                </a:solidFill>
              </a:rPr>
              <a:t>5/1/2017</a:t>
            </a:r>
            <a:endParaRPr lang="zh-CN" altLang="en-US" sz="2400" dirty="0">
              <a:solidFill>
                <a:schemeClr val="bg1"/>
              </a:solidFill>
            </a:endParaRPr>
          </a:p>
        </p:txBody>
      </p:sp>
    </p:spTree>
    <p:extLst>
      <p:ext uri="{BB962C8B-B14F-4D97-AF65-F5344CB8AC3E}">
        <p14:creationId xmlns:p14="http://schemas.microsoft.com/office/powerpoint/2010/main" val="116447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11188" y="333375"/>
            <a:ext cx="7772400" cy="792163"/>
          </a:xfrm>
        </p:spPr>
        <p:txBody>
          <a:bodyPr/>
          <a:lstStyle/>
          <a:p>
            <a:pPr eaLnBrk="1" hangingPunct="1"/>
            <a:r>
              <a:rPr lang="en-US" altLang="zh-CN" b="1" dirty="0"/>
              <a:t>4_2.2 </a:t>
            </a:r>
            <a:r>
              <a:rPr lang="zh-CN" altLang="en-US" b="1" dirty="0"/>
              <a:t>拷贝构造函数</a:t>
            </a:r>
          </a:p>
        </p:txBody>
      </p:sp>
      <p:sp>
        <p:nvSpPr>
          <p:cNvPr id="55299" name="Rectangle 3"/>
          <p:cNvSpPr>
            <a:spLocks noGrp="1" noChangeArrowheads="1"/>
          </p:cNvSpPr>
          <p:nvPr>
            <p:ph idx="1"/>
          </p:nvPr>
        </p:nvSpPr>
        <p:spPr>
          <a:xfrm>
            <a:off x="467544" y="1196753"/>
            <a:ext cx="8134672" cy="2160240"/>
          </a:xfrm>
        </p:spPr>
        <p:txBody>
          <a:bodyPr>
            <a:normAutofit/>
          </a:bodyPr>
          <a:lstStyle/>
          <a:p>
            <a:pPr eaLnBrk="1" hangingPunct="1">
              <a:buFontTx/>
              <a:buNone/>
            </a:pPr>
            <a:r>
              <a:rPr lang="en-US" altLang="zh-CN" b="1" dirty="0">
                <a:solidFill>
                  <a:schemeClr val="accent2"/>
                </a:solidFill>
              </a:rPr>
              <a:t>1</a:t>
            </a:r>
            <a:r>
              <a:rPr lang="zh-CN" altLang="en-US" b="1" dirty="0">
                <a:solidFill>
                  <a:schemeClr val="accent2"/>
                </a:solidFill>
              </a:rPr>
              <a:t>、什么是拷贝构造函数</a:t>
            </a:r>
          </a:p>
          <a:p>
            <a:pPr lvl="1" eaLnBrk="1" hangingPunct="1">
              <a:buFontTx/>
              <a:buNone/>
            </a:pPr>
            <a:r>
              <a:rPr lang="en-US" altLang="zh-CN" dirty="0"/>
              <a:t>	</a:t>
            </a:r>
            <a:r>
              <a:rPr lang="zh-CN" altLang="en-US" dirty="0">
                <a:solidFill>
                  <a:srgbClr val="FF0000"/>
                </a:solidFill>
              </a:rPr>
              <a:t>拷贝</a:t>
            </a:r>
            <a:r>
              <a:rPr lang="zh-CN" altLang="en-US" dirty="0"/>
              <a:t>构造函数是一个特殊的构造函数，用于根据已存在的对象初始化一个新建对象。它的形式如下：</a:t>
            </a:r>
          </a:p>
        </p:txBody>
      </p:sp>
      <p:sp>
        <p:nvSpPr>
          <p:cNvPr id="3" name="矩形 2"/>
          <p:cNvSpPr/>
          <p:nvPr/>
        </p:nvSpPr>
        <p:spPr>
          <a:xfrm>
            <a:off x="1187624" y="4991214"/>
            <a:ext cx="6336704" cy="1200329"/>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0000FF"/>
                </a:solidFill>
                <a:latin typeface="Consolas" panose="020B0609020204030204" pitchFamily="49" charset="0"/>
                <a:ea typeface="新宋体"/>
                <a:cs typeface="Consolas" panose="020B0609020204030204" pitchFamily="49" charset="0"/>
              </a:rPr>
              <a:t>class</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X</a:t>
            </a:r>
            <a:endParaRPr lang="en-US" altLang="zh-CN" dirty="0">
              <a:solidFill>
                <a:srgbClr val="000000"/>
              </a:solidFill>
              <a:latin typeface="Consolas" panose="020B0609020204030204" pitchFamily="49" charset="0"/>
              <a:ea typeface="新宋体"/>
              <a:cs typeface="Consolas" panose="020B0609020204030204" pitchFamily="49" charset="0"/>
            </a:endParaRPr>
          </a:p>
          <a:p>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0000FF"/>
                </a:solidFill>
                <a:latin typeface="Consolas" panose="020B0609020204030204" pitchFamily="49" charset="0"/>
                <a:ea typeface="新宋体"/>
                <a:cs typeface="Consolas" panose="020B0609020204030204" pitchFamily="49" charset="0"/>
              </a:rPr>
              <a:t>public</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00"/>
                </a:solidFill>
                <a:latin typeface="Consolas" panose="020B0609020204030204" pitchFamily="49" charset="0"/>
                <a:ea typeface="新宋体"/>
                <a:cs typeface="Consolas" panose="020B0609020204030204" pitchFamily="49" charset="0"/>
              </a:rPr>
              <a:t>   X(</a:t>
            </a:r>
            <a:r>
              <a:rPr lang="en-US" altLang="zh-CN" dirty="0">
                <a:solidFill>
                  <a:srgbClr val="2B91AF"/>
                </a:solidFill>
                <a:latin typeface="Consolas" panose="020B0609020204030204" pitchFamily="49" charset="0"/>
                <a:ea typeface="新宋体"/>
                <a:cs typeface="Consolas" panose="020B0609020204030204" pitchFamily="49" charset="0"/>
              </a:rPr>
              <a:t>X</a:t>
            </a:r>
            <a:r>
              <a:rPr lang="en-US" altLang="zh-CN" dirty="0">
                <a:solidFill>
                  <a:srgbClr val="000000"/>
                </a:solidFill>
                <a:latin typeface="Consolas" panose="020B0609020204030204" pitchFamily="49" charset="0"/>
                <a:ea typeface="新宋体"/>
                <a:cs typeface="Consolas" panose="020B0609020204030204" pitchFamily="49" charset="0"/>
              </a:rPr>
              <a:t>&amp;);</a:t>
            </a:r>
            <a:r>
              <a:rPr lang="en-US" altLang="zh-CN" dirty="0">
                <a:solidFill>
                  <a:srgbClr val="008000"/>
                </a:solidFill>
                <a:latin typeface="Consolas" panose="020B0609020204030204" pitchFamily="49" charset="0"/>
                <a:ea typeface="新宋体"/>
                <a:cs typeface="Consolas" panose="020B0609020204030204" pitchFamily="49" charset="0"/>
              </a:rPr>
              <a:t> 	   //</a:t>
            </a:r>
            <a:r>
              <a:rPr lang="zh-CN" altLang="en-US" dirty="0">
                <a:solidFill>
                  <a:srgbClr val="008000"/>
                </a:solidFill>
                <a:latin typeface="Consolas" panose="020B0609020204030204" pitchFamily="49" charset="0"/>
                <a:ea typeface="新宋体"/>
                <a:cs typeface="Consolas" panose="020B0609020204030204" pitchFamily="49" charset="0"/>
              </a:rPr>
              <a:t>拷贝构造函数的原型（某些教材）</a:t>
            </a:r>
            <a:r>
              <a:rPr lang="en-US" altLang="zh-CN" dirty="0">
                <a:solidFill>
                  <a:srgbClr val="000000"/>
                </a:solidFill>
                <a:latin typeface="Consolas" panose="020B0609020204030204" pitchFamily="49" charset="0"/>
                <a:ea typeface="新宋体"/>
                <a:cs typeface="Consolas" panose="020B0609020204030204" pitchFamily="49" charset="0"/>
              </a:rPr>
              <a:t> </a:t>
            </a:r>
            <a:endParaRPr lang="zh-CN" altLang="en-US" dirty="0">
              <a:solidFill>
                <a:srgbClr val="000000"/>
              </a:solidFill>
              <a:latin typeface="Consolas" panose="020B0609020204030204" pitchFamily="49" charset="0"/>
              <a:ea typeface="新宋体"/>
              <a:cs typeface="Consolas" panose="020B0609020204030204" pitchFamily="49" charset="0"/>
            </a:endParaRPr>
          </a:p>
          <a:p>
            <a:r>
              <a:rPr lang="en-US" altLang="zh-CN" dirty="0">
                <a:solidFill>
                  <a:srgbClr val="000000"/>
                </a:solidFill>
                <a:latin typeface="Consolas" panose="020B0609020204030204" pitchFamily="49" charset="0"/>
                <a:ea typeface="新宋体"/>
                <a:cs typeface="Consolas" panose="020B0609020204030204" pitchFamily="49" charset="0"/>
              </a:rPr>
              <a:t>}</a:t>
            </a:r>
            <a:r>
              <a:rPr lang="zh-CN" altLang="en-US" dirty="0">
                <a:solidFill>
                  <a:srgbClr val="000000"/>
                </a:solidFill>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4" name="矩形 3"/>
          <p:cNvSpPr/>
          <p:nvPr/>
        </p:nvSpPr>
        <p:spPr>
          <a:xfrm>
            <a:off x="1187624" y="3429000"/>
            <a:ext cx="5760640" cy="1200329"/>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0000FF"/>
                </a:solidFill>
                <a:latin typeface="Consolas" panose="020B0609020204030204" pitchFamily="49" charset="0"/>
                <a:ea typeface="新宋体"/>
                <a:cs typeface="Consolas" panose="020B0609020204030204" pitchFamily="49" charset="0"/>
              </a:rPr>
              <a:t>class</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X</a:t>
            </a:r>
            <a:endParaRPr lang="en-US" altLang="zh-CN" dirty="0">
              <a:solidFill>
                <a:srgbClr val="000000"/>
              </a:solidFill>
              <a:latin typeface="Consolas" panose="020B0609020204030204" pitchFamily="49" charset="0"/>
              <a:ea typeface="新宋体"/>
              <a:cs typeface="Consolas" panose="020B0609020204030204" pitchFamily="49" charset="0"/>
            </a:endParaRPr>
          </a:p>
          <a:p>
            <a:r>
              <a:rPr lang="en-US" altLang="zh-CN" dirty="0">
                <a:solidFill>
                  <a:srgbClr val="000000"/>
                </a:solidFill>
                <a:latin typeface="Consolas" panose="020B0609020204030204" pitchFamily="49" charset="0"/>
                <a:ea typeface="新宋体"/>
                <a:cs typeface="Consolas" panose="020B0609020204030204" pitchFamily="49" charset="0"/>
              </a:rPr>
              <a:t>{</a:t>
            </a:r>
            <a:r>
              <a:rPr lang="en-US" altLang="zh-CN" dirty="0">
                <a:solidFill>
                  <a:srgbClr val="0000FF"/>
                </a:solidFill>
                <a:latin typeface="Consolas" panose="020B0609020204030204" pitchFamily="49" charset="0"/>
                <a:ea typeface="新宋体"/>
                <a:cs typeface="Consolas" panose="020B0609020204030204" pitchFamily="49" charset="0"/>
              </a:rPr>
              <a:t>public</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00"/>
                </a:solidFill>
                <a:latin typeface="Consolas" panose="020B0609020204030204" pitchFamily="49" charset="0"/>
                <a:ea typeface="新宋体"/>
                <a:cs typeface="Consolas" panose="020B0609020204030204" pitchFamily="49" charset="0"/>
              </a:rPr>
              <a:t>   X(</a:t>
            </a:r>
            <a:r>
              <a:rPr lang="en-US" altLang="zh-CN" dirty="0" err="1">
                <a:solidFill>
                  <a:srgbClr val="0000FF"/>
                </a:solidFill>
                <a:latin typeface="Consolas" panose="020B0609020204030204" pitchFamily="49" charset="0"/>
                <a:ea typeface="新宋体"/>
                <a:cs typeface="Consolas" panose="020B0609020204030204" pitchFamily="49" charset="0"/>
              </a:rPr>
              <a:t>const</a:t>
            </a:r>
            <a:r>
              <a:rPr lang="zh-CN" altLang="en-US"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X</a:t>
            </a:r>
            <a:r>
              <a:rPr lang="en-US" altLang="zh-CN" dirty="0">
                <a:solidFill>
                  <a:srgbClr val="000000"/>
                </a:solidFill>
                <a:latin typeface="Consolas" panose="020B0609020204030204" pitchFamily="49" charset="0"/>
                <a:ea typeface="新宋体"/>
                <a:cs typeface="Consolas" panose="020B0609020204030204" pitchFamily="49" charset="0"/>
              </a:rPr>
              <a:t>&amp;);     </a:t>
            </a:r>
            <a:r>
              <a:rPr lang="en-US" altLang="zh-CN" dirty="0">
                <a:solidFill>
                  <a:srgbClr val="008000"/>
                </a:solidFill>
                <a:latin typeface="Consolas" panose="020B0609020204030204" pitchFamily="49" charset="0"/>
                <a:ea typeface="新宋体"/>
                <a:cs typeface="Consolas" panose="020B0609020204030204" pitchFamily="49" charset="0"/>
              </a:rPr>
              <a:t>//</a:t>
            </a:r>
            <a:r>
              <a:rPr lang="zh-CN" altLang="en-US" dirty="0">
                <a:solidFill>
                  <a:srgbClr val="008000"/>
                </a:solidFill>
                <a:latin typeface="Consolas" panose="020B0609020204030204" pitchFamily="49" charset="0"/>
                <a:ea typeface="新宋体"/>
                <a:cs typeface="Consolas" panose="020B0609020204030204" pitchFamily="49" charset="0"/>
              </a:rPr>
              <a:t>拷贝构造函数的常见原型</a:t>
            </a:r>
            <a:endParaRPr lang="zh-CN" altLang="en-US" dirty="0">
              <a:solidFill>
                <a:srgbClr val="000000"/>
              </a:solidFill>
              <a:latin typeface="Consolas" panose="020B0609020204030204" pitchFamily="49" charset="0"/>
              <a:ea typeface="新宋体"/>
              <a:cs typeface="Consolas" panose="020B0609020204030204" pitchFamily="49" charset="0"/>
            </a:endParaRPr>
          </a:p>
          <a:p>
            <a:r>
              <a:rPr lang="en-US" altLang="zh-CN" dirty="0">
                <a:solidFill>
                  <a:srgbClr val="000000"/>
                </a:solidFill>
                <a:latin typeface="Consolas" panose="020B0609020204030204" pitchFamily="49" charset="0"/>
                <a:ea typeface="新宋体"/>
                <a:cs typeface="Consolas" panose="020B0609020204030204" pitchFamily="49" charset="0"/>
              </a:rPr>
              <a:t>}</a:t>
            </a:r>
            <a:r>
              <a:rPr lang="zh-CN" altLang="en-US" dirty="0">
                <a:solidFill>
                  <a:srgbClr val="000000"/>
                </a:solidFill>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82004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a:xfrm>
            <a:off x="685800" y="980728"/>
            <a:ext cx="7772400" cy="4611687"/>
          </a:xfrm>
        </p:spPr>
        <p:txBody>
          <a:bodyPr>
            <a:normAutofit fontScale="92500" lnSpcReduction="20000"/>
          </a:bodyPr>
          <a:lstStyle/>
          <a:p>
            <a:pPr eaLnBrk="1" hangingPunct="1">
              <a:buFontTx/>
              <a:buNone/>
            </a:pPr>
            <a:r>
              <a:rPr lang="en-US" altLang="zh-CN" sz="2800" b="1" dirty="0">
                <a:solidFill>
                  <a:schemeClr val="accent2"/>
                </a:solidFill>
              </a:rPr>
              <a:t>2</a:t>
            </a:r>
            <a:r>
              <a:rPr lang="zh-CN" altLang="en-US" sz="2800" b="1" dirty="0">
                <a:solidFill>
                  <a:schemeClr val="accent2"/>
                </a:solidFill>
              </a:rPr>
              <a:t>、</a:t>
            </a:r>
            <a:r>
              <a:rPr lang="zh-CN" altLang="en-US" sz="2800" b="1" dirty="0">
                <a:solidFill>
                  <a:srgbClr val="FF0000"/>
                </a:solidFill>
              </a:rPr>
              <a:t>默认</a:t>
            </a:r>
            <a:r>
              <a:rPr lang="zh-CN" altLang="en-US" sz="2800" b="1" dirty="0">
                <a:solidFill>
                  <a:schemeClr val="accent2"/>
                </a:solidFill>
              </a:rPr>
              <a:t>拷贝构造函数</a:t>
            </a:r>
            <a:endParaRPr lang="en-US" altLang="zh-CN" sz="2800" b="1" dirty="0">
              <a:solidFill>
                <a:schemeClr val="accent2"/>
              </a:solidFill>
            </a:endParaRPr>
          </a:p>
          <a:p>
            <a:pPr eaLnBrk="1" hangingPunct="1">
              <a:buFontTx/>
              <a:buNone/>
            </a:pPr>
            <a:endParaRPr lang="zh-CN" altLang="en-US" sz="2800" b="1" dirty="0">
              <a:solidFill>
                <a:schemeClr val="accent2"/>
              </a:solidFill>
            </a:endParaRPr>
          </a:p>
          <a:p>
            <a:pPr lvl="1" eaLnBrk="1" hangingPunct="1"/>
            <a:r>
              <a:rPr lang="zh-CN" altLang="en-US" dirty="0"/>
              <a:t>如果没有定义类的拷贝构造函数，在需要的时候， </a:t>
            </a:r>
            <a:r>
              <a:rPr lang="en-US" altLang="zh-CN" dirty="0"/>
              <a:t>C++</a:t>
            </a:r>
            <a:r>
              <a:rPr lang="zh-CN" altLang="en-US" dirty="0"/>
              <a:t>将</a:t>
            </a:r>
            <a:r>
              <a:rPr lang="zh-CN" altLang="en-US" dirty="0">
                <a:solidFill>
                  <a:srgbClr val="FF0000"/>
                </a:solidFill>
              </a:rPr>
              <a:t>产生</a:t>
            </a:r>
            <a:r>
              <a:rPr lang="zh-CN" altLang="en-US" dirty="0"/>
              <a:t>一个具有最小功能的</a:t>
            </a:r>
            <a:r>
              <a:rPr lang="zh-CN" altLang="en-US" dirty="0">
                <a:solidFill>
                  <a:srgbClr val="FF0000"/>
                </a:solidFill>
              </a:rPr>
              <a:t>默认</a:t>
            </a:r>
            <a:r>
              <a:rPr lang="zh-CN" altLang="en-US" dirty="0"/>
              <a:t>拷贝构造函数，类似于下面的形式：</a:t>
            </a:r>
          </a:p>
          <a:p>
            <a:pPr lvl="1" eaLnBrk="1" hangingPunct="1"/>
            <a:endParaRPr lang="zh-CN" altLang="en-US" b="1" dirty="0"/>
          </a:p>
          <a:p>
            <a:pPr lvl="1" algn="ctr" eaLnBrk="1" hangingPunct="1">
              <a:buFontTx/>
              <a:buNone/>
            </a:pPr>
            <a:r>
              <a:rPr lang="en-US" altLang="zh-CN" b="1" dirty="0">
                <a:solidFill>
                  <a:schemeClr val="accent2"/>
                </a:solidFill>
              </a:rPr>
              <a:t>X::X(const X&amp;){ }</a:t>
            </a:r>
            <a:r>
              <a:rPr lang="en-US" altLang="zh-CN" dirty="0">
                <a:solidFill>
                  <a:schemeClr val="accent2"/>
                </a:solidFill>
              </a:rPr>
              <a:t> </a:t>
            </a:r>
          </a:p>
          <a:p>
            <a:pPr lvl="1" algn="ctr" eaLnBrk="1" hangingPunct="1">
              <a:buFontTx/>
              <a:buNone/>
            </a:pPr>
            <a:endParaRPr lang="en-US" altLang="zh-CN" dirty="0">
              <a:solidFill>
                <a:schemeClr val="accent2"/>
              </a:solidFill>
            </a:endParaRPr>
          </a:p>
          <a:p>
            <a:pPr lvl="1" eaLnBrk="1" hangingPunct="1"/>
            <a:r>
              <a:rPr lang="zh-CN" altLang="en-US" dirty="0"/>
              <a:t>默认拷贝构造函数以成员按</a:t>
            </a:r>
            <a:r>
              <a:rPr lang="zh-CN" altLang="en-US" dirty="0">
                <a:solidFill>
                  <a:srgbClr val="FF0000"/>
                </a:solidFill>
              </a:rPr>
              <a:t>位拷贝</a:t>
            </a:r>
            <a:r>
              <a:rPr lang="zh-CN" altLang="en-US" dirty="0"/>
              <a:t>（</a:t>
            </a:r>
            <a:r>
              <a:rPr lang="en-US" altLang="zh-CN" dirty="0"/>
              <a:t>bit-by-bit</a:t>
            </a:r>
            <a:r>
              <a:rPr lang="zh-CN" altLang="en-US" dirty="0"/>
              <a:t>）的方式实现成员的复制。</a:t>
            </a:r>
            <a:endParaRPr lang="en-US" altLang="zh-CN" dirty="0"/>
          </a:p>
          <a:p>
            <a:pPr lvl="1" eaLnBrk="1" hangingPunct="1"/>
            <a:r>
              <a:rPr lang="zh-CN" altLang="en-US" dirty="0"/>
              <a:t>当一个类有指针类型的数据成员时，默认拷贝构造函数常会产生</a:t>
            </a:r>
            <a:r>
              <a:rPr lang="zh-CN" altLang="en-US" dirty="0">
                <a:solidFill>
                  <a:srgbClr val="FF0000"/>
                </a:solidFill>
              </a:rPr>
              <a:t>指针悬挂</a:t>
            </a:r>
            <a:r>
              <a:rPr lang="zh-CN" altLang="en-US" dirty="0"/>
              <a:t>问题 。</a:t>
            </a:r>
          </a:p>
        </p:txBody>
      </p:sp>
    </p:spTree>
    <p:extLst>
      <p:ext uri="{BB962C8B-B14F-4D97-AF65-F5344CB8AC3E}">
        <p14:creationId xmlns:p14="http://schemas.microsoft.com/office/powerpoint/2010/main" val="3702323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659">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65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6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AC29371A-B93C-4DCF-A0CA-59288AB6245F}" type="slidenum">
              <a:rPr lang="en-US" altLang="zh-CN" sz="1400">
                <a:solidFill>
                  <a:prstClr val="black"/>
                </a:solidFill>
              </a:rPr>
              <a:pPr eaLnBrk="1" hangingPunct="1"/>
              <a:t>24</a:t>
            </a:fld>
            <a:endParaRPr lang="en-US" altLang="zh-CN" sz="1400">
              <a:solidFill>
                <a:prstClr val="black"/>
              </a:solidFill>
            </a:endParaRPr>
          </a:p>
        </p:txBody>
      </p:sp>
      <p:sp>
        <p:nvSpPr>
          <p:cNvPr id="4" name="矩形 3"/>
          <p:cNvSpPr/>
          <p:nvPr/>
        </p:nvSpPr>
        <p:spPr>
          <a:xfrm>
            <a:off x="971600" y="980728"/>
            <a:ext cx="7272808" cy="5632311"/>
          </a:xfrm>
          <a:prstGeom prst="rect">
            <a:avLst/>
          </a:prstGeom>
          <a:solidFill>
            <a:schemeClr val="bg1"/>
          </a:solidFill>
          <a:ln>
            <a:solidFill>
              <a:schemeClr val="accent1">
                <a:shade val="50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Point(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xx</a:t>
            </a:r>
            <a:r>
              <a:rPr lang="en-US" altLang="zh-CN" sz="2400" dirty="0">
                <a:solidFill>
                  <a:srgbClr val="000000"/>
                </a:solidFill>
                <a:highlight>
                  <a:srgbClr val="FFFFFF"/>
                </a:highlight>
                <a:latin typeface="新宋体"/>
                <a:ea typeface="新宋体"/>
              </a:rPr>
              <a:t> = 0,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808080"/>
                </a:solidFill>
                <a:highlight>
                  <a:srgbClr val="FFFFFF"/>
                </a:highlight>
                <a:latin typeface="新宋体"/>
                <a:ea typeface="新宋体"/>
              </a:rPr>
              <a:t>yy</a:t>
            </a:r>
            <a:r>
              <a:rPr lang="en-US" altLang="zh-CN" sz="2400" dirty="0">
                <a:solidFill>
                  <a:srgbClr val="000000"/>
                </a:solidFill>
                <a:highlight>
                  <a:srgbClr val="FFFFFF"/>
                </a:highlight>
                <a:latin typeface="新宋体"/>
                <a:ea typeface="新宋体"/>
              </a:rPr>
              <a:t> = 0)</a:t>
            </a:r>
          </a:p>
          <a:p>
            <a:pPr marL="365125"/>
            <a:r>
              <a:rPr lang="en-US" altLang="zh-CN" sz="2400" dirty="0">
                <a:solidFill>
                  <a:srgbClr val="000000"/>
                </a:solidFill>
                <a:highlight>
                  <a:srgbClr val="FFFFFF"/>
                </a:highlight>
                <a:latin typeface="新宋体"/>
                <a:ea typeface="新宋体"/>
              </a:rPr>
              <a:t>{  x = </a:t>
            </a:r>
            <a:r>
              <a:rPr lang="en-US" altLang="zh-CN" sz="2400" dirty="0">
                <a:solidFill>
                  <a:srgbClr val="808080"/>
                </a:solidFill>
                <a:highlight>
                  <a:srgbClr val="FFFFFF"/>
                </a:highlight>
                <a:latin typeface="新宋体"/>
                <a:ea typeface="新宋体"/>
              </a:rPr>
              <a:t>xx</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   y = </a:t>
            </a:r>
            <a:r>
              <a:rPr lang="en-US" altLang="zh-CN" sz="2400" dirty="0" err="1">
                <a:solidFill>
                  <a:srgbClr val="808080"/>
                </a:solidFill>
                <a:highlight>
                  <a:srgbClr val="FFFFFF"/>
                </a:highlight>
                <a:latin typeface="新宋体"/>
                <a:ea typeface="新宋体"/>
              </a:rPr>
              <a:t>yy</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Point(</a:t>
            </a:r>
            <a:r>
              <a:rPr lang="en-US" altLang="zh-CN" sz="2400" dirty="0" err="1">
                <a:solidFill>
                  <a:srgbClr val="0000FF"/>
                </a:solidFill>
                <a:highlight>
                  <a:srgbClr val="FFFFFF"/>
                </a:highlight>
                <a:latin typeface="新宋体"/>
                <a:ea typeface="新宋体"/>
              </a:rPr>
              <a:t>const</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&amp; </a:t>
            </a:r>
            <a:r>
              <a:rPr lang="en-US" altLang="zh-CN" sz="2400" dirty="0">
                <a:solidFill>
                  <a:srgbClr val="808080"/>
                </a:solidFill>
                <a:highlight>
                  <a:srgbClr val="FFFFFF"/>
                </a:highlight>
                <a:latin typeface="新宋体"/>
                <a:ea typeface="新宋体"/>
              </a:rPr>
              <a:t>p</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  x = </a:t>
            </a:r>
            <a:r>
              <a:rPr lang="en-US" altLang="zh-CN" sz="2400" dirty="0" err="1">
                <a:solidFill>
                  <a:srgbClr val="808080"/>
                </a:solidFill>
                <a:highlight>
                  <a:srgbClr val="FFFFFF"/>
                </a:highlight>
                <a:latin typeface="新宋体"/>
                <a:ea typeface="新宋体"/>
              </a:rPr>
              <a:t>p</a:t>
            </a:r>
            <a:r>
              <a:rPr lang="en-US" altLang="zh-CN" sz="2400" dirty="0" err="1">
                <a:solidFill>
                  <a:srgbClr val="000000"/>
                </a:solidFill>
                <a:highlight>
                  <a:srgbClr val="FFFFFF"/>
                </a:highlight>
                <a:latin typeface="新宋体"/>
                <a:ea typeface="新宋体"/>
              </a:rPr>
              <a:t>.x</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   y = </a:t>
            </a:r>
            <a:r>
              <a:rPr lang="en-US" altLang="zh-CN" sz="2400" dirty="0" err="1">
                <a:solidFill>
                  <a:srgbClr val="808080"/>
                </a:solidFill>
                <a:highlight>
                  <a:srgbClr val="FFFFFF"/>
                </a:highlight>
                <a:latin typeface="新宋体"/>
                <a:ea typeface="新宋体"/>
              </a:rPr>
              <a:t>p</a:t>
            </a:r>
            <a:r>
              <a:rPr lang="en-US" altLang="zh-CN" sz="2400" dirty="0" err="1">
                <a:solidFill>
                  <a:srgbClr val="00000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getX</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x; }</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getY</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y; }</a:t>
            </a:r>
          </a:p>
          <a:p>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x, y;</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6" name="圆角矩形 5"/>
          <p:cNvSpPr/>
          <p:nvPr/>
        </p:nvSpPr>
        <p:spPr>
          <a:xfrm>
            <a:off x="1187624" y="3212976"/>
            <a:ext cx="3528392" cy="15121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ph idx="1"/>
          </p:nvPr>
        </p:nvSpPr>
        <p:spPr>
          <a:xfrm>
            <a:off x="323528" y="318840"/>
            <a:ext cx="7991475" cy="589880"/>
          </a:xfrm>
        </p:spPr>
        <p:txBody>
          <a:bodyPr/>
          <a:lstStyle/>
          <a:p>
            <a:pPr eaLnBrk="1" hangingPunct="1">
              <a:lnSpc>
                <a:spcPct val="80000"/>
              </a:lnSpc>
              <a:buFontTx/>
              <a:buNone/>
            </a:pPr>
            <a:r>
              <a:rPr lang="en-US" altLang="zh-CN" dirty="0">
                <a:solidFill>
                  <a:schemeClr val="accent2"/>
                </a:solidFill>
              </a:rPr>
              <a:t> 3</a:t>
            </a:r>
            <a:r>
              <a:rPr lang="zh-CN" altLang="en-US" dirty="0">
                <a:solidFill>
                  <a:schemeClr val="accent2"/>
                </a:solidFill>
              </a:rPr>
              <a:t>．定义拷贝构造函数</a:t>
            </a:r>
          </a:p>
          <a:p>
            <a:pPr eaLnBrk="1" hangingPunct="1">
              <a:lnSpc>
                <a:spcPct val="80000"/>
              </a:lnSpc>
              <a:buFontTx/>
              <a:buNone/>
            </a:pPr>
            <a:endParaRPr lang="zh-CN" altLang="en-US" sz="2000" dirty="0"/>
          </a:p>
        </p:txBody>
      </p:sp>
      <p:sp>
        <p:nvSpPr>
          <p:cNvPr id="2" name="文本框 1">
            <a:extLst>
              <a:ext uri="{FF2B5EF4-FFF2-40B4-BE49-F238E27FC236}">
                <a16:creationId xmlns:a16="http://schemas.microsoft.com/office/drawing/2014/main" id="{9E958B70-A0AA-AE45-AA3C-0D9754723276}"/>
              </a:ext>
            </a:extLst>
          </p:cNvPr>
          <p:cNvSpPr txBox="1"/>
          <p:nvPr/>
        </p:nvSpPr>
        <p:spPr>
          <a:xfrm>
            <a:off x="5580112" y="3356992"/>
            <a:ext cx="2664296" cy="923330"/>
          </a:xfrm>
          <a:prstGeom prst="rect">
            <a:avLst/>
          </a:prstGeom>
          <a:noFill/>
        </p:spPr>
        <p:txBody>
          <a:bodyPr wrap="square" rtlCol="0">
            <a:spAutoFit/>
          </a:bodyPr>
          <a:lstStyle/>
          <a:p>
            <a:r>
              <a:rPr kumimoji="1" lang="zh-CN" altLang="en-US" dirty="0"/>
              <a:t>如果不加入引用，在实参变形参的时候发生拷贝构造，进而循环嵌套</a:t>
            </a:r>
          </a:p>
        </p:txBody>
      </p:sp>
    </p:spTree>
    <p:extLst>
      <p:ext uri="{BB962C8B-B14F-4D97-AF65-F5344CB8AC3E}">
        <p14:creationId xmlns:p14="http://schemas.microsoft.com/office/powerpoint/2010/main" val="759563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idx="1"/>
          </p:nvPr>
        </p:nvSpPr>
        <p:spPr>
          <a:xfrm>
            <a:off x="323850" y="692696"/>
            <a:ext cx="8712646" cy="4679950"/>
          </a:xfrm>
        </p:spPr>
        <p:txBody>
          <a:bodyPr>
            <a:normAutofit lnSpcReduction="10000"/>
          </a:bodyPr>
          <a:lstStyle/>
          <a:p>
            <a:pPr eaLnBrk="1" hangingPunct="1">
              <a:lnSpc>
                <a:spcPct val="80000"/>
              </a:lnSpc>
              <a:buFontTx/>
              <a:buNone/>
            </a:pPr>
            <a:r>
              <a:rPr lang="en-US" altLang="zh-CN" sz="5400" dirty="0">
                <a:solidFill>
                  <a:schemeClr val="accent2"/>
                </a:solidFill>
              </a:rPr>
              <a:t> </a:t>
            </a:r>
            <a:r>
              <a:rPr lang="en-US" altLang="zh-CN" sz="2800" dirty="0">
                <a:solidFill>
                  <a:schemeClr val="accent2"/>
                </a:solidFill>
              </a:rPr>
              <a:t>4</a:t>
            </a:r>
            <a:r>
              <a:rPr lang="zh-CN" altLang="en-US" sz="2800" dirty="0">
                <a:solidFill>
                  <a:schemeClr val="accent2"/>
                </a:solidFill>
              </a:rPr>
              <a:t>．拷贝构造函数说明</a:t>
            </a:r>
          </a:p>
          <a:p>
            <a:pPr eaLnBrk="1" hangingPunct="1">
              <a:buFontTx/>
              <a:buNone/>
            </a:pPr>
            <a:r>
              <a:rPr lang="zh-CN" altLang="en-US" sz="2400" dirty="0"/>
              <a:t>（</a:t>
            </a:r>
            <a:r>
              <a:rPr lang="en-US" altLang="zh-CN" sz="2400" dirty="0"/>
              <a:t>1</a:t>
            </a:r>
            <a:r>
              <a:rPr lang="zh-CN" altLang="en-US" sz="2400" dirty="0"/>
              <a:t>）拷贝构造函数与一般构造函数相同，与类同名，没有返回类型。</a:t>
            </a:r>
          </a:p>
          <a:p>
            <a:pPr eaLnBrk="1" hangingPunct="1">
              <a:buFontTx/>
              <a:buNone/>
            </a:pPr>
            <a:r>
              <a:rPr lang="zh-CN" altLang="en-US" sz="2400" dirty="0"/>
              <a:t>（</a:t>
            </a:r>
            <a:r>
              <a:rPr lang="en-US" altLang="zh-CN" sz="2400" dirty="0"/>
              <a:t>2</a:t>
            </a:r>
            <a:r>
              <a:rPr lang="zh-CN" altLang="en-US" sz="2400" dirty="0"/>
              <a:t>）拷贝构造函数</a:t>
            </a:r>
            <a:r>
              <a:rPr lang="zh-CN" altLang="en-US" sz="2400"/>
              <a:t>的参数是</a:t>
            </a:r>
            <a:r>
              <a:rPr lang="en-US" altLang="zh-CN" sz="2400" dirty="0" err="1">
                <a:solidFill>
                  <a:srgbClr val="FF0000"/>
                </a:solidFill>
              </a:rPr>
              <a:t>const</a:t>
            </a:r>
            <a:r>
              <a:rPr lang="zh-CN" altLang="en-US" sz="2400" dirty="0"/>
              <a:t>类型</a:t>
            </a:r>
            <a:r>
              <a:rPr lang="zh-CN" altLang="en-US" sz="2400" dirty="0">
                <a:solidFill>
                  <a:srgbClr val="FF0000"/>
                </a:solidFill>
              </a:rPr>
              <a:t>本类对象</a:t>
            </a:r>
            <a:r>
              <a:rPr lang="zh-CN" altLang="en-US" sz="2400" dirty="0"/>
              <a:t>的</a:t>
            </a:r>
            <a:r>
              <a:rPr lang="zh-CN" altLang="en-US" sz="2400" dirty="0">
                <a:solidFill>
                  <a:srgbClr val="FF0000"/>
                </a:solidFill>
              </a:rPr>
              <a:t>引用</a:t>
            </a:r>
            <a:r>
              <a:rPr lang="zh-CN" altLang="en-US" sz="2400" dirty="0"/>
              <a:t>。</a:t>
            </a:r>
            <a:endParaRPr lang="en-US" altLang="zh-CN" sz="2400" dirty="0"/>
          </a:p>
          <a:p>
            <a:pPr>
              <a:buNone/>
            </a:pPr>
            <a:r>
              <a:rPr lang="zh-CN" altLang="en-US" sz="2400" dirty="0"/>
              <a:t>（</a:t>
            </a:r>
            <a:r>
              <a:rPr lang="en-US" altLang="zh-CN" sz="2400" dirty="0"/>
              <a:t>3</a:t>
            </a:r>
            <a:r>
              <a:rPr lang="zh-CN" altLang="en-US" sz="2400" dirty="0"/>
              <a:t>）对拷贝构造函数的调用常在类的外部进行，应该将它指定为类的公有成员。</a:t>
            </a:r>
            <a:endParaRPr lang="en-US" altLang="zh-CN" sz="2400" dirty="0"/>
          </a:p>
          <a:p>
            <a:pPr marL="342900" lvl="2" indent="-342900">
              <a:buClr>
                <a:schemeClr val="accent1"/>
              </a:buClr>
              <a:buSzPct val="50000"/>
              <a:buNone/>
            </a:pPr>
            <a:r>
              <a:rPr lang="zh-CN" altLang="en-US" sz="2400" dirty="0"/>
              <a:t>（</a:t>
            </a:r>
            <a:r>
              <a:rPr lang="en-US" altLang="zh-CN" sz="2400" dirty="0"/>
              <a:t>4</a:t>
            </a:r>
            <a:r>
              <a:rPr lang="zh-CN" altLang="en-US" sz="2400" dirty="0"/>
              <a:t>）拷贝构造函数不可以重载</a:t>
            </a:r>
            <a:r>
              <a:rPr lang="zh-CN" altLang="en-US" dirty="0"/>
              <a:t>：每个类仅有一个拷贝构造函数</a:t>
            </a:r>
            <a:endParaRPr lang="en-US" altLang="zh-CN" dirty="0"/>
          </a:p>
          <a:p>
            <a:pPr eaLnBrk="1" hangingPunct="1">
              <a:buFontTx/>
              <a:buNone/>
            </a:pPr>
            <a:r>
              <a:rPr lang="zh-CN" altLang="en-US" sz="2400" dirty="0"/>
              <a:t>（</a:t>
            </a:r>
            <a:r>
              <a:rPr lang="en-US" altLang="zh-CN" sz="2400" dirty="0"/>
              <a:t>5</a:t>
            </a:r>
            <a:r>
              <a:rPr lang="zh-CN" altLang="en-US" sz="2400" dirty="0"/>
              <a:t>）在多数情况下，默认拷贝构造函数能够完成对象的复制创建工作，但当类具有</a:t>
            </a:r>
            <a:r>
              <a:rPr lang="zh-CN" altLang="en-US" sz="2400" dirty="0">
                <a:solidFill>
                  <a:srgbClr val="FF0000"/>
                </a:solidFill>
              </a:rPr>
              <a:t>指针类型</a:t>
            </a:r>
            <a:r>
              <a:rPr lang="zh-CN" altLang="en-US" sz="2400" dirty="0"/>
              <a:t>的</a:t>
            </a:r>
            <a:r>
              <a:rPr lang="zh-CN" altLang="en-US" sz="2400" dirty="0">
                <a:solidFill>
                  <a:srgbClr val="FF0000"/>
                </a:solidFill>
              </a:rPr>
              <a:t>数据成员</a:t>
            </a:r>
            <a:r>
              <a:rPr lang="zh-CN" altLang="en-US" sz="2400" dirty="0"/>
              <a:t>时，默认拷贝构造函数就可能产生指针悬挂问题，需要提供</a:t>
            </a:r>
            <a:r>
              <a:rPr lang="zh-CN" altLang="en-US" sz="2400" dirty="0">
                <a:solidFill>
                  <a:srgbClr val="FF0000"/>
                </a:solidFill>
              </a:rPr>
              <a:t>显式</a:t>
            </a:r>
            <a:r>
              <a:rPr lang="zh-CN" altLang="en-US" sz="2400" dirty="0"/>
              <a:t>的</a:t>
            </a:r>
            <a:r>
              <a:rPr lang="zh-CN" altLang="en-US" sz="2400" dirty="0">
                <a:solidFill>
                  <a:srgbClr val="FF0000"/>
                </a:solidFill>
              </a:rPr>
              <a:t>拷贝构造函数</a:t>
            </a:r>
            <a:r>
              <a:rPr lang="zh-CN" altLang="en-US" sz="2400" dirty="0"/>
              <a:t>。</a:t>
            </a:r>
          </a:p>
        </p:txBody>
      </p:sp>
    </p:spTree>
    <p:extLst>
      <p:ext uri="{BB962C8B-B14F-4D97-AF65-F5344CB8AC3E}">
        <p14:creationId xmlns:p14="http://schemas.microsoft.com/office/powerpoint/2010/main" val="3079346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36512" y="332656"/>
            <a:ext cx="8424863" cy="5329238"/>
          </a:xfrm>
        </p:spPr>
        <p:txBody>
          <a:bodyPr/>
          <a:lstStyle/>
          <a:p>
            <a:pPr eaLnBrk="1" hangingPunct="1">
              <a:buFontTx/>
              <a:buNone/>
            </a:pPr>
            <a:r>
              <a:rPr lang="zh-CN" altLang="en-US" dirty="0"/>
              <a:t>（</a:t>
            </a:r>
            <a:r>
              <a:rPr lang="en-US" altLang="zh-CN" dirty="0"/>
              <a:t>5</a:t>
            </a:r>
            <a:r>
              <a:rPr lang="zh-CN" altLang="en-US" dirty="0"/>
              <a:t>）调用拷贝构造函数的时机是用</a:t>
            </a:r>
            <a:r>
              <a:rPr lang="zh-CN" altLang="en-US" dirty="0">
                <a:solidFill>
                  <a:srgbClr val="FF0000"/>
                </a:solidFill>
              </a:rPr>
              <a:t>已存在的对象</a:t>
            </a:r>
            <a:r>
              <a:rPr lang="zh-CN" altLang="en-US" dirty="0"/>
              <a:t>初始化同类的新对象。至少以下几种情况会导致拷贝构造函数的调用。</a:t>
            </a:r>
          </a:p>
          <a:p>
            <a:pPr lvl="1" eaLnBrk="1" hangingPunct="1">
              <a:buFontTx/>
              <a:buNone/>
            </a:pPr>
            <a:r>
              <a:rPr lang="en-US" altLang="zh-CN" b="1" dirty="0"/>
              <a:t>class X{  ……  };</a:t>
            </a:r>
          </a:p>
          <a:p>
            <a:pPr lvl="1" eaLnBrk="1" hangingPunct="1">
              <a:buFontTx/>
              <a:buNone/>
            </a:pPr>
            <a:r>
              <a:rPr lang="en-US" altLang="zh-CN" b="1" dirty="0"/>
              <a:t>X obj1, obj2;             </a:t>
            </a:r>
          </a:p>
          <a:p>
            <a:pPr lvl="1" eaLnBrk="1" hangingPunct="1">
              <a:buFontTx/>
              <a:buNone/>
            </a:pPr>
            <a:r>
              <a:rPr lang="en-US" altLang="zh-CN" b="1" dirty="0"/>
              <a:t>X obj3 = obj1;   	</a:t>
            </a:r>
            <a:endParaRPr lang="zh-CN" altLang="en-US" b="1" dirty="0"/>
          </a:p>
          <a:p>
            <a:pPr lvl="1" eaLnBrk="1" hangingPunct="1">
              <a:buFontTx/>
              <a:buNone/>
            </a:pPr>
            <a:r>
              <a:rPr lang="en-US" altLang="zh-CN" b="1" dirty="0"/>
              <a:t>X obj4(obj1);   	</a:t>
            </a:r>
            <a:endParaRPr lang="zh-CN" altLang="en-US" b="1" dirty="0"/>
          </a:p>
          <a:p>
            <a:pPr lvl="1" eaLnBrk="1" hangingPunct="1">
              <a:buFontTx/>
              <a:buNone/>
            </a:pPr>
            <a:r>
              <a:rPr lang="en-US" altLang="zh-CN" b="1" dirty="0"/>
              <a:t>f(obj1); </a:t>
            </a:r>
          </a:p>
          <a:p>
            <a:pPr lvl="1" eaLnBrk="1" hangingPunct="1">
              <a:buFontTx/>
              <a:buNone/>
            </a:pPr>
            <a:endParaRPr lang="en-US" altLang="zh-CN" b="1" dirty="0"/>
          </a:p>
          <a:p>
            <a:pPr lvl="1" eaLnBrk="1" hangingPunct="1">
              <a:buFontTx/>
              <a:buNone/>
            </a:pPr>
            <a:r>
              <a:rPr lang="en-US" altLang="zh-CN" b="1" dirty="0"/>
              <a:t>obj2 = h( ); 		</a:t>
            </a:r>
            <a:endParaRPr lang="zh-CN" altLang="en-US" b="1" dirty="0"/>
          </a:p>
        </p:txBody>
      </p:sp>
      <p:grpSp>
        <p:nvGrpSpPr>
          <p:cNvPr id="12" name="组合 11"/>
          <p:cNvGrpSpPr/>
          <p:nvPr/>
        </p:nvGrpSpPr>
        <p:grpSpPr>
          <a:xfrm>
            <a:off x="2915816" y="2924944"/>
            <a:ext cx="5616624" cy="954107"/>
            <a:chOff x="539552" y="2924944"/>
            <a:chExt cx="5616624" cy="954107"/>
          </a:xfrm>
        </p:grpSpPr>
        <p:sp>
          <p:nvSpPr>
            <p:cNvPr id="2" name="TextBox 1"/>
            <p:cNvSpPr txBox="1"/>
            <p:nvPr/>
          </p:nvSpPr>
          <p:spPr>
            <a:xfrm>
              <a:off x="3066926" y="2924944"/>
              <a:ext cx="3089250" cy="954107"/>
            </a:xfrm>
            <a:prstGeom prst="rect">
              <a:avLst/>
            </a:prstGeom>
            <a:solidFill>
              <a:srgbClr val="92D050"/>
            </a:solidFill>
          </p:spPr>
          <p:txBody>
            <a:bodyPr wrap="square">
              <a:spAutoFit/>
            </a:bodyPr>
            <a:lstStyle/>
            <a:p>
              <a:pPr marL="1588" lvl="1" indent="46038">
                <a:spcBef>
                  <a:spcPts val="375"/>
                </a:spcBef>
                <a:buClr>
                  <a:schemeClr val="accent2"/>
                </a:buClr>
                <a:buSzPct val="85000"/>
                <a:defRPr/>
              </a:pPr>
              <a:r>
                <a:rPr lang="zh-CN" altLang="en-US" sz="2800" b="1" dirty="0">
                  <a:latin typeface="+mn-lt"/>
                  <a:ea typeface="+mn-ea"/>
                </a:rPr>
                <a:t>情况</a:t>
              </a:r>
              <a:r>
                <a:rPr lang="en-US" altLang="zh-CN" sz="2800" b="1" dirty="0">
                  <a:latin typeface="+mn-lt"/>
                  <a:ea typeface="+mn-ea"/>
                </a:rPr>
                <a:t>1</a:t>
              </a:r>
              <a:r>
                <a:rPr lang="zh-CN" altLang="en-US" sz="2800" b="1" dirty="0">
                  <a:latin typeface="+mn-lt"/>
                  <a:ea typeface="+mn-ea"/>
                </a:rPr>
                <a:t>：调用拷贝构造函数</a:t>
              </a:r>
              <a:endParaRPr lang="en-US" altLang="zh-CN" sz="2800" b="1" dirty="0">
                <a:latin typeface="+mn-lt"/>
                <a:ea typeface="+mn-ea"/>
              </a:endParaRPr>
            </a:p>
          </p:txBody>
        </p:sp>
        <p:cxnSp>
          <p:nvCxnSpPr>
            <p:cNvPr id="8" name="直接箭头连接符 7"/>
            <p:cNvCxnSpPr/>
            <p:nvPr/>
          </p:nvCxnSpPr>
          <p:spPr>
            <a:xfrm flipH="1" flipV="1">
              <a:off x="2771800" y="3140968"/>
              <a:ext cx="250493" cy="72008"/>
            </a:xfrm>
            <a:prstGeom prst="straightConnector1">
              <a:avLst/>
            </a:prstGeom>
            <a:ln w="317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39552" y="3284984"/>
              <a:ext cx="2482741" cy="432048"/>
            </a:xfrm>
            <a:prstGeom prst="straightConnector1">
              <a:avLst/>
            </a:prstGeom>
            <a:ln w="317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
        <p:nvSpPr>
          <p:cNvPr id="13" name="圆角矩形 12"/>
          <p:cNvSpPr/>
          <p:nvPr/>
        </p:nvSpPr>
        <p:spPr>
          <a:xfrm>
            <a:off x="827584" y="2996952"/>
            <a:ext cx="1872208" cy="4056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771800" y="2924944"/>
            <a:ext cx="2376264" cy="523220"/>
            <a:chOff x="2771800" y="2924944"/>
            <a:chExt cx="2376264" cy="523220"/>
          </a:xfrm>
        </p:grpSpPr>
        <p:sp>
          <p:nvSpPr>
            <p:cNvPr id="3" name="矩形 2"/>
            <p:cNvSpPr/>
            <p:nvPr/>
          </p:nvSpPr>
          <p:spPr>
            <a:xfrm>
              <a:off x="3193683" y="2924944"/>
              <a:ext cx="1954381" cy="523220"/>
            </a:xfrm>
            <a:prstGeom prst="rect">
              <a:avLst/>
            </a:prstGeom>
            <a:noFill/>
          </p:spPr>
          <p:txBody>
            <a:bodyPr wrap="none">
              <a:spAutoFit/>
            </a:bodyPr>
            <a:lstStyle/>
            <a:p>
              <a:r>
                <a:rPr lang="en-US" altLang="zh-CN" sz="2800" b="1" dirty="0">
                  <a:solidFill>
                    <a:srgbClr val="FF0000"/>
                  </a:solidFill>
                </a:rPr>
                <a:t>obj3(obj1)</a:t>
              </a:r>
              <a:endParaRPr lang="zh-CN" altLang="en-US" sz="2800" dirty="0">
                <a:solidFill>
                  <a:srgbClr val="FF0000"/>
                </a:solidFill>
              </a:endParaRPr>
            </a:p>
          </p:txBody>
        </p:sp>
        <p:sp>
          <p:nvSpPr>
            <p:cNvPr id="16" name="左右箭头 15"/>
            <p:cNvSpPr/>
            <p:nvPr/>
          </p:nvSpPr>
          <p:spPr>
            <a:xfrm>
              <a:off x="2771800" y="3140968"/>
              <a:ext cx="471195" cy="1440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1826845" y="4007773"/>
            <a:ext cx="7058541" cy="1005403"/>
            <a:chOff x="1826845" y="4007773"/>
            <a:chExt cx="7058541" cy="1005403"/>
          </a:xfrm>
        </p:grpSpPr>
        <p:sp>
          <p:nvSpPr>
            <p:cNvPr id="5" name="TextBox 4"/>
            <p:cNvSpPr txBox="1"/>
            <p:nvPr/>
          </p:nvSpPr>
          <p:spPr>
            <a:xfrm>
              <a:off x="3059832" y="4007773"/>
              <a:ext cx="5825554" cy="1005403"/>
            </a:xfrm>
            <a:prstGeom prst="rect">
              <a:avLst/>
            </a:prstGeom>
            <a:solidFill>
              <a:srgbClr val="92D050"/>
            </a:solidFill>
          </p:spPr>
          <p:txBody>
            <a:bodyPr wrap="square">
              <a:spAutoFit/>
            </a:bodyPr>
            <a:lstStyle/>
            <a:p>
              <a:pPr marL="14288" lvl="1" indent="-14288">
                <a:spcBef>
                  <a:spcPts val="375"/>
                </a:spcBef>
                <a:buClr>
                  <a:schemeClr val="accent2"/>
                </a:buClr>
                <a:buSzPct val="85000"/>
                <a:defRPr/>
              </a:pPr>
              <a:r>
                <a:rPr lang="zh-CN" altLang="en-US" sz="2800" b="1" dirty="0">
                  <a:latin typeface="+mn-lt"/>
                  <a:ea typeface="+mn-ea"/>
                </a:rPr>
                <a:t>情况</a:t>
              </a:r>
              <a:r>
                <a:rPr lang="en-US" altLang="zh-CN" sz="2800" b="1" dirty="0">
                  <a:latin typeface="+mn-lt"/>
                  <a:ea typeface="+mn-ea"/>
                </a:rPr>
                <a:t>2</a:t>
              </a:r>
              <a:r>
                <a:rPr lang="zh-CN" altLang="en-US" sz="2800" b="1" dirty="0">
                  <a:latin typeface="+mn-lt"/>
                  <a:ea typeface="+mn-ea"/>
                </a:rPr>
                <a:t>：以对象作函数参数时</a:t>
              </a:r>
              <a:endParaRPr lang="en-US" altLang="zh-CN" sz="2800" b="1" dirty="0">
                <a:latin typeface="+mn-lt"/>
                <a:ea typeface="+mn-ea"/>
              </a:endParaRPr>
            </a:p>
            <a:p>
              <a:pPr marL="14288" lvl="1" indent="-14288">
                <a:spcBef>
                  <a:spcPts val="375"/>
                </a:spcBef>
                <a:buClr>
                  <a:schemeClr val="accent2"/>
                </a:buClr>
                <a:buSzPct val="85000"/>
                <a:defRPr/>
              </a:pPr>
              <a:r>
                <a:rPr lang="en-US" altLang="zh-CN" sz="2800" b="1" dirty="0"/>
                <a:t>                  </a:t>
              </a:r>
              <a:r>
                <a:rPr lang="zh-CN" altLang="en-US" sz="2800" b="1" dirty="0">
                  <a:latin typeface="+mn-lt"/>
                  <a:ea typeface="+mn-ea"/>
                </a:rPr>
                <a:t>调用拷贝构造函数</a:t>
              </a:r>
              <a:endParaRPr lang="en-US" altLang="zh-CN" sz="2800" b="1" dirty="0">
                <a:latin typeface="+mn-lt"/>
                <a:ea typeface="+mn-ea"/>
              </a:endParaRPr>
            </a:p>
          </p:txBody>
        </p:sp>
        <p:cxnSp>
          <p:nvCxnSpPr>
            <p:cNvPr id="21" name="直接箭头连接符 20"/>
            <p:cNvCxnSpPr/>
            <p:nvPr/>
          </p:nvCxnSpPr>
          <p:spPr>
            <a:xfrm flipH="1" flipV="1">
              <a:off x="1826845" y="4293096"/>
              <a:ext cx="1241372" cy="217378"/>
            </a:xfrm>
            <a:prstGeom prst="straightConnector1">
              <a:avLst/>
            </a:prstGeom>
            <a:ln w="317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2267744" y="5087893"/>
            <a:ext cx="6617642" cy="1005403"/>
            <a:chOff x="2267744" y="5087893"/>
            <a:chExt cx="6617642" cy="1005403"/>
          </a:xfrm>
        </p:grpSpPr>
        <p:sp>
          <p:nvSpPr>
            <p:cNvPr id="6" name="TextBox 5"/>
            <p:cNvSpPr txBox="1"/>
            <p:nvPr/>
          </p:nvSpPr>
          <p:spPr>
            <a:xfrm>
              <a:off x="3059832" y="5087893"/>
              <a:ext cx="5825554" cy="1005403"/>
            </a:xfrm>
            <a:prstGeom prst="rect">
              <a:avLst/>
            </a:prstGeom>
            <a:solidFill>
              <a:srgbClr val="92D050"/>
            </a:solidFill>
          </p:spPr>
          <p:txBody>
            <a:bodyPr wrap="square">
              <a:spAutoFit/>
            </a:bodyPr>
            <a:lstStyle/>
            <a:p>
              <a:pPr marL="14288" lvl="1" indent="-14288">
                <a:spcBef>
                  <a:spcPts val="375"/>
                </a:spcBef>
                <a:buClr>
                  <a:schemeClr val="accent2"/>
                </a:buClr>
                <a:buSzPct val="85000"/>
                <a:defRPr/>
              </a:pPr>
              <a:r>
                <a:rPr lang="zh-CN" altLang="en-US" sz="2800" b="1" dirty="0">
                  <a:latin typeface="+mn-lt"/>
                  <a:ea typeface="+mn-ea"/>
                </a:rPr>
                <a:t>情况</a:t>
              </a:r>
              <a:r>
                <a:rPr lang="en-US" altLang="zh-CN" sz="2800" b="1" dirty="0">
                  <a:latin typeface="+mn-lt"/>
                  <a:ea typeface="+mn-ea"/>
                </a:rPr>
                <a:t>3</a:t>
              </a:r>
              <a:r>
                <a:rPr lang="zh-CN" altLang="en-US" sz="2800" b="1" dirty="0">
                  <a:latin typeface="+mn-lt"/>
                  <a:ea typeface="+mn-ea"/>
                </a:rPr>
                <a:t>：以对象作为函数返回值时</a:t>
              </a:r>
              <a:endParaRPr lang="en-US" altLang="zh-CN" sz="2800" b="1" dirty="0">
                <a:latin typeface="+mn-lt"/>
                <a:ea typeface="+mn-ea"/>
              </a:endParaRPr>
            </a:p>
            <a:p>
              <a:pPr marL="14288" lvl="1" indent="-14288">
                <a:spcBef>
                  <a:spcPts val="375"/>
                </a:spcBef>
                <a:buClr>
                  <a:schemeClr val="accent2"/>
                </a:buClr>
                <a:buSzPct val="85000"/>
                <a:defRPr/>
              </a:pPr>
              <a:r>
                <a:rPr lang="en-US" altLang="zh-CN" sz="2800" b="1" dirty="0"/>
                <a:t>                  </a:t>
              </a:r>
              <a:r>
                <a:rPr lang="zh-CN" altLang="en-US" sz="2800" b="1" dirty="0">
                  <a:latin typeface="+mn-lt"/>
                  <a:ea typeface="+mn-ea"/>
                </a:rPr>
                <a:t>调用拷贝构造函数</a:t>
              </a:r>
              <a:endParaRPr lang="en-US" altLang="zh-CN" sz="2800" b="1" dirty="0">
                <a:latin typeface="+mn-lt"/>
                <a:ea typeface="+mn-ea"/>
              </a:endParaRPr>
            </a:p>
          </p:txBody>
        </p:sp>
        <p:cxnSp>
          <p:nvCxnSpPr>
            <p:cNvPr id="23" name="直接箭头连接符 22"/>
            <p:cNvCxnSpPr/>
            <p:nvPr/>
          </p:nvCxnSpPr>
          <p:spPr>
            <a:xfrm flipH="1" flipV="1">
              <a:off x="2267744" y="5301208"/>
              <a:ext cx="792088" cy="288032"/>
            </a:xfrm>
            <a:prstGeom prst="straightConnector1">
              <a:avLst/>
            </a:prstGeom>
            <a:ln w="317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1197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1027"/>
          <p:cNvSpPr>
            <a:spLocks noGrp="1" noChangeArrowheads="1"/>
          </p:cNvSpPr>
          <p:nvPr>
            <p:ph idx="1"/>
          </p:nvPr>
        </p:nvSpPr>
        <p:spPr>
          <a:xfrm>
            <a:off x="755576" y="1484784"/>
            <a:ext cx="7848600" cy="2016224"/>
          </a:xfrm>
        </p:spPr>
        <p:txBody>
          <a:bodyPr>
            <a:normAutofit/>
          </a:bodyPr>
          <a:lstStyle/>
          <a:p>
            <a:pPr eaLnBrk="1" hangingPunct="1">
              <a:lnSpc>
                <a:spcPct val="110000"/>
              </a:lnSpc>
            </a:pPr>
            <a:r>
              <a:rPr lang="zh-CN" altLang="en-US" dirty="0">
                <a:latin typeface="宋体" charset="-122"/>
              </a:rPr>
              <a:t>当用类的一个对象去初始化该类的另一个新对象时，系统自动调用拷贝构造函数实现拷贝赋值。</a:t>
            </a:r>
          </a:p>
        </p:txBody>
      </p:sp>
      <p:sp>
        <p:nvSpPr>
          <p:cNvPr id="378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976BAEB-E351-45B2-B178-E26504285D64}" type="slidenum">
              <a:rPr lang="en-US" altLang="zh-CN" sz="1400">
                <a:solidFill>
                  <a:prstClr val="black"/>
                </a:solidFill>
              </a:rPr>
              <a:pPr eaLnBrk="1" hangingPunct="1"/>
              <a:t>27</a:t>
            </a:fld>
            <a:endParaRPr lang="en-US" altLang="zh-CN" sz="1400">
              <a:solidFill>
                <a:prstClr val="black"/>
              </a:solidFill>
            </a:endParaRPr>
          </a:p>
        </p:txBody>
      </p:sp>
      <p:sp>
        <p:nvSpPr>
          <p:cNvPr id="2" name="矩形 1"/>
          <p:cNvSpPr/>
          <p:nvPr/>
        </p:nvSpPr>
        <p:spPr>
          <a:xfrm>
            <a:off x="717905" y="3429000"/>
            <a:ext cx="7416824" cy="2665345"/>
          </a:xfrm>
          <a:prstGeom prst="rect">
            <a:avLst/>
          </a:prstGeom>
          <a:solidFill>
            <a:schemeClr val="bg2">
              <a:lumMod val="90000"/>
            </a:schemeClr>
          </a:solidFill>
        </p:spPr>
        <p:txBody>
          <a:bodyPr wrap="square">
            <a:spAutoFit/>
          </a:bodyPr>
          <a:lstStyle/>
          <a:p>
            <a:pPr lvl="1">
              <a:lnSpc>
                <a:spcPct val="110000"/>
              </a:lnSpc>
            </a:pPr>
            <a:r>
              <a:rPr lang="en-US" altLang="zh-CN" sz="2400" b="1" dirty="0" err="1">
                <a:solidFill>
                  <a:prstClr val="black"/>
                </a:solidFill>
                <a:latin typeface="宋体" charset="-122"/>
              </a:rPr>
              <a:t>int</a:t>
            </a:r>
            <a:r>
              <a:rPr lang="en-US" altLang="zh-CN" sz="2400" b="1" dirty="0">
                <a:solidFill>
                  <a:prstClr val="black"/>
                </a:solidFill>
                <a:latin typeface="宋体" charset="-122"/>
              </a:rPr>
              <a:t> main()</a:t>
            </a:r>
          </a:p>
          <a:p>
            <a:pPr lvl="1">
              <a:lnSpc>
                <a:spcPct val="110000"/>
              </a:lnSpc>
            </a:pPr>
            <a:r>
              <a:rPr lang="en-US" altLang="zh-CN" sz="2400" b="1" dirty="0">
                <a:solidFill>
                  <a:prstClr val="black"/>
                </a:solidFill>
                <a:latin typeface="宋体" charset="-122"/>
              </a:rPr>
              <a:t>{ Point a(1,2);</a:t>
            </a:r>
          </a:p>
          <a:p>
            <a:pPr lvl="1">
              <a:lnSpc>
                <a:spcPct val="110000"/>
              </a:lnSpc>
            </a:pPr>
            <a:r>
              <a:rPr lang="en-US" altLang="zh-CN" sz="2400" b="1" dirty="0">
                <a:solidFill>
                  <a:prstClr val="black"/>
                </a:solidFill>
                <a:latin typeface="宋体" charset="-122"/>
              </a:rPr>
              <a:t>  Point b=a; //</a:t>
            </a:r>
            <a:r>
              <a:rPr lang="zh-CN" altLang="en-US" sz="3200" b="1" dirty="0">
                <a:solidFill>
                  <a:prstClr val="black"/>
                </a:solidFill>
                <a:latin typeface="宋体" charset="-122"/>
              </a:rPr>
              <a:t>拷贝构造函数被调用</a:t>
            </a:r>
          </a:p>
          <a:p>
            <a:pPr lvl="1">
              <a:lnSpc>
                <a:spcPct val="110000"/>
              </a:lnSpc>
            </a:pPr>
            <a:r>
              <a:rPr lang="en-US" altLang="zh-CN" sz="2400" b="1" dirty="0">
                <a:solidFill>
                  <a:prstClr val="black"/>
                </a:solidFill>
                <a:latin typeface="宋体" charset="-122"/>
              </a:rPr>
              <a:t>  </a:t>
            </a:r>
            <a:r>
              <a:rPr lang="en-US" altLang="zh-CN" sz="2400" b="1" dirty="0" err="1">
                <a:solidFill>
                  <a:prstClr val="black"/>
                </a:solidFill>
                <a:latin typeface="宋体" charset="-122"/>
              </a:rPr>
              <a:t>cout</a:t>
            </a:r>
            <a:r>
              <a:rPr lang="en-US" altLang="zh-CN" sz="2400" b="1" dirty="0">
                <a:solidFill>
                  <a:prstClr val="black"/>
                </a:solidFill>
                <a:latin typeface="宋体" charset="-122"/>
              </a:rPr>
              <a:t> &lt;&lt; </a:t>
            </a:r>
            <a:r>
              <a:rPr lang="en-US" altLang="zh-CN" sz="2400" b="1" dirty="0" err="1">
                <a:solidFill>
                  <a:prstClr val="black"/>
                </a:solidFill>
                <a:latin typeface="宋体" charset="-122"/>
              </a:rPr>
              <a:t>b.getX</a:t>
            </a:r>
            <a:r>
              <a:rPr lang="en-US" altLang="zh-CN" sz="2400" b="1" dirty="0">
                <a:solidFill>
                  <a:prstClr val="black"/>
                </a:solidFill>
                <a:latin typeface="宋体" charset="-122"/>
              </a:rPr>
              <a:t>() &lt;&lt; </a:t>
            </a:r>
            <a:r>
              <a:rPr lang="en-US" altLang="zh-CN" sz="2400" b="1" dirty="0" err="1">
                <a:solidFill>
                  <a:prstClr val="black"/>
                </a:solidFill>
                <a:latin typeface="宋体" charset="-122"/>
              </a:rPr>
              <a:t>endl</a:t>
            </a:r>
            <a:r>
              <a:rPr lang="en-US" altLang="zh-CN" sz="2400" b="1" dirty="0">
                <a:solidFill>
                  <a:prstClr val="black"/>
                </a:solidFill>
                <a:latin typeface="宋体" charset="-122"/>
              </a:rPr>
              <a:t>;</a:t>
            </a:r>
          </a:p>
          <a:p>
            <a:pPr lvl="1">
              <a:lnSpc>
                <a:spcPct val="110000"/>
              </a:lnSpc>
            </a:pPr>
            <a:r>
              <a:rPr lang="en-US" altLang="zh-CN" sz="2400" b="1" dirty="0">
                <a:solidFill>
                  <a:prstClr val="black"/>
                </a:solidFill>
                <a:latin typeface="宋体" charset="-122"/>
              </a:rPr>
              <a:t>  return 0;</a:t>
            </a:r>
          </a:p>
          <a:p>
            <a:pPr lvl="1">
              <a:lnSpc>
                <a:spcPct val="110000"/>
              </a:lnSpc>
            </a:pPr>
            <a:r>
              <a:rPr lang="en-US" altLang="zh-CN" sz="2400" b="1" dirty="0">
                <a:solidFill>
                  <a:prstClr val="black"/>
                </a:solidFill>
                <a:latin typeface="宋体" charset="-122"/>
              </a:rPr>
              <a:t>}</a:t>
            </a:r>
          </a:p>
        </p:txBody>
      </p:sp>
      <p:grpSp>
        <p:nvGrpSpPr>
          <p:cNvPr id="6" name="组合 5"/>
          <p:cNvGrpSpPr/>
          <p:nvPr/>
        </p:nvGrpSpPr>
        <p:grpSpPr>
          <a:xfrm>
            <a:off x="3203848" y="2749367"/>
            <a:ext cx="4782540" cy="1809173"/>
            <a:chOff x="3203848" y="2749367"/>
            <a:chExt cx="4782540" cy="1809173"/>
          </a:xfrm>
        </p:grpSpPr>
        <p:sp>
          <p:nvSpPr>
            <p:cNvPr id="3" name="矩形 2"/>
            <p:cNvSpPr/>
            <p:nvPr/>
          </p:nvSpPr>
          <p:spPr>
            <a:xfrm>
              <a:off x="5935827" y="2749367"/>
              <a:ext cx="2050561" cy="461665"/>
            </a:xfrm>
            <a:prstGeom prst="rect">
              <a:avLst/>
            </a:prstGeom>
            <a:solidFill>
              <a:schemeClr val="bg2">
                <a:lumMod val="90000"/>
              </a:schemeClr>
            </a:solidFill>
          </p:spPr>
          <p:txBody>
            <a:bodyPr wrap="none">
              <a:spAutoFit/>
            </a:bodyPr>
            <a:lstStyle/>
            <a:p>
              <a:r>
                <a:rPr lang="en-US" altLang="zh-CN" sz="2400" b="1" dirty="0">
                  <a:solidFill>
                    <a:prstClr val="black"/>
                  </a:solidFill>
                  <a:latin typeface="宋体" charset="-122"/>
                </a:rPr>
                <a:t>Point b(a); </a:t>
              </a:r>
              <a:endParaRPr lang="zh-CN" altLang="en-US" sz="2400" dirty="0">
                <a:solidFill>
                  <a:prstClr val="black"/>
                </a:solidFill>
              </a:endParaRPr>
            </a:p>
          </p:txBody>
        </p:sp>
        <p:cxnSp>
          <p:nvCxnSpPr>
            <p:cNvPr id="5" name="直接箭头连接符 4"/>
            <p:cNvCxnSpPr/>
            <p:nvPr/>
          </p:nvCxnSpPr>
          <p:spPr>
            <a:xfrm flipH="1">
              <a:off x="3203848" y="3211032"/>
              <a:ext cx="3384376" cy="134750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cxnSp>
        <p:nvCxnSpPr>
          <p:cNvPr id="7" name="直接连接符 6"/>
          <p:cNvCxnSpPr/>
          <p:nvPr/>
        </p:nvCxnSpPr>
        <p:spPr>
          <a:xfrm>
            <a:off x="1619672" y="4797152"/>
            <a:ext cx="144016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403648" y="620688"/>
            <a:ext cx="1723549" cy="584775"/>
          </a:xfrm>
          <a:prstGeom prst="rect">
            <a:avLst/>
          </a:prstGeom>
        </p:spPr>
        <p:txBody>
          <a:bodyPr wrap="none">
            <a:spAutoFit/>
          </a:bodyPr>
          <a:lstStyle/>
          <a:p>
            <a:r>
              <a:rPr lang="zh-CN" altLang="en-US" sz="3200" b="1" dirty="0">
                <a:solidFill>
                  <a:prstClr val="black"/>
                </a:solidFill>
              </a:rPr>
              <a:t>情况</a:t>
            </a:r>
            <a:r>
              <a:rPr lang="en-US" altLang="zh-CN" sz="3200" b="1" dirty="0">
                <a:solidFill>
                  <a:prstClr val="black"/>
                </a:solidFill>
              </a:rPr>
              <a:t>1:    </a:t>
            </a:r>
            <a:endParaRPr lang="zh-CN" altLang="en-US" sz="2000" dirty="0"/>
          </a:p>
        </p:txBody>
      </p:sp>
    </p:spTree>
    <p:extLst>
      <p:ext uri="{BB962C8B-B14F-4D97-AF65-F5344CB8AC3E}">
        <p14:creationId xmlns:p14="http://schemas.microsoft.com/office/powerpoint/2010/main" val="218576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noChangeArrowheads="1"/>
          </p:cNvSpPr>
          <p:nvPr>
            <p:ph idx="1"/>
          </p:nvPr>
        </p:nvSpPr>
        <p:spPr>
          <a:xfrm>
            <a:off x="323528" y="2780928"/>
            <a:ext cx="5587008" cy="3672408"/>
          </a:xfrm>
          <a:solidFill>
            <a:schemeClr val="bg2">
              <a:lumMod val="90000"/>
            </a:schemeClr>
          </a:solidFill>
        </p:spPr>
        <p:txBody>
          <a:bodyPr>
            <a:normAutofit lnSpcReduction="10000"/>
          </a:bodyPr>
          <a:lstStyle/>
          <a:p>
            <a:pPr lvl="1" eaLnBrk="1" hangingPunct="1">
              <a:lnSpc>
                <a:spcPct val="90000"/>
              </a:lnSpc>
              <a:buFontTx/>
              <a:buNone/>
              <a:defRPr/>
            </a:pPr>
            <a:r>
              <a:rPr lang="en-US" altLang="zh-CN" b="1" dirty="0">
                <a:latin typeface="宋体" pitchFamily="2" charset="-122"/>
              </a:rPr>
              <a:t>void fun1(Point p)</a:t>
            </a:r>
          </a:p>
          <a:p>
            <a:pPr lvl="1" eaLnBrk="1" hangingPunct="1">
              <a:lnSpc>
                <a:spcPct val="90000"/>
              </a:lnSpc>
              <a:buFontTx/>
              <a:buNone/>
              <a:defRPr/>
            </a:pPr>
            <a:r>
              <a:rPr lang="en-US" altLang="zh-CN" b="1" dirty="0">
                <a:latin typeface="宋体" pitchFamily="2" charset="-122"/>
              </a:rPr>
              <a:t>{  </a:t>
            </a:r>
            <a:r>
              <a:rPr lang="en-US" altLang="zh-CN" b="1" dirty="0" err="1">
                <a:latin typeface="宋体" pitchFamily="2" charset="-122"/>
              </a:rPr>
              <a:t>cout</a:t>
            </a:r>
            <a:r>
              <a:rPr lang="en-US" altLang="zh-CN" b="1" dirty="0">
                <a:latin typeface="宋体" pitchFamily="2" charset="-122"/>
              </a:rPr>
              <a:t>&lt;&lt;</a:t>
            </a:r>
            <a:r>
              <a:rPr lang="en-US" altLang="zh-CN" b="1" dirty="0" err="1">
                <a:latin typeface="宋体" pitchFamily="2" charset="-122"/>
              </a:rPr>
              <a:t>p.getX</a:t>
            </a:r>
            <a:r>
              <a:rPr lang="en-US" altLang="zh-CN" b="1" dirty="0">
                <a:latin typeface="宋体" pitchFamily="2" charset="-122"/>
              </a:rPr>
              <a:t>()&lt;&lt;</a:t>
            </a:r>
            <a:r>
              <a:rPr lang="en-US" altLang="zh-CN" b="1" dirty="0" err="1">
                <a:latin typeface="宋体" pitchFamily="2" charset="-122"/>
              </a:rPr>
              <a:t>endl</a:t>
            </a:r>
            <a:r>
              <a:rPr lang="en-US" altLang="zh-CN" b="1" dirty="0">
                <a:latin typeface="宋体" pitchFamily="2" charset="-122"/>
              </a:rPr>
              <a:t>;</a:t>
            </a:r>
          </a:p>
          <a:p>
            <a:pPr lvl="1" eaLnBrk="1" hangingPunct="1">
              <a:lnSpc>
                <a:spcPct val="90000"/>
              </a:lnSpc>
              <a:buFontTx/>
              <a:buNone/>
              <a:defRPr/>
            </a:pPr>
            <a:r>
              <a:rPr lang="en-US" altLang="zh-CN" b="1" dirty="0">
                <a:latin typeface="宋体" pitchFamily="2" charset="-122"/>
              </a:rPr>
              <a:t>} </a:t>
            </a:r>
          </a:p>
          <a:p>
            <a:pPr lvl="1" eaLnBrk="1" hangingPunct="1">
              <a:lnSpc>
                <a:spcPct val="90000"/>
              </a:lnSpc>
              <a:buFontTx/>
              <a:buNone/>
              <a:defRPr/>
            </a:pPr>
            <a:r>
              <a:rPr lang="en-US" altLang="zh-CN" b="1" dirty="0" err="1">
                <a:latin typeface="宋体" pitchFamily="2" charset="-122"/>
              </a:rPr>
              <a:t>int</a:t>
            </a:r>
            <a:r>
              <a:rPr lang="en-US" altLang="zh-CN" b="1" dirty="0">
                <a:latin typeface="宋体" pitchFamily="2" charset="-122"/>
              </a:rPr>
              <a:t> main()</a:t>
            </a:r>
          </a:p>
          <a:p>
            <a:pPr lvl="1" eaLnBrk="1" hangingPunct="1">
              <a:lnSpc>
                <a:spcPct val="90000"/>
              </a:lnSpc>
              <a:buFontTx/>
              <a:buNone/>
              <a:defRPr/>
            </a:pPr>
            <a:r>
              <a:rPr lang="en-US" altLang="zh-CN" b="1" dirty="0">
                <a:latin typeface="宋体" pitchFamily="2" charset="-122"/>
              </a:rPr>
              <a:t>{ Point a(1,2);</a:t>
            </a:r>
          </a:p>
          <a:p>
            <a:pPr lvl="1" eaLnBrk="1" hangingPunct="1">
              <a:lnSpc>
                <a:spcPct val="90000"/>
              </a:lnSpc>
              <a:buFontTx/>
              <a:buNone/>
              <a:defRPr/>
            </a:pPr>
            <a:r>
              <a:rPr lang="en-US" altLang="zh-CN" b="1" dirty="0">
                <a:latin typeface="宋体" pitchFamily="2" charset="-122"/>
              </a:rPr>
              <a:t>  fun1(a); 		</a:t>
            </a:r>
            <a:endParaRPr lang="en-US" altLang="zh-CN" b="1" dirty="0">
              <a:solidFill>
                <a:schemeClr val="tx1"/>
              </a:solidFill>
              <a:latin typeface="宋体" pitchFamily="2" charset="-122"/>
            </a:endParaRPr>
          </a:p>
          <a:p>
            <a:pPr lvl="1" eaLnBrk="1" hangingPunct="1">
              <a:lnSpc>
                <a:spcPct val="90000"/>
              </a:lnSpc>
              <a:buFontTx/>
              <a:buNone/>
              <a:defRPr/>
            </a:pPr>
            <a:r>
              <a:rPr lang="en-US" altLang="zh-CN" b="1" dirty="0">
                <a:solidFill>
                  <a:schemeClr val="tx1"/>
                </a:solidFill>
                <a:latin typeface="宋体" pitchFamily="2" charset="-122"/>
              </a:rPr>
              <a:t>  </a:t>
            </a:r>
            <a:r>
              <a:rPr lang="en-US" altLang="zh-CN" b="1" dirty="0">
                <a:latin typeface="宋体" pitchFamily="2" charset="-122"/>
              </a:rPr>
              <a:t>return 0;</a:t>
            </a:r>
            <a:endParaRPr lang="zh-CN" altLang="en-US" b="1" dirty="0">
              <a:latin typeface="宋体" pitchFamily="2" charset="-122"/>
            </a:endParaRPr>
          </a:p>
          <a:p>
            <a:pPr lvl="1" eaLnBrk="1" hangingPunct="1">
              <a:lnSpc>
                <a:spcPct val="90000"/>
              </a:lnSpc>
              <a:buFontTx/>
              <a:buNone/>
              <a:defRPr/>
            </a:pPr>
            <a:r>
              <a:rPr lang="en-US" altLang="zh-CN" b="1" dirty="0">
                <a:latin typeface="宋体" pitchFamily="2" charset="-122"/>
              </a:rPr>
              <a:t>}     </a:t>
            </a:r>
          </a:p>
        </p:txBody>
      </p:sp>
      <p:sp>
        <p:nvSpPr>
          <p:cNvPr id="389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160C506C-AE5F-4D41-AE62-55C661DE3E96}" type="slidenum">
              <a:rPr lang="en-US" altLang="zh-CN" sz="1400">
                <a:solidFill>
                  <a:prstClr val="black"/>
                </a:solidFill>
              </a:rPr>
              <a:pPr eaLnBrk="1" hangingPunct="1"/>
              <a:t>28</a:t>
            </a:fld>
            <a:endParaRPr lang="en-US" altLang="zh-CN" sz="1400">
              <a:solidFill>
                <a:prstClr val="black"/>
              </a:solidFill>
            </a:endParaRPr>
          </a:p>
        </p:txBody>
      </p:sp>
      <p:sp>
        <p:nvSpPr>
          <p:cNvPr id="2" name="矩形 1"/>
          <p:cNvSpPr/>
          <p:nvPr/>
        </p:nvSpPr>
        <p:spPr>
          <a:xfrm>
            <a:off x="611560" y="1124744"/>
            <a:ext cx="7848872" cy="1421928"/>
          </a:xfrm>
          <a:prstGeom prst="rect">
            <a:avLst/>
          </a:prstGeom>
        </p:spPr>
        <p:txBody>
          <a:bodyPr wrap="square">
            <a:spAutoFit/>
          </a:bodyPr>
          <a:lstStyle/>
          <a:p>
            <a:pPr>
              <a:lnSpc>
                <a:spcPct val="90000"/>
              </a:lnSpc>
              <a:defRPr/>
            </a:pPr>
            <a:r>
              <a:rPr lang="zh-CN" altLang="en-US" sz="3200" dirty="0">
                <a:solidFill>
                  <a:prstClr val="black"/>
                </a:solidFill>
                <a:latin typeface="宋体" pitchFamily="2" charset="-122"/>
              </a:rPr>
              <a:t>若函数的形参为类对象，而且采用传值方式，当调用函数时，实参赋值给形参，系统自动调用拷贝构造函数。例如：</a:t>
            </a:r>
          </a:p>
        </p:txBody>
      </p:sp>
      <p:cxnSp>
        <p:nvCxnSpPr>
          <p:cNvPr id="6" name="直接连接符 5"/>
          <p:cNvCxnSpPr/>
          <p:nvPr/>
        </p:nvCxnSpPr>
        <p:spPr>
          <a:xfrm>
            <a:off x="2123728" y="5301208"/>
            <a:ext cx="3600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2699792" y="3212976"/>
            <a:ext cx="118813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483768" y="2535288"/>
            <a:ext cx="5832648" cy="2621902"/>
            <a:chOff x="2483768" y="2535288"/>
            <a:chExt cx="5832648" cy="2621902"/>
          </a:xfrm>
        </p:grpSpPr>
        <p:grpSp>
          <p:nvGrpSpPr>
            <p:cNvPr id="10" name="组合 9"/>
            <p:cNvGrpSpPr/>
            <p:nvPr/>
          </p:nvGrpSpPr>
          <p:grpSpPr>
            <a:xfrm>
              <a:off x="2483768" y="2535288"/>
              <a:ext cx="5832648" cy="2621902"/>
              <a:chOff x="2555776" y="3080711"/>
              <a:chExt cx="5832648" cy="1563722"/>
            </a:xfrm>
          </p:grpSpPr>
          <p:sp>
            <p:nvSpPr>
              <p:cNvPr id="11" name="矩形 10"/>
              <p:cNvSpPr/>
              <p:nvPr/>
            </p:nvSpPr>
            <p:spPr>
              <a:xfrm>
                <a:off x="6337863" y="3080711"/>
                <a:ext cx="2050561" cy="275340"/>
              </a:xfrm>
              <a:prstGeom prst="rect">
                <a:avLst/>
              </a:prstGeom>
              <a:solidFill>
                <a:schemeClr val="bg2">
                  <a:lumMod val="90000"/>
                </a:schemeClr>
              </a:solidFill>
            </p:spPr>
            <p:txBody>
              <a:bodyPr wrap="none">
                <a:spAutoFit/>
              </a:bodyPr>
              <a:lstStyle/>
              <a:p>
                <a:r>
                  <a:rPr lang="en-US" altLang="zh-CN" sz="2400" b="1" dirty="0">
                    <a:solidFill>
                      <a:prstClr val="black"/>
                    </a:solidFill>
                    <a:latin typeface="宋体" charset="-122"/>
                  </a:rPr>
                  <a:t>Point p(a); </a:t>
                </a:r>
                <a:endParaRPr lang="zh-CN" altLang="en-US" sz="2400" dirty="0">
                  <a:solidFill>
                    <a:prstClr val="black"/>
                  </a:solidFill>
                </a:endParaRPr>
              </a:p>
            </p:txBody>
          </p:sp>
          <p:cxnSp>
            <p:nvCxnSpPr>
              <p:cNvPr id="12" name="直接箭头连接符 11"/>
              <p:cNvCxnSpPr/>
              <p:nvPr/>
            </p:nvCxnSpPr>
            <p:spPr>
              <a:xfrm flipH="1">
                <a:off x="2555776" y="3211033"/>
                <a:ext cx="3744416" cy="14334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cxnSp>
          <p:nvCxnSpPr>
            <p:cNvPr id="13" name="直接箭头连接符 12"/>
            <p:cNvCxnSpPr/>
            <p:nvPr/>
          </p:nvCxnSpPr>
          <p:spPr>
            <a:xfrm flipH="1">
              <a:off x="4067944" y="2753802"/>
              <a:ext cx="2160240" cy="24315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sp>
        <p:nvSpPr>
          <p:cNvPr id="14" name="矩形 13"/>
          <p:cNvSpPr/>
          <p:nvPr/>
        </p:nvSpPr>
        <p:spPr>
          <a:xfrm>
            <a:off x="6029578" y="3429000"/>
            <a:ext cx="2646878" cy="461665"/>
          </a:xfrm>
          <a:prstGeom prst="rect">
            <a:avLst/>
          </a:prstGeom>
          <a:solidFill>
            <a:schemeClr val="tx2">
              <a:lumMod val="10000"/>
              <a:lumOff val="90000"/>
            </a:schemeClr>
          </a:solidFill>
        </p:spPr>
        <p:txBody>
          <a:bodyPr wrap="none">
            <a:spAutoFit/>
          </a:bodyPr>
          <a:lstStyle/>
          <a:p>
            <a:r>
              <a:rPr lang="zh-CN" altLang="en-US" sz="2400" b="1" dirty="0">
                <a:solidFill>
                  <a:prstClr val="black"/>
                </a:solidFill>
                <a:latin typeface="宋体" pitchFamily="2" charset="-122"/>
              </a:rPr>
              <a:t>调用拷贝构造函数</a:t>
            </a:r>
            <a:endParaRPr lang="zh-CN" altLang="en-US" sz="2400" dirty="0">
              <a:solidFill>
                <a:prstClr val="black"/>
              </a:solidFill>
            </a:endParaRPr>
          </a:p>
        </p:txBody>
      </p:sp>
      <p:sp>
        <p:nvSpPr>
          <p:cNvPr id="15" name="矩形 14"/>
          <p:cNvSpPr/>
          <p:nvPr/>
        </p:nvSpPr>
        <p:spPr>
          <a:xfrm>
            <a:off x="971600" y="404664"/>
            <a:ext cx="1723549" cy="584775"/>
          </a:xfrm>
          <a:prstGeom prst="rect">
            <a:avLst/>
          </a:prstGeom>
        </p:spPr>
        <p:txBody>
          <a:bodyPr wrap="none">
            <a:spAutoFit/>
          </a:bodyPr>
          <a:lstStyle/>
          <a:p>
            <a:r>
              <a:rPr lang="zh-CN" altLang="en-US" sz="3200" b="1" dirty="0">
                <a:solidFill>
                  <a:prstClr val="black"/>
                </a:solidFill>
              </a:rPr>
              <a:t>情况</a:t>
            </a:r>
            <a:r>
              <a:rPr lang="en-US" altLang="zh-CN" sz="3200" b="1" dirty="0">
                <a:solidFill>
                  <a:prstClr val="black"/>
                </a:solidFill>
              </a:rPr>
              <a:t>2:    </a:t>
            </a:r>
            <a:endParaRPr lang="zh-CN" altLang="en-US" sz="2000" dirty="0"/>
          </a:p>
        </p:txBody>
      </p:sp>
    </p:spTree>
    <p:extLst>
      <p:ext uri="{BB962C8B-B14F-4D97-AF65-F5344CB8AC3E}">
        <p14:creationId xmlns:p14="http://schemas.microsoft.com/office/powerpoint/2010/main" val="214312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160C506C-AE5F-4D41-AE62-55C661DE3E96}" type="slidenum">
              <a:rPr lang="en-US" altLang="zh-CN" sz="1400">
                <a:solidFill>
                  <a:prstClr val="black"/>
                </a:solidFill>
              </a:rPr>
              <a:pPr eaLnBrk="1" hangingPunct="1"/>
              <a:t>29</a:t>
            </a:fld>
            <a:endParaRPr lang="en-US" altLang="zh-CN" sz="1400">
              <a:solidFill>
                <a:prstClr val="black"/>
              </a:solidFill>
            </a:endParaRPr>
          </a:p>
        </p:txBody>
      </p:sp>
      <p:sp>
        <p:nvSpPr>
          <p:cNvPr id="15" name="矩形 14"/>
          <p:cNvSpPr>
            <a:spLocks noChangeArrowheads="1"/>
          </p:cNvSpPr>
          <p:nvPr/>
        </p:nvSpPr>
        <p:spPr bwMode="auto">
          <a:xfrm>
            <a:off x="6900614" y="6351413"/>
            <a:ext cx="1847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zh-CN" altLang="en-US" sz="2400" b="1" dirty="0">
                <a:latin typeface="Times New Roman" pitchFamily="18" charset="0"/>
              </a:rPr>
              <a:t>栈（</a:t>
            </a:r>
            <a:r>
              <a:rPr lang="en-US" altLang="zh-CN" sz="2400" b="1" dirty="0">
                <a:latin typeface="Times New Roman" pitchFamily="18" charset="0"/>
              </a:rPr>
              <a:t>Stack</a:t>
            </a:r>
            <a:r>
              <a:rPr lang="zh-CN" altLang="en-US" sz="2400" b="1" dirty="0">
                <a:latin typeface="Times New Roman" pitchFamily="18" charset="0"/>
              </a:rPr>
              <a:t>）</a:t>
            </a:r>
          </a:p>
        </p:txBody>
      </p:sp>
      <p:grpSp>
        <p:nvGrpSpPr>
          <p:cNvPr id="16" name="组合 15"/>
          <p:cNvGrpSpPr/>
          <p:nvPr/>
        </p:nvGrpSpPr>
        <p:grpSpPr>
          <a:xfrm>
            <a:off x="7020272" y="260648"/>
            <a:ext cx="1464668" cy="6022023"/>
            <a:chOff x="7715844" y="260648"/>
            <a:chExt cx="1464668" cy="6022023"/>
          </a:xfrm>
        </p:grpSpPr>
        <p:grpSp>
          <p:nvGrpSpPr>
            <p:cNvPr id="17" name="组合 16"/>
            <p:cNvGrpSpPr>
              <a:grpSpLocks/>
            </p:cNvGrpSpPr>
            <p:nvPr/>
          </p:nvGrpSpPr>
          <p:grpSpPr bwMode="auto">
            <a:xfrm>
              <a:off x="7715844" y="260648"/>
              <a:ext cx="1464668" cy="6022023"/>
              <a:chOff x="7451627" y="881357"/>
              <a:chExt cx="1465362" cy="4360568"/>
            </a:xfrm>
          </p:grpSpPr>
          <p:grpSp>
            <p:nvGrpSpPr>
              <p:cNvPr id="23" name="组合 5"/>
              <p:cNvGrpSpPr>
                <a:grpSpLocks/>
              </p:cNvGrpSpPr>
              <p:nvPr/>
            </p:nvGrpSpPr>
            <p:grpSpPr bwMode="auto">
              <a:xfrm>
                <a:off x="7474856" y="881357"/>
                <a:ext cx="1442133" cy="4360568"/>
                <a:chOff x="6659550" y="881223"/>
                <a:chExt cx="1440842" cy="4360682"/>
              </a:xfrm>
            </p:grpSpPr>
            <p:grpSp>
              <p:nvGrpSpPr>
                <p:cNvPr id="25" name="组合 20"/>
                <p:cNvGrpSpPr>
                  <a:grpSpLocks/>
                </p:cNvGrpSpPr>
                <p:nvPr/>
              </p:nvGrpSpPr>
              <p:grpSpPr bwMode="auto">
                <a:xfrm>
                  <a:off x="6659550" y="1037649"/>
                  <a:ext cx="1440842" cy="4204256"/>
                  <a:chOff x="6659550" y="1037649"/>
                  <a:chExt cx="1440842" cy="4204256"/>
                </a:xfrm>
              </p:grpSpPr>
              <p:cxnSp>
                <p:nvCxnSpPr>
                  <p:cNvPr id="28" name="直接连接符 27"/>
                  <p:cNvCxnSpPr/>
                  <p:nvPr/>
                </p:nvCxnSpPr>
                <p:spPr>
                  <a:xfrm>
                    <a:off x="6659550" y="1037649"/>
                    <a:ext cx="0" cy="4204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100392" y="1037649"/>
                    <a:ext cx="0" cy="4171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59550" y="1715503"/>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659550" y="2341215"/>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659550" y="2654071"/>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659550" y="3279782"/>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659550" y="3957637"/>
                    <a:ext cx="14408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659550" y="4596137"/>
                    <a:ext cx="144084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 name="矩形 31"/>
                <p:cNvSpPr>
                  <a:spLocks noChangeArrowheads="1"/>
                </p:cNvSpPr>
                <p:nvPr/>
              </p:nvSpPr>
              <p:spPr bwMode="auto">
                <a:xfrm>
                  <a:off x="7020272" y="470804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en-US" altLang="zh-CN" sz="2400" dirty="0">
                      <a:latin typeface="Times New Roman" pitchFamily="18" charset="0"/>
                    </a:rPr>
                    <a:t>……</a:t>
                  </a:r>
                  <a:endParaRPr lang="zh-CN" altLang="en-US" sz="2400" dirty="0">
                    <a:latin typeface="Times New Roman" pitchFamily="18" charset="0"/>
                  </a:endParaRPr>
                </a:p>
              </p:txBody>
            </p:sp>
            <p:sp>
              <p:nvSpPr>
                <p:cNvPr id="27" name="矩形 32"/>
                <p:cNvSpPr>
                  <a:spLocks noChangeArrowheads="1"/>
                </p:cNvSpPr>
                <p:nvPr/>
              </p:nvSpPr>
              <p:spPr bwMode="auto">
                <a:xfrm>
                  <a:off x="7020272" y="88122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itchFamily="18" charset="2"/>
                    <a:buChar char=""/>
                    <a:defRPr sz="3200">
                      <a:solidFill>
                        <a:schemeClr val="tx1"/>
                      </a:solidFill>
                      <a:latin typeface="Cambria" pitchFamily="18" charset="0"/>
                    </a:defRPr>
                  </a:lvl1pPr>
                  <a:lvl2pPr marL="742950" indent="-285750">
                    <a:spcBef>
                      <a:spcPct val="20000"/>
                    </a:spcBef>
                    <a:buClr>
                      <a:schemeClr val="accent2"/>
                    </a:buClr>
                    <a:buSzPct val="50000"/>
                    <a:buFont typeface="Wingdings 2" pitchFamily="18" charset="2"/>
                    <a:buChar char="³"/>
                    <a:defRPr sz="2800">
                      <a:solidFill>
                        <a:schemeClr val="tx1"/>
                      </a:solidFill>
                      <a:latin typeface="Cambria" pitchFamily="18" charset="0"/>
                    </a:defRPr>
                  </a:lvl2pPr>
                  <a:lvl3pPr marL="1143000" indent="-228600">
                    <a:spcBef>
                      <a:spcPct val="20000"/>
                    </a:spcBef>
                    <a:buClr>
                      <a:srgbClr val="7B9B57"/>
                    </a:buClr>
                    <a:buSzPct val="60000"/>
                    <a:buFont typeface="Wingdings 2" pitchFamily="18" charset="2"/>
                    <a:buChar char="®"/>
                    <a:defRPr sz="2400">
                      <a:solidFill>
                        <a:schemeClr val="tx1"/>
                      </a:solidFill>
                      <a:latin typeface="Cambria" pitchFamily="18" charset="0"/>
                    </a:defRPr>
                  </a:lvl3pPr>
                  <a:lvl4pPr marL="1600200" indent="-228600">
                    <a:spcBef>
                      <a:spcPct val="20000"/>
                    </a:spcBef>
                    <a:buClr>
                      <a:srgbClr val="8B7396"/>
                    </a:buClr>
                    <a:buSzPct val="45000"/>
                    <a:buFont typeface="Wingdings 2" pitchFamily="18" charset="2"/>
                    <a:buChar char="¯"/>
                    <a:defRPr sz="2000">
                      <a:solidFill>
                        <a:schemeClr val="tx1"/>
                      </a:solidFill>
                      <a:latin typeface="Cambria" pitchFamily="18" charset="0"/>
                    </a:defRPr>
                  </a:lvl4pPr>
                  <a:lvl5pPr marL="2057400" indent="-228600">
                    <a:spcBef>
                      <a:spcPct val="20000"/>
                    </a:spcBef>
                    <a:buClr>
                      <a:srgbClr val="E89A53"/>
                    </a:buClr>
                    <a:buFont typeface="Wingdings 2" pitchFamily="18" charset="2"/>
                    <a:buChar char=""/>
                    <a:defRPr sz="2000">
                      <a:solidFill>
                        <a:schemeClr val="tx1"/>
                      </a:solidFill>
                      <a:latin typeface="Cambria" pitchFamily="18" charset="0"/>
                    </a:defRPr>
                  </a:lvl5pPr>
                  <a:lvl6pPr marL="25146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6pPr>
                  <a:lvl7pPr marL="29718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7pPr>
                  <a:lvl8pPr marL="34290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8pPr>
                  <a:lvl9pPr marL="3886200" indent="-228600" eaLnBrk="0" fontAlgn="base" hangingPunct="0">
                    <a:spcBef>
                      <a:spcPct val="20000"/>
                    </a:spcBef>
                    <a:spcAft>
                      <a:spcPct val="0"/>
                    </a:spcAft>
                    <a:buClr>
                      <a:srgbClr val="E89A53"/>
                    </a:buClr>
                    <a:buFont typeface="Wingdings 2" pitchFamily="18" charset="2"/>
                    <a:buChar char=""/>
                    <a:defRPr sz="2000">
                      <a:solidFill>
                        <a:schemeClr val="tx1"/>
                      </a:solidFill>
                      <a:latin typeface="Cambria" pitchFamily="18" charset="0"/>
                    </a:defRPr>
                  </a:lvl9pPr>
                </a:lstStyle>
                <a:p>
                  <a:pPr>
                    <a:spcBef>
                      <a:spcPct val="0"/>
                    </a:spcBef>
                    <a:buClrTx/>
                    <a:buSzTx/>
                    <a:buFontTx/>
                    <a:buNone/>
                  </a:pPr>
                  <a:r>
                    <a:rPr lang="en-US" altLang="zh-CN" sz="2400" dirty="0">
                      <a:latin typeface="Times New Roman" pitchFamily="18" charset="0"/>
                    </a:rPr>
                    <a:t>……</a:t>
                  </a:r>
                  <a:endParaRPr lang="zh-CN" altLang="en-US" sz="2400" dirty="0">
                    <a:latin typeface="Times New Roman" pitchFamily="18" charset="0"/>
                  </a:endParaRPr>
                </a:p>
              </p:txBody>
            </p:sp>
          </p:grpSp>
          <p:cxnSp>
            <p:nvCxnSpPr>
              <p:cNvPr id="24" name="直接连接符 23"/>
              <p:cNvCxnSpPr/>
              <p:nvPr/>
            </p:nvCxnSpPr>
            <p:spPr bwMode="auto">
              <a:xfrm>
                <a:off x="7451627" y="5229225"/>
                <a:ext cx="144213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8" name="直接连接符 17"/>
            <p:cNvCxnSpPr/>
            <p:nvPr/>
          </p:nvCxnSpPr>
          <p:spPr bwMode="auto">
            <a:xfrm>
              <a:off x="7739062" y="4941168"/>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a:off x="7739062" y="4005064"/>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a:off x="7739062" y="3140968"/>
              <a:ext cx="14414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auto">
            <a:xfrm>
              <a:off x="7739062" y="1844824"/>
              <a:ext cx="1441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a:off x="7739062" y="980728"/>
              <a:ext cx="144145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7" name="等腰三角形 36"/>
          <p:cNvSpPr/>
          <p:nvPr/>
        </p:nvSpPr>
        <p:spPr bwMode="auto">
          <a:xfrm>
            <a:off x="36002" y="5733045"/>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矩形 42"/>
          <p:cNvSpPr/>
          <p:nvPr/>
        </p:nvSpPr>
        <p:spPr>
          <a:xfrm>
            <a:off x="251520" y="260648"/>
            <a:ext cx="3888432" cy="6581289"/>
          </a:xfrm>
          <a:prstGeom prst="rect">
            <a:avLst/>
          </a:prstGeom>
          <a:solidFill>
            <a:schemeClr val="bg1"/>
          </a:solidFill>
          <a:ln>
            <a:solidFill>
              <a:schemeClr val="accent1">
                <a:shade val="50000"/>
              </a:schemeClr>
            </a:solidFill>
          </a:ln>
        </p:spPr>
        <p:txBody>
          <a:bodyPr wrap="square">
            <a:spAutoFit/>
          </a:bodyPr>
          <a:lstStyle/>
          <a:p>
            <a:pPr>
              <a:lnSpc>
                <a:spcPts val="2200"/>
              </a:lnSpc>
            </a:pPr>
            <a:r>
              <a:rPr lang="en-US" altLang="zh-CN" sz="2000" dirty="0">
                <a:solidFill>
                  <a:srgbClr val="0000FF"/>
                </a:solidFill>
                <a:highlight>
                  <a:srgbClr val="FFFFFF"/>
                </a:highlight>
                <a:latin typeface="新宋体"/>
                <a:ea typeface="新宋体"/>
              </a:rPr>
              <a:t>class</a:t>
            </a:r>
            <a:r>
              <a:rPr lang="en-US" altLang="zh-CN" sz="2000" dirty="0">
                <a:solidFill>
                  <a:srgbClr val="000000"/>
                </a:solidFill>
                <a:highlight>
                  <a:srgbClr val="FFFFFF"/>
                </a:highlight>
                <a:latin typeface="新宋体"/>
                <a:ea typeface="新宋体"/>
              </a:rPr>
              <a:t> </a:t>
            </a:r>
            <a:r>
              <a:rPr lang="en-US" altLang="zh-CN" sz="2000" dirty="0">
                <a:solidFill>
                  <a:srgbClr val="2B91AF"/>
                </a:solidFill>
                <a:highlight>
                  <a:srgbClr val="FFFFFF"/>
                </a:highlight>
                <a:latin typeface="新宋体"/>
                <a:ea typeface="新宋体"/>
              </a:rPr>
              <a:t>Point</a:t>
            </a:r>
            <a:endParaRPr lang="en-US" altLang="zh-CN" sz="2000" dirty="0">
              <a:solidFill>
                <a:srgbClr val="000000"/>
              </a:solidFill>
              <a:highlight>
                <a:srgbClr val="FFFFFF"/>
              </a:highlight>
              <a:latin typeface="新宋体"/>
              <a:ea typeface="新宋体"/>
            </a:endParaRPr>
          </a:p>
          <a:p>
            <a:pPr>
              <a:lnSpc>
                <a:spcPts val="2200"/>
              </a:lnSpc>
            </a:pPr>
            <a:r>
              <a:rPr lang="en-US" altLang="zh-CN" sz="2000" dirty="0">
                <a:solidFill>
                  <a:srgbClr val="000000"/>
                </a:solidFill>
                <a:highlight>
                  <a:srgbClr val="FFFFFF"/>
                </a:highlight>
                <a:latin typeface="新宋体"/>
                <a:ea typeface="新宋体"/>
              </a:rPr>
              <a:t>{</a:t>
            </a:r>
            <a:r>
              <a:rPr lang="en-US" altLang="zh-CN" sz="2000" dirty="0">
                <a:solidFill>
                  <a:srgbClr val="0000FF"/>
                </a:solidFill>
                <a:highlight>
                  <a:srgbClr val="FFFFFF"/>
                </a:highlight>
                <a:latin typeface="新宋体"/>
                <a:ea typeface="新宋体"/>
              </a:rPr>
              <a:t>public</a:t>
            </a:r>
            <a:r>
              <a:rPr lang="en-US" altLang="zh-CN" sz="2000" dirty="0">
                <a:solidFill>
                  <a:srgbClr val="000000"/>
                </a:solidFill>
                <a:highlight>
                  <a:srgbClr val="FFFFFF"/>
                </a:highlight>
                <a:latin typeface="新宋体"/>
                <a:ea typeface="新宋体"/>
              </a:rPr>
              <a:t>:</a:t>
            </a:r>
          </a:p>
          <a:p>
            <a:pPr marL="365125">
              <a:lnSpc>
                <a:spcPts val="2200"/>
              </a:lnSpc>
            </a:pPr>
            <a:r>
              <a:rPr lang="en-US" altLang="zh-CN" sz="2000" dirty="0">
                <a:solidFill>
                  <a:srgbClr val="000000"/>
                </a:solidFill>
                <a:highlight>
                  <a:srgbClr val="FFFFFF"/>
                </a:highlight>
                <a:latin typeface="新宋体"/>
                <a:ea typeface="新宋体"/>
              </a:rPr>
              <a:t>Point(</a:t>
            </a:r>
            <a:r>
              <a:rPr lang="en-US" altLang="zh-CN" sz="2000" dirty="0" err="1">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a:t>
            </a:r>
            <a:r>
              <a:rPr lang="en-US" altLang="zh-CN" sz="2000" dirty="0">
                <a:solidFill>
                  <a:srgbClr val="808080"/>
                </a:solidFill>
                <a:highlight>
                  <a:srgbClr val="FFFFFF"/>
                </a:highlight>
                <a:latin typeface="新宋体"/>
                <a:ea typeface="新宋体"/>
              </a:rPr>
              <a:t>xx</a:t>
            </a:r>
            <a:r>
              <a:rPr lang="en-US" altLang="zh-CN" sz="2000" dirty="0">
                <a:solidFill>
                  <a:srgbClr val="000000"/>
                </a:solidFill>
                <a:highlight>
                  <a:srgbClr val="FFFFFF"/>
                </a:highlight>
                <a:latin typeface="新宋体"/>
                <a:ea typeface="新宋体"/>
              </a:rPr>
              <a:t>=0,</a:t>
            </a:r>
            <a:r>
              <a:rPr lang="en-US" altLang="zh-CN" sz="2000" dirty="0">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a:t>
            </a:r>
            <a:r>
              <a:rPr lang="en-US" altLang="zh-CN" sz="2000" dirty="0" err="1">
                <a:solidFill>
                  <a:srgbClr val="808080"/>
                </a:solidFill>
                <a:highlight>
                  <a:srgbClr val="FFFFFF"/>
                </a:highlight>
                <a:latin typeface="新宋体"/>
                <a:ea typeface="新宋体"/>
              </a:rPr>
              <a:t>yy</a:t>
            </a:r>
            <a:r>
              <a:rPr lang="en-US" altLang="zh-CN" sz="2000" dirty="0">
                <a:solidFill>
                  <a:srgbClr val="000000"/>
                </a:solidFill>
                <a:highlight>
                  <a:srgbClr val="FFFFFF"/>
                </a:highlight>
                <a:latin typeface="新宋体"/>
                <a:ea typeface="新宋体"/>
              </a:rPr>
              <a:t>=0)</a:t>
            </a:r>
          </a:p>
          <a:p>
            <a:pPr marL="365125">
              <a:lnSpc>
                <a:spcPts val="2200"/>
              </a:lnSpc>
            </a:pPr>
            <a:r>
              <a:rPr lang="en-US" altLang="zh-CN" sz="2000" dirty="0">
                <a:solidFill>
                  <a:srgbClr val="000000"/>
                </a:solidFill>
                <a:highlight>
                  <a:srgbClr val="FFFFFF"/>
                </a:highlight>
                <a:latin typeface="新宋体"/>
                <a:ea typeface="新宋体"/>
              </a:rPr>
              <a:t>{  x = </a:t>
            </a:r>
            <a:r>
              <a:rPr lang="en-US" altLang="zh-CN" sz="2000" dirty="0">
                <a:solidFill>
                  <a:srgbClr val="808080"/>
                </a:solidFill>
                <a:highlight>
                  <a:srgbClr val="FFFFFF"/>
                </a:highlight>
                <a:latin typeface="新宋体"/>
                <a:ea typeface="新宋体"/>
              </a:rPr>
              <a:t>xx</a:t>
            </a:r>
            <a:r>
              <a:rPr lang="en-US" altLang="zh-CN" sz="2000" dirty="0">
                <a:solidFill>
                  <a:srgbClr val="000000"/>
                </a:solidFill>
                <a:highlight>
                  <a:srgbClr val="FFFFFF"/>
                </a:highlight>
                <a:latin typeface="新宋体"/>
                <a:ea typeface="新宋体"/>
              </a:rPr>
              <a:t>;</a:t>
            </a:r>
          </a:p>
          <a:p>
            <a:pPr marL="365125">
              <a:lnSpc>
                <a:spcPts val="2200"/>
              </a:lnSpc>
            </a:pPr>
            <a:r>
              <a:rPr lang="en-US" altLang="zh-CN" sz="2000" dirty="0">
                <a:solidFill>
                  <a:srgbClr val="000000"/>
                </a:solidFill>
                <a:highlight>
                  <a:srgbClr val="FFFFFF"/>
                </a:highlight>
                <a:latin typeface="新宋体"/>
                <a:ea typeface="新宋体"/>
              </a:rPr>
              <a:t>   y = </a:t>
            </a:r>
            <a:r>
              <a:rPr lang="en-US" altLang="zh-CN" sz="2000" dirty="0" err="1">
                <a:solidFill>
                  <a:srgbClr val="808080"/>
                </a:solidFill>
                <a:highlight>
                  <a:srgbClr val="FFFFFF"/>
                </a:highlight>
                <a:latin typeface="新宋体"/>
                <a:ea typeface="新宋体"/>
              </a:rPr>
              <a:t>yy</a:t>
            </a:r>
            <a:r>
              <a:rPr lang="en-US" altLang="zh-CN" sz="2000" dirty="0">
                <a:solidFill>
                  <a:srgbClr val="000000"/>
                </a:solidFill>
                <a:highlight>
                  <a:srgbClr val="FFFFFF"/>
                </a:highlight>
                <a:latin typeface="新宋体"/>
                <a:ea typeface="新宋体"/>
              </a:rPr>
              <a:t>;</a:t>
            </a:r>
          </a:p>
          <a:p>
            <a:pPr marL="365125">
              <a:lnSpc>
                <a:spcPts val="2200"/>
              </a:lnSpc>
            </a:pPr>
            <a:r>
              <a:rPr lang="en-US" altLang="zh-CN" sz="2000" dirty="0">
                <a:solidFill>
                  <a:srgbClr val="000000"/>
                </a:solidFill>
                <a:highlight>
                  <a:srgbClr val="FFFFFF"/>
                </a:highlight>
                <a:latin typeface="新宋体"/>
                <a:ea typeface="新宋体"/>
              </a:rPr>
              <a:t>}</a:t>
            </a:r>
          </a:p>
          <a:p>
            <a:pPr marL="274638">
              <a:lnSpc>
                <a:spcPts val="2200"/>
              </a:lnSpc>
            </a:pPr>
            <a:r>
              <a:rPr lang="en-US" altLang="zh-CN" sz="2000" dirty="0">
                <a:solidFill>
                  <a:srgbClr val="000000"/>
                </a:solidFill>
                <a:highlight>
                  <a:srgbClr val="FFFFFF"/>
                </a:highlight>
                <a:latin typeface="新宋体"/>
                <a:ea typeface="新宋体"/>
              </a:rPr>
              <a:t>Point(</a:t>
            </a:r>
            <a:r>
              <a:rPr lang="en-US" altLang="zh-CN" sz="2000" dirty="0" err="1">
                <a:solidFill>
                  <a:srgbClr val="0000FF"/>
                </a:solidFill>
                <a:highlight>
                  <a:srgbClr val="FFFFFF"/>
                </a:highlight>
                <a:latin typeface="新宋体"/>
                <a:ea typeface="新宋体"/>
              </a:rPr>
              <a:t>const</a:t>
            </a:r>
            <a:r>
              <a:rPr lang="en-US" altLang="zh-CN" sz="2000" dirty="0">
                <a:solidFill>
                  <a:srgbClr val="000000"/>
                </a:solidFill>
                <a:highlight>
                  <a:srgbClr val="FFFFFF"/>
                </a:highlight>
                <a:latin typeface="新宋体"/>
                <a:ea typeface="新宋体"/>
              </a:rPr>
              <a:t> </a:t>
            </a:r>
            <a:r>
              <a:rPr lang="en-US" altLang="zh-CN" sz="2000" dirty="0">
                <a:solidFill>
                  <a:srgbClr val="2B91AF"/>
                </a:solidFill>
                <a:highlight>
                  <a:srgbClr val="FFFFFF"/>
                </a:highlight>
                <a:latin typeface="新宋体"/>
                <a:ea typeface="新宋体"/>
              </a:rPr>
              <a:t>Point</a:t>
            </a:r>
            <a:r>
              <a:rPr lang="en-US" altLang="zh-CN" sz="2000" dirty="0">
                <a:solidFill>
                  <a:srgbClr val="000000"/>
                </a:solidFill>
                <a:highlight>
                  <a:srgbClr val="FFFFFF"/>
                </a:highlight>
                <a:latin typeface="新宋体"/>
                <a:ea typeface="新宋体"/>
              </a:rPr>
              <a:t>&amp; t)</a:t>
            </a:r>
          </a:p>
          <a:p>
            <a:pPr marL="274638">
              <a:lnSpc>
                <a:spcPts val="2200"/>
              </a:lnSpc>
            </a:pPr>
            <a:r>
              <a:rPr lang="en-US" altLang="zh-CN" sz="2000" dirty="0">
                <a:solidFill>
                  <a:srgbClr val="000000"/>
                </a:solidFill>
                <a:highlight>
                  <a:srgbClr val="FFFFFF"/>
                </a:highlight>
                <a:latin typeface="新宋体"/>
                <a:ea typeface="新宋体"/>
              </a:rPr>
              <a:t>{  x = </a:t>
            </a:r>
            <a:r>
              <a:rPr lang="en-US" altLang="zh-CN" sz="2000" dirty="0" err="1">
                <a:solidFill>
                  <a:srgbClr val="808080"/>
                </a:solidFill>
                <a:highlight>
                  <a:srgbClr val="FFFFFF"/>
                </a:highlight>
                <a:latin typeface="新宋体"/>
                <a:ea typeface="新宋体"/>
              </a:rPr>
              <a:t>t</a:t>
            </a:r>
            <a:r>
              <a:rPr lang="en-US" altLang="zh-CN" sz="2000" dirty="0" err="1">
                <a:solidFill>
                  <a:srgbClr val="000000"/>
                </a:solidFill>
                <a:highlight>
                  <a:srgbClr val="FFFFFF"/>
                </a:highlight>
                <a:latin typeface="新宋体"/>
                <a:ea typeface="新宋体"/>
              </a:rPr>
              <a:t>.x</a:t>
            </a:r>
            <a:r>
              <a:rPr lang="en-US" altLang="zh-CN" sz="2000" dirty="0">
                <a:solidFill>
                  <a:srgbClr val="000000"/>
                </a:solidFill>
                <a:highlight>
                  <a:srgbClr val="FFFFFF"/>
                </a:highlight>
                <a:latin typeface="新宋体"/>
                <a:ea typeface="新宋体"/>
              </a:rPr>
              <a:t>;</a:t>
            </a:r>
          </a:p>
          <a:p>
            <a:pPr marL="274638">
              <a:lnSpc>
                <a:spcPts val="2200"/>
              </a:lnSpc>
            </a:pPr>
            <a:r>
              <a:rPr lang="en-US" altLang="zh-CN" sz="2000" dirty="0">
                <a:solidFill>
                  <a:srgbClr val="000000"/>
                </a:solidFill>
                <a:highlight>
                  <a:srgbClr val="FFFFFF"/>
                </a:highlight>
                <a:latin typeface="新宋体"/>
                <a:ea typeface="新宋体"/>
              </a:rPr>
              <a:t>   y = </a:t>
            </a:r>
            <a:r>
              <a:rPr lang="en-US" altLang="zh-CN" sz="2000" dirty="0" err="1">
                <a:solidFill>
                  <a:srgbClr val="808080"/>
                </a:solidFill>
                <a:highlight>
                  <a:srgbClr val="FFFFFF"/>
                </a:highlight>
                <a:latin typeface="新宋体"/>
                <a:ea typeface="新宋体"/>
              </a:rPr>
              <a:t>t</a:t>
            </a:r>
            <a:r>
              <a:rPr lang="en-US" altLang="zh-CN" sz="2000" dirty="0" err="1">
                <a:solidFill>
                  <a:srgbClr val="000000"/>
                </a:solidFill>
                <a:highlight>
                  <a:srgbClr val="FFFFFF"/>
                </a:highlight>
                <a:latin typeface="新宋体"/>
                <a:ea typeface="新宋体"/>
              </a:rPr>
              <a:t>.y</a:t>
            </a:r>
            <a:r>
              <a:rPr lang="en-US" altLang="zh-CN" sz="2000" dirty="0">
                <a:solidFill>
                  <a:srgbClr val="000000"/>
                </a:solidFill>
                <a:highlight>
                  <a:srgbClr val="FFFFFF"/>
                </a:highlight>
                <a:latin typeface="新宋体"/>
                <a:ea typeface="新宋体"/>
              </a:rPr>
              <a:t>;</a:t>
            </a:r>
          </a:p>
          <a:p>
            <a:pPr marL="274638">
              <a:lnSpc>
                <a:spcPts val="2200"/>
              </a:lnSpc>
            </a:pPr>
            <a:r>
              <a:rPr lang="en-US" altLang="zh-CN" sz="2000" dirty="0">
                <a:solidFill>
                  <a:srgbClr val="000000"/>
                </a:solidFill>
                <a:highlight>
                  <a:srgbClr val="FFFFFF"/>
                </a:highlight>
                <a:latin typeface="新宋体"/>
                <a:ea typeface="新宋体"/>
              </a:rPr>
              <a:t>}</a:t>
            </a:r>
          </a:p>
          <a:p>
            <a:pPr marL="274638">
              <a:lnSpc>
                <a:spcPts val="2200"/>
              </a:lnSpc>
            </a:pPr>
            <a:r>
              <a:rPr lang="en-US" altLang="zh-CN" sz="2000" dirty="0" err="1">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a:t>
            </a:r>
            <a:r>
              <a:rPr lang="en-US" altLang="zh-CN" sz="2000" dirty="0" err="1">
                <a:solidFill>
                  <a:srgbClr val="000000"/>
                </a:solidFill>
                <a:highlight>
                  <a:srgbClr val="FFFFFF"/>
                </a:highlight>
                <a:latin typeface="新宋体"/>
                <a:ea typeface="新宋体"/>
              </a:rPr>
              <a:t>getX</a:t>
            </a:r>
            <a:r>
              <a:rPr lang="en-US" altLang="zh-CN" sz="2000" dirty="0">
                <a:solidFill>
                  <a:srgbClr val="000000"/>
                </a:solidFill>
                <a:highlight>
                  <a:srgbClr val="FFFFFF"/>
                </a:highlight>
                <a:latin typeface="新宋体"/>
                <a:ea typeface="新宋体"/>
              </a:rPr>
              <a:t>() { </a:t>
            </a:r>
            <a:r>
              <a:rPr lang="en-US" altLang="zh-CN" sz="2000" dirty="0">
                <a:solidFill>
                  <a:srgbClr val="0000FF"/>
                </a:solidFill>
                <a:highlight>
                  <a:srgbClr val="FFFFFF"/>
                </a:highlight>
                <a:latin typeface="新宋体"/>
                <a:ea typeface="新宋体"/>
              </a:rPr>
              <a:t>return</a:t>
            </a:r>
            <a:r>
              <a:rPr lang="en-US" altLang="zh-CN" sz="2000" dirty="0">
                <a:solidFill>
                  <a:srgbClr val="000000"/>
                </a:solidFill>
                <a:highlight>
                  <a:srgbClr val="FFFFFF"/>
                </a:highlight>
                <a:latin typeface="新宋体"/>
                <a:ea typeface="新宋体"/>
              </a:rPr>
              <a:t> x; }</a:t>
            </a:r>
          </a:p>
          <a:p>
            <a:pPr marL="274638">
              <a:lnSpc>
                <a:spcPts val="2200"/>
              </a:lnSpc>
            </a:pPr>
            <a:r>
              <a:rPr lang="en-US" altLang="zh-CN" sz="2000" dirty="0" err="1">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a:t>
            </a:r>
            <a:r>
              <a:rPr lang="en-US" altLang="zh-CN" sz="2000" dirty="0" err="1">
                <a:solidFill>
                  <a:srgbClr val="000000"/>
                </a:solidFill>
                <a:highlight>
                  <a:srgbClr val="FFFFFF"/>
                </a:highlight>
                <a:latin typeface="新宋体"/>
                <a:ea typeface="新宋体"/>
              </a:rPr>
              <a:t>getY</a:t>
            </a:r>
            <a:r>
              <a:rPr lang="en-US" altLang="zh-CN" sz="2000" dirty="0">
                <a:solidFill>
                  <a:srgbClr val="000000"/>
                </a:solidFill>
                <a:highlight>
                  <a:srgbClr val="FFFFFF"/>
                </a:highlight>
                <a:latin typeface="新宋体"/>
                <a:ea typeface="新宋体"/>
              </a:rPr>
              <a:t>() { </a:t>
            </a:r>
            <a:r>
              <a:rPr lang="en-US" altLang="zh-CN" sz="2000" dirty="0">
                <a:solidFill>
                  <a:srgbClr val="0000FF"/>
                </a:solidFill>
                <a:highlight>
                  <a:srgbClr val="FFFFFF"/>
                </a:highlight>
                <a:latin typeface="新宋体"/>
                <a:ea typeface="新宋体"/>
              </a:rPr>
              <a:t>return</a:t>
            </a:r>
            <a:r>
              <a:rPr lang="en-US" altLang="zh-CN" sz="2000" dirty="0">
                <a:solidFill>
                  <a:srgbClr val="000000"/>
                </a:solidFill>
                <a:highlight>
                  <a:srgbClr val="FFFFFF"/>
                </a:highlight>
                <a:latin typeface="新宋体"/>
                <a:ea typeface="新宋体"/>
              </a:rPr>
              <a:t> y; }</a:t>
            </a:r>
          </a:p>
          <a:p>
            <a:pPr>
              <a:lnSpc>
                <a:spcPts val="2200"/>
              </a:lnSpc>
            </a:pPr>
            <a:r>
              <a:rPr lang="en-US" altLang="zh-CN" sz="2000" dirty="0">
                <a:solidFill>
                  <a:srgbClr val="0000FF"/>
                </a:solidFill>
                <a:highlight>
                  <a:srgbClr val="FFFFFF"/>
                </a:highlight>
                <a:latin typeface="新宋体"/>
                <a:ea typeface="新宋体"/>
              </a:rPr>
              <a:t>private</a:t>
            </a:r>
            <a:r>
              <a:rPr lang="en-US" altLang="zh-CN" sz="2000" dirty="0">
                <a:solidFill>
                  <a:srgbClr val="000000"/>
                </a:solidFill>
                <a:highlight>
                  <a:srgbClr val="FFFFFF"/>
                </a:highlight>
                <a:latin typeface="新宋体"/>
                <a:ea typeface="新宋体"/>
              </a:rPr>
              <a:t>:</a:t>
            </a:r>
          </a:p>
          <a:p>
            <a:pPr marL="274638">
              <a:lnSpc>
                <a:spcPts val="2200"/>
              </a:lnSpc>
            </a:pPr>
            <a:r>
              <a:rPr lang="en-US" altLang="zh-CN" sz="2000" dirty="0" err="1">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x, y;</a:t>
            </a:r>
          </a:p>
          <a:p>
            <a:pPr>
              <a:lnSpc>
                <a:spcPts val="2200"/>
              </a:lnSpc>
            </a:pPr>
            <a:r>
              <a:rPr lang="en-US" altLang="zh-CN" sz="2000" dirty="0">
                <a:solidFill>
                  <a:srgbClr val="000000"/>
                </a:solidFill>
                <a:highlight>
                  <a:srgbClr val="FFFFFF"/>
                </a:highlight>
                <a:latin typeface="新宋体"/>
                <a:ea typeface="新宋体"/>
              </a:rPr>
              <a:t>};</a:t>
            </a:r>
          </a:p>
          <a:p>
            <a:pPr>
              <a:lnSpc>
                <a:spcPts val="2200"/>
              </a:lnSpc>
            </a:pPr>
            <a:r>
              <a:rPr lang="en-US" altLang="zh-CN" sz="2000" dirty="0">
                <a:solidFill>
                  <a:srgbClr val="0000FF"/>
                </a:solidFill>
                <a:highlight>
                  <a:srgbClr val="FFFFFF"/>
                </a:highlight>
                <a:latin typeface="新宋体"/>
                <a:ea typeface="新宋体"/>
              </a:rPr>
              <a:t>void</a:t>
            </a:r>
            <a:r>
              <a:rPr lang="en-US" altLang="zh-CN" sz="2000" dirty="0">
                <a:solidFill>
                  <a:srgbClr val="000000"/>
                </a:solidFill>
                <a:highlight>
                  <a:srgbClr val="FFFFFF"/>
                </a:highlight>
                <a:latin typeface="新宋体"/>
                <a:ea typeface="新宋体"/>
              </a:rPr>
              <a:t> fun1(Point </a:t>
            </a:r>
            <a:r>
              <a:rPr lang="en-US" altLang="zh-CN" sz="2000" dirty="0">
                <a:solidFill>
                  <a:srgbClr val="808080"/>
                </a:solidFill>
                <a:highlight>
                  <a:srgbClr val="FFFFFF"/>
                </a:highlight>
                <a:latin typeface="新宋体"/>
                <a:ea typeface="新宋体"/>
              </a:rPr>
              <a:t>p</a:t>
            </a:r>
            <a:r>
              <a:rPr lang="en-US" altLang="zh-CN" sz="2000" dirty="0">
                <a:solidFill>
                  <a:srgbClr val="000000"/>
                </a:solidFill>
                <a:highlight>
                  <a:srgbClr val="FFFFFF"/>
                </a:highlight>
                <a:latin typeface="新宋体"/>
                <a:ea typeface="新宋体"/>
              </a:rPr>
              <a:t>)</a:t>
            </a:r>
          </a:p>
          <a:p>
            <a:pPr>
              <a:lnSpc>
                <a:spcPts val="2200"/>
              </a:lnSpc>
            </a:pPr>
            <a:r>
              <a:rPr lang="en-US" altLang="zh-CN" sz="2000" dirty="0">
                <a:solidFill>
                  <a:srgbClr val="000000"/>
                </a:solidFill>
                <a:highlight>
                  <a:srgbClr val="FFFFFF"/>
                </a:highlight>
                <a:latin typeface="新宋体"/>
                <a:ea typeface="新宋体"/>
              </a:rPr>
              <a:t>{  </a:t>
            </a:r>
            <a:r>
              <a:rPr lang="en-US" altLang="zh-CN" sz="2000" dirty="0" err="1">
                <a:solidFill>
                  <a:srgbClr val="000000"/>
                </a:solidFill>
                <a:highlight>
                  <a:srgbClr val="FFFFFF"/>
                </a:highlight>
                <a:latin typeface="新宋体"/>
                <a:ea typeface="新宋体"/>
              </a:rPr>
              <a:t>cout</a:t>
            </a:r>
            <a:r>
              <a:rPr lang="en-US" altLang="zh-CN" sz="2000" dirty="0">
                <a:solidFill>
                  <a:srgbClr val="000000"/>
                </a:solidFill>
                <a:highlight>
                  <a:srgbClr val="FFFFFF"/>
                </a:highlight>
                <a:latin typeface="新宋体"/>
                <a:ea typeface="新宋体"/>
              </a:rPr>
              <a:t>&lt;&lt;</a:t>
            </a:r>
            <a:r>
              <a:rPr lang="en-US" altLang="zh-CN" sz="2000" dirty="0" err="1">
                <a:solidFill>
                  <a:srgbClr val="808080"/>
                </a:solidFill>
                <a:highlight>
                  <a:srgbClr val="FFFFFF"/>
                </a:highlight>
                <a:latin typeface="新宋体"/>
                <a:ea typeface="新宋体"/>
              </a:rPr>
              <a:t>p</a:t>
            </a:r>
            <a:r>
              <a:rPr lang="en-US" altLang="zh-CN" sz="2000" dirty="0" err="1">
                <a:solidFill>
                  <a:srgbClr val="000000"/>
                </a:solidFill>
                <a:highlight>
                  <a:srgbClr val="FFFFFF"/>
                </a:highlight>
                <a:latin typeface="新宋体"/>
                <a:ea typeface="新宋体"/>
              </a:rPr>
              <a:t>.getX</a:t>
            </a:r>
            <a:r>
              <a:rPr lang="en-US" altLang="zh-CN" sz="2000" dirty="0">
                <a:solidFill>
                  <a:srgbClr val="000000"/>
                </a:solidFill>
                <a:highlight>
                  <a:srgbClr val="FFFFFF"/>
                </a:highlight>
                <a:latin typeface="新宋体"/>
                <a:ea typeface="新宋体"/>
              </a:rPr>
              <a:t>()&lt;&lt;</a:t>
            </a:r>
            <a:r>
              <a:rPr lang="en-US" altLang="zh-CN" sz="2000" dirty="0" err="1">
                <a:solidFill>
                  <a:srgbClr val="000000"/>
                </a:solidFill>
                <a:highlight>
                  <a:srgbClr val="FFFFFF"/>
                </a:highlight>
                <a:latin typeface="新宋体"/>
                <a:ea typeface="新宋体"/>
              </a:rPr>
              <a:t>endl</a:t>
            </a:r>
            <a:r>
              <a:rPr lang="en-US" altLang="zh-CN" sz="2000" dirty="0">
                <a:solidFill>
                  <a:srgbClr val="000000"/>
                </a:solidFill>
                <a:highlight>
                  <a:srgbClr val="FFFFFF"/>
                </a:highlight>
                <a:latin typeface="新宋体"/>
                <a:ea typeface="新宋体"/>
              </a:rPr>
              <a:t>;</a:t>
            </a:r>
          </a:p>
          <a:p>
            <a:pPr>
              <a:lnSpc>
                <a:spcPts val="2200"/>
              </a:lnSpc>
            </a:pPr>
            <a:r>
              <a:rPr lang="en-US" altLang="zh-CN" sz="2000" dirty="0">
                <a:solidFill>
                  <a:srgbClr val="000000"/>
                </a:solidFill>
                <a:highlight>
                  <a:srgbClr val="FFFFFF"/>
                </a:highlight>
                <a:latin typeface="新宋体"/>
                <a:ea typeface="新宋体"/>
              </a:rPr>
              <a:t>}</a:t>
            </a:r>
          </a:p>
          <a:p>
            <a:pPr>
              <a:lnSpc>
                <a:spcPts val="2200"/>
              </a:lnSpc>
            </a:pPr>
            <a:r>
              <a:rPr lang="en-US" altLang="zh-CN" sz="2000" dirty="0" err="1">
                <a:solidFill>
                  <a:srgbClr val="0000FF"/>
                </a:solidFill>
                <a:highlight>
                  <a:srgbClr val="FFFFFF"/>
                </a:highlight>
                <a:latin typeface="新宋体"/>
                <a:ea typeface="新宋体"/>
              </a:rPr>
              <a:t>int</a:t>
            </a:r>
            <a:r>
              <a:rPr lang="en-US" altLang="zh-CN" sz="2000" dirty="0">
                <a:solidFill>
                  <a:srgbClr val="000000"/>
                </a:solidFill>
                <a:highlight>
                  <a:srgbClr val="FFFFFF"/>
                </a:highlight>
                <a:latin typeface="新宋体"/>
                <a:ea typeface="新宋体"/>
              </a:rPr>
              <a:t> main()</a:t>
            </a:r>
          </a:p>
          <a:p>
            <a:pPr>
              <a:lnSpc>
                <a:spcPts val="2200"/>
              </a:lnSpc>
            </a:pPr>
            <a:r>
              <a:rPr lang="en-US" altLang="zh-CN" sz="2000" dirty="0">
                <a:solidFill>
                  <a:srgbClr val="000000"/>
                </a:solidFill>
                <a:highlight>
                  <a:srgbClr val="FFFFFF"/>
                </a:highlight>
                <a:latin typeface="新宋体"/>
                <a:ea typeface="新宋体"/>
              </a:rPr>
              <a:t>{  Point a(1, 2);</a:t>
            </a:r>
          </a:p>
          <a:p>
            <a:pPr marL="439738">
              <a:lnSpc>
                <a:spcPts val="2200"/>
              </a:lnSpc>
            </a:pPr>
            <a:r>
              <a:rPr lang="en-US" altLang="zh-CN" sz="2000" dirty="0">
                <a:solidFill>
                  <a:srgbClr val="000000"/>
                </a:solidFill>
                <a:highlight>
                  <a:srgbClr val="FFFFFF"/>
                </a:highlight>
                <a:latin typeface="新宋体"/>
                <a:ea typeface="新宋体"/>
              </a:rPr>
              <a:t>fun1(a);</a:t>
            </a:r>
          </a:p>
          <a:p>
            <a:pPr marL="439738">
              <a:lnSpc>
                <a:spcPts val="2200"/>
              </a:lnSpc>
            </a:pPr>
            <a:r>
              <a:rPr lang="en-US" altLang="zh-CN" sz="2000" dirty="0">
                <a:solidFill>
                  <a:srgbClr val="0000FF"/>
                </a:solidFill>
                <a:highlight>
                  <a:srgbClr val="FFFFFF"/>
                </a:highlight>
                <a:latin typeface="新宋体"/>
                <a:ea typeface="新宋体"/>
              </a:rPr>
              <a:t>return</a:t>
            </a:r>
            <a:r>
              <a:rPr lang="en-US" altLang="zh-CN" sz="2000" dirty="0">
                <a:solidFill>
                  <a:srgbClr val="000000"/>
                </a:solidFill>
                <a:highlight>
                  <a:srgbClr val="FFFFFF"/>
                </a:highlight>
                <a:latin typeface="新宋体"/>
                <a:ea typeface="新宋体"/>
              </a:rPr>
              <a:t> 0;</a:t>
            </a:r>
          </a:p>
          <a:p>
            <a:pPr>
              <a:lnSpc>
                <a:spcPts val="2200"/>
              </a:lnSpc>
            </a:pPr>
            <a:r>
              <a:rPr lang="en-US" altLang="zh-CN" sz="2000" dirty="0">
                <a:solidFill>
                  <a:srgbClr val="000000"/>
                </a:solidFill>
                <a:highlight>
                  <a:srgbClr val="FFFFFF"/>
                </a:highlight>
                <a:latin typeface="新宋体"/>
                <a:ea typeface="新宋体"/>
              </a:rPr>
              <a:t>}</a:t>
            </a:r>
            <a:endParaRPr lang="zh-CN" altLang="en-US" sz="2000" dirty="0"/>
          </a:p>
        </p:txBody>
      </p:sp>
      <p:sp>
        <p:nvSpPr>
          <p:cNvPr id="41" name="矩形 40"/>
          <p:cNvSpPr/>
          <p:nvPr/>
        </p:nvSpPr>
        <p:spPr>
          <a:xfrm>
            <a:off x="5292080" y="2276872"/>
            <a:ext cx="761812" cy="400110"/>
          </a:xfrm>
          <a:prstGeom prst="rect">
            <a:avLst/>
          </a:prstGeom>
        </p:spPr>
        <p:txBody>
          <a:bodyPr wrap="none">
            <a:spAutoFit/>
          </a:bodyPr>
          <a:lstStyle/>
          <a:p>
            <a:r>
              <a:rPr lang="en-US" altLang="zh-CN" sz="2000" dirty="0"/>
              <a:t>Point</a:t>
            </a:r>
            <a:endParaRPr lang="zh-CN" altLang="en-US" sz="2000" dirty="0"/>
          </a:p>
        </p:txBody>
      </p:sp>
      <p:sp>
        <p:nvSpPr>
          <p:cNvPr id="39" name="矩形 38"/>
          <p:cNvSpPr/>
          <p:nvPr/>
        </p:nvSpPr>
        <p:spPr>
          <a:xfrm>
            <a:off x="5148064" y="3573016"/>
            <a:ext cx="335348" cy="461665"/>
          </a:xfrm>
          <a:prstGeom prst="rect">
            <a:avLst/>
          </a:prstGeom>
        </p:spPr>
        <p:txBody>
          <a:bodyPr wrap="none">
            <a:spAutoFit/>
          </a:bodyPr>
          <a:lstStyle/>
          <a:p>
            <a:r>
              <a:rPr lang="en-US" altLang="zh-CN" sz="2400" dirty="0"/>
              <a:t>a</a:t>
            </a:r>
            <a:endParaRPr lang="zh-CN" altLang="en-US" sz="2400" dirty="0"/>
          </a:p>
        </p:txBody>
      </p:sp>
      <p:sp>
        <p:nvSpPr>
          <p:cNvPr id="40" name="矩形 39"/>
          <p:cNvSpPr/>
          <p:nvPr/>
        </p:nvSpPr>
        <p:spPr>
          <a:xfrm>
            <a:off x="4211960" y="3543399"/>
            <a:ext cx="848309" cy="461665"/>
          </a:xfrm>
          <a:prstGeom prst="rect">
            <a:avLst/>
          </a:prstGeom>
        </p:spPr>
        <p:txBody>
          <a:bodyPr wrap="none">
            <a:spAutoFit/>
          </a:bodyPr>
          <a:lstStyle/>
          <a:p>
            <a:r>
              <a:rPr lang="en-US" altLang="zh-CN" sz="2400" dirty="0"/>
              <a:t>main</a:t>
            </a:r>
            <a:endParaRPr lang="zh-CN" altLang="en-US" sz="2400" dirty="0"/>
          </a:p>
        </p:txBody>
      </p:sp>
      <p:grpSp>
        <p:nvGrpSpPr>
          <p:cNvPr id="73" name="组合 72"/>
          <p:cNvGrpSpPr/>
          <p:nvPr/>
        </p:nvGrpSpPr>
        <p:grpSpPr>
          <a:xfrm>
            <a:off x="6586034" y="3573016"/>
            <a:ext cx="333491" cy="802541"/>
            <a:chOff x="6586034" y="3573016"/>
            <a:chExt cx="333491" cy="802541"/>
          </a:xfrm>
        </p:grpSpPr>
        <p:sp>
          <p:nvSpPr>
            <p:cNvPr id="51" name="矩形 50"/>
            <p:cNvSpPr/>
            <p:nvPr/>
          </p:nvSpPr>
          <p:spPr>
            <a:xfrm>
              <a:off x="6586034" y="3573016"/>
              <a:ext cx="308098" cy="400110"/>
            </a:xfrm>
            <a:prstGeom prst="rect">
              <a:avLst/>
            </a:prstGeom>
          </p:spPr>
          <p:txBody>
            <a:bodyPr wrap="none">
              <a:spAutoFit/>
            </a:bodyPr>
            <a:lstStyle/>
            <a:p>
              <a:r>
                <a:rPr lang="en-US" altLang="zh-CN" sz="2000" dirty="0"/>
                <a:t>x</a:t>
              </a:r>
              <a:endParaRPr lang="zh-CN" altLang="en-US" sz="2000" dirty="0"/>
            </a:p>
          </p:txBody>
        </p:sp>
        <p:sp>
          <p:nvSpPr>
            <p:cNvPr id="52" name="矩形 51"/>
            <p:cNvSpPr/>
            <p:nvPr/>
          </p:nvSpPr>
          <p:spPr>
            <a:xfrm>
              <a:off x="6605015" y="3975447"/>
              <a:ext cx="314510" cy="400110"/>
            </a:xfrm>
            <a:prstGeom prst="rect">
              <a:avLst/>
            </a:prstGeom>
          </p:spPr>
          <p:txBody>
            <a:bodyPr wrap="none">
              <a:spAutoFit/>
            </a:bodyPr>
            <a:lstStyle/>
            <a:p>
              <a:r>
                <a:rPr lang="en-US" altLang="zh-CN" sz="2000" dirty="0"/>
                <a:t>y</a:t>
              </a:r>
              <a:endParaRPr lang="zh-CN" altLang="en-US" sz="2000" dirty="0"/>
            </a:p>
          </p:txBody>
        </p:sp>
      </p:grpSp>
      <p:sp>
        <p:nvSpPr>
          <p:cNvPr id="53" name="矩形 52"/>
          <p:cNvSpPr/>
          <p:nvPr/>
        </p:nvSpPr>
        <p:spPr>
          <a:xfrm>
            <a:off x="7563744" y="3636088"/>
            <a:ext cx="312906" cy="369332"/>
          </a:xfrm>
          <a:prstGeom prst="rect">
            <a:avLst/>
          </a:prstGeom>
        </p:spPr>
        <p:txBody>
          <a:bodyPr wrap="none">
            <a:spAutoFit/>
          </a:bodyPr>
          <a:lstStyle/>
          <a:p>
            <a:r>
              <a:rPr lang="en-US" altLang="zh-CN" dirty="0"/>
              <a:t>1</a:t>
            </a:r>
            <a:endParaRPr lang="zh-CN" altLang="en-US" dirty="0"/>
          </a:p>
        </p:txBody>
      </p:sp>
      <p:sp>
        <p:nvSpPr>
          <p:cNvPr id="54" name="矩形 53"/>
          <p:cNvSpPr/>
          <p:nvPr/>
        </p:nvSpPr>
        <p:spPr>
          <a:xfrm>
            <a:off x="7571462" y="4067780"/>
            <a:ext cx="312906" cy="369332"/>
          </a:xfrm>
          <a:prstGeom prst="rect">
            <a:avLst/>
          </a:prstGeom>
        </p:spPr>
        <p:txBody>
          <a:bodyPr wrap="none">
            <a:spAutoFit/>
          </a:bodyPr>
          <a:lstStyle/>
          <a:p>
            <a:r>
              <a:rPr lang="en-US" altLang="zh-CN" dirty="0"/>
              <a:t>2</a:t>
            </a:r>
            <a:endParaRPr lang="zh-CN" altLang="en-US" dirty="0"/>
          </a:p>
        </p:txBody>
      </p:sp>
      <p:grpSp>
        <p:nvGrpSpPr>
          <p:cNvPr id="50" name="组合 49"/>
          <p:cNvGrpSpPr/>
          <p:nvPr/>
        </p:nvGrpSpPr>
        <p:grpSpPr>
          <a:xfrm>
            <a:off x="125" y="980517"/>
            <a:ext cx="179387" cy="4896755"/>
            <a:chOff x="125" y="980517"/>
            <a:chExt cx="179387" cy="4896755"/>
          </a:xfrm>
        </p:grpSpPr>
        <p:sp>
          <p:nvSpPr>
            <p:cNvPr id="44" name="矩形 43"/>
            <p:cNvSpPr/>
            <p:nvPr/>
          </p:nvSpPr>
          <p:spPr bwMode="auto">
            <a:xfrm>
              <a:off x="125" y="5696296"/>
              <a:ext cx="179387" cy="1809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1" name="等腰三角形 60"/>
            <p:cNvSpPr/>
            <p:nvPr/>
          </p:nvSpPr>
          <p:spPr bwMode="auto">
            <a:xfrm>
              <a:off x="35496" y="9805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3" name="组合 62"/>
          <p:cNvGrpSpPr/>
          <p:nvPr/>
        </p:nvGrpSpPr>
        <p:grpSpPr>
          <a:xfrm>
            <a:off x="125" y="943768"/>
            <a:ext cx="179387" cy="397000"/>
            <a:chOff x="-381" y="655736"/>
            <a:chExt cx="179387" cy="397000"/>
          </a:xfrm>
        </p:grpSpPr>
        <p:sp useBgFill="1">
          <p:nvSpPr>
            <p:cNvPr id="64" name="矩形 63"/>
            <p:cNvSpPr/>
            <p:nvPr/>
          </p:nvSpPr>
          <p:spPr bwMode="auto">
            <a:xfrm>
              <a:off x="-381" y="655736"/>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5" name="等腰三角形 64"/>
            <p:cNvSpPr/>
            <p:nvPr/>
          </p:nvSpPr>
          <p:spPr bwMode="auto">
            <a:xfrm>
              <a:off x="35496" y="9805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0" name="组合 59"/>
          <p:cNvGrpSpPr/>
          <p:nvPr/>
        </p:nvGrpSpPr>
        <p:grpSpPr>
          <a:xfrm>
            <a:off x="125" y="1231800"/>
            <a:ext cx="179387" cy="361952"/>
            <a:chOff x="125" y="1231800"/>
            <a:chExt cx="179387" cy="361952"/>
          </a:xfrm>
        </p:grpSpPr>
        <p:sp useBgFill="1">
          <p:nvSpPr>
            <p:cNvPr id="66" name="矩形 65"/>
            <p:cNvSpPr/>
            <p:nvPr/>
          </p:nvSpPr>
          <p:spPr bwMode="auto">
            <a:xfrm>
              <a:off x="125" y="123180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7" name="等腰三角形 66"/>
            <p:cNvSpPr/>
            <p:nvPr/>
          </p:nvSpPr>
          <p:spPr bwMode="auto">
            <a:xfrm>
              <a:off x="36002" y="1521533"/>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2" name="组合 61"/>
          <p:cNvGrpSpPr/>
          <p:nvPr/>
        </p:nvGrpSpPr>
        <p:grpSpPr>
          <a:xfrm>
            <a:off x="35496" y="1484784"/>
            <a:ext cx="179387" cy="361952"/>
            <a:chOff x="125" y="1231800"/>
            <a:chExt cx="179387" cy="361952"/>
          </a:xfrm>
        </p:grpSpPr>
        <p:sp useBgFill="1">
          <p:nvSpPr>
            <p:cNvPr id="68" name="矩形 67"/>
            <p:cNvSpPr/>
            <p:nvPr/>
          </p:nvSpPr>
          <p:spPr bwMode="auto">
            <a:xfrm>
              <a:off x="125" y="123180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2" name="等腰三角形 71"/>
            <p:cNvSpPr/>
            <p:nvPr/>
          </p:nvSpPr>
          <p:spPr bwMode="auto">
            <a:xfrm>
              <a:off x="36002" y="1521533"/>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 name="组合 2"/>
          <p:cNvGrpSpPr/>
          <p:nvPr/>
        </p:nvGrpSpPr>
        <p:grpSpPr>
          <a:xfrm>
            <a:off x="6372200" y="2276872"/>
            <a:ext cx="593432" cy="1234589"/>
            <a:chOff x="6372200" y="2276872"/>
            <a:chExt cx="593432" cy="1234589"/>
          </a:xfrm>
        </p:grpSpPr>
        <p:grpSp>
          <p:nvGrpSpPr>
            <p:cNvPr id="74" name="组合 73"/>
            <p:cNvGrpSpPr/>
            <p:nvPr/>
          </p:nvGrpSpPr>
          <p:grpSpPr>
            <a:xfrm>
              <a:off x="6433634" y="2708920"/>
              <a:ext cx="463333" cy="802541"/>
              <a:chOff x="6433634" y="2708920"/>
              <a:chExt cx="463333" cy="802541"/>
            </a:xfrm>
          </p:grpSpPr>
          <p:sp>
            <p:nvSpPr>
              <p:cNvPr id="42" name="矩形 41"/>
              <p:cNvSpPr/>
              <p:nvPr/>
            </p:nvSpPr>
            <p:spPr>
              <a:xfrm>
                <a:off x="6433634" y="2708920"/>
                <a:ext cx="431528" cy="400110"/>
              </a:xfrm>
              <a:prstGeom prst="rect">
                <a:avLst/>
              </a:prstGeom>
            </p:spPr>
            <p:txBody>
              <a:bodyPr wrap="none">
                <a:spAutoFit/>
              </a:bodyPr>
              <a:lstStyle/>
              <a:p>
                <a:r>
                  <a:rPr lang="en-US" altLang="zh-CN" sz="2000" dirty="0"/>
                  <a:t>xx</a:t>
                </a:r>
                <a:endParaRPr lang="zh-CN" altLang="en-US" sz="2000" dirty="0"/>
              </a:p>
            </p:txBody>
          </p:sp>
          <p:sp>
            <p:nvSpPr>
              <p:cNvPr id="47" name="矩形 46"/>
              <p:cNvSpPr/>
              <p:nvPr/>
            </p:nvSpPr>
            <p:spPr>
              <a:xfrm>
                <a:off x="6452615" y="3111351"/>
                <a:ext cx="444352" cy="400110"/>
              </a:xfrm>
              <a:prstGeom prst="rect">
                <a:avLst/>
              </a:prstGeom>
            </p:spPr>
            <p:txBody>
              <a:bodyPr wrap="none">
                <a:spAutoFit/>
              </a:bodyPr>
              <a:lstStyle/>
              <a:p>
                <a:r>
                  <a:rPr lang="en-US" altLang="zh-CN" sz="2000" dirty="0" err="1"/>
                  <a:t>yy</a:t>
                </a:r>
                <a:endParaRPr lang="zh-CN" altLang="en-US" sz="2000" dirty="0"/>
              </a:p>
            </p:txBody>
          </p:sp>
        </p:grpSp>
        <p:sp>
          <p:nvSpPr>
            <p:cNvPr id="75" name="矩形 74"/>
            <p:cNvSpPr/>
            <p:nvPr/>
          </p:nvSpPr>
          <p:spPr>
            <a:xfrm>
              <a:off x="6372200" y="2276872"/>
              <a:ext cx="593432" cy="400110"/>
            </a:xfrm>
            <a:prstGeom prst="rect">
              <a:avLst/>
            </a:prstGeom>
          </p:spPr>
          <p:txBody>
            <a:bodyPr wrap="none">
              <a:spAutoFit/>
            </a:bodyPr>
            <a:lstStyle/>
            <a:p>
              <a:r>
                <a:rPr lang="en-US" altLang="zh-CN" sz="2000" dirty="0"/>
                <a:t>this</a:t>
              </a:r>
              <a:endParaRPr lang="zh-CN" altLang="en-US" sz="2000" dirty="0"/>
            </a:p>
          </p:txBody>
        </p:sp>
      </p:grpSp>
      <p:sp>
        <p:nvSpPr>
          <p:cNvPr id="2" name="矩形 1"/>
          <p:cNvSpPr/>
          <p:nvPr/>
        </p:nvSpPr>
        <p:spPr>
          <a:xfrm>
            <a:off x="5343333" y="3635732"/>
            <a:ext cx="1316899" cy="369332"/>
          </a:xfrm>
          <a:prstGeom prst="rect">
            <a:avLst/>
          </a:prstGeom>
        </p:spPr>
        <p:txBody>
          <a:bodyPr wrap="none">
            <a:spAutoFit/>
          </a:bodyPr>
          <a:lstStyle/>
          <a:p>
            <a:r>
              <a:rPr lang="en-US" altLang="zh-CN" dirty="0">
                <a:solidFill>
                  <a:srgbClr val="FF0000"/>
                </a:solidFill>
              </a:rPr>
              <a:t>0x0048faf8</a:t>
            </a:r>
            <a:endParaRPr lang="zh-CN" altLang="en-US" dirty="0">
              <a:solidFill>
                <a:srgbClr val="FF0000"/>
              </a:solidFill>
            </a:endParaRPr>
          </a:p>
        </p:txBody>
      </p:sp>
      <p:grpSp>
        <p:nvGrpSpPr>
          <p:cNvPr id="4" name="组合 3"/>
          <p:cNvGrpSpPr/>
          <p:nvPr/>
        </p:nvGrpSpPr>
        <p:grpSpPr>
          <a:xfrm>
            <a:off x="7092280" y="2276872"/>
            <a:ext cx="1316899" cy="1303114"/>
            <a:chOff x="7092280" y="2276872"/>
            <a:chExt cx="1316899" cy="1303114"/>
          </a:xfrm>
        </p:grpSpPr>
        <p:grpSp>
          <p:nvGrpSpPr>
            <p:cNvPr id="76" name="组合 75"/>
            <p:cNvGrpSpPr/>
            <p:nvPr/>
          </p:nvGrpSpPr>
          <p:grpSpPr>
            <a:xfrm>
              <a:off x="7563744" y="2778962"/>
              <a:ext cx="320624" cy="801024"/>
              <a:chOff x="7563744" y="2778962"/>
              <a:chExt cx="320624" cy="801024"/>
            </a:xfrm>
          </p:grpSpPr>
          <p:sp>
            <p:nvSpPr>
              <p:cNvPr id="45" name="矩形 44"/>
              <p:cNvSpPr/>
              <p:nvPr/>
            </p:nvSpPr>
            <p:spPr>
              <a:xfrm>
                <a:off x="7563744" y="2778962"/>
                <a:ext cx="312906" cy="369332"/>
              </a:xfrm>
              <a:prstGeom prst="rect">
                <a:avLst/>
              </a:prstGeom>
            </p:spPr>
            <p:txBody>
              <a:bodyPr wrap="none">
                <a:spAutoFit/>
              </a:bodyPr>
              <a:lstStyle/>
              <a:p>
                <a:r>
                  <a:rPr lang="en-US" altLang="zh-CN" dirty="0"/>
                  <a:t>1</a:t>
                </a:r>
                <a:endParaRPr lang="zh-CN" altLang="en-US" dirty="0"/>
              </a:p>
            </p:txBody>
          </p:sp>
          <p:sp>
            <p:nvSpPr>
              <p:cNvPr id="48" name="矩形 47"/>
              <p:cNvSpPr/>
              <p:nvPr/>
            </p:nvSpPr>
            <p:spPr>
              <a:xfrm>
                <a:off x="7571462" y="3210654"/>
                <a:ext cx="312906" cy="369332"/>
              </a:xfrm>
              <a:prstGeom prst="rect">
                <a:avLst/>
              </a:prstGeom>
            </p:spPr>
            <p:txBody>
              <a:bodyPr wrap="none">
                <a:spAutoFit/>
              </a:bodyPr>
              <a:lstStyle/>
              <a:p>
                <a:r>
                  <a:rPr lang="en-US" altLang="zh-CN" dirty="0"/>
                  <a:t>2</a:t>
                </a:r>
                <a:endParaRPr lang="zh-CN" altLang="en-US" dirty="0"/>
              </a:p>
            </p:txBody>
          </p:sp>
        </p:grpSp>
        <p:sp>
          <p:nvSpPr>
            <p:cNvPr id="78" name="矩形 77"/>
            <p:cNvSpPr/>
            <p:nvPr/>
          </p:nvSpPr>
          <p:spPr>
            <a:xfrm>
              <a:off x="7092280" y="2276872"/>
              <a:ext cx="1316899" cy="369332"/>
            </a:xfrm>
            <a:prstGeom prst="rect">
              <a:avLst/>
            </a:prstGeom>
          </p:spPr>
          <p:txBody>
            <a:bodyPr wrap="none">
              <a:spAutoFit/>
            </a:bodyPr>
            <a:lstStyle/>
            <a:p>
              <a:r>
                <a:rPr lang="en-US" altLang="zh-CN" dirty="0"/>
                <a:t>0x0048faf8</a:t>
              </a:r>
              <a:endParaRPr lang="zh-CN" altLang="en-US" dirty="0"/>
            </a:p>
          </p:txBody>
        </p:sp>
      </p:grpSp>
      <p:grpSp>
        <p:nvGrpSpPr>
          <p:cNvPr id="5" name="组合 4"/>
          <p:cNvGrpSpPr/>
          <p:nvPr/>
        </p:nvGrpSpPr>
        <p:grpSpPr>
          <a:xfrm>
            <a:off x="35496" y="1735856"/>
            <a:ext cx="8421260" cy="4322392"/>
            <a:chOff x="4355817" y="1735856"/>
            <a:chExt cx="8421260" cy="4322392"/>
          </a:xfrm>
        </p:grpSpPr>
        <p:grpSp>
          <p:nvGrpSpPr>
            <p:cNvPr id="77" name="组合 76"/>
            <p:cNvGrpSpPr/>
            <p:nvPr/>
          </p:nvGrpSpPr>
          <p:grpSpPr>
            <a:xfrm>
              <a:off x="4355817" y="1735856"/>
              <a:ext cx="7849031" cy="4322392"/>
              <a:chOff x="125" y="1735856"/>
              <a:chExt cx="7849031" cy="4322392"/>
            </a:xfrm>
          </p:grpSpPr>
          <p:grpSp>
            <p:nvGrpSpPr>
              <p:cNvPr id="49" name="组合 48"/>
              <p:cNvGrpSpPr/>
              <p:nvPr/>
            </p:nvGrpSpPr>
            <p:grpSpPr>
              <a:xfrm>
                <a:off x="5256709" y="2276872"/>
                <a:ext cx="2592447" cy="1296144"/>
                <a:chOff x="9612401" y="2283842"/>
                <a:chExt cx="2592447" cy="1296144"/>
              </a:xfrm>
            </p:grpSpPr>
            <p:sp useBgFill="1">
              <p:nvSpPr>
                <p:cNvPr id="55" name="矩形 54"/>
                <p:cNvSpPr/>
                <p:nvPr/>
              </p:nvSpPr>
              <p:spPr>
                <a:xfrm>
                  <a:off x="9612401" y="2283842"/>
                  <a:ext cx="745717" cy="400110"/>
                </a:xfrm>
                <a:prstGeom prst="rect">
                  <a:avLst/>
                </a:prstGeom>
              </p:spPr>
              <p:txBody>
                <a:bodyPr wrap="none">
                  <a:spAutoFit/>
                </a:bodyPr>
                <a:lstStyle/>
                <a:p>
                  <a:r>
                    <a:rPr lang="en-US" altLang="zh-CN" sz="2000" dirty="0"/>
                    <a:t>          </a:t>
                  </a:r>
                  <a:endParaRPr lang="zh-CN" altLang="en-US" sz="2000" dirty="0"/>
                </a:p>
              </p:txBody>
            </p:sp>
            <p:sp useBgFill="1">
              <p:nvSpPr>
                <p:cNvPr id="56" name="矩形 55"/>
                <p:cNvSpPr/>
                <p:nvPr/>
              </p:nvSpPr>
              <p:spPr>
                <a:xfrm>
                  <a:off x="10831058" y="2708920"/>
                  <a:ext cx="386644" cy="461665"/>
                </a:xfrm>
                <a:prstGeom prst="rect">
                  <a:avLst/>
                </a:prstGeom>
              </p:spPr>
              <p:txBody>
                <a:bodyPr wrap="none">
                  <a:spAutoFit/>
                </a:bodyPr>
                <a:lstStyle/>
                <a:p>
                  <a:r>
                    <a:rPr lang="en-US" altLang="zh-CN" sz="2400" dirty="0"/>
                    <a:t>   </a:t>
                  </a:r>
                  <a:endParaRPr lang="zh-CN" altLang="en-US" sz="2400" dirty="0"/>
                </a:p>
              </p:txBody>
            </p:sp>
            <p:sp useBgFill="1">
              <p:nvSpPr>
                <p:cNvPr id="57" name="矩形 56"/>
                <p:cNvSpPr/>
                <p:nvPr/>
              </p:nvSpPr>
              <p:spPr>
                <a:xfrm>
                  <a:off x="10850039" y="3111351"/>
                  <a:ext cx="386644" cy="461665"/>
                </a:xfrm>
                <a:prstGeom prst="rect">
                  <a:avLst/>
                </a:prstGeom>
              </p:spPr>
              <p:txBody>
                <a:bodyPr wrap="none">
                  <a:spAutoFit/>
                </a:bodyPr>
                <a:lstStyle/>
                <a:p>
                  <a:r>
                    <a:rPr lang="en-US" altLang="zh-CN" sz="2400" dirty="0"/>
                    <a:t>   </a:t>
                  </a:r>
                  <a:endParaRPr lang="zh-CN" altLang="en-US" sz="2400" dirty="0"/>
                </a:p>
              </p:txBody>
            </p:sp>
            <p:sp useBgFill="1">
              <p:nvSpPr>
                <p:cNvPr id="58" name="矩形 57"/>
                <p:cNvSpPr/>
                <p:nvPr/>
              </p:nvSpPr>
              <p:spPr>
                <a:xfrm>
                  <a:off x="11961168" y="2778962"/>
                  <a:ext cx="235962" cy="369332"/>
                </a:xfrm>
                <a:prstGeom prst="rect">
                  <a:avLst/>
                </a:prstGeom>
              </p:spPr>
              <p:txBody>
                <a:bodyPr wrap="none">
                  <a:spAutoFit/>
                </a:bodyPr>
                <a:lstStyle/>
                <a:p>
                  <a:r>
                    <a:rPr lang="en-US" altLang="zh-CN" dirty="0"/>
                    <a:t> </a:t>
                  </a:r>
                  <a:endParaRPr lang="zh-CN" altLang="en-US" dirty="0"/>
                </a:p>
              </p:txBody>
            </p:sp>
            <p:sp useBgFill="1">
              <p:nvSpPr>
                <p:cNvPr id="59" name="矩形 58"/>
                <p:cNvSpPr/>
                <p:nvPr/>
              </p:nvSpPr>
              <p:spPr>
                <a:xfrm>
                  <a:off x="11968886" y="3210654"/>
                  <a:ext cx="235962" cy="369332"/>
                </a:xfrm>
                <a:prstGeom prst="rect">
                  <a:avLst/>
                </a:prstGeom>
              </p:spPr>
              <p:txBody>
                <a:bodyPr wrap="none">
                  <a:spAutoFit/>
                </a:bodyPr>
                <a:lstStyle/>
                <a:p>
                  <a:r>
                    <a:rPr lang="en-US" altLang="zh-CN" dirty="0"/>
                    <a:t> </a:t>
                  </a:r>
                  <a:endParaRPr lang="zh-CN" altLang="en-US" dirty="0"/>
                </a:p>
              </p:txBody>
            </p:sp>
          </p:grpSp>
          <p:grpSp>
            <p:nvGrpSpPr>
              <p:cNvPr id="69" name="组合 68"/>
              <p:cNvGrpSpPr/>
              <p:nvPr/>
            </p:nvGrpSpPr>
            <p:grpSpPr>
              <a:xfrm>
                <a:off x="125" y="1735856"/>
                <a:ext cx="179387" cy="4322392"/>
                <a:chOff x="253292" y="-2728640"/>
                <a:chExt cx="179387" cy="4322392"/>
              </a:xfrm>
            </p:grpSpPr>
            <p:sp useBgFill="1">
              <p:nvSpPr>
                <p:cNvPr id="70" name="矩形 69"/>
                <p:cNvSpPr/>
                <p:nvPr/>
              </p:nvSpPr>
              <p:spPr bwMode="auto">
                <a:xfrm>
                  <a:off x="253292" y="-272864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1" name="等腰三角形 70"/>
                <p:cNvSpPr/>
                <p:nvPr/>
              </p:nvSpPr>
              <p:spPr bwMode="auto">
                <a:xfrm>
                  <a:off x="289169" y="1521533"/>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useBgFill="1">
          <p:nvSpPr>
            <p:cNvPr id="79" name="矩形 78"/>
            <p:cNvSpPr/>
            <p:nvPr/>
          </p:nvSpPr>
          <p:spPr>
            <a:xfrm>
              <a:off x="11412601" y="2339588"/>
              <a:ext cx="1364476" cy="369332"/>
            </a:xfrm>
            <a:prstGeom prst="rect">
              <a:avLst/>
            </a:prstGeom>
          </p:spPr>
          <p:txBody>
            <a:bodyPr wrap="none">
              <a:spAutoFit/>
            </a:bodyPr>
            <a:lstStyle/>
            <a:p>
              <a:r>
                <a:rPr lang="en-US" altLang="zh-CN" dirty="0"/>
                <a:t>                       </a:t>
              </a:r>
              <a:endParaRPr lang="zh-CN" altLang="en-US" dirty="0"/>
            </a:p>
          </p:txBody>
        </p:sp>
        <p:sp useBgFill="1">
          <p:nvSpPr>
            <p:cNvPr id="80" name="矩形 79"/>
            <p:cNvSpPr/>
            <p:nvPr/>
          </p:nvSpPr>
          <p:spPr>
            <a:xfrm>
              <a:off x="10747320" y="2276872"/>
              <a:ext cx="521297" cy="400110"/>
            </a:xfrm>
            <a:prstGeom prst="rect">
              <a:avLst/>
            </a:prstGeom>
          </p:spPr>
          <p:txBody>
            <a:bodyPr wrap="none">
              <a:spAutoFit/>
            </a:bodyPr>
            <a:lstStyle/>
            <a:p>
              <a:r>
                <a:rPr lang="en-US" altLang="zh-CN" sz="2000" dirty="0"/>
                <a:t>      </a:t>
              </a:r>
              <a:endParaRPr lang="zh-CN" altLang="en-US" sz="2000" dirty="0"/>
            </a:p>
          </p:txBody>
        </p:sp>
      </p:grpSp>
      <p:grpSp>
        <p:nvGrpSpPr>
          <p:cNvPr id="6" name="组合 5"/>
          <p:cNvGrpSpPr/>
          <p:nvPr/>
        </p:nvGrpSpPr>
        <p:grpSpPr>
          <a:xfrm>
            <a:off x="72133" y="4615965"/>
            <a:ext cx="179387" cy="1477331"/>
            <a:chOff x="-1548680" y="4580917"/>
            <a:chExt cx="179387" cy="1477331"/>
          </a:xfrm>
        </p:grpSpPr>
        <p:sp useBgFill="1">
          <p:nvSpPr>
            <p:cNvPr id="81" name="矩形 80"/>
            <p:cNvSpPr/>
            <p:nvPr/>
          </p:nvSpPr>
          <p:spPr bwMode="auto">
            <a:xfrm>
              <a:off x="-1548680" y="5877272"/>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等腰三角形 81"/>
            <p:cNvSpPr/>
            <p:nvPr/>
          </p:nvSpPr>
          <p:spPr bwMode="auto">
            <a:xfrm>
              <a:off x="-1548174" y="45809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8" name="矩形 7"/>
          <p:cNvSpPr/>
          <p:nvPr/>
        </p:nvSpPr>
        <p:spPr>
          <a:xfrm>
            <a:off x="4283968" y="2708920"/>
            <a:ext cx="688009" cy="400110"/>
          </a:xfrm>
          <a:prstGeom prst="rect">
            <a:avLst/>
          </a:prstGeom>
        </p:spPr>
        <p:txBody>
          <a:bodyPr wrap="none">
            <a:spAutoFit/>
          </a:bodyPr>
          <a:lstStyle/>
          <a:p>
            <a:r>
              <a:rPr lang="en-US" altLang="zh-CN" sz="2000" dirty="0"/>
              <a:t>fun1</a:t>
            </a:r>
            <a:endParaRPr lang="zh-CN" altLang="en-US" sz="2000" dirty="0"/>
          </a:p>
        </p:txBody>
      </p:sp>
      <p:sp>
        <p:nvSpPr>
          <p:cNvPr id="9" name="矩形 8"/>
          <p:cNvSpPr/>
          <p:nvPr/>
        </p:nvSpPr>
        <p:spPr>
          <a:xfrm>
            <a:off x="5148064" y="2708920"/>
            <a:ext cx="327334" cy="400110"/>
          </a:xfrm>
          <a:prstGeom prst="rect">
            <a:avLst/>
          </a:prstGeom>
        </p:spPr>
        <p:txBody>
          <a:bodyPr wrap="none">
            <a:spAutoFit/>
          </a:bodyPr>
          <a:lstStyle/>
          <a:p>
            <a:r>
              <a:rPr lang="en-US" altLang="zh-CN" sz="2000" dirty="0"/>
              <a:t>p</a:t>
            </a:r>
            <a:endParaRPr lang="zh-CN" altLang="en-US" sz="2000" dirty="0"/>
          </a:p>
        </p:txBody>
      </p:sp>
      <p:grpSp>
        <p:nvGrpSpPr>
          <p:cNvPr id="83" name="组合 82"/>
          <p:cNvGrpSpPr/>
          <p:nvPr/>
        </p:nvGrpSpPr>
        <p:grpSpPr>
          <a:xfrm>
            <a:off x="6588224" y="2708920"/>
            <a:ext cx="333491" cy="802541"/>
            <a:chOff x="6586034" y="3573016"/>
            <a:chExt cx="333491" cy="802541"/>
          </a:xfrm>
        </p:grpSpPr>
        <p:sp>
          <p:nvSpPr>
            <p:cNvPr id="84" name="矩形 83"/>
            <p:cNvSpPr/>
            <p:nvPr/>
          </p:nvSpPr>
          <p:spPr>
            <a:xfrm>
              <a:off x="6586034" y="3573016"/>
              <a:ext cx="308098" cy="400110"/>
            </a:xfrm>
            <a:prstGeom prst="rect">
              <a:avLst/>
            </a:prstGeom>
          </p:spPr>
          <p:txBody>
            <a:bodyPr wrap="none">
              <a:spAutoFit/>
            </a:bodyPr>
            <a:lstStyle/>
            <a:p>
              <a:r>
                <a:rPr lang="en-US" altLang="zh-CN" sz="2000" dirty="0"/>
                <a:t>x</a:t>
              </a:r>
              <a:endParaRPr lang="zh-CN" altLang="en-US" sz="2000" dirty="0"/>
            </a:p>
          </p:txBody>
        </p:sp>
        <p:sp>
          <p:nvSpPr>
            <p:cNvPr id="85" name="矩形 84"/>
            <p:cNvSpPr/>
            <p:nvPr/>
          </p:nvSpPr>
          <p:spPr>
            <a:xfrm>
              <a:off x="6605015" y="3975447"/>
              <a:ext cx="314510" cy="400110"/>
            </a:xfrm>
            <a:prstGeom prst="rect">
              <a:avLst/>
            </a:prstGeom>
          </p:spPr>
          <p:txBody>
            <a:bodyPr wrap="none">
              <a:spAutoFit/>
            </a:bodyPr>
            <a:lstStyle/>
            <a:p>
              <a:r>
                <a:rPr lang="en-US" altLang="zh-CN" sz="2000" dirty="0"/>
                <a:t>y</a:t>
              </a:r>
              <a:endParaRPr lang="zh-CN" altLang="en-US" sz="2000" dirty="0"/>
            </a:p>
          </p:txBody>
        </p:sp>
      </p:grpSp>
      <p:grpSp>
        <p:nvGrpSpPr>
          <p:cNvPr id="87" name="组合 86"/>
          <p:cNvGrpSpPr/>
          <p:nvPr/>
        </p:nvGrpSpPr>
        <p:grpSpPr>
          <a:xfrm>
            <a:off x="72133" y="2132856"/>
            <a:ext cx="179387" cy="2629248"/>
            <a:chOff x="-1548680" y="4580917"/>
            <a:chExt cx="179387" cy="2629248"/>
          </a:xfrm>
        </p:grpSpPr>
        <p:sp useBgFill="1">
          <p:nvSpPr>
            <p:cNvPr id="88" name="矩形 87"/>
            <p:cNvSpPr/>
            <p:nvPr/>
          </p:nvSpPr>
          <p:spPr bwMode="auto">
            <a:xfrm>
              <a:off x="-1548680" y="7029189"/>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9" name="等腰三角形 88"/>
            <p:cNvSpPr/>
            <p:nvPr/>
          </p:nvSpPr>
          <p:spPr bwMode="auto">
            <a:xfrm>
              <a:off x="-1548174" y="45809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86" name="矩形 85"/>
          <p:cNvSpPr/>
          <p:nvPr/>
        </p:nvSpPr>
        <p:spPr>
          <a:xfrm>
            <a:off x="5357633" y="2735991"/>
            <a:ext cx="1374607" cy="369332"/>
          </a:xfrm>
          <a:prstGeom prst="rect">
            <a:avLst/>
          </a:prstGeom>
        </p:spPr>
        <p:txBody>
          <a:bodyPr wrap="none">
            <a:spAutoFit/>
          </a:bodyPr>
          <a:lstStyle/>
          <a:p>
            <a:r>
              <a:rPr lang="en-US" altLang="zh-CN" dirty="0">
                <a:solidFill>
                  <a:srgbClr val="FF0000"/>
                </a:solidFill>
              </a:rPr>
              <a:t>0x0048fa14</a:t>
            </a:r>
            <a:endParaRPr lang="zh-CN" altLang="en-US" dirty="0">
              <a:solidFill>
                <a:srgbClr val="FF0000"/>
              </a:solidFill>
            </a:endParaRPr>
          </a:p>
        </p:txBody>
      </p:sp>
      <p:grpSp>
        <p:nvGrpSpPr>
          <p:cNvPr id="90" name="组合 89"/>
          <p:cNvGrpSpPr/>
          <p:nvPr/>
        </p:nvGrpSpPr>
        <p:grpSpPr>
          <a:xfrm>
            <a:off x="1547664" y="4797152"/>
            <a:ext cx="1944216" cy="1170608"/>
            <a:chOff x="2267744" y="3831432"/>
            <a:chExt cx="1944216" cy="1170608"/>
          </a:xfrm>
        </p:grpSpPr>
        <p:sp>
          <p:nvSpPr>
            <p:cNvPr id="93" name="矩形 92"/>
            <p:cNvSpPr/>
            <p:nvPr/>
          </p:nvSpPr>
          <p:spPr>
            <a:xfrm>
              <a:off x="2776952" y="4263480"/>
              <a:ext cx="1435008" cy="338554"/>
            </a:xfrm>
            <a:prstGeom prst="rect">
              <a:avLst/>
            </a:prstGeom>
            <a:solidFill>
              <a:schemeClr val="bg2">
                <a:lumMod val="90000"/>
              </a:schemeClr>
            </a:solidFill>
          </p:spPr>
          <p:txBody>
            <a:bodyPr wrap="none">
              <a:spAutoFit/>
            </a:bodyPr>
            <a:lstStyle/>
            <a:p>
              <a:r>
                <a:rPr lang="en-US" altLang="zh-CN" sz="1600" b="1" dirty="0">
                  <a:solidFill>
                    <a:srgbClr val="C00000"/>
                  </a:solidFill>
                  <a:latin typeface="宋体" charset="-122"/>
                </a:rPr>
                <a:t>Point p(a); </a:t>
              </a:r>
              <a:endParaRPr lang="zh-CN" altLang="en-US" sz="1600" b="1" dirty="0">
                <a:solidFill>
                  <a:srgbClr val="C00000"/>
                </a:solidFill>
              </a:endParaRPr>
            </a:p>
          </p:txBody>
        </p:sp>
        <p:cxnSp>
          <p:nvCxnSpPr>
            <p:cNvPr id="92" name="直接箭头连接符 91"/>
            <p:cNvCxnSpPr/>
            <p:nvPr/>
          </p:nvCxnSpPr>
          <p:spPr>
            <a:xfrm flipV="1">
              <a:off x="2267744" y="3831432"/>
              <a:ext cx="792088" cy="117060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4219724" y="2236802"/>
            <a:ext cx="761812" cy="400110"/>
          </a:xfrm>
          <a:prstGeom prst="rect">
            <a:avLst/>
          </a:prstGeom>
        </p:spPr>
        <p:txBody>
          <a:bodyPr wrap="none">
            <a:spAutoFit/>
          </a:bodyPr>
          <a:lstStyle/>
          <a:p>
            <a:r>
              <a:rPr lang="en-US" altLang="zh-CN" sz="2000" dirty="0"/>
              <a:t>Point</a:t>
            </a:r>
            <a:endParaRPr lang="zh-CN" altLang="en-US" sz="2000" dirty="0"/>
          </a:p>
        </p:txBody>
      </p:sp>
      <p:sp>
        <p:nvSpPr>
          <p:cNvPr id="95" name="矩形 94"/>
          <p:cNvSpPr/>
          <p:nvPr/>
        </p:nvSpPr>
        <p:spPr>
          <a:xfrm>
            <a:off x="6444208" y="2276872"/>
            <a:ext cx="593432" cy="400110"/>
          </a:xfrm>
          <a:prstGeom prst="rect">
            <a:avLst/>
          </a:prstGeom>
        </p:spPr>
        <p:txBody>
          <a:bodyPr wrap="none">
            <a:spAutoFit/>
          </a:bodyPr>
          <a:lstStyle/>
          <a:p>
            <a:r>
              <a:rPr lang="en-US" altLang="zh-CN" sz="2000" dirty="0"/>
              <a:t>this</a:t>
            </a:r>
            <a:endParaRPr lang="zh-CN" altLang="en-US" sz="2000" dirty="0"/>
          </a:p>
        </p:txBody>
      </p:sp>
      <p:sp>
        <p:nvSpPr>
          <p:cNvPr id="96" name="矩形 95"/>
          <p:cNvSpPr/>
          <p:nvPr/>
        </p:nvSpPr>
        <p:spPr>
          <a:xfrm>
            <a:off x="7092280" y="2276872"/>
            <a:ext cx="1374607" cy="369332"/>
          </a:xfrm>
          <a:prstGeom prst="rect">
            <a:avLst/>
          </a:prstGeom>
        </p:spPr>
        <p:txBody>
          <a:bodyPr wrap="none">
            <a:spAutoFit/>
          </a:bodyPr>
          <a:lstStyle/>
          <a:p>
            <a:r>
              <a:rPr lang="en-US" altLang="zh-CN" dirty="0"/>
              <a:t>0x0048fa14</a:t>
            </a:r>
            <a:endParaRPr lang="zh-CN" altLang="en-US" dirty="0"/>
          </a:p>
        </p:txBody>
      </p:sp>
      <p:grpSp>
        <p:nvGrpSpPr>
          <p:cNvPr id="97" name="组合 96"/>
          <p:cNvGrpSpPr/>
          <p:nvPr/>
        </p:nvGrpSpPr>
        <p:grpSpPr>
          <a:xfrm>
            <a:off x="72133" y="2095896"/>
            <a:ext cx="179387" cy="360251"/>
            <a:chOff x="-1548680" y="4292885"/>
            <a:chExt cx="179387" cy="360251"/>
          </a:xfrm>
        </p:grpSpPr>
        <p:sp useBgFill="1">
          <p:nvSpPr>
            <p:cNvPr id="98" name="矩形 97"/>
            <p:cNvSpPr/>
            <p:nvPr/>
          </p:nvSpPr>
          <p:spPr bwMode="auto">
            <a:xfrm>
              <a:off x="-1548680" y="4292885"/>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9" name="等腰三角形 98"/>
            <p:cNvSpPr/>
            <p:nvPr/>
          </p:nvSpPr>
          <p:spPr bwMode="auto">
            <a:xfrm>
              <a:off x="-1548174" y="45809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00" name="矩形 99"/>
          <p:cNvSpPr/>
          <p:nvPr/>
        </p:nvSpPr>
        <p:spPr>
          <a:xfrm>
            <a:off x="7596336" y="2771636"/>
            <a:ext cx="312906" cy="369332"/>
          </a:xfrm>
          <a:prstGeom prst="rect">
            <a:avLst/>
          </a:prstGeom>
        </p:spPr>
        <p:txBody>
          <a:bodyPr wrap="none">
            <a:spAutoFit/>
          </a:bodyPr>
          <a:lstStyle/>
          <a:p>
            <a:r>
              <a:rPr lang="en-US" altLang="zh-CN" dirty="0"/>
              <a:t>1</a:t>
            </a:r>
            <a:endParaRPr lang="zh-CN" altLang="en-US" dirty="0"/>
          </a:p>
        </p:txBody>
      </p:sp>
      <p:grpSp>
        <p:nvGrpSpPr>
          <p:cNvPr id="101" name="组合 100"/>
          <p:cNvGrpSpPr/>
          <p:nvPr/>
        </p:nvGrpSpPr>
        <p:grpSpPr>
          <a:xfrm>
            <a:off x="72133" y="2348880"/>
            <a:ext cx="179387" cy="395299"/>
            <a:chOff x="-1548680" y="4257837"/>
            <a:chExt cx="179387" cy="395299"/>
          </a:xfrm>
        </p:grpSpPr>
        <p:sp useBgFill="1">
          <p:nvSpPr>
            <p:cNvPr id="102" name="矩形 101"/>
            <p:cNvSpPr/>
            <p:nvPr/>
          </p:nvSpPr>
          <p:spPr bwMode="auto">
            <a:xfrm>
              <a:off x="-1548680" y="4257837"/>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3" name="等腰三角形 102"/>
            <p:cNvSpPr/>
            <p:nvPr/>
          </p:nvSpPr>
          <p:spPr bwMode="auto">
            <a:xfrm>
              <a:off x="-1548174" y="45809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04" name="矩形 103"/>
          <p:cNvSpPr/>
          <p:nvPr/>
        </p:nvSpPr>
        <p:spPr>
          <a:xfrm>
            <a:off x="7571462" y="3203684"/>
            <a:ext cx="312906" cy="369332"/>
          </a:xfrm>
          <a:prstGeom prst="rect">
            <a:avLst/>
          </a:prstGeom>
        </p:spPr>
        <p:txBody>
          <a:bodyPr wrap="none">
            <a:spAutoFit/>
          </a:bodyPr>
          <a:lstStyle/>
          <a:p>
            <a:r>
              <a:rPr lang="en-US" altLang="zh-CN" dirty="0"/>
              <a:t>2</a:t>
            </a:r>
            <a:endParaRPr lang="zh-CN" altLang="en-US" dirty="0"/>
          </a:p>
        </p:txBody>
      </p:sp>
      <p:grpSp>
        <p:nvGrpSpPr>
          <p:cNvPr id="105" name="组合 104"/>
          <p:cNvGrpSpPr/>
          <p:nvPr/>
        </p:nvGrpSpPr>
        <p:grpSpPr>
          <a:xfrm>
            <a:off x="72133" y="2601653"/>
            <a:ext cx="179387" cy="395299"/>
            <a:chOff x="-1548680" y="4257837"/>
            <a:chExt cx="179387" cy="395299"/>
          </a:xfrm>
        </p:grpSpPr>
        <p:sp useBgFill="1">
          <p:nvSpPr>
            <p:cNvPr id="106" name="矩形 105"/>
            <p:cNvSpPr/>
            <p:nvPr/>
          </p:nvSpPr>
          <p:spPr bwMode="auto">
            <a:xfrm>
              <a:off x="-1548680" y="4257837"/>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等腰三角形 106"/>
            <p:cNvSpPr/>
            <p:nvPr/>
          </p:nvSpPr>
          <p:spPr bwMode="auto">
            <a:xfrm>
              <a:off x="-1548174" y="4580917"/>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4" name="矩形 13"/>
          <p:cNvSpPr/>
          <p:nvPr/>
        </p:nvSpPr>
        <p:spPr>
          <a:xfrm>
            <a:off x="5004048" y="3604954"/>
            <a:ext cx="277640" cy="400110"/>
          </a:xfrm>
          <a:prstGeom prst="rect">
            <a:avLst/>
          </a:prstGeom>
        </p:spPr>
        <p:txBody>
          <a:bodyPr wrap="none">
            <a:spAutoFit/>
          </a:bodyPr>
          <a:lstStyle/>
          <a:p>
            <a:r>
              <a:rPr lang="en-US" altLang="zh-CN" sz="2000" b="1" dirty="0">
                <a:solidFill>
                  <a:schemeClr val="tx2">
                    <a:lumMod val="75000"/>
                    <a:lumOff val="25000"/>
                  </a:schemeClr>
                </a:solidFill>
              </a:rPr>
              <a:t>t</a:t>
            </a:r>
            <a:endParaRPr lang="zh-CN" altLang="en-US" sz="2000" b="1" dirty="0">
              <a:solidFill>
                <a:schemeClr val="tx2">
                  <a:lumMod val="75000"/>
                  <a:lumOff val="25000"/>
                </a:schemeClr>
              </a:solidFill>
            </a:endParaRPr>
          </a:p>
        </p:txBody>
      </p:sp>
      <p:grpSp>
        <p:nvGrpSpPr>
          <p:cNvPr id="38" name="组合 37"/>
          <p:cNvGrpSpPr/>
          <p:nvPr/>
        </p:nvGrpSpPr>
        <p:grpSpPr>
          <a:xfrm>
            <a:off x="35496" y="2339588"/>
            <a:ext cx="8331616" cy="2610872"/>
            <a:chOff x="35496" y="2330296"/>
            <a:chExt cx="8331616" cy="2610872"/>
          </a:xfrm>
        </p:grpSpPr>
        <p:grpSp>
          <p:nvGrpSpPr>
            <p:cNvPr id="36" name="组合 35"/>
            <p:cNvGrpSpPr/>
            <p:nvPr/>
          </p:nvGrpSpPr>
          <p:grpSpPr>
            <a:xfrm>
              <a:off x="4283968" y="2330296"/>
              <a:ext cx="4083144" cy="1633538"/>
              <a:chOff x="4283968" y="2330296"/>
              <a:chExt cx="4083144" cy="1633538"/>
            </a:xfrm>
          </p:grpSpPr>
          <p:sp useBgFill="1">
            <p:nvSpPr>
              <p:cNvPr id="108" name="矩形 107"/>
              <p:cNvSpPr/>
              <p:nvPr/>
            </p:nvSpPr>
            <p:spPr>
              <a:xfrm>
                <a:off x="4283968" y="2348880"/>
                <a:ext cx="689612" cy="400110"/>
              </a:xfrm>
              <a:prstGeom prst="rect">
                <a:avLst/>
              </a:prstGeom>
            </p:spPr>
            <p:txBody>
              <a:bodyPr wrap="none">
                <a:spAutoFit/>
              </a:bodyPr>
              <a:lstStyle/>
              <a:p>
                <a:r>
                  <a:rPr lang="en-US" altLang="zh-CN" sz="2000" dirty="0"/>
                  <a:t>         </a:t>
                </a:r>
                <a:endParaRPr lang="zh-CN" altLang="en-US" sz="2000" dirty="0"/>
              </a:p>
            </p:txBody>
          </p:sp>
          <p:sp useBgFill="1">
            <p:nvSpPr>
              <p:cNvPr id="109" name="矩形 108"/>
              <p:cNvSpPr/>
              <p:nvPr/>
            </p:nvSpPr>
            <p:spPr>
              <a:xfrm>
                <a:off x="6508452" y="2339588"/>
                <a:ext cx="521297" cy="400110"/>
              </a:xfrm>
              <a:prstGeom prst="rect">
                <a:avLst/>
              </a:prstGeom>
            </p:spPr>
            <p:txBody>
              <a:bodyPr wrap="none">
                <a:spAutoFit/>
              </a:bodyPr>
              <a:lstStyle/>
              <a:p>
                <a:r>
                  <a:rPr lang="en-US" altLang="zh-CN" sz="2000" dirty="0"/>
                  <a:t>      </a:t>
                </a:r>
                <a:endParaRPr lang="zh-CN" altLang="en-US" sz="2000" dirty="0"/>
              </a:p>
            </p:txBody>
          </p:sp>
          <p:sp useBgFill="1">
            <p:nvSpPr>
              <p:cNvPr id="110" name="矩形 109"/>
              <p:cNvSpPr/>
              <p:nvPr/>
            </p:nvSpPr>
            <p:spPr>
              <a:xfrm>
                <a:off x="7156524" y="2330296"/>
                <a:ext cx="1210588" cy="369332"/>
              </a:xfrm>
              <a:prstGeom prst="rect">
                <a:avLst/>
              </a:prstGeom>
            </p:spPr>
            <p:txBody>
              <a:bodyPr wrap="none">
                <a:spAutoFit/>
              </a:bodyPr>
              <a:lstStyle/>
              <a:p>
                <a:r>
                  <a:rPr lang="en-US" altLang="zh-CN" dirty="0"/>
                  <a:t>                    </a:t>
                </a:r>
                <a:endParaRPr lang="zh-CN" altLang="en-US" dirty="0"/>
              </a:p>
            </p:txBody>
          </p:sp>
          <p:sp useBgFill="1">
            <p:nvSpPr>
              <p:cNvPr id="111" name="矩形 110"/>
              <p:cNvSpPr/>
              <p:nvPr/>
            </p:nvSpPr>
            <p:spPr>
              <a:xfrm>
                <a:off x="4982736" y="3563724"/>
                <a:ext cx="240772" cy="400110"/>
              </a:xfrm>
              <a:prstGeom prst="rect">
                <a:avLst/>
              </a:prstGeom>
            </p:spPr>
            <p:txBody>
              <a:bodyPr wrap="none">
                <a:spAutoFit/>
              </a:bodyPr>
              <a:lstStyle/>
              <a:p>
                <a:r>
                  <a:rPr lang="en-US" altLang="zh-CN" sz="2000" b="1" dirty="0">
                    <a:solidFill>
                      <a:schemeClr val="tx2">
                        <a:lumMod val="75000"/>
                        <a:lumOff val="25000"/>
                      </a:schemeClr>
                    </a:solidFill>
                  </a:rPr>
                  <a:t> </a:t>
                </a:r>
                <a:endParaRPr lang="zh-CN" altLang="en-US" sz="2000" b="1" dirty="0">
                  <a:solidFill>
                    <a:schemeClr val="tx2">
                      <a:lumMod val="75000"/>
                      <a:lumOff val="25000"/>
                    </a:schemeClr>
                  </a:solidFill>
                </a:endParaRPr>
              </a:p>
            </p:txBody>
          </p:sp>
        </p:grpSp>
        <p:grpSp>
          <p:nvGrpSpPr>
            <p:cNvPr id="112" name="组合 111"/>
            <p:cNvGrpSpPr/>
            <p:nvPr/>
          </p:nvGrpSpPr>
          <p:grpSpPr>
            <a:xfrm>
              <a:off x="35496" y="2852936"/>
              <a:ext cx="179387" cy="2088232"/>
              <a:chOff x="1150987" y="4329845"/>
              <a:chExt cx="179387" cy="2088232"/>
            </a:xfrm>
          </p:grpSpPr>
          <p:sp useBgFill="1">
            <p:nvSpPr>
              <p:cNvPr id="113" name="矩形 112"/>
              <p:cNvSpPr/>
              <p:nvPr/>
            </p:nvSpPr>
            <p:spPr bwMode="auto">
              <a:xfrm>
                <a:off x="1150987" y="4329845"/>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4" name="等腰三角形 113"/>
              <p:cNvSpPr/>
              <p:nvPr/>
            </p:nvSpPr>
            <p:spPr bwMode="auto">
              <a:xfrm>
                <a:off x="1151493" y="6345858"/>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18" name="矩形 117"/>
          <p:cNvSpPr/>
          <p:nvPr/>
        </p:nvSpPr>
        <p:spPr>
          <a:xfrm>
            <a:off x="3951986" y="5613817"/>
            <a:ext cx="663964" cy="707886"/>
          </a:xfrm>
          <a:prstGeom prst="rect">
            <a:avLst/>
          </a:prstGeom>
          <a:solidFill>
            <a:schemeClr val="tx1"/>
          </a:solidFill>
        </p:spPr>
        <p:txBody>
          <a:bodyPr wrap="none">
            <a:spAutoFit/>
          </a:bodyPr>
          <a:lstStyle/>
          <a:p>
            <a:r>
              <a:rPr lang="en-US" altLang="zh-CN" sz="2000" dirty="0">
                <a:solidFill>
                  <a:schemeClr val="bg1"/>
                </a:solidFill>
              </a:rPr>
              <a:t>1      </a:t>
            </a:r>
          </a:p>
          <a:p>
            <a:endParaRPr lang="zh-CN" altLang="en-US" sz="2000" dirty="0">
              <a:solidFill>
                <a:schemeClr val="bg1"/>
              </a:solidFill>
            </a:endParaRPr>
          </a:p>
        </p:txBody>
      </p:sp>
      <p:grpSp>
        <p:nvGrpSpPr>
          <p:cNvPr id="119" name="组合 118"/>
          <p:cNvGrpSpPr/>
          <p:nvPr/>
        </p:nvGrpSpPr>
        <p:grpSpPr>
          <a:xfrm>
            <a:off x="125" y="4832200"/>
            <a:ext cx="179387" cy="397000"/>
            <a:chOff x="-863971" y="4832200"/>
            <a:chExt cx="179387" cy="397000"/>
          </a:xfrm>
        </p:grpSpPr>
        <p:sp>
          <p:nvSpPr>
            <p:cNvPr id="115" name="等腰三角形 114"/>
            <p:cNvSpPr/>
            <p:nvPr/>
          </p:nvSpPr>
          <p:spPr bwMode="auto">
            <a:xfrm>
              <a:off x="-828094" y="5156981"/>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useBgFill="1">
          <p:nvSpPr>
            <p:cNvPr id="120" name="矩形 119"/>
            <p:cNvSpPr/>
            <p:nvPr/>
          </p:nvSpPr>
          <p:spPr bwMode="auto">
            <a:xfrm>
              <a:off x="-863971" y="483220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34" name="组合 133"/>
          <p:cNvGrpSpPr/>
          <p:nvPr/>
        </p:nvGrpSpPr>
        <p:grpSpPr>
          <a:xfrm>
            <a:off x="35496" y="2708920"/>
            <a:ext cx="7868810" cy="3672408"/>
            <a:chOff x="35496" y="2708920"/>
            <a:chExt cx="7868810" cy="3672408"/>
          </a:xfrm>
        </p:grpSpPr>
        <p:sp useBgFill="1">
          <p:nvSpPr>
            <p:cNvPr id="128" name="矩形 127"/>
            <p:cNvSpPr/>
            <p:nvPr/>
          </p:nvSpPr>
          <p:spPr>
            <a:xfrm>
              <a:off x="6660232" y="2708920"/>
              <a:ext cx="240772" cy="400110"/>
            </a:xfrm>
            <a:prstGeom prst="rect">
              <a:avLst/>
            </a:prstGeom>
          </p:spPr>
          <p:txBody>
            <a:bodyPr wrap="none">
              <a:spAutoFit/>
            </a:bodyPr>
            <a:lstStyle/>
            <a:p>
              <a:r>
                <a:rPr lang="en-US" altLang="zh-CN" sz="2000" dirty="0"/>
                <a:t> </a:t>
              </a:r>
              <a:endParaRPr lang="zh-CN" altLang="en-US" sz="2000" dirty="0"/>
            </a:p>
          </p:txBody>
        </p:sp>
        <p:sp useBgFill="1">
          <p:nvSpPr>
            <p:cNvPr id="129" name="矩形 128"/>
            <p:cNvSpPr/>
            <p:nvPr/>
          </p:nvSpPr>
          <p:spPr>
            <a:xfrm>
              <a:off x="6679213" y="3111351"/>
              <a:ext cx="240772" cy="400110"/>
            </a:xfrm>
            <a:prstGeom prst="rect">
              <a:avLst/>
            </a:prstGeom>
          </p:spPr>
          <p:txBody>
            <a:bodyPr wrap="none">
              <a:spAutoFit/>
            </a:bodyPr>
            <a:lstStyle/>
            <a:p>
              <a:r>
                <a:rPr lang="en-US" altLang="zh-CN" sz="2000" dirty="0"/>
                <a:t> </a:t>
              </a:r>
              <a:endParaRPr lang="zh-CN" altLang="en-US" sz="2000" dirty="0"/>
            </a:p>
          </p:txBody>
        </p:sp>
        <p:grpSp>
          <p:nvGrpSpPr>
            <p:cNvPr id="122" name="组合 121"/>
            <p:cNvGrpSpPr/>
            <p:nvPr/>
          </p:nvGrpSpPr>
          <p:grpSpPr>
            <a:xfrm>
              <a:off x="35496" y="5085184"/>
              <a:ext cx="216024" cy="1296144"/>
              <a:chOff x="539552" y="4832200"/>
              <a:chExt cx="216024" cy="1296144"/>
            </a:xfrm>
          </p:grpSpPr>
          <p:sp>
            <p:nvSpPr>
              <p:cNvPr id="123" name="等腰三角形 122"/>
              <p:cNvSpPr/>
              <p:nvPr/>
            </p:nvSpPr>
            <p:spPr bwMode="auto">
              <a:xfrm>
                <a:off x="539552" y="6056125"/>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useBgFill="1">
            <p:nvSpPr>
              <p:cNvPr id="124" name="矩形 123"/>
              <p:cNvSpPr/>
              <p:nvPr/>
            </p:nvSpPr>
            <p:spPr bwMode="auto">
              <a:xfrm>
                <a:off x="576189" y="483220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useBgFill="1">
          <p:nvSpPr>
            <p:cNvPr id="125" name="矩形 124"/>
            <p:cNvSpPr/>
            <p:nvPr/>
          </p:nvSpPr>
          <p:spPr>
            <a:xfrm>
              <a:off x="4355976" y="2708920"/>
              <a:ext cx="633507" cy="400110"/>
            </a:xfrm>
            <a:prstGeom prst="rect">
              <a:avLst/>
            </a:prstGeom>
          </p:spPr>
          <p:txBody>
            <a:bodyPr wrap="none">
              <a:spAutoFit/>
            </a:bodyPr>
            <a:lstStyle/>
            <a:p>
              <a:r>
                <a:rPr lang="en-US" altLang="zh-CN" sz="2000" dirty="0"/>
                <a:t>        </a:t>
              </a:r>
              <a:endParaRPr lang="zh-CN" altLang="en-US" sz="2000" dirty="0"/>
            </a:p>
          </p:txBody>
        </p:sp>
        <p:sp useBgFill="1">
          <p:nvSpPr>
            <p:cNvPr id="126" name="矩形 125"/>
            <p:cNvSpPr/>
            <p:nvPr/>
          </p:nvSpPr>
          <p:spPr>
            <a:xfrm>
              <a:off x="5220072" y="2708920"/>
              <a:ext cx="240772" cy="400110"/>
            </a:xfrm>
            <a:prstGeom prst="rect">
              <a:avLst/>
            </a:prstGeom>
          </p:spPr>
          <p:txBody>
            <a:bodyPr wrap="none">
              <a:spAutoFit/>
            </a:bodyPr>
            <a:lstStyle/>
            <a:p>
              <a:r>
                <a:rPr lang="en-US" altLang="zh-CN" sz="2000" dirty="0"/>
                <a:t> </a:t>
              </a:r>
              <a:endParaRPr lang="zh-CN" altLang="en-US" sz="2000" dirty="0"/>
            </a:p>
          </p:txBody>
        </p:sp>
        <p:sp useBgFill="1">
          <p:nvSpPr>
            <p:cNvPr id="130" name="矩形 129"/>
            <p:cNvSpPr/>
            <p:nvPr/>
          </p:nvSpPr>
          <p:spPr>
            <a:xfrm>
              <a:off x="5429641" y="2735991"/>
              <a:ext cx="1159292" cy="369332"/>
            </a:xfrm>
            <a:prstGeom prst="rect">
              <a:avLst/>
            </a:prstGeom>
          </p:spPr>
          <p:txBody>
            <a:bodyPr wrap="none">
              <a:spAutoFit/>
            </a:bodyPr>
            <a:lstStyle/>
            <a:p>
              <a:r>
                <a:rPr lang="en-US" altLang="zh-CN" dirty="0">
                  <a:solidFill>
                    <a:srgbClr val="FF0000"/>
                  </a:solidFill>
                </a:rPr>
                <a:t>                   </a:t>
              </a:r>
              <a:endParaRPr lang="zh-CN" altLang="en-US" dirty="0">
                <a:solidFill>
                  <a:srgbClr val="FF0000"/>
                </a:solidFill>
              </a:endParaRPr>
            </a:p>
          </p:txBody>
        </p:sp>
        <p:sp useBgFill="1">
          <p:nvSpPr>
            <p:cNvPr id="131" name="矩形 130"/>
            <p:cNvSpPr/>
            <p:nvPr/>
          </p:nvSpPr>
          <p:spPr>
            <a:xfrm>
              <a:off x="7668344" y="2771636"/>
              <a:ext cx="235962" cy="369332"/>
            </a:xfrm>
            <a:prstGeom prst="rect">
              <a:avLst/>
            </a:prstGeom>
          </p:spPr>
          <p:txBody>
            <a:bodyPr wrap="none">
              <a:spAutoFit/>
            </a:bodyPr>
            <a:lstStyle/>
            <a:p>
              <a:r>
                <a:rPr lang="en-US" altLang="zh-CN" dirty="0"/>
                <a:t> </a:t>
              </a:r>
              <a:endParaRPr lang="zh-CN" altLang="en-US" dirty="0"/>
            </a:p>
          </p:txBody>
        </p:sp>
        <p:sp useBgFill="1">
          <p:nvSpPr>
            <p:cNvPr id="132" name="矩形 131"/>
            <p:cNvSpPr/>
            <p:nvPr/>
          </p:nvSpPr>
          <p:spPr>
            <a:xfrm>
              <a:off x="7643470" y="3203684"/>
              <a:ext cx="184731" cy="369332"/>
            </a:xfrm>
            <a:prstGeom prst="rect">
              <a:avLst/>
            </a:prstGeom>
          </p:spPr>
          <p:txBody>
            <a:bodyPr wrap="none">
              <a:spAutoFit/>
            </a:bodyPr>
            <a:lstStyle/>
            <a:p>
              <a:endParaRPr lang="zh-CN" altLang="en-US" dirty="0"/>
            </a:p>
          </p:txBody>
        </p:sp>
      </p:grpSp>
      <p:grpSp>
        <p:nvGrpSpPr>
          <p:cNvPr id="135" name="组合 134"/>
          <p:cNvGrpSpPr/>
          <p:nvPr/>
        </p:nvGrpSpPr>
        <p:grpSpPr>
          <a:xfrm>
            <a:off x="35496" y="6272360"/>
            <a:ext cx="179387" cy="397000"/>
            <a:chOff x="9505181" y="6272360"/>
            <a:chExt cx="179387" cy="397000"/>
          </a:xfrm>
        </p:grpSpPr>
        <p:sp>
          <p:nvSpPr>
            <p:cNvPr id="147" name="等腰三角形 146"/>
            <p:cNvSpPr/>
            <p:nvPr/>
          </p:nvSpPr>
          <p:spPr bwMode="auto">
            <a:xfrm>
              <a:off x="9520614" y="6597141"/>
              <a:ext cx="143510" cy="72219"/>
            </a:xfrm>
            <a:prstGeom prst="triangle">
              <a:avLst/>
            </a:prstGeom>
            <a:solidFill>
              <a:srgbClr val="FF0000"/>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useBgFill="1">
          <p:nvSpPr>
            <p:cNvPr id="148" name="矩形 147"/>
            <p:cNvSpPr/>
            <p:nvPr/>
          </p:nvSpPr>
          <p:spPr bwMode="auto">
            <a:xfrm>
              <a:off x="9505181" y="6272360"/>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49" name="组合 148"/>
          <p:cNvGrpSpPr/>
          <p:nvPr/>
        </p:nvGrpSpPr>
        <p:grpSpPr>
          <a:xfrm>
            <a:off x="125" y="3573016"/>
            <a:ext cx="7812235" cy="3168352"/>
            <a:chOff x="125" y="3573016"/>
            <a:chExt cx="7812235" cy="3168352"/>
          </a:xfrm>
        </p:grpSpPr>
        <p:grpSp>
          <p:nvGrpSpPr>
            <p:cNvPr id="136" name="组合 135"/>
            <p:cNvGrpSpPr/>
            <p:nvPr/>
          </p:nvGrpSpPr>
          <p:grpSpPr>
            <a:xfrm>
              <a:off x="4264030" y="3573016"/>
              <a:ext cx="3548330" cy="864096"/>
              <a:chOff x="4355976" y="2708920"/>
              <a:chExt cx="3548330" cy="864096"/>
            </a:xfrm>
          </p:grpSpPr>
          <p:sp useBgFill="1">
            <p:nvSpPr>
              <p:cNvPr id="137" name="矩形 136"/>
              <p:cNvSpPr/>
              <p:nvPr/>
            </p:nvSpPr>
            <p:spPr>
              <a:xfrm>
                <a:off x="6660232" y="2708920"/>
                <a:ext cx="240772" cy="400110"/>
              </a:xfrm>
              <a:prstGeom prst="rect">
                <a:avLst/>
              </a:prstGeom>
            </p:spPr>
            <p:txBody>
              <a:bodyPr wrap="none">
                <a:spAutoFit/>
              </a:bodyPr>
              <a:lstStyle/>
              <a:p>
                <a:r>
                  <a:rPr lang="en-US" altLang="zh-CN" sz="2000" dirty="0"/>
                  <a:t> </a:t>
                </a:r>
                <a:endParaRPr lang="zh-CN" altLang="en-US" sz="2000" dirty="0"/>
              </a:p>
            </p:txBody>
          </p:sp>
          <p:sp useBgFill="1">
            <p:nvSpPr>
              <p:cNvPr id="138" name="矩形 137"/>
              <p:cNvSpPr/>
              <p:nvPr/>
            </p:nvSpPr>
            <p:spPr>
              <a:xfrm>
                <a:off x="6679213" y="3111351"/>
                <a:ext cx="240772" cy="400110"/>
              </a:xfrm>
              <a:prstGeom prst="rect">
                <a:avLst/>
              </a:prstGeom>
            </p:spPr>
            <p:txBody>
              <a:bodyPr wrap="none">
                <a:spAutoFit/>
              </a:bodyPr>
              <a:lstStyle/>
              <a:p>
                <a:r>
                  <a:rPr lang="en-US" altLang="zh-CN" sz="2000" dirty="0"/>
                  <a:t> </a:t>
                </a:r>
                <a:endParaRPr lang="zh-CN" altLang="en-US" sz="2000" dirty="0"/>
              </a:p>
            </p:txBody>
          </p:sp>
          <p:sp useBgFill="1">
            <p:nvSpPr>
              <p:cNvPr id="140" name="矩形 139"/>
              <p:cNvSpPr/>
              <p:nvPr/>
            </p:nvSpPr>
            <p:spPr>
              <a:xfrm>
                <a:off x="4355976" y="2708920"/>
                <a:ext cx="1026243" cy="400110"/>
              </a:xfrm>
              <a:prstGeom prst="rect">
                <a:avLst/>
              </a:prstGeom>
            </p:spPr>
            <p:txBody>
              <a:bodyPr wrap="none">
                <a:spAutoFit/>
              </a:bodyPr>
              <a:lstStyle/>
              <a:p>
                <a:r>
                  <a:rPr lang="en-US" altLang="zh-CN" sz="2000" dirty="0"/>
                  <a:t>               </a:t>
                </a:r>
                <a:endParaRPr lang="zh-CN" altLang="en-US" sz="2000" dirty="0"/>
              </a:p>
            </p:txBody>
          </p:sp>
          <p:sp useBgFill="1">
            <p:nvSpPr>
              <p:cNvPr id="141" name="矩形 140"/>
              <p:cNvSpPr/>
              <p:nvPr/>
            </p:nvSpPr>
            <p:spPr>
              <a:xfrm>
                <a:off x="5220072" y="2708920"/>
                <a:ext cx="240772" cy="400110"/>
              </a:xfrm>
              <a:prstGeom prst="rect">
                <a:avLst/>
              </a:prstGeom>
            </p:spPr>
            <p:txBody>
              <a:bodyPr wrap="none">
                <a:spAutoFit/>
              </a:bodyPr>
              <a:lstStyle/>
              <a:p>
                <a:r>
                  <a:rPr lang="en-US" altLang="zh-CN" sz="2000" dirty="0"/>
                  <a:t> </a:t>
                </a:r>
                <a:endParaRPr lang="zh-CN" altLang="en-US" sz="2000" dirty="0"/>
              </a:p>
            </p:txBody>
          </p:sp>
          <p:sp useBgFill="1">
            <p:nvSpPr>
              <p:cNvPr id="142" name="矩形 141"/>
              <p:cNvSpPr/>
              <p:nvPr/>
            </p:nvSpPr>
            <p:spPr>
              <a:xfrm>
                <a:off x="5429641" y="2735991"/>
                <a:ext cx="1313180" cy="369332"/>
              </a:xfrm>
              <a:prstGeom prst="rect">
                <a:avLst/>
              </a:prstGeom>
            </p:spPr>
            <p:txBody>
              <a:bodyPr wrap="none">
                <a:spAutoFit/>
              </a:bodyPr>
              <a:lstStyle/>
              <a:p>
                <a:r>
                  <a:rPr lang="en-US" altLang="zh-CN" dirty="0">
                    <a:solidFill>
                      <a:srgbClr val="FF0000"/>
                    </a:solidFill>
                  </a:rPr>
                  <a:t>                      </a:t>
                </a:r>
                <a:endParaRPr lang="zh-CN" altLang="en-US" dirty="0">
                  <a:solidFill>
                    <a:srgbClr val="FF0000"/>
                  </a:solidFill>
                </a:endParaRPr>
              </a:p>
            </p:txBody>
          </p:sp>
          <p:sp useBgFill="1">
            <p:nvSpPr>
              <p:cNvPr id="143" name="矩形 142"/>
              <p:cNvSpPr/>
              <p:nvPr/>
            </p:nvSpPr>
            <p:spPr>
              <a:xfrm>
                <a:off x="7668344" y="2771636"/>
                <a:ext cx="235962" cy="369332"/>
              </a:xfrm>
              <a:prstGeom prst="rect">
                <a:avLst/>
              </a:prstGeom>
            </p:spPr>
            <p:txBody>
              <a:bodyPr wrap="none">
                <a:spAutoFit/>
              </a:bodyPr>
              <a:lstStyle/>
              <a:p>
                <a:r>
                  <a:rPr lang="en-US" altLang="zh-CN" dirty="0"/>
                  <a:t> </a:t>
                </a:r>
                <a:endParaRPr lang="zh-CN" altLang="en-US" dirty="0"/>
              </a:p>
            </p:txBody>
          </p:sp>
          <p:sp useBgFill="1">
            <p:nvSpPr>
              <p:cNvPr id="144" name="矩形 143"/>
              <p:cNvSpPr/>
              <p:nvPr/>
            </p:nvSpPr>
            <p:spPr>
              <a:xfrm>
                <a:off x="7719575" y="3203684"/>
                <a:ext cx="184731" cy="369332"/>
              </a:xfrm>
              <a:prstGeom prst="rect">
                <a:avLst/>
              </a:prstGeom>
            </p:spPr>
            <p:txBody>
              <a:bodyPr wrap="none">
                <a:spAutoFit/>
              </a:bodyPr>
              <a:lstStyle/>
              <a:p>
                <a:endParaRPr lang="zh-CN" altLang="en-US" dirty="0"/>
              </a:p>
            </p:txBody>
          </p:sp>
        </p:grpSp>
        <p:sp useBgFill="1">
          <p:nvSpPr>
            <p:cNvPr id="150" name="矩形 149"/>
            <p:cNvSpPr/>
            <p:nvPr/>
          </p:nvSpPr>
          <p:spPr bwMode="auto">
            <a:xfrm>
              <a:off x="125" y="6560392"/>
              <a:ext cx="179387" cy="180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extLst>
      <p:ext uri="{BB962C8B-B14F-4D97-AF65-F5344CB8AC3E}">
        <p14:creationId xmlns:p14="http://schemas.microsoft.com/office/powerpoint/2010/main" val="222895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8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9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9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0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1"/>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0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3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1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3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3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7" grpId="0" animBg="1"/>
      <p:bldP spid="41" grpId="0"/>
      <p:bldP spid="39" grpId="0"/>
      <p:bldP spid="40" grpId="0"/>
      <p:bldP spid="53" grpId="0"/>
      <p:bldP spid="54" grpId="0"/>
      <p:bldP spid="2" grpId="0"/>
      <p:bldP spid="8" grpId="0"/>
      <p:bldP spid="9" grpId="0"/>
      <p:bldP spid="86" grpId="0"/>
      <p:bldP spid="13" grpId="0"/>
      <p:bldP spid="95" grpId="0"/>
      <p:bldP spid="96" grpId="0"/>
      <p:bldP spid="100" grpId="0"/>
      <p:bldP spid="104" grpId="0"/>
      <p:bldP spid="14" grpId="0"/>
      <p:bldP spid="1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1027"/>
          <p:cNvSpPr>
            <a:spLocks noGrp="1" noChangeArrowheads="1"/>
          </p:cNvSpPr>
          <p:nvPr>
            <p:ph idx="1"/>
          </p:nvPr>
        </p:nvSpPr>
        <p:spPr>
          <a:xfrm>
            <a:off x="467544" y="2420888"/>
            <a:ext cx="3744416" cy="3816424"/>
          </a:xfrm>
          <a:solidFill>
            <a:schemeClr val="bg2">
              <a:lumMod val="90000"/>
            </a:schemeClr>
          </a:solidFill>
        </p:spPr>
        <p:txBody>
          <a:bodyPr>
            <a:normAutofit/>
          </a:bodyPr>
          <a:lstStyle/>
          <a:p>
            <a:pPr lvl="1" eaLnBrk="1" hangingPunct="1">
              <a:lnSpc>
                <a:spcPct val="75000"/>
              </a:lnSpc>
              <a:buFontTx/>
              <a:buNone/>
            </a:pPr>
            <a:r>
              <a:rPr lang="en-US" altLang="zh-CN" b="1" dirty="0">
                <a:latin typeface="宋体" charset="-122"/>
              </a:rPr>
              <a:t>Point fun2()</a:t>
            </a:r>
          </a:p>
          <a:p>
            <a:pPr lvl="1" eaLnBrk="1" hangingPunct="1">
              <a:lnSpc>
                <a:spcPct val="75000"/>
              </a:lnSpc>
              <a:buFontTx/>
              <a:buNone/>
            </a:pPr>
            <a:r>
              <a:rPr lang="en-US" altLang="zh-CN" b="1" dirty="0">
                <a:latin typeface="宋体" charset="-122"/>
              </a:rPr>
              <a:t>{ Point a(1, 2);</a:t>
            </a:r>
          </a:p>
          <a:p>
            <a:pPr lvl="1" eaLnBrk="1" hangingPunct="1">
              <a:lnSpc>
                <a:spcPct val="75000"/>
              </a:lnSpc>
              <a:buFontTx/>
              <a:buNone/>
            </a:pPr>
            <a:r>
              <a:rPr lang="en-US" altLang="zh-CN" b="1" dirty="0">
                <a:latin typeface="宋体" charset="-122"/>
              </a:rPr>
              <a:t>  return a;</a:t>
            </a:r>
          </a:p>
          <a:p>
            <a:pPr lvl="1" eaLnBrk="1" hangingPunct="1">
              <a:lnSpc>
                <a:spcPct val="75000"/>
              </a:lnSpc>
              <a:buFontTx/>
              <a:buNone/>
            </a:pPr>
            <a:r>
              <a:rPr lang="en-US" altLang="en-US" b="1" dirty="0">
                <a:latin typeface="宋体" charset="-122"/>
              </a:rPr>
              <a:t>}</a:t>
            </a:r>
          </a:p>
          <a:p>
            <a:pPr lvl="1" eaLnBrk="1" hangingPunct="1">
              <a:lnSpc>
                <a:spcPct val="75000"/>
              </a:lnSpc>
              <a:buFontTx/>
              <a:buNone/>
            </a:pPr>
            <a:r>
              <a:rPr lang="en-US" altLang="zh-CN" b="1" dirty="0" err="1">
                <a:latin typeface="宋体" charset="-122"/>
              </a:rPr>
              <a:t>int</a:t>
            </a:r>
            <a:r>
              <a:rPr lang="en-US" altLang="zh-CN" b="1" dirty="0">
                <a:latin typeface="宋体" charset="-122"/>
              </a:rPr>
              <a:t> main()</a:t>
            </a:r>
          </a:p>
          <a:p>
            <a:pPr lvl="1" eaLnBrk="1" hangingPunct="1">
              <a:lnSpc>
                <a:spcPct val="75000"/>
              </a:lnSpc>
              <a:buFontTx/>
              <a:buNone/>
            </a:pPr>
            <a:r>
              <a:rPr lang="en-US" altLang="zh-CN" b="1" dirty="0">
                <a:latin typeface="宋体" charset="-122"/>
              </a:rPr>
              <a:t>{ Point b;</a:t>
            </a:r>
          </a:p>
          <a:p>
            <a:pPr lvl="1" eaLnBrk="1" hangingPunct="1">
              <a:lnSpc>
                <a:spcPct val="75000"/>
              </a:lnSpc>
              <a:buFontTx/>
              <a:buNone/>
            </a:pPr>
            <a:r>
              <a:rPr lang="en-US" altLang="zh-CN" b="1" dirty="0">
                <a:latin typeface="宋体" charset="-122"/>
              </a:rPr>
              <a:t>  b = fun2();</a:t>
            </a:r>
          </a:p>
          <a:p>
            <a:pPr lvl="1" eaLnBrk="1" hangingPunct="1">
              <a:lnSpc>
                <a:spcPct val="75000"/>
              </a:lnSpc>
              <a:buFontTx/>
              <a:buNone/>
            </a:pPr>
            <a:r>
              <a:rPr lang="en-US" altLang="zh-CN" b="1" dirty="0">
                <a:latin typeface="宋体" charset="-122"/>
              </a:rPr>
              <a:t>  return 0; </a:t>
            </a:r>
          </a:p>
          <a:p>
            <a:pPr lvl="1" eaLnBrk="1" hangingPunct="1">
              <a:lnSpc>
                <a:spcPct val="75000"/>
              </a:lnSpc>
              <a:buFontTx/>
              <a:buNone/>
            </a:pPr>
            <a:r>
              <a:rPr lang="en-US" altLang="zh-CN" b="1" dirty="0">
                <a:latin typeface="宋体" charset="-122"/>
              </a:rPr>
              <a:t>}</a:t>
            </a:r>
          </a:p>
        </p:txBody>
      </p:sp>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6FCFB24D-A10B-4A5F-A0FD-EDCBAE110A97}" type="slidenum">
              <a:rPr lang="en-US" altLang="zh-CN" sz="1400">
                <a:solidFill>
                  <a:prstClr val="black"/>
                </a:solidFill>
              </a:rPr>
              <a:pPr eaLnBrk="1" hangingPunct="1"/>
              <a:t>30</a:t>
            </a:fld>
            <a:endParaRPr lang="en-US" altLang="zh-CN" sz="1400">
              <a:solidFill>
                <a:prstClr val="black"/>
              </a:solidFill>
            </a:endParaRPr>
          </a:p>
        </p:txBody>
      </p:sp>
      <p:sp>
        <p:nvSpPr>
          <p:cNvPr id="2" name="矩形 1"/>
          <p:cNvSpPr/>
          <p:nvPr/>
        </p:nvSpPr>
        <p:spPr>
          <a:xfrm>
            <a:off x="1043608" y="1124744"/>
            <a:ext cx="7272808" cy="1077218"/>
          </a:xfrm>
          <a:prstGeom prst="rect">
            <a:avLst/>
          </a:prstGeom>
        </p:spPr>
        <p:txBody>
          <a:bodyPr wrap="square">
            <a:spAutoFit/>
          </a:bodyPr>
          <a:lstStyle/>
          <a:p>
            <a:r>
              <a:rPr lang="zh-CN" altLang="en-US" sz="3200" dirty="0">
                <a:solidFill>
                  <a:prstClr val="black"/>
                </a:solidFill>
                <a:latin typeface="宋体" charset="-122"/>
              </a:rPr>
              <a:t>当函数的返回值是类对象</a:t>
            </a:r>
            <a:r>
              <a:rPr lang="en-US" altLang="zh-CN" sz="3200" dirty="0">
                <a:solidFill>
                  <a:prstClr val="black"/>
                </a:solidFill>
                <a:latin typeface="宋体" charset="-122"/>
              </a:rPr>
              <a:t>,</a:t>
            </a:r>
            <a:r>
              <a:rPr lang="zh-CN" altLang="en-US" sz="3200" dirty="0">
                <a:solidFill>
                  <a:prstClr val="black"/>
                </a:solidFill>
                <a:latin typeface="宋体" charset="-122"/>
              </a:rPr>
              <a:t>当函数返回时，系统自动调用拷贝构造函数。例如：</a:t>
            </a:r>
            <a:endParaRPr lang="zh-CN" altLang="en-US" sz="3200" dirty="0">
              <a:solidFill>
                <a:prstClr val="black"/>
              </a:solidFill>
            </a:endParaRPr>
          </a:p>
        </p:txBody>
      </p:sp>
      <p:cxnSp>
        <p:nvCxnSpPr>
          <p:cNvPr id="6" name="直接连接符 5"/>
          <p:cNvCxnSpPr/>
          <p:nvPr/>
        </p:nvCxnSpPr>
        <p:spPr>
          <a:xfrm>
            <a:off x="2555776" y="3645024"/>
            <a:ext cx="3600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907704" y="2753800"/>
            <a:ext cx="6097730" cy="1035242"/>
            <a:chOff x="1907704" y="2753800"/>
            <a:chExt cx="6097730" cy="1035242"/>
          </a:xfrm>
        </p:grpSpPr>
        <p:grpSp>
          <p:nvGrpSpPr>
            <p:cNvPr id="9" name="组合 8"/>
            <p:cNvGrpSpPr/>
            <p:nvPr/>
          </p:nvGrpSpPr>
          <p:grpSpPr>
            <a:xfrm>
              <a:off x="2915816" y="3327377"/>
              <a:ext cx="5089618" cy="461665"/>
              <a:chOff x="2987824" y="3553113"/>
              <a:chExt cx="5089618" cy="275340"/>
            </a:xfrm>
          </p:grpSpPr>
          <p:sp>
            <p:nvSpPr>
              <p:cNvPr id="11" name="矩形 10"/>
              <p:cNvSpPr/>
              <p:nvPr/>
            </p:nvSpPr>
            <p:spPr>
              <a:xfrm>
                <a:off x="6337863" y="3553113"/>
                <a:ext cx="1739579" cy="275340"/>
              </a:xfrm>
              <a:prstGeom prst="rect">
                <a:avLst/>
              </a:prstGeom>
              <a:solidFill>
                <a:schemeClr val="bg2">
                  <a:lumMod val="90000"/>
                </a:schemeClr>
              </a:solidFill>
            </p:spPr>
            <p:txBody>
              <a:bodyPr wrap="none">
                <a:spAutoFit/>
              </a:bodyPr>
              <a:lstStyle/>
              <a:p>
                <a:r>
                  <a:rPr lang="en-US" altLang="zh-CN" sz="2400" b="1" dirty="0">
                    <a:solidFill>
                      <a:prstClr val="black"/>
                    </a:solidFill>
                    <a:latin typeface="宋体" charset="-122"/>
                  </a:rPr>
                  <a:t>Point(a); </a:t>
                </a:r>
                <a:endParaRPr lang="zh-CN" altLang="en-US" sz="2400" dirty="0">
                  <a:solidFill>
                    <a:prstClr val="black"/>
                  </a:solidFill>
                </a:endParaRPr>
              </a:p>
            </p:txBody>
          </p:sp>
          <p:cxnSp>
            <p:nvCxnSpPr>
              <p:cNvPr id="12" name="直接箭头连接符 11"/>
              <p:cNvCxnSpPr/>
              <p:nvPr/>
            </p:nvCxnSpPr>
            <p:spPr>
              <a:xfrm flipH="1">
                <a:off x="2987824" y="3613727"/>
                <a:ext cx="3350039"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cxnSp>
          <p:nvCxnSpPr>
            <p:cNvPr id="10" name="直接箭头连接符 9"/>
            <p:cNvCxnSpPr/>
            <p:nvPr/>
          </p:nvCxnSpPr>
          <p:spPr>
            <a:xfrm flipH="1" flipV="1">
              <a:off x="1907704" y="2753800"/>
              <a:ext cx="4358151" cy="67520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5652120" y="4623519"/>
            <a:ext cx="2646878" cy="461665"/>
          </a:xfrm>
          <a:prstGeom prst="rect">
            <a:avLst/>
          </a:prstGeom>
          <a:solidFill>
            <a:schemeClr val="tx2">
              <a:lumMod val="10000"/>
              <a:lumOff val="90000"/>
            </a:schemeClr>
          </a:solidFill>
        </p:spPr>
        <p:txBody>
          <a:bodyPr wrap="none">
            <a:spAutoFit/>
          </a:bodyPr>
          <a:lstStyle/>
          <a:p>
            <a:r>
              <a:rPr lang="zh-CN" altLang="en-US" sz="2400" b="1" dirty="0">
                <a:solidFill>
                  <a:prstClr val="black"/>
                </a:solidFill>
                <a:latin typeface="宋体" pitchFamily="2" charset="-122"/>
              </a:rPr>
              <a:t>调用拷贝构造函数</a:t>
            </a:r>
            <a:endParaRPr lang="zh-CN" altLang="en-US" sz="2400" dirty="0">
              <a:solidFill>
                <a:prstClr val="black"/>
              </a:solidFill>
            </a:endParaRPr>
          </a:p>
        </p:txBody>
      </p:sp>
      <p:grpSp>
        <p:nvGrpSpPr>
          <p:cNvPr id="21" name="组合 20"/>
          <p:cNvGrpSpPr/>
          <p:nvPr/>
        </p:nvGrpSpPr>
        <p:grpSpPr>
          <a:xfrm>
            <a:off x="971600" y="2780928"/>
            <a:ext cx="2088232" cy="2448272"/>
            <a:chOff x="971600" y="2780928"/>
            <a:chExt cx="2088232" cy="2448272"/>
          </a:xfrm>
        </p:grpSpPr>
        <p:cxnSp>
          <p:nvCxnSpPr>
            <p:cNvPr id="7" name="直接连接符 6"/>
            <p:cNvCxnSpPr/>
            <p:nvPr/>
          </p:nvCxnSpPr>
          <p:spPr>
            <a:xfrm>
              <a:off x="971600" y="2780928"/>
              <a:ext cx="936104"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123728" y="5229200"/>
              <a:ext cx="936104"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439652" y="2852936"/>
              <a:ext cx="1116124" cy="2088232"/>
            </a:xfrm>
            <a:prstGeom prst="straightConnector1">
              <a:avLst/>
            </a:prstGeom>
            <a:ln w="38100">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a:xfrm>
            <a:off x="6300192" y="2391271"/>
            <a:ext cx="1415772" cy="461665"/>
          </a:xfrm>
          <a:prstGeom prst="rect">
            <a:avLst/>
          </a:prstGeom>
          <a:solidFill>
            <a:schemeClr val="accent6">
              <a:lumMod val="40000"/>
              <a:lumOff val="60000"/>
            </a:schemeClr>
          </a:solidFill>
        </p:spPr>
        <p:txBody>
          <a:bodyPr wrap="none">
            <a:spAutoFit/>
          </a:bodyPr>
          <a:lstStyle/>
          <a:p>
            <a:r>
              <a:rPr lang="zh-CN" altLang="en-US" sz="2400" b="1" dirty="0">
                <a:solidFill>
                  <a:prstClr val="black"/>
                </a:solidFill>
              </a:rPr>
              <a:t>临时对象</a:t>
            </a:r>
            <a:endParaRPr lang="en-US" altLang="zh-CN" sz="2400" b="1" dirty="0">
              <a:solidFill>
                <a:prstClr val="black"/>
              </a:solidFill>
            </a:endParaRPr>
          </a:p>
        </p:txBody>
      </p:sp>
      <p:sp>
        <p:nvSpPr>
          <p:cNvPr id="24" name="椭圆 23"/>
          <p:cNvSpPr/>
          <p:nvPr/>
        </p:nvSpPr>
        <p:spPr>
          <a:xfrm>
            <a:off x="6228184" y="3212976"/>
            <a:ext cx="1584176" cy="684075"/>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下箭头 26"/>
          <p:cNvSpPr/>
          <p:nvPr/>
        </p:nvSpPr>
        <p:spPr>
          <a:xfrm>
            <a:off x="6876256" y="2852936"/>
            <a:ext cx="99303" cy="36004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971600" y="404664"/>
            <a:ext cx="1723549" cy="584775"/>
          </a:xfrm>
          <a:prstGeom prst="rect">
            <a:avLst/>
          </a:prstGeom>
        </p:spPr>
        <p:txBody>
          <a:bodyPr wrap="none">
            <a:spAutoFit/>
          </a:bodyPr>
          <a:lstStyle/>
          <a:p>
            <a:r>
              <a:rPr lang="zh-CN" altLang="en-US" sz="3200" b="1" dirty="0">
                <a:solidFill>
                  <a:prstClr val="black"/>
                </a:solidFill>
              </a:rPr>
              <a:t>情况</a:t>
            </a:r>
            <a:r>
              <a:rPr lang="en-US" altLang="zh-CN" sz="3200" b="1" dirty="0">
                <a:solidFill>
                  <a:prstClr val="black"/>
                </a:solidFill>
              </a:rPr>
              <a:t>3:    </a:t>
            </a:r>
            <a:endParaRPr lang="zh-CN" altLang="en-US" sz="2000" dirty="0"/>
          </a:p>
        </p:txBody>
      </p:sp>
    </p:spTree>
    <p:extLst>
      <p:ext uri="{BB962C8B-B14F-4D97-AF65-F5344CB8AC3E}">
        <p14:creationId xmlns:p14="http://schemas.microsoft.com/office/powerpoint/2010/main" val="182733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4"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251520" y="692696"/>
            <a:ext cx="7772400" cy="432048"/>
          </a:xfrm>
        </p:spPr>
        <p:txBody>
          <a:bodyPr>
            <a:noAutofit/>
          </a:bodyPr>
          <a:lstStyle/>
          <a:p>
            <a:pPr eaLnBrk="1" hangingPunct="1">
              <a:lnSpc>
                <a:spcPct val="80000"/>
              </a:lnSpc>
              <a:buFontTx/>
              <a:buNone/>
            </a:pPr>
            <a:r>
              <a:rPr lang="en-US" altLang="zh-CN" sz="2400" b="1" dirty="0"/>
              <a:t>【</a:t>
            </a:r>
            <a:r>
              <a:rPr lang="zh-CN" altLang="en-US" sz="2400" b="1" dirty="0"/>
              <a:t>例</a:t>
            </a:r>
            <a:r>
              <a:rPr lang="en-US" altLang="zh-CN" sz="2400" b="1" dirty="0"/>
              <a:t>】  </a:t>
            </a:r>
            <a:r>
              <a:rPr lang="zh-CN" altLang="en-US" sz="2400" b="1" dirty="0"/>
              <a:t>默认拷贝构造函数引起的指针悬挂问题。</a:t>
            </a:r>
          </a:p>
          <a:p>
            <a:pPr eaLnBrk="1" hangingPunct="1">
              <a:lnSpc>
                <a:spcPct val="80000"/>
              </a:lnSpc>
              <a:buFontTx/>
              <a:buNone/>
            </a:pPr>
            <a:endParaRPr lang="en-US" altLang="zh-CN" sz="2400" b="1" dirty="0"/>
          </a:p>
        </p:txBody>
      </p:sp>
      <p:sp>
        <p:nvSpPr>
          <p:cNvPr id="9" name="Rectangle 3"/>
          <p:cNvSpPr txBox="1">
            <a:spLocks noChangeArrowheads="1"/>
          </p:cNvSpPr>
          <p:nvPr/>
        </p:nvSpPr>
        <p:spPr>
          <a:xfrm>
            <a:off x="323528" y="188640"/>
            <a:ext cx="8712968" cy="648072"/>
          </a:xfrm>
          <a:prstGeom prst="rect">
            <a:avLst/>
          </a:prstGeom>
        </p:spPr>
        <p:txBody>
          <a:bodyPr vert="horz" rtlCol="0">
            <a:normAutofit fontScale="92500"/>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80000"/>
              </a:lnSpc>
              <a:buFontTx/>
              <a:buNone/>
            </a:pPr>
            <a:r>
              <a:rPr lang="en-US" altLang="zh-CN" dirty="0">
                <a:solidFill>
                  <a:schemeClr val="accent2"/>
                </a:solidFill>
              </a:rPr>
              <a:t> 5. </a:t>
            </a:r>
            <a:r>
              <a:rPr lang="zh-CN" altLang="en-US" dirty="0">
                <a:solidFill>
                  <a:schemeClr val="accent2"/>
                </a:solidFill>
              </a:rPr>
              <a:t>定义拷贝构造函数解决指针悬挂（浅拷贝）问题</a:t>
            </a:r>
            <a:endParaRPr lang="zh-CN" altLang="en-US" sz="2400" b="1" dirty="0"/>
          </a:p>
          <a:p>
            <a:pPr>
              <a:lnSpc>
                <a:spcPct val="80000"/>
              </a:lnSpc>
              <a:buFontTx/>
              <a:buNone/>
            </a:pPr>
            <a:endParaRPr lang="zh-CN" altLang="en-US" sz="2000" dirty="0"/>
          </a:p>
        </p:txBody>
      </p:sp>
      <p:sp>
        <p:nvSpPr>
          <p:cNvPr id="8" name="矩形 7"/>
          <p:cNvSpPr/>
          <p:nvPr/>
        </p:nvSpPr>
        <p:spPr>
          <a:xfrm>
            <a:off x="395536" y="1124744"/>
            <a:ext cx="8064896" cy="5509200"/>
          </a:xfrm>
          <a:prstGeom prst="rect">
            <a:avLst/>
          </a:prstGeom>
          <a:solidFill>
            <a:schemeClr val="bg1"/>
          </a:solidFill>
          <a:ln>
            <a:solidFill>
              <a:schemeClr val="tx2">
                <a:lumMod val="75000"/>
                <a:lumOff val="25000"/>
              </a:schemeClr>
            </a:solidFill>
          </a:ln>
        </p:spPr>
        <p:txBody>
          <a:bodyPr wrap="square">
            <a:spAutoFit/>
          </a:bodyPr>
          <a:lstStyle/>
          <a:p>
            <a:r>
              <a:rPr lang="en-US" altLang="zh-CN" sz="1600" dirty="0">
                <a:solidFill>
                  <a:srgbClr val="808080"/>
                </a:solidFill>
                <a:latin typeface="Consolas" panose="020B0609020204030204" pitchFamily="49" charset="0"/>
                <a:ea typeface="新宋体"/>
                <a:cs typeface="Consolas" panose="020B0609020204030204" pitchFamily="49" charset="0"/>
              </a:rPr>
              <a:t>#include</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&lt;</a:t>
            </a:r>
            <a:r>
              <a:rPr lang="en-US" altLang="zh-CN" sz="1600" dirty="0" err="1">
                <a:solidFill>
                  <a:srgbClr val="A31515"/>
                </a:solidFill>
                <a:latin typeface="Consolas" panose="020B0609020204030204" pitchFamily="49" charset="0"/>
                <a:ea typeface="新宋体"/>
                <a:cs typeface="Consolas" panose="020B0609020204030204" pitchFamily="49" charset="0"/>
              </a:rPr>
              <a:t>iostream</a:t>
            </a:r>
            <a:r>
              <a:rPr lang="en-US" altLang="zh-CN" sz="1600" dirty="0">
                <a:solidFill>
                  <a:srgbClr val="A31515"/>
                </a:solidFill>
                <a:latin typeface="Consolas" panose="020B0609020204030204" pitchFamily="49" charset="0"/>
                <a:ea typeface="新宋体"/>
                <a:cs typeface="Consolas" panose="020B0609020204030204" pitchFamily="49" charset="0"/>
              </a:rPr>
              <a:t>&gt;</a:t>
            </a:r>
            <a:endParaRPr lang="en-US" altLang="zh-CN" sz="1600" dirty="0">
              <a:solidFill>
                <a:srgbClr val="000000"/>
              </a:solidFill>
              <a:latin typeface="Consolas" panose="020B0609020204030204" pitchFamily="49" charset="0"/>
              <a:ea typeface="新宋体"/>
              <a:cs typeface="Consolas" panose="020B0609020204030204" pitchFamily="49" charset="0"/>
            </a:endParaRPr>
          </a:p>
          <a:p>
            <a:r>
              <a:rPr lang="en-US" altLang="zh-CN" sz="1600" dirty="0">
                <a:solidFill>
                  <a:srgbClr val="0000FF"/>
                </a:solidFill>
                <a:latin typeface="Consolas" panose="020B0609020204030204" pitchFamily="49" charset="0"/>
                <a:ea typeface="新宋体"/>
                <a:cs typeface="Consolas" panose="020B0609020204030204" pitchFamily="49" charset="0"/>
              </a:rPr>
              <a:t>using</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00FF"/>
                </a:solidFill>
                <a:latin typeface="Consolas" panose="020B0609020204030204" pitchFamily="49" charset="0"/>
                <a:ea typeface="新宋体"/>
                <a:cs typeface="Consolas" panose="020B0609020204030204" pitchFamily="49" charset="0"/>
              </a:rPr>
              <a:t>namespace</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std</a:t>
            </a:r>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0000FF"/>
                </a:solidFill>
                <a:latin typeface="Consolas" panose="020B0609020204030204" pitchFamily="49" charset="0"/>
                <a:ea typeface="新宋体"/>
                <a:cs typeface="Consolas" panose="020B0609020204030204" pitchFamily="49" charset="0"/>
              </a:rPr>
              <a:t>class</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2B91AF"/>
                </a:solidFill>
                <a:latin typeface="Consolas" panose="020B0609020204030204" pitchFamily="49" charset="0"/>
                <a:ea typeface="新宋体"/>
                <a:cs typeface="Consolas" panose="020B0609020204030204" pitchFamily="49" charset="0"/>
              </a:rPr>
              <a:t>Person</a:t>
            </a:r>
            <a:endParaRPr lang="en-US" altLang="zh-CN" sz="1600" dirty="0">
              <a:solidFill>
                <a:srgbClr val="000000"/>
              </a:solidFill>
              <a:latin typeface="Consolas" panose="020B0609020204030204" pitchFamily="49" charset="0"/>
              <a:ea typeface="新宋体"/>
              <a:cs typeface="Consolas" panose="020B0609020204030204" pitchFamily="49" charset="0"/>
            </a:endParaRPr>
          </a:p>
          <a:p>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a:solidFill>
                  <a:srgbClr val="0000FF"/>
                </a:solidFill>
                <a:latin typeface="Consolas" panose="020B0609020204030204" pitchFamily="49" charset="0"/>
                <a:ea typeface="新宋体"/>
                <a:cs typeface="Consolas" panose="020B0609020204030204" pitchFamily="49" charset="0"/>
              </a:rPr>
              <a:t>private</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sz="1600" dirty="0">
                <a:solidFill>
                  <a:srgbClr val="0000FF"/>
                </a:solidFill>
                <a:latin typeface="Consolas" panose="020B0609020204030204" pitchFamily="49" charset="0"/>
                <a:ea typeface="新宋体"/>
                <a:cs typeface="Consolas" panose="020B0609020204030204" pitchFamily="49" charset="0"/>
              </a:rPr>
              <a:t>char</a:t>
            </a:r>
            <a:r>
              <a:rPr lang="en-US" altLang="zh-CN" sz="1600" dirty="0">
                <a:solidFill>
                  <a:srgbClr val="000000"/>
                </a:solidFill>
                <a:latin typeface="Consolas" panose="020B0609020204030204" pitchFamily="49" charset="0"/>
                <a:ea typeface="新宋体"/>
                <a:cs typeface="Consolas" panose="020B0609020204030204" pitchFamily="49" charset="0"/>
              </a:rPr>
              <a:t>* _name;</a:t>
            </a:r>
          </a:p>
          <a:p>
            <a:pPr marL="355600"/>
            <a:r>
              <a:rPr lang="en-US" altLang="zh-CN" sz="1600" dirty="0" err="1">
                <a:solidFill>
                  <a:srgbClr val="0000FF"/>
                </a:solidFill>
                <a:latin typeface="Consolas" panose="020B0609020204030204" pitchFamily="49" charset="0"/>
                <a:ea typeface="新宋体"/>
                <a:cs typeface="Consolas" panose="020B0609020204030204" pitchFamily="49" charset="0"/>
              </a:rPr>
              <a:t>int</a:t>
            </a:r>
            <a:r>
              <a:rPr lang="en-US" altLang="zh-CN" sz="1600" dirty="0">
                <a:solidFill>
                  <a:srgbClr val="000000"/>
                </a:solidFill>
                <a:latin typeface="Consolas" panose="020B0609020204030204" pitchFamily="49" charset="0"/>
                <a:ea typeface="新宋体"/>
                <a:cs typeface="Consolas" panose="020B0609020204030204" pitchFamily="49" charset="0"/>
              </a:rPr>
              <a:t> _age;</a:t>
            </a:r>
          </a:p>
          <a:p>
            <a:r>
              <a:rPr lang="en-US" altLang="zh-CN" sz="1600" dirty="0">
                <a:solidFill>
                  <a:srgbClr val="0000FF"/>
                </a:solidFill>
                <a:latin typeface="Consolas" panose="020B0609020204030204" pitchFamily="49" charset="0"/>
                <a:ea typeface="新宋体"/>
                <a:cs typeface="Consolas" panose="020B0609020204030204" pitchFamily="49" charset="0"/>
              </a:rPr>
              <a:t>public</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sz="1600" dirty="0">
                <a:solidFill>
                  <a:srgbClr val="000000"/>
                </a:solidFill>
                <a:latin typeface="Consolas" panose="020B0609020204030204" pitchFamily="49" charset="0"/>
                <a:ea typeface="新宋体"/>
                <a:cs typeface="Consolas" panose="020B0609020204030204" pitchFamily="49" charset="0"/>
              </a:rPr>
              <a:t>Person(</a:t>
            </a:r>
            <a:r>
              <a:rPr lang="en-US" altLang="zh-CN" sz="1600" dirty="0" err="1">
                <a:solidFill>
                  <a:srgbClr val="0000FF"/>
                </a:solidFill>
                <a:latin typeface="Consolas" panose="020B0609020204030204" pitchFamily="49" charset="0"/>
                <a:ea typeface="新宋体"/>
                <a:cs typeface="Consolas" panose="020B0609020204030204" pitchFamily="49" charset="0"/>
              </a:rPr>
              <a:t>const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00FF"/>
                </a:solidFill>
                <a:latin typeface="Consolas" panose="020B0609020204030204" pitchFamily="49" charset="0"/>
                <a:ea typeface="新宋体"/>
                <a:cs typeface="Consolas" panose="020B0609020204030204" pitchFamily="49" charset="0"/>
              </a:rPr>
              <a:t>char</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808080"/>
                </a:solidFill>
                <a:latin typeface="Consolas" panose="020B0609020204030204" pitchFamily="49" charset="0"/>
                <a:ea typeface="新宋体"/>
                <a:cs typeface="Consolas" panose="020B0609020204030204" pitchFamily="49" charset="0"/>
              </a:rPr>
              <a:t>name</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FF"/>
                </a:solidFill>
                <a:latin typeface="Consolas" panose="020B0609020204030204" pitchFamily="49" charset="0"/>
                <a:ea typeface="新宋体"/>
                <a:cs typeface="Consolas" panose="020B0609020204030204" pitchFamily="49" charset="0"/>
              </a:rPr>
              <a:t>int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808080"/>
                </a:solidFill>
                <a:latin typeface="Consolas" panose="020B0609020204030204" pitchFamily="49" charset="0"/>
                <a:ea typeface="新宋体"/>
                <a:cs typeface="Consolas" panose="020B0609020204030204" pitchFamily="49" charset="0"/>
              </a:rPr>
              <a:t>age</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sz="1600" dirty="0">
                <a:solidFill>
                  <a:srgbClr val="000000"/>
                </a:solidFill>
                <a:latin typeface="Consolas" panose="020B0609020204030204" pitchFamily="49" charset="0"/>
                <a:ea typeface="新宋体"/>
                <a:cs typeface="Consolas" panose="020B0609020204030204" pitchFamily="49" charset="0"/>
              </a:rPr>
              <a:t>~Person();</a:t>
            </a:r>
          </a:p>
          <a:p>
            <a:pPr marL="355600"/>
            <a:r>
              <a:rPr lang="en-US" altLang="zh-CN" sz="1600" dirty="0">
                <a:solidFill>
                  <a:srgbClr val="0000FF"/>
                </a:solidFill>
                <a:latin typeface="Consolas" panose="020B0609020204030204" pitchFamily="49" charset="0"/>
                <a:ea typeface="新宋体"/>
                <a:cs typeface="Consolas" panose="020B0609020204030204" pitchFamily="49" charset="0"/>
              </a:rPr>
              <a:t>void</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setAge</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err="1">
                <a:solidFill>
                  <a:srgbClr val="0000FF"/>
                </a:solidFill>
                <a:latin typeface="Consolas" panose="020B0609020204030204" pitchFamily="49" charset="0"/>
                <a:ea typeface="新宋体"/>
                <a:cs typeface="Consolas" panose="020B0609020204030204" pitchFamily="49" charset="0"/>
              </a:rPr>
              <a:t>int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808080"/>
                </a:solidFill>
                <a:latin typeface="Consolas" panose="020B0609020204030204" pitchFamily="49" charset="0"/>
                <a:ea typeface="新宋体"/>
                <a:cs typeface="Consolas" panose="020B0609020204030204" pitchFamily="49" charset="0"/>
              </a:rPr>
              <a:t>x</a:t>
            </a:r>
            <a:r>
              <a:rPr lang="en-US" altLang="zh-CN" sz="1600" dirty="0">
                <a:solidFill>
                  <a:srgbClr val="000000"/>
                </a:solidFill>
                <a:latin typeface="Consolas" panose="020B0609020204030204" pitchFamily="49" charset="0"/>
                <a:ea typeface="新宋体"/>
                <a:cs typeface="Consolas" panose="020B0609020204030204" pitchFamily="49" charset="0"/>
              </a:rPr>
              <a:t>) { _age = </a:t>
            </a:r>
            <a:r>
              <a:rPr lang="en-US" altLang="zh-CN" sz="1600" dirty="0">
                <a:solidFill>
                  <a:srgbClr val="808080"/>
                </a:solidFill>
                <a:latin typeface="Consolas" panose="020B0609020204030204" pitchFamily="49" charset="0"/>
                <a:ea typeface="新宋体"/>
                <a:cs typeface="Consolas" panose="020B0609020204030204" pitchFamily="49" charset="0"/>
              </a:rPr>
              <a:t>x</a:t>
            </a:r>
            <a:r>
              <a:rPr lang="en-US" altLang="zh-CN" sz="1600" dirty="0">
                <a:solidFill>
                  <a:srgbClr val="000000"/>
                </a:solidFill>
                <a:latin typeface="Consolas" panose="020B0609020204030204" pitchFamily="49" charset="0"/>
                <a:ea typeface="新宋体"/>
                <a:cs typeface="Consolas" panose="020B0609020204030204" pitchFamily="49" charset="0"/>
              </a:rPr>
              <a:t>; }</a:t>
            </a:r>
          </a:p>
          <a:p>
            <a:pPr marL="355600"/>
            <a:r>
              <a:rPr lang="en-US" altLang="zh-CN" sz="1600" dirty="0">
                <a:solidFill>
                  <a:srgbClr val="0000FF"/>
                </a:solidFill>
                <a:latin typeface="Consolas" panose="020B0609020204030204" pitchFamily="49" charset="0"/>
                <a:ea typeface="新宋体"/>
                <a:cs typeface="Consolas" panose="020B0609020204030204" pitchFamily="49" charset="0"/>
              </a:rPr>
              <a:t>void</a:t>
            </a:r>
            <a:r>
              <a:rPr lang="en-US" altLang="zh-CN" sz="1600" dirty="0">
                <a:solidFill>
                  <a:srgbClr val="000000"/>
                </a:solidFill>
                <a:latin typeface="Consolas" panose="020B0609020204030204" pitchFamily="49" charset="0"/>
                <a:ea typeface="新宋体"/>
                <a:cs typeface="Consolas" panose="020B0609020204030204" pitchFamily="49" charset="0"/>
              </a:rPr>
              <a:t> print();</a:t>
            </a:r>
          </a:p>
          <a:p>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2B91AF"/>
                </a:solidFill>
                <a:latin typeface="Consolas" panose="020B0609020204030204" pitchFamily="49" charset="0"/>
                <a:ea typeface="新宋体"/>
                <a:cs typeface="Consolas" panose="020B0609020204030204" pitchFamily="49" charset="0"/>
              </a:rPr>
              <a:t>Person</a:t>
            </a:r>
            <a:r>
              <a:rPr lang="en-US" altLang="zh-CN" sz="1600" dirty="0">
                <a:solidFill>
                  <a:srgbClr val="000000"/>
                </a:solidFill>
                <a:latin typeface="Consolas" panose="020B0609020204030204" pitchFamily="49" charset="0"/>
                <a:ea typeface="新宋体"/>
                <a:cs typeface="Consolas" panose="020B0609020204030204" pitchFamily="49" charset="0"/>
              </a:rPr>
              <a:t>::Person(</a:t>
            </a:r>
            <a:r>
              <a:rPr lang="en-US" altLang="zh-CN" sz="1600" dirty="0" err="1">
                <a:solidFill>
                  <a:srgbClr val="0000FF"/>
                </a:solidFill>
                <a:latin typeface="Consolas" panose="020B0609020204030204" pitchFamily="49" charset="0"/>
                <a:ea typeface="新宋体"/>
                <a:cs typeface="Consolas" panose="020B0609020204030204" pitchFamily="49" charset="0"/>
              </a:rPr>
              <a:t>const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00FF"/>
                </a:solidFill>
                <a:latin typeface="Consolas" panose="020B0609020204030204" pitchFamily="49" charset="0"/>
                <a:ea typeface="新宋体"/>
                <a:cs typeface="Consolas" panose="020B0609020204030204" pitchFamily="49" charset="0"/>
              </a:rPr>
              <a:t>char</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808080"/>
                </a:solidFill>
                <a:latin typeface="Consolas" panose="020B0609020204030204" pitchFamily="49" charset="0"/>
                <a:ea typeface="新宋体"/>
                <a:cs typeface="Consolas" panose="020B0609020204030204" pitchFamily="49" charset="0"/>
              </a:rPr>
              <a:t>name</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FF"/>
                </a:solidFill>
                <a:latin typeface="Consolas" panose="020B0609020204030204" pitchFamily="49" charset="0"/>
                <a:ea typeface="新宋体"/>
                <a:cs typeface="Consolas" panose="020B0609020204030204" pitchFamily="49" charset="0"/>
              </a:rPr>
              <a:t>int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808080"/>
                </a:solidFill>
                <a:latin typeface="Consolas" panose="020B0609020204030204" pitchFamily="49" charset="0"/>
                <a:ea typeface="新宋体"/>
                <a:cs typeface="Consolas" panose="020B0609020204030204" pitchFamily="49" charset="0"/>
              </a:rPr>
              <a:t>age</a:t>
            </a:r>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000000"/>
                </a:solidFill>
                <a:latin typeface="Consolas" panose="020B0609020204030204" pitchFamily="49" charset="0"/>
                <a:ea typeface="新宋体"/>
                <a:cs typeface="Consolas" panose="020B0609020204030204" pitchFamily="49" charset="0"/>
              </a:rPr>
              <a:t>{  _name = </a:t>
            </a:r>
            <a:r>
              <a:rPr lang="en-US" altLang="zh-CN" sz="1600" dirty="0">
                <a:solidFill>
                  <a:srgbClr val="0000FF"/>
                </a:solidFill>
                <a:latin typeface="Consolas" panose="020B0609020204030204" pitchFamily="49" charset="0"/>
                <a:ea typeface="新宋体"/>
                <a:cs typeface="Consolas" panose="020B0609020204030204" pitchFamily="49" charset="0"/>
              </a:rPr>
              <a:t>new</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00FF"/>
                </a:solidFill>
                <a:latin typeface="Consolas" panose="020B0609020204030204" pitchFamily="49" charset="0"/>
                <a:ea typeface="新宋体"/>
                <a:cs typeface="Consolas" panose="020B0609020204030204" pitchFamily="49" charset="0"/>
              </a:rPr>
              <a:t>char</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err="1">
                <a:solidFill>
                  <a:srgbClr val="000000"/>
                </a:solidFill>
                <a:latin typeface="Consolas" panose="020B0609020204030204" pitchFamily="49" charset="0"/>
                <a:ea typeface="新宋体"/>
                <a:cs typeface="Consolas" panose="020B0609020204030204" pitchFamily="49" charset="0"/>
              </a:rPr>
              <a:t>strlen</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a:solidFill>
                  <a:srgbClr val="808080"/>
                </a:solidFill>
                <a:latin typeface="Consolas" panose="020B0609020204030204" pitchFamily="49" charset="0"/>
                <a:ea typeface="新宋体"/>
                <a:cs typeface="Consolas" panose="020B0609020204030204" pitchFamily="49" charset="0"/>
              </a:rPr>
              <a:t>name</a:t>
            </a:r>
            <a:r>
              <a:rPr lang="en-US" altLang="zh-CN" sz="1600" dirty="0">
                <a:solidFill>
                  <a:srgbClr val="000000"/>
                </a:solidFill>
                <a:latin typeface="Consolas" panose="020B0609020204030204" pitchFamily="49" charset="0"/>
                <a:ea typeface="新宋体"/>
                <a:cs typeface="Consolas" panose="020B0609020204030204" pitchFamily="49" charset="0"/>
              </a:rPr>
              <a:t>) + 1];</a:t>
            </a:r>
            <a:r>
              <a:rPr lang="zh-CN" altLang="en-US" sz="1600" dirty="0">
                <a:solidFill>
                  <a:srgbClr val="000000"/>
                </a:solidFill>
                <a:latin typeface="Consolas" panose="020B0609020204030204" pitchFamily="49" charset="0"/>
                <a:ea typeface="新宋体"/>
                <a:cs typeface="Consolas" panose="020B0609020204030204" pitchFamily="49" charset="0"/>
              </a:rPr>
              <a:t> </a:t>
            </a:r>
            <a:r>
              <a:rPr lang="zh-CN" altLang="en-US" sz="1600" dirty="0">
                <a:solidFill>
                  <a:srgbClr val="FF0000"/>
                </a:solidFill>
                <a:latin typeface="Consolas" panose="020B0609020204030204" pitchFamily="49" charset="0"/>
                <a:ea typeface="新宋体"/>
                <a:cs typeface="Consolas" panose="020B0609020204030204" pitchFamily="49" charset="0"/>
              </a:rPr>
              <a:t>这里明显的为</a:t>
            </a:r>
            <a:r>
              <a:rPr lang="en-US" altLang="zh-CN" sz="1600" dirty="0">
                <a:solidFill>
                  <a:srgbClr val="FF0000"/>
                </a:solidFill>
                <a:latin typeface="Consolas" panose="020B0609020204030204" pitchFamily="49" charset="0"/>
                <a:ea typeface="新宋体"/>
                <a:cs typeface="Consolas" panose="020B0609020204030204" pitchFamily="49" charset="0"/>
              </a:rPr>
              <a:t>_name</a:t>
            </a:r>
            <a:r>
              <a:rPr lang="zh-CN" altLang="en-US" sz="1600" dirty="0">
                <a:solidFill>
                  <a:srgbClr val="FF0000"/>
                </a:solidFill>
                <a:latin typeface="Consolas" panose="020B0609020204030204" pitchFamily="49" charset="0"/>
                <a:ea typeface="新宋体"/>
                <a:cs typeface="Consolas" panose="020B0609020204030204" pitchFamily="49" charset="0"/>
              </a:rPr>
              <a:t>分配了空间</a:t>
            </a:r>
            <a:endParaRPr lang="en-US" altLang="zh-CN" sz="1600" dirty="0">
              <a:solidFill>
                <a:srgbClr val="FF0000"/>
              </a:solidFill>
              <a:latin typeface="Consolas" panose="020B0609020204030204" pitchFamily="49" charset="0"/>
              <a:ea typeface="新宋体"/>
              <a:cs typeface="Consolas" panose="020B0609020204030204" pitchFamily="49" charset="0"/>
            </a:endParaRPr>
          </a:p>
          <a:p>
            <a:pPr marL="355600"/>
            <a:r>
              <a:rPr lang="en-US" altLang="zh-CN" sz="1600" dirty="0" err="1">
                <a:solidFill>
                  <a:srgbClr val="000000"/>
                </a:solidFill>
                <a:latin typeface="Consolas" panose="020B0609020204030204" pitchFamily="49" charset="0"/>
                <a:ea typeface="新宋体"/>
                <a:cs typeface="Consolas" panose="020B0609020204030204" pitchFamily="49" charset="0"/>
              </a:rPr>
              <a:t>strcpy_s</a:t>
            </a:r>
            <a:r>
              <a:rPr lang="en-US" altLang="zh-CN" sz="1600" dirty="0">
                <a:solidFill>
                  <a:srgbClr val="000000"/>
                </a:solidFill>
                <a:latin typeface="Consolas" panose="020B0609020204030204" pitchFamily="49" charset="0"/>
                <a:ea typeface="新宋体"/>
                <a:cs typeface="Consolas" panose="020B0609020204030204" pitchFamily="49" charset="0"/>
              </a:rPr>
              <a:t>(_name, </a:t>
            </a:r>
            <a:r>
              <a:rPr lang="en-US" altLang="zh-CN" sz="1600" dirty="0" err="1">
                <a:solidFill>
                  <a:srgbClr val="000000"/>
                </a:solidFill>
                <a:latin typeface="Consolas" panose="020B0609020204030204" pitchFamily="49" charset="0"/>
                <a:ea typeface="新宋体"/>
                <a:cs typeface="Consolas" panose="020B0609020204030204" pitchFamily="49" charset="0"/>
              </a:rPr>
              <a:t>strlen</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a:solidFill>
                  <a:srgbClr val="808080"/>
                </a:solidFill>
                <a:latin typeface="Consolas" panose="020B0609020204030204" pitchFamily="49" charset="0"/>
                <a:ea typeface="新宋体"/>
                <a:cs typeface="Consolas" panose="020B0609020204030204" pitchFamily="49" charset="0"/>
              </a:rPr>
              <a:t>name</a:t>
            </a:r>
            <a:r>
              <a:rPr lang="en-US" altLang="zh-CN" sz="1600" dirty="0">
                <a:solidFill>
                  <a:srgbClr val="000000"/>
                </a:solidFill>
                <a:latin typeface="Consolas" panose="020B0609020204030204" pitchFamily="49" charset="0"/>
                <a:ea typeface="新宋体"/>
                <a:cs typeface="Consolas" panose="020B0609020204030204" pitchFamily="49" charset="0"/>
              </a:rPr>
              <a:t>) + 1, </a:t>
            </a:r>
            <a:r>
              <a:rPr lang="en-US" altLang="zh-CN" sz="1600" dirty="0">
                <a:solidFill>
                  <a:srgbClr val="808080"/>
                </a:solidFill>
                <a:latin typeface="Consolas" panose="020B0609020204030204" pitchFamily="49" charset="0"/>
                <a:ea typeface="新宋体"/>
                <a:cs typeface="Consolas" panose="020B0609020204030204" pitchFamily="49" charset="0"/>
              </a:rPr>
              <a:t>name</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zh-CN" altLang="en-US" sz="1600" dirty="0">
                <a:solidFill>
                  <a:srgbClr val="000000"/>
                </a:solidFill>
                <a:latin typeface="Consolas" panose="020B0609020204030204" pitchFamily="49" charset="0"/>
                <a:ea typeface="新宋体"/>
                <a:cs typeface="Consolas" panose="020B0609020204030204" pitchFamily="49" charset="0"/>
              </a:rPr>
              <a:t>（</a:t>
            </a:r>
            <a:r>
              <a:rPr lang="en-US" altLang="zh-CN" sz="1600" dirty="0">
                <a:solidFill>
                  <a:srgbClr val="000000"/>
                </a:solidFill>
                <a:latin typeface="Consolas" panose="020B0609020204030204" pitchFamily="49" charset="0"/>
                <a:ea typeface="新宋体"/>
                <a:cs typeface="Consolas" panose="020B0609020204030204" pitchFamily="49" charset="0"/>
              </a:rPr>
              <a:t>VS2019</a:t>
            </a:r>
            <a:r>
              <a:rPr lang="zh-CN" altLang="en-US" sz="1600" dirty="0">
                <a:solidFill>
                  <a:srgbClr val="000000"/>
                </a:solidFill>
                <a:latin typeface="Consolas" panose="020B0609020204030204" pitchFamily="49" charset="0"/>
                <a:ea typeface="新宋体"/>
                <a:cs typeface="Consolas" panose="020B0609020204030204" pitchFamily="49" charset="0"/>
              </a:rPr>
              <a:t>）</a:t>
            </a:r>
            <a:endParaRPr lang="en-US" altLang="zh-CN" sz="1600" dirty="0">
              <a:solidFill>
                <a:srgbClr val="000000"/>
              </a:solidFill>
              <a:latin typeface="Consolas" panose="020B0609020204030204" pitchFamily="49" charset="0"/>
              <a:ea typeface="新宋体"/>
              <a:cs typeface="Consolas" panose="020B0609020204030204" pitchFamily="49" charset="0"/>
            </a:endParaRPr>
          </a:p>
          <a:p>
            <a:pPr marL="355600"/>
            <a:r>
              <a:rPr lang="en-US" altLang="zh-CN" sz="1600" dirty="0">
                <a:solidFill>
                  <a:srgbClr val="000000"/>
                </a:solidFill>
                <a:latin typeface="Consolas" panose="020B0609020204030204" pitchFamily="49" charset="0"/>
                <a:ea typeface="新宋体"/>
                <a:cs typeface="Consolas" panose="020B0609020204030204" pitchFamily="49" charset="0"/>
              </a:rPr>
              <a:t>_age = </a:t>
            </a:r>
            <a:r>
              <a:rPr lang="en-US" altLang="zh-CN" sz="1600" dirty="0">
                <a:solidFill>
                  <a:srgbClr val="808080"/>
                </a:solidFill>
                <a:latin typeface="Consolas" panose="020B0609020204030204" pitchFamily="49" charset="0"/>
                <a:ea typeface="新宋体"/>
                <a:cs typeface="Consolas" panose="020B0609020204030204" pitchFamily="49" charset="0"/>
              </a:rPr>
              <a:t>age</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sz="1600" dirty="0" err="1">
                <a:solidFill>
                  <a:srgbClr val="000000"/>
                </a:solidFill>
                <a:latin typeface="Consolas" panose="020B0609020204030204" pitchFamily="49" charset="0"/>
                <a:ea typeface="新宋体"/>
                <a:cs typeface="Consolas" panose="020B0609020204030204" pitchFamily="49" charset="0"/>
              </a:rPr>
              <a:t>cout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"constructor ...."</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endl</a:t>
            </a:r>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2B91AF"/>
                </a:solidFill>
                <a:latin typeface="Consolas" panose="020B0609020204030204" pitchFamily="49" charset="0"/>
                <a:ea typeface="新宋体"/>
                <a:cs typeface="Consolas" panose="020B0609020204030204" pitchFamily="49" charset="0"/>
              </a:rPr>
              <a:t>Person</a:t>
            </a:r>
            <a:r>
              <a:rPr lang="en-US" altLang="zh-CN" sz="1600" dirty="0">
                <a:solidFill>
                  <a:srgbClr val="000000"/>
                </a:solidFill>
                <a:latin typeface="Consolas" panose="020B0609020204030204" pitchFamily="49" charset="0"/>
                <a:ea typeface="新宋体"/>
                <a:cs typeface="Consolas" panose="020B0609020204030204" pitchFamily="49" charset="0"/>
              </a:rPr>
              <a:t>::~Person()</a:t>
            </a:r>
          </a:p>
          <a:p>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cout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"destructor..."</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_name</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A31515"/>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_age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endl</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273050"/>
            <a:r>
              <a:rPr lang="en-US" altLang="zh-CN" sz="1600" dirty="0">
                <a:solidFill>
                  <a:srgbClr val="0000FF"/>
                </a:solidFill>
                <a:latin typeface="Consolas" panose="020B0609020204030204" pitchFamily="49" charset="0"/>
                <a:ea typeface="新宋体"/>
                <a:cs typeface="Consolas" panose="020B0609020204030204" pitchFamily="49" charset="0"/>
              </a:rPr>
              <a:t>if</a:t>
            </a:r>
            <a:r>
              <a:rPr lang="en-US" altLang="zh-CN" sz="1600" dirty="0">
                <a:solidFill>
                  <a:srgbClr val="000000"/>
                </a:solidFill>
                <a:latin typeface="Consolas" panose="020B0609020204030204" pitchFamily="49" charset="0"/>
                <a:ea typeface="新宋体"/>
                <a:cs typeface="Consolas" panose="020B0609020204030204" pitchFamily="49" charset="0"/>
              </a:rPr>
              <a:t> (_name) </a:t>
            </a:r>
            <a:r>
              <a:rPr lang="en-US" altLang="zh-CN" sz="1600" dirty="0">
                <a:solidFill>
                  <a:srgbClr val="0000FF"/>
                </a:solidFill>
                <a:latin typeface="Consolas" panose="020B0609020204030204" pitchFamily="49" charset="0"/>
                <a:ea typeface="新宋体"/>
                <a:cs typeface="Consolas" panose="020B0609020204030204" pitchFamily="49" charset="0"/>
              </a:rPr>
              <a:t>delete[]</a:t>
            </a:r>
            <a:r>
              <a:rPr lang="en-US" altLang="zh-CN" sz="1600" dirty="0">
                <a:solidFill>
                  <a:srgbClr val="000000"/>
                </a:solidFill>
                <a:latin typeface="Consolas" panose="020B0609020204030204" pitchFamily="49" charset="0"/>
                <a:ea typeface="新宋体"/>
                <a:cs typeface="Consolas" panose="020B0609020204030204" pitchFamily="49" charset="0"/>
              </a:rPr>
              <a:t> _name;</a:t>
            </a:r>
            <a:r>
              <a:rPr lang="zh-CN" altLang="en-US" sz="1600" dirty="0">
                <a:solidFill>
                  <a:srgbClr val="000000"/>
                </a:solidFill>
                <a:latin typeface="Consolas" panose="020B0609020204030204" pitchFamily="49" charset="0"/>
                <a:ea typeface="新宋体"/>
                <a:cs typeface="Consolas" panose="020B0609020204030204" pitchFamily="49" charset="0"/>
              </a:rPr>
              <a:t> </a:t>
            </a:r>
            <a:r>
              <a:rPr lang="zh-CN" altLang="en-US" sz="1600" dirty="0">
                <a:solidFill>
                  <a:srgbClr val="FF0000"/>
                </a:solidFill>
                <a:latin typeface="Consolas" panose="020B0609020204030204" pitchFamily="49" charset="0"/>
                <a:ea typeface="新宋体"/>
                <a:cs typeface="Consolas" panose="020B0609020204030204" pitchFamily="49" charset="0"/>
              </a:rPr>
              <a:t>这里收回了</a:t>
            </a:r>
            <a:r>
              <a:rPr lang="en-US" altLang="zh-CN" sz="1600" dirty="0">
                <a:solidFill>
                  <a:srgbClr val="FF0000"/>
                </a:solidFill>
                <a:latin typeface="Consolas" panose="020B0609020204030204" pitchFamily="49" charset="0"/>
                <a:ea typeface="新宋体"/>
                <a:cs typeface="Consolas" panose="020B0609020204030204" pitchFamily="49" charset="0"/>
              </a:rPr>
              <a:t>_name</a:t>
            </a:r>
            <a:r>
              <a:rPr lang="zh-CN" altLang="en-US" sz="1600" dirty="0">
                <a:solidFill>
                  <a:srgbClr val="FF0000"/>
                </a:solidFill>
                <a:latin typeface="Consolas" panose="020B0609020204030204" pitchFamily="49" charset="0"/>
                <a:ea typeface="新宋体"/>
                <a:cs typeface="Consolas" panose="020B0609020204030204" pitchFamily="49" charset="0"/>
              </a:rPr>
              <a:t>（若非空）的空间</a:t>
            </a:r>
            <a:endParaRPr lang="en-US" altLang="zh-CN" sz="1600" dirty="0">
              <a:solidFill>
                <a:srgbClr val="FF0000"/>
              </a:solidFill>
              <a:latin typeface="Consolas" panose="020B0609020204030204" pitchFamily="49" charset="0"/>
              <a:ea typeface="新宋体"/>
              <a:cs typeface="Consolas" panose="020B0609020204030204" pitchFamily="49" charset="0"/>
            </a:endParaRPr>
          </a:p>
          <a:p>
            <a:r>
              <a:rPr lang="en-US" altLang="zh-CN" sz="1600" dirty="0">
                <a:solidFill>
                  <a:srgbClr val="000000"/>
                </a:solidFill>
                <a:latin typeface="Consolas" panose="020B0609020204030204" pitchFamily="49" charset="0"/>
                <a:ea typeface="新宋体"/>
                <a:cs typeface="Consolas" panose="020B0609020204030204" pitchFamily="49" charset="0"/>
              </a:rPr>
              <a:t>}</a:t>
            </a:r>
          </a:p>
        </p:txBody>
      </p:sp>
    </p:spTree>
    <p:extLst>
      <p:ext uri="{BB962C8B-B14F-4D97-AF65-F5344CB8AC3E}">
        <p14:creationId xmlns:p14="http://schemas.microsoft.com/office/powerpoint/2010/main" val="1415729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403648" y="4169772"/>
            <a:ext cx="7237511" cy="1754326"/>
          </a:xfrm>
          <a:prstGeom prst="rect">
            <a:avLst/>
          </a:prstGeom>
          <a:solidFill>
            <a:schemeClr val="tx1"/>
          </a:solidFill>
        </p:spPr>
        <p:txBody>
          <a:bodyPr wrap="square">
            <a:spAutoFit/>
          </a:bodyPr>
          <a:lstStyle/>
          <a:p>
            <a:r>
              <a:rPr lang="en-US" altLang="zh-CN" dirty="0">
                <a:solidFill>
                  <a:schemeClr val="bg1"/>
                </a:solidFill>
              </a:rPr>
              <a:t>constructor ....</a:t>
            </a:r>
          </a:p>
          <a:p>
            <a:r>
              <a:rPr lang="en-US" altLang="zh-CN" dirty="0">
                <a:solidFill>
                  <a:schemeClr val="bg1"/>
                </a:solidFill>
              </a:rPr>
              <a:t>Person </a:t>
            </a:r>
            <a:r>
              <a:rPr lang="en-US" altLang="zh-CN" dirty="0" err="1">
                <a:solidFill>
                  <a:schemeClr val="bg1"/>
                </a:solidFill>
              </a:rPr>
              <a:t>p1</a:t>
            </a:r>
            <a:r>
              <a:rPr lang="en-US" altLang="zh-CN" dirty="0">
                <a:solidFill>
                  <a:schemeClr val="bg1"/>
                </a:solidFill>
              </a:rPr>
              <a:t> is </a:t>
            </a:r>
            <a:r>
              <a:rPr lang="zh-CN" altLang="en-US" dirty="0">
                <a:solidFill>
                  <a:schemeClr val="bg1"/>
                </a:solidFill>
              </a:rPr>
              <a:t>张勇 </a:t>
            </a:r>
            <a:r>
              <a:rPr lang="en-US" altLang="zh-CN" dirty="0">
                <a:solidFill>
                  <a:schemeClr val="bg1"/>
                </a:solidFill>
              </a:rPr>
              <a:t>1      The Address of _name: </a:t>
            </a:r>
            <a:r>
              <a:rPr lang="en-US" altLang="zh-CN" dirty="0" err="1">
                <a:solidFill>
                  <a:schemeClr val="bg1"/>
                </a:solidFill>
              </a:rPr>
              <a:t>00000000001DF828</a:t>
            </a:r>
            <a:endParaRPr lang="en-US" altLang="zh-CN" dirty="0">
              <a:solidFill>
                <a:schemeClr val="bg1"/>
              </a:solidFill>
            </a:endParaRPr>
          </a:p>
          <a:p>
            <a:r>
              <a:rPr lang="en-US" altLang="zh-CN" dirty="0">
                <a:solidFill>
                  <a:schemeClr val="bg1"/>
                </a:solidFill>
              </a:rPr>
              <a:t>Person </a:t>
            </a:r>
            <a:r>
              <a:rPr lang="en-US" altLang="zh-CN" dirty="0" err="1">
                <a:solidFill>
                  <a:schemeClr val="bg1"/>
                </a:solidFill>
              </a:rPr>
              <a:t>p2</a:t>
            </a:r>
            <a:r>
              <a:rPr lang="en-US" altLang="zh-CN" dirty="0">
                <a:solidFill>
                  <a:schemeClr val="bg1"/>
                </a:solidFill>
              </a:rPr>
              <a:t> is </a:t>
            </a:r>
            <a:r>
              <a:rPr lang="zh-CN" altLang="en-US" dirty="0">
                <a:solidFill>
                  <a:schemeClr val="bg1"/>
                </a:solidFill>
              </a:rPr>
              <a:t>张勇 </a:t>
            </a:r>
            <a:r>
              <a:rPr lang="en-US" altLang="zh-CN" dirty="0">
                <a:solidFill>
                  <a:schemeClr val="bg1"/>
                </a:solidFill>
              </a:rPr>
              <a:t>2      The Address of _name: </a:t>
            </a:r>
            <a:r>
              <a:rPr lang="en-US" altLang="zh-CN" dirty="0" err="1">
                <a:solidFill>
                  <a:schemeClr val="bg1"/>
                </a:solidFill>
              </a:rPr>
              <a:t>00000000001DF858</a:t>
            </a:r>
            <a:endParaRPr lang="en-US" altLang="zh-CN" dirty="0">
              <a:solidFill>
                <a:schemeClr val="bg1"/>
              </a:solidFill>
            </a:endParaRPr>
          </a:p>
          <a:p>
            <a:r>
              <a:rPr lang="en-US" altLang="zh-CN" dirty="0">
                <a:solidFill>
                  <a:schemeClr val="bg1"/>
                </a:solidFill>
              </a:rPr>
              <a:t>destructor...</a:t>
            </a:r>
            <a:r>
              <a:rPr lang="zh-CN" altLang="en-US" dirty="0">
                <a:solidFill>
                  <a:schemeClr val="bg1"/>
                </a:solidFill>
              </a:rPr>
              <a:t>张勇 </a:t>
            </a:r>
            <a:r>
              <a:rPr lang="en-US" altLang="zh-CN" dirty="0">
                <a:solidFill>
                  <a:schemeClr val="bg1"/>
                </a:solidFill>
              </a:rPr>
              <a:t>2</a:t>
            </a:r>
          </a:p>
          <a:p>
            <a:r>
              <a:rPr lang="en-US" altLang="zh-CN" dirty="0">
                <a:solidFill>
                  <a:schemeClr val="bg1"/>
                </a:solidFill>
              </a:rPr>
              <a:t>destructor...</a:t>
            </a:r>
            <a:r>
              <a:rPr lang="zh-CN" altLang="en-US" dirty="0">
                <a:solidFill>
                  <a:schemeClr val="bg1"/>
                </a:solidFill>
              </a:rPr>
              <a:t>葺葺葺葺</a:t>
            </a:r>
            <a:r>
              <a:rPr lang="en-US" altLang="zh-CN" dirty="0">
                <a:solidFill>
                  <a:schemeClr val="bg1"/>
                </a:solidFill>
              </a:rPr>
              <a:t>?1</a:t>
            </a:r>
          </a:p>
          <a:p>
            <a:endParaRPr lang="zh-CN" altLang="en-US" dirty="0">
              <a:solidFill>
                <a:schemeClr val="bg1"/>
              </a:solidFill>
            </a:endParaRPr>
          </a:p>
        </p:txBody>
      </p:sp>
      <p:sp>
        <p:nvSpPr>
          <p:cNvPr id="10" name="矩形 9"/>
          <p:cNvSpPr/>
          <p:nvPr/>
        </p:nvSpPr>
        <p:spPr>
          <a:xfrm>
            <a:off x="5778720" y="5157192"/>
            <a:ext cx="3057247" cy="954107"/>
          </a:xfrm>
          <a:prstGeom prst="rect">
            <a:avLst/>
          </a:prstGeom>
          <a:solidFill>
            <a:srgbClr val="FFFF00"/>
          </a:solidFill>
        </p:spPr>
        <p:txBody>
          <a:bodyPr wrap="none">
            <a:spAutoFit/>
          </a:bodyPr>
          <a:lstStyle/>
          <a:p>
            <a:r>
              <a:rPr lang="zh-CN" altLang="en-US" sz="2800" b="1" dirty="0"/>
              <a:t>程序运行异常</a:t>
            </a:r>
            <a:r>
              <a:rPr lang="en-US" altLang="zh-CN" sz="2800" b="1" dirty="0"/>
              <a:t>——</a:t>
            </a:r>
          </a:p>
          <a:p>
            <a:r>
              <a:rPr lang="zh-CN" altLang="en-US" sz="2800" b="1" dirty="0"/>
              <a:t>不能正常终止程序</a:t>
            </a:r>
          </a:p>
        </p:txBody>
      </p:sp>
      <p:sp>
        <p:nvSpPr>
          <p:cNvPr id="8" name="矩形 7"/>
          <p:cNvSpPr/>
          <p:nvPr/>
        </p:nvSpPr>
        <p:spPr>
          <a:xfrm>
            <a:off x="395536" y="620688"/>
            <a:ext cx="8064896" cy="3293209"/>
          </a:xfrm>
          <a:prstGeom prst="rect">
            <a:avLst/>
          </a:prstGeom>
          <a:solidFill>
            <a:schemeClr val="bg1"/>
          </a:solidFill>
          <a:ln>
            <a:solidFill>
              <a:schemeClr val="tx2">
                <a:lumMod val="75000"/>
                <a:lumOff val="25000"/>
              </a:schemeClr>
            </a:solidFill>
          </a:ln>
        </p:spPr>
        <p:txBody>
          <a:bodyPr wrap="square">
            <a:spAutoFit/>
          </a:bodyPr>
          <a:lstStyle/>
          <a:p>
            <a:r>
              <a:rPr lang="en-US" altLang="zh-CN" sz="1600" dirty="0">
                <a:solidFill>
                  <a:srgbClr val="0000FF"/>
                </a:solidFill>
                <a:latin typeface="Consolas" panose="020B0609020204030204" pitchFamily="49" charset="0"/>
                <a:ea typeface="新宋体"/>
                <a:cs typeface="Consolas" panose="020B0609020204030204" pitchFamily="49" charset="0"/>
              </a:rPr>
              <a:t>void</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2B91AF"/>
                </a:solidFill>
                <a:latin typeface="Consolas" panose="020B0609020204030204" pitchFamily="49" charset="0"/>
                <a:ea typeface="新宋体"/>
                <a:cs typeface="Consolas" panose="020B0609020204030204" pitchFamily="49" charset="0"/>
              </a:rPr>
              <a:t>Person</a:t>
            </a:r>
            <a:r>
              <a:rPr lang="en-US" altLang="zh-CN" sz="1600" dirty="0">
                <a:solidFill>
                  <a:srgbClr val="000000"/>
                </a:solidFill>
                <a:latin typeface="Consolas" panose="020B0609020204030204" pitchFamily="49" charset="0"/>
                <a:ea typeface="新宋体"/>
                <a:cs typeface="Consolas" panose="020B0609020204030204" pitchFamily="49" charset="0"/>
              </a:rPr>
              <a:t>::print()</a:t>
            </a:r>
          </a:p>
          <a:p>
            <a:pPr marL="355600" indent="-355600"/>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cout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_name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A31515"/>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_age</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"\t The Address of _name: "</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&amp;_name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endl</a:t>
            </a:r>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a:solidFill>
                  <a:srgbClr val="000000"/>
                </a:solidFill>
                <a:latin typeface="Consolas" panose="020B0609020204030204" pitchFamily="49" charset="0"/>
                <a:ea typeface="新宋体"/>
                <a:cs typeface="Consolas" panose="020B0609020204030204" pitchFamily="49" charset="0"/>
              </a:rPr>
              <a:t>}</a:t>
            </a:r>
          </a:p>
          <a:p>
            <a:r>
              <a:rPr lang="en-US" altLang="zh-CN" sz="1600" dirty="0" err="1">
                <a:solidFill>
                  <a:srgbClr val="0000FF"/>
                </a:solidFill>
                <a:latin typeface="Consolas" panose="020B0609020204030204" pitchFamily="49" charset="0"/>
                <a:ea typeface="新宋体"/>
                <a:cs typeface="Consolas" panose="020B0609020204030204" pitchFamily="49" charset="0"/>
              </a:rPr>
              <a:t>int</a:t>
            </a:r>
            <a:r>
              <a:rPr lang="en-US" altLang="zh-CN" sz="1600" dirty="0">
                <a:solidFill>
                  <a:srgbClr val="000000"/>
                </a:solidFill>
                <a:latin typeface="Consolas" panose="020B0609020204030204" pitchFamily="49" charset="0"/>
                <a:ea typeface="新宋体"/>
                <a:cs typeface="Consolas" panose="020B0609020204030204" pitchFamily="49" charset="0"/>
              </a:rPr>
              <a:t> main()</a:t>
            </a:r>
          </a:p>
          <a:p>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2B91AF"/>
                </a:solidFill>
                <a:latin typeface="Consolas" panose="020B0609020204030204" pitchFamily="49" charset="0"/>
                <a:ea typeface="新宋体"/>
                <a:cs typeface="Consolas" panose="020B0609020204030204" pitchFamily="49" charset="0"/>
              </a:rPr>
              <a:t>Person</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p1</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a:solidFill>
                  <a:srgbClr val="A31515"/>
                </a:solidFill>
                <a:latin typeface="Consolas" panose="020B0609020204030204" pitchFamily="49" charset="0"/>
                <a:ea typeface="新宋体"/>
                <a:cs typeface="Consolas" panose="020B0609020204030204" pitchFamily="49" charset="0"/>
              </a:rPr>
              <a:t>"</a:t>
            </a:r>
            <a:r>
              <a:rPr lang="zh-CN" altLang="en-US" sz="1600" dirty="0">
                <a:solidFill>
                  <a:srgbClr val="A31515"/>
                </a:solidFill>
                <a:latin typeface="Consolas" panose="020B0609020204030204" pitchFamily="49" charset="0"/>
                <a:ea typeface="新宋体"/>
                <a:cs typeface="Consolas" panose="020B0609020204030204" pitchFamily="49" charset="0"/>
              </a:rPr>
              <a:t>张勇</a:t>
            </a:r>
            <a:r>
              <a:rPr lang="en-US" altLang="zh-CN" sz="1600" dirty="0">
                <a:solidFill>
                  <a:srgbClr val="A31515"/>
                </a:solidFill>
                <a:latin typeface="Consolas" panose="020B0609020204030204" pitchFamily="49" charset="0"/>
                <a:ea typeface="新宋体"/>
                <a:cs typeface="Consolas" panose="020B0609020204030204" pitchFamily="49" charset="0"/>
              </a:rPr>
              <a:t>"</a:t>
            </a:r>
            <a:r>
              <a:rPr lang="en-US" altLang="zh-CN" sz="1600" dirty="0">
                <a:solidFill>
                  <a:srgbClr val="000000"/>
                </a:solidFill>
                <a:latin typeface="Consolas" panose="020B0609020204030204" pitchFamily="49" charset="0"/>
                <a:ea typeface="新宋体"/>
                <a:cs typeface="Consolas" panose="020B0609020204030204" pitchFamily="49" charset="0"/>
              </a:rPr>
              <a:t>, 21);</a:t>
            </a:r>
          </a:p>
          <a:p>
            <a:pPr marL="273050"/>
            <a:r>
              <a:rPr lang="en-US" altLang="zh-CN" sz="1600" dirty="0">
                <a:solidFill>
                  <a:srgbClr val="2B91AF"/>
                </a:solidFill>
                <a:latin typeface="Consolas" panose="020B0609020204030204" pitchFamily="49" charset="0"/>
                <a:ea typeface="新宋体"/>
                <a:cs typeface="Consolas" panose="020B0609020204030204" pitchFamily="49" charset="0"/>
              </a:rPr>
              <a:t>Person</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p2</a:t>
            </a:r>
            <a:r>
              <a:rPr lang="en-US" altLang="zh-CN" sz="1600" dirty="0">
                <a:solidFill>
                  <a:srgbClr val="000000"/>
                </a:solidFill>
                <a:latin typeface="Consolas" panose="020B0609020204030204" pitchFamily="49" charset="0"/>
                <a:ea typeface="新宋体"/>
                <a:cs typeface="Consolas" panose="020B0609020204030204" pitchFamily="49" charset="0"/>
              </a:rPr>
              <a:t>(</a:t>
            </a:r>
            <a:r>
              <a:rPr lang="en-US" altLang="zh-CN" sz="1600" dirty="0" err="1">
                <a:solidFill>
                  <a:srgbClr val="000000"/>
                </a:solidFill>
                <a:latin typeface="Consolas" panose="020B0609020204030204" pitchFamily="49" charset="0"/>
                <a:ea typeface="新宋体"/>
                <a:cs typeface="Consolas" panose="020B0609020204030204" pitchFamily="49" charset="0"/>
              </a:rPr>
              <a:t>p1</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273050"/>
            <a:r>
              <a:rPr lang="en-US" altLang="zh-CN" sz="1600" dirty="0" err="1">
                <a:solidFill>
                  <a:srgbClr val="000000"/>
                </a:solidFill>
                <a:latin typeface="Consolas" panose="020B0609020204030204" pitchFamily="49" charset="0"/>
                <a:ea typeface="新宋体"/>
                <a:cs typeface="Consolas" panose="020B0609020204030204" pitchFamily="49" charset="0"/>
              </a:rPr>
              <a:t>p1.setAge</a:t>
            </a:r>
            <a:r>
              <a:rPr lang="en-US" altLang="zh-CN" sz="1600" dirty="0">
                <a:solidFill>
                  <a:srgbClr val="000000"/>
                </a:solidFill>
                <a:latin typeface="Consolas" panose="020B0609020204030204" pitchFamily="49" charset="0"/>
                <a:ea typeface="新宋体"/>
                <a:cs typeface="Consolas" panose="020B0609020204030204" pitchFamily="49" charset="0"/>
              </a:rPr>
              <a:t>(1);</a:t>
            </a:r>
          </a:p>
          <a:p>
            <a:pPr marL="273050"/>
            <a:r>
              <a:rPr lang="en-US" altLang="zh-CN" sz="1600" dirty="0" err="1">
                <a:solidFill>
                  <a:srgbClr val="000000"/>
                </a:solidFill>
                <a:latin typeface="Consolas" panose="020B0609020204030204" pitchFamily="49" charset="0"/>
                <a:ea typeface="新宋体"/>
                <a:cs typeface="Consolas" panose="020B0609020204030204" pitchFamily="49" charset="0"/>
              </a:rPr>
              <a:t>p2.setAge</a:t>
            </a:r>
            <a:r>
              <a:rPr lang="en-US" altLang="zh-CN" sz="1600" dirty="0">
                <a:solidFill>
                  <a:srgbClr val="000000"/>
                </a:solidFill>
                <a:latin typeface="Consolas" panose="020B0609020204030204" pitchFamily="49" charset="0"/>
                <a:ea typeface="新宋体"/>
                <a:cs typeface="Consolas" panose="020B0609020204030204" pitchFamily="49" charset="0"/>
              </a:rPr>
              <a:t>(2);</a:t>
            </a:r>
          </a:p>
          <a:p>
            <a:pPr marL="273050"/>
            <a:r>
              <a:rPr lang="en-US" altLang="zh-CN" sz="1600" dirty="0" err="1">
                <a:solidFill>
                  <a:srgbClr val="000000"/>
                </a:solidFill>
                <a:latin typeface="Consolas" panose="020B0609020204030204" pitchFamily="49" charset="0"/>
                <a:ea typeface="新宋体"/>
                <a:cs typeface="Consolas" panose="020B0609020204030204" pitchFamily="49" charset="0"/>
              </a:rPr>
              <a:t>cout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"Person </a:t>
            </a:r>
            <a:r>
              <a:rPr lang="en-US" altLang="zh-CN" sz="1600" dirty="0" err="1">
                <a:solidFill>
                  <a:srgbClr val="A31515"/>
                </a:solidFill>
                <a:latin typeface="Consolas" panose="020B0609020204030204" pitchFamily="49" charset="0"/>
                <a:ea typeface="新宋体"/>
                <a:cs typeface="Consolas" panose="020B0609020204030204" pitchFamily="49" charset="0"/>
              </a:rPr>
              <a:t>p1</a:t>
            </a:r>
            <a:r>
              <a:rPr lang="en-US" altLang="zh-CN" sz="1600" dirty="0">
                <a:solidFill>
                  <a:srgbClr val="A31515"/>
                </a:solidFill>
                <a:latin typeface="Consolas" panose="020B0609020204030204" pitchFamily="49" charset="0"/>
                <a:ea typeface="新宋体"/>
                <a:cs typeface="Consolas" panose="020B0609020204030204" pitchFamily="49" charset="0"/>
              </a:rPr>
              <a:t> is "</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p1.print</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273050"/>
            <a:r>
              <a:rPr lang="en-US" altLang="zh-CN" sz="1600" dirty="0" err="1">
                <a:solidFill>
                  <a:srgbClr val="000000"/>
                </a:solidFill>
                <a:latin typeface="Consolas" panose="020B0609020204030204" pitchFamily="49" charset="0"/>
                <a:ea typeface="新宋体"/>
                <a:cs typeface="Consolas" panose="020B0609020204030204" pitchFamily="49" charset="0"/>
              </a:rPr>
              <a:t>cout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008080"/>
                </a:solidFill>
                <a:latin typeface="Consolas" panose="020B0609020204030204" pitchFamily="49" charset="0"/>
                <a:ea typeface="新宋体"/>
                <a:cs typeface="Consolas" panose="020B0609020204030204" pitchFamily="49" charset="0"/>
              </a:rPr>
              <a:t>&lt;&lt;</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a:solidFill>
                  <a:srgbClr val="A31515"/>
                </a:solidFill>
                <a:latin typeface="Consolas" panose="020B0609020204030204" pitchFamily="49" charset="0"/>
                <a:ea typeface="新宋体"/>
                <a:cs typeface="Consolas" panose="020B0609020204030204" pitchFamily="49" charset="0"/>
              </a:rPr>
              <a:t>"Person </a:t>
            </a:r>
            <a:r>
              <a:rPr lang="en-US" altLang="zh-CN" sz="1600" dirty="0" err="1">
                <a:solidFill>
                  <a:srgbClr val="A31515"/>
                </a:solidFill>
                <a:latin typeface="Consolas" panose="020B0609020204030204" pitchFamily="49" charset="0"/>
                <a:ea typeface="新宋体"/>
                <a:cs typeface="Consolas" panose="020B0609020204030204" pitchFamily="49" charset="0"/>
              </a:rPr>
              <a:t>p2</a:t>
            </a:r>
            <a:r>
              <a:rPr lang="en-US" altLang="zh-CN" sz="1600" dirty="0">
                <a:solidFill>
                  <a:srgbClr val="A31515"/>
                </a:solidFill>
                <a:latin typeface="Consolas" panose="020B0609020204030204" pitchFamily="49" charset="0"/>
                <a:ea typeface="新宋体"/>
                <a:cs typeface="Consolas" panose="020B0609020204030204" pitchFamily="49" charset="0"/>
              </a:rPr>
              <a:t> is "</a:t>
            </a:r>
            <a:r>
              <a:rPr lang="en-US" altLang="zh-CN" sz="1600" dirty="0">
                <a:solidFill>
                  <a:srgbClr val="000000"/>
                </a:solidFill>
                <a:latin typeface="Consolas" panose="020B0609020204030204" pitchFamily="49" charset="0"/>
                <a:ea typeface="新宋体"/>
                <a:cs typeface="Consolas" panose="020B0609020204030204" pitchFamily="49" charset="0"/>
              </a:rPr>
              <a:t>; </a:t>
            </a:r>
            <a:r>
              <a:rPr lang="en-US" altLang="zh-CN" sz="1600" dirty="0" err="1">
                <a:solidFill>
                  <a:srgbClr val="000000"/>
                </a:solidFill>
                <a:latin typeface="Consolas" panose="020B0609020204030204" pitchFamily="49" charset="0"/>
                <a:ea typeface="新宋体"/>
                <a:cs typeface="Consolas" panose="020B0609020204030204" pitchFamily="49" charset="0"/>
              </a:rPr>
              <a:t>p2.print</a:t>
            </a:r>
            <a:r>
              <a:rPr lang="en-US" altLang="zh-CN" sz="1600" dirty="0">
                <a:solidFill>
                  <a:srgbClr val="000000"/>
                </a:solidFill>
                <a:latin typeface="Consolas" panose="020B0609020204030204" pitchFamily="49" charset="0"/>
                <a:ea typeface="新宋体"/>
                <a:cs typeface="Consolas" panose="020B0609020204030204" pitchFamily="49" charset="0"/>
              </a:rPr>
              <a:t>();</a:t>
            </a:r>
          </a:p>
          <a:p>
            <a:pPr marL="273050"/>
            <a:r>
              <a:rPr lang="en-US" altLang="zh-CN" sz="1600" dirty="0">
                <a:solidFill>
                  <a:srgbClr val="0000FF"/>
                </a:solidFill>
                <a:latin typeface="Consolas" panose="020B0609020204030204" pitchFamily="49" charset="0"/>
                <a:ea typeface="新宋体"/>
                <a:cs typeface="Consolas" panose="020B0609020204030204" pitchFamily="49" charset="0"/>
              </a:rPr>
              <a:t>return</a:t>
            </a:r>
            <a:r>
              <a:rPr lang="en-US" altLang="zh-CN" sz="1600" dirty="0">
                <a:solidFill>
                  <a:srgbClr val="000000"/>
                </a:solidFill>
                <a:latin typeface="Consolas" panose="020B0609020204030204" pitchFamily="49" charset="0"/>
                <a:ea typeface="新宋体"/>
                <a:cs typeface="Consolas" panose="020B0609020204030204" pitchFamily="49" charset="0"/>
              </a:rPr>
              <a:t> 0;</a:t>
            </a:r>
            <a:r>
              <a:rPr lang="zh-CN" altLang="en-US" sz="1600" dirty="0">
                <a:solidFill>
                  <a:srgbClr val="000000"/>
                </a:solidFill>
                <a:latin typeface="Consolas" panose="020B0609020204030204" pitchFamily="49" charset="0"/>
                <a:ea typeface="新宋体"/>
                <a:cs typeface="Consolas" panose="020B0609020204030204" pitchFamily="49" charset="0"/>
              </a:rPr>
              <a:t> 先创后析：先创健的东西后析构</a:t>
            </a:r>
            <a:endParaRPr lang="en-US" altLang="zh-CN" sz="1600" dirty="0">
              <a:solidFill>
                <a:srgbClr val="000000"/>
              </a:solidFill>
              <a:latin typeface="Consolas" panose="020B0609020204030204" pitchFamily="49" charset="0"/>
              <a:ea typeface="新宋体"/>
              <a:cs typeface="Consolas" panose="020B0609020204030204" pitchFamily="49" charset="0"/>
            </a:endParaRPr>
          </a:p>
          <a:p>
            <a:r>
              <a:rPr lang="en-US" altLang="zh-CN" sz="1600" dirty="0">
                <a:solidFill>
                  <a:srgbClr val="000000"/>
                </a:solidFill>
                <a:latin typeface="Consolas" panose="020B0609020204030204" pitchFamily="49" charset="0"/>
                <a:ea typeface="新宋体"/>
                <a:cs typeface="Consolas" panose="020B0609020204030204" pitchFamily="49" charset="0"/>
              </a:rPr>
              <a:t>}</a:t>
            </a:r>
          </a:p>
        </p:txBody>
      </p:sp>
      <p:sp>
        <p:nvSpPr>
          <p:cNvPr id="6" name="矩形 5"/>
          <p:cNvSpPr/>
          <p:nvPr/>
        </p:nvSpPr>
        <p:spPr>
          <a:xfrm>
            <a:off x="3277224" y="2067237"/>
            <a:ext cx="2805576" cy="400110"/>
          </a:xfrm>
          <a:prstGeom prst="rect">
            <a:avLst/>
          </a:prstGeom>
          <a:solidFill>
            <a:srgbClr val="92D050"/>
          </a:solidFill>
        </p:spPr>
        <p:txBody>
          <a:bodyPr wrap="none">
            <a:spAutoFit/>
          </a:bodyPr>
          <a:lstStyle/>
          <a:p>
            <a:r>
              <a:rPr lang="zh-CN" altLang="en-US" sz="2000" dirty="0"/>
              <a:t>调用默认拷贝构造函数 </a:t>
            </a:r>
          </a:p>
        </p:txBody>
      </p:sp>
    </p:spTree>
    <p:extLst>
      <p:ext uri="{BB962C8B-B14F-4D97-AF65-F5344CB8AC3E}">
        <p14:creationId xmlns:p14="http://schemas.microsoft.com/office/powerpoint/2010/main" val="376942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9512" y="44624"/>
            <a:ext cx="7849516" cy="1569660"/>
            <a:chOff x="179512" y="1268760"/>
            <a:chExt cx="7849516" cy="1569660"/>
          </a:xfrm>
        </p:grpSpPr>
        <p:sp>
          <p:nvSpPr>
            <p:cNvPr id="6" name="矩形 5"/>
            <p:cNvSpPr/>
            <p:nvPr/>
          </p:nvSpPr>
          <p:spPr>
            <a:xfrm>
              <a:off x="3059832" y="1268760"/>
              <a:ext cx="4969196" cy="1569660"/>
            </a:xfrm>
            <a:prstGeom prst="rect">
              <a:avLst/>
            </a:prstGeom>
            <a:noFill/>
            <a:ln>
              <a:solidFill>
                <a:schemeClr val="bg2">
                  <a:lumMod val="25000"/>
                </a:schemeClr>
              </a:solidFill>
            </a:ln>
          </p:spPr>
          <p:txBody>
            <a:bodyPr wrap="square">
              <a:spAutoFit/>
            </a:bodyPr>
            <a:lstStyle/>
            <a:p>
              <a:r>
                <a:rPr lang="en-US" altLang="zh-CN" sz="2400" dirty="0"/>
                <a:t>Person::Person(</a:t>
              </a:r>
              <a:r>
                <a:rPr lang="en-US" altLang="zh-CN" sz="2400" dirty="0" err="1"/>
                <a:t>const</a:t>
              </a:r>
              <a:r>
                <a:rPr lang="en-US" altLang="zh-CN" sz="2400" dirty="0"/>
                <a:t> Person &amp;t)</a:t>
              </a:r>
            </a:p>
            <a:p>
              <a:r>
                <a:rPr lang="en-US" altLang="zh-CN" sz="2400" dirty="0"/>
                <a:t> {   _name = </a:t>
              </a:r>
              <a:r>
                <a:rPr lang="en-US" altLang="zh-CN" sz="2400" dirty="0" err="1"/>
                <a:t>t._name</a:t>
              </a:r>
              <a:r>
                <a:rPr lang="en-US" altLang="zh-CN" sz="2400" dirty="0"/>
                <a:t>;</a:t>
              </a:r>
            </a:p>
            <a:p>
              <a:r>
                <a:rPr lang="en-US" altLang="zh-CN" sz="2400" dirty="0"/>
                <a:t>     _age = </a:t>
              </a:r>
              <a:r>
                <a:rPr lang="en-US" altLang="zh-CN" sz="2400" dirty="0" err="1"/>
                <a:t>t._age</a:t>
              </a:r>
              <a:r>
                <a:rPr lang="en-US" altLang="zh-CN" sz="2400" dirty="0"/>
                <a:t>;</a:t>
              </a:r>
            </a:p>
            <a:p>
              <a:r>
                <a:rPr lang="en-US" altLang="zh-CN" sz="2400" dirty="0"/>
                <a:t>}</a:t>
              </a:r>
              <a:endParaRPr lang="zh-CN" altLang="en-US" sz="2400" dirty="0"/>
            </a:p>
          </p:txBody>
        </p:sp>
        <p:sp>
          <p:nvSpPr>
            <p:cNvPr id="2" name="矩形 1"/>
            <p:cNvSpPr/>
            <p:nvPr/>
          </p:nvSpPr>
          <p:spPr>
            <a:xfrm>
              <a:off x="179512" y="1340768"/>
              <a:ext cx="2952328" cy="461665"/>
            </a:xfrm>
            <a:prstGeom prst="rect">
              <a:avLst/>
            </a:prstGeom>
          </p:spPr>
          <p:txBody>
            <a:bodyPr wrap="square">
              <a:spAutoFit/>
            </a:bodyPr>
            <a:lstStyle/>
            <a:p>
              <a:r>
                <a:rPr lang="zh-CN" altLang="en-US" sz="2400" b="1" dirty="0">
                  <a:solidFill>
                    <a:prstClr val="black"/>
                  </a:solidFill>
                </a:rPr>
                <a:t>默认拷贝构造函数</a:t>
              </a:r>
              <a:r>
                <a:rPr lang="en-US" altLang="zh-CN" sz="2400" b="1" dirty="0">
                  <a:solidFill>
                    <a:prstClr val="black"/>
                  </a:solidFill>
                </a:rPr>
                <a:t>:</a:t>
              </a:r>
              <a:endParaRPr lang="zh-CN" altLang="en-US" sz="2000" dirty="0"/>
            </a:p>
          </p:txBody>
        </p:sp>
      </p:grpSp>
      <p:sp>
        <p:nvSpPr>
          <p:cNvPr id="59395" name="Rectangle 3"/>
          <p:cNvSpPr>
            <a:spLocks noGrp="1" noChangeArrowheads="1"/>
          </p:cNvSpPr>
          <p:nvPr>
            <p:ph idx="1"/>
          </p:nvPr>
        </p:nvSpPr>
        <p:spPr>
          <a:xfrm>
            <a:off x="323529" y="1700808"/>
            <a:ext cx="6984775" cy="432048"/>
          </a:xfrm>
          <a:solidFill>
            <a:schemeClr val="tx2">
              <a:lumMod val="10000"/>
              <a:lumOff val="90000"/>
            </a:schemeClr>
          </a:solidFill>
        </p:spPr>
        <p:txBody>
          <a:bodyPr>
            <a:normAutofit/>
          </a:bodyPr>
          <a:lstStyle/>
          <a:p>
            <a:pPr eaLnBrk="1" hangingPunct="1">
              <a:buFontTx/>
              <a:buNone/>
            </a:pPr>
            <a:r>
              <a:rPr lang="en-US" altLang="zh-CN" sz="2000" b="1" dirty="0"/>
              <a:t> Person p2(p1) </a:t>
            </a:r>
            <a:r>
              <a:rPr lang="zh-CN" altLang="en-US" sz="2000" b="1" dirty="0"/>
              <a:t>调用默认拷贝构造函数，用</a:t>
            </a:r>
            <a:r>
              <a:rPr lang="en-US" altLang="zh-CN" sz="2000" b="1" dirty="0"/>
              <a:t>p1</a:t>
            </a:r>
            <a:r>
              <a:rPr lang="zh-CN" altLang="en-US" sz="2000" b="1" dirty="0"/>
              <a:t>构造</a:t>
            </a:r>
            <a:r>
              <a:rPr lang="en-US" altLang="zh-CN" sz="2000" b="1" dirty="0"/>
              <a:t>p2</a:t>
            </a:r>
            <a:r>
              <a:rPr lang="zh-CN" altLang="en-US" sz="2000" b="1" dirty="0"/>
              <a:t>对象 </a:t>
            </a:r>
            <a:r>
              <a:rPr lang="en-US" altLang="zh-CN" sz="2000" b="1" dirty="0"/>
              <a:t>: </a:t>
            </a:r>
            <a:endParaRPr lang="zh-CN" altLang="en-US" sz="2000" dirty="0"/>
          </a:p>
        </p:txBody>
      </p:sp>
      <p:sp>
        <p:nvSpPr>
          <p:cNvPr id="73733" name="Rectangle 5"/>
          <p:cNvSpPr>
            <a:spLocks noChangeArrowheads="1"/>
          </p:cNvSpPr>
          <p:nvPr/>
        </p:nvSpPr>
        <p:spPr bwMode="auto">
          <a:xfrm>
            <a:off x="179512" y="3573015"/>
            <a:ext cx="5976664" cy="1152128"/>
          </a:xfrm>
          <a:prstGeom prst="rect">
            <a:avLst/>
          </a:prstGeom>
          <a:solidFill>
            <a:schemeClr val="tx2">
              <a:lumMod val="10000"/>
              <a:lumOff val="90000"/>
            </a:schemeClr>
          </a:solidFill>
        </p:spPr>
        <p:txBody>
          <a:bodyPr vert="horz" rtlCol="0">
            <a:normAutofit/>
          </a:bodyPr>
          <a:lstStyle/>
          <a:p>
            <a:pPr marL="342900" indent="-342900">
              <a:spcBef>
                <a:spcPct val="20000"/>
              </a:spcBef>
              <a:buClr>
                <a:schemeClr val="accent1"/>
              </a:buClr>
              <a:buSzPct val="50000"/>
            </a:pPr>
            <a:r>
              <a:rPr lang="zh-CN" altLang="en-US" sz="2000" b="1" dirty="0"/>
              <a:t>当</a:t>
            </a:r>
            <a:r>
              <a:rPr lang="en-US" altLang="zh-CN" sz="2000" b="1" dirty="0"/>
              <a:t>p2</a:t>
            </a:r>
            <a:r>
              <a:rPr lang="zh-CN" altLang="en-US" sz="2000" b="1" dirty="0"/>
              <a:t>结束生命期被析构时，</a:t>
            </a:r>
            <a:endParaRPr lang="en-US" altLang="zh-CN" sz="2000" b="1" dirty="0"/>
          </a:p>
          <a:p>
            <a:pPr marL="342900" indent="-342900">
              <a:spcBef>
                <a:spcPct val="20000"/>
              </a:spcBef>
              <a:buClr>
                <a:schemeClr val="accent1"/>
              </a:buClr>
              <a:buSzPct val="50000"/>
            </a:pPr>
            <a:r>
              <a:rPr lang="en-US" altLang="zh-CN" sz="2000" b="1" dirty="0" err="1"/>
              <a:t>p1</a:t>
            </a:r>
            <a:r>
              <a:rPr lang="zh-CN" altLang="en-US" sz="2000" b="1" dirty="0"/>
              <a:t>的</a:t>
            </a:r>
            <a:r>
              <a:rPr lang="en-US" altLang="zh-CN" sz="2000" b="1" dirty="0"/>
              <a:t>_name</a:t>
            </a:r>
            <a:r>
              <a:rPr lang="zh-CN" altLang="en-US" sz="2000" b="1" dirty="0"/>
              <a:t>成员就指向了被</a:t>
            </a:r>
            <a:r>
              <a:rPr lang="en-US" altLang="zh-CN" sz="2000" b="1" dirty="0"/>
              <a:t>p2</a:t>
            </a:r>
            <a:r>
              <a:rPr lang="zh-CN" altLang="en-US" sz="2000" b="1" dirty="0"/>
              <a:t> </a:t>
            </a:r>
            <a:r>
              <a:rPr lang="en-US" altLang="zh-CN" sz="2000" b="1" dirty="0"/>
              <a:t>delete</a:t>
            </a:r>
            <a:r>
              <a:rPr lang="zh-CN" altLang="en-US" sz="2000" b="1" dirty="0"/>
              <a:t>的存储区域，</a:t>
            </a:r>
            <a:endParaRPr lang="en-US" altLang="zh-CN" sz="2000" b="1" dirty="0"/>
          </a:p>
          <a:p>
            <a:pPr marL="342900" indent="-342900">
              <a:spcBef>
                <a:spcPct val="20000"/>
              </a:spcBef>
              <a:buClr>
                <a:schemeClr val="accent1"/>
              </a:buClr>
              <a:buSzPct val="50000"/>
            </a:pPr>
            <a:r>
              <a:rPr lang="zh-CN" altLang="en-US" sz="2000" b="1" dirty="0"/>
              <a:t>产生指针悬挂问题 </a:t>
            </a:r>
            <a:r>
              <a:rPr lang="en-US" altLang="zh-CN" sz="2000" b="1" dirty="0"/>
              <a:t>: </a:t>
            </a:r>
            <a:endParaRPr lang="zh-CN" altLang="en-US" sz="2000" b="1" dirty="0"/>
          </a:p>
          <a:p>
            <a:pPr marL="342900" indent="-342900">
              <a:spcBef>
                <a:spcPct val="20000"/>
              </a:spcBef>
              <a:buClr>
                <a:schemeClr val="accent1"/>
              </a:buClr>
              <a:buSzPct val="50000"/>
            </a:pPr>
            <a:endParaRPr lang="en-US" altLang="zh-CN" sz="2000" b="1" dirty="0"/>
          </a:p>
          <a:p>
            <a:pPr marL="342900" indent="-342900">
              <a:spcBef>
                <a:spcPct val="20000"/>
              </a:spcBef>
              <a:buClr>
                <a:schemeClr val="accent1"/>
              </a:buClr>
              <a:buSzPct val="50000"/>
            </a:pPr>
            <a:endParaRPr lang="zh-CN" altLang="en-US" sz="2000" b="1" dirty="0"/>
          </a:p>
        </p:txBody>
      </p:sp>
      <p:sp>
        <p:nvSpPr>
          <p:cNvPr id="4" name="矩形 3"/>
          <p:cNvSpPr/>
          <p:nvPr/>
        </p:nvSpPr>
        <p:spPr>
          <a:xfrm>
            <a:off x="5958078" y="5187198"/>
            <a:ext cx="2443298" cy="369332"/>
          </a:xfrm>
          <a:prstGeom prst="rect">
            <a:avLst/>
          </a:prstGeom>
          <a:solidFill>
            <a:srgbClr val="FFC000"/>
          </a:solidFill>
        </p:spPr>
        <p:txBody>
          <a:bodyPr wrap="none">
            <a:spAutoFit/>
          </a:bodyPr>
          <a:lstStyle/>
          <a:p>
            <a:r>
              <a:rPr lang="en-US" altLang="zh-CN" b="1" dirty="0" err="1"/>
              <a:t>p1</a:t>
            </a:r>
            <a:r>
              <a:rPr lang="en-US" altLang="zh-CN" b="1" dirty="0"/>
              <a:t>._name  </a:t>
            </a:r>
            <a:r>
              <a:rPr lang="zh-CN" altLang="en-US" b="1" dirty="0"/>
              <a:t>成为野指针</a:t>
            </a:r>
          </a:p>
        </p:txBody>
      </p:sp>
      <p:sp>
        <p:nvSpPr>
          <p:cNvPr id="10" name="Rectangle 5"/>
          <p:cNvSpPr>
            <a:spLocks noChangeArrowheads="1"/>
          </p:cNvSpPr>
          <p:nvPr/>
        </p:nvSpPr>
        <p:spPr bwMode="auto">
          <a:xfrm>
            <a:off x="107504" y="5805264"/>
            <a:ext cx="6696744" cy="1152128"/>
          </a:xfrm>
          <a:prstGeom prst="rect">
            <a:avLst/>
          </a:prstGeom>
          <a:solidFill>
            <a:schemeClr val="tx2">
              <a:lumMod val="10000"/>
              <a:lumOff val="90000"/>
            </a:schemeClr>
          </a:solidFill>
        </p:spPr>
        <p:txBody>
          <a:bodyPr vert="horz" rtlCol="0">
            <a:normAutofit/>
          </a:bodyPr>
          <a:lstStyle/>
          <a:p>
            <a:pPr marL="342900" indent="-342900">
              <a:spcBef>
                <a:spcPct val="20000"/>
              </a:spcBef>
              <a:buClr>
                <a:schemeClr val="accent1"/>
              </a:buClr>
              <a:buSzPct val="50000"/>
            </a:pPr>
            <a:r>
              <a:rPr lang="zh-CN" altLang="en-US" sz="2000" b="1" dirty="0"/>
              <a:t>当</a:t>
            </a:r>
            <a:r>
              <a:rPr lang="en-US" altLang="zh-CN" sz="2000" b="1" dirty="0"/>
              <a:t>p1</a:t>
            </a:r>
            <a:r>
              <a:rPr lang="zh-CN" altLang="en-US" sz="2000" b="1" dirty="0"/>
              <a:t>结束生命期被析构时，</a:t>
            </a:r>
            <a:endParaRPr lang="en-US" altLang="zh-CN" sz="2000" b="1" dirty="0"/>
          </a:p>
          <a:p>
            <a:pPr indent="19050">
              <a:spcBef>
                <a:spcPct val="20000"/>
              </a:spcBef>
              <a:buClr>
                <a:schemeClr val="accent1"/>
              </a:buClr>
              <a:buSzPct val="50000"/>
            </a:pPr>
            <a:r>
              <a:rPr lang="zh-CN" altLang="en-US" sz="2000" b="1" dirty="0"/>
              <a:t>要释放</a:t>
            </a:r>
            <a:r>
              <a:rPr lang="en-US" altLang="zh-CN" sz="2000" b="1" dirty="0" err="1"/>
              <a:t>p1</a:t>
            </a:r>
            <a:r>
              <a:rPr lang="zh-CN" altLang="en-US" sz="2000" b="1" dirty="0"/>
              <a:t>的</a:t>
            </a:r>
            <a:r>
              <a:rPr lang="en-US" altLang="zh-CN" sz="2000" b="1" dirty="0"/>
              <a:t>_name</a:t>
            </a:r>
            <a:r>
              <a:rPr lang="zh-CN" altLang="en-US" sz="2000" b="1" dirty="0"/>
              <a:t>指向的空间，其实</a:t>
            </a:r>
            <a:r>
              <a:rPr lang="en-US" altLang="zh-CN" sz="2000" b="1" dirty="0" err="1"/>
              <a:t>p1</a:t>
            </a:r>
            <a:r>
              <a:rPr lang="en-US" altLang="zh-CN" sz="2000" b="1" dirty="0"/>
              <a:t>._name</a:t>
            </a:r>
            <a:r>
              <a:rPr lang="zh-CN" altLang="en-US" sz="2000" b="1" dirty="0"/>
              <a:t>是野指针，所以出现</a:t>
            </a:r>
            <a:r>
              <a:rPr lang="en-US" altLang="zh-CN" sz="2000" b="1" dirty="0"/>
              <a:t>bug </a:t>
            </a:r>
            <a:endParaRPr lang="zh-CN" altLang="en-US" sz="2000" b="1" dirty="0"/>
          </a:p>
          <a:p>
            <a:pPr marL="342900" indent="-342900">
              <a:spcBef>
                <a:spcPct val="20000"/>
              </a:spcBef>
              <a:buClr>
                <a:schemeClr val="accent1"/>
              </a:buClr>
              <a:buSzPct val="50000"/>
            </a:pPr>
            <a:endParaRPr lang="en-US" altLang="zh-CN" sz="2000" b="1" dirty="0"/>
          </a:p>
          <a:p>
            <a:pPr marL="342900" indent="-342900">
              <a:spcBef>
                <a:spcPct val="20000"/>
              </a:spcBef>
              <a:buClr>
                <a:schemeClr val="accent1"/>
              </a:buClr>
              <a:buSzPct val="50000"/>
            </a:pPr>
            <a:endParaRPr lang="zh-CN" altLang="en-US" sz="2000" b="1" dirty="0"/>
          </a:p>
        </p:txBody>
      </p:sp>
      <p:grpSp>
        <p:nvGrpSpPr>
          <p:cNvPr id="13" name="组合 12"/>
          <p:cNvGrpSpPr/>
          <p:nvPr/>
        </p:nvGrpSpPr>
        <p:grpSpPr>
          <a:xfrm>
            <a:off x="899592" y="2132855"/>
            <a:ext cx="3887788" cy="1377950"/>
            <a:chOff x="899592" y="2132855"/>
            <a:chExt cx="3887788" cy="1377950"/>
          </a:xfrm>
        </p:grpSpPr>
        <p:pic>
          <p:nvPicPr>
            <p:cNvPr id="73732" name="Picture 4" descr="B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2132855"/>
              <a:ext cx="3887788" cy="1377950"/>
            </a:xfrm>
            <a:prstGeom prst="rect">
              <a:avLst/>
            </a:prstGeom>
            <a:noFill/>
            <a:ln>
              <a:noFill/>
            </a:ln>
          </p:spPr>
        </p:pic>
        <p:cxnSp>
          <p:nvCxnSpPr>
            <p:cNvPr id="9" name="直接连接符 8"/>
            <p:cNvCxnSpPr/>
            <p:nvPr/>
          </p:nvCxnSpPr>
          <p:spPr>
            <a:xfrm>
              <a:off x="1259632" y="2420888"/>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259632" y="2636912"/>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59632" y="3140968"/>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59632" y="3356992"/>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718840" y="4725142"/>
            <a:ext cx="4826000" cy="995362"/>
            <a:chOff x="718840" y="4725142"/>
            <a:chExt cx="4826000" cy="995362"/>
          </a:xfrm>
        </p:grpSpPr>
        <p:pic>
          <p:nvPicPr>
            <p:cNvPr id="73734" name="Picture 6" descr="B3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840" y="4725142"/>
              <a:ext cx="482600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直接连接符 18"/>
            <p:cNvCxnSpPr/>
            <p:nvPr/>
          </p:nvCxnSpPr>
          <p:spPr>
            <a:xfrm>
              <a:off x="1115616" y="5157192"/>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15616" y="5373216"/>
              <a:ext cx="720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圆角矩形 13"/>
          <p:cNvSpPr/>
          <p:nvPr/>
        </p:nvSpPr>
        <p:spPr>
          <a:xfrm>
            <a:off x="4355976" y="5373215"/>
            <a:ext cx="864096" cy="18331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11406" y="5264377"/>
            <a:ext cx="497252" cy="369332"/>
          </a:xfrm>
          <a:prstGeom prst="rect">
            <a:avLst/>
          </a:prstGeom>
        </p:spPr>
        <p:txBody>
          <a:bodyPr wrap="none">
            <a:spAutoFit/>
          </a:bodyPr>
          <a:lstStyle/>
          <a:p>
            <a:r>
              <a:rPr lang="en-US" altLang="zh-CN" b="1" dirty="0"/>
              <a:t>???</a:t>
            </a:r>
            <a:endParaRPr lang="zh-CN" altLang="en-US" dirty="0"/>
          </a:p>
        </p:txBody>
      </p:sp>
      <p:sp>
        <p:nvSpPr>
          <p:cNvPr id="5" name="文本框 4">
            <a:extLst>
              <a:ext uri="{FF2B5EF4-FFF2-40B4-BE49-F238E27FC236}">
                <a16:creationId xmlns:a16="http://schemas.microsoft.com/office/drawing/2014/main" id="{C0027B62-F7B6-AD47-9DB6-CCC7177E25DF}"/>
              </a:ext>
            </a:extLst>
          </p:cNvPr>
          <p:cNvSpPr txBox="1"/>
          <p:nvPr/>
        </p:nvSpPr>
        <p:spPr>
          <a:xfrm>
            <a:off x="5108658" y="2420888"/>
            <a:ext cx="3495790" cy="923330"/>
          </a:xfrm>
          <a:prstGeom prst="rect">
            <a:avLst/>
          </a:prstGeom>
          <a:noFill/>
        </p:spPr>
        <p:txBody>
          <a:bodyPr wrap="square" rtlCol="0">
            <a:spAutoFit/>
          </a:bodyPr>
          <a:lstStyle/>
          <a:p>
            <a:r>
              <a:rPr kumimoji="1" lang="zh-CN" altLang="en-US" dirty="0"/>
              <a:t>这里“张勇”在“堆”里</a:t>
            </a:r>
            <a:endParaRPr kumimoji="1" lang="en-US" altLang="zh-CN" dirty="0"/>
          </a:p>
          <a:p>
            <a:r>
              <a:rPr kumimoji="1" lang="en-US" altLang="zh-CN" dirty="0"/>
              <a:t>_name</a:t>
            </a:r>
            <a:r>
              <a:rPr kumimoji="1" lang="zh-CN" altLang="en-US" dirty="0"/>
              <a:t>虽然在栈的不同地方，但指向的“张勇”是一样的</a:t>
            </a:r>
          </a:p>
        </p:txBody>
      </p:sp>
    </p:spTree>
    <p:extLst>
      <p:ext uri="{BB962C8B-B14F-4D97-AF65-F5344CB8AC3E}">
        <p14:creationId xmlns:p14="http://schemas.microsoft.com/office/powerpoint/2010/main" val="405658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idx="1"/>
          </p:nvPr>
        </p:nvSpPr>
        <p:spPr>
          <a:xfrm>
            <a:off x="251520" y="44624"/>
            <a:ext cx="7991475" cy="936104"/>
          </a:xfrm>
        </p:spPr>
        <p:txBody>
          <a:bodyPr/>
          <a:lstStyle/>
          <a:p>
            <a:pPr eaLnBrk="1" hangingPunct="1">
              <a:lnSpc>
                <a:spcPct val="80000"/>
              </a:lnSpc>
              <a:buFontTx/>
              <a:buNone/>
            </a:pPr>
            <a:r>
              <a:rPr lang="en-US" altLang="zh-CN" dirty="0">
                <a:solidFill>
                  <a:schemeClr val="accent2"/>
                </a:solidFill>
              </a:rPr>
              <a:t> </a:t>
            </a:r>
            <a:r>
              <a:rPr lang="zh-CN" altLang="en-US" sz="2400" b="1" dirty="0">
                <a:solidFill>
                  <a:srgbClr val="FF3300"/>
                </a:solidFill>
              </a:rPr>
              <a:t>解决上述问题的方法是为类提供拷贝构造函数</a:t>
            </a:r>
          </a:p>
          <a:p>
            <a:pPr eaLnBrk="1" hangingPunct="1">
              <a:lnSpc>
                <a:spcPct val="80000"/>
              </a:lnSpc>
              <a:buFontTx/>
              <a:buNone/>
            </a:pPr>
            <a:r>
              <a:rPr lang="en-US" altLang="zh-CN" sz="2400" b="1" dirty="0"/>
              <a:t>【</a:t>
            </a:r>
            <a:r>
              <a:rPr lang="zh-CN" altLang="en-US" sz="2400" b="1" dirty="0"/>
              <a:t>例</a:t>
            </a:r>
            <a:r>
              <a:rPr lang="en-US" altLang="zh-CN" sz="2400" b="1" dirty="0"/>
              <a:t>】  </a:t>
            </a:r>
            <a:r>
              <a:rPr lang="zh-CN" altLang="en-US" sz="2400" b="1" dirty="0"/>
              <a:t>为</a:t>
            </a:r>
            <a:r>
              <a:rPr lang="en-US" altLang="zh-CN" sz="2400" b="1" dirty="0"/>
              <a:t>Person</a:t>
            </a:r>
            <a:r>
              <a:rPr lang="zh-CN" altLang="en-US" sz="2400" b="1" dirty="0"/>
              <a:t>定义拷贝构造函数。</a:t>
            </a:r>
          </a:p>
          <a:p>
            <a:pPr eaLnBrk="1" hangingPunct="1">
              <a:lnSpc>
                <a:spcPct val="80000"/>
              </a:lnSpc>
              <a:buFontTx/>
              <a:buNone/>
            </a:pPr>
            <a:endParaRPr lang="zh-CN" altLang="en-US" sz="2000" dirty="0"/>
          </a:p>
        </p:txBody>
      </p:sp>
      <p:sp>
        <p:nvSpPr>
          <p:cNvPr id="2" name="矩形 1"/>
          <p:cNvSpPr/>
          <p:nvPr/>
        </p:nvSpPr>
        <p:spPr>
          <a:xfrm>
            <a:off x="467544" y="908720"/>
            <a:ext cx="7848872" cy="1477328"/>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2B91AF"/>
                </a:solidFill>
                <a:highlight>
                  <a:srgbClr val="FFFFFF"/>
                </a:highlight>
                <a:latin typeface="Consolas" panose="020B0609020204030204" pitchFamily="49" charset="0"/>
                <a:ea typeface="新宋体"/>
                <a:cs typeface="Consolas" panose="020B0609020204030204" pitchFamily="49" charset="0"/>
              </a:rPr>
              <a:t>Person</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::Person(</a:t>
            </a:r>
            <a:r>
              <a:rPr lang="en-US" altLang="zh-CN" dirty="0" err="1">
                <a:solidFill>
                  <a:srgbClr val="0000FF"/>
                </a:solidFill>
                <a:highlight>
                  <a:srgbClr val="FFFFFF"/>
                </a:highlight>
                <a:latin typeface="Consolas" panose="020B0609020204030204" pitchFamily="49" charset="0"/>
                <a:ea typeface="新宋体"/>
                <a:cs typeface="Consolas" panose="020B0609020204030204" pitchFamily="49" charset="0"/>
              </a:rPr>
              <a:t>const</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dirty="0">
                <a:solidFill>
                  <a:srgbClr val="2B91AF"/>
                </a:solidFill>
                <a:highlight>
                  <a:srgbClr val="FFFFFF"/>
                </a:highlight>
                <a:latin typeface="Consolas" panose="020B0609020204030204" pitchFamily="49" charset="0"/>
                <a:ea typeface="新宋体"/>
                <a:cs typeface="Consolas" panose="020B0609020204030204" pitchFamily="49" charset="0"/>
              </a:rPr>
              <a:t>Person</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 &amp;</a:t>
            </a:r>
            <a:r>
              <a:rPr lang="en-US" altLang="zh-CN" dirty="0">
                <a:solidFill>
                  <a:srgbClr val="808080"/>
                </a:solidFill>
                <a:highlight>
                  <a:srgbClr val="FFFFFF"/>
                </a:highlight>
                <a:latin typeface="Consolas" panose="020B0609020204030204" pitchFamily="49" charset="0"/>
                <a:ea typeface="新宋体"/>
                <a:cs typeface="Consolas" panose="020B0609020204030204" pitchFamily="49" charset="0"/>
              </a:rPr>
              <a:t>p</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 </a:t>
            </a:r>
          </a:p>
          <a:p>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  _name = </a:t>
            </a:r>
            <a:r>
              <a:rPr lang="en-US" altLang="zh-CN" dirty="0">
                <a:solidFill>
                  <a:srgbClr val="008080"/>
                </a:solidFill>
                <a:highlight>
                  <a:srgbClr val="FFFFFF"/>
                </a:highlight>
                <a:latin typeface="Consolas" panose="020B0609020204030204" pitchFamily="49" charset="0"/>
                <a:ea typeface="新宋体"/>
                <a:cs typeface="Consolas" panose="020B0609020204030204" pitchFamily="49" charset="0"/>
              </a:rPr>
              <a:t>new c</a:t>
            </a:r>
            <a:r>
              <a:rPr lang="en-US" altLang="zh-CN" dirty="0">
                <a:solidFill>
                  <a:srgbClr val="0000FF"/>
                </a:solidFill>
                <a:highlight>
                  <a:srgbClr val="FFFFFF"/>
                </a:highlight>
                <a:latin typeface="Consolas" panose="020B0609020204030204" pitchFamily="49" charset="0"/>
                <a:ea typeface="新宋体"/>
                <a:cs typeface="Consolas" panose="020B0609020204030204" pitchFamily="49" charset="0"/>
              </a:rPr>
              <a:t>har</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strlen</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r>
              <a:rPr lang="en-US" altLang="zh-CN" dirty="0" err="1">
                <a:solidFill>
                  <a:srgbClr val="808080"/>
                </a:solidFill>
                <a:highlight>
                  <a:srgbClr val="FFFFFF"/>
                </a:highlight>
                <a:latin typeface="Consolas" panose="020B0609020204030204" pitchFamily="49" charset="0"/>
                <a:ea typeface="新宋体"/>
                <a:cs typeface="Consolas" panose="020B0609020204030204" pitchFamily="49" charset="0"/>
              </a:rPr>
              <a:t>p</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._name</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 + 1];</a:t>
            </a:r>
          </a:p>
          <a:p>
            <a:pPr marL="365125"/>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strcpy_s</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(_name,</a:t>
            </a:r>
            <a:r>
              <a:rPr lang="en-US" altLang="zh-CN" dirty="0">
                <a:solidFill>
                  <a:srgbClr val="008080"/>
                </a:solidFill>
                <a:highlight>
                  <a:srgbClr val="FFFFFF"/>
                </a:highlight>
                <a:latin typeface="Consolas" panose="020B0609020204030204" pitchFamily="49" charset="0"/>
                <a:ea typeface="新宋体"/>
                <a:cs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strlen</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r>
              <a:rPr lang="en-US" altLang="zh-CN" dirty="0" err="1">
                <a:solidFill>
                  <a:srgbClr val="808080"/>
                </a:solidFill>
                <a:highlight>
                  <a:srgbClr val="FFFFFF"/>
                </a:highlight>
                <a:latin typeface="Consolas" panose="020B0609020204030204" pitchFamily="49" charset="0"/>
                <a:ea typeface="新宋体"/>
                <a:cs typeface="Consolas" panose="020B0609020204030204" pitchFamily="49" charset="0"/>
              </a:rPr>
              <a:t>p</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._name</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)+1, </a:t>
            </a:r>
            <a:r>
              <a:rPr lang="en-US" altLang="zh-CN" dirty="0" err="1">
                <a:solidFill>
                  <a:srgbClr val="808080"/>
                </a:solidFill>
                <a:highlight>
                  <a:srgbClr val="FFFFFF"/>
                </a:highlight>
                <a:latin typeface="Consolas" panose="020B0609020204030204" pitchFamily="49" charset="0"/>
                <a:ea typeface="新宋体"/>
                <a:cs typeface="Consolas" panose="020B0609020204030204" pitchFamily="49" charset="0"/>
              </a:rPr>
              <a:t>p</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._name</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p>
          <a:p>
            <a:pPr marL="365125"/>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_age = </a:t>
            </a:r>
            <a:r>
              <a:rPr lang="en-US" altLang="zh-CN" dirty="0" err="1">
                <a:solidFill>
                  <a:srgbClr val="808080"/>
                </a:solidFill>
                <a:highlight>
                  <a:srgbClr val="FFFFFF"/>
                </a:highlight>
                <a:latin typeface="Consolas" panose="020B0609020204030204" pitchFamily="49" charset="0"/>
                <a:ea typeface="新宋体"/>
                <a:cs typeface="Consolas" panose="020B0609020204030204" pitchFamily="49" charset="0"/>
              </a:rPr>
              <a:t>p</a:t>
            </a:r>
            <a:r>
              <a:rPr lang="en-US" altLang="zh-CN" dirty="0" err="1">
                <a:solidFill>
                  <a:srgbClr val="000000"/>
                </a:solidFill>
                <a:highlight>
                  <a:srgbClr val="FFFFFF"/>
                </a:highlight>
                <a:latin typeface="Consolas" panose="020B0609020204030204" pitchFamily="49" charset="0"/>
                <a:ea typeface="新宋体"/>
                <a:cs typeface="Consolas" panose="020B0609020204030204" pitchFamily="49" charset="0"/>
              </a:rPr>
              <a:t>._age</a:t>
            </a:r>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p>
          <a:p>
            <a:r>
              <a:rPr lang="en-US" altLang="zh-CN" dirty="0">
                <a:solidFill>
                  <a:srgbClr val="000000"/>
                </a:solidFill>
                <a:highlight>
                  <a:srgbClr val="FFFFFF"/>
                </a:highlight>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5" name="矩形 4"/>
          <p:cNvSpPr/>
          <p:nvPr/>
        </p:nvSpPr>
        <p:spPr>
          <a:xfrm>
            <a:off x="107504" y="2420888"/>
            <a:ext cx="8928991" cy="461665"/>
          </a:xfrm>
          <a:prstGeom prst="rect">
            <a:avLst/>
          </a:prstGeom>
        </p:spPr>
        <p:txBody>
          <a:bodyPr wrap="square">
            <a:spAutoFit/>
          </a:bodyPr>
          <a:lstStyle/>
          <a:p>
            <a:r>
              <a:rPr lang="en-US" altLang="zh-CN" sz="2400" b="1" dirty="0">
                <a:solidFill>
                  <a:prstClr val="black"/>
                </a:solidFill>
              </a:rPr>
              <a:t>Person p2(p1);  </a:t>
            </a:r>
            <a:r>
              <a:rPr lang="zh-CN" altLang="en-US" sz="2400" b="1" dirty="0">
                <a:solidFill>
                  <a:prstClr val="black"/>
                </a:solidFill>
              </a:rPr>
              <a:t>调用自定义的拷贝构造函数，解决指针悬挂问题：</a:t>
            </a:r>
            <a:r>
              <a:rPr lang="en-US" altLang="zh-CN" sz="2400" b="1" dirty="0">
                <a:solidFill>
                  <a:prstClr val="black"/>
                </a:solidFill>
              </a:rPr>
              <a:t> </a:t>
            </a:r>
            <a:endParaRPr lang="zh-CN" altLang="en-US" sz="1600" b="1" dirty="0"/>
          </a:p>
        </p:txBody>
      </p:sp>
      <p:grpSp>
        <p:nvGrpSpPr>
          <p:cNvPr id="8" name="组合 7"/>
          <p:cNvGrpSpPr/>
          <p:nvPr/>
        </p:nvGrpSpPr>
        <p:grpSpPr>
          <a:xfrm>
            <a:off x="179512" y="2852936"/>
            <a:ext cx="4248472" cy="1970534"/>
            <a:chOff x="1475656" y="4194770"/>
            <a:chExt cx="4638675" cy="2114550"/>
          </a:xfrm>
        </p:grpSpPr>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4194770"/>
              <a:ext cx="4638675" cy="211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接连接符 3"/>
            <p:cNvCxnSpPr/>
            <p:nvPr/>
          </p:nvCxnSpPr>
          <p:spPr>
            <a:xfrm>
              <a:off x="2051720" y="4725144"/>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051720" y="4877544"/>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051720" y="57332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051720" y="58856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971600" y="4869160"/>
            <a:ext cx="6624736" cy="1815882"/>
          </a:xfrm>
          <a:prstGeom prst="rect">
            <a:avLst/>
          </a:prstGeom>
          <a:solidFill>
            <a:schemeClr val="tx1"/>
          </a:solidFill>
        </p:spPr>
        <p:txBody>
          <a:bodyPr wrap="square">
            <a:spAutoFit/>
          </a:bodyPr>
          <a:lstStyle/>
          <a:p>
            <a:r>
              <a:rPr lang="en-US" altLang="zh-CN" sz="1400" dirty="0">
                <a:solidFill>
                  <a:schemeClr val="bg1"/>
                </a:solidFill>
              </a:rPr>
              <a:t>constructor ....</a:t>
            </a:r>
          </a:p>
          <a:p>
            <a:r>
              <a:rPr lang="en-US" altLang="zh-CN" sz="1400" dirty="0">
                <a:solidFill>
                  <a:schemeClr val="bg1"/>
                </a:solidFill>
              </a:rPr>
              <a:t>Person </a:t>
            </a:r>
            <a:r>
              <a:rPr lang="en-US" altLang="zh-CN" sz="1400" dirty="0" err="1">
                <a:solidFill>
                  <a:schemeClr val="bg1"/>
                </a:solidFill>
              </a:rPr>
              <a:t>p1</a:t>
            </a:r>
            <a:r>
              <a:rPr lang="en-US" altLang="zh-CN" sz="1400" dirty="0">
                <a:solidFill>
                  <a:schemeClr val="bg1"/>
                </a:solidFill>
              </a:rPr>
              <a:t> is </a:t>
            </a:r>
            <a:r>
              <a:rPr lang="zh-CN" altLang="en-US" sz="1400" dirty="0">
                <a:solidFill>
                  <a:schemeClr val="bg1"/>
                </a:solidFill>
              </a:rPr>
              <a:t>张勇 </a:t>
            </a:r>
            <a:r>
              <a:rPr lang="en-US" altLang="zh-CN" sz="1400" dirty="0">
                <a:solidFill>
                  <a:schemeClr val="bg1"/>
                </a:solidFill>
              </a:rPr>
              <a:t>1      The Address of _name: </a:t>
            </a:r>
            <a:r>
              <a:rPr lang="en-US" altLang="zh-CN" sz="1400" dirty="0" err="1">
                <a:solidFill>
                  <a:schemeClr val="bg1"/>
                </a:solidFill>
              </a:rPr>
              <a:t>00000000001AF598</a:t>
            </a:r>
            <a:endParaRPr lang="en-US" altLang="zh-CN" sz="1400" dirty="0">
              <a:solidFill>
                <a:schemeClr val="bg1"/>
              </a:solidFill>
            </a:endParaRPr>
          </a:p>
          <a:p>
            <a:r>
              <a:rPr lang="en-US" altLang="zh-CN" sz="1400" dirty="0">
                <a:solidFill>
                  <a:schemeClr val="bg1"/>
                </a:solidFill>
              </a:rPr>
              <a:t>Person </a:t>
            </a:r>
            <a:r>
              <a:rPr lang="en-US" altLang="zh-CN" sz="1400" dirty="0" err="1">
                <a:solidFill>
                  <a:schemeClr val="bg1"/>
                </a:solidFill>
              </a:rPr>
              <a:t>p2</a:t>
            </a:r>
            <a:r>
              <a:rPr lang="en-US" altLang="zh-CN" sz="1400" dirty="0">
                <a:solidFill>
                  <a:schemeClr val="bg1"/>
                </a:solidFill>
              </a:rPr>
              <a:t> is </a:t>
            </a:r>
            <a:r>
              <a:rPr lang="zh-CN" altLang="en-US" sz="1400" dirty="0">
                <a:solidFill>
                  <a:schemeClr val="bg1"/>
                </a:solidFill>
              </a:rPr>
              <a:t>张勇 </a:t>
            </a:r>
            <a:r>
              <a:rPr lang="en-US" altLang="zh-CN" sz="1400" dirty="0">
                <a:solidFill>
                  <a:schemeClr val="bg1"/>
                </a:solidFill>
              </a:rPr>
              <a:t>2      The Address of _name: </a:t>
            </a:r>
            <a:r>
              <a:rPr lang="en-US" altLang="zh-CN" sz="1400" dirty="0" err="1">
                <a:solidFill>
                  <a:schemeClr val="bg1"/>
                </a:solidFill>
              </a:rPr>
              <a:t>00000000001AF5C8</a:t>
            </a:r>
            <a:endParaRPr lang="en-US" altLang="zh-CN" sz="1400" dirty="0">
              <a:solidFill>
                <a:schemeClr val="bg1"/>
              </a:solidFill>
            </a:endParaRPr>
          </a:p>
          <a:p>
            <a:r>
              <a:rPr lang="en-US" altLang="zh-CN" sz="1400" dirty="0">
                <a:solidFill>
                  <a:schemeClr val="bg1"/>
                </a:solidFill>
              </a:rPr>
              <a:t>destructor...</a:t>
            </a:r>
            <a:r>
              <a:rPr lang="zh-CN" altLang="en-US" sz="1400" dirty="0">
                <a:solidFill>
                  <a:schemeClr val="bg1"/>
                </a:solidFill>
              </a:rPr>
              <a:t>张勇 </a:t>
            </a:r>
            <a:r>
              <a:rPr lang="en-US" altLang="zh-CN" sz="1400" dirty="0">
                <a:solidFill>
                  <a:schemeClr val="bg1"/>
                </a:solidFill>
              </a:rPr>
              <a:t>2</a:t>
            </a:r>
          </a:p>
          <a:p>
            <a:r>
              <a:rPr lang="en-US" altLang="zh-CN" sz="1400" dirty="0">
                <a:solidFill>
                  <a:schemeClr val="bg1"/>
                </a:solidFill>
              </a:rPr>
              <a:t>destructor...</a:t>
            </a:r>
            <a:r>
              <a:rPr lang="zh-CN" altLang="en-US" sz="1400" dirty="0">
                <a:solidFill>
                  <a:schemeClr val="bg1"/>
                </a:solidFill>
              </a:rPr>
              <a:t>张勇 </a:t>
            </a:r>
            <a:r>
              <a:rPr lang="en-US" altLang="zh-CN" sz="1400" dirty="0">
                <a:solidFill>
                  <a:schemeClr val="bg1"/>
                </a:solidFill>
              </a:rPr>
              <a:t>1</a:t>
            </a:r>
          </a:p>
          <a:p>
            <a:endParaRPr lang="en-US" altLang="zh-CN" sz="1400" dirty="0">
              <a:solidFill>
                <a:schemeClr val="bg1"/>
              </a:solidFill>
            </a:endParaRPr>
          </a:p>
          <a:p>
            <a:r>
              <a:rPr lang="en-US" altLang="zh-CN" sz="1400" dirty="0">
                <a:solidFill>
                  <a:schemeClr val="bg1"/>
                </a:solidFill>
              </a:rPr>
              <a:t>D:\</a:t>
            </a:r>
            <a:r>
              <a:rPr lang="en-US" altLang="zh-CN" sz="1400" dirty="0" err="1">
                <a:solidFill>
                  <a:schemeClr val="bg1"/>
                </a:solidFill>
              </a:rPr>
              <a:t>vs2019</a:t>
            </a:r>
            <a:r>
              <a:rPr lang="en-US" altLang="zh-CN" sz="1400" dirty="0">
                <a:solidFill>
                  <a:schemeClr val="bg1"/>
                </a:solidFill>
              </a:rPr>
              <a:t>\temp\</a:t>
            </a:r>
            <a:r>
              <a:rPr lang="en-US" altLang="zh-CN" sz="1400" dirty="0" err="1">
                <a:solidFill>
                  <a:schemeClr val="bg1"/>
                </a:solidFill>
              </a:rPr>
              <a:t>x64</a:t>
            </a:r>
            <a:r>
              <a:rPr lang="en-US" altLang="zh-CN" sz="1400" dirty="0">
                <a:solidFill>
                  <a:schemeClr val="bg1"/>
                </a:solidFill>
              </a:rPr>
              <a:t>\Debug\</a:t>
            </a:r>
            <a:r>
              <a:rPr lang="en-US" altLang="zh-CN" sz="1400" dirty="0" err="1">
                <a:solidFill>
                  <a:schemeClr val="bg1"/>
                </a:solidFill>
              </a:rPr>
              <a:t>temp.exe</a:t>
            </a:r>
            <a:r>
              <a:rPr lang="en-US" altLang="zh-CN" sz="1400" dirty="0">
                <a:solidFill>
                  <a:schemeClr val="bg1"/>
                </a:solidFill>
              </a:rPr>
              <a:t> (</a:t>
            </a:r>
            <a:r>
              <a:rPr lang="zh-CN" altLang="en-US" sz="1400" dirty="0">
                <a:solidFill>
                  <a:schemeClr val="bg1"/>
                </a:solidFill>
              </a:rPr>
              <a:t>进程 </a:t>
            </a:r>
            <a:r>
              <a:rPr lang="en-US" altLang="zh-CN" sz="1400" dirty="0">
                <a:solidFill>
                  <a:schemeClr val="bg1"/>
                </a:solidFill>
              </a:rPr>
              <a:t>8984)</a:t>
            </a:r>
            <a:r>
              <a:rPr lang="zh-CN" altLang="en-US" sz="1400" dirty="0">
                <a:solidFill>
                  <a:schemeClr val="bg1"/>
                </a:solidFill>
              </a:rPr>
              <a:t>已退出，代码为 </a:t>
            </a:r>
            <a:r>
              <a:rPr lang="en-US" altLang="zh-CN" sz="1400" dirty="0">
                <a:solidFill>
                  <a:schemeClr val="bg1"/>
                </a:solidFill>
              </a:rPr>
              <a:t>0</a:t>
            </a:r>
            <a:r>
              <a:rPr lang="zh-CN" altLang="en-US" sz="1400" dirty="0">
                <a:solidFill>
                  <a:schemeClr val="bg1"/>
                </a:solidFill>
              </a:rPr>
              <a:t>。</a:t>
            </a:r>
          </a:p>
          <a:p>
            <a:r>
              <a:rPr lang="zh-CN" altLang="en-US" sz="1400" dirty="0">
                <a:solidFill>
                  <a:schemeClr val="bg1"/>
                </a:solidFill>
              </a:rPr>
              <a:t>按任意键关闭此窗口</a:t>
            </a:r>
            <a:r>
              <a:rPr lang="en-US" altLang="zh-CN" sz="1400" dirty="0">
                <a:solidFill>
                  <a:schemeClr val="bg1"/>
                </a:solidFill>
              </a:rPr>
              <a:t>. . .</a:t>
            </a:r>
            <a:endParaRPr lang="zh-CN" altLang="en-US" sz="1400" dirty="0">
              <a:solidFill>
                <a:schemeClr val="bg1"/>
              </a:solidFill>
            </a:endParaRPr>
          </a:p>
        </p:txBody>
      </p:sp>
      <p:sp>
        <p:nvSpPr>
          <p:cNvPr id="15" name="矩形 14"/>
          <p:cNvSpPr/>
          <p:nvPr/>
        </p:nvSpPr>
        <p:spPr>
          <a:xfrm>
            <a:off x="6622269" y="5680412"/>
            <a:ext cx="2339102" cy="523220"/>
          </a:xfrm>
          <a:prstGeom prst="rect">
            <a:avLst/>
          </a:prstGeom>
          <a:solidFill>
            <a:srgbClr val="92D050"/>
          </a:solidFill>
        </p:spPr>
        <p:txBody>
          <a:bodyPr wrap="none">
            <a:spAutoFit/>
          </a:bodyPr>
          <a:lstStyle/>
          <a:p>
            <a:r>
              <a:rPr lang="zh-CN" altLang="en-US" sz="2800" b="1" dirty="0"/>
              <a:t>正常终止程序</a:t>
            </a:r>
          </a:p>
        </p:txBody>
      </p:sp>
    </p:spTree>
    <p:extLst>
      <p:ext uri="{BB962C8B-B14F-4D97-AF65-F5344CB8AC3E}">
        <p14:creationId xmlns:p14="http://schemas.microsoft.com/office/powerpoint/2010/main" val="2242061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42938" y="188640"/>
            <a:ext cx="7772400" cy="762000"/>
          </a:xfrm>
        </p:spPr>
        <p:txBody>
          <a:bodyPr>
            <a:normAutofit/>
          </a:bodyPr>
          <a:lstStyle/>
          <a:p>
            <a:pPr eaLnBrk="1" hangingPunct="1"/>
            <a:r>
              <a:rPr lang="en-US" altLang="zh-CN" sz="4000" dirty="0"/>
              <a:t>4_2.3 </a:t>
            </a:r>
            <a:r>
              <a:rPr lang="zh-CN" altLang="en-US" sz="4000" dirty="0"/>
              <a:t>构造</a:t>
            </a:r>
            <a:r>
              <a:rPr lang="zh-CN" altLang="en-US" sz="4000" dirty="0">
                <a:solidFill>
                  <a:schemeClr val="tx1"/>
                </a:solidFill>
              </a:rPr>
              <a:t>函数与初始化列表</a:t>
            </a:r>
          </a:p>
        </p:txBody>
      </p:sp>
      <p:sp>
        <p:nvSpPr>
          <p:cNvPr id="67587" name="Rectangle 3"/>
          <p:cNvSpPr>
            <a:spLocks noGrp="1" noChangeArrowheads="1"/>
          </p:cNvSpPr>
          <p:nvPr>
            <p:ph idx="1"/>
          </p:nvPr>
        </p:nvSpPr>
        <p:spPr>
          <a:xfrm>
            <a:off x="685800" y="1196752"/>
            <a:ext cx="8350696" cy="5661248"/>
          </a:xfrm>
        </p:spPr>
        <p:txBody>
          <a:bodyPr>
            <a:normAutofit/>
          </a:bodyPr>
          <a:lstStyle/>
          <a:p>
            <a:pPr eaLnBrk="1" hangingPunct="1">
              <a:lnSpc>
                <a:spcPct val="90000"/>
              </a:lnSpc>
              <a:buFontTx/>
              <a:buNone/>
              <a:defRPr/>
            </a:pPr>
            <a:r>
              <a:rPr lang="en-US" altLang="zh-CN" dirty="0"/>
              <a:t>1</a:t>
            </a:r>
            <a:r>
              <a:rPr lang="zh-CN" altLang="en-US" dirty="0"/>
              <a:t>、什么是初始化列表</a:t>
            </a:r>
          </a:p>
          <a:p>
            <a:pPr lvl="1" eaLnBrk="1" hangingPunct="1">
              <a:lnSpc>
                <a:spcPct val="90000"/>
              </a:lnSpc>
              <a:defRPr/>
            </a:pPr>
            <a:r>
              <a:rPr lang="zh-CN" altLang="en-US" dirty="0"/>
              <a:t>成员初始化列表类似于下面的形式</a:t>
            </a:r>
          </a:p>
          <a:p>
            <a:pPr lvl="1" eaLnBrk="1" hangingPunct="1">
              <a:lnSpc>
                <a:spcPct val="90000"/>
              </a:lnSpc>
              <a:defRPr/>
            </a:pPr>
            <a:endParaRPr lang="zh-CN" altLang="en-US" dirty="0"/>
          </a:p>
          <a:p>
            <a:pPr lvl="1" eaLnBrk="1" hangingPunct="1">
              <a:lnSpc>
                <a:spcPct val="90000"/>
              </a:lnSpc>
              <a:buFontTx/>
              <a:buNone/>
              <a:defRPr/>
            </a:pPr>
            <a:r>
              <a:rPr lang="zh-CN" altLang="en-US" sz="2000" b="1" dirty="0"/>
              <a:t>构造函数名</a:t>
            </a:r>
            <a:r>
              <a:rPr lang="en-US" altLang="zh-CN" sz="2000" b="1" dirty="0"/>
              <a:t>(</a:t>
            </a:r>
            <a:r>
              <a:rPr lang="zh-CN" altLang="en-US" sz="2000" b="1" dirty="0"/>
              <a:t>参数表</a:t>
            </a:r>
            <a:r>
              <a:rPr lang="en-US" altLang="zh-CN" sz="2000" b="1" dirty="0"/>
              <a:t>)</a:t>
            </a:r>
            <a:r>
              <a:rPr lang="zh-CN" altLang="en-US" sz="2000" b="1" dirty="0"/>
              <a:t>：</a:t>
            </a:r>
            <a:r>
              <a:rPr lang="zh-CN" altLang="en-US" sz="2000" b="1" dirty="0">
                <a:solidFill>
                  <a:srgbClr val="FF3300"/>
                </a:solidFill>
              </a:rPr>
              <a:t>成员</a:t>
            </a:r>
            <a:r>
              <a:rPr lang="en-US" altLang="zh-CN" sz="2000" b="1" dirty="0">
                <a:solidFill>
                  <a:srgbClr val="FF3300"/>
                </a:solidFill>
              </a:rPr>
              <a:t>1</a:t>
            </a:r>
            <a:r>
              <a:rPr lang="en-US" altLang="zh-CN" sz="2000" b="1" dirty="0">
                <a:solidFill>
                  <a:srgbClr val="0070C0"/>
                </a:solidFill>
              </a:rPr>
              <a:t>(</a:t>
            </a:r>
            <a:r>
              <a:rPr lang="zh-CN" altLang="en-US" sz="2000" b="1" dirty="0">
                <a:solidFill>
                  <a:srgbClr val="0070C0"/>
                </a:solidFill>
              </a:rPr>
              <a:t>初始值</a:t>
            </a:r>
            <a:r>
              <a:rPr lang="en-US" altLang="zh-CN" sz="2000" b="1" dirty="0">
                <a:solidFill>
                  <a:srgbClr val="0070C0"/>
                </a:solidFill>
              </a:rPr>
              <a:t>1),</a:t>
            </a:r>
            <a:r>
              <a:rPr lang="zh-CN" altLang="en-US" sz="2000" b="1" dirty="0">
                <a:solidFill>
                  <a:srgbClr val="FF3300"/>
                </a:solidFill>
              </a:rPr>
              <a:t>成员</a:t>
            </a:r>
            <a:r>
              <a:rPr lang="en-US" altLang="zh-CN" sz="2000" b="1" dirty="0">
                <a:solidFill>
                  <a:srgbClr val="FF3300"/>
                </a:solidFill>
              </a:rPr>
              <a:t>2</a:t>
            </a:r>
            <a:r>
              <a:rPr lang="en-US" altLang="zh-CN" sz="2000" b="1" dirty="0">
                <a:solidFill>
                  <a:srgbClr val="0070C0"/>
                </a:solidFill>
              </a:rPr>
              <a:t>(</a:t>
            </a:r>
            <a:r>
              <a:rPr lang="zh-CN" altLang="en-US" sz="2000" b="1" dirty="0">
                <a:solidFill>
                  <a:srgbClr val="0070C0"/>
                </a:solidFill>
              </a:rPr>
              <a:t>初始值</a:t>
            </a:r>
            <a:r>
              <a:rPr lang="en-US" altLang="zh-CN" sz="2000" b="1" dirty="0">
                <a:solidFill>
                  <a:srgbClr val="0070C0"/>
                </a:solidFill>
              </a:rPr>
              <a:t>2)</a:t>
            </a:r>
            <a:r>
              <a:rPr lang="en-US" altLang="zh-CN" sz="2000" b="1" dirty="0">
                <a:solidFill>
                  <a:srgbClr val="FF3300"/>
                </a:solidFill>
              </a:rPr>
              <a:t>,</a:t>
            </a:r>
            <a:r>
              <a:rPr lang="en-US" altLang="zh-CN" sz="2000" b="1" dirty="0">
                <a:solidFill>
                  <a:srgbClr val="FF3300"/>
                </a:solidFill>
                <a:latin typeface="Arial" charset="0"/>
              </a:rPr>
              <a:t>…</a:t>
            </a:r>
          </a:p>
          <a:p>
            <a:pPr lvl="1" eaLnBrk="1" hangingPunct="1">
              <a:lnSpc>
                <a:spcPct val="90000"/>
              </a:lnSpc>
              <a:buFontTx/>
              <a:buNone/>
              <a:defRPr/>
            </a:pPr>
            <a:r>
              <a:rPr lang="en-US" altLang="zh-CN" sz="2000" b="1" dirty="0"/>
              <a:t>{</a:t>
            </a:r>
          </a:p>
          <a:p>
            <a:pPr lvl="2" eaLnBrk="1" hangingPunct="1">
              <a:lnSpc>
                <a:spcPct val="90000"/>
              </a:lnSpc>
              <a:buFontTx/>
              <a:buNone/>
              <a:defRPr/>
            </a:pPr>
            <a:r>
              <a:rPr lang="en-US" altLang="zh-CN" b="1" dirty="0">
                <a:latin typeface="Arial" charset="0"/>
              </a:rPr>
              <a:t>……</a:t>
            </a:r>
          </a:p>
          <a:p>
            <a:pPr marL="365125" lvl="2" indent="15875" eaLnBrk="1" hangingPunct="1">
              <a:lnSpc>
                <a:spcPct val="90000"/>
              </a:lnSpc>
              <a:buFontTx/>
              <a:buNone/>
              <a:defRPr/>
            </a:pPr>
            <a:r>
              <a:rPr lang="en-US" altLang="zh-CN" b="1" dirty="0"/>
              <a:t>  }</a:t>
            </a:r>
          </a:p>
          <a:p>
            <a:pPr lvl="2" eaLnBrk="1" hangingPunct="1">
              <a:lnSpc>
                <a:spcPct val="90000"/>
              </a:lnSpc>
              <a:buFontTx/>
              <a:buNone/>
              <a:defRPr/>
            </a:pPr>
            <a:endParaRPr lang="en-US" altLang="zh-CN" b="1" dirty="0">
              <a:solidFill>
                <a:srgbClr val="FF3300"/>
              </a:solidFill>
            </a:endParaRPr>
          </a:p>
          <a:p>
            <a:pPr lvl="1" eaLnBrk="1" hangingPunct="1">
              <a:lnSpc>
                <a:spcPct val="90000"/>
              </a:lnSpc>
              <a:defRPr/>
            </a:pPr>
            <a:r>
              <a:rPr lang="zh-CN" altLang="en-US" dirty="0"/>
              <a:t>介于参数表后面的</a:t>
            </a:r>
            <a:r>
              <a:rPr lang="en-US" altLang="zh-CN" dirty="0">
                <a:latin typeface="Arial" charset="0"/>
              </a:rPr>
              <a:t>"</a:t>
            </a:r>
            <a:r>
              <a:rPr lang="zh-CN" altLang="en-US" dirty="0"/>
              <a:t>：</a:t>
            </a:r>
            <a:r>
              <a:rPr lang="en-US" altLang="zh-CN" dirty="0">
                <a:latin typeface="Arial" charset="0"/>
              </a:rPr>
              <a:t>"</a:t>
            </a:r>
            <a:r>
              <a:rPr lang="zh-CN" altLang="en-US" dirty="0"/>
              <a:t>与函数体</a:t>
            </a:r>
            <a:r>
              <a:rPr lang="en-US" altLang="zh-CN" dirty="0"/>
              <a:t>{</a:t>
            </a:r>
            <a:r>
              <a:rPr lang="en-US" altLang="zh-CN" dirty="0">
                <a:latin typeface="Arial" charset="0"/>
              </a:rPr>
              <a:t>…</a:t>
            </a:r>
            <a:r>
              <a:rPr lang="en-US" altLang="zh-CN" dirty="0"/>
              <a:t>}</a:t>
            </a:r>
            <a:r>
              <a:rPr lang="zh-CN" altLang="en-US" dirty="0"/>
              <a:t>之间的内容就是</a:t>
            </a:r>
            <a:r>
              <a:rPr lang="zh-CN" altLang="en-US" dirty="0">
                <a:solidFill>
                  <a:srgbClr val="FF3300"/>
                </a:solidFill>
              </a:rPr>
              <a:t>成员初始化列表</a:t>
            </a:r>
            <a:r>
              <a:rPr lang="zh-CN" altLang="en-US" dirty="0"/>
              <a:t>。其含义是将括号中的初始值赋给该括号前面的成员。</a:t>
            </a:r>
          </a:p>
          <a:p>
            <a:pPr marL="319088" lvl="1" indent="0" eaLnBrk="1" hangingPunct="1">
              <a:lnSpc>
                <a:spcPct val="90000"/>
              </a:lnSpc>
              <a:buFont typeface="Wingdings 2" pitchFamily="18" charset="2"/>
              <a:buNone/>
              <a:defRPr/>
            </a:pPr>
            <a:r>
              <a:rPr lang="zh-CN" altLang="en-US" dirty="0"/>
              <a:t>构造函数中凡是赋值表达的，可以改成初始化表</a:t>
            </a:r>
          </a:p>
        </p:txBody>
      </p:sp>
      <p:sp>
        <p:nvSpPr>
          <p:cNvPr id="2" name="TextBox 1"/>
          <p:cNvSpPr txBox="1">
            <a:spLocks noChangeArrowheads="1"/>
          </p:cNvSpPr>
          <p:nvPr/>
        </p:nvSpPr>
        <p:spPr bwMode="auto">
          <a:xfrm>
            <a:off x="3635896" y="2576910"/>
            <a:ext cx="4248398" cy="461962"/>
          </a:xfrm>
          <a:prstGeom prst="rect">
            <a:avLst/>
          </a:prstGeom>
          <a:solidFill>
            <a:srgbClr val="FFC000">
              <a:alpha val="3294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 name="矩形 4"/>
          <p:cNvSpPr>
            <a:spLocks noChangeArrowheads="1"/>
          </p:cNvSpPr>
          <p:nvPr/>
        </p:nvSpPr>
        <p:spPr bwMode="auto">
          <a:xfrm>
            <a:off x="4643438" y="3284984"/>
            <a:ext cx="2952898" cy="75723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marL="1588" lvl="2" eaLnBrk="1" hangingPunct="1">
              <a:lnSpc>
                <a:spcPct val="90000"/>
              </a:lnSpc>
              <a:spcBef>
                <a:spcPct val="0"/>
              </a:spcBef>
              <a:buClrTx/>
              <a:buSzTx/>
              <a:buFontTx/>
              <a:buNone/>
            </a:pPr>
            <a:r>
              <a:rPr lang="zh-CN" altLang="en-US" sz="2400" dirty="0">
                <a:latin typeface="Arial" charset="0"/>
              </a:rPr>
              <a:t>成员</a:t>
            </a:r>
            <a:r>
              <a:rPr lang="en-US" altLang="zh-CN" sz="2400" dirty="0">
                <a:latin typeface="Arial" charset="0"/>
              </a:rPr>
              <a:t>1=</a:t>
            </a:r>
            <a:r>
              <a:rPr lang="zh-CN" altLang="en-US" sz="2400" dirty="0">
                <a:latin typeface="Arial" charset="0"/>
              </a:rPr>
              <a:t>初始值</a:t>
            </a:r>
            <a:r>
              <a:rPr lang="en-US" altLang="zh-CN" sz="2400" dirty="0">
                <a:latin typeface="Arial" charset="0"/>
              </a:rPr>
              <a:t>1;</a:t>
            </a:r>
          </a:p>
          <a:p>
            <a:pPr marL="1588" lvl="2" eaLnBrk="1" hangingPunct="1">
              <a:lnSpc>
                <a:spcPct val="90000"/>
              </a:lnSpc>
              <a:spcBef>
                <a:spcPct val="0"/>
              </a:spcBef>
              <a:buClrTx/>
              <a:buSzTx/>
              <a:buFontTx/>
              <a:buNone/>
            </a:pPr>
            <a:r>
              <a:rPr lang="zh-CN" altLang="en-US" sz="2400" dirty="0">
                <a:latin typeface="Arial" charset="0"/>
              </a:rPr>
              <a:t>成员</a:t>
            </a:r>
            <a:r>
              <a:rPr lang="en-US" altLang="zh-CN" sz="2400" dirty="0">
                <a:latin typeface="Arial" charset="0"/>
              </a:rPr>
              <a:t>2=</a:t>
            </a:r>
            <a:r>
              <a:rPr lang="zh-CN" altLang="en-US" sz="2400" dirty="0">
                <a:latin typeface="Arial" charset="0"/>
              </a:rPr>
              <a:t>初始值</a:t>
            </a:r>
            <a:r>
              <a:rPr lang="en-US" altLang="zh-CN" sz="2400" dirty="0">
                <a:latin typeface="Arial" charset="0"/>
              </a:rPr>
              <a:t>2;</a:t>
            </a:r>
            <a:endParaRPr lang="en-US" altLang="zh-CN" sz="2400" dirty="0">
              <a:latin typeface="Times New Roman" pitchFamily="18" charset="0"/>
            </a:endParaRPr>
          </a:p>
        </p:txBody>
      </p:sp>
    </p:spTree>
    <p:extLst>
      <p:ext uri="{BB962C8B-B14F-4D97-AF65-F5344CB8AC3E}">
        <p14:creationId xmlns:p14="http://schemas.microsoft.com/office/powerpoint/2010/main" val="2319481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611560" y="260648"/>
            <a:ext cx="8192368" cy="503957"/>
          </a:xfrm>
        </p:spPr>
        <p:txBody>
          <a:bodyPr>
            <a:noAutofit/>
          </a:bodyPr>
          <a:lstStyle/>
          <a:p>
            <a:pPr eaLnBrk="1" hangingPunct="1">
              <a:lnSpc>
                <a:spcPct val="80000"/>
              </a:lnSpc>
              <a:buFontTx/>
              <a:buNone/>
            </a:pPr>
            <a:r>
              <a:rPr lang="en-US" altLang="zh-CN" sz="2400" dirty="0"/>
              <a:t>【</a:t>
            </a:r>
            <a:r>
              <a:rPr lang="zh-CN" altLang="en-US" sz="2400" dirty="0"/>
              <a:t>例</a:t>
            </a:r>
            <a:r>
              <a:rPr lang="en-US" altLang="zh-CN" sz="2400" dirty="0"/>
              <a:t>】  </a:t>
            </a:r>
            <a:r>
              <a:rPr lang="zh-CN" altLang="en-US" sz="2400" dirty="0"/>
              <a:t>用初始化列表初始化</a:t>
            </a:r>
            <a:r>
              <a:rPr lang="en-US" altLang="zh-CN" sz="2400" dirty="0" err="1"/>
              <a:t>Tdate</a:t>
            </a:r>
            <a:r>
              <a:rPr lang="zh-CN" altLang="en-US" sz="2400" dirty="0"/>
              <a:t>的</a:t>
            </a:r>
            <a:r>
              <a:rPr lang="en-US" altLang="zh-CN" sz="2400" dirty="0"/>
              <a:t>month</a:t>
            </a:r>
            <a:r>
              <a:rPr lang="zh-CN" altLang="en-US" sz="2400" dirty="0"/>
              <a:t>、</a:t>
            </a:r>
            <a:r>
              <a:rPr lang="en-US" altLang="zh-CN" sz="2400" dirty="0"/>
              <a:t>day</a:t>
            </a:r>
            <a:r>
              <a:rPr lang="zh-CN" altLang="en-US" sz="2400" dirty="0"/>
              <a:t>、</a:t>
            </a:r>
            <a:r>
              <a:rPr lang="en-US" altLang="zh-CN" sz="2400" dirty="0"/>
              <a:t>year</a:t>
            </a:r>
            <a:r>
              <a:rPr lang="zh-CN" altLang="en-US" sz="2400" dirty="0"/>
              <a:t>成员。</a:t>
            </a:r>
          </a:p>
        </p:txBody>
      </p:sp>
      <p:sp>
        <p:nvSpPr>
          <p:cNvPr id="2" name="矩形 1"/>
          <p:cNvSpPr/>
          <p:nvPr/>
        </p:nvSpPr>
        <p:spPr>
          <a:xfrm>
            <a:off x="323528" y="1124744"/>
            <a:ext cx="8640960" cy="5262979"/>
          </a:xfrm>
          <a:prstGeom prst="rect">
            <a:avLst/>
          </a:prstGeom>
          <a:solidFill>
            <a:schemeClr val="bg1"/>
          </a:solidFill>
          <a:ln>
            <a:solidFill>
              <a:schemeClr val="accent1">
                <a:shade val="50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r>
              <a:rPr lang="fr-FR" altLang="zh-CN" sz="2400" dirty="0">
                <a:solidFill>
                  <a:srgbClr val="000000"/>
                </a:solidFill>
                <a:highlight>
                  <a:srgbClr val="FFFFFF"/>
                </a:highlight>
                <a:latin typeface="新宋体"/>
                <a:ea typeface="新宋体"/>
              </a:rPr>
              <a:t>   Tdate(</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m,</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d,</a:t>
            </a:r>
            <a:r>
              <a:rPr lang="fr-FR" altLang="zh-CN" sz="2400" dirty="0">
                <a:solidFill>
                  <a:srgbClr val="0000FF"/>
                </a:solidFill>
                <a:highlight>
                  <a:srgbClr val="FFFFFF"/>
                </a:highlight>
                <a:latin typeface="新宋体"/>
                <a:ea typeface="新宋体"/>
              </a:rPr>
              <a:t>int</a:t>
            </a:r>
            <a:r>
              <a:rPr lang="fr-FR" altLang="zh-CN" sz="2400" dirty="0">
                <a:solidFill>
                  <a:srgbClr val="000000"/>
                </a:solidFill>
                <a:highlight>
                  <a:srgbClr val="FFFFFF"/>
                </a:highlight>
                <a:latin typeface="新宋体"/>
                <a:ea typeface="新宋体"/>
              </a:rPr>
              <a:t> y);</a:t>
            </a:r>
          </a:p>
          <a:p>
            <a:r>
              <a:rPr lang="en-US" altLang="zh-CN" sz="2400" dirty="0">
                <a:solidFill>
                  <a:srgbClr val="008000"/>
                </a:solidFill>
                <a:highlight>
                  <a:srgbClr val="FFFFFF"/>
                </a:highlight>
                <a:latin typeface="新宋体"/>
                <a:ea typeface="新宋体"/>
              </a:rPr>
              <a:t>   //……</a:t>
            </a:r>
            <a:endParaRPr lang="zh-CN" altLang="en-US" sz="2400" dirty="0">
              <a:solidFill>
                <a:srgbClr val="000000"/>
              </a:solidFill>
              <a:highlight>
                <a:srgbClr val="FFFFFF"/>
              </a:highlight>
              <a:latin typeface="新宋体"/>
              <a:ea typeface="新宋体"/>
            </a:endParaRPr>
          </a:p>
          <a:p>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month,day,year</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808080"/>
                </a:solidFill>
                <a:highlight>
                  <a:srgbClr val="FFFFFF"/>
                </a:highlight>
                <a:latin typeface="新宋体"/>
                <a:ea typeface="新宋体"/>
              </a:rPr>
              <a:t>m</a:t>
            </a:r>
            <a:r>
              <a:rPr lang="en-US" altLang="zh-CN" sz="2400" dirty="0" err="1">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808080"/>
                </a:solidFill>
                <a:highlight>
                  <a:srgbClr val="FFFFFF"/>
                </a:highlight>
                <a:latin typeface="新宋体"/>
                <a:ea typeface="新宋体"/>
              </a:rPr>
              <a:t>d</a:t>
            </a:r>
            <a:r>
              <a:rPr lang="en-US" altLang="zh-CN" sz="2400" dirty="0" err="1">
                <a:solidFill>
                  <a:srgbClr val="000000"/>
                </a:solidFill>
                <a:highlight>
                  <a:srgbClr val="FFFFFF"/>
                </a:highlight>
                <a:latin typeface="新宋体"/>
                <a:ea typeface="新宋体"/>
              </a:rPr>
              <a: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):month(</a:t>
            </a:r>
            <a:r>
              <a:rPr lang="en-US" altLang="zh-CN" sz="2400" dirty="0">
                <a:solidFill>
                  <a:srgbClr val="808080"/>
                </a:solidFill>
                <a:highlight>
                  <a:srgbClr val="FFFFFF"/>
                </a:highlight>
                <a:latin typeface="新宋体"/>
                <a:ea typeface="新宋体"/>
              </a:rPr>
              <a:t>m</a:t>
            </a:r>
            <a:r>
              <a:rPr lang="en-US" altLang="zh-CN" sz="2400" dirty="0">
                <a:solidFill>
                  <a:srgbClr val="000000"/>
                </a:solidFill>
                <a:highlight>
                  <a:srgbClr val="FFFFFF"/>
                </a:highlight>
                <a:latin typeface="新宋体"/>
                <a:ea typeface="新宋体"/>
              </a:rPr>
              <a:t>),day(</a:t>
            </a:r>
            <a:r>
              <a:rPr lang="en-US" altLang="zh-CN" sz="2400" dirty="0">
                <a:solidFill>
                  <a:srgbClr val="808080"/>
                </a:solidFill>
                <a:highlight>
                  <a:srgbClr val="FFFFFF"/>
                </a:highlight>
                <a:latin typeface="新宋体"/>
                <a:ea typeface="新宋体"/>
              </a:rPr>
              <a:t>d</a:t>
            </a:r>
            <a:r>
              <a:rPr lang="en-US" altLang="zh-CN" sz="2400" dirty="0">
                <a:solidFill>
                  <a:srgbClr val="000000"/>
                </a:solidFill>
                <a:highlight>
                  <a:srgbClr val="FFFFFF"/>
                </a:highlight>
                <a:latin typeface="新宋体"/>
                <a:ea typeface="新宋体"/>
              </a:rPr>
              <a:t>),year(</a:t>
            </a:r>
            <a:r>
              <a:rPr lang="en-US" altLang="zh-CN" sz="2400" dirty="0">
                <a:solidFill>
                  <a:srgbClr val="808080"/>
                </a:solidFill>
                <a:highlight>
                  <a:srgbClr val="FFFFFF"/>
                </a:highlight>
                <a:latin typeface="新宋体"/>
                <a:ea typeface="新宋体"/>
              </a:rPr>
              <a:t>y)</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month</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day</a:t>
            </a:r>
            <a:r>
              <a:rPr lang="en-US" altLang="zh-CN" sz="2400" dirty="0">
                <a:solidFill>
                  <a:srgbClr val="008080"/>
                </a:solidFill>
                <a:highlight>
                  <a:srgbClr val="FFFFFF"/>
                </a:highlight>
                <a:latin typeface="新宋体"/>
                <a:ea typeface="新宋体"/>
              </a:rPr>
              <a:t>&lt;&lt;</a:t>
            </a:r>
            <a:r>
              <a:rPr lang="en-US" altLang="zh-CN" sz="2400" dirty="0">
                <a:solidFill>
                  <a:srgbClr val="A31515"/>
                </a:solidFill>
                <a:highlight>
                  <a:srgbClr val="FFFFFF"/>
                </a:highlight>
                <a:latin typeface="新宋体"/>
                <a:ea typeface="新宋体"/>
              </a:rPr>
              <a:t>"/"</a:t>
            </a:r>
            <a:r>
              <a:rPr lang="en-US" altLang="zh-CN" sz="2400" dirty="0">
                <a:solidFill>
                  <a:srgbClr val="008080"/>
                </a:solidFill>
                <a:highlight>
                  <a:srgbClr val="FFFFFF"/>
                </a:highlight>
                <a:latin typeface="新宋体"/>
                <a:ea typeface="新宋体"/>
              </a:rPr>
              <a:t>&lt;&lt;</a:t>
            </a:r>
            <a:r>
              <a:rPr lang="en-US" altLang="zh-CN" sz="2400" dirty="0">
                <a:solidFill>
                  <a:srgbClr val="000000"/>
                </a:solidFill>
                <a:highlight>
                  <a:srgbClr val="FFFFFF"/>
                </a:highlight>
                <a:latin typeface="新宋体"/>
                <a:ea typeface="新宋体"/>
              </a:rPr>
              <a:t>year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main() </a:t>
            </a:r>
          </a:p>
          <a:p>
            <a:r>
              <a:rPr lang="en-US" altLang="zh-CN" sz="2400" dirty="0">
                <a:solidFill>
                  <a:srgbClr val="000000"/>
                </a:solidFill>
                <a:highlight>
                  <a:srgbClr val="FFFFFF"/>
                </a:highlight>
                <a:latin typeface="新宋体"/>
                <a:ea typeface="新宋体"/>
              </a:rPr>
              <a:t>{  </a:t>
            </a:r>
            <a:r>
              <a:rPr lang="en-US" altLang="zh-CN" sz="2400" dirty="0" err="1">
                <a:solidFill>
                  <a:srgbClr val="2B91AF"/>
                </a:solidFill>
                <a:highlight>
                  <a:srgbClr val="FFFFFF"/>
                </a:highlight>
                <a:latin typeface="新宋体"/>
                <a:ea typeface="新宋体"/>
              </a:rPr>
              <a:t>Tdate</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aday</a:t>
            </a:r>
            <a:r>
              <a:rPr lang="en-US" altLang="zh-CN" sz="2400" dirty="0">
                <a:solidFill>
                  <a:srgbClr val="000000"/>
                </a:solidFill>
                <a:highlight>
                  <a:srgbClr val="FFFFFF"/>
                </a:highlight>
                <a:latin typeface="新宋体"/>
                <a:ea typeface="新宋体"/>
              </a:rPr>
              <a:t>(10,1,2017);</a:t>
            </a:r>
          </a:p>
          <a:p>
            <a:r>
              <a:rPr lang="en-US" altLang="zh-CN" sz="2400" dirty="0">
                <a:solidFill>
                  <a:srgbClr val="0000FF"/>
                </a:solidFill>
                <a:highlight>
                  <a:srgbClr val="FFFFFF"/>
                </a:highlight>
                <a:latin typeface="新宋体"/>
                <a:ea typeface="新宋体"/>
              </a:rPr>
              <a:t>   return</a:t>
            </a:r>
            <a:r>
              <a:rPr lang="en-US" altLang="zh-CN" sz="2400" dirty="0">
                <a:solidFill>
                  <a:srgbClr val="000000"/>
                </a:solidFill>
                <a:highlight>
                  <a:srgbClr val="FFFFFF"/>
                </a:highlight>
                <a:latin typeface="新宋体"/>
                <a:ea typeface="新宋体"/>
              </a:rPr>
              <a:t> 0;</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3" name="圆角矩形 2"/>
          <p:cNvSpPr/>
          <p:nvPr/>
        </p:nvSpPr>
        <p:spPr>
          <a:xfrm>
            <a:off x="323528" y="3717032"/>
            <a:ext cx="8640960" cy="12241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a:spLocks noChangeArrowheads="1"/>
          </p:cNvSpPr>
          <p:nvPr/>
        </p:nvSpPr>
        <p:spPr bwMode="auto">
          <a:xfrm>
            <a:off x="6732240" y="4459694"/>
            <a:ext cx="2071688" cy="120032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r>
              <a:rPr lang="en-US" altLang="zh-CN" sz="2400" dirty="0">
                <a:latin typeface="Times New Roman" pitchFamily="18" charset="0"/>
              </a:rPr>
              <a:t>month=m;</a:t>
            </a:r>
          </a:p>
          <a:p>
            <a:pPr eaLnBrk="1" hangingPunct="1">
              <a:spcBef>
                <a:spcPct val="0"/>
              </a:spcBef>
              <a:buClrTx/>
              <a:buSzTx/>
              <a:buFontTx/>
              <a:buNone/>
            </a:pPr>
            <a:r>
              <a:rPr lang="en-US" altLang="zh-CN" sz="2400" dirty="0">
                <a:latin typeface="Times New Roman" pitchFamily="18" charset="0"/>
              </a:rPr>
              <a:t>day=d;</a:t>
            </a:r>
          </a:p>
          <a:p>
            <a:pPr eaLnBrk="1" hangingPunct="1">
              <a:spcBef>
                <a:spcPct val="0"/>
              </a:spcBef>
              <a:buClrTx/>
              <a:buSzTx/>
              <a:buFontTx/>
              <a:buNone/>
            </a:pPr>
            <a:r>
              <a:rPr lang="en-US" altLang="zh-CN" sz="2400" dirty="0">
                <a:latin typeface="Times New Roman" pitchFamily="18" charset="0"/>
              </a:rPr>
              <a:t>year=y;</a:t>
            </a:r>
            <a:endParaRPr lang="zh-CN" altLang="en-US" sz="2400" dirty="0">
              <a:latin typeface="Times New Roman" pitchFamily="18" charset="0"/>
            </a:endParaRPr>
          </a:p>
        </p:txBody>
      </p:sp>
    </p:spTree>
    <p:extLst>
      <p:ext uri="{BB962C8B-B14F-4D97-AF65-F5344CB8AC3E}">
        <p14:creationId xmlns:p14="http://schemas.microsoft.com/office/powerpoint/2010/main" val="4160393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1"/>
          </p:nvPr>
        </p:nvSpPr>
        <p:spPr>
          <a:xfrm>
            <a:off x="685800" y="908720"/>
            <a:ext cx="8062664" cy="5400600"/>
          </a:xfrm>
        </p:spPr>
        <p:txBody>
          <a:bodyPr>
            <a:normAutofit fontScale="85000" lnSpcReduction="10000"/>
          </a:bodyPr>
          <a:lstStyle/>
          <a:p>
            <a:pPr eaLnBrk="1" hangingPunct="1">
              <a:lnSpc>
                <a:spcPct val="90000"/>
              </a:lnSpc>
              <a:buFontTx/>
              <a:buNone/>
            </a:pPr>
            <a:r>
              <a:rPr lang="en-US" altLang="zh-CN" sz="2400" dirty="0"/>
              <a:t>2</a:t>
            </a:r>
            <a:r>
              <a:rPr lang="zh-CN" altLang="en-US" sz="2400" dirty="0"/>
              <a:t>、</a:t>
            </a:r>
            <a:r>
              <a:rPr lang="zh-CN" altLang="en-US" sz="3100" dirty="0"/>
              <a:t>使用构造函数初始化列表的注意</a:t>
            </a:r>
            <a:endParaRPr lang="en-US" altLang="zh-CN" sz="2400" dirty="0"/>
          </a:p>
          <a:p>
            <a:pPr eaLnBrk="1" hangingPunct="1">
              <a:lnSpc>
                <a:spcPct val="90000"/>
              </a:lnSpc>
              <a:buFontTx/>
              <a:buNone/>
            </a:pPr>
            <a:endParaRPr lang="zh-CN" altLang="en-US" sz="2400" dirty="0"/>
          </a:p>
          <a:p>
            <a:pPr eaLnBrk="1" hangingPunct="1">
              <a:lnSpc>
                <a:spcPct val="120000"/>
              </a:lnSpc>
              <a:buFontTx/>
              <a:buNone/>
            </a:pPr>
            <a:r>
              <a:rPr lang="zh-CN" altLang="en-US" sz="2400" dirty="0"/>
              <a:t>① </a:t>
            </a:r>
            <a:r>
              <a:rPr lang="zh-CN" altLang="en-US" sz="2600" dirty="0"/>
              <a:t>构造函数初始化列表中的成员初始化次序与它们在</a:t>
            </a:r>
            <a:r>
              <a:rPr lang="zh-CN" altLang="en-US" sz="2600" dirty="0">
                <a:solidFill>
                  <a:srgbClr val="FF0000"/>
                </a:solidFill>
              </a:rPr>
              <a:t>类中的声明次序相同</a:t>
            </a:r>
            <a:r>
              <a:rPr lang="zh-CN" altLang="en-US" sz="2600" dirty="0"/>
              <a:t>，与初始列表中的次序无关。</a:t>
            </a:r>
            <a:endParaRPr lang="en-US" altLang="zh-CN" sz="2600" dirty="0"/>
          </a:p>
          <a:p>
            <a:pPr indent="12700" eaLnBrk="1" hangingPunct="1">
              <a:lnSpc>
                <a:spcPct val="120000"/>
              </a:lnSpc>
              <a:buFontTx/>
              <a:buNone/>
            </a:pPr>
            <a:r>
              <a:rPr lang="zh-CN" altLang="en-US" sz="2600" dirty="0"/>
              <a:t>如对</a:t>
            </a:r>
            <a:r>
              <a:rPr lang="en-US" altLang="zh-CN" sz="2600" dirty="0" err="1"/>
              <a:t>Tdate</a:t>
            </a:r>
            <a:r>
              <a:rPr lang="zh-CN" altLang="en-US" sz="2600" dirty="0"/>
              <a:t>类而言，下面</a:t>
            </a:r>
            <a:r>
              <a:rPr lang="en-US" altLang="zh-CN" sz="2600" dirty="0"/>
              <a:t>3</a:t>
            </a:r>
            <a:r>
              <a:rPr lang="zh-CN" altLang="en-US" sz="2600" dirty="0"/>
              <a:t>个构造函数是完全相同的。</a:t>
            </a:r>
          </a:p>
          <a:p>
            <a:pPr eaLnBrk="1" hangingPunct="1">
              <a:lnSpc>
                <a:spcPct val="90000"/>
              </a:lnSpc>
              <a:buFontTx/>
              <a:buNone/>
            </a:pPr>
            <a:endParaRPr lang="zh-CN" altLang="en-US" sz="2400" dirty="0"/>
          </a:p>
          <a:p>
            <a:pPr indent="12700" eaLnBrk="1" hangingPunct="1">
              <a:lnSpc>
                <a:spcPct val="90000"/>
              </a:lnSpc>
              <a:buFontTx/>
              <a:buNone/>
            </a:pPr>
            <a:r>
              <a:rPr lang="en-US" altLang="zh-CN" sz="2400" dirty="0" err="1">
                <a:solidFill>
                  <a:schemeClr val="accent2"/>
                </a:solidFill>
              </a:rPr>
              <a:t>Tdate</a:t>
            </a:r>
            <a:r>
              <a:rPr lang="en-US" altLang="zh-CN" sz="2400" dirty="0">
                <a:solidFill>
                  <a:schemeClr val="accent2"/>
                </a:solidFill>
              </a:rPr>
              <a:t>::</a:t>
            </a:r>
            <a:r>
              <a:rPr lang="en-US" altLang="zh-CN" sz="2400" dirty="0" err="1">
                <a:solidFill>
                  <a:schemeClr val="accent2"/>
                </a:solidFill>
              </a:rPr>
              <a:t>Tdate</a:t>
            </a:r>
            <a:r>
              <a:rPr lang="en-US" altLang="zh-CN" sz="2400" dirty="0">
                <a:solidFill>
                  <a:schemeClr val="accent2"/>
                </a:solidFill>
              </a:rPr>
              <a:t>(</a:t>
            </a:r>
            <a:r>
              <a:rPr lang="en-US" altLang="zh-CN" sz="2400" dirty="0" err="1">
                <a:solidFill>
                  <a:srgbClr val="FF0000"/>
                </a:solidFill>
              </a:rPr>
              <a:t>int</a:t>
            </a:r>
            <a:r>
              <a:rPr lang="en-US" altLang="zh-CN" sz="2400" dirty="0">
                <a:solidFill>
                  <a:srgbClr val="FF0000"/>
                </a:solidFill>
              </a:rPr>
              <a:t> </a:t>
            </a:r>
            <a:r>
              <a:rPr lang="en-US" altLang="zh-CN" sz="2400" dirty="0" err="1">
                <a:solidFill>
                  <a:srgbClr val="FF0000"/>
                </a:solidFill>
              </a:rPr>
              <a:t>m,int</a:t>
            </a:r>
            <a:r>
              <a:rPr lang="en-US" altLang="zh-CN" sz="2400" dirty="0">
                <a:solidFill>
                  <a:srgbClr val="FF0000"/>
                </a:solidFill>
              </a:rPr>
              <a:t> </a:t>
            </a:r>
            <a:r>
              <a:rPr lang="en-US" altLang="zh-CN" sz="2400" dirty="0" err="1">
                <a:solidFill>
                  <a:srgbClr val="FF0000"/>
                </a:solidFill>
              </a:rPr>
              <a:t>d,int</a:t>
            </a:r>
            <a:r>
              <a:rPr lang="en-US" altLang="zh-CN" sz="2400" dirty="0">
                <a:solidFill>
                  <a:srgbClr val="FF0000"/>
                </a:solidFill>
              </a:rPr>
              <a:t> y</a:t>
            </a:r>
            <a:r>
              <a:rPr lang="en-US" altLang="zh-CN" sz="2400" dirty="0">
                <a:solidFill>
                  <a:schemeClr val="accent2"/>
                </a:solidFill>
              </a:rPr>
              <a:t>):month(m),day(d),year(y){}</a:t>
            </a:r>
          </a:p>
          <a:p>
            <a:pPr indent="12700" eaLnBrk="1" hangingPunct="1">
              <a:lnSpc>
                <a:spcPct val="90000"/>
              </a:lnSpc>
              <a:buFontTx/>
              <a:buNone/>
            </a:pPr>
            <a:endParaRPr lang="en-US" altLang="zh-CN" sz="2400" dirty="0">
              <a:solidFill>
                <a:schemeClr val="accent2"/>
              </a:solidFill>
            </a:endParaRPr>
          </a:p>
          <a:p>
            <a:pPr indent="12700" eaLnBrk="1" hangingPunct="1">
              <a:lnSpc>
                <a:spcPct val="90000"/>
              </a:lnSpc>
              <a:buFontTx/>
              <a:buNone/>
            </a:pPr>
            <a:r>
              <a:rPr lang="en-US" altLang="zh-CN" sz="2400" dirty="0" err="1">
                <a:solidFill>
                  <a:schemeClr val="accent2"/>
                </a:solidFill>
              </a:rPr>
              <a:t>Tdate</a:t>
            </a:r>
            <a:r>
              <a:rPr lang="en-US" altLang="zh-CN" sz="2400" dirty="0">
                <a:solidFill>
                  <a:schemeClr val="accent2"/>
                </a:solidFill>
              </a:rPr>
              <a:t>::</a:t>
            </a:r>
            <a:r>
              <a:rPr lang="en-US" altLang="zh-CN" sz="2400" dirty="0" err="1">
                <a:solidFill>
                  <a:schemeClr val="accent2"/>
                </a:solidFill>
              </a:rPr>
              <a:t>Tdate</a:t>
            </a:r>
            <a:r>
              <a:rPr lang="en-US" altLang="zh-CN" sz="2400" dirty="0">
                <a:solidFill>
                  <a:schemeClr val="accent2"/>
                </a:solidFill>
              </a:rPr>
              <a:t>(</a:t>
            </a:r>
            <a:r>
              <a:rPr lang="en-US" altLang="zh-CN" sz="2400" dirty="0" err="1">
                <a:solidFill>
                  <a:srgbClr val="FF0000"/>
                </a:solidFill>
              </a:rPr>
              <a:t>int</a:t>
            </a:r>
            <a:r>
              <a:rPr lang="en-US" altLang="zh-CN" sz="2400" dirty="0">
                <a:solidFill>
                  <a:srgbClr val="FF0000"/>
                </a:solidFill>
              </a:rPr>
              <a:t> </a:t>
            </a:r>
            <a:r>
              <a:rPr lang="en-US" altLang="zh-CN" sz="2400" dirty="0" err="1">
                <a:solidFill>
                  <a:srgbClr val="FF0000"/>
                </a:solidFill>
              </a:rPr>
              <a:t>m,int</a:t>
            </a:r>
            <a:r>
              <a:rPr lang="en-US" altLang="zh-CN" sz="2400" dirty="0">
                <a:solidFill>
                  <a:srgbClr val="FF0000"/>
                </a:solidFill>
              </a:rPr>
              <a:t> </a:t>
            </a:r>
            <a:r>
              <a:rPr lang="en-US" altLang="zh-CN" sz="2400" dirty="0" err="1">
                <a:solidFill>
                  <a:srgbClr val="FF0000"/>
                </a:solidFill>
              </a:rPr>
              <a:t>d,int</a:t>
            </a:r>
            <a:r>
              <a:rPr lang="en-US" altLang="zh-CN" sz="2400" dirty="0">
                <a:solidFill>
                  <a:srgbClr val="FF0000"/>
                </a:solidFill>
              </a:rPr>
              <a:t> y</a:t>
            </a:r>
            <a:r>
              <a:rPr lang="en-US" altLang="zh-CN" sz="2400" dirty="0">
                <a:solidFill>
                  <a:schemeClr val="accent2"/>
                </a:solidFill>
              </a:rPr>
              <a:t>):year(y),month(m),day(d){}</a:t>
            </a:r>
          </a:p>
          <a:p>
            <a:pPr indent="12700" eaLnBrk="1" hangingPunct="1">
              <a:lnSpc>
                <a:spcPct val="90000"/>
              </a:lnSpc>
              <a:buFontTx/>
              <a:buNone/>
            </a:pPr>
            <a:endParaRPr lang="en-US" altLang="zh-CN" sz="2400" dirty="0">
              <a:solidFill>
                <a:schemeClr val="accent2"/>
              </a:solidFill>
            </a:endParaRPr>
          </a:p>
          <a:p>
            <a:pPr indent="12700" eaLnBrk="1" hangingPunct="1">
              <a:lnSpc>
                <a:spcPct val="90000"/>
              </a:lnSpc>
              <a:buFontTx/>
              <a:buNone/>
            </a:pPr>
            <a:r>
              <a:rPr lang="en-US" altLang="zh-CN" sz="2400" dirty="0" err="1">
                <a:solidFill>
                  <a:schemeClr val="accent2"/>
                </a:solidFill>
              </a:rPr>
              <a:t>Tdate</a:t>
            </a:r>
            <a:r>
              <a:rPr lang="en-US" altLang="zh-CN" sz="2400" dirty="0">
                <a:solidFill>
                  <a:schemeClr val="accent2"/>
                </a:solidFill>
              </a:rPr>
              <a:t>::</a:t>
            </a:r>
            <a:r>
              <a:rPr lang="en-US" altLang="zh-CN" sz="2400" dirty="0" err="1">
                <a:solidFill>
                  <a:schemeClr val="accent2"/>
                </a:solidFill>
              </a:rPr>
              <a:t>Tdate</a:t>
            </a:r>
            <a:r>
              <a:rPr lang="en-US" altLang="zh-CN" sz="2400" dirty="0">
                <a:solidFill>
                  <a:schemeClr val="accent2"/>
                </a:solidFill>
              </a:rPr>
              <a:t>(</a:t>
            </a:r>
            <a:r>
              <a:rPr lang="en-US" altLang="zh-CN" sz="2400" dirty="0" err="1">
                <a:solidFill>
                  <a:srgbClr val="FF0000"/>
                </a:solidFill>
              </a:rPr>
              <a:t>int</a:t>
            </a:r>
            <a:r>
              <a:rPr lang="en-US" altLang="zh-CN" sz="2400" dirty="0">
                <a:solidFill>
                  <a:srgbClr val="FF0000"/>
                </a:solidFill>
              </a:rPr>
              <a:t> </a:t>
            </a:r>
            <a:r>
              <a:rPr lang="en-US" altLang="zh-CN" sz="2400" dirty="0" err="1">
                <a:solidFill>
                  <a:srgbClr val="FF0000"/>
                </a:solidFill>
              </a:rPr>
              <a:t>m,int</a:t>
            </a:r>
            <a:r>
              <a:rPr lang="en-US" altLang="zh-CN" sz="2400" dirty="0">
                <a:solidFill>
                  <a:srgbClr val="FF0000"/>
                </a:solidFill>
              </a:rPr>
              <a:t> </a:t>
            </a:r>
            <a:r>
              <a:rPr lang="en-US" altLang="zh-CN" sz="2400" dirty="0" err="1">
                <a:solidFill>
                  <a:srgbClr val="FF0000"/>
                </a:solidFill>
              </a:rPr>
              <a:t>d,int</a:t>
            </a:r>
            <a:r>
              <a:rPr lang="en-US" altLang="zh-CN" sz="2400" dirty="0">
                <a:solidFill>
                  <a:srgbClr val="FF0000"/>
                </a:solidFill>
              </a:rPr>
              <a:t> y</a:t>
            </a:r>
            <a:r>
              <a:rPr lang="en-US" altLang="zh-CN" sz="2400" dirty="0">
                <a:solidFill>
                  <a:schemeClr val="accent2"/>
                </a:solidFill>
              </a:rPr>
              <a:t>):day(d),year(y),month(m){}</a:t>
            </a:r>
          </a:p>
          <a:p>
            <a:pPr eaLnBrk="1" hangingPunct="1">
              <a:lnSpc>
                <a:spcPct val="90000"/>
              </a:lnSpc>
              <a:buFontTx/>
              <a:buNone/>
            </a:pPr>
            <a:endParaRPr lang="en-US" altLang="zh-CN" sz="2400" b="1" dirty="0">
              <a:solidFill>
                <a:srgbClr val="FF3300"/>
              </a:solidFill>
            </a:endParaRPr>
          </a:p>
          <a:p>
            <a:pPr indent="12700" eaLnBrk="1" hangingPunct="1">
              <a:lnSpc>
                <a:spcPct val="120000"/>
              </a:lnSpc>
              <a:buFontTx/>
              <a:buNone/>
            </a:pPr>
            <a:r>
              <a:rPr lang="zh-CN" altLang="en-US" sz="2800" dirty="0"/>
              <a:t>尽管三个构造函数初始化列表中的</a:t>
            </a:r>
            <a:r>
              <a:rPr lang="en-US" altLang="zh-CN" sz="2800" dirty="0"/>
              <a:t>month</a:t>
            </a:r>
            <a:r>
              <a:rPr lang="zh-CN" altLang="en-US" sz="2800" dirty="0"/>
              <a:t>、</a:t>
            </a:r>
            <a:r>
              <a:rPr lang="en-US" altLang="zh-CN" sz="2800" dirty="0"/>
              <a:t>day</a:t>
            </a:r>
            <a:r>
              <a:rPr lang="zh-CN" altLang="en-US" sz="2800" dirty="0"/>
              <a:t>和</a:t>
            </a:r>
            <a:r>
              <a:rPr lang="en-US" altLang="zh-CN" sz="2800" dirty="0"/>
              <a:t>year</a:t>
            </a:r>
            <a:r>
              <a:rPr lang="zh-CN" altLang="en-US" sz="2800" dirty="0"/>
              <a:t>的次序不同，但它们都是按照</a:t>
            </a:r>
            <a:r>
              <a:rPr lang="en-US" altLang="zh-CN" sz="2800" dirty="0" err="1">
                <a:solidFill>
                  <a:srgbClr val="FF3300"/>
                </a:solidFill>
              </a:rPr>
              <a:t>month→day→year</a:t>
            </a:r>
            <a:r>
              <a:rPr lang="zh-CN" altLang="en-US" sz="2800" dirty="0"/>
              <a:t>的次序初始化的，这个次序是其在</a:t>
            </a:r>
            <a:r>
              <a:rPr lang="en-US" altLang="zh-CN" sz="2800" dirty="0" err="1"/>
              <a:t>Tdate</a:t>
            </a:r>
            <a:r>
              <a:rPr lang="zh-CN" altLang="en-US" sz="2800" dirty="0"/>
              <a:t>中的</a:t>
            </a:r>
            <a:r>
              <a:rPr lang="zh-CN" altLang="en-US" sz="2800" dirty="0">
                <a:solidFill>
                  <a:srgbClr val="C00000"/>
                </a:solidFill>
              </a:rPr>
              <a:t>声明次序</a:t>
            </a:r>
            <a:r>
              <a:rPr lang="zh-CN" altLang="en-US" sz="2800" dirty="0"/>
              <a:t>。 </a:t>
            </a:r>
          </a:p>
        </p:txBody>
      </p:sp>
    </p:spTree>
    <p:extLst>
      <p:ext uri="{BB962C8B-B14F-4D97-AF65-F5344CB8AC3E}">
        <p14:creationId xmlns:p14="http://schemas.microsoft.com/office/powerpoint/2010/main" val="2972784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a:xfrm>
            <a:off x="467544" y="1124744"/>
            <a:ext cx="8424936" cy="4095750"/>
          </a:xfrm>
        </p:spPr>
        <p:txBody>
          <a:bodyPr/>
          <a:lstStyle/>
          <a:p>
            <a:pPr eaLnBrk="1" hangingPunct="1">
              <a:buFontTx/>
              <a:buNone/>
            </a:pPr>
            <a:r>
              <a:rPr lang="zh-CN" altLang="en-US" dirty="0"/>
              <a:t>② 构造函数初始化列表</a:t>
            </a:r>
            <a:r>
              <a:rPr lang="zh-CN" altLang="en-US" dirty="0">
                <a:solidFill>
                  <a:srgbClr val="FF0000"/>
                </a:solidFill>
              </a:rPr>
              <a:t>先于</a:t>
            </a:r>
            <a:r>
              <a:rPr lang="zh-CN" altLang="en-US" dirty="0"/>
              <a:t>构造函数体中的语句执行。</a:t>
            </a:r>
            <a:endParaRPr lang="en-US" altLang="zh-CN" dirty="0"/>
          </a:p>
          <a:p>
            <a:pPr eaLnBrk="1" hangingPunct="1">
              <a:buFontTx/>
              <a:buNone/>
            </a:pPr>
            <a:endParaRPr lang="zh-CN" altLang="en-US" dirty="0"/>
          </a:p>
          <a:p>
            <a:pPr eaLnBrk="1" hangingPunct="1">
              <a:buFontTx/>
              <a:buNone/>
            </a:pPr>
            <a:r>
              <a:rPr lang="zh-CN" altLang="en-US" dirty="0"/>
              <a:t>③ 常量成员，引用成员，类对象成员，派生类构造函数对基类构造函数的调用必须采用初始化列表进行初始化。</a:t>
            </a:r>
          </a:p>
        </p:txBody>
      </p:sp>
    </p:spTree>
    <p:extLst>
      <p:ext uri="{BB962C8B-B14F-4D97-AF65-F5344CB8AC3E}">
        <p14:creationId xmlns:p14="http://schemas.microsoft.com/office/powerpoint/2010/main" val="6362088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5888"/>
            <a:ext cx="6173787" cy="6740307"/>
          </a:xfrm>
          <a:prstGeom prst="rect">
            <a:avLst/>
          </a:prstGeom>
          <a:solidFill>
            <a:schemeClr val="bg1"/>
          </a:solidFill>
          <a:ln>
            <a:solidFill>
              <a:schemeClr val="accent1">
                <a:shade val="50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X</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pPr marL="441325"/>
            <a:r>
              <a:rPr lang="en-US" altLang="zh-CN" sz="2400" dirty="0" err="1">
                <a:solidFill>
                  <a:srgbClr val="0000FF"/>
                </a:solidFill>
                <a:highlight>
                  <a:srgbClr val="FFFFFF"/>
                </a:highlight>
                <a:latin typeface="新宋体"/>
                <a:ea typeface="新宋体"/>
              </a:rPr>
              <a:t>const</a:t>
            </a:r>
            <a:r>
              <a:rPr lang="en-US" altLang="zh-CN" sz="2400" dirty="0">
                <a:solidFill>
                  <a:srgbClr val="000000"/>
                </a:solidFill>
                <a:highlight>
                  <a:srgbClr val="FFFFFF"/>
                </a:highlight>
                <a:latin typeface="新宋体"/>
                <a:ea typeface="新宋体"/>
              </a:rPr>
              <a:t>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ic</a:t>
            </a:r>
            <a:r>
              <a:rPr lang="en-US" altLang="zh-CN" sz="2400" dirty="0">
                <a:solidFill>
                  <a:srgbClr val="000000"/>
                </a:solidFill>
                <a:highlight>
                  <a:srgbClr val="FFFFFF"/>
                </a:highlight>
                <a:latin typeface="新宋体"/>
                <a:ea typeface="新宋体"/>
              </a:rPr>
              <a:t>;</a:t>
            </a:r>
          </a:p>
          <a:p>
            <a:pPr marL="441325"/>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&amp; </a:t>
            </a:r>
            <a:r>
              <a:rPr lang="en-US" altLang="zh-CN" sz="2400" dirty="0" err="1">
                <a:solidFill>
                  <a:srgbClr val="000000"/>
                </a:solidFill>
                <a:highlight>
                  <a:srgbClr val="FFFFFF"/>
                </a:highlight>
                <a:latin typeface="新宋体"/>
                <a:ea typeface="新宋体"/>
              </a:rPr>
              <a:t>ir</a:t>
            </a:r>
            <a:r>
              <a:rPr lang="en-US" altLang="zh-CN" sz="2400" dirty="0">
                <a:solidFill>
                  <a:srgbClr val="000000"/>
                </a:solidFill>
                <a:highlight>
                  <a:srgbClr val="FFFFFF"/>
                </a:highlight>
                <a:latin typeface="新宋体"/>
                <a:ea typeface="新宋体"/>
              </a:rPr>
              <a:t>;</a:t>
            </a:r>
          </a:p>
          <a:p>
            <a:pPr marL="441325"/>
            <a:r>
              <a:rPr lang="en-US" altLang="zh-CN" sz="2400" dirty="0" err="1">
                <a:solidFill>
                  <a:srgbClr val="0000FF"/>
                </a:solidFill>
                <a:highlight>
                  <a:srgbClr val="FFFFFF"/>
                </a:highlight>
                <a:latin typeface="新宋体"/>
                <a:ea typeface="新宋体"/>
              </a:rPr>
              <a:t>int</a:t>
            </a:r>
            <a:r>
              <a:rPr lang="en-US" altLang="zh-CN" sz="2400" dirty="0">
                <a:solidFill>
                  <a:srgbClr val="0000FF"/>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i</a:t>
            </a:r>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441325"/>
            <a:r>
              <a:rPr lang="en-US" altLang="zh-CN" sz="2400" dirty="0">
                <a:solidFill>
                  <a:srgbClr val="000000"/>
                </a:solidFill>
                <a:highlight>
                  <a:srgbClr val="FFFFFF"/>
                </a:highlight>
                <a:latin typeface="新宋体"/>
                <a:ea typeface="新宋体"/>
              </a:rPr>
              <a:t>X():</a:t>
            </a:r>
            <a:r>
              <a:rPr lang="en-US" altLang="zh-CN" sz="2400" dirty="0" err="1">
                <a:solidFill>
                  <a:srgbClr val="000000"/>
                </a:solidFill>
                <a:highlight>
                  <a:srgbClr val="FFFFFF"/>
                </a:highlight>
                <a:latin typeface="新宋体"/>
                <a:ea typeface="新宋体"/>
              </a:rPr>
              <a:t>ic</a:t>
            </a:r>
            <a:r>
              <a:rPr lang="en-US" altLang="zh-CN" sz="2400" dirty="0">
                <a:solidFill>
                  <a:srgbClr val="000000"/>
                </a:solidFill>
                <a:highlight>
                  <a:srgbClr val="FFFFFF"/>
                </a:highlight>
                <a:latin typeface="新宋体"/>
                <a:ea typeface="新宋体"/>
              </a:rPr>
              <a:t>(100),</a:t>
            </a:r>
            <a:r>
              <a:rPr lang="en-US" altLang="zh-CN" sz="2400" dirty="0" err="1">
                <a:solidFill>
                  <a:srgbClr val="000000"/>
                </a:solidFill>
                <a:highlight>
                  <a:srgbClr val="FFFFFF"/>
                </a:highlight>
                <a:latin typeface="新宋体"/>
                <a:ea typeface="新宋体"/>
              </a:rPr>
              <a:t>ir</a:t>
            </a:r>
            <a:r>
              <a:rPr lang="en-US" altLang="zh-CN" sz="2400" dirty="0">
                <a:solidFill>
                  <a:srgbClr val="000000"/>
                </a:solidFill>
                <a:highlight>
                  <a:srgbClr val="FFFFFF"/>
                </a:highlight>
                <a:latin typeface="新宋体"/>
                <a:ea typeface="新宋体"/>
              </a:rPr>
              <a:t>(</a:t>
            </a:r>
            <a:r>
              <a:rPr lang="en-US" altLang="zh-CN" sz="2400" dirty="0" err="1">
                <a:solidFill>
                  <a:srgbClr val="000000"/>
                </a:solidFill>
                <a:highlight>
                  <a:srgbClr val="FFFFFF"/>
                </a:highlight>
                <a:latin typeface="新宋体"/>
                <a:ea typeface="新宋体"/>
              </a:rPr>
              <a:t>i</a:t>
            </a:r>
            <a:r>
              <a:rPr lang="en-US" altLang="zh-CN" sz="2400" dirty="0">
                <a:solidFill>
                  <a:srgbClr val="000000"/>
                </a:solidFill>
                <a:highlight>
                  <a:srgbClr val="FFFFFF"/>
                </a:highlight>
                <a:latin typeface="新宋体"/>
                <a:ea typeface="新宋体"/>
              </a:rPr>
              <a:t>)</a:t>
            </a:r>
          </a:p>
          <a:p>
            <a:pPr marL="441325"/>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i</a:t>
            </a:r>
            <a:r>
              <a:rPr lang="en-US" altLang="zh-CN" sz="2400" dirty="0">
                <a:solidFill>
                  <a:srgbClr val="000000"/>
                </a:solidFill>
                <a:highlight>
                  <a:srgbClr val="FFFFFF"/>
                </a:highlight>
                <a:latin typeface="新宋体"/>
                <a:ea typeface="新宋体"/>
              </a:rPr>
              <a:t> = 300;  }</a:t>
            </a:r>
          </a:p>
          <a:p>
            <a:pPr marL="441325"/>
            <a:r>
              <a:rPr lang="en-US" altLang="zh-CN" sz="2400" dirty="0">
                <a:solidFill>
                  <a:srgbClr val="0000FF"/>
                </a:solidFill>
                <a:highlight>
                  <a:srgbClr val="FFFFFF"/>
                </a:highlight>
                <a:latin typeface="新宋体"/>
                <a:ea typeface="新宋体"/>
              </a:rPr>
              <a:t>void</a:t>
            </a:r>
            <a:r>
              <a:rPr lang="en-US" altLang="zh-CN" sz="2400" dirty="0">
                <a:solidFill>
                  <a:srgbClr val="000000"/>
                </a:solidFill>
                <a:highlight>
                  <a:srgbClr val="FFFFFF"/>
                </a:highlight>
                <a:latin typeface="新宋体"/>
                <a:ea typeface="新宋体"/>
              </a:rPr>
              <a:t> print();</a:t>
            </a:r>
          </a:p>
          <a:p>
            <a:r>
              <a:rPr lang="en-US" altLang="zh-CN" sz="2400" dirty="0">
                <a:solidFill>
                  <a:srgbClr val="000000"/>
                </a:solidFill>
                <a:highlight>
                  <a:srgbClr val="FFFFFF"/>
                </a:highlight>
                <a:latin typeface="新宋体"/>
                <a:ea typeface="新宋体"/>
              </a:rPr>
              <a:t>};</a:t>
            </a:r>
          </a:p>
          <a:p>
            <a:r>
              <a:rPr lang="en-US" altLang="zh-CN" sz="2400" dirty="0">
                <a:solidFill>
                  <a:srgbClr val="0000FF"/>
                </a:solidFill>
                <a:highlight>
                  <a:srgbClr val="FFFFFF"/>
                </a:highlight>
                <a:latin typeface="新宋体"/>
                <a:ea typeface="新宋体"/>
              </a:rPr>
              <a:t>void</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X</a:t>
            </a:r>
            <a:r>
              <a:rPr lang="en-US" altLang="zh-CN" sz="2400" dirty="0">
                <a:solidFill>
                  <a:srgbClr val="000000"/>
                </a:solidFill>
                <a:highlight>
                  <a:srgbClr val="FFFFFF"/>
                </a:highlight>
                <a:latin typeface="新宋体"/>
                <a:ea typeface="新宋体"/>
              </a:rPr>
              <a:t>::print()</a:t>
            </a:r>
          </a:p>
          <a:p>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cout</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ic</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ir</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i</a:t>
            </a:r>
            <a:r>
              <a:rPr lang="en-US" altLang="zh-CN" sz="2400" dirty="0">
                <a:solidFill>
                  <a:srgbClr val="008080"/>
                </a:solidFill>
                <a:highlight>
                  <a:srgbClr val="FFFFFF"/>
                </a:highlight>
                <a:latin typeface="新宋体"/>
                <a:ea typeface="新宋体"/>
              </a:rPr>
              <a:t>&lt;&lt;</a:t>
            </a:r>
            <a:r>
              <a:rPr lang="en-US" altLang="zh-CN" sz="2400" dirty="0" err="1">
                <a:solidFill>
                  <a:srgbClr val="000000"/>
                </a:solidFill>
                <a:highlight>
                  <a:srgbClr val="FFFFFF"/>
                </a:highlight>
                <a:latin typeface="新宋体"/>
                <a:ea typeface="新宋体"/>
              </a:rPr>
              <a:t>endl</a:t>
            </a:r>
            <a:r>
              <a:rPr lang="en-US" altLang="zh-CN" sz="2400" dirty="0">
                <a:solidFill>
                  <a:srgbClr val="000000"/>
                </a:solidFill>
                <a:highlight>
                  <a:srgbClr val="FFFFFF"/>
                </a:highlight>
                <a:latin typeface="新宋体"/>
                <a:ea typeface="新宋体"/>
              </a:rPr>
              <a:t>;</a:t>
            </a:r>
          </a:p>
          <a:p>
            <a:r>
              <a:rPr lang="en-US" altLang="zh-CN" sz="2400" dirty="0">
                <a:solidFill>
                  <a:srgbClr val="000000"/>
                </a:solidFill>
                <a:highlight>
                  <a:srgbClr val="FFFFFF"/>
                </a:highlight>
                <a:latin typeface="新宋体"/>
                <a:ea typeface="新宋体"/>
              </a:rPr>
              <a:t>}</a:t>
            </a:r>
          </a:p>
          <a:p>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main()</a:t>
            </a:r>
          </a:p>
          <a:p>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X</a:t>
            </a:r>
            <a:r>
              <a:rPr lang="en-US" altLang="zh-CN" sz="2400" dirty="0">
                <a:solidFill>
                  <a:srgbClr val="000000"/>
                </a:solidFill>
                <a:highlight>
                  <a:srgbClr val="FFFFFF"/>
                </a:highlight>
                <a:latin typeface="新宋体"/>
                <a:ea typeface="新宋体"/>
              </a:rPr>
              <a:t> x1;</a:t>
            </a:r>
          </a:p>
          <a:p>
            <a:pPr marL="441325"/>
            <a:r>
              <a:rPr lang="en-US" altLang="zh-CN" sz="2400" dirty="0">
                <a:solidFill>
                  <a:srgbClr val="000000"/>
                </a:solidFill>
                <a:highlight>
                  <a:srgbClr val="FFFFFF"/>
                </a:highlight>
                <a:latin typeface="新宋体"/>
                <a:ea typeface="新宋体"/>
              </a:rPr>
              <a:t>x1.print();</a:t>
            </a:r>
          </a:p>
          <a:p>
            <a:pPr marL="441325"/>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0;</a:t>
            </a:r>
          </a:p>
          <a:p>
            <a:r>
              <a:rPr lang="en-US" altLang="zh-CN" sz="2400" dirty="0">
                <a:solidFill>
                  <a:srgbClr val="000000"/>
                </a:solidFill>
                <a:highlight>
                  <a:srgbClr val="FFFFFF"/>
                </a:highlight>
                <a:latin typeface="新宋体"/>
                <a:ea typeface="新宋体"/>
              </a:rPr>
              <a:t>}</a:t>
            </a:r>
          </a:p>
        </p:txBody>
      </p:sp>
      <p:sp>
        <p:nvSpPr>
          <p:cNvPr id="3" name="圆角矩形 2"/>
          <p:cNvSpPr/>
          <p:nvPr/>
        </p:nvSpPr>
        <p:spPr>
          <a:xfrm>
            <a:off x="467544" y="2420888"/>
            <a:ext cx="3096344" cy="7200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012160" y="2420888"/>
            <a:ext cx="1512168" cy="1384995"/>
          </a:xfrm>
          <a:prstGeom prst="rect">
            <a:avLst/>
          </a:prstGeom>
          <a:solidFill>
            <a:schemeClr val="tx1"/>
          </a:solidFill>
        </p:spPr>
        <p:txBody>
          <a:bodyPr wrap="square">
            <a:spAutoFit/>
          </a:bodyPr>
          <a:lstStyle/>
          <a:p>
            <a:r>
              <a:rPr lang="en-US" altLang="zh-CN" sz="2800" dirty="0">
                <a:solidFill>
                  <a:schemeClr val="bg1"/>
                </a:solidFill>
              </a:rPr>
              <a:t>100</a:t>
            </a:r>
          </a:p>
          <a:p>
            <a:r>
              <a:rPr lang="en-US" altLang="zh-CN" sz="2800" dirty="0">
                <a:solidFill>
                  <a:schemeClr val="bg1"/>
                </a:solidFill>
              </a:rPr>
              <a:t>300</a:t>
            </a:r>
          </a:p>
          <a:p>
            <a:r>
              <a:rPr lang="en-US" altLang="zh-CN" sz="2800" dirty="0">
                <a:solidFill>
                  <a:schemeClr val="bg1"/>
                </a:solidFill>
              </a:rPr>
              <a:t>300</a:t>
            </a:r>
            <a:endParaRPr lang="zh-CN" altLang="en-US" sz="2800" dirty="0">
              <a:solidFill>
                <a:schemeClr val="bg1"/>
              </a:solidFill>
            </a:endParaRPr>
          </a:p>
        </p:txBody>
      </p:sp>
      <p:sp>
        <p:nvSpPr>
          <p:cNvPr id="5" name="矩形 4"/>
          <p:cNvSpPr/>
          <p:nvPr/>
        </p:nvSpPr>
        <p:spPr>
          <a:xfrm>
            <a:off x="3563888" y="881289"/>
            <a:ext cx="1107996" cy="369332"/>
          </a:xfrm>
          <a:prstGeom prst="rect">
            <a:avLst/>
          </a:prstGeom>
          <a:solidFill>
            <a:schemeClr val="bg2">
              <a:lumMod val="75000"/>
            </a:schemeClr>
          </a:solidFill>
        </p:spPr>
        <p:txBody>
          <a:bodyPr wrap="none">
            <a:spAutoFit/>
          </a:bodyPr>
          <a:lstStyle/>
          <a:p>
            <a:r>
              <a:rPr lang="zh-CN" altLang="en-US" dirty="0"/>
              <a:t>常量成员</a:t>
            </a:r>
          </a:p>
        </p:txBody>
      </p:sp>
      <p:sp>
        <p:nvSpPr>
          <p:cNvPr id="6" name="矩形 5"/>
          <p:cNvSpPr/>
          <p:nvPr/>
        </p:nvSpPr>
        <p:spPr>
          <a:xfrm>
            <a:off x="3563888" y="1412776"/>
            <a:ext cx="1107996" cy="369332"/>
          </a:xfrm>
          <a:prstGeom prst="rect">
            <a:avLst/>
          </a:prstGeom>
          <a:solidFill>
            <a:schemeClr val="bg2">
              <a:lumMod val="75000"/>
            </a:schemeClr>
          </a:solidFill>
        </p:spPr>
        <p:txBody>
          <a:bodyPr wrap="none">
            <a:spAutoFit/>
          </a:bodyPr>
          <a:lstStyle/>
          <a:p>
            <a:r>
              <a:rPr lang="zh-CN" altLang="en-US" dirty="0"/>
              <a:t>引用成员</a:t>
            </a:r>
          </a:p>
        </p:txBody>
      </p:sp>
    </p:spTree>
    <p:extLst>
      <p:ext uri="{BB962C8B-B14F-4D97-AF65-F5344CB8AC3E}">
        <p14:creationId xmlns:p14="http://schemas.microsoft.com/office/powerpoint/2010/main" val="8831372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6912" y="1268760"/>
            <a:ext cx="6912768" cy="3693319"/>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0000FF"/>
                </a:solidFill>
                <a:latin typeface="Consolas" panose="020B0609020204030204" pitchFamily="49" charset="0"/>
                <a:ea typeface="新宋体"/>
                <a:cs typeface="Consolas" panose="020B0609020204030204" pitchFamily="49" charset="0"/>
              </a:rPr>
              <a:t>class</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Point</a:t>
            </a:r>
            <a:endParaRPr lang="en-US" altLang="zh-CN" dirty="0">
              <a:solidFill>
                <a:srgbClr val="000000"/>
              </a:solidFill>
              <a:latin typeface="Consolas" panose="020B0609020204030204" pitchFamily="49" charset="0"/>
              <a:ea typeface="新宋体"/>
              <a:cs typeface="Consolas" panose="020B0609020204030204" pitchFamily="49" charset="0"/>
            </a:endParaRPr>
          </a:p>
          <a:p>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FF"/>
                </a:solidFill>
                <a:latin typeface="Consolas" panose="020B0609020204030204" pitchFamily="49" charset="0"/>
                <a:ea typeface="新宋体"/>
                <a:cs typeface="Consolas" panose="020B0609020204030204" pitchFamily="49" charset="0"/>
              </a:rPr>
              <a:t>int</a:t>
            </a:r>
            <a:r>
              <a:rPr lang="en-US" altLang="zh-CN" dirty="0">
                <a:solidFill>
                  <a:srgbClr val="000000"/>
                </a:solidFill>
                <a:latin typeface="Consolas" panose="020B0609020204030204" pitchFamily="49" charset="0"/>
                <a:ea typeface="新宋体"/>
                <a:cs typeface="Consolas" panose="020B0609020204030204" pitchFamily="49" charset="0"/>
              </a:rPr>
              <a:t> _</a:t>
            </a:r>
            <a:r>
              <a:rPr lang="en-US" altLang="zh-CN" dirty="0" err="1">
                <a:solidFill>
                  <a:srgbClr val="000000"/>
                </a:solidFill>
                <a:latin typeface="Consolas" panose="020B0609020204030204" pitchFamily="49" charset="0"/>
                <a:ea typeface="新宋体"/>
                <a:cs typeface="Consolas" panose="020B0609020204030204" pitchFamily="49" charset="0"/>
              </a:rPr>
              <a:t>x,_y</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FF"/>
                </a:solidFill>
                <a:latin typeface="Consolas" panose="020B0609020204030204" pitchFamily="49" charset="0"/>
                <a:ea typeface="新宋体"/>
                <a:cs typeface="Consolas" panose="020B0609020204030204" pitchFamily="49" charset="0"/>
              </a:rPr>
              <a:t>public</a:t>
            </a:r>
            <a:r>
              <a:rPr lang="en-US" altLang="zh-CN" dirty="0">
                <a:solidFill>
                  <a:srgbClr val="000000"/>
                </a:solidFill>
                <a:latin typeface="Consolas" panose="020B0609020204030204" pitchFamily="49" charset="0"/>
                <a:ea typeface="新宋体"/>
                <a:cs typeface="Consolas" panose="020B0609020204030204" pitchFamily="49" charset="0"/>
              </a:rPr>
              <a:t>:</a:t>
            </a:r>
          </a:p>
          <a:p>
            <a:pPr marL="273050"/>
            <a:r>
              <a:rPr lang="fr-FR" altLang="zh-CN" dirty="0">
                <a:solidFill>
                  <a:srgbClr val="000000"/>
                </a:solidFill>
                <a:latin typeface="Consolas" panose="020B0609020204030204" pitchFamily="49" charset="0"/>
                <a:ea typeface="新宋体"/>
                <a:cs typeface="Consolas" panose="020B0609020204030204" pitchFamily="49" charset="0"/>
              </a:rPr>
              <a:t>Point(</a:t>
            </a:r>
            <a:r>
              <a:rPr lang="fr-FR" altLang="zh-CN" dirty="0">
                <a:solidFill>
                  <a:srgbClr val="0000FF"/>
                </a:solidFill>
                <a:latin typeface="Consolas" panose="020B0609020204030204" pitchFamily="49" charset="0"/>
                <a:ea typeface="新宋体"/>
                <a:cs typeface="Consolas" panose="020B0609020204030204" pitchFamily="49" charset="0"/>
              </a:rPr>
              <a:t>int</a:t>
            </a:r>
            <a:r>
              <a:rPr lang="fr-FR" altLang="zh-CN" dirty="0">
                <a:solidFill>
                  <a:srgbClr val="000000"/>
                </a:solidFill>
                <a:latin typeface="Consolas" panose="020B0609020204030204" pitchFamily="49" charset="0"/>
                <a:ea typeface="新宋体"/>
                <a:cs typeface="Consolas" panose="020B0609020204030204" pitchFamily="49" charset="0"/>
              </a:rPr>
              <a:t> </a:t>
            </a:r>
            <a:r>
              <a:rPr lang="fr-FR" altLang="zh-CN" dirty="0">
                <a:solidFill>
                  <a:srgbClr val="808080"/>
                </a:solidFill>
                <a:latin typeface="Consolas" panose="020B0609020204030204" pitchFamily="49" charset="0"/>
                <a:ea typeface="新宋体"/>
                <a:cs typeface="Consolas" panose="020B0609020204030204" pitchFamily="49" charset="0"/>
              </a:rPr>
              <a:t>x</a:t>
            </a:r>
            <a:r>
              <a:rPr lang="fr-FR" altLang="zh-CN" dirty="0">
                <a:solidFill>
                  <a:srgbClr val="000000"/>
                </a:solidFill>
                <a:latin typeface="Consolas" panose="020B0609020204030204" pitchFamily="49" charset="0"/>
                <a:ea typeface="新宋体"/>
                <a:cs typeface="Consolas" panose="020B0609020204030204" pitchFamily="49" charset="0"/>
              </a:rPr>
              <a:t>, </a:t>
            </a:r>
            <a:r>
              <a:rPr lang="fr-FR" altLang="zh-CN" dirty="0">
                <a:solidFill>
                  <a:srgbClr val="0000FF"/>
                </a:solidFill>
                <a:latin typeface="Consolas" panose="020B0609020204030204" pitchFamily="49" charset="0"/>
                <a:ea typeface="新宋体"/>
                <a:cs typeface="Consolas" panose="020B0609020204030204" pitchFamily="49" charset="0"/>
              </a:rPr>
              <a:t>int</a:t>
            </a:r>
            <a:r>
              <a:rPr lang="fr-FR" altLang="zh-CN" dirty="0">
                <a:solidFill>
                  <a:srgbClr val="000000"/>
                </a:solidFill>
                <a:latin typeface="Consolas" panose="020B0609020204030204" pitchFamily="49" charset="0"/>
                <a:ea typeface="新宋体"/>
                <a:cs typeface="Consolas" panose="020B0609020204030204" pitchFamily="49" charset="0"/>
              </a:rPr>
              <a:t> </a:t>
            </a:r>
            <a:r>
              <a:rPr lang="fr-FR" altLang="zh-CN" dirty="0">
                <a:solidFill>
                  <a:srgbClr val="808080"/>
                </a:solidFill>
                <a:latin typeface="Consolas" panose="020B0609020204030204" pitchFamily="49" charset="0"/>
                <a:ea typeface="新宋体"/>
                <a:cs typeface="Consolas" panose="020B0609020204030204" pitchFamily="49" charset="0"/>
              </a:rPr>
              <a:t>y</a:t>
            </a:r>
            <a:r>
              <a:rPr lang="fr-FR" altLang="zh-CN" dirty="0">
                <a:solidFill>
                  <a:srgbClr val="000000"/>
                </a:solidFill>
                <a:latin typeface="Consolas" panose="020B0609020204030204" pitchFamily="49" charset="0"/>
                <a:ea typeface="新宋体"/>
                <a:cs typeface="Consolas" panose="020B0609020204030204" pitchFamily="49" charset="0"/>
              </a:rPr>
              <a:t>) :_x(</a:t>
            </a:r>
            <a:r>
              <a:rPr lang="fr-FR" altLang="zh-CN" dirty="0">
                <a:solidFill>
                  <a:srgbClr val="808080"/>
                </a:solidFill>
                <a:latin typeface="Consolas" panose="020B0609020204030204" pitchFamily="49" charset="0"/>
                <a:ea typeface="新宋体"/>
                <a:cs typeface="Consolas" panose="020B0609020204030204" pitchFamily="49" charset="0"/>
              </a:rPr>
              <a:t>x</a:t>
            </a:r>
            <a:r>
              <a:rPr lang="fr-FR" altLang="zh-CN" dirty="0">
                <a:solidFill>
                  <a:srgbClr val="000000"/>
                </a:solidFill>
                <a:latin typeface="Consolas" panose="020B0609020204030204" pitchFamily="49" charset="0"/>
                <a:ea typeface="新宋体"/>
                <a:cs typeface="Consolas" panose="020B0609020204030204" pitchFamily="49" charset="0"/>
              </a:rPr>
              <a:t>), _y(</a:t>
            </a:r>
            <a:r>
              <a:rPr lang="fr-FR" altLang="zh-CN" dirty="0">
                <a:solidFill>
                  <a:srgbClr val="808080"/>
                </a:solidFill>
                <a:latin typeface="Consolas" panose="020B0609020204030204" pitchFamily="49" charset="0"/>
                <a:ea typeface="新宋体"/>
                <a:cs typeface="Consolas" panose="020B0609020204030204" pitchFamily="49" charset="0"/>
              </a:rPr>
              <a:t>y</a:t>
            </a:r>
            <a:r>
              <a:rPr lang="fr-FR" altLang="zh-CN" dirty="0">
                <a:solidFill>
                  <a:srgbClr val="000000"/>
                </a:solidFill>
                <a:latin typeface="Consolas" panose="020B0609020204030204" pitchFamily="49" charset="0"/>
                <a:ea typeface="新宋体"/>
                <a:cs typeface="Consolas" panose="020B0609020204030204" pitchFamily="49" charset="0"/>
              </a:rPr>
              <a:t>)</a:t>
            </a:r>
          </a:p>
          <a:p>
            <a:pPr marL="273050"/>
            <a:r>
              <a:rPr lang="en-US" altLang="zh-CN" dirty="0">
                <a:solidFill>
                  <a:srgbClr val="000000"/>
                </a:solidFill>
                <a:latin typeface="Consolas" panose="020B0609020204030204" pitchFamily="49" charset="0"/>
                <a:ea typeface="新宋体"/>
                <a:cs typeface="Consolas" panose="020B0609020204030204" pitchFamily="49" charset="0"/>
              </a:rPr>
              <a:t>{}  </a:t>
            </a:r>
          </a:p>
          <a:p>
            <a:r>
              <a:rPr lang="en-US" altLang="zh-CN" dirty="0">
                <a:solidFill>
                  <a:srgbClr val="000000"/>
                </a:solidFill>
                <a:latin typeface="Consolas" panose="020B0609020204030204" pitchFamily="49" charset="0"/>
                <a:ea typeface="新宋体"/>
                <a:cs typeface="Consolas" panose="020B0609020204030204" pitchFamily="49" charset="0"/>
              </a:rPr>
              <a:t>}</a:t>
            </a:r>
            <a:r>
              <a:rPr lang="zh-CN" altLang="en-US"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FF"/>
                </a:solidFill>
                <a:latin typeface="Consolas" panose="020B0609020204030204" pitchFamily="49" charset="0"/>
                <a:ea typeface="新宋体"/>
                <a:cs typeface="Consolas" panose="020B0609020204030204" pitchFamily="49" charset="0"/>
              </a:rPr>
              <a:t>class</a:t>
            </a:r>
            <a:r>
              <a:rPr lang="en-US" altLang="zh-CN" dirty="0">
                <a:solidFill>
                  <a:srgbClr val="000000"/>
                </a:solidFill>
                <a:latin typeface="Consolas" panose="020B0609020204030204" pitchFamily="49" charset="0"/>
                <a:ea typeface="新宋体"/>
                <a:cs typeface="Consolas" panose="020B0609020204030204" pitchFamily="49" charset="0"/>
              </a:rPr>
              <a:t> Circle</a:t>
            </a:r>
          </a:p>
          <a:p>
            <a:r>
              <a:rPr lang="en-US" altLang="zh-CN" dirty="0">
                <a:solidFill>
                  <a:srgbClr val="000000"/>
                </a:solidFill>
                <a:latin typeface="Consolas" panose="020B0609020204030204" pitchFamily="49" charset="0"/>
                <a:ea typeface="新宋体"/>
                <a:cs typeface="Consolas" panose="020B0609020204030204" pitchFamily="49" charset="0"/>
              </a:rPr>
              <a:t>{ Point _</a:t>
            </a:r>
            <a:r>
              <a:rPr lang="en-US" altLang="zh-CN" dirty="0" err="1">
                <a:solidFill>
                  <a:srgbClr val="000000"/>
                </a:solidFill>
                <a:latin typeface="Consolas" panose="020B0609020204030204" pitchFamily="49" charset="0"/>
                <a:ea typeface="新宋体"/>
                <a:cs typeface="Consolas" panose="020B0609020204030204" pitchFamily="49" charset="0"/>
              </a:rPr>
              <a:t>centre</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FF"/>
                </a:solidFill>
                <a:latin typeface="Consolas" panose="020B0609020204030204" pitchFamily="49" charset="0"/>
                <a:ea typeface="新宋体"/>
                <a:cs typeface="Consolas" panose="020B0609020204030204" pitchFamily="49" charset="0"/>
              </a:rPr>
              <a:t>  float</a:t>
            </a:r>
            <a:r>
              <a:rPr lang="en-US" altLang="zh-CN" dirty="0">
                <a:solidFill>
                  <a:srgbClr val="000000"/>
                </a:solidFill>
                <a:latin typeface="Consolas" panose="020B0609020204030204" pitchFamily="49" charset="0"/>
                <a:ea typeface="新宋体"/>
                <a:cs typeface="Consolas" panose="020B0609020204030204" pitchFamily="49" charset="0"/>
              </a:rPr>
              <a:t> _r;</a:t>
            </a:r>
          </a:p>
          <a:p>
            <a:r>
              <a:rPr lang="en-US" altLang="zh-CN" dirty="0">
                <a:solidFill>
                  <a:srgbClr val="000000"/>
                </a:solidFill>
                <a:latin typeface="Consolas" panose="020B0609020204030204" pitchFamily="49" charset="0"/>
                <a:ea typeface="新宋体"/>
                <a:cs typeface="Consolas" panose="020B0609020204030204" pitchFamily="49" charset="0"/>
              </a:rPr>
              <a:t>pubic:</a:t>
            </a:r>
          </a:p>
          <a:p>
            <a:pPr marL="273050"/>
            <a:r>
              <a:rPr lang="fr-FR" altLang="zh-CN" dirty="0">
                <a:solidFill>
                  <a:srgbClr val="000000"/>
                </a:solidFill>
                <a:latin typeface="Consolas" panose="020B0609020204030204" pitchFamily="49" charset="0"/>
                <a:ea typeface="新宋体"/>
                <a:cs typeface="Consolas" panose="020B0609020204030204" pitchFamily="49" charset="0"/>
              </a:rPr>
              <a:t>Circle(</a:t>
            </a:r>
            <a:r>
              <a:rPr lang="fr-FR" altLang="zh-CN" dirty="0">
                <a:solidFill>
                  <a:srgbClr val="0000FF"/>
                </a:solidFill>
                <a:latin typeface="Consolas" panose="020B0609020204030204" pitchFamily="49" charset="0"/>
                <a:ea typeface="新宋体"/>
                <a:cs typeface="Consolas" panose="020B0609020204030204" pitchFamily="49" charset="0"/>
              </a:rPr>
              <a:t>int</a:t>
            </a:r>
            <a:r>
              <a:rPr lang="fr-FR" altLang="zh-CN" dirty="0">
                <a:solidFill>
                  <a:srgbClr val="000000"/>
                </a:solidFill>
                <a:latin typeface="Consolas" panose="020B0609020204030204" pitchFamily="49" charset="0"/>
                <a:ea typeface="新宋体"/>
                <a:cs typeface="Consolas" panose="020B0609020204030204" pitchFamily="49" charset="0"/>
              </a:rPr>
              <a:t> x, </a:t>
            </a:r>
            <a:r>
              <a:rPr lang="fr-FR" altLang="zh-CN" dirty="0">
                <a:solidFill>
                  <a:srgbClr val="0000FF"/>
                </a:solidFill>
                <a:latin typeface="Consolas" panose="020B0609020204030204" pitchFamily="49" charset="0"/>
                <a:ea typeface="新宋体"/>
                <a:cs typeface="Consolas" panose="020B0609020204030204" pitchFamily="49" charset="0"/>
              </a:rPr>
              <a:t>int</a:t>
            </a:r>
            <a:r>
              <a:rPr lang="fr-FR" altLang="zh-CN" dirty="0">
                <a:solidFill>
                  <a:srgbClr val="000000"/>
                </a:solidFill>
                <a:latin typeface="Consolas" panose="020B0609020204030204" pitchFamily="49" charset="0"/>
                <a:ea typeface="新宋体"/>
                <a:cs typeface="Consolas" panose="020B0609020204030204" pitchFamily="49" charset="0"/>
              </a:rPr>
              <a:t> y, </a:t>
            </a:r>
            <a:r>
              <a:rPr lang="fr-FR" altLang="zh-CN" dirty="0">
                <a:solidFill>
                  <a:srgbClr val="0000FF"/>
                </a:solidFill>
                <a:latin typeface="Consolas" panose="020B0609020204030204" pitchFamily="49" charset="0"/>
                <a:ea typeface="新宋体"/>
                <a:cs typeface="Consolas" panose="020B0609020204030204" pitchFamily="49" charset="0"/>
              </a:rPr>
              <a:t>float</a:t>
            </a:r>
            <a:r>
              <a:rPr lang="fr-FR" altLang="zh-CN" dirty="0">
                <a:solidFill>
                  <a:srgbClr val="000000"/>
                </a:solidFill>
                <a:latin typeface="Consolas" panose="020B0609020204030204" pitchFamily="49" charset="0"/>
                <a:ea typeface="新宋体"/>
                <a:cs typeface="Consolas" panose="020B0609020204030204" pitchFamily="49" charset="0"/>
              </a:rPr>
              <a:t> r) : _centre(x, y), _r(r)</a:t>
            </a:r>
          </a:p>
          <a:p>
            <a:pPr marL="273050"/>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00"/>
                </a:solidFill>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3" name="矩形 2"/>
          <p:cNvSpPr/>
          <p:nvPr/>
        </p:nvSpPr>
        <p:spPr>
          <a:xfrm>
            <a:off x="683568" y="663079"/>
            <a:ext cx="4346703" cy="461665"/>
          </a:xfrm>
          <a:prstGeom prst="rect">
            <a:avLst/>
          </a:prstGeom>
          <a:noFill/>
        </p:spPr>
        <p:txBody>
          <a:bodyPr wrap="none">
            <a:spAutoFit/>
          </a:bodyPr>
          <a:lstStyle/>
          <a:p>
            <a:r>
              <a:rPr lang="en-US" altLang="zh-CN" sz="2400" dirty="0"/>
              <a:t>Circle </a:t>
            </a:r>
            <a:r>
              <a:rPr lang="zh-CN" altLang="en-US" sz="2400" dirty="0"/>
              <a:t>包含圆心</a:t>
            </a:r>
            <a:r>
              <a:rPr lang="en-US" altLang="zh-CN" sz="2400" dirty="0"/>
              <a:t>_</a:t>
            </a:r>
            <a:r>
              <a:rPr lang="en-US" altLang="zh-CN" sz="2400" dirty="0" err="1"/>
              <a:t>centre</a:t>
            </a:r>
            <a:r>
              <a:rPr lang="zh-CN" altLang="en-US" sz="2400" dirty="0"/>
              <a:t>、半径</a:t>
            </a:r>
            <a:r>
              <a:rPr lang="en-US" altLang="zh-CN" sz="2400" dirty="0"/>
              <a:t>_r</a:t>
            </a:r>
            <a:endParaRPr lang="zh-CN" altLang="en-US" sz="2400" dirty="0"/>
          </a:p>
        </p:txBody>
      </p:sp>
      <p:sp>
        <p:nvSpPr>
          <p:cNvPr id="4" name="圆角矩形 3"/>
          <p:cNvSpPr/>
          <p:nvPr/>
        </p:nvSpPr>
        <p:spPr>
          <a:xfrm>
            <a:off x="4860032" y="4005064"/>
            <a:ext cx="1728192"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83568" y="107921"/>
            <a:ext cx="2236510" cy="584775"/>
          </a:xfrm>
          <a:prstGeom prst="rect">
            <a:avLst/>
          </a:prstGeom>
        </p:spPr>
        <p:txBody>
          <a:bodyPr wrap="none">
            <a:spAutoFit/>
          </a:bodyPr>
          <a:lstStyle/>
          <a:p>
            <a:r>
              <a:rPr lang="zh-CN" altLang="en-US" sz="3200" dirty="0">
                <a:solidFill>
                  <a:prstClr val="black"/>
                </a:solidFill>
              </a:rPr>
              <a:t>类对象成员</a:t>
            </a:r>
            <a:endParaRPr lang="zh-CN" altLang="en-US" dirty="0"/>
          </a:p>
        </p:txBody>
      </p:sp>
    </p:spTree>
    <p:extLst>
      <p:ext uri="{BB962C8B-B14F-4D97-AF65-F5344CB8AC3E}">
        <p14:creationId xmlns:p14="http://schemas.microsoft.com/office/powerpoint/2010/main" val="366705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AC29371A-B93C-4DCF-A0CA-59288AB6245F}" type="slidenum">
              <a:rPr lang="en-US" altLang="zh-CN" sz="1400">
                <a:solidFill>
                  <a:prstClr val="black"/>
                </a:solidFill>
              </a:rPr>
              <a:pPr eaLnBrk="1" hangingPunct="1"/>
              <a:t>41</a:t>
            </a:fld>
            <a:endParaRPr lang="en-US" altLang="zh-CN" sz="1400">
              <a:solidFill>
                <a:prstClr val="black"/>
              </a:solidFill>
            </a:endParaRPr>
          </a:p>
        </p:txBody>
      </p:sp>
      <p:sp>
        <p:nvSpPr>
          <p:cNvPr id="4" name="矩形 3"/>
          <p:cNvSpPr/>
          <p:nvPr/>
        </p:nvSpPr>
        <p:spPr>
          <a:xfrm>
            <a:off x="971600" y="980728"/>
            <a:ext cx="7272808" cy="5632311"/>
          </a:xfrm>
          <a:prstGeom prst="rect">
            <a:avLst/>
          </a:prstGeom>
          <a:solidFill>
            <a:schemeClr val="bg1"/>
          </a:solidFill>
          <a:ln>
            <a:solidFill>
              <a:schemeClr val="accent1">
                <a:shade val="50000"/>
              </a:schemeClr>
            </a:solidFill>
          </a:ln>
        </p:spPr>
        <p:txBody>
          <a:bodyPr wrap="square">
            <a:spAutoFit/>
          </a:bodyPr>
          <a:lstStyle/>
          <a:p>
            <a:r>
              <a:rPr lang="en-US" altLang="zh-CN" sz="2400" dirty="0">
                <a:solidFill>
                  <a:srgbClr val="0000FF"/>
                </a:solidFill>
                <a:highlight>
                  <a:srgbClr val="FFFFFF"/>
                </a:highlight>
                <a:latin typeface="新宋体"/>
                <a:ea typeface="新宋体"/>
              </a:rPr>
              <a:t>class</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endParaRPr lang="en-US" altLang="zh-CN" sz="2400" dirty="0">
              <a:solidFill>
                <a:srgbClr val="000000"/>
              </a:solidFill>
              <a:highlight>
                <a:srgbClr val="FFFFFF"/>
              </a:highlight>
              <a:latin typeface="新宋体"/>
              <a:ea typeface="新宋体"/>
            </a:endParaRPr>
          </a:p>
          <a:p>
            <a:r>
              <a:rPr lang="en-US" altLang="zh-CN" sz="2400" dirty="0">
                <a:solidFill>
                  <a:srgbClr val="000000"/>
                </a:solidFill>
                <a:highlight>
                  <a:srgbClr val="FFFFFF"/>
                </a:highlight>
                <a:latin typeface="新宋体"/>
                <a:ea typeface="新宋体"/>
              </a:rPr>
              <a:t>{</a:t>
            </a:r>
            <a:r>
              <a:rPr lang="en-US" altLang="zh-CN" sz="2400" dirty="0">
                <a:solidFill>
                  <a:srgbClr val="0000FF"/>
                </a:solidFill>
                <a:highlight>
                  <a:srgbClr val="FFFFFF"/>
                </a:highlight>
                <a:latin typeface="新宋体"/>
                <a:ea typeface="新宋体"/>
              </a:rPr>
              <a:t>public</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Point(</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a:solidFill>
                  <a:srgbClr val="808080"/>
                </a:solidFill>
                <a:highlight>
                  <a:srgbClr val="FFFFFF"/>
                </a:highlight>
                <a:latin typeface="新宋体"/>
                <a:ea typeface="新宋体"/>
              </a:rPr>
              <a:t>xx</a:t>
            </a:r>
            <a:r>
              <a:rPr lang="en-US" altLang="zh-CN" sz="2400" dirty="0">
                <a:solidFill>
                  <a:srgbClr val="000000"/>
                </a:solidFill>
                <a:highlight>
                  <a:srgbClr val="FFFFFF"/>
                </a:highlight>
                <a:latin typeface="新宋体"/>
                <a:ea typeface="新宋体"/>
              </a:rPr>
              <a:t> = 0, </a:t>
            </a:r>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808080"/>
                </a:solidFill>
                <a:highlight>
                  <a:srgbClr val="FFFFFF"/>
                </a:highlight>
                <a:latin typeface="新宋体"/>
                <a:ea typeface="新宋体"/>
              </a:rPr>
              <a:t>yy</a:t>
            </a:r>
            <a:r>
              <a:rPr lang="en-US" altLang="zh-CN" sz="2400" dirty="0">
                <a:solidFill>
                  <a:srgbClr val="000000"/>
                </a:solidFill>
                <a:highlight>
                  <a:srgbClr val="FFFFFF"/>
                </a:highlight>
                <a:latin typeface="新宋体"/>
                <a:ea typeface="新宋体"/>
              </a:rPr>
              <a:t> = 0)</a:t>
            </a:r>
          </a:p>
          <a:p>
            <a:pPr marL="365125"/>
            <a:r>
              <a:rPr lang="en-US" altLang="zh-CN" sz="2400" dirty="0">
                <a:solidFill>
                  <a:srgbClr val="000000"/>
                </a:solidFill>
                <a:highlight>
                  <a:srgbClr val="FFFFFF"/>
                </a:highlight>
                <a:latin typeface="新宋体"/>
                <a:ea typeface="新宋体"/>
              </a:rPr>
              <a:t>{  x = </a:t>
            </a:r>
            <a:r>
              <a:rPr lang="en-US" altLang="zh-CN" sz="2400" dirty="0">
                <a:solidFill>
                  <a:srgbClr val="808080"/>
                </a:solidFill>
                <a:highlight>
                  <a:srgbClr val="FFFFFF"/>
                </a:highlight>
                <a:latin typeface="新宋体"/>
                <a:ea typeface="新宋体"/>
              </a:rPr>
              <a:t>xx</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   y = </a:t>
            </a:r>
            <a:r>
              <a:rPr lang="en-US" altLang="zh-CN" sz="2400" dirty="0" err="1">
                <a:solidFill>
                  <a:srgbClr val="808080"/>
                </a:solidFill>
                <a:highlight>
                  <a:srgbClr val="FFFFFF"/>
                </a:highlight>
                <a:latin typeface="新宋体"/>
                <a:ea typeface="新宋体"/>
              </a:rPr>
              <a:t>yy</a:t>
            </a:r>
            <a:r>
              <a:rPr lang="en-US" altLang="zh-CN" sz="2400" dirty="0">
                <a:solidFill>
                  <a:srgbClr val="000000"/>
                </a:solidFill>
                <a:highlight>
                  <a:srgbClr val="FFFFFF"/>
                </a:highlight>
                <a:latin typeface="新宋体"/>
                <a:ea typeface="新宋体"/>
              </a:rPr>
              <a:t>;</a:t>
            </a:r>
          </a:p>
          <a:p>
            <a:pPr marL="365125"/>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Point(</a:t>
            </a:r>
            <a:r>
              <a:rPr lang="en-US" altLang="zh-CN" sz="2400" dirty="0" err="1">
                <a:solidFill>
                  <a:srgbClr val="0000FF"/>
                </a:solidFill>
                <a:highlight>
                  <a:srgbClr val="FFFFFF"/>
                </a:highlight>
                <a:latin typeface="新宋体"/>
                <a:ea typeface="新宋体"/>
              </a:rPr>
              <a:t>const</a:t>
            </a:r>
            <a:r>
              <a:rPr lang="en-US" altLang="zh-CN" sz="2400" dirty="0">
                <a:solidFill>
                  <a:srgbClr val="000000"/>
                </a:solidFill>
                <a:highlight>
                  <a:srgbClr val="FFFFFF"/>
                </a:highlight>
                <a:latin typeface="新宋体"/>
                <a:ea typeface="新宋体"/>
              </a:rPr>
              <a:t> </a:t>
            </a:r>
            <a:r>
              <a:rPr lang="en-US" altLang="zh-CN" sz="2400" dirty="0">
                <a:solidFill>
                  <a:srgbClr val="2B91AF"/>
                </a:solidFill>
                <a:highlight>
                  <a:srgbClr val="FFFFFF"/>
                </a:highlight>
                <a:latin typeface="新宋体"/>
                <a:ea typeface="新宋体"/>
              </a:rPr>
              <a:t>Point</a:t>
            </a:r>
            <a:r>
              <a:rPr lang="en-US" altLang="zh-CN" sz="2400" dirty="0">
                <a:solidFill>
                  <a:srgbClr val="000000"/>
                </a:solidFill>
                <a:highlight>
                  <a:srgbClr val="FFFFFF"/>
                </a:highlight>
                <a:latin typeface="新宋体"/>
                <a:ea typeface="新宋体"/>
              </a:rPr>
              <a:t>&amp; </a:t>
            </a:r>
            <a:r>
              <a:rPr lang="en-US" altLang="zh-CN" sz="2400" dirty="0">
                <a:solidFill>
                  <a:srgbClr val="808080"/>
                </a:solidFill>
                <a:highlight>
                  <a:srgbClr val="FFFFFF"/>
                </a:highlight>
                <a:latin typeface="新宋体"/>
                <a:ea typeface="新宋体"/>
              </a:rPr>
              <a:t>p</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  x = </a:t>
            </a:r>
            <a:r>
              <a:rPr lang="en-US" altLang="zh-CN" sz="2400" dirty="0" err="1">
                <a:solidFill>
                  <a:srgbClr val="808080"/>
                </a:solidFill>
                <a:highlight>
                  <a:srgbClr val="FFFFFF"/>
                </a:highlight>
                <a:latin typeface="新宋体"/>
                <a:ea typeface="新宋体"/>
              </a:rPr>
              <a:t>p</a:t>
            </a:r>
            <a:r>
              <a:rPr lang="en-US" altLang="zh-CN" sz="2400" dirty="0" err="1">
                <a:solidFill>
                  <a:srgbClr val="000000"/>
                </a:solidFill>
                <a:highlight>
                  <a:srgbClr val="FFFFFF"/>
                </a:highlight>
                <a:latin typeface="新宋体"/>
                <a:ea typeface="新宋体"/>
              </a:rPr>
              <a:t>.x</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   y = </a:t>
            </a:r>
            <a:r>
              <a:rPr lang="en-US" altLang="zh-CN" sz="2400" dirty="0" err="1">
                <a:solidFill>
                  <a:srgbClr val="808080"/>
                </a:solidFill>
                <a:highlight>
                  <a:srgbClr val="FFFFFF"/>
                </a:highlight>
                <a:latin typeface="新宋体"/>
                <a:ea typeface="新宋体"/>
              </a:rPr>
              <a:t>p</a:t>
            </a:r>
            <a:r>
              <a:rPr lang="en-US" altLang="zh-CN" sz="2400" dirty="0" err="1">
                <a:solidFill>
                  <a:srgbClr val="000000"/>
                </a:solidFill>
                <a:highlight>
                  <a:srgbClr val="FFFFFF"/>
                </a:highlight>
                <a:latin typeface="新宋体"/>
                <a:ea typeface="新宋体"/>
              </a:rPr>
              <a:t>.y</a:t>
            </a:r>
            <a:r>
              <a:rPr lang="en-US" altLang="zh-CN" sz="2400" dirty="0">
                <a:solidFill>
                  <a:srgbClr val="000000"/>
                </a:solidFill>
                <a:highlight>
                  <a:srgbClr val="FFFFFF"/>
                </a:highlight>
                <a:latin typeface="新宋体"/>
                <a:ea typeface="新宋体"/>
              </a:rPr>
              <a:t>;</a:t>
            </a:r>
          </a:p>
          <a:p>
            <a:pPr marL="274638"/>
            <a:r>
              <a:rPr lang="en-US" altLang="zh-CN" sz="2400" dirty="0">
                <a:solidFill>
                  <a:srgbClr val="000000"/>
                </a:solidFill>
                <a:highlight>
                  <a:srgbClr val="FFFFFF"/>
                </a:highlight>
                <a:latin typeface="新宋体"/>
                <a:ea typeface="新宋体"/>
              </a:rPr>
              <a:t>}</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getX</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x; }</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a:t>
            </a:r>
            <a:r>
              <a:rPr lang="en-US" altLang="zh-CN" sz="2400" dirty="0" err="1">
                <a:solidFill>
                  <a:srgbClr val="000000"/>
                </a:solidFill>
                <a:highlight>
                  <a:srgbClr val="FFFFFF"/>
                </a:highlight>
                <a:latin typeface="新宋体"/>
                <a:ea typeface="新宋体"/>
              </a:rPr>
              <a:t>getY</a:t>
            </a:r>
            <a:r>
              <a:rPr lang="en-US" altLang="zh-CN" sz="2400" dirty="0">
                <a:solidFill>
                  <a:srgbClr val="000000"/>
                </a:solidFill>
                <a:highlight>
                  <a:srgbClr val="FFFFFF"/>
                </a:highlight>
                <a:latin typeface="新宋体"/>
                <a:ea typeface="新宋体"/>
              </a:rPr>
              <a:t>() { </a:t>
            </a:r>
            <a:r>
              <a:rPr lang="en-US" altLang="zh-CN" sz="2400" dirty="0">
                <a:solidFill>
                  <a:srgbClr val="0000FF"/>
                </a:solidFill>
                <a:highlight>
                  <a:srgbClr val="FFFFFF"/>
                </a:highlight>
                <a:latin typeface="新宋体"/>
                <a:ea typeface="新宋体"/>
              </a:rPr>
              <a:t>return</a:t>
            </a:r>
            <a:r>
              <a:rPr lang="en-US" altLang="zh-CN" sz="2400" dirty="0">
                <a:solidFill>
                  <a:srgbClr val="000000"/>
                </a:solidFill>
                <a:highlight>
                  <a:srgbClr val="FFFFFF"/>
                </a:highlight>
                <a:latin typeface="新宋体"/>
                <a:ea typeface="新宋体"/>
              </a:rPr>
              <a:t> y; }</a:t>
            </a:r>
          </a:p>
          <a:p>
            <a:r>
              <a:rPr lang="en-US" altLang="zh-CN" sz="2400" dirty="0">
                <a:solidFill>
                  <a:srgbClr val="0000FF"/>
                </a:solidFill>
                <a:highlight>
                  <a:srgbClr val="FFFFFF"/>
                </a:highlight>
                <a:latin typeface="新宋体"/>
                <a:ea typeface="新宋体"/>
              </a:rPr>
              <a:t>private</a:t>
            </a:r>
            <a:r>
              <a:rPr lang="en-US" altLang="zh-CN" sz="2400" dirty="0">
                <a:solidFill>
                  <a:srgbClr val="000000"/>
                </a:solidFill>
                <a:highlight>
                  <a:srgbClr val="FFFFFF"/>
                </a:highlight>
                <a:latin typeface="新宋体"/>
                <a:ea typeface="新宋体"/>
              </a:rPr>
              <a:t>:</a:t>
            </a:r>
          </a:p>
          <a:p>
            <a:pPr marL="274638"/>
            <a:r>
              <a:rPr lang="en-US" altLang="zh-CN" sz="2400" dirty="0" err="1">
                <a:solidFill>
                  <a:srgbClr val="0000FF"/>
                </a:solidFill>
                <a:highlight>
                  <a:srgbClr val="FFFFFF"/>
                </a:highlight>
                <a:latin typeface="新宋体"/>
                <a:ea typeface="新宋体"/>
              </a:rPr>
              <a:t>int</a:t>
            </a:r>
            <a:r>
              <a:rPr lang="en-US" altLang="zh-CN" sz="2400" dirty="0">
                <a:solidFill>
                  <a:srgbClr val="000000"/>
                </a:solidFill>
                <a:highlight>
                  <a:srgbClr val="FFFFFF"/>
                </a:highlight>
                <a:latin typeface="新宋体"/>
                <a:ea typeface="新宋体"/>
              </a:rPr>
              <a:t> x, y;</a:t>
            </a:r>
          </a:p>
          <a:p>
            <a:r>
              <a:rPr lang="en-US" altLang="zh-CN" sz="2400" dirty="0">
                <a:solidFill>
                  <a:srgbClr val="000000"/>
                </a:solidFill>
                <a:highlight>
                  <a:srgbClr val="FFFFFF"/>
                </a:highlight>
                <a:latin typeface="新宋体"/>
                <a:ea typeface="新宋体"/>
              </a:rPr>
              <a:t>};</a:t>
            </a:r>
            <a:endParaRPr lang="zh-CN" altLang="en-US" sz="2400" dirty="0"/>
          </a:p>
        </p:txBody>
      </p:sp>
      <p:sp>
        <p:nvSpPr>
          <p:cNvPr id="7" name="Rectangle 6"/>
          <p:cNvSpPr>
            <a:spLocks noChangeArrowheads="1"/>
          </p:cNvSpPr>
          <p:nvPr/>
        </p:nvSpPr>
        <p:spPr bwMode="auto">
          <a:xfrm>
            <a:off x="215516" y="0"/>
            <a:ext cx="878497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en-US" altLang="zh-CN" sz="3600" b="1" dirty="0">
                <a:solidFill>
                  <a:schemeClr val="tx2"/>
                </a:solidFill>
                <a:latin typeface="Times New Roman" pitchFamily="18" charset="0"/>
              </a:rPr>
              <a:t>4_2.4 </a:t>
            </a:r>
            <a:r>
              <a:rPr lang="zh-CN" altLang="en-US" sz="3600" b="1" dirty="0">
                <a:solidFill>
                  <a:schemeClr val="tx2"/>
                </a:solidFill>
                <a:latin typeface="Times New Roman" pitchFamily="18" charset="0"/>
              </a:rPr>
              <a:t>创建对象的方式</a:t>
            </a:r>
            <a:r>
              <a:rPr lang="en-US" altLang="zh-CN" sz="3600" b="1" dirty="0">
                <a:solidFill>
                  <a:schemeClr val="tx2"/>
                </a:solidFill>
                <a:latin typeface="Times New Roman" pitchFamily="18" charset="0"/>
              </a:rPr>
              <a:t>—</a:t>
            </a:r>
            <a:r>
              <a:rPr lang="zh-CN" altLang="en-US" sz="3600" b="1" dirty="0">
                <a:solidFill>
                  <a:schemeClr val="tx2"/>
                </a:solidFill>
                <a:latin typeface="Times New Roman" pitchFamily="18" charset="0"/>
              </a:rPr>
              <a:t>对象、指针、数组</a:t>
            </a:r>
            <a:endParaRPr lang="zh-CN" altLang="en-US" sz="3600" b="1" dirty="0">
              <a:latin typeface="Times New Roman" pitchFamily="18" charset="0"/>
            </a:endParaRPr>
          </a:p>
        </p:txBody>
      </p:sp>
    </p:spTree>
    <p:extLst>
      <p:ext uri="{BB962C8B-B14F-4D97-AF65-F5344CB8AC3E}">
        <p14:creationId xmlns:p14="http://schemas.microsoft.com/office/powerpoint/2010/main" val="3839821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1556792"/>
            <a:ext cx="7272808" cy="2308324"/>
          </a:xfrm>
          <a:prstGeom prst="rect">
            <a:avLst/>
          </a:prstGeom>
          <a:solidFill>
            <a:schemeClr val="bg1"/>
          </a:solidFill>
          <a:ln>
            <a:solidFill>
              <a:schemeClr val="accent1">
                <a:shade val="50000"/>
              </a:schemeClr>
            </a:solidFill>
          </a:ln>
        </p:spPr>
        <p:txBody>
          <a:bodyPr wrap="square">
            <a:spAutoFit/>
          </a:bodyPr>
          <a:lstStyle/>
          <a:p>
            <a:pPr marL="2778125" indent="-2778125"/>
            <a:r>
              <a:rPr lang="en-US" altLang="zh-CN" sz="2400" dirty="0">
                <a:solidFill>
                  <a:srgbClr val="2B91AF"/>
                </a:solidFill>
                <a:highlight>
                  <a:srgbClr val="FFFFFF"/>
                </a:highlight>
                <a:latin typeface="新宋体"/>
                <a:ea typeface="新宋体"/>
              </a:rPr>
              <a:t>Point p;	</a:t>
            </a:r>
            <a:r>
              <a:rPr lang="zh-CN" altLang="en-US" sz="2400" dirty="0">
                <a:solidFill>
                  <a:srgbClr val="2B91AF"/>
                </a:solidFill>
                <a:highlight>
                  <a:srgbClr val="FFFFFF"/>
                </a:highlight>
                <a:latin typeface="新宋体"/>
                <a:ea typeface="新宋体"/>
              </a:rPr>
              <a:t>调用无参构造函数（或者调用支持无参构造的构造函数）</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p1(1,2);	</a:t>
            </a:r>
            <a:r>
              <a:rPr lang="zh-CN" altLang="en-US" sz="2400" dirty="0">
                <a:solidFill>
                  <a:srgbClr val="2B91AF"/>
                </a:solidFill>
                <a:highlight>
                  <a:srgbClr val="FFFFFF"/>
                </a:highlight>
                <a:latin typeface="新宋体"/>
                <a:ea typeface="新宋体"/>
              </a:rPr>
              <a:t>调用有参构造函数</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p2(p);   	</a:t>
            </a:r>
            <a:r>
              <a:rPr lang="zh-CN" altLang="en-US" sz="2400" dirty="0">
                <a:solidFill>
                  <a:srgbClr val="2B91AF"/>
                </a:solidFill>
                <a:highlight>
                  <a:srgbClr val="FFFFFF"/>
                </a:highlight>
                <a:latin typeface="新宋体"/>
                <a:ea typeface="新宋体"/>
              </a:rPr>
              <a:t>调用拷贝构造函数</a:t>
            </a:r>
            <a:endParaRPr lang="en-US" altLang="zh-CN" sz="2400" dirty="0">
              <a:solidFill>
                <a:srgbClr val="000000"/>
              </a:solidFill>
              <a:highlight>
                <a:srgbClr val="FFFFFF"/>
              </a:highlight>
              <a:latin typeface="新宋体"/>
              <a:ea typeface="新宋体"/>
            </a:endParaRPr>
          </a:p>
        </p:txBody>
      </p:sp>
      <p:sp>
        <p:nvSpPr>
          <p:cNvPr id="3" name="Rectangle 6"/>
          <p:cNvSpPr>
            <a:spLocks noChangeArrowheads="1"/>
          </p:cNvSpPr>
          <p:nvPr/>
        </p:nvSpPr>
        <p:spPr bwMode="auto">
          <a:xfrm>
            <a:off x="215516" y="0"/>
            <a:ext cx="878497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zh-CN" altLang="en-US" sz="3600" b="1" dirty="0">
                <a:solidFill>
                  <a:schemeClr val="tx2"/>
                </a:solidFill>
                <a:latin typeface="Times New Roman" pitchFamily="18" charset="0"/>
              </a:rPr>
              <a:t>以对象的方式创建对象</a:t>
            </a:r>
            <a:endParaRPr lang="zh-CN" altLang="en-US" sz="3600" b="1" dirty="0">
              <a:latin typeface="Times New Roman" pitchFamily="18" charset="0"/>
            </a:endParaRPr>
          </a:p>
        </p:txBody>
      </p:sp>
    </p:spTree>
    <p:extLst>
      <p:ext uri="{BB962C8B-B14F-4D97-AF65-F5344CB8AC3E}">
        <p14:creationId xmlns:p14="http://schemas.microsoft.com/office/powerpoint/2010/main" val="633601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692696"/>
            <a:ext cx="8640960" cy="6001643"/>
          </a:xfrm>
          <a:prstGeom prst="rect">
            <a:avLst/>
          </a:prstGeom>
          <a:solidFill>
            <a:schemeClr val="bg1"/>
          </a:solidFill>
          <a:ln>
            <a:solidFill>
              <a:schemeClr val="accent1">
                <a:shade val="50000"/>
              </a:schemeClr>
            </a:solidFill>
          </a:ln>
        </p:spPr>
        <p:txBody>
          <a:bodyPr wrap="square">
            <a:spAutoFit/>
          </a:bodyPr>
          <a:lstStyle/>
          <a:p>
            <a:pPr marL="2778125" indent="-2778125"/>
            <a:r>
              <a:rPr lang="en-US" altLang="zh-CN" sz="2400" dirty="0">
                <a:solidFill>
                  <a:srgbClr val="2B91AF"/>
                </a:solidFill>
                <a:highlight>
                  <a:srgbClr val="FFFFFF"/>
                </a:highlight>
                <a:latin typeface="新宋体"/>
                <a:ea typeface="新宋体"/>
              </a:rPr>
              <a:t>Point p;	</a:t>
            </a:r>
            <a:r>
              <a:rPr lang="zh-CN" altLang="en-US" sz="2400" dirty="0">
                <a:solidFill>
                  <a:srgbClr val="2B91AF"/>
                </a:solidFill>
                <a:highlight>
                  <a:srgbClr val="FFFFFF"/>
                </a:highlight>
                <a:latin typeface="新宋体"/>
                <a:ea typeface="新宋体"/>
              </a:rPr>
              <a:t>调用无参构造函数（或者调用支持无参构造的构造函数） </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pPr marL="3681413" indent="-3681413"/>
            <a:r>
              <a:rPr lang="en-US" altLang="zh-CN" sz="2400" dirty="0">
                <a:solidFill>
                  <a:srgbClr val="2B91AF"/>
                </a:solidFill>
                <a:highlight>
                  <a:srgbClr val="FFFFFF"/>
                </a:highlight>
                <a:latin typeface="新宋体"/>
                <a:ea typeface="新宋体"/>
              </a:rPr>
              <a:t>Point* </a:t>
            </a:r>
            <a:r>
              <a:rPr lang="en-US" altLang="zh-CN" sz="2400" dirty="0" err="1">
                <a:solidFill>
                  <a:srgbClr val="2B91AF"/>
                </a:solidFill>
                <a:highlight>
                  <a:srgbClr val="FFFFFF"/>
                </a:highlight>
                <a:latin typeface="新宋体"/>
                <a:ea typeface="新宋体"/>
              </a:rPr>
              <a:t>ptr</a:t>
            </a:r>
            <a:r>
              <a:rPr lang="en-US" altLang="zh-CN" sz="2400" dirty="0">
                <a:solidFill>
                  <a:srgbClr val="2B91AF"/>
                </a:solidFill>
                <a:highlight>
                  <a:srgbClr val="FFFFFF"/>
                </a:highlight>
                <a:latin typeface="新宋体"/>
                <a:ea typeface="新宋体"/>
              </a:rPr>
              <a:t> = new Point;	</a:t>
            </a:r>
            <a:r>
              <a:rPr lang="zh-CN" altLang="en-US" sz="2400" dirty="0">
                <a:solidFill>
                  <a:srgbClr val="2B91AF"/>
                </a:solidFill>
                <a:highlight>
                  <a:srgbClr val="FFFFFF"/>
                </a:highlight>
                <a:latin typeface="新宋体"/>
                <a:ea typeface="新宋体"/>
              </a:rPr>
              <a:t>调用无参构造函数（或者调用支持无参构造的构造函数）</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ptr2 = new Point(1,2); </a:t>
            </a:r>
            <a:r>
              <a:rPr lang="zh-CN" altLang="en-US" sz="2400" dirty="0">
                <a:solidFill>
                  <a:srgbClr val="2B91AF"/>
                </a:solidFill>
                <a:highlight>
                  <a:srgbClr val="FFFFFF"/>
                </a:highlight>
                <a:latin typeface="新宋体"/>
                <a:ea typeface="新宋体"/>
              </a:rPr>
              <a:t>调用有参构造函数</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ptr3 = new Point[10];   </a:t>
            </a:r>
            <a:r>
              <a:rPr lang="zh-CN" altLang="en-US" sz="2400" dirty="0">
                <a:solidFill>
                  <a:srgbClr val="2B91AF"/>
                </a:solidFill>
                <a:highlight>
                  <a:srgbClr val="FFFFFF"/>
                </a:highlight>
                <a:latin typeface="新宋体"/>
                <a:ea typeface="新宋体"/>
              </a:rPr>
              <a:t>调用无参构造函数（</a:t>
            </a:r>
            <a:r>
              <a:rPr lang="en-US" altLang="zh-CN" sz="2400" dirty="0">
                <a:solidFill>
                  <a:srgbClr val="2B91AF"/>
                </a:solidFill>
                <a:highlight>
                  <a:srgbClr val="FFFFFF"/>
                </a:highlight>
                <a:latin typeface="新宋体"/>
                <a:ea typeface="新宋体"/>
              </a:rPr>
              <a:t>10</a:t>
            </a:r>
            <a:r>
              <a:rPr lang="zh-CN" altLang="en-US" sz="2400" dirty="0">
                <a:solidFill>
                  <a:srgbClr val="2B91AF"/>
                </a:solidFill>
                <a:highlight>
                  <a:srgbClr val="FFFFFF"/>
                </a:highlight>
                <a:latin typeface="新宋体"/>
                <a:ea typeface="新宋体"/>
              </a:rPr>
              <a:t>次）</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ptr4 = new Point(p);   </a:t>
            </a:r>
            <a:r>
              <a:rPr lang="zh-CN" altLang="en-US" sz="2400" dirty="0">
                <a:solidFill>
                  <a:srgbClr val="2B91AF"/>
                </a:solidFill>
                <a:highlight>
                  <a:srgbClr val="FFFFFF"/>
                </a:highlight>
                <a:latin typeface="新宋体"/>
                <a:ea typeface="新宋体"/>
              </a:rPr>
              <a:t>调用拷贝构造函数</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delete </a:t>
            </a:r>
            <a:r>
              <a:rPr lang="en-US" altLang="zh-CN" sz="2400" dirty="0" err="1">
                <a:solidFill>
                  <a:srgbClr val="2B91AF"/>
                </a:solidFill>
                <a:highlight>
                  <a:srgbClr val="FFFFFF"/>
                </a:highlight>
                <a:latin typeface="新宋体"/>
                <a:ea typeface="新宋体"/>
              </a:rPr>
              <a:t>ptr</a:t>
            </a:r>
            <a:r>
              <a:rPr lang="en-US" altLang="zh-CN" sz="2400" dirty="0">
                <a:solidFill>
                  <a:srgbClr val="2B91AF"/>
                </a:solidFill>
                <a:highlight>
                  <a:srgbClr val="FFFFFF"/>
                </a:highlight>
                <a:latin typeface="新宋体"/>
                <a:ea typeface="新宋体"/>
              </a:rPr>
              <a:t>;</a:t>
            </a:r>
          </a:p>
          <a:p>
            <a:r>
              <a:rPr lang="en-US" altLang="zh-CN" sz="2400" dirty="0">
                <a:solidFill>
                  <a:srgbClr val="2B91AF"/>
                </a:solidFill>
                <a:highlight>
                  <a:srgbClr val="FFFFFF"/>
                </a:highlight>
                <a:latin typeface="新宋体"/>
                <a:ea typeface="新宋体"/>
              </a:rPr>
              <a:t>delete ptr2;</a:t>
            </a:r>
          </a:p>
          <a:p>
            <a:r>
              <a:rPr lang="en-US" altLang="zh-CN" sz="2400" dirty="0">
                <a:solidFill>
                  <a:srgbClr val="2B91AF"/>
                </a:solidFill>
                <a:highlight>
                  <a:srgbClr val="FFFFFF"/>
                </a:highlight>
                <a:latin typeface="新宋体"/>
                <a:ea typeface="新宋体"/>
              </a:rPr>
              <a:t>delete[] ptr3;</a:t>
            </a:r>
          </a:p>
          <a:p>
            <a:r>
              <a:rPr lang="en-US" altLang="zh-CN" sz="2400" dirty="0">
                <a:solidFill>
                  <a:srgbClr val="2B91AF"/>
                </a:solidFill>
                <a:highlight>
                  <a:srgbClr val="FFFFFF"/>
                </a:highlight>
                <a:latin typeface="新宋体"/>
                <a:ea typeface="新宋体"/>
              </a:rPr>
              <a:t>delete ptr4;</a:t>
            </a:r>
            <a:endParaRPr lang="en-US" altLang="zh-CN" sz="2400" dirty="0">
              <a:solidFill>
                <a:srgbClr val="000000"/>
              </a:solidFill>
              <a:highlight>
                <a:srgbClr val="FFFFFF"/>
              </a:highlight>
              <a:latin typeface="新宋体"/>
              <a:ea typeface="新宋体"/>
            </a:endParaRPr>
          </a:p>
        </p:txBody>
      </p:sp>
      <p:sp>
        <p:nvSpPr>
          <p:cNvPr id="3" name="Rectangle 6"/>
          <p:cNvSpPr>
            <a:spLocks noChangeArrowheads="1"/>
          </p:cNvSpPr>
          <p:nvPr/>
        </p:nvSpPr>
        <p:spPr bwMode="auto">
          <a:xfrm>
            <a:off x="215516" y="-243408"/>
            <a:ext cx="878497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zh-CN" altLang="en-US" sz="3600" b="1" dirty="0">
                <a:solidFill>
                  <a:schemeClr val="tx2"/>
                </a:solidFill>
                <a:latin typeface="Times New Roman" pitchFamily="18" charset="0"/>
              </a:rPr>
              <a:t>以指针的方式创建对象</a:t>
            </a:r>
            <a:endParaRPr lang="zh-CN" altLang="en-US" sz="3600" b="1" dirty="0">
              <a:latin typeface="Times New Roman" pitchFamily="18" charset="0"/>
            </a:endParaRPr>
          </a:p>
        </p:txBody>
      </p:sp>
    </p:spTree>
    <p:extLst>
      <p:ext uri="{BB962C8B-B14F-4D97-AF65-F5344CB8AC3E}">
        <p14:creationId xmlns:p14="http://schemas.microsoft.com/office/powerpoint/2010/main" val="3993061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268760"/>
            <a:ext cx="8640960" cy="5262979"/>
          </a:xfrm>
          <a:prstGeom prst="rect">
            <a:avLst/>
          </a:prstGeom>
          <a:solidFill>
            <a:schemeClr val="bg1"/>
          </a:solidFill>
          <a:ln>
            <a:solidFill>
              <a:schemeClr val="accent1">
                <a:shade val="50000"/>
              </a:schemeClr>
            </a:solidFill>
          </a:ln>
        </p:spPr>
        <p:txBody>
          <a:bodyPr wrap="square">
            <a:spAutoFit/>
          </a:bodyPr>
          <a:lstStyle/>
          <a:p>
            <a:pPr marL="1887538" indent="-1887538"/>
            <a:r>
              <a:rPr lang="en-US" altLang="zh-CN" sz="2400" dirty="0">
                <a:solidFill>
                  <a:srgbClr val="2B91AF"/>
                </a:solidFill>
                <a:highlight>
                  <a:srgbClr val="FFFFFF"/>
                </a:highlight>
                <a:latin typeface="新宋体"/>
                <a:ea typeface="新宋体"/>
              </a:rPr>
              <a:t>Point p;	</a:t>
            </a:r>
            <a:r>
              <a:rPr lang="zh-CN" altLang="en-US" sz="2400" dirty="0">
                <a:solidFill>
                  <a:srgbClr val="2B91AF"/>
                </a:solidFill>
                <a:highlight>
                  <a:srgbClr val="FFFFFF"/>
                </a:highlight>
                <a:latin typeface="新宋体"/>
                <a:ea typeface="新宋体"/>
              </a:rPr>
              <a:t>调用无参构造函数（或者调用支持无参构造的构造函数） </a:t>
            </a:r>
            <a:r>
              <a:rPr lang="en-US" altLang="zh-CN" sz="2400" dirty="0">
                <a:solidFill>
                  <a:srgbClr val="2B91AF"/>
                </a:solidFill>
                <a:highlight>
                  <a:srgbClr val="FFFFFF"/>
                </a:highlight>
                <a:latin typeface="新宋体"/>
                <a:ea typeface="新宋体"/>
              </a:rPr>
              <a:t>	</a:t>
            </a:r>
          </a:p>
          <a:p>
            <a:endParaRPr lang="en-US" altLang="zh-CN" sz="2400" dirty="0">
              <a:solidFill>
                <a:srgbClr val="2B91AF"/>
              </a:solidFill>
              <a:highlight>
                <a:srgbClr val="FFFFFF"/>
              </a:highlight>
              <a:latin typeface="新宋体"/>
              <a:ea typeface="新宋体"/>
            </a:endParaRPr>
          </a:p>
          <a:p>
            <a:pPr marL="1887538" indent="-1887538"/>
            <a:r>
              <a:rPr lang="en-US" altLang="zh-CN" sz="2400" dirty="0">
                <a:solidFill>
                  <a:srgbClr val="2B91AF"/>
                </a:solidFill>
                <a:highlight>
                  <a:srgbClr val="FFFFFF"/>
                </a:highlight>
                <a:latin typeface="新宋体"/>
                <a:ea typeface="新宋体"/>
              </a:rPr>
              <a:t>Point a[3];	</a:t>
            </a:r>
            <a:r>
              <a:rPr lang="zh-CN" altLang="en-US" sz="2400" dirty="0">
                <a:solidFill>
                  <a:srgbClr val="2B91AF"/>
                </a:solidFill>
                <a:highlight>
                  <a:srgbClr val="FFFFFF"/>
                </a:highlight>
                <a:latin typeface="新宋体"/>
                <a:ea typeface="新宋体"/>
              </a:rPr>
              <a:t>调用无参构造函数（或者调用支持无参构造的构造函数）  </a:t>
            </a:r>
            <a:r>
              <a:rPr lang="en-US" altLang="zh-CN" sz="2400" dirty="0">
                <a:solidFill>
                  <a:srgbClr val="2B91AF"/>
                </a:solidFill>
                <a:highlight>
                  <a:srgbClr val="FFFFFF"/>
                </a:highlight>
                <a:latin typeface="新宋体"/>
                <a:ea typeface="新宋体"/>
              </a:rPr>
              <a:t>3</a:t>
            </a:r>
            <a:r>
              <a:rPr lang="zh-CN" altLang="en-US" sz="2400" dirty="0">
                <a:solidFill>
                  <a:srgbClr val="2B91AF"/>
                </a:solidFill>
                <a:highlight>
                  <a:srgbClr val="FFFFFF"/>
                </a:highlight>
                <a:latin typeface="新宋体"/>
                <a:ea typeface="新宋体"/>
              </a:rPr>
              <a:t>次</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a2[3] = {Point(1,2),Point(2,3),Point(3,4)};</a:t>
            </a:r>
          </a:p>
          <a:p>
            <a:pPr marL="1887538"/>
            <a:r>
              <a:rPr lang="zh-CN" altLang="en-US" sz="2400" dirty="0">
                <a:solidFill>
                  <a:srgbClr val="2B91AF"/>
                </a:solidFill>
                <a:highlight>
                  <a:srgbClr val="FFFFFF"/>
                </a:highlight>
                <a:latin typeface="新宋体"/>
                <a:ea typeface="新宋体"/>
              </a:rPr>
              <a:t>调用有参构造函数 </a:t>
            </a:r>
            <a:r>
              <a:rPr lang="en-US" altLang="zh-CN" sz="2400" dirty="0">
                <a:solidFill>
                  <a:srgbClr val="2B91AF"/>
                </a:solidFill>
                <a:highlight>
                  <a:srgbClr val="FFFFFF"/>
                </a:highlight>
                <a:latin typeface="新宋体"/>
                <a:ea typeface="新宋体"/>
              </a:rPr>
              <a:t>3</a:t>
            </a:r>
            <a:r>
              <a:rPr lang="zh-CN" altLang="en-US" sz="2400" dirty="0">
                <a:solidFill>
                  <a:srgbClr val="2B91AF"/>
                </a:solidFill>
                <a:highlight>
                  <a:srgbClr val="FFFFFF"/>
                </a:highlight>
                <a:latin typeface="新宋体"/>
                <a:ea typeface="新宋体"/>
              </a:rPr>
              <a:t>次</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a3[3] = {Point(1,2),Point(2,3)};</a:t>
            </a:r>
          </a:p>
          <a:p>
            <a:pPr marL="1971675"/>
            <a:r>
              <a:rPr lang="zh-CN" altLang="en-US" sz="2400" dirty="0">
                <a:solidFill>
                  <a:srgbClr val="2B91AF"/>
                </a:solidFill>
                <a:highlight>
                  <a:srgbClr val="FFFFFF"/>
                </a:highlight>
                <a:latin typeface="新宋体"/>
                <a:ea typeface="新宋体"/>
              </a:rPr>
              <a:t>调用有参构造函数 </a:t>
            </a:r>
            <a:r>
              <a:rPr lang="en-US" altLang="zh-CN" sz="2400" dirty="0">
                <a:solidFill>
                  <a:srgbClr val="2B91AF"/>
                </a:solidFill>
                <a:highlight>
                  <a:srgbClr val="FFFFFF"/>
                </a:highlight>
                <a:latin typeface="新宋体"/>
                <a:ea typeface="新宋体"/>
              </a:rPr>
              <a:t>2</a:t>
            </a:r>
            <a:r>
              <a:rPr lang="zh-CN" altLang="en-US" sz="2400" dirty="0">
                <a:solidFill>
                  <a:srgbClr val="2B91AF"/>
                </a:solidFill>
                <a:highlight>
                  <a:srgbClr val="FFFFFF"/>
                </a:highlight>
                <a:latin typeface="新宋体"/>
                <a:ea typeface="新宋体"/>
              </a:rPr>
              <a:t>次  调用无参构造函数</a:t>
            </a:r>
            <a:r>
              <a:rPr lang="en-US" altLang="zh-CN" sz="2400" dirty="0">
                <a:solidFill>
                  <a:srgbClr val="2B91AF"/>
                </a:solidFill>
                <a:highlight>
                  <a:srgbClr val="FFFFFF"/>
                </a:highlight>
                <a:latin typeface="新宋体"/>
                <a:ea typeface="新宋体"/>
              </a:rPr>
              <a:t>1</a:t>
            </a:r>
            <a:r>
              <a:rPr lang="zh-CN" altLang="en-US" sz="2400" dirty="0">
                <a:solidFill>
                  <a:srgbClr val="2B91AF"/>
                </a:solidFill>
                <a:highlight>
                  <a:srgbClr val="FFFFFF"/>
                </a:highlight>
                <a:latin typeface="新宋体"/>
                <a:ea typeface="新宋体"/>
              </a:rPr>
              <a:t>次</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a:p>
            <a:r>
              <a:rPr lang="en-US" altLang="zh-CN" sz="2400" dirty="0">
                <a:solidFill>
                  <a:srgbClr val="2B91AF"/>
                </a:solidFill>
                <a:highlight>
                  <a:srgbClr val="FFFFFF"/>
                </a:highlight>
                <a:latin typeface="新宋体"/>
                <a:ea typeface="新宋体"/>
              </a:rPr>
              <a:t>Point a4[3] = {</a:t>
            </a:r>
            <a:r>
              <a:rPr lang="en-US" altLang="zh-CN" sz="2400" dirty="0" err="1">
                <a:solidFill>
                  <a:srgbClr val="2B91AF"/>
                </a:solidFill>
                <a:highlight>
                  <a:srgbClr val="FFFFFF"/>
                </a:highlight>
                <a:latin typeface="新宋体"/>
                <a:ea typeface="新宋体"/>
              </a:rPr>
              <a:t>p,p,p</a:t>
            </a:r>
            <a:r>
              <a:rPr lang="en-US" altLang="zh-CN" sz="2400" dirty="0">
                <a:solidFill>
                  <a:srgbClr val="2B91AF"/>
                </a:solidFill>
                <a:highlight>
                  <a:srgbClr val="FFFFFF"/>
                </a:highlight>
                <a:latin typeface="新宋体"/>
                <a:ea typeface="新宋体"/>
              </a:rPr>
              <a:t>};   </a:t>
            </a:r>
            <a:r>
              <a:rPr lang="zh-CN" altLang="en-US" sz="2400" dirty="0">
                <a:solidFill>
                  <a:srgbClr val="2B91AF"/>
                </a:solidFill>
                <a:highlight>
                  <a:srgbClr val="FFFFFF"/>
                </a:highlight>
                <a:latin typeface="新宋体"/>
                <a:ea typeface="新宋体"/>
              </a:rPr>
              <a:t>调用拷贝构造函数</a:t>
            </a:r>
            <a:r>
              <a:rPr lang="en-US" altLang="zh-CN" sz="2400" dirty="0">
                <a:solidFill>
                  <a:srgbClr val="2B91AF"/>
                </a:solidFill>
                <a:highlight>
                  <a:srgbClr val="FFFFFF"/>
                </a:highlight>
                <a:latin typeface="新宋体"/>
                <a:ea typeface="新宋体"/>
              </a:rPr>
              <a:t>3</a:t>
            </a:r>
            <a:r>
              <a:rPr lang="zh-CN" altLang="en-US" sz="2400" dirty="0">
                <a:solidFill>
                  <a:srgbClr val="2B91AF"/>
                </a:solidFill>
                <a:highlight>
                  <a:srgbClr val="FFFFFF"/>
                </a:highlight>
                <a:latin typeface="新宋体"/>
                <a:ea typeface="新宋体"/>
              </a:rPr>
              <a:t>次</a:t>
            </a:r>
            <a:endParaRPr lang="en-US" altLang="zh-CN" sz="2400" dirty="0">
              <a:solidFill>
                <a:srgbClr val="2B91AF"/>
              </a:solidFill>
              <a:highlight>
                <a:srgbClr val="FFFFFF"/>
              </a:highlight>
              <a:latin typeface="新宋体"/>
              <a:ea typeface="新宋体"/>
            </a:endParaRPr>
          </a:p>
          <a:p>
            <a:endParaRPr lang="en-US" altLang="zh-CN" sz="2400" dirty="0">
              <a:solidFill>
                <a:srgbClr val="2B91AF"/>
              </a:solidFill>
              <a:highlight>
                <a:srgbClr val="FFFFFF"/>
              </a:highlight>
              <a:latin typeface="新宋体"/>
              <a:ea typeface="新宋体"/>
            </a:endParaRPr>
          </a:p>
        </p:txBody>
      </p:sp>
      <p:sp>
        <p:nvSpPr>
          <p:cNvPr id="3" name="Rectangle 6"/>
          <p:cNvSpPr>
            <a:spLocks noChangeArrowheads="1"/>
          </p:cNvSpPr>
          <p:nvPr/>
        </p:nvSpPr>
        <p:spPr bwMode="auto">
          <a:xfrm>
            <a:off x="215516" y="0"/>
            <a:ext cx="878497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zh-CN" altLang="en-US" sz="3600" b="1" dirty="0">
                <a:solidFill>
                  <a:schemeClr val="tx2"/>
                </a:solidFill>
                <a:latin typeface="Times New Roman" pitchFamily="18" charset="0"/>
              </a:rPr>
              <a:t>以数组的方式创建对象</a:t>
            </a:r>
            <a:endParaRPr lang="zh-CN" altLang="en-US" sz="3600" b="1" dirty="0">
              <a:latin typeface="Times New Roman" pitchFamily="18" charset="0"/>
            </a:endParaRPr>
          </a:p>
        </p:txBody>
      </p:sp>
    </p:spTree>
    <p:extLst>
      <p:ext uri="{BB962C8B-B14F-4D97-AF65-F5344CB8AC3E}">
        <p14:creationId xmlns:p14="http://schemas.microsoft.com/office/powerpoint/2010/main" val="19436501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ChangeArrowheads="1"/>
          </p:cNvSpPr>
          <p:nvPr>
            <p:ph type="body" idx="4294967295"/>
          </p:nvPr>
        </p:nvSpPr>
        <p:spPr>
          <a:xfrm>
            <a:off x="467544" y="1052736"/>
            <a:ext cx="8136904" cy="5256584"/>
          </a:xfrm>
        </p:spPr>
        <p:txBody>
          <a:bodyPr>
            <a:normAutofit/>
          </a:bodyPr>
          <a:lstStyle/>
          <a:p>
            <a:pPr eaLnBrk="1" hangingPunct="1">
              <a:lnSpc>
                <a:spcPct val="90000"/>
              </a:lnSpc>
              <a:buFontTx/>
              <a:buNone/>
            </a:pPr>
            <a:r>
              <a:rPr lang="en-US" altLang="zh-CN" sz="2400" b="1" dirty="0">
                <a:solidFill>
                  <a:schemeClr val="accent2"/>
                </a:solidFill>
              </a:rPr>
              <a:t>1</a:t>
            </a:r>
            <a:r>
              <a:rPr lang="zh-CN" altLang="en-US" sz="2400" b="1" dirty="0">
                <a:solidFill>
                  <a:schemeClr val="accent2"/>
                </a:solidFill>
              </a:rPr>
              <a:t>、</a:t>
            </a:r>
            <a:r>
              <a:rPr lang="zh-CN" altLang="en-US" sz="2800" b="1" dirty="0">
                <a:solidFill>
                  <a:schemeClr val="accent2"/>
                </a:solidFill>
              </a:rPr>
              <a:t>析构函数的概念</a:t>
            </a:r>
          </a:p>
          <a:p>
            <a:pPr marL="350838" lvl="1" indent="4763" eaLnBrk="1" hangingPunct="1">
              <a:lnSpc>
                <a:spcPct val="110000"/>
              </a:lnSpc>
              <a:buFontTx/>
              <a:buNone/>
            </a:pPr>
            <a:r>
              <a:rPr lang="zh-CN" altLang="en-US" dirty="0"/>
              <a:t>析构函数（</a:t>
            </a:r>
            <a:r>
              <a:rPr lang="en-US" altLang="zh-CN" dirty="0"/>
              <a:t>destructor</a:t>
            </a:r>
            <a:r>
              <a:rPr lang="zh-CN" altLang="en-US" dirty="0"/>
              <a:t>）是名为“</a:t>
            </a:r>
            <a:r>
              <a:rPr lang="en-US" altLang="zh-CN" dirty="0"/>
              <a:t>~</a:t>
            </a:r>
            <a:r>
              <a:rPr lang="zh-CN" altLang="en-US" dirty="0"/>
              <a:t>类”的另一个特殊成员函数，作用与构造函数相反</a:t>
            </a:r>
            <a:r>
              <a:rPr lang="en-US" altLang="zh-CN" dirty="0"/>
              <a:t>——</a:t>
            </a:r>
            <a:r>
              <a:rPr lang="zh-CN" altLang="en-US" dirty="0"/>
              <a:t>用于在对象生存期结束时，完成对象的清理工作。 </a:t>
            </a:r>
            <a:endParaRPr lang="en-US" altLang="zh-CN" dirty="0"/>
          </a:p>
          <a:p>
            <a:pPr eaLnBrk="1" hangingPunct="1">
              <a:lnSpc>
                <a:spcPct val="90000"/>
              </a:lnSpc>
              <a:buFontTx/>
              <a:buNone/>
            </a:pPr>
            <a:r>
              <a:rPr lang="en-US" altLang="zh-CN" sz="2800" b="1" dirty="0">
                <a:solidFill>
                  <a:schemeClr val="accent2"/>
                </a:solidFill>
              </a:rPr>
              <a:t>2</a:t>
            </a:r>
            <a:r>
              <a:rPr lang="zh-CN" altLang="en-US" sz="2800" b="1" dirty="0">
                <a:solidFill>
                  <a:schemeClr val="accent2"/>
                </a:solidFill>
              </a:rPr>
              <a:t>、定义语法</a:t>
            </a:r>
          </a:p>
          <a:p>
            <a:pPr eaLnBrk="1" hangingPunct="1">
              <a:lnSpc>
                <a:spcPct val="90000"/>
              </a:lnSpc>
              <a:buFontTx/>
              <a:buNone/>
            </a:pPr>
            <a:r>
              <a:rPr lang="zh-CN" altLang="en-US" sz="2800" dirty="0"/>
              <a:t>	</a:t>
            </a:r>
            <a:r>
              <a:rPr lang="en-US" altLang="zh-CN" sz="2800" dirty="0"/>
              <a:t>class X</a:t>
            </a:r>
          </a:p>
          <a:p>
            <a:pPr eaLnBrk="1" hangingPunct="1">
              <a:lnSpc>
                <a:spcPct val="90000"/>
              </a:lnSpc>
              <a:buFontTx/>
              <a:buNone/>
            </a:pPr>
            <a:r>
              <a:rPr lang="en-US" altLang="zh-CN" sz="2800" dirty="0"/>
              <a:t>	{</a:t>
            </a:r>
          </a:p>
          <a:p>
            <a:pPr lvl="1" eaLnBrk="1" hangingPunct="1">
              <a:lnSpc>
                <a:spcPct val="90000"/>
              </a:lnSpc>
              <a:buFontTx/>
              <a:buNone/>
            </a:pPr>
            <a:r>
              <a:rPr lang="en-US" altLang="zh-CN" sz="2400" dirty="0"/>
              <a:t>	~X ( ) { </a:t>
            </a:r>
            <a:r>
              <a:rPr lang="en-US" altLang="zh-CN" sz="2400" dirty="0">
                <a:latin typeface="Arial" charset="0"/>
              </a:rPr>
              <a:t>…… </a:t>
            </a:r>
            <a:r>
              <a:rPr lang="en-US" altLang="zh-CN" sz="2400" dirty="0"/>
              <a:t>}</a:t>
            </a:r>
          </a:p>
          <a:p>
            <a:pPr eaLnBrk="1" hangingPunct="1">
              <a:lnSpc>
                <a:spcPct val="90000"/>
              </a:lnSpc>
              <a:buFontTx/>
              <a:buNone/>
            </a:pPr>
            <a:r>
              <a:rPr lang="en-US" altLang="zh-CN" sz="2800" dirty="0"/>
              <a:t>	}</a:t>
            </a:r>
            <a:r>
              <a:rPr lang="zh-CN" altLang="en-US" sz="2800" dirty="0"/>
              <a:t>；</a:t>
            </a:r>
            <a:endParaRPr lang="en-US" altLang="zh-CN" sz="2800" dirty="0"/>
          </a:p>
          <a:p>
            <a:pPr eaLnBrk="1" hangingPunct="1">
              <a:lnSpc>
                <a:spcPct val="90000"/>
              </a:lnSpc>
              <a:buFontTx/>
              <a:buNone/>
            </a:pPr>
            <a:endParaRPr lang="zh-CN" altLang="en-US" sz="2600" dirty="0"/>
          </a:p>
        </p:txBody>
      </p:sp>
      <p:sp>
        <p:nvSpPr>
          <p:cNvPr id="68611" name="Rectangle 6"/>
          <p:cNvSpPr>
            <a:spLocks noChangeArrowheads="1"/>
          </p:cNvSpPr>
          <p:nvPr/>
        </p:nvSpPr>
        <p:spPr bwMode="auto">
          <a:xfrm>
            <a:off x="616024" y="-99392"/>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lang="en-US" altLang="zh-CN" sz="4400" b="1" dirty="0">
                <a:solidFill>
                  <a:schemeClr val="tx2"/>
                </a:solidFill>
                <a:latin typeface="Times New Roman" pitchFamily="18" charset="0"/>
              </a:rPr>
              <a:t>4_2.4 </a:t>
            </a:r>
            <a:r>
              <a:rPr lang="zh-CN" altLang="en-US" sz="4400" b="1" dirty="0">
                <a:solidFill>
                  <a:schemeClr val="tx2"/>
                </a:solidFill>
                <a:latin typeface="Times New Roman" pitchFamily="18" charset="0"/>
              </a:rPr>
              <a:t>析构</a:t>
            </a:r>
            <a:r>
              <a:rPr lang="zh-CN" altLang="en-US" sz="4400" b="1" dirty="0">
                <a:latin typeface="Times New Roman" pitchFamily="18" charset="0"/>
              </a:rPr>
              <a:t>函数</a:t>
            </a:r>
          </a:p>
        </p:txBody>
      </p:sp>
    </p:spTree>
    <p:extLst>
      <p:ext uri="{BB962C8B-B14F-4D97-AF65-F5344CB8AC3E}">
        <p14:creationId xmlns:p14="http://schemas.microsoft.com/office/powerpoint/2010/main" val="253518623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592" y="843677"/>
            <a:ext cx="7848872" cy="5958554"/>
          </a:xfrm>
          <a:prstGeom prst="rect">
            <a:avLst/>
          </a:prstGeom>
        </p:spPr>
        <p:txBody>
          <a:bodyPr wrap="square">
            <a:spAutoFit/>
          </a:bodyPr>
          <a:lstStyle/>
          <a:p>
            <a:r>
              <a:rPr lang="en-US" altLang="zh-CN" sz="2400" b="1" dirty="0">
                <a:solidFill>
                  <a:schemeClr val="accent2"/>
                </a:solidFill>
              </a:rPr>
              <a:t>3</a:t>
            </a:r>
            <a:r>
              <a:rPr lang="zh-CN" altLang="en-US" sz="2400" b="1" dirty="0">
                <a:solidFill>
                  <a:schemeClr val="accent2"/>
                </a:solidFill>
              </a:rPr>
              <a:t>、析构函数特点</a:t>
            </a:r>
            <a:endParaRPr lang="en-US" altLang="zh-CN" sz="2400" b="1" dirty="0">
              <a:solidFill>
                <a:schemeClr val="accent2"/>
              </a:solidFill>
            </a:endParaRPr>
          </a:p>
          <a:p>
            <a:pPr marL="534988" lvl="2"/>
            <a:r>
              <a:rPr lang="zh-CN" altLang="en-US" sz="2600" dirty="0"/>
              <a:t>函数名为 </a:t>
            </a:r>
            <a:r>
              <a:rPr lang="en-US" altLang="zh-CN" sz="2600" dirty="0">
                <a:solidFill>
                  <a:srgbClr val="FF0000"/>
                </a:solidFill>
              </a:rPr>
              <a:t>~</a:t>
            </a:r>
            <a:r>
              <a:rPr lang="zh-CN" altLang="en-US" sz="2600" dirty="0">
                <a:solidFill>
                  <a:srgbClr val="FF0000"/>
                </a:solidFill>
              </a:rPr>
              <a:t>类名</a:t>
            </a:r>
          </a:p>
          <a:p>
            <a:pPr marL="534988" lvl="2"/>
            <a:r>
              <a:rPr lang="zh-CN" altLang="en-US" sz="2600" dirty="0"/>
              <a:t>无参数</a:t>
            </a:r>
          </a:p>
          <a:p>
            <a:pPr marL="534988" lvl="2"/>
            <a:r>
              <a:rPr lang="zh-CN" altLang="en-US" sz="2600" dirty="0"/>
              <a:t>无返回值</a:t>
            </a:r>
          </a:p>
          <a:p>
            <a:pPr marL="534988" lvl="2"/>
            <a:r>
              <a:rPr lang="zh-CN" altLang="en-US" sz="2600" dirty="0"/>
              <a:t>不能重载：每个类仅有一个析构函数</a:t>
            </a:r>
            <a:endParaRPr lang="en-US" altLang="zh-CN" sz="2600" dirty="0"/>
          </a:p>
          <a:p>
            <a:pPr marL="534988" lvl="2"/>
            <a:r>
              <a:rPr lang="en-US" altLang="zh-CN" sz="2600" dirty="0"/>
              <a:t>public</a:t>
            </a:r>
          </a:p>
          <a:p>
            <a:pPr marL="534988" lvl="2"/>
            <a:endParaRPr lang="en-US" altLang="zh-CN" sz="2600" dirty="0"/>
          </a:p>
          <a:p>
            <a:pPr marL="0" lvl="2"/>
            <a:r>
              <a:rPr lang="en-US" altLang="zh-CN" sz="2400" b="1" dirty="0">
                <a:solidFill>
                  <a:schemeClr val="accent2"/>
                </a:solidFill>
              </a:rPr>
              <a:t>4</a:t>
            </a:r>
            <a:r>
              <a:rPr lang="zh-CN" altLang="en-US" sz="2400" b="1" dirty="0">
                <a:solidFill>
                  <a:schemeClr val="accent2"/>
                </a:solidFill>
              </a:rPr>
              <a:t>、当不定义析构函数时，系统使用默认析构函数</a:t>
            </a:r>
            <a:endParaRPr lang="en-US" altLang="zh-CN" sz="2400" b="1" dirty="0">
              <a:solidFill>
                <a:schemeClr val="accent2"/>
              </a:solidFill>
            </a:endParaRPr>
          </a:p>
          <a:p>
            <a:pPr marL="903288">
              <a:lnSpc>
                <a:spcPct val="90000"/>
              </a:lnSpc>
            </a:pPr>
            <a:r>
              <a:rPr lang="en-US" altLang="zh-CN" sz="2800" dirty="0"/>
              <a:t>class X</a:t>
            </a:r>
          </a:p>
          <a:p>
            <a:pPr>
              <a:lnSpc>
                <a:spcPct val="90000"/>
              </a:lnSpc>
            </a:pPr>
            <a:r>
              <a:rPr lang="en-US" altLang="zh-CN" sz="2800" dirty="0"/>
              <a:t>	{public:</a:t>
            </a:r>
          </a:p>
          <a:p>
            <a:pPr marL="1520825" lvl="1" indent="-1063625">
              <a:lnSpc>
                <a:spcPct val="90000"/>
              </a:lnSpc>
            </a:pPr>
            <a:r>
              <a:rPr lang="en-US" altLang="zh-CN" sz="2400" dirty="0"/>
              <a:t>	~X ( ) {}</a:t>
            </a:r>
          </a:p>
          <a:p>
            <a:pPr>
              <a:lnSpc>
                <a:spcPct val="90000"/>
              </a:lnSpc>
            </a:pPr>
            <a:r>
              <a:rPr lang="en-US" altLang="zh-CN" sz="2800" dirty="0"/>
              <a:t>	}</a:t>
            </a:r>
            <a:r>
              <a:rPr lang="zh-CN" altLang="en-US" sz="2800" dirty="0"/>
              <a:t>；</a:t>
            </a:r>
            <a:endParaRPr lang="en-US" altLang="zh-CN" sz="2800" dirty="0"/>
          </a:p>
          <a:p>
            <a:pPr marL="0" lvl="2"/>
            <a:endParaRPr lang="en-US" altLang="zh-CN" sz="2600" dirty="0"/>
          </a:p>
          <a:p>
            <a:pPr marL="0" lvl="2"/>
            <a:endParaRPr lang="en-US" altLang="zh-CN" sz="2600" dirty="0"/>
          </a:p>
          <a:p>
            <a:pPr marL="0" lvl="2"/>
            <a:endParaRPr lang="en-US" altLang="zh-CN" sz="2600" dirty="0"/>
          </a:p>
        </p:txBody>
      </p:sp>
    </p:spTree>
    <p:extLst>
      <p:ext uri="{BB962C8B-B14F-4D97-AF65-F5344CB8AC3E}">
        <p14:creationId xmlns:p14="http://schemas.microsoft.com/office/powerpoint/2010/main" val="1975653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67732" y="332656"/>
            <a:ext cx="6048672" cy="5904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20000"/>
              </a:spcBef>
              <a:buClr>
                <a:srgbClr val="FF9900"/>
              </a:buClr>
              <a:buSzTx/>
              <a:buFont typeface="Wingdings" pitchFamily="2" charset="2"/>
              <a:buNone/>
            </a:pPr>
            <a:r>
              <a:rPr lang="en-US" altLang="zh-CN" sz="2400" b="1" dirty="0">
                <a:solidFill>
                  <a:schemeClr val="accent2"/>
                </a:solidFill>
                <a:latin typeface="+mn-lt"/>
              </a:rPr>
              <a:t>5</a:t>
            </a:r>
            <a:r>
              <a:rPr lang="zh-CN" altLang="en-US" sz="2400" b="1" dirty="0">
                <a:solidFill>
                  <a:schemeClr val="accent2"/>
                </a:solidFill>
                <a:latin typeface="+mn-lt"/>
              </a:rPr>
              <a:t>、析构函数调用时机</a:t>
            </a:r>
          </a:p>
          <a:p>
            <a:pPr marL="457200" lvl="1" indent="0" eaLnBrk="1" hangingPunct="1">
              <a:spcBef>
                <a:spcPct val="20000"/>
              </a:spcBef>
              <a:buClr>
                <a:srgbClr val="FF9900"/>
              </a:buClr>
              <a:buSzTx/>
              <a:buNone/>
            </a:pPr>
            <a:r>
              <a:rPr kumimoji="1" lang="zh-CN" altLang="en-US" dirty="0">
                <a:latin typeface="Lucida Console" pitchFamily="49" charset="0"/>
                <a:ea typeface="华文楷体" pitchFamily="2" charset="-122"/>
              </a:rPr>
              <a:t>对象生命期结束时自动调用</a:t>
            </a:r>
            <a:endParaRPr kumimoji="1" lang="en-US" altLang="zh-CN" dirty="0">
              <a:latin typeface="Lucida Console" pitchFamily="49" charset="0"/>
              <a:ea typeface="华文楷体" pitchFamily="2" charset="-122"/>
            </a:endParaRPr>
          </a:p>
          <a:p>
            <a:pPr marL="457200" lvl="1" indent="0" eaLnBrk="1" hangingPunct="1">
              <a:spcBef>
                <a:spcPct val="20000"/>
              </a:spcBef>
              <a:buClr>
                <a:srgbClr val="FF9900"/>
              </a:buClr>
              <a:buSzTx/>
              <a:buNone/>
            </a:pPr>
            <a:r>
              <a:rPr kumimoji="1" lang="en-US" altLang="zh-CN" dirty="0">
                <a:latin typeface="Lucida Console" pitchFamily="49" charset="0"/>
                <a:ea typeface="华文楷体" pitchFamily="2" charset="-122"/>
              </a:rPr>
              <a:t>	</a:t>
            </a:r>
            <a:r>
              <a:rPr kumimoji="1" lang="zh-CN" altLang="en-US" dirty="0">
                <a:latin typeface="Lucida Console" pitchFamily="49" charset="0"/>
                <a:ea typeface="华文楷体" pitchFamily="2" charset="-122"/>
              </a:rPr>
              <a:t>如： </a:t>
            </a:r>
            <a:r>
              <a:rPr kumimoji="1" lang="en-US" altLang="zh-CN" dirty="0">
                <a:latin typeface="Lucida Console" pitchFamily="49" charset="0"/>
                <a:ea typeface="华文楷体" pitchFamily="2" charset="-122"/>
              </a:rPr>
              <a:t>Point* p = new Point;</a:t>
            </a:r>
          </a:p>
          <a:p>
            <a:pPr marL="457200" lvl="1" indent="0" eaLnBrk="1" hangingPunct="1">
              <a:spcBef>
                <a:spcPct val="20000"/>
              </a:spcBef>
              <a:buClr>
                <a:srgbClr val="FF9900"/>
              </a:buClr>
              <a:buSzTx/>
              <a:buNone/>
            </a:pPr>
            <a:r>
              <a:rPr kumimoji="1" lang="en-US" altLang="zh-CN" dirty="0">
                <a:latin typeface="Lucida Console" pitchFamily="49" charset="0"/>
                <a:ea typeface="华文楷体" pitchFamily="2" charset="-122"/>
              </a:rPr>
              <a:t>	    delete p;   </a:t>
            </a:r>
            <a:endParaRPr kumimoji="1" lang="zh-CN" altLang="en-US" dirty="0">
              <a:latin typeface="Lucida Console" pitchFamily="49" charset="0"/>
              <a:ea typeface="华文楷体" pitchFamily="2" charset="-122"/>
            </a:endParaRPr>
          </a:p>
          <a:p>
            <a:pPr marL="457200" lvl="1" indent="0" eaLnBrk="1" hangingPunct="1">
              <a:spcBef>
                <a:spcPct val="20000"/>
              </a:spcBef>
              <a:buClr>
                <a:srgbClr val="FF9900"/>
              </a:buClr>
              <a:buSzTx/>
              <a:buNone/>
            </a:pPr>
            <a:endParaRPr kumimoji="1" lang="en-US" altLang="zh-CN" dirty="0">
              <a:latin typeface="Lucida Console" pitchFamily="49" charset="0"/>
              <a:ea typeface="华文楷体" pitchFamily="2" charset="-122"/>
            </a:endParaRPr>
          </a:p>
          <a:p>
            <a:pPr marL="457200" lvl="1" indent="0" eaLnBrk="1" hangingPunct="1">
              <a:spcBef>
                <a:spcPct val="20000"/>
              </a:spcBef>
              <a:buClr>
                <a:srgbClr val="FF9900"/>
              </a:buClr>
              <a:buSzTx/>
              <a:buNone/>
            </a:pPr>
            <a:r>
              <a:rPr kumimoji="1" lang="zh-CN" altLang="en-US" dirty="0">
                <a:latin typeface="Lucida Console" pitchFamily="49" charset="0"/>
                <a:ea typeface="华文楷体" pitchFamily="2" charset="-122"/>
              </a:rPr>
              <a:t>局部对象：定义的语句块结束处</a:t>
            </a:r>
            <a:endParaRPr kumimoji="1" lang="en-US" altLang="zh-CN" dirty="0">
              <a:latin typeface="Lucida Console" pitchFamily="49" charset="0"/>
              <a:ea typeface="华文楷体" pitchFamily="2" charset="-122"/>
            </a:endParaRPr>
          </a:p>
          <a:p>
            <a:pPr marL="914400" lvl="2" indent="0" eaLnBrk="1" hangingPunct="1">
              <a:spcBef>
                <a:spcPct val="20000"/>
              </a:spcBef>
              <a:buClr>
                <a:srgbClr val="FF9900"/>
              </a:buClr>
              <a:buSzTx/>
              <a:buNone/>
            </a:pPr>
            <a:r>
              <a:rPr kumimoji="1" lang="en-US" altLang="zh-CN" sz="1800" dirty="0">
                <a:latin typeface="Lucida Console" pitchFamily="49" charset="0"/>
                <a:ea typeface="华文楷体" pitchFamily="2" charset="-122"/>
              </a:rPr>
              <a:t>{ Point p;</a:t>
            </a:r>
          </a:p>
          <a:p>
            <a:pPr marL="914400" lvl="2" indent="0" eaLnBrk="1" hangingPunct="1">
              <a:spcBef>
                <a:spcPct val="20000"/>
              </a:spcBef>
              <a:buClr>
                <a:srgbClr val="FF9900"/>
              </a:buClr>
              <a:buSzTx/>
              <a:buNone/>
            </a:pPr>
            <a:r>
              <a:rPr kumimoji="1" lang="en-US" altLang="zh-CN" sz="1800" dirty="0">
                <a:latin typeface="Lucida Console" pitchFamily="49" charset="0"/>
                <a:ea typeface="华文楷体" pitchFamily="2" charset="-122"/>
              </a:rPr>
              <a:t>  ……</a:t>
            </a:r>
          </a:p>
          <a:p>
            <a:pPr marL="914400" lvl="2" indent="0" eaLnBrk="1" hangingPunct="1">
              <a:spcBef>
                <a:spcPct val="20000"/>
              </a:spcBef>
              <a:buClr>
                <a:srgbClr val="FF9900"/>
              </a:buClr>
              <a:buSzTx/>
              <a:buNone/>
            </a:pPr>
            <a:r>
              <a:rPr kumimoji="1" lang="en-US" altLang="zh-CN" sz="1800" dirty="0">
                <a:latin typeface="Lucida Console" pitchFamily="49" charset="0"/>
                <a:ea typeface="华文楷体" pitchFamily="2" charset="-122"/>
              </a:rPr>
              <a:t>}</a:t>
            </a:r>
            <a:endParaRPr kumimoji="1" lang="zh-CN" altLang="en-US" sz="1800" dirty="0">
              <a:latin typeface="Lucida Console" pitchFamily="49" charset="0"/>
              <a:ea typeface="华文楷体" pitchFamily="2" charset="-122"/>
            </a:endParaRPr>
          </a:p>
          <a:p>
            <a:pPr marL="457200" lvl="1" indent="0" eaLnBrk="1" hangingPunct="1">
              <a:spcBef>
                <a:spcPct val="20000"/>
              </a:spcBef>
              <a:buClr>
                <a:srgbClr val="FF9900"/>
              </a:buClr>
              <a:buSzTx/>
              <a:buNone/>
            </a:pPr>
            <a:endParaRPr kumimoji="1" lang="en-US" altLang="zh-CN" dirty="0">
              <a:latin typeface="Lucida Console" pitchFamily="49" charset="0"/>
              <a:ea typeface="华文楷体" pitchFamily="2" charset="-122"/>
            </a:endParaRPr>
          </a:p>
          <a:p>
            <a:pPr marL="457200" lvl="1" indent="0" eaLnBrk="1" hangingPunct="1">
              <a:spcBef>
                <a:spcPct val="20000"/>
              </a:spcBef>
              <a:buClr>
                <a:srgbClr val="FF9900"/>
              </a:buClr>
              <a:buSzTx/>
              <a:buNone/>
            </a:pPr>
            <a:r>
              <a:rPr kumimoji="1" lang="zh-CN" altLang="en-US" dirty="0">
                <a:latin typeface="Lucida Console" pitchFamily="49" charset="0"/>
                <a:ea typeface="华文楷体" pitchFamily="2" charset="-122"/>
              </a:rPr>
              <a:t>全局对象：程序结束时</a:t>
            </a:r>
          </a:p>
          <a:p>
            <a:pPr marL="457200" lvl="1" indent="0" eaLnBrk="1" hangingPunct="1">
              <a:spcBef>
                <a:spcPct val="20000"/>
              </a:spcBef>
              <a:buClr>
                <a:srgbClr val="FF9900"/>
              </a:buClr>
              <a:buSzTx/>
              <a:buNone/>
            </a:pPr>
            <a:endParaRPr kumimoji="1" lang="en-US" altLang="zh-CN" dirty="0">
              <a:latin typeface="Lucida Console" pitchFamily="49" charset="0"/>
              <a:ea typeface="华文楷体" pitchFamily="2" charset="-122"/>
            </a:endParaRPr>
          </a:p>
          <a:p>
            <a:pPr marL="457200" lvl="1" indent="0" eaLnBrk="1" hangingPunct="1">
              <a:spcBef>
                <a:spcPct val="20000"/>
              </a:spcBef>
              <a:buClr>
                <a:srgbClr val="FF9900"/>
              </a:buClr>
              <a:buSzTx/>
              <a:buNone/>
            </a:pPr>
            <a:r>
              <a:rPr kumimoji="1" lang="zh-CN" altLang="en-US" dirty="0">
                <a:latin typeface="Lucida Console" pitchFamily="49" charset="0"/>
                <a:ea typeface="华文楷体" pitchFamily="2" charset="-122"/>
              </a:rPr>
              <a:t>静态对象：程序结束时</a:t>
            </a:r>
          </a:p>
        </p:txBody>
      </p:sp>
      <p:sp>
        <p:nvSpPr>
          <p:cNvPr id="2" name="矩形 1"/>
          <p:cNvSpPr/>
          <p:nvPr/>
        </p:nvSpPr>
        <p:spPr>
          <a:xfrm>
            <a:off x="4355976" y="1700808"/>
            <a:ext cx="1079142" cy="400110"/>
          </a:xfrm>
          <a:prstGeom prst="rect">
            <a:avLst/>
          </a:prstGeom>
          <a:solidFill>
            <a:schemeClr val="accent3">
              <a:lumMod val="40000"/>
              <a:lumOff val="60000"/>
            </a:schemeClr>
          </a:solidFill>
        </p:spPr>
        <p:txBody>
          <a:bodyPr wrap="none">
            <a:spAutoFit/>
          </a:bodyPr>
          <a:lstStyle/>
          <a:p>
            <a:r>
              <a:rPr lang="zh-CN" altLang="en-US" sz="2000" dirty="0"/>
              <a:t>析构</a:t>
            </a:r>
            <a:r>
              <a:rPr lang="en-US" altLang="zh-CN" sz="2000" dirty="0"/>
              <a:t>*p  </a:t>
            </a:r>
            <a:endParaRPr lang="zh-CN" altLang="en-US" sz="2000" dirty="0"/>
          </a:p>
        </p:txBody>
      </p:sp>
      <p:sp>
        <p:nvSpPr>
          <p:cNvPr id="4" name="矩形 3"/>
          <p:cNvSpPr/>
          <p:nvPr/>
        </p:nvSpPr>
        <p:spPr>
          <a:xfrm>
            <a:off x="2915816" y="3645024"/>
            <a:ext cx="952505" cy="400110"/>
          </a:xfrm>
          <a:prstGeom prst="rect">
            <a:avLst/>
          </a:prstGeom>
          <a:solidFill>
            <a:schemeClr val="accent3">
              <a:lumMod val="40000"/>
              <a:lumOff val="60000"/>
            </a:schemeClr>
          </a:solidFill>
        </p:spPr>
        <p:txBody>
          <a:bodyPr wrap="none">
            <a:spAutoFit/>
          </a:bodyPr>
          <a:lstStyle/>
          <a:p>
            <a:r>
              <a:rPr lang="zh-CN" altLang="en-US" sz="2000" dirty="0"/>
              <a:t>析构</a:t>
            </a:r>
            <a:r>
              <a:rPr lang="en-US" altLang="zh-CN" sz="2000" dirty="0"/>
              <a:t>p  </a:t>
            </a:r>
            <a:endParaRPr lang="zh-CN" altLang="en-US" sz="2000" dirty="0"/>
          </a:p>
        </p:txBody>
      </p:sp>
      <p:sp>
        <p:nvSpPr>
          <p:cNvPr id="3" name="矩形 2"/>
          <p:cNvSpPr/>
          <p:nvPr/>
        </p:nvSpPr>
        <p:spPr>
          <a:xfrm>
            <a:off x="4355976" y="3645024"/>
            <a:ext cx="2808312" cy="2862322"/>
          </a:xfrm>
          <a:prstGeom prst="rect">
            <a:avLst/>
          </a:prstGeom>
          <a:solidFill>
            <a:schemeClr val="bg1"/>
          </a:solidFill>
          <a:ln>
            <a:solidFill>
              <a:schemeClr val="accent1">
                <a:shade val="50000"/>
              </a:schemeClr>
            </a:solidFill>
          </a:ln>
        </p:spPr>
        <p:txBody>
          <a:bodyPr wrap="square">
            <a:spAutoFit/>
          </a:bodyPr>
          <a:lstStyle/>
          <a:p>
            <a:r>
              <a:rPr lang="en-US" altLang="zh-CN" dirty="0">
                <a:solidFill>
                  <a:srgbClr val="0000FF"/>
                </a:solidFill>
                <a:latin typeface="Consolas" panose="020B0609020204030204" pitchFamily="49" charset="0"/>
                <a:ea typeface="新宋体"/>
                <a:cs typeface="Consolas" panose="020B0609020204030204" pitchFamily="49" charset="0"/>
              </a:rPr>
              <a:t>void</a:t>
            </a:r>
            <a:r>
              <a:rPr lang="en-US" altLang="zh-CN" dirty="0">
                <a:solidFill>
                  <a:srgbClr val="000000"/>
                </a:solidFill>
                <a:latin typeface="Consolas" panose="020B0609020204030204" pitchFamily="49" charset="0"/>
                <a:ea typeface="新宋体"/>
                <a:cs typeface="Consolas" panose="020B0609020204030204" pitchFamily="49" charset="0"/>
              </a:rPr>
              <a:t> fun()</a:t>
            </a:r>
          </a:p>
          <a:p>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0000FF"/>
                </a:solidFill>
                <a:latin typeface="Consolas" panose="020B0609020204030204" pitchFamily="49" charset="0"/>
                <a:ea typeface="新宋体"/>
                <a:cs typeface="Consolas" panose="020B0609020204030204" pitchFamily="49" charset="0"/>
              </a:rPr>
              <a:t>static</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a:solidFill>
                  <a:srgbClr val="2B91AF"/>
                </a:solidFill>
                <a:latin typeface="Consolas" panose="020B0609020204030204" pitchFamily="49" charset="0"/>
                <a:ea typeface="新宋体"/>
                <a:cs typeface="Consolas" panose="020B0609020204030204" pitchFamily="49" charset="0"/>
              </a:rPr>
              <a:t>Point</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p1</a:t>
            </a:r>
            <a:r>
              <a:rPr lang="en-US" altLang="zh-CN"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a:solidFill>
                  <a:srgbClr val="2B91AF"/>
                </a:solidFill>
                <a:latin typeface="Consolas" panose="020B0609020204030204" pitchFamily="49" charset="0"/>
                <a:ea typeface="新宋体"/>
                <a:cs typeface="Consolas" panose="020B0609020204030204" pitchFamily="49" charset="0"/>
              </a:rPr>
              <a:t>Point</a:t>
            </a:r>
            <a:r>
              <a:rPr lang="en-US" altLang="zh-CN" dirty="0">
                <a:solidFill>
                  <a:srgbClr val="000000"/>
                </a:solidFill>
                <a:latin typeface="Consolas" panose="020B0609020204030204" pitchFamily="49" charset="0"/>
                <a:ea typeface="新宋体"/>
                <a:cs typeface="Consolas" panose="020B0609020204030204" pitchFamily="49" charset="0"/>
              </a:rPr>
              <a:t> </a:t>
            </a:r>
            <a:r>
              <a:rPr lang="en-US" altLang="zh-CN" dirty="0" err="1">
                <a:solidFill>
                  <a:srgbClr val="000000"/>
                </a:solidFill>
                <a:latin typeface="Consolas" panose="020B0609020204030204" pitchFamily="49" charset="0"/>
                <a:ea typeface="新宋体"/>
                <a:cs typeface="Consolas" panose="020B0609020204030204" pitchFamily="49" charset="0"/>
              </a:rPr>
              <a:t>p2</a:t>
            </a:r>
            <a:r>
              <a:rPr lang="en-US" altLang="zh-CN" dirty="0">
                <a:solidFill>
                  <a:srgbClr val="000000"/>
                </a:solidFill>
                <a:latin typeface="Consolas" panose="020B0609020204030204" pitchFamily="49" charset="0"/>
                <a:ea typeface="新宋体"/>
                <a:cs typeface="Consolas" panose="020B0609020204030204" pitchFamily="49" charset="0"/>
              </a:rPr>
              <a:t>;</a:t>
            </a:r>
          </a:p>
          <a:p>
            <a:r>
              <a:rPr lang="en-US" altLang="zh-CN" dirty="0" err="1">
                <a:solidFill>
                  <a:srgbClr val="0000FF"/>
                </a:solidFill>
                <a:latin typeface="Consolas" panose="020B0609020204030204" pitchFamily="49" charset="0"/>
                <a:ea typeface="新宋体"/>
                <a:cs typeface="Consolas" panose="020B0609020204030204" pitchFamily="49" charset="0"/>
              </a:rPr>
              <a:t>int</a:t>
            </a:r>
            <a:r>
              <a:rPr lang="en-US" altLang="zh-CN" dirty="0">
                <a:solidFill>
                  <a:srgbClr val="000000"/>
                </a:solidFill>
                <a:latin typeface="Consolas" panose="020B0609020204030204" pitchFamily="49" charset="0"/>
                <a:ea typeface="新宋体"/>
                <a:cs typeface="Consolas" panose="020B0609020204030204" pitchFamily="49" charset="0"/>
              </a:rPr>
              <a:t> main()</a:t>
            </a:r>
          </a:p>
          <a:p>
            <a:r>
              <a:rPr lang="en-US" altLang="zh-CN" dirty="0">
                <a:solidFill>
                  <a:srgbClr val="000000"/>
                </a:solidFill>
                <a:latin typeface="Consolas" panose="020B0609020204030204" pitchFamily="49" charset="0"/>
                <a:ea typeface="新宋体"/>
                <a:cs typeface="Consolas" panose="020B0609020204030204" pitchFamily="49" charset="0"/>
              </a:rPr>
              <a:t>{  ……</a:t>
            </a:r>
          </a:p>
          <a:p>
            <a:pPr marL="355600"/>
            <a:r>
              <a:rPr lang="en-US" altLang="zh-CN" dirty="0">
                <a:solidFill>
                  <a:srgbClr val="000000"/>
                </a:solidFill>
                <a:latin typeface="Consolas" panose="020B0609020204030204" pitchFamily="49" charset="0"/>
                <a:ea typeface="新宋体"/>
                <a:cs typeface="Consolas" panose="020B0609020204030204" pitchFamily="49" charset="0"/>
              </a:rPr>
              <a:t>……</a:t>
            </a:r>
          </a:p>
          <a:p>
            <a:pPr marL="355600"/>
            <a:r>
              <a:rPr lang="en-US" altLang="zh-CN" dirty="0">
                <a:solidFill>
                  <a:srgbClr val="0000FF"/>
                </a:solidFill>
                <a:latin typeface="Consolas" panose="020B0609020204030204" pitchFamily="49" charset="0"/>
                <a:ea typeface="新宋体"/>
                <a:cs typeface="Consolas" panose="020B0609020204030204" pitchFamily="49" charset="0"/>
              </a:rPr>
              <a:t>return</a:t>
            </a:r>
            <a:r>
              <a:rPr lang="en-US" altLang="zh-CN" dirty="0">
                <a:solidFill>
                  <a:srgbClr val="000000"/>
                </a:solidFill>
                <a:latin typeface="Consolas" panose="020B0609020204030204" pitchFamily="49" charset="0"/>
                <a:ea typeface="新宋体"/>
                <a:cs typeface="Consolas" panose="020B0609020204030204" pitchFamily="49" charset="0"/>
              </a:rPr>
              <a:t> 0;</a:t>
            </a:r>
          </a:p>
          <a:p>
            <a:r>
              <a:rPr lang="en-US" altLang="zh-CN" dirty="0">
                <a:solidFill>
                  <a:srgbClr val="000000"/>
                </a:solidFill>
                <a:latin typeface="Consolas" panose="020B0609020204030204" pitchFamily="49" charset="0"/>
                <a:ea typeface="新宋体"/>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6" name="矩形 5"/>
          <p:cNvSpPr/>
          <p:nvPr/>
        </p:nvSpPr>
        <p:spPr>
          <a:xfrm>
            <a:off x="5580112" y="6237312"/>
            <a:ext cx="1601721" cy="400110"/>
          </a:xfrm>
          <a:prstGeom prst="rect">
            <a:avLst/>
          </a:prstGeom>
          <a:solidFill>
            <a:schemeClr val="accent3">
              <a:lumMod val="40000"/>
              <a:lumOff val="60000"/>
            </a:schemeClr>
          </a:solidFill>
        </p:spPr>
        <p:txBody>
          <a:bodyPr wrap="none">
            <a:spAutoFit/>
          </a:bodyPr>
          <a:lstStyle/>
          <a:p>
            <a:r>
              <a:rPr lang="zh-CN" altLang="en-US" sz="2000" dirty="0"/>
              <a:t>析构</a:t>
            </a:r>
            <a:r>
              <a:rPr lang="en-US" altLang="zh-CN" sz="2000" dirty="0" err="1"/>
              <a:t>p1</a:t>
            </a:r>
            <a:r>
              <a:rPr lang="en-US" altLang="zh-CN" sz="2000" dirty="0"/>
              <a:t> , </a:t>
            </a:r>
            <a:r>
              <a:rPr lang="en-US" altLang="zh-CN" sz="2000" dirty="0" err="1"/>
              <a:t>p2</a:t>
            </a:r>
            <a:r>
              <a:rPr lang="en-US" altLang="zh-CN" sz="2000" dirty="0"/>
              <a:t>   </a:t>
            </a:r>
            <a:endParaRPr lang="zh-CN" altLang="en-US" sz="2000" dirty="0"/>
          </a:p>
        </p:txBody>
      </p:sp>
    </p:spTree>
    <p:extLst>
      <p:ext uri="{BB962C8B-B14F-4D97-AF65-F5344CB8AC3E}">
        <p14:creationId xmlns:p14="http://schemas.microsoft.com/office/powerpoint/2010/main" val="13233290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3"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16632"/>
            <a:ext cx="6840760" cy="5816977"/>
          </a:xfrm>
          <a:prstGeom prst="rect">
            <a:avLst/>
          </a:prstGeom>
          <a:solidFill>
            <a:schemeClr val="bg1"/>
          </a:solidFill>
          <a:ln>
            <a:solidFill>
              <a:schemeClr val="accent1">
                <a:shade val="50000"/>
              </a:schemeClr>
            </a:solidFill>
          </a:ln>
        </p:spPr>
        <p:txBody>
          <a:bodyPr wrap="square">
            <a:spAutoFit/>
          </a:bodyPr>
          <a:lstStyle/>
          <a:p>
            <a:r>
              <a:rPr lang="en-US" altLang="zh-CN" sz="1600" dirty="0">
                <a:solidFill>
                  <a:srgbClr val="808080"/>
                </a:solidFill>
                <a:highlight>
                  <a:srgbClr val="FFFFFF"/>
                </a:highlight>
                <a:latin typeface="Consolas" panose="020B0609020204030204" pitchFamily="49" charset="0"/>
                <a:ea typeface="新宋体"/>
                <a:cs typeface="Consolas" panose="020B0609020204030204" pitchFamily="49" charset="0"/>
              </a:rPr>
              <a:t>#include</a:t>
            </a:r>
            <a:r>
              <a:rPr lang="en-US" altLang="zh-CN" sz="16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1600" dirty="0">
                <a:solidFill>
                  <a:srgbClr val="A31515"/>
                </a:solidFill>
                <a:highlight>
                  <a:srgbClr val="FFFFFF"/>
                </a:highlight>
                <a:latin typeface="Consolas" panose="020B0609020204030204" pitchFamily="49" charset="0"/>
                <a:ea typeface="新宋体"/>
                <a:cs typeface="Consolas" panose="020B0609020204030204" pitchFamily="49" charset="0"/>
              </a:rPr>
              <a:t>&lt;</a:t>
            </a:r>
            <a:r>
              <a:rPr lang="en-US" altLang="zh-CN" sz="1600" dirty="0" err="1">
                <a:solidFill>
                  <a:srgbClr val="A31515"/>
                </a:solidFill>
                <a:highlight>
                  <a:srgbClr val="FFFFFF"/>
                </a:highlight>
                <a:latin typeface="Consolas" panose="020B0609020204030204" pitchFamily="49" charset="0"/>
                <a:ea typeface="新宋体"/>
                <a:cs typeface="Consolas" panose="020B0609020204030204" pitchFamily="49" charset="0"/>
              </a:rPr>
              <a:t>iostream</a:t>
            </a:r>
            <a:r>
              <a:rPr lang="en-US" altLang="zh-CN" sz="1600" dirty="0">
                <a:solidFill>
                  <a:srgbClr val="A31515"/>
                </a:solidFill>
                <a:highlight>
                  <a:srgbClr val="FFFFFF"/>
                </a:highlight>
                <a:latin typeface="Consolas" panose="020B0609020204030204" pitchFamily="49" charset="0"/>
                <a:ea typeface="新宋体"/>
                <a:cs typeface="Consolas" panose="020B0609020204030204" pitchFamily="49" charset="0"/>
              </a:rPr>
              <a:t>&gt;</a:t>
            </a:r>
            <a:endParaRPr lang="en-US" altLang="zh-CN" sz="1600" dirty="0">
              <a:solidFill>
                <a:srgbClr val="000000"/>
              </a:solidFill>
              <a:highlight>
                <a:srgbClr val="FFFFFF"/>
              </a:highlight>
              <a:latin typeface="Consolas" panose="020B0609020204030204" pitchFamily="49" charset="0"/>
              <a:ea typeface="新宋体"/>
              <a:cs typeface="Consolas" panose="020B0609020204030204" pitchFamily="49" charset="0"/>
            </a:endParaRPr>
          </a:p>
          <a:p>
            <a:r>
              <a:rPr lang="en-US" altLang="zh-CN" sz="1600" dirty="0">
                <a:solidFill>
                  <a:srgbClr val="0000FF"/>
                </a:solidFill>
                <a:highlight>
                  <a:srgbClr val="FFFFFF"/>
                </a:highlight>
                <a:latin typeface="Consolas" panose="020B0609020204030204" pitchFamily="49" charset="0"/>
                <a:ea typeface="新宋体"/>
                <a:cs typeface="Consolas" panose="020B0609020204030204" pitchFamily="49" charset="0"/>
              </a:rPr>
              <a:t>using</a:t>
            </a:r>
            <a:r>
              <a:rPr lang="en-US" altLang="zh-CN" sz="16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1600" dirty="0">
                <a:solidFill>
                  <a:srgbClr val="0000FF"/>
                </a:solidFill>
                <a:highlight>
                  <a:srgbClr val="FFFFFF"/>
                </a:highlight>
                <a:latin typeface="Consolas" panose="020B0609020204030204" pitchFamily="49" charset="0"/>
                <a:ea typeface="新宋体"/>
                <a:cs typeface="Consolas" panose="020B0609020204030204" pitchFamily="49" charset="0"/>
              </a:rPr>
              <a:t>namespace</a:t>
            </a:r>
            <a:r>
              <a:rPr lang="en-US" altLang="zh-CN" sz="16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ea typeface="新宋体"/>
                <a:cs typeface="Consolas" panose="020B0609020204030204" pitchFamily="49" charset="0"/>
              </a:rPr>
              <a:t>std</a:t>
            </a:r>
            <a:r>
              <a:rPr lang="en-US" altLang="zh-CN" sz="1600" dirty="0">
                <a:solidFill>
                  <a:srgbClr val="000000"/>
                </a:solidFill>
                <a:highlight>
                  <a:srgbClr val="FFFFFF"/>
                </a:highlight>
                <a:latin typeface="Consolas" panose="020B0609020204030204" pitchFamily="49" charset="0"/>
                <a:ea typeface="新宋体"/>
                <a:cs typeface="Consolas" panose="020B0609020204030204" pitchFamily="49" charset="0"/>
              </a:rPr>
              <a:t>;</a:t>
            </a:r>
          </a:p>
          <a:p>
            <a:r>
              <a:rPr lang="en-US" altLang="zh-CN" sz="2000" dirty="0">
                <a:solidFill>
                  <a:srgbClr val="0000FF"/>
                </a:solidFill>
                <a:highlight>
                  <a:srgbClr val="FFFFFF"/>
                </a:highlight>
                <a:latin typeface="Consolas" panose="020B0609020204030204" pitchFamily="49" charset="0"/>
                <a:ea typeface="新宋体"/>
                <a:cs typeface="Consolas" panose="020B0609020204030204" pitchFamily="49" charset="0"/>
              </a:rPr>
              <a:t>class</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a:solidFill>
                  <a:srgbClr val="2B91AF"/>
                </a:solidFill>
                <a:highlight>
                  <a:srgbClr val="FFFFFF"/>
                </a:highlight>
                <a:latin typeface="Consolas" panose="020B0609020204030204" pitchFamily="49" charset="0"/>
                <a:ea typeface="新宋体"/>
                <a:cs typeface="Consolas" panose="020B0609020204030204" pitchFamily="49" charset="0"/>
              </a:rPr>
              <a:t>A</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p>
          <a:p>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r>
              <a:rPr lang="en-US" altLang="zh-CN" sz="2000" dirty="0">
                <a:solidFill>
                  <a:srgbClr val="0000FF"/>
                </a:solidFill>
                <a:highlight>
                  <a:srgbClr val="FFFFFF"/>
                </a:highlight>
                <a:latin typeface="Consolas" panose="020B0609020204030204" pitchFamily="49" charset="0"/>
                <a:ea typeface="新宋体"/>
                <a:cs typeface="Consolas" panose="020B0609020204030204" pitchFamily="49" charset="0"/>
              </a:rPr>
              <a:t>private</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p>
          <a:p>
            <a:r>
              <a:rPr lang="en-US" altLang="zh-CN" sz="2000" dirty="0">
                <a:solidFill>
                  <a:srgbClr val="0000FF"/>
                </a:solidFill>
                <a:highlight>
                  <a:srgbClr val="FFFFFF"/>
                </a:highlight>
                <a:latin typeface="Consolas" panose="020B0609020204030204" pitchFamily="49" charset="0"/>
                <a:ea typeface="新宋体"/>
                <a:cs typeface="Consolas" panose="020B0609020204030204" pitchFamily="49" charset="0"/>
              </a:rPr>
              <a:t>   </a:t>
            </a:r>
            <a:r>
              <a:rPr lang="en-US" altLang="zh-CN" sz="2000" dirty="0" err="1">
                <a:solidFill>
                  <a:srgbClr val="0000FF"/>
                </a:solidFill>
                <a:highlight>
                  <a:srgbClr val="FFFFFF"/>
                </a:highlight>
                <a:latin typeface="Consolas" panose="020B0609020204030204" pitchFamily="49" charset="0"/>
                <a:ea typeface="新宋体"/>
                <a:cs typeface="Consolas" panose="020B0609020204030204" pitchFamily="49" charset="0"/>
              </a:rPr>
              <a:t>int</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err="1">
                <a:solidFill>
                  <a:srgbClr val="000000"/>
                </a:solidFill>
                <a:highlight>
                  <a:srgbClr val="FFFFFF"/>
                </a:highlight>
                <a:latin typeface="Consolas" panose="020B0609020204030204" pitchFamily="49" charset="0"/>
                <a:ea typeface="新宋体"/>
                <a:cs typeface="Consolas" panose="020B0609020204030204" pitchFamily="49" charset="0"/>
              </a:rPr>
              <a:t>i</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p>
          <a:p>
            <a:r>
              <a:rPr lang="en-US" altLang="zh-CN" sz="2000" dirty="0">
                <a:solidFill>
                  <a:srgbClr val="0000FF"/>
                </a:solidFill>
                <a:highlight>
                  <a:srgbClr val="FFFFFF"/>
                </a:highlight>
                <a:latin typeface="Consolas" panose="020B0609020204030204" pitchFamily="49" charset="0"/>
                <a:ea typeface="新宋体"/>
                <a:cs typeface="Consolas" panose="020B0609020204030204" pitchFamily="49" charset="0"/>
              </a:rPr>
              <a:t>public</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p>
          <a:p>
            <a:pPr marL="365125"/>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a:t>
            </a:r>
            <a:r>
              <a:rPr lang="en-US" altLang="zh-CN" sz="2000" dirty="0" err="1">
                <a:solidFill>
                  <a:srgbClr val="0000FF"/>
                </a:solidFill>
                <a:highlight>
                  <a:srgbClr val="FFFFFF"/>
                </a:highlight>
                <a:latin typeface="Consolas" panose="020B0609020204030204" pitchFamily="49" charset="0"/>
                <a:ea typeface="新宋体"/>
                <a:cs typeface="Consolas" panose="020B0609020204030204" pitchFamily="49" charset="0"/>
              </a:rPr>
              <a:t>int</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a:solidFill>
                  <a:srgbClr val="808080"/>
                </a:solidFill>
                <a:highlight>
                  <a:srgbClr val="FFFFFF"/>
                </a:highlight>
                <a:latin typeface="Consolas" panose="020B0609020204030204" pitchFamily="49" charset="0"/>
                <a:ea typeface="新宋体"/>
                <a:cs typeface="Consolas" panose="020B0609020204030204" pitchFamily="49" charset="0"/>
              </a:rPr>
              <a:t>x</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p>
          <a:p>
            <a:pPr marL="365125"/>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err="1">
                <a:solidFill>
                  <a:srgbClr val="000000"/>
                </a:solidFill>
                <a:highlight>
                  <a:srgbClr val="FFFFFF"/>
                </a:highlight>
                <a:latin typeface="Consolas" panose="020B0609020204030204" pitchFamily="49" charset="0"/>
                <a:ea typeface="新宋体"/>
                <a:cs typeface="Consolas" panose="020B0609020204030204" pitchFamily="49" charset="0"/>
              </a:rPr>
              <a:t>i</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 </a:t>
            </a:r>
            <a:r>
              <a:rPr lang="en-US" altLang="zh-CN" sz="2000" dirty="0">
                <a:solidFill>
                  <a:srgbClr val="808080"/>
                </a:solidFill>
                <a:highlight>
                  <a:srgbClr val="FFFFFF"/>
                </a:highlight>
                <a:latin typeface="Consolas" panose="020B0609020204030204" pitchFamily="49" charset="0"/>
                <a:ea typeface="新宋体"/>
                <a:cs typeface="Consolas" panose="020B0609020204030204" pitchFamily="49" charset="0"/>
              </a:rPr>
              <a:t>x</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p>
          <a:p>
            <a:pPr marL="365125"/>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err="1">
                <a:solidFill>
                  <a:srgbClr val="000000"/>
                </a:solidFill>
                <a:highlight>
                  <a:srgbClr val="FFFFFF"/>
                </a:highlight>
                <a:latin typeface="Consolas" panose="020B0609020204030204" pitchFamily="49" charset="0"/>
                <a:ea typeface="新宋体"/>
                <a:cs typeface="Consolas" panose="020B0609020204030204" pitchFamily="49" charset="0"/>
              </a:rPr>
              <a:t>cout</a:t>
            </a:r>
            <a:r>
              <a:rPr lang="en-US"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en-US" altLang="zh-CN" sz="2000" dirty="0">
                <a:solidFill>
                  <a:srgbClr val="A31515"/>
                </a:solidFill>
                <a:highlight>
                  <a:srgbClr val="FFFFFF"/>
                </a:highlight>
                <a:latin typeface="Consolas" panose="020B0609020204030204" pitchFamily="49" charset="0"/>
                <a:ea typeface="新宋体"/>
                <a:cs typeface="Consolas" panose="020B0609020204030204" pitchFamily="49" charset="0"/>
              </a:rPr>
              <a:t>"constructor: "</a:t>
            </a:r>
            <a:r>
              <a:rPr lang="en-US"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en-US" altLang="zh-CN" sz="2000" dirty="0" err="1">
                <a:solidFill>
                  <a:srgbClr val="000000"/>
                </a:solidFill>
                <a:highlight>
                  <a:srgbClr val="FFFFFF"/>
                </a:highlight>
                <a:latin typeface="Consolas" panose="020B0609020204030204" pitchFamily="49" charset="0"/>
                <a:ea typeface="新宋体"/>
                <a:cs typeface="Consolas" panose="020B0609020204030204" pitchFamily="49" charset="0"/>
              </a:rPr>
              <a:t>i</a:t>
            </a:r>
            <a:r>
              <a:rPr lang="en-US"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en-US" altLang="zh-CN" sz="2000" dirty="0" err="1">
                <a:solidFill>
                  <a:srgbClr val="000000"/>
                </a:solidFill>
                <a:highlight>
                  <a:srgbClr val="FFFFFF"/>
                </a:highlight>
                <a:latin typeface="Consolas" panose="020B0609020204030204" pitchFamily="49" charset="0"/>
                <a:ea typeface="新宋体"/>
                <a:cs typeface="Consolas" panose="020B0609020204030204" pitchFamily="49" charset="0"/>
              </a:rPr>
              <a:t>endl</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p>
          <a:p>
            <a:pPr marL="365125"/>
            <a:r>
              <a:rPr lang="fr-FR"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a:t>
            </a:r>
          </a:p>
          <a:p>
            <a:pPr marL="365125"/>
            <a:r>
              <a:rPr lang="fr-FR"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cout</a:t>
            </a:r>
            <a:r>
              <a:rPr lang="fr-FR"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fr-FR" altLang="zh-CN" sz="2000" dirty="0">
                <a:solidFill>
                  <a:srgbClr val="A31515"/>
                </a:solidFill>
                <a:highlight>
                  <a:srgbClr val="FFFFFF"/>
                </a:highlight>
                <a:latin typeface="Consolas" panose="020B0609020204030204" pitchFamily="49" charset="0"/>
                <a:ea typeface="新宋体"/>
                <a:cs typeface="Consolas" panose="020B0609020204030204" pitchFamily="49" charset="0"/>
              </a:rPr>
              <a:t>"destructor : "</a:t>
            </a:r>
            <a:r>
              <a:rPr lang="fr-FR"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fr-FR"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i</a:t>
            </a:r>
            <a:r>
              <a:rPr lang="fr-FR" altLang="zh-CN" sz="2000" dirty="0">
                <a:solidFill>
                  <a:srgbClr val="008080"/>
                </a:solidFill>
                <a:highlight>
                  <a:srgbClr val="FFFFFF"/>
                </a:highlight>
                <a:latin typeface="Consolas" panose="020B0609020204030204" pitchFamily="49" charset="0"/>
                <a:ea typeface="新宋体"/>
                <a:cs typeface="Consolas" panose="020B0609020204030204" pitchFamily="49" charset="0"/>
              </a:rPr>
              <a:t>&lt;&lt;</a:t>
            </a:r>
            <a:r>
              <a:rPr lang="fr-FR"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endl; }</a:t>
            </a:r>
          </a:p>
          <a:p>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p>
          <a:p>
            <a:r>
              <a:rPr lang="en-US" altLang="zh-CN" sz="2000" dirty="0" err="1">
                <a:solidFill>
                  <a:srgbClr val="0000FF"/>
                </a:solidFill>
                <a:highlight>
                  <a:srgbClr val="FFFFFF"/>
                </a:highlight>
                <a:latin typeface="Consolas" panose="020B0609020204030204" pitchFamily="49" charset="0"/>
                <a:ea typeface="新宋体"/>
                <a:cs typeface="Consolas" panose="020B0609020204030204" pitchFamily="49" charset="0"/>
              </a:rPr>
              <a:t>int</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main() </a:t>
            </a:r>
          </a:p>
          <a:p>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t>
            </a:r>
            <a:r>
              <a:rPr lang="en-US" altLang="zh-CN" sz="2000" dirty="0">
                <a:solidFill>
                  <a:srgbClr val="2B91AF"/>
                </a:solidFill>
                <a:highlight>
                  <a:srgbClr val="FFFFFF"/>
                </a:highlight>
                <a:latin typeface="Consolas" panose="020B0609020204030204" pitchFamily="49" charset="0"/>
                <a:ea typeface="新宋体"/>
                <a:cs typeface="Consolas" panose="020B0609020204030204" pitchFamily="49" charset="0"/>
              </a:rPr>
              <a:t>A</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a1(1);</a:t>
            </a:r>
          </a:p>
          <a:p>
            <a:pPr marL="365125"/>
            <a:r>
              <a:rPr lang="en-US" altLang="zh-CN" sz="2000" dirty="0">
                <a:solidFill>
                  <a:srgbClr val="2B91AF"/>
                </a:solidFill>
                <a:highlight>
                  <a:srgbClr val="FFFFFF"/>
                </a:highlight>
                <a:latin typeface="Consolas" panose="020B0609020204030204" pitchFamily="49" charset="0"/>
                <a:ea typeface="新宋体"/>
                <a:cs typeface="Consolas" panose="020B0609020204030204" pitchFamily="49" charset="0"/>
              </a:rPr>
              <a:t>A</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a2(2);</a:t>
            </a:r>
          </a:p>
          <a:p>
            <a:pPr marL="365125"/>
            <a:r>
              <a:rPr lang="en-US" altLang="zh-CN" sz="2000" dirty="0">
                <a:solidFill>
                  <a:srgbClr val="2B91AF"/>
                </a:solidFill>
                <a:highlight>
                  <a:srgbClr val="FFFFFF"/>
                </a:highlight>
                <a:latin typeface="Consolas" panose="020B0609020204030204" pitchFamily="49" charset="0"/>
                <a:ea typeface="新宋体"/>
                <a:cs typeface="Consolas" panose="020B0609020204030204" pitchFamily="49" charset="0"/>
              </a:rPr>
              <a:t>A</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a3(3);</a:t>
            </a:r>
          </a:p>
          <a:p>
            <a:pPr marL="365125"/>
            <a:r>
              <a:rPr lang="en-US" altLang="zh-CN" sz="2000" dirty="0">
                <a:solidFill>
                  <a:srgbClr val="2B91AF"/>
                </a:solidFill>
                <a:highlight>
                  <a:srgbClr val="FFFFFF"/>
                </a:highlight>
                <a:latin typeface="Consolas" panose="020B0609020204030204" pitchFamily="49" charset="0"/>
                <a:ea typeface="新宋体"/>
                <a:cs typeface="Consolas" panose="020B0609020204030204" pitchFamily="49" charset="0"/>
              </a:rPr>
              <a:t>A</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a4(4);</a:t>
            </a:r>
          </a:p>
          <a:p>
            <a:pPr marL="365125"/>
            <a:r>
              <a:rPr lang="en-US" altLang="zh-CN" sz="2000" dirty="0">
                <a:solidFill>
                  <a:srgbClr val="0000FF"/>
                </a:solidFill>
                <a:highlight>
                  <a:srgbClr val="FFFFFF"/>
                </a:highlight>
                <a:latin typeface="Consolas" panose="020B0609020204030204" pitchFamily="49" charset="0"/>
                <a:ea typeface="新宋体"/>
                <a:cs typeface="Consolas" panose="020B0609020204030204" pitchFamily="49" charset="0"/>
              </a:rPr>
              <a:t>return</a:t>
            </a:r>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 0;</a:t>
            </a:r>
          </a:p>
          <a:p>
            <a:r>
              <a:rPr lang="en-US" altLang="zh-CN" sz="2000" dirty="0">
                <a:solidFill>
                  <a:srgbClr val="000000"/>
                </a:solidFill>
                <a:highlight>
                  <a:srgbClr val="FFFFFF"/>
                </a:highlight>
                <a:latin typeface="Consolas" panose="020B0609020204030204" pitchFamily="49" charset="0"/>
                <a:ea typeface="新宋体"/>
                <a:cs typeface="Consolas" panose="020B0609020204030204" pitchFamily="49" charset="0"/>
              </a:rPr>
              <a:t>}</a:t>
            </a:r>
            <a:endParaRPr lang="zh-CN" altLang="en-US" sz="2000" dirty="0">
              <a:latin typeface="Consolas" panose="020B0609020204030204" pitchFamily="49" charset="0"/>
              <a:cs typeface="Consolas" panose="020B0609020204030204" pitchFamily="49" charset="0"/>
            </a:endParaRPr>
          </a:p>
        </p:txBody>
      </p:sp>
      <p:sp>
        <p:nvSpPr>
          <p:cNvPr id="70658" name="Rectangle 2"/>
          <p:cNvSpPr>
            <a:spLocks noChangeArrowheads="1"/>
          </p:cNvSpPr>
          <p:nvPr/>
        </p:nvSpPr>
        <p:spPr bwMode="auto">
          <a:xfrm>
            <a:off x="3059832" y="260648"/>
            <a:ext cx="5112568" cy="57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r>
              <a:rPr kumimoji="1" lang="en-US" altLang="zh-CN" sz="2400" b="1" dirty="0">
                <a:latin typeface="Times New Roman" pitchFamily="18" charset="0"/>
              </a:rPr>
              <a:t>【</a:t>
            </a:r>
            <a:r>
              <a:rPr kumimoji="1" lang="zh-CN" altLang="en-US" sz="2400" b="1" dirty="0">
                <a:latin typeface="Times New Roman" pitchFamily="18" charset="0"/>
              </a:rPr>
              <a:t>例</a:t>
            </a:r>
            <a:r>
              <a:rPr kumimoji="1" lang="en-US" altLang="zh-CN" sz="2400" b="1" dirty="0">
                <a:latin typeface="Times New Roman" pitchFamily="18" charset="0"/>
              </a:rPr>
              <a:t>】  </a:t>
            </a:r>
            <a:r>
              <a:rPr kumimoji="1" lang="zh-CN" altLang="en-US" sz="2400" b="1" dirty="0">
                <a:latin typeface="Times New Roman" pitchFamily="18" charset="0"/>
              </a:rPr>
              <a:t>析构函数和构造函数的应用</a:t>
            </a:r>
          </a:p>
        </p:txBody>
      </p:sp>
      <p:sp>
        <p:nvSpPr>
          <p:cNvPr id="6" name="矩形 5"/>
          <p:cNvSpPr>
            <a:spLocks noChangeArrowheads="1"/>
          </p:cNvSpPr>
          <p:nvPr/>
        </p:nvSpPr>
        <p:spPr bwMode="auto">
          <a:xfrm>
            <a:off x="6461869" y="2420888"/>
            <a:ext cx="2574628" cy="3046988"/>
          </a:xfrm>
          <a:prstGeom prst="rect">
            <a:avLst/>
          </a:prstGeom>
          <a:solidFill>
            <a:schemeClr val="tx1"/>
          </a:solidFill>
          <a:ln>
            <a:noFill/>
          </a:ln>
        </p:spPr>
        <p:txBody>
          <a:bodyPr wrap="square">
            <a:spAutoFit/>
          </a:bodyPr>
          <a:lstStyle>
            <a:lvl1pPr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eaLnBrk="1" hangingPunct="1">
              <a:spcBef>
                <a:spcPct val="0"/>
              </a:spcBef>
              <a:buClrTx/>
              <a:buSzTx/>
              <a:buFontTx/>
              <a:buNone/>
            </a:pPr>
            <a:r>
              <a:rPr lang="en-US" altLang="zh-CN" sz="2400" dirty="0">
                <a:solidFill>
                  <a:schemeClr val="bg1"/>
                </a:solidFill>
                <a:latin typeface="Times New Roman" pitchFamily="18" charset="0"/>
              </a:rPr>
              <a:t>constructor: 1</a:t>
            </a:r>
          </a:p>
          <a:p>
            <a:pPr eaLnBrk="1" hangingPunct="1">
              <a:spcBef>
                <a:spcPct val="0"/>
              </a:spcBef>
              <a:buClrTx/>
              <a:buSzTx/>
              <a:buFontTx/>
              <a:buNone/>
            </a:pPr>
            <a:r>
              <a:rPr lang="en-US" altLang="zh-CN" sz="2400" dirty="0">
                <a:solidFill>
                  <a:schemeClr val="bg1"/>
                </a:solidFill>
                <a:latin typeface="Times New Roman" pitchFamily="18" charset="0"/>
              </a:rPr>
              <a:t>constructor: 2</a:t>
            </a:r>
          </a:p>
          <a:p>
            <a:pPr eaLnBrk="1" hangingPunct="1">
              <a:spcBef>
                <a:spcPct val="0"/>
              </a:spcBef>
              <a:buClrTx/>
              <a:buSzTx/>
              <a:buFontTx/>
              <a:buNone/>
            </a:pPr>
            <a:r>
              <a:rPr lang="en-US" altLang="zh-CN" sz="2400" dirty="0">
                <a:solidFill>
                  <a:schemeClr val="bg1"/>
                </a:solidFill>
                <a:latin typeface="Times New Roman" pitchFamily="18" charset="0"/>
              </a:rPr>
              <a:t>constructor: 3</a:t>
            </a:r>
          </a:p>
          <a:p>
            <a:pPr eaLnBrk="1" hangingPunct="1">
              <a:spcBef>
                <a:spcPct val="0"/>
              </a:spcBef>
              <a:buClrTx/>
              <a:buSzTx/>
              <a:buFontTx/>
              <a:buNone/>
            </a:pPr>
            <a:r>
              <a:rPr lang="en-US" altLang="zh-CN" sz="2400" dirty="0">
                <a:solidFill>
                  <a:schemeClr val="bg1"/>
                </a:solidFill>
                <a:latin typeface="Times New Roman" pitchFamily="18" charset="0"/>
              </a:rPr>
              <a:t>constructor: 4</a:t>
            </a:r>
          </a:p>
          <a:p>
            <a:pPr eaLnBrk="1" hangingPunct="1">
              <a:spcBef>
                <a:spcPct val="0"/>
              </a:spcBef>
              <a:buClrTx/>
              <a:buSzTx/>
              <a:buFontTx/>
              <a:buNone/>
            </a:pPr>
            <a:r>
              <a:rPr lang="en-US" altLang="zh-CN" sz="2400" dirty="0">
                <a:solidFill>
                  <a:schemeClr val="bg1"/>
                </a:solidFill>
                <a:latin typeface="Times New Roman" pitchFamily="18" charset="0"/>
              </a:rPr>
              <a:t>destructor : 4</a:t>
            </a:r>
          </a:p>
          <a:p>
            <a:pPr eaLnBrk="1" hangingPunct="1">
              <a:spcBef>
                <a:spcPct val="0"/>
              </a:spcBef>
              <a:buClrTx/>
              <a:buSzTx/>
              <a:buFontTx/>
              <a:buNone/>
            </a:pPr>
            <a:r>
              <a:rPr lang="en-US" altLang="zh-CN" sz="2400" dirty="0">
                <a:solidFill>
                  <a:schemeClr val="bg1"/>
                </a:solidFill>
                <a:latin typeface="Times New Roman" pitchFamily="18" charset="0"/>
              </a:rPr>
              <a:t>destructor : 3</a:t>
            </a:r>
          </a:p>
          <a:p>
            <a:pPr eaLnBrk="1" hangingPunct="1">
              <a:spcBef>
                <a:spcPct val="0"/>
              </a:spcBef>
              <a:buClrTx/>
              <a:buSzTx/>
              <a:buFontTx/>
              <a:buNone/>
            </a:pPr>
            <a:r>
              <a:rPr lang="en-US" altLang="zh-CN" sz="2400" dirty="0">
                <a:solidFill>
                  <a:schemeClr val="bg1"/>
                </a:solidFill>
                <a:latin typeface="Times New Roman" pitchFamily="18" charset="0"/>
              </a:rPr>
              <a:t>destructor : 2</a:t>
            </a:r>
          </a:p>
          <a:p>
            <a:pPr eaLnBrk="1" hangingPunct="1">
              <a:spcBef>
                <a:spcPct val="0"/>
              </a:spcBef>
              <a:buClrTx/>
              <a:buSzTx/>
              <a:buFontTx/>
              <a:buNone/>
            </a:pPr>
            <a:r>
              <a:rPr lang="en-US" altLang="zh-CN" sz="2400" dirty="0">
                <a:solidFill>
                  <a:schemeClr val="bg1"/>
                </a:solidFill>
                <a:latin typeface="Times New Roman" pitchFamily="18" charset="0"/>
              </a:rPr>
              <a:t>destructor : 1</a:t>
            </a:r>
          </a:p>
        </p:txBody>
      </p:sp>
    </p:spTree>
    <p:extLst>
      <p:ext uri="{BB962C8B-B14F-4D97-AF65-F5344CB8AC3E}">
        <p14:creationId xmlns:p14="http://schemas.microsoft.com/office/powerpoint/2010/main" val="7068834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683568" y="476672"/>
            <a:ext cx="7772400" cy="5616624"/>
          </a:xfrm>
        </p:spPr>
        <p:txBody>
          <a:bodyPr>
            <a:noAutofit/>
          </a:bodyPr>
          <a:lstStyle/>
          <a:p>
            <a:pPr eaLnBrk="1" hangingPunct="1">
              <a:lnSpc>
                <a:spcPts val="2500"/>
              </a:lnSpc>
              <a:buFontTx/>
              <a:buNone/>
            </a:pPr>
            <a:r>
              <a:rPr lang="en-US" altLang="zh-CN" sz="2800" b="1" dirty="0"/>
              <a:t>5</a:t>
            </a:r>
            <a:r>
              <a:rPr lang="zh-CN" altLang="en-US" sz="2800" b="1" dirty="0"/>
              <a:t>、使用析构说明</a:t>
            </a:r>
            <a:endParaRPr lang="en-US" altLang="zh-CN" sz="2800" b="1" dirty="0"/>
          </a:p>
          <a:p>
            <a:pPr eaLnBrk="1" hangingPunct="1">
              <a:lnSpc>
                <a:spcPts val="2500"/>
              </a:lnSpc>
              <a:buFontTx/>
              <a:buNone/>
            </a:pPr>
            <a:endParaRPr lang="zh-CN" altLang="en-US" sz="2800" b="1" dirty="0">
              <a:solidFill>
                <a:srgbClr val="FF3300"/>
              </a:solidFill>
            </a:endParaRPr>
          </a:p>
          <a:p>
            <a:pPr eaLnBrk="1" hangingPunct="1">
              <a:buFontTx/>
              <a:buNone/>
            </a:pPr>
            <a:r>
              <a:rPr lang="zh-CN" altLang="en-US" sz="2000" b="1" dirty="0"/>
              <a:t>① </a:t>
            </a:r>
            <a:r>
              <a:rPr lang="zh-CN" altLang="en-US" sz="2400" dirty="0"/>
              <a:t>若有多个对象同时结束生存期，</a:t>
            </a:r>
            <a:r>
              <a:rPr lang="en-US" altLang="zh-CN" sz="2400" dirty="0"/>
              <a:t>C++</a:t>
            </a:r>
            <a:r>
              <a:rPr lang="zh-CN" altLang="en-US" sz="2400" dirty="0"/>
              <a:t>将按照与调用构造函数相反的次序调用析构函数。</a:t>
            </a:r>
            <a:endParaRPr lang="en-US" altLang="zh-CN" sz="2400" dirty="0"/>
          </a:p>
          <a:p>
            <a:pPr eaLnBrk="1" hangingPunct="1">
              <a:buFontTx/>
              <a:buNone/>
            </a:pPr>
            <a:endParaRPr lang="en-US" altLang="zh-CN" sz="2400" dirty="0"/>
          </a:p>
          <a:p>
            <a:pPr eaLnBrk="1" hangingPunct="1">
              <a:buFontTx/>
              <a:buNone/>
            </a:pPr>
            <a:r>
              <a:rPr lang="zh-CN" altLang="en-US" sz="2400" dirty="0"/>
              <a:t> </a:t>
            </a:r>
            <a:r>
              <a:rPr lang="zh-CN" altLang="en-US" sz="2400" dirty="0">
                <a:solidFill>
                  <a:schemeClr val="accent2"/>
                </a:solidFill>
              </a:rPr>
              <a:t>② 每个类都应该有一个析构函数，如果没有显式定义析构函数。</a:t>
            </a:r>
            <a:r>
              <a:rPr lang="en-US" altLang="zh-CN" sz="2400" dirty="0">
                <a:solidFill>
                  <a:schemeClr val="accent2"/>
                </a:solidFill>
              </a:rPr>
              <a:t>C++</a:t>
            </a:r>
            <a:r>
              <a:rPr lang="zh-CN" altLang="en-US" sz="2400" dirty="0">
                <a:solidFill>
                  <a:schemeClr val="accent2"/>
                </a:solidFill>
              </a:rPr>
              <a:t>将产生一个最小化的默认析构函数。</a:t>
            </a:r>
            <a:endParaRPr lang="en-US" altLang="zh-CN" sz="2400" dirty="0">
              <a:solidFill>
                <a:schemeClr val="accent2"/>
              </a:solidFill>
            </a:endParaRPr>
          </a:p>
          <a:p>
            <a:pPr eaLnBrk="1" hangingPunct="1">
              <a:buFontTx/>
              <a:buNone/>
            </a:pPr>
            <a:endParaRPr lang="zh-CN" altLang="en-US" sz="2400" dirty="0">
              <a:solidFill>
                <a:schemeClr val="accent2"/>
              </a:solidFill>
            </a:endParaRPr>
          </a:p>
          <a:p>
            <a:pPr eaLnBrk="1" hangingPunct="1">
              <a:buFontTx/>
              <a:buNone/>
            </a:pPr>
            <a:r>
              <a:rPr lang="zh-CN" altLang="en-US" sz="2400" dirty="0"/>
              <a:t>③ 构造函数和析构函数都可以是</a:t>
            </a:r>
            <a:r>
              <a:rPr lang="en-US" altLang="zh-CN" sz="2400" dirty="0"/>
              <a:t>inline</a:t>
            </a:r>
            <a:r>
              <a:rPr lang="zh-CN" altLang="en-US" sz="2400" dirty="0"/>
              <a:t>函数</a:t>
            </a:r>
            <a:endParaRPr lang="en-US" altLang="zh-CN" sz="2400" dirty="0"/>
          </a:p>
          <a:p>
            <a:pPr eaLnBrk="1" hangingPunct="1">
              <a:buFontTx/>
              <a:buNone/>
            </a:pPr>
            <a:endParaRPr lang="zh-CN" altLang="en-US" sz="2400" dirty="0"/>
          </a:p>
          <a:p>
            <a:pPr eaLnBrk="1" hangingPunct="1">
              <a:buFontTx/>
              <a:buNone/>
            </a:pPr>
            <a:r>
              <a:rPr lang="zh-CN" altLang="en-US" sz="2400" dirty="0">
                <a:solidFill>
                  <a:schemeClr val="accent2"/>
                </a:solidFill>
              </a:rPr>
              <a:t>④ 在通常情况下，析构函数与构造函数都应该被设置为类的公有成员，虽然它们都只能被系统自动调用的，但这些调用都是在类的外部进行的。</a:t>
            </a:r>
          </a:p>
        </p:txBody>
      </p:sp>
    </p:spTree>
    <p:extLst>
      <p:ext uri="{BB962C8B-B14F-4D97-AF65-F5344CB8AC3E}">
        <p14:creationId xmlns:p14="http://schemas.microsoft.com/office/powerpoint/2010/main" val="31766576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024" y="620688"/>
            <a:ext cx="2915816" cy="5909310"/>
          </a:xfrm>
          <a:prstGeom prst="rect">
            <a:avLst/>
          </a:prstGeom>
          <a:solidFill>
            <a:schemeClr val="bg1"/>
          </a:solidFill>
          <a:ln>
            <a:solidFill>
              <a:schemeClr val="accent1">
                <a:shade val="50000"/>
              </a:schemeClr>
            </a:solidFill>
          </a:ln>
        </p:spPr>
        <p:txBody>
          <a:bodyPr wrap="square">
            <a:spAutoFit/>
          </a:bodyPr>
          <a:lstStyle/>
          <a:p>
            <a:r>
              <a:rPr lang="en-US" altLang="zh-CN" dirty="0">
                <a:solidFill>
                  <a:srgbClr val="808080"/>
                </a:solidFill>
                <a:highlight>
                  <a:srgbClr val="FFFFFF"/>
                </a:highlight>
                <a:latin typeface="新宋体"/>
                <a:ea typeface="新宋体"/>
              </a:rPr>
              <a:t>#include</a:t>
            </a:r>
            <a:r>
              <a:rPr lang="en-US" altLang="zh-CN" dirty="0">
                <a:solidFill>
                  <a:srgbClr val="000000"/>
                </a:solidFill>
                <a:highlight>
                  <a:srgbClr val="FFFFFF"/>
                </a:highlight>
                <a:latin typeface="新宋体"/>
                <a:ea typeface="新宋体"/>
              </a:rPr>
              <a:t> </a:t>
            </a:r>
            <a:r>
              <a:rPr lang="en-US" altLang="zh-CN" dirty="0">
                <a:solidFill>
                  <a:srgbClr val="A31515"/>
                </a:solidFill>
                <a:highlight>
                  <a:srgbClr val="FFFFFF"/>
                </a:highlight>
                <a:latin typeface="新宋体"/>
                <a:ea typeface="新宋体"/>
              </a:rPr>
              <a:t>&lt;</a:t>
            </a:r>
            <a:r>
              <a:rPr lang="en-US" altLang="zh-CN" dirty="0" err="1">
                <a:solidFill>
                  <a:srgbClr val="A31515"/>
                </a:solidFill>
                <a:highlight>
                  <a:srgbClr val="FFFFFF"/>
                </a:highlight>
                <a:latin typeface="新宋体"/>
                <a:ea typeface="新宋体"/>
              </a:rPr>
              <a:t>iostream</a:t>
            </a:r>
            <a:r>
              <a:rPr lang="en-US" altLang="zh-CN" dirty="0">
                <a:solidFill>
                  <a:srgbClr val="A31515"/>
                </a:solidFill>
                <a:highlight>
                  <a:srgbClr val="FFFFFF"/>
                </a:highlight>
                <a:latin typeface="新宋体"/>
                <a:ea typeface="新宋体"/>
              </a:rPr>
              <a:t>&gt;</a:t>
            </a:r>
            <a:endParaRPr lang="en-US" altLang="zh-CN"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using</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namespace</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std</a:t>
            </a:r>
            <a:r>
              <a:rPr lang="en-US" altLang="zh-CN" dirty="0">
                <a:solidFill>
                  <a:srgbClr val="000000"/>
                </a:solidFill>
                <a:highlight>
                  <a:srgbClr val="FFFFFF"/>
                </a:highlight>
                <a:latin typeface="新宋体"/>
                <a:ea typeface="新宋体"/>
              </a:rPr>
              <a:t>;</a:t>
            </a:r>
            <a:endParaRPr lang="en-US" altLang="zh-CN" sz="2000"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class</a:t>
            </a:r>
            <a:r>
              <a:rPr lang="en-US" altLang="zh-CN" dirty="0">
                <a:solidFill>
                  <a:srgbClr val="000000"/>
                </a:solidFill>
                <a:highlight>
                  <a:srgbClr val="FFFFFF"/>
                </a:highlight>
                <a:latin typeface="新宋体"/>
                <a:ea typeface="新宋体"/>
              </a:rPr>
              <a:t> </a:t>
            </a:r>
            <a:r>
              <a:rPr lang="en-US" altLang="zh-CN" dirty="0">
                <a:solidFill>
                  <a:srgbClr val="2B91AF"/>
                </a:solidFill>
                <a:highlight>
                  <a:srgbClr val="FFFFFF"/>
                </a:highlight>
                <a:latin typeface="新宋体"/>
                <a:ea typeface="新宋体"/>
              </a:rPr>
              <a:t>B</a:t>
            </a:r>
            <a:r>
              <a:rPr lang="en-US" altLang="zh-CN" dirty="0">
                <a:solidFill>
                  <a:srgbClr val="000000"/>
                </a:solidFill>
                <a:highlight>
                  <a:srgbClr val="FFFFFF"/>
                </a:highlight>
                <a:latin typeface="新宋体"/>
                <a:ea typeface="新宋体"/>
              </a:rPr>
              <a:t> </a:t>
            </a:r>
          </a:p>
          <a:p>
            <a:r>
              <a:rPr lang="en-US" altLang="zh-CN" dirty="0">
                <a:solidFill>
                  <a:srgbClr val="000000"/>
                </a:solidFill>
                <a:highlight>
                  <a:srgbClr val="FFFFFF"/>
                </a:highlight>
                <a:latin typeface="新宋体"/>
                <a:ea typeface="新宋体"/>
              </a:rPr>
              <a:t>{</a:t>
            </a:r>
            <a:r>
              <a:rPr lang="en-US" altLang="zh-CN" dirty="0">
                <a:solidFill>
                  <a:srgbClr val="0000FF"/>
                </a:solidFill>
                <a:highlight>
                  <a:srgbClr val="FFFFFF"/>
                </a:highlight>
                <a:latin typeface="新宋体"/>
                <a:ea typeface="新宋体"/>
              </a:rPr>
              <a:t>private</a:t>
            </a:r>
            <a:r>
              <a:rPr lang="en-US" altLang="zh-CN" dirty="0">
                <a:solidFill>
                  <a:srgbClr val="000000"/>
                </a:solidFill>
                <a:highlight>
                  <a:srgbClr val="FFFFFF"/>
                </a:highlight>
                <a:latin typeface="新宋体"/>
                <a:ea typeface="新宋体"/>
              </a:rPr>
              <a:t>:</a:t>
            </a:r>
          </a:p>
          <a:p>
            <a:pPr marL="441325"/>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a;</a:t>
            </a:r>
          </a:p>
          <a:p>
            <a:pPr marL="441325"/>
            <a:r>
              <a:rPr lang="en-US" altLang="zh-CN" dirty="0">
                <a:solidFill>
                  <a:srgbClr val="0000FF"/>
                </a:solidFill>
                <a:highlight>
                  <a:srgbClr val="FFFFFF"/>
                </a:highlight>
                <a:latin typeface="新宋体"/>
                <a:ea typeface="新宋体"/>
              </a:rPr>
              <a:t>char</a:t>
            </a:r>
            <a:r>
              <a:rPr lang="en-US" altLang="zh-CN" dirty="0">
                <a:solidFill>
                  <a:srgbClr val="000000"/>
                </a:solidFill>
                <a:highlight>
                  <a:srgbClr val="FFFFFF"/>
                </a:highlight>
                <a:latin typeface="新宋体"/>
                <a:ea typeface="新宋体"/>
              </a:rPr>
              <a:t>* pc;</a:t>
            </a:r>
          </a:p>
          <a:p>
            <a:r>
              <a:rPr lang="en-US" altLang="zh-CN" dirty="0">
                <a:solidFill>
                  <a:srgbClr val="0000FF"/>
                </a:solidFill>
                <a:highlight>
                  <a:srgbClr val="FFFFFF"/>
                </a:highlight>
                <a:latin typeface="新宋体"/>
                <a:ea typeface="新宋体"/>
              </a:rPr>
              <a:t>public</a:t>
            </a:r>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B() </a:t>
            </a:r>
          </a:p>
          <a:p>
            <a:pPr marL="441325"/>
            <a:r>
              <a:rPr lang="en-US" altLang="zh-CN" dirty="0">
                <a:solidFill>
                  <a:srgbClr val="000000"/>
                </a:solidFill>
                <a:highlight>
                  <a:srgbClr val="FFFFFF"/>
                </a:highlight>
                <a:latin typeface="新宋体"/>
                <a:ea typeface="新宋体"/>
              </a:rPr>
              <a:t>{  a = </a:t>
            </a:r>
            <a:r>
              <a:rPr lang="en-US" altLang="zh-CN" dirty="0">
                <a:solidFill>
                  <a:srgbClr val="008080"/>
                </a:solidFill>
                <a:highlight>
                  <a:srgbClr val="FFFFFF"/>
                </a:highlight>
                <a:latin typeface="新宋体"/>
                <a:ea typeface="新宋体"/>
              </a:rPr>
              <a:t>new </a:t>
            </a:r>
            <a:r>
              <a:rPr lang="en-US" altLang="zh-CN" dirty="0" err="1">
                <a:solidFill>
                  <a:srgbClr val="008080"/>
                </a:solidFill>
                <a:highlight>
                  <a:srgbClr val="FFFFFF"/>
                </a:highlight>
                <a:latin typeface="新宋体"/>
                <a:ea typeface="新宋体"/>
              </a:rPr>
              <a:t>i</a:t>
            </a:r>
            <a:r>
              <a:rPr lang="en-US" altLang="zh-CN" dirty="0" err="1">
                <a:solidFill>
                  <a:srgbClr val="0000FF"/>
                </a:solidFill>
                <a:highlight>
                  <a:srgbClr val="FFFFFF"/>
                </a:highlight>
                <a:latin typeface="新宋体"/>
                <a:ea typeface="新宋体"/>
              </a:rPr>
              <a:t>nt</a:t>
            </a:r>
            <a:r>
              <a:rPr lang="en-US" altLang="zh-CN" dirty="0">
                <a:solidFill>
                  <a:srgbClr val="000000"/>
                </a:solidFill>
                <a:highlight>
                  <a:srgbClr val="FFFFFF"/>
                </a:highlight>
                <a:latin typeface="新宋体"/>
                <a:ea typeface="新宋体"/>
              </a:rPr>
              <a:t>[10]; </a:t>
            </a:r>
          </a:p>
          <a:p>
            <a:pPr marL="708025" defTabSz="808038"/>
            <a:r>
              <a:rPr lang="en-US" altLang="zh-CN" dirty="0">
                <a:solidFill>
                  <a:srgbClr val="000000"/>
                </a:solidFill>
                <a:highlight>
                  <a:srgbClr val="FFFFFF"/>
                </a:highlight>
                <a:latin typeface="新宋体"/>
                <a:ea typeface="新宋体"/>
              </a:rPr>
              <a:t> pc = </a:t>
            </a:r>
            <a:r>
              <a:rPr lang="en-US" altLang="zh-CN" dirty="0">
                <a:solidFill>
                  <a:srgbClr val="008080"/>
                </a:solidFill>
                <a:highlight>
                  <a:srgbClr val="FFFFFF"/>
                </a:highlight>
                <a:latin typeface="新宋体"/>
                <a:ea typeface="新宋体"/>
              </a:rPr>
              <a:t>new</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char</a:t>
            </a:r>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~B()</a:t>
            </a:r>
          </a:p>
          <a:p>
            <a:pPr marL="441325"/>
            <a:r>
              <a:rPr lang="en-US" altLang="zh-CN" dirty="0">
                <a:solidFill>
                  <a:srgbClr val="000000"/>
                </a:solidFill>
                <a:highlight>
                  <a:srgbClr val="FFFFFF"/>
                </a:highlight>
                <a:latin typeface="新宋体"/>
                <a:ea typeface="新宋体"/>
              </a:rPr>
              <a:t>{  </a:t>
            </a:r>
            <a:r>
              <a:rPr lang="en-US" altLang="zh-CN" dirty="0">
                <a:solidFill>
                  <a:srgbClr val="008080"/>
                </a:solidFill>
                <a:highlight>
                  <a:srgbClr val="FFFFFF"/>
                </a:highlight>
                <a:latin typeface="新宋体"/>
                <a:ea typeface="新宋体"/>
              </a:rPr>
              <a:t>delete[]</a:t>
            </a:r>
            <a:r>
              <a:rPr lang="en-US" altLang="zh-CN" dirty="0">
                <a:solidFill>
                  <a:srgbClr val="000000"/>
                </a:solidFill>
                <a:highlight>
                  <a:srgbClr val="FFFFFF"/>
                </a:highlight>
                <a:latin typeface="新宋体"/>
                <a:ea typeface="新宋体"/>
              </a:rPr>
              <a:t> a;     </a:t>
            </a:r>
          </a:p>
          <a:p>
            <a:pPr marL="708025" defTabSz="808038"/>
            <a:r>
              <a:rPr lang="en-US" altLang="zh-CN" dirty="0">
                <a:solidFill>
                  <a:srgbClr val="008080"/>
                </a:solidFill>
                <a:highlight>
                  <a:srgbClr val="FFFFFF"/>
                </a:highlight>
                <a:latin typeface="新宋体"/>
                <a:ea typeface="新宋体"/>
              </a:rPr>
              <a:t> delete</a:t>
            </a:r>
            <a:r>
              <a:rPr lang="en-US" altLang="zh-CN" dirty="0">
                <a:solidFill>
                  <a:srgbClr val="000000"/>
                </a:solidFill>
                <a:highlight>
                  <a:srgbClr val="FFFFFF"/>
                </a:highlight>
                <a:latin typeface="新宋体"/>
                <a:ea typeface="新宋体"/>
              </a:rPr>
              <a:t> pc;</a:t>
            </a:r>
          </a:p>
          <a:p>
            <a:pPr marL="441325"/>
            <a:r>
              <a:rPr lang="en-US" altLang="zh-CN" dirty="0">
                <a:solidFill>
                  <a:srgbClr val="000000"/>
                </a:solidFill>
                <a:highlight>
                  <a:srgbClr val="FFFFFF"/>
                </a:highlight>
                <a:latin typeface="新宋体"/>
                <a:ea typeface="新宋体"/>
              </a:rPr>
              <a:t>}</a:t>
            </a:r>
          </a:p>
          <a:p>
            <a:r>
              <a:rPr lang="en-US" altLang="zh-CN" dirty="0">
                <a:solidFill>
                  <a:srgbClr val="000000"/>
                </a:solidFill>
                <a:highlight>
                  <a:srgbClr val="FFFFFF"/>
                </a:highlight>
                <a:latin typeface="新宋体"/>
                <a:ea typeface="新宋体"/>
              </a:rPr>
              <a:t>};</a:t>
            </a:r>
          </a:p>
          <a:p>
            <a:pPr lvl="0"/>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main() </a:t>
            </a:r>
          </a:p>
          <a:p>
            <a:pPr lvl="0"/>
            <a:r>
              <a:rPr lang="en-US" altLang="zh-CN" dirty="0">
                <a:solidFill>
                  <a:srgbClr val="000000"/>
                </a:solidFill>
                <a:highlight>
                  <a:srgbClr val="FFFFFF"/>
                </a:highlight>
                <a:latin typeface="新宋体"/>
                <a:ea typeface="新宋体"/>
              </a:rPr>
              <a:t>{  </a:t>
            </a:r>
            <a:r>
              <a:rPr lang="en-US" altLang="zh-CN" dirty="0">
                <a:solidFill>
                  <a:srgbClr val="2B91AF"/>
                </a:solidFill>
                <a:highlight>
                  <a:srgbClr val="FFFFFF"/>
                </a:highlight>
                <a:latin typeface="新宋体"/>
                <a:ea typeface="新宋体"/>
              </a:rPr>
              <a:t>B</a:t>
            </a:r>
            <a:r>
              <a:rPr lang="en-US" altLang="zh-CN" dirty="0">
                <a:solidFill>
                  <a:srgbClr val="000000"/>
                </a:solidFill>
                <a:highlight>
                  <a:srgbClr val="FFFFFF"/>
                </a:highlight>
                <a:latin typeface="新宋体"/>
                <a:ea typeface="新宋体"/>
              </a:rPr>
              <a:t> x;</a:t>
            </a:r>
          </a:p>
          <a:p>
            <a:pPr marL="273050" lvl="0"/>
            <a:r>
              <a:rPr lang="en-US" altLang="zh-CN" dirty="0">
                <a:solidFill>
                  <a:srgbClr val="0000FF"/>
                </a:solidFill>
                <a:highlight>
                  <a:srgbClr val="FFFFFF"/>
                </a:highlight>
                <a:latin typeface="新宋体"/>
                <a:ea typeface="新宋体"/>
              </a:rPr>
              <a:t>return</a:t>
            </a:r>
            <a:r>
              <a:rPr lang="en-US" altLang="zh-CN" dirty="0">
                <a:solidFill>
                  <a:srgbClr val="000000"/>
                </a:solidFill>
                <a:highlight>
                  <a:srgbClr val="FFFFFF"/>
                </a:highlight>
                <a:latin typeface="新宋体"/>
                <a:ea typeface="新宋体"/>
              </a:rPr>
              <a:t> 0;</a:t>
            </a:r>
          </a:p>
          <a:p>
            <a:pPr lvl="0"/>
            <a:r>
              <a:rPr lang="en-US" altLang="zh-CN" dirty="0">
                <a:solidFill>
                  <a:srgbClr val="000000"/>
                </a:solidFill>
                <a:highlight>
                  <a:srgbClr val="FFFFFF"/>
                </a:highlight>
                <a:latin typeface="新宋体"/>
                <a:ea typeface="新宋体"/>
              </a:rPr>
              <a:t>}</a:t>
            </a:r>
            <a:endParaRPr lang="zh-CN" altLang="en-US" dirty="0">
              <a:solidFill>
                <a:prstClr val="black"/>
              </a:solidFill>
            </a:endParaRPr>
          </a:p>
          <a:p>
            <a:endParaRPr lang="en-US" altLang="zh-CN" dirty="0">
              <a:solidFill>
                <a:srgbClr val="000000"/>
              </a:solidFill>
              <a:highlight>
                <a:srgbClr val="FFFFFF"/>
              </a:highlight>
              <a:latin typeface="新宋体"/>
              <a:ea typeface="新宋体"/>
            </a:endParaRPr>
          </a:p>
        </p:txBody>
      </p:sp>
      <p:sp>
        <p:nvSpPr>
          <p:cNvPr id="72708" name="Rectangle 5"/>
          <p:cNvSpPr>
            <a:spLocks noChangeArrowheads="1"/>
          </p:cNvSpPr>
          <p:nvPr/>
        </p:nvSpPr>
        <p:spPr bwMode="auto">
          <a:xfrm>
            <a:off x="539552" y="44624"/>
            <a:ext cx="8208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539750" eaLnBrk="0" hangingPunct="0">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eaLnBrk="0" hangingPunct="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eaLnBrk="0" hangingPunct="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eaLnBrk="0" hangingPunct="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eaLnBrk="0" hangingPunct="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indent="0" eaLnBrk="1" hangingPunct="1">
              <a:spcBef>
                <a:spcPct val="0"/>
              </a:spcBef>
              <a:buClrTx/>
              <a:buSzTx/>
              <a:buFontTx/>
              <a:buNone/>
            </a:pPr>
            <a:r>
              <a:rPr lang="en-US" altLang="zh-CN" sz="2400" b="1" dirty="0">
                <a:latin typeface="Times New Roman" pitchFamily="18" charset="0"/>
              </a:rPr>
              <a:t>【</a:t>
            </a:r>
            <a:r>
              <a:rPr lang="zh-CN" altLang="en-US" sz="2400" b="1" dirty="0">
                <a:latin typeface="Times New Roman" pitchFamily="18" charset="0"/>
              </a:rPr>
              <a:t>例</a:t>
            </a:r>
            <a:r>
              <a:rPr lang="en-US" altLang="zh-CN" sz="2400" b="1" dirty="0">
                <a:latin typeface="Times New Roman" pitchFamily="18" charset="0"/>
              </a:rPr>
              <a:t>】  </a:t>
            </a:r>
            <a:r>
              <a:rPr lang="zh-CN" altLang="en-US" sz="2400" b="1" dirty="0">
                <a:latin typeface="Times New Roman" pitchFamily="18" charset="0"/>
              </a:rPr>
              <a:t>用析构函数释放构造函数分配的堆存储空间</a:t>
            </a:r>
          </a:p>
        </p:txBody>
      </p:sp>
      <p:grpSp>
        <p:nvGrpSpPr>
          <p:cNvPr id="40" name="组合 39"/>
          <p:cNvGrpSpPr/>
          <p:nvPr/>
        </p:nvGrpSpPr>
        <p:grpSpPr>
          <a:xfrm>
            <a:off x="1115616" y="616033"/>
            <a:ext cx="6552728" cy="4829191"/>
            <a:chOff x="1115616" y="616033"/>
            <a:chExt cx="6552728" cy="4829191"/>
          </a:xfrm>
        </p:grpSpPr>
        <p:sp>
          <p:nvSpPr>
            <p:cNvPr id="46" name="矩形 45"/>
            <p:cNvSpPr/>
            <p:nvPr/>
          </p:nvSpPr>
          <p:spPr>
            <a:xfrm>
              <a:off x="5508104" y="1484784"/>
              <a:ext cx="813043" cy="307777"/>
            </a:xfrm>
            <a:prstGeom prst="rect">
              <a:avLst/>
            </a:prstGeom>
          </p:spPr>
          <p:txBody>
            <a:bodyPr wrap="none">
              <a:spAutoFit/>
            </a:bodyPr>
            <a:lstStyle/>
            <a:p>
              <a:r>
                <a:rPr lang="en-US" altLang="zh-CN" sz="1400" dirty="0">
                  <a:solidFill>
                    <a:srgbClr val="000000"/>
                  </a:solidFill>
                  <a:highlight>
                    <a:srgbClr val="FFFFFF"/>
                  </a:highlight>
                  <a:latin typeface="新宋体"/>
                  <a:ea typeface="新宋体"/>
                </a:rPr>
                <a:t>10</a:t>
              </a:r>
              <a:r>
                <a:rPr lang="zh-CN" altLang="en-US" sz="1400" dirty="0">
                  <a:solidFill>
                    <a:srgbClr val="000000"/>
                  </a:solidFill>
                  <a:highlight>
                    <a:srgbClr val="FFFFFF"/>
                  </a:highlight>
                  <a:latin typeface="新宋体"/>
                  <a:ea typeface="新宋体"/>
                </a:rPr>
                <a:t>个</a:t>
              </a:r>
              <a:r>
                <a:rPr lang="en-US" altLang="zh-CN" sz="1400" dirty="0" err="1">
                  <a:solidFill>
                    <a:srgbClr val="000000"/>
                  </a:solidFill>
                  <a:highlight>
                    <a:srgbClr val="FFFFFF"/>
                  </a:highlight>
                  <a:latin typeface="新宋体"/>
                  <a:ea typeface="新宋体"/>
                </a:rPr>
                <a:t>int</a:t>
              </a:r>
              <a:endParaRPr lang="zh-CN" altLang="en-US" sz="1400" dirty="0"/>
            </a:p>
          </p:txBody>
        </p:sp>
        <p:sp>
          <p:nvSpPr>
            <p:cNvPr id="47" name="矩形 46"/>
            <p:cNvSpPr/>
            <p:nvPr/>
          </p:nvSpPr>
          <p:spPr>
            <a:xfrm>
              <a:off x="5703173" y="2924944"/>
              <a:ext cx="813043" cy="307777"/>
            </a:xfrm>
            <a:prstGeom prst="rect">
              <a:avLst/>
            </a:prstGeom>
          </p:spPr>
          <p:txBody>
            <a:bodyPr wrap="none">
              <a:spAutoFit/>
            </a:bodyPr>
            <a:lstStyle/>
            <a:p>
              <a:r>
                <a:rPr lang="en-US" altLang="zh-CN" sz="1400" dirty="0">
                  <a:solidFill>
                    <a:srgbClr val="000000"/>
                  </a:solidFill>
                  <a:highlight>
                    <a:srgbClr val="FFFFFF"/>
                  </a:highlight>
                  <a:latin typeface="新宋体"/>
                  <a:ea typeface="新宋体"/>
                </a:rPr>
                <a:t>1</a:t>
              </a:r>
              <a:r>
                <a:rPr lang="zh-CN" altLang="en-US" sz="1400" dirty="0">
                  <a:solidFill>
                    <a:srgbClr val="000000"/>
                  </a:solidFill>
                  <a:highlight>
                    <a:srgbClr val="FFFFFF"/>
                  </a:highlight>
                  <a:latin typeface="新宋体"/>
                  <a:ea typeface="新宋体"/>
                </a:rPr>
                <a:t>个</a:t>
              </a:r>
              <a:r>
                <a:rPr lang="en-US" altLang="zh-CN" sz="1400" dirty="0">
                  <a:solidFill>
                    <a:srgbClr val="000000"/>
                  </a:solidFill>
                  <a:highlight>
                    <a:srgbClr val="FFFFFF"/>
                  </a:highlight>
                  <a:latin typeface="新宋体"/>
                  <a:ea typeface="新宋体"/>
                </a:rPr>
                <a:t>char</a:t>
              </a:r>
              <a:endParaRPr lang="zh-CN" altLang="en-US" sz="1400" dirty="0"/>
            </a:p>
          </p:txBody>
        </p:sp>
        <p:grpSp>
          <p:nvGrpSpPr>
            <p:cNvPr id="36" name="组合 35"/>
            <p:cNvGrpSpPr/>
            <p:nvPr/>
          </p:nvGrpSpPr>
          <p:grpSpPr>
            <a:xfrm>
              <a:off x="1115616" y="616033"/>
              <a:ext cx="6552728" cy="4829191"/>
              <a:chOff x="1115616" y="616033"/>
              <a:chExt cx="6552728" cy="4829191"/>
            </a:xfrm>
          </p:grpSpPr>
          <p:grpSp>
            <p:nvGrpSpPr>
              <p:cNvPr id="72729" name="组合 72728"/>
              <p:cNvGrpSpPr/>
              <p:nvPr/>
            </p:nvGrpSpPr>
            <p:grpSpPr>
              <a:xfrm>
                <a:off x="3419872" y="616033"/>
                <a:ext cx="4248472" cy="3100999"/>
                <a:chOff x="3419872" y="616033"/>
                <a:chExt cx="4248472" cy="3100999"/>
              </a:xfrm>
            </p:grpSpPr>
            <p:grpSp>
              <p:nvGrpSpPr>
                <p:cNvPr id="72728" name="组合 72727"/>
                <p:cNvGrpSpPr/>
                <p:nvPr/>
              </p:nvGrpSpPr>
              <p:grpSpPr>
                <a:xfrm>
                  <a:off x="3419872" y="616033"/>
                  <a:ext cx="4248472" cy="2884975"/>
                  <a:chOff x="3419872" y="616033"/>
                  <a:chExt cx="4248472" cy="2884975"/>
                </a:xfrm>
              </p:grpSpPr>
              <p:grpSp>
                <p:nvGrpSpPr>
                  <p:cNvPr id="72726" name="组合 72725"/>
                  <p:cNvGrpSpPr/>
                  <p:nvPr/>
                </p:nvGrpSpPr>
                <p:grpSpPr>
                  <a:xfrm>
                    <a:off x="3419872" y="616033"/>
                    <a:ext cx="4248472" cy="2884975"/>
                    <a:chOff x="3419872" y="832057"/>
                    <a:chExt cx="4248472" cy="2884975"/>
                  </a:xfrm>
                </p:grpSpPr>
                <p:grpSp>
                  <p:nvGrpSpPr>
                    <p:cNvPr id="72725" name="组合 72724"/>
                    <p:cNvGrpSpPr/>
                    <p:nvPr/>
                  </p:nvGrpSpPr>
                  <p:grpSpPr>
                    <a:xfrm>
                      <a:off x="3419872" y="832057"/>
                      <a:ext cx="4248472" cy="2884975"/>
                      <a:chOff x="3419872" y="832057"/>
                      <a:chExt cx="4248472" cy="2884975"/>
                    </a:xfrm>
                  </p:grpSpPr>
                  <p:cxnSp>
                    <p:nvCxnSpPr>
                      <p:cNvPr id="30" name="直接连接符 29"/>
                      <p:cNvCxnSpPr/>
                      <p:nvPr/>
                    </p:nvCxnSpPr>
                    <p:spPr>
                      <a:xfrm>
                        <a:off x="6588224" y="2060848"/>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6804248" y="3212976"/>
                        <a:ext cx="648072" cy="252028"/>
                      </a:xfrm>
                      <a:prstGeom prst="rect">
                        <a:avLst/>
                      </a:prstGeom>
                      <a:pattFill prst="pct5">
                        <a:fgClr>
                          <a:schemeClr val="accent1">
                            <a:tint val="100000"/>
                            <a:shade val="100000"/>
                            <a:hueMod val="100000"/>
                            <a:satMod val="100000"/>
                          </a:schemeClr>
                        </a:fgClr>
                        <a:bgClr>
                          <a:schemeClr val="bg1"/>
                        </a:bgClr>
                      </a:patt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724" name="组合 72723"/>
                      <p:cNvGrpSpPr/>
                      <p:nvPr/>
                    </p:nvGrpSpPr>
                    <p:grpSpPr>
                      <a:xfrm>
                        <a:off x="3419872" y="832057"/>
                        <a:ext cx="4248472" cy="2884975"/>
                        <a:chOff x="3419872" y="836712"/>
                        <a:chExt cx="4248472" cy="2884975"/>
                      </a:xfrm>
                    </p:grpSpPr>
                    <p:grpSp>
                      <p:nvGrpSpPr>
                        <p:cNvPr id="72718" name="组合 72717"/>
                        <p:cNvGrpSpPr/>
                        <p:nvPr/>
                      </p:nvGrpSpPr>
                      <p:grpSpPr>
                        <a:xfrm>
                          <a:off x="3419872" y="836712"/>
                          <a:ext cx="4248472" cy="2884975"/>
                          <a:chOff x="3419872" y="836712"/>
                          <a:chExt cx="4248472" cy="2884975"/>
                        </a:xfrm>
                      </p:grpSpPr>
                      <p:cxnSp>
                        <p:nvCxnSpPr>
                          <p:cNvPr id="28" name="直接连接符 27"/>
                          <p:cNvCxnSpPr/>
                          <p:nvPr/>
                        </p:nvCxnSpPr>
                        <p:spPr>
                          <a:xfrm>
                            <a:off x="6588224" y="1340768"/>
                            <a:ext cx="10801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2717" name="组合 72716"/>
                          <p:cNvGrpSpPr/>
                          <p:nvPr/>
                        </p:nvGrpSpPr>
                        <p:grpSpPr>
                          <a:xfrm>
                            <a:off x="3419872" y="836712"/>
                            <a:ext cx="4248472" cy="2884975"/>
                            <a:chOff x="3419872" y="836712"/>
                            <a:chExt cx="4248472" cy="2884975"/>
                          </a:xfrm>
                        </p:grpSpPr>
                        <p:cxnSp>
                          <p:nvCxnSpPr>
                            <p:cNvPr id="27" name="直接连接符 26"/>
                            <p:cNvCxnSpPr/>
                            <p:nvPr/>
                          </p:nvCxnSpPr>
                          <p:spPr>
                            <a:xfrm>
                              <a:off x="6588224" y="98072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588224" y="2780928"/>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6876256" y="1705463"/>
                              <a:ext cx="360040" cy="400110"/>
                            </a:xfrm>
                            <a:prstGeom prst="rect">
                              <a:avLst/>
                            </a:prstGeom>
                          </p:spPr>
                          <p:txBody>
                            <a:bodyPr wrap="square">
                              <a:spAutoFit/>
                            </a:bodyPr>
                            <a:lstStyle/>
                            <a:p>
                              <a:r>
                                <a:rPr lang="en-US" altLang="zh-CN" sz="2000" dirty="0">
                                  <a:solidFill>
                                    <a:srgbClr val="000000"/>
                                  </a:solidFill>
                                  <a:highlight>
                                    <a:srgbClr val="FFFFFF"/>
                                  </a:highlight>
                                  <a:latin typeface="新宋体"/>
                                  <a:ea typeface="新宋体"/>
                                </a:rPr>
                                <a:t>…</a:t>
                              </a:r>
                              <a:endParaRPr lang="zh-CN" altLang="en-US" sz="2000" dirty="0"/>
                            </a:p>
                          </p:txBody>
                        </p:sp>
                        <p:grpSp>
                          <p:nvGrpSpPr>
                            <p:cNvPr id="72716" name="组合 72715"/>
                            <p:cNvGrpSpPr/>
                            <p:nvPr/>
                          </p:nvGrpSpPr>
                          <p:grpSpPr>
                            <a:xfrm>
                              <a:off x="3419872" y="836712"/>
                              <a:ext cx="4248472" cy="2884975"/>
                              <a:chOff x="3419872" y="1914504"/>
                              <a:chExt cx="4248472" cy="2884975"/>
                            </a:xfrm>
                          </p:grpSpPr>
                          <p:grpSp>
                            <p:nvGrpSpPr>
                              <p:cNvPr id="17" name="组合 16"/>
                              <p:cNvGrpSpPr/>
                              <p:nvPr/>
                            </p:nvGrpSpPr>
                            <p:grpSpPr>
                              <a:xfrm>
                                <a:off x="4427984" y="1914504"/>
                                <a:ext cx="1080120" cy="2510407"/>
                                <a:chOff x="4427984" y="1914504"/>
                                <a:chExt cx="1080120" cy="2510407"/>
                              </a:xfrm>
                            </p:grpSpPr>
                            <p:cxnSp>
                              <p:nvCxnSpPr>
                                <p:cNvPr id="7" name="直接连接符 6"/>
                                <p:cNvCxnSpPr/>
                                <p:nvPr/>
                              </p:nvCxnSpPr>
                              <p:spPr>
                                <a:xfrm>
                                  <a:off x="4427984" y="1914504"/>
                                  <a:ext cx="0" cy="25022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508104" y="1914504"/>
                                  <a:ext cx="0" cy="251040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427984" y="242088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427984" y="278092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27984" y="314096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a:xfrm>
                                <a:off x="3419872" y="2596262"/>
                                <a:ext cx="360040" cy="400110"/>
                              </a:xfrm>
                              <a:prstGeom prst="rect">
                                <a:avLst/>
                              </a:prstGeom>
                            </p:spPr>
                            <p:txBody>
                              <a:bodyPr wrap="square">
                                <a:spAutoFit/>
                              </a:bodyPr>
                              <a:lstStyle/>
                              <a:p>
                                <a:r>
                                  <a:rPr lang="en-US" altLang="zh-CN" sz="2000" dirty="0">
                                    <a:solidFill>
                                      <a:srgbClr val="000000"/>
                                    </a:solidFill>
                                    <a:highlight>
                                      <a:srgbClr val="FFFFFF"/>
                                    </a:highlight>
                                    <a:latin typeface="新宋体"/>
                                    <a:ea typeface="新宋体"/>
                                  </a:rPr>
                                  <a:t>x</a:t>
                                </a:r>
                                <a:endParaRPr lang="zh-CN" altLang="en-US" sz="2000" dirty="0"/>
                              </a:p>
                            </p:txBody>
                          </p:sp>
                          <p:sp>
                            <p:nvSpPr>
                              <p:cNvPr id="12" name="矩形 11"/>
                              <p:cNvSpPr/>
                              <p:nvPr/>
                            </p:nvSpPr>
                            <p:spPr>
                              <a:xfrm>
                                <a:off x="3995936" y="2394115"/>
                                <a:ext cx="300082" cy="369332"/>
                              </a:xfrm>
                              <a:prstGeom prst="rect">
                                <a:avLst/>
                              </a:prstGeom>
                            </p:spPr>
                            <p:txBody>
                              <a:bodyPr wrap="none">
                                <a:spAutoFit/>
                              </a:bodyPr>
                              <a:lstStyle/>
                              <a:p>
                                <a:r>
                                  <a:rPr lang="en-US" altLang="zh-CN" dirty="0">
                                    <a:solidFill>
                                      <a:srgbClr val="000000"/>
                                    </a:solidFill>
                                    <a:highlight>
                                      <a:srgbClr val="FFFFFF"/>
                                    </a:highlight>
                                    <a:latin typeface="新宋体"/>
                                    <a:ea typeface="新宋体"/>
                                  </a:rPr>
                                  <a:t>a</a:t>
                                </a:r>
                                <a:endParaRPr lang="zh-CN" altLang="en-US" dirty="0"/>
                              </a:p>
                            </p:txBody>
                          </p:sp>
                          <p:sp>
                            <p:nvSpPr>
                              <p:cNvPr id="16" name="矩形 15"/>
                              <p:cNvSpPr/>
                              <p:nvPr/>
                            </p:nvSpPr>
                            <p:spPr>
                              <a:xfrm>
                                <a:off x="3948753" y="2827094"/>
                                <a:ext cx="415498" cy="369332"/>
                              </a:xfrm>
                              <a:prstGeom prst="rect">
                                <a:avLst/>
                              </a:prstGeom>
                            </p:spPr>
                            <p:txBody>
                              <a:bodyPr wrap="none">
                                <a:spAutoFit/>
                              </a:bodyPr>
                              <a:lstStyle/>
                              <a:p>
                                <a:r>
                                  <a:rPr lang="en-US" altLang="zh-CN" dirty="0">
                                    <a:solidFill>
                                      <a:srgbClr val="000000"/>
                                    </a:solidFill>
                                    <a:highlight>
                                      <a:srgbClr val="FFFFFF"/>
                                    </a:highlight>
                                    <a:latin typeface="新宋体"/>
                                    <a:ea typeface="新宋体"/>
                                  </a:rPr>
                                  <a:t>pc</a:t>
                                </a:r>
                                <a:endParaRPr lang="zh-CN" altLang="en-US" dirty="0"/>
                              </a:p>
                            </p:txBody>
                          </p:sp>
                          <p:grpSp>
                            <p:nvGrpSpPr>
                              <p:cNvPr id="20" name="组合 19"/>
                              <p:cNvGrpSpPr/>
                              <p:nvPr/>
                            </p:nvGrpSpPr>
                            <p:grpSpPr>
                              <a:xfrm>
                                <a:off x="6588224" y="1916832"/>
                                <a:ext cx="1080120" cy="2882647"/>
                                <a:chOff x="4427984" y="1914504"/>
                                <a:chExt cx="1080120" cy="2882647"/>
                              </a:xfrm>
                            </p:grpSpPr>
                            <p:cxnSp>
                              <p:nvCxnSpPr>
                                <p:cNvPr id="21" name="直接连接符 20"/>
                                <p:cNvCxnSpPr/>
                                <p:nvPr/>
                              </p:nvCxnSpPr>
                              <p:spPr>
                                <a:xfrm>
                                  <a:off x="442798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50810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427984" y="4216432"/>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2704" name="左大括号 72703"/>
                              <p:cNvSpPr/>
                              <p:nvPr/>
                            </p:nvSpPr>
                            <p:spPr>
                              <a:xfrm>
                                <a:off x="6300192" y="2060848"/>
                                <a:ext cx="189735" cy="1800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2707" name="肘形连接符 72706"/>
                              <p:cNvCxnSpPr/>
                              <p:nvPr/>
                            </p:nvCxnSpPr>
                            <p:spPr>
                              <a:xfrm flipV="1">
                                <a:off x="5364088" y="2060848"/>
                                <a:ext cx="936104" cy="504056"/>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715" name="肘形连接符 72714"/>
                              <p:cNvCxnSpPr/>
                              <p:nvPr/>
                            </p:nvCxnSpPr>
                            <p:spPr>
                              <a:xfrm>
                                <a:off x="5304137" y="3030045"/>
                                <a:ext cx="1224136" cy="118871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45" name="直接连接符 44"/>
                            <p:cNvCxnSpPr/>
                            <p:nvPr/>
                          </p:nvCxnSpPr>
                          <p:spPr>
                            <a:xfrm>
                              <a:off x="658822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2719" name="矩形 72718"/>
                        <p:cNvSpPr/>
                        <p:nvPr/>
                      </p:nvSpPr>
                      <p:spPr>
                        <a:xfrm>
                          <a:off x="6804248" y="1052736"/>
                          <a:ext cx="648072" cy="252028"/>
                        </a:xfrm>
                        <a:prstGeom prst="rect">
                          <a:avLst/>
                        </a:prstGeom>
                        <a:pattFill prst="ltDnDiag">
                          <a:fgClr>
                            <a:schemeClr val="accent1">
                              <a:tint val="100000"/>
                              <a:shade val="100000"/>
                              <a:hueMod val="100000"/>
                              <a:satMod val="100000"/>
                            </a:schemeClr>
                          </a:fgClr>
                          <a:bgClr>
                            <a:schemeClr val="bg1"/>
                          </a:bgClr>
                        </a:patt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6804248" y="2492896"/>
                          <a:ext cx="648072" cy="252028"/>
                        </a:xfrm>
                        <a:prstGeom prst="rect">
                          <a:avLst/>
                        </a:prstGeom>
                        <a:pattFill prst="ltDnDiag">
                          <a:fgClr>
                            <a:schemeClr val="accent1">
                              <a:tint val="100000"/>
                              <a:shade val="100000"/>
                              <a:hueMod val="100000"/>
                              <a:satMod val="100000"/>
                            </a:schemeClr>
                          </a:fgClr>
                          <a:bgClr>
                            <a:schemeClr val="bg1"/>
                          </a:bgClr>
                        </a:patt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04248" y="2132856"/>
                          <a:ext cx="648072" cy="252028"/>
                        </a:xfrm>
                        <a:prstGeom prst="rect">
                          <a:avLst/>
                        </a:prstGeom>
                        <a:pattFill prst="ltDnDiag">
                          <a:fgClr>
                            <a:schemeClr val="accent1">
                              <a:tint val="100000"/>
                              <a:shade val="100000"/>
                              <a:hueMod val="100000"/>
                              <a:satMod val="100000"/>
                            </a:schemeClr>
                          </a:fgClr>
                          <a:bgClr>
                            <a:schemeClr val="bg1"/>
                          </a:bgClr>
                        </a:patt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6804248" y="1412776"/>
                          <a:ext cx="648072" cy="252028"/>
                        </a:xfrm>
                        <a:prstGeom prst="rect">
                          <a:avLst/>
                        </a:prstGeom>
                        <a:pattFill prst="ltDnDiag">
                          <a:fgClr>
                            <a:schemeClr val="accent1">
                              <a:tint val="100000"/>
                              <a:shade val="100000"/>
                              <a:hueMod val="100000"/>
                              <a:satMod val="100000"/>
                            </a:schemeClr>
                          </a:fgClr>
                          <a:bgClr>
                            <a:schemeClr val="bg1"/>
                          </a:bgClr>
                        </a:patt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80" name="直接连接符 79"/>
                    <p:cNvCxnSpPr/>
                    <p:nvPr/>
                  </p:nvCxnSpPr>
                  <p:spPr>
                    <a:xfrm>
                      <a:off x="6588224" y="1700808"/>
                      <a:ext cx="108012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9" name="左大括号 88"/>
                  <p:cNvSpPr/>
                  <p:nvPr/>
                </p:nvSpPr>
                <p:spPr>
                  <a:xfrm>
                    <a:off x="3779912" y="1124744"/>
                    <a:ext cx="216024" cy="7601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 name="矩形 90"/>
                  <p:cNvSpPr/>
                  <p:nvPr/>
                </p:nvSpPr>
                <p:spPr>
                  <a:xfrm>
                    <a:off x="4631951" y="1124744"/>
                    <a:ext cx="804145" cy="276999"/>
                  </a:xfrm>
                  <a:prstGeom prst="rect">
                    <a:avLst/>
                  </a:prstGeom>
                </p:spPr>
                <p:txBody>
                  <a:bodyPr wrap="square">
                    <a:spAutoFit/>
                  </a:bodyPr>
                  <a:lstStyle/>
                  <a:p>
                    <a:r>
                      <a:rPr lang="zh-CN" altLang="en-US" sz="1200" dirty="0">
                        <a:solidFill>
                          <a:srgbClr val="000000"/>
                        </a:solidFill>
                        <a:highlight>
                          <a:srgbClr val="FFFFFF"/>
                        </a:highlight>
                        <a:latin typeface="新宋体"/>
                        <a:ea typeface="新宋体"/>
                      </a:rPr>
                      <a:t>地址值</a:t>
                    </a:r>
                    <a:endParaRPr lang="zh-CN" altLang="en-US" sz="2000" dirty="0"/>
                  </a:p>
                </p:txBody>
              </p:sp>
              <p:sp>
                <p:nvSpPr>
                  <p:cNvPr id="92" name="矩形 91"/>
                  <p:cNvSpPr/>
                  <p:nvPr/>
                </p:nvSpPr>
                <p:spPr>
                  <a:xfrm>
                    <a:off x="4631951" y="1495817"/>
                    <a:ext cx="804145" cy="276999"/>
                  </a:xfrm>
                  <a:prstGeom prst="rect">
                    <a:avLst/>
                  </a:prstGeom>
                </p:spPr>
                <p:txBody>
                  <a:bodyPr wrap="square">
                    <a:spAutoFit/>
                  </a:bodyPr>
                  <a:lstStyle/>
                  <a:p>
                    <a:r>
                      <a:rPr lang="zh-CN" altLang="en-US" sz="1200" dirty="0">
                        <a:solidFill>
                          <a:srgbClr val="000000"/>
                        </a:solidFill>
                        <a:highlight>
                          <a:srgbClr val="FFFFFF"/>
                        </a:highlight>
                        <a:latin typeface="新宋体"/>
                        <a:ea typeface="新宋体"/>
                      </a:rPr>
                      <a:t>地址值</a:t>
                    </a:r>
                    <a:endParaRPr lang="zh-CN" altLang="en-US" sz="2000" dirty="0"/>
                  </a:p>
                </p:txBody>
              </p:sp>
            </p:grpSp>
            <p:sp>
              <p:nvSpPr>
                <p:cNvPr id="95" name="矩形 94"/>
                <p:cNvSpPr/>
                <p:nvPr/>
              </p:nvSpPr>
              <p:spPr>
                <a:xfrm>
                  <a:off x="4716016" y="3368025"/>
                  <a:ext cx="576064" cy="276999"/>
                </a:xfrm>
                <a:prstGeom prst="rect">
                  <a:avLst/>
                </a:prstGeom>
                <a:noFill/>
                <a:ln>
                  <a:solidFill>
                    <a:schemeClr val="accent1">
                      <a:shade val="50000"/>
                    </a:schemeClr>
                  </a:solidFill>
                </a:ln>
              </p:spPr>
              <p:txBody>
                <a:bodyPr wrap="square">
                  <a:spAutoFit/>
                </a:bodyPr>
                <a:lstStyle/>
                <a:p>
                  <a:r>
                    <a:rPr lang="en-US" altLang="zh-CN" sz="1200" dirty="0">
                      <a:solidFill>
                        <a:srgbClr val="000000"/>
                      </a:solidFill>
                      <a:highlight>
                        <a:srgbClr val="FFFFFF"/>
                      </a:highlight>
                      <a:latin typeface="新宋体"/>
                      <a:ea typeface="新宋体"/>
                    </a:rPr>
                    <a:t>Stack</a:t>
                  </a:r>
                  <a:endParaRPr lang="zh-CN" altLang="en-US" sz="2000" dirty="0"/>
                </a:p>
              </p:txBody>
            </p:sp>
            <p:sp>
              <p:nvSpPr>
                <p:cNvPr id="96" name="矩形 95"/>
                <p:cNvSpPr/>
                <p:nvPr/>
              </p:nvSpPr>
              <p:spPr>
                <a:xfrm>
                  <a:off x="6804248" y="3440033"/>
                  <a:ext cx="576064" cy="276999"/>
                </a:xfrm>
                <a:prstGeom prst="rect">
                  <a:avLst/>
                </a:prstGeom>
                <a:noFill/>
                <a:ln>
                  <a:solidFill>
                    <a:schemeClr val="accent1">
                      <a:shade val="50000"/>
                    </a:schemeClr>
                  </a:solidFill>
                </a:ln>
              </p:spPr>
              <p:txBody>
                <a:bodyPr wrap="square">
                  <a:spAutoFit/>
                </a:bodyPr>
                <a:lstStyle/>
                <a:p>
                  <a:r>
                    <a:rPr lang="en-US" altLang="zh-CN" sz="1200" dirty="0">
                      <a:solidFill>
                        <a:srgbClr val="000000"/>
                      </a:solidFill>
                      <a:highlight>
                        <a:srgbClr val="FFFFFF"/>
                      </a:highlight>
                      <a:latin typeface="新宋体"/>
                      <a:ea typeface="新宋体"/>
                    </a:rPr>
                    <a:t>Heap</a:t>
                  </a:r>
                  <a:endParaRPr lang="zh-CN" altLang="en-US" sz="2000" dirty="0"/>
                </a:p>
              </p:txBody>
            </p:sp>
          </p:grpSp>
          <p:cxnSp>
            <p:nvCxnSpPr>
              <p:cNvPr id="72732" name="直接箭头连接符 72731"/>
              <p:cNvCxnSpPr/>
              <p:nvPr/>
            </p:nvCxnSpPr>
            <p:spPr>
              <a:xfrm flipV="1">
                <a:off x="1115616" y="1556792"/>
                <a:ext cx="2376264" cy="388843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444097" y="4673984"/>
                <a:ext cx="535615" cy="307777"/>
              </a:xfrm>
              <a:prstGeom prst="rect">
                <a:avLst/>
              </a:prstGeom>
              <a:solidFill>
                <a:schemeClr val="accent1">
                  <a:tint val="100000"/>
                  <a:shade val="100000"/>
                  <a:hueMod val="100000"/>
                  <a:satMod val="100000"/>
                </a:schemeClr>
              </a:solidFill>
            </p:spPr>
            <p:txBody>
              <a:bodyPr wrap="square">
                <a:spAutoFit/>
              </a:bodyPr>
              <a:lstStyle/>
              <a:p>
                <a:pPr marL="4763"/>
                <a:r>
                  <a:rPr lang="en-US" altLang="zh-CN" sz="1400" dirty="0">
                    <a:solidFill>
                      <a:srgbClr val="000000"/>
                    </a:solidFill>
                    <a:highlight>
                      <a:srgbClr val="FFFFFF"/>
                    </a:highlight>
                    <a:latin typeface="新宋体"/>
                    <a:ea typeface="新宋体"/>
                  </a:rPr>
                  <a:t>B() </a:t>
                </a:r>
              </a:p>
            </p:txBody>
          </p:sp>
        </p:grpSp>
      </p:grpSp>
      <p:grpSp>
        <p:nvGrpSpPr>
          <p:cNvPr id="39" name="组合 38"/>
          <p:cNvGrpSpPr/>
          <p:nvPr/>
        </p:nvGrpSpPr>
        <p:grpSpPr>
          <a:xfrm>
            <a:off x="1691680" y="3784385"/>
            <a:ext cx="5976664" cy="2884975"/>
            <a:chOff x="1691680" y="3784385"/>
            <a:chExt cx="5976664" cy="2884975"/>
          </a:xfrm>
        </p:grpSpPr>
        <p:cxnSp>
          <p:nvCxnSpPr>
            <p:cNvPr id="73" name="直接连接符 72"/>
            <p:cNvCxnSpPr/>
            <p:nvPr/>
          </p:nvCxnSpPr>
          <p:spPr>
            <a:xfrm>
              <a:off x="6588224" y="573325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6588224" y="6453336"/>
              <a:ext cx="10801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1691680" y="3784385"/>
              <a:ext cx="5976664" cy="2884975"/>
              <a:chOff x="1691680" y="3784385"/>
              <a:chExt cx="5976664" cy="2884975"/>
            </a:xfrm>
          </p:grpSpPr>
          <p:cxnSp>
            <p:nvCxnSpPr>
              <p:cNvPr id="70" name="直接连接符 69"/>
              <p:cNvCxnSpPr/>
              <p:nvPr/>
            </p:nvCxnSpPr>
            <p:spPr>
              <a:xfrm>
                <a:off x="6588224" y="393305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6588224" y="429309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6588224" y="4653136"/>
                <a:ext cx="10801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1691680" y="3784385"/>
                <a:ext cx="5976664" cy="2884975"/>
                <a:chOff x="1691680" y="3784385"/>
                <a:chExt cx="5976664" cy="2884975"/>
              </a:xfrm>
            </p:grpSpPr>
            <p:grpSp>
              <p:nvGrpSpPr>
                <p:cNvPr id="48" name="组合 47"/>
                <p:cNvGrpSpPr/>
                <p:nvPr/>
              </p:nvGrpSpPr>
              <p:grpSpPr>
                <a:xfrm>
                  <a:off x="3419872" y="3784385"/>
                  <a:ext cx="4248472" cy="2884975"/>
                  <a:chOff x="3419872" y="1914504"/>
                  <a:chExt cx="4248472" cy="2884975"/>
                </a:xfrm>
              </p:grpSpPr>
              <p:grpSp>
                <p:nvGrpSpPr>
                  <p:cNvPr id="49" name="组合 48"/>
                  <p:cNvGrpSpPr/>
                  <p:nvPr/>
                </p:nvGrpSpPr>
                <p:grpSpPr>
                  <a:xfrm>
                    <a:off x="4427984" y="1914504"/>
                    <a:ext cx="1080120" cy="2882647"/>
                    <a:chOff x="4427984" y="1914504"/>
                    <a:chExt cx="1080120" cy="2882647"/>
                  </a:xfrm>
                </p:grpSpPr>
                <p:cxnSp>
                  <p:nvCxnSpPr>
                    <p:cNvPr id="62" name="直接连接符 61"/>
                    <p:cNvCxnSpPr/>
                    <p:nvPr/>
                  </p:nvCxnSpPr>
                  <p:spPr>
                    <a:xfrm>
                      <a:off x="442798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50810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427984" y="242088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427984" y="278092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4427984" y="314096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0" name="矩形 49"/>
                  <p:cNvSpPr/>
                  <p:nvPr/>
                </p:nvSpPr>
                <p:spPr>
                  <a:xfrm>
                    <a:off x="3419872" y="2596262"/>
                    <a:ext cx="360040" cy="400110"/>
                  </a:xfrm>
                  <a:prstGeom prst="rect">
                    <a:avLst/>
                  </a:prstGeom>
                </p:spPr>
                <p:txBody>
                  <a:bodyPr wrap="square">
                    <a:spAutoFit/>
                  </a:bodyPr>
                  <a:lstStyle/>
                  <a:p>
                    <a:r>
                      <a:rPr lang="en-US" altLang="zh-CN" sz="2000" dirty="0">
                        <a:solidFill>
                          <a:srgbClr val="000000"/>
                        </a:solidFill>
                        <a:highlight>
                          <a:srgbClr val="FFFFFF"/>
                        </a:highlight>
                        <a:latin typeface="新宋体"/>
                        <a:ea typeface="新宋体"/>
                      </a:rPr>
                      <a:t>x</a:t>
                    </a:r>
                    <a:endParaRPr lang="zh-CN" altLang="en-US" sz="2000" dirty="0"/>
                  </a:p>
                </p:txBody>
              </p:sp>
              <p:sp>
                <p:nvSpPr>
                  <p:cNvPr id="51" name="矩形 50"/>
                  <p:cNvSpPr/>
                  <p:nvPr/>
                </p:nvSpPr>
                <p:spPr>
                  <a:xfrm>
                    <a:off x="3995936" y="2394115"/>
                    <a:ext cx="300082" cy="369332"/>
                  </a:xfrm>
                  <a:prstGeom prst="rect">
                    <a:avLst/>
                  </a:prstGeom>
                </p:spPr>
                <p:txBody>
                  <a:bodyPr wrap="none">
                    <a:spAutoFit/>
                  </a:bodyPr>
                  <a:lstStyle/>
                  <a:p>
                    <a:r>
                      <a:rPr lang="en-US" altLang="zh-CN" dirty="0">
                        <a:solidFill>
                          <a:srgbClr val="000000"/>
                        </a:solidFill>
                        <a:highlight>
                          <a:srgbClr val="FFFFFF"/>
                        </a:highlight>
                        <a:latin typeface="新宋体"/>
                        <a:ea typeface="新宋体"/>
                      </a:rPr>
                      <a:t>a</a:t>
                    </a:r>
                    <a:endParaRPr lang="zh-CN" altLang="en-US" dirty="0"/>
                  </a:p>
                </p:txBody>
              </p:sp>
              <p:sp>
                <p:nvSpPr>
                  <p:cNvPr id="52" name="矩形 51"/>
                  <p:cNvSpPr/>
                  <p:nvPr/>
                </p:nvSpPr>
                <p:spPr>
                  <a:xfrm>
                    <a:off x="3948753" y="2827094"/>
                    <a:ext cx="415498" cy="369332"/>
                  </a:xfrm>
                  <a:prstGeom prst="rect">
                    <a:avLst/>
                  </a:prstGeom>
                </p:spPr>
                <p:txBody>
                  <a:bodyPr wrap="none">
                    <a:spAutoFit/>
                  </a:bodyPr>
                  <a:lstStyle/>
                  <a:p>
                    <a:r>
                      <a:rPr lang="en-US" altLang="zh-CN" dirty="0">
                        <a:solidFill>
                          <a:srgbClr val="000000"/>
                        </a:solidFill>
                        <a:highlight>
                          <a:srgbClr val="FFFFFF"/>
                        </a:highlight>
                        <a:latin typeface="新宋体"/>
                        <a:ea typeface="新宋体"/>
                      </a:rPr>
                      <a:t>pc</a:t>
                    </a:r>
                    <a:endParaRPr lang="zh-CN" altLang="en-US" dirty="0"/>
                  </a:p>
                </p:txBody>
              </p:sp>
              <p:grpSp>
                <p:nvGrpSpPr>
                  <p:cNvPr id="53" name="组合 52"/>
                  <p:cNvGrpSpPr/>
                  <p:nvPr/>
                </p:nvGrpSpPr>
                <p:grpSpPr>
                  <a:xfrm>
                    <a:off x="6588224" y="1916832"/>
                    <a:ext cx="1080120" cy="2882647"/>
                    <a:chOff x="4427984" y="1914504"/>
                    <a:chExt cx="1080120" cy="2882647"/>
                  </a:xfrm>
                </p:grpSpPr>
                <p:cxnSp>
                  <p:nvCxnSpPr>
                    <p:cNvPr id="57" name="直接连接符 56"/>
                    <p:cNvCxnSpPr/>
                    <p:nvPr/>
                  </p:nvCxnSpPr>
                  <p:spPr>
                    <a:xfrm>
                      <a:off x="442798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50810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427984" y="4216432"/>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4427984" y="314096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94" name="左大括号 93"/>
                <p:cNvSpPr/>
                <p:nvPr/>
              </p:nvSpPr>
              <p:spPr>
                <a:xfrm>
                  <a:off x="3779912" y="4293096"/>
                  <a:ext cx="216024" cy="7601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6" name="直接箭头连接符 105"/>
                <p:cNvCxnSpPr/>
                <p:nvPr/>
              </p:nvCxnSpPr>
              <p:spPr>
                <a:xfrm flipV="1">
                  <a:off x="1691680" y="4696975"/>
                  <a:ext cx="1728192" cy="1108289"/>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108" name="矩形 107"/>
                <p:cNvSpPr/>
                <p:nvPr/>
              </p:nvSpPr>
              <p:spPr>
                <a:xfrm>
                  <a:off x="4296018" y="4304129"/>
                  <a:ext cx="1335147" cy="276999"/>
                </a:xfrm>
                <a:prstGeom prst="rect">
                  <a:avLst/>
                </a:prstGeom>
              </p:spPr>
              <p:txBody>
                <a:bodyPr wrap="square">
                  <a:spAutoFit/>
                </a:bodyPr>
                <a:lstStyle/>
                <a:p>
                  <a:r>
                    <a:rPr lang="zh-CN" altLang="en-US" sz="1200" dirty="0">
                      <a:solidFill>
                        <a:srgbClr val="000000"/>
                      </a:solidFill>
                      <a:highlight>
                        <a:srgbClr val="FFFFFF"/>
                      </a:highlight>
                      <a:latin typeface="新宋体"/>
                      <a:ea typeface="新宋体"/>
                    </a:rPr>
                    <a:t>地址值（野指针）</a:t>
                  </a:r>
                  <a:endParaRPr lang="zh-CN" altLang="en-US" sz="2000" dirty="0"/>
                </a:p>
              </p:txBody>
            </p:sp>
            <p:sp>
              <p:nvSpPr>
                <p:cNvPr id="109" name="矩形 108"/>
                <p:cNvSpPr/>
                <p:nvPr/>
              </p:nvSpPr>
              <p:spPr>
                <a:xfrm>
                  <a:off x="4296018" y="4653136"/>
                  <a:ext cx="1536122" cy="584775"/>
                </a:xfrm>
                <a:prstGeom prst="rect">
                  <a:avLst/>
                </a:prstGeom>
              </p:spPr>
              <p:txBody>
                <a:bodyPr wrap="square">
                  <a:spAutoFit/>
                </a:bodyPr>
                <a:lstStyle/>
                <a:p>
                  <a:r>
                    <a:rPr lang="zh-CN" altLang="en-US" sz="1200" dirty="0">
                      <a:solidFill>
                        <a:srgbClr val="000000"/>
                      </a:solidFill>
                      <a:highlight>
                        <a:srgbClr val="FFFFFF"/>
                      </a:highlight>
                      <a:latin typeface="新宋体"/>
                      <a:ea typeface="新宋体"/>
                    </a:rPr>
                    <a:t>地址值（野指针）</a:t>
                  </a:r>
                </a:p>
                <a:p>
                  <a:endParaRPr lang="zh-CN" altLang="en-US" sz="2000" dirty="0"/>
                </a:p>
              </p:txBody>
            </p:sp>
            <p:sp>
              <p:nvSpPr>
                <p:cNvPr id="111" name="矩形 110"/>
                <p:cNvSpPr/>
                <p:nvPr/>
              </p:nvSpPr>
              <p:spPr>
                <a:xfrm>
                  <a:off x="2308193" y="5353471"/>
                  <a:ext cx="679631" cy="307777"/>
                </a:xfrm>
                <a:prstGeom prst="rect">
                  <a:avLst/>
                </a:prstGeom>
                <a:solidFill>
                  <a:schemeClr val="accent1">
                    <a:tint val="100000"/>
                    <a:shade val="100000"/>
                    <a:hueMod val="100000"/>
                    <a:satMod val="100000"/>
                  </a:schemeClr>
                </a:solidFill>
              </p:spPr>
              <p:txBody>
                <a:bodyPr wrap="square">
                  <a:spAutoFit/>
                </a:bodyPr>
                <a:lstStyle/>
                <a:p>
                  <a:pPr marL="4763"/>
                  <a:r>
                    <a:rPr lang="en-US" altLang="zh-CN" sz="1400" dirty="0">
                      <a:solidFill>
                        <a:srgbClr val="000000"/>
                      </a:solidFill>
                      <a:highlight>
                        <a:srgbClr val="FFFFFF"/>
                      </a:highlight>
                      <a:latin typeface="新宋体"/>
                      <a:ea typeface="新宋体"/>
                    </a:rPr>
                    <a:t>~B() </a:t>
                  </a:r>
                </a:p>
              </p:txBody>
            </p:sp>
          </p:grpSp>
        </p:grpSp>
      </p:grpSp>
    </p:spTree>
    <p:extLst>
      <p:ext uri="{BB962C8B-B14F-4D97-AF65-F5344CB8AC3E}">
        <p14:creationId xmlns:p14="http://schemas.microsoft.com/office/powerpoint/2010/main" val="3990209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024" y="620688"/>
            <a:ext cx="2915816" cy="5909310"/>
          </a:xfrm>
          <a:prstGeom prst="rect">
            <a:avLst/>
          </a:prstGeom>
          <a:solidFill>
            <a:schemeClr val="bg1"/>
          </a:solidFill>
          <a:ln>
            <a:solidFill>
              <a:schemeClr val="accent1">
                <a:shade val="50000"/>
              </a:schemeClr>
            </a:solidFill>
          </a:ln>
        </p:spPr>
        <p:txBody>
          <a:bodyPr wrap="square">
            <a:spAutoFit/>
          </a:bodyPr>
          <a:lstStyle/>
          <a:p>
            <a:r>
              <a:rPr lang="en-US" altLang="zh-CN" dirty="0">
                <a:solidFill>
                  <a:srgbClr val="808080"/>
                </a:solidFill>
                <a:highlight>
                  <a:srgbClr val="FFFFFF"/>
                </a:highlight>
                <a:latin typeface="新宋体"/>
                <a:ea typeface="新宋体"/>
              </a:rPr>
              <a:t>#include</a:t>
            </a:r>
            <a:r>
              <a:rPr lang="en-US" altLang="zh-CN" dirty="0">
                <a:solidFill>
                  <a:srgbClr val="000000"/>
                </a:solidFill>
                <a:highlight>
                  <a:srgbClr val="FFFFFF"/>
                </a:highlight>
                <a:latin typeface="新宋体"/>
                <a:ea typeface="新宋体"/>
              </a:rPr>
              <a:t> </a:t>
            </a:r>
            <a:r>
              <a:rPr lang="en-US" altLang="zh-CN" dirty="0">
                <a:solidFill>
                  <a:srgbClr val="A31515"/>
                </a:solidFill>
                <a:highlight>
                  <a:srgbClr val="FFFFFF"/>
                </a:highlight>
                <a:latin typeface="新宋体"/>
                <a:ea typeface="新宋体"/>
              </a:rPr>
              <a:t>&lt;</a:t>
            </a:r>
            <a:r>
              <a:rPr lang="en-US" altLang="zh-CN" dirty="0" err="1">
                <a:solidFill>
                  <a:srgbClr val="A31515"/>
                </a:solidFill>
                <a:highlight>
                  <a:srgbClr val="FFFFFF"/>
                </a:highlight>
                <a:latin typeface="新宋体"/>
                <a:ea typeface="新宋体"/>
              </a:rPr>
              <a:t>iostream</a:t>
            </a:r>
            <a:r>
              <a:rPr lang="en-US" altLang="zh-CN" dirty="0">
                <a:solidFill>
                  <a:srgbClr val="A31515"/>
                </a:solidFill>
                <a:highlight>
                  <a:srgbClr val="FFFFFF"/>
                </a:highlight>
                <a:latin typeface="新宋体"/>
                <a:ea typeface="新宋体"/>
              </a:rPr>
              <a:t>&gt;</a:t>
            </a:r>
            <a:endParaRPr lang="en-US" altLang="zh-CN"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using</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namespace</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std</a:t>
            </a:r>
            <a:r>
              <a:rPr lang="en-US" altLang="zh-CN" dirty="0">
                <a:solidFill>
                  <a:srgbClr val="000000"/>
                </a:solidFill>
                <a:highlight>
                  <a:srgbClr val="FFFFFF"/>
                </a:highlight>
                <a:latin typeface="新宋体"/>
                <a:ea typeface="新宋体"/>
              </a:rPr>
              <a:t>;</a:t>
            </a:r>
            <a:endParaRPr lang="en-US" altLang="zh-CN" sz="2000" dirty="0">
              <a:solidFill>
                <a:srgbClr val="000000"/>
              </a:solidFill>
              <a:highlight>
                <a:srgbClr val="FFFFFF"/>
              </a:highlight>
              <a:latin typeface="新宋体"/>
              <a:ea typeface="新宋体"/>
            </a:endParaRPr>
          </a:p>
          <a:p>
            <a:r>
              <a:rPr lang="en-US" altLang="zh-CN" dirty="0">
                <a:solidFill>
                  <a:srgbClr val="0000FF"/>
                </a:solidFill>
                <a:highlight>
                  <a:srgbClr val="FFFFFF"/>
                </a:highlight>
                <a:latin typeface="新宋体"/>
                <a:ea typeface="新宋体"/>
              </a:rPr>
              <a:t>class</a:t>
            </a:r>
            <a:r>
              <a:rPr lang="en-US" altLang="zh-CN" dirty="0">
                <a:solidFill>
                  <a:srgbClr val="000000"/>
                </a:solidFill>
                <a:highlight>
                  <a:srgbClr val="FFFFFF"/>
                </a:highlight>
                <a:latin typeface="新宋体"/>
                <a:ea typeface="新宋体"/>
              </a:rPr>
              <a:t> </a:t>
            </a:r>
            <a:r>
              <a:rPr lang="en-US" altLang="zh-CN" dirty="0">
                <a:solidFill>
                  <a:srgbClr val="2B91AF"/>
                </a:solidFill>
                <a:highlight>
                  <a:srgbClr val="FFFFFF"/>
                </a:highlight>
                <a:latin typeface="新宋体"/>
                <a:ea typeface="新宋体"/>
              </a:rPr>
              <a:t>B</a:t>
            </a:r>
            <a:r>
              <a:rPr lang="en-US" altLang="zh-CN" dirty="0">
                <a:solidFill>
                  <a:srgbClr val="000000"/>
                </a:solidFill>
                <a:highlight>
                  <a:srgbClr val="FFFFFF"/>
                </a:highlight>
                <a:latin typeface="新宋体"/>
                <a:ea typeface="新宋体"/>
              </a:rPr>
              <a:t> </a:t>
            </a:r>
          </a:p>
          <a:p>
            <a:r>
              <a:rPr lang="en-US" altLang="zh-CN" dirty="0">
                <a:solidFill>
                  <a:srgbClr val="000000"/>
                </a:solidFill>
                <a:highlight>
                  <a:srgbClr val="FFFFFF"/>
                </a:highlight>
                <a:latin typeface="新宋体"/>
                <a:ea typeface="新宋体"/>
              </a:rPr>
              <a:t>{</a:t>
            </a:r>
            <a:r>
              <a:rPr lang="en-US" altLang="zh-CN" dirty="0">
                <a:solidFill>
                  <a:srgbClr val="0000FF"/>
                </a:solidFill>
                <a:highlight>
                  <a:srgbClr val="FFFFFF"/>
                </a:highlight>
                <a:latin typeface="新宋体"/>
                <a:ea typeface="新宋体"/>
              </a:rPr>
              <a:t>private</a:t>
            </a:r>
            <a:r>
              <a:rPr lang="en-US" altLang="zh-CN" dirty="0">
                <a:solidFill>
                  <a:srgbClr val="000000"/>
                </a:solidFill>
                <a:highlight>
                  <a:srgbClr val="FFFFFF"/>
                </a:highlight>
                <a:latin typeface="新宋体"/>
                <a:ea typeface="新宋体"/>
              </a:rPr>
              <a:t>:</a:t>
            </a:r>
          </a:p>
          <a:p>
            <a:pPr marL="441325"/>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a;</a:t>
            </a:r>
          </a:p>
          <a:p>
            <a:pPr marL="441325"/>
            <a:r>
              <a:rPr lang="en-US" altLang="zh-CN" dirty="0">
                <a:solidFill>
                  <a:srgbClr val="0000FF"/>
                </a:solidFill>
                <a:highlight>
                  <a:srgbClr val="FFFFFF"/>
                </a:highlight>
                <a:latin typeface="新宋体"/>
                <a:ea typeface="新宋体"/>
              </a:rPr>
              <a:t>char</a:t>
            </a:r>
            <a:r>
              <a:rPr lang="en-US" altLang="zh-CN" dirty="0">
                <a:solidFill>
                  <a:srgbClr val="000000"/>
                </a:solidFill>
                <a:highlight>
                  <a:srgbClr val="FFFFFF"/>
                </a:highlight>
                <a:latin typeface="新宋体"/>
                <a:ea typeface="新宋体"/>
              </a:rPr>
              <a:t>* pc;</a:t>
            </a:r>
          </a:p>
          <a:p>
            <a:r>
              <a:rPr lang="en-US" altLang="zh-CN" dirty="0">
                <a:solidFill>
                  <a:srgbClr val="0000FF"/>
                </a:solidFill>
                <a:highlight>
                  <a:srgbClr val="FFFFFF"/>
                </a:highlight>
                <a:latin typeface="新宋体"/>
                <a:ea typeface="新宋体"/>
              </a:rPr>
              <a:t>public</a:t>
            </a:r>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B() </a:t>
            </a:r>
          </a:p>
          <a:p>
            <a:pPr marL="441325"/>
            <a:r>
              <a:rPr lang="en-US" altLang="zh-CN" dirty="0">
                <a:solidFill>
                  <a:srgbClr val="000000"/>
                </a:solidFill>
                <a:highlight>
                  <a:srgbClr val="FFFFFF"/>
                </a:highlight>
                <a:latin typeface="新宋体"/>
                <a:ea typeface="新宋体"/>
              </a:rPr>
              <a:t>{  a = </a:t>
            </a:r>
            <a:r>
              <a:rPr lang="en-US" altLang="zh-CN" dirty="0">
                <a:solidFill>
                  <a:srgbClr val="008080"/>
                </a:solidFill>
                <a:highlight>
                  <a:srgbClr val="FFFFFF"/>
                </a:highlight>
                <a:latin typeface="新宋体"/>
                <a:ea typeface="新宋体"/>
              </a:rPr>
              <a:t>new </a:t>
            </a:r>
            <a:r>
              <a:rPr lang="en-US" altLang="zh-CN" dirty="0" err="1">
                <a:solidFill>
                  <a:srgbClr val="008080"/>
                </a:solidFill>
                <a:highlight>
                  <a:srgbClr val="FFFFFF"/>
                </a:highlight>
                <a:latin typeface="新宋体"/>
                <a:ea typeface="新宋体"/>
              </a:rPr>
              <a:t>i</a:t>
            </a:r>
            <a:r>
              <a:rPr lang="en-US" altLang="zh-CN" dirty="0" err="1">
                <a:solidFill>
                  <a:srgbClr val="0000FF"/>
                </a:solidFill>
                <a:highlight>
                  <a:srgbClr val="FFFFFF"/>
                </a:highlight>
                <a:latin typeface="新宋体"/>
                <a:ea typeface="新宋体"/>
              </a:rPr>
              <a:t>nt</a:t>
            </a:r>
            <a:r>
              <a:rPr lang="en-US" altLang="zh-CN" dirty="0">
                <a:solidFill>
                  <a:srgbClr val="000000"/>
                </a:solidFill>
                <a:highlight>
                  <a:srgbClr val="FFFFFF"/>
                </a:highlight>
                <a:latin typeface="新宋体"/>
                <a:ea typeface="新宋体"/>
              </a:rPr>
              <a:t>[10]; </a:t>
            </a:r>
          </a:p>
          <a:p>
            <a:pPr marL="708025" defTabSz="808038"/>
            <a:r>
              <a:rPr lang="en-US" altLang="zh-CN" dirty="0">
                <a:solidFill>
                  <a:srgbClr val="000000"/>
                </a:solidFill>
                <a:highlight>
                  <a:srgbClr val="FFFFFF"/>
                </a:highlight>
                <a:latin typeface="新宋体"/>
                <a:ea typeface="新宋体"/>
              </a:rPr>
              <a:t> pc = </a:t>
            </a:r>
            <a:r>
              <a:rPr lang="en-US" altLang="zh-CN" dirty="0">
                <a:solidFill>
                  <a:srgbClr val="008080"/>
                </a:solidFill>
                <a:highlight>
                  <a:srgbClr val="FFFFFF"/>
                </a:highlight>
                <a:latin typeface="新宋体"/>
                <a:ea typeface="新宋体"/>
              </a:rPr>
              <a:t>new</a:t>
            </a:r>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char</a:t>
            </a:r>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a:t>
            </a:r>
          </a:p>
          <a:p>
            <a:pPr marL="441325"/>
            <a:r>
              <a:rPr lang="en-US" altLang="zh-CN" dirty="0">
                <a:solidFill>
                  <a:srgbClr val="000000"/>
                </a:solidFill>
                <a:highlight>
                  <a:srgbClr val="FFFFFF"/>
                </a:highlight>
                <a:latin typeface="新宋体"/>
                <a:ea typeface="新宋体"/>
              </a:rPr>
              <a:t>~B()</a:t>
            </a:r>
          </a:p>
          <a:p>
            <a:pPr marL="441325"/>
            <a:r>
              <a:rPr lang="en-US" altLang="zh-CN" dirty="0">
                <a:solidFill>
                  <a:srgbClr val="000000"/>
                </a:solidFill>
                <a:highlight>
                  <a:srgbClr val="FFFFFF"/>
                </a:highlight>
                <a:latin typeface="新宋体"/>
                <a:ea typeface="新宋体"/>
              </a:rPr>
              <a:t>{  </a:t>
            </a:r>
            <a:r>
              <a:rPr lang="en-US" altLang="zh-CN" dirty="0">
                <a:solidFill>
                  <a:srgbClr val="008080"/>
                </a:solidFill>
                <a:highlight>
                  <a:srgbClr val="FFFFFF"/>
                </a:highlight>
                <a:latin typeface="新宋体"/>
                <a:ea typeface="新宋体"/>
              </a:rPr>
              <a:t>delete[]</a:t>
            </a:r>
            <a:r>
              <a:rPr lang="en-US" altLang="zh-CN" dirty="0">
                <a:solidFill>
                  <a:srgbClr val="000000"/>
                </a:solidFill>
                <a:highlight>
                  <a:srgbClr val="FFFFFF"/>
                </a:highlight>
                <a:latin typeface="新宋体"/>
                <a:ea typeface="新宋体"/>
              </a:rPr>
              <a:t> a;     </a:t>
            </a:r>
          </a:p>
          <a:p>
            <a:pPr marL="708025" defTabSz="808038"/>
            <a:r>
              <a:rPr lang="en-US" altLang="zh-CN" dirty="0">
                <a:solidFill>
                  <a:srgbClr val="008080"/>
                </a:solidFill>
                <a:highlight>
                  <a:srgbClr val="FFFFFF"/>
                </a:highlight>
                <a:latin typeface="新宋体"/>
                <a:ea typeface="新宋体"/>
              </a:rPr>
              <a:t> delete</a:t>
            </a:r>
            <a:r>
              <a:rPr lang="en-US" altLang="zh-CN" dirty="0">
                <a:solidFill>
                  <a:srgbClr val="000000"/>
                </a:solidFill>
                <a:highlight>
                  <a:srgbClr val="FFFFFF"/>
                </a:highlight>
                <a:latin typeface="新宋体"/>
                <a:ea typeface="新宋体"/>
              </a:rPr>
              <a:t> pc;</a:t>
            </a:r>
          </a:p>
          <a:p>
            <a:pPr marL="441325"/>
            <a:r>
              <a:rPr lang="en-US" altLang="zh-CN" dirty="0">
                <a:solidFill>
                  <a:srgbClr val="000000"/>
                </a:solidFill>
                <a:highlight>
                  <a:srgbClr val="FFFFFF"/>
                </a:highlight>
                <a:latin typeface="新宋体"/>
                <a:ea typeface="新宋体"/>
              </a:rPr>
              <a:t>}</a:t>
            </a:r>
          </a:p>
          <a:p>
            <a:r>
              <a:rPr lang="en-US" altLang="zh-CN" dirty="0">
                <a:solidFill>
                  <a:srgbClr val="000000"/>
                </a:solidFill>
                <a:highlight>
                  <a:srgbClr val="FFFFFF"/>
                </a:highlight>
                <a:latin typeface="新宋体"/>
                <a:ea typeface="新宋体"/>
              </a:rPr>
              <a:t>};</a:t>
            </a:r>
          </a:p>
          <a:p>
            <a:pPr lvl="0"/>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main() </a:t>
            </a:r>
          </a:p>
          <a:p>
            <a:pPr lvl="0"/>
            <a:r>
              <a:rPr lang="en-US" altLang="zh-CN" dirty="0">
                <a:solidFill>
                  <a:srgbClr val="000000"/>
                </a:solidFill>
                <a:highlight>
                  <a:srgbClr val="FFFFFF"/>
                </a:highlight>
                <a:latin typeface="新宋体"/>
                <a:ea typeface="新宋体"/>
              </a:rPr>
              <a:t>{  </a:t>
            </a:r>
            <a:r>
              <a:rPr lang="en-US" altLang="zh-CN" dirty="0">
                <a:solidFill>
                  <a:srgbClr val="2B91AF"/>
                </a:solidFill>
                <a:highlight>
                  <a:srgbClr val="FFFFFF"/>
                </a:highlight>
                <a:latin typeface="新宋体"/>
                <a:ea typeface="新宋体"/>
              </a:rPr>
              <a:t>B</a:t>
            </a:r>
            <a:r>
              <a:rPr lang="en-US" altLang="zh-CN" dirty="0">
                <a:solidFill>
                  <a:srgbClr val="000000"/>
                </a:solidFill>
                <a:highlight>
                  <a:srgbClr val="FFFFFF"/>
                </a:highlight>
                <a:latin typeface="新宋体"/>
                <a:ea typeface="新宋体"/>
              </a:rPr>
              <a:t> x;</a:t>
            </a:r>
          </a:p>
          <a:p>
            <a:pPr marL="273050" lvl="0"/>
            <a:r>
              <a:rPr lang="en-US" altLang="zh-CN" dirty="0">
                <a:solidFill>
                  <a:srgbClr val="0000FF"/>
                </a:solidFill>
                <a:highlight>
                  <a:srgbClr val="FFFFFF"/>
                </a:highlight>
                <a:latin typeface="新宋体"/>
                <a:ea typeface="新宋体"/>
              </a:rPr>
              <a:t>return</a:t>
            </a:r>
            <a:r>
              <a:rPr lang="en-US" altLang="zh-CN" dirty="0">
                <a:solidFill>
                  <a:srgbClr val="000000"/>
                </a:solidFill>
                <a:highlight>
                  <a:srgbClr val="FFFFFF"/>
                </a:highlight>
                <a:latin typeface="新宋体"/>
                <a:ea typeface="新宋体"/>
              </a:rPr>
              <a:t> 0;</a:t>
            </a:r>
          </a:p>
          <a:p>
            <a:pPr lvl="0"/>
            <a:r>
              <a:rPr lang="en-US" altLang="zh-CN" dirty="0">
                <a:solidFill>
                  <a:srgbClr val="000000"/>
                </a:solidFill>
                <a:highlight>
                  <a:srgbClr val="FFFFFF"/>
                </a:highlight>
                <a:latin typeface="新宋体"/>
                <a:ea typeface="新宋体"/>
              </a:rPr>
              <a:t>}</a:t>
            </a:r>
            <a:endParaRPr lang="zh-CN" altLang="en-US" dirty="0">
              <a:solidFill>
                <a:prstClr val="black"/>
              </a:solidFill>
            </a:endParaRPr>
          </a:p>
          <a:p>
            <a:endParaRPr lang="en-US" altLang="zh-CN" dirty="0">
              <a:solidFill>
                <a:srgbClr val="000000"/>
              </a:solidFill>
              <a:highlight>
                <a:srgbClr val="FFFFFF"/>
              </a:highlight>
              <a:latin typeface="新宋体"/>
              <a:ea typeface="新宋体"/>
            </a:endParaRPr>
          </a:p>
        </p:txBody>
      </p:sp>
      <p:grpSp>
        <p:nvGrpSpPr>
          <p:cNvPr id="19" name="组合 18"/>
          <p:cNvGrpSpPr/>
          <p:nvPr/>
        </p:nvGrpSpPr>
        <p:grpSpPr>
          <a:xfrm>
            <a:off x="467544" y="3429000"/>
            <a:ext cx="7200800" cy="3240360"/>
            <a:chOff x="467544" y="3429000"/>
            <a:chExt cx="7200800" cy="3240360"/>
          </a:xfrm>
        </p:grpSpPr>
        <p:grpSp>
          <p:nvGrpSpPr>
            <p:cNvPr id="18" name="组合 17"/>
            <p:cNvGrpSpPr/>
            <p:nvPr/>
          </p:nvGrpSpPr>
          <p:grpSpPr>
            <a:xfrm>
              <a:off x="467544" y="3429000"/>
              <a:ext cx="7200800" cy="3240360"/>
              <a:chOff x="467544" y="3429000"/>
              <a:chExt cx="7200800" cy="3240360"/>
            </a:xfrm>
          </p:grpSpPr>
          <p:sp>
            <p:nvSpPr>
              <p:cNvPr id="85" name="矩形 84"/>
              <p:cNvSpPr/>
              <p:nvPr/>
            </p:nvSpPr>
            <p:spPr>
              <a:xfrm>
                <a:off x="2303748" y="5301208"/>
                <a:ext cx="1260140" cy="307777"/>
              </a:xfrm>
              <a:prstGeom prst="rect">
                <a:avLst/>
              </a:prstGeom>
              <a:solidFill>
                <a:schemeClr val="accent1">
                  <a:tint val="100000"/>
                  <a:shade val="100000"/>
                  <a:hueMod val="100000"/>
                  <a:satMod val="100000"/>
                </a:schemeClr>
              </a:solidFill>
            </p:spPr>
            <p:txBody>
              <a:bodyPr wrap="square">
                <a:spAutoFit/>
              </a:bodyPr>
              <a:lstStyle/>
              <a:p>
                <a:pPr marL="4763"/>
                <a:r>
                  <a:rPr lang="zh-CN" altLang="en-US" sz="1400" dirty="0">
                    <a:solidFill>
                      <a:srgbClr val="000000"/>
                    </a:solidFill>
                    <a:highlight>
                      <a:srgbClr val="FFFFFF"/>
                    </a:highlight>
                    <a:latin typeface="新宋体"/>
                    <a:ea typeface="新宋体"/>
                  </a:rPr>
                  <a:t>应用程序结束</a:t>
                </a:r>
                <a:endParaRPr lang="en-US" altLang="zh-CN" sz="1400" dirty="0">
                  <a:solidFill>
                    <a:srgbClr val="000000"/>
                  </a:solidFill>
                  <a:highlight>
                    <a:srgbClr val="FFFFFF"/>
                  </a:highlight>
                  <a:latin typeface="新宋体"/>
                  <a:ea typeface="新宋体"/>
                </a:endParaRPr>
              </a:p>
            </p:txBody>
          </p:sp>
          <p:grpSp>
            <p:nvGrpSpPr>
              <p:cNvPr id="8" name="组合 7"/>
              <p:cNvGrpSpPr/>
              <p:nvPr/>
            </p:nvGrpSpPr>
            <p:grpSpPr>
              <a:xfrm>
                <a:off x="467544" y="3429000"/>
                <a:ext cx="7200800" cy="3240360"/>
                <a:chOff x="467544" y="3429000"/>
                <a:chExt cx="7200800" cy="3240360"/>
              </a:xfrm>
            </p:grpSpPr>
            <p:grpSp>
              <p:nvGrpSpPr>
                <p:cNvPr id="39" name="组合 38"/>
                <p:cNvGrpSpPr/>
                <p:nvPr/>
              </p:nvGrpSpPr>
              <p:grpSpPr>
                <a:xfrm>
                  <a:off x="467544" y="3784385"/>
                  <a:ext cx="7200800" cy="2884975"/>
                  <a:chOff x="467544" y="3784385"/>
                  <a:chExt cx="7200800" cy="2884975"/>
                </a:xfrm>
              </p:grpSpPr>
              <p:cxnSp>
                <p:nvCxnSpPr>
                  <p:cNvPr id="73" name="直接连接符 72"/>
                  <p:cNvCxnSpPr/>
                  <p:nvPr/>
                </p:nvCxnSpPr>
                <p:spPr>
                  <a:xfrm>
                    <a:off x="6588224" y="573325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6588224" y="6453336"/>
                    <a:ext cx="10801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467544" y="3784385"/>
                    <a:ext cx="7200800" cy="2884975"/>
                    <a:chOff x="467544" y="3784385"/>
                    <a:chExt cx="7200800" cy="2884975"/>
                  </a:xfrm>
                </p:grpSpPr>
                <p:cxnSp>
                  <p:nvCxnSpPr>
                    <p:cNvPr id="70" name="直接连接符 69"/>
                    <p:cNvCxnSpPr/>
                    <p:nvPr/>
                  </p:nvCxnSpPr>
                  <p:spPr>
                    <a:xfrm>
                      <a:off x="6588224" y="393305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6588224" y="429309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6588224" y="4653136"/>
                      <a:ext cx="10801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467544" y="3784385"/>
                      <a:ext cx="7200800" cy="2884975"/>
                      <a:chOff x="467544" y="3784385"/>
                      <a:chExt cx="7200800" cy="2884975"/>
                    </a:xfrm>
                  </p:grpSpPr>
                  <p:grpSp>
                    <p:nvGrpSpPr>
                      <p:cNvPr id="48" name="组合 47"/>
                      <p:cNvGrpSpPr/>
                      <p:nvPr/>
                    </p:nvGrpSpPr>
                    <p:grpSpPr>
                      <a:xfrm>
                        <a:off x="4427984" y="3784385"/>
                        <a:ext cx="3240360" cy="2884975"/>
                        <a:chOff x="4427984" y="1914504"/>
                        <a:chExt cx="3240360" cy="2884975"/>
                      </a:xfrm>
                    </p:grpSpPr>
                    <p:grpSp>
                      <p:nvGrpSpPr>
                        <p:cNvPr id="49" name="组合 48"/>
                        <p:cNvGrpSpPr/>
                        <p:nvPr/>
                      </p:nvGrpSpPr>
                      <p:grpSpPr>
                        <a:xfrm>
                          <a:off x="4427984" y="1914504"/>
                          <a:ext cx="1080120" cy="2882647"/>
                          <a:chOff x="4427984" y="1914504"/>
                          <a:chExt cx="1080120" cy="2882647"/>
                        </a:xfrm>
                      </p:grpSpPr>
                      <p:cxnSp>
                        <p:nvCxnSpPr>
                          <p:cNvPr id="62" name="直接连接符 61"/>
                          <p:cNvCxnSpPr/>
                          <p:nvPr/>
                        </p:nvCxnSpPr>
                        <p:spPr>
                          <a:xfrm>
                            <a:off x="442798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50810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427984" y="242088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427984" y="278092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4427984" y="314096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6588224" y="1916832"/>
                          <a:ext cx="1080120" cy="2882647"/>
                          <a:chOff x="4427984" y="1914504"/>
                          <a:chExt cx="1080120" cy="2882647"/>
                        </a:xfrm>
                      </p:grpSpPr>
                      <p:cxnSp>
                        <p:nvCxnSpPr>
                          <p:cNvPr id="57" name="直接连接符 56"/>
                          <p:cNvCxnSpPr/>
                          <p:nvPr/>
                        </p:nvCxnSpPr>
                        <p:spPr>
                          <a:xfrm>
                            <a:off x="442798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508104" y="1914504"/>
                            <a:ext cx="0" cy="2882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427984" y="4216432"/>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4427984" y="3140968"/>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427984" y="3501008"/>
                            <a:ext cx="1080120" cy="0"/>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106" name="直接箭头连接符 105"/>
                      <p:cNvCxnSpPr/>
                      <p:nvPr/>
                    </p:nvCxnSpPr>
                    <p:spPr>
                      <a:xfrm flipV="1">
                        <a:off x="467544" y="4437112"/>
                        <a:ext cx="3672408" cy="1651530"/>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grpSp>
            </p:grpSp>
            <p:sp>
              <p:nvSpPr>
                <p:cNvPr id="88" name="矩形 87"/>
                <p:cNvSpPr/>
                <p:nvPr/>
              </p:nvSpPr>
              <p:spPr>
                <a:xfrm>
                  <a:off x="4716016" y="3429000"/>
                  <a:ext cx="576064" cy="276999"/>
                </a:xfrm>
                <a:prstGeom prst="rect">
                  <a:avLst/>
                </a:prstGeom>
                <a:noFill/>
                <a:ln>
                  <a:solidFill>
                    <a:schemeClr val="accent1">
                      <a:shade val="50000"/>
                    </a:schemeClr>
                  </a:solidFill>
                </a:ln>
              </p:spPr>
              <p:txBody>
                <a:bodyPr wrap="square">
                  <a:spAutoFit/>
                </a:bodyPr>
                <a:lstStyle/>
                <a:p>
                  <a:r>
                    <a:rPr lang="en-US" altLang="zh-CN" sz="1200" dirty="0">
                      <a:solidFill>
                        <a:srgbClr val="000000"/>
                      </a:solidFill>
                      <a:highlight>
                        <a:srgbClr val="FFFFFF"/>
                      </a:highlight>
                      <a:latin typeface="新宋体"/>
                      <a:ea typeface="新宋体"/>
                    </a:rPr>
                    <a:t>Stack</a:t>
                  </a:r>
                  <a:endParaRPr lang="zh-CN" altLang="en-US" sz="2000" dirty="0"/>
                </a:p>
              </p:txBody>
            </p:sp>
            <p:sp>
              <p:nvSpPr>
                <p:cNvPr id="90" name="矩形 89"/>
                <p:cNvSpPr/>
                <p:nvPr/>
              </p:nvSpPr>
              <p:spPr>
                <a:xfrm>
                  <a:off x="6804248" y="3440033"/>
                  <a:ext cx="576064" cy="276999"/>
                </a:xfrm>
                <a:prstGeom prst="rect">
                  <a:avLst/>
                </a:prstGeom>
                <a:noFill/>
                <a:ln>
                  <a:solidFill>
                    <a:schemeClr val="accent1">
                      <a:shade val="50000"/>
                    </a:schemeClr>
                  </a:solidFill>
                </a:ln>
              </p:spPr>
              <p:txBody>
                <a:bodyPr wrap="square">
                  <a:spAutoFit/>
                </a:bodyPr>
                <a:lstStyle/>
                <a:p>
                  <a:r>
                    <a:rPr lang="en-US" altLang="zh-CN" sz="1200" dirty="0">
                      <a:solidFill>
                        <a:srgbClr val="000000"/>
                      </a:solidFill>
                      <a:highlight>
                        <a:srgbClr val="FFFFFF"/>
                      </a:highlight>
                      <a:latin typeface="新宋体"/>
                      <a:ea typeface="新宋体"/>
                    </a:rPr>
                    <a:t>Heap</a:t>
                  </a:r>
                  <a:endParaRPr lang="zh-CN" altLang="en-US" sz="2000" dirty="0"/>
                </a:p>
              </p:txBody>
            </p:sp>
          </p:grpSp>
        </p:grpSp>
        <p:cxnSp>
          <p:nvCxnSpPr>
            <p:cNvPr id="93" name="直接连接符 92"/>
            <p:cNvCxnSpPr/>
            <p:nvPr/>
          </p:nvCxnSpPr>
          <p:spPr>
            <a:xfrm>
              <a:off x="4427984" y="5733256"/>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427984" y="6093296"/>
              <a:ext cx="1080120"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966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260648"/>
            <a:ext cx="3528392" cy="3785652"/>
          </a:xfrm>
          <a:prstGeom prst="rect">
            <a:avLst/>
          </a:prstGeom>
          <a:solidFill>
            <a:schemeClr val="bg1"/>
          </a:solidFill>
          <a:ln>
            <a:solidFill>
              <a:schemeClr val="bg2">
                <a:lumMod val="25000"/>
              </a:schemeClr>
            </a:solidFill>
          </a:ln>
        </p:spPr>
        <p:txBody>
          <a:bodyPr wrap="square">
            <a:spAutoFit/>
          </a:bodyPr>
          <a:lstStyle/>
          <a:p>
            <a:pPr lvl="0"/>
            <a:r>
              <a:rPr lang="en-US" altLang="zh-CN" sz="1600" dirty="0">
                <a:solidFill>
                  <a:srgbClr val="000000"/>
                </a:solidFill>
                <a:highlight>
                  <a:srgbClr val="FFFFFF"/>
                </a:highlight>
                <a:latin typeface="新宋体"/>
                <a:ea typeface="新宋体"/>
              </a:rPr>
              <a:t>【</a:t>
            </a:r>
            <a:r>
              <a:rPr lang="zh-CN" altLang="en-US" sz="1600" dirty="0">
                <a:solidFill>
                  <a:srgbClr val="000000"/>
                </a:solidFill>
                <a:highlight>
                  <a:srgbClr val="FFFFFF"/>
                </a:highlight>
                <a:latin typeface="新宋体"/>
                <a:ea typeface="新宋体"/>
              </a:rPr>
              <a:t>课堂练习</a:t>
            </a:r>
            <a:r>
              <a:rPr lang="en-US" altLang="zh-CN" sz="1600" dirty="0">
                <a:solidFill>
                  <a:srgbClr val="000000"/>
                </a:solidFill>
                <a:highlight>
                  <a:srgbClr val="FFFFFF"/>
                </a:highlight>
                <a:latin typeface="新宋体"/>
                <a:ea typeface="新宋体"/>
              </a:rPr>
              <a:t>】 </a:t>
            </a:r>
            <a:r>
              <a:rPr lang="zh-CN" altLang="en-US" sz="1600" dirty="0">
                <a:solidFill>
                  <a:srgbClr val="000000"/>
                </a:solidFill>
                <a:highlight>
                  <a:srgbClr val="FFFFFF"/>
                </a:highlight>
                <a:latin typeface="新宋体"/>
                <a:ea typeface="新宋体"/>
              </a:rPr>
              <a:t>程序改错</a:t>
            </a:r>
            <a:endParaRPr lang="en-US" altLang="zh-CN" sz="1600" dirty="0">
              <a:solidFill>
                <a:srgbClr val="000000"/>
              </a:solidFill>
              <a:highlight>
                <a:srgbClr val="FFFFFF"/>
              </a:highlight>
              <a:latin typeface="新宋体"/>
              <a:ea typeface="新宋体"/>
            </a:endParaRPr>
          </a:p>
          <a:p>
            <a:pPr lvl="0"/>
            <a:endParaRPr lang="zh-CN" altLang="en-US"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题目</a:t>
            </a:r>
            <a:r>
              <a:rPr lang="en-US" altLang="zh-CN" sz="1600" dirty="0">
                <a:solidFill>
                  <a:srgbClr val="000000"/>
                </a:solidFill>
                <a:highlight>
                  <a:srgbClr val="FFFFFF"/>
                </a:highlight>
                <a:latin typeface="新宋体"/>
                <a:ea typeface="新宋体"/>
              </a:rPr>
              <a:t>:</a:t>
            </a:r>
            <a:r>
              <a:rPr lang="zh-CN" altLang="en-US" sz="1600" dirty="0">
                <a:solidFill>
                  <a:srgbClr val="000000"/>
                </a:solidFill>
                <a:highlight>
                  <a:srgbClr val="FFFFFF"/>
                </a:highlight>
                <a:latin typeface="新宋体"/>
                <a:ea typeface="新宋体"/>
              </a:rPr>
              <a:t>以下程序的输出结果为：</a:t>
            </a:r>
          </a:p>
          <a:p>
            <a:pPr lvl="0"/>
            <a:r>
              <a:rPr lang="zh-CN" altLang="en-US" sz="1600" dirty="0">
                <a:solidFill>
                  <a:srgbClr val="000000"/>
                </a:solidFill>
                <a:highlight>
                  <a:srgbClr val="FFFFFF"/>
                </a:highlight>
                <a:latin typeface="新宋体"/>
                <a:ea typeface="新宋体"/>
              </a:rPr>
              <a:t>     调用构造函数</a:t>
            </a:r>
          </a:p>
          <a:p>
            <a:pPr lvl="0"/>
            <a:r>
              <a:rPr lang="en-US" altLang="zh-CN" sz="1600" dirty="0">
                <a:solidFill>
                  <a:srgbClr val="000000"/>
                </a:solidFill>
                <a:highlight>
                  <a:srgbClr val="FFFFFF"/>
                </a:highlight>
                <a:latin typeface="新宋体"/>
                <a:ea typeface="新宋体"/>
              </a:rPr>
              <a:t>     The text=</a:t>
            </a:r>
            <a:r>
              <a:rPr lang="en-US" altLang="zh-CN" sz="1600" dirty="0" err="1">
                <a:solidFill>
                  <a:srgbClr val="000000"/>
                </a:solidFill>
                <a:highlight>
                  <a:srgbClr val="FFFFFF"/>
                </a:highlight>
                <a:latin typeface="新宋体"/>
                <a:ea typeface="新宋体"/>
              </a:rPr>
              <a:t>abcdef</a:t>
            </a:r>
            <a:endParaRPr lang="en-US" altLang="zh-CN"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     调用析构函数</a:t>
            </a:r>
          </a:p>
          <a:p>
            <a:pPr lvl="0"/>
            <a:endParaRPr lang="zh-CN" altLang="en-US"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注意：不可以增加或删除程序行，</a:t>
            </a:r>
            <a:endParaRPr lang="en-US" altLang="zh-CN"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也不可以更改程序的结构。</a:t>
            </a:r>
          </a:p>
          <a:p>
            <a:pPr lvl="0"/>
            <a:r>
              <a:rPr lang="zh-CN" altLang="en-US" sz="1600" dirty="0">
                <a:solidFill>
                  <a:srgbClr val="000000"/>
                </a:solidFill>
                <a:highlight>
                  <a:srgbClr val="FFFFFF"/>
                </a:highlight>
                <a:latin typeface="新宋体"/>
                <a:ea typeface="新宋体"/>
              </a:rPr>
              <a:t>      仅修正改错标记</a:t>
            </a:r>
            <a:r>
              <a:rPr lang="en-US" altLang="zh-CN" sz="1600" dirty="0">
                <a:solidFill>
                  <a:srgbClr val="000000"/>
                </a:solidFill>
                <a:highlight>
                  <a:srgbClr val="FFFFFF"/>
                </a:highlight>
                <a:latin typeface="新宋体"/>
                <a:ea typeface="新宋体"/>
              </a:rPr>
              <a:t>FOUND</a:t>
            </a:r>
            <a:r>
              <a:rPr lang="zh-CN" altLang="en-US" sz="1600" dirty="0">
                <a:solidFill>
                  <a:srgbClr val="000000"/>
                </a:solidFill>
                <a:highlight>
                  <a:srgbClr val="FFFFFF"/>
                </a:highlight>
                <a:latin typeface="新宋体"/>
                <a:ea typeface="新宋体"/>
              </a:rPr>
              <a:t>之下</a:t>
            </a:r>
            <a:endParaRPr lang="en-US" altLang="zh-CN"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的那行内容，不允许删除</a:t>
            </a:r>
            <a:r>
              <a:rPr lang="en-US" altLang="zh-CN" sz="1600" dirty="0">
                <a:solidFill>
                  <a:srgbClr val="000000"/>
                </a:solidFill>
                <a:highlight>
                  <a:srgbClr val="FFFFFF"/>
                </a:highlight>
                <a:latin typeface="新宋体"/>
                <a:ea typeface="新宋体"/>
              </a:rPr>
              <a:t>FOUND</a:t>
            </a:r>
            <a:r>
              <a:rPr lang="zh-CN" altLang="en-US" sz="1600" dirty="0">
                <a:solidFill>
                  <a:srgbClr val="000000"/>
                </a:solidFill>
                <a:highlight>
                  <a:srgbClr val="FFFFFF"/>
                </a:highlight>
                <a:latin typeface="新宋体"/>
                <a:ea typeface="新宋体"/>
              </a:rPr>
              <a:t>行</a:t>
            </a:r>
            <a:endParaRPr lang="en-US" altLang="zh-CN" sz="1600" dirty="0">
              <a:solidFill>
                <a:srgbClr val="000000"/>
              </a:solidFill>
              <a:highlight>
                <a:srgbClr val="FFFFFF"/>
              </a:highlight>
              <a:latin typeface="新宋体"/>
              <a:ea typeface="新宋体"/>
            </a:endParaRPr>
          </a:p>
          <a:p>
            <a:pPr lvl="0"/>
            <a:endParaRPr lang="zh-CN" altLang="en-US" sz="1600" dirty="0">
              <a:solidFill>
                <a:srgbClr val="000000"/>
              </a:solidFill>
              <a:highlight>
                <a:srgbClr val="FFFFFF"/>
              </a:highlight>
              <a:latin typeface="新宋体"/>
              <a:ea typeface="新宋体"/>
            </a:endParaRPr>
          </a:p>
          <a:p>
            <a:pPr lvl="0"/>
            <a:r>
              <a:rPr lang="en-US" altLang="zh-CN" sz="1600" dirty="0">
                <a:solidFill>
                  <a:srgbClr val="808080"/>
                </a:solidFill>
                <a:highlight>
                  <a:srgbClr val="FFFFFF"/>
                </a:highlight>
                <a:latin typeface="新宋体"/>
                <a:ea typeface="新宋体"/>
              </a:rPr>
              <a:t>#include</a:t>
            </a:r>
            <a:r>
              <a:rPr lang="en-US" altLang="zh-CN" sz="1600" dirty="0">
                <a:solidFill>
                  <a:srgbClr val="000000"/>
                </a:solidFill>
                <a:highlight>
                  <a:srgbClr val="FFFFFF"/>
                </a:highlight>
                <a:latin typeface="新宋体"/>
                <a:ea typeface="新宋体"/>
              </a:rPr>
              <a:t> </a:t>
            </a:r>
            <a:r>
              <a:rPr lang="en-US" altLang="zh-CN" sz="1600" dirty="0">
                <a:solidFill>
                  <a:srgbClr val="A31515"/>
                </a:solidFill>
                <a:highlight>
                  <a:srgbClr val="FFFFFF"/>
                </a:highlight>
                <a:latin typeface="新宋体"/>
                <a:ea typeface="新宋体"/>
              </a:rPr>
              <a:t>&lt;</a:t>
            </a:r>
            <a:r>
              <a:rPr lang="en-US" altLang="zh-CN" sz="1600" dirty="0" err="1">
                <a:solidFill>
                  <a:srgbClr val="A31515"/>
                </a:solidFill>
                <a:highlight>
                  <a:srgbClr val="FFFFFF"/>
                </a:highlight>
                <a:latin typeface="新宋体"/>
                <a:ea typeface="新宋体"/>
              </a:rPr>
              <a:t>iostream</a:t>
            </a:r>
            <a:r>
              <a:rPr lang="en-US" altLang="zh-CN" sz="1600" dirty="0">
                <a:solidFill>
                  <a:srgbClr val="A31515"/>
                </a:solidFill>
                <a:highlight>
                  <a:srgbClr val="FFFFFF"/>
                </a:highlight>
                <a:latin typeface="新宋体"/>
                <a:ea typeface="新宋体"/>
              </a:rPr>
              <a:t>&gt;</a:t>
            </a:r>
            <a:endParaRPr lang="en-US" altLang="zh-CN" sz="1600" dirty="0">
              <a:solidFill>
                <a:srgbClr val="000000"/>
              </a:solidFill>
              <a:highlight>
                <a:srgbClr val="FFFFFF"/>
              </a:highlight>
              <a:latin typeface="新宋体"/>
              <a:ea typeface="新宋体"/>
            </a:endParaRPr>
          </a:p>
          <a:p>
            <a:pPr lvl="0"/>
            <a:r>
              <a:rPr lang="en-US" altLang="zh-CN" sz="1600" dirty="0">
                <a:solidFill>
                  <a:srgbClr val="0000FF"/>
                </a:solidFill>
                <a:highlight>
                  <a:srgbClr val="FFFFFF"/>
                </a:highlight>
                <a:latin typeface="新宋体"/>
                <a:ea typeface="新宋体"/>
              </a:rPr>
              <a:t>using</a:t>
            </a:r>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namespace</a:t>
            </a:r>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std</a:t>
            </a:r>
            <a:r>
              <a:rPr lang="en-US" altLang="zh-CN" sz="1600" dirty="0">
                <a:solidFill>
                  <a:srgbClr val="000000"/>
                </a:solidFill>
                <a:highlight>
                  <a:srgbClr val="FFFFFF"/>
                </a:highlight>
                <a:latin typeface="新宋体"/>
                <a:ea typeface="新宋体"/>
              </a:rPr>
              <a:t>;</a:t>
            </a:r>
          </a:p>
          <a:p>
            <a:pPr lvl="0"/>
            <a:endParaRPr lang="en-US" altLang="zh-CN" sz="1600" dirty="0">
              <a:solidFill>
                <a:srgbClr val="000000"/>
              </a:solidFill>
              <a:highlight>
                <a:srgbClr val="FFFFFF"/>
              </a:highlight>
              <a:latin typeface="新宋体"/>
              <a:ea typeface="新宋体"/>
            </a:endParaRPr>
          </a:p>
        </p:txBody>
      </p:sp>
      <p:sp>
        <p:nvSpPr>
          <p:cNvPr id="2" name="矩形 1"/>
          <p:cNvSpPr/>
          <p:nvPr/>
        </p:nvSpPr>
        <p:spPr>
          <a:xfrm>
            <a:off x="3995936" y="31259"/>
            <a:ext cx="4752528" cy="6494085"/>
          </a:xfrm>
          <a:prstGeom prst="rect">
            <a:avLst/>
          </a:prstGeom>
          <a:solidFill>
            <a:schemeClr val="bg1"/>
          </a:solidFill>
          <a:ln>
            <a:solidFill>
              <a:schemeClr val="bg2">
                <a:lumMod val="25000"/>
              </a:schemeClr>
            </a:solidFill>
          </a:ln>
        </p:spPr>
        <p:txBody>
          <a:bodyPr wrap="square">
            <a:spAutoFit/>
          </a:bodyPr>
          <a:lstStyle/>
          <a:p>
            <a:r>
              <a:rPr lang="en-US" altLang="zh-CN" sz="1600" dirty="0">
                <a:solidFill>
                  <a:srgbClr val="0000FF"/>
                </a:solidFill>
                <a:highlight>
                  <a:srgbClr val="FFFFFF"/>
                </a:highlight>
                <a:latin typeface="新宋体"/>
                <a:ea typeface="新宋体"/>
              </a:rPr>
              <a:t>class</a:t>
            </a:r>
            <a:r>
              <a:rPr lang="en-US" altLang="zh-CN" sz="1600" dirty="0">
                <a:solidFill>
                  <a:srgbClr val="000000"/>
                </a:solidFill>
                <a:highlight>
                  <a:srgbClr val="FFFFFF"/>
                </a:highlight>
                <a:latin typeface="新宋体"/>
                <a:ea typeface="新宋体"/>
              </a:rPr>
              <a:t> </a:t>
            </a:r>
            <a:r>
              <a:rPr lang="en-US" altLang="zh-CN" sz="1600" dirty="0">
                <a:solidFill>
                  <a:srgbClr val="2B91AF"/>
                </a:solidFill>
                <a:highlight>
                  <a:srgbClr val="FFFFFF"/>
                </a:highlight>
                <a:latin typeface="新宋体"/>
                <a:ea typeface="新宋体"/>
              </a:rPr>
              <a:t>String</a:t>
            </a:r>
            <a:endParaRPr lang="en-US" altLang="zh-CN" sz="1600" dirty="0">
              <a:solidFill>
                <a:srgbClr val="000000"/>
              </a:solidFill>
              <a:highlight>
                <a:srgbClr val="FFFFFF"/>
              </a:highlight>
              <a:latin typeface="新宋体"/>
              <a:ea typeface="新宋体"/>
            </a:endParaRPr>
          </a:p>
          <a:p>
            <a:r>
              <a:rPr lang="en-US" altLang="zh-CN" sz="1600" dirty="0">
                <a:solidFill>
                  <a:srgbClr val="000000"/>
                </a:solidFill>
                <a:highlight>
                  <a:srgbClr val="FFFFFF"/>
                </a:highlight>
                <a:latin typeface="新宋体"/>
                <a:ea typeface="新宋体"/>
              </a:rPr>
              <a:t>{</a:t>
            </a:r>
            <a:r>
              <a:rPr lang="en-US" altLang="zh-CN" sz="1600" dirty="0">
                <a:solidFill>
                  <a:srgbClr val="0000FF"/>
                </a:solidFill>
                <a:highlight>
                  <a:srgbClr val="FFFFFF"/>
                </a:highlight>
                <a:latin typeface="新宋体"/>
                <a:ea typeface="新宋体"/>
              </a:rPr>
              <a:t>private</a:t>
            </a:r>
            <a:r>
              <a:rPr lang="en-US" altLang="zh-CN" sz="1600" dirty="0">
                <a:solidFill>
                  <a:srgbClr val="000000"/>
                </a:solidFill>
                <a:highlight>
                  <a:srgbClr val="FFFFFF"/>
                </a:highlight>
                <a:latin typeface="新宋体"/>
                <a:ea typeface="新宋体"/>
              </a:rPr>
              <a:t>:</a:t>
            </a:r>
          </a:p>
          <a:p>
            <a:r>
              <a:rPr lang="en-US" altLang="zh-CN" sz="1600" dirty="0">
                <a:solidFill>
                  <a:srgbClr val="008000"/>
                </a:solidFill>
                <a:highlight>
                  <a:srgbClr val="FFFFFF"/>
                </a:highlight>
                <a:latin typeface="新宋体"/>
                <a:ea typeface="新宋体"/>
              </a:rPr>
              <a:t>/***********FOUND***********/</a:t>
            </a:r>
            <a:endParaRPr lang="en-US" altLang="zh-CN" sz="1600" dirty="0">
              <a:solidFill>
                <a:srgbClr val="000000"/>
              </a:solidFill>
              <a:highlight>
                <a:srgbClr val="FFFFFF"/>
              </a:highlight>
              <a:latin typeface="新宋体"/>
              <a:ea typeface="新宋体"/>
            </a:endParaRPr>
          </a:p>
          <a:p>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char</a:t>
            </a:r>
            <a:r>
              <a:rPr lang="en-US" altLang="zh-CN" sz="1600" dirty="0">
                <a:solidFill>
                  <a:srgbClr val="000000"/>
                </a:solidFill>
                <a:highlight>
                  <a:srgbClr val="FFFFFF"/>
                </a:highlight>
                <a:latin typeface="新宋体"/>
                <a:ea typeface="新宋体"/>
              </a:rPr>
              <a:t> text;</a:t>
            </a:r>
          </a:p>
          <a:p>
            <a:r>
              <a:rPr lang="en-US" altLang="zh-CN" sz="1600" dirty="0">
                <a:solidFill>
                  <a:srgbClr val="0000FF"/>
                </a:solidFill>
                <a:highlight>
                  <a:srgbClr val="FFFFFF"/>
                </a:highlight>
                <a:latin typeface="新宋体"/>
                <a:ea typeface="新宋体"/>
              </a:rPr>
              <a:t>public</a:t>
            </a:r>
            <a:r>
              <a:rPr lang="en-US" altLang="zh-CN" sz="1600" dirty="0">
                <a:solidFill>
                  <a:srgbClr val="000000"/>
                </a:solidFill>
                <a:highlight>
                  <a:srgbClr val="FFFFFF"/>
                </a:highlight>
                <a:latin typeface="新宋体"/>
                <a:ea typeface="新宋体"/>
              </a:rPr>
              <a:t>:</a:t>
            </a:r>
          </a:p>
          <a:p>
            <a:r>
              <a:rPr lang="en-US" altLang="zh-CN" sz="1600" dirty="0">
                <a:solidFill>
                  <a:srgbClr val="008000"/>
                </a:solidFill>
                <a:highlight>
                  <a:srgbClr val="FFFFFF"/>
                </a:highlight>
                <a:latin typeface="新宋体"/>
                <a:ea typeface="新宋体"/>
              </a:rPr>
              <a:t>/***********FOUND***********/</a:t>
            </a:r>
            <a:endParaRPr lang="en-US" altLang="zh-CN" sz="1600" dirty="0">
              <a:solidFill>
                <a:srgbClr val="000000"/>
              </a:solidFill>
              <a:highlight>
                <a:srgbClr val="FFFFFF"/>
              </a:highlight>
              <a:latin typeface="新宋体"/>
              <a:ea typeface="新宋体"/>
            </a:endParaRPr>
          </a:p>
          <a:p>
            <a:r>
              <a:rPr lang="en-US" altLang="zh-CN" sz="1600" dirty="0">
                <a:solidFill>
                  <a:srgbClr val="000000"/>
                </a:solidFill>
                <a:highlight>
                  <a:srgbClr val="FFFFFF"/>
                </a:highlight>
                <a:latin typeface="新宋体"/>
                <a:ea typeface="新宋体"/>
              </a:rPr>
              <a:t>   </a:t>
            </a:r>
            <a:r>
              <a:rPr lang="en-US" altLang="zh-CN" sz="1600" dirty="0" err="1">
                <a:solidFill>
                  <a:srgbClr val="0000FF"/>
                </a:solidFill>
                <a:highlight>
                  <a:srgbClr val="FFFFFF"/>
                </a:highlight>
                <a:latin typeface="新宋体"/>
                <a:ea typeface="新宋体"/>
              </a:rPr>
              <a:t>int</a:t>
            </a:r>
            <a:r>
              <a:rPr lang="en-US" altLang="zh-CN" sz="1600" dirty="0">
                <a:solidFill>
                  <a:srgbClr val="000000"/>
                </a:solidFill>
                <a:highlight>
                  <a:srgbClr val="FFFFFF"/>
                </a:highlight>
                <a:latin typeface="新宋体"/>
                <a:ea typeface="新宋体"/>
              </a:rPr>
              <a:t> String(</a:t>
            </a:r>
            <a:r>
              <a:rPr lang="en-US" altLang="zh-CN" sz="1600" dirty="0">
                <a:solidFill>
                  <a:srgbClr val="0000FF"/>
                </a:solidFill>
                <a:highlight>
                  <a:srgbClr val="FFFFFF"/>
                </a:highlight>
                <a:latin typeface="新宋体"/>
                <a:ea typeface="新宋体"/>
              </a:rPr>
              <a:t>char</a:t>
            </a:r>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ch</a:t>
            </a:r>
            <a:r>
              <a:rPr lang="en-US" altLang="zh-CN" sz="1600" dirty="0">
                <a:solidFill>
                  <a:srgbClr val="000000"/>
                </a:solidFill>
                <a:highlight>
                  <a:srgbClr val="FFFFFF"/>
                </a:highlight>
                <a:latin typeface="新宋体"/>
                <a:ea typeface="新宋体"/>
              </a:rPr>
              <a:t>)     </a:t>
            </a:r>
            <a:r>
              <a:rPr lang="en-US" altLang="zh-CN" sz="1600" dirty="0">
                <a:solidFill>
                  <a:srgbClr val="008000"/>
                </a:solidFill>
                <a:highlight>
                  <a:srgbClr val="FFFFFF"/>
                </a:highlight>
                <a:latin typeface="新宋体"/>
                <a:ea typeface="新宋体"/>
              </a:rPr>
              <a:t>//</a:t>
            </a:r>
            <a:r>
              <a:rPr lang="zh-CN" altLang="en-US" sz="1600" dirty="0">
                <a:solidFill>
                  <a:srgbClr val="008000"/>
                </a:solidFill>
                <a:highlight>
                  <a:srgbClr val="FFFFFF"/>
                </a:highlight>
                <a:latin typeface="新宋体"/>
                <a:ea typeface="新宋体"/>
              </a:rPr>
              <a:t>设计构造函数</a:t>
            </a:r>
            <a:endParaRPr lang="zh-CN" altLang="en-US" sz="1600" dirty="0">
              <a:solidFill>
                <a:srgbClr val="000000"/>
              </a:solidFill>
              <a:highlight>
                <a:srgbClr val="FFFFFF"/>
              </a:highlight>
              <a:latin typeface="新宋体"/>
              <a:ea typeface="新宋体"/>
            </a:endParaRPr>
          </a:p>
          <a:p>
            <a:r>
              <a:rPr lang="zh-CN" altLang="en-US" sz="1600" dirty="0">
                <a:solidFill>
                  <a:srgbClr val="000000"/>
                </a:solidFill>
                <a:highlight>
                  <a:srgbClr val="FFFFFF"/>
                </a:highlight>
                <a:latin typeface="新宋体"/>
                <a:ea typeface="新宋体"/>
              </a:rPr>
              <a:t>   </a:t>
            </a:r>
            <a:r>
              <a:rPr lang="en-US" altLang="zh-CN" sz="1600" dirty="0">
                <a:solidFill>
                  <a:srgbClr val="000000"/>
                </a:solidFill>
                <a:highlight>
                  <a:srgbClr val="FFFFFF"/>
                </a:highlight>
                <a:latin typeface="新宋体"/>
                <a:ea typeface="新宋体"/>
              </a:rPr>
              <a:t>{  text=</a:t>
            </a:r>
            <a:r>
              <a:rPr lang="en-US" altLang="zh-CN" sz="1600" dirty="0">
                <a:solidFill>
                  <a:srgbClr val="0000FF"/>
                </a:solidFill>
                <a:highlight>
                  <a:srgbClr val="FFFFFF"/>
                </a:highlight>
                <a:latin typeface="新宋体"/>
                <a:ea typeface="新宋体"/>
              </a:rPr>
              <a:t>new</a:t>
            </a:r>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char</a:t>
            </a:r>
            <a:r>
              <a:rPr lang="en-US" altLang="zh-CN" sz="1600" dirty="0">
                <a:solidFill>
                  <a:srgbClr val="000000"/>
                </a:solidFill>
                <a:highlight>
                  <a:srgbClr val="FFFFFF"/>
                </a:highlight>
                <a:latin typeface="新宋体"/>
                <a:ea typeface="新宋体"/>
              </a:rPr>
              <a:t>[</a:t>
            </a:r>
            <a:r>
              <a:rPr lang="en-US" altLang="zh-CN" sz="1600" dirty="0" err="1">
                <a:solidFill>
                  <a:srgbClr val="000000"/>
                </a:solidFill>
                <a:highlight>
                  <a:srgbClr val="FFFFFF"/>
                </a:highlight>
                <a:latin typeface="新宋体"/>
                <a:ea typeface="新宋体"/>
              </a:rPr>
              <a:t>strlen</a:t>
            </a:r>
            <a:r>
              <a:rPr lang="en-US" altLang="zh-CN" sz="1600" dirty="0">
                <a:solidFill>
                  <a:srgbClr val="000000"/>
                </a:solidFill>
                <a:highlight>
                  <a:srgbClr val="FFFFFF"/>
                </a:highlight>
                <a:latin typeface="新宋体"/>
                <a:ea typeface="新宋体"/>
              </a:rPr>
              <a:t>(</a:t>
            </a:r>
            <a:r>
              <a:rPr lang="en-US" altLang="zh-CN" sz="1600" dirty="0" err="1">
                <a:solidFill>
                  <a:srgbClr val="000000"/>
                </a:solidFill>
                <a:highlight>
                  <a:srgbClr val="FFFFFF"/>
                </a:highlight>
                <a:latin typeface="新宋体"/>
                <a:ea typeface="新宋体"/>
              </a:rPr>
              <a:t>ch</a:t>
            </a:r>
            <a:r>
              <a:rPr lang="en-US" altLang="zh-CN" sz="1600" dirty="0">
                <a:solidFill>
                  <a:srgbClr val="000000"/>
                </a:solidFill>
                <a:highlight>
                  <a:srgbClr val="FFFFFF"/>
                </a:highlight>
                <a:latin typeface="新宋体"/>
                <a:ea typeface="新宋体"/>
              </a:rPr>
              <a:t>)+1];</a:t>
            </a:r>
          </a:p>
          <a:p>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strcpy_s</a:t>
            </a:r>
            <a:r>
              <a:rPr lang="en-US" altLang="zh-CN" sz="1600" dirty="0">
                <a:solidFill>
                  <a:srgbClr val="000000"/>
                </a:solidFill>
                <a:highlight>
                  <a:srgbClr val="FFFFFF"/>
                </a:highlight>
                <a:latin typeface="新宋体"/>
                <a:ea typeface="新宋体"/>
              </a:rPr>
              <a:t>(text, </a:t>
            </a:r>
            <a:r>
              <a:rPr lang="en-US" altLang="zh-CN" sz="1600" dirty="0" err="1">
                <a:solidFill>
                  <a:srgbClr val="000000"/>
                </a:solidFill>
                <a:highlight>
                  <a:srgbClr val="FFFFFF"/>
                </a:highlight>
                <a:latin typeface="新宋体"/>
                <a:ea typeface="新宋体"/>
              </a:rPr>
              <a:t>strlen</a:t>
            </a:r>
            <a:r>
              <a:rPr lang="en-US" altLang="zh-CN" sz="1600" dirty="0">
                <a:solidFill>
                  <a:srgbClr val="000000"/>
                </a:solidFill>
                <a:highlight>
                  <a:srgbClr val="FFFFFF"/>
                </a:highlight>
                <a:latin typeface="新宋体"/>
                <a:ea typeface="新宋体"/>
              </a:rPr>
              <a:t>(</a:t>
            </a:r>
            <a:r>
              <a:rPr lang="en-US" altLang="zh-CN" sz="1600" dirty="0" err="1">
                <a:solidFill>
                  <a:srgbClr val="000000"/>
                </a:solidFill>
                <a:highlight>
                  <a:srgbClr val="FFFFFF"/>
                </a:highlight>
                <a:latin typeface="新宋体"/>
                <a:ea typeface="新宋体"/>
              </a:rPr>
              <a:t>ch</a:t>
            </a:r>
            <a:r>
              <a:rPr lang="en-US" altLang="zh-CN" sz="1600" dirty="0">
                <a:solidFill>
                  <a:srgbClr val="000000"/>
                </a:solidFill>
                <a:highlight>
                  <a:srgbClr val="FFFFFF"/>
                </a:highlight>
                <a:latin typeface="新宋体"/>
                <a:ea typeface="新宋体"/>
              </a:rPr>
              <a:t>)+1,ch);</a:t>
            </a:r>
          </a:p>
          <a:p>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cout</a:t>
            </a:r>
            <a:r>
              <a:rPr lang="en-US" altLang="zh-CN" sz="1600" dirty="0">
                <a:solidFill>
                  <a:srgbClr val="000000"/>
                </a:solidFill>
                <a:highlight>
                  <a:srgbClr val="FFFFFF"/>
                </a:highlight>
                <a:latin typeface="新宋体"/>
                <a:ea typeface="新宋体"/>
              </a:rPr>
              <a:t>&lt;&lt;</a:t>
            </a:r>
            <a:r>
              <a:rPr lang="en-US" altLang="zh-CN" sz="1600" dirty="0">
                <a:solidFill>
                  <a:srgbClr val="A31515"/>
                </a:solidFill>
                <a:highlight>
                  <a:srgbClr val="FFFFFF"/>
                </a:highlight>
                <a:latin typeface="新宋体"/>
                <a:ea typeface="新宋体"/>
              </a:rPr>
              <a:t>"</a:t>
            </a:r>
            <a:r>
              <a:rPr lang="zh-CN" altLang="en-US" sz="1600" dirty="0">
                <a:solidFill>
                  <a:srgbClr val="A31515"/>
                </a:solidFill>
                <a:highlight>
                  <a:srgbClr val="FFFFFF"/>
                </a:highlight>
                <a:latin typeface="新宋体"/>
                <a:ea typeface="新宋体"/>
              </a:rPr>
              <a:t>调用构造函数</a:t>
            </a:r>
            <a:r>
              <a:rPr lang="en-US" altLang="zh-CN" sz="1600" dirty="0">
                <a:solidFill>
                  <a:srgbClr val="A31515"/>
                </a:solidFill>
                <a:highlight>
                  <a:srgbClr val="FFFFFF"/>
                </a:highlight>
                <a:latin typeface="新宋体"/>
                <a:ea typeface="新宋体"/>
              </a:rPr>
              <a:t>"</a:t>
            </a:r>
            <a:r>
              <a:rPr lang="en-US" altLang="zh-CN" sz="1600" dirty="0">
                <a:solidFill>
                  <a:srgbClr val="000000"/>
                </a:solidFill>
                <a:highlight>
                  <a:srgbClr val="FFFFFF"/>
                </a:highlight>
                <a:latin typeface="新宋体"/>
                <a:ea typeface="新宋体"/>
              </a:rPr>
              <a:t>&lt;&lt;</a:t>
            </a:r>
            <a:r>
              <a:rPr lang="en-US" altLang="zh-CN" sz="1600" dirty="0" err="1">
                <a:solidFill>
                  <a:srgbClr val="000000"/>
                </a:solidFill>
                <a:highlight>
                  <a:srgbClr val="FFFFFF"/>
                </a:highlight>
                <a:latin typeface="新宋体"/>
                <a:ea typeface="新宋体"/>
              </a:rPr>
              <a:t>endl</a:t>
            </a:r>
            <a:r>
              <a:rPr lang="en-US" altLang="zh-CN" sz="1600" dirty="0">
                <a:solidFill>
                  <a:srgbClr val="000000"/>
                </a:solidFill>
                <a:highlight>
                  <a:srgbClr val="FFFFFF"/>
                </a:highlight>
                <a:latin typeface="新宋体"/>
                <a:ea typeface="新宋体"/>
              </a:rPr>
              <a:t>;</a:t>
            </a:r>
          </a:p>
          <a:p>
            <a:r>
              <a:rPr lang="zh-CN" altLang="en-US" sz="1600" dirty="0">
                <a:solidFill>
                  <a:srgbClr val="000000"/>
                </a:solidFill>
                <a:highlight>
                  <a:srgbClr val="FFFFFF"/>
                </a:highlight>
                <a:latin typeface="新宋体"/>
                <a:ea typeface="新宋体"/>
              </a:rPr>
              <a:t>   </a:t>
            </a:r>
            <a:r>
              <a:rPr lang="en-US" altLang="zh-CN" sz="1600" dirty="0">
                <a:solidFill>
                  <a:srgbClr val="000000"/>
                </a:solidFill>
                <a:highlight>
                  <a:srgbClr val="FFFFFF"/>
                </a:highlight>
                <a:latin typeface="新宋体"/>
                <a:ea typeface="新宋体"/>
              </a:rPr>
              <a:t>}</a:t>
            </a:r>
          </a:p>
          <a:p>
            <a:r>
              <a:rPr lang="en-US" altLang="zh-CN" sz="1600" dirty="0">
                <a:solidFill>
                  <a:srgbClr val="008000"/>
                </a:solidFill>
                <a:highlight>
                  <a:srgbClr val="FFFFFF"/>
                </a:highlight>
                <a:latin typeface="新宋体"/>
                <a:ea typeface="新宋体"/>
              </a:rPr>
              <a:t>/***********FOUND***********/</a:t>
            </a:r>
            <a:endParaRPr lang="en-US" altLang="zh-CN" sz="1600" dirty="0">
              <a:solidFill>
                <a:srgbClr val="000000"/>
              </a:solidFill>
              <a:highlight>
                <a:srgbClr val="FFFFFF"/>
              </a:highlight>
              <a:latin typeface="新宋体"/>
              <a:ea typeface="新宋体"/>
            </a:endParaRPr>
          </a:p>
          <a:p>
            <a:r>
              <a:rPr lang="en-US" altLang="zh-CN" sz="1600" dirty="0">
                <a:solidFill>
                  <a:srgbClr val="000000"/>
                </a:solidFill>
                <a:highlight>
                  <a:srgbClr val="FFFFFF"/>
                </a:highlight>
                <a:latin typeface="新宋体"/>
                <a:ea typeface="新宋体"/>
              </a:rPr>
              <a:t>   String()</a:t>
            </a:r>
          </a:p>
          <a:p>
            <a:r>
              <a:rPr lang="zh-CN" altLang="en-US" sz="1600" dirty="0">
                <a:solidFill>
                  <a:srgbClr val="000000"/>
                </a:solidFill>
                <a:highlight>
                  <a:srgbClr val="FFFFFF"/>
                </a:highlight>
                <a:latin typeface="新宋体"/>
                <a:ea typeface="新宋体"/>
              </a:rPr>
              <a:t>   </a:t>
            </a:r>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delete</a:t>
            </a:r>
            <a:r>
              <a:rPr lang="en-US" altLang="zh-CN" sz="1600" dirty="0">
                <a:solidFill>
                  <a:srgbClr val="000000"/>
                </a:solidFill>
                <a:highlight>
                  <a:srgbClr val="FFFFFF"/>
                </a:highlight>
                <a:latin typeface="新宋体"/>
                <a:ea typeface="新宋体"/>
              </a:rPr>
              <a:t>[] text;</a:t>
            </a:r>
          </a:p>
          <a:p>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cout</a:t>
            </a:r>
            <a:r>
              <a:rPr lang="en-US" altLang="zh-CN" sz="1600" dirty="0">
                <a:solidFill>
                  <a:srgbClr val="008080"/>
                </a:solidFill>
                <a:highlight>
                  <a:srgbClr val="FFFFFF"/>
                </a:highlight>
                <a:latin typeface="新宋体"/>
                <a:ea typeface="新宋体"/>
              </a:rPr>
              <a:t>&lt;&lt;</a:t>
            </a:r>
            <a:r>
              <a:rPr lang="en-US" altLang="zh-CN" sz="1600" dirty="0">
                <a:solidFill>
                  <a:srgbClr val="A31515"/>
                </a:solidFill>
                <a:highlight>
                  <a:srgbClr val="FFFFFF"/>
                </a:highlight>
                <a:latin typeface="新宋体"/>
                <a:ea typeface="新宋体"/>
              </a:rPr>
              <a:t>"</a:t>
            </a:r>
            <a:r>
              <a:rPr lang="zh-CN" altLang="en-US" sz="1600" dirty="0">
                <a:solidFill>
                  <a:srgbClr val="A31515"/>
                </a:solidFill>
                <a:highlight>
                  <a:srgbClr val="FFFFFF"/>
                </a:highlight>
                <a:latin typeface="新宋体"/>
                <a:ea typeface="新宋体"/>
              </a:rPr>
              <a:t>调用析构函数</a:t>
            </a:r>
            <a:r>
              <a:rPr lang="en-US" altLang="zh-CN" sz="1600" dirty="0">
                <a:solidFill>
                  <a:srgbClr val="A31515"/>
                </a:solidFill>
                <a:highlight>
                  <a:srgbClr val="FFFFFF"/>
                </a:highlight>
                <a:latin typeface="新宋体"/>
                <a:ea typeface="新宋体"/>
              </a:rPr>
              <a:t>"</a:t>
            </a:r>
            <a:r>
              <a:rPr lang="en-US" altLang="zh-CN" sz="1600" dirty="0">
                <a:solidFill>
                  <a:srgbClr val="008080"/>
                </a:solidFill>
                <a:highlight>
                  <a:srgbClr val="FFFFFF"/>
                </a:highlight>
                <a:latin typeface="新宋体"/>
                <a:ea typeface="新宋体"/>
              </a:rPr>
              <a:t>&lt;&lt;</a:t>
            </a:r>
            <a:r>
              <a:rPr lang="en-US" altLang="zh-CN" sz="1600" dirty="0" err="1">
                <a:solidFill>
                  <a:srgbClr val="000000"/>
                </a:solidFill>
                <a:highlight>
                  <a:srgbClr val="FFFFFF"/>
                </a:highlight>
                <a:latin typeface="新宋体"/>
                <a:ea typeface="新宋体"/>
              </a:rPr>
              <a:t>endl</a:t>
            </a:r>
            <a:r>
              <a:rPr lang="en-US" altLang="zh-CN" sz="1600" dirty="0">
                <a:solidFill>
                  <a:srgbClr val="000000"/>
                </a:solidFill>
                <a:highlight>
                  <a:srgbClr val="FFFFFF"/>
                </a:highlight>
                <a:latin typeface="新宋体"/>
                <a:ea typeface="新宋体"/>
              </a:rPr>
              <a:t>;</a:t>
            </a:r>
          </a:p>
          <a:p>
            <a:r>
              <a:rPr lang="zh-CN" altLang="en-US" sz="1600" dirty="0">
                <a:solidFill>
                  <a:srgbClr val="000000"/>
                </a:solidFill>
                <a:highlight>
                  <a:srgbClr val="FFFFFF"/>
                </a:highlight>
                <a:latin typeface="新宋体"/>
                <a:ea typeface="新宋体"/>
              </a:rPr>
              <a:t>   </a:t>
            </a:r>
            <a:r>
              <a:rPr lang="en-US" altLang="zh-CN" sz="1600" dirty="0">
                <a:solidFill>
                  <a:srgbClr val="000000"/>
                </a:solidFill>
                <a:highlight>
                  <a:srgbClr val="FFFFFF"/>
                </a:highlight>
                <a:latin typeface="新宋体"/>
                <a:ea typeface="新宋体"/>
              </a:rPr>
              <a:t>}</a:t>
            </a:r>
          </a:p>
          <a:p>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void</a:t>
            </a:r>
            <a:r>
              <a:rPr lang="en-US" altLang="zh-CN" sz="1600" dirty="0">
                <a:solidFill>
                  <a:srgbClr val="000000"/>
                </a:solidFill>
                <a:highlight>
                  <a:srgbClr val="FFFFFF"/>
                </a:highlight>
                <a:latin typeface="新宋体"/>
                <a:ea typeface="新宋体"/>
              </a:rPr>
              <a:t> print()</a:t>
            </a:r>
          </a:p>
          <a:p>
            <a:r>
              <a:rPr lang="en-US" altLang="zh-CN" sz="1600" dirty="0">
                <a:solidFill>
                  <a:srgbClr val="000000"/>
                </a:solidFill>
                <a:highlight>
                  <a:srgbClr val="FFFFFF"/>
                </a:highlight>
                <a:latin typeface="新宋体"/>
                <a:ea typeface="新宋体"/>
              </a:rPr>
              <a:t>   {  </a:t>
            </a:r>
            <a:r>
              <a:rPr lang="en-US" altLang="zh-CN" sz="1600" dirty="0" err="1">
                <a:solidFill>
                  <a:srgbClr val="000000"/>
                </a:solidFill>
                <a:highlight>
                  <a:srgbClr val="FFFFFF"/>
                </a:highlight>
                <a:latin typeface="新宋体"/>
                <a:ea typeface="新宋体"/>
              </a:rPr>
              <a:t>cout</a:t>
            </a:r>
            <a:r>
              <a:rPr lang="en-US" altLang="zh-CN" sz="1600" dirty="0">
                <a:solidFill>
                  <a:srgbClr val="008080"/>
                </a:solidFill>
                <a:highlight>
                  <a:srgbClr val="FFFFFF"/>
                </a:highlight>
                <a:latin typeface="新宋体"/>
                <a:ea typeface="新宋体"/>
              </a:rPr>
              <a:t>&lt;&lt;</a:t>
            </a:r>
            <a:r>
              <a:rPr lang="en-US" altLang="zh-CN" sz="1600" dirty="0">
                <a:solidFill>
                  <a:srgbClr val="A31515"/>
                </a:solidFill>
                <a:highlight>
                  <a:srgbClr val="FFFFFF"/>
                </a:highlight>
                <a:latin typeface="新宋体"/>
                <a:ea typeface="新宋体"/>
              </a:rPr>
              <a:t>"The text="</a:t>
            </a:r>
            <a:r>
              <a:rPr lang="en-US" altLang="zh-CN" sz="1600" dirty="0">
                <a:solidFill>
                  <a:srgbClr val="008080"/>
                </a:solidFill>
                <a:highlight>
                  <a:srgbClr val="FFFFFF"/>
                </a:highlight>
                <a:latin typeface="新宋体"/>
                <a:ea typeface="新宋体"/>
              </a:rPr>
              <a:t>&lt;&lt;</a:t>
            </a:r>
            <a:r>
              <a:rPr lang="en-US" altLang="zh-CN" sz="1600" dirty="0">
                <a:solidFill>
                  <a:srgbClr val="000000"/>
                </a:solidFill>
                <a:highlight>
                  <a:srgbClr val="FFFFFF"/>
                </a:highlight>
                <a:latin typeface="新宋体"/>
                <a:ea typeface="新宋体"/>
              </a:rPr>
              <a:t>text</a:t>
            </a:r>
            <a:r>
              <a:rPr lang="en-US" altLang="zh-CN" sz="1600" dirty="0">
                <a:solidFill>
                  <a:srgbClr val="008080"/>
                </a:solidFill>
                <a:highlight>
                  <a:srgbClr val="FFFFFF"/>
                </a:highlight>
                <a:latin typeface="新宋体"/>
                <a:ea typeface="新宋体"/>
              </a:rPr>
              <a:t>&lt;&lt;</a:t>
            </a:r>
            <a:r>
              <a:rPr lang="en-US" altLang="zh-CN" sz="1600" dirty="0" err="1">
                <a:solidFill>
                  <a:srgbClr val="000000"/>
                </a:solidFill>
                <a:highlight>
                  <a:srgbClr val="FFFFFF"/>
                </a:highlight>
                <a:latin typeface="新宋体"/>
                <a:ea typeface="新宋体"/>
              </a:rPr>
              <a:t>endl</a:t>
            </a:r>
            <a:r>
              <a:rPr lang="en-US" altLang="zh-CN" sz="1600" dirty="0">
                <a:solidFill>
                  <a:srgbClr val="000000"/>
                </a:solidFill>
                <a:highlight>
                  <a:srgbClr val="FFFFFF"/>
                </a:highlight>
                <a:latin typeface="新宋体"/>
                <a:ea typeface="新宋体"/>
              </a:rPr>
              <a:t>;</a:t>
            </a:r>
          </a:p>
          <a:p>
            <a:r>
              <a:rPr lang="en-US" altLang="zh-CN" sz="1600" dirty="0">
                <a:solidFill>
                  <a:srgbClr val="000000"/>
                </a:solidFill>
                <a:highlight>
                  <a:srgbClr val="FFFFFF"/>
                </a:highlight>
                <a:latin typeface="新宋体"/>
                <a:ea typeface="新宋体"/>
              </a:rPr>
              <a:t>   }</a:t>
            </a:r>
          </a:p>
          <a:p>
            <a:r>
              <a:rPr lang="en-US" altLang="zh-CN" sz="1600" dirty="0">
                <a:solidFill>
                  <a:srgbClr val="008000"/>
                </a:solidFill>
                <a:highlight>
                  <a:srgbClr val="FFFFFF"/>
                </a:highlight>
                <a:latin typeface="新宋体"/>
                <a:ea typeface="新宋体"/>
              </a:rPr>
              <a:t>/***********FOUND***********/</a:t>
            </a:r>
            <a:endParaRPr lang="en-US" altLang="zh-CN" sz="1600" dirty="0">
              <a:solidFill>
                <a:srgbClr val="000000"/>
              </a:solidFill>
              <a:highlight>
                <a:srgbClr val="FFFFFF"/>
              </a:highlight>
              <a:latin typeface="新宋体"/>
              <a:ea typeface="新宋体"/>
            </a:endParaRPr>
          </a:p>
          <a:p>
            <a:r>
              <a:rPr lang="en-US" altLang="zh-CN" sz="1600" dirty="0">
                <a:solidFill>
                  <a:srgbClr val="000000"/>
                </a:solidFill>
                <a:highlight>
                  <a:srgbClr val="FFFFFF"/>
                </a:highlight>
                <a:latin typeface="新宋体"/>
                <a:ea typeface="新宋体"/>
              </a:rPr>
              <a:t>}:</a:t>
            </a:r>
          </a:p>
          <a:p>
            <a:r>
              <a:rPr lang="en-US" altLang="zh-CN" sz="1600" dirty="0" err="1">
                <a:solidFill>
                  <a:srgbClr val="0000FF"/>
                </a:solidFill>
                <a:highlight>
                  <a:srgbClr val="FFFFFF"/>
                </a:highlight>
                <a:latin typeface="新宋体"/>
                <a:ea typeface="新宋体"/>
              </a:rPr>
              <a:t>int</a:t>
            </a:r>
            <a:r>
              <a:rPr lang="en-US" altLang="zh-CN" sz="1600" dirty="0">
                <a:solidFill>
                  <a:srgbClr val="000000"/>
                </a:solidFill>
                <a:highlight>
                  <a:srgbClr val="FFFFFF"/>
                </a:highlight>
                <a:latin typeface="新宋体"/>
                <a:ea typeface="新宋体"/>
              </a:rPr>
              <a:t> main()</a:t>
            </a:r>
          </a:p>
          <a:p>
            <a:r>
              <a:rPr lang="en-US" altLang="zh-CN" sz="1600" dirty="0">
                <a:solidFill>
                  <a:srgbClr val="000000"/>
                </a:solidFill>
                <a:highlight>
                  <a:srgbClr val="FFFFFF"/>
                </a:highlight>
                <a:latin typeface="新宋体"/>
                <a:ea typeface="新宋体"/>
              </a:rPr>
              <a:t>{  </a:t>
            </a:r>
            <a:r>
              <a:rPr lang="en-US" altLang="zh-CN" sz="1600" dirty="0">
                <a:solidFill>
                  <a:srgbClr val="2B91AF"/>
                </a:solidFill>
                <a:highlight>
                  <a:srgbClr val="FFFFFF"/>
                </a:highlight>
                <a:latin typeface="新宋体"/>
                <a:ea typeface="新宋体"/>
              </a:rPr>
              <a:t>String</a:t>
            </a:r>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str</a:t>
            </a:r>
            <a:r>
              <a:rPr lang="en-US" altLang="zh-CN" sz="1600" dirty="0">
                <a:solidFill>
                  <a:srgbClr val="000000"/>
                </a:solidFill>
                <a:highlight>
                  <a:srgbClr val="FFFFFF"/>
                </a:highlight>
                <a:latin typeface="新宋体"/>
                <a:ea typeface="新宋体"/>
              </a:rPr>
              <a:t>(</a:t>
            </a:r>
            <a:r>
              <a:rPr lang="en-US" altLang="zh-CN" sz="1600" dirty="0">
                <a:solidFill>
                  <a:srgbClr val="A31515"/>
                </a:solidFill>
                <a:highlight>
                  <a:srgbClr val="FFFFFF"/>
                </a:highlight>
                <a:latin typeface="新宋体"/>
                <a:ea typeface="新宋体"/>
              </a:rPr>
              <a:t>"</a:t>
            </a:r>
            <a:r>
              <a:rPr lang="en-US" altLang="zh-CN" sz="1600" dirty="0" err="1">
                <a:solidFill>
                  <a:srgbClr val="A31515"/>
                </a:solidFill>
                <a:highlight>
                  <a:srgbClr val="FFFFFF"/>
                </a:highlight>
                <a:latin typeface="新宋体"/>
                <a:ea typeface="新宋体"/>
              </a:rPr>
              <a:t>abcdef</a:t>
            </a:r>
            <a:r>
              <a:rPr lang="en-US" altLang="zh-CN" sz="1600" dirty="0">
                <a:solidFill>
                  <a:srgbClr val="A31515"/>
                </a:solidFill>
                <a:highlight>
                  <a:srgbClr val="FFFFFF"/>
                </a:highlight>
                <a:latin typeface="新宋体"/>
                <a:ea typeface="新宋体"/>
              </a:rPr>
              <a:t>"</a:t>
            </a:r>
            <a:r>
              <a:rPr lang="en-US" altLang="zh-CN" sz="1600" dirty="0">
                <a:solidFill>
                  <a:srgbClr val="000000"/>
                </a:solidFill>
                <a:highlight>
                  <a:srgbClr val="FFFFFF"/>
                </a:highlight>
                <a:latin typeface="新宋体"/>
                <a:ea typeface="新宋体"/>
              </a:rPr>
              <a:t>);</a:t>
            </a:r>
          </a:p>
          <a:p>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str.print</a:t>
            </a:r>
            <a:r>
              <a:rPr lang="en-US" altLang="zh-CN" sz="1600" dirty="0">
                <a:solidFill>
                  <a:srgbClr val="000000"/>
                </a:solidFill>
                <a:highlight>
                  <a:srgbClr val="FFFFFF"/>
                </a:highlight>
                <a:latin typeface="新宋体"/>
                <a:ea typeface="新宋体"/>
              </a:rPr>
              <a:t>();</a:t>
            </a:r>
          </a:p>
          <a:p>
            <a:r>
              <a:rPr lang="en-US" altLang="zh-CN" sz="1600" dirty="0">
                <a:solidFill>
                  <a:srgbClr val="0000FF"/>
                </a:solidFill>
                <a:highlight>
                  <a:srgbClr val="FFFFFF"/>
                </a:highlight>
                <a:latin typeface="新宋体"/>
                <a:ea typeface="新宋体"/>
              </a:rPr>
              <a:t>   return</a:t>
            </a:r>
            <a:r>
              <a:rPr lang="en-US" altLang="zh-CN" sz="1600" dirty="0">
                <a:solidFill>
                  <a:srgbClr val="000000"/>
                </a:solidFill>
                <a:highlight>
                  <a:srgbClr val="FFFFFF"/>
                </a:highlight>
                <a:latin typeface="新宋体"/>
                <a:ea typeface="新宋体"/>
              </a:rPr>
              <a:t> 0;</a:t>
            </a:r>
          </a:p>
          <a:p>
            <a:r>
              <a:rPr lang="en-US" altLang="zh-CN" sz="1600" dirty="0">
                <a:solidFill>
                  <a:srgbClr val="000000"/>
                </a:solidFill>
                <a:highlight>
                  <a:srgbClr val="FFFFFF"/>
                </a:highlight>
                <a:latin typeface="新宋体"/>
                <a:ea typeface="新宋体"/>
              </a:rPr>
              <a:t>}</a:t>
            </a:r>
          </a:p>
        </p:txBody>
      </p:sp>
    </p:spTree>
    <p:extLst>
      <p:ext uri="{BB962C8B-B14F-4D97-AF65-F5344CB8AC3E}">
        <p14:creationId xmlns:p14="http://schemas.microsoft.com/office/powerpoint/2010/main" val="8532056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51920" y="-27384"/>
            <a:ext cx="5040560" cy="7017306"/>
          </a:xfrm>
          <a:prstGeom prst="rect">
            <a:avLst/>
          </a:prstGeom>
          <a:solidFill>
            <a:schemeClr val="bg1"/>
          </a:solidFill>
          <a:ln>
            <a:solidFill>
              <a:schemeClr val="bg2">
                <a:lumMod val="25000"/>
              </a:schemeClr>
            </a:solidFill>
          </a:ln>
        </p:spPr>
        <p:txBody>
          <a:bodyPr wrap="square">
            <a:spAutoFit/>
          </a:bodyPr>
          <a:lstStyle/>
          <a:p>
            <a:r>
              <a:rPr lang="en-US" altLang="zh-CN" dirty="0">
                <a:solidFill>
                  <a:srgbClr val="0000FF"/>
                </a:solidFill>
                <a:highlight>
                  <a:srgbClr val="FFFFFF"/>
                </a:highlight>
                <a:latin typeface="新宋体"/>
                <a:ea typeface="新宋体"/>
              </a:rPr>
              <a:t>class</a:t>
            </a:r>
            <a:r>
              <a:rPr lang="en-US" altLang="zh-CN" dirty="0">
                <a:solidFill>
                  <a:srgbClr val="000000"/>
                </a:solidFill>
                <a:highlight>
                  <a:srgbClr val="FFFFFF"/>
                </a:highlight>
                <a:latin typeface="新宋体"/>
                <a:ea typeface="新宋体"/>
              </a:rPr>
              <a:t> </a:t>
            </a:r>
            <a:r>
              <a:rPr lang="en-US" altLang="zh-CN" dirty="0">
                <a:solidFill>
                  <a:srgbClr val="2B91AF"/>
                </a:solidFill>
                <a:highlight>
                  <a:srgbClr val="FFFFFF"/>
                </a:highlight>
                <a:latin typeface="新宋体"/>
                <a:ea typeface="新宋体"/>
              </a:rPr>
              <a:t>test</a:t>
            </a:r>
            <a:endParaRPr lang="en-US" altLang="zh-CN" dirty="0">
              <a:solidFill>
                <a:srgbClr val="000000"/>
              </a:solidFill>
              <a:highlight>
                <a:srgbClr val="FFFFFF"/>
              </a:highlight>
              <a:latin typeface="新宋体"/>
              <a:ea typeface="新宋体"/>
            </a:endParaRPr>
          </a:p>
          <a:p>
            <a:r>
              <a:rPr lang="en-US" altLang="zh-CN" dirty="0">
                <a:solidFill>
                  <a:srgbClr val="000000"/>
                </a:solidFill>
                <a:highlight>
                  <a:srgbClr val="FFFFFF"/>
                </a:highlight>
                <a:latin typeface="新宋体"/>
                <a:ea typeface="新宋体"/>
              </a:rPr>
              <a:t>{</a:t>
            </a:r>
            <a:r>
              <a:rPr lang="en-US" altLang="zh-CN" dirty="0">
                <a:solidFill>
                  <a:srgbClr val="0000FF"/>
                </a:solidFill>
                <a:highlight>
                  <a:srgbClr val="FFFFFF"/>
                </a:highlight>
                <a:latin typeface="新宋体"/>
                <a:ea typeface="新宋体"/>
              </a:rPr>
              <a:t>private</a:t>
            </a:r>
            <a:r>
              <a:rPr lang="en-US" altLang="zh-CN" dirty="0">
                <a:solidFill>
                  <a:srgbClr val="000000"/>
                </a:solidFill>
                <a:highlight>
                  <a:srgbClr val="FFFFFF"/>
                </a:highlight>
                <a:latin typeface="新宋体"/>
                <a:ea typeface="新宋体"/>
              </a:rPr>
              <a:t>:</a:t>
            </a:r>
          </a:p>
          <a:p>
            <a:r>
              <a:rPr lang="en-US" altLang="zh-CN" dirty="0">
                <a:solidFill>
                  <a:srgbClr val="000000"/>
                </a:solidFill>
                <a:highlight>
                  <a:srgbClr val="FFFFFF"/>
                </a:highlight>
                <a:latin typeface="新宋体"/>
                <a:ea typeface="新宋体"/>
              </a:rPr>
              <a:t>   </a:t>
            </a:r>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x,y</a:t>
            </a:r>
            <a:r>
              <a:rPr lang="en-US" altLang="zh-CN" dirty="0">
                <a:solidFill>
                  <a:srgbClr val="000000"/>
                </a:solidFill>
                <a:highlight>
                  <a:srgbClr val="FFFFFF"/>
                </a:highlight>
                <a:latin typeface="新宋体"/>
                <a:ea typeface="新宋体"/>
              </a:rPr>
              <a:t>;</a:t>
            </a:r>
          </a:p>
          <a:p>
            <a:r>
              <a:rPr lang="en-US" altLang="zh-CN" dirty="0">
                <a:solidFill>
                  <a:srgbClr val="0000FF"/>
                </a:solidFill>
                <a:highlight>
                  <a:srgbClr val="FFFFFF"/>
                </a:highlight>
                <a:latin typeface="新宋体"/>
                <a:ea typeface="新宋体"/>
              </a:rPr>
              <a:t>public</a:t>
            </a:r>
            <a:r>
              <a:rPr lang="en-US" altLang="zh-CN" dirty="0">
                <a:solidFill>
                  <a:srgbClr val="000000"/>
                </a:solidFill>
                <a:highlight>
                  <a:srgbClr val="FFFFFF"/>
                </a:highlight>
                <a:latin typeface="新宋体"/>
                <a:ea typeface="新宋体"/>
              </a:rPr>
              <a:t>:</a:t>
            </a:r>
          </a:p>
          <a:p>
            <a:r>
              <a:rPr lang="en-US" altLang="zh-CN" dirty="0">
                <a:solidFill>
                  <a:srgbClr val="008000"/>
                </a:solidFill>
                <a:highlight>
                  <a:srgbClr val="FFFFFF"/>
                </a:highlight>
                <a:latin typeface="新宋体"/>
                <a:ea typeface="新宋体"/>
              </a:rPr>
              <a:t>/***********FOUND***********/</a:t>
            </a:r>
            <a:endParaRPr lang="en-US" altLang="zh-CN" dirty="0">
              <a:solidFill>
                <a:srgbClr val="000000"/>
              </a:solidFill>
              <a:highlight>
                <a:srgbClr val="FFFFFF"/>
              </a:highlight>
              <a:latin typeface="新宋体"/>
              <a:ea typeface="新宋体"/>
            </a:endParaRPr>
          </a:p>
          <a:p>
            <a:r>
              <a:rPr lang="en-US" altLang="zh-CN" dirty="0">
                <a:solidFill>
                  <a:srgbClr val="000000"/>
                </a:solidFill>
                <a:highlight>
                  <a:srgbClr val="FFFFFF"/>
                </a:highlight>
                <a:latin typeface="新宋体"/>
                <a:ea typeface="新宋体"/>
              </a:rPr>
              <a:t>   test(){ }</a:t>
            </a:r>
          </a:p>
          <a:p>
            <a:r>
              <a:rPr lang="en-US" altLang="zh-CN" dirty="0">
                <a:solidFill>
                  <a:srgbClr val="008000"/>
                </a:solidFill>
                <a:highlight>
                  <a:srgbClr val="FFFFFF"/>
                </a:highlight>
                <a:latin typeface="新宋体"/>
                <a:ea typeface="新宋体"/>
              </a:rPr>
              <a:t>/***********FOUND***********/</a:t>
            </a:r>
            <a:endParaRPr lang="en-US" altLang="zh-CN" dirty="0">
              <a:solidFill>
                <a:srgbClr val="000000"/>
              </a:solidFill>
              <a:highlight>
                <a:srgbClr val="FFFFFF"/>
              </a:highlight>
              <a:latin typeface="新宋体"/>
              <a:ea typeface="新宋体"/>
            </a:endParaRPr>
          </a:p>
          <a:p>
            <a:r>
              <a:rPr lang="en-US" altLang="zh-CN" dirty="0">
                <a:solidFill>
                  <a:srgbClr val="000000"/>
                </a:solidFill>
                <a:highlight>
                  <a:srgbClr val="FFFFFF"/>
                </a:highlight>
                <a:latin typeface="新宋体"/>
                <a:ea typeface="新宋体"/>
              </a:rPr>
              <a:t>   </a:t>
            </a:r>
            <a:r>
              <a:rPr lang="en-US" altLang="zh-CN" dirty="0">
                <a:highlight>
                  <a:srgbClr val="FFFFFF"/>
                </a:highlight>
                <a:latin typeface="新宋体"/>
                <a:ea typeface="新宋体"/>
              </a:rPr>
              <a:t>test</a:t>
            </a:r>
            <a:r>
              <a:rPr lang="en-US" altLang="zh-CN" dirty="0">
                <a:solidFill>
                  <a:srgbClr val="000000"/>
                </a:solidFill>
                <a:highlight>
                  <a:srgbClr val="FFFFFF"/>
                </a:highlight>
                <a:latin typeface="新宋体"/>
                <a:ea typeface="新宋体"/>
              </a:rPr>
              <a:t>(a, b)</a:t>
            </a:r>
          </a:p>
          <a:p>
            <a:r>
              <a:rPr lang="zh-CN" altLang="en-US" dirty="0">
                <a:solidFill>
                  <a:srgbClr val="000000"/>
                </a:solidFill>
                <a:highlight>
                  <a:srgbClr val="FFFFFF"/>
                </a:highlight>
                <a:latin typeface="新宋体"/>
                <a:ea typeface="新宋体"/>
              </a:rPr>
              <a:t>   </a:t>
            </a:r>
            <a:r>
              <a:rPr lang="en-US" altLang="zh-CN" dirty="0">
                <a:solidFill>
                  <a:srgbClr val="000000"/>
                </a:solidFill>
                <a:highlight>
                  <a:srgbClr val="FFFFFF"/>
                </a:highlight>
                <a:latin typeface="新宋体"/>
                <a:ea typeface="新宋体"/>
              </a:rPr>
              <a:t>{  x=a; </a:t>
            </a:r>
          </a:p>
          <a:p>
            <a:r>
              <a:rPr lang="en-US" altLang="zh-CN" dirty="0">
                <a:solidFill>
                  <a:srgbClr val="000000"/>
                </a:solidFill>
                <a:highlight>
                  <a:srgbClr val="FFFFFF"/>
                </a:highlight>
                <a:latin typeface="新宋体"/>
                <a:ea typeface="新宋体"/>
              </a:rPr>
              <a:t>      y=b;</a:t>
            </a:r>
          </a:p>
          <a:p>
            <a:r>
              <a:rPr lang="zh-CN" altLang="en-US" dirty="0">
                <a:solidFill>
                  <a:srgbClr val="000000"/>
                </a:solidFill>
                <a:highlight>
                  <a:srgbClr val="FFFFFF"/>
                </a:highlight>
                <a:latin typeface="新宋体"/>
                <a:ea typeface="新宋体"/>
              </a:rPr>
              <a:t>   </a:t>
            </a:r>
            <a:r>
              <a:rPr lang="en-US" altLang="zh-CN" dirty="0">
                <a:solidFill>
                  <a:srgbClr val="000000"/>
                </a:solidFill>
                <a:highlight>
                  <a:srgbClr val="FFFFFF"/>
                </a:highlight>
                <a:latin typeface="新宋体"/>
                <a:ea typeface="新宋体"/>
              </a:rPr>
              <a:t>}</a:t>
            </a:r>
          </a:p>
          <a:p>
            <a:r>
              <a:rPr lang="en-US" altLang="zh-CN" dirty="0">
                <a:solidFill>
                  <a:srgbClr val="000000"/>
                </a:solidFill>
                <a:highlight>
                  <a:srgbClr val="FFFFFF"/>
                </a:highlight>
                <a:latin typeface="新宋体"/>
                <a:ea typeface="新宋体"/>
              </a:rPr>
              <a:t>   </a:t>
            </a:r>
            <a:r>
              <a:rPr lang="en-US" altLang="zh-CN" dirty="0">
                <a:solidFill>
                  <a:srgbClr val="0000FF"/>
                </a:solidFill>
                <a:highlight>
                  <a:srgbClr val="FFFFFF"/>
                </a:highlight>
                <a:latin typeface="新宋体"/>
                <a:ea typeface="新宋体"/>
              </a:rPr>
              <a:t>void</a:t>
            </a:r>
            <a:r>
              <a:rPr lang="en-US" altLang="zh-CN" dirty="0">
                <a:solidFill>
                  <a:srgbClr val="000000"/>
                </a:solidFill>
                <a:highlight>
                  <a:srgbClr val="FFFFFF"/>
                </a:highlight>
                <a:latin typeface="新宋体"/>
                <a:ea typeface="新宋体"/>
              </a:rPr>
              <a:t> print()</a:t>
            </a:r>
          </a:p>
          <a:p>
            <a:r>
              <a:rPr lang="en-US" altLang="zh-CN" dirty="0">
                <a:solidFill>
                  <a:srgbClr val="000000"/>
                </a:solidFill>
                <a:highlight>
                  <a:srgbClr val="FFFFFF"/>
                </a:highlight>
                <a:latin typeface="新宋体"/>
                <a:ea typeface="新宋体"/>
              </a:rPr>
              <a:t>   {  </a:t>
            </a:r>
            <a:r>
              <a:rPr lang="en-US" altLang="zh-CN" dirty="0" err="1">
                <a:solidFill>
                  <a:srgbClr val="000000"/>
                </a:solidFill>
                <a:highlight>
                  <a:srgbClr val="FFFFFF"/>
                </a:highlight>
                <a:latin typeface="新宋体"/>
                <a:ea typeface="新宋体"/>
              </a:rPr>
              <a:t>cout</a:t>
            </a:r>
            <a:r>
              <a:rPr lang="en-US" altLang="zh-CN" dirty="0">
                <a:solidFill>
                  <a:srgbClr val="000000"/>
                </a:solidFill>
                <a:highlight>
                  <a:srgbClr val="FFFFFF"/>
                </a:highlight>
                <a:latin typeface="新宋体"/>
                <a:ea typeface="新宋体"/>
              </a:rPr>
              <a:t>&lt;&lt;</a:t>
            </a:r>
            <a:r>
              <a:rPr lang="en-US" altLang="zh-CN" dirty="0">
                <a:solidFill>
                  <a:srgbClr val="A31515"/>
                </a:solidFill>
                <a:highlight>
                  <a:srgbClr val="FFFFFF"/>
                </a:highlight>
                <a:latin typeface="新宋体"/>
                <a:ea typeface="新宋体"/>
              </a:rPr>
              <a:t>"x="</a:t>
            </a:r>
            <a:r>
              <a:rPr lang="en-US" altLang="zh-CN" dirty="0">
                <a:solidFill>
                  <a:srgbClr val="000000"/>
                </a:solidFill>
                <a:highlight>
                  <a:srgbClr val="FFFFFF"/>
                </a:highlight>
                <a:latin typeface="新宋体"/>
                <a:ea typeface="新宋体"/>
              </a:rPr>
              <a:t>&lt;&lt;x&lt;&lt;</a:t>
            </a:r>
            <a:r>
              <a:rPr lang="en-US" altLang="zh-CN" dirty="0">
                <a:solidFill>
                  <a:srgbClr val="A31515"/>
                </a:solidFill>
                <a:highlight>
                  <a:srgbClr val="FFFFFF"/>
                </a:highlight>
                <a:latin typeface="新宋体"/>
                <a:ea typeface="新宋体"/>
              </a:rPr>
              <a:t>"y="</a:t>
            </a:r>
            <a:r>
              <a:rPr lang="en-US" altLang="zh-CN" dirty="0">
                <a:solidFill>
                  <a:srgbClr val="000000"/>
                </a:solidFill>
                <a:highlight>
                  <a:srgbClr val="FFFFFF"/>
                </a:highlight>
                <a:latin typeface="新宋体"/>
                <a:ea typeface="新宋体"/>
              </a:rPr>
              <a:t>&lt;&lt;y&lt;&lt;</a:t>
            </a:r>
            <a:r>
              <a:rPr lang="en-US" altLang="zh-CN" dirty="0" err="1">
                <a:solidFill>
                  <a:srgbClr val="000000"/>
                </a:solidFill>
                <a:highlight>
                  <a:srgbClr val="FFFFFF"/>
                </a:highlight>
                <a:latin typeface="新宋体"/>
                <a:ea typeface="新宋体"/>
              </a:rPr>
              <a:t>endl</a:t>
            </a:r>
            <a:r>
              <a:rPr lang="en-US" altLang="zh-CN" dirty="0">
                <a:solidFill>
                  <a:srgbClr val="000000"/>
                </a:solidFill>
                <a:highlight>
                  <a:srgbClr val="FFFFFF"/>
                </a:highlight>
                <a:latin typeface="新宋体"/>
                <a:ea typeface="新宋体"/>
              </a:rPr>
              <a:t>;</a:t>
            </a:r>
          </a:p>
          <a:p>
            <a:r>
              <a:rPr lang="en-US" altLang="zh-CN" dirty="0">
                <a:solidFill>
                  <a:srgbClr val="000000"/>
                </a:solidFill>
                <a:highlight>
                  <a:srgbClr val="FFFFFF"/>
                </a:highlight>
                <a:latin typeface="新宋体"/>
                <a:ea typeface="新宋体"/>
              </a:rPr>
              <a:t>   }</a:t>
            </a:r>
          </a:p>
          <a:p>
            <a:r>
              <a:rPr lang="en-US" altLang="zh-CN" dirty="0">
                <a:solidFill>
                  <a:srgbClr val="000000"/>
                </a:solidFill>
                <a:highlight>
                  <a:srgbClr val="FFFFFF"/>
                </a:highlight>
                <a:latin typeface="新宋体"/>
                <a:ea typeface="新宋体"/>
              </a:rPr>
              <a:t>};</a:t>
            </a:r>
          </a:p>
          <a:p>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main()</a:t>
            </a:r>
          </a:p>
          <a:p>
            <a:r>
              <a:rPr lang="en-US" altLang="zh-CN" dirty="0">
                <a:solidFill>
                  <a:srgbClr val="000000"/>
                </a:solidFill>
                <a:highlight>
                  <a:srgbClr val="FFFFFF"/>
                </a:highlight>
                <a:latin typeface="新宋体"/>
                <a:ea typeface="新宋体"/>
              </a:rPr>
              <a:t>{</a:t>
            </a:r>
            <a:r>
              <a:rPr lang="en-US" altLang="zh-CN" dirty="0">
                <a:solidFill>
                  <a:srgbClr val="008000"/>
                </a:solidFill>
                <a:highlight>
                  <a:srgbClr val="FFFFFF"/>
                </a:highlight>
                <a:latin typeface="新宋体"/>
                <a:ea typeface="新宋体"/>
              </a:rPr>
              <a:t>/***********FOUND***********/</a:t>
            </a:r>
            <a:endParaRPr lang="en-US" altLang="zh-CN" dirty="0">
              <a:solidFill>
                <a:srgbClr val="000000"/>
              </a:solidFill>
              <a:highlight>
                <a:srgbClr val="FFFFFF"/>
              </a:highlight>
              <a:latin typeface="新宋体"/>
              <a:ea typeface="新宋体"/>
            </a:endParaRPr>
          </a:p>
          <a:p>
            <a:r>
              <a:rPr lang="en-US" altLang="zh-CN" dirty="0">
                <a:solidFill>
                  <a:srgbClr val="2B91AF"/>
                </a:solidFill>
                <a:highlight>
                  <a:srgbClr val="FFFFFF"/>
                </a:highlight>
                <a:latin typeface="新宋体"/>
                <a:ea typeface="新宋体"/>
              </a:rPr>
              <a:t>   test</a:t>
            </a:r>
            <a:r>
              <a:rPr lang="en-US" altLang="zh-CN" dirty="0">
                <a:solidFill>
                  <a:srgbClr val="000000"/>
                </a:solidFill>
                <a:highlight>
                  <a:srgbClr val="FFFFFF"/>
                </a:highlight>
                <a:latin typeface="新宋体"/>
                <a:ea typeface="新宋体"/>
              </a:rPr>
              <a:t> t1(100,200),t2;</a:t>
            </a:r>
          </a:p>
          <a:p>
            <a:r>
              <a:rPr lang="en-US" altLang="zh-CN" dirty="0">
                <a:solidFill>
                  <a:srgbClr val="008000"/>
                </a:solidFill>
                <a:highlight>
                  <a:srgbClr val="FFFFFF"/>
                </a:highlight>
                <a:latin typeface="新宋体"/>
                <a:ea typeface="新宋体"/>
              </a:rPr>
              <a:t>/***********FOUND***********/</a:t>
            </a:r>
            <a:endParaRPr lang="en-US" altLang="zh-CN" dirty="0">
              <a:solidFill>
                <a:srgbClr val="000000"/>
              </a:solidFill>
              <a:highlight>
                <a:srgbClr val="FFFFFF"/>
              </a:highlight>
              <a:latin typeface="新宋体"/>
              <a:ea typeface="新宋体"/>
            </a:endParaRPr>
          </a:p>
          <a:p>
            <a:r>
              <a:rPr lang="en-US" altLang="zh-CN" dirty="0">
                <a:solidFill>
                  <a:srgbClr val="2B91AF"/>
                </a:solidFill>
                <a:highlight>
                  <a:srgbClr val="FFFFFF"/>
                </a:highlight>
                <a:latin typeface="新宋体"/>
                <a:ea typeface="新宋体"/>
              </a:rPr>
              <a:t>   test</a:t>
            </a:r>
            <a:r>
              <a:rPr lang="en-US" altLang="zh-CN" dirty="0">
                <a:solidFill>
                  <a:srgbClr val="000000"/>
                </a:solidFill>
                <a:highlight>
                  <a:srgbClr val="FFFFFF"/>
                </a:highlight>
                <a:latin typeface="新宋体"/>
                <a:ea typeface="新宋体"/>
              </a:rPr>
              <a:t> *p[]={t1,t2};</a:t>
            </a:r>
          </a:p>
          <a:p>
            <a:r>
              <a:rPr lang="en-US" altLang="zh-CN" dirty="0">
                <a:solidFill>
                  <a:srgbClr val="0000FF"/>
                </a:solidFill>
                <a:highlight>
                  <a:srgbClr val="FFFFFF"/>
                </a:highlight>
                <a:latin typeface="新宋体"/>
                <a:ea typeface="新宋体"/>
              </a:rPr>
              <a:t>   </a:t>
            </a:r>
            <a:r>
              <a:rPr lang="en-US" altLang="zh-CN" dirty="0" err="1">
                <a:solidFill>
                  <a:srgbClr val="0000FF"/>
                </a:solidFill>
                <a:highlight>
                  <a:srgbClr val="FFFFFF"/>
                </a:highlight>
                <a:latin typeface="新宋体"/>
                <a:ea typeface="新宋体"/>
              </a:rPr>
              <a:t>int</a:t>
            </a:r>
            <a:r>
              <a:rPr lang="en-US" altLang="zh-CN" dirty="0">
                <a:solidFill>
                  <a:srgbClr val="000000"/>
                </a:solidFill>
                <a:highlight>
                  <a:srgbClr val="FFFFFF"/>
                </a:highlight>
                <a:latin typeface="新宋体"/>
                <a:ea typeface="新宋体"/>
              </a:rPr>
              <a:t> </a:t>
            </a:r>
            <a:r>
              <a:rPr lang="en-US" altLang="zh-CN" dirty="0" err="1">
                <a:solidFill>
                  <a:srgbClr val="000000"/>
                </a:solidFill>
                <a:highlight>
                  <a:srgbClr val="FFFFFF"/>
                </a:highlight>
                <a:latin typeface="新宋体"/>
                <a:ea typeface="新宋体"/>
              </a:rPr>
              <a:t>i</a:t>
            </a:r>
            <a:r>
              <a:rPr lang="en-US" altLang="zh-CN" dirty="0">
                <a:solidFill>
                  <a:srgbClr val="000000"/>
                </a:solidFill>
                <a:highlight>
                  <a:srgbClr val="FFFFFF"/>
                </a:highlight>
                <a:latin typeface="新宋体"/>
                <a:ea typeface="新宋体"/>
              </a:rPr>
              <a:t>;</a:t>
            </a:r>
          </a:p>
          <a:p>
            <a:r>
              <a:rPr lang="en-US" altLang="zh-CN" dirty="0">
                <a:solidFill>
                  <a:srgbClr val="0000FF"/>
                </a:solidFill>
                <a:highlight>
                  <a:srgbClr val="FFFFFF"/>
                </a:highlight>
                <a:latin typeface="新宋体"/>
                <a:ea typeface="新宋体"/>
              </a:rPr>
              <a:t>   for</a:t>
            </a:r>
            <a:r>
              <a:rPr lang="en-US" altLang="zh-CN" dirty="0">
                <a:solidFill>
                  <a:srgbClr val="000000"/>
                </a:solidFill>
                <a:highlight>
                  <a:srgbClr val="FFFFFF"/>
                </a:highlight>
                <a:latin typeface="新宋体"/>
                <a:ea typeface="新宋体"/>
              </a:rPr>
              <a:t>(</a:t>
            </a:r>
            <a:r>
              <a:rPr lang="en-US" altLang="zh-CN" dirty="0" err="1">
                <a:solidFill>
                  <a:srgbClr val="000000"/>
                </a:solidFill>
                <a:highlight>
                  <a:srgbClr val="FFFFFF"/>
                </a:highlight>
                <a:latin typeface="新宋体"/>
                <a:ea typeface="新宋体"/>
              </a:rPr>
              <a:t>i</a:t>
            </a:r>
            <a:r>
              <a:rPr lang="en-US" altLang="zh-CN" dirty="0">
                <a:solidFill>
                  <a:srgbClr val="000000"/>
                </a:solidFill>
                <a:highlight>
                  <a:srgbClr val="FFFFFF"/>
                </a:highlight>
                <a:latin typeface="新宋体"/>
                <a:ea typeface="新宋体"/>
              </a:rPr>
              <a:t>=0;i&lt;=1;i++)</a:t>
            </a:r>
          </a:p>
          <a:p>
            <a:r>
              <a:rPr lang="en-US" altLang="zh-CN" dirty="0">
                <a:solidFill>
                  <a:srgbClr val="000000"/>
                </a:solidFill>
                <a:highlight>
                  <a:srgbClr val="FFFFFF"/>
                </a:highlight>
                <a:latin typeface="新宋体"/>
                <a:ea typeface="新宋体"/>
              </a:rPr>
              <a:t>     p[</a:t>
            </a:r>
            <a:r>
              <a:rPr lang="en-US" altLang="zh-CN" dirty="0" err="1">
                <a:solidFill>
                  <a:srgbClr val="000000"/>
                </a:solidFill>
                <a:highlight>
                  <a:srgbClr val="FFFFFF"/>
                </a:highlight>
                <a:latin typeface="新宋体"/>
                <a:ea typeface="新宋体"/>
              </a:rPr>
              <a:t>i</a:t>
            </a:r>
            <a:r>
              <a:rPr lang="en-US" altLang="zh-CN" dirty="0">
                <a:solidFill>
                  <a:srgbClr val="000000"/>
                </a:solidFill>
                <a:highlight>
                  <a:srgbClr val="FFFFFF"/>
                </a:highlight>
                <a:latin typeface="新宋体"/>
                <a:ea typeface="新宋体"/>
              </a:rPr>
              <a:t>]-&gt;print();</a:t>
            </a:r>
          </a:p>
          <a:p>
            <a:r>
              <a:rPr lang="en-US" altLang="zh-CN" dirty="0">
                <a:solidFill>
                  <a:srgbClr val="0000FF"/>
                </a:solidFill>
                <a:highlight>
                  <a:srgbClr val="FFFFFF"/>
                </a:highlight>
                <a:latin typeface="新宋体"/>
                <a:ea typeface="新宋体"/>
              </a:rPr>
              <a:t>   return</a:t>
            </a:r>
            <a:r>
              <a:rPr lang="en-US" altLang="zh-CN" dirty="0">
                <a:solidFill>
                  <a:srgbClr val="000000"/>
                </a:solidFill>
                <a:highlight>
                  <a:srgbClr val="FFFFFF"/>
                </a:highlight>
                <a:latin typeface="新宋体"/>
                <a:ea typeface="新宋体"/>
              </a:rPr>
              <a:t> 0;</a:t>
            </a:r>
          </a:p>
          <a:p>
            <a:r>
              <a:rPr lang="en-US" altLang="zh-CN" dirty="0">
                <a:solidFill>
                  <a:srgbClr val="000000"/>
                </a:solidFill>
                <a:highlight>
                  <a:srgbClr val="FFFFFF"/>
                </a:highlight>
                <a:latin typeface="新宋体"/>
                <a:ea typeface="新宋体"/>
              </a:rPr>
              <a:t>}</a:t>
            </a:r>
          </a:p>
        </p:txBody>
      </p:sp>
      <p:sp>
        <p:nvSpPr>
          <p:cNvPr id="3" name="矩形 2"/>
          <p:cNvSpPr/>
          <p:nvPr/>
        </p:nvSpPr>
        <p:spPr>
          <a:xfrm>
            <a:off x="251520" y="404664"/>
            <a:ext cx="3456384" cy="3385542"/>
          </a:xfrm>
          <a:prstGeom prst="rect">
            <a:avLst/>
          </a:prstGeom>
          <a:solidFill>
            <a:schemeClr val="bg1"/>
          </a:solidFill>
          <a:ln>
            <a:solidFill>
              <a:schemeClr val="bg2">
                <a:lumMod val="25000"/>
              </a:schemeClr>
            </a:solidFill>
          </a:ln>
        </p:spPr>
        <p:txBody>
          <a:bodyPr wrap="square">
            <a:spAutoFit/>
          </a:bodyPr>
          <a:lstStyle/>
          <a:p>
            <a:pPr lvl="0"/>
            <a:r>
              <a:rPr lang="en-US" altLang="zh-CN" sz="1600" dirty="0">
                <a:solidFill>
                  <a:srgbClr val="000000"/>
                </a:solidFill>
                <a:highlight>
                  <a:srgbClr val="FFFFFF"/>
                </a:highlight>
                <a:latin typeface="新宋体"/>
                <a:ea typeface="新宋体"/>
              </a:rPr>
              <a:t>【</a:t>
            </a:r>
            <a:r>
              <a:rPr lang="zh-CN" altLang="en-US" sz="1600" dirty="0">
                <a:solidFill>
                  <a:srgbClr val="000000"/>
                </a:solidFill>
                <a:highlight>
                  <a:srgbClr val="FFFFFF"/>
                </a:highlight>
                <a:latin typeface="新宋体"/>
                <a:ea typeface="新宋体"/>
              </a:rPr>
              <a:t>课堂练习</a:t>
            </a:r>
            <a:r>
              <a:rPr lang="en-US" altLang="zh-CN" sz="1600" dirty="0">
                <a:solidFill>
                  <a:srgbClr val="000000"/>
                </a:solidFill>
                <a:highlight>
                  <a:srgbClr val="FFFFFF"/>
                </a:highlight>
                <a:latin typeface="新宋体"/>
                <a:ea typeface="新宋体"/>
              </a:rPr>
              <a:t>】 </a:t>
            </a:r>
            <a:r>
              <a:rPr lang="zh-CN" altLang="en-US" sz="1600" dirty="0">
                <a:solidFill>
                  <a:srgbClr val="000000"/>
                </a:solidFill>
                <a:highlight>
                  <a:srgbClr val="FFFFFF"/>
                </a:highlight>
                <a:latin typeface="新宋体"/>
                <a:ea typeface="新宋体"/>
              </a:rPr>
              <a:t>程序改错</a:t>
            </a:r>
            <a:endParaRPr lang="en-US" altLang="zh-CN" sz="1600" dirty="0">
              <a:solidFill>
                <a:srgbClr val="000000"/>
              </a:solidFill>
              <a:highlight>
                <a:srgbClr val="FFFFFF"/>
              </a:highlight>
              <a:latin typeface="新宋体"/>
              <a:ea typeface="新宋体"/>
            </a:endParaRPr>
          </a:p>
          <a:p>
            <a:pPr lvl="0"/>
            <a:endParaRPr lang="zh-CN" altLang="en-US"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题目</a:t>
            </a:r>
            <a:r>
              <a:rPr lang="en-US" altLang="zh-CN" sz="1600" dirty="0">
                <a:solidFill>
                  <a:srgbClr val="000000"/>
                </a:solidFill>
                <a:highlight>
                  <a:srgbClr val="FFFFFF"/>
                </a:highlight>
                <a:latin typeface="新宋体"/>
                <a:ea typeface="新宋体"/>
              </a:rPr>
              <a:t>:</a:t>
            </a:r>
            <a:r>
              <a:rPr lang="zh-CN" altLang="en-US" sz="1600" dirty="0">
                <a:solidFill>
                  <a:srgbClr val="000000"/>
                </a:solidFill>
                <a:highlight>
                  <a:srgbClr val="FFFFFF"/>
                </a:highlight>
                <a:latin typeface="新宋体"/>
                <a:ea typeface="新宋体"/>
              </a:rPr>
              <a:t>以下程序的运行结果为：</a:t>
            </a:r>
          </a:p>
          <a:p>
            <a:pPr lvl="0"/>
            <a:r>
              <a:rPr lang="en-US" altLang="zh-CN" sz="1600" dirty="0">
                <a:solidFill>
                  <a:srgbClr val="000000"/>
                </a:solidFill>
                <a:highlight>
                  <a:srgbClr val="FFFFFF"/>
                </a:highlight>
                <a:latin typeface="新宋体"/>
                <a:ea typeface="新宋体"/>
              </a:rPr>
              <a:t>     x=0y=0</a:t>
            </a:r>
          </a:p>
          <a:p>
            <a:pPr lvl="0"/>
            <a:r>
              <a:rPr lang="en-US" altLang="zh-CN" sz="1600" dirty="0">
                <a:solidFill>
                  <a:srgbClr val="000000"/>
                </a:solidFill>
                <a:highlight>
                  <a:srgbClr val="FFFFFF"/>
                </a:highlight>
                <a:latin typeface="新宋体"/>
                <a:ea typeface="新宋体"/>
              </a:rPr>
              <a:t>     x=100y=200</a:t>
            </a:r>
          </a:p>
          <a:p>
            <a:pPr lvl="0"/>
            <a:endParaRPr lang="zh-CN" altLang="en-US"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注意：不可以增加或删除程序行，</a:t>
            </a:r>
            <a:endParaRPr lang="en-US" altLang="zh-CN"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也不可以更改程序的结构。</a:t>
            </a:r>
          </a:p>
          <a:p>
            <a:pPr lvl="0"/>
            <a:r>
              <a:rPr lang="zh-CN" altLang="en-US" sz="1600" dirty="0">
                <a:solidFill>
                  <a:srgbClr val="000000"/>
                </a:solidFill>
                <a:highlight>
                  <a:srgbClr val="FFFFFF"/>
                </a:highlight>
                <a:latin typeface="新宋体"/>
                <a:ea typeface="新宋体"/>
              </a:rPr>
              <a:t>      仅修正改错标记</a:t>
            </a:r>
            <a:r>
              <a:rPr lang="en-US" altLang="zh-CN" sz="1600" dirty="0">
                <a:solidFill>
                  <a:srgbClr val="000000"/>
                </a:solidFill>
                <a:highlight>
                  <a:srgbClr val="FFFFFF"/>
                </a:highlight>
                <a:latin typeface="新宋体"/>
                <a:ea typeface="新宋体"/>
              </a:rPr>
              <a:t>FOUND</a:t>
            </a:r>
            <a:r>
              <a:rPr lang="zh-CN" altLang="en-US" sz="1600" dirty="0">
                <a:solidFill>
                  <a:srgbClr val="000000"/>
                </a:solidFill>
                <a:highlight>
                  <a:srgbClr val="FFFFFF"/>
                </a:highlight>
                <a:latin typeface="新宋体"/>
                <a:ea typeface="新宋体"/>
              </a:rPr>
              <a:t>之下</a:t>
            </a:r>
            <a:endParaRPr lang="en-US" altLang="zh-CN" sz="1600" dirty="0">
              <a:solidFill>
                <a:srgbClr val="000000"/>
              </a:solidFill>
              <a:highlight>
                <a:srgbClr val="FFFFFF"/>
              </a:highlight>
              <a:latin typeface="新宋体"/>
              <a:ea typeface="新宋体"/>
            </a:endParaRPr>
          </a:p>
          <a:p>
            <a:pPr lvl="0"/>
            <a:r>
              <a:rPr lang="zh-CN" altLang="en-US" sz="1600" dirty="0">
                <a:solidFill>
                  <a:srgbClr val="000000"/>
                </a:solidFill>
                <a:highlight>
                  <a:srgbClr val="FFFFFF"/>
                </a:highlight>
                <a:latin typeface="新宋体"/>
                <a:ea typeface="新宋体"/>
              </a:rPr>
              <a:t>的那行内容，不允许删除</a:t>
            </a:r>
            <a:r>
              <a:rPr lang="en-US" altLang="zh-CN" sz="1600" dirty="0">
                <a:solidFill>
                  <a:srgbClr val="000000"/>
                </a:solidFill>
                <a:highlight>
                  <a:srgbClr val="FFFFFF"/>
                </a:highlight>
                <a:latin typeface="新宋体"/>
                <a:ea typeface="新宋体"/>
              </a:rPr>
              <a:t>FOUND</a:t>
            </a:r>
            <a:r>
              <a:rPr lang="zh-CN" altLang="en-US" sz="1600" dirty="0">
                <a:solidFill>
                  <a:srgbClr val="000000"/>
                </a:solidFill>
                <a:highlight>
                  <a:srgbClr val="FFFFFF"/>
                </a:highlight>
                <a:latin typeface="新宋体"/>
                <a:ea typeface="新宋体"/>
              </a:rPr>
              <a:t>行</a:t>
            </a:r>
          </a:p>
          <a:p>
            <a:pPr lvl="0"/>
            <a:endParaRPr lang="en-US" altLang="zh-CN" sz="1600" dirty="0">
              <a:solidFill>
                <a:srgbClr val="808080"/>
              </a:solidFill>
              <a:highlight>
                <a:srgbClr val="FFFFFF"/>
              </a:highlight>
              <a:latin typeface="新宋体"/>
              <a:ea typeface="新宋体"/>
            </a:endParaRPr>
          </a:p>
          <a:p>
            <a:pPr lvl="0"/>
            <a:r>
              <a:rPr lang="en-US" altLang="zh-CN" sz="1600" dirty="0">
                <a:solidFill>
                  <a:srgbClr val="808080"/>
                </a:solidFill>
                <a:highlight>
                  <a:srgbClr val="FFFFFF"/>
                </a:highlight>
                <a:latin typeface="新宋体"/>
                <a:ea typeface="新宋体"/>
              </a:rPr>
              <a:t>#include</a:t>
            </a:r>
            <a:r>
              <a:rPr lang="en-US" altLang="zh-CN" sz="1600" dirty="0">
                <a:solidFill>
                  <a:srgbClr val="000000"/>
                </a:solidFill>
                <a:highlight>
                  <a:srgbClr val="FFFFFF"/>
                </a:highlight>
                <a:latin typeface="新宋体"/>
                <a:ea typeface="新宋体"/>
              </a:rPr>
              <a:t> </a:t>
            </a:r>
            <a:r>
              <a:rPr lang="en-US" altLang="zh-CN" sz="1600" dirty="0">
                <a:solidFill>
                  <a:srgbClr val="A31515"/>
                </a:solidFill>
                <a:highlight>
                  <a:srgbClr val="FFFFFF"/>
                </a:highlight>
                <a:latin typeface="新宋体"/>
                <a:ea typeface="新宋体"/>
              </a:rPr>
              <a:t>&lt;</a:t>
            </a:r>
            <a:r>
              <a:rPr lang="en-US" altLang="zh-CN" sz="1600" dirty="0" err="1">
                <a:solidFill>
                  <a:srgbClr val="A31515"/>
                </a:solidFill>
                <a:highlight>
                  <a:srgbClr val="FFFFFF"/>
                </a:highlight>
                <a:latin typeface="新宋体"/>
                <a:ea typeface="新宋体"/>
              </a:rPr>
              <a:t>iostream</a:t>
            </a:r>
            <a:r>
              <a:rPr lang="en-US" altLang="zh-CN" sz="1600" dirty="0">
                <a:solidFill>
                  <a:srgbClr val="A31515"/>
                </a:solidFill>
                <a:highlight>
                  <a:srgbClr val="FFFFFF"/>
                </a:highlight>
                <a:latin typeface="新宋体"/>
                <a:ea typeface="新宋体"/>
              </a:rPr>
              <a:t>&gt;</a:t>
            </a:r>
            <a:endParaRPr lang="en-US" altLang="zh-CN" sz="1600" dirty="0">
              <a:solidFill>
                <a:srgbClr val="000000"/>
              </a:solidFill>
              <a:highlight>
                <a:srgbClr val="FFFFFF"/>
              </a:highlight>
              <a:latin typeface="新宋体"/>
              <a:ea typeface="新宋体"/>
            </a:endParaRPr>
          </a:p>
          <a:p>
            <a:pPr lvl="0"/>
            <a:r>
              <a:rPr lang="en-US" altLang="zh-CN" sz="1600" dirty="0">
                <a:solidFill>
                  <a:srgbClr val="0000FF"/>
                </a:solidFill>
                <a:highlight>
                  <a:srgbClr val="FFFFFF"/>
                </a:highlight>
                <a:latin typeface="新宋体"/>
                <a:ea typeface="新宋体"/>
              </a:rPr>
              <a:t>using</a:t>
            </a:r>
            <a:r>
              <a:rPr lang="en-US" altLang="zh-CN" sz="1600" dirty="0">
                <a:solidFill>
                  <a:srgbClr val="000000"/>
                </a:solidFill>
                <a:highlight>
                  <a:srgbClr val="FFFFFF"/>
                </a:highlight>
                <a:latin typeface="新宋体"/>
                <a:ea typeface="新宋体"/>
              </a:rPr>
              <a:t> </a:t>
            </a:r>
            <a:r>
              <a:rPr lang="en-US" altLang="zh-CN" sz="1600" dirty="0">
                <a:solidFill>
                  <a:srgbClr val="0000FF"/>
                </a:solidFill>
                <a:highlight>
                  <a:srgbClr val="FFFFFF"/>
                </a:highlight>
                <a:latin typeface="新宋体"/>
                <a:ea typeface="新宋体"/>
              </a:rPr>
              <a:t>namespace</a:t>
            </a:r>
            <a:r>
              <a:rPr lang="en-US" altLang="zh-CN" sz="1600" dirty="0">
                <a:solidFill>
                  <a:srgbClr val="000000"/>
                </a:solidFill>
                <a:highlight>
                  <a:srgbClr val="FFFFFF"/>
                </a:highlight>
                <a:latin typeface="新宋体"/>
                <a:ea typeface="新宋体"/>
              </a:rPr>
              <a:t> </a:t>
            </a:r>
            <a:r>
              <a:rPr lang="en-US" altLang="zh-CN" sz="1600" dirty="0" err="1">
                <a:solidFill>
                  <a:srgbClr val="000000"/>
                </a:solidFill>
                <a:highlight>
                  <a:srgbClr val="FFFFFF"/>
                </a:highlight>
                <a:latin typeface="新宋体"/>
                <a:ea typeface="新宋体"/>
              </a:rPr>
              <a:t>std</a:t>
            </a:r>
            <a:r>
              <a:rPr lang="en-US" altLang="zh-CN" sz="1600" dirty="0">
                <a:solidFill>
                  <a:srgbClr val="000000"/>
                </a:solidFill>
                <a:highlight>
                  <a:srgbClr val="FFFFFF"/>
                </a:highlight>
                <a:latin typeface="新宋体"/>
                <a:ea typeface="新宋体"/>
              </a:rPr>
              <a:t>;</a:t>
            </a:r>
          </a:p>
        </p:txBody>
      </p:sp>
    </p:spTree>
    <p:extLst>
      <p:ext uri="{BB962C8B-B14F-4D97-AF65-F5344CB8AC3E}">
        <p14:creationId xmlns:p14="http://schemas.microsoft.com/office/powerpoint/2010/main" val="23205156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Dragon</Template>
  <TotalTime>19690</TotalTime>
  <Words>6146</Words>
  <Application>Microsoft Macintosh PowerPoint</Application>
  <PresentationFormat>全屏显示(4:3)</PresentationFormat>
  <Paragraphs>1032</Paragraphs>
  <Slides>53</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53</vt:i4>
      </vt:variant>
    </vt:vector>
  </HeadingPairs>
  <TitlesOfParts>
    <vt:vector size="67" baseType="lpstr">
      <vt:lpstr>宋体</vt:lpstr>
      <vt:lpstr>新宋体</vt:lpstr>
      <vt:lpstr>幼圆</vt:lpstr>
      <vt:lpstr>Arial</vt:lpstr>
      <vt:lpstr>Calibri</vt:lpstr>
      <vt:lpstr>Cambria</vt:lpstr>
      <vt:lpstr>Consolas</vt:lpstr>
      <vt:lpstr>Lucida Console</vt:lpstr>
      <vt:lpstr>Maiandra GD</vt:lpstr>
      <vt:lpstr>Segoe UI</vt:lpstr>
      <vt:lpstr>Times New Roman</vt:lpstr>
      <vt:lpstr>Wingdings</vt:lpstr>
      <vt:lpstr>Wingdings 2</vt:lpstr>
      <vt:lpstr>龙腾四海</vt:lpstr>
      <vt:lpstr>PowerPoint 演示文稿</vt:lpstr>
      <vt:lpstr>大纲</vt:lpstr>
      <vt:lpstr>构造函数与析构函数</vt:lpstr>
      <vt:lpstr>4_2.1 构造函数</vt:lpstr>
      <vt:lpstr>PowerPoint 演示文稿</vt:lpstr>
      <vt:lpstr>PowerPoint 演示文稿</vt:lpstr>
      <vt:lpstr>PowerPoint 演示文稿</vt:lpstr>
      <vt:lpstr>PowerPoint 演示文稿</vt:lpstr>
      <vt:lpstr>PowerPoint 演示文稿</vt:lpstr>
      <vt:lpstr>PowerPoint 演示文稿</vt:lpstr>
      <vt:lpstr>构造函数的分类</vt:lpstr>
      <vt:lpstr>4_2.1.1 无参构造函数</vt:lpstr>
      <vt:lpstr>无参构造函数</vt:lpstr>
      <vt:lpstr>PowerPoint 演示文稿</vt:lpstr>
      <vt:lpstr>PowerPoint 演示文稿</vt:lpstr>
      <vt:lpstr>无参构造函数</vt:lpstr>
      <vt:lpstr>PowerPoint 演示文稿</vt:lpstr>
      <vt:lpstr>4_2.1.2  缺省参数值的构造函数</vt:lpstr>
      <vt:lpstr>缺省参数的构造函数与无参构造函数的冲突问题  </vt:lpstr>
      <vt:lpstr>PowerPoint 演示文稿</vt:lpstr>
      <vt:lpstr>PowerPoint 演示文稿</vt:lpstr>
      <vt:lpstr>4_2.2 拷贝构造函数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4_2.3 构造函数与初始化列表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3.5 构造函数与析构函数</dc:title>
  <dc:creator>SJL</dc:creator>
  <cp:lastModifiedBy>Microsoft Office User</cp:lastModifiedBy>
  <cp:revision>78</cp:revision>
  <dcterms:created xsi:type="dcterms:W3CDTF">2017-10-09T00:48:48Z</dcterms:created>
  <dcterms:modified xsi:type="dcterms:W3CDTF">2024-03-06T09:10:37Z</dcterms:modified>
</cp:coreProperties>
</file>