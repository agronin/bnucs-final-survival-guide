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7" r:id="rId2"/>
    <p:sldId id="258" r:id="rId3"/>
    <p:sldId id="329" r:id="rId4"/>
    <p:sldId id="298" r:id="rId5"/>
    <p:sldId id="345" r:id="rId6"/>
    <p:sldId id="346" r:id="rId7"/>
    <p:sldId id="299" r:id="rId8"/>
    <p:sldId id="300" r:id="rId9"/>
    <p:sldId id="303" r:id="rId10"/>
    <p:sldId id="331" r:id="rId11"/>
    <p:sldId id="301" r:id="rId12"/>
    <p:sldId id="335" r:id="rId13"/>
    <p:sldId id="332" r:id="rId14"/>
    <p:sldId id="347" r:id="rId15"/>
    <p:sldId id="334" r:id="rId16"/>
    <p:sldId id="336" r:id="rId17"/>
    <p:sldId id="305" r:id="rId18"/>
    <p:sldId id="306" r:id="rId19"/>
    <p:sldId id="337" r:id="rId20"/>
    <p:sldId id="338" r:id="rId21"/>
    <p:sldId id="330" r:id="rId22"/>
    <p:sldId id="343" r:id="rId23"/>
    <p:sldId id="340" r:id="rId24"/>
    <p:sldId id="341" r:id="rId25"/>
    <p:sldId id="342" r:id="rId26"/>
    <p:sldId id="307" r:id="rId27"/>
    <p:sldId id="308" r:id="rId28"/>
    <p:sldId id="309" r:id="rId29"/>
    <p:sldId id="310" r:id="rId30"/>
    <p:sldId id="344" r:id="rId31"/>
    <p:sldId id="348" r:id="rId32"/>
    <p:sldId id="349" r:id="rId33"/>
    <p:sldId id="311" r:id="rId34"/>
    <p:sldId id="312" r:id="rId35"/>
    <p:sldId id="314" r:id="rId36"/>
    <p:sldId id="339" r:id="rId3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D6D"/>
    <a:srgbClr val="FFFFCC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27" autoAdjust="0"/>
  </p:normalViewPr>
  <p:slideViewPr>
    <p:cSldViewPr>
      <p:cViewPr varScale="1">
        <p:scale>
          <a:sx n="123" d="100"/>
          <a:sy n="123" d="100"/>
        </p:scale>
        <p:origin x="18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5858C-09C9-4013-8959-F23DFD9EABBF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0D1A1-C505-4C06-835E-CA1AEBDC0A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64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F071A66-4716-4EAA-A898-4720A0DB4E72}" type="slidenum">
              <a:rPr lang="en-US" altLang="zh-CN" sz="1200"/>
              <a:pPr/>
              <a:t>1</a:t>
            </a:fld>
            <a:endParaRPr lang="en-US" altLang="zh-CN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2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3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3C36639-B195-4F2A-B253-A17323C52269}" type="slidenum">
              <a:rPr lang="en-US" altLang="zh-CN" sz="1200"/>
              <a:pPr/>
              <a:t>4</a:t>
            </a:fld>
            <a:endParaRPr lang="en-US" altLang="zh-CN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469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8562F5F-58DB-4FD2-B6A4-008B6FBDCBE1}" type="slidenum">
              <a:rPr lang="en-US" altLang="zh-CN" sz="1200"/>
              <a:pPr/>
              <a:t>7</a:t>
            </a:fld>
            <a:endParaRPr lang="en-US" altLang="zh-CN" sz="12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571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E96BAAB-1543-440D-9E58-A116FED27683}" type="slidenum">
              <a:rPr lang="en-US" altLang="zh-CN" sz="1200"/>
              <a:pPr/>
              <a:t>8</a:t>
            </a:fld>
            <a:endParaRPr lang="en-US" altLang="zh-CN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674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B56BDCD-3163-4EB4-B6B8-985643C76A28}" type="slidenum">
              <a:rPr lang="en-US" altLang="zh-CN" sz="1200"/>
              <a:pPr/>
              <a:t>9</a:t>
            </a:fld>
            <a:endParaRPr lang="en-US" altLang="zh-CN" sz="120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981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E96BAAB-1543-440D-9E58-A116FED27683}" type="slidenum">
              <a:rPr lang="en-US" altLang="zh-CN" sz="1200"/>
              <a:pPr/>
              <a:t>10</a:t>
            </a:fld>
            <a:endParaRPr lang="en-US" altLang="zh-CN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674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DCFE5E0-31AC-48A1-8831-293738BBE106}" type="slidenum">
              <a:rPr lang="en-US" altLang="zh-CN" sz="1200"/>
              <a:pPr/>
              <a:t>11</a:t>
            </a:fld>
            <a:endParaRPr lang="en-US" altLang="zh-CN" sz="12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776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9186F49-CA0F-4EAB-9E37-109B3772442B}" type="slidenum">
              <a:rPr lang="en-US" altLang="zh-CN" sz="1200">
                <a:solidFill>
                  <a:prstClr val="black"/>
                </a:solidFill>
              </a:rPr>
              <a:pPr/>
              <a:t>12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878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DCFE5E0-31AC-48A1-8831-293738BBE106}" type="slidenum">
              <a:rPr lang="en-US" altLang="zh-CN" sz="1200"/>
              <a:pPr/>
              <a:t>13</a:t>
            </a:fld>
            <a:endParaRPr lang="en-US" altLang="zh-CN" sz="12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776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9186F49-CA0F-4EAB-9E37-109B3772442B}" type="slidenum">
              <a:rPr lang="en-US" altLang="zh-CN" sz="1200">
                <a:solidFill>
                  <a:prstClr val="black"/>
                </a:solidFill>
              </a:rPr>
              <a:pPr/>
              <a:t>14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878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1499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E96BAAB-1543-440D-9E58-A116FED27683}" type="slidenum">
              <a:rPr lang="en-US" altLang="zh-CN" sz="1200"/>
              <a:pPr/>
              <a:t>15</a:t>
            </a:fld>
            <a:endParaRPr lang="en-US" altLang="zh-CN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674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350A360-EF88-41E7-B1FD-F82CA97A27DD}" type="slidenum">
              <a:rPr lang="en-US" altLang="zh-CN" sz="1200">
                <a:solidFill>
                  <a:prstClr val="black"/>
                </a:solidFill>
              </a:rPr>
              <a:pPr/>
              <a:t>16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186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350A360-EF88-41E7-B1FD-F82CA97A27DD}" type="slidenum">
              <a:rPr lang="en-US" altLang="zh-CN" sz="1200"/>
              <a:pPr/>
              <a:t>17</a:t>
            </a:fld>
            <a:endParaRPr lang="en-US" altLang="zh-CN" sz="12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186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28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228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2DDD69A9-D9B6-475E-ABE0-68DD1F85D54C}" type="slidenum">
              <a:rPr lang="en-US" altLang="zh-CN" sz="1200"/>
              <a:pPr/>
              <a:t>18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E96BAAB-1543-440D-9E58-A116FED27683}" type="slidenum">
              <a:rPr lang="en-US" altLang="zh-CN" sz="1200">
                <a:solidFill>
                  <a:prstClr val="black"/>
                </a:solidFill>
              </a:rPr>
              <a:pPr/>
              <a:t>19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674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E96BAAB-1543-440D-9E58-A116FED27683}" type="slidenum">
              <a:rPr lang="en-US" altLang="zh-CN" sz="1200">
                <a:solidFill>
                  <a:prstClr val="black"/>
                </a:solidFill>
              </a:rPr>
              <a:pPr/>
              <a:t>20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674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21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1328B7F-7B80-4B5F-A684-FF3AC3A638BF}" type="slidenum">
              <a:rPr lang="en-US" altLang="zh-CN" sz="1200"/>
              <a:pPr/>
              <a:t>22</a:t>
            </a:fld>
            <a:endParaRPr lang="en-US" altLang="zh-CN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3005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98FEBC8-D322-452D-8F6A-D355ADC78632}" type="slidenum">
              <a:rPr lang="en-US" altLang="zh-CN" sz="1200">
                <a:solidFill>
                  <a:prstClr val="black"/>
                </a:solidFill>
              </a:rPr>
              <a:pPr/>
              <a:t>23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10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78221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98FEBC8-D322-452D-8F6A-D355ADC78632}" type="slidenum">
              <a:rPr lang="en-US" altLang="zh-CN" sz="1200">
                <a:solidFill>
                  <a:prstClr val="black"/>
                </a:solidFill>
              </a:rPr>
              <a:pPr/>
              <a:t>24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10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20410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2D3DCF4-D6D9-46BC-853A-B09E46ADBE8E}" type="slidenum">
              <a:rPr lang="en-US" altLang="zh-CN" sz="1200"/>
              <a:pPr/>
              <a:t>26</a:t>
            </a:fld>
            <a:endParaRPr lang="en-US" altLang="zh-CN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390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CF6D2B31-91AF-4666-BFF4-3E28B51C820D}" type="slidenum">
              <a:rPr lang="en-US" altLang="zh-CN" sz="1200"/>
              <a:pPr/>
              <a:t>27</a:t>
            </a:fld>
            <a:endParaRPr lang="en-US" altLang="zh-CN" sz="12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49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C3FCA16-2533-44D3-B0BD-8C585F2D4E31}" type="slidenum">
              <a:rPr lang="en-US" altLang="zh-CN" sz="1200"/>
              <a:pPr/>
              <a:t>28</a:t>
            </a:fld>
            <a:endParaRPr lang="en-US" altLang="zh-CN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59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1A3363C-BC40-476D-B202-7EF2E506AFBB}" type="slidenum">
              <a:rPr lang="en-US" altLang="zh-CN" sz="1200"/>
              <a:pPr/>
              <a:t>29</a:t>
            </a:fld>
            <a:endParaRPr lang="en-US" altLang="zh-CN" sz="120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698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22BBBA50-DF00-43C6-9BD9-3290072DD4D9}" type="slidenum">
              <a:rPr lang="en-US" altLang="zh-CN" sz="1200"/>
              <a:pPr/>
              <a:t>33</a:t>
            </a:fld>
            <a:endParaRPr lang="en-US" altLang="zh-CN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800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96938DA-17D4-407F-AFA2-3FB4D75C20DA}" type="slidenum">
              <a:rPr lang="en-US" altLang="zh-CN" sz="1200"/>
              <a:pPr/>
              <a:t>34</a:t>
            </a:fld>
            <a:endParaRPr lang="en-US" altLang="zh-CN" sz="120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902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98FEBC8-D322-452D-8F6A-D355ADC78632}" type="slidenum">
              <a:rPr lang="en-US" altLang="zh-CN" sz="1200"/>
              <a:pPr/>
              <a:t>35</a:t>
            </a:fld>
            <a:endParaRPr lang="en-US" altLang="zh-CN" sz="12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10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98FEBC8-D322-452D-8F6A-D355ADC78632}" type="slidenum">
              <a:rPr lang="en-US" altLang="zh-CN" sz="1200">
                <a:solidFill>
                  <a:prstClr val="black"/>
                </a:solidFill>
              </a:rPr>
              <a:pPr/>
              <a:t>36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10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074"/>
          <p:cNvSpPr>
            <a:spLocks noGrp="1" noChangeArrowheads="1"/>
          </p:cNvSpPr>
          <p:nvPr>
            <p:ph type="ctrTitle"/>
          </p:nvPr>
        </p:nvSpPr>
        <p:spPr>
          <a:xfrm>
            <a:off x="683568" y="980728"/>
            <a:ext cx="77724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讲  数据的共享与保护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3" name="Rectangle 3074"/>
          <p:cNvSpPr txBox="1">
            <a:spLocks noChangeArrowheads="1"/>
          </p:cNvSpPr>
          <p:nvPr/>
        </p:nvSpPr>
        <p:spPr>
          <a:xfrm>
            <a:off x="4355976" y="3573016"/>
            <a:ext cx="2846040" cy="1143000"/>
          </a:xfrm>
          <a:prstGeom prst="rect">
            <a:avLst/>
          </a:prstGeom>
        </p:spPr>
        <p:txBody>
          <a:bodyPr vert="horz" rtlCol="0" anchor="b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dirty="0" err="1"/>
              <a:t>const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803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本章主要内容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863725" y="1905000"/>
            <a:ext cx="6102350" cy="4114800"/>
          </a:xfrm>
        </p:spPr>
        <p:txBody>
          <a:bodyPr>
            <a:normAutofit lnSpcReduction="10000"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3.1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标志符的作用域与可见性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3.2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对象的生存期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3.3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类的静态成员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3.4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类的友元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3.5 </a:t>
            </a:r>
            <a:r>
              <a:rPr lang="zh-CN" altLang="en-US" dirty="0"/>
              <a:t>共享数据的保护</a:t>
            </a:r>
          </a:p>
          <a:p>
            <a:pPr marL="0" indent="0" algn="just">
              <a:lnSpc>
                <a:spcPct val="90000"/>
              </a:lnSpc>
              <a:buNone/>
              <a:defRPr/>
            </a:pPr>
            <a:r>
              <a:rPr lang="en-US" altLang="zh-CN" dirty="0"/>
              <a:t>3.6</a:t>
            </a:r>
            <a:r>
              <a:rPr lang="zh-CN" altLang="en-US" dirty="0"/>
              <a:t>多文件结构和编译预处理命令</a:t>
            </a:r>
            <a:endParaRPr lang="en-US" altLang="zh-CN" dirty="0"/>
          </a:p>
          <a:p>
            <a:pPr marL="0" indent="0" algn="just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3.7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综合实例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——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个人银行账户管理程序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2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528491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dirty="0"/>
              <a:t>3.5 </a:t>
            </a:r>
            <a:r>
              <a:rPr lang="zh-CN" altLang="en-US" dirty="0"/>
              <a:t>共享数据的保护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863725" y="1905000"/>
            <a:ext cx="6102350" cy="41148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3.5.1 </a:t>
            </a:r>
            <a:r>
              <a:rPr lang="zh-CN" altLang="en-US" dirty="0"/>
              <a:t>常对象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3.5.2 </a:t>
            </a:r>
            <a:r>
              <a:rPr lang="zh-CN" altLang="en-US" dirty="0"/>
              <a:t>用</a:t>
            </a:r>
            <a:r>
              <a:rPr lang="en-US" altLang="zh-CN" dirty="0" err="1"/>
              <a:t>const</a:t>
            </a:r>
            <a:r>
              <a:rPr lang="zh-CN" altLang="en-US" dirty="0"/>
              <a:t>修饰的类成员</a:t>
            </a:r>
            <a:endParaRPr lang="en-US" altLang="zh-CN" dirty="0"/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const</a:t>
            </a:r>
            <a:r>
              <a:rPr lang="zh-CN" altLang="en-US" dirty="0"/>
              <a:t>成员数据</a:t>
            </a:r>
            <a:endParaRPr lang="en-US" altLang="zh-CN" dirty="0"/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const</a:t>
            </a:r>
            <a:r>
              <a:rPr lang="zh-CN" altLang="en-US" dirty="0"/>
              <a:t>成员函数</a:t>
            </a:r>
            <a:endParaRPr lang="en-US" altLang="zh-CN" dirty="0"/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3.5.3 </a:t>
            </a:r>
            <a:r>
              <a:rPr lang="zh-CN" altLang="en-US" dirty="0"/>
              <a:t>常引用</a:t>
            </a: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3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4155655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-16312"/>
            <a:ext cx="72390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常类型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idx="1"/>
          </p:nvPr>
        </p:nvSpPr>
        <p:spPr>
          <a:xfrm>
            <a:off x="0" y="1052736"/>
            <a:ext cx="9252520" cy="4876800"/>
          </a:xfrm>
        </p:spPr>
        <p:txBody>
          <a:bodyPr>
            <a:normAutofit lnSpcReduction="10000"/>
          </a:bodyPr>
          <a:lstStyle/>
          <a:p>
            <a:pPr eaLnBrk="1" hangingPunct="1">
              <a:spcAft>
                <a:spcPct val="30000"/>
              </a:spcAft>
              <a:buFont typeface="Wingdings" pitchFamily="2" charset="2"/>
              <a:buNone/>
            </a:pPr>
            <a:r>
              <a:rPr lang="zh-CN" altLang="en-US" sz="2800" dirty="0">
                <a:latin typeface="宋体" charset="-122"/>
              </a:rPr>
              <a:t>  常类型的对象必须进行初始化，而且不能被更新。</a:t>
            </a:r>
          </a:p>
          <a:p>
            <a:pPr eaLnBrk="1" hangingPunct="1"/>
            <a:r>
              <a:rPr lang="zh-CN" altLang="en-US" sz="2800" dirty="0">
                <a:latin typeface="宋体" charset="-122"/>
              </a:rPr>
              <a:t>常对象：必须进行初始化</a:t>
            </a:r>
            <a:r>
              <a:rPr lang="en-US" altLang="zh-CN" sz="2800" dirty="0">
                <a:latin typeface="宋体" charset="-122"/>
              </a:rPr>
              <a:t>,</a:t>
            </a:r>
            <a:r>
              <a:rPr lang="zh-CN" altLang="en-US" sz="2800" dirty="0">
                <a:latin typeface="宋体" charset="-122"/>
              </a:rPr>
              <a:t>不能被更新。</a:t>
            </a:r>
          </a:p>
          <a:p>
            <a:pPr lvl="1"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宋体" charset="-122"/>
              </a:rPr>
              <a:t>const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类名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对象名  </a:t>
            </a:r>
            <a:r>
              <a:rPr lang="zh-CN" altLang="en-US" sz="2400" dirty="0">
                <a:latin typeface="宋体" charset="-122"/>
              </a:rPr>
              <a:t>或者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 类名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宋体" charset="-122"/>
              </a:rPr>
              <a:t>const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对象名 </a:t>
            </a:r>
            <a:endParaRPr lang="en-US" altLang="zh-CN" sz="2400" dirty="0">
              <a:solidFill>
                <a:srgbClr val="FF0000"/>
              </a:solidFill>
              <a:latin typeface="宋体" charset="-122"/>
            </a:endParaRPr>
          </a:p>
          <a:p>
            <a:pPr eaLnBrk="1" hangingPunct="1"/>
            <a:r>
              <a:rPr lang="zh-CN" altLang="en-US" sz="2800" dirty="0">
                <a:latin typeface="宋体" charset="-122"/>
              </a:rPr>
              <a:t>常引用：被引用的对象不能被更新。</a:t>
            </a:r>
          </a:p>
          <a:p>
            <a:pPr lvl="1" eaLnBrk="1" hangingPunct="1">
              <a:buFontTx/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宋体" charset="-122"/>
              </a:rPr>
              <a:t>const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  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类型说明符  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&amp; 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引用名</a:t>
            </a:r>
          </a:p>
          <a:p>
            <a:pPr eaLnBrk="1" hangingPunct="1"/>
            <a:r>
              <a:rPr lang="zh-CN" altLang="en-US" sz="2800" i="1" dirty="0">
                <a:latin typeface="宋体" charset="-122"/>
              </a:rPr>
              <a:t>常数组：数组元素不能被更新。</a:t>
            </a:r>
          </a:p>
          <a:p>
            <a:pPr lvl="1" eaLnBrk="1" hangingPunct="1"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类型说明符  </a:t>
            </a:r>
            <a:r>
              <a:rPr lang="en-US" altLang="zh-CN" sz="2400" dirty="0" err="1">
                <a:solidFill>
                  <a:srgbClr val="FF0000"/>
                </a:solidFill>
                <a:latin typeface="宋体" charset="-122"/>
              </a:rPr>
              <a:t>const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  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数组名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大小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] = {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初值列表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};</a:t>
            </a:r>
          </a:p>
          <a:p>
            <a:pPr eaLnBrk="1" hangingPunct="1"/>
            <a:r>
              <a:rPr lang="zh-CN" altLang="en-US" sz="2800" i="1" dirty="0">
                <a:latin typeface="宋体" charset="-122"/>
              </a:rPr>
              <a:t>常指针：指向常量的指针</a:t>
            </a:r>
            <a:endParaRPr lang="en-US" altLang="zh-CN" sz="2800" i="1" dirty="0">
              <a:latin typeface="宋体" charset="-122"/>
            </a:endParaRPr>
          </a:p>
          <a:p>
            <a:pPr marL="442913" lvl="1"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宋体" charset="-122"/>
              </a:rPr>
              <a:t>const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类型说明符 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* 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指针名 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= &amp;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常量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;  	</a:t>
            </a:r>
            <a:r>
              <a:rPr lang="zh-CN" altLang="en-US" sz="2400" i="1" dirty="0">
                <a:latin typeface="宋体" charset="-122"/>
              </a:rPr>
              <a:t>指向常量的指针</a:t>
            </a:r>
            <a:endParaRPr lang="en-US" altLang="zh-CN" sz="2400" i="1" dirty="0">
              <a:latin typeface="宋体" charset="-122"/>
            </a:endParaRPr>
          </a:p>
          <a:p>
            <a:pPr marL="442913" lvl="1"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宋体" charset="-122"/>
              </a:rPr>
              <a:t>const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类型说明符 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* </a:t>
            </a:r>
            <a:r>
              <a:rPr lang="en-US" altLang="zh-CN" sz="2400" dirty="0" err="1">
                <a:solidFill>
                  <a:srgbClr val="FF0000"/>
                </a:solidFill>
                <a:latin typeface="宋体" charset="-122"/>
              </a:rPr>
              <a:t>const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指针名 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= &amp;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常量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; </a:t>
            </a:r>
            <a:r>
              <a:rPr lang="zh-CN" altLang="en-US" sz="2400" i="1" dirty="0">
                <a:latin typeface="宋体" charset="-122"/>
              </a:rPr>
              <a:t>指向常量的常指针</a:t>
            </a:r>
            <a:endParaRPr lang="en-US" altLang="zh-CN" sz="2400" i="1" dirty="0">
              <a:latin typeface="宋体" charset="-122"/>
            </a:endParaRPr>
          </a:p>
          <a:p>
            <a:pPr lvl="1">
              <a:buNone/>
            </a:pPr>
            <a:endParaRPr lang="en-US" altLang="zh-CN" sz="2400" i="1" dirty="0">
              <a:latin typeface="宋体" charset="-122"/>
            </a:endParaRPr>
          </a:p>
        </p:txBody>
      </p:sp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A73D5F3-2049-40E3-BBBA-CF09A245ED01}" type="slidenum">
              <a:rPr lang="en-US" altLang="zh-CN" sz="1400" smtClean="0"/>
              <a:pPr/>
              <a:t>4</a:t>
            </a:fld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486335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9512" y="404664"/>
            <a:ext cx="6984776" cy="618630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main()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*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strName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"Wang"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361950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strName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"Liu"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361950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strName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361950"/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pPr marL="361950"/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*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strAdd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"Beijing 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Haidian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361950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strAdd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"Beijing 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Xicheng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361950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strAdd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361950"/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pPr marL="361950"/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arrName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[20] =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"Zhao"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361950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arrName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361950"/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pPr marL="361950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strName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arrName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361950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strName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361950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strcpy_s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arrName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"Wu"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"Wu"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);</a:t>
            </a:r>
          </a:p>
          <a:p>
            <a:pPr marL="361950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arrName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361950"/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pPr marL="361950"/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0;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乘号 4"/>
          <p:cNvSpPr/>
          <p:nvPr/>
        </p:nvSpPr>
        <p:spPr>
          <a:xfrm>
            <a:off x="3995936" y="2852936"/>
            <a:ext cx="432048" cy="504056"/>
          </a:xfrm>
          <a:prstGeom prst="mathMultiply">
            <a:avLst>
              <a:gd name="adj1" fmla="val 436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0DE783-C105-A569-548C-B1653FB29639}"/>
              </a:ext>
            </a:extLst>
          </p:cNvPr>
          <p:cNvSpPr/>
          <p:nvPr/>
        </p:nvSpPr>
        <p:spPr>
          <a:xfrm>
            <a:off x="4452301" y="1484784"/>
            <a:ext cx="372409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dirty="0" err="1"/>
              <a:t>strName</a:t>
            </a:r>
            <a:r>
              <a:rPr lang="zh-CN" altLang="en-US" dirty="0"/>
              <a:t>是变量       </a:t>
            </a:r>
            <a:r>
              <a:rPr lang="en-US" altLang="zh-CN" dirty="0"/>
              <a:t>*</a:t>
            </a:r>
            <a:r>
              <a:rPr lang="en-US" altLang="zh-CN" dirty="0" err="1"/>
              <a:t>strName</a:t>
            </a:r>
            <a:r>
              <a:rPr lang="zh-CN" altLang="en-US" dirty="0"/>
              <a:t>是常量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97FD5A-2797-3707-FE8F-ACF1757F1B3B}"/>
              </a:ext>
            </a:extLst>
          </p:cNvPr>
          <p:cNvSpPr/>
          <p:nvPr/>
        </p:nvSpPr>
        <p:spPr>
          <a:xfrm>
            <a:off x="6300192" y="2627620"/>
            <a:ext cx="2784352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dirty="0" err="1"/>
              <a:t>strAdd</a:t>
            </a:r>
            <a:r>
              <a:rPr lang="zh-CN" altLang="en-US" dirty="0"/>
              <a:t>和</a:t>
            </a:r>
            <a:r>
              <a:rPr lang="en-US" altLang="zh-CN" dirty="0"/>
              <a:t>*</a:t>
            </a:r>
            <a:r>
              <a:rPr lang="en-US" altLang="zh-CN" dirty="0" err="1"/>
              <a:t>strAdd</a:t>
            </a:r>
            <a:r>
              <a:rPr lang="zh-CN" altLang="en-US" dirty="0"/>
              <a:t>都是常量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089719-2B78-E0B4-DD13-402CCAEDEBCB}"/>
              </a:ext>
            </a:extLst>
          </p:cNvPr>
          <p:cNvSpPr/>
          <p:nvPr/>
        </p:nvSpPr>
        <p:spPr>
          <a:xfrm>
            <a:off x="4211960" y="3706420"/>
            <a:ext cx="3785011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dirty="0" err="1"/>
              <a:t>arrName</a:t>
            </a:r>
            <a:r>
              <a:rPr lang="zh-CN" altLang="en-US" dirty="0"/>
              <a:t>是常量       </a:t>
            </a:r>
            <a:r>
              <a:rPr lang="en-US" altLang="zh-CN" dirty="0"/>
              <a:t>*</a:t>
            </a:r>
            <a:r>
              <a:rPr lang="en-US" altLang="zh-CN" dirty="0" err="1"/>
              <a:t>arrName</a:t>
            </a:r>
            <a:r>
              <a:rPr lang="zh-CN" altLang="en-US" dirty="0"/>
              <a:t>是变量</a:t>
            </a:r>
          </a:p>
        </p:txBody>
      </p:sp>
    </p:spTree>
    <p:extLst>
      <p:ext uri="{BB962C8B-B14F-4D97-AF65-F5344CB8AC3E}">
        <p14:creationId xmlns:p14="http://schemas.microsoft.com/office/powerpoint/2010/main" val="143412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直接连接符 114"/>
          <p:cNvCxnSpPr/>
          <p:nvPr/>
        </p:nvCxnSpPr>
        <p:spPr>
          <a:xfrm>
            <a:off x="4499992" y="44624"/>
            <a:ext cx="0" cy="6813376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组合 125"/>
          <p:cNvGrpSpPr/>
          <p:nvPr/>
        </p:nvGrpSpPr>
        <p:grpSpPr>
          <a:xfrm>
            <a:off x="126608" y="44624"/>
            <a:ext cx="6639665" cy="6813376"/>
            <a:chOff x="126608" y="44624"/>
            <a:chExt cx="6639665" cy="6813376"/>
          </a:xfrm>
        </p:grpSpPr>
        <p:grpSp>
          <p:nvGrpSpPr>
            <p:cNvPr id="116" name="组合 115"/>
            <p:cNvGrpSpPr/>
            <p:nvPr/>
          </p:nvGrpSpPr>
          <p:grpSpPr>
            <a:xfrm>
              <a:off x="126608" y="44624"/>
              <a:ext cx="6639665" cy="6813376"/>
              <a:chOff x="126608" y="44624"/>
              <a:chExt cx="6639665" cy="6813376"/>
            </a:xfrm>
          </p:grpSpPr>
          <p:cxnSp>
            <p:nvCxnSpPr>
              <p:cNvPr id="56" name="直接连接符 55"/>
              <p:cNvCxnSpPr/>
              <p:nvPr/>
            </p:nvCxnSpPr>
            <p:spPr>
              <a:xfrm>
                <a:off x="1964576" y="44624"/>
                <a:ext cx="0" cy="681337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977869" y="44624"/>
                <a:ext cx="0" cy="681337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1964576" y="476672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>
                <a:off x="1961645" y="764704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1964576" y="1052736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>
                <a:off x="1961645" y="1340768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>
                <a:off x="1964576" y="1628800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1961645" y="1916832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>
                <a:off x="1964576" y="2204864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1961645" y="2492896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1964576" y="2780928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>
                <a:off x="1961645" y="3068960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>
                <a:off x="1964576" y="3356992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1961645" y="3645024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>
                <a:off x="1964576" y="3933056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>
                <a:off x="1961645" y="4221088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>
                <a:off x="1964576" y="4509120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>
                <a:off x="1961645" y="4797152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>
                <a:off x="1964576" y="5085184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1961645" y="5373216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>
                <a:off x="1964576" y="5661248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>
                <a:off x="1961645" y="5949280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矩形 80"/>
              <p:cNvSpPr/>
              <p:nvPr/>
            </p:nvSpPr>
            <p:spPr>
              <a:xfrm>
                <a:off x="2609717" y="2226350"/>
                <a:ext cx="70724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‘</a:t>
                </a:r>
                <a:r>
                  <a:rPr lang="en-US" altLang="zh-CN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Z</a:t>
                </a:r>
                <a:r>
                  <a:rPr lang="zh-CN" altLang="en-US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’</a:t>
                </a:r>
                <a:endParaRPr lang="zh-CN" altLang="en-US" sz="1600" dirty="0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2609717" y="2492896"/>
                <a:ext cx="70724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‘</a:t>
                </a:r>
                <a:r>
                  <a:rPr lang="en-US" altLang="zh-CN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h</a:t>
                </a:r>
                <a:r>
                  <a:rPr lang="zh-CN" altLang="en-US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’</a:t>
                </a:r>
                <a:endParaRPr lang="zh-CN" altLang="en-US" sz="1600" dirty="0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2681725" y="3068960"/>
                <a:ext cx="52129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‘o’</a:t>
                </a:r>
                <a:endParaRPr lang="zh-CN" altLang="en-US" sz="1600" dirty="0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2601332" y="2780928"/>
                <a:ext cx="70724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‘</a:t>
                </a:r>
                <a:r>
                  <a:rPr lang="en-US" altLang="zh-CN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a</a:t>
                </a:r>
                <a:r>
                  <a:rPr lang="zh-CN" altLang="en-US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’</a:t>
                </a:r>
                <a:endParaRPr lang="zh-CN" altLang="en-US" sz="1600" dirty="0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2529324" y="3409386"/>
                <a:ext cx="81945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‘</a:t>
                </a:r>
                <a:r>
                  <a:rPr lang="en-US" altLang="zh-CN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\0</a:t>
                </a:r>
                <a:r>
                  <a:rPr lang="zh-CN" altLang="en-US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’</a:t>
                </a:r>
                <a:endParaRPr lang="zh-CN" altLang="en-US" sz="1600" dirty="0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2529324" y="3954542"/>
                <a:ext cx="81945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‘</a:t>
                </a:r>
                <a:r>
                  <a:rPr lang="en-US" altLang="zh-CN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\0</a:t>
                </a:r>
                <a:r>
                  <a:rPr lang="zh-CN" altLang="en-US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’</a:t>
                </a:r>
                <a:endParaRPr lang="zh-CN" altLang="en-US" sz="1600" dirty="0"/>
              </a:p>
            </p:txBody>
          </p:sp>
          <p:sp>
            <p:nvSpPr>
              <p:cNvPr id="98" name="矩形 97"/>
              <p:cNvSpPr/>
              <p:nvPr/>
            </p:nvSpPr>
            <p:spPr>
              <a:xfrm>
                <a:off x="2768310" y="3573016"/>
                <a:ext cx="40908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dirty="0">
                    <a:solidFill>
                      <a:srgbClr val="A31515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……</a:t>
                </a:r>
                <a:endParaRPr lang="zh-CN" altLang="en-US" sz="1600" dirty="0"/>
              </a:p>
            </p:txBody>
          </p:sp>
          <p:cxnSp>
            <p:nvCxnSpPr>
              <p:cNvPr id="99" name="直接连接符 98"/>
              <p:cNvCxnSpPr/>
              <p:nvPr/>
            </p:nvCxnSpPr>
            <p:spPr>
              <a:xfrm>
                <a:off x="1961645" y="6237312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>
                <a:off x="1964576" y="6525344"/>
                <a:ext cx="201329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矩形 100"/>
              <p:cNvSpPr/>
              <p:nvPr/>
            </p:nvSpPr>
            <p:spPr>
              <a:xfrm>
                <a:off x="983123" y="714182"/>
                <a:ext cx="97013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strName</a:t>
                </a:r>
                <a:endParaRPr lang="zh-CN" altLang="en-US" sz="1600" dirty="0"/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5796136" y="6453336"/>
                <a:ext cx="97013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arrName</a:t>
                </a:r>
                <a:endParaRPr lang="zh-CN" altLang="en-US" sz="1600" dirty="0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2025268" y="744959"/>
                <a:ext cx="197041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 err="1"/>
                  <a:t>0x000000013F2CBC18</a:t>
                </a:r>
                <a:endParaRPr lang="zh-CN" altLang="en-US" sz="1400" dirty="0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126608" y="2174086"/>
                <a:ext cx="197066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 err="1"/>
                  <a:t>0x000000000015FCA4</a:t>
                </a:r>
                <a:endParaRPr lang="zh-CN" altLang="en-US" sz="1400" dirty="0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384241" y="5810496"/>
                <a:ext cx="1197764" cy="461665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/>
                  <a:t>栈</a:t>
                </a:r>
                <a:r>
                  <a:rPr lang="en-US" altLang="zh-CN" sz="2400" dirty="0"/>
                  <a:t>Stack</a:t>
                </a:r>
                <a:endParaRPr lang="zh-CN" altLang="en-US" sz="2400" dirty="0"/>
              </a:p>
            </p:txBody>
          </p:sp>
        </p:grpSp>
        <p:sp>
          <p:nvSpPr>
            <p:cNvPr id="125" name="右大括号 124"/>
            <p:cNvSpPr/>
            <p:nvPr/>
          </p:nvSpPr>
          <p:spPr>
            <a:xfrm>
              <a:off x="4071748" y="2204864"/>
              <a:ext cx="212220" cy="2016224"/>
            </a:xfrm>
            <a:prstGeom prst="rightBrace">
              <a:avLst>
                <a:gd name="adj1" fmla="val 8333"/>
                <a:gd name="adj2" fmla="val 4918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4788024" y="44624"/>
            <a:ext cx="4283968" cy="6813376"/>
            <a:chOff x="4788024" y="44624"/>
            <a:chExt cx="4283968" cy="6813376"/>
          </a:xfrm>
        </p:grpSpPr>
        <p:grpSp>
          <p:nvGrpSpPr>
            <p:cNvPr id="124" name="组合 123"/>
            <p:cNvGrpSpPr/>
            <p:nvPr/>
          </p:nvGrpSpPr>
          <p:grpSpPr>
            <a:xfrm>
              <a:off x="4788024" y="44624"/>
              <a:ext cx="4283968" cy="6813376"/>
              <a:chOff x="4788024" y="260648"/>
              <a:chExt cx="4283968" cy="6813376"/>
            </a:xfrm>
          </p:grpSpPr>
          <p:grpSp>
            <p:nvGrpSpPr>
              <p:cNvPr id="119" name="组合 118"/>
              <p:cNvGrpSpPr/>
              <p:nvPr/>
            </p:nvGrpSpPr>
            <p:grpSpPr>
              <a:xfrm>
                <a:off x="4788024" y="260648"/>
                <a:ext cx="3960440" cy="6813376"/>
                <a:chOff x="4788024" y="260648"/>
                <a:chExt cx="3960440" cy="6813376"/>
              </a:xfrm>
            </p:grpSpPr>
            <p:grpSp>
              <p:nvGrpSpPr>
                <p:cNvPr id="117" name="组合 116"/>
                <p:cNvGrpSpPr/>
                <p:nvPr/>
              </p:nvGrpSpPr>
              <p:grpSpPr>
                <a:xfrm>
                  <a:off x="4788024" y="260648"/>
                  <a:ext cx="3960440" cy="6813376"/>
                  <a:chOff x="4788024" y="260648"/>
                  <a:chExt cx="3960440" cy="6813376"/>
                </a:xfrm>
              </p:grpSpPr>
              <p:cxnSp>
                <p:nvCxnSpPr>
                  <p:cNvPr id="5" name="直接连接符 4"/>
                  <p:cNvCxnSpPr/>
                  <p:nvPr/>
                </p:nvCxnSpPr>
                <p:spPr>
                  <a:xfrm>
                    <a:off x="6735171" y="260648"/>
                    <a:ext cx="0" cy="6813376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" name="直接连接符 5"/>
                  <p:cNvCxnSpPr/>
                  <p:nvPr/>
                </p:nvCxnSpPr>
                <p:spPr>
                  <a:xfrm>
                    <a:off x="8748464" y="260648"/>
                    <a:ext cx="0" cy="6813376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直接连接符 7"/>
                  <p:cNvCxnSpPr/>
                  <p:nvPr/>
                </p:nvCxnSpPr>
                <p:spPr>
                  <a:xfrm>
                    <a:off x="6735171" y="476672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直接连接符 8"/>
                  <p:cNvCxnSpPr/>
                  <p:nvPr/>
                </p:nvCxnSpPr>
                <p:spPr>
                  <a:xfrm>
                    <a:off x="6732240" y="764704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直接连接符 9"/>
                  <p:cNvCxnSpPr/>
                  <p:nvPr/>
                </p:nvCxnSpPr>
                <p:spPr>
                  <a:xfrm>
                    <a:off x="6735171" y="1052736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直接连接符 10"/>
                  <p:cNvCxnSpPr/>
                  <p:nvPr/>
                </p:nvCxnSpPr>
                <p:spPr>
                  <a:xfrm>
                    <a:off x="6732240" y="1340768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直接连接符 11"/>
                  <p:cNvCxnSpPr/>
                  <p:nvPr/>
                </p:nvCxnSpPr>
                <p:spPr>
                  <a:xfrm>
                    <a:off x="6735171" y="1628800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直接连接符 12"/>
                  <p:cNvCxnSpPr/>
                  <p:nvPr/>
                </p:nvCxnSpPr>
                <p:spPr>
                  <a:xfrm>
                    <a:off x="6732240" y="1916832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接连接符 13"/>
                  <p:cNvCxnSpPr/>
                  <p:nvPr/>
                </p:nvCxnSpPr>
                <p:spPr>
                  <a:xfrm>
                    <a:off x="6735171" y="2204864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直接连接符 14"/>
                  <p:cNvCxnSpPr/>
                  <p:nvPr/>
                </p:nvCxnSpPr>
                <p:spPr>
                  <a:xfrm>
                    <a:off x="6732240" y="2492896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直接连接符 15"/>
                  <p:cNvCxnSpPr/>
                  <p:nvPr/>
                </p:nvCxnSpPr>
                <p:spPr>
                  <a:xfrm>
                    <a:off x="6735171" y="2780928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连接符 16"/>
                  <p:cNvCxnSpPr/>
                  <p:nvPr/>
                </p:nvCxnSpPr>
                <p:spPr>
                  <a:xfrm>
                    <a:off x="6732240" y="3068960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接连接符 17"/>
                  <p:cNvCxnSpPr/>
                  <p:nvPr/>
                </p:nvCxnSpPr>
                <p:spPr>
                  <a:xfrm>
                    <a:off x="6735171" y="3356992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接连接符 18"/>
                  <p:cNvCxnSpPr/>
                  <p:nvPr/>
                </p:nvCxnSpPr>
                <p:spPr>
                  <a:xfrm>
                    <a:off x="6732240" y="3645024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/>
                  <p:cNvCxnSpPr/>
                  <p:nvPr/>
                </p:nvCxnSpPr>
                <p:spPr>
                  <a:xfrm>
                    <a:off x="6735171" y="3933056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接连接符 20"/>
                  <p:cNvCxnSpPr/>
                  <p:nvPr/>
                </p:nvCxnSpPr>
                <p:spPr>
                  <a:xfrm>
                    <a:off x="6732240" y="4221088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>
                    <a:off x="6735171" y="4509120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/>
                  <p:nvPr/>
                </p:nvCxnSpPr>
                <p:spPr>
                  <a:xfrm>
                    <a:off x="6732240" y="4797152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/>
                  <p:cNvCxnSpPr/>
                  <p:nvPr/>
                </p:nvCxnSpPr>
                <p:spPr>
                  <a:xfrm>
                    <a:off x="6735171" y="5085184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连接符 24"/>
                  <p:cNvCxnSpPr/>
                  <p:nvPr/>
                </p:nvCxnSpPr>
                <p:spPr>
                  <a:xfrm>
                    <a:off x="6732240" y="5373216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直接连接符 25"/>
                  <p:cNvCxnSpPr/>
                  <p:nvPr/>
                </p:nvCxnSpPr>
                <p:spPr>
                  <a:xfrm>
                    <a:off x="6735171" y="5661248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/>
                  <p:cNvCxnSpPr/>
                  <p:nvPr/>
                </p:nvCxnSpPr>
                <p:spPr>
                  <a:xfrm>
                    <a:off x="6732240" y="5949280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" name="矩形 29"/>
                  <p:cNvSpPr/>
                  <p:nvPr/>
                </p:nvSpPr>
                <p:spPr>
                  <a:xfrm>
                    <a:off x="7444941" y="438553"/>
                    <a:ext cx="707245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‘</a:t>
                    </a:r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W</a:t>
                    </a:r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’</a:t>
                    </a:r>
                    <a:endParaRPr lang="zh-CN" altLang="en-US" sz="1600" dirty="0"/>
                  </a:p>
                </p:txBody>
              </p:sp>
              <p:sp>
                <p:nvSpPr>
                  <p:cNvPr id="31" name="矩形 30"/>
                  <p:cNvSpPr/>
                  <p:nvPr/>
                </p:nvSpPr>
                <p:spPr>
                  <a:xfrm>
                    <a:off x="7619298" y="692696"/>
                    <a:ext cx="29687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…</a:t>
                    </a:r>
                    <a:endParaRPr lang="zh-CN" altLang="en-US" sz="1600" dirty="0"/>
                  </a:p>
                </p:txBody>
              </p:sp>
              <p:sp>
                <p:nvSpPr>
                  <p:cNvPr id="32" name="矩形 31"/>
                  <p:cNvSpPr/>
                  <p:nvPr/>
                </p:nvSpPr>
                <p:spPr>
                  <a:xfrm>
                    <a:off x="7452320" y="1074222"/>
                    <a:ext cx="707245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‘</a:t>
                    </a:r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g</a:t>
                    </a:r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’</a:t>
                    </a:r>
                    <a:endParaRPr lang="zh-CN" altLang="en-US" sz="1600" dirty="0"/>
                  </a:p>
                </p:txBody>
              </p:sp>
              <p:sp>
                <p:nvSpPr>
                  <p:cNvPr id="33" name="矩形 32"/>
                  <p:cNvSpPr/>
                  <p:nvPr/>
                </p:nvSpPr>
                <p:spPr>
                  <a:xfrm>
                    <a:off x="7452320" y="1290246"/>
                    <a:ext cx="819455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‘</a:t>
                    </a:r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\0</a:t>
                    </a:r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’</a:t>
                    </a:r>
                    <a:endParaRPr lang="zh-CN" altLang="en-US" sz="1600" dirty="0"/>
                  </a:p>
                </p:txBody>
              </p:sp>
              <p:sp>
                <p:nvSpPr>
                  <p:cNvPr id="34" name="矩形 33"/>
                  <p:cNvSpPr/>
                  <p:nvPr/>
                </p:nvSpPr>
                <p:spPr>
                  <a:xfrm>
                    <a:off x="7596336" y="1578278"/>
                    <a:ext cx="40908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……</a:t>
                    </a:r>
                    <a:endParaRPr lang="zh-CN" altLang="en-US" sz="1600" dirty="0"/>
                  </a:p>
                </p:txBody>
              </p:sp>
              <p:sp>
                <p:nvSpPr>
                  <p:cNvPr id="35" name="矩形 34"/>
                  <p:cNvSpPr/>
                  <p:nvPr/>
                </p:nvSpPr>
                <p:spPr>
                  <a:xfrm>
                    <a:off x="7452320" y="1950721"/>
                    <a:ext cx="707245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‘</a:t>
                    </a:r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L</a:t>
                    </a:r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’</a:t>
                    </a:r>
                    <a:endParaRPr lang="zh-CN" altLang="en-US" sz="1600" dirty="0"/>
                  </a:p>
                </p:txBody>
              </p:sp>
              <p:sp>
                <p:nvSpPr>
                  <p:cNvPr id="36" name="矩形 35"/>
                  <p:cNvSpPr/>
                  <p:nvPr/>
                </p:nvSpPr>
                <p:spPr>
                  <a:xfrm>
                    <a:off x="7524328" y="2204864"/>
                    <a:ext cx="521297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‘</a:t>
                    </a:r>
                    <a:r>
                      <a:rPr lang="en-US" altLang="zh-CN" sz="1600" dirty="0" err="1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i</a:t>
                    </a:r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’</a:t>
                    </a:r>
                    <a:endParaRPr lang="zh-CN" altLang="en-US" sz="1600" dirty="0"/>
                  </a:p>
                </p:txBody>
              </p:sp>
              <p:sp>
                <p:nvSpPr>
                  <p:cNvPr id="37" name="矩形 36"/>
                  <p:cNvSpPr/>
                  <p:nvPr/>
                </p:nvSpPr>
                <p:spPr>
                  <a:xfrm>
                    <a:off x="7459699" y="2492896"/>
                    <a:ext cx="707245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‘</a:t>
                    </a:r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u</a:t>
                    </a:r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’</a:t>
                    </a:r>
                    <a:endParaRPr lang="zh-CN" altLang="en-US" sz="1600" dirty="0"/>
                  </a:p>
                </p:txBody>
              </p:sp>
              <p:sp>
                <p:nvSpPr>
                  <p:cNvPr id="38" name="矩形 37"/>
                  <p:cNvSpPr/>
                  <p:nvPr/>
                </p:nvSpPr>
                <p:spPr>
                  <a:xfrm>
                    <a:off x="7459699" y="2802414"/>
                    <a:ext cx="819455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‘</a:t>
                    </a:r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\0</a:t>
                    </a:r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’</a:t>
                    </a:r>
                    <a:endParaRPr lang="zh-CN" altLang="en-US" sz="1600" dirty="0"/>
                  </a:p>
                </p:txBody>
              </p:sp>
              <p:sp>
                <p:nvSpPr>
                  <p:cNvPr id="39" name="矩形 38"/>
                  <p:cNvSpPr/>
                  <p:nvPr/>
                </p:nvSpPr>
                <p:spPr>
                  <a:xfrm>
                    <a:off x="5787751" y="3347700"/>
                    <a:ext cx="857927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600" dirty="0" err="1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strAdd</a:t>
                    </a:r>
                    <a:endParaRPr lang="zh-CN" altLang="en-US" sz="1600" dirty="0"/>
                  </a:p>
                </p:txBody>
              </p:sp>
              <p:sp>
                <p:nvSpPr>
                  <p:cNvPr id="40" name="矩形 39"/>
                  <p:cNvSpPr/>
                  <p:nvPr/>
                </p:nvSpPr>
                <p:spPr>
                  <a:xfrm>
                    <a:off x="7596336" y="3090446"/>
                    <a:ext cx="40908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……</a:t>
                    </a:r>
                    <a:endParaRPr lang="zh-CN" altLang="en-US" sz="1600" dirty="0"/>
                  </a:p>
                </p:txBody>
              </p:sp>
              <p:sp>
                <p:nvSpPr>
                  <p:cNvPr id="41" name="矩形 40"/>
                  <p:cNvSpPr/>
                  <p:nvPr/>
                </p:nvSpPr>
                <p:spPr>
                  <a:xfrm>
                    <a:off x="7380312" y="3894937"/>
                    <a:ext cx="707245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‘</a:t>
                    </a:r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B</a:t>
                    </a:r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’</a:t>
                    </a:r>
                    <a:endParaRPr lang="zh-CN" altLang="en-US" sz="1600" dirty="0"/>
                  </a:p>
                </p:txBody>
              </p:sp>
              <p:sp>
                <p:nvSpPr>
                  <p:cNvPr id="42" name="矩形 41"/>
                  <p:cNvSpPr/>
                  <p:nvPr/>
                </p:nvSpPr>
                <p:spPr>
                  <a:xfrm>
                    <a:off x="7554669" y="4149080"/>
                    <a:ext cx="29687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…</a:t>
                    </a:r>
                    <a:endParaRPr lang="zh-CN" altLang="en-US" sz="1600" dirty="0"/>
                  </a:p>
                </p:txBody>
              </p:sp>
              <p:sp>
                <p:nvSpPr>
                  <p:cNvPr id="43" name="矩形 42"/>
                  <p:cNvSpPr/>
                  <p:nvPr/>
                </p:nvSpPr>
                <p:spPr>
                  <a:xfrm>
                    <a:off x="7387691" y="4530606"/>
                    <a:ext cx="707245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‘</a:t>
                    </a:r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n</a:t>
                    </a:r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’</a:t>
                    </a:r>
                    <a:endParaRPr lang="zh-CN" altLang="en-US" sz="1600" dirty="0"/>
                  </a:p>
                </p:txBody>
              </p:sp>
              <p:sp>
                <p:nvSpPr>
                  <p:cNvPr id="44" name="矩形 43"/>
                  <p:cNvSpPr/>
                  <p:nvPr/>
                </p:nvSpPr>
                <p:spPr>
                  <a:xfrm>
                    <a:off x="7387691" y="4746630"/>
                    <a:ext cx="819455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‘</a:t>
                    </a:r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\0</a:t>
                    </a:r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’</a:t>
                    </a:r>
                    <a:endParaRPr lang="zh-CN" altLang="en-US" sz="1600" dirty="0"/>
                  </a:p>
                </p:txBody>
              </p:sp>
              <p:sp>
                <p:nvSpPr>
                  <p:cNvPr id="45" name="矩形 44"/>
                  <p:cNvSpPr/>
                  <p:nvPr/>
                </p:nvSpPr>
                <p:spPr>
                  <a:xfrm>
                    <a:off x="7524328" y="3522494"/>
                    <a:ext cx="40908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……</a:t>
                    </a:r>
                    <a:endParaRPr lang="zh-CN" altLang="en-US" sz="1600" dirty="0"/>
                  </a:p>
                </p:txBody>
              </p:sp>
              <p:sp>
                <p:nvSpPr>
                  <p:cNvPr id="46" name="矩形 45"/>
                  <p:cNvSpPr/>
                  <p:nvPr/>
                </p:nvSpPr>
                <p:spPr>
                  <a:xfrm>
                    <a:off x="7452320" y="5385619"/>
                    <a:ext cx="707245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‘</a:t>
                    </a:r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B</a:t>
                    </a:r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’</a:t>
                    </a:r>
                    <a:endParaRPr lang="zh-CN" altLang="en-US" sz="1600" dirty="0"/>
                  </a:p>
                </p:txBody>
              </p:sp>
              <p:sp>
                <p:nvSpPr>
                  <p:cNvPr id="47" name="矩形 46"/>
                  <p:cNvSpPr/>
                  <p:nvPr/>
                </p:nvSpPr>
                <p:spPr>
                  <a:xfrm>
                    <a:off x="7626677" y="5589240"/>
                    <a:ext cx="29687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…</a:t>
                    </a:r>
                    <a:endParaRPr lang="zh-CN" altLang="en-US" sz="1600" dirty="0"/>
                  </a:p>
                </p:txBody>
              </p:sp>
              <p:sp>
                <p:nvSpPr>
                  <p:cNvPr id="48" name="矩形 47"/>
                  <p:cNvSpPr/>
                  <p:nvPr/>
                </p:nvSpPr>
                <p:spPr>
                  <a:xfrm>
                    <a:off x="7459699" y="5949280"/>
                    <a:ext cx="707245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‘</a:t>
                    </a:r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g</a:t>
                    </a:r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’</a:t>
                    </a:r>
                    <a:endParaRPr lang="zh-CN" altLang="en-US" sz="1600" dirty="0"/>
                  </a:p>
                </p:txBody>
              </p:sp>
              <p:sp>
                <p:nvSpPr>
                  <p:cNvPr id="49" name="矩形 48"/>
                  <p:cNvSpPr/>
                  <p:nvPr/>
                </p:nvSpPr>
                <p:spPr>
                  <a:xfrm>
                    <a:off x="7459699" y="6237312"/>
                    <a:ext cx="819455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‘</a:t>
                    </a:r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\0</a:t>
                    </a:r>
                    <a:r>
                      <a:rPr lang="zh-CN" altLang="en-US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’</a:t>
                    </a:r>
                    <a:endParaRPr lang="zh-CN" altLang="en-US" sz="1600" dirty="0"/>
                  </a:p>
                </p:txBody>
              </p:sp>
              <p:sp>
                <p:nvSpPr>
                  <p:cNvPr id="50" name="矩形 49"/>
                  <p:cNvSpPr/>
                  <p:nvPr/>
                </p:nvSpPr>
                <p:spPr>
                  <a:xfrm>
                    <a:off x="7596336" y="5013176"/>
                    <a:ext cx="40908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600" dirty="0">
                        <a:solidFill>
                          <a:srgbClr val="A31515"/>
                        </a:solidFill>
                        <a:latin typeface="Consolas" panose="020B0609020204030204" pitchFamily="49" charset="0"/>
                        <a:ea typeface="新宋体"/>
                        <a:cs typeface="Consolas" panose="020B0609020204030204" pitchFamily="49" charset="0"/>
                      </a:rPr>
                      <a:t>……</a:t>
                    </a:r>
                    <a:endParaRPr lang="zh-CN" altLang="en-US" sz="1600" dirty="0"/>
                  </a:p>
                </p:txBody>
              </p:sp>
              <p:cxnSp>
                <p:nvCxnSpPr>
                  <p:cNvPr id="53" name="直接连接符 52"/>
                  <p:cNvCxnSpPr/>
                  <p:nvPr/>
                </p:nvCxnSpPr>
                <p:spPr>
                  <a:xfrm>
                    <a:off x="6732240" y="6237312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接连接符 53"/>
                  <p:cNvCxnSpPr/>
                  <p:nvPr/>
                </p:nvCxnSpPr>
                <p:spPr>
                  <a:xfrm>
                    <a:off x="6735171" y="6525344"/>
                    <a:ext cx="2013293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矩形 104"/>
                  <p:cNvSpPr/>
                  <p:nvPr/>
                </p:nvSpPr>
                <p:spPr>
                  <a:xfrm>
                    <a:off x="4905845" y="447135"/>
                    <a:ext cx="1970411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400" dirty="0" err="1"/>
                      <a:t>0x000000013F2CBC18</a:t>
                    </a:r>
                    <a:endParaRPr lang="zh-CN" altLang="en-US" sz="1400" dirty="0"/>
                  </a:p>
                </p:txBody>
              </p:sp>
              <p:sp>
                <p:nvSpPr>
                  <p:cNvPr id="106" name="矩形 105"/>
                  <p:cNvSpPr/>
                  <p:nvPr/>
                </p:nvSpPr>
                <p:spPr>
                  <a:xfrm>
                    <a:off x="4860032" y="1916832"/>
                    <a:ext cx="1970411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400" dirty="0" err="1"/>
                      <a:t>0x000000013F2CBC20</a:t>
                    </a:r>
                    <a:endParaRPr lang="zh-CN" altLang="en-US" sz="1400" dirty="0"/>
                  </a:p>
                </p:txBody>
              </p:sp>
              <p:sp>
                <p:nvSpPr>
                  <p:cNvPr id="107" name="矩形 106"/>
                  <p:cNvSpPr/>
                  <p:nvPr/>
                </p:nvSpPr>
                <p:spPr>
                  <a:xfrm>
                    <a:off x="4905845" y="3933056"/>
                    <a:ext cx="1970411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400" dirty="0" err="1"/>
                      <a:t>0x000000013F2CBC32</a:t>
                    </a:r>
                    <a:endParaRPr lang="zh-CN" altLang="en-US" sz="1400" dirty="0"/>
                  </a:p>
                </p:txBody>
              </p:sp>
              <p:sp>
                <p:nvSpPr>
                  <p:cNvPr id="108" name="矩形 107"/>
                  <p:cNvSpPr/>
                  <p:nvPr/>
                </p:nvSpPr>
                <p:spPr>
                  <a:xfrm>
                    <a:off x="4860032" y="5353471"/>
                    <a:ext cx="1970411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400" dirty="0" err="1"/>
                      <a:t>0x000000013F2CBC50</a:t>
                    </a:r>
                    <a:endParaRPr lang="zh-CN" altLang="en-US" sz="1400" dirty="0"/>
                  </a:p>
                </p:txBody>
              </p:sp>
              <p:sp>
                <p:nvSpPr>
                  <p:cNvPr id="113" name="矩形 112"/>
                  <p:cNvSpPr/>
                  <p:nvPr/>
                </p:nvSpPr>
                <p:spPr>
                  <a:xfrm>
                    <a:off x="4788024" y="6087779"/>
                    <a:ext cx="1723549" cy="461665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2400" dirty="0"/>
                      <a:t>常量存储区</a:t>
                    </a:r>
                  </a:p>
                </p:txBody>
              </p:sp>
            </p:grpSp>
            <p:sp>
              <p:nvSpPr>
                <p:cNvPr id="118" name="矩形 117"/>
                <p:cNvSpPr/>
                <p:nvPr/>
              </p:nvSpPr>
              <p:spPr>
                <a:xfrm>
                  <a:off x="6778053" y="3337247"/>
                  <a:ext cx="197041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 err="1"/>
                    <a:t>0x000000013F2CBC32</a:t>
                  </a:r>
                  <a:endParaRPr lang="zh-CN" altLang="en-US" sz="1400" dirty="0"/>
                </a:p>
              </p:txBody>
            </p:sp>
          </p:grpSp>
          <p:sp>
            <p:nvSpPr>
              <p:cNvPr id="120" name="右大括号 119"/>
              <p:cNvSpPr/>
              <p:nvPr/>
            </p:nvSpPr>
            <p:spPr>
              <a:xfrm>
                <a:off x="8820472" y="476672"/>
                <a:ext cx="251520" cy="1152128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右大括号 120"/>
              <p:cNvSpPr/>
              <p:nvPr/>
            </p:nvSpPr>
            <p:spPr>
              <a:xfrm>
                <a:off x="8820472" y="1916832"/>
                <a:ext cx="251520" cy="1152128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右大括号 121"/>
              <p:cNvSpPr/>
              <p:nvPr/>
            </p:nvSpPr>
            <p:spPr>
              <a:xfrm>
                <a:off x="8820472" y="3933056"/>
                <a:ext cx="251520" cy="1152128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右大括号 122"/>
              <p:cNvSpPr/>
              <p:nvPr/>
            </p:nvSpPr>
            <p:spPr>
              <a:xfrm>
                <a:off x="8820472" y="5373216"/>
                <a:ext cx="251520" cy="1152128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29" name="直接连接符 128"/>
            <p:cNvCxnSpPr/>
            <p:nvPr/>
          </p:nvCxnSpPr>
          <p:spPr>
            <a:xfrm>
              <a:off x="6732240" y="6525344"/>
              <a:ext cx="20132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>
              <a:off x="6735171" y="6741368"/>
              <a:ext cx="20132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矩形 130"/>
            <p:cNvSpPr/>
            <p:nvPr/>
          </p:nvSpPr>
          <p:spPr>
            <a:xfrm>
              <a:off x="7596336" y="6186790"/>
              <a:ext cx="40908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……</a:t>
              </a:r>
              <a:endParaRPr lang="zh-CN" altLang="en-US" sz="1600" dirty="0"/>
            </a:p>
          </p:txBody>
        </p:sp>
        <p:sp>
          <p:nvSpPr>
            <p:cNvPr id="132" name="矩形 131"/>
            <p:cNvSpPr/>
            <p:nvPr/>
          </p:nvSpPr>
          <p:spPr>
            <a:xfrm>
              <a:off x="6777796" y="6453336"/>
              <a:ext cx="197066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 err="1"/>
                <a:t>0x000000000015FCA4</a:t>
              </a:r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57519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99591" y="1268760"/>
            <a:ext cx="6835249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A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A(</a:t>
            </a:r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 </a:t>
            </a:r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{  x = </a:t>
            </a:r>
            <a:r>
              <a:rPr lang="en-US" altLang="zh-CN" sz="2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 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   y = 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}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...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private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x, y;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};</a:t>
            </a:r>
          </a:p>
          <a:p>
            <a:r>
              <a:rPr lang="en-US" altLang="zh-CN" sz="2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a(3, 4);</a:t>
            </a:r>
            <a:endParaRPr lang="zh-CN" alt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744577" y="260648"/>
            <a:ext cx="7315200" cy="838200"/>
          </a:xfrm>
        </p:spPr>
        <p:txBody>
          <a:bodyPr/>
          <a:lstStyle/>
          <a:p>
            <a:pPr eaLnBrk="1" hangingPunct="1"/>
            <a:r>
              <a:rPr lang="zh-CN" altLang="en-US" dirty="0"/>
              <a:t>常对象</a:t>
            </a:r>
          </a:p>
        </p:txBody>
      </p:sp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8D81C9D-C338-4F01-B75B-EBC74AD96B28}" type="slidenum">
              <a:rPr lang="en-US" altLang="zh-CN" sz="1400" smtClean="0"/>
              <a:pPr/>
              <a:t>7</a:t>
            </a:fld>
            <a:endParaRPr lang="en-US" altLang="zh-CN" sz="1400"/>
          </a:p>
        </p:txBody>
      </p:sp>
      <p:sp>
        <p:nvSpPr>
          <p:cNvPr id="4" name="矩形 3"/>
          <p:cNvSpPr/>
          <p:nvPr/>
        </p:nvSpPr>
        <p:spPr>
          <a:xfrm>
            <a:off x="3923928" y="5589240"/>
            <a:ext cx="3954929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宋体" charset="-122"/>
              </a:rPr>
              <a:t>a</a:t>
            </a:r>
            <a:r>
              <a:rPr lang="zh-CN" altLang="en-US" sz="2800" dirty="0">
                <a:latin typeface="宋体" charset="-122"/>
              </a:rPr>
              <a:t>是常对象，不能被更新</a:t>
            </a:r>
            <a:endParaRPr lang="zh-CN" altLang="en-US" sz="2800" dirty="0"/>
          </a:p>
        </p:txBody>
      </p:sp>
      <p:sp>
        <p:nvSpPr>
          <p:cNvPr id="8" name="矩形 7"/>
          <p:cNvSpPr/>
          <p:nvPr/>
        </p:nvSpPr>
        <p:spPr>
          <a:xfrm>
            <a:off x="3923928" y="4555814"/>
            <a:ext cx="3057247" cy="867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latin typeface="宋体" charset="-122"/>
              </a:rPr>
              <a:t>也可以写成：</a:t>
            </a:r>
            <a:endParaRPr lang="en-US" altLang="zh-CN" sz="2800" dirty="0">
              <a:latin typeface="宋体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err="1">
                <a:latin typeface="宋体" charset="-122"/>
              </a:rPr>
              <a:t>const</a:t>
            </a:r>
            <a:r>
              <a:rPr lang="en-US" altLang="zh-CN" sz="2800" dirty="0">
                <a:latin typeface="宋体" charset="-122"/>
              </a:rPr>
              <a:t> A a(3,4); </a:t>
            </a:r>
            <a:endParaRPr lang="zh-CN" altLang="en-US" sz="2800" dirty="0">
              <a:latin typeface="宋体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28240" y="1628800"/>
            <a:ext cx="2159566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charset="-122"/>
              </a:rPr>
              <a:t>纠错：</a:t>
            </a:r>
            <a:endParaRPr lang="en-US" altLang="zh-CN" sz="2800" dirty="0">
              <a:latin typeface="宋体" charset="-122"/>
            </a:endParaRPr>
          </a:p>
          <a:p>
            <a:r>
              <a:rPr lang="en-US" altLang="zh-CN" sz="2800" dirty="0">
                <a:latin typeface="宋体" charset="-122"/>
              </a:rPr>
              <a:t>a = b;</a:t>
            </a:r>
          </a:p>
          <a:p>
            <a:r>
              <a:rPr lang="en-US" altLang="zh-CN" sz="2800" dirty="0" err="1">
                <a:latin typeface="宋体" charset="-122"/>
              </a:rPr>
              <a:t>a.Set</a:t>
            </a:r>
            <a:r>
              <a:rPr lang="en-US" altLang="zh-CN" sz="2800" dirty="0">
                <a:latin typeface="宋体" charset="-122"/>
              </a:rPr>
              <a:t>(5,6);</a:t>
            </a:r>
            <a:endParaRPr lang="zh-CN" altLang="en-US" sz="2800" dirty="0"/>
          </a:p>
        </p:txBody>
      </p:sp>
      <p:sp>
        <p:nvSpPr>
          <p:cNvPr id="2" name="乘号 1"/>
          <p:cNvSpPr/>
          <p:nvPr/>
        </p:nvSpPr>
        <p:spPr>
          <a:xfrm>
            <a:off x="8442827" y="1988840"/>
            <a:ext cx="513277" cy="648072"/>
          </a:xfrm>
          <a:prstGeom prst="mathMultiply">
            <a:avLst>
              <a:gd name="adj1" fmla="val 1461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乘号 9"/>
          <p:cNvSpPr/>
          <p:nvPr/>
        </p:nvSpPr>
        <p:spPr>
          <a:xfrm>
            <a:off x="8595227" y="2492896"/>
            <a:ext cx="513277" cy="648072"/>
          </a:xfrm>
          <a:prstGeom prst="mathMultiply">
            <a:avLst>
              <a:gd name="adj1" fmla="val 1461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55576" y="4989779"/>
            <a:ext cx="3024336" cy="433965"/>
          </a:xfrm>
          <a:prstGeom prst="roundRect">
            <a:avLst/>
          </a:prstGeom>
          <a:noFill/>
          <a:ln w="38100">
            <a:solidFill>
              <a:srgbClr val="FF6D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799074" y="3346252"/>
            <a:ext cx="2159566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charset="-122"/>
              </a:rPr>
              <a:t>纠错：</a:t>
            </a:r>
            <a:endParaRPr lang="en-US" altLang="zh-CN" sz="2800" dirty="0">
              <a:latin typeface="宋体" charset="-122"/>
            </a:endParaRPr>
          </a:p>
          <a:p>
            <a:r>
              <a:rPr lang="en-US" altLang="zh-CN" sz="2800" dirty="0">
                <a:latin typeface="宋体" charset="-122"/>
              </a:rPr>
              <a:t>a = a;</a:t>
            </a:r>
          </a:p>
          <a:p>
            <a:r>
              <a:rPr lang="en-US" altLang="zh-CN" sz="2800" dirty="0" err="1">
                <a:latin typeface="宋体" charset="-122"/>
              </a:rPr>
              <a:t>a.Set</a:t>
            </a:r>
            <a:r>
              <a:rPr lang="en-US" altLang="zh-CN" sz="2800" dirty="0">
                <a:latin typeface="宋体" charset="-122"/>
              </a:rPr>
              <a:t>(3,4);</a:t>
            </a:r>
            <a:endParaRPr lang="zh-CN" altLang="en-US" sz="2800" dirty="0"/>
          </a:p>
        </p:txBody>
      </p:sp>
      <p:sp>
        <p:nvSpPr>
          <p:cNvPr id="14" name="乘号 13"/>
          <p:cNvSpPr/>
          <p:nvPr/>
        </p:nvSpPr>
        <p:spPr>
          <a:xfrm>
            <a:off x="8388424" y="3645024"/>
            <a:ext cx="513277" cy="648072"/>
          </a:xfrm>
          <a:prstGeom prst="mathMultiply">
            <a:avLst>
              <a:gd name="adj1" fmla="val 1461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乘号 14"/>
          <p:cNvSpPr/>
          <p:nvPr/>
        </p:nvSpPr>
        <p:spPr>
          <a:xfrm>
            <a:off x="8540824" y="4149080"/>
            <a:ext cx="513277" cy="648072"/>
          </a:xfrm>
          <a:prstGeom prst="mathMultiply">
            <a:avLst>
              <a:gd name="adj1" fmla="val 1461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81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2" grpId="0" animBg="1"/>
      <p:bldP spid="10" grpId="0" animBg="1"/>
      <p:bldP spid="6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260648"/>
            <a:ext cx="7239000" cy="914400"/>
          </a:xfrm>
        </p:spPr>
        <p:txBody>
          <a:bodyPr/>
          <a:lstStyle/>
          <a:p>
            <a:pPr eaLnBrk="1" hangingPunct="1"/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zh-CN" altLang="en-US" dirty="0"/>
              <a:t>类成员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268760"/>
            <a:ext cx="8532440" cy="2625080"/>
          </a:xfrm>
        </p:spPr>
        <p:txBody>
          <a:bodyPr>
            <a:normAutofit lnSpcReduction="10000"/>
          </a:bodyPr>
          <a:lstStyle/>
          <a:p>
            <a:r>
              <a:rPr lang="zh-CN" altLang="en-US" sz="3600" dirty="0">
                <a:latin typeface="宋体" charset="-122"/>
              </a:rPr>
              <a:t>常数据成员</a:t>
            </a:r>
          </a:p>
          <a:p>
            <a:pPr lvl="1"/>
            <a:r>
              <a:rPr lang="zh-CN" altLang="en-US" dirty="0">
                <a:latin typeface="宋体" charset="-122"/>
              </a:rPr>
              <a:t>使用</a:t>
            </a:r>
            <a:r>
              <a:rPr lang="en-US" altLang="zh-CN" dirty="0" err="1">
                <a:latin typeface="宋体" charset="-122"/>
              </a:rPr>
              <a:t>const</a:t>
            </a:r>
            <a:r>
              <a:rPr lang="zh-CN" altLang="en-US" dirty="0">
                <a:latin typeface="宋体" charset="-122"/>
              </a:rPr>
              <a:t>说明的数据成员。</a:t>
            </a:r>
            <a:endParaRPr lang="en-US" altLang="zh-CN" sz="3600" dirty="0">
              <a:latin typeface="宋体" charset="-122"/>
            </a:endParaRPr>
          </a:p>
          <a:p>
            <a:pPr eaLnBrk="1" hangingPunct="1"/>
            <a:r>
              <a:rPr lang="zh-CN" altLang="en-US" sz="3600" dirty="0">
                <a:latin typeface="宋体" charset="-122"/>
              </a:rPr>
              <a:t>常成员函数</a:t>
            </a:r>
          </a:p>
          <a:p>
            <a:pPr lvl="1" eaLnBrk="1" hangingPunct="1"/>
            <a:r>
              <a:rPr lang="zh-CN" altLang="en-US" dirty="0">
                <a:latin typeface="宋体" charset="-122"/>
              </a:rPr>
              <a:t>使用</a:t>
            </a:r>
            <a:r>
              <a:rPr lang="en-US" altLang="zh-CN" dirty="0" err="1">
                <a:latin typeface="宋体" charset="-122"/>
              </a:rPr>
              <a:t>const</a:t>
            </a:r>
            <a:r>
              <a:rPr lang="zh-CN" altLang="en-US" dirty="0">
                <a:latin typeface="宋体" charset="-122"/>
              </a:rPr>
              <a:t>关键字说明的函数</a:t>
            </a:r>
            <a:r>
              <a:rPr lang="en-US" altLang="zh-CN" dirty="0">
                <a:latin typeface="宋体" charset="-122"/>
              </a:rPr>
              <a:t>——</a:t>
            </a:r>
            <a:r>
              <a:rPr lang="zh-CN" altLang="en-US" dirty="0">
                <a:latin typeface="宋体" charset="-122"/>
              </a:rPr>
              <a:t>不更新成员数据的成员函数。</a:t>
            </a:r>
          </a:p>
        </p:txBody>
      </p:sp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F3648C6-FBB0-4D0E-AF6A-DC740C9DAF69}" type="slidenum">
              <a:rPr lang="en-US" altLang="zh-CN" sz="1400" smtClean="0"/>
              <a:pPr/>
              <a:t>8</a:t>
            </a:fld>
            <a:endParaRPr lang="en-US" altLang="zh-CN" sz="14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-36512" y="4149080"/>
            <a:ext cx="8964488" cy="1944216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宋体" charset="-122"/>
              </a:rPr>
              <a:t>常对象只能调用常成员函数。</a:t>
            </a:r>
            <a:endParaRPr lang="en-US" altLang="zh-CN" dirty="0">
              <a:latin typeface="宋体" charset="-122"/>
            </a:endParaRPr>
          </a:p>
          <a:p>
            <a:pPr marL="361950" indent="0">
              <a:buNone/>
            </a:pPr>
            <a:r>
              <a:rPr lang="zh-CN" altLang="en-US" dirty="0">
                <a:latin typeface="宋体" charset="-122"/>
              </a:rPr>
              <a:t>普通</a:t>
            </a:r>
            <a:r>
              <a:rPr lang="en-US" altLang="zh-CN" dirty="0">
                <a:latin typeface="宋体" charset="-122"/>
              </a:rPr>
              <a:t>(“</a:t>
            </a:r>
            <a:r>
              <a:rPr lang="zh-CN" altLang="en-US" dirty="0">
                <a:latin typeface="宋体" charset="-122"/>
              </a:rPr>
              <a:t>非常</a:t>
            </a:r>
            <a:r>
              <a:rPr lang="en-US" altLang="zh-CN" dirty="0">
                <a:latin typeface="宋体" charset="-122"/>
              </a:rPr>
              <a:t>”)</a:t>
            </a:r>
            <a:r>
              <a:rPr lang="zh-CN" altLang="en-US" dirty="0">
                <a:latin typeface="宋体" charset="-122"/>
              </a:rPr>
              <a:t>对象调用普通 </a:t>
            </a:r>
            <a:r>
              <a:rPr lang="en-US" altLang="zh-CN" dirty="0">
                <a:latin typeface="宋体" charset="-122"/>
              </a:rPr>
              <a:t>(“</a:t>
            </a:r>
            <a:r>
              <a:rPr lang="zh-CN" altLang="en-US" dirty="0">
                <a:latin typeface="宋体" charset="-122"/>
              </a:rPr>
              <a:t>非常</a:t>
            </a:r>
            <a:r>
              <a:rPr lang="en-US" altLang="zh-CN" dirty="0">
                <a:latin typeface="宋体" charset="-122"/>
              </a:rPr>
              <a:t>”)</a:t>
            </a:r>
            <a:r>
              <a:rPr lang="zh-CN" altLang="en-US" dirty="0">
                <a:latin typeface="宋体" charset="-122"/>
              </a:rPr>
              <a:t>函数；</a:t>
            </a:r>
            <a:endParaRPr lang="en-US" altLang="zh-CN" dirty="0">
              <a:latin typeface="宋体" charset="-122"/>
            </a:endParaRPr>
          </a:p>
          <a:p>
            <a:pPr marL="361950" indent="0">
              <a:buNone/>
            </a:pPr>
            <a:r>
              <a:rPr lang="zh-CN" altLang="en-US" dirty="0">
                <a:latin typeface="宋体" charset="-122"/>
              </a:rPr>
              <a:t>普通对象也能调用常函数。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ADB6EC-73E7-444A-91F8-AECD9D0949CE}"/>
              </a:ext>
            </a:extLst>
          </p:cNvPr>
          <p:cNvSpPr txBox="1"/>
          <p:nvPr/>
        </p:nvSpPr>
        <p:spPr>
          <a:xfrm>
            <a:off x="5409015" y="1129659"/>
            <a:ext cx="3512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Static</a:t>
            </a:r>
            <a:r>
              <a:rPr kumimoji="1" lang="zh-CN" altLang="en-US" dirty="0"/>
              <a:t>是管理方式（只写一次）</a:t>
            </a:r>
            <a:endParaRPr kumimoji="1" lang="en-US" altLang="zh-CN" dirty="0"/>
          </a:p>
          <a:p>
            <a:r>
              <a:rPr kumimoji="1" lang="en-US" altLang="zh-CN" dirty="0"/>
              <a:t>Const</a:t>
            </a:r>
            <a:r>
              <a:rPr kumimoji="1" lang="zh-CN" altLang="en-US" dirty="0"/>
              <a:t>是数据本身（所以都要写）</a:t>
            </a:r>
          </a:p>
        </p:txBody>
      </p:sp>
    </p:spTree>
    <p:extLst>
      <p:ext uri="{BB962C8B-B14F-4D97-AF65-F5344CB8AC3E}">
        <p14:creationId xmlns:p14="http://schemas.microsoft.com/office/powerpoint/2010/main" val="3293681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1520" y="548680"/>
            <a:ext cx="4572000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A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A(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);</a:t>
            </a:r>
          </a:p>
          <a:p>
            <a:pPr marL="450850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print()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private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pPr marL="450850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_a;</a:t>
            </a:r>
          </a:p>
          <a:p>
            <a:pPr marL="450850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static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_b;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};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45813"/>
            <a:ext cx="8229600" cy="52322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常数据成员</a:t>
            </a:r>
          </a:p>
        </p:txBody>
      </p:sp>
      <p:sp>
        <p:nvSpPr>
          <p:cNvPr id="501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B453D2D-EF81-43C4-85AF-94E06AFD84D4}" type="slidenum">
              <a:rPr lang="en-US" altLang="zh-CN" sz="1400" smtClean="0"/>
              <a:pPr/>
              <a:t>9</a:t>
            </a:fld>
            <a:endParaRPr lang="en-US" altLang="zh-CN" sz="1400"/>
          </a:p>
        </p:txBody>
      </p:sp>
      <p:sp>
        <p:nvSpPr>
          <p:cNvPr id="6" name="矩形 5"/>
          <p:cNvSpPr/>
          <p:nvPr/>
        </p:nvSpPr>
        <p:spPr>
          <a:xfrm>
            <a:off x="4932040" y="2471138"/>
            <a:ext cx="180049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charset="-122"/>
              </a:rPr>
              <a:t>静态常数据成员</a:t>
            </a:r>
          </a:p>
        </p:txBody>
      </p:sp>
      <p:sp>
        <p:nvSpPr>
          <p:cNvPr id="11" name="矩形 10"/>
          <p:cNvSpPr/>
          <p:nvPr/>
        </p:nvSpPr>
        <p:spPr>
          <a:xfrm>
            <a:off x="4932040" y="2123564"/>
            <a:ext cx="133882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charset="-122"/>
              </a:rPr>
              <a:t>常数据成员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786D23-FD46-4B88-D0FC-6583A1080F2E}"/>
              </a:ext>
            </a:extLst>
          </p:cNvPr>
          <p:cNvSpPr/>
          <p:nvPr/>
        </p:nvSpPr>
        <p:spPr>
          <a:xfrm>
            <a:off x="251520" y="3068960"/>
            <a:ext cx="7704856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A::_b = 10;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A::A(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):_a(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}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A::print()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&lt;&lt; _a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":"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&lt;&lt; _b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 A a1(100), a2(0);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a1.print();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a2.print();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3ECC8F3-4B32-C943-9EDD-807833C0137A}"/>
              </a:ext>
            </a:extLst>
          </p:cNvPr>
          <p:cNvCxnSpPr>
            <a:cxnSpLocks/>
          </p:cNvCxnSpPr>
          <p:nvPr/>
        </p:nvCxnSpPr>
        <p:spPr>
          <a:xfrm>
            <a:off x="323528" y="3356992"/>
            <a:ext cx="22139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673A617-6180-63E7-A6AE-04BF46AE898E}"/>
              </a:ext>
            </a:extLst>
          </p:cNvPr>
          <p:cNvCxnSpPr>
            <a:cxnSpLocks/>
          </p:cNvCxnSpPr>
          <p:nvPr/>
        </p:nvCxnSpPr>
        <p:spPr>
          <a:xfrm>
            <a:off x="1673425" y="3645024"/>
            <a:ext cx="52231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50E1256C-3C9D-B240-42DB-48A96C58A55F}"/>
              </a:ext>
            </a:extLst>
          </p:cNvPr>
          <p:cNvGrpSpPr/>
          <p:nvPr/>
        </p:nvGrpSpPr>
        <p:grpSpPr>
          <a:xfrm>
            <a:off x="2377024" y="3347700"/>
            <a:ext cx="5040561" cy="369332"/>
            <a:chOff x="3347864" y="772235"/>
            <a:chExt cx="5040561" cy="36933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B888BE3-DADB-B9C8-0F24-D72408AE5392}"/>
                </a:ext>
              </a:extLst>
            </p:cNvPr>
            <p:cNvSpPr/>
            <p:nvPr/>
          </p:nvSpPr>
          <p:spPr>
            <a:xfrm>
              <a:off x="3923929" y="772235"/>
              <a:ext cx="4464496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latin typeface="宋体" charset="-122"/>
                </a:rPr>
                <a:t>常数据成员以初始化列表的形式初始化</a:t>
              </a: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40F4DED2-7500-1EA0-35F6-2DB5D3BF9C07}"/>
                </a:ext>
              </a:extLst>
            </p:cNvPr>
            <p:cNvCxnSpPr/>
            <p:nvPr/>
          </p:nvCxnSpPr>
          <p:spPr>
            <a:xfrm flipH="1" flipV="1">
              <a:off x="3347864" y="980728"/>
              <a:ext cx="576064" cy="1"/>
            </a:xfrm>
            <a:prstGeom prst="straightConnector1">
              <a:avLst/>
            </a:prstGeom>
            <a:ln w="38100">
              <a:solidFill>
                <a:schemeClr val="accent5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BB9B3735-2B3F-0841-B6EB-E514B013EC8A}"/>
              </a:ext>
            </a:extLst>
          </p:cNvPr>
          <p:cNvSpPr txBox="1"/>
          <p:nvPr/>
        </p:nvSpPr>
        <p:spPr>
          <a:xfrm>
            <a:off x="5409015" y="1129659"/>
            <a:ext cx="3512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Static</a:t>
            </a:r>
            <a:r>
              <a:rPr kumimoji="1" lang="zh-CN" altLang="en-US" dirty="0"/>
              <a:t>是管理方式（只写一次）</a:t>
            </a:r>
            <a:endParaRPr kumimoji="1" lang="en-US" altLang="zh-CN" dirty="0"/>
          </a:p>
          <a:p>
            <a:r>
              <a:rPr kumimoji="1" lang="en-US" altLang="zh-CN" dirty="0"/>
              <a:t>Const</a:t>
            </a:r>
            <a:r>
              <a:rPr kumimoji="1" lang="zh-CN" altLang="en-US" dirty="0"/>
              <a:t>是数据本身（所以都要写）</a:t>
            </a:r>
          </a:p>
        </p:txBody>
      </p:sp>
    </p:spTree>
    <p:extLst>
      <p:ext uri="{BB962C8B-B14F-4D97-AF65-F5344CB8AC3E}">
        <p14:creationId xmlns:p14="http://schemas.microsoft.com/office/powerpoint/2010/main" val="206801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717376" y="188640"/>
            <a:ext cx="7239000" cy="914400"/>
          </a:xfrm>
        </p:spPr>
        <p:txBody>
          <a:bodyPr/>
          <a:lstStyle/>
          <a:p>
            <a:pPr eaLnBrk="1" hangingPunct="1"/>
            <a:r>
              <a:rPr lang="zh-CN" altLang="en-US" dirty="0"/>
              <a:t>常成员函数</a:t>
            </a:r>
          </a:p>
        </p:txBody>
      </p:sp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F3648C6-FBB0-4D0E-AF6A-DC740C9DAF69}" type="slidenum">
              <a:rPr lang="en-US" altLang="zh-CN" sz="1400" smtClean="0"/>
              <a:pPr/>
              <a:t>10</a:t>
            </a:fld>
            <a:endParaRPr lang="en-US" altLang="zh-CN" sz="140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496" y="1268760"/>
            <a:ext cx="9001000" cy="4800600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3200" dirty="0">
                <a:latin typeface="宋体" charset="-122"/>
              </a:rPr>
              <a:t>常成员函数：不更新对象的成员数据</a:t>
            </a:r>
          </a:p>
          <a:p>
            <a:pPr lvl="1"/>
            <a:r>
              <a:rPr lang="zh-CN" altLang="en-US" sz="3200" dirty="0">
                <a:latin typeface="宋体" charset="-122"/>
              </a:rPr>
              <a:t>说明格式：</a:t>
            </a:r>
            <a:br>
              <a:rPr lang="zh-CN" altLang="en-US" sz="3200" dirty="0">
                <a:latin typeface="宋体" charset="-122"/>
              </a:rPr>
            </a:br>
            <a:r>
              <a:rPr lang="zh-CN" altLang="en-US" sz="3200" dirty="0">
                <a:solidFill>
                  <a:srgbClr val="FF0000"/>
                </a:solidFill>
                <a:latin typeface="宋体" charset="-122"/>
              </a:rPr>
              <a:t>类型说明符  函数名（参数表）</a:t>
            </a:r>
            <a:r>
              <a:rPr lang="en-US" altLang="zh-CN" sz="3200" dirty="0" err="1">
                <a:solidFill>
                  <a:srgbClr val="FF0000"/>
                </a:solidFill>
                <a:latin typeface="宋体" charset="-122"/>
              </a:rPr>
              <a:t>const</a:t>
            </a:r>
            <a:r>
              <a:rPr lang="en-US" altLang="zh-CN" sz="3200" dirty="0">
                <a:solidFill>
                  <a:srgbClr val="FF0000"/>
                </a:solidFill>
                <a:latin typeface="宋体" charset="-122"/>
              </a:rPr>
              <a:t>;</a:t>
            </a:r>
            <a:br>
              <a:rPr lang="en-US" altLang="zh-CN" sz="3200" dirty="0">
                <a:latin typeface="宋体" charset="-122"/>
              </a:rPr>
            </a:br>
            <a:r>
              <a:rPr lang="zh-CN" altLang="en-US" sz="3200" dirty="0">
                <a:latin typeface="宋体" charset="-122"/>
              </a:rPr>
              <a:t>这里，</a:t>
            </a:r>
            <a:r>
              <a:rPr lang="en-US" altLang="zh-CN" sz="3200" dirty="0" err="1">
                <a:latin typeface="宋体" charset="-122"/>
              </a:rPr>
              <a:t>const</a:t>
            </a:r>
            <a:r>
              <a:rPr lang="zh-CN" altLang="en-US" sz="3200" dirty="0">
                <a:latin typeface="宋体" charset="-122"/>
              </a:rPr>
              <a:t>是函数类型的一个组成部分，因此在实现部分也要带</a:t>
            </a:r>
            <a:r>
              <a:rPr lang="en-US" altLang="zh-CN" sz="3200" dirty="0" err="1">
                <a:latin typeface="宋体" charset="-122"/>
              </a:rPr>
              <a:t>const</a:t>
            </a:r>
            <a:r>
              <a:rPr lang="zh-CN" altLang="en-US" sz="3200" dirty="0">
                <a:latin typeface="宋体" charset="-122"/>
              </a:rPr>
              <a:t>关键字。</a:t>
            </a:r>
          </a:p>
          <a:p>
            <a:pPr lvl="1"/>
            <a:r>
              <a:rPr lang="en-US" altLang="zh-CN" sz="3200" dirty="0" err="1">
                <a:latin typeface="宋体" charset="-122"/>
              </a:rPr>
              <a:t>const</a:t>
            </a:r>
            <a:r>
              <a:rPr lang="zh-CN" altLang="en-US" sz="3200" dirty="0">
                <a:latin typeface="宋体" charset="-122"/>
              </a:rPr>
              <a:t>可以用于函数重载</a:t>
            </a:r>
            <a:endParaRPr lang="en-US" altLang="zh-CN" sz="3200" dirty="0">
              <a:latin typeface="宋体" charset="-122"/>
            </a:endParaRPr>
          </a:p>
          <a:p>
            <a:pPr lvl="2"/>
            <a:r>
              <a:rPr lang="en-US" altLang="zh-CN" sz="3200" dirty="0">
                <a:solidFill>
                  <a:srgbClr val="FF0000"/>
                </a:solidFill>
                <a:latin typeface="宋体" charset="-122"/>
              </a:rPr>
              <a:t>const</a:t>
            </a:r>
            <a:r>
              <a:rPr lang="zh-CN" altLang="en-US" sz="3200" dirty="0">
                <a:solidFill>
                  <a:srgbClr val="FF0000"/>
                </a:solidFill>
                <a:latin typeface="宋体" charset="-122"/>
              </a:rPr>
              <a:t>函数传递的是</a:t>
            </a:r>
            <a:r>
              <a:rPr lang="en-US" altLang="zh-CN" sz="3200" dirty="0">
                <a:solidFill>
                  <a:srgbClr val="FF0000"/>
                </a:solidFill>
                <a:latin typeface="宋体" charset="-122"/>
              </a:rPr>
              <a:t>const this</a:t>
            </a:r>
            <a:r>
              <a:rPr lang="zh-CN" altLang="en-US" sz="3200" dirty="0">
                <a:solidFill>
                  <a:srgbClr val="FF0000"/>
                </a:solidFill>
                <a:latin typeface="宋体" charset="-122"/>
              </a:rPr>
              <a:t>指针</a:t>
            </a:r>
            <a:endParaRPr lang="en-US" altLang="zh-CN" sz="3200" dirty="0">
              <a:solidFill>
                <a:srgbClr val="FF0000"/>
              </a:solidFill>
              <a:latin typeface="宋体" charset="-122"/>
            </a:endParaRPr>
          </a:p>
          <a:p>
            <a:pPr lvl="2"/>
            <a:r>
              <a:rPr lang="zh-CN" altLang="en-US" sz="3200" dirty="0">
                <a:latin typeface="宋体" charset="-122"/>
              </a:rPr>
              <a:t>普通成员函数传递的是（变量）</a:t>
            </a:r>
            <a:r>
              <a:rPr lang="en-US" altLang="zh-CN" sz="3200" dirty="0">
                <a:latin typeface="宋体" charset="-122"/>
              </a:rPr>
              <a:t>this</a:t>
            </a:r>
            <a:r>
              <a:rPr lang="zh-CN" altLang="en-US" sz="3200" dirty="0">
                <a:latin typeface="宋体" charset="-122"/>
              </a:rPr>
              <a:t>指针</a:t>
            </a:r>
          </a:p>
        </p:txBody>
      </p:sp>
    </p:spTree>
    <p:extLst>
      <p:ext uri="{BB962C8B-B14F-4D97-AF65-F5344CB8AC3E}">
        <p14:creationId xmlns:p14="http://schemas.microsoft.com/office/powerpoint/2010/main" val="3456677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1520" y="702255"/>
            <a:ext cx="6696744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</a:t>
            </a:r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R(</a:t>
            </a:r>
            <a:r>
              <a:rPr lang="pt-BR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pt-BR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r1</a:t>
            </a:r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 </a:t>
            </a:r>
            <a:r>
              <a:rPr lang="pt-BR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pt-BR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r2</a:t>
            </a:r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):_r1(</a:t>
            </a:r>
            <a:r>
              <a:rPr lang="pt-BR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r1</a:t>
            </a:r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), _r2(</a:t>
            </a:r>
            <a:r>
              <a:rPr lang="pt-BR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r2</a:t>
            </a:r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 { 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print();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print()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private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_r1, _r2;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116632"/>
            <a:ext cx="7315200" cy="43204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常成员函数</a:t>
            </a:r>
          </a:p>
        </p:txBody>
      </p:sp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53D0793-E877-4E8E-BF94-698868BC2BD7}" type="slidenum">
              <a:rPr lang="en-US" altLang="zh-CN" sz="1400" smtClean="0"/>
              <a:pPr/>
              <a:t>11</a:t>
            </a:fld>
            <a:endParaRPr lang="en-US" altLang="zh-CN" sz="1400"/>
          </a:p>
        </p:txBody>
      </p:sp>
      <p:sp>
        <p:nvSpPr>
          <p:cNvPr id="9" name="矩形 8"/>
          <p:cNvSpPr/>
          <p:nvPr/>
        </p:nvSpPr>
        <p:spPr>
          <a:xfrm>
            <a:off x="3275856" y="2204864"/>
            <a:ext cx="1461537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宋体" charset="-122"/>
              </a:rPr>
              <a:t>常成员函数</a:t>
            </a:r>
          </a:p>
        </p:txBody>
      </p:sp>
      <p:sp>
        <p:nvSpPr>
          <p:cNvPr id="10" name="矩形 9"/>
          <p:cNvSpPr/>
          <p:nvPr/>
        </p:nvSpPr>
        <p:spPr>
          <a:xfrm>
            <a:off x="4860032" y="1979528"/>
            <a:ext cx="1584176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宋体" charset="-122"/>
              </a:rPr>
              <a:t>普通成员函数</a:t>
            </a:r>
          </a:p>
        </p:txBody>
      </p:sp>
      <p:sp>
        <p:nvSpPr>
          <p:cNvPr id="2" name="矩形 1"/>
          <p:cNvSpPr/>
          <p:nvPr/>
        </p:nvSpPr>
        <p:spPr>
          <a:xfrm>
            <a:off x="251520" y="3259180"/>
            <a:ext cx="6696744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R::print()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&lt;&lt; _r1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":"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&lt;&lt; _r2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R::print() 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&lt;&lt; _r1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";"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&lt;&lt; _r2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R a(5, 4);</a:t>
            </a:r>
          </a:p>
          <a:p>
            <a:pPr marL="441325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a.print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();</a:t>
            </a:r>
          </a:p>
          <a:p>
            <a:pPr marL="441325"/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 b(20, 52);</a:t>
            </a:r>
          </a:p>
          <a:p>
            <a:pPr marL="441325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b.print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();</a:t>
            </a:r>
          </a:p>
          <a:p>
            <a:pPr marL="441325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7276434" y="5117553"/>
            <a:ext cx="1350734" cy="8402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dirty="0">
                <a:solidFill>
                  <a:schemeClr val="bg1"/>
                </a:solidFill>
                <a:latin typeface="宋体" pitchFamily="2" charset="-122"/>
              </a:rPr>
              <a:t>5:4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dirty="0">
                <a:solidFill>
                  <a:schemeClr val="bg1"/>
                </a:solidFill>
                <a:latin typeface="宋体" pitchFamily="2" charset="-122"/>
              </a:rPr>
              <a:t>20;52</a:t>
            </a:r>
          </a:p>
          <a:p>
            <a:pPr>
              <a:lnSpc>
                <a:spcPct val="90000"/>
              </a:lnSpc>
              <a:defRPr/>
            </a:pPr>
            <a:endParaRPr lang="en-US" altLang="zh-CN" dirty="0">
              <a:solidFill>
                <a:schemeClr val="bg1"/>
              </a:solidFill>
              <a:latin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76369" y="5535640"/>
            <a:ext cx="2723823" cy="3416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zh-CN" dirty="0">
                <a:latin typeface="宋体" pitchFamily="2" charset="-122"/>
              </a:rPr>
              <a:t>调用</a:t>
            </a:r>
            <a:r>
              <a:rPr lang="en-US" altLang="zh-CN" dirty="0">
                <a:latin typeface="宋体" pitchFamily="2" charset="-122"/>
              </a:rPr>
              <a:t>void print() </a:t>
            </a:r>
            <a:r>
              <a:rPr lang="en-US" altLang="zh-CN" dirty="0" err="1">
                <a:latin typeface="宋体" pitchFamily="2" charset="-122"/>
              </a:rPr>
              <a:t>const</a:t>
            </a:r>
            <a:endParaRPr lang="en-US" altLang="zh-CN" dirty="0">
              <a:latin typeface="宋体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843808" y="5642975"/>
            <a:ext cx="2979523" cy="1026385"/>
            <a:chOff x="3014827" y="5118091"/>
            <a:chExt cx="2979523" cy="1026385"/>
          </a:xfrm>
        </p:grpSpPr>
        <p:sp>
          <p:nvSpPr>
            <p:cNvPr id="15" name="矩形 14"/>
            <p:cNvSpPr/>
            <p:nvPr/>
          </p:nvSpPr>
          <p:spPr>
            <a:xfrm>
              <a:off x="3244879" y="5775144"/>
              <a:ext cx="2749471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zh-CN" altLang="en-US" sz="2000" dirty="0">
                  <a:latin typeface="宋体" pitchFamily="2" charset="-122"/>
                </a:rPr>
                <a:t>常对象只能调用常函数</a:t>
              </a:r>
              <a:endParaRPr lang="en-US" altLang="zh-CN" sz="2000" dirty="0">
                <a:latin typeface="宋体" pitchFamily="2" charset="-122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H="1" flipV="1">
              <a:off x="3014827" y="5118091"/>
              <a:ext cx="1955731" cy="657054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 5"/>
          <p:cNvSpPr/>
          <p:nvPr/>
        </p:nvSpPr>
        <p:spPr>
          <a:xfrm>
            <a:off x="3563888" y="5175600"/>
            <a:ext cx="2031325" cy="3416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zh-CN" dirty="0">
                <a:latin typeface="宋体" pitchFamily="2" charset="-122"/>
              </a:rPr>
              <a:t>调用</a:t>
            </a:r>
            <a:r>
              <a:rPr lang="en-US" altLang="zh-CN" dirty="0">
                <a:latin typeface="宋体" pitchFamily="2" charset="-122"/>
              </a:rPr>
              <a:t>void print()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ED7AC3-544D-6846-81B7-04FB1EB66C86}"/>
              </a:ext>
            </a:extLst>
          </p:cNvPr>
          <p:cNvSpPr txBox="1"/>
          <p:nvPr/>
        </p:nvSpPr>
        <p:spPr>
          <a:xfrm>
            <a:off x="6948264" y="1743366"/>
            <a:ext cx="203132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const</a:t>
            </a:r>
            <a:r>
              <a:rPr kumimoji="1" lang="zh-CN" altLang="en-US" dirty="0"/>
              <a:t>可以区分</a:t>
            </a:r>
            <a:endParaRPr kumimoji="1" lang="en-US" altLang="zh-CN" dirty="0"/>
          </a:p>
          <a:p>
            <a:r>
              <a:rPr kumimoji="1" lang="zh-CN" altLang="en-US" dirty="0"/>
              <a:t>不同的函数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做函数重载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类外的重载只能用</a:t>
            </a:r>
            <a:endParaRPr kumimoji="1" lang="en-US" altLang="zh-CN" dirty="0"/>
          </a:p>
          <a:p>
            <a:r>
              <a:rPr kumimoji="1" lang="zh-CN" altLang="en-US" dirty="0"/>
              <a:t>不同的参数表</a:t>
            </a:r>
          </a:p>
        </p:txBody>
      </p:sp>
    </p:spTree>
    <p:extLst>
      <p:ext uri="{BB962C8B-B14F-4D97-AF65-F5344CB8AC3E}">
        <p14:creationId xmlns:p14="http://schemas.microsoft.com/office/powerpoint/2010/main" val="237319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1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1956" y="493684"/>
            <a:ext cx="3377916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R::print()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&lt;&lt;_r1&lt;&lt;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":"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&lt;&lt;_r2&lt;&lt;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R::print() 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&lt;&lt;_r1&lt;&lt;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";"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&lt;&lt;_r2&lt;&lt;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R a(5, 4);</a:t>
            </a:r>
          </a:p>
          <a:p>
            <a:pPr marL="441325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a.print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();</a:t>
            </a:r>
          </a:p>
          <a:p>
            <a:pPr marL="441325"/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 b(20, 52);</a:t>
            </a:r>
          </a:p>
          <a:p>
            <a:pPr marL="441325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b.print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();</a:t>
            </a:r>
          </a:p>
          <a:p>
            <a:pPr marL="441325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9155" name="Text Box 5"/>
          <p:cNvSpPr txBox="1">
            <a:spLocks noChangeArrowheads="1"/>
          </p:cNvSpPr>
          <p:nvPr/>
        </p:nvSpPr>
        <p:spPr bwMode="auto">
          <a:xfrm>
            <a:off x="8610600" y="64770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prstClr val="black"/>
                </a:solidFill>
              </a:rPr>
              <a:t>45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907704" y="498637"/>
            <a:ext cx="6552728" cy="830997"/>
            <a:chOff x="2339752" y="498637"/>
            <a:chExt cx="6552728" cy="830997"/>
          </a:xfrm>
        </p:grpSpPr>
        <p:sp>
          <p:nvSpPr>
            <p:cNvPr id="17" name="矩形 16"/>
            <p:cNvSpPr/>
            <p:nvPr/>
          </p:nvSpPr>
          <p:spPr>
            <a:xfrm>
              <a:off x="3995936" y="498637"/>
              <a:ext cx="4896544" cy="830997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R::print(</a:t>
              </a:r>
              <a:r>
                <a:rPr lang="en-US" altLang="zh-CN" sz="1600" dirty="0">
                  <a:solidFill>
                    <a:srgbClr val="FF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R* this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{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FF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this-&gt;</a:t>
              </a:r>
              <a:r>
                <a:rPr lang="en-US" altLang="zh-CN" sz="1600" dirty="0"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_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r1&lt;&lt;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":"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FF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this-&gt;</a:t>
              </a:r>
              <a:r>
                <a:rPr lang="en-US" altLang="zh-CN" sz="1600" dirty="0"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_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r2&lt;&lt;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21" name="Line 15"/>
            <p:cNvSpPr>
              <a:spLocks noChangeShapeType="1"/>
            </p:cNvSpPr>
            <p:nvPr/>
          </p:nvSpPr>
          <p:spPr bwMode="auto">
            <a:xfrm flipV="1">
              <a:off x="2339752" y="692696"/>
              <a:ext cx="1661840" cy="0"/>
            </a:xfrm>
            <a:prstGeom prst="line">
              <a:avLst/>
            </a:prstGeom>
            <a:noFill/>
            <a:ln w="31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699792" y="1340768"/>
            <a:ext cx="5760640" cy="830997"/>
            <a:chOff x="3198192" y="1556792"/>
            <a:chExt cx="5760640" cy="830997"/>
          </a:xfrm>
        </p:grpSpPr>
        <p:sp>
          <p:nvSpPr>
            <p:cNvPr id="18" name="矩形 17"/>
            <p:cNvSpPr/>
            <p:nvPr/>
          </p:nvSpPr>
          <p:spPr>
            <a:xfrm>
              <a:off x="3995936" y="1556792"/>
              <a:ext cx="4962896" cy="830997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R::print(</a:t>
              </a:r>
              <a:r>
                <a:rPr lang="en-US" altLang="zh-CN" sz="1600" dirty="0">
                  <a:solidFill>
                    <a:srgbClr val="FF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const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FF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R* this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 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{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FF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this-&gt;</a:t>
              </a:r>
              <a:r>
                <a:rPr lang="en-US" altLang="zh-CN" sz="1600" dirty="0"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_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r1&lt;&lt;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";"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FF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this-&gt;</a:t>
              </a:r>
              <a:r>
                <a:rPr lang="en-US" altLang="zh-CN" sz="1600" dirty="0"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_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r2&lt;&lt;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 flipV="1">
              <a:off x="3198192" y="1628800"/>
              <a:ext cx="797744" cy="0"/>
            </a:xfrm>
            <a:prstGeom prst="line">
              <a:avLst/>
            </a:prstGeom>
            <a:noFill/>
            <a:ln w="31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1B21387-822A-B32E-1817-A9E7ECD64B25}"/>
              </a:ext>
            </a:extLst>
          </p:cNvPr>
          <p:cNvGrpSpPr/>
          <p:nvPr/>
        </p:nvGrpSpPr>
        <p:grpSpPr>
          <a:xfrm>
            <a:off x="2699792" y="1756267"/>
            <a:ext cx="5760640" cy="1323145"/>
            <a:chOff x="2699792" y="1756267"/>
            <a:chExt cx="5760640" cy="1323145"/>
          </a:xfrm>
        </p:grpSpPr>
        <p:grpSp>
          <p:nvGrpSpPr>
            <p:cNvPr id="25" name="组合 24"/>
            <p:cNvGrpSpPr/>
            <p:nvPr/>
          </p:nvGrpSpPr>
          <p:grpSpPr>
            <a:xfrm>
              <a:off x="2699792" y="2740858"/>
              <a:ext cx="2808312" cy="338554"/>
              <a:chOff x="2195736" y="3604954"/>
              <a:chExt cx="2808312" cy="338554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3419873" y="3604954"/>
                <a:ext cx="1584175" cy="338554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print(&amp;b);</a:t>
                </a:r>
              </a:p>
            </p:txBody>
          </p:sp>
          <p:sp>
            <p:nvSpPr>
              <p:cNvPr id="24" name="Line 15"/>
              <p:cNvSpPr>
                <a:spLocks noChangeShapeType="1"/>
              </p:cNvSpPr>
              <p:nvPr/>
            </p:nvSpPr>
            <p:spPr bwMode="auto">
              <a:xfrm flipV="1">
                <a:off x="2195736" y="3789040"/>
                <a:ext cx="1224136" cy="0"/>
              </a:xfrm>
              <a:prstGeom prst="line">
                <a:avLst/>
              </a:prstGeom>
              <a:noFill/>
              <a:ln w="31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4" name="连接符: 肘形 3">
              <a:extLst>
                <a:ext uri="{FF2B5EF4-FFF2-40B4-BE49-F238E27FC236}">
                  <a16:creationId xmlns:a16="http://schemas.microsoft.com/office/drawing/2014/main" id="{8A72D418-FA0F-61DE-FBF7-A48AE03E43F3}"/>
                </a:ext>
              </a:extLst>
            </p:cNvPr>
            <p:cNvCxnSpPr>
              <a:cxnSpLocks/>
              <a:stCxn id="20" idx="3"/>
              <a:endCxn id="18" idx="3"/>
            </p:cNvCxnSpPr>
            <p:nvPr/>
          </p:nvCxnSpPr>
          <p:spPr>
            <a:xfrm flipV="1">
              <a:off x="5508104" y="1756267"/>
              <a:ext cx="2952328" cy="1153868"/>
            </a:xfrm>
            <a:prstGeom prst="bentConnector3">
              <a:avLst>
                <a:gd name="adj1" fmla="val 107743"/>
              </a:avLst>
            </a:prstGeom>
            <a:ln w="31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3AD4C03-637E-8AD8-C52B-F0F44F7F0490}"/>
              </a:ext>
            </a:extLst>
          </p:cNvPr>
          <p:cNvGrpSpPr/>
          <p:nvPr/>
        </p:nvGrpSpPr>
        <p:grpSpPr>
          <a:xfrm>
            <a:off x="1979712" y="908720"/>
            <a:ext cx="6552728" cy="1810652"/>
            <a:chOff x="1979712" y="908720"/>
            <a:chExt cx="6552728" cy="1810652"/>
          </a:xfrm>
        </p:grpSpPr>
        <p:grpSp>
          <p:nvGrpSpPr>
            <p:cNvPr id="10" name="组合 9"/>
            <p:cNvGrpSpPr/>
            <p:nvPr/>
          </p:nvGrpSpPr>
          <p:grpSpPr>
            <a:xfrm>
              <a:off x="1979712" y="2380818"/>
              <a:ext cx="3528392" cy="338554"/>
              <a:chOff x="2123728" y="2924944"/>
              <a:chExt cx="3528392" cy="338554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3995936" y="2924944"/>
                <a:ext cx="1656184" cy="338554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print(&amp;a);</a:t>
                </a:r>
              </a:p>
            </p:txBody>
          </p:sp>
          <p:sp>
            <p:nvSpPr>
              <p:cNvPr id="23" name="Line 15"/>
              <p:cNvSpPr>
                <a:spLocks noChangeShapeType="1"/>
              </p:cNvSpPr>
              <p:nvPr/>
            </p:nvSpPr>
            <p:spPr bwMode="auto">
              <a:xfrm flipV="1">
                <a:off x="2123728" y="3140968"/>
                <a:ext cx="1872208" cy="0"/>
              </a:xfrm>
              <a:prstGeom prst="line">
                <a:avLst/>
              </a:prstGeom>
              <a:noFill/>
              <a:ln w="31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15" name="连接符: 肘形 14">
              <a:extLst>
                <a:ext uri="{FF2B5EF4-FFF2-40B4-BE49-F238E27FC236}">
                  <a16:creationId xmlns:a16="http://schemas.microsoft.com/office/drawing/2014/main" id="{1839BC07-A457-A90D-87F5-46ACFDB39B5A}"/>
                </a:ext>
              </a:extLst>
            </p:cNvPr>
            <p:cNvCxnSpPr>
              <a:stCxn id="19" idx="3"/>
              <a:endCxn id="17" idx="3"/>
            </p:cNvCxnSpPr>
            <p:nvPr/>
          </p:nvCxnSpPr>
          <p:spPr>
            <a:xfrm flipV="1">
              <a:off x="5508104" y="908720"/>
              <a:ext cx="3024336" cy="1641375"/>
            </a:xfrm>
            <a:prstGeom prst="bentConnector3">
              <a:avLst>
                <a:gd name="adj1" fmla="val 115212"/>
              </a:avLst>
            </a:prstGeom>
            <a:ln w="31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F8CA7E5F-CB29-A743-BDC3-2F37F2F73C0C}"/>
              </a:ext>
            </a:extLst>
          </p:cNvPr>
          <p:cNvSpPr txBox="1"/>
          <p:nvPr/>
        </p:nvSpPr>
        <p:spPr>
          <a:xfrm>
            <a:off x="6156176" y="3090006"/>
            <a:ext cx="203132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const</a:t>
            </a:r>
            <a:r>
              <a:rPr kumimoji="1" lang="zh-CN" altLang="en-US" dirty="0"/>
              <a:t>可以区分</a:t>
            </a:r>
            <a:endParaRPr kumimoji="1" lang="en-US" altLang="zh-CN" dirty="0"/>
          </a:p>
          <a:p>
            <a:r>
              <a:rPr kumimoji="1" lang="zh-CN" altLang="en-US" dirty="0"/>
              <a:t>不同的函数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做函数重载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类外的重载只能用</a:t>
            </a:r>
            <a:endParaRPr kumimoji="1" lang="en-US" altLang="zh-CN" dirty="0"/>
          </a:p>
          <a:p>
            <a:r>
              <a:rPr kumimoji="1" lang="zh-CN" altLang="en-US" dirty="0"/>
              <a:t>不同的参数表</a:t>
            </a:r>
          </a:p>
        </p:txBody>
      </p:sp>
    </p:spTree>
    <p:extLst>
      <p:ext uri="{BB962C8B-B14F-4D97-AF65-F5344CB8AC3E}">
        <p14:creationId xmlns:p14="http://schemas.microsoft.com/office/powerpoint/2010/main" val="304695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4980" y="764704"/>
            <a:ext cx="5615172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R(</a:t>
            </a:r>
            <a:r>
              <a:rPr lang="pt-BR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pt-BR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r1</a:t>
            </a:r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 </a:t>
            </a:r>
            <a:r>
              <a:rPr lang="pt-BR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pt-BR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r2</a:t>
            </a:r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):_r1(</a:t>
            </a:r>
            <a:r>
              <a:rPr lang="pt-BR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r1</a:t>
            </a:r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), _r2(</a:t>
            </a:r>
            <a:r>
              <a:rPr lang="pt-BR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r2</a:t>
            </a:r>
            <a:r>
              <a:rPr lang="pt-B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 { 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print() 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private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_r1, _r2;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16632"/>
            <a:ext cx="8820472" cy="576064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zh-CN" altLang="en-US" dirty="0"/>
              <a:t>普通（“非常”）对象也能调用常函数</a:t>
            </a:r>
          </a:p>
        </p:txBody>
      </p:sp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53D0793-E877-4E8E-BF94-698868BC2BD7}" type="slidenum">
              <a:rPr lang="en-US" altLang="zh-CN" sz="1400" smtClean="0"/>
              <a:pPr/>
              <a:t>13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323528" y="3068960"/>
            <a:ext cx="5615172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R::print() 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&lt;&lt; _r1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";"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&lt;&lt; _r2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R a(5,4);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a.print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 b(20, 52);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b.print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7067825" y="4118073"/>
            <a:ext cx="1500902" cy="10895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sz="2400" dirty="0">
                <a:solidFill>
                  <a:schemeClr val="bg1"/>
                </a:solidFill>
                <a:latin typeface="宋体" pitchFamily="2" charset="-122"/>
              </a:rPr>
              <a:t>5;4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400" dirty="0">
                <a:solidFill>
                  <a:schemeClr val="bg1"/>
                </a:solidFill>
                <a:latin typeface="宋体" pitchFamily="2" charset="-122"/>
              </a:rPr>
              <a:t>20;52</a:t>
            </a:r>
          </a:p>
          <a:p>
            <a:pPr>
              <a:lnSpc>
                <a:spcPct val="90000"/>
              </a:lnSpc>
              <a:defRPr/>
            </a:pPr>
            <a:endParaRPr lang="en-US" altLang="zh-CN" sz="2400" dirty="0">
              <a:solidFill>
                <a:schemeClr val="bg1"/>
              </a:solidFill>
              <a:latin typeface="宋体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89313" y="5735968"/>
            <a:ext cx="6288901" cy="867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en-US" sz="2800" dirty="0">
                <a:latin typeface="宋体" pitchFamily="2" charset="-122"/>
              </a:rPr>
              <a:t>常对象只能调用常函数</a:t>
            </a:r>
            <a:endParaRPr lang="en-US" altLang="zh-CN" sz="2800" dirty="0">
              <a:latin typeface="宋体" pitchFamily="2" charset="-122"/>
            </a:endParaRPr>
          </a:p>
          <a:p>
            <a:pPr>
              <a:lnSpc>
                <a:spcPct val="90000"/>
              </a:lnSpc>
              <a:defRPr/>
            </a:pPr>
            <a:r>
              <a:rPr lang="zh-CN" altLang="en-US" sz="2800" dirty="0"/>
              <a:t>普通（“非常”）对象也能调用常函数</a:t>
            </a:r>
            <a:endParaRPr lang="en-US" altLang="zh-CN" sz="2800" dirty="0">
              <a:latin typeface="宋体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281951" y="2996952"/>
            <a:ext cx="5898561" cy="1152128"/>
            <a:chOff x="1337735" y="2852936"/>
            <a:chExt cx="5898561" cy="1152128"/>
          </a:xfrm>
        </p:grpSpPr>
        <p:sp>
          <p:nvSpPr>
            <p:cNvPr id="11" name="矩形 10"/>
            <p:cNvSpPr/>
            <p:nvPr/>
          </p:nvSpPr>
          <p:spPr>
            <a:xfrm>
              <a:off x="3666088" y="2852936"/>
              <a:ext cx="3570208" cy="424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zh-CN" altLang="zh-CN" sz="2400" dirty="0">
                  <a:latin typeface="宋体" pitchFamily="2" charset="-122"/>
                </a:rPr>
                <a:t>调用</a:t>
              </a:r>
              <a:r>
                <a:rPr lang="en-US" altLang="zh-CN" sz="2400" dirty="0">
                  <a:latin typeface="宋体" pitchFamily="2" charset="-122"/>
                </a:rPr>
                <a:t>void print() </a:t>
              </a:r>
              <a:r>
                <a:rPr lang="en-US" altLang="zh-CN" sz="2400" dirty="0" err="1">
                  <a:latin typeface="宋体" pitchFamily="2" charset="-122"/>
                </a:rPr>
                <a:t>const</a:t>
              </a:r>
              <a:endParaRPr lang="en-US" altLang="zh-CN" sz="2400" dirty="0">
                <a:latin typeface="宋体" pitchFamily="2" charset="-122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1337735" y="3065302"/>
              <a:ext cx="232835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V="1">
              <a:off x="1337735" y="3065302"/>
              <a:ext cx="2328353" cy="93976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339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1956" y="493684"/>
            <a:ext cx="3377916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R::print()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&lt;&lt;_r1&lt;&lt;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";"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&lt;&lt;_r2&lt;&lt;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R a(5, 4);</a:t>
            </a:r>
          </a:p>
          <a:p>
            <a:pPr marL="441325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a.print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();</a:t>
            </a:r>
          </a:p>
          <a:p>
            <a:pPr marL="441325"/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 b(20, 52);</a:t>
            </a:r>
          </a:p>
          <a:p>
            <a:pPr marL="441325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b.print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();</a:t>
            </a:r>
          </a:p>
          <a:p>
            <a:pPr marL="441325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9155" name="Text Box 5"/>
          <p:cNvSpPr txBox="1">
            <a:spLocks noChangeArrowheads="1"/>
          </p:cNvSpPr>
          <p:nvPr/>
        </p:nvSpPr>
        <p:spPr bwMode="auto">
          <a:xfrm>
            <a:off x="8610600" y="64770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prstClr val="black"/>
                </a:solidFill>
              </a:rPr>
              <a:t>45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699792" y="580619"/>
            <a:ext cx="5760640" cy="830997"/>
            <a:chOff x="3198192" y="1556792"/>
            <a:chExt cx="5760640" cy="830997"/>
          </a:xfrm>
        </p:grpSpPr>
        <p:sp>
          <p:nvSpPr>
            <p:cNvPr id="18" name="矩形 17"/>
            <p:cNvSpPr/>
            <p:nvPr/>
          </p:nvSpPr>
          <p:spPr>
            <a:xfrm>
              <a:off x="3995936" y="1556792"/>
              <a:ext cx="4962896" cy="830997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R::print(</a:t>
              </a:r>
              <a:r>
                <a:rPr lang="en-US" altLang="zh-CN" sz="1600" dirty="0">
                  <a:solidFill>
                    <a:srgbClr val="FF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const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FF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R* this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 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{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FF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this-&gt;</a:t>
              </a:r>
              <a:r>
                <a:rPr lang="en-US" altLang="zh-CN" sz="1600" dirty="0"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_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r1&lt;&lt;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";"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FF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this-&gt;</a:t>
              </a:r>
              <a:r>
                <a:rPr lang="en-US" altLang="zh-CN" sz="1600" dirty="0"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_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r2&lt;&lt;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 flipV="1">
              <a:off x="3198192" y="1628800"/>
              <a:ext cx="797744" cy="0"/>
            </a:xfrm>
            <a:prstGeom prst="line">
              <a:avLst/>
            </a:prstGeom>
            <a:noFill/>
            <a:ln w="31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1B21387-822A-B32E-1817-A9E7ECD64B25}"/>
              </a:ext>
            </a:extLst>
          </p:cNvPr>
          <p:cNvGrpSpPr/>
          <p:nvPr/>
        </p:nvGrpSpPr>
        <p:grpSpPr>
          <a:xfrm>
            <a:off x="2627784" y="811571"/>
            <a:ext cx="5832648" cy="1507421"/>
            <a:chOff x="2627784" y="996118"/>
            <a:chExt cx="5832648" cy="1322874"/>
          </a:xfrm>
        </p:grpSpPr>
        <p:grpSp>
          <p:nvGrpSpPr>
            <p:cNvPr id="25" name="组合 24"/>
            <p:cNvGrpSpPr/>
            <p:nvPr/>
          </p:nvGrpSpPr>
          <p:grpSpPr>
            <a:xfrm>
              <a:off x="2627784" y="1980438"/>
              <a:ext cx="2808311" cy="338554"/>
              <a:chOff x="2123728" y="2844534"/>
              <a:chExt cx="2808311" cy="338554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3347864" y="2844534"/>
                <a:ext cx="1584175" cy="338554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print(&amp;b);</a:t>
                </a:r>
              </a:p>
            </p:txBody>
          </p:sp>
          <p:sp>
            <p:nvSpPr>
              <p:cNvPr id="24" name="Line 15"/>
              <p:cNvSpPr>
                <a:spLocks noChangeShapeType="1"/>
              </p:cNvSpPr>
              <p:nvPr/>
            </p:nvSpPr>
            <p:spPr bwMode="auto">
              <a:xfrm flipV="1">
                <a:off x="2123728" y="3059803"/>
                <a:ext cx="1224136" cy="0"/>
              </a:xfrm>
              <a:prstGeom prst="line">
                <a:avLst/>
              </a:prstGeom>
              <a:noFill/>
              <a:ln w="31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4" name="连接符: 肘形 3">
              <a:extLst>
                <a:ext uri="{FF2B5EF4-FFF2-40B4-BE49-F238E27FC236}">
                  <a16:creationId xmlns:a16="http://schemas.microsoft.com/office/drawing/2014/main" id="{8A72D418-FA0F-61DE-FBF7-A48AE03E43F3}"/>
                </a:ext>
              </a:extLst>
            </p:cNvPr>
            <p:cNvCxnSpPr>
              <a:cxnSpLocks/>
              <a:stCxn id="20" idx="3"/>
              <a:endCxn id="18" idx="3"/>
            </p:cNvCxnSpPr>
            <p:nvPr/>
          </p:nvCxnSpPr>
          <p:spPr>
            <a:xfrm flipV="1">
              <a:off x="5436095" y="996118"/>
              <a:ext cx="3024337" cy="1153597"/>
            </a:xfrm>
            <a:prstGeom prst="bentConnector3">
              <a:avLst>
                <a:gd name="adj1" fmla="val 115562"/>
              </a:avLst>
            </a:prstGeom>
            <a:ln w="31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3AD4C03-637E-8AD8-C52B-F0F44F7F0490}"/>
              </a:ext>
            </a:extLst>
          </p:cNvPr>
          <p:cNvGrpSpPr/>
          <p:nvPr/>
        </p:nvGrpSpPr>
        <p:grpSpPr>
          <a:xfrm>
            <a:off x="1658138" y="996118"/>
            <a:ext cx="6802294" cy="942670"/>
            <a:chOff x="1898842" y="1735052"/>
            <a:chExt cx="6802294" cy="942670"/>
          </a:xfrm>
        </p:grpSpPr>
        <p:grpSp>
          <p:nvGrpSpPr>
            <p:cNvPr id="10" name="组合 9"/>
            <p:cNvGrpSpPr/>
            <p:nvPr/>
          </p:nvGrpSpPr>
          <p:grpSpPr>
            <a:xfrm>
              <a:off x="1898842" y="2339168"/>
              <a:ext cx="3528392" cy="338554"/>
              <a:chOff x="2042858" y="2883294"/>
              <a:chExt cx="3528392" cy="338554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3915066" y="2883294"/>
                <a:ext cx="1656184" cy="338554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宋体"/>
                    <a:cs typeface="Consolas" panose="020B0609020204030204" pitchFamily="49" charset="0"/>
                  </a:rPr>
                  <a:t>print(&amp;a);</a:t>
                </a:r>
              </a:p>
            </p:txBody>
          </p:sp>
          <p:sp>
            <p:nvSpPr>
              <p:cNvPr id="23" name="Line 15"/>
              <p:cNvSpPr>
                <a:spLocks noChangeShapeType="1"/>
              </p:cNvSpPr>
              <p:nvPr/>
            </p:nvSpPr>
            <p:spPr bwMode="auto">
              <a:xfrm flipV="1">
                <a:off x="2042858" y="3099318"/>
                <a:ext cx="1872208" cy="0"/>
              </a:xfrm>
              <a:prstGeom prst="line">
                <a:avLst/>
              </a:prstGeom>
              <a:noFill/>
              <a:ln w="31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15" name="连接符: 肘形 14">
              <a:extLst>
                <a:ext uri="{FF2B5EF4-FFF2-40B4-BE49-F238E27FC236}">
                  <a16:creationId xmlns:a16="http://schemas.microsoft.com/office/drawing/2014/main" id="{1839BC07-A457-A90D-87F5-46ACFDB39B5A}"/>
                </a:ext>
              </a:extLst>
            </p:cNvPr>
            <p:cNvCxnSpPr>
              <a:cxnSpLocks/>
              <a:stCxn id="19" idx="3"/>
              <a:endCxn id="18" idx="3"/>
            </p:cNvCxnSpPr>
            <p:nvPr/>
          </p:nvCxnSpPr>
          <p:spPr>
            <a:xfrm flipV="1">
              <a:off x="5427234" y="1735052"/>
              <a:ext cx="3273902" cy="773393"/>
            </a:xfrm>
            <a:prstGeom prst="bentConnector3">
              <a:avLst>
                <a:gd name="adj1" fmla="val 106982"/>
              </a:avLst>
            </a:prstGeom>
            <a:ln w="31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66EBE8A-44D5-5049-A97B-4930FD2D0217}"/>
              </a:ext>
            </a:extLst>
          </p:cNvPr>
          <p:cNvSpPr txBox="1"/>
          <p:nvPr/>
        </p:nvSpPr>
        <p:spPr>
          <a:xfrm>
            <a:off x="3497536" y="2517445"/>
            <a:ext cx="5113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普通对象没找到</a:t>
            </a:r>
            <a:r>
              <a:rPr kumimoji="1" lang="en-US" altLang="zh-CN" dirty="0"/>
              <a:t>R* this</a:t>
            </a:r>
          </a:p>
          <a:p>
            <a:r>
              <a:rPr kumimoji="1" lang="zh-CN" altLang="en-US" dirty="0"/>
              <a:t>所以就将正常量</a:t>
            </a:r>
            <a:r>
              <a:rPr kumimoji="1" lang="en-US" altLang="zh-CN" dirty="0"/>
              <a:t>&amp;a</a:t>
            </a:r>
            <a:r>
              <a:rPr kumimoji="1" lang="zh-CN" altLang="en-US" dirty="0"/>
              <a:t>作为常量传进去</a:t>
            </a:r>
          </a:p>
        </p:txBody>
      </p:sp>
    </p:spTree>
    <p:extLst>
      <p:ext uri="{BB962C8B-B14F-4D97-AF65-F5344CB8AC3E}">
        <p14:creationId xmlns:p14="http://schemas.microsoft.com/office/powerpoint/2010/main" val="95601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499992" y="4373421"/>
            <a:ext cx="4352777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Fraction::Show() </a:t>
            </a:r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n = _num / GCD();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d = _den / GCD();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&lt;&lt; n &lt;&lt; ‘ / ’ &lt;&lt; d;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16404" y="4365104"/>
            <a:ext cx="4239572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Fraction::Show() </a:t>
            </a:r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Standardize();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&lt;&lt;_num&lt;&lt;‘/’&lt;&lt;_den;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619944" y="1119245"/>
            <a:ext cx="6328320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			</a:t>
            </a:r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分数类 </a:t>
            </a:r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_num, _den;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pPr marL="536575"/>
            <a:r>
              <a:rPr lang="fr-FR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Fraction(</a:t>
            </a:r>
            <a:r>
              <a:rPr lang="fr-FR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fr-FR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n</a:t>
            </a:r>
            <a:r>
              <a:rPr lang="fr-FR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0, </a:t>
            </a:r>
            <a:r>
              <a:rPr lang="fr-FR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fr-FR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d</a:t>
            </a:r>
            <a:r>
              <a:rPr lang="fr-FR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1);</a:t>
            </a:r>
          </a:p>
          <a:p>
            <a:pPr marL="536575"/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GCD() </a:t>
            </a:r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536575"/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Standardize();</a:t>
            </a:r>
          </a:p>
          <a:p>
            <a:pPr marL="536575"/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Show() </a:t>
            </a:r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717376" y="188640"/>
            <a:ext cx="7959080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常成员函数只能调用常成员函数</a:t>
            </a:r>
          </a:p>
        </p:txBody>
      </p:sp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F3648C6-FBB0-4D0E-AF6A-DC740C9DAF69}" type="slidenum">
              <a:rPr lang="en-US" altLang="zh-CN" sz="1400" smtClean="0"/>
              <a:pPr/>
              <a:t>15</a:t>
            </a:fld>
            <a:endParaRPr lang="en-US" altLang="zh-CN" sz="1400"/>
          </a:p>
        </p:txBody>
      </p:sp>
      <p:sp>
        <p:nvSpPr>
          <p:cNvPr id="8" name="乘号 7"/>
          <p:cNvSpPr/>
          <p:nvPr/>
        </p:nvSpPr>
        <p:spPr>
          <a:xfrm>
            <a:off x="3068732" y="4581128"/>
            <a:ext cx="513277" cy="648072"/>
          </a:xfrm>
          <a:prstGeom prst="mathMultiply">
            <a:avLst>
              <a:gd name="adj1" fmla="val 1461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7956376" y="4725144"/>
            <a:ext cx="611560" cy="515466"/>
            <a:chOff x="6280191" y="2780928"/>
            <a:chExt cx="416045" cy="288032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6280191" y="2924944"/>
              <a:ext cx="108012" cy="14401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6372200" y="2780928"/>
              <a:ext cx="324036" cy="28803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圆角矩形 14"/>
          <p:cNvSpPr/>
          <p:nvPr/>
        </p:nvSpPr>
        <p:spPr>
          <a:xfrm>
            <a:off x="1187624" y="2636912"/>
            <a:ext cx="2808312" cy="4320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1187624" y="3356992"/>
            <a:ext cx="3096344" cy="4320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7F00B0-02A1-A279-E4FC-689053088790}"/>
              </a:ext>
            </a:extLst>
          </p:cNvPr>
          <p:cNvSpPr txBox="1"/>
          <p:nvPr/>
        </p:nvSpPr>
        <p:spPr>
          <a:xfrm>
            <a:off x="4728165" y="2636912"/>
            <a:ext cx="2652147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分子分母的最大公约数</a:t>
            </a:r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5065DC-3CCE-7D15-9565-F1025570860C}"/>
              </a:ext>
            </a:extLst>
          </p:cNvPr>
          <p:cNvSpPr txBox="1"/>
          <p:nvPr/>
        </p:nvSpPr>
        <p:spPr>
          <a:xfrm>
            <a:off x="4728165" y="2996952"/>
            <a:ext cx="1428011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化简</a:t>
            </a:r>
            <a:endParaRPr lang="zh-CN" altLang="en-US" sz="1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2E34D9-1545-7D43-A9C5-F2EB78A9A72F}"/>
              </a:ext>
            </a:extLst>
          </p:cNvPr>
          <p:cNvSpPr txBox="1"/>
          <p:nvPr/>
        </p:nvSpPr>
        <p:spPr>
          <a:xfrm>
            <a:off x="1763688" y="6093296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Const</a:t>
            </a:r>
            <a:r>
              <a:rPr kumimoji="1" lang="zh-CN" altLang="en-US" dirty="0"/>
              <a:t>里面只能调用</a:t>
            </a:r>
            <a:r>
              <a:rPr kumimoji="1" lang="en-US" altLang="zh-CN" dirty="0"/>
              <a:t>const</a:t>
            </a:r>
            <a:r>
              <a:rPr kumimoji="1" lang="zh-CN" altLang="en-US" dirty="0"/>
              <a:t>函数，如</a:t>
            </a:r>
            <a:r>
              <a:rPr kumimoji="1" lang="en-US" altLang="zh-CN" dirty="0" err="1"/>
              <a:t>gcd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338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8" grpId="0" animBg="1"/>
      <p:bldP spid="15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188640"/>
            <a:ext cx="7239000" cy="990600"/>
          </a:xfrm>
        </p:spPr>
        <p:txBody>
          <a:bodyPr/>
          <a:lstStyle/>
          <a:p>
            <a:pPr eaLnBrk="1" hangingPunct="1"/>
            <a:r>
              <a:rPr lang="zh-CN" altLang="en-US" dirty="0"/>
              <a:t>常引用作形参 </a:t>
            </a:r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&amp;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22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79839063-5543-4DA6-9E7E-CDC57FB32269}" type="slidenum">
              <a:rPr lang="en-US" altLang="zh-CN" sz="1400" smtClean="0">
                <a:solidFill>
                  <a:prstClr val="black"/>
                </a:solidFill>
              </a:rPr>
              <a:pPr/>
              <a:t>16</a:t>
            </a:fld>
            <a:endParaRPr lang="en-US" altLang="zh-CN" sz="1400">
              <a:solidFill>
                <a:prstClr val="black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5496" y="1268760"/>
            <a:ext cx="9001000" cy="4800600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3200" dirty="0">
                <a:latin typeface="宋体" charset="-122"/>
              </a:rPr>
              <a:t>格式</a:t>
            </a:r>
            <a:endParaRPr lang="en-US" altLang="zh-CN" sz="3200" dirty="0">
              <a:latin typeface="宋体" charset="-122"/>
            </a:endParaRPr>
          </a:p>
          <a:p>
            <a:pPr marL="457200" lvl="1" indent="0">
              <a:buNone/>
            </a:pPr>
            <a:r>
              <a:rPr lang="en-US" altLang="zh-CN" sz="3200" dirty="0">
                <a:solidFill>
                  <a:srgbClr val="FF0000"/>
                </a:solidFill>
                <a:latin typeface="宋体" charset="-122"/>
              </a:rPr>
              <a:t>	</a:t>
            </a:r>
            <a:r>
              <a:rPr lang="zh-CN" altLang="en-US" sz="3200" dirty="0">
                <a:solidFill>
                  <a:srgbClr val="FF0000"/>
                </a:solidFill>
                <a:latin typeface="宋体" charset="-122"/>
              </a:rPr>
              <a:t>类型说明符  函数名（</a:t>
            </a:r>
            <a:r>
              <a:rPr lang="en-US" altLang="zh-CN" sz="3200" dirty="0" err="1">
                <a:solidFill>
                  <a:srgbClr val="FF0000"/>
                </a:solidFill>
                <a:latin typeface="宋体" charset="-122"/>
              </a:rPr>
              <a:t>const</a:t>
            </a:r>
            <a:r>
              <a:rPr lang="en-US" altLang="zh-CN" sz="3200" dirty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3200" dirty="0">
                <a:solidFill>
                  <a:srgbClr val="FF0000"/>
                </a:solidFill>
                <a:latin typeface="宋体" charset="-122"/>
              </a:rPr>
              <a:t>类型</a:t>
            </a:r>
            <a:r>
              <a:rPr lang="en-US" altLang="zh-CN" sz="3200" dirty="0">
                <a:solidFill>
                  <a:srgbClr val="FF0000"/>
                </a:solidFill>
                <a:latin typeface="宋体" charset="-122"/>
              </a:rPr>
              <a:t>&amp;</a:t>
            </a:r>
            <a:r>
              <a:rPr lang="zh-CN" altLang="en-US" sz="3200" dirty="0">
                <a:solidFill>
                  <a:srgbClr val="FF0000"/>
                </a:solidFill>
                <a:latin typeface="宋体" charset="-122"/>
              </a:rPr>
              <a:t>）</a:t>
            </a:r>
            <a:r>
              <a:rPr lang="en-US" altLang="zh-CN" sz="3200" dirty="0">
                <a:solidFill>
                  <a:srgbClr val="FF0000"/>
                </a:solidFill>
                <a:latin typeface="宋体" charset="-122"/>
              </a:rPr>
              <a:t>;</a:t>
            </a:r>
            <a:endParaRPr lang="zh-CN" altLang="en-US" sz="3200" dirty="0">
              <a:latin typeface="宋体" charset="-122"/>
            </a:endParaRPr>
          </a:p>
          <a:p>
            <a:pPr lvl="1"/>
            <a:r>
              <a:rPr lang="zh-CN" altLang="en-US" sz="3200" dirty="0">
                <a:latin typeface="宋体" charset="-122"/>
              </a:rPr>
              <a:t>作用：</a:t>
            </a:r>
            <a:endParaRPr lang="en-US" altLang="zh-CN" sz="3200" dirty="0">
              <a:latin typeface="宋体" charset="-122"/>
            </a:endParaRPr>
          </a:p>
          <a:p>
            <a:pPr lvl="2"/>
            <a:r>
              <a:rPr lang="zh-CN" altLang="en-US" sz="3200" dirty="0">
                <a:latin typeface="宋体" charset="-122"/>
              </a:rPr>
              <a:t>提升函数调用时传参的效率</a:t>
            </a:r>
            <a:r>
              <a:rPr lang="en-US" altLang="zh-CN" sz="3200" dirty="0">
                <a:latin typeface="宋体" charset="-122"/>
              </a:rPr>
              <a:t>——</a:t>
            </a:r>
            <a:r>
              <a:rPr lang="zh-CN" altLang="en-US" sz="3200" dirty="0">
                <a:latin typeface="宋体" charset="-122"/>
              </a:rPr>
              <a:t>传引用</a:t>
            </a:r>
            <a:r>
              <a:rPr lang="en-US" altLang="zh-CN" sz="3200" dirty="0">
                <a:latin typeface="宋体" charset="-122"/>
              </a:rPr>
              <a:t>&amp;</a:t>
            </a:r>
          </a:p>
          <a:p>
            <a:pPr lvl="2"/>
            <a:r>
              <a:rPr lang="zh-CN" altLang="en-US" sz="3200" dirty="0">
                <a:latin typeface="宋体" charset="-122"/>
              </a:rPr>
              <a:t>不允许函数改变实参</a:t>
            </a:r>
            <a:r>
              <a:rPr lang="en-US" altLang="zh-CN" sz="3200" dirty="0">
                <a:latin typeface="宋体" charset="-122"/>
              </a:rPr>
              <a:t>——</a:t>
            </a:r>
            <a:r>
              <a:rPr lang="zh-CN" altLang="en-US" sz="3200" dirty="0">
                <a:latin typeface="宋体" charset="-122"/>
              </a:rPr>
              <a:t>保护实参</a:t>
            </a:r>
            <a:endParaRPr lang="en-US" altLang="zh-CN" sz="3200" dirty="0">
              <a:latin typeface="宋体" charset="-122"/>
            </a:endParaRPr>
          </a:p>
          <a:p>
            <a:pPr lvl="2"/>
            <a:r>
              <a:rPr lang="zh-CN" altLang="en-US" sz="3200" dirty="0">
                <a:latin typeface="宋体" charset="-122"/>
              </a:rPr>
              <a:t>传引用避免了复制，节省了时间，保证了正确性。</a:t>
            </a:r>
          </a:p>
        </p:txBody>
      </p:sp>
    </p:spTree>
    <p:extLst>
      <p:ext uri="{BB962C8B-B14F-4D97-AF65-F5344CB8AC3E}">
        <p14:creationId xmlns:p14="http://schemas.microsoft.com/office/powerpoint/2010/main" val="1586649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268760"/>
            <a:ext cx="9108504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</a:t>
            </a:r>
            <a:r>
              <a:rPr lang="en-US" altLang="zh-CN" sz="24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iostream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&gt;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</a:t>
            </a:r>
            <a:r>
              <a:rPr lang="en-US" altLang="zh-CN" sz="24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cmath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&gt;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using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namespace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std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Point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pPr marL="441325"/>
            <a:r>
              <a:rPr lang="fr-FR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Point(</a:t>
            </a:r>
            <a:r>
              <a:rPr lang="fr-FR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fr-FR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x=</a:t>
            </a:r>
            <a:r>
              <a:rPr lang="fr-FR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0 </a:t>
            </a:r>
            <a:r>
              <a:rPr lang="fr-FR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fr-FR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y=0) : _x(</a:t>
            </a:r>
            <a:r>
              <a:rPr lang="fr-FR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x</a:t>
            </a:r>
            <a:r>
              <a:rPr lang="fr-FR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), _y(y) { }</a:t>
            </a:r>
          </a:p>
          <a:p>
            <a:pPr marL="441325"/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getX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() 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_x; }</a:t>
            </a:r>
          </a:p>
          <a:p>
            <a:pPr marL="441325"/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getY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() 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{ 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_y; }</a:t>
            </a:r>
          </a:p>
          <a:p>
            <a:pPr marL="441325"/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friend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float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dist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</a:t>
            </a:r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Point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p1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Point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p2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);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private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pPr marL="441325"/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_x, _y;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188640"/>
            <a:ext cx="7239000" cy="990600"/>
          </a:xfrm>
        </p:spPr>
        <p:txBody>
          <a:bodyPr/>
          <a:lstStyle/>
          <a:p>
            <a:pPr eaLnBrk="1" hangingPunct="1"/>
            <a:r>
              <a:rPr lang="zh-CN" altLang="en-US" dirty="0"/>
              <a:t>常引用作形参 </a:t>
            </a:r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&amp;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22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79839063-5543-4DA6-9E7E-CDC57FB32269}" type="slidenum">
              <a:rPr lang="en-US" altLang="zh-CN" sz="1400" smtClean="0"/>
              <a:pPr/>
              <a:t>17</a:t>
            </a:fld>
            <a:endParaRPr lang="en-US" altLang="zh-CN" sz="1400"/>
          </a:p>
        </p:txBody>
      </p:sp>
      <p:sp>
        <p:nvSpPr>
          <p:cNvPr id="2" name="圆角矩形 1"/>
          <p:cNvSpPr/>
          <p:nvPr/>
        </p:nvSpPr>
        <p:spPr>
          <a:xfrm>
            <a:off x="3563888" y="4221088"/>
            <a:ext cx="2016224" cy="4320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228184" y="4221088"/>
            <a:ext cx="2016224" cy="4320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82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395536" y="1578272"/>
            <a:ext cx="8640960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float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dist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</a:t>
            </a:r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Point&amp; 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p1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 </a:t>
            </a:r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Point&amp; 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p2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double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x = 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p1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._x - 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p2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._x;</a:t>
            </a:r>
          </a:p>
          <a:p>
            <a:pPr marL="361950"/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double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y = 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p1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._y - 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p2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._y;</a:t>
            </a:r>
          </a:p>
          <a:p>
            <a:pPr marL="361950"/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static_cast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float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&gt;(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sqrt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(x * x + y * y));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  <a:p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main()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Point myp1(1, 1), myp2(4, 5);</a:t>
            </a:r>
          </a:p>
          <a:p>
            <a:pPr marL="361950"/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&lt;&lt;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"The distance is: "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361950"/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&lt;&lt; 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dist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(myp1, myp2) &lt;&lt; 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361950"/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0;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常引用作形参</a:t>
            </a:r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DED3BB5-555D-4F24-AF52-3C950044F60C}" type="slidenum">
              <a:rPr lang="en-US" altLang="zh-CN" sz="1400" smtClean="0"/>
              <a:pPr/>
              <a:t>18</a:t>
            </a:fld>
            <a:endParaRPr lang="en-US" altLang="zh-CN" sz="1400"/>
          </a:p>
        </p:txBody>
      </p:sp>
      <p:grpSp>
        <p:nvGrpSpPr>
          <p:cNvPr id="5" name="组合 4"/>
          <p:cNvGrpSpPr/>
          <p:nvPr/>
        </p:nvGrpSpPr>
        <p:grpSpPr>
          <a:xfrm>
            <a:off x="2915816" y="961564"/>
            <a:ext cx="5570756" cy="1387316"/>
            <a:chOff x="3923928" y="548680"/>
            <a:chExt cx="5570756" cy="1387316"/>
          </a:xfrm>
        </p:grpSpPr>
        <p:sp>
          <p:nvSpPr>
            <p:cNvPr id="6" name="矩形 5"/>
            <p:cNvSpPr/>
            <p:nvPr/>
          </p:nvSpPr>
          <p:spPr>
            <a:xfrm>
              <a:off x="3923928" y="548680"/>
              <a:ext cx="5570756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宋体" charset="-122"/>
                </a:rPr>
                <a:t>在</a:t>
              </a:r>
              <a:r>
                <a:rPr lang="en-US" altLang="zh-CN" sz="2800" dirty="0" err="1">
                  <a:latin typeface="宋体" charset="-122"/>
                </a:rPr>
                <a:t>dist</a:t>
              </a:r>
              <a:r>
                <a:rPr lang="zh-CN" altLang="en-US" sz="2800" dirty="0">
                  <a:latin typeface="宋体" charset="-122"/>
                </a:rPr>
                <a:t>函数中，</a:t>
              </a:r>
              <a:r>
                <a:rPr lang="en-US" altLang="zh-CN" sz="2800" dirty="0">
                  <a:latin typeface="宋体" charset="-122"/>
                </a:rPr>
                <a:t>p1</a:t>
              </a:r>
              <a:r>
                <a:rPr lang="zh-CN" altLang="en-US" sz="2800" dirty="0">
                  <a:latin typeface="宋体" charset="-122"/>
                </a:rPr>
                <a:t>、</a:t>
              </a:r>
              <a:r>
                <a:rPr lang="en-US" altLang="zh-CN" sz="2800" dirty="0">
                  <a:latin typeface="宋体" charset="-122"/>
                </a:rPr>
                <a:t>p2</a:t>
              </a:r>
              <a:r>
                <a:rPr lang="zh-CN" altLang="en-US" sz="2800" dirty="0">
                  <a:latin typeface="宋体" charset="-122"/>
                </a:rPr>
                <a:t>不会被改变</a:t>
              </a:r>
            </a:p>
          </p:txBody>
        </p:sp>
        <p:cxnSp>
          <p:nvCxnSpPr>
            <p:cNvPr id="7" name="直接箭头连接符 6"/>
            <p:cNvCxnSpPr/>
            <p:nvPr/>
          </p:nvCxnSpPr>
          <p:spPr>
            <a:xfrm flipH="1">
              <a:off x="5868144" y="1071900"/>
              <a:ext cx="1296144" cy="864096"/>
            </a:xfrm>
            <a:prstGeom prst="straightConnector1">
              <a:avLst/>
            </a:prstGeom>
            <a:ln w="38100">
              <a:solidFill>
                <a:schemeClr val="accent5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2627784" y="4865089"/>
            <a:ext cx="4852610" cy="1822274"/>
            <a:chOff x="3923928" y="-372331"/>
            <a:chExt cx="4852610" cy="1822274"/>
          </a:xfrm>
        </p:grpSpPr>
        <p:sp>
          <p:nvSpPr>
            <p:cNvPr id="14" name="矩形 13"/>
            <p:cNvSpPr/>
            <p:nvPr/>
          </p:nvSpPr>
          <p:spPr>
            <a:xfrm>
              <a:off x="3923928" y="495836"/>
              <a:ext cx="4852610" cy="9541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宋体" charset="-122"/>
                </a:rPr>
                <a:t>在</a:t>
              </a:r>
              <a:r>
                <a:rPr lang="en-US" altLang="zh-CN" sz="2800" dirty="0" err="1">
                  <a:latin typeface="宋体" charset="-122"/>
                </a:rPr>
                <a:t>dist</a:t>
              </a:r>
              <a:r>
                <a:rPr lang="zh-CN" altLang="en-US" sz="2800" dirty="0">
                  <a:latin typeface="宋体" charset="-122"/>
                </a:rPr>
                <a:t>函数中，常引用作形参</a:t>
              </a:r>
              <a:endParaRPr lang="en-US" altLang="zh-CN" sz="2800" dirty="0">
                <a:latin typeface="宋体" charset="-122"/>
              </a:endParaRPr>
            </a:p>
            <a:p>
              <a:r>
                <a:rPr lang="zh-CN" altLang="en-US" sz="2800" dirty="0">
                  <a:latin typeface="宋体" charset="-122"/>
                </a:rPr>
                <a:t>实际保护了实参</a:t>
              </a:r>
              <a:r>
                <a:rPr lang="en-US" altLang="zh-CN" sz="2800" dirty="0">
                  <a:latin typeface="宋体" charset="-122"/>
                </a:rPr>
                <a:t>myp1</a:t>
              </a:r>
              <a:r>
                <a:rPr lang="zh-CN" altLang="en-US" sz="2800" dirty="0">
                  <a:latin typeface="宋体" charset="-122"/>
                </a:rPr>
                <a:t>、</a:t>
              </a:r>
              <a:r>
                <a:rPr lang="en-US" altLang="zh-CN" sz="2800" dirty="0">
                  <a:latin typeface="宋体" charset="-122"/>
                </a:rPr>
                <a:t>myp2</a:t>
              </a:r>
              <a:endParaRPr lang="zh-CN" altLang="en-US" sz="2800" dirty="0">
                <a:latin typeface="宋体" charset="-122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 flipV="1">
              <a:off x="4932040" y="-372331"/>
              <a:ext cx="0" cy="868167"/>
            </a:xfrm>
            <a:prstGeom prst="straightConnector1">
              <a:avLst/>
            </a:prstGeom>
            <a:ln w="38100">
              <a:solidFill>
                <a:schemeClr val="accent5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5701194" y="1994035"/>
            <a:ext cx="3203848" cy="82484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defRPr/>
            </a:pPr>
            <a:r>
              <a:rPr lang="en-US" altLang="zh-CN" sz="2800" dirty="0">
                <a:latin typeface="宋体" pitchFamily="2" charset="-122"/>
              </a:rPr>
              <a:t>p1.x = 100;   </a:t>
            </a:r>
          </a:p>
          <a:p>
            <a:pPr>
              <a:lnSpc>
                <a:spcPct val="85000"/>
              </a:lnSpc>
              <a:defRPr/>
            </a:pPr>
            <a:r>
              <a:rPr lang="en-US" altLang="zh-CN" sz="2800" dirty="0">
                <a:latin typeface="宋体" pitchFamily="2" charset="-122"/>
              </a:rPr>
              <a:t>p1.Set(100,200);</a:t>
            </a:r>
          </a:p>
        </p:txBody>
      </p:sp>
      <p:sp>
        <p:nvSpPr>
          <p:cNvPr id="4" name="乘号 3"/>
          <p:cNvSpPr/>
          <p:nvPr/>
        </p:nvSpPr>
        <p:spPr>
          <a:xfrm>
            <a:off x="8486572" y="1988840"/>
            <a:ext cx="549924" cy="648072"/>
          </a:xfrm>
          <a:prstGeom prst="mathMultiply">
            <a:avLst>
              <a:gd name="adj1" fmla="val 966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21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0131" y="548680"/>
            <a:ext cx="8736365" cy="646330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		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分数类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_num, _den;</a:t>
            </a:r>
          </a:p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Fraction(</a:t>
            </a:r>
            <a:r>
              <a:rPr lang="fr-FR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n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0, </a:t>
            </a:r>
            <a:r>
              <a:rPr lang="fr-FR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d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1);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Add(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friend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Sub(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);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Standardize();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……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::Add(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result;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result._num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_num * </a:t>
            </a:r>
            <a:r>
              <a:rPr lang="en-US" altLang="zh-CN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._den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+ _den * </a:t>
            </a:r>
            <a:r>
              <a:rPr lang="en-US" altLang="zh-CN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._num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result._den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_den * </a:t>
            </a:r>
            <a:r>
              <a:rPr lang="en-US" altLang="zh-CN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._den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result.Standardize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result;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Sub(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result;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result._num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._num *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._den -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._den *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._num;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result._den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._den *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._den;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result.Standardize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result;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43408"/>
            <a:ext cx="9036496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/>
              <a:t>const</a:t>
            </a:r>
            <a:r>
              <a:rPr lang="zh-CN" altLang="en-US" dirty="0"/>
              <a:t>成员函数和</a:t>
            </a:r>
            <a:r>
              <a:rPr lang="en-US" altLang="zh-CN" dirty="0" err="1"/>
              <a:t>const</a:t>
            </a:r>
            <a:r>
              <a:rPr lang="en-US" altLang="zh-CN" dirty="0"/>
              <a:t>&amp; </a:t>
            </a:r>
            <a:r>
              <a:rPr lang="zh-CN" altLang="en-US" dirty="0"/>
              <a:t>形参的应用</a:t>
            </a:r>
          </a:p>
        </p:txBody>
      </p:sp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F3648C6-FBB0-4D0E-AF6A-DC740C9DAF69}" type="slidenum">
              <a:rPr lang="en-US" altLang="zh-CN" sz="1400" smtClean="0">
                <a:solidFill>
                  <a:prstClr val="black"/>
                </a:solidFill>
              </a:rPr>
              <a:pPr/>
              <a:t>19</a:t>
            </a:fld>
            <a:endParaRPr lang="en-US" altLang="zh-CN" sz="1400">
              <a:solidFill>
                <a:prstClr val="black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076056" y="3432418"/>
            <a:ext cx="3779262" cy="992248"/>
            <a:chOff x="5076056" y="3432418"/>
            <a:chExt cx="3779262" cy="992248"/>
          </a:xfrm>
        </p:grpSpPr>
        <p:grpSp>
          <p:nvGrpSpPr>
            <p:cNvPr id="13" name="组合 12"/>
            <p:cNvGrpSpPr/>
            <p:nvPr/>
          </p:nvGrpSpPr>
          <p:grpSpPr>
            <a:xfrm>
              <a:off x="5076056" y="3909200"/>
              <a:ext cx="611560" cy="515466"/>
              <a:chOff x="6280191" y="2780928"/>
              <a:chExt cx="416045" cy="288032"/>
            </a:xfrm>
          </p:grpSpPr>
          <p:cxnSp>
            <p:nvCxnSpPr>
              <p:cNvPr id="16" name="直接连接符 15"/>
              <p:cNvCxnSpPr/>
              <p:nvPr/>
            </p:nvCxnSpPr>
            <p:spPr>
              <a:xfrm>
                <a:off x="6280191" y="2924944"/>
                <a:ext cx="108012" cy="144016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V="1">
                <a:off x="6372200" y="2780928"/>
                <a:ext cx="324036" cy="288032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矩形 1"/>
            <p:cNvSpPr/>
            <p:nvPr/>
          </p:nvSpPr>
          <p:spPr>
            <a:xfrm>
              <a:off x="6516216" y="3432418"/>
              <a:ext cx="2339102" cy="830997"/>
            </a:xfrm>
            <a:prstGeom prst="rect">
              <a:avLst/>
            </a:prstGeom>
            <a:solidFill>
              <a:srgbClr val="92D05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dirty="0"/>
                <a:t>正确定义实现了</a:t>
              </a:r>
              <a:endParaRPr lang="en-US" altLang="zh-CN" sz="2400" dirty="0"/>
            </a:p>
            <a:p>
              <a:r>
                <a:rPr lang="zh-CN" altLang="en-US" sz="2400" dirty="0"/>
                <a:t>分数类的加法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662530" y="5058860"/>
            <a:ext cx="2360260" cy="1569660"/>
            <a:chOff x="5724128" y="5406315"/>
            <a:chExt cx="2360260" cy="1569660"/>
          </a:xfrm>
        </p:grpSpPr>
        <p:grpSp>
          <p:nvGrpSpPr>
            <p:cNvPr id="19" name="组合 18"/>
            <p:cNvGrpSpPr/>
            <p:nvPr/>
          </p:nvGrpSpPr>
          <p:grpSpPr>
            <a:xfrm>
              <a:off x="5724128" y="6141309"/>
              <a:ext cx="611560" cy="515466"/>
              <a:chOff x="6280191" y="3008939"/>
              <a:chExt cx="416045" cy="288032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6280191" y="3152952"/>
                <a:ext cx="108012" cy="144016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6372200" y="3008939"/>
                <a:ext cx="324036" cy="288032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矩形 21"/>
            <p:cNvSpPr/>
            <p:nvPr/>
          </p:nvSpPr>
          <p:spPr>
            <a:xfrm>
              <a:off x="6668616" y="5406315"/>
              <a:ext cx="1415772" cy="1569660"/>
            </a:xfrm>
            <a:prstGeom prst="rect">
              <a:avLst/>
            </a:prstGeom>
            <a:solidFill>
              <a:srgbClr val="92D05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dirty="0"/>
                <a:t>正确定义</a:t>
              </a:r>
              <a:endParaRPr lang="en-US" altLang="zh-CN" sz="2400" dirty="0"/>
            </a:p>
            <a:p>
              <a:r>
                <a:rPr lang="zh-CN" altLang="en-US" sz="2400" dirty="0"/>
                <a:t>实现了</a:t>
              </a:r>
              <a:endParaRPr lang="en-US" altLang="zh-CN" sz="2400" dirty="0"/>
            </a:p>
            <a:p>
              <a:r>
                <a:rPr lang="zh-CN" altLang="en-US" sz="2400" dirty="0"/>
                <a:t>分数类</a:t>
              </a:r>
              <a:endParaRPr lang="en-US" altLang="zh-CN" sz="2400" dirty="0"/>
            </a:p>
            <a:p>
              <a:r>
                <a:rPr lang="zh-CN" altLang="en-US" sz="2400" dirty="0"/>
                <a:t>的减法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742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1520" y="893033"/>
            <a:ext cx="8736365" cy="59093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分数类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_num, _den;</a:t>
            </a:r>
          </a:p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Fraction(</a:t>
            </a:r>
            <a:r>
              <a:rPr lang="fr-FR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n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0, </a:t>
            </a:r>
            <a:r>
              <a:rPr lang="fr-FR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d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1);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Add(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friend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Sub(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);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Standardize();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……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::Add(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  <a:r>
              <a:rPr lang="pt-BR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_num = _num * </a:t>
            </a:r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</a:t>
            </a:r>
            <a:r>
              <a:rPr lang="pt-BR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._den + _den * </a:t>
            </a:r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</a:t>
            </a:r>
            <a:r>
              <a:rPr lang="pt-BR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._num;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_den = _den * </a:t>
            </a:r>
            <a:r>
              <a:rPr lang="en-US" altLang="zh-CN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._den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Standardize();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*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this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 	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//return Fraction(_num, _den);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Sub(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  <a:r>
              <a:rPr lang="da-DK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</a:t>
            </a:r>
            <a:r>
              <a:rPr lang="da-DK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da-DK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._num = </a:t>
            </a:r>
            <a:r>
              <a:rPr lang="da-DK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da-DK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._num * </a:t>
            </a:r>
            <a:r>
              <a:rPr lang="da-DK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da-DK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._den - </a:t>
            </a:r>
            <a:r>
              <a:rPr lang="da-DK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da-DK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._den * </a:t>
            </a:r>
            <a:r>
              <a:rPr lang="da-DK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da-DK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._num;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._den =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._den *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._den;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.Standardize();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77688"/>
            <a:ext cx="9036496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/>
              <a:t>const</a:t>
            </a:r>
            <a:r>
              <a:rPr lang="zh-CN" altLang="en-US" dirty="0"/>
              <a:t>成员函数和</a:t>
            </a:r>
            <a:r>
              <a:rPr lang="en-US" altLang="zh-CN" dirty="0" err="1"/>
              <a:t>const</a:t>
            </a:r>
            <a:r>
              <a:rPr lang="en-US" altLang="zh-CN" dirty="0"/>
              <a:t>&amp; </a:t>
            </a:r>
            <a:r>
              <a:rPr lang="zh-CN" altLang="en-US" dirty="0"/>
              <a:t>形参的应用</a:t>
            </a:r>
          </a:p>
        </p:txBody>
      </p:sp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F3648C6-FBB0-4D0E-AF6A-DC740C9DAF69}" type="slidenum">
              <a:rPr lang="en-US" altLang="zh-CN" sz="1400" smtClean="0">
                <a:solidFill>
                  <a:prstClr val="black"/>
                </a:solidFill>
              </a:rPr>
              <a:pPr/>
              <a:t>20</a:t>
            </a:fld>
            <a:endParaRPr lang="en-US" altLang="zh-CN" sz="1400">
              <a:solidFill>
                <a:prstClr val="black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658019" y="3580136"/>
            <a:ext cx="2390857" cy="496212"/>
            <a:chOff x="5076056" y="3580860"/>
            <a:chExt cx="2390857" cy="496212"/>
          </a:xfrm>
        </p:grpSpPr>
        <p:sp>
          <p:nvSpPr>
            <p:cNvPr id="7" name="乘号 6"/>
            <p:cNvSpPr/>
            <p:nvPr/>
          </p:nvSpPr>
          <p:spPr>
            <a:xfrm>
              <a:off x="5076056" y="3580860"/>
              <a:ext cx="513277" cy="496212"/>
            </a:xfrm>
            <a:prstGeom prst="mathMultiply">
              <a:avLst>
                <a:gd name="adj1" fmla="val 1966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5724128" y="3645024"/>
              <a:ext cx="1742785" cy="338554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1600" dirty="0"/>
                <a:t>“=”</a:t>
              </a:r>
              <a:r>
                <a:rPr lang="zh-CN" altLang="en-US" sz="1600" dirty="0"/>
                <a:t>的左边是</a:t>
              </a:r>
              <a:r>
                <a:rPr lang="en-US" altLang="zh-CN" sz="1600" dirty="0" err="1"/>
                <a:t>const</a:t>
              </a:r>
              <a:endParaRPr lang="zh-CN" altLang="en-US" sz="16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751254" y="5184336"/>
            <a:ext cx="2328070" cy="504056"/>
            <a:chOff x="6290971" y="5229200"/>
            <a:chExt cx="2328070" cy="504056"/>
          </a:xfrm>
        </p:grpSpPr>
        <p:sp>
          <p:nvSpPr>
            <p:cNvPr id="14" name="乘号 13"/>
            <p:cNvSpPr/>
            <p:nvPr/>
          </p:nvSpPr>
          <p:spPr>
            <a:xfrm>
              <a:off x="6290971" y="5237044"/>
              <a:ext cx="513277" cy="496212"/>
            </a:xfrm>
            <a:prstGeom prst="mathMultiply">
              <a:avLst>
                <a:gd name="adj1" fmla="val 377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6876256" y="5229200"/>
              <a:ext cx="1742785" cy="338554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1600" dirty="0"/>
                <a:t>“=”</a:t>
              </a:r>
              <a:r>
                <a:rPr lang="zh-CN" altLang="en-US" sz="1600" dirty="0"/>
                <a:t>的左边是</a:t>
              </a:r>
              <a:r>
                <a:rPr lang="en-US" altLang="zh-CN" sz="1600" dirty="0" err="1"/>
                <a:t>const</a:t>
              </a:r>
              <a:endParaRPr lang="zh-CN" altLang="en-US" sz="1600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994827" y="3861048"/>
            <a:ext cx="2472086" cy="496212"/>
            <a:chOff x="4994827" y="3861048"/>
            <a:chExt cx="2472086" cy="496212"/>
          </a:xfrm>
        </p:grpSpPr>
        <p:sp>
          <p:nvSpPr>
            <p:cNvPr id="8" name="乘号 7"/>
            <p:cNvSpPr/>
            <p:nvPr/>
          </p:nvSpPr>
          <p:spPr>
            <a:xfrm>
              <a:off x="4994827" y="3861048"/>
              <a:ext cx="513277" cy="496212"/>
            </a:xfrm>
            <a:prstGeom prst="mathMultiply">
              <a:avLst>
                <a:gd name="adj1" fmla="val 377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5724128" y="4005064"/>
              <a:ext cx="1742785" cy="338554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1600" dirty="0"/>
                <a:t>“=”</a:t>
              </a:r>
              <a:r>
                <a:rPr lang="zh-CN" altLang="en-US" sz="1600" dirty="0"/>
                <a:t>的左边是</a:t>
              </a:r>
              <a:r>
                <a:rPr lang="en-US" altLang="zh-CN" sz="1600" dirty="0" err="1"/>
                <a:t>const</a:t>
              </a:r>
              <a:endParaRPr lang="zh-CN" altLang="en-US" sz="1600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850811" y="5445224"/>
            <a:ext cx="2184054" cy="496212"/>
            <a:chOff x="4850811" y="5445224"/>
            <a:chExt cx="2184054" cy="496212"/>
          </a:xfrm>
        </p:grpSpPr>
        <p:sp>
          <p:nvSpPr>
            <p:cNvPr id="15" name="乘号 14"/>
            <p:cNvSpPr/>
            <p:nvPr/>
          </p:nvSpPr>
          <p:spPr>
            <a:xfrm>
              <a:off x="4850811" y="5445224"/>
              <a:ext cx="513277" cy="496212"/>
            </a:xfrm>
            <a:prstGeom prst="mathMultiply">
              <a:avLst>
                <a:gd name="adj1" fmla="val 1966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5292080" y="5517232"/>
              <a:ext cx="1742785" cy="338554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1600" dirty="0"/>
                <a:t>“=”</a:t>
              </a:r>
              <a:r>
                <a:rPr lang="zh-CN" altLang="en-US" sz="1600" dirty="0"/>
                <a:t>的左边是</a:t>
              </a:r>
              <a:r>
                <a:rPr lang="en-US" altLang="zh-CN" sz="1600" dirty="0" err="1"/>
                <a:t>const</a:t>
              </a:r>
              <a:endParaRPr lang="zh-CN" altLang="en-US" sz="1600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059832" y="4156924"/>
            <a:ext cx="3077070" cy="496212"/>
            <a:chOff x="3059832" y="4156924"/>
            <a:chExt cx="3077070" cy="496212"/>
          </a:xfrm>
        </p:grpSpPr>
        <p:sp>
          <p:nvSpPr>
            <p:cNvPr id="9" name="乘号 8"/>
            <p:cNvSpPr/>
            <p:nvPr/>
          </p:nvSpPr>
          <p:spPr>
            <a:xfrm>
              <a:off x="3059832" y="4156924"/>
              <a:ext cx="513277" cy="496212"/>
            </a:xfrm>
            <a:prstGeom prst="mathMultiply">
              <a:avLst>
                <a:gd name="adj1" fmla="val 377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3635896" y="4211796"/>
              <a:ext cx="2501006" cy="338554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1600" dirty="0" err="1"/>
                <a:t>const</a:t>
              </a:r>
              <a:r>
                <a:rPr lang="zh-CN" altLang="en-US" sz="1600" dirty="0"/>
                <a:t>对象调用了普通函数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050611" y="5813108"/>
            <a:ext cx="2942275" cy="496212"/>
            <a:chOff x="3050611" y="5813108"/>
            <a:chExt cx="2942275" cy="496212"/>
          </a:xfrm>
        </p:grpSpPr>
        <p:sp>
          <p:nvSpPr>
            <p:cNvPr id="16" name="乘号 15"/>
            <p:cNvSpPr/>
            <p:nvPr/>
          </p:nvSpPr>
          <p:spPr>
            <a:xfrm>
              <a:off x="3050611" y="5813108"/>
              <a:ext cx="513277" cy="496212"/>
            </a:xfrm>
            <a:prstGeom prst="mathMultiply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3491880" y="5867980"/>
              <a:ext cx="2501006" cy="338554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1600" dirty="0" err="1"/>
                <a:t>const</a:t>
              </a:r>
              <a:r>
                <a:rPr lang="zh-CN" altLang="en-US" sz="1600" dirty="0"/>
                <a:t>对象调用了普通函数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6938099" y="4468470"/>
            <a:ext cx="195438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不是</a:t>
            </a:r>
            <a:r>
              <a:rPr lang="en-US" altLang="zh-CN" dirty="0"/>
              <a:t>+</a:t>
            </a:r>
            <a:r>
              <a:rPr lang="zh-CN" altLang="en-US" dirty="0"/>
              <a:t>，而类似</a:t>
            </a:r>
            <a:r>
              <a:rPr lang="en-US" altLang="zh-CN" dirty="0"/>
              <a:t>+=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6660232" y="5888872"/>
            <a:ext cx="1851789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不是</a:t>
            </a:r>
            <a:r>
              <a:rPr lang="en-US" altLang="zh-CN" dirty="0"/>
              <a:t>-</a:t>
            </a:r>
            <a:r>
              <a:rPr lang="zh-CN" altLang="en-US" dirty="0"/>
              <a:t>，而类似</a:t>
            </a:r>
            <a:r>
              <a:rPr lang="en-US" altLang="zh-CN" dirty="0"/>
              <a:t>-=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120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lnSpc>
                <a:spcPct val="90000"/>
              </a:lnSpc>
              <a:defRPr/>
            </a:pPr>
            <a:r>
              <a:rPr lang="en-US" altLang="zh-CN" dirty="0"/>
              <a:t>3.6</a:t>
            </a:r>
            <a:r>
              <a:rPr lang="zh-CN" altLang="en-US" dirty="0"/>
              <a:t>多文件结构和编译预处理命令</a:t>
            </a:r>
            <a:endParaRPr lang="en-US" altLang="zh-CN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863725" y="1905000"/>
            <a:ext cx="6102350" cy="41148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3.6.1 C++</a:t>
            </a:r>
            <a:r>
              <a:rPr lang="zh-CN" altLang="en-US" dirty="0"/>
              <a:t>程序的多文件结构</a:t>
            </a:r>
            <a:endParaRPr lang="en-US" altLang="zh-CN" dirty="0"/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3.6.2 </a:t>
            </a:r>
            <a:r>
              <a:rPr lang="zh-CN" altLang="en-US" dirty="0"/>
              <a:t>外部变量与外部函数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3.6.3 </a:t>
            </a:r>
            <a:r>
              <a:rPr lang="zh-CN" altLang="en-US" dirty="0"/>
              <a:t>编译预处理</a:t>
            </a:r>
            <a:endParaRPr lang="en-US" altLang="zh-CN" dirty="0"/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21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038652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多文件结构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宋体" charset="-122"/>
              </a:rPr>
              <a:t>一个程序可以划分为多个文件：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>
                <a:latin typeface="宋体" charset="-122"/>
              </a:rPr>
              <a:t>类声明文件（</a:t>
            </a:r>
            <a:r>
              <a:rPr lang="en-US" altLang="zh-CN" dirty="0">
                <a:latin typeface="宋体" charset="-122"/>
              </a:rPr>
              <a:t>.h</a:t>
            </a:r>
            <a:r>
              <a:rPr lang="zh-CN" altLang="en-US" dirty="0">
                <a:latin typeface="宋体" charset="-122"/>
              </a:rPr>
              <a:t>文件）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>
                <a:latin typeface="宋体" charset="-122"/>
              </a:rPr>
              <a:t>类实现文件（</a:t>
            </a:r>
            <a:r>
              <a:rPr lang="en-US" altLang="zh-CN" dirty="0">
                <a:latin typeface="宋体" charset="-122"/>
              </a:rPr>
              <a:t>.</a:t>
            </a:r>
            <a:r>
              <a:rPr lang="en-US" altLang="zh-CN" dirty="0" err="1">
                <a:latin typeface="宋体" charset="-122"/>
              </a:rPr>
              <a:t>cpp</a:t>
            </a:r>
            <a:r>
              <a:rPr lang="zh-CN" altLang="en-US" dirty="0">
                <a:latin typeface="宋体" charset="-122"/>
              </a:rPr>
              <a:t>文件）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>
                <a:latin typeface="宋体" charset="-122"/>
              </a:rPr>
              <a:t>类的使用文件（</a:t>
            </a:r>
            <a:r>
              <a:rPr lang="en-US" altLang="zh-CN" dirty="0">
                <a:latin typeface="宋体" charset="-122"/>
              </a:rPr>
              <a:t>main()</a:t>
            </a:r>
            <a:r>
              <a:rPr lang="zh-CN" altLang="zh-CN" dirty="0">
                <a:latin typeface="宋体" charset="-122"/>
              </a:rPr>
              <a:t>所在的</a:t>
            </a:r>
            <a:r>
              <a:rPr lang="en-US" altLang="zh-CN" dirty="0">
                <a:latin typeface="宋体" charset="-122"/>
              </a:rPr>
              <a:t>.</a:t>
            </a:r>
            <a:r>
              <a:rPr lang="en-US" altLang="zh-CN" dirty="0" err="1">
                <a:latin typeface="宋体" charset="-122"/>
              </a:rPr>
              <a:t>cpp</a:t>
            </a:r>
            <a:r>
              <a:rPr lang="zh-CN" altLang="zh-CN" dirty="0">
                <a:latin typeface="宋体" charset="-122"/>
              </a:rPr>
              <a:t>文件</a:t>
            </a:r>
            <a:r>
              <a:rPr lang="zh-CN" altLang="en-US" dirty="0">
                <a:latin typeface="宋体" charset="-122"/>
              </a:rPr>
              <a:t>）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宋体" charset="-122"/>
              </a:rPr>
              <a:t>利用工程</a:t>
            </a:r>
            <a:r>
              <a:rPr lang="en-US" altLang="zh-CN" dirty="0">
                <a:latin typeface="宋体" charset="-122"/>
              </a:rPr>
              <a:t>(project)</a:t>
            </a:r>
            <a:r>
              <a:rPr lang="zh-CN" altLang="en-US" dirty="0">
                <a:latin typeface="宋体" charset="-122"/>
              </a:rPr>
              <a:t>来组合各个文件。</a:t>
            </a:r>
          </a:p>
        </p:txBody>
      </p:sp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364AF71-7030-42D1-86F2-F9BBFD3AC914}" type="slidenum">
              <a:rPr lang="en-US" altLang="zh-CN" sz="1400" smtClean="0"/>
              <a:pPr/>
              <a:t>22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317335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Consolas" panose="020B0609020204030204" pitchFamily="49" charset="0"/>
                <a:cs typeface="Consolas" panose="020B0609020204030204" pitchFamily="49" charset="0"/>
              </a:rPr>
              <a:t>student-teacher</a:t>
            </a:r>
            <a:r>
              <a:rPr lang="zh-CN" alt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友元类</a:t>
            </a:r>
          </a:p>
        </p:txBody>
      </p:sp>
      <p:sp>
        <p:nvSpPr>
          <p:cNvPr id="6144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F415394-409A-4BF6-806C-A45D34709E07}" type="slidenum">
              <a:rPr lang="en-US" altLang="zh-CN" sz="1400" smtClean="0">
                <a:solidFill>
                  <a:prstClr val="black"/>
                </a:solidFill>
              </a:rPr>
              <a:pPr/>
              <a:t>23</a:t>
            </a:fld>
            <a:endParaRPr lang="en-US" altLang="zh-CN" sz="1400">
              <a:solidFill>
                <a:prstClr val="black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84168" y="3774519"/>
            <a:ext cx="3024336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//main.cpp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student.h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teacher.h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main()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  <a:endParaRPr lang="zh-CN" alt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7504" y="1008424"/>
            <a:ext cx="2880320" cy="317009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新宋体"/>
                <a:ea typeface="新宋体"/>
              </a:rPr>
              <a:t>//</a:t>
            </a:r>
            <a:r>
              <a:rPr lang="en-US" altLang="zh-CN" sz="2000" dirty="0" err="1">
                <a:solidFill>
                  <a:srgbClr val="008000"/>
                </a:solidFill>
                <a:latin typeface="新宋体"/>
                <a:ea typeface="新宋体"/>
              </a:rPr>
              <a:t>student.h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</a:t>
            </a:r>
            <a:r>
              <a:rPr lang="en-US" altLang="zh-CN" sz="2000" dirty="0" err="1">
                <a:solidFill>
                  <a:srgbClr val="808080"/>
                </a:solidFill>
                <a:latin typeface="新宋体"/>
                <a:ea typeface="新宋体"/>
              </a:rPr>
              <a:t>ifndef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STUDENT_H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#define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6F008A"/>
                </a:solidFill>
                <a:latin typeface="新宋体"/>
                <a:ea typeface="新宋体"/>
              </a:rPr>
              <a:t>STUDENT_H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&lt;</a:t>
            </a:r>
            <a:r>
              <a:rPr lang="en-US" altLang="zh-CN" sz="2000" dirty="0" err="1">
                <a:solidFill>
                  <a:srgbClr val="A31515"/>
                </a:solidFill>
                <a:latin typeface="新宋体"/>
                <a:ea typeface="新宋体"/>
              </a:rPr>
              <a:t>iostream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&gt;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using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namespace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std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Student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{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新宋体"/>
                <a:ea typeface="新宋体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</a:t>
            </a:r>
            <a:r>
              <a:rPr lang="en-US" altLang="zh-CN" sz="2000" dirty="0" err="1">
                <a:solidFill>
                  <a:srgbClr val="808080"/>
                </a:solidFill>
                <a:latin typeface="新宋体"/>
                <a:ea typeface="新宋体"/>
              </a:rPr>
              <a:t>endif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4591" y="4365104"/>
            <a:ext cx="2863233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新宋体"/>
                <a:ea typeface="新宋体"/>
              </a:rPr>
              <a:t>//student.cpp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latin typeface="新宋体"/>
                <a:ea typeface="新宋体"/>
              </a:rPr>
              <a:t>student.h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"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  </a:t>
            </a:r>
            <a:r>
              <a:rPr lang="en-US" altLang="zh-CN" dirty="0">
                <a:solidFill>
                  <a:srgbClr val="008000"/>
                </a:solidFill>
                <a:latin typeface="新宋体"/>
                <a:ea typeface="新宋体"/>
              </a:rPr>
              <a:t>//Student</a:t>
            </a:r>
            <a:r>
              <a:rPr lang="zh-CN" altLang="en-US" dirty="0">
                <a:solidFill>
                  <a:srgbClr val="008000"/>
                </a:solidFill>
                <a:latin typeface="新宋体"/>
                <a:ea typeface="新宋体"/>
              </a:rPr>
              <a:t>类的实现</a:t>
            </a:r>
            <a:endParaRPr lang="zh-CN" altLang="en-US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</a:t>
            </a:r>
          </a:p>
        </p:txBody>
      </p:sp>
      <p:sp>
        <p:nvSpPr>
          <p:cNvPr id="11" name="矩形 10"/>
          <p:cNvSpPr/>
          <p:nvPr/>
        </p:nvSpPr>
        <p:spPr>
          <a:xfrm>
            <a:off x="3131840" y="1003950"/>
            <a:ext cx="2808312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新宋体"/>
                <a:ea typeface="新宋体"/>
              </a:rPr>
              <a:t>//</a:t>
            </a:r>
            <a:r>
              <a:rPr lang="en-US" altLang="zh-CN" sz="2000" dirty="0" err="1">
                <a:solidFill>
                  <a:srgbClr val="008000"/>
                </a:solidFill>
                <a:latin typeface="新宋体"/>
                <a:ea typeface="新宋体"/>
              </a:rPr>
              <a:t>teacher.h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</a:t>
            </a:r>
            <a:r>
              <a:rPr lang="en-US" altLang="zh-CN" sz="2000" dirty="0" err="1">
                <a:solidFill>
                  <a:srgbClr val="808080"/>
                </a:solidFill>
                <a:latin typeface="新宋体"/>
                <a:ea typeface="新宋体"/>
              </a:rPr>
              <a:t>ifndef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TEACHER_H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#define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6F008A"/>
                </a:solidFill>
                <a:latin typeface="新宋体"/>
                <a:ea typeface="新宋体"/>
              </a:rPr>
              <a:t>TEACHER_H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latin typeface="新宋体"/>
                <a:ea typeface="新宋体"/>
              </a:rPr>
              <a:t>student.h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"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Teacher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{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新宋体"/>
                <a:ea typeface="新宋体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</a:t>
            </a:r>
            <a:r>
              <a:rPr lang="en-US" altLang="zh-CN" sz="2000" dirty="0" err="1">
                <a:solidFill>
                  <a:srgbClr val="808080"/>
                </a:solidFill>
                <a:latin typeface="新宋体"/>
                <a:ea typeface="新宋体"/>
              </a:rPr>
              <a:t>endif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48927" y="4370328"/>
            <a:ext cx="2791225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新宋体"/>
                <a:ea typeface="新宋体"/>
              </a:rPr>
              <a:t>//teacher.cpp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latin typeface="新宋体"/>
                <a:ea typeface="新宋体"/>
              </a:rPr>
              <a:t>teacher.h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"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  </a:t>
            </a:r>
            <a:r>
              <a:rPr lang="en-US" altLang="zh-CN" dirty="0">
                <a:solidFill>
                  <a:srgbClr val="008000"/>
                </a:solidFill>
                <a:latin typeface="新宋体"/>
                <a:ea typeface="新宋体"/>
              </a:rPr>
              <a:t>//Teacher</a:t>
            </a:r>
            <a:r>
              <a:rPr lang="zh-CN" altLang="en-US" dirty="0">
                <a:solidFill>
                  <a:srgbClr val="008000"/>
                </a:solidFill>
                <a:latin typeface="新宋体"/>
                <a:ea typeface="新宋体"/>
              </a:rPr>
              <a:t>类的实现</a:t>
            </a:r>
            <a:endParaRPr lang="zh-CN" altLang="en-US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94190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-30628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>
                <a:latin typeface="Consolas" panose="020B0609020204030204" pitchFamily="49" charset="0"/>
                <a:cs typeface="Consolas" panose="020B0609020204030204" pitchFamily="49" charset="0"/>
              </a:rPr>
              <a:t>student-teacher</a:t>
            </a:r>
            <a:r>
              <a:rPr lang="zh-CN" alt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友元类程序的 编译链接</a:t>
            </a:r>
          </a:p>
        </p:txBody>
      </p:sp>
      <p:sp>
        <p:nvSpPr>
          <p:cNvPr id="6144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F415394-409A-4BF6-806C-A45D34709E07}" type="slidenum">
              <a:rPr lang="en-US" altLang="zh-CN" sz="1400" smtClean="0">
                <a:solidFill>
                  <a:prstClr val="black"/>
                </a:solidFill>
              </a:rPr>
              <a:pPr/>
              <a:t>24</a:t>
            </a:fld>
            <a:endParaRPr lang="en-US" altLang="zh-CN" sz="1400">
              <a:solidFill>
                <a:prstClr val="black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84168" y="3140968"/>
            <a:ext cx="3024336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//stu-tea.cpp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student.h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teacher.h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main()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  <a:endParaRPr lang="zh-CN" alt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7504" y="481146"/>
            <a:ext cx="2880320" cy="317009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新宋体"/>
                <a:ea typeface="新宋体"/>
              </a:rPr>
              <a:t>//</a:t>
            </a:r>
            <a:r>
              <a:rPr lang="en-US" altLang="zh-CN" sz="2000" dirty="0" err="1">
                <a:solidFill>
                  <a:srgbClr val="008000"/>
                </a:solidFill>
                <a:latin typeface="新宋体"/>
                <a:ea typeface="新宋体"/>
              </a:rPr>
              <a:t>student.h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</a:t>
            </a:r>
            <a:r>
              <a:rPr lang="en-US" altLang="zh-CN" sz="2000" dirty="0" err="1">
                <a:solidFill>
                  <a:srgbClr val="808080"/>
                </a:solidFill>
                <a:latin typeface="新宋体"/>
                <a:ea typeface="新宋体"/>
              </a:rPr>
              <a:t>ifndef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STUDENT_H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#define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6F008A"/>
                </a:solidFill>
                <a:latin typeface="新宋体"/>
                <a:ea typeface="新宋体"/>
              </a:rPr>
              <a:t>STUDENT_H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&lt;</a:t>
            </a:r>
            <a:r>
              <a:rPr lang="en-US" altLang="zh-CN" sz="2000" dirty="0" err="1">
                <a:solidFill>
                  <a:srgbClr val="A31515"/>
                </a:solidFill>
                <a:latin typeface="新宋体"/>
                <a:ea typeface="新宋体"/>
              </a:rPr>
              <a:t>iostream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&gt;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using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namespace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std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Student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{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新宋体"/>
                <a:ea typeface="新宋体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</a:t>
            </a:r>
            <a:r>
              <a:rPr lang="en-US" altLang="zh-CN" sz="2000" dirty="0" err="1">
                <a:solidFill>
                  <a:srgbClr val="808080"/>
                </a:solidFill>
                <a:latin typeface="新宋体"/>
                <a:ea typeface="新宋体"/>
              </a:rPr>
              <a:t>endif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4591" y="3731553"/>
            <a:ext cx="2863233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新宋体"/>
                <a:ea typeface="新宋体"/>
              </a:rPr>
              <a:t>//student.cpp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latin typeface="新宋体"/>
                <a:ea typeface="新宋体"/>
              </a:rPr>
              <a:t>student.h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"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  </a:t>
            </a:r>
            <a:r>
              <a:rPr lang="en-US" altLang="zh-CN" dirty="0">
                <a:solidFill>
                  <a:srgbClr val="008000"/>
                </a:solidFill>
                <a:latin typeface="新宋体"/>
                <a:ea typeface="新宋体"/>
              </a:rPr>
              <a:t>//Student</a:t>
            </a:r>
            <a:r>
              <a:rPr lang="zh-CN" altLang="en-US" dirty="0">
                <a:solidFill>
                  <a:srgbClr val="008000"/>
                </a:solidFill>
                <a:latin typeface="新宋体"/>
                <a:ea typeface="新宋体"/>
              </a:rPr>
              <a:t>类的实现</a:t>
            </a:r>
            <a:endParaRPr lang="zh-CN" altLang="en-US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</a:t>
            </a:r>
          </a:p>
        </p:txBody>
      </p:sp>
      <p:sp>
        <p:nvSpPr>
          <p:cNvPr id="11" name="矩形 10"/>
          <p:cNvSpPr/>
          <p:nvPr/>
        </p:nvSpPr>
        <p:spPr>
          <a:xfrm>
            <a:off x="3131840" y="476672"/>
            <a:ext cx="2808312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新宋体"/>
                <a:ea typeface="新宋体"/>
              </a:rPr>
              <a:t>//</a:t>
            </a:r>
            <a:r>
              <a:rPr lang="en-US" altLang="zh-CN" sz="2000" dirty="0" err="1">
                <a:solidFill>
                  <a:srgbClr val="008000"/>
                </a:solidFill>
                <a:latin typeface="新宋体"/>
                <a:ea typeface="新宋体"/>
              </a:rPr>
              <a:t>teacher.h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</a:t>
            </a:r>
            <a:r>
              <a:rPr lang="en-US" altLang="zh-CN" sz="2000" dirty="0" err="1">
                <a:solidFill>
                  <a:srgbClr val="808080"/>
                </a:solidFill>
                <a:latin typeface="新宋体"/>
                <a:ea typeface="新宋体"/>
              </a:rPr>
              <a:t>ifndef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TEACHER_H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#define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6F008A"/>
                </a:solidFill>
                <a:latin typeface="新宋体"/>
                <a:ea typeface="新宋体"/>
              </a:rPr>
              <a:t>TEACHER_H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latin typeface="新宋体"/>
                <a:ea typeface="新宋体"/>
              </a:rPr>
              <a:t>student.h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"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Teacher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{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新宋体"/>
                <a:ea typeface="新宋体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</a:t>
            </a:r>
            <a:r>
              <a:rPr lang="en-US" altLang="zh-CN" sz="2000" dirty="0" err="1">
                <a:solidFill>
                  <a:srgbClr val="808080"/>
                </a:solidFill>
                <a:latin typeface="新宋体"/>
                <a:ea typeface="新宋体"/>
              </a:rPr>
              <a:t>endif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48927" y="3736777"/>
            <a:ext cx="2791225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新宋体"/>
                <a:ea typeface="新宋体"/>
              </a:rPr>
              <a:t>//teacher.cpp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latin typeface="新宋体"/>
                <a:ea typeface="新宋体"/>
              </a:rPr>
              <a:t>teacher.h</a:t>
            </a:r>
            <a:r>
              <a:rPr lang="en-US" altLang="zh-CN" sz="2000" dirty="0">
                <a:solidFill>
                  <a:srgbClr val="A31515"/>
                </a:solidFill>
                <a:latin typeface="新宋体"/>
                <a:ea typeface="新宋体"/>
              </a:rPr>
              <a:t>"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  </a:t>
            </a:r>
            <a:r>
              <a:rPr lang="en-US" altLang="zh-CN" dirty="0">
                <a:solidFill>
                  <a:srgbClr val="008000"/>
                </a:solidFill>
                <a:latin typeface="新宋体"/>
                <a:ea typeface="新宋体"/>
              </a:rPr>
              <a:t>//Teacher</a:t>
            </a:r>
            <a:r>
              <a:rPr lang="zh-CN" altLang="en-US" dirty="0">
                <a:solidFill>
                  <a:srgbClr val="008000"/>
                </a:solidFill>
                <a:latin typeface="新宋体"/>
                <a:ea typeface="新宋体"/>
              </a:rPr>
              <a:t>类的实现</a:t>
            </a:r>
            <a:endParaRPr lang="zh-CN" altLang="en-US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</a:t>
            </a: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6444208" y="836711"/>
            <a:ext cx="2376264" cy="151216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 anchor="ctr">
            <a:noAutofit/>
          </a:bodyPr>
          <a:lstStyle>
            <a:defPPr>
              <a:defRPr lang="zh-CN"/>
            </a:defPPr>
            <a:lvl1pPr>
              <a:spcBef>
                <a:spcPct val="0"/>
              </a:spcBef>
              <a:buNone/>
              <a:defRPr kumimoji="0" sz="200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kumimoji="0">
                <a:solidFill>
                  <a:schemeClr val="tx2"/>
                </a:solidFill>
              </a:defRPr>
            </a:lvl2pPr>
            <a:lvl3pPr>
              <a:defRPr kumimoji="0">
                <a:solidFill>
                  <a:schemeClr val="tx2"/>
                </a:solidFill>
              </a:defRPr>
            </a:lvl3pPr>
            <a:lvl4pPr>
              <a:defRPr kumimoji="0">
                <a:solidFill>
                  <a:schemeClr val="tx2"/>
                </a:solidFill>
              </a:defRPr>
            </a:lvl4pPr>
            <a:lvl5pPr>
              <a:defRPr kumimoji="0">
                <a:solidFill>
                  <a:schemeClr val="tx2"/>
                </a:solidFill>
              </a:defRPr>
            </a:lvl5pPr>
            <a:lvl6pPr>
              <a:defRPr kumimoji="0">
                <a:solidFill>
                  <a:schemeClr val="tx2"/>
                </a:solidFill>
              </a:defRPr>
            </a:lvl6pPr>
            <a:lvl7pPr>
              <a:defRPr kumimoji="0">
                <a:solidFill>
                  <a:schemeClr val="tx2"/>
                </a:solidFill>
              </a:defRPr>
            </a:lvl7pPr>
            <a:lvl8pPr>
              <a:defRPr kumimoji="0">
                <a:solidFill>
                  <a:schemeClr val="tx2"/>
                </a:solidFill>
              </a:defRPr>
            </a:lvl8pPr>
            <a:lvl9pPr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sz="2400" dirty="0"/>
              <a:t>项目</a:t>
            </a:r>
            <a:r>
              <a:rPr lang="en-US" altLang="zh-CN" sz="2400" dirty="0"/>
              <a:t>(project)</a:t>
            </a:r>
            <a:r>
              <a:rPr lang="zh-CN" altLang="en-US" sz="2400" dirty="0"/>
              <a:t>名称</a:t>
            </a:r>
            <a:r>
              <a:rPr lang="en-US" altLang="zh-CN" sz="2400" dirty="0"/>
              <a:t>:</a:t>
            </a:r>
          </a:p>
          <a:p>
            <a:r>
              <a:rPr lang="en-US" altLang="zh-CN" sz="2400" dirty="0" err="1"/>
              <a:t>stu</a:t>
            </a:r>
            <a:r>
              <a:rPr lang="en-US" altLang="zh-CN" sz="2400" dirty="0"/>
              <a:t>-tea</a:t>
            </a:r>
            <a:endParaRPr lang="zh-CN" altLang="en-US" sz="24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539552" y="5407352"/>
            <a:ext cx="1728192" cy="757952"/>
            <a:chOff x="539552" y="5407352"/>
            <a:chExt cx="1728192" cy="757952"/>
          </a:xfrm>
        </p:grpSpPr>
        <p:grpSp>
          <p:nvGrpSpPr>
            <p:cNvPr id="7" name="组合 6"/>
            <p:cNvGrpSpPr/>
            <p:nvPr/>
          </p:nvGrpSpPr>
          <p:grpSpPr>
            <a:xfrm>
              <a:off x="539552" y="5407352"/>
              <a:ext cx="1728192" cy="757952"/>
              <a:chOff x="539552" y="5407352"/>
              <a:chExt cx="1728192" cy="757952"/>
            </a:xfrm>
          </p:grpSpPr>
          <p:sp>
            <p:nvSpPr>
              <p:cNvPr id="9" name="Rectangle 2"/>
              <p:cNvSpPr txBox="1">
                <a:spLocks noChangeArrowheads="1"/>
              </p:cNvSpPr>
              <p:nvPr/>
            </p:nvSpPr>
            <p:spPr>
              <a:xfrm>
                <a:off x="539552" y="5809828"/>
                <a:ext cx="1728192" cy="35547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vert="horz" rtlCol="0" anchor="ctr">
                <a:normAutofit fontScale="92500" lnSpcReduction="10000"/>
              </a:bodyPr>
              <a:lstStyle>
                <a:lvl1pPr algn="ctr" rtl="0" eaLnBrk="1" latinLnBrk="0" hangingPunct="1">
                  <a:spcBef>
                    <a:spcPct val="0"/>
                  </a:spcBef>
                  <a:buNone/>
                  <a:defRPr kumimoji="0" sz="44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eaLnBrk="1" latinLnBrk="0" hangingPunct="1">
                  <a:defRPr kumimoji="0">
                    <a:solidFill>
                      <a:schemeClr val="tx2"/>
                    </a:solidFill>
                  </a:defRPr>
                </a:lvl2pPr>
                <a:lvl3pPr eaLnBrk="1" latinLnBrk="0" hangingPunct="1">
                  <a:defRPr kumimoji="0">
                    <a:solidFill>
                      <a:schemeClr val="tx2"/>
                    </a:solidFill>
                  </a:defRPr>
                </a:lvl3pPr>
                <a:lvl4pPr eaLnBrk="1" latinLnBrk="0" hangingPunct="1">
                  <a:defRPr kumimoji="0">
                    <a:solidFill>
                      <a:schemeClr val="tx2"/>
                    </a:solidFill>
                  </a:defRPr>
                </a:lvl4pPr>
                <a:lvl5pPr eaLnBrk="1" latinLnBrk="0" hangingPunct="1">
                  <a:defRPr kumimoji="0">
                    <a:solidFill>
                      <a:schemeClr val="tx2"/>
                    </a:solidFill>
                  </a:defRPr>
                </a:lvl5pPr>
                <a:lvl6pPr eaLnBrk="1" latinLnBrk="0" hangingPunct="1">
                  <a:defRPr kumimoji="0">
                    <a:solidFill>
                      <a:schemeClr val="tx2"/>
                    </a:solidFill>
                  </a:defRPr>
                </a:lvl6pPr>
                <a:lvl7pPr eaLnBrk="1" latinLnBrk="0" hangingPunct="1">
                  <a:defRPr kumimoji="0">
                    <a:solidFill>
                      <a:schemeClr val="tx2"/>
                    </a:solidFill>
                  </a:defRPr>
                </a:lvl7pPr>
                <a:lvl8pPr eaLnBrk="1" latinLnBrk="0" hangingPunct="1">
                  <a:defRPr kumimoji="0">
                    <a:solidFill>
                      <a:schemeClr val="tx2"/>
                    </a:solidFill>
                  </a:defRPr>
                </a:lvl8pPr>
                <a:lvl9pPr eaLnBrk="1" latinLnBrk="0" hangingPunct="1">
                  <a:defRPr kumimoji="0">
                    <a:solidFill>
                      <a:schemeClr val="tx2"/>
                    </a:solidFill>
                  </a:defRPr>
                </a:lvl9pPr>
              </a:lstStyle>
              <a:p>
                <a:pPr algn="l"/>
                <a:r>
                  <a:rPr lang="en-US" altLang="zh-CN" sz="2000" dirty="0"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student.obj</a:t>
                </a:r>
                <a:endParaRPr lang="zh-CN" altLang="en-US" sz="2000" dirty="0"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20" name="下箭头 19"/>
              <p:cNvSpPr/>
              <p:nvPr/>
            </p:nvSpPr>
            <p:spPr>
              <a:xfrm>
                <a:off x="1331640" y="5407352"/>
                <a:ext cx="72008" cy="325904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0" name="Rectangle 2"/>
            <p:cNvSpPr txBox="1">
              <a:spLocks noChangeArrowheads="1"/>
            </p:cNvSpPr>
            <p:nvPr/>
          </p:nvSpPr>
          <p:spPr>
            <a:xfrm>
              <a:off x="1547664" y="5408328"/>
              <a:ext cx="720080" cy="32492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vert="horz" rtlCol="0" anchor="ctr">
              <a:noAutofit/>
            </a:bodyPr>
            <a:lstStyle>
              <a:lvl1pPr algn="ctr" rtl="0" eaLnBrk="1" latinLnBrk="0" hangingPunct="1">
                <a:spcBef>
                  <a:spcPct val="0"/>
                </a:spcBef>
                <a:buNone/>
                <a:defRPr kumimoji="0" sz="4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eaLnBrk="1" latinLnBrk="0" hangingPunct="1">
                <a:defRPr kumimoji="0">
                  <a:solidFill>
                    <a:schemeClr val="tx2"/>
                  </a:solidFill>
                </a:defRPr>
              </a:lvl2pPr>
              <a:lvl3pPr eaLnBrk="1" latinLnBrk="0" hangingPunct="1">
                <a:defRPr kumimoji="0">
                  <a:solidFill>
                    <a:schemeClr val="tx2"/>
                  </a:solidFill>
                </a:defRPr>
              </a:lvl3pPr>
              <a:lvl4pPr eaLnBrk="1" latinLnBrk="0" hangingPunct="1">
                <a:defRPr kumimoji="0">
                  <a:solidFill>
                    <a:schemeClr val="tx2"/>
                  </a:solidFill>
                </a:defRPr>
              </a:lvl4pPr>
              <a:lvl5pPr eaLnBrk="1" latinLnBrk="0" hangingPunct="1">
                <a:defRPr kumimoji="0">
                  <a:solidFill>
                    <a:schemeClr val="tx2"/>
                  </a:solidFill>
                </a:defRPr>
              </a:lvl5pPr>
              <a:lvl6pPr eaLnBrk="1" latinLnBrk="0" hangingPunct="1">
                <a:defRPr kumimoji="0">
                  <a:solidFill>
                    <a:schemeClr val="tx2"/>
                  </a:solidFill>
                </a:defRPr>
              </a:lvl6pPr>
              <a:lvl7pPr eaLnBrk="1" latinLnBrk="0" hangingPunct="1">
                <a:defRPr kumimoji="0">
                  <a:solidFill>
                    <a:schemeClr val="tx2"/>
                  </a:solidFill>
                </a:defRPr>
              </a:lvl7pPr>
              <a:lvl8pPr eaLnBrk="1" latinLnBrk="0" hangingPunct="1">
                <a:defRPr kumimoji="0">
                  <a:solidFill>
                    <a:schemeClr val="tx2"/>
                  </a:solidFill>
                </a:defRPr>
              </a:lvl8pPr>
              <a:lvl9pPr eaLnBrk="1" latinLnBrk="0" hangingPunct="1">
                <a:defRPr kumimoji="0"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zh-CN" altLang="en-US" sz="1600" dirty="0"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编译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563888" y="5407352"/>
            <a:ext cx="1728192" cy="757952"/>
            <a:chOff x="3563888" y="5407352"/>
            <a:chExt cx="1728192" cy="757952"/>
          </a:xfrm>
        </p:grpSpPr>
        <p:sp>
          <p:nvSpPr>
            <p:cNvPr id="12" name="Rectangle 2"/>
            <p:cNvSpPr txBox="1">
              <a:spLocks noChangeArrowheads="1"/>
            </p:cNvSpPr>
            <p:nvPr/>
          </p:nvSpPr>
          <p:spPr>
            <a:xfrm>
              <a:off x="3563888" y="5809828"/>
              <a:ext cx="1728192" cy="35547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vert="horz" rtlCol="0" anchor="ctr">
              <a:normAutofit fontScale="92500" lnSpcReduction="10000"/>
            </a:bodyPr>
            <a:lstStyle>
              <a:lvl1pPr algn="ctr" rtl="0" eaLnBrk="1" latinLnBrk="0" hangingPunct="1">
                <a:spcBef>
                  <a:spcPct val="0"/>
                </a:spcBef>
                <a:buNone/>
                <a:defRPr kumimoji="0" sz="4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eaLnBrk="1" latinLnBrk="0" hangingPunct="1">
                <a:defRPr kumimoji="0">
                  <a:solidFill>
                    <a:schemeClr val="tx2"/>
                  </a:solidFill>
                </a:defRPr>
              </a:lvl2pPr>
              <a:lvl3pPr eaLnBrk="1" latinLnBrk="0" hangingPunct="1">
                <a:defRPr kumimoji="0">
                  <a:solidFill>
                    <a:schemeClr val="tx2"/>
                  </a:solidFill>
                </a:defRPr>
              </a:lvl3pPr>
              <a:lvl4pPr eaLnBrk="1" latinLnBrk="0" hangingPunct="1">
                <a:defRPr kumimoji="0">
                  <a:solidFill>
                    <a:schemeClr val="tx2"/>
                  </a:solidFill>
                </a:defRPr>
              </a:lvl4pPr>
              <a:lvl5pPr eaLnBrk="1" latinLnBrk="0" hangingPunct="1">
                <a:defRPr kumimoji="0">
                  <a:solidFill>
                    <a:schemeClr val="tx2"/>
                  </a:solidFill>
                </a:defRPr>
              </a:lvl5pPr>
              <a:lvl6pPr eaLnBrk="1" latinLnBrk="0" hangingPunct="1">
                <a:defRPr kumimoji="0">
                  <a:solidFill>
                    <a:schemeClr val="tx2"/>
                  </a:solidFill>
                </a:defRPr>
              </a:lvl6pPr>
              <a:lvl7pPr eaLnBrk="1" latinLnBrk="0" hangingPunct="1">
                <a:defRPr kumimoji="0">
                  <a:solidFill>
                    <a:schemeClr val="tx2"/>
                  </a:solidFill>
                </a:defRPr>
              </a:lvl7pPr>
              <a:lvl8pPr eaLnBrk="1" latinLnBrk="0" hangingPunct="1">
                <a:defRPr kumimoji="0">
                  <a:solidFill>
                    <a:schemeClr val="tx2"/>
                  </a:solidFill>
                </a:defRPr>
              </a:lvl8pPr>
              <a:lvl9pPr eaLnBrk="1" latinLnBrk="0" hangingPunct="1">
                <a:defRPr kumimoji="0"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en-US" altLang="zh-CN" sz="2000" dirty="0"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teacher.obj</a:t>
              </a:r>
              <a:endParaRPr lang="zh-CN" altLang="en-US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ectangle 2"/>
            <p:cNvSpPr txBox="1">
              <a:spLocks noChangeArrowheads="1"/>
            </p:cNvSpPr>
            <p:nvPr/>
          </p:nvSpPr>
          <p:spPr>
            <a:xfrm>
              <a:off x="4499992" y="5408328"/>
              <a:ext cx="720080" cy="32492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vert="horz" rtlCol="0" anchor="ctr">
              <a:noAutofit/>
            </a:bodyPr>
            <a:lstStyle>
              <a:lvl1pPr algn="ctr" rtl="0" eaLnBrk="1" latinLnBrk="0" hangingPunct="1">
                <a:spcBef>
                  <a:spcPct val="0"/>
                </a:spcBef>
                <a:buNone/>
                <a:defRPr kumimoji="0" sz="4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eaLnBrk="1" latinLnBrk="0" hangingPunct="1">
                <a:defRPr kumimoji="0">
                  <a:solidFill>
                    <a:schemeClr val="tx2"/>
                  </a:solidFill>
                </a:defRPr>
              </a:lvl2pPr>
              <a:lvl3pPr eaLnBrk="1" latinLnBrk="0" hangingPunct="1">
                <a:defRPr kumimoji="0">
                  <a:solidFill>
                    <a:schemeClr val="tx2"/>
                  </a:solidFill>
                </a:defRPr>
              </a:lvl3pPr>
              <a:lvl4pPr eaLnBrk="1" latinLnBrk="0" hangingPunct="1">
                <a:defRPr kumimoji="0">
                  <a:solidFill>
                    <a:schemeClr val="tx2"/>
                  </a:solidFill>
                </a:defRPr>
              </a:lvl4pPr>
              <a:lvl5pPr eaLnBrk="1" latinLnBrk="0" hangingPunct="1">
                <a:defRPr kumimoji="0">
                  <a:solidFill>
                    <a:schemeClr val="tx2"/>
                  </a:solidFill>
                </a:defRPr>
              </a:lvl5pPr>
              <a:lvl6pPr eaLnBrk="1" latinLnBrk="0" hangingPunct="1">
                <a:defRPr kumimoji="0">
                  <a:solidFill>
                    <a:schemeClr val="tx2"/>
                  </a:solidFill>
                </a:defRPr>
              </a:lvl6pPr>
              <a:lvl7pPr eaLnBrk="1" latinLnBrk="0" hangingPunct="1">
                <a:defRPr kumimoji="0">
                  <a:solidFill>
                    <a:schemeClr val="tx2"/>
                  </a:solidFill>
                </a:defRPr>
              </a:lvl7pPr>
              <a:lvl8pPr eaLnBrk="1" latinLnBrk="0" hangingPunct="1">
                <a:defRPr kumimoji="0">
                  <a:solidFill>
                    <a:schemeClr val="tx2"/>
                  </a:solidFill>
                </a:defRPr>
              </a:lvl8pPr>
              <a:lvl9pPr eaLnBrk="1" latinLnBrk="0" hangingPunct="1">
                <a:defRPr kumimoji="0"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zh-CN" altLang="en-US" sz="1600" dirty="0"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编译</a:t>
              </a:r>
            </a:p>
          </p:txBody>
        </p:sp>
        <p:sp>
          <p:nvSpPr>
            <p:cNvPr id="32" name="下箭头 31"/>
            <p:cNvSpPr/>
            <p:nvPr/>
          </p:nvSpPr>
          <p:spPr>
            <a:xfrm>
              <a:off x="4355976" y="5407352"/>
              <a:ext cx="72008" cy="32590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6256" y="5408328"/>
            <a:ext cx="1368152" cy="756976"/>
            <a:chOff x="6876256" y="5408328"/>
            <a:chExt cx="1368152" cy="756976"/>
          </a:xfrm>
        </p:grpSpPr>
        <p:grpSp>
          <p:nvGrpSpPr>
            <p:cNvPr id="23" name="组合 22"/>
            <p:cNvGrpSpPr/>
            <p:nvPr/>
          </p:nvGrpSpPr>
          <p:grpSpPr>
            <a:xfrm>
              <a:off x="6876256" y="5445224"/>
              <a:ext cx="1152128" cy="720080"/>
              <a:chOff x="6876256" y="5445224"/>
              <a:chExt cx="1152128" cy="720080"/>
            </a:xfrm>
          </p:grpSpPr>
          <p:sp>
            <p:nvSpPr>
              <p:cNvPr id="13" name="Rectangle 2"/>
              <p:cNvSpPr txBox="1">
                <a:spLocks noChangeArrowheads="1"/>
              </p:cNvSpPr>
              <p:nvPr/>
            </p:nvSpPr>
            <p:spPr>
              <a:xfrm>
                <a:off x="6876256" y="5840376"/>
                <a:ext cx="1152128" cy="32492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vert="horz" rtlCol="0" anchor="ctr">
                <a:normAutofit fontScale="85000" lnSpcReduction="10000"/>
              </a:bodyPr>
              <a:lstStyle>
                <a:lvl1pPr algn="ctr" rtl="0" eaLnBrk="1" latinLnBrk="0" hangingPunct="1">
                  <a:spcBef>
                    <a:spcPct val="0"/>
                  </a:spcBef>
                  <a:buNone/>
                  <a:defRPr kumimoji="0" sz="44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eaLnBrk="1" latinLnBrk="0" hangingPunct="1">
                  <a:defRPr kumimoji="0">
                    <a:solidFill>
                      <a:schemeClr val="tx2"/>
                    </a:solidFill>
                  </a:defRPr>
                </a:lvl2pPr>
                <a:lvl3pPr eaLnBrk="1" latinLnBrk="0" hangingPunct="1">
                  <a:defRPr kumimoji="0">
                    <a:solidFill>
                      <a:schemeClr val="tx2"/>
                    </a:solidFill>
                  </a:defRPr>
                </a:lvl3pPr>
                <a:lvl4pPr eaLnBrk="1" latinLnBrk="0" hangingPunct="1">
                  <a:defRPr kumimoji="0">
                    <a:solidFill>
                      <a:schemeClr val="tx2"/>
                    </a:solidFill>
                  </a:defRPr>
                </a:lvl4pPr>
                <a:lvl5pPr eaLnBrk="1" latinLnBrk="0" hangingPunct="1">
                  <a:defRPr kumimoji="0">
                    <a:solidFill>
                      <a:schemeClr val="tx2"/>
                    </a:solidFill>
                  </a:defRPr>
                </a:lvl5pPr>
                <a:lvl6pPr eaLnBrk="1" latinLnBrk="0" hangingPunct="1">
                  <a:defRPr kumimoji="0">
                    <a:solidFill>
                      <a:schemeClr val="tx2"/>
                    </a:solidFill>
                  </a:defRPr>
                </a:lvl6pPr>
                <a:lvl7pPr eaLnBrk="1" latinLnBrk="0" hangingPunct="1">
                  <a:defRPr kumimoji="0">
                    <a:solidFill>
                      <a:schemeClr val="tx2"/>
                    </a:solidFill>
                  </a:defRPr>
                </a:lvl7pPr>
                <a:lvl8pPr eaLnBrk="1" latinLnBrk="0" hangingPunct="1">
                  <a:defRPr kumimoji="0">
                    <a:solidFill>
                      <a:schemeClr val="tx2"/>
                    </a:solidFill>
                  </a:defRPr>
                </a:lvl8pPr>
                <a:lvl9pPr eaLnBrk="1" latinLnBrk="0" hangingPunct="1">
                  <a:defRPr kumimoji="0">
                    <a:solidFill>
                      <a:schemeClr val="tx2"/>
                    </a:solidFill>
                  </a:defRPr>
                </a:lvl9pPr>
              </a:lstStyle>
              <a:p>
                <a:pPr algn="l"/>
                <a:r>
                  <a:rPr lang="en-US" altLang="zh-CN" sz="2000" dirty="0"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main.obj</a:t>
                </a:r>
                <a:endParaRPr lang="zh-CN" altLang="en-US" sz="2000" dirty="0"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16" name="下箭头 15"/>
              <p:cNvSpPr/>
              <p:nvPr/>
            </p:nvSpPr>
            <p:spPr>
              <a:xfrm>
                <a:off x="7380312" y="5445224"/>
                <a:ext cx="132036" cy="31677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Rectangle 2"/>
            <p:cNvSpPr txBox="1">
              <a:spLocks noChangeArrowheads="1"/>
            </p:cNvSpPr>
            <p:nvPr/>
          </p:nvSpPr>
          <p:spPr>
            <a:xfrm>
              <a:off x="7524328" y="5408328"/>
              <a:ext cx="720080" cy="32492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vert="horz" rtlCol="0" anchor="ctr">
              <a:noAutofit/>
            </a:bodyPr>
            <a:lstStyle>
              <a:lvl1pPr algn="ctr" rtl="0" eaLnBrk="1" latinLnBrk="0" hangingPunct="1">
                <a:spcBef>
                  <a:spcPct val="0"/>
                </a:spcBef>
                <a:buNone/>
                <a:defRPr kumimoji="0" sz="4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eaLnBrk="1" latinLnBrk="0" hangingPunct="1">
                <a:defRPr kumimoji="0">
                  <a:solidFill>
                    <a:schemeClr val="tx2"/>
                  </a:solidFill>
                </a:defRPr>
              </a:lvl2pPr>
              <a:lvl3pPr eaLnBrk="1" latinLnBrk="0" hangingPunct="1">
                <a:defRPr kumimoji="0">
                  <a:solidFill>
                    <a:schemeClr val="tx2"/>
                  </a:solidFill>
                </a:defRPr>
              </a:lvl3pPr>
              <a:lvl4pPr eaLnBrk="1" latinLnBrk="0" hangingPunct="1">
                <a:defRPr kumimoji="0">
                  <a:solidFill>
                    <a:schemeClr val="tx2"/>
                  </a:solidFill>
                </a:defRPr>
              </a:lvl4pPr>
              <a:lvl5pPr eaLnBrk="1" latinLnBrk="0" hangingPunct="1">
                <a:defRPr kumimoji="0">
                  <a:solidFill>
                    <a:schemeClr val="tx2"/>
                  </a:solidFill>
                </a:defRPr>
              </a:lvl5pPr>
              <a:lvl6pPr eaLnBrk="1" latinLnBrk="0" hangingPunct="1">
                <a:defRPr kumimoji="0">
                  <a:solidFill>
                    <a:schemeClr val="tx2"/>
                  </a:solidFill>
                </a:defRPr>
              </a:lvl6pPr>
              <a:lvl7pPr eaLnBrk="1" latinLnBrk="0" hangingPunct="1">
                <a:defRPr kumimoji="0">
                  <a:solidFill>
                    <a:schemeClr val="tx2"/>
                  </a:solidFill>
                </a:defRPr>
              </a:lvl7pPr>
              <a:lvl8pPr eaLnBrk="1" latinLnBrk="0" hangingPunct="1">
                <a:defRPr kumimoji="0">
                  <a:solidFill>
                    <a:schemeClr val="tx2"/>
                  </a:solidFill>
                </a:defRPr>
              </a:lvl8pPr>
              <a:lvl9pPr eaLnBrk="1" latinLnBrk="0" hangingPunct="1">
                <a:defRPr kumimoji="0"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zh-CN" altLang="en-US" sz="1600" dirty="0"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编译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599892" y="6128408"/>
            <a:ext cx="1764196" cy="684968"/>
            <a:chOff x="3599892" y="6128408"/>
            <a:chExt cx="1764196" cy="684968"/>
          </a:xfrm>
        </p:grpSpPr>
        <p:grpSp>
          <p:nvGrpSpPr>
            <p:cNvPr id="25" name="组合 24"/>
            <p:cNvGrpSpPr/>
            <p:nvPr/>
          </p:nvGrpSpPr>
          <p:grpSpPr>
            <a:xfrm>
              <a:off x="3599892" y="6237312"/>
              <a:ext cx="1764196" cy="576064"/>
              <a:chOff x="3599892" y="6021288"/>
              <a:chExt cx="1764196" cy="576064"/>
            </a:xfrm>
          </p:grpSpPr>
          <p:sp>
            <p:nvSpPr>
              <p:cNvPr id="19" name="Rectangle 2"/>
              <p:cNvSpPr txBox="1">
                <a:spLocks noChangeArrowheads="1"/>
              </p:cNvSpPr>
              <p:nvPr/>
            </p:nvSpPr>
            <p:spPr>
              <a:xfrm>
                <a:off x="3599892" y="6272424"/>
                <a:ext cx="1764196" cy="32492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vert="horz" rtlCol="0" anchor="ctr">
                <a:noAutofit/>
              </a:bodyPr>
              <a:lstStyle>
                <a:defPPr>
                  <a:defRPr lang="zh-CN"/>
                </a:defPPr>
                <a:lvl1pPr>
                  <a:spcBef>
                    <a:spcPct val="0"/>
                  </a:spcBef>
                  <a:buNone/>
                  <a:defRPr kumimoji="0" sz="2000">
                    <a:solidFill>
                      <a:schemeClr val="tx2"/>
                    </a:solidFill>
                    <a:latin typeface="Consolas" panose="020B0609020204030204" pitchFamily="49" charset="0"/>
                    <a:cs typeface="Consolas" panose="020B0609020204030204" pitchFamily="49" charset="0"/>
                  </a:defRPr>
                </a:lvl1pPr>
                <a:lvl2pPr>
                  <a:defRPr kumimoji="0">
                    <a:solidFill>
                      <a:schemeClr val="tx2"/>
                    </a:solidFill>
                  </a:defRPr>
                </a:lvl2pPr>
                <a:lvl3pPr>
                  <a:defRPr kumimoji="0">
                    <a:solidFill>
                      <a:schemeClr val="tx2"/>
                    </a:solidFill>
                  </a:defRPr>
                </a:lvl3pPr>
                <a:lvl4pPr>
                  <a:defRPr kumimoji="0">
                    <a:solidFill>
                      <a:schemeClr val="tx2"/>
                    </a:solidFill>
                  </a:defRPr>
                </a:lvl4pPr>
                <a:lvl5pPr>
                  <a:defRPr kumimoji="0">
                    <a:solidFill>
                      <a:schemeClr val="tx2"/>
                    </a:solidFill>
                  </a:defRPr>
                </a:lvl5pPr>
                <a:lvl6pPr>
                  <a:defRPr kumimoji="0">
                    <a:solidFill>
                      <a:schemeClr val="tx2"/>
                    </a:solidFill>
                  </a:defRPr>
                </a:lvl6pPr>
                <a:lvl7pPr>
                  <a:defRPr kumimoji="0">
                    <a:solidFill>
                      <a:schemeClr val="tx2"/>
                    </a:solidFill>
                  </a:defRPr>
                </a:lvl7pPr>
                <a:lvl8pPr>
                  <a:defRPr kumimoji="0">
                    <a:solidFill>
                      <a:schemeClr val="tx2"/>
                    </a:solidFill>
                  </a:defRPr>
                </a:lvl8pPr>
                <a:lvl9pPr>
                  <a:defRPr kumimoji="0">
                    <a:solidFill>
                      <a:schemeClr val="tx2"/>
                    </a:solidFill>
                  </a:defRPr>
                </a:lvl9pPr>
              </a:lstStyle>
              <a:p>
                <a:r>
                  <a:rPr lang="en-US" altLang="zh-CN" sz="1800" dirty="0"/>
                  <a:t>stu-tea.exe</a:t>
                </a:r>
                <a:endParaRPr lang="zh-CN" altLang="en-US" sz="1800" dirty="0"/>
              </a:p>
            </p:txBody>
          </p:sp>
          <p:sp>
            <p:nvSpPr>
              <p:cNvPr id="21" name="下箭头 20"/>
              <p:cNvSpPr/>
              <p:nvPr/>
            </p:nvSpPr>
            <p:spPr>
              <a:xfrm>
                <a:off x="4355976" y="6021288"/>
                <a:ext cx="72008" cy="172759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4" name="Rectangle 2"/>
            <p:cNvSpPr txBox="1">
              <a:spLocks noChangeArrowheads="1"/>
            </p:cNvSpPr>
            <p:nvPr/>
          </p:nvSpPr>
          <p:spPr>
            <a:xfrm>
              <a:off x="4499992" y="6128408"/>
              <a:ext cx="720080" cy="32492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vert="horz" rtlCol="0" anchor="ctr">
              <a:noAutofit/>
            </a:bodyPr>
            <a:lstStyle>
              <a:lvl1pPr algn="ctr" rtl="0" eaLnBrk="1" latinLnBrk="0" hangingPunct="1">
                <a:spcBef>
                  <a:spcPct val="0"/>
                </a:spcBef>
                <a:buNone/>
                <a:defRPr kumimoji="0" sz="4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eaLnBrk="1" latinLnBrk="0" hangingPunct="1">
                <a:defRPr kumimoji="0">
                  <a:solidFill>
                    <a:schemeClr val="tx2"/>
                  </a:solidFill>
                </a:defRPr>
              </a:lvl2pPr>
              <a:lvl3pPr eaLnBrk="1" latinLnBrk="0" hangingPunct="1">
                <a:defRPr kumimoji="0">
                  <a:solidFill>
                    <a:schemeClr val="tx2"/>
                  </a:solidFill>
                </a:defRPr>
              </a:lvl3pPr>
              <a:lvl4pPr eaLnBrk="1" latinLnBrk="0" hangingPunct="1">
                <a:defRPr kumimoji="0">
                  <a:solidFill>
                    <a:schemeClr val="tx2"/>
                  </a:solidFill>
                </a:defRPr>
              </a:lvl4pPr>
              <a:lvl5pPr eaLnBrk="1" latinLnBrk="0" hangingPunct="1">
                <a:defRPr kumimoji="0">
                  <a:solidFill>
                    <a:schemeClr val="tx2"/>
                  </a:solidFill>
                </a:defRPr>
              </a:lvl5pPr>
              <a:lvl6pPr eaLnBrk="1" latinLnBrk="0" hangingPunct="1">
                <a:defRPr kumimoji="0">
                  <a:solidFill>
                    <a:schemeClr val="tx2"/>
                  </a:solidFill>
                </a:defRPr>
              </a:lvl6pPr>
              <a:lvl7pPr eaLnBrk="1" latinLnBrk="0" hangingPunct="1">
                <a:defRPr kumimoji="0">
                  <a:solidFill>
                    <a:schemeClr val="tx2"/>
                  </a:solidFill>
                </a:defRPr>
              </a:lvl7pPr>
              <a:lvl8pPr eaLnBrk="1" latinLnBrk="0" hangingPunct="1">
                <a:defRPr kumimoji="0">
                  <a:solidFill>
                    <a:schemeClr val="tx2"/>
                  </a:solidFill>
                </a:defRPr>
              </a:lvl8pPr>
              <a:lvl9pPr eaLnBrk="1" latinLnBrk="0" hangingPunct="1">
                <a:defRPr kumimoji="0"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zh-CN" altLang="en-US" sz="1600" dirty="0"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链接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843808" y="5445224"/>
            <a:ext cx="6264696" cy="1368152"/>
            <a:chOff x="2843808" y="5445224"/>
            <a:chExt cx="6264696" cy="1368152"/>
          </a:xfrm>
        </p:grpSpPr>
        <p:grpSp>
          <p:nvGrpSpPr>
            <p:cNvPr id="24" name="组合 23"/>
            <p:cNvGrpSpPr/>
            <p:nvPr/>
          </p:nvGrpSpPr>
          <p:grpSpPr>
            <a:xfrm>
              <a:off x="2843808" y="5797792"/>
              <a:ext cx="3600400" cy="367512"/>
              <a:chOff x="2843808" y="5513496"/>
              <a:chExt cx="3600400" cy="367512"/>
            </a:xfrm>
          </p:grpSpPr>
          <p:sp>
            <p:nvSpPr>
              <p:cNvPr id="17" name="Rectangle 2"/>
              <p:cNvSpPr txBox="1">
                <a:spLocks noChangeArrowheads="1"/>
              </p:cNvSpPr>
              <p:nvPr/>
            </p:nvSpPr>
            <p:spPr>
              <a:xfrm>
                <a:off x="2843808" y="5517232"/>
                <a:ext cx="360040" cy="363776"/>
              </a:xfrm>
              <a:prstGeom prst="rect">
                <a:avLst/>
              </a:prstGeom>
            </p:spPr>
            <p:txBody>
              <a:bodyPr vert="horz" rtlCol="0" anchor="ctr">
                <a:noAutofit/>
              </a:bodyPr>
              <a:lstStyle>
                <a:lvl1pPr algn="ctr" rtl="0" eaLnBrk="1" latinLnBrk="0" hangingPunct="1">
                  <a:spcBef>
                    <a:spcPct val="0"/>
                  </a:spcBef>
                  <a:buNone/>
                  <a:defRPr kumimoji="0" sz="44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eaLnBrk="1" latinLnBrk="0" hangingPunct="1">
                  <a:defRPr kumimoji="0">
                    <a:solidFill>
                      <a:schemeClr val="tx2"/>
                    </a:solidFill>
                  </a:defRPr>
                </a:lvl2pPr>
                <a:lvl3pPr eaLnBrk="1" latinLnBrk="0" hangingPunct="1">
                  <a:defRPr kumimoji="0">
                    <a:solidFill>
                      <a:schemeClr val="tx2"/>
                    </a:solidFill>
                  </a:defRPr>
                </a:lvl3pPr>
                <a:lvl4pPr eaLnBrk="1" latinLnBrk="0" hangingPunct="1">
                  <a:defRPr kumimoji="0">
                    <a:solidFill>
                      <a:schemeClr val="tx2"/>
                    </a:solidFill>
                  </a:defRPr>
                </a:lvl4pPr>
                <a:lvl5pPr eaLnBrk="1" latinLnBrk="0" hangingPunct="1">
                  <a:defRPr kumimoji="0">
                    <a:solidFill>
                      <a:schemeClr val="tx2"/>
                    </a:solidFill>
                  </a:defRPr>
                </a:lvl5pPr>
                <a:lvl6pPr eaLnBrk="1" latinLnBrk="0" hangingPunct="1">
                  <a:defRPr kumimoji="0">
                    <a:solidFill>
                      <a:schemeClr val="tx2"/>
                    </a:solidFill>
                  </a:defRPr>
                </a:lvl6pPr>
                <a:lvl7pPr eaLnBrk="1" latinLnBrk="0" hangingPunct="1">
                  <a:defRPr kumimoji="0">
                    <a:solidFill>
                      <a:schemeClr val="tx2"/>
                    </a:solidFill>
                  </a:defRPr>
                </a:lvl7pPr>
                <a:lvl8pPr eaLnBrk="1" latinLnBrk="0" hangingPunct="1">
                  <a:defRPr kumimoji="0">
                    <a:solidFill>
                      <a:schemeClr val="tx2"/>
                    </a:solidFill>
                  </a:defRPr>
                </a:lvl8pPr>
                <a:lvl9pPr eaLnBrk="1" latinLnBrk="0" hangingPunct="1">
                  <a:defRPr kumimoji="0">
                    <a:solidFill>
                      <a:schemeClr val="tx2"/>
                    </a:solidFill>
                  </a:defRPr>
                </a:lvl9pPr>
              </a:lstStyle>
              <a:p>
                <a:pPr algn="l"/>
                <a:r>
                  <a:rPr lang="en-US" altLang="zh-CN" sz="2400" dirty="0"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+</a:t>
                </a:r>
                <a:endParaRPr lang="zh-CN" altLang="en-US" sz="2400" dirty="0"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18" name="Rectangle 2"/>
              <p:cNvSpPr txBox="1">
                <a:spLocks noChangeArrowheads="1"/>
              </p:cNvSpPr>
              <p:nvPr/>
            </p:nvSpPr>
            <p:spPr>
              <a:xfrm>
                <a:off x="6084168" y="5513496"/>
                <a:ext cx="360040" cy="363776"/>
              </a:xfrm>
              <a:prstGeom prst="rect">
                <a:avLst/>
              </a:prstGeom>
            </p:spPr>
            <p:txBody>
              <a:bodyPr vert="horz" rtlCol="0" anchor="ctr">
                <a:noAutofit/>
              </a:bodyPr>
              <a:lstStyle>
                <a:lvl1pPr algn="ctr" rtl="0" eaLnBrk="1" latinLnBrk="0" hangingPunct="1">
                  <a:spcBef>
                    <a:spcPct val="0"/>
                  </a:spcBef>
                  <a:buNone/>
                  <a:defRPr kumimoji="0" sz="44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eaLnBrk="1" latinLnBrk="0" hangingPunct="1">
                  <a:defRPr kumimoji="0">
                    <a:solidFill>
                      <a:schemeClr val="tx2"/>
                    </a:solidFill>
                  </a:defRPr>
                </a:lvl2pPr>
                <a:lvl3pPr eaLnBrk="1" latinLnBrk="0" hangingPunct="1">
                  <a:defRPr kumimoji="0">
                    <a:solidFill>
                      <a:schemeClr val="tx2"/>
                    </a:solidFill>
                  </a:defRPr>
                </a:lvl3pPr>
                <a:lvl4pPr eaLnBrk="1" latinLnBrk="0" hangingPunct="1">
                  <a:defRPr kumimoji="0">
                    <a:solidFill>
                      <a:schemeClr val="tx2"/>
                    </a:solidFill>
                  </a:defRPr>
                </a:lvl4pPr>
                <a:lvl5pPr eaLnBrk="1" latinLnBrk="0" hangingPunct="1">
                  <a:defRPr kumimoji="0">
                    <a:solidFill>
                      <a:schemeClr val="tx2"/>
                    </a:solidFill>
                  </a:defRPr>
                </a:lvl5pPr>
                <a:lvl6pPr eaLnBrk="1" latinLnBrk="0" hangingPunct="1">
                  <a:defRPr kumimoji="0">
                    <a:solidFill>
                      <a:schemeClr val="tx2"/>
                    </a:solidFill>
                  </a:defRPr>
                </a:lvl6pPr>
                <a:lvl7pPr eaLnBrk="1" latinLnBrk="0" hangingPunct="1">
                  <a:defRPr kumimoji="0">
                    <a:solidFill>
                      <a:schemeClr val="tx2"/>
                    </a:solidFill>
                  </a:defRPr>
                </a:lvl7pPr>
                <a:lvl8pPr eaLnBrk="1" latinLnBrk="0" hangingPunct="1">
                  <a:defRPr kumimoji="0">
                    <a:solidFill>
                      <a:schemeClr val="tx2"/>
                    </a:solidFill>
                  </a:defRPr>
                </a:lvl8pPr>
                <a:lvl9pPr eaLnBrk="1" latinLnBrk="0" hangingPunct="1">
                  <a:defRPr kumimoji="0">
                    <a:solidFill>
                      <a:schemeClr val="tx2"/>
                    </a:solidFill>
                  </a:defRPr>
                </a:lvl9pPr>
              </a:lstStyle>
              <a:p>
                <a:pPr algn="l"/>
                <a:r>
                  <a:rPr lang="en-US" altLang="zh-CN" sz="2400" dirty="0"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+</a:t>
                </a:r>
                <a:endParaRPr lang="zh-CN" altLang="en-US" sz="2400" dirty="0"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35" name="Rectangle 2"/>
            <p:cNvSpPr txBox="1">
              <a:spLocks noChangeArrowheads="1"/>
            </p:cNvSpPr>
            <p:nvPr/>
          </p:nvSpPr>
          <p:spPr>
            <a:xfrm>
              <a:off x="8100392" y="5801528"/>
              <a:ext cx="360040" cy="363776"/>
            </a:xfrm>
            <a:prstGeom prst="rect">
              <a:avLst/>
            </a:prstGeom>
          </p:spPr>
          <p:txBody>
            <a:bodyPr vert="horz" rtlCol="0" anchor="ctr">
              <a:noAutofit/>
            </a:bodyPr>
            <a:lstStyle>
              <a:lvl1pPr algn="ctr" rtl="0" eaLnBrk="1" latinLnBrk="0" hangingPunct="1">
                <a:spcBef>
                  <a:spcPct val="0"/>
                </a:spcBef>
                <a:buNone/>
                <a:defRPr kumimoji="0" sz="4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eaLnBrk="1" latinLnBrk="0" hangingPunct="1">
                <a:defRPr kumimoji="0">
                  <a:solidFill>
                    <a:schemeClr val="tx2"/>
                  </a:solidFill>
                </a:defRPr>
              </a:lvl2pPr>
              <a:lvl3pPr eaLnBrk="1" latinLnBrk="0" hangingPunct="1">
                <a:defRPr kumimoji="0">
                  <a:solidFill>
                    <a:schemeClr val="tx2"/>
                  </a:solidFill>
                </a:defRPr>
              </a:lvl3pPr>
              <a:lvl4pPr eaLnBrk="1" latinLnBrk="0" hangingPunct="1">
                <a:defRPr kumimoji="0">
                  <a:solidFill>
                    <a:schemeClr val="tx2"/>
                  </a:solidFill>
                </a:defRPr>
              </a:lvl4pPr>
              <a:lvl5pPr eaLnBrk="1" latinLnBrk="0" hangingPunct="1">
                <a:defRPr kumimoji="0">
                  <a:solidFill>
                    <a:schemeClr val="tx2"/>
                  </a:solidFill>
                </a:defRPr>
              </a:lvl5pPr>
              <a:lvl6pPr eaLnBrk="1" latinLnBrk="0" hangingPunct="1">
                <a:defRPr kumimoji="0">
                  <a:solidFill>
                    <a:schemeClr val="tx2"/>
                  </a:solidFill>
                </a:defRPr>
              </a:lvl6pPr>
              <a:lvl7pPr eaLnBrk="1" latinLnBrk="0" hangingPunct="1">
                <a:defRPr kumimoji="0">
                  <a:solidFill>
                    <a:schemeClr val="tx2"/>
                  </a:solidFill>
                </a:defRPr>
              </a:lvl7pPr>
              <a:lvl8pPr eaLnBrk="1" latinLnBrk="0" hangingPunct="1">
                <a:defRPr kumimoji="0">
                  <a:solidFill>
                    <a:schemeClr val="tx2"/>
                  </a:solidFill>
                </a:defRPr>
              </a:lvl8pPr>
              <a:lvl9pPr eaLnBrk="1" latinLnBrk="0" hangingPunct="1">
                <a:defRPr kumimoji="0"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en-US" altLang="zh-CN" sz="2400" dirty="0"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+</a:t>
              </a:r>
              <a:endParaRPr lang="zh-CN" altLang="en-US" sz="24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6" name="Rectangle 2"/>
            <p:cNvSpPr txBox="1">
              <a:spLocks noChangeArrowheads="1"/>
            </p:cNvSpPr>
            <p:nvPr/>
          </p:nvSpPr>
          <p:spPr>
            <a:xfrm>
              <a:off x="8460432" y="5445224"/>
              <a:ext cx="648072" cy="136815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vert="horz" rtlCol="0" anchor="ctr">
              <a:noAutofit/>
            </a:bodyPr>
            <a:lstStyle>
              <a:lvl1pPr algn="ctr" rtl="0" eaLnBrk="1" latinLnBrk="0" hangingPunct="1">
                <a:spcBef>
                  <a:spcPct val="0"/>
                </a:spcBef>
                <a:buNone/>
                <a:defRPr kumimoji="0" sz="4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eaLnBrk="1" latinLnBrk="0" hangingPunct="1">
                <a:defRPr kumimoji="0">
                  <a:solidFill>
                    <a:schemeClr val="tx2"/>
                  </a:solidFill>
                </a:defRPr>
              </a:lvl2pPr>
              <a:lvl3pPr eaLnBrk="1" latinLnBrk="0" hangingPunct="1">
                <a:defRPr kumimoji="0">
                  <a:solidFill>
                    <a:schemeClr val="tx2"/>
                  </a:solidFill>
                </a:defRPr>
              </a:lvl3pPr>
              <a:lvl4pPr eaLnBrk="1" latinLnBrk="0" hangingPunct="1">
                <a:defRPr kumimoji="0">
                  <a:solidFill>
                    <a:schemeClr val="tx2"/>
                  </a:solidFill>
                </a:defRPr>
              </a:lvl4pPr>
              <a:lvl5pPr eaLnBrk="1" latinLnBrk="0" hangingPunct="1">
                <a:defRPr kumimoji="0">
                  <a:solidFill>
                    <a:schemeClr val="tx2"/>
                  </a:solidFill>
                </a:defRPr>
              </a:lvl5pPr>
              <a:lvl6pPr eaLnBrk="1" latinLnBrk="0" hangingPunct="1">
                <a:defRPr kumimoji="0">
                  <a:solidFill>
                    <a:schemeClr val="tx2"/>
                  </a:solidFill>
                </a:defRPr>
              </a:lvl6pPr>
              <a:lvl7pPr eaLnBrk="1" latinLnBrk="0" hangingPunct="1">
                <a:defRPr kumimoji="0">
                  <a:solidFill>
                    <a:schemeClr val="tx2"/>
                  </a:solidFill>
                </a:defRPr>
              </a:lvl7pPr>
              <a:lvl8pPr eaLnBrk="1" latinLnBrk="0" hangingPunct="1">
                <a:defRPr kumimoji="0">
                  <a:solidFill>
                    <a:schemeClr val="tx2"/>
                  </a:solidFill>
                </a:defRPr>
              </a:lvl8pPr>
              <a:lvl9pPr eaLnBrk="1" latinLnBrk="0" hangingPunct="1">
                <a:defRPr kumimoji="0"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zh-CN" altLang="en-US" sz="1400" dirty="0"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其他被</a:t>
              </a:r>
              <a:r>
                <a:rPr lang="en-US" altLang="zh-CN" sz="1400" dirty="0"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include</a:t>
              </a:r>
              <a:r>
                <a:rPr lang="zh-CN" altLang="en-US" sz="1400" dirty="0"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的文件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760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44449" y="-13742"/>
            <a:ext cx="4242811" cy="706438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Consolas" pitchFamily="49" charset="0"/>
                <a:cs typeface="Consolas" pitchFamily="49" charset="0"/>
              </a:rPr>
              <a:t>外部变量</a:t>
            </a:r>
            <a:r>
              <a:rPr lang="en-US" altLang="zh-CN" sz="3200" dirty="0">
                <a:latin typeface="Consolas" pitchFamily="49" charset="0"/>
                <a:cs typeface="Consolas" pitchFamily="49" charset="0"/>
              </a:rPr>
              <a:t>extern</a:t>
            </a:r>
            <a:endParaRPr lang="zh-CN" altLang="en-US" sz="3200" dirty="0"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34925" y="549275"/>
            <a:ext cx="2449513" cy="1200150"/>
            <a:chOff x="539552" y="971436"/>
            <a:chExt cx="2448272" cy="1200329"/>
          </a:xfrm>
        </p:grpSpPr>
        <p:sp>
          <p:nvSpPr>
            <p:cNvPr id="4" name="矩形 3"/>
            <p:cNvSpPr/>
            <p:nvPr/>
          </p:nvSpPr>
          <p:spPr>
            <a:xfrm>
              <a:off x="539552" y="1341379"/>
              <a:ext cx="2448272" cy="830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#pragma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once</a:t>
              </a:r>
              <a:endPara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&lt;iostream&gt;</a:t>
              </a:r>
              <a:endPara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using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namespace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std;</a:t>
              </a:r>
              <a:endParaRPr lang="zh-CN" altLang="en-US" sz="1600" dirty="0"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</p:txBody>
        </p:sp>
        <p:sp>
          <p:nvSpPr>
            <p:cNvPr id="12312" name="矩形 4"/>
            <p:cNvSpPr>
              <a:spLocks noChangeArrowheads="1"/>
            </p:cNvSpPr>
            <p:nvPr/>
          </p:nvSpPr>
          <p:spPr bwMode="auto">
            <a:xfrm>
              <a:off x="539552" y="971436"/>
              <a:ext cx="163792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itchFamily="18" charset="2"/>
                <a:buChar char=""/>
                <a:defRPr sz="3200">
                  <a:solidFill>
                    <a:schemeClr val="tx1"/>
                  </a:solidFill>
                  <a:latin typeface="Cambria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itchFamily="18" charset="2"/>
                <a:buChar char="³"/>
                <a:defRPr sz="2800">
                  <a:solidFill>
                    <a:schemeClr val="tx1"/>
                  </a:solidFill>
                  <a:latin typeface="Cambria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itchFamily="18" charset="2"/>
                <a:buChar char="®"/>
                <a:defRPr sz="2400">
                  <a:solidFill>
                    <a:schemeClr val="tx1"/>
                  </a:solidFill>
                  <a:latin typeface="Cambria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itchFamily="18" charset="2"/>
                <a:buChar char="¯"/>
                <a:defRPr sz="2000">
                  <a:solidFill>
                    <a:schemeClr val="tx1"/>
                  </a:solidFill>
                  <a:latin typeface="Cambria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</a:rPr>
                <a:t>include.h</a:t>
              </a:r>
              <a:endParaRPr lang="zh-CN" altLang="en-US" sz="1600">
                <a:latin typeface="Times New Roman" pitchFamily="18" charset="0"/>
              </a:endParaRPr>
            </a:p>
          </p:txBody>
        </p:sp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34925" y="1844675"/>
            <a:ext cx="2449513" cy="4154488"/>
            <a:chOff x="3203848" y="871325"/>
            <a:chExt cx="2448272" cy="4154984"/>
          </a:xfrm>
        </p:grpSpPr>
        <p:sp>
          <p:nvSpPr>
            <p:cNvPr id="7" name="矩形 6"/>
            <p:cNvSpPr/>
            <p:nvPr/>
          </p:nvSpPr>
          <p:spPr>
            <a:xfrm>
              <a:off x="3203848" y="1241257"/>
              <a:ext cx="2448272" cy="37850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include.h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>
                <a:defRPr/>
              </a:pPr>
              <a:endParaRPr lang="zh-CN" altLang="en-US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input();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sort();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output();</a:t>
              </a:r>
            </a:p>
            <a:p>
              <a:pPr>
                <a:defRPr/>
              </a:pPr>
              <a:endParaRPr lang="zh-CN" altLang="en-US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>
                <a:defRPr/>
              </a:pPr>
              <a:r>
                <a:rPr lang="en-US" altLang="zh-CN" sz="1600" dirty="0" err="1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arrData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[10];</a:t>
              </a:r>
            </a:p>
            <a:p>
              <a:pPr>
                <a:defRPr/>
              </a:pPr>
              <a:r>
                <a:rPr lang="en-US" altLang="zh-CN" sz="1600" dirty="0" err="1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n(10);</a:t>
              </a:r>
            </a:p>
            <a:p>
              <a:pPr>
                <a:defRPr/>
              </a:pPr>
              <a:endParaRPr lang="zh-CN" altLang="en-US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>
                <a:defRPr/>
              </a:pPr>
              <a:r>
                <a:rPr lang="en-US" altLang="zh-CN" sz="1600" dirty="0" err="1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main()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 input();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   sort();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   output();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  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return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0;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  <a:endParaRPr lang="zh-CN" altLang="en-US" sz="1600" dirty="0"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</p:txBody>
        </p:sp>
        <p:sp>
          <p:nvSpPr>
            <p:cNvPr id="12310" name="矩形 7"/>
            <p:cNvSpPr>
              <a:spLocks noChangeArrowheads="1"/>
            </p:cNvSpPr>
            <p:nvPr/>
          </p:nvSpPr>
          <p:spPr bwMode="auto">
            <a:xfrm>
              <a:off x="3212559" y="871325"/>
              <a:ext cx="142793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itchFamily="18" charset="2"/>
                <a:buChar char=""/>
                <a:defRPr sz="3200">
                  <a:solidFill>
                    <a:schemeClr val="tx1"/>
                  </a:solidFill>
                  <a:latin typeface="Cambria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itchFamily="18" charset="2"/>
                <a:buChar char="³"/>
                <a:defRPr sz="2800">
                  <a:solidFill>
                    <a:schemeClr val="tx1"/>
                  </a:solidFill>
                  <a:latin typeface="Cambria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itchFamily="18" charset="2"/>
                <a:buChar char="®"/>
                <a:defRPr sz="2400">
                  <a:solidFill>
                    <a:schemeClr val="tx1"/>
                  </a:solidFill>
                  <a:latin typeface="Cambria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itchFamily="18" charset="2"/>
                <a:buChar char="¯"/>
                <a:defRPr sz="2000">
                  <a:solidFill>
                    <a:schemeClr val="tx1"/>
                  </a:solidFill>
                  <a:latin typeface="Cambria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</a:rPr>
                <a:t>extern.cpp</a:t>
              </a:r>
              <a:endParaRPr lang="zh-CN" altLang="en-US" sz="1600">
                <a:latin typeface="Times New Roman" pitchFamily="18" charset="0"/>
              </a:endParaRPr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2627313" y="541338"/>
            <a:ext cx="5113337" cy="2455862"/>
            <a:chOff x="3275856" y="620688"/>
            <a:chExt cx="5112568" cy="2454927"/>
          </a:xfrm>
        </p:grpSpPr>
        <p:sp>
          <p:nvSpPr>
            <p:cNvPr id="10" name="矩形 9"/>
            <p:cNvSpPr/>
            <p:nvPr/>
          </p:nvSpPr>
          <p:spPr>
            <a:xfrm>
              <a:off x="3275856" y="1014238"/>
              <a:ext cx="5112568" cy="2061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include.h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extern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arrData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[10];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extern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n;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input()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"Input 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n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 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intergers</a:t>
              </a:r>
              <a:r>
                <a:rPr lang="zh-CN" altLang="en-US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：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269875">
                <a:defRPr/>
              </a:pPr>
              <a:r>
                <a:rPr lang="nn-NO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for</a:t>
              </a:r>
              <a:r>
                <a:rPr lang="nn-NO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(</a:t>
              </a:r>
              <a:r>
                <a:rPr lang="nn-NO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int</a:t>
              </a:r>
              <a:r>
                <a:rPr lang="nn-NO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i = 0; i &lt; n; i++)</a:t>
              </a:r>
            </a:p>
            <a:p>
              <a:pPr marL="530225">
                <a:defRPr/>
              </a:pP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&gt;&gt;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arrData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[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];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  <a:endParaRPr lang="zh-CN" altLang="en-US" sz="1600" dirty="0"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</p:txBody>
        </p:sp>
        <p:sp>
          <p:nvSpPr>
            <p:cNvPr id="12308" name="矩形 10"/>
            <p:cNvSpPr>
              <a:spLocks noChangeArrowheads="1"/>
            </p:cNvSpPr>
            <p:nvPr/>
          </p:nvSpPr>
          <p:spPr bwMode="auto">
            <a:xfrm>
              <a:off x="3275856" y="620688"/>
              <a:ext cx="163792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itchFamily="18" charset="2"/>
                <a:buChar char=""/>
                <a:defRPr sz="3200">
                  <a:solidFill>
                    <a:schemeClr val="tx1"/>
                  </a:solidFill>
                  <a:latin typeface="Cambria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itchFamily="18" charset="2"/>
                <a:buChar char="³"/>
                <a:defRPr sz="2800">
                  <a:solidFill>
                    <a:schemeClr val="tx1"/>
                  </a:solidFill>
                  <a:latin typeface="Cambria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itchFamily="18" charset="2"/>
                <a:buChar char="®"/>
                <a:defRPr sz="2400">
                  <a:solidFill>
                    <a:schemeClr val="tx1"/>
                  </a:solidFill>
                  <a:latin typeface="Cambria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itchFamily="18" charset="2"/>
                <a:buChar char="¯"/>
                <a:defRPr sz="2000">
                  <a:solidFill>
                    <a:schemeClr val="tx1"/>
                  </a:solidFill>
                  <a:latin typeface="Cambria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</a:rPr>
                <a:t>input.cpp</a:t>
              </a:r>
              <a:endParaRPr lang="zh-CN" altLang="en-US" sz="1600">
                <a:latin typeface="Times New Roman" pitchFamily="18" charset="0"/>
              </a:endParaRPr>
            </a:p>
          </p:txBody>
        </p:sp>
      </p:grp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2627313" y="3011488"/>
            <a:ext cx="4438650" cy="3657600"/>
            <a:chOff x="3977680" y="2129111"/>
            <a:chExt cx="4437620" cy="3657569"/>
          </a:xfrm>
        </p:grpSpPr>
        <p:sp>
          <p:nvSpPr>
            <p:cNvPr id="12" name="矩形 11"/>
            <p:cNvSpPr/>
            <p:nvPr/>
          </p:nvSpPr>
          <p:spPr>
            <a:xfrm>
              <a:off x="3977680" y="2494233"/>
              <a:ext cx="4437620" cy="32924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include.h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extern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arrData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[10];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extern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n;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sort()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i,j,t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269875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for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=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0;i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n-1;i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++)</a:t>
              </a:r>
            </a:p>
            <a:p>
              <a:pPr marL="539750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for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(j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 j &lt; n;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j++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</a:t>
              </a:r>
            </a:p>
            <a:p>
              <a:pPr marL="809625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if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arrData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[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] &gt;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arrData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[j])</a:t>
              </a:r>
            </a:p>
            <a:p>
              <a:pPr marL="809625"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t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arrData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[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];</a:t>
              </a:r>
            </a:p>
            <a:p>
              <a:pPr marL="1077913">
                <a:defRPr/>
              </a:pP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arrData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[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]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arrData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[j];</a:t>
              </a:r>
            </a:p>
            <a:p>
              <a:pPr marL="1077913">
                <a:defRPr/>
              </a:pP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arrData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[j] = t;</a:t>
              </a:r>
            </a:p>
            <a:p>
              <a:pPr marL="809625"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  <a:endParaRPr lang="zh-CN" altLang="en-US" sz="1600" dirty="0"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</p:txBody>
        </p:sp>
        <p:sp>
          <p:nvSpPr>
            <p:cNvPr id="12306" name="矩形 13"/>
            <p:cNvSpPr>
              <a:spLocks noChangeArrowheads="1"/>
            </p:cNvSpPr>
            <p:nvPr/>
          </p:nvSpPr>
          <p:spPr bwMode="auto">
            <a:xfrm>
              <a:off x="3977680" y="2129111"/>
              <a:ext cx="163792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itchFamily="18" charset="2"/>
                <a:buChar char=""/>
                <a:defRPr sz="3200">
                  <a:solidFill>
                    <a:schemeClr val="tx1"/>
                  </a:solidFill>
                  <a:latin typeface="Cambria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itchFamily="18" charset="2"/>
                <a:buChar char="³"/>
                <a:defRPr sz="2800">
                  <a:solidFill>
                    <a:schemeClr val="tx1"/>
                  </a:solidFill>
                  <a:latin typeface="Cambria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itchFamily="18" charset="2"/>
                <a:buChar char="®"/>
                <a:defRPr sz="2400">
                  <a:solidFill>
                    <a:schemeClr val="tx1"/>
                  </a:solidFill>
                  <a:latin typeface="Cambria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itchFamily="18" charset="2"/>
                <a:buChar char="¯"/>
                <a:defRPr sz="2000">
                  <a:solidFill>
                    <a:schemeClr val="tx1"/>
                  </a:solidFill>
                  <a:latin typeface="Cambria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</a:rPr>
                <a:t>sort.cpp</a:t>
              </a:r>
              <a:endParaRPr lang="zh-CN" altLang="en-US" sz="1600">
                <a:latin typeface="Times New Roman" pitchFamily="18" charset="0"/>
              </a:endParaRPr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5362575" y="498475"/>
            <a:ext cx="3671888" cy="2400300"/>
            <a:chOff x="6660232" y="2196727"/>
            <a:chExt cx="3672408" cy="2400657"/>
          </a:xfrm>
        </p:grpSpPr>
        <p:sp>
          <p:nvSpPr>
            <p:cNvPr id="16" name="矩形 15"/>
            <p:cNvSpPr/>
            <p:nvPr/>
          </p:nvSpPr>
          <p:spPr>
            <a:xfrm>
              <a:off x="6660232" y="2534915"/>
              <a:ext cx="3672408" cy="20624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include.h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extern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arrData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[10];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extern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n;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output()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lang="nn-NO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for</a:t>
              </a:r>
              <a:r>
                <a:rPr lang="nn-NO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(</a:t>
              </a:r>
              <a:r>
                <a:rPr lang="nn-NO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int</a:t>
              </a:r>
              <a:r>
                <a:rPr lang="nn-NO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i = 0; i &lt; n; i++)</a:t>
              </a:r>
            </a:p>
            <a:p>
              <a:pPr marL="530225">
                <a:defRPr/>
              </a:pP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cout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arrData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[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]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 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357188">
                <a:defRPr/>
              </a:pP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  <a:endParaRPr lang="zh-CN" altLang="en-US" sz="1600" dirty="0"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</p:txBody>
        </p:sp>
        <p:sp>
          <p:nvSpPr>
            <p:cNvPr id="12304" name="矩形 16"/>
            <p:cNvSpPr>
              <a:spLocks noChangeArrowheads="1"/>
            </p:cNvSpPr>
            <p:nvPr/>
          </p:nvSpPr>
          <p:spPr bwMode="auto">
            <a:xfrm>
              <a:off x="6682009" y="2196727"/>
              <a:ext cx="163792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itchFamily="18" charset="2"/>
                <a:buChar char=""/>
                <a:defRPr sz="3200">
                  <a:solidFill>
                    <a:schemeClr val="tx1"/>
                  </a:solidFill>
                  <a:latin typeface="Cambria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itchFamily="18" charset="2"/>
                <a:buChar char="³"/>
                <a:defRPr sz="2800">
                  <a:solidFill>
                    <a:schemeClr val="tx1"/>
                  </a:solidFill>
                  <a:latin typeface="Cambria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itchFamily="18" charset="2"/>
                <a:buChar char="®"/>
                <a:defRPr sz="2400">
                  <a:solidFill>
                    <a:schemeClr val="tx1"/>
                  </a:solidFill>
                  <a:latin typeface="Cambria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itchFamily="18" charset="2"/>
                <a:buChar char="¯"/>
                <a:defRPr sz="2000">
                  <a:solidFill>
                    <a:schemeClr val="tx1"/>
                  </a:solidFill>
                  <a:latin typeface="Cambria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</a:rPr>
                <a:t>output.cpp</a:t>
              </a:r>
              <a:endParaRPr lang="zh-CN" altLang="en-US" sz="1600">
                <a:latin typeface="Times New Roman" pitchFamily="18" charset="0"/>
              </a:endParaRPr>
            </a:p>
          </p:txBody>
        </p:sp>
      </p:grp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4211638" y="6248400"/>
            <a:ext cx="4572000" cy="584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e-DE" altLang="zh-CN" sz="1600">
                <a:solidFill>
                  <a:schemeClr val="bg1"/>
                </a:solidFill>
                <a:latin typeface="Times New Roman" pitchFamily="18" charset="0"/>
              </a:rPr>
              <a:t>Input 10 intergers</a:t>
            </a:r>
            <a:r>
              <a:rPr lang="zh-CN" altLang="de-DE" sz="1600">
                <a:solidFill>
                  <a:schemeClr val="bg1"/>
                </a:solidFill>
                <a:latin typeface="Times New Roman" pitchFamily="18" charset="0"/>
              </a:rPr>
              <a:t>：</a:t>
            </a:r>
            <a:r>
              <a:rPr lang="de-DE" altLang="zh-CN" sz="1600">
                <a:solidFill>
                  <a:schemeClr val="bg1"/>
                </a:solidFill>
                <a:latin typeface="Times New Roman" pitchFamily="18" charset="0"/>
              </a:rPr>
              <a:t>90 102 0 -23 888 -567 6 4 2 8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e-DE" altLang="zh-CN" sz="1600">
                <a:solidFill>
                  <a:schemeClr val="bg1"/>
                </a:solidFill>
                <a:latin typeface="Times New Roman" pitchFamily="18" charset="0"/>
              </a:rPr>
              <a:t>-567 -23 0 2 4 6 8 90 102 888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44450" y="3644900"/>
            <a:ext cx="2006600" cy="647700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5384800" y="1089025"/>
            <a:ext cx="2697163" cy="539750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2687638" y="3644900"/>
            <a:ext cx="2697162" cy="541338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2667000" y="1208088"/>
            <a:ext cx="2625725" cy="541337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457614" y="87313"/>
            <a:ext cx="4578882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dirty="0">
                <a:latin typeface="+mn-ea"/>
                <a:ea typeface="+mn-ea"/>
              </a:rPr>
              <a:t>extern </a:t>
            </a:r>
            <a:r>
              <a:rPr lang="zh-CN" altLang="en-US" dirty="0">
                <a:latin typeface="+mn-ea"/>
                <a:ea typeface="+mn-ea"/>
              </a:rPr>
              <a:t>声明 ： 声明在其他文件中定义的变量</a:t>
            </a:r>
            <a:endParaRPr lang="de-DE" altLang="zh-CN" dirty="0">
              <a:latin typeface="+mn-ea"/>
              <a:ea typeface="+mn-ea"/>
            </a:endParaRPr>
          </a:p>
        </p:txBody>
      </p:sp>
      <p:pic>
        <p:nvPicPr>
          <p:cNvPr id="12313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13" t="18576" r="423" b="46474"/>
          <a:stretch>
            <a:fillRect/>
          </a:stretch>
        </p:blipFill>
        <p:spPr bwMode="auto">
          <a:xfrm>
            <a:off x="7096125" y="3248025"/>
            <a:ext cx="1938338" cy="255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636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116632"/>
            <a:ext cx="7772400" cy="990600"/>
          </a:xfrm>
        </p:spPr>
        <p:txBody>
          <a:bodyPr/>
          <a:lstStyle/>
          <a:p>
            <a:pPr eaLnBrk="1" hangingPunct="1"/>
            <a:r>
              <a:rPr lang="zh-CN" altLang="en-US" dirty="0"/>
              <a:t>编译预处理命令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268760"/>
            <a:ext cx="8382000" cy="4648200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zh-CN" sz="2800" dirty="0">
                <a:latin typeface="宋体" charset="-122"/>
              </a:rPr>
              <a:t>#include </a:t>
            </a:r>
            <a:r>
              <a:rPr lang="zh-CN" altLang="zh-CN" sz="2800" dirty="0">
                <a:latin typeface="宋体" charset="-122"/>
              </a:rPr>
              <a:t>包含指令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2400" dirty="0">
                <a:latin typeface="宋体" charset="-122"/>
              </a:rPr>
              <a:t>将一个源文件嵌入到当前源文件中该点处。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CN" sz="2400" dirty="0">
                <a:latin typeface="宋体" charset="-122"/>
              </a:rPr>
              <a:t>#include&lt;</a:t>
            </a:r>
            <a:r>
              <a:rPr lang="zh-CN" altLang="en-US" sz="2400" dirty="0">
                <a:latin typeface="宋体" charset="-122"/>
              </a:rPr>
              <a:t>文件名</a:t>
            </a:r>
            <a:r>
              <a:rPr lang="en-US" altLang="zh-CN" sz="2400" dirty="0">
                <a:latin typeface="宋体" charset="-122"/>
              </a:rPr>
              <a:t>&gt;  </a:t>
            </a:r>
          </a:p>
          <a:p>
            <a:pPr lvl="2" eaLnBrk="1" hangingPunct="1">
              <a:spcBef>
                <a:spcPct val="10000"/>
              </a:spcBef>
            </a:pPr>
            <a:r>
              <a:rPr lang="zh-CN" altLang="en-US" sz="2000" dirty="0">
                <a:latin typeface="宋体" charset="-122"/>
              </a:rPr>
              <a:t>按标准方式搜索，文件位于</a:t>
            </a:r>
            <a:r>
              <a:rPr lang="en-US" altLang="zh-CN" sz="2000" dirty="0">
                <a:latin typeface="宋体" charset="-122"/>
              </a:rPr>
              <a:t>C++</a:t>
            </a:r>
            <a:r>
              <a:rPr lang="zh-CN" altLang="en-US" sz="2000" dirty="0">
                <a:latin typeface="宋体" charset="-122"/>
              </a:rPr>
              <a:t>系统目录的</a:t>
            </a:r>
            <a:r>
              <a:rPr lang="en-US" altLang="zh-CN" sz="2000" dirty="0">
                <a:latin typeface="宋体" charset="-122"/>
              </a:rPr>
              <a:t>include</a:t>
            </a:r>
            <a:r>
              <a:rPr lang="zh-CN" altLang="en-US" sz="2000" dirty="0">
                <a:latin typeface="宋体" charset="-122"/>
              </a:rPr>
              <a:t>子目录下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CN" sz="2400" dirty="0">
                <a:latin typeface="宋体" charset="-122"/>
              </a:rPr>
              <a:t>#include"</a:t>
            </a:r>
            <a:r>
              <a:rPr lang="zh-CN" altLang="en-US" sz="2400" dirty="0">
                <a:latin typeface="宋体" charset="-122"/>
              </a:rPr>
              <a:t>文件名</a:t>
            </a:r>
            <a:r>
              <a:rPr lang="en-US" altLang="zh-CN" sz="2400" dirty="0">
                <a:latin typeface="宋体" charset="-122"/>
              </a:rPr>
              <a:t>"</a:t>
            </a:r>
          </a:p>
          <a:p>
            <a:pPr lvl="2" eaLnBrk="1" hangingPunct="1">
              <a:spcBef>
                <a:spcPct val="10000"/>
              </a:spcBef>
            </a:pPr>
            <a:r>
              <a:rPr lang="zh-CN" altLang="en-US" sz="2000" dirty="0">
                <a:latin typeface="宋体" charset="-122"/>
              </a:rPr>
              <a:t>首先在当前目录中搜索，若没有，再按标准方式搜索。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800" dirty="0">
                <a:latin typeface="宋体" charset="-122"/>
              </a:rPr>
              <a:t>#define </a:t>
            </a:r>
            <a:r>
              <a:rPr lang="zh-CN" altLang="zh-CN" sz="2800" dirty="0">
                <a:latin typeface="宋体" charset="-122"/>
              </a:rPr>
              <a:t>宏定义指令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2400" dirty="0">
                <a:latin typeface="宋体" charset="-122"/>
              </a:rPr>
              <a:t>定义符号常量，很多情况下已被</a:t>
            </a:r>
            <a:r>
              <a:rPr lang="en-US" altLang="zh-CN" sz="2400" dirty="0" err="1">
                <a:latin typeface="宋体" charset="-122"/>
              </a:rPr>
              <a:t>const</a:t>
            </a:r>
            <a:r>
              <a:rPr lang="zh-CN" altLang="en-US" sz="2400" dirty="0">
                <a:latin typeface="宋体" charset="-122"/>
              </a:rPr>
              <a:t>定义语句取代。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2400" dirty="0">
                <a:latin typeface="宋体" charset="-122"/>
              </a:rPr>
              <a:t>定义带参数宏，已被内联函数取代。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800" dirty="0">
                <a:latin typeface="宋体" charset="-122"/>
              </a:rPr>
              <a:t>#</a:t>
            </a:r>
            <a:r>
              <a:rPr lang="en-US" altLang="zh-CN" sz="2800" dirty="0" err="1">
                <a:latin typeface="宋体" charset="-122"/>
              </a:rPr>
              <a:t>undef</a:t>
            </a:r>
            <a:endParaRPr lang="en-US" altLang="zh-CN" sz="2800" dirty="0">
              <a:latin typeface="宋体" charset="-122"/>
            </a:endParaRPr>
          </a:p>
          <a:p>
            <a:pPr lvl="1" eaLnBrk="1" hangingPunct="1">
              <a:spcBef>
                <a:spcPct val="10000"/>
              </a:spcBef>
            </a:pPr>
            <a:r>
              <a:rPr lang="zh-CN" altLang="en-US" sz="2400" dirty="0">
                <a:latin typeface="宋体" charset="-122"/>
              </a:rPr>
              <a:t>删除由</a:t>
            </a:r>
            <a:r>
              <a:rPr lang="en-US" altLang="zh-CN" sz="2400" dirty="0">
                <a:latin typeface="宋体" charset="-122"/>
              </a:rPr>
              <a:t>#define</a:t>
            </a:r>
            <a:r>
              <a:rPr lang="zh-CN" altLang="zh-CN" sz="2400" dirty="0">
                <a:latin typeface="宋体" charset="-122"/>
              </a:rPr>
              <a:t>定义的宏，使之不再起作用。</a:t>
            </a:r>
            <a:endParaRPr lang="zh-CN" altLang="en-US" sz="2400" dirty="0">
              <a:latin typeface="宋体" charset="-122"/>
            </a:endParaRPr>
          </a:p>
        </p:txBody>
      </p:sp>
      <p:sp>
        <p:nvSpPr>
          <p:cNvPr id="542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BF251932-C8F7-45BA-9468-C3ACAE274D45}" type="slidenum">
              <a:rPr lang="en-US" altLang="zh-CN" sz="1400" smtClean="0"/>
              <a:pPr/>
              <a:t>26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688065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6"/>
          <p:cNvSpPr>
            <a:spLocks noGrp="1" noChangeArrowheads="1"/>
          </p:cNvSpPr>
          <p:nvPr>
            <p:ph type="title"/>
          </p:nvPr>
        </p:nvSpPr>
        <p:spPr>
          <a:xfrm>
            <a:off x="1295400" y="609600"/>
            <a:ext cx="7467600" cy="762000"/>
          </a:xfrm>
        </p:spPr>
        <p:txBody>
          <a:bodyPr/>
          <a:lstStyle/>
          <a:p>
            <a:pPr eaLnBrk="1" hangingPunct="1"/>
            <a:r>
              <a:rPr lang="zh-CN" altLang="en-US"/>
              <a:t>条件编译指令</a:t>
            </a:r>
            <a:r>
              <a:rPr lang="zh-CN" altLang="en-US" sz="3600"/>
              <a:t>    </a:t>
            </a:r>
            <a:r>
              <a:rPr lang="en-US" altLang="zh-CN" sz="3600">
                <a:solidFill>
                  <a:schemeClr val="tx1"/>
                </a:solidFill>
                <a:latin typeface="宋体" charset="-122"/>
                <a:ea typeface="宋体" charset="-122"/>
              </a:rPr>
              <a:t>#if </a:t>
            </a:r>
            <a:r>
              <a:rPr lang="zh-CN" altLang="en-US" sz="3600">
                <a:solidFill>
                  <a:schemeClr val="tx1"/>
                </a:solidFill>
                <a:latin typeface="宋体" charset="-122"/>
                <a:ea typeface="宋体" charset="-122"/>
              </a:rPr>
              <a:t>和 </a:t>
            </a:r>
            <a:r>
              <a:rPr lang="en-US" altLang="zh-CN" sz="3600">
                <a:solidFill>
                  <a:schemeClr val="tx1"/>
                </a:solidFill>
                <a:latin typeface="宋体" charset="-122"/>
                <a:ea typeface="宋体" charset="-122"/>
              </a:rPr>
              <a:t>#endif</a:t>
            </a:r>
            <a:endParaRPr lang="en-US" altLang="zh-CN"/>
          </a:p>
        </p:txBody>
      </p:sp>
      <p:sp>
        <p:nvSpPr>
          <p:cNvPr id="55300" name="Rectangle 7"/>
          <p:cNvSpPr>
            <a:spLocks noGrp="1" noChangeArrowheads="1"/>
          </p:cNvSpPr>
          <p:nvPr>
            <p:ph idx="1"/>
          </p:nvPr>
        </p:nvSpPr>
        <p:spPr>
          <a:xfrm>
            <a:off x="1524000" y="1905000"/>
            <a:ext cx="70104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#if  </a:t>
            </a:r>
            <a:r>
              <a:rPr lang="zh-CN" altLang="en-US" dirty="0">
                <a:latin typeface="宋体" charset="-122"/>
              </a:rPr>
              <a:t>常量表达式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latin typeface="宋体" charset="-122"/>
              </a:rPr>
              <a:t> </a:t>
            </a:r>
            <a:r>
              <a:rPr lang="en-US" altLang="zh-CN" dirty="0">
                <a:latin typeface="宋体" charset="-122"/>
              </a:rPr>
              <a:t>//</a:t>
            </a:r>
            <a:r>
              <a:rPr lang="zh-CN" altLang="en-US" dirty="0">
                <a:latin typeface="宋体" charset="-122"/>
              </a:rPr>
              <a:t>当“ 常量表达式”非零时编译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latin typeface="宋体" charset="-122"/>
              </a:rPr>
              <a:t>     程序正文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#</a:t>
            </a:r>
            <a:r>
              <a:rPr lang="en-US" altLang="zh-CN" dirty="0" err="1">
                <a:latin typeface="宋体" charset="-122"/>
              </a:rPr>
              <a:t>endif</a:t>
            </a:r>
            <a:endParaRPr lang="en-US" altLang="zh-CN" dirty="0">
              <a:latin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......</a:t>
            </a:r>
          </a:p>
          <a:p>
            <a:pPr lvl="1" eaLnBrk="1" hangingPunct="1"/>
            <a:endParaRPr lang="en-US" altLang="zh-CN" dirty="0">
              <a:latin typeface="宋体" charset="-122"/>
            </a:endParaRPr>
          </a:p>
        </p:txBody>
      </p:sp>
      <p:sp>
        <p:nvSpPr>
          <p:cNvPr id="552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5DFCA60-7F15-46B6-AE73-7DDA5C14E5DE}" type="slidenum">
              <a:rPr lang="en-US" altLang="zh-CN" sz="1400" smtClean="0"/>
              <a:pPr/>
              <a:t>27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265581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457200"/>
            <a:ext cx="7162800" cy="914400"/>
          </a:xfrm>
        </p:spPr>
        <p:txBody>
          <a:bodyPr/>
          <a:lstStyle/>
          <a:p>
            <a:pPr eaLnBrk="1" hangingPunct="1"/>
            <a:r>
              <a:rPr lang="zh-CN" altLang="en-US"/>
              <a:t>条件编译指令</a:t>
            </a:r>
            <a:r>
              <a:rPr lang="en-US" altLang="zh-CN" sz="4000">
                <a:solidFill>
                  <a:schemeClr val="tx1"/>
                </a:solidFill>
                <a:ea typeface="宋体" charset="-122"/>
              </a:rPr>
              <a:t>——</a:t>
            </a:r>
            <a:r>
              <a:rPr lang="en-US" altLang="zh-CN" sz="4000">
                <a:solidFill>
                  <a:schemeClr val="tx1"/>
                </a:solidFill>
                <a:latin typeface="宋体" charset="-122"/>
                <a:ea typeface="宋体" charset="-122"/>
              </a:rPr>
              <a:t>#else</a:t>
            </a:r>
            <a:endParaRPr lang="en-US" altLang="zh-CN"/>
          </a:p>
        </p:txBody>
      </p:sp>
      <p:sp>
        <p:nvSpPr>
          <p:cNvPr id="56324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828800"/>
            <a:ext cx="7696200" cy="4267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latin typeface="宋体" charset="-122"/>
              </a:rPr>
              <a:t>	 #if   </a:t>
            </a:r>
            <a:r>
              <a:rPr lang="zh-CN" altLang="en-US" sz="2800" dirty="0">
                <a:latin typeface="宋体" charset="-122"/>
              </a:rPr>
              <a:t>常量表达式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latin typeface="宋体" charset="-122"/>
              </a:rPr>
              <a:t>     </a:t>
            </a:r>
            <a:r>
              <a:rPr lang="en-US" altLang="zh-CN" sz="2800" dirty="0">
                <a:latin typeface="宋体" charset="-122"/>
              </a:rPr>
              <a:t>//</a:t>
            </a:r>
            <a:r>
              <a:rPr lang="zh-CN" altLang="en-US" sz="2800" dirty="0">
                <a:latin typeface="宋体" charset="-122"/>
              </a:rPr>
              <a:t>当“ 常量表达式”非零时编译</a:t>
            </a:r>
            <a:endParaRPr lang="zh-CN" altLang="en-US" dirty="0">
              <a:latin typeface="宋体" charset="-122"/>
            </a:endParaRPr>
          </a:p>
          <a:p>
            <a:pPr lvl="1" eaLnBrk="1" hangingPunct="1">
              <a:buFontTx/>
              <a:buNone/>
            </a:pPr>
            <a:r>
              <a:rPr lang="zh-CN" altLang="en-US" dirty="0">
                <a:latin typeface="宋体" charset="-122"/>
              </a:rPr>
              <a:t>       程序正文</a:t>
            </a:r>
            <a:r>
              <a:rPr lang="en-US" altLang="zh-CN" dirty="0">
                <a:latin typeface="宋体" charset="-122"/>
              </a:rPr>
              <a:t>1</a:t>
            </a:r>
          </a:p>
          <a:p>
            <a:pPr lvl="1" eaLnBrk="1" hangingPunct="1">
              <a:buFontTx/>
              <a:buNone/>
            </a:pPr>
            <a:r>
              <a:rPr lang="en-US" altLang="zh-CN" dirty="0">
                <a:latin typeface="宋体" charset="-122"/>
              </a:rPr>
              <a:t>#else</a:t>
            </a:r>
          </a:p>
          <a:p>
            <a:pPr lvl="1" eaLnBrk="1" hangingPunct="1">
              <a:buFontTx/>
              <a:buNone/>
            </a:pPr>
            <a:r>
              <a:rPr lang="en-US" altLang="zh-CN" dirty="0">
                <a:latin typeface="宋体" charset="-122"/>
              </a:rPr>
              <a:t>  //</a:t>
            </a:r>
            <a:r>
              <a:rPr lang="zh-CN" altLang="en-US" dirty="0">
                <a:latin typeface="宋体" charset="-122"/>
              </a:rPr>
              <a:t>当“ 常量表达式”为零时编译</a:t>
            </a:r>
          </a:p>
          <a:p>
            <a:pPr lvl="1" eaLnBrk="1" hangingPunct="1">
              <a:buFontTx/>
              <a:buNone/>
            </a:pPr>
            <a:r>
              <a:rPr lang="zh-CN" altLang="en-US" dirty="0">
                <a:latin typeface="宋体" charset="-122"/>
              </a:rPr>
              <a:t>       程序正文</a:t>
            </a:r>
            <a:r>
              <a:rPr lang="en-US" altLang="zh-CN" dirty="0">
                <a:latin typeface="宋体" charset="-122"/>
              </a:rPr>
              <a:t>2</a:t>
            </a:r>
          </a:p>
          <a:p>
            <a:pPr lvl="1" eaLnBrk="1" hangingPunct="1">
              <a:buFontTx/>
              <a:buNone/>
            </a:pPr>
            <a:r>
              <a:rPr lang="en-US" altLang="zh-CN" dirty="0">
                <a:latin typeface="宋体" charset="-122"/>
              </a:rPr>
              <a:t>#</a:t>
            </a:r>
            <a:r>
              <a:rPr lang="en-US" altLang="zh-CN" dirty="0" err="1">
                <a:latin typeface="宋体" charset="-122"/>
              </a:rPr>
              <a:t>endif</a:t>
            </a:r>
            <a:endParaRPr lang="en-US" altLang="zh-CN" dirty="0">
              <a:latin typeface="宋体" charset="-122"/>
            </a:endParaRPr>
          </a:p>
        </p:txBody>
      </p:sp>
      <p:sp>
        <p:nvSpPr>
          <p:cNvPr id="563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7F3589AD-4CF2-4DDC-ADD6-B4C1FCF0C9DE}" type="slidenum">
              <a:rPr lang="en-US" altLang="zh-CN" sz="1400" smtClean="0"/>
              <a:pPr/>
              <a:t>28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485221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315200" cy="990600"/>
          </a:xfrm>
        </p:spPr>
        <p:txBody>
          <a:bodyPr/>
          <a:lstStyle/>
          <a:p>
            <a:pPr eaLnBrk="1" hangingPunct="1"/>
            <a:r>
              <a:rPr lang="zh-CN" altLang="en-US"/>
              <a:t>条件编译指令    </a:t>
            </a:r>
            <a:r>
              <a:rPr lang="en-US" altLang="zh-CN" sz="3600">
                <a:solidFill>
                  <a:schemeClr val="tx1"/>
                </a:solidFill>
              </a:rPr>
              <a:t>#elif</a:t>
            </a:r>
            <a:endParaRPr lang="en-US" altLang="zh-CN"/>
          </a:p>
        </p:txBody>
      </p:sp>
      <p:sp>
        <p:nvSpPr>
          <p:cNvPr id="57348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76400"/>
            <a:ext cx="8001000" cy="44958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#if </a:t>
            </a:r>
            <a:r>
              <a:rPr lang="zh-CN" altLang="en-US" sz="2400" dirty="0">
                <a:latin typeface="宋体" charset="-122"/>
              </a:rPr>
              <a:t>常量表达式</a:t>
            </a:r>
            <a:r>
              <a:rPr lang="en-US" altLang="zh-CN" sz="2400" dirty="0">
                <a:latin typeface="宋体" charset="-122"/>
              </a:rPr>
              <a:t>1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    </a:t>
            </a:r>
            <a:r>
              <a:rPr lang="zh-CN" altLang="en-US" sz="2400" dirty="0">
                <a:latin typeface="宋体" charset="-122"/>
              </a:rPr>
              <a:t>程序正文</a:t>
            </a:r>
            <a:r>
              <a:rPr lang="en-US" altLang="zh-CN" sz="2400" dirty="0">
                <a:latin typeface="宋体" charset="-122"/>
              </a:rPr>
              <a:t>1  //</a:t>
            </a:r>
            <a:r>
              <a:rPr lang="zh-CN" altLang="en-US" sz="2400" dirty="0">
                <a:latin typeface="宋体" charset="-122"/>
              </a:rPr>
              <a:t>当“ 常量表达式</a:t>
            </a:r>
            <a:r>
              <a:rPr lang="en-US" altLang="zh-CN" sz="2400" dirty="0">
                <a:latin typeface="宋体" charset="-122"/>
              </a:rPr>
              <a:t>1”</a:t>
            </a:r>
            <a:r>
              <a:rPr lang="zh-CN" altLang="en-US" sz="2400" dirty="0">
                <a:latin typeface="宋体" charset="-122"/>
              </a:rPr>
              <a:t>非零时编译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#</a:t>
            </a:r>
            <a:r>
              <a:rPr lang="en-US" altLang="zh-CN" sz="2400" dirty="0" err="1">
                <a:latin typeface="宋体" charset="-122"/>
              </a:rPr>
              <a:t>elif</a:t>
            </a:r>
            <a:r>
              <a:rPr lang="en-US" altLang="zh-CN" sz="2400" dirty="0">
                <a:latin typeface="宋体" charset="-122"/>
              </a:rPr>
              <a:t> </a:t>
            </a:r>
            <a:r>
              <a:rPr lang="zh-CN" altLang="en-US" sz="2400" dirty="0">
                <a:latin typeface="宋体" charset="-122"/>
              </a:rPr>
              <a:t>常量表达式</a:t>
            </a:r>
            <a:r>
              <a:rPr lang="en-US" altLang="zh-CN" sz="2400" dirty="0">
                <a:latin typeface="宋体" charset="-122"/>
              </a:rPr>
              <a:t>2</a:t>
            </a:r>
            <a:endParaRPr lang="en-US" altLang="en-US" sz="2400" dirty="0">
              <a:latin typeface="宋体" charset="-122"/>
            </a:endParaRP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en-US" sz="2400" dirty="0">
                <a:latin typeface="宋体" charset="-122"/>
              </a:rPr>
              <a:t>    </a:t>
            </a:r>
            <a:r>
              <a:rPr lang="zh-CN" altLang="en-US" sz="2400" dirty="0">
                <a:latin typeface="宋体" charset="-122"/>
              </a:rPr>
              <a:t>程序正文</a:t>
            </a:r>
            <a:r>
              <a:rPr lang="en-US" altLang="zh-CN" sz="2400" dirty="0">
                <a:latin typeface="宋体" charset="-122"/>
              </a:rPr>
              <a:t>2  //</a:t>
            </a:r>
            <a:r>
              <a:rPr lang="zh-CN" altLang="en-US" sz="2400" dirty="0">
                <a:latin typeface="宋体" charset="-122"/>
              </a:rPr>
              <a:t>当“ 常量表达式</a:t>
            </a:r>
            <a:r>
              <a:rPr lang="en-US" altLang="zh-CN" sz="2400" dirty="0">
                <a:latin typeface="宋体" charset="-122"/>
              </a:rPr>
              <a:t>2”</a:t>
            </a:r>
            <a:r>
              <a:rPr lang="zh-CN" altLang="en-US" sz="2400" dirty="0">
                <a:latin typeface="宋体" charset="-122"/>
              </a:rPr>
              <a:t>非零时编译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#else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    </a:t>
            </a:r>
            <a:r>
              <a:rPr lang="zh-CN" altLang="en-US" sz="2400" dirty="0">
                <a:latin typeface="宋体" charset="-122"/>
              </a:rPr>
              <a:t>程序正文</a:t>
            </a:r>
            <a:r>
              <a:rPr lang="en-US" altLang="zh-CN" sz="2400" dirty="0">
                <a:latin typeface="宋体" charset="-122"/>
              </a:rPr>
              <a:t>3  //</a:t>
            </a:r>
            <a:r>
              <a:rPr lang="zh-CN" altLang="en-US" sz="2400" dirty="0">
                <a:latin typeface="宋体" charset="-122"/>
              </a:rPr>
              <a:t>其他情况下编译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#</a:t>
            </a:r>
            <a:r>
              <a:rPr lang="en-US" altLang="zh-CN" sz="2400" dirty="0" err="1">
                <a:latin typeface="宋体" charset="-122"/>
              </a:rPr>
              <a:t>endif</a:t>
            </a:r>
            <a:endParaRPr lang="en-US" altLang="zh-CN" sz="2400" dirty="0">
              <a:latin typeface="宋体" charset="-122"/>
            </a:endParaRPr>
          </a:p>
        </p:txBody>
      </p:sp>
      <p:sp>
        <p:nvSpPr>
          <p:cNvPr id="573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5C5E15C0-82C7-466B-825D-CC037F963316}" type="slidenum">
              <a:rPr lang="en-US" altLang="zh-CN" sz="1400" smtClean="0"/>
              <a:pPr/>
              <a:t>29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979035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212903" y="1916832"/>
            <a:ext cx="9001000" cy="383576"/>
          </a:xfrm>
          <a:solidFill>
            <a:srgbClr val="FFC000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1800" dirty="0">
                <a:latin typeface="宋体" charset="-122"/>
              </a:rPr>
              <a:t>每一次分别把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TEST_FRACTION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TEST_MYSTRING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TEST_INTARRY</a:t>
            </a:r>
            <a:r>
              <a:rPr lang="zh-CN" altLang="en-US" sz="1800" dirty="0">
                <a:latin typeface="宋体" charset="-122"/>
              </a:rPr>
              <a:t>设置为</a:t>
            </a:r>
            <a:r>
              <a:rPr lang="en-US" altLang="zh-CN" sz="1800" dirty="0">
                <a:latin typeface="宋体" charset="-122"/>
              </a:rPr>
              <a:t>1</a:t>
            </a:r>
            <a:r>
              <a:rPr lang="zh-CN" altLang="en-US" sz="1800" dirty="0">
                <a:latin typeface="宋体" charset="-122"/>
              </a:rPr>
              <a:t>，将只编译对应的代码。</a:t>
            </a:r>
            <a:endParaRPr lang="en-US" altLang="zh-CN" sz="1800" dirty="0">
              <a:latin typeface="宋体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891" y="2708920"/>
            <a:ext cx="885698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 define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6F008A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TEST_FRACTION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1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 define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6F008A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TEST_MYSTRING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0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 define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6F008A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TEST_INTARRAY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0</a:t>
            </a:r>
          </a:p>
          <a:p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 if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6F008A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TEST_FRACTION</a:t>
            </a:r>
            <a:endParaRPr lang="en-US" altLang="zh-CN" sz="1600" dirty="0">
              <a:solidFill>
                <a:srgbClr val="6F008A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fraction.h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</a:t>
            </a:r>
            <a:r>
              <a:rPr lang="en-US" altLang="zh-CN" sz="16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(2, -3),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f3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(4, 5);</a:t>
            </a:r>
          </a:p>
          <a:p>
            <a:pPr marL="273050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f3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f3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273050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=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f2+f3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*fraction(1,2)\n"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marL="273050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f2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+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f3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(1, 2);</a:t>
            </a:r>
          </a:p>
          <a:p>
            <a:pPr marL="273050"/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 </a:t>
            </a:r>
            <a:r>
              <a:rPr lang="fr-FR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f1 </a:t>
            </a:r>
            <a:r>
              <a:rPr lang="fr-FR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'='</a:t>
            </a:r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f2 </a:t>
            </a:r>
            <a:r>
              <a:rPr lang="fr-FR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'+'</a:t>
            </a:r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f3 </a:t>
            </a:r>
            <a:r>
              <a:rPr lang="fr-FR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'*'</a:t>
            </a:r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fr-FR" altLang="zh-CN" sz="16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fraction</a:t>
            </a:r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(1, 2) </a:t>
            </a:r>
            <a:r>
              <a:rPr lang="fr-FR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fr-FR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endl;</a:t>
            </a:r>
          </a:p>
          <a:p>
            <a:pPr marL="273050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</a:t>
            </a:r>
            <a:r>
              <a:rPr lang="en-US" altLang="zh-CN" sz="16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endif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76056" y="700136"/>
            <a:ext cx="3383553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 define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6F008A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TEST_FRACTION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0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 define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6F008A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TEST_MYSTRING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0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 define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6F008A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TEST_INTARRAY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31CB8F-EA44-7F83-A74C-654289CF8703}"/>
              </a:ext>
            </a:extLst>
          </p:cNvPr>
          <p:cNvSpPr/>
          <p:nvPr/>
        </p:nvSpPr>
        <p:spPr>
          <a:xfrm>
            <a:off x="182125" y="607803"/>
            <a:ext cx="4752528" cy="923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  <a:cs typeface="Consolas" panose="020B0609020204030204" pitchFamily="49" charset="0"/>
              </a:rPr>
              <a:t>把处理分数、字符串、数组的三段代码写在同一个程序中（同一个</a:t>
            </a:r>
            <a:r>
              <a:rPr lang="en-US" altLang="zh-CN" dirty="0" err="1">
                <a:latin typeface="+mn-ea"/>
                <a:cs typeface="Consolas" panose="020B0609020204030204" pitchFamily="49" charset="0"/>
              </a:rPr>
              <a:t>cpp</a:t>
            </a:r>
            <a:r>
              <a:rPr lang="zh-CN" altLang="en-US" dirty="0">
                <a:latin typeface="+mn-ea"/>
                <a:cs typeface="Consolas" panose="020B0609020204030204" pitchFamily="49" charset="0"/>
              </a:rPr>
              <a:t>），</a:t>
            </a:r>
            <a:endParaRPr lang="en-US" altLang="zh-CN" dirty="0">
              <a:latin typeface="+mn-ea"/>
              <a:cs typeface="Consolas" panose="020B0609020204030204" pitchFamily="49" charset="0"/>
            </a:endParaRPr>
          </a:p>
          <a:p>
            <a:r>
              <a:rPr lang="zh-CN" altLang="en-US" dirty="0">
                <a:latin typeface="+mn-ea"/>
                <a:cs typeface="Consolas" panose="020B0609020204030204" pitchFamily="49" charset="0"/>
              </a:rPr>
              <a:t>用条件编译技术使得每次只编译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1</a:t>
            </a:r>
            <a:r>
              <a:rPr lang="zh-CN" altLang="en-US" dirty="0">
                <a:latin typeface="+mn-ea"/>
                <a:cs typeface="Consolas" panose="020B0609020204030204" pitchFamily="49" charset="0"/>
              </a:rPr>
              <a:t>段代码</a:t>
            </a:r>
            <a:endParaRPr lang="en-US" altLang="zh-CN" dirty="0"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09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07504" y="1268760"/>
            <a:ext cx="8746758" cy="3672408"/>
            <a:chOff x="107504" y="692696"/>
            <a:chExt cx="8746758" cy="3672408"/>
          </a:xfrm>
        </p:grpSpPr>
        <p:sp>
          <p:nvSpPr>
            <p:cNvPr id="6" name="矩形 5"/>
            <p:cNvSpPr/>
            <p:nvPr/>
          </p:nvSpPr>
          <p:spPr>
            <a:xfrm>
              <a:off x="141294" y="1564337"/>
              <a:ext cx="8712968" cy="28007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#if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TEST_MYSTRING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endPara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mystring.h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main()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{  STRING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s1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abc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s2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"12345567"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s3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s1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);</a:t>
              </a:r>
            </a:p>
            <a:p>
              <a:pPr marL="273050"/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s1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s2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 marL="273050"/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s1.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operator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=(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s2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);</a:t>
              </a:r>
            </a:p>
            <a:p>
              <a:pPr marL="273050"/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&lt;&lt;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s1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="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&lt;&lt;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s1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&lt;&lt;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&lt;&lt;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s2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="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&lt;&lt;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s2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&lt;&lt;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&lt;&lt;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s3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="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&lt;&lt;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s3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&lt;&lt;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 marL="273050"/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return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0;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}</a:t>
              </a: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</a:t>
              </a:r>
              <a:r>
                <a:rPr lang="en-US" altLang="zh-CN" sz="1600" dirty="0" err="1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endif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7504" y="692696"/>
              <a:ext cx="3383553" cy="8309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 define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TEST_FRACTION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0</a:t>
              </a: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 define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TEST_MYSTRING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1</a:t>
              </a: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 define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TEST_INTARRAY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504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23528" y="1124744"/>
            <a:ext cx="8388932" cy="5354488"/>
            <a:chOff x="323528" y="908720"/>
            <a:chExt cx="8388932" cy="5354488"/>
          </a:xfrm>
        </p:grpSpPr>
        <p:sp>
          <p:nvSpPr>
            <p:cNvPr id="5" name="矩形 4"/>
            <p:cNvSpPr/>
            <p:nvPr/>
          </p:nvSpPr>
          <p:spPr>
            <a:xfrm>
              <a:off x="431540" y="1985114"/>
              <a:ext cx="8280920" cy="42780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#if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TEST_INTARRAY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endPara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iostream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&gt;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iomanip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&gt;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myarray.h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using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namespace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std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main()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{ 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IntArray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a(10);</a:t>
              </a:r>
            </a:p>
            <a:p>
              <a:pPr marL="273050"/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 marL="273050"/>
              <a:r>
                <a:rPr lang="nn-NO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for</a:t>
              </a:r>
              <a:r>
                <a:rPr lang="nn-NO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(i = 1; i &lt;= a.size(); i++)</a:t>
              </a:r>
            </a:p>
            <a:p>
              <a:pPr marL="534988"/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a[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]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* 10;		</a:t>
              </a:r>
              <a:r>
                <a:rPr lang="en-US" altLang="zh-CN" sz="1600" dirty="0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//</a:t>
              </a:r>
              <a:r>
                <a:rPr lang="en-US" altLang="zh-CN" sz="1600" dirty="0" err="1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a.operator</a:t>
              </a:r>
              <a:r>
                <a:rPr lang="en-US" altLang="zh-CN" sz="1600" dirty="0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[](</a:t>
              </a:r>
              <a:r>
                <a:rPr lang="en-US" altLang="zh-CN" sz="1600" dirty="0" err="1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</a:t>
              </a:r>
              <a:r>
                <a:rPr lang="en-US" altLang="zh-CN" sz="1600" dirty="0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)= </a:t>
              </a:r>
              <a:r>
                <a:rPr lang="en-US" altLang="zh-CN" sz="1600" dirty="0" err="1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a._data</a:t>
              </a:r>
              <a:r>
                <a:rPr lang="en-US" altLang="zh-CN" sz="1600" dirty="0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[i-1]=</a:t>
              </a:r>
              <a:r>
                <a:rPr lang="en-US" altLang="zh-CN" sz="1600" dirty="0" err="1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</a:t>
              </a:r>
              <a:r>
                <a:rPr lang="en-US" altLang="zh-CN" sz="1600" dirty="0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*10;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 marL="273050"/>
              <a:r>
                <a:rPr lang="nn-NO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for</a:t>
              </a:r>
              <a:r>
                <a:rPr lang="nn-NO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(i = 1; i &lt;= a.size(); i++)</a:t>
              </a:r>
            </a:p>
            <a:p>
              <a:pPr marL="534988"/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&lt;&lt;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setw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(5) &lt;&lt; a[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];		</a:t>
              </a:r>
              <a:r>
                <a:rPr lang="en-US" altLang="zh-CN" sz="1600" dirty="0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//</a:t>
              </a:r>
              <a:r>
                <a:rPr lang="en-US" altLang="zh-CN" sz="1600" dirty="0" err="1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a.operator</a:t>
              </a:r>
              <a:r>
                <a:rPr lang="en-US" altLang="zh-CN" sz="1600" dirty="0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[](</a:t>
              </a:r>
              <a:r>
                <a:rPr lang="en-US" altLang="zh-CN" sz="1600" dirty="0" err="1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</a:t>
              </a:r>
              <a:r>
                <a:rPr lang="en-US" altLang="zh-CN" sz="1600" dirty="0">
                  <a:solidFill>
                    <a:srgbClr val="008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 marL="273050"/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&lt;&lt;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 marL="273050"/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return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0;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}</a:t>
              </a: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</a:t>
              </a:r>
              <a:r>
                <a:rPr lang="en-US" altLang="zh-CN" sz="1600" dirty="0" err="1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endif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23528" y="908720"/>
              <a:ext cx="3383553" cy="8309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 define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TEST_FRACTION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0</a:t>
              </a: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 define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TEST_MYSTRING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0</a:t>
              </a: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 define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TEST_INTARRAY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606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条件编译指令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#</a:t>
            </a:r>
            <a:r>
              <a:rPr lang="en-US" altLang="zh-CN" dirty="0" err="1">
                <a:latin typeface="宋体" charset="-122"/>
              </a:rPr>
              <a:t>ifdef</a:t>
            </a:r>
            <a:r>
              <a:rPr lang="en-US" altLang="zh-CN" dirty="0">
                <a:latin typeface="宋体" charset="-122"/>
              </a:rPr>
              <a:t> </a:t>
            </a:r>
            <a:r>
              <a:rPr lang="zh-CN" altLang="en-US" dirty="0">
                <a:latin typeface="宋体" charset="-122"/>
              </a:rPr>
              <a:t>标识符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latin typeface="宋体" charset="-122"/>
              </a:rPr>
              <a:t>    程序段</a:t>
            </a:r>
            <a:r>
              <a:rPr lang="en-US" altLang="zh-CN" dirty="0">
                <a:latin typeface="宋体" charset="-122"/>
              </a:rPr>
              <a:t>1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#else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    </a:t>
            </a:r>
            <a:r>
              <a:rPr lang="zh-CN" altLang="en-US" dirty="0">
                <a:latin typeface="宋体" charset="-122"/>
              </a:rPr>
              <a:t>程序段</a:t>
            </a:r>
            <a:r>
              <a:rPr lang="en-US" altLang="zh-CN" dirty="0">
                <a:latin typeface="宋体" charset="-122"/>
              </a:rPr>
              <a:t>2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#</a:t>
            </a:r>
            <a:r>
              <a:rPr lang="en-US" altLang="zh-CN" dirty="0" err="1">
                <a:latin typeface="宋体" charset="-122"/>
              </a:rPr>
              <a:t>endif</a:t>
            </a:r>
            <a:endParaRPr lang="en-US" altLang="zh-CN" dirty="0">
              <a:latin typeface="宋体" charset="-122"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latin typeface="宋体" charset="-122"/>
              </a:rPr>
              <a:t>如果“标识符”经</a:t>
            </a:r>
            <a:r>
              <a:rPr lang="en-US" altLang="zh-CN" dirty="0">
                <a:latin typeface="宋体" charset="-122"/>
              </a:rPr>
              <a:t>#defined</a:t>
            </a:r>
            <a:r>
              <a:rPr lang="zh-CN" altLang="en-US" dirty="0">
                <a:latin typeface="宋体" charset="-122"/>
              </a:rPr>
              <a:t>定义过，且未经</a:t>
            </a:r>
            <a:r>
              <a:rPr lang="en-US" altLang="zh-CN" dirty="0" err="1">
                <a:latin typeface="宋体" charset="-122"/>
              </a:rPr>
              <a:t>undef</a:t>
            </a:r>
            <a:r>
              <a:rPr lang="zh-CN" altLang="en-US" dirty="0">
                <a:latin typeface="宋体" charset="-122"/>
              </a:rPr>
              <a:t>删除，则编译程序段</a:t>
            </a:r>
            <a:r>
              <a:rPr lang="en-US" altLang="zh-CN" dirty="0">
                <a:latin typeface="宋体" charset="-122"/>
              </a:rPr>
              <a:t>1</a:t>
            </a:r>
            <a:r>
              <a:rPr lang="zh-CN" altLang="en-US" dirty="0">
                <a:latin typeface="宋体" charset="-122"/>
              </a:rPr>
              <a:t>，否则编译程序段</a:t>
            </a:r>
            <a:r>
              <a:rPr lang="en-US" altLang="zh-CN" dirty="0">
                <a:latin typeface="宋体" charset="-122"/>
              </a:rPr>
              <a:t>2</a:t>
            </a:r>
            <a:r>
              <a:rPr lang="zh-CN" altLang="en-US" dirty="0">
                <a:latin typeface="宋体" charset="-122"/>
              </a:rPr>
              <a:t>。</a:t>
            </a:r>
          </a:p>
        </p:txBody>
      </p:sp>
      <p:sp>
        <p:nvSpPr>
          <p:cNvPr id="583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66310CC-8E47-419F-92FE-29D4D2347449}" type="slidenum">
              <a:rPr lang="en-US" altLang="zh-CN" sz="1400" smtClean="0"/>
              <a:pPr/>
              <a:t>33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0227333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条件编译指令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#</a:t>
            </a:r>
            <a:r>
              <a:rPr lang="en-US" altLang="zh-CN" dirty="0" err="1">
                <a:latin typeface="宋体" charset="-122"/>
              </a:rPr>
              <a:t>ifndef</a:t>
            </a:r>
            <a:r>
              <a:rPr lang="en-US" altLang="zh-CN" dirty="0">
                <a:latin typeface="宋体" charset="-122"/>
              </a:rPr>
              <a:t> </a:t>
            </a:r>
            <a:r>
              <a:rPr lang="zh-CN" altLang="en-US" dirty="0">
                <a:latin typeface="宋体" charset="-122"/>
              </a:rPr>
              <a:t>标识符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zh-CN" altLang="en-US" dirty="0">
                <a:latin typeface="宋体" charset="-122"/>
              </a:rPr>
              <a:t>   程序段</a:t>
            </a:r>
            <a:r>
              <a:rPr lang="en-US" altLang="zh-CN" dirty="0">
                <a:latin typeface="宋体" charset="-122"/>
              </a:rPr>
              <a:t>1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#else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   </a:t>
            </a:r>
            <a:r>
              <a:rPr lang="zh-CN" altLang="en-US" dirty="0">
                <a:latin typeface="宋体" charset="-122"/>
              </a:rPr>
              <a:t>程序段</a:t>
            </a:r>
            <a:r>
              <a:rPr lang="en-US" altLang="zh-CN" dirty="0">
                <a:latin typeface="宋体" charset="-122"/>
              </a:rPr>
              <a:t>2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#</a:t>
            </a:r>
            <a:r>
              <a:rPr lang="en-US" altLang="zh-CN" dirty="0" err="1">
                <a:latin typeface="宋体" charset="-122"/>
              </a:rPr>
              <a:t>endif</a:t>
            </a:r>
            <a:endParaRPr lang="en-US" altLang="zh-CN" dirty="0">
              <a:latin typeface="宋体" charset="-122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zh-CN" altLang="en-US" dirty="0">
                <a:latin typeface="宋体" charset="-122"/>
              </a:rPr>
              <a:t>如果“标识符”未被定义过，则编译程序段</a:t>
            </a:r>
            <a:r>
              <a:rPr lang="en-US" altLang="zh-CN" dirty="0">
                <a:latin typeface="宋体" charset="-122"/>
              </a:rPr>
              <a:t>1</a:t>
            </a:r>
            <a:r>
              <a:rPr lang="zh-CN" altLang="en-US" dirty="0">
                <a:latin typeface="宋体" charset="-122"/>
              </a:rPr>
              <a:t>，否则编译程序段</a:t>
            </a:r>
            <a:r>
              <a:rPr lang="en-US" altLang="zh-CN" dirty="0">
                <a:latin typeface="宋体" charset="-122"/>
              </a:rPr>
              <a:t>2</a:t>
            </a:r>
            <a:r>
              <a:rPr lang="zh-CN" altLang="en-US" dirty="0">
                <a:latin typeface="宋体" charset="-122"/>
              </a:rPr>
              <a:t>。</a:t>
            </a:r>
          </a:p>
        </p:txBody>
      </p:sp>
      <p:sp>
        <p:nvSpPr>
          <p:cNvPr id="593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9275FB48-A775-45BA-A86A-9AD00C4F0838}" type="slidenum">
              <a:rPr lang="en-US" altLang="zh-CN" sz="1400" smtClean="0"/>
              <a:pPr/>
              <a:t>34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5398656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0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不使用条件编译的头文件</a:t>
            </a:r>
          </a:p>
        </p:txBody>
      </p:sp>
      <p:sp>
        <p:nvSpPr>
          <p:cNvPr id="6144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F415394-409A-4BF6-806C-A45D34709E07}" type="slidenum">
              <a:rPr lang="en-US" altLang="zh-CN" sz="1400" smtClean="0"/>
              <a:pPr/>
              <a:t>35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755576" y="996299"/>
            <a:ext cx="360040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//main.cpp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"file1.h"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"file2.h"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main()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5576" y="4026091"/>
            <a:ext cx="36004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//file1.h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sz="24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head.h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  <a:endParaRPr lang="zh-CN" alt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44008" y="980728"/>
            <a:ext cx="3384376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//file2.h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sz="24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head.h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  <a:endParaRPr lang="zh-CN" alt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44008" y="2548764"/>
            <a:ext cx="3384376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</a:t>
            </a:r>
            <a:r>
              <a:rPr lang="en-US" altLang="zh-CN" sz="2400" dirty="0" err="1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head.h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Point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755500" y="5445224"/>
            <a:ext cx="7552456" cy="864096"/>
          </a:xfrm>
          <a:prstGeom prst="rect">
            <a:avLst/>
          </a:prstGeom>
          <a:solidFill>
            <a:srgbClr val="FFFF00"/>
          </a:solidFill>
        </p:spPr>
        <p:txBody>
          <a:bodyPr vert="horz" rtlCol="0" anchor="ctr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+mn-ea"/>
                <a:ea typeface="+mn-ea"/>
              </a:rPr>
              <a:t>error</a:t>
            </a:r>
            <a:r>
              <a:rPr lang="zh-CN" altLang="en-US" sz="3200" dirty="0">
                <a:latin typeface="+mn-ea"/>
                <a:ea typeface="+mn-ea"/>
              </a:rPr>
              <a:t>：编译</a:t>
            </a:r>
            <a:r>
              <a:rPr lang="en-US" altLang="zh-CN" sz="3200" dirty="0">
                <a:latin typeface="+mn-ea"/>
                <a:ea typeface="+mn-ea"/>
              </a:rPr>
              <a:t>main.cpp</a:t>
            </a:r>
            <a:r>
              <a:rPr lang="zh-CN" altLang="en-US" sz="3200" dirty="0">
                <a:latin typeface="+mn-ea"/>
                <a:ea typeface="+mn-ea"/>
              </a:rPr>
              <a:t>时，</a:t>
            </a:r>
            <a:r>
              <a:rPr lang="en-US" altLang="zh-CN" sz="3200" dirty="0">
                <a:latin typeface="+mn-ea"/>
                <a:ea typeface="+mn-ea"/>
              </a:rPr>
              <a:t>Point </a:t>
            </a:r>
            <a:r>
              <a:rPr lang="zh-CN" altLang="en-US" sz="3200" dirty="0">
                <a:latin typeface="+mn-ea"/>
                <a:ea typeface="+mn-ea"/>
              </a:rPr>
              <a:t>重复定义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01DB740-21D4-8BCA-421B-1EA3E00CE464}"/>
              </a:ext>
            </a:extLst>
          </p:cNvPr>
          <p:cNvGrpSpPr/>
          <p:nvPr/>
        </p:nvGrpSpPr>
        <p:grpSpPr>
          <a:xfrm>
            <a:off x="3059832" y="2624986"/>
            <a:ext cx="533573" cy="515981"/>
            <a:chOff x="6133229" y="2814503"/>
            <a:chExt cx="362990" cy="28832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F712709-83BA-A8EB-D7D4-D68EBE349318}"/>
                </a:ext>
              </a:extLst>
            </p:cNvPr>
            <p:cNvCxnSpPr>
              <a:cxnSpLocks/>
            </p:cNvCxnSpPr>
            <p:nvPr/>
          </p:nvCxnSpPr>
          <p:spPr>
            <a:xfrm>
              <a:off x="6133229" y="2817850"/>
              <a:ext cx="362990" cy="284973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4EC381C2-43D8-7E4B-4393-A219C56E2A40}"/>
                </a:ext>
              </a:extLst>
            </p:cNvPr>
            <p:cNvCxnSpPr/>
            <p:nvPr/>
          </p:nvCxnSpPr>
          <p:spPr>
            <a:xfrm flipV="1">
              <a:off x="6133229" y="2814503"/>
              <a:ext cx="324036" cy="28803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654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F415394-409A-4BF6-806C-A45D34709E07}" type="slidenum">
              <a:rPr lang="en-US" altLang="zh-CN" sz="1400" smtClean="0">
                <a:solidFill>
                  <a:prstClr val="black"/>
                </a:solidFill>
              </a:rPr>
              <a:pPr/>
              <a:t>36</a:t>
            </a:fld>
            <a:endParaRPr lang="en-US" altLang="zh-CN" sz="1400">
              <a:solidFill>
                <a:prstClr val="black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5576" y="780274"/>
            <a:ext cx="3384376" cy="272073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//main.cpp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"file1.h"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"file2.h"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main()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  <a:endParaRPr lang="zh-CN" altLang="en-US" sz="24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5576" y="3645024"/>
            <a:ext cx="36004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//file1.h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sz="24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head.h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  <a:endParaRPr lang="zh-CN" altLang="en-US" sz="24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44008" y="764704"/>
            <a:ext cx="3384376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//file2.h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r>
              <a:rPr lang="en-US" altLang="zh-CN" sz="24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head.h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  <a:endParaRPr lang="zh-CN" altLang="en-US" sz="24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44008" y="2060848"/>
            <a:ext cx="3384376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</a:t>
            </a:r>
            <a:r>
              <a:rPr lang="en-US" altLang="zh-CN" sz="2400" dirty="0" err="1">
                <a:solidFill>
                  <a:srgbClr val="008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head.h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</a:t>
            </a:r>
            <a:r>
              <a:rPr lang="en-US" altLang="zh-CN" sz="2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ifndef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HEAD_H</a:t>
            </a: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#define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</a:t>
            </a:r>
            <a:r>
              <a:rPr lang="en-US" altLang="zh-CN" sz="2400" dirty="0">
                <a:solidFill>
                  <a:srgbClr val="6F008A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HEAD_H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Point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…</a:t>
            </a: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</a:t>
            </a:r>
            <a:r>
              <a:rPr lang="en-US" altLang="zh-CN" sz="2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endif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使用条件编译的头文件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323528" y="5846500"/>
            <a:ext cx="8352928" cy="982976"/>
          </a:xfrm>
          <a:prstGeom prst="rect">
            <a:avLst/>
          </a:prstGeom>
          <a:solidFill>
            <a:srgbClr val="FFFF00"/>
          </a:solidFill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algn="l"/>
            <a:r>
              <a:rPr lang="zh-CN" altLang="en-US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编译</a:t>
            </a:r>
            <a:r>
              <a:rPr lang="en-US" altLang="zh-CN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main.cpp</a:t>
            </a:r>
            <a:r>
              <a:rPr lang="zh-CN" altLang="en-US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时 ，</a:t>
            </a:r>
            <a:r>
              <a:rPr lang="en-US" altLang="zh-CN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include file2.h </a:t>
            </a:r>
            <a:r>
              <a:rPr lang="zh-CN" altLang="en-US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时，因为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HEAD_H</a:t>
            </a:r>
            <a:r>
              <a:rPr lang="zh-CN" altLang="en-US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已经定义了，</a:t>
            </a:r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</a:t>
            </a:r>
            <a:r>
              <a:rPr lang="en-US" altLang="zh-CN" sz="2000" dirty="0" err="1">
                <a:solidFill>
                  <a:srgbClr val="808080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ifndef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HEAD_H 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为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flase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 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华文楷体" panose="02010600040101010101" pitchFamily="2" charset="-122"/>
                <a:cs typeface="Consolas" panose="020B0609020204030204" pitchFamily="49" charset="0"/>
              </a:rPr>
              <a:t>于是不再编译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  <a:ea typeface="华文楷体" panose="02010600040101010101" pitchFamily="2" charset="-122"/>
                <a:cs typeface="Consolas" panose="020B0609020204030204" pitchFamily="49" charset="0"/>
              </a:rPr>
              <a:t>head.h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华文楷体" panose="02010600040101010101" pitchFamily="2" charset="-122"/>
                <a:cs typeface="Consolas" panose="020B0609020204030204" pitchFamily="49" charset="0"/>
              </a:rPr>
              <a:t>的内容（</a:t>
            </a:r>
            <a:r>
              <a:rPr lang="en-US" altLang="zh-CN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class Point</a:t>
            </a:r>
            <a:r>
              <a:rPr lang="zh-CN" altLang="en-US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的定义等内容）了</a:t>
            </a:r>
            <a:r>
              <a:rPr lang="en-US" altLang="zh-CN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r>
              <a:rPr lang="zh-CN" altLang="en-US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所以</a:t>
            </a:r>
            <a:r>
              <a:rPr lang="en-US" altLang="zh-CN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Point</a:t>
            </a:r>
            <a:r>
              <a:rPr lang="zh-CN" altLang="en-US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没有重复定义。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main.cpp</a:t>
            </a:r>
            <a:r>
              <a:rPr lang="zh-CN" altLang="en-US" sz="2000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编译正确。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347864" y="2564904"/>
            <a:ext cx="611560" cy="515466"/>
            <a:chOff x="6280191" y="2780928"/>
            <a:chExt cx="416045" cy="288032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6280191" y="2924944"/>
              <a:ext cx="108012" cy="14401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V="1">
              <a:off x="6372200" y="2780928"/>
              <a:ext cx="324036" cy="28803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855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26085</TotalTime>
  <Words>3939</Words>
  <Application>Microsoft Macintosh PowerPoint</Application>
  <PresentationFormat>全屏显示(4:3)</PresentationFormat>
  <Paragraphs>748</Paragraphs>
  <Slides>36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华文楷体</vt:lpstr>
      <vt:lpstr>宋体</vt:lpstr>
      <vt:lpstr>新宋体</vt:lpstr>
      <vt:lpstr>Arial</vt:lpstr>
      <vt:lpstr>Calibri</vt:lpstr>
      <vt:lpstr>Cambria</vt:lpstr>
      <vt:lpstr>Consolas</vt:lpstr>
      <vt:lpstr>Maiandra GD</vt:lpstr>
      <vt:lpstr>Times New Roman</vt:lpstr>
      <vt:lpstr>Wingdings</vt:lpstr>
      <vt:lpstr>Wingdings 2</vt:lpstr>
      <vt:lpstr>龙腾四海</vt:lpstr>
      <vt:lpstr>第3讲  数据的共享与保护(3)</vt:lpstr>
      <vt:lpstr>本章主要内容</vt:lpstr>
      <vt:lpstr>3.5 共享数据的保护</vt:lpstr>
      <vt:lpstr>常类型</vt:lpstr>
      <vt:lpstr>PowerPoint 演示文稿</vt:lpstr>
      <vt:lpstr>PowerPoint 演示文稿</vt:lpstr>
      <vt:lpstr>常对象</vt:lpstr>
      <vt:lpstr>const 类成员</vt:lpstr>
      <vt:lpstr>常数据成员</vt:lpstr>
      <vt:lpstr>常成员函数</vt:lpstr>
      <vt:lpstr>常成员函数</vt:lpstr>
      <vt:lpstr>PowerPoint 演示文稿</vt:lpstr>
      <vt:lpstr>普通（“非常”）对象也能调用常函数</vt:lpstr>
      <vt:lpstr>PowerPoint 演示文稿</vt:lpstr>
      <vt:lpstr>常成员函数只能调用常成员函数</vt:lpstr>
      <vt:lpstr>常引用作形参 const &amp;</vt:lpstr>
      <vt:lpstr>常引用作形参 const &amp;</vt:lpstr>
      <vt:lpstr>常引用作形参</vt:lpstr>
      <vt:lpstr>const成员函数和const&amp; 形参的应用</vt:lpstr>
      <vt:lpstr>const成员函数和const&amp; 形参的应用</vt:lpstr>
      <vt:lpstr>3.6多文件结构和编译预处理命令</vt:lpstr>
      <vt:lpstr>多文件结构</vt:lpstr>
      <vt:lpstr>student-teacher友元类</vt:lpstr>
      <vt:lpstr>student-teacher友元类程序的 编译链接</vt:lpstr>
      <vt:lpstr>外部变量extern</vt:lpstr>
      <vt:lpstr>编译预处理命令</vt:lpstr>
      <vt:lpstr>条件编译指令    #if 和 #endif</vt:lpstr>
      <vt:lpstr>条件编译指令——#else</vt:lpstr>
      <vt:lpstr>条件编译指令    #elif</vt:lpstr>
      <vt:lpstr>PowerPoint 演示文稿</vt:lpstr>
      <vt:lpstr>PowerPoint 演示文稿</vt:lpstr>
      <vt:lpstr>PowerPoint 演示文稿</vt:lpstr>
      <vt:lpstr>条件编译指令</vt:lpstr>
      <vt:lpstr>条件编译指令</vt:lpstr>
      <vt:lpstr>不使用条件编译的头文件</vt:lpstr>
      <vt:lpstr>使用条件编译的头文件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 C++程序的结构</dc:title>
  <dc:creator>SJL</dc:creator>
  <cp:lastModifiedBy>Microsoft Office User</cp:lastModifiedBy>
  <cp:revision>82</cp:revision>
  <dcterms:created xsi:type="dcterms:W3CDTF">2017-02-27T06:47:02Z</dcterms:created>
  <dcterms:modified xsi:type="dcterms:W3CDTF">2024-04-10T07:22:13Z</dcterms:modified>
</cp:coreProperties>
</file>