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7" r:id="rId2"/>
    <p:sldId id="258" r:id="rId3"/>
    <p:sldId id="328" r:id="rId4"/>
    <p:sldId id="290" r:id="rId5"/>
    <p:sldId id="291" r:id="rId6"/>
    <p:sldId id="367" r:id="rId7"/>
    <p:sldId id="343" r:id="rId8"/>
    <p:sldId id="370" r:id="rId9"/>
    <p:sldId id="371" r:id="rId10"/>
    <p:sldId id="368" r:id="rId11"/>
    <p:sldId id="350" r:id="rId12"/>
    <p:sldId id="352" r:id="rId13"/>
    <p:sldId id="355" r:id="rId14"/>
    <p:sldId id="356" r:id="rId15"/>
    <p:sldId id="357" r:id="rId16"/>
    <p:sldId id="359" r:id="rId17"/>
    <p:sldId id="360" r:id="rId18"/>
    <p:sldId id="361" r:id="rId19"/>
    <p:sldId id="373" r:id="rId20"/>
    <p:sldId id="372" r:id="rId21"/>
    <p:sldId id="362" r:id="rId22"/>
    <p:sldId id="294" r:id="rId23"/>
    <p:sldId id="345" r:id="rId24"/>
    <p:sldId id="365" r:id="rId25"/>
    <p:sldId id="295" r:id="rId26"/>
    <p:sldId id="363" r:id="rId27"/>
    <p:sldId id="348" r:id="rId28"/>
    <p:sldId id="297" r:id="rId29"/>
    <p:sldId id="346" r:id="rId30"/>
    <p:sldId id="347" r:id="rId31"/>
    <p:sldId id="349" r:id="rId32"/>
    <p:sldId id="369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 autoAdjust="0"/>
    <p:restoredTop sz="94014" autoAdjust="0"/>
  </p:normalViewPr>
  <p:slideViewPr>
    <p:cSldViewPr>
      <p:cViewPr varScale="1">
        <p:scale>
          <a:sx n="120" d="100"/>
          <a:sy n="120" d="100"/>
        </p:scale>
        <p:origin x="20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2270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5858C-09C9-4013-8959-F23DFD9EABBF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0D1A1-C505-4C06-835E-CA1AEBDC0A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4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F071A66-4716-4EAA-A898-4720A0DB4E7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0F2AF8D-8E7B-4097-8D14-B93C8A0FB3B6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65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76FE0AC-CD84-4A7A-972B-20B1BAB2BFC0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75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062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255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E45C8190-5F94-4357-96E8-97886D1B3E51}" type="slidenum">
              <a:rPr lang="en-US" altLang="zh-CN" smtClean="0">
                <a:latin typeface="Arial" charset="0"/>
              </a:rPr>
              <a:pPr eaLnBrk="1" hangingPunct="1"/>
              <a:t>16</a:t>
            </a:fld>
            <a:endParaRPr lang="en-US" altLang="zh-CN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2FB47596-CB49-445C-8445-6A014C6D5245}" type="slidenum">
              <a:rPr lang="en-US" altLang="zh-CN" smtClean="0">
                <a:latin typeface="Arial" charset="0"/>
              </a:rPr>
              <a:pPr eaLnBrk="1" hangingPunct="1"/>
              <a:t>21</a:t>
            </a:fld>
            <a:endParaRPr lang="en-US" altLang="zh-CN">
              <a:latin typeface="Arial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8AE0C88-8022-444C-A4C9-1EAF87412DD2}" type="slidenum">
              <a:rPr lang="en-US" altLang="zh-CN" sz="1200"/>
              <a:pPr/>
              <a:t>22</a:t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A9F4B3-8CA1-4714-B45B-1C26585E9CC9}" type="slidenum">
              <a:rPr lang="en-US" altLang="zh-CN" sz="1200"/>
              <a:pPr/>
              <a:t>23</a:t>
            </a:fld>
            <a:endParaRPr lang="en-US" altLang="zh-CN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4A162F15-ED80-4E22-BBDE-6C6F275C8F1A}" type="slidenum">
              <a:rPr lang="en-US" altLang="zh-CN" smtClean="0">
                <a:latin typeface="Arial" charset="0"/>
              </a:rPr>
              <a:pPr eaLnBrk="1" hangingPunct="1"/>
              <a:t>24</a:t>
            </a:fld>
            <a:endParaRPr lang="en-US" altLang="zh-CN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A9F4B3-8CA1-4714-B45B-1C26585E9CC9}" type="slidenum">
              <a:rPr lang="en-US" altLang="zh-CN" sz="1200"/>
              <a:pPr/>
              <a:t>25</a:t>
            </a:fld>
            <a:endParaRPr lang="en-US" altLang="zh-CN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CF672CED-7BC8-4063-95B8-546113E45FC5}" type="slidenum">
              <a:rPr lang="en-US" altLang="zh-CN" smtClean="0">
                <a:latin typeface="Arial" charset="0"/>
              </a:rPr>
              <a:pPr eaLnBrk="1" hangingPunct="1"/>
              <a:t>26</a:t>
            </a:fld>
            <a:endParaRPr lang="en-US" altLang="zh-CN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27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916832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/>
              <a:t>讲  </a:t>
            </a:r>
            <a:r>
              <a:rPr lang="zh-CN" altLang="en-US" dirty="0"/>
              <a:t>数据的共享与保护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4438600" y="4149080"/>
            <a:ext cx="3733800" cy="1143000"/>
          </a:xfrm>
          <a:prstGeom prst="rect">
            <a:avLst/>
          </a:prstGeom>
        </p:spPr>
        <p:txBody>
          <a:bodyPr vert="horz" rtlCol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友元 </a:t>
            </a:r>
            <a:r>
              <a:rPr lang="en-US" altLang="zh-CN" dirty="0"/>
              <a:t>friend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0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大纲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691680" y="1844824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标志符的作用域与可见性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对象的生存期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类的静态成员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/>
              <a:t>类的友元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共享数据的保护</a:t>
            </a: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多文件结构和编译预处理命令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5284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3.4 </a:t>
            </a:r>
            <a:r>
              <a:rPr lang="zh-CN" altLang="en-US" dirty="0"/>
              <a:t>类的友元</a:t>
            </a:r>
            <a:endParaRPr lang="en-US" altLang="zh-CN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3.4.1 </a:t>
            </a:r>
            <a:r>
              <a:rPr lang="zh-CN" altLang="en-US" dirty="0"/>
              <a:t>友元函数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3.4.2 </a:t>
            </a:r>
            <a:r>
              <a:rPr lang="zh-CN" altLang="en-US" dirty="0"/>
              <a:t>友元类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01013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88640"/>
            <a:ext cx="73152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友元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268760"/>
            <a:ext cx="8208912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友元是</a:t>
            </a:r>
            <a:r>
              <a:rPr lang="en-US" altLang="zh-CN" dirty="0"/>
              <a:t>C++</a:t>
            </a:r>
            <a:r>
              <a:rPr lang="zh-CN" altLang="en-US" dirty="0"/>
              <a:t>提供的一种破坏数据封装和数据隐藏的机制。</a:t>
            </a:r>
          </a:p>
          <a:p>
            <a:pPr eaLnBrk="1" hangingPunct="1"/>
            <a:r>
              <a:rPr lang="zh-CN" altLang="en-US" dirty="0"/>
              <a:t>通过将一个模块声明为另一个模块的友元，一个模块能够引用到另一个模块中本是被隐藏的信息。</a:t>
            </a:r>
          </a:p>
          <a:p>
            <a:pPr eaLnBrk="1" hangingPunct="1"/>
            <a:r>
              <a:rPr lang="zh-CN" altLang="en-US" dirty="0"/>
              <a:t>可以使用友元函数和友元类。</a:t>
            </a:r>
          </a:p>
          <a:p>
            <a:pPr eaLnBrk="1" hangingPunct="1"/>
            <a:r>
              <a:rPr lang="zh-CN" altLang="en-US" dirty="0"/>
              <a:t>为了确保数据的完整性，及数据封装与隐藏的原则，建议合理使用、不要滥用友元。</a:t>
            </a:r>
          </a:p>
        </p:txBody>
      </p:sp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B3834CE9-EF44-45A4-B27A-54A7D47E37A5}" type="slidenum">
              <a:rPr lang="en-US" altLang="zh-CN" sz="1400" smtClean="0"/>
              <a:pPr/>
              <a:t>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4851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239000" cy="914400"/>
          </a:xfrm>
        </p:spPr>
        <p:txBody>
          <a:bodyPr/>
          <a:lstStyle/>
          <a:p>
            <a:pPr eaLnBrk="1" hangingPunct="1"/>
            <a:r>
              <a:rPr lang="zh-CN" altLang="en-US"/>
              <a:t>友元函数</a:t>
            </a:r>
          </a:p>
        </p:txBody>
      </p:sp>
      <p:sp>
        <p:nvSpPr>
          <p:cNvPr id="37892" name="Rectangle 1027"/>
          <p:cNvSpPr>
            <a:spLocks noGrp="1" noChangeArrowheads="1"/>
          </p:cNvSpPr>
          <p:nvPr>
            <p:ph idx="1"/>
          </p:nvPr>
        </p:nvSpPr>
        <p:spPr>
          <a:xfrm>
            <a:off x="899592" y="1556792"/>
            <a:ext cx="7391400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友元函数是在类声明中由关键字</a:t>
            </a:r>
            <a:r>
              <a:rPr lang="en-US" altLang="zh-CN" dirty="0">
                <a:solidFill>
                  <a:schemeClr val="tx2"/>
                </a:solidFill>
              </a:rPr>
              <a:t>friend</a:t>
            </a:r>
            <a:r>
              <a:rPr lang="zh-CN" altLang="en-US" dirty="0"/>
              <a:t>修饰说明的非成员函数，在它的函数体中能够通过对象名访问 </a:t>
            </a:r>
            <a:r>
              <a:rPr lang="en-US" altLang="zh-CN" dirty="0"/>
              <a:t>private </a:t>
            </a:r>
            <a:r>
              <a:rPr lang="zh-CN" altLang="en-US" dirty="0"/>
              <a:t>和 </a:t>
            </a:r>
            <a:r>
              <a:rPr lang="en-US" altLang="zh-CN" dirty="0"/>
              <a:t>protected</a:t>
            </a:r>
            <a:r>
              <a:rPr lang="zh-CN" altLang="en-US" dirty="0"/>
              <a:t>成员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作用：增加灵活性，使程序员可以在封装和快速性方面做合理选择。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访问对象中的成员必须通过对象名。</a:t>
            </a:r>
          </a:p>
        </p:txBody>
      </p:sp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DBF4437-0AEC-45F4-A4E8-620C53893979}" type="slidenum">
              <a:rPr lang="en-US" altLang="zh-CN" sz="1400" smtClean="0"/>
              <a:pPr/>
              <a:t>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7861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580"/>
            <a:ext cx="7772400" cy="863600"/>
          </a:xfrm>
        </p:spPr>
        <p:txBody>
          <a:bodyPr/>
          <a:lstStyle/>
          <a:p>
            <a:r>
              <a:rPr lang="zh-CN" altLang="en-US" dirty="0"/>
              <a:t>友元函数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513" y="908720"/>
            <a:ext cx="8856984" cy="489902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</a:pPr>
            <a:r>
              <a:rPr lang="zh-CN" altLang="en-US" dirty="0"/>
              <a:t>一个类的友元函数能够直接访问该类所有成员，包括</a:t>
            </a:r>
            <a:r>
              <a:rPr lang="en-US" altLang="zh-CN" dirty="0"/>
              <a:t>public</a:t>
            </a:r>
            <a:r>
              <a:rPr lang="zh-CN" altLang="en-US" dirty="0"/>
              <a:t>、</a:t>
            </a:r>
            <a:r>
              <a:rPr lang="en-US" altLang="zh-CN" dirty="0"/>
              <a:t>protected</a:t>
            </a:r>
            <a:r>
              <a:rPr lang="zh-CN" altLang="en-US" dirty="0"/>
              <a:t>、</a:t>
            </a:r>
            <a:r>
              <a:rPr lang="en-US" altLang="zh-CN" dirty="0"/>
              <a:t>private</a:t>
            </a:r>
            <a:r>
              <a:rPr lang="zh-CN" altLang="en-US" dirty="0"/>
              <a:t>类型的成员。</a:t>
            </a:r>
          </a:p>
          <a:p>
            <a:pPr lvl="1" eaLnBrk="1" hangingPunct="1"/>
            <a:r>
              <a:rPr lang="zh-CN" altLang="en-US" b="1" dirty="0">
                <a:solidFill>
                  <a:schemeClr val="accent2"/>
                </a:solidFill>
              </a:rPr>
              <a:t>友元函数的定义形式如下：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class X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{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lvl="1"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3300"/>
                </a:solidFill>
              </a:rPr>
              <a:t>friend  </a:t>
            </a:r>
            <a:r>
              <a:rPr lang="en-US" altLang="zh-CN" dirty="0"/>
              <a:t>T  f(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);         //</a:t>
            </a:r>
            <a:r>
              <a:rPr lang="zh-CN" altLang="en-US" dirty="0"/>
              <a:t>声明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类的友元函数</a:t>
            </a:r>
          </a:p>
          <a:p>
            <a:pPr lvl="1"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lvl="1" eaLnBrk="1" hangingPunct="1">
              <a:buFontTx/>
              <a:buNone/>
            </a:pPr>
            <a:r>
              <a:rPr lang="en-US" altLang="zh-CN" dirty="0"/>
              <a:t>};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marL="3406775" lvl="1" indent="-2965450" eaLnBrk="1" hangingPunct="1">
              <a:buFontTx/>
              <a:buNone/>
            </a:pPr>
            <a:r>
              <a:rPr lang="en-US" altLang="zh-CN" dirty="0"/>
              <a:t>T  f(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) </a:t>
            </a:r>
          </a:p>
          <a:p>
            <a:pPr marL="3406775" lvl="1" indent="-2965450" eaLnBrk="1" hangingPunct="1">
              <a:buFontTx/>
              <a:buNone/>
            </a:pPr>
            <a:r>
              <a:rPr lang="en-US" altLang="zh-CN" dirty="0"/>
              <a:t>{ </a:t>
            </a:r>
            <a:r>
              <a:rPr lang="en-US" altLang="zh-CN" dirty="0">
                <a:latin typeface="Arial" charset="0"/>
              </a:rPr>
              <a:t>……</a:t>
            </a:r>
          </a:p>
          <a:p>
            <a:pPr marL="3406775" lvl="1" indent="-2965450" eaLnBrk="1" hangingPunct="1">
              <a:buFontTx/>
              <a:buNone/>
            </a:pP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03848" y="4365104"/>
            <a:ext cx="5616624" cy="114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838" lvl="1" indent="-1588">
              <a:lnSpc>
                <a:spcPct val="150000"/>
              </a:lnSpc>
            </a:pPr>
            <a:r>
              <a:rPr lang="en-US" altLang="zh-CN" sz="2400" dirty="0"/>
              <a:t>//</a:t>
            </a:r>
            <a:r>
              <a:rPr lang="zh-CN" altLang="en-US" sz="2400" dirty="0"/>
              <a:t>友元不是类成员函数，定义时不能用</a:t>
            </a:r>
            <a:r>
              <a:rPr lang="en-US" altLang="zh-CN" sz="2400" dirty="0"/>
              <a:t>"X::f"</a:t>
            </a:r>
            <a:r>
              <a:rPr lang="zh-CN" altLang="en-US" sz="2400" dirty="0"/>
              <a:t>限定函数名</a:t>
            </a:r>
          </a:p>
        </p:txBody>
      </p:sp>
    </p:spTree>
    <p:extLst>
      <p:ext uri="{BB962C8B-B14F-4D97-AF65-F5344CB8AC3E}">
        <p14:creationId xmlns:p14="http://schemas.microsoft.com/office/powerpoint/2010/main" val="238615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 </a:t>
            </a:r>
            <a:r>
              <a:rPr lang="en-US" altLang="zh-CN" sz="4000" dirty="0" err="1"/>
              <a:t>dist</a:t>
            </a:r>
            <a:r>
              <a:rPr lang="zh-CN" altLang="en-US" sz="4000" dirty="0"/>
              <a:t>函数计算两点距离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7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07504" y="692696"/>
            <a:ext cx="511256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=0,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=0):_x(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),_y(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</p:spTree>
    <p:extLst>
      <p:ext uri="{BB962C8B-B14F-4D97-AF65-F5344CB8AC3E}">
        <p14:creationId xmlns:p14="http://schemas.microsoft.com/office/powerpoint/2010/main" val="164600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 </a:t>
            </a:r>
            <a:r>
              <a:rPr lang="en-US" altLang="zh-CN" sz="4000" dirty="0" err="1"/>
              <a:t>dist</a:t>
            </a:r>
            <a:r>
              <a:rPr lang="zh-CN" altLang="en-US" sz="4000" dirty="0"/>
              <a:t>函数计算两点距离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8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215516" y="1380232"/>
            <a:ext cx="6984776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static_cast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sqrt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(x*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x+y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*y));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fr-FR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p1(1, 1), p2(4,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distance is: "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(p1,p2)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2426856" y="2676108"/>
            <a:ext cx="357020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宋体" charset="-122"/>
              </a:rPr>
              <a:t>(float)(</a:t>
            </a:r>
            <a:r>
              <a:rPr lang="en-US" altLang="zh-CN" sz="2400" dirty="0" err="1">
                <a:latin typeface="宋体" charset="-122"/>
              </a:rPr>
              <a:t>sqrt</a:t>
            </a:r>
            <a:r>
              <a:rPr lang="en-US" altLang="zh-CN" sz="2400" dirty="0">
                <a:latin typeface="宋体" charset="-122"/>
              </a:rPr>
              <a:t>(x*</a:t>
            </a:r>
            <a:r>
              <a:rPr lang="en-US" altLang="zh-CN" sz="2400" dirty="0" err="1">
                <a:latin typeface="宋体" charset="-122"/>
              </a:rPr>
              <a:t>x+y</a:t>
            </a:r>
            <a:r>
              <a:rPr lang="en-US" altLang="zh-CN" sz="2400" dirty="0">
                <a:latin typeface="宋体" charset="-122"/>
              </a:rPr>
              <a:t>*y))</a:t>
            </a:r>
            <a:endParaRPr lang="zh-CN" altLang="en-US" sz="2400" dirty="0"/>
          </a:p>
        </p:txBody>
      </p:sp>
      <p:cxnSp>
        <p:nvCxnSpPr>
          <p:cNvPr id="9" name="直接连接符 8"/>
          <p:cNvCxnSpPr>
            <a:cxnSpLocks/>
          </p:cNvCxnSpPr>
          <p:nvPr/>
        </p:nvCxnSpPr>
        <p:spPr>
          <a:xfrm>
            <a:off x="1641274" y="2636912"/>
            <a:ext cx="473092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148064" y="3861048"/>
            <a:ext cx="182614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宋体" charset="-122"/>
              </a:rPr>
              <a:t>设想发生</a:t>
            </a:r>
            <a:endParaRPr lang="en-US" altLang="zh-CN" sz="3200" dirty="0">
              <a:latin typeface="宋体" charset="-122"/>
            </a:endParaRPr>
          </a:p>
          <a:p>
            <a:r>
              <a:rPr lang="zh-CN" altLang="en-US" sz="3200" dirty="0">
                <a:latin typeface="宋体" charset="-122"/>
              </a:rPr>
              <a:t>很多次的</a:t>
            </a:r>
            <a:endParaRPr lang="en-US" altLang="zh-CN" sz="3200" dirty="0">
              <a:latin typeface="宋体" charset="-122"/>
            </a:endParaRPr>
          </a:p>
          <a:p>
            <a:r>
              <a:rPr lang="en-US" altLang="zh-CN" sz="3200" dirty="0" err="1">
                <a:latin typeface="宋体" charset="-122"/>
              </a:rPr>
              <a:t>dist</a:t>
            </a:r>
            <a:r>
              <a:rPr lang="zh-CN" altLang="en-US" sz="3200" dirty="0">
                <a:latin typeface="宋体" charset="-122"/>
              </a:rPr>
              <a:t>运算</a:t>
            </a:r>
            <a:endParaRPr lang="en-US" altLang="zh-CN" sz="3200" dirty="0">
              <a:latin typeface="宋体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195736" y="1700808"/>
            <a:ext cx="2880320" cy="6772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792896" y="1610797"/>
            <a:ext cx="3133170" cy="954107"/>
            <a:chOff x="5720888" y="1106741"/>
            <a:chExt cx="3133170" cy="954107"/>
          </a:xfrm>
        </p:grpSpPr>
        <p:sp>
          <p:nvSpPr>
            <p:cNvPr id="14" name="矩形 13"/>
            <p:cNvSpPr/>
            <p:nvPr/>
          </p:nvSpPr>
          <p:spPr>
            <a:xfrm>
              <a:off x="6514956" y="1106741"/>
              <a:ext cx="2339102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latin typeface="宋体" charset="-122"/>
                </a:rPr>
                <a:t>a._x</a:t>
              </a:r>
              <a:r>
                <a:rPr lang="en-US" altLang="zh-CN" sz="2800" dirty="0">
                  <a:latin typeface="宋体" charset="-122"/>
                </a:rPr>
                <a:t> - </a:t>
              </a:r>
              <a:r>
                <a:rPr lang="en-US" altLang="zh-CN" sz="2800" dirty="0" err="1">
                  <a:latin typeface="宋体" charset="-122"/>
                </a:rPr>
                <a:t>b._x</a:t>
              </a:r>
              <a:r>
                <a:rPr lang="en-US" altLang="zh-CN" sz="2800" dirty="0">
                  <a:latin typeface="宋体" charset="-122"/>
                </a:rPr>
                <a:t> </a:t>
              </a:r>
            </a:p>
            <a:p>
              <a:r>
                <a:rPr lang="en-US" altLang="zh-CN" sz="2800" dirty="0" err="1">
                  <a:latin typeface="宋体" charset="-122"/>
                </a:rPr>
                <a:t>a._y</a:t>
              </a:r>
              <a:r>
                <a:rPr lang="en-US" altLang="zh-CN" sz="2800" dirty="0">
                  <a:latin typeface="宋体" charset="-122"/>
                </a:rPr>
                <a:t> - </a:t>
              </a:r>
              <a:r>
                <a:rPr lang="en-US" altLang="zh-CN" sz="2800" dirty="0" err="1">
                  <a:latin typeface="宋体" charset="-122"/>
                </a:rPr>
                <a:t>b._y</a:t>
              </a:r>
              <a:endParaRPr lang="zh-CN" altLang="en-US" sz="2800" dirty="0"/>
            </a:p>
          </p:txBody>
        </p:sp>
        <p:sp>
          <p:nvSpPr>
            <p:cNvPr id="15" name="左箭头 14"/>
            <p:cNvSpPr/>
            <p:nvPr/>
          </p:nvSpPr>
          <p:spPr>
            <a:xfrm>
              <a:off x="5720888" y="1556792"/>
              <a:ext cx="579304" cy="26103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79712" y="80626"/>
            <a:ext cx="4134465" cy="1530171"/>
            <a:chOff x="1907704" y="26621"/>
            <a:chExt cx="4134465" cy="1530171"/>
          </a:xfrm>
        </p:grpSpPr>
        <p:sp>
          <p:nvSpPr>
            <p:cNvPr id="17" name="矩形 16"/>
            <p:cNvSpPr/>
            <p:nvPr/>
          </p:nvSpPr>
          <p:spPr>
            <a:xfrm>
              <a:off x="1907704" y="26621"/>
              <a:ext cx="4134465" cy="954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发生</a:t>
              </a:r>
              <a:r>
                <a:rPr lang="en-US" altLang="zh-CN" sz="2800" dirty="0"/>
                <a:t>4</a:t>
              </a:r>
              <a:r>
                <a:rPr lang="zh-CN" altLang="en-US" sz="2800" dirty="0"/>
                <a:t>次函数调用，</a:t>
              </a:r>
              <a:endParaRPr lang="en-US" altLang="zh-CN" sz="2800" dirty="0"/>
            </a:p>
            <a:p>
              <a:r>
                <a:rPr lang="zh-CN" altLang="en-US" sz="2800" dirty="0"/>
                <a:t>消耗了额外的计算机时间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4067944" y="998483"/>
              <a:ext cx="144016" cy="55830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051257" y="98381"/>
            <a:ext cx="3057247" cy="1512416"/>
            <a:chOff x="5979249" y="44376"/>
            <a:chExt cx="3057247" cy="1512416"/>
          </a:xfrm>
        </p:grpSpPr>
        <p:sp>
          <p:nvSpPr>
            <p:cNvPr id="20" name="矩形 19"/>
            <p:cNvSpPr/>
            <p:nvPr/>
          </p:nvSpPr>
          <p:spPr>
            <a:xfrm>
              <a:off x="5979249" y="44376"/>
              <a:ext cx="3057247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不发生函数调用，</a:t>
              </a:r>
              <a:endParaRPr lang="en-US" altLang="zh-CN" sz="2800" dirty="0"/>
            </a:p>
            <a:p>
              <a:r>
                <a:rPr lang="zh-CN" altLang="en-US" sz="2800" dirty="0"/>
                <a:t>节约了计算机时间</a:t>
              </a:r>
            </a:p>
          </p:txBody>
        </p:sp>
        <p:cxnSp>
          <p:nvCxnSpPr>
            <p:cNvPr id="21" name="直接箭头连接符 20"/>
            <p:cNvCxnSpPr>
              <a:stCxn id="20" idx="2"/>
            </p:cNvCxnSpPr>
            <p:nvPr/>
          </p:nvCxnSpPr>
          <p:spPr>
            <a:xfrm flipH="1">
              <a:off x="7128284" y="998483"/>
              <a:ext cx="379589" cy="55830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70723" y="98381"/>
            <a:ext cx="1980029" cy="1512416"/>
            <a:chOff x="-1285" y="44376"/>
            <a:chExt cx="1980029" cy="1512416"/>
          </a:xfrm>
        </p:grpSpPr>
        <p:sp>
          <p:nvSpPr>
            <p:cNvPr id="23" name="矩形 22"/>
            <p:cNvSpPr/>
            <p:nvPr/>
          </p:nvSpPr>
          <p:spPr>
            <a:xfrm>
              <a:off x="-1285" y="44376"/>
              <a:ext cx="1980029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宋体" charset="-122"/>
                </a:rPr>
                <a:t>设</a:t>
              </a:r>
              <a:r>
                <a:rPr lang="en-US" altLang="zh-CN" sz="2800" dirty="0" err="1">
                  <a:latin typeface="宋体" charset="-122"/>
                </a:rPr>
                <a:t>dist</a:t>
              </a:r>
              <a:endParaRPr lang="en-US" altLang="zh-CN" sz="2800" dirty="0">
                <a:latin typeface="宋体" charset="-122"/>
              </a:endParaRPr>
            </a:p>
            <a:p>
              <a:r>
                <a:rPr lang="zh-CN" altLang="en-US" sz="2800" dirty="0">
                  <a:latin typeface="宋体" charset="-122"/>
                </a:rPr>
                <a:t>为友元函数</a:t>
              </a:r>
              <a:endParaRPr lang="en-US" altLang="zh-CN" sz="2800" dirty="0">
                <a:latin typeface="宋体" charset="-122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1233403" y="980728"/>
              <a:ext cx="242253" cy="57606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743848" y="5865048"/>
            <a:ext cx="283603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The distance is: 5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45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4000" dirty="0" err="1"/>
              <a:t>dist</a:t>
            </a:r>
            <a:r>
              <a:rPr lang="zh-CN" altLang="en-US" sz="4000" dirty="0"/>
              <a:t>函数设成</a:t>
            </a:r>
            <a:r>
              <a:rPr lang="en-US" altLang="zh-CN" sz="4000" dirty="0"/>
              <a:t>Point</a:t>
            </a:r>
            <a:r>
              <a:rPr lang="zh-CN" altLang="en-US" sz="4000" dirty="0"/>
              <a:t>的友元函数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9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07504" y="692696"/>
            <a:ext cx="7416824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=0,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=0):_x(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),_y(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7683B2-738E-588A-2BF9-8061BC5479FC}"/>
              </a:ext>
            </a:extLst>
          </p:cNvPr>
          <p:cNvCxnSpPr/>
          <p:nvPr/>
        </p:nvCxnSpPr>
        <p:spPr>
          <a:xfrm>
            <a:off x="539552" y="3501008"/>
            <a:ext cx="6552728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75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10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215516" y="1751325"/>
            <a:ext cx="7236804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static_cast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sqrt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(x*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x+y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*y));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fr-FR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p1(1, 1), p2(4,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distance is: "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(p1,p2)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2231740" y="2091317"/>
            <a:ext cx="1584176" cy="6660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699792" y="242645"/>
            <a:ext cx="5876673" cy="1962219"/>
            <a:chOff x="1331640" y="242645"/>
            <a:chExt cx="5876673" cy="1962219"/>
          </a:xfrm>
        </p:grpSpPr>
        <p:sp>
          <p:nvSpPr>
            <p:cNvPr id="27" name="矩形 26"/>
            <p:cNvSpPr/>
            <p:nvPr/>
          </p:nvSpPr>
          <p:spPr>
            <a:xfrm>
              <a:off x="1331640" y="242645"/>
              <a:ext cx="5876673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类</a:t>
              </a:r>
              <a:r>
                <a:rPr lang="en-US" altLang="zh-CN" sz="2800" dirty="0"/>
                <a:t>Point</a:t>
              </a:r>
              <a:r>
                <a:rPr lang="zh-CN" altLang="en-US" sz="2800" dirty="0"/>
                <a:t>的友元函数</a:t>
              </a:r>
              <a:r>
                <a:rPr lang="en-US" altLang="zh-CN" sz="2800" dirty="0" err="1"/>
                <a:t>dist</a:t>
              </a:r>
              <a:r>
                <a:rPr lang="zh-CN" altLang="en-US" sz="2800" dirty="0"/>
                <a:t>可以直接访问</a:t>
              </a:r>
              <a:endParaRPr lang="en-US" altLang="zh-CN" sz="2800" dirty="0"/>
            </a:p>
            <a:p>
              <a:r>
                <a:rPr lang="zh-CN" altLang="en-US" sz="2800" dirty="0"/>
                <a:t>类</a:t>
              </a:r>
              <a:r>
                <a:rPr lang="en-US" altLang="zh-CN" sz="2800" dirty="0"/>
                <a:t>Point </a:t>
              </a:r>
              <a:r>
                <a:rPr lang="zh-CN" altLang="en-US" sz="2800" dirty="0"/>
                <a:t>的私有或保护成员</a:t>
              </a:r>
              <a:endParaRPr lang="en-US" altLang="zh-CN" sz="2800" dirty="0"/>
            </a:p>
          </p:txBody>
        </p:sp>
        <p:cxnSp>
          <p:nvCxnSpPr>
            <p:cNvPr id="28" name="直接箭头连接符 27"/>
            <p:cNvCxnSpPr>
              <a:cxnSpLocks/>
            </p:cNvCxnSpPr>
            <p:nvPr/>
          </p:nvCxnSpPr>
          <p:spPr>
            <a:xfrm flipH="1">
              <a:off x="2447764" y="1178751"/>
              <a:ext cx="2052228" cy="102611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5436096" y="4777988"/>
            <a:ext cx="283603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The distance is: 5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24128" y="1466781"/>
            <a:ext cx="3057247" cy="95410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不发生函数调用，</a:t>
            </a:r>
            <a:endParaRPr lang="en-US" altLang="zh-CN" sz="2800" dirty="0"/>
          </a:p>
          <a:p>
            <a:r>
              <a:rPr lang="zh-CN" altLang="en-US" sz="2800" dirty="0"/>
              <a:t>节约了计算机时间</a:t>
            </a:r>
          </a:p>
        </p:txBody>
      </p:sp>
    </p:spTree>
    <p:extLst>
      <p:ext uri="{BB962C8B-B14F-4D97-AF65-F5344CB8AC3E}">
        <p14:creationId xmlns:p14="http://schemas.microsoft.com/office/powerpoint/2010/main" val="35728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9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友元函数例</a:t>
            </a:r>
            <a:r>
              <a:rPr lang="en-US" altLang="zh-CN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/>
                <a:latin typeface="黑体" pitchFamily="2" charset="-122"/>
                <a:ea typeface="黑体" pitchFamily="2" charset="-122"/>
              </a:rPr>
              <a:t>矩阵和向量的乘法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1447800" y="2667000"/>
            <a:ext cx="152400" cy="2362200"/>
            <a:chOff x="912" y="1920"/>
            <a:chExt cx="96" cy="1488"/>
          </a:xfrm>
        </p:grpSpPr>
        <p:sp>
          <p:nvSpPr>
            <p:cNvPr id="17439" name="Line 5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6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7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1524000" y="2743200"/>
            <a:ext cx="24384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lain"/>
            </a:pPr>
            <a:r>
              <a:rPr lang="en-US" altLang="zh-CN" sz="2400" b="1"/>
              <a:t>   2     3     4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5"/>
            </a:pPr>
            <a:r>
              <a:rPr lang="en-US" altLang="zh-CN" sz="2400" b="1"/>
              <a:t>   6     7     8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9"/>
            </a:pPr>
            <a:r>
              <a:rPr lang="en-US" altLang="zh-CN" sz="2400" b="1"/>
              <a:t> 10   11   12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13  14   15  16</a:t>
            </a:r>
          </a:p>
        </p:txBody>
      </p:sp>
      <p:grpSp>
        <p:nvGrpSpPr>
          <p:cNvPr id="17414" name="Group 9"/>
          <p:cNvGrpSpPr>
            <a:grpSpLocks/>
          </p:cNvGrpSpPr>
          <p:nvPr/>
        </p:nvGrpSpPr>
        <p:grpSpPr bwMode="auto">
          <a:xfrm flipH="1" flipV="1">
            <a:off x="3733800" y="2667000"/>
            <a:ext cx="152400" cy="2362200"/>
            <a:chOff x="912" y="1920"/>
            <a:chExt cx="96" cy="1488"/>
          </a:xfrm>
        </p:grpSpPr>
        <p:sp>
          <p:nvSpPr>
            <p:cNvPr id="17436" name="Line 10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11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Line 12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5" name="Group 13"/>
          <p:cNvGrpSpPr>
            <a:grpSpLocks/>
          </p:cNvGrpSpPr>
          <p:nvPr/>
        </p:nvGrpSpPr>
        <p:grpSpPr bwMode="auto">
          <a:xfrm>
            <a:off x="4114800" y="2667000"/>
            <a:ext cx="152400" cy="2362200"/>
            <a:chOff x="912" y="1920"/>
            <a:chExt cx="96" cy="1488"/>
          </a:xfrm>
        </p:grpSpPr>
        <p:sp>
          <p:nvSpPr>
            <p:cNvPr id="17433" name="Line 14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Line 15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16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6" name="Text Box 17"/>
          <p:cNvSpPr txBox="1">
            <a:spLocks noChangeArrowheads="1"/>
          </p:cNvSpPr>
          <p:nvPr/>
        </p:nvSpPr>
        <p:spPr bwMode="auto">
          <a:xfrm>
            <a:off x="4191000" y="2743200"/>
            <a:ext cx="4572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3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5</a:t>
            </a:r>
          </a:p>
        </p:txBody>
      </p:sp>
      <p:grpSp>
        <p:nvGrpSpPr>
          <p:cNvPr id="17417" name="Group 18"/>
          <p:cNvGrpSpPr>
            <a:grpSpLocks/>
          </p:cNvGrpSpPr>
          <p:nvPr/>
        </p:nvGrpSpPr>
        <p:grpSpPr bwMode="auto">
          <a:xfrm flipH="1" flipV="1">
            <a:off x="4495800" y="2667000"/>
            <a:ext cx="152400" cy="2362200"/>
            <a:chOff x="912" y="1920"/>
            <a:chExt cx="96" cy="1488"/>
          </a:xfrm>
        </p:grpSpPr>
        <p:sp>
          <p:nvSpPr>
            <p:cNvPr id="17430" name="Line 19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20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21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4876800" y="3657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＝</a:t>
            </a:r>
          </a:p>
        </p:txBody>
      </p:sp>
      <p:grpSp>
        <p:nvGrpSpPr>
          <p:cNvPr id="17419" name="Group 23"/>
          <p:cNvGrpSpPr>
            <a:grpSpLocks/>
          </p:cNvGrpSpPr>
          <p:nvPr/>
        </p:nvGrpSpPr>
        <p:grpSpPr bwMode="auto">
          <a:xfrm>
            <a:off x="5486400" y="2667000"/>
            <a:ext cx="152400" cy="2362200"/>
            <a:chOff x="912" y="1920"/>
            <a:chExt cx="96" cy="1488"/>
          </a:xfrm>
        </p:grpSpPr>
        <p:sp>
          <p:nvSpPr>
            <p:cNvPr id="17427" name="Line 24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5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6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20" name="Text Box 27"/>
          <p:cNvSpPr txBox="1">
            <a:spLocks noChangeArrowheads="1"/>
          </p:cNvSpPr>
          <p:nvPr/>
        </p:nvSpPr>
        <p:spPr bwMode="auto">
          <a:xfrm>
            <a:off x="5562600" y="2743200"/>
            <a:ext cx="990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40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96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152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208</a:t>
            </a:r>
          </a:p>
        </p:txBody>
      </p:sp>
      <p:grpSp>
        <p:nvGrpSpPr>
          <p:cNvPr id="17421" name="Group 28"/>
          <p:cNvGrpSpPr>
            <a:grpSpLocks/>
          </p:cNvGrpSpPr>
          <p:nvPr/>
        </p:nvGrpSpPr>
        <p:grpSpPr bwMode="auto">
          <a:xfrm flipH="1" flipV="1">
            <a:off x="6324600" y="2667000"/>
            <a:ext cx="152400" cy="2362200"/>
            <a:chOff x="912" y="1920"/>
            <a:chExt cx="96" cy="1488"/>
          </a:xfrm>
        </p:grpSpPr>
        <p:sp>
          <p:nvSpPr>
            <p:cNvPr id="17424" name="Line 29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Line 30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Line 31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22" name="Text Box 32"/>
          <p:cNvSpPr txBox="1">
            <a:spLocks noChangeArrowheads="1"/>
          </p:cNvSpPr>
          <p:nvPr/>
        </p:nvSpPr>
        <p:spPr bwMode="auto">
          <a:xfrm>
            <a:off x="1981200" y="5105400"/>
            <a:ext cx="1219200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</a:rPr>
              <a:t>矩阵类</a:t>
            </a:r>
          </a:p>
        </p:txBody>
      </p:sp>
      <p:sp>
        <p:nvSpPr>
          <p:cNvPr id="17423" name="Text Box 33"/>
          <p:cNvSpPr txBox="1">
            <a:spLocks noChangeArrowheads="1"/>
          </p:cNvSpPr>
          <p:nvPr/>
        </p:nvSpPr>
        <p:spPr bwMode="auto">
          <a:xfrm>
            <a:off x="3733800" y="5105400"/>
            <a:ext cx="1219200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</a:rPr>
              <a:t>向量类</a:t>
            </a:r>
          </a:p>
        </p:txBody>
      </p:sp>
    </p:spTree>
    <p:extLst>
      <p:ext uri="{BB962C8B-B14F-4D97-AF65-F5344CB8AC3E}">
        <p14:creationId xmlns:p14="http://schemas.microsoft.com/office/powerpoint/2010/main" val="225572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6660232" y="-30440"/>
            <a:ext cx="2483768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ea typeface="黑体" pitchFamily="2" charset="-122"/>
              </a:rPr>
              <a:t>向量类</a:t>
            </a:r>
          </a:p>
        </p:txBody>
      </p:sp>
      <p:sp>
        <p:nvSpPr>
          <p:cNvPr id="3" name="矩形 2"/>
          <p:cNvSpPr/>
          <p:nvPr/>
        </p:nvSpPr>
        <p:spPr>
          <a:xfrm>
            <a:off x="29344" y="836712"/>
            <a:ext cx="3246512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ctime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向量类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_v;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 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_v; 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重载下标运算符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3AB5C-F463-9008-7119-58A52D98C574}"/>
              </a:ext>
            </a:extLst>
          </p:cNvPr>
          <p:cNvSpPr/>
          <p:nvPr/>
        </p:nvSpPr>
        <p:spPr>
          <a:xfrm>
            <a:off x="3310045" y="836712"/>
            <a:ext cx="5804611" cy="62478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en-US" altLang="zh-CN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Vector size.\n"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_v =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 i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 = 0; i&lt;_sz; ++i)</a:t>
            </a:r>
          </a:p>
          <a:p>
            <a:pPr marL="808038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"\n"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重载下标运算符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[]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&gt;=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"Vector index out of range.\n"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_v[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8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6662464" y="228600"/>
            <a:ext cx="2590056" cy="9906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effectLst/>
                <a:ea typeface="黑体" pitchFamily="2" charset="-122"/>
              </a:rPr>
              <a:t>矩阵类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1124744"/>
            <a:ext cx="2915816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 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矩阵类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_m;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{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_m;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36B40E-2309-A403-0576-EE9AC3B64AB0}"/>
              </a:ext>
            </a:extLst>
          </p:cNvPr>
          <p:cNvSpPr/>
          <p:nvPr/>
        </p:nvSpPr>
        <p:spPr>
          <a:xfrm>
            <a:off x="3131840" y="1146224"/>
            <a:ext cx="5400600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 ||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Matrix size.\n"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_m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 i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取矩阵元素函数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||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"Matrix index out of range.\n"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_m[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+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050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451" y="973842"/>
            <a:ext cx="912339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s-E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s-E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!=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multiply Matrix with Vector. \n 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  exit(1);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marL="441325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r.set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());</a:t>
            </a:r>
          </a:p>
          <a:p>
            <a:pPr marL="441325" lvl="0"/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 = 0; i &lt; </a:t>
            </a:r>
            <a:r>
              <a:rPr lang="nn-NO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.sizeL(); i++)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8985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 = 0; j &lt;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j++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8985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+=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.elem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j) *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339752" y="188639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乘法函数  </a:t>
            </a:r>
            <a:r>
              <a:rPr lang="es-ES" altLang="zh-CN" sz="32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multiply</a:t>
            </a:r>
            <a:endParaRPr lang="zh-CN" altLang="en-US" sz="2400" dirty="0"/>
          </a:p>
        </p:txBody>
      </p:sp>
      <p:sp>
        <p:nvSpPr>
          <p:cNvPr id="9" name="圆角矩形 8"/>
          <p:cNvSpPr/>
          <p:nvPr/>
        </p:nvSpPr>
        <p:spPr>
          <a:xfrm>
            <a:off x="971600" y="1268760"/>
            <a:ext cx="1152128" cy="288032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259633" y="2708920"/>
            <a:ext cx="1152128" cy="21602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987824" y="2921042"/>
            <a:ext cx="1178952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899592" y="3197514"/>
            <a:ext cx="60288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99592" y="3780240"/>
            <a:ext cx="60288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856728" y="3755843"/>
            <a:ext cx="602888" cy="310481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961352" y="3767160"/>
            <a:ext cx="1602536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446696" y="3494156"/>
            <a:ext cx="1269320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67544" y="2672917"/>
            <a:ext cx="223224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11180" y="5135312"/>
            <a:ext cx="4977224" cy="87767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函数调用次数：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	</a:t>
            </a:r>
            <a:r>
              <a:rPr lang="en-US" altLang="zh-CN" sz="2800" dirty="0">
                <a:solidFill>
                  <a:prstClr val="black"/>
                </a:solidFill>
              </a:rPr>
              <a:t>l*(2+4r)+4   </a:t>
            </a:r>
            <a:r>
              <a:rPr lang="zh-CN" altLang="en-US" sz="2800" dirty="0">
                <a:solidFill>
                  <a:prstClr val="black"/>
                </a:solidFill>
              </a:rPr>
              <a:t>（矩阵</a:t>
            </a:r>
            <a:r>
              <a:rPr lang="en-US" altLang="zh-CN" sz="2800" dirty="0">
                <a:solidFill>
                  <a:prstClr val="black"/>
                </a:solidFill>
              </a:rPr>
              <a:t>l</a:t>
            </a:r>
            <a:r>
              <a:rPr lang="zh-CN" altLang="en-US" sz="2800" dirty="0">
                <a:solidFill>
                  <a:prstClr val="black"/>
                </a:solidFill>
              </a:rPr>
              <a:t>行</a:t>
            </a:r>
            <a:r>
              <a:rPr lang="en-US" altLang="zh-CN" sz="2800" dirty="0">
                <a:solidFill>
                  <a:prstClr val="black"/>
                </a:solidFill>
              </a:rPr>
              <a:t>r</a:t>
            </a:r>
            <a:r>
              <a:rPr lang="zh-CN" altLang="en-US" sz="2800" dirty="0">
                <a:solidFill>
                  <a:prstClr val="black"/>
                </a:solidFill>
              </a:rPr>
              <a:t>列）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2120" y="5085184"/>
            <a:ext cx="3280700" cy="12223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在循环中反复调用类成员函数，</a:t>
            </a:r>
            <a:endParaRPr lang="en-US" altLang="zh-CN" sz="2800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效率低 </a:t>
            </a:r>
          </a:p>
        </p:txBody>
      </p:sp>
      <p:sp>
        <p:nvSpPr>
          <p:cNvPr id="2" name="圆角矩形 8">
            <a:extLst>
              <a:ext uri="{FF2B5EF4-FFF2-40B4-BE49-F238E27FC236}">
                <a16:creationId xmlns:a16="http://schemas.microsoft.com/office/drawing/2014/main" id="{3B155071-1607-196F-28C2-26D05F6FF548}"/>
              </a:ext>
            </a:extLst>
          </p:cNvPr>
          <p:cNvSpPr/>
          <p:nvPr/>
        </p:nvSpPr>
        <p:spPr>
          <a:xfrm>
            <a:off x="2555776" y="1268760"/>
            <a:ext cx="1152128" cy="288032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" grpId="0" animBg="1"/>
      <p:bldP spid="18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7728" y="44624"/>
            <a:ext cx="570688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ifstream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in(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"in.txt"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x, y,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y;    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(x, y);</a:t>
            </a:r>
          </a:p>
          <a:p>
            <a:pPr marL="3651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0;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&lt;x; ++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715963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 = 0; j&lt;y; ++j)</a:t>
            </a:r>
          </a:p>
          <a:p>
            <a:pPr marL="989013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j);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x;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(x);</a:t>
            </a:r>
          </a:p>
          <a:p>
            <a:pPr marL="365125" lvl="0"/>
            <a:r>
              <a:rPr lang="nn-NO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(i = 0; i&lt;x; ++i)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读入向量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in.close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</p:txBody>
      </p:sp>
      <p:sp>
        <p:nvSpPr>
          <p:cNvPr id="7" name="矩形 6"/>
          <p:cNvSpPr/>
          <p:nvPr/>
        </p:nvSpPr>
        <p:spPr>
          <a:xfrm>
            <a:off x="5076056" y="274003"/>
            <a:ext cx="2597892" cy="86177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in.txt</a:t>
            </a:r>
          </a:p>
          <a:p>
            <a:r>
              <a:rPr lang="en-US" altLang="zh-CN" sz="1600" dirty="0"/>
              <a:t>3 4 1 2 3 1 4 5 6 1 7 8 9 1 </a:t>
            </a:r>
          </a:p>
          <a:p>
            <a:r>
              <a:rPr lang="en-US" altLang="zh-CN" sz="1600" dirty="0"/>
              <a:t>4 2 3 4 5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157728" y="3789040"/>
            <a:ext cx="5706888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65125" lvl="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time_t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start = clock();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nn-NO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(i = 0; i&lt;10000000; i++)</a:t>
            </a:r>
          </a:p>
          <a:p>
            <a:pPr marL="62547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multiply(ma,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 lvl="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time_t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end = clock();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计算时间是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end-start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毫秒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vx.display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5364088" y="5445224"/>
            <a:ext cx="3041997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计算时间是</a:t>
            </a:r>
            <a:r>
              <a:rPr lang="en-US" altLang="zh-CN" sz="2000" dirty="0">
                <a:solidFill>
                  <a:schemeClr val="bg1"/>
                </a:solidFill>
              </a:rPr>
              <a:t>: 2871</a:t>
            </a:r>
            <a:r>
              <a:rPr lang="zh-CN" altLang="en-US" sz="2000" dirty="0">
                <a:solidFill>
                  <a:schemeClr val="bg1"/>
                </a:solidFill>
              </a:rPr>
              <a:t>毫秒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25 52 79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95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黑体" pitchFamily="2" charset="-122"/>
              </a:rPr>
              <a:t>效率分析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676400"/>
            <a:ext cx="8003232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effectLst/>
              </a:rPr>
              <a:t>设矩阵</a:t>
            </a:r>
            <a:r>
              <a:rPr lang="en-US" altLang="zh-CN" sz="2800" dirty="0">
                <a:effectLst/>
              </a:rPr>
              <a:t>M(</a:t>
            </a:r>
            <a:r>
              <a:rPr lang="en-US" altLang="zh-CN" sz="2800" dirty="0" err="1">
                <a:effectLst/>
              </a:rPr>
              <a:t>l,r</a:t>
            </a:r>
            <a:r>
              <a:rPr lang="en-US" altLang="zh-CN" sz="2800" dirty="0">
                <a:effectLst/>
              </a:rPr>
              <a:t>)</a:t>
            </a:r>
            <a:r>
              <a:rPr lang="zh-CN" altLang="en-US" sz="2800" dirty="0">
                <a:effectLst/>
              </a:rPr>
              <a:t>，向量</a:t>
            </a:r>
            <a:r>
              <a:rPr lang="en-US" altLang="zh-CN" sz="2800" dirty="0">
                <a:effectLst/>
              </a:rPr>
              <a:t>V(r)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ffectLst/>
              </a:rPr>
              <a:t>M*V</a:t>
            </a:r>
            <a:r>
              <a:rPr lang="zh-CN" altLang="en-US" sz="2800" dirty="0">
                <a:effectLst/>
              </a:rPr>
              <a:t>运算中（因访问对象的私有数据而造成的）函数调用次数：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effectLst/>
              </a:rPr>
              <a:t>	</a:t>
            </a:r>
            <a:r>
              <a:rPr lang="en-US" altLang="zh-CN" sz="2800" dirty="0">
                <a:effectLst/>
              </a:rPr>
              <a:t>l*(2+4r)+4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effectLst/>
              </a:rPr>
              <a:t>当</a:t>
            </a:r>
            <a:r>
              <a:rPr lang="en-US" altLang="zh-CN" sz="2800" dirty="0">
                <a:effectLst/>
              </a:rPr>
              <a:t>l</a:t>
            </a:r>
            <a:r>
              <a:rPr lang="zh-CN" altLang="en-US" sz="2800" dirty="0">
                <a:effectLst/>
              </a:rPr>
              <a:t>、</a:t>
            </a:r>
            <a:r>
              <a:rPr lang="en-US" altLang="zh-CN" sz="2800" dirty="0">
                <a:effectLst/>
              </a:rPr>
              <a:t>r</a:t>
            </a:r>
            <a:r>
              <a:rPr lang="zh-CN" altLang="en-US" sz="2800" dirty="0">
                <a:effectLst/>
              </a:rPr>
              <a:t>较大时，运算速度慢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effectLst/>
              </a:rPr>
              <a:t>设</a:t>
            </a:r>
            <a:r>
              <a:rPr lang="en-US" altLang="zh-CN" dirty="0">
                <a:effectLst/>
              </a:rPr>
              <a:t>l=100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r=100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effectLst/>
              </a:rPr>
              <a:t>则函数调用次数在</a:t>
            </a:r>
            <a:r>
              <a:rPr lang="en-US" altLang="zh-CN" dirty="0">
                <a:effectLst/>
              </a:rPr>
              <a:t>40000</a:t>
            </a:r>
            <a:r>
              <a:rPr lang="zh-CN" altLang="en-US" dirty="0">
                <a:effectLst/>
              </a:rPr>
              <a:t>次以上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ffectLst/>
              </a:rPr>
              <a:t>3</a:t>
            </a:r>
            <a:r>
              <a:rPr lang="zh-CN" altLang="en-US" sz="2800" dirty="0">
                <a:effectLst/>
              </a:rPr>
              <a:t>行</a:t>
            </a:r>
            <a:r>
              <a:rPr lang="en-US" altLang="zh-CN" sz="2800" dirty="0">
                <a:effectLst/>
              </a:rPr>
              <a:t>4</a:t>
            </a:r>
            <a:r>
              <a:rPr lang="zh-CN" altLang="en-US" sz="2800" dirty="0">
                <a:effectLst/>
              </a:rPr>
              <a:t>列矩阵与</a:t>
            </a:r>
            <a:r>
              <a:rPr lang="en-US" altLang="zh-CN" sz="2800" dirty="0">
                <a:effectLst/>
              </a:rPr>
              <a:t>4</a:t>
            </a:r>
            <a:r>
              <a:rPr lang="zh-CN" altLang="en-US" sz="2800" dirty="0">
                <a:effectLst/>
              </a:rPr>
              <a:t>元向量相乘，</a:t>
            </a:r>
            <a:r>
              <a:rPr lang="en-US" altLang="zh-CN" sz="2800" dirty="0">
                <a:effectLst/>
              </a:rPr>
              <a:t>10000000</a:t>
            </a:r>
            <a:r>
              <a:rPr lang="zh-CN" altLang="en-US" sz="2800" dirty="0">
                <a:effectLst/>
              </a:rPr>
              <a:t>次   </a:t>
            </a:r>
            <a:r>
              <a:rPr lang="en-US" altLang="zh-CN" sz="2800" dirty="0">
                <a:effectLst/>
              </a:rPr>
              <a:t>2871ms</a:t>
            </a:r>
          </a:p>
        </p:txBody>
      </p:sp>
    </p:spTree>
    <p:extLst>
      <p:ext uri="{BB962C8B-B14F-4D97-AF65-F5344CB8AC3E}">
        <p14:creationId xmlns:p14="http://schemas.microsoft.com/office/powerpoint/2010/main" val="329276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3581400"/>
            <a:ext cx="8640960" cy="639688"/>
          </a:xfrm>
          <a:solidFill>
            <a:srgbClr val="FFFF66"/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friend Vector multiply(Matrix&amp; m, Vector&amp; v);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98525" y="1773238"/>
            <a:ext cx="70262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3200" dirty="0"/>
              <a:t>在矩阵类和向量类的定义中，都加入以下友元函数声明语句：</a:t>
            </a:r>
          </a:p>
        </p:txBody>
      </p:sp>
      <p:sp>
        <p:nvSpPr>
          <p:cNvPr id="274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ffectLst/>
                <a:ea typeface="黑体" pitchFamily="2" charset="-122"/>
              </a:rPr>
              <a:t>友元函数：</a:t>
            </a:r>
            <a:r>
              <a:rPr lang="en-US" altLang="zh-CN" b="0">
                <a:solidFill>
                  <a:schemeClr val="tx1"/>
                </a:solidFill>
              </a:rPr>
              <a:t>multiply</a:t>
            </a:r>
          </a:p>
        </p:txBody>
      </p:sp>
    </p:spTree>
    <p:extLst>
      <p:ext uri="{BB962C8B-B14F-4D97-AF65-F5344CB8AC3E}">
        <p14:creationId xmlns:p14="http://schemas.microsoft.com/office/powerpoint/2010/main" val="357990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857" y="382582"/>
            <a:ext cx="784887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 Matrix;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_v;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_v;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/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m,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v);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50718" y="5013176"/>
            <a:ext cx="4647150" cy="44678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en-US" altLang="zh-CN" sz="2800" dirty="0">
                <a:solidFill>
                  <a:prstClr val="black"/>
                </a:solidFill>
              </a:rPr>
              <a:t>multiply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  <a:r>
              <a:rPr lang="en-US" altLang="zh-CN" sz="2800" dirty="0">
                <a:solidFill>
                  <a:prstClr val="black"/>
                </a:solidFill>
              </a:rPr>
              <a:t>Vector</a:t>
            </a:r>
            <a:r>
              <a:rPr lang="zh-CN" altLang="en-US" sz="2800" dirty="0">
                <a:solidFill>
                  <a:prstClr val="black"/>
                </a:solidFill>
              </a:rPr>
              <a:t>的友元函数</a:t>
            </a:r>
          </a:p>
        </p:txBody>
      </p:sp>
    </p:spTree>
    <p:extLst>
      <p:ext uri="{BB962C8B-B14F-4D97-AF65-F5344CB8AC3E}">
        <p14:creationId xmlns:p14="http://schemas.microsoft.com/office/powerpoint/2010/main" val="104536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55576" y="5301208"/>
            <a:ext cx="4647150" cy="44678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en-US" altLang="zh-CN" sz="2800" dirty="0">
                <a:solidFill>
                  <a:prstClr val="black"/>
                </a:solidFill>
              </a:rPr>
              <a:t>multiply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  <a:r>
              <a:rPr lang="en-US" altLang="zh-CN" sz="2800" dirty="0">
                <a:solidFill>
                  <a:prstClr val="black"/>
                </a:solidFill>
              </a:rPr>
              <a:t>Matrix</a:t>
            </a:r>
            <a:r>
              <a:rPr lang="zh-CN" altLang="en-US" sz="2800" dirty="0">
                <a:solidFill>
                  <a:prstClr val="black"/>
                </a:solidFill>
              </a:rPr>
              <a:t>的友元函数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237835"/>
            <a:ext cx="7992888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_m;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_m;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m,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v);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504" y="407822"/>
            <a:ext cx="878497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3140075" algn="l"/>
              </a:tabLst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multiply Matrix with Vector.\n"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/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marL="4413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r.set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4413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szl;i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]=0;</a:t>
            </a:r>
          </a:p>
          <a:p>
            <a:pPr marL="8985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j=0;j&lt;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szr;j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8985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+=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szr+j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*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[j];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11560" y="2060847"/>
            <a:ext cx="1872208" cy="332133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47964" y="1916832"/>
            <a:ext cx="2880320" cy="39613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400" dirty="0">
                <a:solidFill>
                  <a:prstClr val="black"/>
                </a:solidFill>
              </a:rPr>
              <a:t>函数调用次数：</a:t>
            </a:r>
            <a:r>
              <a:rPr lang="en-US" altLang="zh-CN" sz="2400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10" name="矩形 9"/>
          <p:cNvSpPr/>
          <p:nvPr/>
        </p:nvSpPr>
        <p:spPr>
          <a:xfrm>
            <a:off x="3995936" y="3821976"/>
            <a:ext cx="5256584" cy="8679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在循环中直接操作类的私有数据，</a:t>
            </a:r>
            <a:endParaRPr lang="en-US" altLang="zh-CN" sz="2800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效率高 </a:t>
            </a:r>
          </a:p>
        </p:txBody>
      </p:sp>
      <p:sp>
        <p:nvSpPr>
          <p:cNvPr id="6" name="矩形 5"/>
          <p:cNvSpPr/>
          <p:nvPr/>
        </p:nvSpPr>
        <p:spPr>
          <a:xfrm>
            <a:off x="4499992" y="5373216"/>
            <a:ext cx="3940358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计算时间是</a:t>
            </a:r>
            <a:r>
              <a:rPr lang="en-US" altLang="zh-CN" sz="2400" dirty="0">
                <a:solidFill>
                  <a:schemeClr val="bg1"/>
                </a:solidFill>
              </a:rPr>
              <a:t>: 1231</a:t>
            </a:r>
            <a:r>
              <a:rPr lang="zh-CN" altLang="en-US" sz="2400" dirty="0">
                <a:solidFill>
                  <a:schemeClr val="bg1"/>
                </a:solidFill>
              </a:rPr>
              <a:t>毫秒</a:t>
            </a:r>
          </a:p>
          <a:p>
            <a:r>
              <a:rPr lang="en-US" altLang="zh-CN" sz="2400" dirty="0">
                <a:solidFill>
                  <a:schemeClr val="bg1"/>
                </a:solidFill>
              </a:rPr>
              <a:t>25 52 79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8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黑体" pitchFamily="2" charset="-122"/>
              </a:rPr>
              <a:t>效率分析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76400"/>
            <a:ext cx="75565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ffectLst/>
              </a:rPr>
              <a:t>设矩阵</a:t>
            </a:r>
            <a:r>
              <a:rPr lang="en-US" altLang="zh-CN" dirty="0">
                <a:effectLst/>
              </a:rPr>
              <a:t>M(</a:t>
            </a:r>
            <a:r>
              <a:rPr lang="en-US" altLang="zh-CN" dirty="0" err="1">
                <a:effectLst/>
              </a:rPr>
              <a:t>l,r</a:t>
            </a:r>
            <a:r>
              <a:rPr lang="en-US" altLang="zh-CN" dirty="0">
                <a:effectLst/>
              </a:rPr>
              <a:t>)</a:t>
            </a:r>
            <a:r>
              <a:rPr lang="zh-CN" altLang="en-US" dirty="0">
                <a:effectLst/>
              </a:rPr>
              <a:t>，向量</a:t>
            </a:r>
            <a:r>
              <a:rPr lang="en-US" altLang="zh-CN" dirty="0">
                <a:effectLst/>
              </a:rPr>
              <a:t>V(r)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ffectLst/>
              </a:rPr>
              <a:t>M*V</a:t>
            </a:r>
            <a:r>
              <a:rPr lang="zh-CN" altLang="en-US" dirty="0">
                <a:effectLst/>
              </a:rPr>
              <a:t>运算中（因访问对象的私有数据而造成的）函数调用次数：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ffectLst/>
              </a:rPr>
              <a:t>	</a:t>
            </a:r>
            <a:r>
              <a:rPr lang="en-US" altLang="zh-CN" dirty="0">
                <a:effectLst/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ffectLst/>
              </a:rPr>
              <a:t>函数调用的时间开销与</a:t>
            </a:r>
            <a:r>
              <a:rPr lang="en-US" altLang="zh-CN" dirty="0">
                <a:effectLst/>
              </a:rPr>
              <a:t>l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r</a:t>
            </a:r>
            <a:r>
              <a:rPr lang="zh-CN" altLang="en-US" dirty="0">
                <a:effectLst/>
              </a:rPr>
              <a:t>无关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行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列矩阵与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元向量相乘，</a:t>
            </a:r>
            <a:r>
              <a:rPr lang="en-US" altLang="zh-CN" dirty="0">
                <a:effectLst/>
              </a:rPr>
              <a:t>10000000</a:t>
            </a:r>
            <a:r>
              <a:rPr lang="zh-CN" altLang="en-US" dirty="0">
                <a:effectLst/>
              </a:rPr>
              <a:t>次   </a:t>
            </a:r>
            <a:r>
              <a:rPr lang="en-US" altLang="zh-CN" dirty="0">
                <a:effectLst/>
              </a:rPr>
              <a:t>1231ms</a:t>
            </a:r>
          </a:p>
        </p:txBody>
      </p:sp>
    </p:spTree>
    <p:extLst>
      <p:ext uri="{BB962C8B-B14F-4D97-AF65-F5344CB8AC3E}">
        <p14:creationId xmlns:p14="http://schemas.microsoft.com/office/powerpoint/2010/main" val="360702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友元类</a:t>
            </a:r>
          </a:p>
        </p:txBody>
      </p:sp>
      <p:sp>
        <p:nvSpPr>
          <p:cNvPr id="40964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若一个类为另一个类的友元，则此类的所有成员函数都能访问对方类的私有或保护成员。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声明语法：将友元类名在另一个类中使用</a:t>
            </a:r>
            <a:r>
              <a:rPr lang="en-US" altLang="zh-CN" dirty="0">
                <a:solidFill>
                  <a:schemeClr val="tx2"/>
                </a:solidFill>
              </a:rPr>
              <a:t>friend</a:t>
            </a:r>
            <a:r>
              <a:rPr lang="zh-CN" altLang="en-US" dirty="0"/>
              <a:t>修饰说明。</a:t>
            </a:r>
          </a:p>
        </p:txBody>
      </p:sp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C673D30-8898-45DE-9B38-8BF2357A92E2}" type="slidenum">
              <a:rPr lang="en-US" altLang="zh-CN" sz="1400" smtClean="0"/>
              <a:pPr/>
              <a:t>22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09744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72390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友元类举例：类的使用</a:t>
            </a:r>
          </a:p>
        </p:txBody>
      </p:sp>
      <p:sp>
        <p:nvSpPr>
          <p:cNvPr id="107523" name="Rectangle 2051"/>
          <p:cNvSpPr>
            <a:spLocks noGrp="1" noChangeArrowheads="1"/>
          </p:cNvSpPr>
          <p:nvPr>
            <p:ph idx="1"/>
          </p:nvPr>
        </p:nvSpPr>
        <p:spPr>
          <a:xfrm>
            <a:off x="-1" y="908720"/>
            <a:ext cx="3628347" cy="3176572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display()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const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{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_x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}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private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_x;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BAF30F5-1650-48E5-84E3-CF3DD5ED20EF}" type="slidenum">
              <a:rPr lang="en-US" altLang="zh-CN" sz="1400" smtClean="0"/>
              <a:pPr/>
              <a:t>23</a:t>
            </a:fld>
            <a:endParaRPr lang="en-US" altLang="zh-CN" sz="1400"/>
          </a:p>
        </p:txBody>
      </p:sp>
      <p:sp>
        <p:nvSpPr>
          <p:cNvPr id="5" name="Rectangle 2051"/>
          <p:cNvSpPr txBox="1">
            <a:spLocks noChangeArrowheads="1"/>
          </p:cNvSpPr>
          <p:nvPr/>
        </p:nvSpPr>
        <p:spPr>
          <a:xfrm>
            <a:off x="3779910" y="908720"/>
            <a:ext cx="5256577" cy="34563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2800">
                <a:latin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set(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&amp; </a:t>
            </a: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display(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&amp; </a:t>
            </a: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::set(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&amp; </a:t>
            </a: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._x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=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::display(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&amp; </a:t>
            </a:r>
            <a:r>
              <a:rPr lang="en-US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const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._x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63888" y="3221196"/>
            <a:ext cx="3729236" cy="2728084"/>
            <a:chOff x="4011075" y="3429000"/>
            <a:chExt cx="3729236" cy="2728084"/>
          </a:xfrm>
        </p:grpSpPr>
        <p:grpSp>
          <p:nvGrpSpPr>
            <p:cNvPr id="18" name="组合 17"/>
            <p:cNvGrpSpPr/>
            <p:nvPr/>
          </p:nvGrpSpPr>
          <p:grpSpPr>
            <a:xfrm>
              <a:off x="4011075" y="3429000"/>
              <a:ext cx="3729236" cy="2728084"/>
              <a:chOff x="5364088" y="484892"/>
              <a:chExt cx="3729236" cy="272808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5364088" y="2689756"/>
                <a:ext cx="3729236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宋体" charset="-122"/>
                  </a:rPr>
                  <a:t>直接访问</a:t>
                </a:r>
                <a:r>
                  <a:rPr lang="en-US" altLang="zh-CN" sz="2800" dirty="0">
                    <a:latin typeface="宋体" charset="-122"/>
                  </a:rPr>
                  <a:t>a</a:t>
                </a:r>
                <a:r>
                  <a:rPr lang="zh-CN" altLang="en-US" sz="2800" dirty="0">
                    <a:latin typeface="宋体" charset="-122"/>
                  </a:rPr>
                  <a:t>的私有数据</a:t>
                </a:r>
                <a:endParaRPr lang="en-US" altLang="zh-CN" sz="2800" dirty="0">
                  <a:latin typeface="宋体" charset="-122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 flipH="1" flipV="1">
                <a:off x="6519079" y="484892"/>
                <a:ext cx="558062" cy="2204864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箭头连接符 18"/>
            <p:cNvCxnSpPr>
              <a:cxnSpLocks/>
              <a:stCxn id="12" idx="0"/>
            </p:cNvCxnSpPr>
            <p:nvPr/>
          </p:nvCxnSpPr>
          <p:spPr>
            <a:xfrm flipV="1">
              <a:off x="5875693" y="4428892"/>
              <a:ext cx="0" cy="120497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接连接符 16"/>
          <p:cNvCxnSpPr>
            <a:cxnSpLocks/>
          </p:cNvCxnSpPr>
          <p:nvPr/>
        </p:nvCxnSpPr>
        <p:spPr>
          <a:xfrm>
            <a:off x="467544" y="1772816"/>
            <a:ext cx="1800200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cxnSpLocks/>
          </p:cNvCxnSpPr>
          <p:nvPr/>
        </p:nvCxnSpPr>
        <p:spPr>
          <a:xfrm>
            <a:off x="5364088" y="1916832"/>
            <a:ext cx="14401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/>
          </p:cNvCxnSpPr>
          <p:nvPr/>
        </p:nvCxnSpPr>
        <p:spPr>
          <a:xfrm>
            <a:off x="5940152" y="2276872"/>
            <a:ext cx="11521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283968" y="3212976"/>
            <a:ext cx="486054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256076" y="4221088"/>
            <a:ext cx="468052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D127E04-3E72-2C49-AE07-96385F7BFD01}"/>
              </a:ext>
            </a:extLst>
          </p:cNvPr>
          <p:cNvSpPr txBox="1"/>
          <p:nvPr/>
        </p:nvSpPr>
        <p:spPr>
          <a:xfrm>
            <a:off x="226836" y="4753156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传引用就拥有了改变的权限</a:t>
            </a:r>
            <a:endParaRPr kumimoji="1" lang="en-US" altLang="zh-CN" dirty="0"/>
          </a:p>
          <a:p>
            <a:r>
              <a:rPr kumimoji="1" lang="zh-CN" altLang="en-US" dirty="0"/>
              <a:t>不传引用将会复制一个（调用</a:t>
            </a:r>
            <a:endParaRPr kumimoji="1" lang="en-US" altLang="zh-CN" dirty="0"/>
          </a:p>
          <a:p>
            <a:r>
              <a:rPr kumimoji="1" lang="zh-CN" altLang="en-US" dirty="0"/>
              <a:t>拷贝构造）</a:t>
            </a:r>
          </a:p>
        </p:txBody>
      </p:sp>
    </p:spTree>
    <p:extLst>
      <p:ext uri="{BB962C8B-B14F-4D97-AF65-F5344CB8AC3E}">
        <p14:creationId xmlns:p14="http://schemas.microsoft.com/office/powerpoint/2010/main" val="181263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40" y="-27384"/>
            <a:ext cx="8382000" cy="718632"/>
          </a:xfrm>
        </p:spPr>
        <p:txBody>
          <a:bodyPr>
            <a:normAutofit/>
          </a:bodyPr>
          <a:lstStyle/>
          <a:p>
            <a:pPr eaLnBrk="1" hangingPunct="1">
              <a:tabLst>
                <a:tab pos="7802563" algn="l"/>
              </a:tabLst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友元类举例：类的使用</a:t>
            </a:r>
          </a:p>
        </p:txBody>
      </p:sp>
      <p:sp>
        <p:nvSpPr>
          <p:cNvPr id="3" name="矩形 2"/>
          <p:cNvSpPr/>
          <p:nvPr/>
        </p:nvSpPr>
        <p:spPr>
          <a:xfrm>
            <a:off x="35496" y="548680"/>
            <a:ext cx="3240361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&lt;&lt;money&lt;&lt;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……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 _name;</a:t>
            </a:r>
          </a:p>
          <a:p>
            <a:pPr marL="361950">
              <a:tabLst>
                <a:tab pos="361950" algn="l"/>
              </a:tabLst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_money;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90801" y="548680"/>
            <a:ext cx="4637583" cy="38779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533400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533400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Display(const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a);</a:t>
            </a:r>
          </a:p>
          <a:p>
            <a:pPr marL="533400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……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 _name;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._money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::Display(const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 give 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a._name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highlight>
                  <a:srgbClr val="FFFFFF"/>
                </a:highlight>
              </a:rPr>
              <a:t>“ "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533400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a._money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yuan.</a:t>
            </a:r>
            <a:r>
              <a:rPr lang="en-US" altLang="zh-CN" sz="1600" dirty="0">
                <a:highlight>
                  <a:srgbClr val="FFFFFF"/>
                </a:highlight>
              </a:rPr>
              <a:t> 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35496" y="4509120"/>
            <a:ext cx="489654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xiaoliu1(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LiuYi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),xiaoliu2(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LiuEr</a:t>
            </a:r>
            <a:r>
              <a:rPr lang="en-US" altLang="zh-CN" sz="1600" dirty="0">
                <a:highlight>
                  <a:srgbClr val="FFFFFF"/>
                </a:highlight>
              </a:rPr>
              <a:t>“)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53340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highlight>
                  <a:srgbClr val="FFFFFF"/>
                </a:highlight>
              </a:rPr>
              <a:t>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</a:t>
            </a:r>
            <a:r>
              <a:rPr lang="en-US" altLang="zh-CN" sz="1600" dirty="0"/>
              <a:t>“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5334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(xiaoliu1,100);</a:t>
            </a:r>
          </a:p>
          <a:p>
            <a:pPr marL="5334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(xiaoliu2,100);</a:t>
            </a:r>
          </a:p>
          <a:p>
            <a:pPr marL="5334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daliu.Display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(xiaoliu1);</a:t>
            </a:r>
          </a:p>
          <a:p>
            <a:pPr marL="5334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daliu.Display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(xiaoliu2);</a:t>
            </a:r>
          </a:p>
          <a:p>
            <a:pPr marL="5334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04048" y="5155450"/>
            <a:ext cx="3879304" cy="132343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在这个设计中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(1)Son </a:t>
            </a:r>
            <a:r>
              <a:rPr lang="zh-CN" altLang="en-US" sz="2000" dirty="0"/>
              <a:t>和 </a:t>
            </a:r>
            <a:r>
              <a:rPr lang="en-US" altLang="zh-CN" sz="2000" dirty="0"/>
              <a:t>Father</a:t>
            </a:r>
            <a:r>
              <a:rPr lang="zh-CN" altLang="en-US" sz="2000" dirty="0"/>
              <a:t>是两个独立的类</a:t>
            </a:r>
          </a:p>
          <a:p>
            <a:r>
              <a:rPr lang="en-US" altLang="zh-CN" sz="2000" dirty="0"/>
              <a:t>(2)</a:t>
            </a:r>
            <a:r>
              <a:rPr lang="zh-CN" altLang="en-US" sz="2000" dirty="0"/>
              <a:t>一个父亲可以有多个儿子</a:t>
            </a:r>
            <a:endParaRPr lang="en-US" altLang="zh-CN" sz="2000" dirty="0"/>
          </a:p>
          <a:p>
            <a:r>
              <a:rPr lang="zh-CN" altLang="en-US" sz="2000" dirty="0"/>
              <a:t>这里父亲和儿子没有对应关系</a:t>
            </a:r>
          </a:p>
        </p:txBody>
      </p:sp>
    </p:spTree>
    <p:extLst>
      <p:ext uri="{BB962C8B-B14F-4D97-AF65-F5344CB8AC3E}">
        <p14:creationId xmlns:p14="http://schemas.microsoft.com/office/powerpoint/2010/main" val="10731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72390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友元类举例：类的组合</a:t>
            </a:r>
          </a:p>
        </p:txBody>
      </p:sp>
      <p:sp>
        <p:nvSpPr>
          <p:cNvPr id="107523" name="Rectangle 2051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2285004" cy="3528392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display()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{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_x 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 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}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private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_x;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};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BAF30F5-1650-48E5-84E3-CF3DD5ED20EF}" type="slidenum">
              <a:rPr lang="en-US" altLang="zh-CN" sz="1400" smtClean="0"/>
              <a:pPr/>
              <a:t>25</a:t>
            </a:fld>
            <a:endParaRPr lang="en-US" altLang="zh-CN" sz="1400"/>
          </a:p>
        </p:txBody>
      </p:sp>
      <p:sp>
        <p:nvSpPr>
          <p:cNvPr id="5" name="Rectangle 2051"/>
          <p:cNvSpPr txBox="1">
            <a:spLocks noChangeArrowheads="1"/>
          </p:cNvSpPr>
          <p:nvPr/>
        </p:nvSpPr>
        <p:spPr>
          <a:xfrm>
            <a:off x="2332162" y="908720"/>
            <a:ext cx="3215510" cy="46805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2800">
                <a:latin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set(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display();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private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_a;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::set(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_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a._x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= </a:t>
            </a:r>
            <a:r>
              <a:rPr lang="en-US" altLang="zh-CN" sz="18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::display()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a._x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836218" y="3933056"/>
            <a:ext cx="1584176" cy="936104"/>
            <a:chOff x="4752020" y="4077072"/>
            <a:chExt cx="1584176" cy="936104"/>
          </a:xfrm>
        </p:grpSpPr>
        <p:cxnSp>
          <p:nvCxnSpPr>
            <p:cNvPr id="6" name="直接连接符 5"/>
            <p:cNvCxnSpPr>
              <a:cxnSpLocks/>
            </p:cNvCxnSpPr>
            <p:nvPr/>
          </p:nvCxnSpPr>
          <p:spPr>
            <a:xfrm>
              <a:off x="5724128" y="5013176"/>
              <a:ext cx="612068" cy="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cxnSpLocks/>
            </p:cNvCxnSpPr>
            <p:nvPr/>
          </p:nvCxnSpPr>
          <p:spPr>
            <a:xfrm>
              <a:off x="4752020" y="4077072"/>
              <a:ext cx="648072" cy="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/>
        </p:nvCxnSpPr>
        <p:spPr>
          <a:xfrm>
            <a:off x="2692202" y="2924944"/>
            <a:ext cx="4860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cxnSpLocks/>
          </p:cNvCxnSpPr>
          <p:nvPr/>
        </p:nvCxnSpPr>
        <p:spPr>
          <a:xfrm>
            <a:off x="251520" y="1556792"/>
            <a:ext cx="1800200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2195736" y="4041069"/>
            <a:ext cx="3729236" cy="2382939"/>
            <a:chOff x="1699270" y="3919124"/>
            <a:chExt cx="3729236" cy="2382939"/>
          </a:xfrm>
        </p:grpSpPr>
        <p:grpSp>
          <p:nvGrpSpPr>
            <p:cNvPr id="18" name="组合 17"/>
            <p:cNvGrpSpPr/>
            <p:nvPr/>
          </p:nvGrpSpPr>
          <p:grpSpPr>
            <a:xfrm>
              <a:off x="1699270" y="3919124"/>
              <a:ext cx="3729236" cy="2382939"/>
              <a:chOff x="1699270" y="3919124"/>
              <a:chExt cx="3729236" cy="2382939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699270" y="5778843"/>
                <a:ext cx="3729236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宋体" charset="-122"/>
                  </a:rPr>
                  <a:t>直接访问</a:t>
                </a:r>
                <a:r>
                  <a:rPr lang="en-US" altLang="zh-CN" sz="2800" dirty="0">
                    <a:latin typeface="宋体" charset="-122"/>
                  </a:rPr>
                  <a:t>a</a:t>
                </a:r>
                <a:r>
                  <a:rPr lang="zh-CN" altLang="en-US" sz="2800" dirty="0">
                    <a:latin typeface="宋体" charset="-122"/>
                  </a:rPr>
                  <a:t>的私有数据</a:t>
                </a:r>
                <a:endParaRPr lang="en-US" altLang="zh-CN" sz="2800" dirty="0">
                  <a:latin typeface="宋体" charset="-122"/>
                </a:endParaRPr>
              </a:p>
            </p:txBody>
          </p:sp>
          <p:cxnSp>
            <p:nvCxnSpPr>
              <p:cNvPr id="16" name="直接箭头连接符 15"/>
              <p:cNvCxnSpPr>
                <a:cxnSpLocks/>
              </p:cNvCxnSpPr>
              <p:nvPr/>
            </p:nvCxnSpPr>
            <p:spPr>
              <a:xfrm flipH="1" flipV="1">
                <a:off x="2627784" y="3919124"/>
                <a:ext cx="576064" cy="1859719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箭头连接符 18"/>
            <p:cNvCxnSpPr>
              <a:cxnSpLocks/>
            </p:cNvCxnSpPr>
            <p:nvPr/>
          </p:nvCxnSpPr>
          <p:spPr>
            <a:xfrm flipV="1">
              <a:off x="3262663" y="4848983"/>
              <a:ext cx="301225" cy="92986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47E47648-BB03-8DD9-82E0-15EA08F58B99}"/>
              </a:ext>
            </a:extLst>
          </p:cNvPr>
          <p:cNvSpPr txBox="1">
            <a:spLocks noChangeArrowheads="1"/>
          </p:cNvSpPr>
          <p:nvPr/>
        </p:nvSpPr>
        <p:spPr>
          <a:xfrm>
            <a:off x="5626596" y="908720"/>
            <a:ext cx="2041748" cy="28803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main()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8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b.set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(10);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b.display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0;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A78951-D047-81C4-3105-0724231065BC}"/>
              </a:ext>
            </a:extLst>
          </p:cNvPr>
          <p:cNvSpPr/>
          <p:nvPr/>
        </p:nvSpPr>
        <p:spPr>
          <a:xfrm>
            <a:off x="7701402" y="1957482"/>
            <a:ext cx="1329726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charset="-122"/>
              </a:rPr>
              <a:t>输出</a:t>
            </a:r>
            <a:r>
              <a:rPr lang="en-US" altLang="zh-CN" dirty="0">
                <a:latin typeface="宋体" charset="-122"/>
              </a:rPr>
              <a:t>:</a:t>
            </a:r>
          </a:p>
          <a:p>
            <a:r>
              <a:rPr lang="en-US" altLang="zh-CN" dirty="0" err="1">
                <a:latin typeface="宋体" charset="-122"/>
              </a:rPr>
              <a:t>b._a._x</a:t>
            </a:r>
            <a:endParaRPr lang="en-US" altLang="zh-CN" dirty="0">
              <a:latin typeface="宋体" charset="-122"/>
            </a:endParaRPr>
          </a:p>
          <a:p>
            <a:r>
              <a:rPr lang="zh-CN" altLang="en-US" dirty="0">
                <a:latin typeface="宋体" charset="-122"/>
              </a:rPr>
              <a:t>的值 </a:t>
            </a:r>
            <a:r>
              <a:rPr lang="en-US" altLang="zh-CN" dirty="0">
                <a:latin typeface="宋体" charset="-122"/>
              </a:rPr>
              <a:t>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7D5E1E-9F44-CC26-BA08-6C7A72850B5D}"/>
              </a:ext>
            </a:extLst>
          </p:cNvPr>
          <p:cNvSpPr/>
          <p:nvPr/>
        </p:nvSpPr>
        <p:spPr>
          <a:xfrm>
            <a:off x="7706770" y="1218818"/>
            <a:ext cx="132972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charset="-122"/>
              </a:rPr>
              <a:t>b</a:t>
            </a:r>
            <a:r>
              <a:rPr lang="zh-CN" altLang="en-US" dirty="0">
                <a:latin typeface="宋体" charset="-122"/>
              </a:rPr>
              <a:t>中含有</a:t>
            </a:r>
            <a:r>
              <a:rPr lang="en-US" altLang="zh-CN" dirty="0">
                <a:latin typeface="宋体" charset="-122"/>
              </a:rPr>
              <a:t>_a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BD044B-5FAA-68CC-1FED-C43A18586212}"/>
              </a:ext>
            </a:extLst>
          </p:cNvPr>
          <p:cNvSpPr/>
          <p:nvPr/>
        </p:nvSpPr>
        <p:spPr>
          <a:xfrm>
            <a:off x="7701401" y="1588150"/>
            <a:ext cx="132972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宋体" charset="-122"/>
              </a:rPr>
              <a:t>b._a._x</a:t>
            </a:r>
            <a:r>
              <a:rPr lang="en-US" altLang="zh-CN" dirty="0">
                <a:latin typeface="宋体" charset="-122"/>
              </a:rPr>
              <a:t>=10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96E7B0-32EF-2249-889C-50650E2515B7}"/>
              </a:ext>
            </a:extLst>
          </p:cNvPr>
          <p:cNvSpPr/>
          <p:nvPr/>
        </p:nvSpPr>
        <p:spPr>
          <a:xfrm>
            <a:off x="5868144" y="4401968"/>
            <a:ext cx="3094808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/>
              <a:t>在这个设计中</a:t>
            </a:r>
            <a:r>
              <a:rPr lang="en-US" altLang="zh-CN" sz="2000" dirty="0"/>
              <a:t>:</a:t>
            </a:r>
          </a:p>
          <a:p>
            <a:r>
              <a:rPr lang="zh-CN" altLang="en-US" sz="2000" dirty="0"/>
              <a:t>存在</a:t>
            </a:r>
            <a:r>
              <a:rPr lang="en-US" altLang="zh-CN" sz="2000" dirty="0"/>
              <a:t>B</a:t>
            </a:r>
            <a:r>
              <a:rPr lang="zh-CN" altLang="en-US" sz="2000" dirty="0"/>
              <a:t>和</a:t>
            </a:r>
            <a:r>
              <a:rPr lang="en-US" altLang="zh-CN" sz="2000" dirty="0"/>
              <a:t>A</a:t>
            </a:r>
            <a:r>
              <a:rPr lang="zh-CN" altLang="en-US" sz="2000" dirty="0"/>
              <a:t>之间的对应关系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3522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6096" y="44624"/>
            <a:ext cx="5106144" cy="39924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2800" dirty="0">
                <a:latin typeface="+mj-ea"/>
              </a:rPr>
              <a:t>友元类举例</a:t>
            </a:r>
            <a:r>
              <a:rPr lang="en-US" altLang="zh-CN" sz="2800" dirty="0">
                <a:latin typeface="+mj-ea"/>
              </a:rPr>
              <a:t>: </a:t>
            </a:r>
            <a:r>
              <a:rPr lang="zh-CN" altLang="en-US" sz="2800" dirty="0">
                <a:latin typeface="+mj-ea"/>
              </a:rPr>
              <a:t>友元类中包含对象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076825" y="1916113"/>
            <a:ext cx="3419475" cy="428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653" y="498500"/>
            <a:ext cx="3419475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(string n):_name(n)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{}</a:t>
            </a:r>
          </a:p>
          <a:p>
            <a:pPr marL="36195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&lt;&lt;_money&lt;&lt;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 _name;</a:t>
            </a:r>
          </a:p>
          <a:p>
            <a:pPr marL="36195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_money;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97872" y="498500"/>
            <a:ext cx="5466615" cy="433965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57200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(string </a:t>
            </a:r>
            <a:r>
              <a:rPr lang="en-US" altLang="zh-CN" sz="1600" dirty="0" err="1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nf,Son</a:t>
            </a:r>
            <a:r>
              <a:rPr lang="en-US" altLang="zh-CN" sz="1600" dirty="0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s): _name(</a:t>
            </a:r>
            <a:r>
              <a:rPr lang="en-US" altLang="zh-CN" sz="1600" dirty="0" err="1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nf</a:t>
            </a:r>
            <a:r>
              <a:rPr lang="en-US" altLang="zh-CN" sz="1600" dirty="0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 _son(s) </a:t>
            </a:r>
          </a:p>
          <a:p>
            <a:pPr marL="457200" lvl="0"/>
            <a:r>
              <a:rPr lang="en-US" altLang="zh-CN" sz="1600" dirty="0">
                <a:solidFill>
                  <a:schemeClr val="tx2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{}</a:t>
            </a:r>
          </a:p>
          <a:p>
            <a:pPr marL="457200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457200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Display();</a:t>
            </a:r>
          </a:p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1950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 _name;</a:t>
            </a:r>
          </a:p>
          <a:p>
            <a:pPr marL="361950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_son;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son._money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::Display()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 give son 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&lt;&lt;_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son._money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yuan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35497" y="4860737"/>
            <a:ext cx="4320480" cy="187743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Son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xiaoliu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LiuXiaoMing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Father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LiuDaMing</a:t>
            </a:r>
            <a:r>
              <a:rPr lang="en-US" altLang="zh-CN" dirty="0">
                <a:highlight>
                  <a:srgbClr val="FFFFFF"/>
                </a:highlight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xiaoliu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  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(100);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daliu.Display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return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27984" y="5014625"/>
            <a:ext cx="4648552" cy="120032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在这个设计中：</a:t>
            </a:r>
            <a:endParaRPr lang="en-US" altLang="zh-CN" sz="2400" dirty="0"/>
          </a:p>
          <a:p>
            <a:r>
              <a:rPr lang="en-US" altLang="zh-CN" sz="2400" dirty="0"/>
              <a:t>(1) _son</a:t>
            </a:r>
            <a:r>
              <a:rPr lang="zh-CN" altLang="en-US" sz="2400" dirty="0"/>
              <a:t>是</a:t>
            </a:r>
            <a:r>
              <a:rPr lang="en-US" altLang="zh-CN" sz="2400" dirty="0"/>
              <a:t>Father</a:t>
            </a:r>
            <a:r>
              <a:rPr lang="zh-CN" altLang="en-US" sz="2400" dirty="0"/>
              <a:t>的子对象</a:t>
            </a:r>
          </a:p>
          <a:p>
            <a:r>
              <a:rPr lang="en-US" altLang="zh-CN" sz="2400" dirty="0"/>
              <a:t>(2)</a:t>
            </a:r>
            <a:r>
              <a:rPr lang="zh-CN" altLang="en-US" sz="2400" dirty="0"/>
              <a:t>一个父亲有且只能有一个儿子</a:t>
            </a:r>
          </a:p>
        </p:txBody>
      </p:sp>
    </p:spTree>
    <p:extLst>
      <p:ext uri="{BB962C8B-B14F-4D97-AF65-F5344CB8AC3E}">
        <p14:creationId xmlns:p14="http://schemas.microsoft.com/office/powerpoint/2010/main" val="407137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友元关系的特征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320691" y="4293096"/>
            <a:ext cx="2602632" cy="648072"/>
          </a:xfrm>
        </p:spPr>
        <p:txBody>
          <a:bodyPr>
            <a:normAutofit/>
          </a:bodyPr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3600" dirty="0"/>
              <a:t>不继承的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27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339752" y="2924944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3600" dirty="0"/>
              <a:t>单向的</a:t>
            </a:r>
          </a:p>
        </p:txBody>
      </p:sp>
      <p:sp>
        <p:nvSpPr>
          <p:cNvPr id="2" name="矩形 1"/>
          <p:cNvSpPr/>
          <p:nvPr/>
        </p:nvSpPr>
        <p:spPr>
          <a:xfrm>
            <a:off x="2331035" y="3564305"/>
            <a:ext cx="3155031" cy="584775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zh-CN" altLang="en-US" sz="3600" dirty="0"/>
              <a:t>不传递的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83568" y="1340768"/>
            <a:ext cx="8064896" cy="720080"/>
          </a:xfrm>
          <a:prstGeom prst="rect">
            <a:avLst/>
          </a:prstGeom>
        </p:spPr>
        <p:txBody>
          <a:bodyPr vert="horz" rtlCol="0">
            <a:no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36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dirty="0"/>
              <a:t>友元类在类和类之间建立了“友元关系”</a:t>
            </a:r>
          </a:p>
        </p:txBody>
      </p:sp>
    </p:spTree>
    <p:extLst>
      <p:ext uri="{BB962C8B-B14F-4D97-AF65-F5344CB8AC3E}">
        <p14:creationId xmlns:p14="http://schemas.microsoft.com/office/powerpoint/2010/main" val="217066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友元关系是单向的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068960"/>
            <a:ext cx="8363272" cy="1900808"/>
          </a:xfrm>
        </p:spPr>
        <p:txBody>
          <a:bodyPr>
            <a:normAutofit fontScale="92500" lnSpcReduction="10000"/>
          </a:bodyPr>
          <a:lstStyle/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</a:t>
            </a:r>
            <a:r>
              <a:rPr lang="en-US" altLang="zh-CN" dirty="0"/>
              <a:t>B</a:t>
            </a:r>
            <a:r>
              <a:rPr lang="zh-CN" altLang="en-US" dirty="0"/>
              <a:t>类的成员函数就可以直接访问</a:t>
            </a:r>
            <a:r>
              <a:rPr lang="en-US" altLang="zh-CN" dirty="0"/>
              <a:t>A</a:t>
            </a:r>
            <a:r>
              <a:rPr lang="zh-CN" altLang="en-US" dirty="0"/>
              <a:t>类的私有和保护数据。</a:t>
            </a:r>
            <a:endParaRPr lang="en-US" altLang="zh-CN" dirty="0"/>
          </a:p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但</a:t>
            </a:r>
            <a:r>
              <a:rPr lang="en-US" altLang="zh-CN" dirty="0"/>
              <a:t>A</a:t>
            </a:r>
            <a:r>
              <a:rPr lang="zh-CN" altLang="en-US" dirty="0"/>
              <a:t>类的成员函数却不能直接访问</a:t>
            </a:r>
            <a:r>
              <a:rPr lang="en-US" altLang="zh-CN" dirty="0"/>
              <a:t>B</a:t>
            </a:r>
            <a:r>
              <a:rPr lang="zh-CN" altLang="en-US" dirty="0"/>
              <a:t>类的私有、保护数据。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28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4293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4801345" y="1583793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A</a:t>
            </a:r>
            <a:r>
              <a:rPr lang="zh-CN" altLang="en-US" sz="3200" dirty="0"/>
              <a:t>类是</a:t>
            </a:r>
            <a:r>
              <a:rPr lang="en-US" altLang="zh-CN" sz="3200" dirty="0"/>
              <a:t>B</a:t>
            </a:r>
            <a:r>
              <a:rPr lang="zh-CN" altLang="en-US" sz="3200" dirty="0"/>
              <a:t>类的友元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004653" y="1620089"/>
            <a:ext cx="796692" cy="584775"/>
            <a:chOff x="4004653" y="1620089"/>
            <a:chExt cx="796692" cy="584775"/>
          </a:xfrm>
        </p:grpSpPr>
        <p:sp>
          <p:nvSpPr>
            <p:cNvPr id="3" name="右箭头 2"/>
            <p:cNvSpPr/>
            <p:nvPr/>
          </p:nvSpPr>
          <p:spPr>
            <a:xfrm>
              <a:off x="4004653" y="1696453"/>
              <a:ext cx="796692" cy="4043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211960" y="1620089"/>
              <a:ext cx="326338" cy="5847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9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友元关系是不传递的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05172" y="3933056"/>
            <a:ext cx="8229600" cy="1900808"/>
          </a:xfrm>
        </p:spPr>
        <p:txBody>
          <a:bodyPr>
            <a:normAutofit/>
          </a:bodyPr>
          <a:lstStyle/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B</a:t>
            </a:r>
            <a:r>
              <a:rPr lang="zh-CN" altLang="en-US" dirty="0"/>
              <a:t>类的友元、并且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</a:t>
            </a:r>
            <a:endParaRPr lang="en-US" altLang="zh-CN" dirty="0"/>
          </a:p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并不能认为，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16016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2929137" y="3063005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C</a:t>
            </a:r>
            <a:r>
              <a:rPr lang="zh-CN" altLang="en-US" sz="3200" dirty="0"/>
              <a:t>类是</a:t>
            </a:r>
            <a:r>
              <a:rPr lang="en-US" altLang="zh-CN" sz="3200" dirty="0"/>
              <a:t>A</a:t>
            </a:r>
            <a:r>
              <a:rPr lang="zh-CN" altLang="en-US" sz="3200" dirty="0"/>
              <a:t>类的友元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827584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B</a:t>
            </a:r>
            <a:r>
              <a:rPr lang="zh-CN" altLang="en-US" dirty="0"/>
              <a:t>类的友元</a:t>
            </a:r>
          </a:p>
        </p:txBody>
      </p:sp>
      <p:sp>
        <p:nvSpPr>
          <p:cNvPr id="11" name="矩形 10"/>
          <p:cNvSpPr/>
          <p:nvPr/>
        </p:nvSpPr>
        <p:spPr>
          <a:xfrm>
            <a:off x="3851920" y="1556792"/>
            <a:ext cx="792088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&amp;&amp;</a:t>
            </a:r>
            <a:endParaRPr lang="zh-CN" altLang="en-US" sz="32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995936" y="2276872"/>
            <a:ext cx="648072" cy="648072"/>
            <a:chOff x="3995936" y="2276872"/>
            <a:chExt cx="648072" cy="648072"/>
          </a:xfrm>
        </p:grpSpPr>
        <p:sp>
          <p:nvSpPr>
            <p:cNvPr id="4" name="下箭头 3"/>
            <p:cNvSpPr/>
            <p:nvPr/>
          </p:nvSpPr>
          <p:spPr>
            <a:xfrm>
              <a:off x="4139952" y="2276872"/>
              <a:ext cx="366700" cy="64807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995936" y="2348880"/>
              <a:ext cx="648072" cy="3240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75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友元关系是不继承的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05172" y="3933056"/>
            <a:ext cx="8543292" cy="1900808"/>
          </a:xfrm>
        </p:spPr>
        <p:txBody>
          <a:bodyPr>
            <a:normAutofit/>
          </a:bodyPr>
          <a:lstStyle/>
          <a:p>
            <a:pPr marL="0" indent="762000"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类的友元，并且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类的子类，</a:t>
            </a:r>
            <a:endParaRPr lang="en-US" altLang="zh-CN" dirty="0"/>
          </a:p>
          <a:p>
            <a:pPr marL="0" indent="762000">
              <a:buNone/>
            </a:pPr>
            <a:r>
              <a:rPr lang="zh-CN" altLang="en-US" dirty="0"/>
              <a:t>并不能认为，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C</a:t>
            </a:r>
            <a:r>
              <a:rPr lang="zh-CN" altLang="en-US" dirty="0"/>
              <a:t>类的友元。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30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16016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929137" y="3063005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B</a:t>
            </a:r>
            <a:r>
              <a:rPr lang="zh-CN" altLang="en-US" sz="3200" dirty="0"/>
              <a:t>类是</a:t>
            </a:r>
            <a:r>
              <a:rPr lang="en-US" altLang="zh-CN" sz="3200" dirty="0"/>
              <a:t>C</a:t>
            </a:r>
            <a:r>
              <a:rPr lang="zh-CN" altLang="en-US" sz="3200" dirty="0"/>
              <a:t>类的友元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827584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11" name="矩形 10"/>
          <p:cNvSpPr/>
          <p:nvPr/>
        </p:nvSpPr>
        <p:spPr>
          <a:xfrm>
            <a:off x="3923928" y="1556792"/>
            <a:ext cx="792088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&amp;&amp;</a:t>
            </a:r>
            <a:endParaRPr lang="zh-CN" altLang="en-US" sz="32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995936" y="2276872"/>
            <a:ext cx="648072" cy="648072"/>
            <a:chOff x="3995936" y="2276872"/>
            <a:chExt cx="648072" cy="648072"/>
          </a:xfrm>
        </p:grpSpPr>
        <p:sp>
          <p:nvSpPr>
            <p:cNvPr id="4" name="下箭头 3"/>
            <p:cNvSpPr/>
            <p:nvPr/>
          </p:nvSpPr>
          <p:spPr>
            <a:xfrm>
              <a:off x="4139952" y="2276872"/>
              <a:ext cx="366700" cy="64807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995936" y="2348880"/>
              <a:ext cx="648072" cy="3240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4699848" y="1556792"/>
            <a:ext cx="3544560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en-US" altLang="zh-CN" sz="3200" dirty="0"/>
              <a:t>C</a:t>
            </a:r>
            <a:r>
              <a:rPr lang="zh-CN" altLang="en-US" sz="3200" dirty="0"/>
              <a:t>类是</a:t>
            </a:r>
            <a:r>
              <a:rPr lang="en-US" altLang="zh-CN" sz="3200" dirty="0"/>
              <a:t>A</a:t>
            </a:r>
            <a:r>
              <a:rPr lang="zh-CN" altLang="en-US" sz="3200" dirty="0"/>
              <a:t>类的子类</a:t>
            </a:r>
          </a:p>
        </p:txBody>
      </p:sp>
    </p:spTree>
    <p:extLst>
      <p:ext uri="{BB962C8B-B14F-4D97-AF65-F5344CB8AC3E}">
        <p14:creationId xmlns:p14="http://schemas.microsoft.com/office/powerpoint/2010/main" val="5062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2" grpId="0"/>
      <p:bldP spid="10" grpId="0"/>
      <p:bldP spid="11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友元关系的特征总结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31</a:t>
            </a:fld>
            <a:endParaRPr lang="en-US" altLang="zh-CN" sz="140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83568" y="2204864"/>
            <a:ext cx="8064896" cy="2664296"/>
          </a:xfrm>
          <a:prstGeom prst="rect">
            <a:avLst/>
          </a:prstGeom>
        </p:spPr>
        <p:txBody>
          <a:bodyPr vert="horz" rtlCol="0">
            <a:no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36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dirty="0"/>
              <a:t>只要没有“</a:t>
            </a:r>
            <a:r>
              <a:rPr lang="en-US" altLang="zh-CN" dirty="0"/>
              <a:t>friend class B</a:t>
            </a:r>
            <a:r>
              <a:rPr lang="zh-CN" altLang="en-US" dirty="0"/>
              <a:t>；”这句声明，</a:t>
            </a:r>
            <a:endParaRPr lang="en-US" altLang="zh-CN" dirty="0"/>
          </a:p>
          <a:p>
            <a:r>
              <a:rPr lang="zh-CN" altLang="en-US" dirty="0"/>
              <a:t>就没有友元关系</a:t>
            </a:r>
          </a:p>
        </p:txBody>
      </p:sp>
    </p:spTree>
    <p:extLst>
      <p:ext uri="{BB962C8B-B14F-4D97-AF65-F5344CB8AC3E}">
        <p14:creationId xmlns:p14="http://schemas.microsoft.com/office/powerpoint/2010/main" val="3793706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96" y="163661"/>
            <a:ext cx="9036496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_num;    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分子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_den;    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分母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standardize();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分数标准化函数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fraction(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n=0,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d=1);</a:t>
            </a: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add(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sub(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  <a:endParaRPr lang="zh-CN" altLang="en-US" sz="2400" dirty="0"/>
          </a:p>
          <a:p>
            <a:r>
              <a:rPr lang="en-US" altLang="zh-CN" sz="2400" dirty="0"/>
              <a:t>       ……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f1,f2(2,3),f3(4,5),f4;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f1=add(f2,f3);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f4=sub(f2,f3);</a:t>
            </a:r>
          </a:p>
          <a:p>
            <a:pPr marL="533400"/>
            <a:r>
              <a:rPr lang="en-US" altLang="zh-CN" sz="240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36096" y="0"/>
            <a:ext cx="4176464" cy="79208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【</a:t>
            </a:r>
            <a:r>
              <a:rPr lang="zh-CN" altLang="en-US" sz="4000" dirty="0"/>
              <a:t>课堂练习</a:t>
            </a:r>
            <a:r>
              <a:rPr lang="en-US" altLang="zh-CN" sz="4000" dirty="0"/>
              <a:t>】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20915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5223</TotalTime>
  <Words>3188</Words>
  <Application>Microsoft Macintosh PowerPoint</Application>
  <PresentationFormat>全屏显示(4:3)</PresentationFormat>
  <Paragraphs>551</Paragraphs>
  <Slides>32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黑体</vt:lpstr>
      <vt:lpstr>华文楷体</vt:lpstr>
      <vt:lpstr>隶书</vt:lpstr>
      <vt:lpstr>宋体</vt:lpstr>
      <vt:lpstr>新宋体</vt:lpstr>
      <vt:lpstr>Arial</vt:lpstr>
      <vt:lpstr>Calibri</vt:lpstr>
      <vt:lpstr>Cambria</vt:lpstr>
      <vt:lpstr>Consolas</vt:lpstr>
      <vt:lpstr>Maiandra GD</vt:lpstr>
      <vt:lpstr>Tahoma</vt:lpstr>
      <vt:lpstr>Times New Roman</vt:lpstr>
      <vt:lpstr>Wingdings</vt:lpstr>
      <vt:lpstr>Wingdings 2</vt:lpstr>
      <vt:lpstr>龙腾四海</vt:lpstr>
      <vt:lpstr>第3讲  数据的共享与保护(2)</vt:lpstr>
      <vt:lpstr>大纲</vt:lpstr>
      <vt:lpstr>3.4 类的友元</vt:lpstr>
      <vt:lpstr>友元</vt:lpstr>
      <vt:lpstr>友元函数</vt:lpstr>
      <vt:lpstr>友元函数</vt:lpstr>
      <vt:lpstr>例 dist函数计算两点距离</vt:lpstr>
      <vt:lpstr>例 dist函数计算两点距离</vt:lpstr>
      <vt:lpstr>dist函数设成Point的友元函数</vt:lpstr>
      <vt:lpstr>PowerPoint 演示文稿</vt:lpstr>
      <vt:lpstr>友元函数例2</vt:lpstr>
      <vt:lpstr>向量类</vt:lpstr>
      <vt:lpstr>矩阵类</vt:lpstr>
      <vt:lpstr>PowerPoint 演示文稿</vt:lpstr>
      <vt:lpstr>PowerPoint 演示文稿</vt:lpstr>
      <vt:lpstr>效率分析</vt:lpstr>
      <vt:lpstr>友元函数：multiply</vt:lpstr>
      <vt:lpstr>PowerPoint 演示文稿</vt:lpstr>
      <vt:lpstr>PowerPoint 演示文稿</vt:lpstr>
      <vt:lpstr>PowerPoint 演示文稿</vt:lpstr>
      <vt:lpstr>效率分析</vt:lpstr>
      <vt:lpstr>友元类</vt:lpstr>
      <vt:lpstr>友元类举例：类的使用</vt:lpstr>
      <vt:lpstr>友元类举例：类的使用</vt:lpstr>
      <vt:lpstr>友元类举例：类的组合</vt:lpstr>
      <vt:lpstr>友元类举例: 友元类中包含对象</vt:lpstr>
      <vt:lpstr>友元关系的特征</vt:lpstr>
      <vt:lpstr>友元关系是单向的</vt:lpstr>
      <vt:lpstr>友元关系是不传递的</vt:lpstr>
      <vt:lpstr>友元关系是不继承的</vt:lpstr>
      <vt:lpstr>友元关系的特征总结</vt:lpstr>
      <vt:lpstr>【课堂练习】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C++程序的结构</dc:title>
  <dc:creator>SJL</dc:creator>
  <cp:lastModifiedBy>Microsoft Office User</cp:lastModifiedBy>
  <cp:revision>77</cp:revision>
  <dcterms:created xsi:type="dcterms:W3CDTF">2017-02-27T06:47:02Z</dcterms:created>
  <dcterms:modified xsi:type="dcterms:W3CDTF">2024-03-27T08:09:08Z</dcterms:modified>
</cp:coreProperties>
</file>