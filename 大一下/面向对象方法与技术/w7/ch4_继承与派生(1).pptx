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4"/>
  </p:notesMasterIdLst>
  <p:sldIdLst>
    <p:sldId id="257" r:id="rId2"/>
    <p:sldId id="258" r:id="rId3"/>
    <p:sldId id="330" r:id="rId4"/>
    <p:sldId id="259" r:id="rId5"/>
    <p:sldId id="264" r:id="rId6"/>
    <p:sldId id="260" r:id="rId7"/>
    <p:sldId id="351" r:id="rId8"/>
    <p:sldId id="352" r:id="rId9"/>
    <p:sldId id="265" r:id="rId10"/>
    <p:sldId id="356" r:id="rId11"/>
    <p:sldId id="370" r:id="rId12"/>
    <p:sldId id="357" r:id="rId13"/>
    <p:sldId id="364" r:id="rId14"/>
    <p:sldId id="266" r:id="rId15"/>
    <p:sldId id="354" r:id="rId16"/>
    <p:sldId id="355" r:id="rId17"/>
    <p:sldId id="331" r:id="rId18"/>
    <p:sldId id="335" r:id="rId19"/>
    <p:sldId id="336" r:id="rId20"/>
    <p:sldId id="268" r:id="rId21"/>
    <p:sldId id="338" r:id="rId22"/>
    <p:sldId id="337" r:id="rId23"/>
    <p:sldId id="339" r:id="rId24"/>
    <p:sldId id="271" r:id="rId25"/>
    <p:sldId id="341" r:id="rId26"/>
    <p:sldId id="272" r:id="rId27"/>
    <p:sldId id="273" r:id="rId28"/>
    <p:sldId id="369" r:id="rId29"/>
    <p:sldId id="274" r:id="rId30"/>
    <p:sldId id="342" r:id="rId31"/>
    <p:sldId id="343" r:id="rId32"/>
    <p:sldId id="358" r:id="rId33"/>
    <p:sldId id="359" r:id="rId34"/>
    <p:sldId id="360" r:id="rId35"/>
    <p:sldId id="361" r:id="rId36"/>
    <p:sldId id="362" r:id="rId37"/>
    <p:sldId id="363" r:id="rId38"/>
    <p:sldId id="279" r:id="rId39"/>
    <p:sldId id="372" r:id="rId40"/>
    <p:sldId id="282" r:id="rId41"/>
    <p:sldId id="283" r:id="rId42"/>
    <p:sldId id="284" r:id="rId43"/>
    <p:sldId id="285" r:id="rId44"/>
    <p:sldId id="333" r:id="rId45"/>
    <p:sldId id="286" r:id="rId46"/>
    <p:sldId id="287" r:id="rId47"/>
    <p:sldId id="344" r:id="rId48"/>
    <p:sldId id="288" r:id="rId49"/>
    <p:sldId id="374" r:id="rId50"/>
    <p:sldId id="373" r:id="rId51"/>
    <p:sldId id="293" r:id="rId52"/>
    <p:sldId id="292" r:id="rId53"/>
    <p:sldId id="294" r:id="rId54"/>
    <p:sldId id="295" r:id="rId55"/>
    <p:sldId id="297" r:id="rId56"/>
    <p:sldId id="296" r:id="rId57"/>
    <p:sldId id="299" r:id="rId58"/>
    <p:sldId id="375" r:id="rId59"/>
    <p:sldId id="365" r:id="rId60"/>
    <p:sldId id="366" r:id="rId61"/>
    <p:sldId id="367" r:id="rId62"/>
    <p:sldId id="368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3"/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2721" autoAdjust="0"/>
  </p:normalViewPr>
  <p:slideViewPr>
    <p:cSldViewPr>
      <p:cViewPr varScale="1">
        <p:scale>
          <a:sx n="118" d="100"/>
          <a:sy n="118" d="100"/>
        </p:scale>
        <p:origin x="10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C5939-5DB5-49EA-AD37-630BAA9593B5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02B4F-3783-434E-8D7D-31747B89B5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9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E31486E-DBE8-45EB-B9F5-222DC3294F28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A774146-6D2D-4C40-B356-B2A49A0385B1}" type="slidenum">
              <a:rPr lang="en-US" altLang="zh-CN" sz="1200"/>
              <a:pPr eaLnBrk="1" hangingPunct="1"/>
              <a:t>2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A774146-6D2D-4C40-B356-B2A49A0385B1}" type="slidenum">
              <a:rPr lang="en-US" altLang="zh-CN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C6122CA8-9EBC-450E-A78C-810814AFB1D3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338693CF-3166-4A31-AF00-F4AF19E7A279}" type="slidenum">
              <a:rPr lang="en-US" altLang="zh-CN" sz="1200"/>
              <a:pPr eaLnBrk="1" hangingPunct="1"/>
              <a:t>5</a:t>
            </a:fld>
            <a:endParaRPr lang="en-US" altLang="zh-CN" sz="1200"/>
          </a:p>
        </p:txBody>
      </p:sp>
      <p:sp>
        <p:nvSpPr>
          <p:cNvPr id="8601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0E274BE-83A6-45F8-A00C-C3FAECC0FBA3}" type="slidenum">
              <a:rPr lang="en-US" altLang="zh-CN" sz="1200"/>
              <a:pPr eaLnBrk="1" hangingPunct="1"/>
              <a:t>6</a:t>
            </a:fld>
            <a:endParaRPr lang="en-US" altLang="zh-CN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565C35A-B3F9-4AC3-81EA-576E58255866}" type="slidenum">
              <a:rPr lang="en-US" altLang="zh-CN" sz="1200"/>
              <a:pPr eaLnBrk="1" hangingPunct="1"/>
              <a:t>9</a:t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02B4F-3783-434E-8D7D-31747B89B57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158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bool</a:t>
            </a:r>
            <a:r>
              <a:rPr lang="zh-CN" altLang="en-US"/>
              <a:t>型为</a:t>
            </a:r>
            <a:r>
              <a:rPr lang="en-US" altLang="zh-CN"/>
              <a:t>c++</a:t>
            </a:r>
            <a:r>
              <a:rPr lang="zh-CN" altLang="en-US"/>
              <a:t>新增类型，</a:t>
            </a:r>
            <a:r>
              <a:rPr lang="en-US" altLang="zh-CN"/>
              <a:t>c</a:t>
            </a:r>
            <a:r>
              <a:rPr lang="zh-CN" altLang="en-US"/>
              <a:t>语言中用</a:t>
            </a:r>
            <a:r>
              <a:rPr lang="en-US" altLang="zh-CN"/>
              <a:t>int</a:t>
            </a:r>
            <a:r>
              <a:rPr lang="zh-CN" altLang="en-US"/>
              <a:t>模拟</a:t>
            </a:r>
            <a:r>
              <a:rPr lang="en-US" altLang="zh-CN"/>
              <a:t>bool</a:t>
            </a:r>
            <a:r>
              <a:rPr lang="zh-CN" altLang="en-US"/>
              <a:t>型</a:t>
            </a:r>
            <a:endParaRPr lang="en-US" altLang="zh-CN"/>
          </a:p>
          <a:p>
            <a:r>
              <a:rPr lang="zh-CN" altLang="en-US"/>
              <a:t>调试看内存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D2D4B5BA-4CBC-4F42-9361-F19B03247663}" type="slidenum">
              <a:rPr lang="zh-CN" altLang="en-US" sz="1200" b="0"/>
              <a:pPr/>
              <a:t>13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51F203E-46E4-462D-B1CB-D5BA3BF87E74}" type="slidenum">
              <a:rPr lang="en-US" altLang="zh-CN" sz="1200"/>
              <a:pPr eaLnBrk="1" hangingPunct="1"/>
              <a:t>14</a:t>
            </a:fld>
            <a:endParaRPr lang="en-US" altLang="zh-CN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A774146-6D2D-4C40-B356-B2A49A0385B1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2BFC794-8ADC-4F14-A46A-34C89E6A1833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34C548F-B5C3-4413-9706-A9A493A648C3}" type="slidenum">
              <a:rPr lang="en-US" altLang="zh-CN" sz="1200"/>
              <a:pPr eaLnBrk="1" hangingPunct="1"/>
              <a:t>21</a:t>
            </a:fld>
            <a:endParaRPr lang="en-US" altLang="zh-CN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681D93EE-D599-4352-ACF5-95B817684A76}" type="slidenum">
              <a:rPr lang="en-US" altLang="zh-CN" sz="1200"/>
              <a:pPr eaLnBrk="1" hangingPunct="1"/>
              <a:t>24</a:t>
            </a:fld>
            <a:endParaRPr lang="en-US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C6F03D3-F745-4BA1-B22B-A06B01DCD3DE}" type="slidenum">
              <a:rPr lang="en-US" altLang="zh-CN" sz="1200"/>
              <a:pPr eaLnBrk="1" hangingPunct="1"/>
              <a:t>26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6A3EE9D-5207-49B3-A4E3-AE8A7C66D967}" type="slidenum">
              <a:rPr lang="en-US" altLang="zh-CN" sz="1200"/>
              <a:pPr eaLnBrk="1" hangingPunct="1"/>
              <a:t>27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69A8AB5-F7F4-4099-8446-D0E53616029C}" type="slidenum">
              <a:rPr lang="en-US" altLang="zh-CN" sz="1200"/>
              <a:pPr eaLnBrk="1" hangingPunct="1"/>
              <a:t>29</a:t>
            </a:fld>
            <a:endParaRPr lang="en-US" altLang="zh-CN" sz="1200"/>
          </a:p>
        </p:txBody>
      </p:sp>
      <p:sp>
        <p:nvSpPr>
          <p:cNvPr id="962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59F87AEA-D489-4C58-AFD7-4BF5237558FE}" type="slidenum">
              <a:rPr lang="zh-CN" altLang="en-US" sz="1200" b="0"/>
              <a:pPr/>
              <a:t>32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作为函数参数使用较多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740B90DB-A19E-4A81-9E00-E0E6B85E4A76}" type="slidenum">
              <a:rPr lang="zh-CN" altLang="en-US" sz="1200" b="0"/>
              <a:pPr/>
              <a:t>34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6D21E7D-D0EC-4403-9A0A-F3284AAE88AE}" type="slidenum">
              <a:rPr lang="en-US" altLang="zh-CN" sz="1200"/>
              <a:pPr eaLnBrk="1" hangingPunct="1"/>
              <a:t>38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6D21E7D-D0EC-4403-9A0A-F3284AAE88AE}" type="slidenum">
              <a:rPr lang="en-US" altLang="zh-CN" sz="1200"/>
              <a:pPr eaLnBrk="1" hangingPunct="1"/>
              <a:t>39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7408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2836C55-68C2-493E-8840-F4403120A9A5}" type="slidenum">
              <a:rPr lang="en-US" altLang="zh-CN" sz="1200"/>
              <a:pPr eaLnBrk="1" hangingPunct="1"/>
              <a:t>40</a:t>
            </a:fld>
            <a:endParaRPr lang="en-US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C32BD1CB-81C7-48C3-8455-4920E669CF2F}" type="slidenum">
              <a:rPr lang="en-US" altLang="zh-CN" sz="1200"/>
              <a:pPr eaLnBrk="1" hangingPunct="1"/>
              <a:t>41</a:t>
            </a:fld>
            <a:endParaRPr lang="en-US" altLang="zh-CN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14BB2DF-F20F-4312-8C28-835CD0E00B99}" type="slidenum">
              <a:rPr lang="en-US" altLang="zh-CN" sz="1200"/>
              <a:pPr eaLnBrk="1" hangingPunct="1"/>
              <a:t>42</a:t>
            </a:fld>
            <a:endParaRPr lang="en-US" altLang="zh-CN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0EBF5E1-2168-41A4-9D73-F256DA125B8F}" type="slidenum">
              <a:rPr lang="en-US" altLang="zh-CN" sz="1200"/>
              <a:pPr eaLnBrk="1" hangingPunct="1"/>
              <a:t>43</a:t>
            </a:fld>
            <a:endParaRPr lang="en-US" altLang="zh-CN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A774146-6D2D-4C40-B356-B2A49A0385B1}" type="slidenum">
              <a:rPr lang="en-US" altLang="zh-CN" sz="1200"/>
              <a:pPr eaLnBrk="1" hangingPunct="1"/>
              <a:t>44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3255B8B1-92D2-4C21-90DA-40EAEF53BC45}" type="slidenum">
              <a:rPr lang="en-US" altLang="zh-CN" sz="1200"/>
              <a:pPr eaLnBrk="1" hangingPunct="1"/>
              <a:t>45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74E85725-4116-4D03-8142-BB677FEADA87}" type="slidenum">
              <a:rPr lang="en-US" altLang="zh-CN" sz="1200"/>
              <a:pPr eaLnBrk="1" hangingPunct="1"/>
              <a:t>46</a:t>
            </a:fld>
            <a:endParaRPr lang="en-US" altLang="zh-CN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2BFC794-8ADC-4F14-A46A-34C89E6A1833}" type="slidenum">
              <a:rPr lang="en-US" altLang="zh-CN" sz="1200"/>
              <a:pPr eaLnBrk="1" hangingPunct="1"/>
              <a:t>47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0922657-C699-40DF-A97A-233F1D85A4A3}" type="slidenum">
              <a:rPr lang="en-US" altLang="zh-CN" sz="1200"/>
              <a:pPr eaLnBrk="1" hangingPunct="1"/>
              <a:t>48</a:t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0922657-C699-40DF-A97A-233F1D85A4A3}" type="slidenum">
              <a:rPr lang="en-US" altLang="zh-CN" sz="1200"/>
              <a:pPr eaLnBrk="1" hangingPunct="1"/>
              <a:t>49</a:t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3592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0922657-C699-40DF-A97A-233F1D85A4A3}" type="slidenum">
              <a:rPr lang="en-US" altLang="zh-CN" sz="1200"/>
              <a:pPr eaLnBrk="1" hangingPunct="1"/>
              <a:t>50</a:t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31968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6B95486-09C9-4E33-B846-FC91BF252546}" type="slidenum">
              <a:rPr lang="en-US" altLang="zh-CN" sz="1200"/>
              <a:pPr eaLnBrk="1" hangingPunct="1"/>
              <a:t>51</a:t>
            </a:fld>
            <a:endParaRPr lang="en-US" altLang="zh-CN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4FF4165-3E19-493E-9EFE-D767C70F34E6}" type="slidenum">
              <a:rPr lang="en-US" altLang="zh-CN" sz="1200"/>
              <a:pPr eaLnBrk="1" hangingPunct="1"/>
              <a:t>52</a:t>
            </a:fld>
            <a:endParaRPr lang="en-US" altLang="zh-CN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71CC337-4C16-4A84-985D-769AA2E97E42}" type="slidenum">
              <a:rPr lang="en-US" altLang="zh-CN" sz="1200"/>
              <a:pPr eaLnBrk="1" hangingPunct="1"/>
              <a:t>53</a:t>
            </a:fld>
            <a:endParaRPr lang="en-US" altLang="zh-CN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9701B44-30A6-4746-8772-32116A499FAD}" type="slidenum">
              <a:rPr lang="en-US" altLang="zh-CN" sz="1200"/>
              <a:pPr eaLnBrk="1" hangingPunct="1"/>
              <a:t>54</a:t>
            </a:fld>
            <a:endParaRPr lang="en-US" altLang="zh-CN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5CDCF2D-8966-491B-A5CE-34341A54F71D}" type="slidenum">
              <a:rPr lang="en-US" altLang="zh-CN" sz="1200"/>
              <a:pPr eaLnBrk="1" hangingPunct="1"/>
              <a:t>55</a:t>
            </a:fld>
            <a:endParaRPr lang="en-US" altLang="zh-CN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BE73489-2EA7-483E-A399-61E39186FB5F}" type="slidenum">
              <a:rPr lang="en-US" altLang="zh-CN" sz="1200"/>
              <a:pPr eaLnBrk="1" hangingPunct="1"/>
              <a:t>56</a:t>
            </a:fld>
            <a:endParaRPr lang="en-US" altLang="zh-CN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CDF12EE0-E2F1-4577-BA2A-A110964629B3}" type="slidenum">
              <a:rPr lang="en-US" altLang="zh-CN" sz="1200"/>
              <a:pPr eaLnBrk="1" hangingPunct="1"/>
              <a:t>57</a:t>
            </a:fld>
            <a:endParaRPr lang="en-US" altLang="zh-CN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279C634-6811-454F-AB9A-F6E62370E8A3}" type="slidenum">
              <a:rPr lang="en-US" altLang="zh-CN" sz="1200"/>
              <a:pPr eaLnBrk="1" hangingPunct="1"/>
              <a:t>58</a:t>
            </a:fld>
            <a:endParaRPr lang="en-US" altLang="zh-CN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206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716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1295400" y="1905000"/>
            <a:ext cx="7239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16C32-9543-4701-80C1-D69419ED90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0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12" Type="http://schemas.openxmlformats.org/officeDocument/2006/relationships/image" Target="../media/image9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3900" y="28194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讲   继承与派生</a:t>
            </a:r>
          </a:p>
        </p:txBody>
      </p:sp>
      <p:sp>
        <p:nvSpPr>
          <p:cNvPr id="7170" name="Rectangle 309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2B6B8768-B7A3-494C-879E-C196F36ABE8B}" type="slidenum">
              <a:rPr lang="en-US" altLang="zh-CN" sz="1400" smtClean="0"/>
              <a:pPr eaLnBrk="1" hangingPunct="1"/>
              <a:t>1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60621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大纲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4.1 </a:t>
            </a:r>
            <a:r>
              <a:rPr lang="zh-CN" altLang="en-US" sz="3600" dirty="0"/>
              <a:t>类的继承与派生</a:t>
            </a: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4.2 </a:t>
            </a:r>
            <a:r>
              <a:rPr lang="zh-CN" altLang="en-US" sz="3600" dirty="0"/>
              <a:t>访问控制</a:t>
            </a: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4.3 </a:t>
            </a:r>
            <a:r>
              <a:rPr lang="zh-CN" altLang="en-US" sz="3600" dirty="0"/>
              <a:t>类型兼容规则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4.4 </a:t>
            </a:r>
            <a:r>
              <a:rPr lang="zh-CN" altLang="en-US" sz="3600" dirty="0"/>
              <a:t>派生类的构造和析构函数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</a:rPr>
              <a:t>4.5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</a:rPr>
              <a:t>派生类成员的标识与访问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</a:rPr>
              <a:t>4.6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</a:rPr>
              <a:t>程序实例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</a:rPr>
              <a:t>——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</a:rPr>
              <a:t>用高斯消去法解线性方程组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</a:rPr>
              <a:t>4.7 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</a:rPr>
              <a:t>综合实例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</a:rPr>
              <a:t>——</a:t>
            </a:r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</a:rPr>
              <a:t>个人银行账户管理程序</a:t>
            </a: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6D651F6-B4CF-42C2-9E0F-D8845CD35307}" type="slidenum">
              <a:rPr lang="en-US" altLang="zh-CN" sz="1400" smtClean="0"/>
              <a:pPr eaLnBrk="1" hangingPunct="1"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55273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4.1 </a:t>
            </a:r>
            <a:r>
              <a:rPr lang="zh-CN" altLang="en-US" dirty="0"/>
              <a:t>类的继承与派生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4.1.1 </a:t>
            </a:r>
            <a:r>
              <a:rPr lang="zh-CN" altLang="en-US" sz="3600" dirty="0"/>
              <a:t>继承关系举例</a:t>
            </a: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4.1.2 </a:t>
            </a:r>
            <a:r>
              <a:rPr lang="zh-CN" altLang="en-US" sz="3600" dirty="0"/>
              <a:t>派生类的定义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4.1.3 </a:t>
            </a:r>
            <a:r>
              <a:rPr lang="zh-CN" altLang="en-US" sz="3600" dirty="0"/>
              <a:t>派生类生成过程</a:t>
            </a:r>
            <a:endParaRPr lang="en-US" altLang="zh-CN" sz="3600" dirty="0"/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6D651F6-B4CF-42C2-9E0F-D8845CD35307}" type="slidenum">
              <a:rPr lang="en-US" altLang="zh-CN" sz="1400" smtClean="0"/>
              <a:pPr eaLnBrk="1" hangingPunct="1"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15386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类的继承与派生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保持已有类的特性而构造新类的过程称为</a:t>
            </a:r>
            <a:r>
              <a:rPr lang="zh-CN" altLang="en-US" b="1" dirty="0">
                <a:solidFill>
                  <a:srgbClr val="FF0000"/>
                </a:solidFill>
              </a:rPr>
              <a:t>继承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在已有类的基础上新增自己的特性而产生新类的过程称为</a:t>
            </a:r>
            <a:r>
              <a:rPr lang="zh-CN" altLang="en-US" b="1" dirty="0">
                <a:solidFill>
                  <a:srgbClr val="FF0000"/>
                </a:solidFill>
              </a:rPr>
              <a:t>派生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被继承的已有类称为</a:t>
            </a:r>
            <a:r>
              <a:rPr lang="zh-CN" altLang="en-US" b="1" dirty="0">
                <a:solidFill>
                  <a:srgbClr val="FF0000"/>
                </a:solidFill>
              </a:rPr>
              <a:t>基类</a:t>
            </a:r>
            <a:r>
              <a:rPr lang="zh-CN" altLang="en-US" dirty="0"/>
              <a:t>（或</a:t>
            </a:r>
            <a:r>
              <a:rPr lang="zh-CN" altLang="en-US" b="1" dirty="0">
                <a:solidFill>
                  <a:srgbClr val="00B050"/>
                </a:solidFill>
              </a:rPr>
              <a:t>父类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派生出的新类称为</a:t>
            </a:r>
            <a:r>
              <a:rPr lang="zh-CN" altLang="en-US" b="1" dirty="0">
                <a:solidFill>
                  <a:srgbClr val="FF0000"/>
                </a:solidFill>
              </a:rPr>
              <a:t>派生类</a:t>
            </a:r>
            <a:r>
              <a:rPr lang="zh-CN" altLang="en-US" dirty="0"/>
              <a:t>（或</a:t>
            </a:r>
            <a:r>
              <a:rPr lang="zh-CN" altLang="en-US" b="1" dirty="0">
                <a:solidFill>
                  <a:srgbClr val="00B050"/>
                </a:solidFill>
              </a:rPr>
              <a:t>子类</a:t>
            </a:r>
            <a:r>
              <a:rPr lang="zh-CN" altLang="en-US" dirty="0"/>
              <a:t>） 。</a:t>
            </a:r>
            <a:endParaRPr lang="en-US" altLang="zh-CN" dirty="0"/>
          </a:p>
          <a:p>
            <a:r>
              <a:rPr lang="zh-CN" altLang="en-US" dirty="0"/>
              <a:t>继承和派生其实是同样的概念，站在不同的角度定义的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4DDA6FE-7BF8-4914-8854-FBFC823788C3}" type="slidenum">
              <a:rPr lang="en-US" altLang="zh-CN" sz="1400" smtClean="0"/>
              <a:pPr eaLnBrk="1" hangingPunct="1"/>
              <a:t>4</a:t>
            </a:fld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56045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继承与派生的目的和作用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继承的目的：实现</a:t>
            </a:r>
            <a:r>
              <a:rPr lang="zh-CN" altLang="en-US" dirty="0">
                <a:solidFill>
                  <a:srgbClr val="FF0000"/>
                </a:solidFill>
              </a:rPr>
              <a:t>代码重用，</a:t>
            </a:r>
            <a:r>
              <a:rPr lang="zh-CN" altLang="en-US" dirty="0"/>
              <a:t>能用的就不重新写了。</a:t>
            </a:r>
            <a:r>
              <a:rPr lang="zh-CN" altLang="en-US" b="1" dirty="0">
                <a:solidFill>
                  <a:srgbClr val="FF0000"/>
                </a:solidFill>
              </a:rPr>
              <a:t>继承</a:t>
            </a:r>
            <a:r>
              <a:rPr lang="zh-CN" altLang="en-US" b="1" dirty="0"/>
              <a:t>使软件</a:t>
            </a:r>
            <a:r>
              <a:rPr lang="zh-CN" altLang="en-US" b="1" dirty="0">
                <a:solidFill>
                  <a:srgbClr val="FF0000"/>
                </a:solidFill>
              </a:rPr>
              <a:t>复用</a:t>
            </a:r>
            <a:r>
              <a:rPr lang="zh-CN" altLang="en-US" b="1" dirty="0"/>
              <a:t>变得简单、易行，可以通过继承复用已有的程序资源，</a:t>
            </a:r>
            <a:r>
              <a:rPr lang="zh-CN" altLang="en-US" b="1" dirty="0">
                <a:solidFill>
                  <a:srgbClr val="FF0000"/>
                </a:solidFill>
              </a:rPr>
              <a:t>缩短</a:t>
            </a:r>
            <a:r>
              <a:rPr lang="zh-CN" altLang="en-US" b="1" dirty="0"/>
              <a:t>软件开发的周期。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派生的目的：当新的问题出现，原有程序无法解决（或不能完全解决）时，需要对原有程序进行改造。</a:t>
            </a:r>
          </a:p>
          <a:p>
            <a:pPr eaLnBrk="1" hangingPunct="1"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B585D35-7DD7-413F-AF22-56D51F745E0E}" type="slidenum">
              <a:rPr lang="en-US" altLang="zh-CN" sz="1400" smtClean="0"/>
              <a:pPr eaLnBrk="1" hangingPunct="1"/>
              <a:t>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89509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0479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继承与派生问题举例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473882563"/>
              </p:ext>
            </p:extLst>
          </p:nvPr>
        </p:nvGraphicFramePr>
        <p:xfrm>
          <a:off x="2431929" y="1104446"/>
          <a:ext cx="3356035" cy="2687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MS Org Chart" r:id="rId4" imgW="4698720" imgH="3835080" progId="OrgPlusWOPX.4">
                  <p:embed followColorScheme="full"/>
                </p:oleObj>
              </mc:Choice>
              <mc:Fallback>
                <p:oleObj name="MS Org Chart" r:id="rId4" imgW="4698720" imgH="3835080" progId="OrgPlusWOPX.4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929" y="1104446"/>
                        <a:ext cx="3356035" cy="2687766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7451D143-80DD-416F-9219-CA6D4148E4AB}" type="slidenum">
              <a:rPr lang="en-US" altLang="zh-CN" sz="1400" smtClean="0"/>
              <a:pPr eaLnBrk="1" hangingPunct="1"/>
              <a:t>6</a:t>
            </a:fld>
            <a:endParaRPr lang="en-US" altLang="zh-CN" sz="1400"/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06902569"/>
              </p:ext>
            </p:extLst>
          </p:nvPr>
        </p:nvGraphicFramePr>
        <p:xfrm>
          <a:off x="-17112" y="4224892"/>
          <a:ext cx="2769512" cy="2644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MS Org Chart" r:id="rId6" imgW="4069976" imgH="3890682" progId="OrgPlusWOPX.4">
                  <p:embed followColorScheme="full"/>
                </p:oleObj>
              </mc:Choice>
              <mc:Fallback>
                <p:oleObj name="MS Org Chart" r:id="rId6" imgW="4069976" imgH="3890682" progId="OrgPlusWOPX.4">
                  <p:embed followColorScheme="full"/>
                  <p:pic>
                    <p:nvPicPr>
                      <p:cNvPr id="0" name="Object 204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7112" y="4224892"/>
                        <a:ext cx="2769512" cy="264440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791381" y="5257374"/>
            <a:ext cx="1116323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/>
              <a:t>猫科</a:t>
            </a: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46413031"/>
              </p:ext>
            </p:extLst>
          </p:nvPr>
        </p:nvGraphicFramePr>
        <p:xfrm>
          <a:off x="17245" y="1340768"/>
          <a:ext cx="2155148" cy="1920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MS Org Chart" r:id="rId8" imgW="4914720" imgH="4495680" progId="OrgPlusWOPX.4">
                  <p:embed followColorScheme="full"/>
                </p:oleObj>
              </mc:Choice>
              <mc:Fallback>
                <p:oleObj name="MS Org Chart" r:id="rId8" imgW="4914720" imgH="4495680" progId="OrgPlusWOPX.4">
                  <p:embed followColorScheme="full"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5" y="1340768"/>
                        <a:ext cx="2155148" cy="1920636"/>
                      </a:xfrm>
                      <a:prstGeom prst="rect">
                        <a:avLst/>
                      </a:prstGeom>
                      <a:solidFill>
                        <a:srgbClr val="0054A8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8300164"/>
              </p:ext>
            </p:extLst>
          </p:nvPr>
        </p:nvGraphicFramePr>
        <p:xfrm>
          <a:off x="3651383" y="3786593"/>
          <a:ext cx="5580245" cy="3079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MS Org Chart" r:id="rId10" imgW="7232400" imgH="3295440" progId="OrgPlusWOPX.4">
                  <p:embed followColorScheme="full"/>
                </p:oleObj>
              </mc:Choice>
              <mc:Fallback>
                <p:oleObj name="MS Org Chart" r:id="rId10" imgW="7232400" imgH="3295440" progId="OrgPlusWOPX.4">
                  <p:embed followColorScheme="full"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83" y="3786593"/>
                        <a:ext cx="5580245" cy="3079146"/>
                      </a:xfrm>
                      <a:prstGeom prst="rect">
                        <a:avLst/>
                      </a:prstGeom>
                      <a:solidFill>
                        <a:srgbClr val="B9AB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4" descr="B4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19" y="1415378"/>
            <a:ext cx="3356036" cy="201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51520" y="1268413"/>
            <a:ext cx="8496944" cy="1080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285750" lvl="1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Char char="Ø"/>
            </a:pPr>
            <a:r>
              <a:rPr kumimoji="1" lang="zh-CN" altLang="en-US" sz="2800" dirty="0">
                <a:latin typeface="Lucida Sans Unicode" pitchFamily="34" charset="0"/>
                <a:ea typeface="华文楷体" pitchFamily="2" charset="-122"/>
              </a:rPr>
              <a:t>以存在的类为基础定义新的类，新类即拥有基类的所有数据成员和几乎所有成员函数。</a:t>
            </a:r>
          </a:p>
        </p:txBody>
      </p:sp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1046163" y="2706688"/>
            <a:ext cx="6858000" cy="3200400"/>
            <a:chOff x="768" y="1920"/>
            <a:chExt cx="4320" cy="2016"/>
          </a:xfrm>
        </p:grpSpPr>
        <p:sp>
          <p:nvSpPr>
            <p:cNvPr id="10245" name="Rectangle 4"/>
            <p:cNvSpPr>
              <a:spLocks noChangeArrowheads="1"/>
            </p:cNvSpPr>
            <p:nvPr/>
          </p:nvSpPr>
          <p:spPr bwMode="auto">
            <a:xfrm>
              <a:off x="2352" y="1920"/>
              <a:ext cx="1104" cy="19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latin typeface="Trebuchet MS" pitchFamily="34" charset="0"/>
                </a:rPr>
                <a:t>Person</a:t>
              </a:r>
            </a:p>
          </p:txBody>
        </p:sp>
        <p:sp>
          <p:nvSpPr>
            <p:cNvPr id="10246" name="Rectangle 5"/>
            <p:cNvSpPr>
              <a:spLocks noChangeArrowheads="1"/>
            </p:cNvSpPr>
            <p:nvPr/>
          </p:nvSpPr>
          <p:spPr bwMode="auto">
            <a:xfrm>
              <a:off x="2352" y="2112"/>
              <a:ext cx="1104" cy="57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char * name;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char * </a:t>
              </a:r>
              <a:r>
                <a:rPr kumimoji="1" lang="en-US" altLang="zh-CN" sz="1600" b="0" dirty="0" err="1">
                  <a:latin typeface="Trebuchet MS" pitchFamily="34" charset="0"/>
                </a:rPr>
                <a:t>id_card_no</a:t>
              </a:r>
              <a:r>
                <a:rPr kumimoji="1" lang="en-US" altLang="zh-CN" sz="1600" b="0" dirty="0">
                  <a:latin typeface="Trebuchet MS" pitchFamily="34" charset="0"/>
                </a:rPr>
                <a:t>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bool gender;</a:t>
              </a:r>
            </a:p>
          </p:txBody>
        </p:sp>
        <p:sp>
          <p:nvSpPr>
            <p:cNvPr id="10247" name="Rectangle 6"/>
            <p:cNvSpPr>
              <a:spLocks noChangeArrowheads="1"/>
            </p:cNvSpPr>
            <p:nvPr/>
          </p:nvSpPr>
          <p:spPr bwMode="auto">
            <a:xfrm>
              <a:off x="768" y="3168"/>
              <a:ext cx="1104" cy="19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latin typeface="Trebuchet MS" pitchFamily="34" charset="0"/>
                </a:rPr>
                <a:t>Student</a:t>
              </a:r>
            </a:p>
          </p:txBody>
        </p:sp>
        <p:sp>
          <p:nvSpPr>
            <p:cNvPr id="10248" name="Rectangle 7"/>
            <p:cNvSpPr>
              <a:spLocks noChangeArrowheads="1"/>
            </p:cNvSpPr>
            <p:nvPr/>
          </p:nvSpPr>
          <p:spPr bwMode="auto">
            <a:xfrm>
              <a:off x="768" y="3360"/>
              <a:ext cx="1104" cy="57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char* </a:t>
              </a:r>
              <a:r>
                <a:rPr kumimoji="1" lang="en-US" altLang="zh-CN" sz="1600" b="0" dirty="0" err="1">
                  <a:latin typeface="Trebuchet MS" pitchFamily="34" charset="0"/>
                </a:rPr>
                <a:t>student_no</a:t>
              </a:r>
              <a:r>
                <a:rPr kumimoji="1" lang="en-US" altLang="zh-CN" sz="1600" b="0" dirty="0">
                  <a:latin typeface="Trebuchet MS" pitchFamily="34" charset="0"/>
                </a:rPr>
                <a:t>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Date </a:t>
              </a:r>
              <a:r>
                <a:rPr kumimoji="1" lang="en-US" altLang="zh-CN" sz="1600" b="0" dirty="0" err="1">
                  <a:latin typeface="Trebuchet MS" pitchFamily="34" charset="0"/>
                </a:rPr>
                <a:t>enroll_date</a:t>
              </a:r>
              <a:r>
                <a:rPr kumimoji="1" lang="en-US" altLang="zh-CN" sz="1600" b="0" dirty="0">
                  <a:latin typeface="Trebuchet MS" pitchFamily="34" charset="0"/>
                </a:rPr>
                <a:t>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……</a:t>
              </a:r>
            </a:p>
          </p:txBody>
        </p:sp>
        <p:sp>
          <p:nvSpPr>
            <p:cNvPr id="10249" name="Rectangle 8"/>
            <p:cNvSpPr>
              <a:spLocks noChangeArrowheads="1"/>
            </p:cNvSpPr>
            <p:nvPr/>
          </p:nvSpPr>
          <p:spPr bwMode="auto">
            <a:xfrm>
              <a:off x="2352" y="3168"/>
              <a:ext cx="1104" cy="19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latin typeface="Trebuchet MS" pitchFamily="34" charset="0"/>
                </a:rPr>
                <a:t>Faculty</a:t>
              </a:r>
            </a:p>
          </p:txBody>
        </p:sp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2352" y="3360"/>
              <a:ext cx="1104" cy="57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Date </a:t>
              </a:r>
              <a:r>
                <a:rPr kumimoji="1" lang="en-US" altLang="zh-CN" sz="1600" b="0" dirty="0" err="1">
                  <a:latin typeface="Trebuchet MS" pitchFamily="34" charset="0"/>
                </a:rPr>
                <a:t>hire_date</a:t>
              </a:r>
              <a:r>
                <a:rPr kumimoji="1" lang="en-US" altLang="zh-CN" sz="1600" b="0" dirty="0">
                  <a:latin typeface="Trebuchet MS" pitchFamily="34" charset="0"/>
                </a:rPr>
                <a:t>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Degree </a:t>
              </a:r>
              <a:r>
                <a:rPr kumimoji="1" lang="en-US" altLang="zh-CN" sz="1600" b="0" dirty="0" err="1">
                  <a:latin typeface="Trebuchet MS" pitchFamily="34" charset="0"/>
                </a:rPr>
                <a:t>degree</a:t>
              </a:r>
              <a:r>
                <a:rPr kumimoji="1" lang="en-US" altLang="zh-CN" sz="1600" b="0" dirty="0">
                  <a:latin typeface="Trebuchet MS" pitchFamily="34" charset="0"/>
                </a:rPr>
                <a:t>;</a:t>
              </a:r>
            </a:p>
            <a:p>
              <a:pPr algn="ctr" eaLnBrk="1" hangingPunct="1"/>
              <a:r>
                <a:rPr kumimoji="1" lang="en-US" altLang="zh-CN" sz="1600" b="0" dirty="0">
                  <a:latin typeface="Trebuchet MS" pitchFamily="34" charset="0"/>
                </a:rPr>
                <a:t>……</a:t>
              </a:r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3984" y="3168"/>
              <a:ext cx="1104" cy="19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latin typeface="Trebuchet MS" pitchFamily="34" charset="0"/>
                </a:rPr>
                <a:t>Administrator</a:t>
              </a:r>
            </a:p>
          </p:txBody>
        </p:sp>
        <p:sp>
          <p:nvSpPr>
            <p:cNvPr id="10252" name="Rectangle 11"/>
            <p:cNvSpPr>
              <a:spLocks noChangeArrowheads="1"/>
            </p:cNvSpPr>
            <p:nvPr/>
          </p:nvSpPr>
          <p:spPr bwMode="auto">
            <a:xfrm>
              <a:off x="3984" y="3360"/>
              <a:ext cx="1104" cy="57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0">
                  <a:latin typeface="Trebuchet MS" pitchFamily="34" charset="0"/>
                </a:rPr>
                <a:t>Date hire_date;</a:t>
              </a:r>
            </a:p>
            <a:p>
              <a:pPr algn="ctr" eaLnBrk="1" hangingPunct="1"/>
              <a:r>
                <a:rPr kumimoji="1" lang="en-US" altLang="zh-CN" sz="1600" b="0">
                  <a:latin typeface="Trebuchet MS" pitchFamily="34" charset="0"/>
                </a:rPr>
                <a:t>Rank rank;</a:t>
              </a:r>
            </a:p>
            <a:p>
              <a:pPr algn="ctr" eaLnBrk="1" hangingPunct="1"/>
              <a:r>
                <a:rPr kumimoji="1" lang="en-US" altLang="zh-CN" sz="1600" b="0">
                  <a:latin typeface="Trebuchet MS" pitchFamily="34" charset="0"/>
                </a:rPr>
                <a:t>……</a:t>
              </a:r>
            </a:p>
          </p:txBody>
        </p:sp>
        <p:cxnSp>
          <p:nvCxnSpPr>
            <p:cNvPr id="10253" name="AutoShape 12"/>
            <p:cNvCxnSpPr>
              <a:cxnSpLocks noChangeShapeType="1"/>
              <a:stCxn id="10246" idx="2"/>
              <a:endCxn id="10247" idx="0"/>
            </p:cNvCxnSpPr>
            <p:nvPr/>
          </p:nvCxnSpPr>
          <p:spPr bwMode="auto">
            <a:xfrm rot="5400000">
              <a:off x="1872" y="2136"/>
              <a:ext cx="480" cy="158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4" name="AutoShape 13"/>
            <p:cNvCxnSpPr>
              <a:cxnSpLocks noChangeShapeType="1"/>
              <a:stCxn id="10246" idx="2"/>
              <a:endCxn id="10249" idx="0"/>
            </p:cNvCxnSpPr>
            <p:nvPr/>
          </p:nvCxnSpPr>
          <p:spPr bwMode="auto">
            <a:xfrm>
              <a:off x="2904" y="2688"/>
              <a:ext cx="0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5" name="AutoShape 14"/>
            <p:cNvCxnSpPr>
              <a:cxnSpLocks noChangeShapeType="1"/>
              <a:stCxn id="10246" idx="2"/>
              <a:endCxn id="10251" idx="0"/>
            </p:cNvCxnSpPr>
            <p:nvPr/>
          </p:nvCxnSpPr>
          <p:spPr bwMode="auto">
            <a:xfrm rot="16200000" flipH="1">
              <a:off x="3480" y="2112"/>
              <a:ext cx="480" cy="163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56" name="AutoShape 15"/>
            <p:cNvSpPr>
              <a:spLocks noChangeArrowheads="1"/>
            </p:cNvSpPr>
            <p:nvPr/>
          </p:nvSpPr>
          <p:spPr bwMode="auto">
            <a:xfrm>
              <a:off x="2856" y="2689"/>
              <a:ext cx="96" cy="14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244" name="Rectangle 16"/>
          <p:cNvSpPr>
            <a:spLocks noChangeArrowheads="1"/>
          </p:cNvSpPr>
          <p:nvPr/>
        </p:nvSpPr>
        <p:spPr bwMode="auto">
          <a:xfrm>
            <a:off x="674386" y="125413"/>
            <a:ext cx="77724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4400" b="1" dirty="0">
                <a:latin typeface="+mj-lt"/>
                <a:ea typeface="+mj-ea"/>
                <a:cs typeface="+mj-cs"/>
              </a:rPr>
              <a:t> </a:t>
            </a:r>
            <a:r>
              <a:rPr lang="zh-CN" altLang="en-US" sz="4400" b="1" dirty="0">
                <a:latin typeface="+mj-lt"/>
                <a:ea typeface="+mj-ea"/>
                <a:cs typeface="+mj-cs"/>
              </a:rPr>
              <a:t>继承的概念</a:t>
            </a:r>
          </a:p>
        </p:txBody>
      </p:sp>
    </p:spTree>
    <p:extLst>
      <p:ext uri="{BB962C8B-B14F-4D97-AF65-F5344CB8AC3E}">
        <p14:creationId xmlns:p14="http://schemas.microsoft.com/office/powerpoint/2010/main" val="31051298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</a:rPr>
              <a:t>继承的概念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11188" y="1447800"/>
            <a:ext cx="7772400" cy="1962036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sz="3200" dirty="0"/>
              <a:t>继承目的</a:t>
            </a:r>
          </a:p>
          <a:p>
            <a:pPr lvl="2" eaLnBrk="1" hangingPunct="1"/>
            <a:r>
              <a:rPr lang="zh-CN" altLang="en-US" sz="3200" dirty="0"/>
              <a:t>代码重用</a:t>
            </a:r>
            <a:endParaRPr lang="en-US" altLang="zh-CN" sz="3200" dirty="0"/>
          </a:p>
          <a:p>
            <a:pPr lvl="2" eaLnBrk="1" hangingPunct="1"/>
            <a:r>
              <a:rPr lang="zh-CN" altLang="en-US" sz="3200" dirty="0"/>
              <a:t>描述能力：类属关系广泛存在</a:t>
            </a:r>
            <a:r>
              <a:rPr lang="en-US" altLang="zh-CN" sz="2800" dirty="0">
                <a:solidFill>
                  <a:schemeClr val="accent2"/>
                </a:solidFill>
              </a:rPr>
              <a:t>		</a:t>
            </a:r>
            <a:endParaRPr lang="en-US" altLang="zh-CN" sz="3600" dirty="0"/>
          </a:p>
        </p:txBody>
      </p:sp>
      <p:sp>
        <p:nvSpPr>
          <p:cNvPr id="3" name="矩形 2"/>
          <p:cNvSpPr/>
          <p:nvPr/>
        </p:nvSpPr>
        <p:spPr>
          <a:xfrm>
            <a:off x="836776" y="3769876"/>
            <a:ext cx="3005951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 dirty="0"/>
              <a:t>“下级”</a:t>
            </a:r>
            <a:r>
              <a:rPr lang="zh-CN" altLang="en-US" sz="2000" dirty="0">
                <a:solidFill>
                  <a:srgbClr val="FF0000"/>
                </a:solidFill>
              </a:rPr>
              <a:t>就是</a:t>
            </a:r>
            <a:r>
              <a:rPr lang="zh-CN" altLang="en-US" sz="2000" dirty="0"/>
              <a:t>“上级”</a:t>
            </a:r>
            <a:endParaRPr lang="en-US" altLang="zh-CN" sz="2000" dirty="0"/>
          </a:p>
          <a:p>
            <a:r>
              <a:rPr lang="zh-CN" altLang="en-US" sz="2000" dirty="0"/>
              <a:t>上级能做的事下级都能做</a:t>
            </a:r>
          </a:p>
        </p:txBody>
      </p:sp>
      <p:sp>
        <p:nvSpPr>
          <p:cNvPr id="7" name="矩形 6"/>
          <p:cNvSpPr/>
          <p:nvPr/>
        </p:nvSpPr>
        <p:spPr>
          <a:xfrm>
            <a:off x="4932040" y="3933056"/>
            <a:ext cx="3262432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 dirty="0"/>
              <a:t>“组合类”包含“子对象”</a:t>
            </a:r>
          </a:p>
        </p:txBody>
      </p:sp>
      <p:sp>
        <p:nvSpPr>
          <p:cNvPr id="6" name="矩形 5"/>
          <p:cNvSpPr/>
          <p:nvPr/>
        </p:nvSpPr>
        <p:spPr>
          <a:xfrm>
            <a:off x="756020" y="4653136"/>
            <a:ext cx="6408267" cy="1766637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</a:pPr>
            <a:r>
              <a:rPr lang="en-US" altLang="zh-CN" sz="2800" dirty="0"/>
              <a:t>3</a:t>
            </a:r>
            <a:r>
              <a:rPr lang="zh-CN" altLang="en-US" sz="2800" dirty="0"/>
              <a:t>、有关概念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</a:pPr>
            <a:r>
              <a:rPr lang="zh-CN" altLang="en-US" sz="2800" dirty="0"/>
              <a:t>	   基类，超类，父类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</a:pPr>
            <a:r>
              <a:rPr lang="zh-CN" altLang="en-US" sz="2800" dirty="0"/>
              <a:t>       派生类，子类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99592" y="3193812"/>
            <a:ext cx="2664296" cy="553417"/>
            <a:chOff x="899592" y="3193812"/>
            <a:chExt cx="2664296" cy="553417"/>
          </a:xfrm>
        </p:grpSpPr>
        <p:sp>
          <p:nvSpPr>
            <p:cNvPr id="4" name="矩形 3"/>
            <p:cNvSpPr/>
            <p:nvPr/>
          </p:nvSpPr>
          <p:spPr>
            <a:xfrm>
              <a:off x="899592" y="3285564"/>
              <a:ext cx="800219" cy="46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继承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699792" y="3193812"/>
              <a:ext cx="8640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>
                <a:spcBef>
                  <a:spcPct val="20000"/>
                </a:spcBef>
                <a:buClr>
                  <a:schemeClr val="accent3"/>
                </a:buClr>
                <a:buSzPct val="60000"/>
              </a:pPr>
              <a:r>
                <a:rPr lang="en-US" altLang="zh-CN" sz="2800" dirty="0" err="1">
                  <a:solidFill>
                    <a:srgbClr val="C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IsA</a:t>
              </a:r>
              <a:endParaRPr lang="zh-CN" altLang="en-US" sz="2800" dirty="0">
                <a:solidFill>
                  <a:srgbClr val="C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364088" y="3223429"/>
            <a:ext cx="2694880" cy="523220"/>
            <a:chOff x="5364088" y="3223429"/>
            <a:chExt cx="2694880" cy="523220"/>
          </a:xfrm>
        </p:grpSpPr>
        <p:sp>
          <p:nvSpPr>
            <p:cNvPr id="9" name="矩形 8"/>
            <p:cNvSpPr/>
            <p:nvPr/>
          </p:nvSpPr>
          <p:spPr>
            <a:xfrm>
              <a:off x="7258749" y="3284984"/>
              <a:ext cx="800219" cy="46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</a:rPr>
                <a:t>组合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5364088" y="3223429"/>
              <a:ext cx="100540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2">
                <a:spcBef>
                  <a:spcPct val="20000"/>
                </a:spcBef>
                <a:buClr>
                  <a:srgbClr val="7B9B57"/>
                </a:buClr>
                <a:buSzPct val="60000"/>
              </a:pPr>
              <a:r>
                <a:rPr lang="en-US" altLang="zh-CN" sz="2800" dirty="0" err="1">
                  <a:solidFill>
                    <a:srgbClr val="C00000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HasA</a:t>
              </a:r>
              <a:endParaRPr lang="en-US" altLang="zh-CN" sz="2800" dirty="0">
                <a:solidFill>
                  <a:srgbClr val="C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83568" y="3118612"/>
            <a:ext cx="7560840" cy="1390508"/>
            <a:chOff x="683568" y="3118612"/>
            <a:chExt cx="7560840" cy="1390508"/>
          </a:xfrm>
        </p:grpSpPr>
        <p:sp>
          <p:nvSpPr>
            <p:cNvPr id="8" name="圆角矩形 7"/>
            <p:cNvSpPr/>
            <p:nvPr/>
          </p:nvSpPr>
          <p:spPr>
            <a:xfrm>
              <a:off x="683568" y="3140968"/>
              <a:ext cx="3312368" cy="13681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932040" y="3118612"/>
              <a:ext cx="3312368" cy="13681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139952" y="3409836"/>
              <a:ext cx="5870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prstClr val="black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vs.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788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  <p:bldP spid="3" grpId="0" animBg="1"/>
      <p:bldP spid="7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15516" y="1730350"/>
            <a:ext cx="5256584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派生类的定义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954360" y="2852936"/>
            <a:ext cx="6858000" cy="2952328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class </a:t>
            </a:r>
            <a:r>
              <a:rPr lang="zh-CN" altLang="en-US" dirty="0"/>
              <a:t>派生类名：继承方式  基类名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{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成员声明；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A1184D2-0D08-4091-AD22-12B5DB6B8F6D}" type="slidenum">
              <a:rPr lang="en-US" altLang="zh-CN" sz="1400" smtClean="0"/>
              <a:pPr eaLnBrk="1" hangingPunct="1"/>
              <a:t>9</a:t>
            </a:fld>
            <a:endParaRPr lang="en-US" altLang="zh-CN" sz="1400"/>
          </a:p>
        </p:txBody>
      </p:sp>
      <p:cxnSp>
        <p:nvCxnSpPr>
          <p:cNvPr id="4" name="直接连接符 3"/>
          <p:cNvCxnSpPr/>
          <p:nvPr/>
        </p:nvCxnSpPr>
        <p:spPr>
          <a:xfrm>
            <a:off x="4067944" y="3429000"/>
            <a:ext cx="1512168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076056" y="1025538"/>
            <a:ext cx="2419965" cy="1971414"/>
            <a:chOff x="5076056" y="1025538"/>
            <a:chExt cx="2419965" cy="1971414"/>
          </a:xfrm>
        </p:grpSpPr>
        <p:sp>
          <p:nvSpPr>
            <p:cNvPr id="2" name="矩形 1"/>
            <p:cNvSpPr/>
            <p:nvPr/>
          </p:nvSpPr>
          <p:spPr>
            <a:xfrm>
              <a:off x="5580112" y="1025538"/>
              <a:ext cx="1915909" cy="1800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txBody>
            <a:bodyPr vert="horz" rtlCol="0">
              <a:normAutofit fontScale="92500" lnSpcReduction="10000"/>
            </a:bodyPr>
            <a:lstStyle/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en-US" altLang="zh-CN" sz="3200" dirty="0"/>
                <a:t>private</a:t>
              </a:r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en-US" altLang="zh-CN" sz="3200" dirty="0"/>
                <a:t>protected</a:t>
              </a:r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en-US" altLang="zh-CN" sz="3200" dirty="0"/>
                <a:t>public</a:t>
              </a:r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endParaRPr lang="zh-CN" altLang="en-US" sz="3200" dirty="0"/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H="1">
              <a:off x="5076056" y="2492896"/>
              <a:ext cx="504056" cy="504056"/>
            </a:xfrm>
            <a:prstGeom prst="straightConnector1">
              <a:avLst/>
            </a:prstGeom>
            <a:ln w="3810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/>
        </p:nvCxnSpPr>
        <p:spPr>
          <a:xfrm>
            <a:off x="1835696" y="4869160"/>
            <a:ext cx="1512168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3707906" y="3717032"/>
            <a:ext cx="5112565" cy="1800200"/>
            <a:chOff x="2527471" y="692696"/>
            <a:chExt cx="5112565" cy="1800200"/>
          </a:xfrm>
        </p:grpSpPr>
        <p:sp>
          <p:nvSpPr>
            <p:cNvPr id="15" name="矩形 14"/>
            <p:cNvSpPr/>
            <p:nvPr/>
          </p:nvSpPr>
          <p:spPr>
            <a:xfrm>
              <a:off x="3247549" y="692696"/>
              <a:ext cx="4392487" cy="1800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txBody>
            <a:bodyPr vert="horz" rtlCol="0">
              <a:normAutofit fontScale="92500" lnSpcReduction="10000"/>
            </a:bodyPr>
            <a:lstStyle/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zh-CN" altLang="en-US" sz="3200" dirty="0"/>
                <a:t>派生类中新增加的成分：</a:t>
              </a:r>
              <a:endParaRPr lang="en-US" altLang="zh-CN" sz="3200" dirty="0"/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zh-CN" altLang="en-US" sz="3200" dirty="0"/>
                <a:t>数据成员</a:t>
              </a:r>
              <a:endParaRPr lang="en-US" altLang="zh-CN" sz="3200" dirty="0"/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r>
                <a:rPr lang="zh-CN" altLang="en-US" sz="3200" dirty="0"/>
                <a:t>成员函数</a:t>
              </a:r>
              <a:endParaRPr lang="en-US" altLang="zh-CN" sz="3200" dirty="0"/>
            </a:p>
            <a:p>
              <a: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None/>
              </a:pPr>
              <a:endParaRPr lang="zh-CN" altLang="en-US" sz="3200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2527471" y="1481212"/>
              <a:ext cx="720078" cy="111584"/>
            </a:xfrm>
            <a:prstGeom prst="straightConnector1">
              <a:avLst/>
            </a:prstGeom>
            <a:ln w="3810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645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36512" y="116633"/>
            <a:ext cx="3096344" cy="4248472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class base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{	int _x;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public: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setx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n)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_x=n;	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int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getx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return _x;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showx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	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cout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&lt;&lt;_x&lt;&lt;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endl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;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59832" y="116731"/>
            <a:ext cx="3096344" cy="424837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class derived: </a:t>
            </a: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public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base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{	int _y;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public: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sety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n)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_y=n;	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int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gety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return _y;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void showy()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{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cout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&lt;&lt;_y&lt;&lt;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endl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; 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987824" y="4437112"/>
            <a:ext cx="2952328" cy="23762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main()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{	derived d;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d.setx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(10);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d.sety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(20);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d.showx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d.showy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156176" y="692696"/>
            <a:ext cx="230425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int _x;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setx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n);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int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getx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 const;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showx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 const;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56176" y="2060848"/>
            <a:ext cx="230425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int _y;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void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sety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 n);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int </a:t>
            </a:r>
            <a:r>
              <a:rPr kumimoji="1" lang="en-US" altLang="zh-CN" sz="1800" b="0" dirty="0" err="1">
                <a:latin typeface="Lucida Sans Unicode" pitchFamily="34" charset="0"/>
                <a:ea typeface="楷体_GB2312" pitchFamily="49" charset="-122"/>
              </a:rPr>
              <a:t>gety</a:t>
            </a: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() const;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void showy() const;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latin typeface="Lucida Sans Unicode" pitchFamily="34" charset="0"/>
                <a:ea typeface="楷体_GB2312" pitchFamily="49" charset="-122"/>
              </a:rPr>
              <a:t>	</a:t>
            </a:r>
          </a:p>
        </p:txBody>
      </p:sp>
      <p:sp>
        <p:nvSpPr>
          <p:cNvPr id="9" name="矩形 8"/>
          <p:cNvSpPr/>
          <p:nvPr/>
        </p:nvSpPr>
        <p:spPr>
          <a:xfrm>
            <a:off x="6319389" y="332656"/>
            <a:ext cx="1636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Lucida Sans Unicode" pitchFamily="34" charset="0"/>
                <a:ea typeface="楷体_GB2312" pitchFamily="49" charset="-122"/>
              </a:rPr>
              <a:t>class derived</a:t>
            </a:r>
            <a:endParaRPr lang="zh-CN" altLang="en-US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777842" y="4815154"/>
            <a:ext cx="1440160" cy="1188132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schemeClr val="bg1"/>
                </a:solidFill>
                <a:latin typeface="Lucida Sans Unicode" pitchFamily="34" charset="0"/>
                <a:ea typeface="楷体_GB2312" pitchFamily="49" charset="-122"/>
              </a:rPr>
              <a:t>10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schemeClr val="bg1"/>
                </a:solidFill>
                <a:latin typeface="Lucida Sans Unicode" pitchFamily="34" charset="0"/>
                <a:ea typeface="楷体_GB2312" pitchFamily="49" charset="-122"/>
              </a:rPr>
              <a:t>20</a:t>
            </a:r>
          </a:p>
        </p:txBody>
      </p:sp>
      <p:sp>
        <p:nvSpPr>
          <p:cNvPr id="2" name="矩形 1"/>
          <p:cNvSpPr/>
          <p:nvPr/>
        </p:nvSpPr>
        <p:spPr>
          <a:xfrm>
            <a:off x="8460432" y="980728"/>
            <a:ext cx="646331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吸收</a:t>
            </a:r>
            <a:endParaRPr lang="en-US" altLang="zh-CN" dirty="0"/>
          </a:p>
          <a:p>
            <a:r>
              <a:rPr lang="zh-CN" altLang="en-US" dirty="0"/>
              <a:t>基类</a:t>
            </a:r>
            <a:endParaRPr lang="en-US" altLang="zh-CN" dirty="0"/>
          </a:p>
          <a:p>
            <a:r>
              <a:rPr lang="zh-CN" altLang="en-US" dirty="0"/>
              <a:t>成员</a:t>
            </a:r>
          </a:p>
        </p:txBody>
      </p:sp>
      <p:sp>
        <p:nvSpPr>
          <p:cNvPr id="3" name="矩形 2"/>
          <p:cNvSpPr/>
          <p:nvPr/>
        </p:nvSpPr>
        <p:spPr>
          <a:xfrm>
            <a:off x="8462173" y="2276872"/>
            <a:ext cx="646331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添加</a:t>
            </a:r>
            <a:endParaRPr lang="en-US" altLang="zh-CN" dirty="0"/>
          </a:p>
          <a:p>
            <a:r>
              <a:rPr lang="zh-CN" altLang="en-US" dirty="0"/>
              <a:t>新的</a:t>
            </a:r>
            <a:endParaRPr lang="en-US" altLang="zh-CN" dirty="0"/>
          </a:p>
          <a:p>
            <a:r>
              <a:rPr lang="zh-CN" altLang="en-US" dirty="0"/>
              <a:t>成员</a:t>
            </a:r>
          </a:p>
        </p:txBody>
      </p:sp>
    </p:spTree>
    <p:extLst>
      <p:ext uri="{BB962C8B-B14F-4D97-AF65-F5344CB8AC3E}">
        <p14:creationId xmlns:p14="http://schemas.microsoft.com/office/powerpoint/2010/main" val="252185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07704" y="4981818"/>
            <a:ext cx="5688632" cy="1759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main()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{	derived d;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d.set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(10,20);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</a:t>
            </a: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d.show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   </a:t>
            </a: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cout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&lt;&lt;</a:t>
            </a:r>
            <a:r>
              <a:rPr kumimoji="1" lang="en-US" altLang="zh-CN" sz="1600" b="0" dirty="0" err="1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d.base</a:t>
            </a:r>
            <a:r>
              <a:rPr kumimoji="1" lang="en-US" altLang="zh-CN" sz="16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::get()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 "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&lt;&lt;</a:t>
            </a: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d.get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()&lt;&lt;</a:t>
            </a:r>
            <a:r>
              <a:rPr kumimoji="1" lang="en-US" altLang="zh-CN" sz="16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endl</a:t>
            </a: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6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496" y="116633"/>
            <a:ext cx="3096344" cy="432048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class base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{	int _x;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public: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void set(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n)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_x=n;	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int get()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return _x;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void show() const	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cout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&lt;&lt;_x&lt;&lt;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endl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;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59832" y="116730"/>
            <a:ext cx="3096344" cy="49684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class derived: </a:t>
            </a: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public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base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{	int _y;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public: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void set(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m,int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n)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base::set(m);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	_y=n;	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int get()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return _y;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void show() const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{	</a:t>
            </a: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base::show()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	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cout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&lt;&lt;_y&lt;&lt;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endl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;   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}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};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28184" y="692696"/>
            <a:ext cx="2520280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int _x;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void set(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n);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 get() const;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void show() const;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28184" y="2060848"/>
            <a:ext cx="2520280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 err="1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 y;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void set(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</a:t>
            </a:r>
            <a:r>
              <a:rPr kumimoji="1" lang="en-US" altLang="zh-CN" sz="1800" b="0" dirty="0" err="1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m,int</a:t>
            </a: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 n);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int get() const;</a:t>
            </a:r>
          </a:p>
          <a:p>
            <a:pPr marL="0" indent="12700"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void show() const;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	</a:t>
            </a:r>
          </a:p>
        </p:txBody>
      </p:sp>
      <p:sp>
        <p:nvSpPr>
          <p:cNvPr id="9" name="矩形 8"/>
          <p:cNvSpPr/>
          <p:nvPr/>
        </p:nvSpPr>
        <p:spPr>
          <a:xfrm>
            <a:off x="6535413" y="332656"/>
            <a:ext cx="1636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prstClr val="black"/>
                </a:solidFill>
                <a:latin typeface="Lucida Sans Unicode" pitchFamily="34" charset="0"/>
                <a:ea typeface="楷体_GB2312" pitchFamily="49" charset="-122"/>
              </a:rPr>
              <a:t>class derived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709810" y="4773279"/>
            <a:ext cx="1213212" cy="1215890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white"/>
                </a:solidFill>
                <a:latin typeface="Lucida Sans Unicode" pitchFamily="34" charset="0"/>
                <a:ea typeface="楷体_GB2312" pitchFamily="49" charset="-122"/>
              </a:rPr>
              <a:t>10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white"/>
                </a:solidFill>
                <a:latin typeface="Lucida Sans Unicode" pitchFamily="34" charset="0"/>
                <a:ea typeface="楷体_GB2312" pitchFamily="49" charset="-122"/>
              </a:rPr>
              <a:t>20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1800" b="0" dirty="0">
                <a:solidFill>
                  <a:prstClr val="white"/>
                </a:solidFill>
                <a:latin typeface="Lucida Sans Unicode" pitchFamily="34" charset="0"/>
                <a:ea typeface="楷体_GB2312" pitchFamily="49" charset="-122"/>
              </a:rPr>
              <a:t>10 20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419872" y="1124744"/>
            <a:ext cx="2557336" cy="1296144"/>
            <a:chOff x="3635896" y="1124744"/>
            <a:chExt cx="2557336" cy="1296144"/>
          </a:xfrm>
        </p:grpSpPr>
        <p:sp>
          <p:nvSpPr>
            <p:cNvPr id="2" name="矩形 1"/>
            <p:cNvSpPr/>
            <p:nvPr/>
          </p:nvSpPr>
          <p:spPr>
            <a:xfrm>
              <a:off x="4777460" y="2051556"/>
              <a:ext cx="1415772" cy="33855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重载基类函数</a:t>
              </a: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3635896" y="1124744"/>
              <a:ext cx="2376264" cy="1296144"/>
            </a:xfrm>
            <a:prstGeom prst="roundRect">
              <a:avLst/>
            </a:prstGeom>
            <a:noFill/>
            <a:ln w="349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44952" y="3429000"/>
            <a:ext cx="2686144" cy="1346666"/>
            <a:chOff x="3660976" y="3429000"/>
            <a:chExt cx="2686144" cy="1346666"/>
          </a:xfrm>
        </p:grpSpPr>
        <p:sp>
          <p:nvSpPr>
            <p:cNvPr id="12" name="矩形 11"/>
            <p:cNvSpPr/>
            <p:nvPr/>
          </p:nvSpPr>
          <p:spPr>
            <a:xfrm>
              <a:off x="3760079" y="4437112"/>
              <a:ext cx="2393604" cy="338554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1600" dirty="0"/>
                <a:t>重写基类函数</a:t>
              </a:r>
              <a:r>
                <a:rPr lang="en-US" altLang="zh-CN" sz="1600" dirty="0"/>
                <a:t>(</a:t>
              </a:r>
              <a:r>
                <a:rPr lang="zh-CN" altLang="en-US" sz="1600" dirty="0"/>
                <a:t>同名隐藏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3660976" y="3429000"/>
              <a:ext cx="2686144" cy="1296144"/>
            </a:xfrm>
            <a:prstGeom prst="roundRect">
              <a:avLst/>
            </a:prstGeom>
            <a:noFill/>
            <a:ln w="349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419872" y="2483604"/>
            <a:ext cx="2592290" cy="945396"/>
            <a:chOff x="3635896" y="2483604"/>
            <a:chExt cx="2500448" cy="945396"/>
          </a:xfrm>
        </p:grpSpPr>
        <p:sp>
          <p:nvSpPr>
            <p:cNvPr id="14" name="矩形 13"/>
            <p:cNvSpPr/>
            <p:nvPr/>
          </p:nvSpPr>
          <p:spPr>
            <a:xfrm>
              <a:off x="3760079" y="3068590"/>
              <a:ext cx="2376265" cy="33855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1600" dirty="0"/>
                <a:t>重写基类函数</a:t>
              </a:r>
              <a:r>
                <a:rPr lang="en-US" altLang="zh-CN" sz="1600" dirty="0"/>
                <a:t>(</a:t>
              </a:r>
              <a:r>
                <a:rPr lang="zh-CN" altLang="en-US" sz="1600" dirty="0"/>
                <a:t>同名隐藏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3635896" y="2483604"/>
              <a:ext cx="2500448" cy="945396"/>
            </a:xfrm>
            <a:prstGeom prst="roundRect">
              <a:avLst/>
            </a:prstGeom>
            <a:noFill/>
            <a:ln w="349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61583" y="4509120"/>
            <a:ext cx="17741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重写基类函数 </a:t>
            </a:r>
            <a:endParaRPr lang="en-US" altLang="zh-CN" sz="2000" b="1" dirty="0"/>
          </a:p>
          <a:p>
            <a:r>
              <a:rPr lang="zh-CN" altLang="en-US" sz="2000" b="1" dirty="0"/>
              <a:t> 或</a:t>
            </a:r>
          </a:p>
          <a:p>
            <a:r>
              <a:rPr lang="zh-CN" altLang="en-US" sz="2000" b="1" dirty="0"/>
              <a:t>重载基类函数</a:t>
            </a:r>
            <a:endParaRPr lang="en-US" altLang="zh-CN" sz="2000" b="1" dirty="0"/>
          </a:p>
          <a:p>
            <a:r>
              <a:rPr lang="en-US" altLang="zh-CN" sz="2000" b="1" dirty="0"/>
              <a:t>(</a:t>
            </a:r>
            <a:r>
              <a:rPr lang="zh-CN" altLang="en-US" sz="2000" b="1" dirty="0"/>
              <a:t>同名隐藏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B8BDD4-87AB-8446-BD31-68E263AAC9F6}"/>
              </a:ext>
            </a:extLst>
          </p:cNvPr>
          <p:cNvSpPr txBox="1"/>
          <p:nvPr/>
        </p:nvSpPr>
        <p:spPr>
          <a:xfrm>
            <a:off x="6228184" y="3645024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这里也在类外</a:t>
            </a:r>
            <a:endParaRPr kumimoji="1" lang="en-US" altLang="zh-CN" dirty="0"/>
          </a:p>
          <a:p>
            <a:r>
              <a:rPr kumimoji="1" lang="zh-CN" altLang="en-US" dirty="0"/>
              <a:t>不能直接用</a:t>
            </a:r>
            <a:r>
              <a:rPr kumimoji="1" lang="en-US" altLang="zh-CN" dirty="0"/>
              <a:t>_x</a:t>
            </a:r>
          </a:p>
          <a:p>
            <a:r>
              <a:rPr kumimoji="1" lang="zh-CN" altLang="en-US" dirty="0"/>
              <a:t>调用</a:t>
            </a:r>
            <a:r>
              <a:rPr kumimoji="1" lang="en-US" altLang="zh-CN" dirty="0"/>
              <a:t>show</a:t>
            </a:r>
            <a:r>
              <a:rPr kumimoji="1" lang="zh-CN" altLang="en-US" dirty="0"/>
              <a:t>需要说明</a:t>
            </a:r>
            <a:r>
              <a:rPr kumimoji="1" lang="en-US" altLang="zh-CN" dirty="0"/>
              <a:t>base::</a:t>
            </a:r>
          </a:p>
        </p:txBody>
      </p:sp>
    </p:spTree>
    <p:extLst>
      <p:ext uri="{BB962C8B-B14F-4D97-AF65-F5344CB8AC3E}">
        <p14:creationId xmlns:p14="http://schemas.microsoft.com/office/powerpoint/2010/main" val="3368899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20004" y="1441715"/>
            <a:ext cx="5112568" cy="2759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吸收基类成员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改造基类成员</a:t>
            </a:r>
            <a:endParaRPr lang="en-US" altLang="zh-CN" sz="2400" dirty="0"/>
          </a:p>
          <a:p>
            <a:pPr marL="0" lvl="1" indent="0">
              <a:buClr>
                <a:schemeClr val="accent1"/>
              </a:buClr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</a:t>
            </a:r>
            <a:r>
              <a:rPr lang="zh-CN" altLang="en-US" sz="2000" dirty="0"/>
              <a:t>改变基类成员在派生类中的访问属性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重写基类函数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重载基类函数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添加新的成员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28339" y="526630"/>
            <a:ext cx="8229600" cy="864096"/>
          </a:xfrm>
        </p:spPr>
        <p:txBody>
          <a:bodyPr/>
          <a:lstStyle/>
          <a:p>
            <a:pPr eaLnBrk="1" hangingPunct="1"/>
            <a:r>
              <a:rPr lang="zh-CN" altLang="en-US" dirty="0"/>
              <a:t>派生类的生成过程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98F0767-3CD2-080A-2C54-9CCA4FB5A11B}"/>
              </a:ext>
            </a:extLst>
          </p:cNvPr>
          <p:cNvGrpSpPr/>
          <p:nvPr/>
        </p:nvGrpSpPr>
        <p:grpSpPr>
          <a:xfrm>
            <a:off x="35496" y="1844824"/>
            <a:ext cx="1868284" cy="3096344"/>
            <a:chOff x="323528" y="980728"/>
            <a:chExt cx="1868284" cy="30963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323528" y="1340768"/>
              <a:ext cx="1868284" cy="13681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solidFill>
                    <a:srgbClr val="FF0000"/>
                  </a:solidFill>
                  <a:latin typeface="Lucida Sans Unicode" pitchFamily="34" charset="0"/>
                  <a:ea typeface="楷体_GB2312" pitchFamily="49" charset="-122"/>
                </a:rPr>
                <a:t>int _x;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setx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(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int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 n);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int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getx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() const;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showx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() const;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23528" y="2708920"/>
              <a:ext cx="1868284" cy="13681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solidFill>
                    <a:srgbClr val="FF0000"/>
                  </a:solidFill>
                  <a:latin typeface="Lucida Sans Unicode" pitchFamily="34" charset="0"/>
                  <a:ea typeface="楷体_GB2312" pitchFamily="49" charset="-122"/>
                </a:rPr>
                <a:t>int _y;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sety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(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int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 n);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int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gety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() const;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showy() const;</a:t>
              </a:r>
            </a:p>
            <a:p>
              <a:pPr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	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323528" y="980728"/>
              <a:ext cx="16369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Lucida Sans Unicode" pitchFamily="34" charset="0"/>
                  <a:ea typeface="楷体_GB2312" pitchFamily="49" charset="-122"/>
                </a:rPr>
                <a:t>class derived</a:t>
              </a:r>
              <a:endParaRPr lang="zh-CN" altLang="en-US" dirty="0"/>
            </a:p>
          </p:txBody>
        </p:sp>
      </p:grpSp>
      <p:sp>
        <p:nvSpPr>
          <p:cNvPr id="11" name="矩形 10"/>
          <p:cNvSpPr/>
          <p:nvPr/>
        </p:nvSpPr>
        <p:spPr>
          <a:xfrm>
            <a:off x="6283994" y="2671880"/>
            <a:ext cx="1210588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/>
              <a:t>函数名相同</a:t>
            </a:r>
            <a:endParaRPr lang="en-US" altLang="zh-CN" sz="1600" dirty="0"/>
          </a:p>
          <a:p>
            <a:r>
              <a:rPr lang="zh-CN" altLang="en-US" sz="1600" dirty="0"/>
              <a:t>参数表相同</a:t>
            </a:r>
          </a:p>
        </p:txBody>
      </p:sp>
      <p:sp>
        <p:nvSpPr>
          <p:cNvPr id="12" name="矩形 11"/>
          <p:cNvSpPr/>
          <p:nvPr/>
        </p:nvSpPr>
        <p:spPr>
          <a:xfrm>
            <a:off x="6285539" y="3336658"/>
            <a:ext cx="1210588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/>
              <a:t>函数名相同</a:t>
            </a:r>
            <a:endParaRPr lang="en-US" altLang="zh-CN" sz="1600" dirty="0"/>
          </a:p>
          <a:p>
            <a:r>
              <a:rPr lang="zh-CN" altLang="en-US" sz="1600" dirty="0"/>
              <a:t>参数表不同</a:t>
            </a:r>
          </a:p>
        </p:txBody>
      </p:sp>
      <p:sp>
        <p:nvSpPr>
          <p:cNvPr id="13" name="矩形 12"/>
          <p:cNvSpPr/>
          <p:nvPr/>
        </p:nvSpPr>
        <p:spPr>
          <a:xfrm>
            <a:off x="7811145" y="2688586"/>
            <a:ext cx="1005403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 dirty="0"/>
              <a:t>同名隐藏</a:t>
            </a:r>
            <a:endParaRPr lang="en-US" altLang="zh-CN" sz="1600" dirty="0"/>
          </a:p>
        </p:txBody>
      </p:sp>
      <p:sp>
        <p:nvSpPr>
          <p:cNvPr id="18" name="右箭头 17"/>
          <p:cNvSpPr/>
          <p:nvPr/>
        </p:nvSpPr>
        <p:spPr>
          <a:xfrm>
            <a:off x="7582839" y="2832602"/>
            <a:ext cx="153589" cy="842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17">
            <a:extLst>
              <a:ext uri="{FF2B5EF4-FFF2-40B4-BE49-F238E27FC236}">
                <a16:creationId xmlns:a16="http://schemas.microsoft.com/office/drawing/2014/main" id="{6A124C9C-A670-BCFC-525D-F4529155CD87}"/>
              </a:ext>
            </a:extLst>
          </p:cNvPr>
          <p:cNvSpPr/>
          <p:nvPr/>
        </p:nvSpPr>
        <p:spPr>
          <a:xfrm>
            <a:off x="6080244" y="2832602"/>
            <a:ext cx="175568" cy="598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7">
            <a:extLst>
              <a:ext uri="{FF2B5EF4-FFF2-40B4-BE49-F238E27FC236}">
                <a16:creationId xmlns:a16="http://schemas.microsoft.com/office/drawing/2014/main" id="{CDEE11FE-C3FE-9AD8-547F-50FC1E8D9342}"/>
              </a:ext>
            </a:extLst>
          </p:cNvPr>
          <p:cNvSpPr/>
          <p:nvPr/>
        </p:nvSpPr>
        <p:spPr>
          <a:xfrm rot="1845329">
            <a:off x="6002320" y="3308977"/>
            <a:ext cx="163016" cy="553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AF3C45-D312-386D-D3F6-43D65FC96696}"/>
              </a:ext>
            </a:extLst>
          </p:cNvPr>
          <p:cNvGrpSpPr/>
          <p:nvPr/>
        </p:nvGrpSpPr>
        <p:grpSpPr>
          <a:xfrm>
            <a:off x="1979712" y="1844824"/>
            <a:ext cx="1940292" cy="3096344"/>
            <a:chOff x="323528" y="980728"/>
            <a:chExt cx="1940292" cy="3096344"/>
          </a:xfrm>
        </p:grpSpPr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677A24A6-5130-880D-4807-18ED436E3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1340768"/>
              <a:ext cx="1940292" cy="13681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solidFill>
                    <a:srgbClr val="FF0000"/>
                  </a:solidFill>
                  <a:latin typeface="Lucida Sans Unicode" pitchFamily="34" charset="0"/>
                  <a:ea typeface="楷体_GB2312" pitchFamily="49" charset="-122"/>
                </a:rPr>
                <a:t>int _x;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set(int n);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int get() const;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show() const;</a:t>
              </a: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4ABA132C-F54F-0F7C-468A-19DAF7E2C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2708920"/>
              <a:ext cx="1940292" cy="13681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solidFill>
                    <a:srgbClr val="FF0000"/>
                  </a:solidFill>
                  <a:latin typeface="Lucida Sans Unicode" pitchFamily="34" charset="0"/>
                  <a:ea typeface="楷体_GB2312" pitchFamily="49" charset="-122"/>
                </a:rPr>
                <a:t>int _y;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set(int </a:t>
              </a:r>
              <a:r>
                <a:rPr kumimoji="1" lang="en-US" altLang="zh-CN" sz="1400" dirty="0" err="1">
                  <a:latin typeface="Lucida Sans Unicode" pitchFamily="34" charset="0"/>
                  <a:ea typeface="楷体_GB2312" pitchFamily="49" charset="-122"/>
                </a:rPr>
                <a:t>m,int</a:t>
              </a: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 n);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int get() const;</a:t>
              </a:r>
            </a:p>
            <a:p>
              <a:pPr marL="0" indent="12700"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void show() const;</a:t>
              </a:r>
            </a:p>
            <a:p>
              <a:pPr eaLnBrk="1" hangingPunct="1">
                <a:spcBef>
                  <a:spcPct val="20000"/>
                </a:spcBef>
                <a:buClr>
                  <a:srgbClr val="FF9900"/>
                </a:buClr>
                <a:buFont typeface="Wingdings" pitchFamily="2" charset="2"/>
                <a:buNone/>
              </a:pPr>
              <a:r>
                <a:rPr kumimoji="1" lang="en-US" altLang="zh-CN" sz="1400" dirty="0">
                  <a:latin typeface="Lucida Sans Unicode" pitchFamily="34" charset="0"/>
                  <a:ea typeface="楷体_GB2312" pitchFamily="49" charset="-122"/>
                </a:rPr>
                <a:t>	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920881E-CC8B-1BCF-7043-984E5FC09B99}"/>
                </a:ext>
              </a:extLst>
            </p:cNvPr>
            <p:cNvSpPr/>
            <p:nvPr/>
          </p:nvSpPr>
          <p:spPr>
            <a:xfrm>
              <a:off x="323528" y="980728"/>
              <a:ext cx="16369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Lucida Sans Unicode" pitchFamily="34" charset="0"/>
                  <a:ea typeface="楷体_GB2312" pitchFamily="49" charset="-122"/>
                </a:rPr>
                <a:t>class derived</a:t>
              </a:r>
              <a:endParaRPr lang="zh-CN" altLang="en-US" dirty="0"/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E6E1AAFD-655A-0544-A87A-E4444968BF3F}"/>
              </a:ext>
            </a:extLst>
          </p:cNvPr>
          <p:cNvSpPr txBox="1">
            <a:spLocks/>
          </p:cNvSpPr>
          <p:nvPr/>
        </p:nvSpPr>
        <p:spPr>
          <a:xfrm>
            <a:off x="3986266" y="4036765"/>
            <a:ext cx="4791739" cy="2022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/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派生类不能继承基类以下内容</a:t>
            </a:r>
          </a:p>
          <a:p>
            <a:pPr lvl="1"/>
            <a:r>
              <a:rPr lang="zh-CN" altLang="en-US" sz="2000" b="1" dirty="0"/>
              <a:t>基类的构造函数和析构函数</a:t>
            </a:r>
          </a:p>
          <a:p>
            <a:pPr lvl="1"/>
            <a:r>
              <a:rPr lang="zh-CN" altLang="en-US" sz="2000" b="1" dirty="0"/>
              <a:t>基类的友元函数</a:t>
            </a:r>
          </a:p>
          <a:p>
            <a:pPr lvl="1"/>
            <a:r>
              <a:rPr lang="zh-CN" altLang="en-US" sz="2000" b="1" dirty="0"/>
              <a:t>静态成员数据和静态成员函数 </a:t>
            </a:r>
          </a:p>
          <a:p>
            <a:pPr marL="0" indent="0">
              <a:buFont typeface="Wingdings 2"/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7015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5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38819524"/>
              </p:ext>
            </p:extLst>
          </p:nvPr>
        </p:nvGraphicFramePr>
        <p:xfrm>
          <a:off x="5220078" y="1412776"/>
          <a:ext cx="1752148" cy="4123287"/>
        </p:xfrm>
        <a:graphic>
          <a:graphicData uri="http://schemas.openxmlformats.org/drawingml/2006/table">
            <a:tbl>
              <a:tblPr/>
              <a:tblGrid>
                <a:gridCol w="1752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0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_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id_card_no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_gender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_name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_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id_card_no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_gender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_name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</a:t>
                      </a:r>
                      <a:r>
                        <a:rPr lang="en-US" altLang="zh-CN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student_no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0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_</a:t>
                      </a:r>
                      <a:r>
                        <a:rPr lang="en-US" altLang="zh-CN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enroll_year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65" marR="91465"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459" name="Line 24"/>
          <p:cNvSpPr>
            <a:spLocks noChangeShapeType="1"/>
          </p:cNvSpPr>
          <p:nvPr/>
        </p:nvSpPr>
        <p:spPr bwMode="auto">
          <a:xfrm>
            <a:off x="7000875" y="1412875"/>
            <a:ext cx="1262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0" name="Line 25"/>
          <p:cNvSpPr>
            <a:spLocks noChangeShapeType="1"/>
          </p:cNvSpPr>
          <p:nvPr/>
        </p:nvSpPr>
        <p:spPr bwMode="auto">
          <a:xfrm flipV="1">
            <a:off x="6996113" y="5483225"/>
            <a:ext cx="1335087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1" name="Line 26"/>
          <p:cNvSpPr>
            <a:spLocks noChangeShapeType="1"/>
          </p:cNvSpPr>
          <p:nvPr/>
        </p:nvSpPr>
        <p:spPr bwMode="auto">
          <a:xfrm flipV="1">
            <a:off x="7488238" y="3394075"/>
            <a:ext cx="14287" cy="855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2" name="Line 27"/>
          <p:cNvSpPr>
            <a:spLocks noChangeShapeType="1"/>
          </p:cNvSpPr>
          <p:nvPr/>
        </p:nvSpPr>
        <p:spPr bwMode="auto">
          <a:xfrm flipH="1">
            <a:off x="7488238" y="4392613"/>
            <a:ext cx="1587" cy="1090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3" name="Line 28"/>
          <p:cNvSpPr>
            <a:spLocks noChangeShapeType="1"/>
          </p:cNvSpPr>
          <p:nvPr/>
        </p:nvSpPr>
        <p:spPr bwMode="auto">
          <a:xfrm flipH="1" flipV="1">
            <a:off x="7488238" y="1423988"/>
            <a:ext cx="0" cy="357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4" name="Line 29"/>
          <p:cNvSpPr>
            <a:spLocks noChangeShapeType="1"/>
          </p:cNvSpPr>
          <p:nvPr/>
        </p:nvSpPr>
        <p:spPr bwMode="auto">
          <a:xfrm>
            <a:off x="7000875" y="2644775"/>
            <a:ext cx="1233488" cy="17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5" name="Line 30"/>
          <p:cNvSpPr>
            <a:spLocks noChangeShapeType="1"/>
          </p:cNvSpPr>
          <p:nvPr/>
        </p:nvSpPr>
        <p:spPr bwMode="auto">
          <a:xfrm>
            <a:off x="7488238" y="21224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9466" name="Text Box 31"/>
          <p:cNvSpPr txBox="1">
            <a:spLocks noChangeArrowheads="1"/>
          </p:cNvSpPr>
          <p:nvPr/>
        </p:nvSpPr>
        <p:spPr bwMode="auto">
          <a:xfrm>
            <a:off x="7016750" y="4086225"/>
            <a:ext cx="1352550" cy="36988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Perpetua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Perpetua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Perpetua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Perpetua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>
                <a:solidFill>
                  <a:srgbClr val="000000"/>
                </a:solidFill>
                <a:latin typeface="Consolas" charset="0"/>
                <a:ea typeface="宋体" charset="0"/>
              </a:rPr>
              <a:t>Student</a:t>
            </a:r>
            <a:r>
              <a:rPr lang="en-US" altLang="zh-CN" sz="1800">
                <a:solidFill>
                  <a:srgbClr val="000000"/>
                </a:solidFill>
                <a:latin typeface="Arial" charset="0"/>
                <a:ea typeface="宋体" charset="0"/>
              </a:rPr>
              <a:t>::s</a:t>
            </a:r>
          </a:p>
        </p:txBody>
      </p:sp>
      <p:sp>
        <p:nvSpPr>
          <p:cNvPr id="19467" name="Text Box 32"/>
          <p:cNvSpPr txBox="1">
            <a:spLocks noChangeArrowheads="1"/>
          </p:cNvSpPr>
          <p:nvPr/>
        </p:nvSpPr>
        <p:spPr bwMode="auto">
          <a:xfrm>
            <a:off x="7019925" y="1787525"/>
            <a:ext cx="1262063" cy="36988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Perpetua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Perpetua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Perpetua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Perpetua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>
                <a:solidFill>
                  <a:srgbClr val="000000"/>
                </a:solidFill>
                <a:latin typeface="Arial" charset="0"/>
                <a:ea typeface="宋体" charset="0"/>
              </a:rPr>
              <a:t>Person::p</a:t>
            </a:r>
          </a:p>
        </p:txBody>
      </p:sp>
      <p:sp>
        <p:nvSpPr>
          <p:cNvPr id="19468" name="Line 29"/>
          <p:cNvSpPr>
            <a:spLocks noChangeShapeType="1"/>
          </p:cNvSpPr>
          <p:nvPr/>
        </p:nvSpPr>
        <p:spPr bwMode="auto">
          <a:xfrm flipV="1">
            <a:off x="7000875" y="3382963"/>
            <a:ext cx="12779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520" y="620688"/>
            <a:ext cx="4752528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&lt;string&gt;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id_card_no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protected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_gender;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_name;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student_no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enroll_year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p;</a:t>
            </a:r>
          </a:p>
          <a:p>
            <a:pPr lvl="1">
              <a:defRPr/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"Define correct!"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0" lvl="1"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CN" altLang="en-US" sz="5400" dirty="0"/>
          </a:p>
        </p:txBody>
      </p:sp>
      <p:sp>
        <p:nvSpPr>
          <p:cNvPr id="20495" name="矩形 17"/>
          <p:cNvSpPr>
            <a:spLocks noChangeArrowheads="1"/>
          </p:cNvSpPr>
          <p:nvPr/>
        </p:nvSpPr>
        <p:spPr bwMode="auto">
          <a:xfrm>
            <a:off x="835025" y="44624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类继承的</a:t>
            </a:r>
            <a:r>
              <a:rPr lang="zh-CN" altLang="en-US" sz="2800" dirty="0">
                <a:solidFill>
                  <a:srgbClr val="FF0000"/>
                </a:solidFill>
              </a:rPr>
              <a:t>内存</a:t>
            </a:r>
            <a:r>
              <a:rPr lang="zh-CN" altLang="en-US" sz="2800" dirty="0"/>
              <a:t>布局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76334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0772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继承方式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628800"/>
            <a:ext cx="76200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C++</a:t>
            </a:r>
            <a:r>
              <a:rPr lang="zh-CN" altLang="en-US" dirty="0"/>
              <a:t>的继承类型</a:t>
            </a:r>
          </a:p>
          <a:p>
            <a:pPr lvl="1" eaLnBrk="1" hangingPunct="1"/>
            <a:r>
              <a:rPr lang="zh-CN" altLang="en-US" dirty="0"/>
              <a:t>公有继承</a:t>
            </a:r>
          </a:p>
          <a:p>
            <a:pPr lvl="1" eaLnBrk="1" hangingPunct="1"/>
            <a:r>
              <a:rPr lang="zh-CN" altLang="en-US" dirty="0"/>
              <a:t>私有继承</a:t>
            </a:r>
          </a:p>
          <a:p>
            <a:pPr lvl="1" eaLnBrk="1" hangingPunct="1"/>
            <a:r>
              <a:rPr lang="zh-CN" altLang="en-US" dirty="0"/>
              <a:t>保护继承</a:t>
            </a:r>
            <a:endParaRPr lang="en-US" altLang="zh-CN" dirty="0"/>
          </a:p>
          <a:p>
            <a:pPr marL="19050" lvl="1" indent="-19050"/>
            <a:r>
              <a:rPr lang="en-US" altLang="zh-CN" sz="3200" dirty="0"/>
              <a:t>class</a:t>
            </a:r>
            <a:r>
              <a:rPr lang="zh-CN" altLang="en-US" sz="3200" dirty="0"/>
              <a:t>的默认继承方式是私有继承</a:t>
            </a:r>
          </a:p>
          <a:p>
            <a:pPr marL="19050" lvl="1" indent="-19050"/>
            <a:r>
              <a:rPr lang="zh-CN" altLang="en-US" sz="3200" dirty="0"/>
              <a:t>不同继承方式会不同程度地影响</a:t>
            </a:r>
            <a:r>
              <a:rPr lang="zh-CN" altLang="en-US" sz="3200" dirty="0">
                <a:solidFill>
                  <a:srgbClr val="FF0000"/>
                </a:solidFill>
              </a:rPr>
              <a:t>基类成员</a:t>
            </a:r>
            <a:r>
              <a:rPr lang="zh-CN" altLang="en-US" sz="3200" dirty="0"/>
              <a:t>在</a:t>
            </a:r>
            <a:r>
              <a:rPr lang="zh-CN" altLang="en-US" sz="3200" dirty="0">
                <a:solidFill>
                  <a:srgbClr val="FF0000"/>
                </a:solidFill>
              </a:rPr>
              <a:t>派生类中的访问权限</a:t>
            </a:r>
            <a:r>
              <a:rPr lang="zh-CN" altLang="en-US" sz="3200" dirty="0"/>
              <a:t>。 </a:t>
            </a:r>
            <a:endParaRPr lang="en-US" altLang="zh-CN" sz="3200" dirty="0"/>
          </a:p>
          <a:p>
            <a:pPr lvl="1" eaLnBrk="1" hangingPunct="1"/>
            <a:endParaRPr lang="zh-CN" altLang="en-US" dirty="0"/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390A44B-D2D1-4CE3-B337-DCB4CF457624}" type="slidenum">
              <a:rPr lang="en-US" altLang="zh-CN" sz="1400" smtClean="0"/>
              <a:pPr eaLnBrk="1" hangingPunct="1"/>
              <a:t>14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4276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保护</a:t>
            </a:r>
            <a:r>
              <a:rPr lang="zh-CN" altLang="en-US" b="1" dirty="0">
                <a:solidFill>
                  <a:schemeClr val="tx1"/>
                </a:solidFill>
              </a:rPr>
              <a:t>成员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9750" y="1412776"/>
            <a:ext cx="7920038" cy="2231702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zh-CN" altLang="en-US" dirty="0"/>
              <a:t>基类中</a:t>
            </a:r>
            <a:r>
              <a:rPr lang="en-US" altLang="zh-CN" dirty="0">
                <a:solidFill>
                  <a:srgbClr val="FF0000"/>
                </a:solidFill>
              </a:rPr>
              <a:t>protected</a:t>
            </a:r>
            <a:r>
              <a:rPr lang="zh-CN" altLang="en-US" dirty="0"/>
              <a:t>的成员</a:t>
            </a:r>
          </a:p>
          <a:p>
            <a:pPr marL="19050" lvl="1" indent="-19050" eaLnBrk="1" hangingPunct="1"/>
            <a:r>
              <a:rPr lang="zh-CN" altLang="en-US" sz="3200" dirty="0"/>
              <a:t> 类内部：可以访问</a:t>
            </a:r>
          </a:p>
          <a:p>
            <a:pPr marL="19050" lvl="1" indent="-19050" eaLnBrk="1" hangingPunct="1"/>
            <a:r>
              <a:rPr lang="zh-CN" altLang="en-US" sz="3200" dirty="0"/>
              <a:t> 类的使用者：不能访问</a:t>
            </a:r>
          </a:p>
          <a:p>
            <a:pPr marL="19050" lvl="1" indent="-19050" eaLnBrk="1" hangingPunct="1"/>
            <a:r>
              <a:rPr lang="zh-CN" altLang="en-US" sz="3200" dirty="0"/>
              <a:t> 类的派生类成员：可以访问</a:t>
            </a:r>
            <a:endParaRPr lang="en-US" altLang="zh-CN" sz="3200" dirty="0"/>
          </a:p>
          <a:p>
            <a:pPr lvl="1" eaLnBrk="1" hangingPunct="1"/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395536" y="4101343"/>
            <a:ext cx="8424936" cy="213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3200" dirty="0">
                <a:solidFill>
                  <a:prstClr val="black"/>
                </a:solidFill>
              </a:rPr>
              <a:t>protected </a:t>
            </a:r>
            <a:r>
              <a:rPr lang="zh-CN" altLang="en-US" sz="3200" dirty="0">
                <a:solidFill>
                  <a:prstClr val="black"/>
                </a:solidFill>
              </a:rPr>
              <a:t>成员的特点与作用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2800" dirty="0">
                <a:solidFill>
                  <a:prstClr val="black"/>
                </a:solidFill>
              </a:rPr>
              <a:t>对他自己的类来说，它与 </a:t>
            </a:r>
            <a:r>
              <a:rPr lang="en-US" altLang="zh-CN" sz="2800" dirty="0">
                <a:solidFill>
                  <a:prstClr val="black"/>
                </a:solidFill>
              </a:rPr>
              <a:t>private </a:t>
            </a:r>
            <a:r>
              <a:rPr lang="zh-CN" altLang="en-US" sz="2800" dirty="0">
                <a:solidFill>
                  <a:prstClr val="black"/>
                </a:solidFill>
              </a:rPr>
              <a:t>成员的性质相同。</a:t>
            </a:r>
          </a:p>
          <a:p>
            <a:pPr marL="342900" lvl="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2800" dirty="0">
                <a:solidFill>
                  <a:prstClr val="black"/>
                </a:solidFill>
              </a:rPr>
              <a:t>对于其派生类来说，它与 </a:t>
            </a:r>
            <a:r>
              <a:rPr lang="en-US" altLang="zh-CN" sz="2800" dirty="0">
                <a:solidFill>
                  <a:prstClr val="black"/>
                </a:solidFill>
              </a:rPr>
              <a:t>public </a:t>
            </a:r>
            <a:r>
              <a:rPr lang="zh-CN" altLang="en-US" sz="2800" dirty="0">
                <a:solidFill>
                  <a:prstClr val="black"/>
                </a:solidFill>
              </a:rPr>
              <a:t>成员的性质相同。</a:t>
            </a:r>
          </a:p>
          <a:p>
            <a:pPr marL="342900" lvl="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2800" dirty="0">
                <a:solidFill>
                  <a:prstClr val="black"/>
                </a:solidFill>
              </a:rPr>
              <a:t>既实现了数据隐藏，又方便继承，实现代码重用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7504" y="3789040"/>
            <a:ext cx="89289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612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827583" y="281136"/>
            <a:ext cx="3096345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class B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{	private:    int _</a:t>
            </a:r>
            <a:r>
              <a:rPr kumimoji="1" lang="en-US" altLang="zh-CN" sz="2000" dirty="0" err="1">
                <a:latin typeface="Comic Sans MS" pitchFamily="66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	protected: int _j;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	public:      int _k;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};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class D: public B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{public: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void f() 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{	_</a:t>
            </a:r>
            <a:r>
              <a:rPr kumimoji="1" lang="en-US" altLang="zh-CN" sz="2000" dirty="0" err="1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=1;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	_j=2;	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	_k=3;	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}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};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 main()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{	B </a:t>
            </a:r>
            <a:r>
              <a:rPr kumimoji="1" lang="en-US" altLang="zh-CN" sz="2000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b</a:t>
            </a: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; 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	b._</a:t>
            </a:r>
            <a:r>
              <a:rPr kumimoji="1" lang="en-US" altLang="zh-CN" sz="2000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=1;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	</a:t>
            </a:r>
            <a:r>
              <a:rPr kumimoji="1" lang="en-US" altLang="zh-CN" sz="2000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b._j</a:t>
            </a: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=2; 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	</a:t>
            </a:r>
            <a:r>
              <a:rPr kumimoji="1" lang="en-US" altLang="zh-CN" sz="2000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b._k</a:t>
            </a: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=3;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	return 0;</a:t>
            </a:r>
          </a:p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}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723706" y="4068879"/>
            <a:ext cx="2952750" cy="831639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kumimoji="1" lang="en-US" altLang="zh-CN" b="0" dirty="0"/>
          </a:p>
          <a:p>
            <a:pPr eaLnBrk="1" hangingPunct="1"/>
            <a:endParaRPr kumimoji="1" lang="en-US" altLang="zh-CN" b="0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724525" y="1988840"/>
            <a:ext cx="2808288" cy="825500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kumimoji="1" lang="en-US" altLang="zh-CN" dirty="0"/>
          </a:p>
          <a:p>
            <a:pPr eaLnBrk="1" hangingPunct="1"/>
            <a:endParaRPr kumimoji="1" lang="zh-CN" altLang="en-US" dirty="0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7885112" y="2142405"/>
            <a:ext cx="571986" cy="520254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</a:t>
            </a:r>
            <a:r>
              <a:rPr kumimoji="1" lang="en-US" altLang="zh-CN" sz="1800" dirty="0" err="1">
                <a:solidFill>
                  <a:schemeClr val="bg1"/>
                </a:solidFill>
              </a:rPr>
              <a:t>i</a:t>
            </a:r>
            <a:endParaRPr kumimoji="1"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7956376" y="4195985"/>
            <a:ext cx="585194" cy="520254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</a:t>
            </a:r>
            <a:r>
              <a:rPr kumimoji="1" lang="en-US" altLang="zh-CN" sz="1800" dirty="0" err="1">
                <a:solidFill>
                  <a:schemeClr val="bg1"/>
                </a:solidFill>
              </a:rPr>
              <a:t>i</a:t>
            </a:r>
            <a:endParaRPr kumimoji="1"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5722118" y="4869160"/>
            <a:ext cx="2954338" cy="825500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/>
              <a:t>f()</a:t>
            </a:r>
          </a:p>
          <a:p>
            <a:pPr eaLnBrk="1" hangingPunct="1"/>
            <a:endParaRPr kumimoji="1" lang="zh-CN" altLang="en-US"/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5220072" y="1052736"/>
            <a:ext cx="151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chemeClr val="hlink"/>
                </a:solidFill>
              </a:rPr>
              <a:t>接口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7343775" y="1052513"/>
            <a:ext cx="151288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chemeClr val="hlink"/>
                </a:solidFill>
              </a:rPr>
              <a:t>数据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4932363" y="2133600"/>
            <a:ext cx="79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/>
              <a:t>B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4645025" y="3619872"/>
            <a:ext cx="1293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dirty="0"/>
              <a:t>D</a:t>
            </a:r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6444208" y="0"/>
            <a:ext cx="0" cy="6858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7240735" y="2132856"/>
            <a:ext cx="571990" cy="520254"/>
          </a:xfrm>
          <a:prstGeom prst="ellipse">
            <a:avLst/>
          </a:prstGeom>
          <a:solidFill>
            <a:schemeClr val="folHlink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_j</a:t>
            </a:r>
          </a:p>
        </p:txBody>
      </p:sp>
      <p:sp>
        <p:nvSpPr>
          <p:cNvPr id="14354" name="Oval 18"/>
          <p:cNvSpPr>
            <a:spLocks noChangeArrowheads="1"/>
          </p:cNvSpPr>
          <p:nvPr/>
        </p:nvSpPr>
        <p:spPr bwMode="auto">
          <a:xfrm>
            <a:off x="7308304" y="4195985"/>
            <a:ext cx="539683" cy="520254"/>
          </a:xfrm>
          <a:prstGeom prst="ellipse">
            <a:avLst/>
          </a:prstGeom>
          <a:solidFill>
            <a:schemeClr val="folHlink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_j</a:t>
            </a: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6228185" y="4652963"/>
            <a:ext cx="1152104" cy="5042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672916" y="4579947"/>
            <a:ext cx="16379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FF9900"/>
              </a:buClr>
            </a:pP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D </a:t>
            </a:r>
            <a:r>
              <a:rPr kumimoji="1" lang="en-US" altLang="zh-CN" sz="2000" b="1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d</a:t>
            </a: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; </a:t>
            </a:r>
          </a:p>
          <a:p>
            <a:pPr lvl="0">
              <a:buClr>
                <a:srgbClr val="FF9900"/>
              </a:buClr>
            </a:pP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d._</a:t>
            </a:r>
            <a:r>
              <a:rPr kumimoji="1" lang="en-US" altLang="zh-CN" sz="2000" b="1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i</a:t>
            </a: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=1;</a:t>
            </a:r>
          </a:p>
          <a:p>
            <a:pPr lvl="0">
              <a:buClr>
                <a:srgbClr val="FF9900"/>
              </a:buClr>
            </a:pPr>
            <a:r>
              <a:rPr kumimoji="1" lang="en-US" altLang="zh-CN" sz="2000" b="1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d._j</a:t>
            </a: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=2; </a:t>
            </a:r>
          </a:p>
          <a:p>
            <a:pPr lvl="0">
              <a:buClr>
                <a:srgbClr val="FF9900"/>
              </a:buClr>
            </a:pPr>
            <a:r>
              <a:rPr kumimoji="1" lang="en-US" altLang="zh-CN" sz="2000" b="1" dirty="0" err="1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d._k</a:t>
            </a:r>
            <a:r>
              <a:rPr kumimoji="1" lang="en-US" altLang="zh-CN" sz="2000" b="1" dirty="0">
                <a:solidFill>
                  <a:srgbClr val="00B050"/>
                </a:solidFill>
                <a:latin typeface="Comic Sans MS" pitchFamily="66" charset="0"/>
                <a:ea typeface="楷体_GB2312" pitchFamily="49" charset="-122"/>
              </a:rPr>
              <a:t>=3;</a:t>
            </a:r>
          </a:p>
        </p:txBody>
      </p:sp>
      <p:sp>
        <p:nvSpPr>
          <p:cNvPr id="3" name="乘号 2"/>
          <p:cNvSpPr/>
          <p:nvPr/>
        </p:nvSpPr>
        <p:spPr>
          <a:xfrm>
            <a:off x="2593033" y="2708920"/>
            <a:ext cx="250775" cy="32633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乘号 27"/>
          <p:cNvSpPr/>
          <p:nvPr/>
        </p:nvSpPr>
        <p:spPr>
          <a:xfrm>
            <a:off x="2232993" y="4902870"/>
            <a:ext cx="250775" cy="326330"/>
          </a:xfrm>
          <a:prstGeom prst="mathMultiply">
            <a:avLst>
              <a:gd name="adj1" fmla="val 14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乘号 28"/>
          <p:cNvSpPr/>
          <p:nvPr/>
        </p:nvSpPr>
        <p:spPr>
          <a:xfrm>
            <a:off x="2232993" y="5157192"/>
            <a:ext cx="250775" cy="326330"/>
          </a:xfrm>
          <a:prstGeom prst="mathMultiply">
            <a:avLst>
              <a:gd name="adj1" fmla="val 14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乘号 29"/>
          <p:cNvSpPr/>
          <p:nvPr/>
        </p:nvSpPr>
        <p:spPr>
          <a:xfrm>
            <a:off x="3745161" y="5229200"/>
            <a:ext cx="250775" cy="32633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乘号 30"/>
          <p:cNvSpPr/>
          <p:nvPr/>
        </p:nvSpPr>
        <p:spPr>
          <a:xfrm>
            <a:off x="3745161" y="4902870"/>
            <a:ext cx="250775" cy="326330"/>
          </a:xfrm>
          <a:prstGeom prst="mathMultiply">
            <a:avLst>
              <a:gd name="adj1" fmla="val 14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2598981" y="3115474"/>
            <a:ext cx="244827" cy="238964"/>
            <a:chOff x="-38303" y="2619375"/>
            <a:chExt cx="349753" cy="33293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-38303" y="2814637"/>
              <a:ext cx="144016" cy="1376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5426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2598981" y="3406060"/>
            <a:ext cx="244827" cy="238964"/>
            <a:chOff x="-36513" y="2619375"/>
            <a:chExt cx="349753" cy="332934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-36513" y="2814637"/>
              <a:ext cx="144016" cy="1376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V="1">
              <a:off x="97216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2238941" y="5517232"/>
            <a:ext cx="244827" cy="238964"/>
            <a:chOff x="14921" y="2619375"/>
            <a:chExt cx="349753" cy="332934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14921" y="2814637"/>
              <a:ext cx="144016" cy="1376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148650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/>
          <p:cNvGrpSpPr/>
          <p:nvPr/>
        </p:nvGrpSpPr>
        <p:grpSpPr>
          <a:xfrm>
            <a:off x="3751109" y="5566300"/>
            <a:ext cx="244827" cy="238964"/>
            <a:chOff x="-36513" y="2619375"/>
            <a:chExt cx="349753" cy="332934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-36513" y="2814637"/>
              <a:ext cx="144016" cy="13767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V="1">
              <a:off x="97216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Oval 17"/>
          <p:cNvSpPr>
            <a:spLocks noChangeArrowheads="1"/>
          </p:cNvSpPr>
          <p:nvPr/>
        </p:nvSpPr>
        <p:spPr bwMode="auto">
          <a:xfrm>
            <a:off x="6519464" y="2123747"/>
            <a:ext cx="644068" cy="520254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_k</a:t>
            </a: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6588224" y="4221088"/>
            <a:ext cx="611669" cy="520254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/>
            </a:solidFill>
            <a:round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zh-CN" sz="1800" dirty="0">
                <a:solidFill>
                  <a:schemeClr val="bg1"/>
                </a:solidFill>
              </a:rPr>
              <a:t>_k</a:t>
            </a:r>
          </a:p>
        </p:txBody>
      </p:sp>
      <p:sp>
        <p:nvSpPr>
          <p:cNvPr id="54" name="Line 19"/>
          <p:cNvSpPr>
            <a:spLocks noChangeShapeType="1"/>
          </p:cNvSpPr>
          <p:nvPr/>
        </p:nvSpPr>
        <p:spPr bwMode="auto">
          <a:xfrm flipV="1">
            <a:off x="6228184" y="4765479"/>
            <a:ext cx="1900589" cy="46371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 flipV="1">
            <a:off x="6156908" y="4456111"/>
            <a:ext cx="431316" cy="60136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27" name="乘号 26"/>
          <p:cNvSpPr/>
          <p:nvPr/>
        </p:nvSpPr>
        <p:spPr>
          <a:xfrm>
            <a:off x="7452320" y="4786562"/>
            <a:ext cx="250775" cy="298622"/>
          </a:xfrm>
          <a:prstGeom prst="mathMultiply">
            <a:avLst>
              <a:gd name="adj1" fmla="val 8787"/>
            </a:avLst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6912260" y="4702204"/>
            <a:ext cx="252028" cy="238964"/>
            <a:chOff x="-252536" y="2619375"/>
            <a:chExt cx="360040" cy="332934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-252536" y="2814638"/>
              <a:ext cx="144016" cy="13767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-108520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6228184" y="4702204"/>
            <a:ext cx="252028" cy="238964"/>
            <a:chOff x="-252536" y="2619375"/>
            <a:chExt cx="360040" cy="332934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-252536" y="2814638"/>
              <a:ext cx="144016" cy="13767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-108520" y="2619375"/>
              <a:ext cx="216024" cy="33293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792087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44772"/>
            <a:ext cx="3960440" cy="11430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4.2 </a:t>
            </a:r>
            <a:r>
              <a:rPr lang="zh-CN" altLang="en-US" dirty="0"/>
              <a:t>访问控制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8232"/>
            <a:ext cx="3322712" cy="254888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4.2.1 </a:t>
            </a:r>
            <a:r>
              <a:rPr lang="zh-CN" altLang="en-US" sz="3600" dirty="0"/>
              <a:t>公有继承</a:t>
            </a: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4.2.2 </a:t>
            </a:r>
            <a:r>
              <a:rPr lang="zh-CN" altLang="en-US" sz="3600" dirty="0"/>
              <a:t>私有继承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4.2.3 </a:t>
            </a:r>
            <a:r>
              <a:rPr lang="zh-CN" altLang="en-US" sz="3600" dirty="0"/>
              <a:t>保护继承</a:t>
            </a: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6D651F6-B4CF-42C2-9E0F-D8845CD35307}" type="slidenum">
              <a:rPr lang="en-US" altLang="zh-CN" sz="1400" smtClean="0"/>
              <a:pPr eaLnBrk="1" hangingPunct="1"/>
              <a:t>17</a:t>
            </a:fld>
            <a:endParaRPr lang="en-US" altLang="zh-CN" sz="140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99992" y="188640"/>
            <a:ext cx="3528392" cy="6480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itchFamily="2" charset="2"/>
              <a:buNone/>
            </a:pPr>
            <a:endParaRPr kumimoji="1" lang="en-US" altLang="zh-CN" sz="2000" dirty="0">
              <a:latin typeface="Comic Sans MS" pitchFamily="66" charset="0"/>
              <a:ea typeface="楷体_GB2312" pitchFamily="49" charset="-122"/>
            </a:endParaRP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class B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{	private:    int _</a:t>
            </a:r>
            <a:r>
              <a:rPr kumimoji="1" lang="en-US" altLang="zh-CN" sz="2000" dirty="0" err="1">
                <a:latin typeface="Comic Sans MS" pitchFamily="66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	protected: int _j;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	public:      int _k;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latin typeface="Comic Sans MS" pitchFamily="66" charset="0"/>
                <a:ea typeface="楷体_GB2312" pitchFamily="49" charset="-122"/>
              </a:rPr>
              <a:t>};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endParaRPr kumimoji="1" lang="en-US" altLang="zh-CN" sz="2000" dirty="0">
              <a:latin typeface="Comic Sans MS" pitchFamily="66" charset="0"/>
              <a:ea typeface="楷体_GB2312" pitchFamily="49" charset="-122"/>
            </a:endParaRP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class D: public B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{public: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void f() 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{	_j=2;	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	_k=3;	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	}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Comic Sans MS" pitchFamily="66" charset="0"/>
                <a:ea typeface="楷体_GB2312" pitchFamily="49" charset="-122"/>
              </a:rPr>
              <a:t>};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endParaRPr kumimoji="1" lang="en-US" altLang="zh-CN" sz="2000" dirty="0">
              <a:solidFill>
                <a:schemeClr val="accent2"/>
              </a:solidFill>
              <a:latin typeface="Comic Sans MS" pitchFamily="66" charset="0"/>
              <a:ea typeface="楷体_GB2312" pitchFamily="49" charset="-122"/>
            </a:endParaRP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 err="1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 main()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{	B </a:t>
            </a:r>
            <a:r>
              <a:rPr kumimoji="1" lang="en-US" altLang="zh-CN" sz="2000" dirty="0" err="1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b</a:t>
            </a: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; 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	</a:t>
            </a:r>
            <a:r>
              <a:rPr kumimoji="1" lang="en-US" altLang="zh-CN" sz="2000" dirty="0" err="1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b._k</a:t>
            </a: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=3;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	return 0;</a:t>
            </a:r>
          </a:p>
          <a:p>
            <a:pPr indent="12700" eaLnBrk="1" hangingPunct="1">
              <a:buClr>
                <a:srgbClr val="FF9900"/>
              </a:buClr>
              <a:buFont typeface="Wingdings" pitchFamily="2" charset="2"/>
              <a:buNone/>
            </a:pPr>
            <a:r>
              <a:rPr kumimoji="1" lang="en-US" altLang="zh-CN" sz="2000" dirty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}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4716016" y="476672"/>
            <a:ext cx="3096344" cy="165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788024" y="2276872"/>
            <a:ext cx="3096344" cy="23762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788024" y="4797152"/>
            <a:ext cx="3096344" cy="16561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879432" y="980728"/>
            <a:ext cx="1261884" cy="6093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2800" dirty="0"/>
              <a:t>父类内</a:t>
            </a:r>
          </a:p>
        </p:txBody>
      </p:sp>
      <p:sp>
        <p:nvSpPr>
          <p:cNvPr id="10" name="矩形 9"/>
          <p:cNvSpPr/>
          <p:nvPr/>
        </p:nvSpPr>
        <p:spPr>
          <a:xfrm>
            <a:off x="7884368" y="3212985"/>
            <a:ext cx="1261884" cy="576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/>
              <a:t>子类内</a:t>
            </a:r>
          </a:p>
        </p:txBody>
      </p:sp>
      <p:sp>
        <p:nvSpPr>
          <p:cNvPr id="11" name="矩形 10"/>
          <p:cNvSpPr/>
          <p:nvPr/>
        </p:nvSpPr>
        <p:spPr>
          <a:xfrm>
            <a:off x="7092280" y="5229200"/>
            <a:ext cx="2034531" cy="576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800" dirty="0"/>
              <a:t>main</a:t>
            </a:r>
            <a:r>
              <a:rPr lang="zh-CN" altLang="en-US" sz="2800" dirty="0"/>
              <a:t>函数内</a:t>
            </a:r>
          </a:p>
        </p:txBody>
      </p:sp>
      <p:sp>
        <p:nvSpPr>
          <p:cNvPr id="12" name="矩形 11"/>
          <p:cNvSpPr/>
          <p:nvPr/>
        </p:nvSpPr>
        <p:spPr>
          <a:xfrm>
            <a:off x="3409642" y="4365108"/>
            <a:ext cx="1261884" cy="576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/>
              <a:t>文件内</a:t>
            </a:r>
          </a:p>
        </p:txBody>
      </p:sp>
    </p:spTree>
    <p:extLst>
      <p:ext uri="{BB962C8B-B14F-4D97-AF65-F5344CB8AC3E}">
        <p14:creationId xmlns:p14="http://schemas.microsoft.com/office/powerpoint/2010/main" val="3015801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: </a:t>
            </a:r>
            <a:r>
              <a:rPr lang="zh-CN" altLang="en-US" dirty="0"/>
              <a:t>公有继承举例</a:t>
            </a:r>
            <a:br>
              <a:rPr lang="en-US" altLang="zh-CN" dirty="0"/>
            </a:br>
            <a:r>
              <a:rPr lang="zh-CN" altLang="en-US" dirty="0"/>
              <a:t>点</a:t>
            </a:r>
            <a:r>
              <a:rPr lang="en-US" altLang="zh-CN" dirty="0"/>
              <a:t>-</a:t>
            </a:r>
            <a:r>
              <a:rPr lang="zh-CN" altLang="en-US" dirty="0"/>
              <a:t>矩形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755576" y="5157192"/>
            <a:ext cx="7488832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1259632" y="1556792"/>
            <a:ext cx="0" cy="4176464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051720" y="4077072"/>
            <a:ext cx="36000" cy="3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stCxn id="10" idx="7"/>
          </p:cNvCxnSpPr>
          <p:nvPr/>
        </p:nvCxnSpPr>
        <p:spPr>
          <a:xfrm flipV="1">
            <a:off x="2082448" y="4077072"/>
            <a:ext cx="3425656" cy="527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0" idx="0"/>
          </p:cNvCxnSpPr>
          <p:nvPr/>
        </p:nvCxnSpPr>
        <p:spPr>
          <a:xfrm flipV="1">
            <a:off x="2069720" y="2420888"/>
            <a:ext cx="0" cy="1656184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2082448" y="2420888"/>
            <a:ext cx="3425656" cy="527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5508104" y="2420888"/>
            <a:ext cx="0" cy="1656184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635896" y="4005064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_w</a:t>
            </a:r>
            <a:endParaRPr lang="zh-CN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1615510" y="3068960"/>
            <a:ext cx="468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_h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2051720" y="2420888"/>
            <a:ext cx="3456384" cy="1656184"/>
          </a:xfrm>
          <a:prstGeom prst="rect">
            <a:avLst/>
          </a:prstGeom>
          <a:solidFill>
            <a:schemeClr val="accent1">
              <a:tint val="100000"/>
              <a:shade val="100000"/>
              <a:hueMod val="100000"/>
              <a:satMod val="10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71600" y="3573016"/>
            <a:ext cx="99738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point</a:t>
            </a:r>
            <a:endParaRPr lang="zh-CN" altLang="en-US" sz="28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5004048" y="1484784"/>
            <a:ext cx="1606850" cy="936104"/>
            <a:chOff x="5652120" y="1916832"/>
            <a:chExt cx="1606850" cy="936104"/>
          </a:xfrm>
        </p:grpSpPr>
        <p:sp>
          <p:nvSpPr>
            <p:cNvPr id="21" name="矩形 20"/>
            <p:cNvSpPr/>
            <p:nvPr/>
          </p:nvSpPr>
          <p:spPr>
            <a:xfrm>
              <a:off x="5652120" y="1916832"/>
              <a:ext cx="1606850" cy="52322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rectangle</a:t>
              </a:r>
              <a:endParaRPr lang="zh-CN" altLang="en-US" sz="2800" dirty="0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H="1">
              <a:off x="5796136" y="2440052"/>
              <a:ext cx="360040" cy="41288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467544" y="4437112"/>
            <a:ext cx="3744416" cy="2209836"/>
          </a:xfrm>
          <a:prstGeom prst="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private:</a:t>
            </a:r>
            <a:r>
              <a:rPr lang="en-US" altLang="zh-CN" sz="2800" dirty="0">
                <a:latin typeface="+mn-ea"/>
              </a:rPr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 sz="2400" dirty="0">
                <a:latin typeface="+mn-ea"/>
              </a:rPr>
              <a:t>   </a:t>
            </a:r>
            <a:r>
              <a:rPr lang="en-US" altLang="zh-CN" sz="2400" dirty="0">
                <a:latin typeface="+mn-ea"/>
              </a:rPr>
              <a:t>float _x, _y;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public: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</a:t>
            </a:r>
            <a:r>
              <a:rPr lang="en-US" altLang="zh-CN" sz="2400" dirty="0" err="1">
                <a:latin typeface="+mn-ea"/>
              </a:rPr>
              <a:t>initPoint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move(</a:t>
            </a:r>
            <a:r>
              <a:rPr lang="en-US" altLang="zh-CN" sz="24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getX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getY</a:t>
            </a:r>
            <a:r>
              <a:rPr lang="en-US" altLang="zh-CN" sz="2400" dirty="0">
                <a:latin typeface="+mn-ea"/>
              </a:rPr>
              <a:t>() const;</a:t>
            </a:r>
          </a:p>
        </p:txBody>
      </p:sp>
      <p:sp>
        <p:nvSpPr>
          <p:cNvPr id="26" name="矩形 25"/>
          <p:cNvSpPr/>
          <p:nvPr/>
        </p:nvSpPr>
        <p:spPr>
          <a:xfrm>
            <a:off x="5724128" y="2182369"/>
            <a:ext cx="3051117" cy="2936188"/>
          </a:xfrm>
          <a:prstGeom prst="rect">
            <a:avLst/>
          </a:prstGeom>
          <a:solidFill>
            <a:schemeClr val="bg2">
              <a:lumMod val="90000"/>
              <a:alpha val="51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private:	</a:t>
            </a:r>
            <a:endParaRPr lang="zh-CN" altLang="en-US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_w, _h;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public:	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void </a:t>
            </a:r>
            <a:r>
              <a:rPr lang="en-US" altLang="zh-CN" sz="2400" dirty="0" err="1">
                <a:latin typeface="+mn-ea"/>
              </a:rPr>
              <a:t>initRectangle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      (</a:t>
            </a:r>
            <a:r>
              <a:rPr lang="en-US" altLang="zh-CN" sz="2000" dirty="0" err="1">
                <a:latin typeface="+mn-ea"/>
              </a:rPr>
              <a:t>float,float,float,floa</a:t>
            </a:r>
            <a:r>
              <a:rPr lang="en-US" altLang="zh-CN" sz="2400" dirty="0" err="1">
                <a:latin typeface="+mn-ea"/>
              </a:rPr>
              <a:t>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getH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getW</a:t>
            </a:r>
            <a:r>
              <a:rPr lang="en-US" altLang="zh-CN" sz="2400" dirty="0">
                <a:latin typeface="+mn-ea"/>
              </a:rPr>
              <a:t>() const;</a:t>
            </a:r>
            <a:endParaRPr lang="zh-CN" altLang="en-US" sz="2400" dirty="0"/>
          </a:p>
        </p:txBody>
      </p:sp>
      <p:sp>
        <p:nvSpPr>
          <p:cNvPr id="27" name="矩形 26"/>
          <p:cNvSpPr/>
          <p:nvPr/>
        </p:nvSpPr>
        <p:spPr>
          <a:xfrm>
            <a:off x="7538844" y="2555612"/>
            <a:ext cx="156966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新增数据成员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466836" y="5085184"/>
            <a:ext cx="156966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新增函数成员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6012160" y="2996952"/>
            <a:ext cx="108012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012160" y="5013176"/>
            <a:ext cx="123752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012160" y="4653136"/>
            <a:ext cx="123752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732240" y="1465620"/>
            <a:ext cx="220124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public point</a:t>
            </a:r>
            <a:endParaRPr lang="zh-CN" altLang="en-US" sz="2800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3635896" y="836712"/>
            <a:ext cx="1883545" cy="0"/>
          </a:xfrm>
          <a:prstGeom prst="line">
            <a:avLst/>
          </a:prstGeom>
          <a:ln w="254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6732240" y="1484784"/>
            <a:ext cx="1231686" cy="432048"/>
          </a:xfrm>
          <a:prstGeom prst="roundRect">
            <a:avLst/>
          </a:prstGeom>
          <a:solidFill>
            <a:schemeClr val="accent3">
              <a:lumMod val="75000"/>
              <a:alpha val="23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>
            <a:endCxn id="38" idx="0"/>
          </p:cNvCxnSpPr>
          <p:nvPr/>
        </p:nvCxnSpPr>
        <p:spPr>
          <a:xfrm>
            <a:off x="5328084" y="836712"/>
            <a:ext cx="2019999" cy="648072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012160" y="3861048"/>
            <a:ext cx="202377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733074" y="4221088"/>
            <a:ext cx="187137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1470294" y="4096236"/>
            <a:ext cx="5362" cy="370493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084168" y="1988840"/>
            <a:ext cx="253915" cy="2256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/>
      <p:bldP spid="18" grpId="0"/>
      <p:bldP spid="19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35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55776" y="135796"/>
            <a:ext cx="160685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rectangle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283968" y="116632"/>
            <a:ext cx="220124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public point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195737" y="3371038"/>
            <a:ext cx="360039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50"/>
                </a:solidFill>
              </a:rPr>
              <a:t>+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35897" y="3212976"/>
            <a:ext cx="504056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00B050"/>
                </a:solidFill>
              </a:rPr>
              <a:t>=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5625" y="3460938"/>
            <a:ext cx="1968103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派生的</a:t>
            </a:r>
            <a:endParaRPr lang="zh-CN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107504" y="724634"/>
            <a:ext cx="274235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继承的</a:t>
            </a:r>
            <a:r>
              <a:rPr lang="en-US" altLang="zh-CN" sz="2000" dirty="0"/>
              <a:t>(point)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4139952" y="1124744"/>
            <a:ext cx="2481064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实际拥有的</a:t>
            </a:r>
          </a:p>
        </p:txBody>
      </p:sp>
      <p:sp>
        <p:nvSpPr>
          <p:cNvPr id="8" name="矩形 7"/>
          <p:cNvSpPr/>
          <p:nvPr/>
        </p:nvSpPr>
        <p:spPr>
          <a:xfrm>
            <a:off x="251520" y="3805180"/>
            <a:ext cx="3051117" cy="2936188"/>
          </a:xfrm>
          <a:prstGeom prst="rect">
            <a:avLst/>
          </a:prstGeom>
          <a:solidFill>
            <a:schemeClr val="bg2">
              <a:lumMod val="90000"/>
              <a:alpha val="51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private:	</a:t>
            </a:r>
            <a:endParaRPr lang="zh-CN" altLang="en-US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_w, _h;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public:	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void </a:t>
            </a:r>
            <a:r>
              <a:rPr lang="en-US" altLang="zh-CN" sz="2400" dirty="0" err="1">
                <a:latin typeface="+mn-ea"/>
              </a:rPr>
              <a:t>initRectangle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      (</a:t>
            </a:r>
            <a:r>
              <a:rPr lang="en-US" altLang="zh-CN" sz="2000" dirty="0" err="1">
                <a:latin typeface="+mn-ea"/>
              </a:rPr>
              <a:t>float,float,float,floa</a:t>
            </a:r>
            <a:r>
              <a:rPr lang="en-US" altLang="zh-CN" sz="2400" dirty="0" err="1">
                <a:latin typeface="+mn-ea"/>
              </a:rPr>
              <a:t>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getH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getW</a:t>
            </a:r>
            <a:r>
              <a:rPr lang="en-US" altLang="zh-CN" sz="2400" dirty="0">
                <a:latin typeface="+mn-ea"/>
              </a:rPr>
              <a:t>() const;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179512" y="1052736"/>
            <a:ext cx="3240360" cy="2209836"/>
          </a:xfrm>
          <a:prstGeom prst="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private:</a:t>
            </a:r>
            <a:r>
              <a:rPr lang="en-US" altLang="zh-CN" sz="2800" dirty="0">
                <a:latin typeface="+mn-ea"/>
              </a:rPr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 sz="2400" dirty="0">
                <a:latin typeface="+mn-ea"/>
              </a:rPr>
              <a:t>   </a:t>
            </a:r>
            <a:r>
              <a:rPr lang="en-US" altLang="zh-CN" sz="2400" dirty="0">
                <a:latin typeface="+mn-ea"/>
              </a:rPr>
              <a:t>float _x, _y;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public: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</a:t>
            </a:r>
            <a:r>
              <a:rPr lang="en-US" altLang="zh-CN" sz="2400" dirty="0" err="1">
                <a:latin typeface="+mn-ea"/>
              </a:rPr>
              <a:t>initPoint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0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move(</a:t>
            </a:r>
            <a:r>
              <a:rPr lang="en-US" altLang="zh-CN" sz="24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getX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getY</a:t>
            </a:r>
            <a:r>
              <a:rPr lang="en-US" altLang="zh-CN" sz="2400" dirty="0">
                <a:latin typeface="+mn-ea"/>
              </a:rPr>
              <a:t>() const;</a:t>
            </a:r>
          </a:p>
        </p:txBody>
      </p:sp>
      <p:sp>
        <p:nvSpPr>
          <p:cNvPr id="10" name="矩形 9"/>
          <p:cNvSpPr/>
          <p:nvPr/>
        </p:nvSpPr>
        <p:spPr>
          <a:xfrm>
            <a:off x="4211960" y="1471190"/>
            <a:ext cx="4860031" cy="4489434"/>
          </a:xfrm>
          <a:prstGeom prst="rect">
            <a:avLst/>
          </a:prstGeom>
          <a:solidFill>
            <a:schemeClr val="bg2">
              <a:lumMod val="90000"/>
              <a:alpha val="51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（这不是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private</a:t>
            </a:r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）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float _x, _y;</a:t>
            </a:r>
            <a:r>
              <a:rPr lang="en-US" altLang="zh-CN" sz="2400" dirty="0">
                <a:latin typeface="+mn-ea"/>
              </a:rPr>
              <a:t> 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private:	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_w, _h;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public:	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void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initPoint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float,float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void move(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float,float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float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getX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() const;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float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getY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void </a:t>
            </a:r>
            <a:r>
              <a:rPr lang="en-US" altLang="zh-CN" sz="2400" dirty="0" err="1">
                <a:latin typeface="+mn-ea"/>
              </a:rPr>
              <a:t>initRectangle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000" dirty="0" err="1">
                <a:latin typeface="+mn-ea"/>
              </a:rPr>
              <a:t>float,float,float,floa</a:t>
            </a:r>
            <a:r>
              <a:rPr lang="en-US" altLang="zh-CN" sz="2400" dirty="0" err="1">
                <a:latin typeface="+mn-ea"/>
              </a:rPr>
              <a:t>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getH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getW</a:t>
            </a:r>
            <a:r>
              <a:rPr lang="en-US" altLang="zh-CN" sz="2400" dirty="0">
                <a:latin typeface="+mn-ea"/>
              </a:rPr>
              <a:t>() const;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581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 animBg="1"/>
      <p:bldP spid="8" grpId="0" animBg="1"/>
      <p:bldP spid="7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D9EECAC-9AC8-42E9-85F6-03317B08C165}" type="slidenum">
              <a:rPr lang="en-US" altLang="zh-CN" sz="1400" smtClean="0"/>
              <a:pPr eaLnBrk="1" hangingPunct="1"/>
              <a:t>20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07504" y="332656"/>
            <a:ext cx="4032448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	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基类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initPoint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=0)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_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move(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+=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_y +=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 }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}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667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504" y="3645024"/>
            <a:ext cx="6445696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	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派生类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		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新增公有函数成员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initRectangle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45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initPoint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调用基类公有成员函数（不加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因为可区分）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_w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_h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getH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_h; }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_w; }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		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新增私有数据成员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667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_w, _h;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/>
          <p:cNvSpPr/>
          <p:nvPr/>
        </p:nvSpPr>
        <p:spPr>
          <a:xfrm>
            <a:off x="4212267" y="332656"/>
            <a:ext cx="4896237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rect.initRectangle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(2, 3, 20, 10);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rect.move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(3,2);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调用基类公有成员函数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data of 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x,y,w,h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 "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","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&lt;&lt;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rect.getW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rect.getH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24000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75200" y="4797152"/>
            <a:ext cx="2833148" cy="1015663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of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x,y,w,h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5,5,20,10</a:t>
            </a:r>
          </a:p>
          <a:p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2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673150"/>
            <a:ext cx="76200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公有继承</a:t>
            </a:r>
            <a:r>
              <a:rPr lang="en-US" altLang="zh-CN" dirty="0"/>
              <a:t>(public)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628800"/>
            <a:ext cx="8640960" cy="4343400"/>
          </a:xfrm>
        </p:spPr>
        <p:txBody>
          <a:bodyPr/>
          <a:lstStyle/>
          <a:p>
            <a:pPr eaLnBrk="1" hangingPunct="1"/>
            <a:r>
              <a:rPr lang="zh-CN" altLang="zh-CN" dirty="0"/>
              <a:t>基类的</a:t>
            </a:r>
            <a:r>
              <a:rPr lang="en-US" altLang="zh-CN" dirty="0"/>
              <a:t>public</a:t>
            </a:r>
            <a:r>
              <a:rPr lang="zh-CN" altLang="zh-CN" dirty="0"/>
              <a:t>和</a:t>
            </a:r>
            <a:r>
              <a:rPr lang="en-US" altLang="zh-CN" dirty="0"/>
              <a:t>protected</a:t>
            </a:r>
            <a:r>
              <a:rPr lang="zh-CN" altLang="zh-CN" dirty="0"/>
              <a:t>成员的访问属性在派生类中保持不变，但</a:t>
            </a:r>
            <a:r>
              <a:rPr lang="zh-CN" altLang="en-US" dirty="0"/>
              <a:t>基类的</a:t>
            </a:r>
            <a:r>
              <a:rPr lang="en-US" altLang="zh-CN" dirty="0"/>
              <a:t>private</a:t>
            </a:r>
            <a:r>
              <a:rPr lang="zh-CN" altLang="zh-CN" dirty="0"/>
              <a:t>成员不可</a:t>
            </a:r>
            <a:r>
              <a:rPr lang="zh-CN" altLang="en-US" dirty="0"/>
              <a:t>直接</a:t>
            </a:r>
            <a:r>
              <a:rPr lang="zh-CN" altLang="zh-CN" dirty="0"/>
              <a:t>访问。</a:t>
            </a:r>
          </a:p>
          <a:p>
            <a:pPr eaLnBrk="1" hangingPunct="1"/>
            <a:r>
              <a:rPr lang="zh-CN" altLang="zh-CN" dirty="0"/>
              <a:t>派生类中的成员函数可以直接访问基类中的</a:t>
            </a:r>
            <a:r>
              <a:rPr lang="en-US" altLang="zh-CN" dirty="0"/>
              <a:t>public</a:t>
            </a:r>
            <a:r>
              <a:rPr lang="zh-CN" altLang="zh-CN" dirty="0"/>
              <a:t>和</a:t>
            </a:r>
            <a:r>
              <a:rPr lang="en-US" altLang="zh-CN" dirty="0"/>
              <a:t>protected</a:t>
            </a:r>
            <a:r>
              <a:rPr lang="zh-CN" altLang="zh-CN" dirty="0"/>
              <a:t>成员，但不能直接访问基类的</a:t>
            </a:r>
            <a:r>
              <a:rPr lang="en-US" altLang="zh-CN" dirty="0"/>
              <a:t>private</a:t>
            </a:r>
            <a:r>
              <a:rPr lang="zh-CN" altLang="zh-CN" dirty="0"/>
              <a:t>成员。</a:t>
            </a:r>
          </a:p>
          <a:p>
            <a:pPr eaLnBrk="1" hangingPunct="1"/>
            <a:r>
              <a:rPr lang="zh-CN" altLang="zh-CN" dirty="0"/>
              <a:t>通过派生类的对象只能访问基类的</a:t>
            </a:r>
            <a:r>
              <a:rPr lang="en-US" altLang="zh-CN" dirty="0"/>
              <a:t>public</a:t>
            </a:r>
            <a:r>
              <a:rPr lang="zh-CN" altLang="zh-CN" dirty="0"/>
              <a:t>成员。</a:t>
            </a:r>
            <a:endParaRPr lang="zh-CN" altLang="en-US" dirty="0"/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74703CD-784E-42C3-8661-F57C9384BE4B}" type="slidenum">
              <a:rPr lang="en-US" altLang="zh-CN" sz="1400" smtClean="0"/>
              <a:pPr eaLnBrk="1" hangingPunct="1"/>
              <a:t>21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945437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55776" y="135796"/>
            <a:ext cx="167937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Rectangle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283968" y="116632"/>
            <a:ext cx="2197781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public Point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195737" y="3371038"/>
            <a:ext cx="360039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50"/>
                </a:solidFill>
              </a:rPr>
              <a:t>+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35897" y="3212976"/>
            <a:ext cx="504056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00B050"/>
                </a:solidFill>
              </a:rPr>
              <a:t>=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5625" y="3460938"/>
            <a:ext cx="2020168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派生的</a:t>
            </a:r>
            <a:endParaRPr lang="zh-CN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107504" y="724634"/>
            <a:ext cx="279288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继承的</a:t>
            </a:r>
            <a:r>
              <a:rPr lang="en-US" altLang="zh-CN" sz="2000" dirty="0"/>
              <a:t>(Point)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4139952" y="1124744"/>
            <a:ext cx="2533129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dirty="0"/>
              <a:t>Rectangle</a:t>
            </a:r>
            <a:r>
              <a:rPr lang="zh-CN" altLang="en-US" sz="2000" dirty="0"/>
              <a:t>实际拥有的</a:t>
            </a:r>
          </a:p>
        </p:txBody>
      </p:sp>
      <p:sp>
        <p:nvSpPr>
          <p:cNvPr id="8" name="矩形 7"/>
          <p:cNvSpPr/>
          <p:nvPr/>
        </p:nvSpPr>
        <p:spPr>
          <a:xfrm>
            <a:off x="251520" y="3805180"/>
            <a:ext cx="3456384" cy="2936188"/>
          </a:xfrm>
          <a:prstGeom prst="rect">
            <a:avLst/>
          </a:prstGeom>
          <a:solidFill>
            <a:schemeClr val="bg2">
              <a:lumMod val="90000"/>
              <a:alpha val="51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private:	</a:t>
            </a:r>
            <a:endParaRPr lang="zh-CN" altLang="en-US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_w, _h;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public:	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void </a:t>
            </a:r>
            <a:r>
              <a:rPr lang="en-US" altLang="zh-CN" sz="2400" dirty="0" err="1">
                <a:latin typeface="+mn-ea"/>
              </a:rPr>
              <a:t>initRectangle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      (</a:t>
            </a:r>
            <a:r>
              <a:rPr lang="en-US" altLang="zh-CN" sz="2000" dirty="0" err="1">
                <a:latin typeface="+mn-ea"/>
              </a:rPr>
              <a:t>float,float,float,floa</a:t>
            </a:r>
            <a:r>
              <a:rPr lang="en-US" altLang="zh-CN" sz="2400" dirty="0" err="1">
                <a:latin typeface="+mn-ea"/>
              </a:rPr>
              <a:t>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getH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float </a:t>
            </a:r>
            <a:r>
              <a:rPr lang="en-US" altLang="zh-CN" sz="2400" dirty="0" err="1">
                <a:latin typeface="+mn-ea"/>
              </a:rPr>
              <a:t>getW</a:t>
            </a:r>
            <a:r>
              <a:rPr lang="en-US" altLang="zh-CN" sz="2400" dirty="0">
                <a:latin typeface="+mn-ea"/>
              </a:rPr>
              <a:t>() const;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179512" y="1052736"/>
            <a:ext cx="3456384" cy="2209836"/>
          </a:xfrm>
          <a:prstGeom prst="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private:</a:t>
            </a:r>
            <a:r>
              <a:rPr lang="en-US" altLang="zh-CN" sz="2800" dirty="0">
                <a:latin typeface="+mn-ea"/>
              </a:rPr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 sz="2400" dirty="0">
                <a:latin typeface="+mn-ea"/>
              </a:rPr>
              <a:t>   </a:t>
            </a:r>
            <a:r>
              <a:rPr lang="en-US" altLang="zh-CN" sz="2400" dirty="0">
                <a:latin typeface="+mn-ea"/>
              </a:rPr>
              <a:t>float _x, _y;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public: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</a:t>
            </a:r>
            <a:r>
              <a:rPr lang="en-US" altLang="zh-CN" sz="2400" dirty="0" err="1">
                <a:latin typeface="+mn-ea"/>
              </a:rPr>
              <a:t>initPoint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0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void move(</a:t>
            </a:r>
            <a:r>
              <a:rPr lang="en-US" altLang="zh-CN" sz="2400" dirty="0" err="1">
                <a:latin typeface="+mn-ea"/>
              </a:rPr>
              <a:t>float,float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getX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getY</a:t>
            </a:r>
            <a:r>
              <a:rPr lang="en-US" altLang="zh-CN" sz="2400" dirty="0">
                <a:latin typeface="+mn-ea"/>
              </a:rPr>
              <a:t>() const;</a:t>
            </a:r>
          </a:p>
        </p:txBody>
      </p:sp>
      <p:sp>
        <p:nvSpPr>
          <p:cNvPr id="10" name="矩形 9"/>
          <p:cNvSpPr/>
          <p:nvPr/>
        </p:nvSpPr>
        <p:spPr>
          <a:xfrm>
            <a:off x="4031939" y="1448780"/>
            <a:ext cx="5220581" cy="4524315"/>
          </a:xfrm>
          <a:prstGeom prst="rect">
            <a:avLst/>
          </a:prstGeom>
          <a:solidFill>
            <a:schemeClr val="bg2">
              <a:lumMod val="90000"/>
              <a:alpha val="51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endParaRPr lang="en-US" altLang="zh-CN" sz="24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   float _x, _y;</a:t>
            </a:r>
            <a:r>
              <a:rPr lang="en-US" altLang="zh-CN" sz="2400" b="1" dirty="0">
                <a:latin typeface="+mn-ea"/>
              </a:rPr>
              <a:t> 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private:	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_w, _h;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public:	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void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initPoint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float,float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void move(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float,float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);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float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getX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() const;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   float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getY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void </a:t>
            </a:r>
            <a:r>
              <a:rPr lang="en-US" altLang="zh-CN" sz="2400" dirty="0" err="1">
                <a:latin typeface="+mn-ea"/>
              </a:rPr>
              <a:t>initRectangle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000" dirty="0" err="1">
                <a:latin typeface="+mn-ea"/>
              </a:rPr>
              <a:t>float,float,float,floa</a:t>
            </a:r>
            <a:r>
              <a:rPr lang="en-US" altLang="zh-CN" sz="2400" dirty="0" err="1">
                <a:latin typeface="+mn-ea"/>
              </a:rPr>
              <a:t>t</a:t>
            </a:r>
            <a:r>
              <a:rPr lang="en-US" altLang="zh-CN" sz="2400" dirty="0">
                <a:latin typeface="+mn-ea"/>
              </a:rPr>
              <a:t>);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getH</a:t>
            </a:r>
            <a:r>
              <a:rPr lang="en-US" altLang="zh-CN" sz="2400" dirty="0">
                <a:latin typeface="+mn-ea"/>
              </a:rPr>
              <a:t>() const;</a:t>
            </a:r>
          </a:p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en-US" altLang="zh-CN" sz="2400" dirty="0">
                <a:latin typeface="+mn-ea"/>
              </a:rPr>
              <a:t>   float </a:t>
            </a:r>
            <a:r>
              <a:rPr lang="en-US" altLang="zh-CN" sz="2400" dirty="0" err="1">
                <a:latin typeface="+mn-ea"/>
              </a:rPr>
              <a:t>getW</a:t>
            </a:r>
            <a:r>
              <a:rPr lang="en-US" altLang="zh-CN" sz="2400" dirty="0">
                <a:latin typeface="+mn-ea"/>
              </a:rPr>
              <a:t>() const;</a:t>
            </a:r>
            <a:endParaRPr lang="zh-CN" altLang="en-US" sz="2400" dirty="0"/>
          </a:p>
        </p:txBody>
      </p:sp>
      <p:sp>
        <p:nvSpPr>
          <p:cNvPr id="2" name="圆角矩形 1"/>
          <p:cNvSpPr/>
          <p:nvPr/>
        </p:nvSpPr>
        <p:spPr>
          <a:xfrm>
            <a:off x="251520" y="1124744"/>
            <a:ext cx="1728192" cy="648072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4211960" y="1628799"/>
            <a:ext cx="1791319" cy="75719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40183" y="1772816"/>
            <a:ext cx="3434930" cy="1489756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圆角矩形 17"/>
          <p:cNvSpPr/>
          <p:nvPr/>
        </p:nvSpPr>
        <p:spPr>
          <a:xfrm>
            <a:off x="4211960" y="3091372"/>
            <a:ext cx="3539729" cy="1633772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283968" y="4797152"/>
            <a:ext cx="4608512" cy="1080120"/>
          </a:xfrm>
          <a:prstGeom prst="roundRect">
            <a:avLst/>
          </a:prstGeom>
          <a:solidFill>
            <a:schemeClr val="bg2">
              <a:lumMod val="90000"/>
              <a:alpha val="48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右箭头 2"/>
          <p:cNvSpPr/>
          <p:nvPr/>
        </p:nvSpPr>
        <p:spPr>
          <a:xfrm>
            <a:off x="6042495" y="1772816"/>
            <a:ext cx="2345929" cy="3024336"/>
          </a:xfrm>
          <a:prstGeom prst="bentArrow">
            <a:avLst>
              <a:gd name="adj1" fmla="val 25000"/>
              <a:gd name="adj2" fmla="val 3230"/>
              <a:gd name="adj3" fmla="val 6149"/>
              <a:gd name="adj4" fmla="val 22737"/>
            </a:avLst>
          </a:prstGeom>
          <a:solidFill>
            <a:schemeClr val="accent3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乘号 19"/>
          <p:cNvSpPr/>
          <p:nvPr/>
        </p:nvSpPr>
        <p:spPr>
          <a:xfrm>
            <a:off x="7956376" y="2764788"/>
            <a:ext cx="755576" cy="808228"/>
          </a:xfrm>
          <a:prstGeom prst="mathMultiply">
            <a:avLst>
              <a:gd name="adj1" fmla="val 39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388768" y="1916832"/>
            <a:ext cx="108012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139952" y="1556792"/>
            <a:ext cx="1954381" cy="482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不可访问：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   </a:t>
            </a:r>
          </a:p>
        </p:txBody>
      </p:sp>
      <p:sp>
        <p:nvSpPr>
          <p:cNvPr id="28" name="左弧形箭头 27"/>
          <p:cNvSpPr/>
          <p:nvPr/>
        </p:nvSpPr>
        <p:spPr>
          <a:xfrm>
            <a:off x="3779911" y="3660992"/>
            <a:ext cx="504057" cy="1676219"/>
          </a:xfrm>
          <a:prstGeom prst="curvedRightArrow">
            <a:avLst>
              <a:gd name="adj1" fmla="val 25000"/>
              <a:gd name="adj2" fmla="val 62699"/>
              <a:gd name="adj3" fmla="val 14922"/>
            </a:avLst>
          </a:prstGeom>
          <a:solidFill>
            <a:schemeClr val="accent3"/>
          </a:solidFill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13223" y="4221088"/>
            <a:ext cx="526729" cy="313815"/>
            <a:chOff x="3635897" y="5995505"/>
            <a:chExt cx="526729" cy="31381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296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18" grpId="0" animBg="1"/>
      <p:bldP spid="19" grpId="0" animBg="1"/>
      <p:bldP spid="3" grpId="0" animBg="1"/>
      <p:bldP spid="20" grpId="0" animBg="1"/>
      <p:bldP spid="23" grpId="0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987824" y="1196752"/>
            <a:ext cx="1645734" cy="1146060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46870" y="135796"/>
            <a:ext cx="122180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class B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283968" y="116632"/>
            <a:ext cx="161294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public A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1691680" y="3933056"/>
            <a:ext cx="360039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50"/>
                </a:solidFill>
              </a:rPr>
              <a:t>+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55776" y="3923699"/>
            <a:ext cx="504056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00B050"/>
                </a:solidFill>
              </a:rPr>
              <a:t>=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79512" y="4181018"/>
            <a:ext cx="2304255" cy="2056294"/>
            <a:chOff x="179512" y="4109010"/>
            <a:chExt cx="2304255" cy="2056294"/>
          </a:xfrm>
        </p:grpSpPr>
        <p:sp>
          <p:nvSpPr>
            <p:cNvPr id="13" name="矩形 12"/>
            <p:cNvSpPr/>
            <p:nvPr/>
          </p:nvSpPr>
          <p:spPr>
            <a:xfrm>
              <a:off x="179512" y="4109010"/>
              <a:ext cx="2013693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B: public A</a:t>
              </a:r>
              <a:endParaRPr lang="zh-CN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520" y="4447911"/>
              <a:ext cx="2232247" cy="1717393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  <a:endParaRPr lang="zh-CN" altLang="en-US" sz="2400" dirty="0"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void k( );</a:t>
              </a:r>
              <a:endParaRPr lang="zh-CN" altLang="en-US" sz="24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07504" y="724634"/>
            <a:ext cx="2448272" cy="3128869"/>
            <a:chOff x="107504" y="724634"/>
            <a:chExt cx="2448272" cy="3128869"/>
          </a:xfrm>
        </p:grpSpPr>
        <p:sp>
          <p:nvSpPr>
            <p:cNvPr id="14" name="矩形 13"/>
            <p:cNvSpPr/>
            <p:nvPr/>
          </p:nvSpPr>
          <p:spPr>
            <a:xfrm>
              <a:off x="107504" y="724634"/>
              <a:ext cx="930063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A</a:t>
              </a:r>
              <a:endParaRPr lang="zh-CN" altLang="en-US" sz="20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79513" y="1052736"/>
              <a:ext cx="2376263" cy="2800767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private:</a:t>
              </a:r>
              <a:r>
                <a:rPr lang="en-US" altLang="zh-CN" sz="2800" dirty="0">
                  <a:latin typeface="+mn-ea"/>
                </a:rPr>
                <a:t>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zh-CN" altLang="en-US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</a:rPr>
                <a:t>int _x;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f(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 err="1">
                  <a:latin typeface="+mn-ea"/>
                </a:rPr>
                <a:t>protectd</a:t>
              </a:r>
              <a:r>
                <a:rPr lang="en-US" altLang="zh-CN" sz="2400" dirty="0">
                  <a:latin typeface="+mn-ea"/>
                </a:rPr>
                <a:t>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_y;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g(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public: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_z;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h( );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915815" y="692696"/>
            <a:ext cx="3240361" cy="5623019"/>
            <a:chOff x="2915815" y="692696"/>
            <a:chExt cx="3240361" cy="5623019"/>
          </a:xfrm>
        </p:grpSpPr>
        <p:sp>
          <p:nvSpPr>
            <p:cNvPr id="15" name="矩形 14"/>
            <p:cNvSpPr/>
            <p:nvPr/>
          </p:nvSpPr>
          <p:spPr>
            <a:xfrm>
              <a:off x="2915815" y="692696"/>
              <a:ext cx="1624163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B</a:t>
              </a:r>
              <a:r>
                <a:rPr lang="zh-CN" altLang="en-US" sz="2000" dirty="0"/>
                <a:t>实际拥有的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915816" y="1052736"/>
              <a:ext cx="3240360" cy="5262979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_x;</a:t>
              </a:r>
              <a:r>
                <a:rPr lang="en-US" altLang="zh-CN" sz="2400" b="1" dirty="0">
                  <a:latin typeface="+mn-ea"/>
                </a:rPr>
                <a:t>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f(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_y;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g(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_z;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h(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k( );</a:t>
              </a:r>
              <a:endParaRPr lang="zh-CN" altLang="en-US" sz="2400" dirty="0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51520" y="1074031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87824" y="2395407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909366" y="4555345"/>
            <a:ext cx="526729" cy="313815"/>
            <a:chOff x="3635897" y="5995505"/>
            <a:chExt cx="526729" cy="31381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圆角矩形 24"/>
          <p:cNvSpPr/>
          <p:nvPr/>
        </p:nvSpPr>
        <p:spPr>
          <a:xfrm>
            <a:off x="251520" y="2010135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251520" y="2924944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59831" y="5877271"/>
            <a:ext cx="1612943" cy="424849"/>
          </a:xfrm>
          <a:prstGeom prst="roundRect">
            <a:avLst/>
          </a:prstGeom>
          <a:solidFill>
            <a:schemeClr val="bg2">
              <a:lumMod val="90000"/>
              <a:alpha val="48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59831" y="2350041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protected: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2987824" y="3573016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弧形箭头 5"/>
          <p:cNvSpPr/>
          <p:nvPr/>
        </p:nvSpPr>
        <p:spPr>
          <a:xfrm>
            <a:off x="4672774" y="1578087"/>
            <a:ext cx="1267377" cy="4659225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4644007" y="2708920"/>
            <a:ext cx="792088" cy="3456384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269406" y="3861048"/>
            <a:ext cx="526729" cy="313815"/>
            <a:chOff x="3635897" y="5995505"/>
            <a:chExt cx="526729" cy="313815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右弧形箭头 37"/>
          <p:cNvSpPr/>
          <p:nvPr/>
        </p:nvSpPr>
        <p:spPr>
          <a:xfrm>
            <a:off x="4672774" y="3994842"/>
            <a:ext cx="475290" cy="2094853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300192" y="699895"/>
            <a:ext cx="2520280" cy="4095165"/>
            <a:chOff x="6300192" y="699895"/>
            <a:chExt cx="2520280" cy="4095165"/>
          </a:xfrm>
        </p:grpSpPr>
        <p:sp>
          <p:nvSpPr>
            <p:cNvPr id="39" name="矩形 38"/>
            <p:cNvSpPr/>
            <p:nvPr/>
          </p:nvSpPr>
          <p:spPr>
            <a:xfrm>
              <a:off x="6300192" y="699895"/>
              <a:ext cx="987771" cy="40011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main( )</a:t>
              </a:r>
              <a:endParaRPr lang="zh-CN" altLang="en-US" sz="2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6372202" y="1046341"/>
              <a:ext cx="2448270" cy="3748719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1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B </a:t>
              </a:r>
              <a:r>
                <a:rPr lang="en-US" altLang="zh-CN" sz="2400" dirty="0" err="1">
                  <a:latin typeface="+mn-ea"/>
                </a:rPr>
                <a:t>b</a:t>
              </a:r>
              <a:r>
                <a:rPr lang="en-US" altLang="zh-CN" sz="2400" dirty="0">
                  <a:latin typeface="+mn-ea"/>
                </a:rPr>
                <a:t>;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b._x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b.f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b._y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b.g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b._z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b.h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b._m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b.k</a:t>
              </a:r>
              <a:r>
                <a:rPr lang="en-US" altLang="zh-CN" sz="2400" dirty="0">
                  <a:latin typeface="+mn-ea"/>
                </a:rPr>
                <a:t>( );</a:t>
              </a:r>
              <a:endParaRPr lang="zh-CN" altLang="en-US" sz="2400" dirty="0"/>
            </a:p>
          </p:txBody>
        </p:sp>
      </p:grpSp>
      <p:sp>
        <p:nvSpPr>
          <p:cNvPr id="41" name="圆角矩形 40"/>
          <p:cNvSpPr/>
          <p:nvPr/>
        </p:nvSpPr>
        <p:spPr>
          <a:xfrm>
            <a:off x="6660232" y="1562860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6660232" y="2348880"/>
            <a:ext cx="1645734" cy="720080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6660232" y="3147036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6660232" y="393912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6588224" y="436510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8172400" y="4365104"/>
            <a:ext cx="526729" cy="288033"/>
            <a:chOff x="3635897" y="5995505"/>
            <a:chExt cx="526729" cy="313815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8172400" y="3356992"/>
            <a:ext cx="526729" cy="288033"/>
            <a:chOff x="3635897" y="5995505"/>
            <a:chExt cx="526729" cy="313815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乘号 51"/>
          <p:cNvSpPr/>
          <p:nvPr/>
        </p:nvSpPr>
        <p:spPr>
          <a:xfrm>
            <a:off x="8064896" y="1540652"/>
            <a:ext cx="634233" cy="736220"/>
          </a:xfrm>
          <a:prstGeom prst="mathMultiply">
            <a:avLst>
              <a:gd name="adj1" fmla="val 28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乘号 52"/>
          <p:cNvSpPr/>
          <p:nvPr/>
        </p:nvSpPr>
        <p:spPr>
          <a:xfrm>
            <a:off x="8028384" y="2332740"/>
            <a:ext cx="634233" cy="736220"/>
          </a:xfrm>
          <a:prstGeom prst="mathMultiply">
            <a:avLst>
              <a:gd name="adj1" fmla="val 280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乘号 53"/>
          <p:cNvSpPr/>
          <p:nvPr/>
        </p:nvSpPr>
        <p:spPr>
          <a:xfrm>
            <a:off x="8125060" y="3861048"/>
            <a:ext cx="407380" cy="576064"/>
          </a:xfrm>
          <a:prstGeom prst="mathMultiply">
            <a:avLst>
              <a:gd name="adj1" fmla="val 668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乘号 19"/>
          <p:cNvSpPr/>
          <p:nvPr/>
        </p:nvSpPr>
        <p:spPr>
          <a:xfrm>
            <a:off x="5508104" y="2564904"/>
            <a:ext cx="755576" cy="808228"/>
          </a:xfrm>
          <a:prstGeom prst="mathMultiply">
            <a:avLst>
              <a:gd name="adj1" fmla="val 2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箭头连接符 57"/>
          <p:cNvCxnSpPr/>
          <p:nvPr/>
        </p:nvCxnSpPr>
        <p:spPr>
          <a:xfrm>
            <a:off x="4499992" y="620688"/>
            <a:ext cx="936103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079614" y="4509120"/>
            <a:ext cx="756082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915816" y="1124744"/>
            <a:ext cx="1954381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zh-CN" altLang="en-US" sz="2400" b="1" dirty="0">
                <a:latin typeface="+mn-ea"/>
              </a:rPr>
              <a:t>不可访问：</a:t>
            </a:r>
            <a:r>
              <a:rPr lang="en-US" altLang="zh-CN" sz="2400" b="1" dirty="0">
                <a:latin typeface="+mn-ea"/>
              </a:rPr>
              <a:t>   </a:t>
            </a:r>
          </a:p>
        </p:txBody>
      </p:sp>
      <p:sp>
        <p:nvSpPr>
          <p:cNvPr id="29" name="矩形 28"/>
          <p:cNvSpPr/>
          <p:nvPr/>
        </p:nvSpPr>
        <p:spPr>
          <a:xfrm>
            <a:off x="3059831" y="3501008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public:</a:t>
            </a:r>
          </a:p>
        </p:txBody>
      </p:sp>
    </p:spTree>
    <p:extLst>
      <p:ext uri="{BB962C8B-B14F-4D97-AF65-F5344CB8AC3E}">
        <p14:creationId xmlns:p14="http://schemas.microsoft.com/office/powerpoint/2010/main" val="62957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/>
      <p:bldP spid="12" grpId="0"/>
      <p:bldP spid="2" grpId="0" animBg="1"/>
      <p:bldP spid="18" grpId="0" animBg="1"/>
      <p:bldP spid="25" grpId="0" animBg="1"/>
      <p:bldP spid="26" grpId="0" animBg="1"/>
      <p:bldP spid="27" grpId="0" animBg="1"/>
      <p:bldP spid="4" grpId="0"/>
      <p:bldP spid="31" grpId="0" animBg="1"/>
      <p:bldP spid="6" grpId="0" animBg="1"/>
      <p:bldP spid="34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2" grpId="0" animBg="1"/>
      <p:bldP spid="53" grpId="0" animBg="1"/>
      <p:bldP spid="54" grpId="0" animBg="1"/>
      <p:bldP spid="20" grpId="0" animBg="1"/>
      <p:bldP spid="23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私有继承</a:t>
            </a:r>
            <a:r>
              <a:rPr lang="en-US" altLang="zh-CN" dirty="0"/>
              <a:t>(private)</a:t>
            </a:r>
          </a:p>
        </p:txBody>
      </p:sp>
      <p:sp>
        <p:nvSpPr>
          <p:cNvPr id="17412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class</a:t>
            </a:r>
            <a:r>
              <a:rPr lang="zh-CN" altLang="en-US" dirty="0"/>
              <a:t>的默认继承方式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基类的</a:t>
            </a:r>
            <a:r>
              <a:rPr lang="en-US" altLang="zh-CN" dirty="0"/>
              <a:t>public</a:t>
            </a:r>
            <a:r>
              <a:rPr lang="zh-CN" altLang="en-US" dirty="0"/>
              <a:t>和</a:t>
            </a:r>
            <a:r>
              <a:rPr lang="en-US" altLang="zh-CN" dirty="0"/>
              <a:t>protected</a:t>
            </a:r>
            <a:r>
              <a:rPr lang="zh-CN" altLang="en-US" dirty="0"/>
              <a:t>成员都以</a:t>
            </a:r>
            <a:r>
              <a:rPr lang="en-US" altLang="zh-CN" dirty="0">
                <a:solidFill>
                  <a:srgbClr val="FF0000"/>
                </a:solidFill>
              </a:rPr>
              <a:t>private</a:t>
            </a:r>
            <a:r>
              <a:rPr lang="zh-CN" altLang="en-US" dirty="0"/>
              <a:t>身份出现在派生类中，但基类的</a:t>
            </a:r>
            <a:r>
              <a:rPr lang="en-US" altLang="zh-CN" dirty="0"/>
              <a:t>private</a:t>
            </a:r>
            <a:r>
              <a:rPr lang="zh-CN" altLang="en-US" dirty="0"/>
              <a:t>成员不可直接访问。</a:t>
            </a:r>
            <a:r>
              <a:rPr lang="zh-CN" altLang="en-US" dirty="0">
                <a:solidFill>
                  <a:srgbClr val="FF0000"/>
                </a:solidFill>
              </a:rPr>
              <a:t>（私有继承私有化）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dirty="0"/>
              <a:t>派生类中的成员函数可以直接访问基类中的</a:t>
            </a:r>
            <a:r>
              <a:rPr lang="en-US" altLang="zh-CN" dirty="0"/>
              <a:t>public</a:t>
            </a:r>
            <a:r>
              <a:rPr lang="zh-CN" altLang="zh-CN" dirty="0"/>
              <a:t>和</a:t>
            </a:r>
            <a:r>
              <a:rPr lang="en-US" altLang="zh-CN" dirty="0"/>
              <a:t>protected</a:t>
            </a:r>
            <a:r>
              <a:rPr lang="zh-CN" altLang="zh-CN" dirty="0"/>
              <a:t>成员，但不能直接访问基类的</a:t>
            </a:r>
            <a:r>
              <a:rPr lang="en-US" altLang="zh-CN" dirty="0"/>
              <a:t>private</a:t>
            </a:r>
            <a:r>
              <a:rPr lang="zh-CN" altLang="zh-CN" dirty="0"/>
              <a:t>成员。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dirty="0"/>
              <a:t>通过派生类的对象不能直接访问基类中的任何成员。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保持继承的性质</a:t>
            </a:r>
          </a:p>
        </p:txBody>
      </p:sp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94DD71F-6B79-4E2F-89E8-43E6AA1D48B1}" type="slidenum">
              <a:rPr lang="en-US" altLang="zh-CN" sz="1400" smtClean="0"/>
              <a:pPr eaLnBrk="1" hangingPunct="1"/>
              <a:t>24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94795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987824" y="1196752"/>
            <a:ext cx="1645734" cy="1146060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46870" y="135796"/>
            <a:ext cx="122180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class B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283968" y="116632"/>
            <a:ext cx="174400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private A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1691680" y="3933056"/>
            <a:ext cx="360039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50"/>
                </a:solidFill>
              </a:rPr>
              <a:t>+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55776" y="3923699"/>
            <a:ext cx="504056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00B050"/>
                </a:solidFill>
              </a:rPr>
              <a:t>=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79512" y="4181018"/>
            <a:ext cx="2304255" cy="2056294"/>
            <a:chOff x="179512" y="4109010"/>
            <a:chExt cx="2304255" cy="2056294"/>
          </a:xfrm>
        </p:grpSpPr>
        <p:sp>
          <p:nvSpPr>
            <p:cNvPr id="13" name="矩形 12"/>
            <p:cNvSpPr/>
            <p:nvPr/>
          </p:nvSpPr>
          <p:spPr>
            <a:xfrm>
              <a:off x="179512" y="4109010"/>
              <a:ext cx="2108206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B: private A</a:t>
              </a:r>
              <a:endParaRPr lang="zh-CN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520" y="4447911"/>
              <a:ext cx="2232247" cy="1717393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  <a:endParaRPr lang="zh-CN" altLang="en-US" sz="2400" dirty="0"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void k( );</a:t>
              </a:r>
              <a:endParaRPr lang="zh-CN" altLang="en-US" sz="24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07504" y="724634"/>
            <a:ext cx="2448272" cy="3128869"/>
            <a:chOff x="107504" y="724634"/>
            <a:chExt cx="2448272" cy="3128869"/>
          </a:xfrm>
        </p:grpSpPr>
        <p:sp>
          <p:nvSpPr>
            <p:cNvPr id="14" name="矩形 13"/>
            <p:cNvSpPr/>
            <p:nvPr/>
          </p:nvSpPr>
          <p:spPr>
            <a:xfrm>
              <a:off x="107504" y="724634"/>
              <a:ext cx="930063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A</a:t>
              </a:r>
              <a:endParaRPr lang="zh-CN" altLang="en-US" sz="20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79513" y="1052736"/>
              <a:ext cx="2376263" cy="2800767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private:</a:t>
              </a:r>
              <a:r>
                <a:rPr lang="en-US" altLang="zh-CN" sz="2800" dirty="0">
                  <a:latin typeface="+mn-ea"/>
                </a:rPr>
                <a:t>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zh-CN" altLang="en-US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</a:rPr>
                <a:t>int _x;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f(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 err="1">
                  <a:latin typeface="+mn-ea"/>
                </a:rPr>
                <a:t>protectd</a:t>
              </a:r>
              <a:r>
                <a:rPr lang="en-US" altLang="zh-CN" sz="2400" dirty="0">
                  <a:latin typeface="+mn-ea"/>
                </a:rPr>
                <a:t>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_y;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g(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public: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_z;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h( );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915815" y="692696"/>
            <a:ext cx="3240361" cy="5623019"/>
            <a:chOff x="2915815" y="692696"/>
            <a:chExt cx="3240361" cy="5623019"/>
          </a:xfrm>
        </p:grpSpPr>
        <p:sp>
          <p:nvSpPr>
            <p:cNvPr id="15" name="矩形 14"/>
            <p:cNvSpPr/>
            <p:nvPr/>
          </p:nvSpPr>
          <p:spPr>
            <a:xfrm>
              <a:off x="2915815" y="692696"/>
              <a:ext cx="1624163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B</a:t>
              </a:r>
              <a:r>
                <a:rPr lang="zh-CN" altLang="en-US" sz="2000" dirty="0"/>
                <a:t>实际拥有的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915816" y="1052736"/>
              <a:ext cx="3240360" cy="5262979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_x;</a:t>
              </a:r>
              <a:r>
                <a:rPr lang="en-US" altLang="zh-CN" sz="2400" b="1" dirty="0">
                  <a:latin typeface="+mn-ea"/>
                </a:rPr>
                <a:t>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f(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_y;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g(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_z;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h(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k( );</a:t>
              </a:r>
              <a:endParaRPr lang="zh-CN" altLang="en-US" sz="2400" dirty="0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79512" y="1074031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87824" y="2395407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909366" y="4555345"/>
            <a:ext cx="526729" cy="313815"/>
            <a:chOff x="3635897" y="5995505"/>
            <a:chExt cx="526729" cy="31381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圆角矩形 24"/>
          <p:cNvSpPr/>
          <p:nvPr/>
        </p:nvSpPr>
        <p:spPr>
          <a:xfrm>
            <a:off x="179512" y="2010135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179512" y="2924944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59831" y="5877271"/>
            <a:ext cx="1612943" cy="424849"/>
          </a:xfrm>
          <a:prstGeom prst="roundRect">
            <a:avLst/>
          </a:prstGeom>
          <a:solidFill>
            <a:schemeClr val="bg2">
              <a:lumMod val="90000"/>
              <a:alpha val="48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59831" y="2350041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private: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020615" y="3573016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弧形箭头 5"/>
          <p:cNvSpPr/>
          <p:nvPr/>
        </p:nvSpPr>
        <p:spPr>
          <a:xfrm>
            <a:off x="4672774" y="1578087"/>
            <a:ext cx="1267377" cy="4659225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4644007" y="2708920"/>
            <a:ext cx="792088" cy="3456384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269406" y="3861048"/>
            <a:ext cx="526729" cy="313815"/>
            <a:chOff x="3635897" y="5995505"/>
            <a:chExt cx="526729" cy="313815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右弧形箭头 37"/>
          <p:cNvSpPr/>
          <p:nvPr/>
        </p:nvSpPr>
        <p:spPr>
          <a:xfrm>
            <a:off x="4672774" y="3994842"/>
            <a:ext cx="475290" cy="2094853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300192" y="699895"/>
            <a:ext cx="2520280" cy="4095165"/>
            <a:chOff x="6300192" y="699895"/>
            <a:chExt cx="2520280" cy="4095165"/>
          </a:xfrm>
        </p:grpSpPr>
        <p:sp>
          <p:nvSpPr>
            <p:cNvPr id="39" name="矩形 38"/>
            <p:cNvSpPr/>
            <p:nvPr/>
          </p:nvSpPr>
          <p:spPr>
            <a:xfrm>
              <a:off x="6300192" y="699895"/>
              <a:ext cx="987771" cy="40011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main( )</a:t>
              </a:r>
              <a:endParaRPr lang="zh-CN" altLang="en-US" sz="2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6372202" y="1046341"/>
              <a:ext cx="2448270" cy="3748719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1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B </a:t>
              </a:r>
              <a:r>
                <a:rPr lang="en-US" altLang="zh-CN" sz="2400" dirty="0" err="1">
                  <a:latin typeface="+mn-ea"/>
                </a:rPr>
                <a:t>b</a:t>
              </a:r>
              <a:r>
                <a:rPr lang="en-US" altLang="zh-CN" sz="2400" dirty="0">
                  <a:latin typeface="+mn-ea"/>
                </a:rPr>
                <a:t>;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b._x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b.f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b._y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b.g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b._z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b.h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b._m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b.k</a:t>
              </a:r>
              <a:r>
                <a:rPr lang="en-US" altLang="zh-CN" sz="2400" dirty="0">
                  <a:latin typeface="+mn-ea"/>
                </a:rPr>
                <a:t>( );</a:t>
              </a:r>
              <a:endParaRPr lang="zh-CN" altLang="en-US" sz="2400" dirty="0"/>
            </a:p>
          </p:txBody>
        </p:sp>
      </p:grpSp>
      <p:sp>
        <p:nvSpPr>
          <p:cNvPr id="41" name="圆角矩形 40"/>
          <p:cNvSpPr/>
          <p:nvPr/>
        </p:nvSpPr>
        <p:spPr>
          <a:xfrm>
            <a:off x="6660232" y="1562860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6660232" y="2348880"/>
            <a:ext cx="1645734" cy="720080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6660232" y="3147036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6660232" y="393912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6588224" y="436510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8172400" y="4365104"/>
            <a:ext cx="526729" cy="288033"/>
            <a:chOff x="3635897" y="5995505"/>
            <a:chExt cx="526729" cy="313815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乘号 51"/>
          <p:cNvSpPr/>
          <p:nvPr/>
        </p:nvSpPr>
        <p:spPr>
          <a:xfrm>
            <a:off x="8064896" y="1540652"/>
            <a:ext cx="634233" cy="73622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乘号 52"/>
          <p:cNvSpPr/>
          <p:nvPr/>
        </p:nvSpPr>
        <p:spPr>
          <a:xfrm>
            <a:off x="8028384" y="2332740"/>
            <a:ext cx="634233" cy="736220"/>
          </a:xfrm>
          <a:prstGeom prst="mathMultiply">
            <a:avLst>
              <a:gd name="adj1" fmla="val 134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乘号 53"/>
          <p:cNvSpPr/>
          <p:nvPr/>
        </p:nvSpPr>
        <p:spPr>
          <a:xfrm>
            <a:off x="8125060" y="3861048"/>
            <a:ext cx="407380" cy="576064"/>
          </a:xfrm>
          <a:prstGeom prst="mathMultiply">
            <a:avLst>
              <a:gd name="adj1" fmla="val 21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乘号 19"/>
          <p:cNvSpPr/>
          <p:nvPr/>
        </p:nvSpPr>
        <p:spPr>
          <a:xfrm>
            <a:off x="5508104" y="2564904"/>
            <a:ext cx="755576" cy="808228"/>
          </a:xfrm>
          <a:prstGeom prst="mathMultiply">
            <a:avLst>
              <a:gd name="adj1" fmla="val 152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箭头连接符 57"/>
          <p:cNvCxnSpPr/>
          <p:nvPr/>
        </p:nvCxnSpPr>
        <p:spPr>
          <a:xfrm>
            <a:off x="4499992" y="620688"/>
            <a:ext cx="936103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079614" y="4509120"/>
            <a:ext cx="756082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915816" y="1124744"/>
            <a:ext cx="1954381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zh-CN" altLang="en-US" sz="2400" b="1" dirty="0">
                <a:latin typeface="+mn-ea"/>
              </a:rPr>
              <a:t>不可访问：</a:t>
            </a:r>
            <a:r>
              <a:rPr lang="en-US" altLang="zh-CN" sz="2400" b="1" dirty="0">
                <a:latin typeface="+mn-ea"/>
              </a:rPr>
              <a:t>   </a:t>
            </a:r>
          </a:p>
        </p:txBody>
      </p:sp>
      <p:sp>
        <p:nvSpPr>
          <p:cNvPr id="29" name="矩形 28"/>
          <p:cNvSpPr/>
          <p:nvPr/>
        </p:nvSpPr>
        <p:spPr>
          <a:xfrm>
            <a:off x="3059831" y="3501008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private:</a:t>
            </a:r>
          </a:p>
        </p:txBody>
      </p:sp>
      <p:sp>
        <p:nvSpPr>
          <p:cNvPr id="57" name="乘号 56"/>
          <p:cNvSpPr/>
          <p:nvPr/>
        </p:nvSpPr>
        <p:spPr>
          <a:xfrm>
            <a:off x="8028384" y="3124828"/>
            <a:ext cx="634233" cy="736220"/>
          </a:xfrm>
          <a:prstGeom prst="mathMultiply">
            <a:avLst>
              <a:gd name="adj1" fmla="val 134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97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/>
      <p:bldP spid="12" grpId="0"/>
      <p:bldP spid="2" grpId="0" animBg="1"/>
      <p:bldP spid="18" grpId="0" animBg="1"/>
      <p:bldP spid="25" grpId="0" animBg="1"/>
      <p:bldP spid="26" grpId="0" animBg="1"/>
      <p:bldP spid="27" grpId="0" animBg="1"/>
      <p:bldP spid="4" grpId="0"/>
      <p:bldP spid="31" grpId="0" animBg="1"/>
      <p:bldP spid="6" grpId="0" animBg="1"/>
      <p:bldP spid="34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2" grpId="0" animBg="1"/>
      <p:bldP spid="53" grpId="0" animBg="1"/>
      <p:bldP spid="54" grpId="0" animBg="1"/>
      <p:bldP spid="20" grpId="0" animBg="1"/>
      <p:bldP spid="23" grpId="0"/>
      <p:bldP spid="29" grpId="0"/>
      <p:bldP spid="5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-171400"/>
            <a:ext cx="7315200" cy="936104"/>
          </a:xfrm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: </a:t>
            </a:r>
            <a:r>
              <a:rPr lang="zh-CN" altLang="en-US" dirty="0"/>
              <a:t>私有继承举例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53328" y="798558"/>
            <a:ext cx="7200800" cy="5544616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class Rectangle: private Point      //</a:t>
            </a:r>
            <a:r>
              <a:rPr lang="zh-CN" altLang="en-US" sz="1600" dirty="0">
                <a:latin typeface="Consolas" panose="020B0609020204030204" pitchFamily="49" charset="0"/>
              </a:rPr>
              <a:t>派生类定义部分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{public:			//</a:t>
            </a:r>
            <a:r>
              <a:rPr lang="zh-CN" altLang="en-US" sz="1600" dirty="0">
                <a:latin typeface="Consolas" panose="020B0609020204030204" pitchFamily="49" charset="0"/>
              </a:rPr>
              <a:t>新增公有函数成员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latin typeface="Consolas" panose="020B0609020204030204" pitchFamily="49" charset="0"/>
              </a:rPr>
              <a:t>void </a:t>
            </a:r>
            <a:r>
              <a:rPr lang="en-US" altLang="zh-CN" sz="1600" dirty="0" err="1">
                <a:latin typeface="Consolas" panose="020B0609020204030204" pitchFamily="49" charset="0"/>
              </a:rPr>
              <a:t>initRectangle</a:t>
            </a:r>
            <a:r>
              <a:rPr lang="en-US" altLang="zh-CN" sz="1600" dirty="0">
                <a:latin typeface="Consolas" panose="020B0609020204030204" pitchFamily="49" charset="0"/>
              </a:rPr>
              <a:t>(float x, float y, float w, float h)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{	</a:t>
            </a:r>
            <a:r>
              <a:rPr lang="en-US" altLang="zh-CN" sz="1600" dirty="0" err="1">
                <a:latin typeface="Consolas" panose="020B0609020204030204" pitchFamily="49" charset="0"/>
              </a:rPr>
              <a:t>initPoint</a:t>
            </a:r>
            <a:r>
              <a:rPr lang="en-US" altLang="zh-CN" sz="1600" dirty="0">
                <a:latin typeface="Consolas" panose="020B0609020204030204" pitchFamily="49" charset="0"/>
              </a:rPr>
              <a:t>(x, y); 		//</a:t>
            </a:r>
            <a:r>
              <a:rPr lang="zh-CN" altLang="en-US" sz="1600" dirty="0">
                <a:latin typeface="Consolas" panose="020B0609020204030204" pitchFamily="49" charset="0"/>
              </a:rPr>
              <a:t>调用基类公有成员函数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		</a:t>
            </a:r>
            <a:r>
              <a:rPr lang="en-US" altLang="zh-CN" sz="1600" dirty="0">
                <a:latin typeface="Consolas" panose="020B0609020204030204" pitchFamily="49" charset="0"/>
              </a:rPr>
              <a:t>_w = w;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	_h = h;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void move(float </a:t>
            </a:r>
            <a:r>
              <a:rPr lang="en-US" altLang="zh-CN" sz="1600" dirty="0" err="1">
                <a:latin typeface="Consolas" panose="020B0609020204030204" pitchFamily="49" charset="0"/>
              </a:rPr>
              <a:t>offX</a:t>
            </a:r>
            <a:r>
              <a:rPr lang="en-US" altLang="zh-CN" sz="1600" dirty="0">
                <a:latin typeface="Consolas" panose="020B0609020204030204" pitchFamily="49" charset="0"/>
              </a:rPr>
              <a:t>, float </a:t>
            </a:r>
            <a:r>
              <a:rPr lang="en-US" altLang="zh-CN" sz="1600" dirty="0" err="1">
                <a:latin typeface="Consolas" panose="020B0609020204030204" pitchFamily="49" charset="0"/>
              </a:rPr>
              <a:t>offY</a:t>
            </a:r>
            <a:r>
              <a:rPr lang="en-US" altLang="zh-CN" sz="16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{ 	Point::move(</a:t>
            </a:r>
            <a:r>
              <a:rPr lang="en-US" altLang="zh-CN" sz="1600" dirty="0" err="1">
                <a:latin typeface="Consolas" panose="020B0609020204030204" pitchFamily="49" charset="0"/>
              </a:rPr>
              <a:t>offX</a:t>
            </a:r>
            <a:r>
              <a:rPr lang="en-US" altLang="zh-CN" sz="1600" dirty="0">
                <a:latin typeface="Consolas" panose="020B0609020204030204" pitchFamily="49" charset="0"/>
              </a:rPr>
              <a:t>, </a:t>
            </a:r>
            <a:r>
              <a:rPr lang="en-US" altLang="zh-CN" sz="1600" dirty="0" err="1">
                <a:latin typeface="Consolas" panose="020B0609020204030204" pitchFamily="49" charset="0"/>
              </a:rPr>
              <a:t>offY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float </a:t>
            </a:r>
            <a:r>
              <a:rPr lang="en-US" altLang="zh-CN" sz="1600" dirty="0" err="1">
                <a:latin typeface="Consolas" panose="020B0609020204030204" pitchFamily="49" charset="0"/>
              </a:rPr>
              <a:t>getX</a:t>
            </a:r>
            <a:r>
              <a:rPr lang="en-US" altLang="zh-CN" sz="1600" dirty="0">
                <a:latin typeface="Consolas" panose="020B0609020204030204" pitchFamily="49" charset="0"/>
              </a:rPr>
              <a:t>() const { return Point::</a:t>
            </a:r>
            <a:r>
              <a:rPr lang="en-US" altLang="zh-CN" sz="1600" dirty="0" err="1">
                <a:latin typeface="Consolas" panose="020B0609020204030204" pitchFamily="49" charset="0"/>
              </a:rPr>
              <a:t>getX</a:t>
            </a:r>
            <a:r>
              <a:rPr lang="en-US" altLang="zh-CN" sz="1600" dirty="0">
                <a:latin typeface="Consolas" panose="020B0609020204030204" pitchFamily="49" charset="0"/>
              </a:rPr>
              <a:t>(); 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float </a:t>
            </a:r>
            <a:r>
              <a:rPr lang="en-US" altLang="zh-CN" sz="1600" dirty="0" err="1">
                <a:latin typeface="Consolas" panose="020B0609020204030204" pitchFamily="49" charset="0"/>
              </a:rPr>
              <a:t>getY</a:t>
            </a:r>
            <a:r>
              <a:rPr lang="en-US" altLang="zh-CN" sz="1600" dirty="0">
                <a:latin typeface="Consolas" panose="020B0609020204030204" pitchFamily="49" charset="0"/>
              </a:rPr>
              <a:t>() const { return Point::</a:t>
            </a:r>
            <a:r>
              <a:rPr lang="en-US" altLang="zh-CN" sz="1600" dirty="0" err="1">
                <a:latin typeface="Consolas" panose="020B0609020204030204" pitchFamily="49" charset="0"/>
              </a:rPr>
              <a:t>getY</a:t>
            </a:r>
            <a:r>
              <a:rPr lang="en-US" altLang="zh-CN" sz="1600" dirty="0">
                <a:latin typeface="Consolas" panose="020B0609020204030204" pitchFamily="49" charset="0"/>
              </a:rPr>
              <a:t>(); 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float </a:t>
            </a:r>
            <a:r>
              <a:rPr lang="en-US" altLang="zh-CN" sz="1600" dirty="0" err="1">
                <a:latin typeface="Consolas" panose="020B0609020204030204" pitchFamily="49" charset="0"/>
              </a:rPr>
              <a:t>getH</a:t>
            </a:r>
            <a:r>
              <a:rPr lang="en-US" altLang="zh-CN" sz="1600" dirty="0">
                <a:latin typeface="Consolas" panose="020B0609020204030204" pitchFamily="49" charset="0"/>
              </a:rPr>
              <a:t>() const { return _h; 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	float </a:t>
            </a:r>
            <a:r>
              <a:rPr lang="en-US" altLang="zh-CN" sz="1600" dirty="0" err="1">
                <a:latin typeface="Consolas" panose="020B0609020204030204" pitchFamily="49" charset="0"/>
              </a:rPr>
              <a:t>getW</a:t>
            </a:r>
            <a:r>
              <a:rPr lang="en-US" altLang="zh-CN" sz="1600" dirty="0">
                <a:latin typeface="Consolas" panose="020B0609020204030204" pitchFamily="49" charset="0"/>
              </a:rPr>
              <a:t>() const { return _w; }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private:				//</a:t>
            </a:r>
            <a:r>
              <a:rPr lang="zh-CN" altLang="en-US" sz="1600" dirty="0">
                <a:latin typeface="Consolas" panose="020B0609020204030204" pitchFamily="49" charset="0"/>
              </a:rPr>
              <a:t>新增私有数据成员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latin typeface="Consolas" panose="020B0609020204030204" pitchFamily="49" charset="0"/>
              </a:rPr>
              <a:t>float _w, _h;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D8A99FA-3378-4142-8AB7-5842EA6B4599}" type="slidenum">
              <a:rPr lang="en-US" altLang="zh-CN" sz="1400" smtClean="0"/>
              <a:pPr eaLnBrk="1" hangingPunct="1"/>
              <a:t>26</a:t>
            </a:fld>
            <a:endParaRPr lang="en-US" altLang="zh-CN" sz="1400"/>
          </a:p>
        </p:txBody>
      </p:sp>
      <p:cxnSp>
        <p:nvCxnSpPr>
          <p:cNvPr id="9" name="直接连接符 8"/>
          <p:cNvCxnSpPr/>
          <p:nvPr/>
        </p:nvCxnSpPr>
        <p:spPr>
          <a:xfrm>
            <a:off x="2339752" y="1124744"/>
            <a:ext cx="9001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A8757D-4EC6-68B2-D1C7-503F047AA1E2}"/>
              </a:ext>
            </a:extLst>
          </p:cNvPr>
          <p:cNvGrpSpPr/>
          <p:nvPr/>
        </p:nvGrpSpPr>
        <p:grpSpPr>
          <a:xfrm>
            <a:off x="5940152" y="2420888"/>
            <a:ext cx="3132348" cy="595809"/>
            <a:chOff x="6209743" y="2579168"/>
            <a:chExt cx="3132348" cy="595809"/>
          </a:xfrm>
        </p:grpSpPr>
        <p:sp>
          <p:nvSpPr>
            <p:cNvPr id="3" name="矩形 2"/>
            <p:cNvSpPr/>
            <p:nvPr/>
          </p:nvSpPr>
          <p:spPr>
            <a:xfrm>
              <a:off x="6251780" y="2867200"/>
              <a:ext cx="1128532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 private</a:t>
              </a:r>
              <a:endParaRPr lang="zh-CN" altLang="en-US" sz="20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6209743" y="2579168"/>
              <a:ext cx="313234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 </a:t>
              </a:r>
              <a:r>
                <a:rPr lang="zh-CN" altLang="en-US" sz="2000" dirty="0">
                  <a:latin typeface="+mn-ea"/>
                </a:rPr>
                <a:t>类外</a:t>
              </a:r>
              <a:r>
                <a:rPr lang="en-US" altLang="zh-CN" sz="2000" dirty="0">
                  <a:latin typeface="+mn-ea"/>
                </a:rPr>
                <a:t>(</a:t>
              </a:r>
              <a:r>
                <a:rPr lang="zh-CN" altLang="en-US" dirty="0">
                  <a:latin typeface="+mn-ea"/>
                </a:rPr>
                <a:t>如：</a:t>
              </a:r>
              <a:r>
                <a:rPr lang="en-US" altLang="zh-CN" dirty="0">
                  <a:latin typeface="+mn-ea"/>
                </a:rPr>
                <a:t>main( )</a:t>
              </a:r>
              <a:r>
                <a:rPr lang="zh-CN" altLang="en-US" dirty="0">
                  <a:latin typeface="+mn-ea"/>
                </a:rPr>
                <a:t>中</a:t>
              </a:r>
              <a:r>
                <a:rPr lang="en-US" altLang="zh-CN" dirty="0">
                  <a:latin typeface="+mn-ea"/>
                </a:rPr>
                <a:t>)</a:t>
              </a:r>
              <a:r>
                <a:rPr lang="zh-CN" altLang="en-US" sz="2000" dirty="0">
                  <a:latin typeface="+mn-ea"/>
                </a:rPr>
                <a:t>不可访问</a:t>
              </a:r>
              <a:endParaRPr lang="en-US" altLang="zh-CN" sz="2000" dirty="0">
                <a:latin typeface="+mn-ea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5580112" y="1207785"/>
            <a:ext cx="3504796" cy="307777"/>
          </a:xfrm>
          <a:prstGeom prst="rect">
            <a:avLst/>
          </a:prstGeom>
          <a:solidFill>
            <a:srgbClr val="92D050">
              <a:alpha val="98000"/>
            </a:srgbClr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类外</a:t>
            </a:r>
            <a:r>
              <a:rPr lang="en-US" altLang="zh-CN" sz="2000" dirty="0">
                <a:latin typeface="+mn-ea"/>
              </a:rPr>
              <a:t>(</a:t>
            </a:r>
            <a:r>
              <a:rPr lang="zh-CN" altLang="en-US" sz="2000" dirty="0">
                <a:latin typeface="+mn-ea"/>
              </a:rPr>
              <a:t>如：</a:t>
            </a:r>
            <a:r>
              <a:rPr lang="en-US" altLang="zh-CN" sz="2000" dirty="0">
                <a:latin typeface="+mn-ea"/>
              </a:rPr>
              <a:t>main( )</a:t>
            </a:r>
            <a:r>
              <a:rPr lang="zh-CN" altLang="en-US" sz="2000" dirty="0">
                <a:latin typeface="+mn-ea"/>
              </a:rPr>
              <a:t>中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可以访问</a:t>
            </a:r>
            <a:endParaRPr lang="en-US" altLang="zh-CN" sz="2000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96F358-8B4D-0008-C74A-0F9FA624984C}"/>
              </a:ext>
            </a:extLst>
          </p:cNvPr>
          <p:cNvGrpSpPr/>
          <p:nvPr/>
        </p:nvGrpSpPr>
        <p:grpSpPr>
          <a:xfrm>
            <a:off x="1043608" y="2060848"/>
            <a:ext cx="4284476" cy="2592288"/>
            <a:chOff x="1043608" y="2060848"/>
            <a:chExt cx="4284476" cy="2592288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043608" y="3717032"/>
              <a:ext cx="2664296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923928" y="4653136"/>
              <a:ext cx="1404156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923928" y="4293096"/>
              <a:ext cx="1332148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115616" y="2060848"/>
              <a:ext cx="1404156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A97C02-9EE5-0912-7279-886FB8666C7E}"/>
              </a:ext>
            </a:extLst>
          </p:cNvPr>
          <p:cNvGrpSpPr/>
          <p:nvPr/>
        </p:nvGrpSpPr>
        <p:grpSpPr>
          <a:xfrm>
            <a:off x="827584" y="1772816"/>
            <a:ext cx="5904656" cy="2880320"/>
            <a:chOff x="827584" y="1772816"/>
            <a:chExt cx="5904656" cy="288032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835968" y="3356992"/>
              <a:ext cx="3664024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cxnSpLocks/>
            </p:cNvCxnSpPr>
            <p:nvPr/>
          </p:nvCxnSpPr>
          <p:spPr>
            <a:xfrm>
              <a:off x="899592" y="1772816"/>
              <a:ext cx="583264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827584" y="4365104"/>
              <a:ext cx="1912404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27584" y="4653136"/>
              <a:ext cx="1912404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7594DB4-B63C-FBFB-BC2D-02D839EDC914}"/>
              </a:ext>
            </a:extLst>
          </p:cNvPr>
          <p:cNvGrpSpPr/>
          <p:nvPr/>
        </p:nvGrpSpPr>
        <p:grpSpPr>
          <a:xfrm>
            <a:off x="539552" y="3068959"/>
            <a:ext cx="7416824" cy="1656179"/>
            <a:chOff x="539552" y="3068959"/>
            <a:chExt cx="7416824" cy="1656179"/>
          </a:xfrm>
        </p:grpSpPr>
        <p:sp>
          <p:nvSpPr>
            <p:cNvPr id="2" name="圆角矩形 1"/>
            <p:cNvSpPr/>
            <p:nvPr/>
          </p:nvSpPr>
          <p:spPr>
            <a:xfrm>
              <a:off x="539552" y="3068959"/>
              <a:ext cx="5544616" cy="1656179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D9675ED-70A0-6CAF-054C-F30D7D77321C}"/>
                </a:ext>
              </a:extLst>
            </p:cNvPr>
            <p:cNvSpPr/>
            <p:nvPr/>
          </p:nvSpPr>
          <p:spPr>
            <a:xfrm>
              <a:off x="6192982" y="3481549"/>
              <a:ext cx="1763394" cy="646331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Rectangle</a:t>
              </a:r>
              <a:r>
                <a:rPr lang="zh-CN" altLang="en-US" dirty="0"/>
                <a:t>类中</a:t>
              </a:r>
            </a:p>
            <a:p>
              <a:r>
                <a:rPr lang="zh-CN" altLang="en-US" dirty="0"/>
                <a:t>重写的函数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07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8518525" y="6467475"/>
            <a:ext cx="611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7F7F93C6-E05A-4B87-B0FF-F0ADC2C2574A}" type="slidenum">
              <a:rPr lang="en-US" altLang="zh-CN" sz="1400"/>
              <a:pPr algn="r" eaLnBrk="1" hangingPunct="1">
                <a:spcBef>
                  <a:spcPct val="50000"/>
                </a:spcBef>
              </a:pPr>
              <a:t>27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95536" y="548680"/>
            <a:ext cx="7200800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rect.initRectangle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(2,3,20,10);</a:t>
            </a:r>
          </a:p>
          <a:p>
            <a:pPr marL="44450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rect.move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(3,2);</a:t>
            </a:r>
          </a:p>
          <a:p>
            <a:pPr marL="44450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data of 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x,y,w,h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 "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rect.getW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rect.getH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27584" y="1988840"/>
            <a:ext cx="2083892" cy="257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619672" y="2523128"/>
            <a:ext cx="1444501" cy="257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115616" y="2811160"/>
            <a:ext cx="1444501" cy="257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232525" y="1415643"/>
            <a:ext cx="2286000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Rectangle</a:t>
            </a:r>
            <a:r>
              <a:rPr lang="zh-CN" altLang="en-US" sz="2400" dirty="0"/>
              <a:t>类中</a:t>
            </a:r>
          </a:p>
          <a:p>
            <a:r>
              <a:rPr lang="zh-CN" altLang="en-US" sz="2400" dirty="0"/>
              <a:t>重写的函数</a:t>
            </a:r>
          </a:p>
        </p:txBody>
      </p:sp>
    </p:spTree>
    <p:extLst>
      <p:ext uri="{BB962C8B-B14F-4D97-AF65-F5344CB8AC3E}">
        <p14:creationId xmlns:p14="http://schemas.microsoft.com/office/powerpoint/2010/main" val="261437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9392"/>
            <a:ext cx="9036496" cy="706090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private</a:t>
            </a:r>
            <a:r>
              <a:rPr lang="zh-CN" altLang="en-US" sz="3600" dirty="0"/>
              <a:t>继承</a:t>
            </a:r>
            <a:r>
              <a:rPr lang="en-US" altLang="zh-CN" sz="3600" dirty="0"/>
              <a:t>——class</a:t>
            </a:r>
            <a:r>
              <a:rPr lang="zh-CN" altLang="en-US" sz="3600" dirty="0"/>
              <a:t>的默认继承方式</a:t>
            </a:r>
          </a:p>
        </p:txBody>
      </p:sp>
      <p:sp>
        <p:nvSpPr>
          <p:cNvPr id="5" name="矩形 4"/>
          <p:cNvSpPr/>
          <p:nvPr/>
        </p:nvSpPr>
        <p:spPr>
          <a:xfrm>
            <a:off x="144016" y="620688"/>
            <a:ext cx="3707904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5125"/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_a;</a:t>
            </a:r>
          </a:p>
          <a:p>
            <a:pPr marL="365125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A(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):_a(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){ }</a:t>
            </a: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Display() const </a:t>
            </a:r>
          </a:p>
          <a:p>
            <a:pPr marL="365125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_a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</p:txBody>
      </p:sp>
      <p:sp>
        <p:nvSpPr>
          <p:cNvPr id="6" name="矩形 5"/>
          <p:cNvSpPr/>
          <p:nvPr/>
        </p:nvSpPr>
        <p:spPr>
          <a:xfrm>
            <a:off x="3995936" y="642120"/>
            <a:ext cx="504056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</a:p>
          <a:p>
            <a:pPr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5125" lvl="0"/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_b;</a:t>
            </a:r>
          </a:p>
          <a:p>
            <a:pPr marL="365125"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B(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):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),_b(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){ }</a:t>
            </a:r>
          </a:p>
          <a:p>
            <a:pPr marL="365125" lvl="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Display() const</a:t>
            </a:r>
          </a:p>
          <a:p>
            <a:pPr marL="365125"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::Display();</a:t>
            </a:r>
          </a:p>
          <a:p>
            <a:pPr marL="715963" lvl="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_b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pPr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</p:txBody>
      </p:sp>
      <p:sp>
        <p:nvSpPr>
          <p:cNvPr id="7" name="矩形 6"/>
          <p:cNvSpPr/>
          <p:nvPr/>
        </p:nvSpPr>
        <p:spPr>
          <a:xfrm>
            <a:off x="216024" y="3847688"/>
            <a:ext cx="3563888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pPr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(1,2);</a:t>
            </a:r>
          </a:p>
          <a:p>
            <a:pPr marL="365125" lvl="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ob._a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++;</a:t>
            </a:r>
          </a:p>
          <a:p>
            <a:pPr marL="365125" lvl="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._b++;</a:t>
            </a:r>
          </a:p>
          <a:p>
            <a:pPr marL="365125" lvl="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ob.Display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365125" lvl="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pPr lvl="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12" y="4437112"/>
            <a:ext cx="6192688" cy="114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乘号 7"/>
          <p:cNvSpPr/>
          <p:nvPr/>
        </p:nvSpPr>
        <p:spPr>
          <a:xfrm>
            <a:off x="1907704" y="4581128"/>
            <a:ext cx="360040" cy="576064"/>
          </a:xfrm>
          <a:prstGeom prst="mathMultiply">
            <a:avLst>
              <a:gd name="adj1" fmla="val 43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760640" y="653788"/>
            <a:ext cx="1907938" cy="461665"/>
            <a:chOff x="5760640" y="653788"/>
            <a:chExt cx="1907938" cy="461665"/>
          </a:xfrm>
        </p:grpSpPr>
        <p:sp>
          <p:nvSpPr>
            <p:cNvPr id="12" name="矩形 11"/>
            <p:cNvSpPr/>
            <p:nvPr/>
          </p:nvSpPr>
          <p:spPr>
            <a:xfrm>
              <a:off x="6228184" y="653788"/>
              <a:ext cx="1440394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private  A</a:t>
              </a:r>
              <a:endParaRPr lang="zh-CN" altLang="en-US" sz="2400" dirty="0"/>
            </a:p>
          </p:txBody>
        </p:sp>
        <p:sp>
          <p:nvSpPr>
            <p:cNvPr id="13" name="左箭头 12"/>
            <p:cNvSpPr/>
            <p:nvPr/>
          </p:nvSpPr>
          <p:spPr>
            <a:xfrm>
              <a:off x="5760640" y="836712"/>
              <a:ext cx="323528" cy="10801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293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保护继承</a:t>
            </a:r>
            <a:r>
              <a:rPr lang="en-US" altLang="zh-CN" dirty="0"/>
              <a:t>(protected)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zh-CN" dirty="0"/>
              <a:t>基类的</a:t>
            </a:r>
            <a:r>
              <a:rPr lang="en-US" altLang="zh-CN" dirty="0"/>
              <a:t>public</a:t>
            </a:r>
            <a:r>
              <a:rPr lang="zh-CN" altLang="zh-CN" dirty="0"/>
              <a:t>和</a:t>
            </a:r>
            <a:r>
              <a:rPr lang="en-US" altLang="zh-CN" dirty="0"/>
              <a:t>protected</a:t>
            </a:r>
            <a:r>
              <a:rPr lang="zh-CN" altLang="zh-CN" dirty="0"/>
              <a:t>成员都以</a:t>
            </a:r>
            <a:r>
              <a:rPr lang="en-US" altLang="zh-CN" dirty="0">
                <a:solidFill>
                  <a:srgbClr val="FF0000"/>
                </a:solidFill>
              </a:rPr>
              <a:t>protected</a:t>
            </a:r>
            <a:r>
              <a:rPr lang="zh-CN" altLang="en-US" dirty="0"/>
              <a:t>身份出现</a:t>
            </a:r>
            <a:r>
              <a:rPr lang="zh-CN" altLang="zh-CN" dirty="0"/>
              <a:t>在派生类中，但基类的</a:t>
            </a:r>
            <a:r>
              <a:rPr lang="en-US" altLang="zh-CN" dirty="0"/>
              <a:t>private</a:t>
            </a:r>
            <a:r>
              <a:rPr lang="zh-CN" altLang="zh-CN" dirty="0"/>
              <a:t>成员不可直接访问。</a:t>
            </a:r>
            <a:r>
              <a:rPr lang="zh-CN" altLang="en-US" dirty="0">
                <a:solidFill>
                  <a:srgbClr val="FF0000"/>
                </a:solidFill>
              </a:rPr>
              <a:t>（保护继承保护化）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dirty="0"/>
              <a:t>派生类中的成员函数可以直接访问基类中的</a:t>
            </a:r>
            <a:r>
              <a:rPr lang="en-US" altLang="zh-CN" dirty="0"/>
              <a:t>public</a:t>
            </a:r>
            <a:r>
              <a:rPr lang="zh-CN" altLang="zh-CN" dirty="0"/>
              <a:t>和</a:t>
            </a:r>
            <a:r>
              <a:rPr lang="en-US" altLang="zh-CN" dirty="0"/>
              <a:t>protected</a:t>
            </a:r>
            <a:r>
              <a:rPr lang="zh-CN" altLang="zh-CN" dirty="0"/>
              <a:t>成员，但不能直接访问基类的</a:t>
            </a:r>
            <a:r>
              <a:rPr lang="en-US" altLang="zh-CN" dirty="0"/>
              <a:t>private</a:t>
            </a:r>
            <a:r>
              <a:rPr lang="zh-CN" altLang="zh-CN" dirty="0"/>
              <a:t>成员。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dirty="0"/>
              <a:t>通过派生类的对象不能直接访问基类中的任何成员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保持继承的性质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dirty="0"/>
          </a:p>
        </p:txBody>
      </p:sp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011325F6-4438-4FCE-979D-CEBDB1720CE9}" type="slidenum">
              <a:rPr lang="en-US" altLang="zh-CN" sz="1400" smtClean="0"/>
              <a:pPr eaLnBrk="1" hangingPunct="1"/>
              <a:t>29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795330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987824" y="1196752"/>
            <a:ext cx="1645734" cy="1146060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46870" y="135796"/>
            <a:ext cx="1221809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class B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283968" y="116632"/>
            <a:ext cx="214000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dirty="0"/>
              <a:t>: protected A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1691680" y="3933056"/>
            <a:ext cx="360039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50"/>
                </a:solidFill>
              </a:rPr>
              <a:t>+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55776" y="3923699"/>
            <a:ext cx="504056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00B050"/>
                </a:solidFill>
              </a:rPr>
              <a:t>=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79512" y="4181018"/>
            <a:ext cx="2391745" cy="2056294"/>
            <a:chOff x="179512" y="4109010"/>
            <a:chExt cx="2391745" cy="2056294"/>
          </a:xfrm>
        </p:grpSpPr>
        <p:sp>
          <p:nvSpPr>
            <p:cNvPr id="13" name="矩形 12"/>
            <p:cNvSpPr/>
            <p:nvPr/>
          </p:nvSpPr>
          <p:spPr>
            <a:xfrm>
              <a:off x="179512" y="4109010"/>
              <a:ext cx="2391745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B: protected A</a:t>
              </a:r>
              <a:endParaRPr lang="zh-CN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520" y="4447911"/>
              <a:ext cx="2232247" cy="1717393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  <a:endParaRPr lang="zh-CN" altLang="en-US" sz="2400" dirty="0"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void k( );</a:t>
              </a:r>
              <a:endParaRPr lang="zh-CN" altLang="en-US" sz="24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07504" y="724634"/>
            <a:ext cx="2448272" cy="3128869"/>
            <a:chOff x="107504" y="724634"/>
            <a:chExt cx="2448272" cy="3128869"/>
          </a:xfrm>
        </p:grpSpPr>
        <p:sp>
          <p:nvSpPr>
            <p:cNvPr id="14" name="矩形 13"/>
            <p:cNvSpPr/>
            <p:nvPr/>
          </p:nvSpPr>
          <p:spPr>
            <a:xfrm>
              <a:off x="107504" y="724634"/>
              <a:ext cx="930063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class A</a:t>
              </a:r>
              <a:endParaRPr lang="zh-CN" altLang="en-US" sz="20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79513" y="1052736"/>
              <a:ext cx="2376263" cy="2800767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private:</a:t>
              </a:r>
              <a:r>
                <a:rPr lang="en-US" altLang="zh-CN" sz="2800" dirty="0">
                  <a:latin typeface="+mn-ea"/>
                </a:rPr>
                <a:t>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zh-CN" altLang="en-US" sz="2400" dirty="0">
                  <a:latin typeface="+mn-ea"/>
                </a:rPr>
                <a:t>   </a:t>
              </a:r>
              <a:r>
                <a:rPr lang="en-US" altLang="zh-CN" sz="2400" dirty="0">
                  <a:latin typeface="+mn-ea"/>
                </a:rPr>
                <a:t>int _x;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f(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 err="1">
                  <a:latin typeface="+mn-ea"/>
                </a:rPr>
                <a:t>protectd</a:t>
              </a:r>
              <a:r>
                <a:rPr lang="en-US" altLang="zh-CN" sz="2400" dirty="0">
                  <a:latin typeface="+mn-ea"/>
                </a:rPr>
                <a:t>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_y;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g( );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public: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int _z;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h( );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915815" y="692696"/>
            <a:ext cx="3240361" cy="5623019"/>
            <a:chOff x="2915815" y="692696"/>
            <a:chExt cx="3240361" cy="5623019"/>
          </a:xfrm>
        </p:grpSpPr>
        <p:sp>
          <p:nvSpPr>
            <p:cNvPr id="15" name="矩形 14"/>
            <p:cNvSpPr/>
            <p:nvPr/>
          </p:nvSpPr>
          <p:spPr>
            <a:xfrm>
              <a:off x="2915815" y="692696"/>
              <a:ext cx="1624163" cy="40011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B</a:t>
              </a:r>
              <a:r>
                <a:rPr lang="zh-CN" altLang="en-US" sz="2000" dirty="0"/>
                <a:t>实际拥有的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915816" y="1052736"/>
              <a:ext cx="3240360" cy="5262979"/>
            </a:xfrm>
            <a:prstGeom prst="rect">
              <a:avLst/>
            </a:prstGeom>
            <a:solidFill>
              <a:schemeClr val="bg2">
                <a:lumMod val="90000"/>
                <a:alpha val="51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_x;</a:t>
              </a:r>
              <a:r>
                <a:rPr lang="en-US" altLang="zh-CN" sz="2400" b="1" dirty="0">
                  <a:latin typeface="+mn-ea"/>
                </a:rPr>
                <a:t>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f(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_y;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g(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int _z;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b="1" dirty="0">
                  <a:solidFill>
                    <a:srgbClr val="C00000"/>
                  </a:solidFill>
                  <a:latin typeface="+mn-ea"/>
                </a:rPr>
                <a:t>   void h(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private:	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int _m;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public:	</a:t>
              </a:r>
            </a:p>
            <a:p>
              <a:pPr>
                <a:lnSpc>
                  <a:spcPct val="80000"/>
                </a:lnSpc>
                <a:defRPr/>
              </a:pPr>
              <a:r>
                <a:rPr lang="en-US" altLang="zh-CN" sz="2400" dirty="0">
                  <a:latin typeface="+mn-ea"/>
                </a:rPr>
                <a:t>   void k( );</a:t>
              </a:r>
              <a:endParaRPr lang="zh-CN" altLang="en-US" sz="2400" dirty="0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79512" y="1074031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86937" y="2395407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909366" y="4555345"/>
            <a:ext cx="526729" cy="313815"/>
            <a:chOff x="3635897" y="5995505"/>
            <a:chExt cx="526729" cy="313815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圆角矩形 24"/>
          <p:cNvSpPr/>
          <p:nvPr/>
        </p:nvSpPr>
        <p:spPr>
          <a:xfrm>
            <a:off x="179512" y="2010135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179512" y="2924944"/>
            <a:ext cx="1440160" cy="914809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59831" y="5877271"/>
            <a:ext cx="1612943" cy="424849"/>
          </a:xfrm>
          <a:prstGeom prst="roundRect">
            <a:avLst/>
          </a:prstGeom>
          <a:solidFill>
            <a:schemeClr val="bg2">
              <a:lumMod val="90000"/>
              <a:alpha val="48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59831" y="2350041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protected: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019728" y="3573016"/>
            <a:ext cx="1624280" cy="1105601"/>
          </a:xfrm>
          <a:prstGeom prst="roundRect">
            <a:avLst/>
          </a:prstGeom>
          <a:solidFill>
            <a:srgbClr val="FFFF00">
              <a:alpha val="4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弧形箭头 5"/>
          <p:cNvSpPr/>
          <p:nvPr/>
        </p:nvSpPr>
        <p:spPr>
          <a:xfrm>
            <a:off x="4672774" y="1578087"/>
            <a:ext cx="1267377" cy="4659225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4644007" y="2708920"/>
            <a:ext cx="792088" cy="3456384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269406" y="3861048"/>
            <a:ext cx="526729" cy="313815"/>
            <a:chOff x="3635897" y="5995505"/>
            <a:chExt cx="526729" cy="313815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右弧形箭头 37"/>
          <p:cNvSpPr/>
          <p:nvPr/>
        </p:nvSpPr>
        <p:spPr>
          <a:xfrm>
            <a:off x="4672774" y="3994842"/>
            <a:ext cx="475290" cy="2094853"/>
          </a:xfrm>
          <a:prstGeom prst="curvedLeftArrow">
            <a:avLst>
              <a:gd name="adj1" fmla="val 16854"/>
              <a:gd name="adj2" fmla="val 21883"/>
              <a:gd name="adj3" fmla="val 12975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300192" y="699895"/>
            <a:ext cx="2520280" cy="4095165"/>
            <a:chOff x="6300192" y="699895"/>
            <a:chExt cx="2520280" cy="4095165"/>
          </a:xfrm>
        </p:grpSpPr>
        <p:sp>
          <p:nvSpPr>
            <p:cNvPr id="39" name="矩形 38"/>
            <p:cNvSpPr/>
            <p:nvPr/>
          </p:nvSpPr>
          <p:spPr>
            <a:xfrm>
              <a:off x="6300192" y="699895"/>
              <a:ext cx="987771" cy="40011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dirty="0"/>
                <a:t>main( )</a:t>
              </a:r>
              <a:endParaRPr lang="zh-CN" altLang="en-US" sz="2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6372202" y="1046341"/>
              <a:ext cx="2448270" cy="3748719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1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B </a:t>
              </a:r>
              <a:r>
                <a:rPr lang="en-US" altLang="zh-CN" sz="2400" dirty="0" err="1">
                  <a:latin typeface="+mn-ea"/>
                </a:rPr>
                <a:t>b</a:t>
              </a:r>
              <a:r>
                <a:rPr lang="en-US" altLang="zh-CN" sz="2400" dirty="0">
                  <a:latin typeface="+mn-ea"/>
                </a:rPr>
                <a:t>; 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b._x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b.f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b._y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b.g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b._z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b.h</a:t>
              </a:r>
              <a:r>
                <a:rPr lang="en-US" altLang="zh-CN" sz="2400" dirty="0">
                  <a:latin typeface="+mn-ea"/>
                </a:rPr>
                <a:t>( );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cout</a:t>
              </a:r>
              <a:r>
                <a:rPr lang="en-US" altLang="zh-CN" sz="2400" dirty="0">
                  <a:latin typeface="+mn-ea"/>
                </a:rPr>
                <a:t>&lt;&lt;</a:t>
              </a:r>
              <a:r>
                <a:rPr lang="en-US" altLang="zh-CN" sz="2400" dirty="0" err="1">
                  <a:latin typeface="+mn-ea"/>
                </a:rPr>
                <a:t>b._m</a:t>
              </a:r>
              <a:r>
                <a:rPr lang="en-US" altLang="zh-CN" sz="2400" dirty="0">
                  <a:latin typeface="+mn-ea"/>
                </a:rPr>
                <a:t>;</a:t>
              </a:r>
            </a:p>
            <a:p>
              <a:pPr>
                <a:lnSpc>
                  <a:spcPct val="110000"/>
                </a:lnSpc>
                <a:tabLst>
                  <a:tab pos="720725" algn="l"/>
                </a:tabLst>
                <a:defRPr/>
              </a:pPr>
              <a:r>
                <a:rPr lang="en-US" altLang="zh-CN" sz="2400" dirty="0">
                  <a:latin typeface="+mn-ea"/>
                </a:rPr>
                <a:t>   </a:t>
              </a:r>
              <a:r>
                <a:rPr lang="en-US" altLang="zh-CN" sz="2400" dirty="0" err="1">
                  <a:latin typeface="+mn-ea"/>
                </a:rPr>
                <a:t>b.k</a:t>
              </a:r>
              <a:r>
                <a:rPr lang="en-US" altLang="zh-CN" sz="2400" dirty="0">
                  <a:latin typeface="+mn-ea"/>
                </a:rPr>
                <a:t>( );</a:t>
              </a:r>
              <a:endParaRPr lang="zh-CN" altLang="en-US" sz="2400" dirty="0"/>
            </a:p>
          </p:txBody>
        </p:sp>
      </p:grpSp>
      <p:sp>
        <p:nvSpPr>
          <p:cNvPr id="41" name="圆角矩形 40"/>
          <p:cNvSpPr/>
          <p:nvPr/>
        </p:nvSpPr>
        <p:spPr>
          <a:xfrm>
            <a:off x="6588224" y="1562860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6588224" y="2348880"/>
            <a:ext cx="1645734" cy="720080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6588224" y="3147036"/>
            <a:ext cx="1645734" cy="714012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6588224" y="393912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6588224" y="4365104"/>
            <a:ext cx="1645734" cy="381906"/>
          </a:xfrm>
          <a:prstGeom prst="roundRect">
            <a:avLst/>
          </a:prstGeom>
          <a:solidFill>
            <a:srgbClr val="FFFF00">
              <a:alpha val="32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8172400" y="4365104"/>
            <a:ext cx="526729" cy="288033"/>
            <a:chOff x="3635897" y="5995505"/>
            <a:chExt cx="526729" cy="313815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3635897" y="6093296"/>
              <a:ext cx="144015" cy="21602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3779912" y="5995505"/>
              <a:ext cx="382714" cy="31381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乘号 51"/>
          <p:cNvSpPr/>
          <p:nvPr/>
        </p:nvSpPr>
        <p:spPr>
          <a:xfrm>
            <a:off x="8064896" y="1540652"/>
            <a:ext cx="634233" cy="73622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乘号 52"/>
          <p:cNvSpPr/>
          <p:nvPr/>
        </p:nvSpPr>
        <p:spPr>
          <a:xfrm>
            <a:off x="8028384" y="2332740"/>
            <a:ext cx="634233" cy="73622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乘号 53"/>
          <p:cNvSpPr/>
          <p:nvPr/>
        </p:nvSpPr>
        <p:spPr>
          <a:xfrm>
            <a:off x="8125060" y="3861048"/>
            <a:ext cx="407380" cy="576064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乘号 19"/>
          <p:cNvSpPr/>
          <p:nvPr/>
        </p:nvSpPr>
        <p:spPr>
          <a:xfrm>
            <a:off x="5508104" y="2564904"/>
            <a:ext cx="755576" cy="808228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箭头连接符 57"/>
          <p:cNvCxnSpPr/>
          <p:nvPr/>
        </p:nvCxnSpPr>
        <p:spPr>
          <a:xfrm>
            <a:off x="4499992" y="620688"/>
            <a:ext cx="1440159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205627" y="4509120"/>
            <a:ext cx="972105" cy="0"/>
          </a:xfrm>
          <a:prstGeom prst="straightConnector1">
            <a:avLst/>
          </a:prstGeom>
          <a:ln w="381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915816" y="1124744"/>
            <a:ext cx="1954381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tabLst>
                <a:tab pos="720725" algn="l"/>
              </a:tabLst>
              <a:defRPr/>
            </a:pPr>
            <a:r>
              <a:rPr lang="zh-CN" altLang="en-US" sz="2400" b="1" dirty="0">
                <a:latin typeface="+mn-ea"/>
              </a:rPr>
              <a:t>不可访问：</a:t>
            </a:r>
            <a:r>
              <a:rPr lang="en-US" altLang="zh-CN" sz="2400" b="1" dirty="0">
                <a:latin typeface="+mn-ea"/>
              </a:rPr>
              <a:t>   </a:t>
            </a:r>
          </a:p>
        </p:txBody>
      </p:sp>
      <p:sp>
        <p:nvSpPr>
          <p:cNvPr id="29" name="矩形 28"/>
          <p:cNvSpPr/>
          <p:nvPr/>
        </p:nvSpPr>
        <p:spPr>
          <a:xfrm>
            <a:off x="3059831" y="3501008"/>
            <a:ext cx="1513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tabLst>
                <a:tab pos="720725" algn="l"/>
              </a:tabLst>
              <a:defRPr/>
            </a:pPr>
            <a:r>
              <a:rPr lang="en-US" altLang="zh-CN" sz="2400" b="1" dirty="0">
                <a:latin typeface="+mn-ea"/>
              </a:rPr>
              <a:t>protected:</a:t>
            </a:r>
          </a:p>
        </p:txBody>
      </p:sp>
      <p:sp>
        <p:nvSpPr>
          <p:cNvPr id="57" name="乘号 56"/>
          <p:cNvSpPr/>
          <p:nvPr/>
        </p:nvSpPr>
        <p:spPr>
          <a:xfrm>
            <a:off x="8028384" y="3124828"/>
            <a:ext cx="634233" cy="73622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5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/>
      <p:bldP spid="12" grpId="0"/>
      <p:bldP spid="2" grpId="0" animBg="1"/>
      <p:bldP spid="18" grpId="0" animBg="1"/>
      <p:bldP spid="25" grpId="0" animBg="1"/>
      <p:bldP spid="26" grpId="0" animBg="1"/>
      <p:bldP spid="27" grpId="0" animBg="1"/>
      <p:bldP spid="4" grpId="0"/>
      <p:bldP spid="31" grpId="0" animBg="1"/>
      <p:bldP spid="6" grpId="0" animBg="1"/>
      <p:bldP spid="34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2" grpId="0" animBg="1"/>
      <p:bldP spid="53" grpId="0" animBg="1"/>
      <p:bldP spid="54" grpId="0" animBg="1"/>
      <p:bldP spid="20" grpId="0" animBg="1"/>
      <p:bldP spid="23" grpId="0"/>
      <p:bldP spid="29" grpId="0"/>
      <p:bldP spid="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/>
          </p:cNvGrpSpPr>
          <p:nvPr/>
        </p:nvGrpSpPr>
        <p:grpSpPr bwMode="auto">
          <a:xfrm>
            <a:off x="107504" y="1052736"/>
            <a:ext cx="6048672" cy="5274047"/>
            <a:chOff x="-3" y="-3"/>
            <a:chExt cx="2972" cy="3236"/>
          </a:xfrm>
          <a:solidFill>
            <a:schemeClr val="bg2">
              <a:lumMod val="75000"/>
              <a:alpha val="4000"/>
            </a:schemeClr>
          </a:solidFill>
        </p:grpSpPr>
        <p:grpSp>
          <p:nvGrpSpPr>
            <p:cNvPr id="49157" name="Group 3"/>
            <p:cNvGrpSpPr>
              <a:grpSpLocks/>
            </p:cNvGrpSpPr>
            <p:nvPr/>
          </p:nvGrpSpPr>
          <p:grpSpPr bwMode="auto">
            <a:xfrm>
              <a:off x="0" y="0"/>
              <a:ext cx="2966" cy="3230"/>
              <a:chOff x="0" y="0"/>
              <a:chExt cx="2966" cy="3230"/>
            </a:xfrm>
            <a:grpFill/>
          </p:grpSpPr>
          <p:grpSp>
            <p:nvGrpSpPr>
              <p:cNvPr id="4915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988" cy="323"/>
                <a:chOff x="0" y="0"/>
                <a:chExt cx="988" cy="323"/>
              </a:xfrm>
              <a:grpFill/>
            </p:grpSpPr>
            <p:sp>
              <p:nvSpPr>
                <p:cNvPr id="49229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02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继承方式</a:t>
                  </a:r>
                </a:p>
              </p:txBody>
            </p:sp>
            <p:sp>
              <p:nvSpPr>
                <p:cNvPr id="49230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88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0" name="Group 7"/>
              <p:cNvGrpSpPr>
                <a:grpSpLocks/>
              </p:cNvGrpSpPr>
              <p:nvPr/>
            </p:nvGrpSpPr>
            <p:grpSpPr bwMode="auto">
              <a:xfrm>
                <a:off x="988" y="0"/>
                <a:ext cx="989" cy="323"/>
                <a:chOff x="988" y="0"/>
                <a:chExt cx="989" cy="323"/>
              </a:xfrm>
              <a:grpFill/>
            </p:grpSpPr>
            <p:sp>
              <p:nvSpPr>
                <p:cNvPr id="49227" name="Rectangle 8"/>
                <p:cNvSpPr>
                  <a:spLocks noChangeArrowheads="1"/>
                </p:cNvSpPr>
                <p:nvPr/>
              </p:nvSpPr>
              <p:spPr bwMode="auto">
                <a:xfrm>
                  <a:off x="1031" y="0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 dirty="0">
                      <a:latin typeface="Arial" charset="0"/>
                    </a:rPr>
                    <a:t>基类特性</a:t>
                  </a:r>
                </a:p>
              </p:txBody>
            </p:sp>
            <p:sp>
              <p:nvSpPr>
                <p:cNvPr id="49228" name="Rectangle 9"/>
                <p:cNvSpPr>
                  <a:spLocks noChangeArrowheads="1"/>
                </p:cNvSpPr>
                <p:nvPr/>
              </p:nvSpPr>
              <p:spPr bwMode="auto">
                <a:xfrm>
                  <a:off x="988" y="0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1" name="Group 10"/>
              <p:cNvGrpSpPr>
                <a:grpSpLocks/>
              </p:cNvGrpSpPr>
              <p:nvPr/>
            </p:nvGrpSpPr>
            <p:grpSpPr bwMode="auto">
              <a:xfrm>
                <a:off x="1977" y="0"/>
                <a:ext cx="989" cy="323"/>
                <a:chOff x="1977" y="0"/>
                <a:chExt cx="989" cy="323"/>
              </a:xfrm>
              <a:grpFill/>
            </p:grpSpPr>
            <p:sp>
              <p:nvSpPr>
                <p:cNvPr id="49225" name="Rectangle 11"/>
                <p:cNvSpPr>
                  <a:spLocks noChangeArrowheads="1"/>
                </p:cNvSpPr>
                <p:nvPr/>
              </p:nvSpPr>
              <p:spPr bwMode="auto">
                <a:xfrm>
                  <a:off x="2020" y="0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派生类特性</a:t>
                  </a:r>
                </a:p>
              </p:txBody>
            </p:sp>
            <p:sp>
              <p:nvSpPr>
                <p:cNvPr id="49226" name="Rectangle 12"/>
                <p:cNvSpPr>
                  <a:spLocks noChangeArrowheads="1"/>
                </p:cNvSpPr>
                <p:nvPr/>
              </p:nvSpPr>
              <p:spPr bwMode="auto">
                <a:xfrm>
                  <a:off x="1977" y="0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2" name="Group 13"/>
              <p:cNvGrpSpPr>
                <a:grpSpLocks/>
              </p:cNvGrpSpPr>
              <p:nvPr/>
            </p:nvGrpSpPr>
            <p:grpSpPr bwMode="auto">
              <a:xfrm>
                <a:off x="0" y="323"/>
                <a:ext cx="988" cy="969"/>
                <a:chOff x="0" y="323"/>
                <a:chExt cx="988" cy="969"/>
              </a:xfrm>
              <a:grpFill/>
            </p:grpSpPr>
            <p:sp>
              <p:nvSpPr>
                <p:cNvPr id="49223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323"/>
                  <a:ext cx="902" cy="969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公有继承</a:t>
                  </a:r>
                </a:p>
              </p:txBody>
            </p:sp>
            <p:sp>
              <p:nvSpPr>
                <p:cNvPr id="49224" name="Rectangle 15"/>
                <p:cNvSpPr>
                  <a:spLocks noChangeArrowheads="1"/>
                </p:cNvSpPr>
                <p:nvPr/>
              </p:nvSpPr>
              <p:spPr bwMode="auto">
                <a:xfrm>
                  <a:off x="0" y="323"/>
                  <a:ext cx="988" cy="969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3" name="Group 16"/>
              <p:cNvGrpSpPr>
                <a:grpSpLocks/>
              </p:cNvGrpSpPr>
              <p:nvPr/>
            </p:nvGrpSpPr>
            <p:grpSpPr bwMode="auto">
              <a:xfrm>
                <a:off x="988" y="323"/>
                <a:ext cx="989" cy="323"/>
                <a:chOff x="988" y="323"/>
                <a:chExt cx="989" cy="323"/>
              </a:xfrm>
              <a:grpFill/>
            </p:grpSpPr>
            <p:sp>
              <p:nvSpPr>
                <p:cNvPr id="49221" name="Rectangle 17"/>
                <p:cNvSpPr>
                  <a:spLocks noChangeArrowheads="1"/>
                </p:cNvSpPr>
                <p:nvPr/>
              </p:nvSpPr>
              <p:spPr bwMode="auto">
                <a:xfrm>
                  <a:off x="1031" y="323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public</a:t>
                  </a:r>
                </a:p>
              </p:txBody>
            </p:sp>
            <p:sp>
              <p:nvSpPr>
                <p:cNvPr id="49222" name="Rectangle 18"/>
                <p:cNvSpPr>
                  <a:spLocks noChangeArrowheads="1"/>
                </p:cNvSpPr>
                <p:nvPr/>
              </p:nvSpPr>
              <p:spPr bwMode="auto">
                <a:xfrm>
                  <a:off x="988" y="323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4" name="Group 19"/>
              <p:cNvGrpSpPr>
                <a:grpSpLocks/>
              </p:cNvGrpSpPr>
              <p:nvPr/>
            </p:nvGrpSpPr>
            <p:grpSpPr bwMode="auto">
              <a:xfrm>
                <a:off x="1977" y="323"/>
                <a:ext cx="989" cy="323"/>
                <a:chOff x="1977" y="323"/>
                <a:chExt cx="989" cy="323"/>
              </a:xfrm>
              <a:grpFill/>
            </p:grpSpPr>
            <p:sp>
              <p:nvSpPr>
                <p:cNvPr id="49219" name="Rectangle 20"/>
                <p:cNvSpPr>
                  <a:spLocks noChangeArrowheads="1"/>
                </p:cNvSpPr>
                <p:nvPr/>
              </p:nvSpPr>
              <p:spPr bwMode="auto">
                <a:xfrm>
                  <a:off x="2020" y="323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public</a:t>
                  </a:r>
                </a:p>
              </p:txBody>
            </p:sp>
            <p:sp>
              <p:nvSpPr>
                <p:cNvPr id="49220" name="Rectangle 21"/>
                <p:cNvSpPr>
                  <a:spLocks noChangeArrowheads="1"/>
                </p:cNvSpPr>
                <p:nvPr/>
              </p:nvSpPr>
              <p:spPr bwMode="auto">
                <a:xfrm>
                  <a:off x="1977" y="323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5" name="Group 22"/>
              <p:cNvGrpSpPr>
                <a:grpSpLocks/>
              </p:cNvGrpSpPr>
              <p:nvPr/>
            </p:nvGrpSpPr>
            <p:grpSpPr bwMode="auto">
              <a:xfrm>
                <a:off x="988" y="646"/>
                <a:ext cx="989" cy="323"/>
                <a:chOff x="988" y="646"/>
                <a:chExt cx="989" cy="323"/>
              </a:xfrm>
              <a:grpFill/>
            </p:grpSpPr>
            <p:sp>
              <p:nvSpPr>
                <p:cNvPr id="49217" name="Rectangle 23"/>
                <p:cNvSpPr>
                  <a:spLocks noChangeArrowheads="1"/>
                </p:cNvSpPr>
                <p:nvPr/>
              </p:nvSpPr>
              <p:spPr bwMode="auto">
                <a:xfrm>
                  <a:off x="1031" y="646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218" name="Rectangle 24"/>
                <p:cNvSpPr>
                  <a:spLocks noChangeArrowheads="1"/>
                </p:cNvSpPr>
                <p:nvPr/>
              </p:nvSpPr>
              <p:spPr bwMode="auto">
                <a:xfrm>
                  <a:off x="988" y="646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6" name="Group 25"/>
              <p:cNvGrpSpPr>
                <a:grpSpLocks/>
              </p:cNvGrpSpPr>
              <p:nvPr/>
            </p:nvGrpSpPr>
            <p:grpSpPr bwMode="auto">
              <a:xfrm>
                <a:off x="1977" y="646"/>
                <a:ext cx="989" cy="323"/>
                <a:chOff x="1977" y="646"/>
                <a:chExt cx="989" cy="323"/>
              </a:xfrm>
              <a:grpFill/>
            </p:grpSpPr>
            <p:sp>
              <p:nvSpPr>
                <p:cNvPr id="49215" name="Rectangle 26"/>
                <p:cNvSpPr>
                  <a:spLocks noChangeArrowheads="1"/>
                </p:cNvSpPr>
                <p:nvPr/>
              </p:nvSpPr>
              <p:spPr bwMode="auto">
                <a:xfrm>
                  <a:off x="2020" y="646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216" name="Rectangle 27"/>
                <p:cNvSpPr>
                  <a:spLocks noChangeArrowheads="1"/>
                </p:cNvSpPr>
                <p:nvPr/>
              </p:nvSpPr>
              <p:spPr bwMode="auto">
                <a:xfrm>
                  <a:off x="1977" y="646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7" name="Group 28"/>
              <p:cNvGrpSpPr>
                <a:grpSpLocks/>
              </p:cNvGrpSpPr>
              <p:nvPr/>
            </p:nvGrpSpPr>
            <p:grpSpPr bwMode="auto">
              <a:xfrm>
                <a:off x="988" y="969"/>
                <a:ext cx="989" cy="323"/>
                <a:chOff x="988" y="969"/>
                <a:chExt cx="989" cy="323"/>
              </a:xfrm>
              <a:grpFill/>
            </p:grpSpPr>
            <p:sp>
              <p:nvSpPr>
                <p:cNvPr id="49213" name="Rectangle 29"/>
                <p:cNvSpPr>
                  <a:spLocks noChangeArrowheads="1"/>
                </p:cNvSpPr>
                <p:nvPr/>
              </p:nvSpPr>
              <p:spPr bwMode="auto">
                <a:xfrm>
                  <a:off x="1031" y="969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private</a:t>
                  </a:r>
                </a:p>
              </p:txBody>
            </p:sp>
            <p:sp>
              <p:nvSpPr>
                <p:cNvPr id="49214" name="Rectangle 30"/>
                <p:cNvSpPr>
                  <a:spLocks noChangeArrowheads="1"/>
                </p:cNvSpPr>
                <p:nvPr/>
              </p:nvSpPr>
              <p:spPr bwMode="auto">
                <a:xfrm>
                  <a:off x="988" y="969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8" name="Group 31"/>
              <p:cNvGrpSpPr>
                <a:grpSpLocks/>
              </p:cNvGrpSpPr>
              <p:nvPr/>
            </p:nvGrpSpPr>
            <p:grpSpPr bwMode="auto">
              <a:xfrm>
                <a:off x="1977" y="969"/>
                <a:ext cx="989" cy="323"/>
                <a:chOff x="1977" y="969"/>
                <a:chExt cx="989" cy="323"/>
              </a:xfrm>
              <a:grpFill/>
            </p:grpSpPr>
            <p:sp>
              <p:nvSpPr>
                <p:cNvPr id="49211" name="Rectangle 32"/>
                <p:cNvSpPr>
                  <a:spLocks noChangeArrowheads="1"/>
                </p:cNvSpPr>
                <p:nvPr/>
              </p:nvSpPr>
              <p:spPr bwMode="auto">
                <a:xfrm>
                  <a:off x="2020" y="969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不可访问</a:t>
                  </a:r>
                </a:p>
              </p:txBody>
            </p:sp>
            <p:sp>
              <p:nvSpPr>
                <p:cNvPr id="49212" name="Rectangle 33"/>
                <p:cNvSpPr>
                  <a:spLocks noChangeArrowheads="1"/>
                </p:cNvSpPr>
                <p:nvPr/>
              </p:nvSpPr>
              <p:spPr bwMode="auto">
                <a:xfrm>
                  <a:off x="1977" y="969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69" name="Group 34"/>
              <p:cNvGrpSpPr>
                <a:grpSpLocks/>
              </p:cNvGrpSpPr>
              <p:nvPr/>
            </p:nvGrpSpPr>
            <p:grpSpPr bwMode="auto">
              <a:xfrm>
                <a:off x="0" y="1292"/>
                <a:ext cx="988" cy="969"/>
                <a:chOff x="0" y="1292"/>
                <a:chExt cx="988" cy="969"/>
              </a:xfrm>
              <a:grpFill/>
            </p:grpSpPr>
            <p:sp>
              <p:nvSpPr>
                <p:cNvPr id="49209" name="Rectangle 35"/>
                <p:cNvSpPr>
                  <a:spLocks noChangeArrowheads="1"/>
                </p:cNvSpPr>
                <p:nvPr/>
              </p:nvSpPr>
              <p:spPr bwMode="auto">
                <a:xfrm>
                  <a:off x="43" y="1292"/>
                  <a:ext cx="902" cy="969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私有继承</a:t>
                  </a:r>
                </a:p>
              </p:txBody>
            </p:sp>
            <p:sp>
              <p:nvSpPr>
                <p:cNvPr id="49210" name="Rectangle 36"/>
                <p:cNvSpPr>
                  <a:spLocks noChangeArrowheads="1"/>
                </p:cNvSpPr>
                <p:nvPr/>
              </p:nvSpPr>
              <p:spPr bwMode="auto">
                <a:xfrm>
                  <a:off x="0" y="1292"/>
                  <a:ext cx="988" cy="969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0" name="Group 37"/>
              <p:cNvGrpSpPr>
                <a:grpSpLocks/>
              </p:cNvGrpSpPr>
              <p:nvPr/>
            </p:nvGrpSpPr>
            <p:grpSpPr bwMode="auto">
              <a:xfrm>
                <a:off x="988" y="1292"/>
                <a:ext cx="989" cy="323"/>
                <a:chOff x="988" y="1292"/>
                <a:chExt cx="989" cy="323"/>
              </a:xfrm>
              <a:grpFill/>
            </p:grpSpPr>
            <p:sp>
              <p:nvSpPr>
                <p:cNvPr id="49207" name="Rectangle 38"/>
                <p:cNvSpPr>
                  <a:spLocks noChangeArrowheads="1"/>
                </p:cNvSpPr>
                <p:nvPr/>
              </p:nvSpPr>
              <p:spPr bwMode="auto">
                <a:xfrm>
                  <a:off x="1031" y="1292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public</a:t>
                  </a:r>
                </a:p>
              </p:txBody>
            </p:sp>
            <p:sp>
              <p:nvSpPr>
                <p:cNvPr id="49208" name="Rectangle 39"/>
                <p:cNvSpPr>
                  <a:spLocks noChangeArrowheads="1"/>
                </p:cNvSpPr>
                <p:nvPr/>
              </p:nvSpPr>
              <p:spPr bwMode="auto">
                <a:xfrm>
                  <a:off x="988" y="1292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1" name="Group 40"/>
              <p:cNvGrpSpPr>
                <a:grpSpLocks/>
              </p:cNvGrpSpPr>
              <p:nvPr/>
            </p:nvGrpSpPr>
            <p:grpSpPr bwMode="auto">
              <a:xfrm>
                <a:off x="1977" y="1292"/>
                <a:ext cx="989" cy="323"/>
                <a:chOff x="1977" y="1292"/>
                <a:chExt cx="989" cy="323"/>
              </a:xfrm>
              <a:grpFill/>
            </p:grpSpPr>
            <p:sp>
              <p:nvSpPr>
                <p:cNvPr id="49205" name="Rectangle 41"/>
                <p:cNvSpPr>
                  <a:spLocks noChangeArrowheads="1"/>
                </p:cNvSpPr>
                <p:nvPr/>
              </p:nvSpPr>
              <p:spPr bwMode="auto">
                <a:xfrm>
                  <a:off x="2020" y="1292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private</a:t>
                  </a:r>
                </a:p>
              </p:txBody>
            </p:sp>
            <p:sp>
              <p:nvSpPr>
                <p:cNvPr id="49206" name="Rectangle 42"/>
                <p:cNvSpPr>
                  <a:spLocks noChangeArrowheads="1"/>
                </p:cNvSpPr>
                <p:nvPr/>
              </p:nvSpPr>
              <p:spPr bwMode="auto">
                <a:xfrm>
                  <a:off x="1977" y="1292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2" name="Group 43"/>
              <p:cNvGrpSpPr>
                <a:grpSpLocks/>
              </p:cNvGrpSpPr>
              <p:nvPr/>
            </p:nvGrpSpPr>
            <p:grpSpPr bwMode="auto">
              <a:xfrm>
                <a:off x="988" y="1615"/>
                <a:ext cx="989" cy="323"/>
                <a:chOff x="988" y="1615"/>
                <a:chExt cx="989" cy="323"/>
              </a:xfrm>
              <a:grpFill/>
            </p:grpSpPr>
            <p:sp>
              <p:nvSpPr>
                <p:cNvPr id="49203" name="Rectangle 44"/>
                <p:cNvSpPr>
                  <a:spLocks noChangeArrowheads="1"/>
                </p:cNvSpPr>
                <p:nvPr/>
              </p:nvSpPr>
              <p:spPr bwMode="auto">
                <a:xfrm>
                  <a:off x="1031" y="1615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204" name="Rectangle 45"/>
                <p:cNvSpPr>
                  <a:spLocks noChangeArrowheads="1"/>
                </p:cNvSpPr>
                <p:nvPr/>
              </p:nvSpPr>
              <p:spPr bwMode="auto">
                <a:xfrm>
                  <a:off x="988" y="1615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3" name="Group 46"/>
              <p:cNvGrpSpPr>
                <a:grpSpLocks/>
              </p:cNvGrpSpPr>
              <p:nvPr/>
            </p:nvGrpSpPr>
            <p:grpSpPr bwMode="auto">
              <a:xfrm>
                <a:off x="1977" y="1615"/>
                <a:ext cx="989" cy="323"/>
                <a:chOff x="1977" y="1615"/>
                <a:chExt cx="989" cy="323"/>
              </a:xfrm>
              <a:grpFill/>
            </p:grpSpPr>
            <p:sp>
              <p:nvSpPr>
                <p:cNvPr id="49201" name="Rectangle 47"/>
                <p:cNvSpPr>
                  <a:spLocks noChangeArrowheads="1"/>
                </p:cNvSpPr>
                <p:nvPr/>
              </p:nvSpPr>
              <p:spPr bwMode="auto">
                <a:xfrm>
                  <a:off x="2020" y="1615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private</a:t>
                  </a:r>
                </a:p>
              </p:txBody>
            </p:sp>
            <p:sp>
              <p:nvSpPr>
                <p:cNvPr id="49202" name="Rectangle 48"/>
                <p:cNvSpPr>
                  <a:spLocks noChangeArrowheads="1"/>
                </p:cNvSpPr>
                <p:nvPr/>
              </p:nvSpPr>
              <p:spPr bwMode="auto">
                <a:xfrm>
                  <a:off x="1977" y="1615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4" name="Group 49"/>
              <p:cNvGrpSpPr>
                <a:grpSpLocks/>
              </p:cNvGrpSpPr>
              <p:nvPr/>
            </p:nvGrpSpPr>
            <p:grpSpPr bwMode="auto">
              <a:xfrm>
                <a:off x="988" y="1938"/>
                <a:ext cx="989" cy="323"/>
                <a:chOff x="988" y="1938"/>
                <a:chExt cx="989" cy="323"/>
              </a:xfrm>
              <a:grpFill/>
            </p:grpSpPr>
            <p:sp>
              <p:nvSpPr>
                <p:cNvPr id="49199" name="Rectangle 50"/>
                <p:cNvSpPr>
                  <a:spLocks noChangeArrowheads="1"/>
                </p:cNvSpPr>
                <p:nvPr/>
              </p:nvSpPr>
              <p:spPr bwMode="auto">
                <a:xfrm>
                  <a:off x="1031" y="1938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private	</a:t>
                  </a:r>
                </a:p>
              </p:txBody>
            </p:sp>
            <p:sp>
              <p:nvSpPr>
                <p:cNvPr id="49200" name="Rectangle 51"/>
                <p:cNvSpPr>
                  <a:spLocks noChangeArrowheads="1"/>
                </p:cNvSpPr>
                <p:nvPr/>
              </p:nvSpPr>
              <p:spPr bwMode="auto">
                <a:xfrm>
                  <a:off x="988" y="1938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5" name="Group 52"/>
              <p:cNvGrpSpPr>
                <a:grpSpLocks/>
              </p:cNvGrpSpPr>
              <p:nvPr/>
            </p:nvGrpSpPr>
            <p:grpSpPr bwMode="auto">
              <a:xfrm>
                <a:off x="1977" y="1938"/>
                <a:ext cx="989" cy="323"/>
                <a:chOff x="1977" y="1938"/>
                <a:chExt cx="989" cy="323"/>
              </a:xfrm>
              <a:grpFill/>
            </p:grpSpPr>
            <p:sp>
              <p:nvSpPr>
                <p:cNvPr id="49197" name="Rectangle 53"/>
                <p:cNvSpPr>
                  <a:spLocks noChangeArrowheads="1"/>
                </p:cNvSpPr>
                <p:nvPr/>
              </p:nvSpPr>
              <p:spPr bwMode="auto">
                <a:xfrm>
                  <a:off x="2020" y="1938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不可访问</a:t>
                  </a:r>
                </a:p>
              </p:txBody>
            </p:sp>
            <p:sp>
              <p:nvSpPr>
                <p:cNvPr id="49198" name="Rectangle 54"/>
                <p:cNvSpPr>
                  <a:spLocks noChangeArrowheads="1"/>
                </p:cNvSpPr>
                <p:nvPr/>
              </p:nvSpPr>
              <p:spPr bwMode="auto">
                <a:xfrm>
                  <a:off x="1977" y="1938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6" name="Group 55"/>
              <p:cNvGrpSpPr>
                <a:grpSpLocks/>
              </p:cNvGrpSpPr>
              <p:nvPr/>
            </p:nvGrpSpPr>
            <p:grpSpPr bwMode="auto">
              <a:xfrm>
                <a:off x="0" y="2261"/>
                <a:ext cx="988" cy="969"/>
                <a:chOff x="0" y="2261"/>
                <a:chExt cx="988" cy="969"/>
              </a:xfrm>
              <a:grpFill/>
            </p:grpSpPr>
            <p:sp>
              <p:nvSpPr>
                <p:cNvPr id="49195" name="Rectangle 56"/>
                <p:cNvSpPr>
                  <a:spLocks noChangeArrowheads="1"/>
                </p:cNvSpPr>
                <p:nvPr/>
              </p:nvSpPr>
              <p:spPr bwMode="auto">
                <a:xfrm>
                  <a:off x="43" y="2261"/>
                  <a:ext cx="902" cy="969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algn="ctr"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保护继承</a:t>
                  </a:r>
                </a:p>
              </p:txBody>
            </p:sp>
            <p:sp>
              <p:nvSpPr>
                <p:cNvPr id="49196" name="Rectangle 57"/>
                <p:cNvSpPr>
                  <a:spLocks noChangeArrowheads="1"/>
                </p:cNvSpPr>
                <p:nvPr/>
              </p:nvSpPr>
              <p:spPr bwMode="auto">
                <a:xfrm>
                  <a:off x="0" y="2261"/>
                  <a:ext cx="988" cy="969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7" name="Group 58"/>
              <p:cNvGrpSpPr>
                <a:grpSpLocks/>
              </p:cNvGrpSpPr>
              <p:nvPr/>
            </p:nvGrpSpPr>
            <p:grpSpPr bwMode="auto">
              <a:xfrm>
                <a:off x="988" y="2261"/>
                <a:ext cx="989" cy="323"/>
                <a:chOff x="988" y="2261"/>
                <a:chExt cx="989" cy="323"/>
              </a:xfrm>
              <a:grpFill/>
            </p:grpSpPr>
            <p:sp>
              <p:nvSpPr>
                <p:cNvPr id="49193" name="Rectangle 59"/>
                <p:cNvSpPr>
                  <a:spLocks noChangeArrowheads="1"/>
                </p:cNvSpPr>
                <p:nvPr/>
              </p:nvSpPr>
              <p:spPr bwMode="auto">
                <a:xfrm>
                  <a:off x="1031" y="2261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public</a:t>
                  </a:r>
                </a:p>
              </p:txBody>
            </p:sp>
            <p:sp>
              <p:nvSpPr>
                <p:cNvPr id="49194" name="Rectangle 60"/>
                <p:cNvSpPr>
                  <a:spLocks noChangeArrowheads="1"/>
                </p:cNvSpPr>
                <p:nvPr/>
              </p:nvSpPr>
              <p:spPr bwMode="auto">
                <a:xfrm>
                  <a:off x="988" y="2261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8" name="Group 61"/>
              <p:cNvGrpSpPr>
                <a:grpSpLocks/>
              </p:cNvGrpSpPr>
              <p:nvPr/>
            </p:nvGrpSpPr>
            <p:grpSpPr bwMode="auto">
              <a:xfrm>
                <a:off x="1977" y="2261"/>
                <a:ext cx="989" cy="323"/>
                <a:chOff x="1977" y="2261"/>
                <a:chExt cx="989" cy="323"/>
              </a:xfrm>
              <a:grpFill/>
            </p:grpSpPr>
            <p:sp>
              <p:nvSpPr>
                <p:cNvPr id="49191" name="Rectangle 62"/>
                <p:cNvSpPr>
                  <a:spLocks noChangeArrowheads="1"/>
                </p:cNvSpPr>
                <p:nvPr/>
              </p:nvSpPr>
              <p:spPr bwMode="auto">
                <a:xfrm>
                  <a:off x="2020" y="2261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192" name="Rectangle 63"/>
                <p:cNvSpPr>
                  <a:spLocks noChangeArrowheads="1"/>
                </p:cNvSpPr>
                <p:nvPr/>
              </p:nvSpPr>
              <p:spPr bwMode="auto">
                <a:xfrm>
                  <a:off x="1977" y="2261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79" name="Group 64"/>
              <p:cNvGrpSpPr>
                <a:grpSpLocks/>
              </p:cNvGrpSpPr>
              <p:nvPr/>
            </p:nvGrpSpPr>
            <p:grpSpPr bwMode="auto">
              <a:xfrm>
                <a:off x="988" y="2584"/>
                <a:ext cx="989" cy="323"/>
                <a:chOff x="988" y="2584"/>
                <a:chExt cx="989" cy="323"/>
              </a:xfrm>
              <a:grpFill/>
            </p:grpSpPr>
            <p:sp>
              <p:nvSpPr>
                <p:cNvPr id="49189" name="Rectangle 65"/>
                <p:cNvSpPr>
                  <a:spLocks noChangeArrowheads="1"/>
                </p:cNvSpPr>
                <p:nvPr/>
              </p:nvSpPr>
              <p:spPr bwMode="auto">
                <a:xfrm>
                  <a:off x="1031" y="2584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190" name="Rectangle 66"/>
                <p:cNvSpPr>
                  <a:spLocks noChangeArrowheads="1"/>
                </p:cNvSpPr>
                <p:nvPr/>
              </p:nvSpPr>
              <p:spPr bwMode="auto">
                <a:xfrm>
                  <a:off x="988" y="2584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80" name="Group 67"/>
              <p:cNvGrpSpPr>
                <a:grpSpLocks/>
              </p:cNvGrpSpPr>
              <p:nvPr/>
            </p:nvGrpSpPr>
            <p:grpSpPr bwMode="auto">
              <a:xfrm>
                <a:off x="1977" y="2584"/>
                <a:ext cx="989" cy="323"/>
                <a:chOff x="1977" y="2584"/>
                <a:chExt cx="989" cy="323"/>
              </a:xfrm>
              <a:grpFill/>
            </p:grpSpPr>
            <p:sp>
              <p:nvSpPr>
                <p:cNvPr id="49187" name="Rectangle 68"/>
                <p:cNvSpPr>
                  <a:spLocks noChangeArrowheads="1"/>
                </p:cNvSpPr>
                <p:nvPr/>
              </p:nvSpPr>
              <p:spPr bwMode="auto">
                <a:xfrm>
                  <a:off x="2020" y="2584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protected</a:t>
                  </a:r>
                </a:p>
              </p:txBody>
            </p:sp>
            <p:sp>
              <p:nvSpPr>
                <p:cNvPr id="49188" name="Rectangle 69"/>
                <p:cNvSpPr>
                  <a:spLocks noChangeArrowheads="1"/>
                </p:cNvSpPr>
                <p:nvPr/>
              </p:nvSpPr>
              <p:spPr bwMode="auto">
                <a:xfrm>
                  <a:off x="1977" y="2584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81" name="Group 70"/>
              <p:cNvGrpSpPr>
                <a:grpSpLocks/>
              </p:cNvGrpSpPr>
              <p:nvPr/>
            </p:nvGrpSpPr>
            <p:grpSpPr bwMode="auto">
              <a:xfrm>
                <a:off x="988" y="2907"/>
                <a:ext cx="989" cy="323"/>
                <a:chOff x="988" y="2907"/>
                <a:chExt cx="989" cy="323"/>
              </a:xfrm>
              <a:grpFill/>
            </p:grpSpPr>
            <p:sp>
              <p:nvSpPr>
                <p:cNvPr id="49185" name="Rectangle 71"/>
                <p:cNvSpPr>
                  <a:spLocks noChangeArrowheads="1"/>
                </p:cNvSpPr>
                <p:nvPr/>
              </p:nvSpPr>
              <p:spPr bwMode="auto">
                <a:xfrm>
                  <a:off x="1031" y="2907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en-US" altLang="zh-CN" sz="2000" b="1">
                      <a:latin typeface="Arial" charset="0"/>
                    </a:rPr>
                    <a:t>private</a:t>
                  </a:r>
                </a:p>
              </p:txBody>
            </p:sp>
            <p:sp>
              <p:nvSpPr>
                <p:cNvPr id="49186" name="Rectangle 72"/>
                <p:cNvSpPr>
                  <a:spLocks noChangeArrowheads="1"/>
                </p:cNvSpPr>
                <p:nvPr/>
              </p:nvSpPr>
              <p:spPr bwMode="auto">
                <a:xfrm>
                  <a:off x="988" y="2907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9182" name="Group 73"/>
              <p:cNvGrpSpPr>
                <a:grpSpLocks/>
              </p:cNvGrpSpPr>
              <p:nvPr/>
            </p:nvGrpSpPr>
            <p:grpSpPr bwMode="auto">
              <a:xfrm>
                <a:off x="1977" y="2907"/>
                <a:ext cx="989" cy="323"/>
                <a:chOff x="1977" y="2907"/>
                <a:chExt cx="989" cy="323"/>
              </a:xfrm>
              <a:grpFill/>
            </p:grpSpPr>
            <p:sp>
              <p:nvSpPr>
                <p:cNvPr id="4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2020" y="2907"/>
                  <a:ext cx="903" cy="32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>
                    <a:spcBef>
                      <a:spcPct val="30000"/>
                    </a:spcBef>
                  </a:pPr>
                  <a:r>
                    <a:rPr lang="zh-CN" altLang="en-US" sz="2000" b="1">
                      <a:latin typeface="Arial" charset="0"/>
                    </a:rPr>
                    <a:t>不可访问</a:t>
                  </a:r>
                </a:p>
              </p:txBody>
            </p:sp>
            <p:sp>
              <p:nvSpPr>
                <p:cNvPr id="49184" name="Rectangle 75"/>
                <p:cNvSpPr>
                  <a:spLocks noChangeArrowheads="1"/>
                </p:cNvSpPr>
                <p:nvPr/>
              </p:nvSpPr>
              <p:spPr bwMode="auto">
                <a:xfrm>
                  <a:off x="1977" y="2907"/>
                  <a:ext cx="989" cy="323"/>
                </a:xfrm>
                <a:prstGeom prst="rect">
                  <a:avLst/>
                </a:prstGeom>
                <a:grp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49158" name="Rectangle 76"/>
            <p:cNvSpPr>
              <a:spLocks noChangeArrowheads="1"/>
            </p:cNvSpPr>
            <p:nvPr/>
          </p:nvSpPr>
          <p:spPr bwMode="auto">
            <a:xfrm>
              <a:off x="-3" y="-3"/>
              <a:ext cx="2972" cy="3236"/>
            </a:xfrm>
            <a:prstGeom prst="rect">
              <a:avLst/>
            </a:prstGeom>
            <a:grpFill/>
            <a:ln w="11112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013" name="Rectangle 77"/>
          <p:cNvSpPr>
            <a:spLocks noGrp="1" noChangeArrowheads="1"/>
          </p:cNvSpPr>
          <p:nvPr>
            <p:ph type="title"/>
          </p:nvPr>
        </p:nvSpPr>
        <p:spPr>
          <a:xfrm>
            <a:off x="323528" y="274638"/>
            <a:ext cx="8686800" cy="63408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anchor="b">
            <a:noAutofit/>
          </a:bodyPr>
          <a:lstStyle/>
          <a:p>
            <a:pPr eaLnBrk="1" hangingPunct="1">
              <a:defRPr/>
            </a:pPr>
            <a:r>
              <a:rPr lang="zh-CN" altLang="en-US" b="0" dirty="0">
                <a:latin typeface="+mj-ea"/>
              </a:rPr>
              <a:t>不同继承方式的基类和派生类特性 </a:t>
            </a:r>
          </a:p>
        </p:txBody>
      </p:sp>
      <p:sp>
        <p:nvSpPr>
          <p:cNvPr id="78" name="Rectangle 30"/>
          <p:cNvSpPr>
            <a:spLocks noChangeArrowheads="1"/>
          </p:cNvSpPr>
          <p:nvPr/>
        </p:nvSpPr>
        <p:spPr bwMode="auto">
          <a:xfrm>
            <a:off x="6289923" y="2622882"/>
            <a:ext cx="2602557" cy="15933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sz="200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私有数据不可访问</a:t>
            </a:r>
            <a:endParaRPr kumimoji="1" lang="en-US" altLang="zh-CN" sz="2000" dirty="0">
              <a:solidFill>
                <a:srgbClr val="FF0000"/>
              </a:solidFill>
              <a:latin typeface="Lucida Sans Unicode" pitchFamily="34" charset="0"/>
              <a:ea typeface="楷体_GB2312" pitchFamily="49" charset="-122"/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sz="200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私有继承私有化</a:t>
            </a:r>
            <a:endParaRPr kumimoji="1" lang="en-US" altLang="zh-CN" sz="2000" dirty="0">
              <a:solidFill>
                <a:srgbClr val="FF0000"/>
              </a:solidFill>
              <a:latin typeface="Lucida Sans Unicode" pitchFamily="34" charset="0"/>
              <a:ea typeface="楷体_GB2312" pitchFamily="49" charset="-122"/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sz="200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保护继承保护化</a:t>
            </a:r>
            <a:endParaRPr kumimoji="1" lang="en-US" altLang="zh-CN" sz="2000" dirty="0">
              <a:solidFill>
                <a:srgbClr val="FF0000"/>
              </a:solidFill>
              <a:latin typeface="Lucida Sans Unicode" pitchFamily="34" charset="0"/>
              <a:ea typeface="楷体_GB2312" pitchFamily="49" charset="-122"/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sz="2000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公有继承不变</a:t>
            </a:r>
          </a:p>
        </p:txBody>
      </p:sp>
    </p:spTree>
    <p:extLst>
      <p:ext uri="{BB962C8B-B14F-4D97-AF65-F5344CB8AC3E}">
        <p14:creationId xmlns:p14="http://schemas.microsoft.com/office/powerpoint/2010/main" val="8107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1714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类型兼容规则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7107" name="Rectangle 3"/>
          <p:cNvSpPr txBox="1">
            <a:spLocks noChangeArrowheads="1"/>
          </p:cNvSpPr>
          <p:nvPr/>
        </p:nvSpPr>
        <p:spPr bwMode="auto">
          <a:xfrm>
            <a:off x="251520" y="1916832"/>
            <a:ext cx="889248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600">
                <a:solidFill>
                  <a:schemeClr val="tx1"/>
                </a:solidFill>
                <a:latin typeface="Perpetua" pitchFamily="18" charset="0"/>
              </a:defRPr>
            </a:lvl1pPr>
            <a:lvl2pPr marL="776288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itchFamily="18" charset="2"/>
              <a:buChar char=""/>
              <a:defRPr sz="2400">
                <a:solidFill>
                  <a:schemeClr val="tx1"/>
                </a:solidFill>
                <a:latin typeface="Perpetua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3200" b="0" dirty="0">
                <a:latin typeface="Comic Sans MS" pitchFamily="66" charset="0"/>
              </a:rPr>
              <a:t>基类对象与派生类对象之间存在</a:t>
            </a:r>
            <a:r>
              <a:rPr lang="zh-CN" altLang="en-US" sz="3200" b="0" dirty="0">
                <a:solidFill>
                  <a:srgbClr val="FF0000"/>
                </a:solidFill>
                <a:latin typeface="Comic Sans MS" pitchFamily="66" charset="0"/>
              </a:rPr>
              <a:t>赋值相容性</a:t>
            </a:r>
            <a:r>
              <a:rPr lang="zh-CN" altLang="en-US" sz="3200" b="0" dirty="0">
                <a:latin typeface="Comic Sans MS" pitchFamily="66" charset="0"/>
              </a:rPr>
              <a:t>。</a:t>
            </a:r>
            <a:endParaRPr lang="en-US" altLang="zh-CN" sz="3200" b="0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zh-CN" altLang="en-US" sz="3200" dirty="0"/>
              <a:t>派生类对象 对 基类对象、指针、引用</a:t>
            </a:r>
            <a:endParaRPr lang="en-US" altLang="zh-CN" sz="3200" dirty="0"/>
          </a:p>
          <a:p>
            <a:pPr marL="361950" indent="0">
              <a:lnSpc>
                <a:spcPct val="90000"/>
              </a:lnSpc>
              <a:buNone/>
            </a:pPr>
            <a:r>
              <a:rPr lang="zh-CN" altLang="en-US" sz="3200" dirty="0"/>
              <a:t>进行</a:t>
            </a:r>
            <a:r>
              <a:rPr lang="zh-CN" altLang="en-US" sz="3200" dirty="0">
                <a:solidFill>
                  <a:srgbClr val="FF0000"/>
                </a:solidFill>
              </a:rPr>
              <a:t>赋值</a:t>
            </a:r>
            <a:r>
              <a:rPr lang="zh-CN" altLang="en-US" sz="3200" dirty="0"/>
              <a:t>操作（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zh-CN" altLang="en-US" sz="3200" dirty="0"/>
              <a:t>）</a:t>
            </a:r>
          </a:p>
          <a:p>
            <a:pPr eaLnBrk="1" hangingPunct="1">
              <a:lnSpc>
                <a:spcPct val="90000"/>
              </a:lnSpc>
            </a:pPr>
            <a:endParaRPr lang="en-US" altLang="zh-CN" sz="3200" b="0" dirty="0">
              <a:latin typeface="Comic Sans MS" pitchFamily="66" charset="0"/>
            </a:endParaRPr>
          </a:p>
        </p:txBody>
      </p:sp>
      <p:sp>
        <p:nvSpPr>
          <p:cNvPr id="14344" name="矩形 3"/>
          <p:cNvSpPr>
            <a:spLocks noChangeArrowheads="1"/>
          </p:cNvSpPr>
          <p:nvPr/>
        </p:nvSpPr>
        <p:spPr bwMode="auto">
          <a:xfrm>
            <a:off x="2813124" y="4037310"/>
            <a:ext cx="2970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Derived d;</a:t>
            </a:r>
          </a:p>
          <a:p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Base b = d;  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</a:t>
            </a:r>
          </a:p>
        </p:txBody>
      </p:sp>
      <p:grpSp>
        <p:nvGrpSpPr>
          <p:cNvPr id="14345" name="组合 27"/>
          <p:cNvGrpSpPr>
            <a:grpSpLocks/>
          </p:cNvGrpSpPr>
          <p:nvPr/>
        </p:nvGrpSpPr>
        <p:grpSpPr bwMode="auto">
          <a:xfrm>
            <a:off x="2555949" y="5019799"/>
            <a:ext cx="4032250" cy="1041400"/>
            <a:chOff x="2447162" y="1844824"/>
            <a:chExt cx="4032870" cy="1042769"/>
          </a:xfrm>
        </p:grpSpPr>
        <p:sp>
          <p:nvSpPr>
            <p:cNvPr id="47111" name="Text Box 87"/>
            <p:cNvSpPr txBox="1">
              <a:spLocks noChangeArrowheads="1"/>
            </p:cNvSpPr>
            <p:nvPr/>
          </p:nvSpPr>
          <p:spPr bwMode="auto">
            <a:xfrm>
              <a:off x="2447944" y="1844824"/>
              <a:ext cx="1620000" cy="360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Base::b</a:t>
              </a:r>
            </a:p>
          </p:txBody>
        </p:sp>
        <p:sp>
          <p:nvSpPr>
            <p:cNvPr id="47112" name="Text Box 88"/>
            <p:cNvSpPr txBox="1">
              <a:spLocks noChangeArrowheads="1"/>
            </p:cNvSpPr>
            <p:nvPr/>
          </p:nvSpPr>
          <p:spPr bwMode="auto">
            <a:xfrm>
              <a:off x="2447162" y="2198309"/>
              <a:ext cx="1620000" cy="3600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基类数据成员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47113" name="Text Box 65"/>
            <p:cNvSpPr txBox="1">
              <a:spLocks noChangeArrowheads="1"/>
            </p:cNvSpPr>
            <p:nvPr/>
          </p:nvSpPr>
          <p:spPr bwMode="auto">
            <a:xfrm>
              <a:off x="4860032" y="1864488"/>
              <a:ext cx="1620000" cy="360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Times New Roman" pitchFamily="18" charset="0"/>
                </a:rPr>
                <a:t>Derived::d</a:t>
              </a:r>
              <a:endParaRPr kumimoji="1" lang="zh-CN" altLang="en-US" sz="1600">
                <a:latin typeface="Times New Roman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47114" name="Text Box 66"/>
            <p:cNvSpPr txBox="1">
              <a:spLocks noChangeArrowheads="1"/>
            </p:cNvSpPr>
            <p:nvPr/>
          </p:nvSpPr>
          <p:spPr bwMode="auto">
            <a:xfrm>
              <a:off x="4860030" y="2189266"/>
              <a:ext cx="1620000" cy="3600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基类数据成员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47115" name="Text Box 66"/>
            <p:cNvSpPr txBox="1">
              <a:spLocks noChangeArrowheads="1"/>
            </p:cNvSpPr>
            <p:nvPr/>
          </p:nvSpPr>
          <p:spPr bwMode="auto">
            <a:xfrm>
              <a:off x="4860030" y="2527593"/>
              <a:ext cx="1620000" cy="360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派生类数据成员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34" name="左箭头 33"/>
            <p:cNvSpPr/>
            <p:nvPr/>
          </p:nvSpPr>
          <p:spPr>
            <a:xfrm>
              <a:off x="4068248" y="2274012"/>
              <a:ext cx="719249" cy="254334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67544" y="3573016"/>
            <a:ext cx="76327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zh-CN" altLang="en-US" sz="32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派生类的对象可以赋值给基类对象。</a:t>
            </a:r>
          </a:p>
        </p:txBody>
      </p:sp>
      <p:sp>
        <p:nvSpPr>
          <p:cNvPr id="3" name="矩形 2"/>
          <p:cNvSpPr/>
          <p:nvPr/>
        </p:nvSpPr>
        <p:spPr>
          <a:xfrm>
            <a:off x="1516810" y="836712"/>
            <a:ext cx="5886054" cy="8679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double k=3.5;</a:t>
            </a:r>
          </a:p>
          <a:p>
            <a:pPr lvl="0">
              <a:lnSpc>
                <a:spcPct val="90000"/>
              </a:lnSpc>
            </a:pPr>
            <a:r>
              <a:rPr lang="en-US" altLang="zh-CN" sz="2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    </a:t>
            </a:r>
            <a:r>
              <a:rPr lang="en-US" altLang="zh-CN" sz="2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=k;		//</a:t>
            </a:r>
            <a:r>
              <a:rPr lang="en-US" altLang="zh-CN" sz="2800" dirty="0" err="1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i</a:t>
            </a:r>
            <a:r>
              <a:rPr lang="zh-CN" altLang="en-US" sz="2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的值：</a:t>
            </a:r>
            <a:r>
              <a:rPr lang="en-US" altLang="zh-CN" sz="28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513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47713" y="-315416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类型兼容规则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9155" name="矩形 2"/>
          <p:cNvSpPr>
            <a:spLocks noChangeArrowheads="1"/>
          </p:cNvSpPr>
          <p:nvPr/>
        </p:nvSpPr>
        <p:spPr bwMode="auto">
          <a:xfrm>
            <a:off x="539552" y="548680"/>
            <a:ext cx="5184576" cy="624786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2000" b="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2000" b="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  <a:endParaRPr lang="en-US" altLang="zh-CN" sz="2000" b="0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Base 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    int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_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Derived: </a:t>
            </a:r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Base 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b="0" dirty="0">
                <a:solidFill>
                  <a:srgbClr val="0000FF"/>
                </a:solidFill>
                <a:latin typeface="Consolas" pitchFamily="49" charset="0"/>
              </a:rPr>
              <a:t>    int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_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vd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r>
              <a:rPr lang="en-US" altLang="zh-CN" sz="2000" b="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{   Derived d;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   d._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= 9;</a:t>
            </a:r>
          </a:p>
          <a:p>
            <a:r>
              <a:rPr lang="it-IT" altLang="zh-CN" sz="2000" b="0" dirty="0">
                <a:solidFill>
                  <a:srgbClr val="000000"/>
                </a:solidFill>
                <a:latin typeface="Consolas" pitchFamily="49" charset="0"/>
              </a:rPr>
              <a:t>    Base b;</a:t>
            </a:r>
          </a:p>
          <a:p>
            <a:r>
              <a:rPr lang="it-IT" altLang="zh-CN" sz="2000" b="0" dirty="0">
                <a:solidFill>
                  <a:srgbClr val="000000"/>
                </a:solidFill>
                <a:latin typeface="Consolas" pitchFamily="49" charset="0"/>
              </a:rPr>
              <a:t>    b._vb = 1;</a:t>
            </a:r>
          </a:p>
          <a:p>
            <a:r>
              <a:rPr lang="it-IT" altLang="zh-CN" sz="2000" b="0" dirty="0">
                <a:solidFill>
                  <a:srgbClr val="000000"/>
                </a:solidFill>
                <a:latin typeface="Consolas" pitchFamily="49" charset="0"/>
              </a:rPr>
              <a:t>    b = d;</a:t>
            </a:r>
            <a:endParaRPr lang="en-US" altLang="zh-CN" sz="2000" b="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"b’s </a:t>
            </a:r>
            <a:r>
              <a:rPr lang="en-US" altLang="zh-CN" sz="2000" b="0" dirty="0" err="1">
                <a:solidFill>
                  <a:srgbClr val="A31515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:"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&lt;&lt;b._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"d’s </a:t>
            </a:r>
            <a:r>
              <a:rPr lang="en-US" altLang="zh-CN" sz="2000" b="0" dirty="0" err="1">
                <a:solidFill>
                  <a:srgbClr val="A31515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A31515"/>
                </a:solidFill>
                <a:latin typeface="Consolas" pitchFamily="49" charset="0"/>
              </a:rPr>
              <a:t>:"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&lt;&lt;d._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vb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    return 0;</a:t>
            </a:r>
          </a:p>
          <a:p>
            <a:r>
              <a:rPr lang="en-US" altLang="zh-CN" sz="2000" b="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6742113" y="4797425"/>
            <a:ext cx="1633537" cy="9541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600"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itchFamily="18" charset="2"/>
              <a:buChar char=""/>
              <a:defRPr sz="2400"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b’s vb: 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d’s vb: 9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1115616" y="5157192"/>
            <a:ext cx="1080120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9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484784"/>
            <a:ext cx="8459787" cy="576064"/>
          </a:xfrm>
        </p:spPr>
        <p:txBody>
          <a:bodyPr>
            <a:noAutofit/>
          </a:bodyPr>
          <a:lstStyle/>
          <a:p>
            <a:pPr marL="319088" lvl="1" indent="0" eaLnBrk="1" hangingPunct="1">
              <a:lnSpc>
                <a:spcPct val="90000"/>
              </a:lnSpc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en-US" altLang="zh-CN" sz="3600" b="1" dirty="0">
                <a:solidFill>
                  <a:schemeClr val="accent2"/>
                </a:solidFill>
              </a:rPr>
              <a:t> </a:t>
            </a:r>
            <a:r>
              <a:rPr lang="zh-CN" altLang="en-US" sz="3600" b="1" dirty="0">
                <a:solidFill>
                  <a:schemeClr val="accent2"/>
                </a:solidFill>
              </a:rPr>
              <a:t>把派生类对象的地址赋值给基类</a:t>
            </a:r>
            <a:r>
              <a:rPr lang="zh-CN" altLang="en-US" sz="3600" b="1" dirty="0">
                <a:solidFill>
                  <a:srgbClr val="FF0000"/>
                </a:solidFill>
              </a:rPr>
              <a:t>指针</a:t>
            </a:r>
            <a:r>
              <a:rPr lang="zh-CN" altLang="en-US" sz="3600" b="1" dirty="0">
                <a:solidFill>
                  <a:schemeClr val="accent2"/>
                </a:solidFill>
              </a:rPr>
              <a:t>。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类型兼容规则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0180" name="矩形 3"/>
          <p:cNvSpPr>
            <a:spLocks noChangeArrowheads="1"/>
          </p:cNvSpPr>
          <p:nvPr/>
        </p:nvSpPr>
        <p:spPr bwMode="auto">
          <a:xfrm>
            <a:off x="1907704" y="2232025"/>
            <a:ext cx="21415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Derived d;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Base *b = &amp;d;   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51520" y="3717032"/>
            <a:ext cx="8311008" cy="742479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19088" lvl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36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用派生类对象初始化基类对象的</a:t>
            </a:r>
            <a:r>
              <a:rPr lang="zh-CN" altLang="en-US" sz="3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引用</a:t>
            </a:r>
            <a:r>
              <a:rPr lang="zh-CN" altLang="en-US" sz="36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63688" y="4737100"/>
            <a:ext cx="22494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Derived d;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Base &amp;b = d;   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</a:p>
        </p:txBody>
      </p:sp>
      <p:grpSp>
        <p:nvGrpSpPr>
          <p:cNvPr id="14346" name="组合 34"/>
          <p:cNvGrpSpPr>
            <a:grpSpLocks/>
          </p:cNvGrpSpPr>
          <p:nvPr/>
        </p:nvGrpSpPr>
        <p:grpSpPr bwMode="auto">
          <a:xfrm>
            <a:off x="4649763" y="4762500"/>
            <a:ext cx="3238500" cy="1060450"/>
            <a:chOff x="3816092" y="4005064"/>
            <a:chExt cx="3240004" cy="1060456"/>
          </a:xfrm>
        </p:grpSpPr>
        <p:sp>
          <p:nvSpPr>
            <p:cNvPr id="50190" name="Text Box 65"/>
            <p:cNvSpPr txBox="1">
              <a:spLocks noChangeArrowheads="1"/>
            </p:cNvSpPr>
            <p:nvPr/>
          </p:nvSpPr>
          <p:spPr bwMode="auto">
            <a:xfrm>
              <a:off x="5436096" y="4005064"/>
              <a:ext cx="1620000" cy="360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Times New Roman" pitchFamily="18" charset="0"/>
                </a:rPr>
                <a:t>Derived::d</a:t>
              </a:r>
              <a:endParaRPr kumimoji="1" lang="zh-CN" altLang="en-US" sz="1600">
                <a:latin typeface="Times New Roman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91" name="Text Box 66"/>
            <p:cNvSpPr txBox="1">
              <a:spLocks noChangeArrowheads="1"/>
            </p:cNvSpPr>
            <p:nvPr/>
          </p:nvSpPr>
          <p:spPr bwMode="auto">
            <a:xfrm>
              <a:off x="5436094" y="4329842"/>
              <a:ext cx="1620000" cy="3600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基类数据成员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92" name="Text Box 66"/>
            <p:cNvSpPr txBox="1">
              <a:spLocks noChangeArrowheads="1"/>
            </p:cNvSpPr>
            <p:nvPr/>
          </p:nvSpPr>
          <p:spPr bwMode="auto">
            <a:xfrm>
              <a:off x="5436094" y="4705520"/>
              <a:ext cx="1620000" cy="360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派生类数据成员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93" name="Text Box 65"/>
            <p:cNvSpPr txBox="1">
              <a:spLocks noChangeArrowheads="1"/>
            </p:cNvSpPr>
            <p:nvPr/>
          </p:nvSpPr>
          <p:spPr bwMode="auto">
            <a:xfrm>
              <a:off x="3816092" y="4329136"/>
              <a:ext cx="162000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dirty="0">
                  <a:latin typeface="Times New Roman" pitchFamily="18" charset="0"/>
                </a:rPr>
                <a:t>Base::b</a:t>
              </a:r>
              <a:endParaRPr kumimoji="1" lang="zh-CN" altLang="en-US" sz="1600" dirty="0">
                <a:latin typeface="Times New Roman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Times New Roman" pitchFamily="18" charset="0"/>
              </a:endParaRP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365154" y="2535238"/>
            <a:ext cx="3556000" cy="1050925"/>
            <a:chOff x="4991428" y="4256385"/>
            <a:chExt cx="3555672" cy="1050628"/>
          </a:xfrm>
        </p:grpSpPr>
        <p:sp>
          <p:nvSpPr>
            <p:cNvPr id="50185" name="Text Box 65"/>
            <p:cNvSpPr txBox="1">
              <a:spLocks noChangeArrowheads="1"/>
            </p:cNvSpPr>
            <p:nvPr/>
          </p:nvSpPr>
          <p:spPr bwMode="auto">
            <a:xfrm>
              <a:off x="6927238" y="4256385"/>
              <a:ext cx="1619862" cy="3600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latin typeface="Times New Roman" pitchFamily="18" charset="0"/>
                </a:rPr>
                <a:t>Derived::d</a:t>
              </a:r>
              <a:endParaRPr kumimoji="1" lang="zh-CN" altLang="en-US" sz="1600">
                <a:latin typeface="Times New Roman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86" name="Text Box 66"/>
            <p:cNvSpPr txBox="1">
              <a:spLocks noChangeArrowheads="1"/>
            </p:cNvSpPr>
            <p:nvPr/>
          </p:nvSpPr>
          <p:spPr bwMode="auto">
            <a:xfrm>
              <a:off x="6927236" y="4581164"/>
              <a:ext cx="1619862" cy="360001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基类数据成员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87" name="Text Box 66"/>
            <p:cNvSpPr txBox="1">
              <a:spLocks noChangeArrowheads="1"/>
            </p:cNvSpPr>
            <p:nvPr/>
          </p:nvSpPr>
          <p:spPr bwMode="auto">
            <a:xfrm>
              <a:off x="6927236" y="4947012"/>
              <a:ext cx="1619862" cy="36000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Times New Roman" pitchFamily="18" charset="0"/>
                </a:rPr>
                <a:t>派生类数据成员</a:t>
              </a:r>
              <a:endParaRPr lang="en-US" altLang="zh-CN" sz="1600">
                <a:latin typeface="Times New Roman" pitchFamily="18" charset="0"/>
              </a:endParaRPr>
            </a:p>
          </p:txBody>
        </p:sp>
        <p:sp>
          <p:nvSpPr>
            <p:cNvPr id="50188" name="Text Box 87"/>
            <p:cNvSpPr txBox="1">
              <a:spLocks noChangeArrowheads="1"/>
            </p:cNvSpPr>
            <p:nvPr/>
          </p:nvSpPr>
          <p:spPr bwMode="auto">
            <a:xfrm>
              <a:off x="4991428" y="4553718"/>
              <a:ext cx="1241387" cy="3600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sz="2600">
                  <a:solidFill>
                    <a:schemeClr val="tx1"/>
                  </a:solidFill>
                  <a:latin typeface="Perpetua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sz="2400">
                  <a:solidFill>
                    <a:schemeClr val="tx1"/>
                  </a:solidFill>
                  <a:latin typeface="Perpetua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sz="2000">
                  <a:solidFill>
                    <a:schemeClr val="tx1"/>
                  </a:solidFill>
                  <a:latin typeface="Perpetua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</a:rPr>
                <a:t>Base::</a:t>
              </a:r>
              <a:r>
                <a:rPr lang="zh-CN" altLang="en-US" sz="1600">
                  <a:latin typeface="Times New Roman" pitchFamily="18" charset="0"/>
                </a:rPr>
                <a:t>*</a:t>
              </a:r>
              <a:r>
                <a:rPr lang="en-US" altLang="zh-CN" sz="1600">
                  <a:latin typeface="Times New Roman" pitchFamily="18" charset="0"/>
                </a:rPr>
                <a:t>b</a:t>
              </a:r>
            </a:p>
          </p:txBody>
        </p:sp>
        <p:cxnSp>
          <p:nvCxnSpPr>
            <p:cNvPr id="46" name="直接箭头连接符 45"/>
            <p:cNvCxnSpPr/>
            <p:nvPr/>
          </p:nvCxnSpPr>
          <p:spPr bwMode="auto">
            <a:xfrm>
              <a:off x="6245437" y="4645981"/>
              <a:ext cx="682562" cy="634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193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96" y="107543"/>
            <a:ext cx="2843808" cy="63401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_a;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_a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const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_a;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Derived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_b;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_b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const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_b;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func1(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 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func2(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 *p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func3(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 &amp;r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915816" y="107543"/>
            <a:ext cx="3960440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 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Derived d;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Base* p = &amp;d;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Base&amp; r = d;</a:t>
            </a:r>
          </a:p>
          <a:p>
            <a:pPr lvl="1">
              <a:defRPr/>
            </a:pP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r.setA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(30);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r.setA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(30);p-&gt;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():"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p-&gt;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r.setA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(30); 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():"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func1(d, 100);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"func1(d,100);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():"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func2(&amp;d, 200);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"func2(&amp;d,200);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():"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func3(d, 300);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"func3(d,300);</a:t>
            </a:r>
            <a:r>
              <a:rPr lang="en-US" altLang="zh-C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(): 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d.getA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zh-CN" altLang="en-US" sz="4400" dirty="0"/>
          </a:p>
        </p:txBody>
      </p:sp>
      <p:sp>
        <p:nvSpPr>
          <p:cNvPr id="2" name="矩形 1"/>
          <p:cNvSpPr/>
          <p:nvPr/>
        </p:nvSpPr>
        <p:spPr>
          <a:xfrm>
            <a:off x="5580112" y="4722760"/>
            <a:ext cx="3168352" cy="212006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(30);p-&gt;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():30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(30); 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d.getA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():30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func1(d,100);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d.getA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():30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func2(&amp;d,200);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d.getA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():200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func3(d,300);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d.getA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300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2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-17463"/>
            <a:ext cx="7772400" cy="1143001"/>
          </a:xfrm>
        </p:spPr>
        <p:txBody>
          <a:bodyPr/>
          <a:lstStyle/>
          <a:p>
            <a:pPr eaLnBrk="1" hangingPunct="1"/>
            <a:r>
              <a:rPr lang="zh-CN" altLang="en-US" b="1" dirty="0"/>
              <a:t>类型兼容规则</a:t>
            </a:r>
            <a:r>
              <a:rPr lang="en-US" altLang="zh-CN" b="1" dirty="0"/>
              <a:t>*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764704"/>
            <a:ext cx="7908925" cy="5032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应用举例：用于派生类的拷贝构造函数定义。</a:t>
            </a:r>
          </a:p>
        </p:txBody>
      </p:sp>
      <p:sp>
        <p:nvSpPr>
          <p:cNvPr id="53252" name="矩形 1"/>
          <p:cNvSpPr>
            <a:spLocks noChangeArrowheads="1"/>
          </p:cNvSpPr>
          <p:nvPr/>
        </p:nvSpPr>
        <p:spPr bwMode="auto">
          <a:xfrm>
            <a:off x="179512" y="1124744"/>
            <a:ext cx="8784976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Person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   string </a:t>
            </a:r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m_strName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   string </a:t>
            </a:r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m_strGender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   Person(){}</a:t>
            </a:r>
          </a:p>
          <a:p>
            <a:r>
              <a:rPr lang="en-US" altLang="zh-CN" sz="1600" b="0" dirty="0">
                <a:latin typeface="Consolas" pitchFamily="49" charset="0"/>
              </a:rPr>
              <a:t>    Person(</a:t>
            </a:r>
            <a:r>
              <a:rPr lang="en-US" altLang="zh-CN" sz="1600" b="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string&amp; name, </a:t>
            </a:r>
            <a:r>
              <a:rPr lang="en-US" altLang="zh-CN" sz="1600" b="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string&amp; gender):</a:t>
            </a:r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m_strName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(name),</a:t>
            </a:r>
          </a:p>
          <a:p>
            <a:pPr marL="441325"/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m_strGender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(gender) </a:t>
            </a:r>
          </a:p>
          <a:p>
            <a:pPr marL="441325"/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{}</a:t>
            </a:r>
          </a:p>
          <a:p>
            <a:pPr marL="441325" indent="-441325"/>
            <a:r>
              <a:rPr lang="en-US" altLang="zh-CN" sz="1600" b="0" dirty="0">
                <a:latin typeface="Consolas" pitchFamily="49" charset="0"/>
              </a:rPr>
              <a:t>    Person(</a:t>
            </a:r>
            <a:r>
              <a:rPr lang="en-US" altLang="zh-CN" sz="1600" b="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b="0" dirty="0">
                <a:latin typeface="Consolas" pitchFamily="49" charset="0"/>
              </a:rPr>
              <a:t>Person&amp; </a:t>
            </a:r>
            <a:r>
              <a:rPr lang="en-US" altLang="zh-CN" sz="1600" b="0" dirty="0" err="1">
                <a:latin typeface="Consolas" pitchFamily="49" charset="0"/>
              </a:rPr>
              <a:t>psn</a:t>
            </a:r>
            <a:r>
              <a:rPr lang="en-US" altLang="zh-CN" sz="1600" b="0" dirty="0">
                <a:latin typeface="Consolas" pitchFamily="49" charset="0"/>
              </a:rPr>
              <a:t>): </a:t>
            </a:r>
            <a:r>
              <a:rPr lang="en-US" altLang="zh-CN" sz="1600" b="0" dirty="0" err="1">
                <a:latin typeface="Consolas" pitchFamily="49" charset="0"/>
              </a:rPr>
              <a:t>m_strName</a:t>
            </a:r>
            <a:r>
              <a:rPr lang="en-US" altLang="zh-CN" sz="1600" b="0" dirty="0">
                <a:latin typeface="Consolas" pitchFamily="49" charset="0"/>
              </a:rPr>
              <a:t>(</a:t>
            </a:r>
            <a:r>
              <a:rPr lang="en-US" altLang="zh-CN" sz="1600" b="0" dirty="0" err="1">
                <a:latin typeface="Consolas" pitchFamily="49" charset="0"/>
              </a:rPr>
              <a:t>psn.m_strName</a:t>
            </a:r>
            <a:r>
              <a:rPr lang="en-US" altLang="zh-CN" sz="1600" b="0" dirty="0">
                <a:latin typeface="Consolas" pitchFamily="49" charset="0"/>
              </a:rPr>
              <a:t>),</a:t>
            </a:r>
          </a:p>
          <a:p>
            <a:pPr marL="441325"/>
            <a:r>
              <a:rPr lang="en-US" altLang="zh-CN" sz="1600" b="0" dirty="0" err="1">
                <a:latin typeface="Consolas" pitchFamily="49" charset="0"/>
              </a:rPr>
              <a:t>m_strGender</a:t>
            </a:r>
            <a:r>
              <a:rPr lang="en-US" altLang="zh-CN" sz="1600" b="0" dirty="0">
                <a:latin typeface="Consolas" pitchFamily="49" charset="0"/>
              </a:rPr>
              <a:t>(</a:t>
            </a:r>
            <a:r>
              <a:rPr lang="en-US" altLang="zh-CN" sz="1600" b="0" dirty="0" err="1">
                <a:latin typeface="Consolas" pitchFamily="49" charset="0"/>
              </a:rPr>
              <a:t>psn.m_strGender</a:t>
            </a:r>
            <a:r>
              <a:rPr lang="en-US" altLang="zh-CN" sz="1600" b="0" dirty="0">
                <a:latin typeface="Consolas" pitchFamily="49" charset="0"/>
              </a:rPr>
              <a:t>)</a:t>
            </a:r>
          </a:p>
          <a:p>
            <a:pPr marL="441325" indent="-76200"/>
            <a:r>
              <a:rPr lang="en-US" altLang="zh-CN" sz="1600" b="0" dirty="0">
                <a:latin typeface="Consolas" pitchFamily="49" charset="0"/>
              </a:rPr>
              <a:t>{}</a:t>
            </a:r>
          </a:p>
          <a:p>
            <a:r>
              <a:rPr lang="en-US" altLang="zh-CN" sz="1600" b="0" dirty="0">
                <a:latin typeface="Consolas" pitchFamily="49" charset="0"/>
              </a:rPr>
              <a:t>};</a:t>
            </a:r>
          </a:p>
          <a:p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Student:</a:t>
            </a:r>
            <a:r>
              <a:rPr lang="en-US" altLang="zh-CN" sz="1600" b="0" dirty="0" err="1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Person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pPr marL="365125"/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string </a:t>
            </a:r>
            <a:r>
              <a:rPr lang="en-US" altLang="zh-CN" sz="1600" b="0" dirty="0" err="1">
                <a:solidFill>
                  <a:srgbClr val="000000"/>
                </a:solidFill>
                <a:latin typeface="Consolas" pitchFamily="49" charset="0"/>
              </a:rPr>
              <a:t>m_strNumber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600" b="0" dirty="0">
                <a:latin typeface="Consolas" pitchFamily="49" charset="0"/>
              </a:rPr>
              <a:t>    Student()</a:t>
            </a:r>
          </a:p>
          <a:p>
            <a:r>
              <a:rPr lang="en-US" altLang="zh-CN" sz="1600" b="0" dirty="0">
                <a:latin typeface="Consolas" pitchFamily="49" charset="0"/>
              </a:rPr>
              <a:t>    {  </a:t>
            </a:r>
            <a:r>
              <a:rPr lang="en-US" altLang="zh-CN" sz="1600" b="0" dirty="0" err="1">
                <a:latin typeface="Consolas" pitchFamily="49" charset="0"/>
              </a:rPr>
              <a:t>m_strNumber</a:t>
            </a:r>
            <a:r>
              <a:rPr lang="en-US" altLang="zh-CN" sz="1600" b="0" dirty="0">
                <a:latin typeface="Consolas" pitchFamily="49" charset="0"/>
              </a:rPr>
              <a:t> = </a:t>
            </a:r>
            <a:r>
              <a:rPr lang="en-US" altLang="zh-CN" sz="1600" b="0" dirty="0">
                <a:solidFill>
                  <a:srgbClr val="A31515"/>
                </a:solidFill>
                <a:latin typeface="Consolas" pitchFamily="49" charset="0"/>
              </a:rPr>
              <a:t>"10"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;  }</a:t>
            </a:r>
          </a:p>
          <a:p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    Student</a:t>
            </a:r>
            <a:r>
              <a:rPr lang="en-US" altLang="zh-CN" sz="1600" b="0" dirty="0">
                <a:latin typeface="Consolas" pitchFamily="49" charset="0"/>
              </a:rPr>
              <a:t>(</a:t>
            </a:r>
            <a:r>
              <a:rPr lang="en-US" altLang="zh-CN" sz="1600" b="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b="0" dirty="0">
                <a:latin typeface="Consolas" pitchFamily="49" charset="0"/>
              </a:rPr>
              <a:t> </a:t>
            </a:r>
            <a:r>
              <a:rPr lang="en-US" altLang="zh-CN" sz="1600" b="0" dirty="0">
                <a:solidFill>
                  <a:srgbClr val="000000"/>
                </a:solidFill>
                <a:latin typeface="Consolas" pitchFamily="49" charset="0"/>
              </a:rPr>
              <a:t>Student</a:t>
            </a:r>
            <a:r>
              <a:rPr lang="en-US" altLang="zh-CN" sz="1600" b="0" dirty="0">
                <a:latin typeface="Consolas" pitchFamily="49" charset="0"/>
              </a:rPr>
              <a:t>&amp; </a:t>
            </a:r>
            <a:r>
              <a:rPr lang="en-US" altLang="zh-CN" sz="1600" b="0" dirty="0" err="1">
                <a:latin typeface="Consolas" pitchFamily="49" charset="0"/>
              </a:rPr>
              <a:t>stu</a:t>
            </a:r>
            <a:r>
              <a:rPr lang="en-US" altLang="zh-CN" sz="1600" b="0" dirty="0">
                <a:latin typeface="Consolas" pitchFamily="49" charset="0"/>
              </a:rPr>
              <a:t>):</a:t>
            </a:r>
            <a:r>
              <a:rPr lang="en-US" altLang="zh-CN" sz="1600" b="0" dirty="0">
                <a:solidFill>
                  <a:srgbClr val="FF0000"/>
                </a:solidFill>
                <a:latin typeface="Consolas" pitchFamily="49" charset="0"/>
              </a:rPr>
              <a:t>Person(</a:t>
            </a:r>
            <a:r>
              <a:rPr lang="en-US" altLang="zh-CN" sz="1600" b="0" dirty="0" err="1">
                <a:solidFill>
                  <a:srgbClr val="FF0000"/>
                </a:solidFill>
                <a:latin typeface="Consolas" pitchFamily="49" charset="0"/>
              </a:rPr>
              <a:t>stu</a:t>
            </a:r>
            <a:r>
              <a:rPr lang="en-US" altLang="zh-CN" sz="1600" b="0" dirty="0">
                <a:solidFill>
                  <a:srgbClr val="FF0000"/>
                </a:solidFill>
                <a:latin typeface="Consolas" pitchFamily="49" charset="0"/>
              </a:rPr>
              <a:t>),</a:t>
            </a:r>
            <a:r>
              <a:rPr lang="en-US" altLang="zh-CN" sz="1600" b="0" dirty="0" err="1">
                <a:latin typeface="Consolas" pitchFamily="49" charset="0"/>
              </a:rPr>
              <a:t>m_strNumber</a:t>
            </a:r>
            <a:r>
              <a:rPr lang="en-US" altLang="zh-CN" sz="1600" b="0" dirty="0">
                <a:latin typeface="Consolas" pitchFamily="49" charset="0"/>
              </a:rPr>
              <a:t>(</a:t>
            </a:r>
            <a:r>
              <a:rPr lang="en-US" altLang="zh-CN" sz="1600" b="0" dirty="0" err="1">
                <a:latin typeface="Consolas" pitchFamily="49" charset="0"/>
              </a:rPr>
              <a:t>stu.m_strNumber</a:t>
            </a:r>
            <a:r>
              <a:rPr lang="en-US" altLang="zh-CN" sz="1600" b="0" dirty="0">
                <a:latin typeface="Consolas" pitchFamily="49" charset="0"/>
              </a:rPr>
              <a:t>)</a:t>
            </a:r>
          </a:p>
          <a:p>
            <a:pPr marL="365125"/>
            <a:r>
              <a:rPr lang="en-US" altLang="zh-CN" sz="1600" b="0" dirty="0">
                <a:latin typeface="Consolas" pitchFamily="49" charset="0"/>
              </a:rPr>
              <a:t>{}</a:t>
            </a:r>
          </a:p>
          <a:p>
            <a:r>
              <a:rPr lang="en-US" altLang="zh-CN" sz="1600" b="0" dirty="0">
                <a:latin typeface="Consolas" pitchFamily="49" charset="0"/>
              </a:rPr>
              <a:t>};</a:t>
            </a:r>
          </a:p>
          <a:p>
            <a:endParaRPr lang="en-US" altLang="zh-CN" sz="1600" b="0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411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-115888"/>
            <a:ext cx="7908925" cy="1800226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C00000"/>
                </a:solidFill>
              </a:rPr>
              <a:t>类型兼容规则说明：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、不论以哪种方式把派生类对象赋值给基类对象，都只能访问到派生类对象中的</a:t>
            </a:r>
            <a:r>
              <a:rPr lang="zh-CN" altLang="en-US" sz="2400" b="1" dirty="0">
                <a:solidFill>
                  <a:srgbClr val="FF0000"/>
                </a:solidFill>
              </a:rPr>
              <a:t>基类对象部分的成员</a:t>
            </a:r>
            <a:r>
              <a:rPr lang="zh-CN" altLang="en-US" sz="2400" dirty="0"/>
              <a:t>，不能访问派生类的自定义成员。 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4275" name="矩形 6"/>
          <p:cNvSpPr>
            <a:spLocks noChangeArrowheads="1"/>
          </p:cNvSpPr>
          <p:nvPr/>
        </p:nvSpPr>
        <p:spPr bwMode="auto">
          <a:xfrm>
            <a:off x="4799013" y="1556792"/>
            <a:ext cx="3732212" cy="2862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main() 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   Derived d;</a:t>
            </a:r>
          </a:p>
          <a:p>
            <a:r>
              <a:rPr lang="en-US" altLang="zh-CN" sz="1800" b="0" dirty="0">
                <a:solidFill>
                  <a:srgbClr val="FF0000"/>
                </a:solidFill>
                <a:latin typeface="Consolas" pitchFamily="49" charset="0"/>
              </a:rPr>
              <a:t>    </a:t>
            </a:r>
            <a:r>
              <a:rPr lang="en-US" altLang="zh-CN" sz="1800" b="0" dirty="0">
                <a:latin typeface="Consolas" pitchFamily="49" charset="0"/>
              </a:rPr>
              <a:t>Base b=d;</a:t>
            </a:r>
          </a:p>
          <a:p>
            <a:r>
              <a:rPr lang="en-US" altLang="zh-CN" sz="1800" b="0" dirty="0">
                <a:latin typeface="Consolas" pitchFamily="49" charset="0"/>
              </a:rPr>
              <a:t>    b._</a:t>
            </a:r>
            <a:r>
              <a:rPr lang="en-US" altLang="zh-CN" sz="1800" b="0" dirty="0" err="1">
                <a:latin typeface="Consolas" pitchFamily="49" charset="0"/>
              </a:rPr>
              <a:t>vb</a:t>
            </a:r>
            <a:r>
              <a:rPr lang="en-US" altLang="zh-CN" sz="1800" b="0" dirty="0">
                <a:latin typeface="Consolas" pitchFamily="49" charset="0"/>
              </a:rPr>
              <a:t> = 9;</a:t>
            </a:r>
          </a:p>
          <a:p>
            <a:r>
              <a:rPr lang="en-US" altLang="zh-CN" sz="1800" b="0" dirty="0">
                <a:latin typeface="Consolas" pitchFamily="49" charset="0"/>
              </a:rPr>
              <a:t>    b._</a:t>
            </a:r>
            <a:r>
              <a:rPr lang="en-US" altLang="zh-CN" sz="1800" b="0" dirty="0" err="1">
                <a:latin typeface="Consolas" pitchFamily="49" charset="0"/>
              </a:rPr>
              <a:t>vd</a:t>
            </a:r>
            <a:r>
              <a:rPr lang="en-US" altLang="zh-CN" sz="1800" b="0" dirty="0">
                <a:latin typeface="Consolas" pitchFamily="49" charset="0"/>
              </a:rPr>
              <a:t> = 10; 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   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   return 0;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en-US" altLang="zh-CN" sz="1800" b="0" dirty="0">
              <a:solidFill>
                <a:srgbClr val="000000"/>
              </a:solidFill>
              <a:latin typeface="Consolas" pitchFamily="49" charset="0"/>
            </a:endParaRPr>
          </a:p>
          <a:p>
            <a:endParaRPr lang="en-US" altLang="zh-CN" sz="1800" b="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4276" name="矩形 3"/>
          <p:cNvSpPr>
            <a:spLocks noChangeArrowheads="1"/>
          </p:cNvSpPr>
          <p:nvPr/>
        </p:nvSpPr>
        <p:spPr bwMode="auto">
          <a:xfrm>
            <a:off x="611188" y="1556792"/>
            <a:ext cx="3922712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b="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800" b="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800" b="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800" b="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b="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  <a:endParaRPr lang="en-US" altLang="zh-CN" sz="1800" b="0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Base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    int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_</a:t>
            </a:r>
            <a:r>
              <a:rPr lang="en-US" altLang="zh-CN" sz="1800" b="0" dirty="0" err="1">
                <a:solidFill>
                  <a:srgbClr val="000000"/>
                </a:solidFill>
                <a:latin typeface="Consolas" pitchFamily="49" charset="0"/>
              </a:rPr>
              <a:t>vb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Derived: </a:t>
            </a:r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Base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800" b="0" dirty="0">
                <a:solidFill>
                  <a:srgbClr val="0000FF"/>
                </a:solidFill>
                <a:latin typeface="Consolas" pitchFamily="49" charset="0"/>
              </a:rPr>
              <a:t>    int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 _</a:t>
            </a:r>
            <a:r>
              <a:rPr lang="en-US" altLang="zh-CN" sz="1800" b="0" dirty="0" err="1">
                <a:solidFill>
                  <a:srgbClr val="000000"/>
                </a:solidFill>
                <a:latin typeface="Consolas" pitchFamily="49" charset="0"/>
              </a:rPr>
              <a:t>vd</a:t>
            </a:r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800" b="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48488" y="2987923"/>
            <a:ext cx="9699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</a:rPr>
              <a:t>//error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39725" y="4869160"/>
            <a:ext cx="8388350" cy="96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-7200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0" dirty="0">
                <a:latin typeface="+mn-lt"/>
                <a:ea typeface="+mn-ea"/>
              </a:rPr>
              <a:t>2</a:t>
            </a:r>
            <a:r>
              <a:rPr lang="zh-CN" altLang="en-US" sz="2000" b="0" dirty="0">
                <a:latin typeface="+mn-lt"/>
                <a:ea typeface="+mn-ea"/>
              </a:rPr>
              <a:t>、类型兼容规则只针对于公有继承，在私有继承和保护继承中，不能将派生类对象赋值给基类对象。 </a:t>
            </a:r>
          </a:p>
        </p:txBody>
      </p:sp>
    </p:spTree>
    <p:extLst>
      <p:ext uri="{BB962C8B-B14F-4D97-AF65-F5344CB8AC3E}">
        <p14:creationId xmlns:p14="http://schemas.microsoft.com/office/powerpoint/2010/main" val="21872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6904" y="-17140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类型兼容规则举例</a:t>
            </a:r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846349E-CCD7-4014-9927-D3CD930BFB7C}" type="slidenum">
              <a:rPr lang="en-US" altLang="zh-CN" sz="1400" smtClean="0"/>
              <a:pPr eaLnBrk="1" hangingPunct="1"/>
              <a:t>38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07504" y="764704"/>
            <a:ext cx="468052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"Base1::display()"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"Base2::display()"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"Derived::display()"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5338583"/>
            <a:ext cx="630168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fun(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ptr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  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参数为指向基类对象的指针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ptr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-&gt;display();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67424" y="764704"/>
            <a:ext cx="2808312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 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fun(&amp;base1);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fun(&amp;base2);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fun(&amp;derived);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210300" y="3807800"/>
            <a:ext cx="2133600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</p:txBody>
      </p:sp>
    </p:spTree>
    <p:extLst>
      <p:ext uri="{BB962C8B-B14F-4D97-AF65-F5344CB8AC3E}">
        <p14:creationId xmlns:p14="http://schemas.microsoft.com/office/powerpoint/2010/main" val="347810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6904" y="-17140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类型兼容规则举例</a:t>
            </a:r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846349E-CCD7-4014-9927-D3CD930BFB7C}" type="slidenum">
              <a:rPr lang="en-US" altLang="zh-CN" sz="1400" smtClean="0"/>
              <a:pPr eaLnBrk="1" hangingPunct="1"/>
              <a:t>39</a:t>
            </a:fld>
            <a:endParaRPr lang="en-US" altLang="zh-CN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5CA72D-385F-7506-7E4E-DC2EFF409C4B}"/>
              </a:ext>
            </a:extLst>
          </p:cNvPr>
          <p:cNvSpPr/>
          <p:nvPr/>
        </p:nvSpPr>
        <p:spPr>
          <a:xfrm>
            <a:off x="107504" y="764704"/>
            <a:ext cx="468052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"Base1::display()"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"Base2::display()"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"Derived::display()"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</a:t>
            </a:r>
          </a:p>
          <a:p>
            <a:pPr marL="4445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178374-0842-BB60-A712-F52A7ED55E7F}"/>
              </a:ext>
            </a:extLst>
          </p:cNvPr>
          <p:cNvSpPr/>
          <p:nvPr/>
        </p:nvSpPr>
        <p:spPr>
          <a:xfrm>
            <a:off x="107504" y="5338583"/>
            <a:ext cx="568863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fun(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Base1&amp;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  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参数为基类对象的引用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.display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A80397-81EB-A78C-7C88-9EAD58728C96}"/>
              </a:ext>
            </a:extLst>
          </p:cNvPr>
          <p:cNvSpPr/>
          <p:nvPr/>
        </p:nvSpPr>
        <p:spPr>
          <a:xfrm>
            <a:off x="5067424" y="764704"/>
            <a:ext cx="2808312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 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fun(base1);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fun(base2);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fun(derived);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C5EA85E-9866-3AC7-6BFD-EF2078F39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3807800"/>
            <a:ext cx="2133600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Base1::display()</a:t>
            </a:r>
          </a:p>
        </p:txBody>
      </p:sp>
    </p:spTree>
    <p:extLst>
      <p:ext uri="{BB962C8B-B14F-4D97-AF65-F5344CB8AC3E}">
        <p14:creationId xmlns:p14="http://schemas.microsoft.com/office/powerpoint/2010/main" val="122895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04800"/>
            <a:ext cx="7162800" cy="1143000"/>
          </a:xfrm>
        </p:spPr>
        <p:txBody>
          <a:bodyPr/>
          <a:lstStyle/>
          <a:p>
            <a:pPr eaLnBrk="1" hangingPunct="1"/>
            <a:r>
              <a:rPr lang="zh-CN" altLang="en-US"/>
              <a:t>基类与派生类的对应关系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676400"/>
            <a:ext cx="7239000" cy="4648200"/>
          </a:xfrm>
        </p:spPr>
        <p:txBody>
          <a:bodyPr/>
          <a:lstStyle/>
          <a:p>
            <a:pPr eaLnBrk="1" hangingPunct="1"/>
            <a:r>
              <a:rPr lang="zh-CN" altLang="en-US"/>
              <a:t>单继承</a:t>
            </a:r>
          </a:p>
          <a:p>
            <a:pPr lvl="1" eaLnBrk="1" hangingPunct="1"/>
            <a:r>
              <a:rPr lang="zh-CN" altLang="en-US"/>
              <a:t>派生类只从一个基类派生。</a:t>
            </a:r>
          </a:p>
          <a:p>
            <a:pPr eaLnBrk="1" hangingPunct="1"/>
            <a:r>
              <a:rPr lang="zh-CN" altLang="en-US"/>
              <a:t>多继承</a:t>
            </a:r>
          </a:p>
          <a:p>
            <a:pPr lvl="1" eaLnBrk="1" hangingPunct="1"/>
            <a:r>
              <a:rPr lang="zh-CN" altLang="en-US"/>
              <a:t>派生类从多个基类派生。</a:t>
            </a:r>
          </a:p>
          <a:p>
            <a:pPr eaLnBrk="1" hangingPunct="1"/>
            <a:r>
              <a:rPr lang="zh-CN" altLang="en-US"/>
              <a:t>多重派生</a:t>
            </a:r>
          </a:p>
          <a:p>
            <a:pPr lvl="1" eaLnBrk="1" hangingPunct="1"/>
            <a:r>
              <a:rPr lang="zh-CN" altLang="en-US"/>
              <a:t>由一个基类派生出多个不同的派生类。</a:t>
            </a:r>
          </a:p>
          <a:p>
            <a:pPr eaLnBrk="1" hangingPunct="1"/>
            <a:r>
              <a:rPr lang="zh-CN" altLang="en-US"/>
              <a:t>多层派生</a:t>
            </a:r>
          </a:p>
          <a:p>
            <a:pPr lvl="1" eaLnBrk="1" hangingPunct="1"/>
            <a:r>
              <a:rPr lang="zh-CN" altLang="en-US"/>
              <a:t>派生类又作为基类，继续派生新的类。</a:t>
            </a:r>
          </a:p>
        </p:txBody>
      </p:sp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C319CFA-9C25-4712-8EF6-297BA6532B72}" type="slidenum">
              <a:rPr lang="en-US" altLang="zh-CN" sz="1400" smtClean="0"/>
              <a:pPr eaLnBrk="1" hangingPunct="1"/>
              <a:t>40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1759254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多继承时派生类的声明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-36512" y="1600201"/>
            <a:ext cx="9180512" cy="326896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class </a:t>
            </a:r>
            <a:r>
              <a:rPr lang="zh-CN" altLang="en-US" sz="2800" dirty="0"/>
              <a:t>派生类名</a:t>
            </a:r>
            <a:r>
              <a:rPr lang="en-US" altLang="zh-CN" sz="2800" dirty="0"/>
              <a:t>:</a:t>
            </a:r>
            <a:r>
              <a:rPr lang="zh-CN" altLang="en-US" sz="2800" dirty="0"/>
              <a:t>继承方式</a:t>
            </a:r>
            <a:r>
              <a:rPr lang="en-US" altLang="zh-CN" sz="2800" dirty="0"/>
              <a:t>1 </a:t>
            </a:r>
            <a:r>
              <a:rPr lang="zh-CN" altLang="en-US" sz="2800" dirty="0"/>
              <a:t>基类名</a:t>
            </a:r>
            <a:r>
              <a:rPr lang="en-US" altLang="zh-CN" sz="2800" dirty="0"/>
              <a:t>1,</a:t>
            </a:r>
            <a:r>
              <a:rPr lang="zh-CN" altLang="en-US" sz="2800" dirty="0"/>
              <a:t>继承方式</a:t>
            </a:r>
            <a:r>
              <a:rPr lang="en-US" altLang="zh-CN" sz="2800" dirty="0"/>
              <a:t>2 </a:t>
            </a:r>
            <a:r>
              <a:rPr lang="zh-CN" altLang="en-US" sz="2800" dirty="0"/>
              <a:t>基类名</a:t>
            </a:r>
            <a:r>
              <a:rPr lang="en-US" altLang="zh-CN" sz="2800" dirty="0"/>
              <a:t>2, ...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 </a:t>
            </a:r>
            <a:r>
              <a:rPr lang="zh-CN" altLang="en-US" sz="2800" dirty="0"/>
              <a:t>成员声明；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};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F59E62E-F127-4F26-AFFE-534CE53B3581}" type="slidenum">
              <a:rPr lang="en-US" altLang="zh-CN" sz="1400" smtClean="0"/>
              <a:pPr eaLnBrk="1" hangingPunct="1"/>
              <a:t>41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467544" y="5013177"/>
            <a:ext cx="8136904" cy="136815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zh-CN" altLang="en-US" sz="3200" dirty="0"/>
              <a:t>注意：每一个“继承方式”，只用于限制对紧随其后之基类的继承。</a:t>
            </a:r>
          </a:p>
        </p:txBody>
      </p:sp>
    </p:spTree>
    <p:extLst>
      <p:ext uri="{BB962C8B-B14F-4D97-AF65-F5344CB8AC3E}">
        <p14:creationId xmlns:p14="http://schemas.microsoft.com/office/powerpoint/2010/main" val="1240211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128" y="-171400"/>
            <a:ext cx="7239000" cy="914400"/>
          </a:xfrm>
        </p:spPr>
        <p:txBody>
          <a:bodyPr/>
          <a:lstStyle/>
          <a:p>
            <a:pPr eaLnBrk="1" hangingPunct="1"/>
            <a:r>
              <a:rPr lang="zh-CN" altLang="en-US" dirty="0"/>
              <a:t>多继承举例</a:t>
            </a:r>
          </a:p>
        </p:txBody>
      </p:sp>
      <p:sp>
        <p:nvSpPr>
          <p:cNvPr id="3072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AF9CD31-AC5C-471C-9E63-691FCB8CD61B}" type="slidenum">
              <a:rPr lang="en-US" altLang="zh-CN" sz="1400" smtClean="0"/>
              <a:pPr eaLnBrk="1" hangingPunct="1"/>
              <a:t>42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61176" y="620688"/>
            <a:ext cx="4338816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setA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_a;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4716016" y="640954"/>
            <a:ext cx="4248472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51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setB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3651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showB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3538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_b;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197768" y="3789040"/>
            <a:ext cx="6030416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: 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setC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_c;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33991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8518525" y="6467475"/>
            <a:ext cx="611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A78EDB5-D8BF-457F-90CE-7F4BEB0028DF}" type="slidenum">
              <a:rPr lang="en-US" altLang="zh-CN" sz="1400"/>
              <a:pPr algn="r" eaLnBrk="1" hangingPunct="1">
                <a:spcBef>
                  <a:spcPct val="50000"/>
                </a:spcBef>
              </a:pPr>
              <a:t>43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5496" y="404663"/>
            <a:ext cx="5256584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::setA(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_a =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::setB(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_b =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fr-FR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fr-FR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fr-FR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</a:t>
            </a:r>
            <a:r>
              <a:rPr lang="fr-FR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::setC(</a:t>
            </a:r>
            <a:r>
              <a:rPr lang="fr-FR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fr-FR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</a:t>
            </a:r>
            <a:r>
              <a:rPr lang="fr-FR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fr-FR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</a:t>
            </a:r>
            <a:r>
              <a:rPr lang="fr-FR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fr-FR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fr-FR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z</a:t>
            </a:r>
            <a:r>
              <a:rPr lang="fr-FR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setA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setB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53340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_c =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8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其他函数实现略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364088" y="476672"/>
            <a:ext cx="3532039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obj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obj.setA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(5);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obj.showA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obj.setC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(6,7,9);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obj.showC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533400"/>
            <a:r>
              <a:rPr lang="en-US" altLang="zh-CN" sz="2800" dirty="0" err="1">
                <a:highlight>
                  <a:srgbClr val="FFFFFF"/>
                </a:highlight>
                <a:latin typeface="新宋体"/>
                <a:ea typeface="新宋体"/>
              </a:rPr>
              <a:t>obj.setB</a:t>
            </a:r>
            <a:r>
              <a:rPr lang="en-US" altLang="zh-CN" sz="2800" dirty="0">
                <a:highlight>
                  <a:srgbClr val="FFFFFF"/>
                </a:highlight>
                <a:latin typeface="新宋体"/>
                <a:ea typeface="新宋体"/>
              </a:rPr>
              <a:t>(6); </a:t>
            </a:r>
            <a:r>
              <a:rPr lang="en-US" altLang="zh-CN" sz="2800" dirty="0" err="1">
                <a:highlight>
                  <a:srgbClr val="FFFFFF"/>
                </a:highlight>
                <a:latin typeface="新宋体"/>
                <a:ea typeface="新宋体"/>
              </a:rPr>
              <a:t>obj.showB</a:t>
            </a:r>
            <a:r>
              <a:rPr lang="en-US" altLang="zh-CN" sz="2800" dirty="0">
                <a:highlight>
                  <a:srgbClr val="FFFFFF"/>
                </a:highlight>
                <a:latin typeface="新宋体"/>
                <a:ea typeface="新宋体"/>
              </a:rPr>
              <a:t>(); </a:t>
            </a:r>
          </a:p>
          <a:p>
            <a:pPr marL="53340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800" dirty="0"/>
          </a:p>
        </p:txBody>
      </p:sp>
      <p:sp>
        <p:nvSpPr>
          <p:cNvPr id="6" name="乘号 5"/>
          <p:cNvSpPr/>
          <p:nvPr/>
        </p:nvSpPr>
        <p:spPr>
          <a:xfrm>
            <a:off x="8172400" y="3140968"/>
            <a:ext cx="360040" cy="432048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乘号 10"/>
          <p:cNvSpPr/>
          <p:nvPr/>
        </p:nvSpPr>
        <p:spPr>
          <a:xfrm>
            <a:off x="8172400" y="3501008"/>
            <a:ext cx="360040" cy="432048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468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4.4 </a:t>
            </a:r>
            <a:r>
              <a:rPr lang="zh-CN" altLang="en-US" dirty="0"/>
              <a:t>派生类的构造和析构函数</a:t>
            </a:r>
            <a:endParaRPr lang="en-US" altLang="zh-CN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4.4.1 </a:t>
            </a:r>
            <a:r>
              <a:rPr lang="zh-CN" altLang="en-US" sz="3600" dirty="0"/>
              <a:t>构造函数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4.4.2 </a:t>
            </a:r>
            <a:r>
              <a:rPr lang="zh-CN" altLang="en-US" sz="3600" dirty="0"/>
              <a:t>拷贝构造函数</a:t>
            </a:r>
            <a:endParaRPr lang="en-US" altLang="zh-CN" sz="3600" dirty="0"/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3600" dirty="0"/>
              <a:t>4.4.3 </a:t>
            </a:r>
            <a:r>
              <a:rPr lang="zh-CN" altLang="en-US" sz="3600" dirty="0"/>
              <a:t>析构函数</a:t>
            </a: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6D651F6-B4CF-42C2-9E0F-D8845CD35307}" type="slidenum">
              <a:rPr lang="en-US" altLang="zh-CN" sz="1400" smtClean="0"/>
              <a:pPr eaLnBrk="1" hangingPunct="1"/>
              <a:t>44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7762358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继承时的构造函数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445615" y="1417638"/>
            <a:ext cx="8229600" cy="496855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基类的构造函数不被继承，派生类中需要声明自己的构造函数。</a:t>
            </a:r>
          </a:p>
          <a:p>
            <a:pPr eaLnBrk="1" hangingPunct="1"/>
            <a:r>
              <a:rPr lang="zh-CN" altLang="en-US" dirty="0"/>
              <a:t>定义构造函数时，只需要对本类中新增成员进行初始化。对继承来的基类成员的初始化，</a:t>
            </a:r>
            <a:r>
              <a:rPr lang="zh-CN" altLang="en-US" b="1" dirty="0">
                <a:solidFill>
                  <a:srgbClr val="FF0000"/>
                </a:solidFill>
              </a:rPr>
              <a:t>自动调用</a:t>
            </a:r>
            <a:r>
              <a:rPr lang="zh-CN" altLang="en-US" dirty="0"/>
              <a:t>基类构造函数完成。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派生类的构造函数需要给基类的构造函数传递参数</a:t>
            </a:r>
            <a:endParaRPr lang="en-US" altLang="zh-CN" dirty="0"/>
          </a:p>
          <a:p>
            <a:pPr eaLnBrk="1" hangingPunct="1"/>
            <a:r>
              <a:rPr lang="zh-CN" altLang="en-US" dirty="0"/>
              <a:t>必须使用初始化列表！！</a:t>
            </a:r>
          </a:p>
        </p:txBody>
      </p:sp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639A2BA-460F-4C56-ABE1-D42E4FA379FD}" type="slidenum">
              <a:rPr lang="en-US" altLang="zh-CN" sz="1400" smtClean="0"/>
              <a:pPr eaLnBrk="1" hangingPunct="1"/>
              <a:t>45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582287" y="4149080"/>
            <a:ext cx="603242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dirty="0"/>
              <a:t>使用“初始化列表”自动调用基类构造函数</a:t>
            </a:r>
          </a:p>
        </p:txBody>
      </p:sp>
    </p:spTree>
    <p:extLst>
      <p:ext uri="{BB962C8B-B14F-4D97-AF65-F5344CB8AC3E}">
        <p14:creationId xmlns:p14="http://schemas.microsoft.com/office/powerpoint/2010/main" val="301108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单一继承时的构造函数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-36512" y="1600200"/>
            <a:ext cx="9396536" cy="341297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200" dirty="0"/>
              <a:t>派生类名</a:t>
            </a:r>
            <a:r>
              <a:rPr lang="en-US" altLang="zh-CN" sz="2200" dirty="0"/>
              <a:t>::</a:t>
            </a:r>
            <a:r>
              <a:rPr lang="zh-CN" altLang="en-US" sz="2200" dirty="0"/>
              <a:t>派生类名</a:t>
            </a:r>
            <a:r>
              <a:rPr lang="en-US" altLang="zh-CN" sz="2200" dirty="0"/>
              <a:t>(</a:t>
            </a:r>
            <a:r>
              <a:rPr lang="zh-CN" altLang="en-US" sz="2200" dirty="0"/>
              <a:t>基类所需的形参</a:t>
            </a:r>
            <a:r>
              <a:rPr lang="en-US" altLang="zh-CN" sz="2200" dirty="0"/>
              <a:t>,</a:t>
            </a:r>
            <a:r>
              <a:rPr lang="zh-CN" altLang="en-US" sz="2200" dirty="0"/>
              <a:t>本类成员所需的形参</a:t>
            </a:r>
            <a:r>
              <a:rPr lang="en-US" altLang="zh-CN" sz="2200" dirty="0"/>
              <a:t>):</a:t>
            </a:r>
            <a:r>
              <a:rPr lang="zh-CN" altLang="en-US" sz="2200" dirty="0"/>
              <a:t>基类名</a:t>
            </a:r>
            <a:r>
              <a:rPr lang="en-US" altLang="zh-CN" sz="2200" dirty="0"/>
              <a:t>(</a:t>
            </a:r>
            <a:r>
              <a:rPr lang="zh-CN" altLang="en-US" sz="2200" dirty="0"/>
              <a:t>参数表</a:t>
            </a:r>
            <a:r>
              <a:rPr lang="en-US" altLang="zh-CN" sz="2200" dirty="0"/>
              <a:t>)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200" dirty="0"/>
              <a:t>{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本类成员初始化赋值语句；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200" dirty="0"/>
              <a:t>}</a:t>
            </a:r>
            <a:r>
              <a:rPr lang="zh-CN" altLang="en-US" sz="2200" dirty="0"/>
              <a:t>；</a:t>
            </a:r>
          </a:p>
        </p:txBody>
      </p:sp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C5C9292-8B86-4090-990A-FC6F6138B10A}" type="slidenum">
              <a:rPr lang="en-US" altLang="zh-CN" sz="1400" smtClean="0"/>
              <a:pPr eaLnBrk="1" hangingPunct="1"/>
              <a:t>46</a:t>
            </a:fld>
            <a:endParaRPr lang="en-US" altLang="zh-CN" sz="1400"/>
          </a:p>
        </p:txBody>
      </p:sp>
      <p:cxnSp>
        <p:nvCxnSpPr>
          <p:cNvPr id="3" name="直接连接符 2"/>
          <p:cNvCxnSpPr/>
          <p:nvPr/>
        </p:nvCxnSpPr>
        <p:spPr>
          <a:xfrm>
            <a:off x="7236296" y="2132856"/>
            <a:ext cx="18356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7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D9EECAC-9AC8-42E9-85F6-03317B08C165}" type="slidenum">
              <a:rPr lang="en-US" altLang="zh-CN" sz="1400" smtClean="0"/>
              <a:pPr eaLnBrk="1" hangingPunct="1"/>
              <a:t>47</a:t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35496" y="44624"/>
            <a:ext cx="4536504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):_x(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6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),_y(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6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{}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move(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offX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+=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_y +=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offY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 }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496" y="3520167"/>
            <a:ext cx="612068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_w 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_h 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h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getH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_h;   }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pPr marL="3556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_w;   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_w, _h;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759347" y="3993503"/>
            <a:ext cx="1296144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99992" y="129318"/>
            <a:ext cx="4764868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Rectangle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(2, 3, 20, 10);</a:t>
            </a:r>
          </a:p>
          <a:p>
            <a:pPr marL="4445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(3, 2);</a:t>
            </a:r>
          </a:p>
          <a:p>
            <a:pPr marL="4445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data of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x,y,w,h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 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","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", "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45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rect.getH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45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40152" y="4812828"/>
            <a:ext cx="2833148" cy="707886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of 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x,y,w,h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5,5,20,10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861012" y="404664"/>
            <a:ext cx="338437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70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4"/>
          <p:cNvSpPr>
            <a:spLocks noGrp="1" noChangeArrowheads="1"/>
          </p:cNvSpPr>
          <p:nvPr>
            <p:ph type="title"/>
          </p:nvPr>
        </p:nvSpPr>
        <p:spPr>
          <a:xfrm>
            <a:off x="4283968" y="364017"/>
            <a:ext cx="352839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400" dirty="0"/>
              <a:t>单一</a:t>
            </a:r>
            <a:r>
              <a:rPr lang="zh-CN" altLang="en-US" dirty="0"/>
              <a:t>继承</a:t>
            </a:r>
            <a:r>
              <a:rPr lang="zh-CN" altLang="en-US" sz="4400" dirty="0"/>
              <a:t>时的构造函数举例</a:t>
            </a:r>
          </a:p>
        </p:txBody>
      </p:sp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F76D543-E6FE-4FFF-8377-7BBAB0E4F6E6}" type="slidenum">
              <a:rPr lang="en-US" altLang="zh-CN" sz="1400" smtClean="0"/>
              <a:pPr eaLnBrk="1" hangingPunct="1"/>
              <a:t>48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5496" y="188640"/>
            <a:ext cx="324036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B();</a:t>
            </a:r>
          </a:p>
          <a:p>
            <a:pPr marL="44450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44450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~B();</a:t>
            </a:r>
          </a:p>
          <a:p>
            <a:pPr marL="44450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print()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450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_b;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496" y="2773963"/>
            <a:ext cx="6696744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::B()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_b = 0;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"B's default constructor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::B(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_b 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"B's constructor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::~B()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"B's destructor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::print()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_b &lt;&lt;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9278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F76D543-E6FE-4FFF-8377-7BBAB0E4F6E6}" type="slidenum">
              <a:rPr lang="en-US" altLang="zh-CN" sz="1400" smtClean="0"/>
              <a:pPr eaLnBrk="1" hangingPunct="1"/>
              <a:t>49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95916" y="44624"/>
            <a:ext cx="3145182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C();</a:t>
            </a:r>
          </a:p>
          <a:p>
            <a:pPr marL="274638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j);</a:t>
            </a:r>
          </a:p>
          <a:p>
            <a:pPr marL="274638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~C();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print()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_c;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504" y="2636912"/>
            <a:ext cx="6480720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::C()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_c = 0;</a:t>
            </a:r>
          </a:p>
          <a:p>
            <a:pPr marL="363538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"C's default constructor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::C(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_c =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"C's constructor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::~C()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"C's destructor called."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::print()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::print();</a:t>
            </a:r>
          </a:p>
          <a:p>
            <a:pPr marL="4413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_c &lt;&lt;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55660" y="3737939"/>
            <a:ext cx="3149118" cy="304289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474758" y="3519008"/>
            <a:ext cx="2681418" cy="646331"/>
            <a:chOff x="5436096" y="2591254"/>
            <a:chExt cx="2681418" cy="646331"/>
          </a:xfrm>
        </p:grpSpPr>
        <p:sp>
          <p:nvSpPr>
            <p:cNvPr id="8" name="右箭头 7"/>
            <p:cNvSpPr/>
            <p:nvPr/>
          </p:nvSpPr>
          <p:spPr>
            <a:xfrm>
              <a:off x="5436096" y="2852936"/>
              <a:ext cx="305154" cy="1617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855356" y="2591254"/>
              <a:ext cx="2262158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只能以初始化列表的</a:t>
              </a:r>
              <a:endParaRPr lang="en-US" altLang="zh-CN" dirty="0"/>
            </a:p>
            <a:p>
              <a:r>
                <a:rPr lang="zh-CN" altLang="en-US" dirty="0"/>
                <a:t>形式调用</a:t>
              </a:r>
              <a:r>
                <a:rPr lang="en-US" altLang="zh-CN" dirty="0"/>
                <a:t>B::B(int </a:t>
              </a:r>
              <a:r>
                <a:rPr lang="en-US" altLang="zh-CN" dirty="0" err="1"/>
                <a:t>i</a:t>
              </a:r>
              <a:r>
                <a:rPr lang="en-US" altLang="zh-CN" dirty="0"/>
                <a:t>)</a:t>
              </a: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177185" y="2636914"/>
            <a:ext cx="794415" cy="30428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187624" y="2636912"/>
            <a:ext cx="1959738" cy="369333"/>
            <a:chOff x="2555776" y="1268759"/>
            <a:chExt cx="1959738" cy="338273"/>
          </a:xfrm>
        </p:grpSpPr>
        <p:grpSp>
          <p:nvGrpSpPr>
            <p:cNvPr id="15" name="组合 14"/>
            <p:cNvGrpSpPr/>
            <p:nvPr/>
          </p:nvGrpSpPr>
          <p:grpSpPr>
            <a:xfrm>
              <a:off x="3064475" y="1268759"/>
              <a:ext cx="1451039" cy="338273"/>
              <a:chOff x="3064475" y="1268759"/>
              <a:chExt cx="1451039" cy="338273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064475" y="1268760"/>
                <a:ext cx="1451038" cy="33827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>
                    <a:solidFill>
                      <a:srgbClr val="2B91AF"/>
                    </a:solidFill>
                    <a:highlight>
                      <a:srgbClr val="FFFFFF"/>
                    </a:highlight>
                    <a:latin typeface="Consolas" panose="020B0609020204030204" pitchFamily="49" charset="0"/>
                    <a:ea typeface="新宋体"/>
                  </a:rPr>
                  <a:t>C</a:t>
                </a:r>
                <a:r>
                  <a:rPr lang="en-US" altLang="zh-CN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nsolas" panose="020B0609020204030204" pitchFamily="49" charset="0"/>
                    <a:ea typeface="新宋体"/>
                  </a:rPr>
                  <a:t>::C():B()</a:t>
                </a: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3064476" y="1268759"/>
                <a:ext cx="1451038" cy="329494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左箭头 23"/>
            <p:cNvSpPr/>
            <p:nvPr/>
          </p:nvSpPr>
          <p:spPr>
            <a:xfrm rot="10800000">
              <a:off x="2555776" y="1349603"/>
              <a:ext cx="360040" cy="13613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419872" y="2643879"/>
            <a:ext cx="2176934" cy="369332"/>
            <a:chOff x="4932040" y="1311151"/>
            <a:chExt cx="2176934" cy="369332"/>
          </a:xfrm>
        </p:grpSpPr>
        <p:sp>
          <p:nvSpPr>
            <p:cNvPr id="20" name="矩形 19"/>
            <p:cNvSpPr/>
            <p:nvPr/>
          </p:nvSpPr>
          <p:spPr>
            <a:xfrm>
              <a:off x="5420691" y="1311151"/>
              <a:ext cx="1688283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自动调用</a:t>
              </a:r>
              <a:r>
                <a:rPr lang="en-US" altLang="zh-CN" dirty="0"/>
                <a:t>B::B()</a:t>
              </a:r>
            </a:p>
          </p:txBody>
        </p:sp>
        <p:sp>
          <p:nvSpPr>
            <p:cNvPr id="29" name="左箭头 28"/>
            <p:cNvSpPr/>
            <p:nvPr/>
          </p:nvSpPr>
          <p:spPr>
            <a:xfrm rot="10800000">
              <a:off x="4932040" y="1411328"/>
              <a:ext cx="360040" cy="161721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3383889" y="367496"/>
            <a:ext cx="212421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obj.print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46841" y="1232740"/>
            <a:ext cx="2932213" cy="1754326"/>
          </a:xfrm>
          <a:prstGeom prst="rect">
            <a:avLst/>
          </a:prstGeom>
          <a:solidFill>
            <a:schemeClr val="tx1">
              <a:alpha val="74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B's default constructor called.</a:t>
            </a: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C's default constructor called.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C's destructor called.</a:t>
            </a: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B's destructor called.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54A65F-5914-4688-22AB-F94971B74F5B}"/>
              </a:ext>
            </a:extLst>
          </p:cNvPr>
          <p:cNvSpPr/>
          <p:nvPr/>
        </p:nvSpPr>
        <p:spPr>
          <a:xfrm>
            <a:off x="4737066" y="615452"/>
            <a:ext cx="3292889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C</a:t>
            </a:r>
            <a:r>
              <a:rPr lang="zh-CN" altLang="en-US" dirty="0"/>
              <a:t>类的无参构造函数</a:t>
            </a:r>
            <a:r>
              <a:rPr lang="en-US" altLang="zh-CN" dirty="0"/>
              <a:t>C::C( 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5B0FB0-F9AE-7649-865F-E2F588BD3036}"/>
              </a:ext>
            </a:extLst>
          </p:cNvPr>
          <p:cNvSpPr txBox="1"/>
          <p:nvPr/>
        </p:nvSpPr>
        <p:spPr>
          <a:xfrm>
            <a:off x="6851325" y="33343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先构造，后析构</a:t>
            </a:r>
          </a:p>
        </p:txBody>
      </p:sp>
    </p:spTree>
    <p:extLst>
      <p:ext uri="{BB962C8B-B14F-4D97-AF65-F5344CB8AC3E}">
        <p14:creationId xmlns:p14="http://schemas.microsoft.com/office/powerpoint/2010/main" val="138059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1" grpId="0" animBg="1"/>
      <p:bldP spid="12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F76D543-E6FE-4FFF-8377-7BBAB0E4F6E6}" type="slidenum">
              <a:rPr lang="en-US" altLang="zh-CN" sz="1400" smtClean="0"/>
              <a:pPr eaLnBrk="1" hangingPunct="1"/>
              <a:t>50</a:t>
            </a:fld>
            <a:endParaRPr lang="en-US" altLang="zh-CN" sz="1400"/>
          </a:p>
        </p:txBody>
      </p:sp>
      <p:sp>
        <p:nvSpPr>
          <p:cNvPr id="11" name="矩形 10"/>
          <p:cNvSpPr/>
          <p:nvPr/>
        </p:nvSpPr>
        <p:spPr>
          <a:xfrm>
            <a:off x="467544" y="889844"/>
            <a:ext cx="266429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obj(5,6);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obj.print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4135" y="2780928"/>
            <a:ext cx="2903729" cy="1938992"/>
          </a:xfrm>
          <a:prstGeom prst="rect">
            <a:avLst/>
          </a:prstGeom>
          <a:solidFill>
            <a:schemeClr val="tx1">
              <a:alpha val="74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B's constructor called.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C's constructor called.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C's destructor called.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B's destructor called.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72D0BC-8888-BE10-4F95-B815054255C9}"/>
              </a:ext>
            </a:extLst>
          </p:cNvPr>
          <p:cNvSpPr/>
          <p:nvPr/>
        </p:nvSpPr>
        <p:spPr>
          <a:xfrm>
            <a:off x="2627784" y="1124744"/>
            <a:ext cx="4049507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C</a:t>
            </a:r>
            <a:r>
              <a:rPr lang="zh-CN" altLang="en-US" dirty="0"/>
              <a:t>类的有参构造函数</a:t>
            </a:r>
            <a:r>
              <a:rPr lang="en-US" altLang="zh-CN" dirty="0"/>
              <a:t>C::C(int </a:t>
            </a:r>
            <a:r>
              <a:rPr lang="en-US" altLang="zh-CN" dirty="0" err="1"/>
              <a:t>i</a:t>
            </a:r>
            <a:r>
              <a:rPr lang="en-US" altLang="zh-CN" dirty="0"/>
              <a:t>, int j)</a:t>
            </a:r>
          </a:p>
        </p:txBody>
      </p:sp>
    </p:spTree>
    <p:extLst>
      <p:ext uri="{BB962C8B-B14F-4D97-AF65-F5344CB8AC3E}">
        <p14:creationId xmlns:p14="http://schemas.microsoft.com/office/powerpoint/2010/main" val="26726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239000" cy="1143000"/>
          </a:xfrm>
        </p:spPr>
        <p:txBody>
          <a:bodyPr/>
          <a:lstStyle/>
          <a:p>
            <a:pPr eaLnBrk="1" hangingPunct="1"/>
            <a:r>
              <a:rPr lang="zh-CN" altLang="en-US"/>
              <a:t>派生类与基类的构造函数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484784"/>
            <a:ext cx="8712968" cy="424847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当基类中声明有</a:t>
            </a:r>
            <a:r>
              <a:rPr lang="zh-CN" altLang="en-US" b="1" dirty="0">
                <a:solidFill>
                  <a:srgbClr val="C00000"/>
                </a:solidFill>
              </a:rPr>
              <a:t>无参构造函数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C00000"/>
                </a:solidFill>
              </a:rPr>
              <a:t>未声明构造函数</a:t>
            </a:r>
            <a:r>
              <a:rPr lang="zh-CN" altLang="en-US" dirty="0"/>
              <a:t>时，派生类构造函数可以不向基类构造函数传递参数，也</a:t>
            </a:r>
            <a:r>
              <a:rPr lang="zh-CN" altLang="en-US" b="1" dirty="0">
                <a:solidFill>
                  <a:srgbClr val="C00000"/>
                </a:solidFill>
              </a:rPr>
              <a:t>可以不声明</a:t>
            </a:r>
            <a:r>
              <a:rPr lang="zh-CN" altLang="en-US" dirty="0"/>
              <a:t>。构造派生类的对象时，基类的无参或缺省构造函数将被调用。</a:t>
            </a:r>
          </a:p>
          <a:p>
            <a:pPr eaLnBrk="1" hangingPunct="1">
              <a:defRPr/>
            </a:pPr>
            <a:r>
              <a:rPr lang="zh-CN" altLang="en-US" dirty="0"/>
              <a:t>当需要执行基类中带形参的构造函数来初始化基类数据时，</a:t>
            </a:r>
            <a:r>
              <a:rPr lang="zh-CN" altLang="en-US" b="1" dirty="0">
                <a:solidFill>
                  <a:srgbClr val="C00000"/>
                </a:solidFill>
              </a:rPr>
              <a:t>派生类构造函数应在初始化列表中为基类构造函数提供参数</a:t>
            </a:r>
            <a:r>
              <a:rPr lang="zh-CN" altLang="en-US" dirty="0"/>
              <a:t>。</a:t>
            </a:r>
          </a:p>
        </p:txBody>
      </p:sp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B5A3961-034A-483E-8C76-53649A986F92}" type="slidenum">
              <a:rPr lang="en-US" altLang="zh-CN" sz="1400" smtClean="0"/>
              <a:pPr eaLnBrk="1" hangingPunct="1"/>
              <a:t>51</a:t>
            </a:fld>
            <a:endParaRPr lang="en-US" altLang="zh-CN" sz="1400" dirty="0"/>
          </a:p>
        </p:txBody>
      </p:sp>
      <p:sp>
        <p:nvSpPr>
          <p:cNvPr id="2" name="矩形 1"/>
          <p:cNvSpPr/>
          <p:nvPr/>
        </p:nvSpPr>
        <p:spPr>
          <a:xfrm>
            <a:off x="3059832" y="5589240"/>
            <a:ext cx="4493538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派生类构造函数必须要声明</a:t>
            </a:r>
          </a:p>
        </p:txBody>
      </p:sp>
      <p:sp>
        <p:nvSpPr>
          <p:cNvPr id="3" name="下箭头 2"/>
          <p:cNvSpPr/>
          <p:nvPr/>
        </p:nvSpPr>
        <p:spPr>
          <a:xfrm>
            <a:off x="5148064" y="5157192"/>
            <a:ext cx="158537" cy="43204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42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239000" cy="1143000"/>
          </a:xfrm>
        </p:spPr>
        <p:txBody>
          <a:bodyPr/>
          <a:lstStyle/>
          <a:p>
            <a:pPr eaLnBrk="1" hangingPunct="1"/>
            <a:r>
              <a:rPr lang="zh-CN" altLang="en-US"/>
              <a:t>多继承时的构造函数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派生类名</a:t>
            </a:r>
            <a:r>
              <a:rPr lang="en-US" altLang="zh-CN" sz="2400" dirty="0"/>
              <a:t>::</a:t>
            </a:r>
            <a:r>
              <a:rPr lang="zh-CN" altLang="en-US" sz="2400" dirty="0"/>
              <a:t>派生类名</a:t>
            </a:r>
            <a:r>
              <a:rPr lang="en-US" altLang="zh-CN" sz="2400" dirty="0"/>
              <a:t>(</a:t>
            </a:r>
            <a:r>
              <a:rPr lang="zh-CN" altLang="en-US" sz="2400" dirty="0"/>
              <a:t>参数表</a:t>
            </a:r>
            <a:r>
              <a:rPr lang="en-US" altLang="zh-CN" sz="2400" dirty="0"/>
              <a:t>):</a:t>
            </a:r>
            <a:r>
              <a:rPr lang="zh-CN" altLang="en-US" sz="2400" dirty="0"/>
              <a:t>基类名</a:t>
            </a:r>
            <a:r>
              <a:rPr lang="en-US" altLang="zh-CN" sz="2400" dirty="0"/>
              <a:t>1(</a:t>
            </a:r>
            <a:r>
              <a:rPr lang="zh-CN" altLang="en-US" sz="2400" dirty="0"/>
              <a:t>基类</a:t>
            </a:r>
            <a:r>
              <a:rPr lang="en-US" altLang="zh-CN" sz="2400" dirty="0"/>
              <a:t>1</a:t>
            </a:r>
            <a:r>
              <a:rPr lang="zh-CN" altLang="en-US" sz="2400" dirty="0"/>
              <a:t>初始化参数表</a:t>
            </a:r>
            <a:r>
              <a:rPr lang="en-US" altLang="zh-CN" sz="2400" dirty="0"/>
              <a:t>), 				</a:t>
            </a:r>
            <a:r>
              <a:rPr lang="zh-CN" altLang="en-US" sz="2400" dirty="0"/>
              <a:t>基类名</a:t>
            </a:r>
            <a:r>
              <a:rPr lang="en-US" altLang="zh-CN" sz="2400" dirty="0"/>
              <a:t>2(</a:t>
            </a:r>
            <a:r>
              <a:rPr lang="zh-CN" altLang="en-US" sz="2400" dirty="0"/>
              <a:t>基类</a:t>
            </a:r>
            <a:r>
              <a:rPr lang="en-US" altLang="zh-CN" sz="2400" dirty="0"/>
              <a:t>2</a:t>
            </a:r>
            <a:r>
              <a:rPr lang="zh-CN" altLang="en-US" sz="2400" dirty="0"/>
              <a:t>初始化参数表</a:t>
            </a:r>
            <a:r>
              <a:rPr lang="en-US" altLang="zh-CN" sz="2400" dirty="0"/>
              <a:t>), ...				</a:t>
            </a:r>
            <a:r>
              <a:rPr lang="zh-CN" altLang="en-US" sz="2400" dirty="0"/>
              <a:t>基类名</a:t>
            </a:r>
            <a:r>
              <a:rPr lang="en-US" altLang="zh-CN" sz="2400" dirty="0"/>
              <a:t>n(</a:t>
            </a:r>
            <a:r>
              <a:rPr lang="zh-CN" altLang="en-US" sz="2400" dirty="0"/>
              <a:t>基类</a:t>
            </a:r>
            <a:r>
              <a:rPr lang="en-US" altLang="zh-CN" sz="2400" dirty="0"/>
              <a:t>n</a:t>
            </a:r>
            <a:r>
              <a:rPr lang="zh-CN" altLang="en-US" sz="2400" dirty="0"/>
              <a:t>初始化参数表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</a:t>
            </a:r>
            <a:r>
              <a:rPr lang="zh-CN" altLang="en-US" sz="2400" dirty="0"/>
              <a:t>本类成员初始化赋值语句；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；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CE7AE5E-1221-487C-B8B7-3568D090EE90}" type="slidenum">
              <a:rPr lang="en-US" altLang="zh-CN" sz="1400" smtClean="0"/>
              <a:pPr eaLnBrk="1" hangingPunct="1"/>
              <a:t>52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7527982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</a:pPr>
            <a:r>
              <a:rPr lang="zh-CN" altLang="en-US"/>
              <a:t>多继承且有内嵌对象时</a:t>
            </a:r>
            <a:br>
              <a:rPr lang="zh-CN" altLang="en-US"/>
            </a:br>
            <a:r>
              <a:rPr lang="zh-CN" altLang="en-US"/>
              <a:t>的构造函数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600200"/>
            <a:ext cx="8507288" cy="452596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派生类名</a:t>
            </a:r>
            <a:r>
              <a:rPr lang="en-US" altLang="zh-CN" dirty="0"/>
              <a:t>::</a:t>
            </a:r>
            <a:r>
              <a:rPr lang="zh-CN" altLang="en-US" dirty="0"/>
              <a:t>派生类名</a:t>
            </a:r>
            <a:r>
              <a:rPr lang="en-US" altLang="zh-CN" dirty="0"/>
              <a:t>(</a:t>
            </a:r>
            <a:r>
              <a:rPr lang="zh-CN" altLang="en-US" dirty="0"/>
              <a:t>形参表</a:t>
            </a:r>
            <a:r>
              <a:rPr lang="en-US" altLang="zh-CN" dirty="0"/>
              <a:t>):</a:t>
            </a:r>
            <a:r>
              <a:rPr lang="zh-CN" altLang="en-US" dirty="0"/>
              <a:t>基类名</a:t>
            </a:r>
            <a:r>
              <a:rPr lang="en-US" altLang="zh-CN" dirty="0"/>
              <a:t>1(</a:t>
            </a:r>
            <a:r>
              <a:rPr lang="zh-CN" altLang="en-US" dirty="0"/>
              <a:t>参数</a:t>
            </a:r>
            <a:r>
              <a:rPr lang="en-US" altLang="zh-CN" dirty="0"/>
              <a:t>), 						</a:t>
            </a:r>
            <a:r>
              <a:rPr lang="zh-CN" altLang="en-US" dirty="0"/>
              <a:t>基类名</a:t>
            </a:r>
            <a:r>
              <a:rPr lang="en-US" altLang="zh-CN" dirty="0"/>
              <a:t>2(</a:t>
            </a:r>
            <a:r>
              <a:rPr lang="zh-CN" altLang="en-US" dirty="0"/>
              <a:t>参数</a:t>
            </a:r>
            <a:r>
              <a:rPr lang="en-US" altLang="zh-CN" dirty="0"/>
              <a:t>), ...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					</a:t>
            </a:r>
            <a:r>
              <a:rPr lang="zh-CN" altLang="en-US" dirty="0"/>
              <a:t>基类名</a:t>
            </a:r>
            <a:r>
              <a:rPr lang="en-US" altLang="zh-CN" dirty="0"/>
              <a:t>n(</a:t>
            </a:r>
            <a:r>
              <a:rPr lang="zh-CN" altLang="en-US" dirty="0"/>
              <a:t>参数</a:t>
            </a:r>
            <a:r>
              <a:rPr lang="en-US" altLang="zh-CN" dirty="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						</a:t>
            </a:r>
            <a:r>
              <a:rPr lang="zh-CN" altLang="en-US" dirty="0"/>
              <a:t>内嵌对象的初始化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本类成员初始化赋值语句；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</p:txBody>
      </p:sp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3A3EEA74-ECD7-4534-B3A2-940FD8443994}" type="slidenum">
              <a:rPr lang="en-US" altLang="zh-CN" sz="1400" smtClean="0"/>
              <a:pPr eaLnBrk="1" hangingPunct="1"/>
              <a:t>53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9266063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派生类构造函数的执行顺序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252736"/>
          </a:xfrm>
        </p:spPr>
        <p:txBody>
          <a:bodyPr/>
          <a:lstStyle/>
          <a:p>
            <a:pPr marL="685800" indent="-685800" eaLnBrk="1" hangingPunct="1">
              <a:buFont typeface="Wingdings" pitchFamily="2" charset="2"/>
              <a:buNone/>
            </a:pPr>
            <a:r>
              <a:rPr lang="en-US" altLang="zh-CN" dirty="0"/>
              <a:t>1</a:t>
            </a:r>
            <a:r>
              <a:rPr lang="zh-CN" altLang="en-US" dirty="0"/>
              <a:t>． 调用基类构造函数，调用顺序按照它们被继承时声明的顺序（从左向右）。</a:t>
            </a:r>
          </a:p>
          <a:p>
            <a:pPr marL="685800" indent="-685800"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31238354-4EF7-49DC-8A77-1FD7A2E7E804}" type="slidenum">
              <a:rPr lang="en-US" altLang="zh-CN" sz="1400" smtClean="0"/>
              <a:pPr eaLnBrk="1" hangingPunct="1"/>
              <a:t>54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395536" y="2967335"/>
            <a:ext cx="8280920" cy="125375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685800" indent="-6858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2</a:t>
            </a:r>
            <a:r>
              <a:rPr lang="zh-CN" altLang="en-US" sz="3200" dirty="0"/>
              <a:t>． 对内嵌对象进行初始化，初始化顺序按照它们在类中声明的顺序。</a:t>
            </a:r>
          </a:p>
        </p:txBody>
      </p:sp>
      <p:sp>
        <p:nvSpPr>
          <p:cNvPr id="5" name="矩形 4"/>
          <p:cNvSpPr/>
          <p:nvPr/>
        </p:nvSpPr>
        <p:spPr>
          <a:xfrm>
            <a:off x="395536" y="4284385"/>
            <a:ext cx="738856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685800" indent="-6858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3</a:t>
            </a:r>
            <a:r>
              <a:rPr lang="zh-CN" altLang="en-US" sz="3200" dirty="0"/>
              <a:t>．执行派生类的构造函数体中的内容。</a:t>
            </a:r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auto">
          <a:xfrm>
            <a:off x="2857500" y="5000625"/>
            <a:ext cx="3214688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先祖先（基类）</a:t>
            </a:r>
            <a:endParaRPr kumimoji="1" lang="en-US" altLang="zh-CN" dirty="0">
              <a:solidFill>
                <a:srgbClr val="FF0000"/>
              </a:solidFill>
              <a:latin typeface="Lucida Sans Unicode" pitchFamily="34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再客人（成员对象）</a:t>
            </a:r>
            <a:endParaRPr kumimoji="1" lang="en-US" altLang="zh-CN" dirty="0">
              <a:solidFill>
                <a:srgbClr val="FF0000"/>
              </a:solidFill>
              <a:latin typeface="Lucida Sans Unicode" pitchFamily="34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Font typeface="Wingdings" pitchFamily="2" charset="2"/>
              <a:buChar char="q"/>
            </a:pPr>
            <a:r>
              <a:rPr kumimoji="1" lang="zh-CN" altLang="en-US" dirty="0">
                <a:solidFill>
                  <a:srgbClr val="FF0000"/>
                </a:solidFill>
                <a:latin typeface="Lucida Sans Unicode" pitchFamily="34" charset="0"/>
                <a:ea typeface="楷体_GB2312" pitchFamily="49" charset="-122"/>
              </a:rPr>
              <a:t>后自己</a:t>
            </a:r>
          </a:p>
        </p:txBody>
      </p:sp>
      <p:sp>
        <p:nvSpPr>
          <p:cNvPr id="2" name="下箭头 1"/>
          <p:cNvSpPr/>
          <p:nvPr/>
        </p:nvSpPr>
        <p:spPr>
          <a:xfrm>
            <a:off x="3995936" y="2636912"/>
            <a:ext cx="144016" cy="3304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3995936" y="4005064"/>
            <a:ext cx="144016" cy="3304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2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  <p:bldP spid="4" grpId="0"/>
      <p:bldP spid="5" grpId="0"/>
      <p:bldP spid="7" grpId="0"/>
      <p:bldP spid="2" grpId="0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5416"/>
            <a:ext cx="9144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200" dirty="0"/>
              <a:t>例：多继承且有内嵌对象的派生类构造函数举例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6CEB34A0-3521-4D23-83DA-48AB2BA9EAD5}" type="slidenum">
              <a:rPr lang="en-US" altLang="zh-CN" sz="1400" smtClean="0"/>
              <a:pPr eaLnBrk="1" hangingPunct="1"/>
              <a:t>55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07504" y="116632"/>
            <a:ext cx="5799115" cy="46474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基类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，构造函数有参数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Base1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基类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，构造函数有参数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Base2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基类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，构造函数无参数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Base3()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Base3 *"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3" name="矩形 2"/>
          <p:cNvSpPr/>
          <p:nvPr/>
        </p:nvSpPr>
        <p:spPr>
          <a:xfrm>
            <a:off x="35496" y="260648"/>
            <a:ext cx="893566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),_member2(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),_member1(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74638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派生类的内嵌成员对象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_member1;</a:t>
            </a:r>
          </a:p>
          <a:p>
            <a:pPr marL="365125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_member2;</a:t>
            </a:r>
          </a:p>
          <a:p>
            <a:pPr marL="365125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_member3;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7504" y="4653136"/>
            <a:ext cx="402175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(1,2,3,4);</a:t>
            </a:r>
          </a:p>
          <a:p>
            <a:pPr marL="365125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cxnSp>
        <p:nvCxnSpPr>
          <p:cNvPr id="50" name="直接连接符 49"/>
          <p:cNvCxnSpPr>
            <a:cxnSpLocks/>
          </p:cNvCxnSpPr>
          <p:nvPr/>
        </p:nvCxnSpPr>
        <p:spPr>
          <a:xfrm>
            <a:off x="2555776" y="548680"/>
            <a:ext cx="50405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cxnSpLocks/>
          </p:cNvCxnSpPr>
          <p:nvPr/>
        </p:nvCxnSpPr>
        <p:spPr>
          <a:xfrm>
            <a:off x="3995936" y="548649"/>
            <a:ext cx="576064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cxnSpLocks/>
          </p:cNvCxnSpPr>
          <p:nvPr/>
        </p:nvCxnSpPr>
        <p:spPr>
          <a:xfrm>
            <a:off x="5436096" y="548649"/>
            <a:ext cx="51073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cxnSpLocks/>
          </p:cNvCxnSpPr>
          <p:nvPr/>
        </p:nvCxnSpPr>
        <p:spPr>
          <a:xfrm>
            <a:off x="1115616" y="1763485"/>
            <a:ext cx="10081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cxnSpLocks/>
          </p:cNvCxnSpPr>
          <p:nvPr/>
        </p:nvCxnSpPr>
        <p:spPr>
          <a:xfrm>
            <a:off x="1115616" y="2060848"/>
            <a:ext cx="10081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cxnSpLocks/>
          </p:cNvCxnSpPr>
          <p:nvPr/>
        </p:nvCxnSpPr>
        <p:spPr>
          <a:xfrm flipV="1">
            <a:off x="1115616" y="2330878"/>
            <a:ext cx="1008112" cy="60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020693" y="558643"/>
            <a:ext cx="290335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lang="zh-CN" altLang="en-US" sz="1400" dirty="0">
                <a:latin typeface="+mn-ea"/>
              </a:rPr>
              <a:t>派生新类</a:t>
            </a:r>
            <a:r>
              <a:rPr lang="en-US" altLang="zh-CN" sz="1400" dirty="0">
                <a:latin typeface="+mn-ea"/>
              </a:rPr>
              <a:t>Derived</a:t>
            </a:r>
            <a:r>
              <a:rPr lang="zh-CN" altLang="en-US" sz="1400" dirty="0">
                <a:latin typeface="+mn-ea"/>
              </a:rPr>
              <a:t>，注意基类的顺序</a:t>
            </a:r>
          </a:p>
        </p:txBody>
      </p:sp>
      <p:sp>
        <p:nvSpPr>
          <p:cNvPr id="57" name="矩形 56"/>
          <p:cNvSpPr/>
          <p:nvPr/>
        </p:nvSpPr>
        <p:spPr>
          <a:xfrm>
            <a:off x="2261069" y="1568986"/>
            <a:ext cx="1734867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altLang="zh-CN" sz="1400" dirty="0">
                <a:latin typeface="+mn-ea"/>
              </a:rPr>
              <a:t>Derived</a:t>
            </a:r>
            <a:r>
              <a:rPr lang="zh-CN" altLang="en-US" sz="1400" dirty="0">
                <a:latin typeface="+mn-ea"/>
              </a:rPr>
              <a:t>新增的数据：</a:t>
            </a:r>
            <a:endParaRPr lang="en-US" altLang="zh-CN" sz="1400" dirty="0">
              <a:latin typeface="+mn-ea"/>
            </a:endParaRPr>
          </a:p>
          <a:p>
            <a:pPr>
              <a:buNone/>
              <a:defRPr/>
            </a:pPr>
            <a:r>
              <a:rPr lang="zh-CN" altLang="en-US" sz="1400" dirty="0">
                <a:latin typeface="+mn-ea"/>
              </a:rPr>
              <a:t>注意成员对象的</a:t>
            </a:r>
            <a:endParaRPr lang="en-US" altLang="zh-CN" sz="1400" dirty="0">
              <a:latin typeface="+mn-ea"/>
            </a:endParaRPr>
          </a:p>
          <a:p>
            <a:pPr>
              <a:buNone/>
              <a:defRPr/>
            </a:pPr>
            <a:r>
              <a:rPr lang="zh-CN" altLang="en-US" sz="1400" dirty="0">
                <a:latin typeface="+mn-ea"/>
              </a:rPr>
              <a:t>个数与顺序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5802812" y="1394774"/>
            <a:ext cx="3168352" cy="5400600"/>
            <a:chOff x="-3780928" y="764704"/>
            <a:chExt cx="3168352" cy="5400600"/>
          </a:xfrm>
        </p:grpSpPr>
        <p:sp>
          <p:nvSpPr>
            <p:cNvPr id="43" name="矩形 42"/>
            <p:cNvSpPr/>
            <p:nvPr/>
          </p:nvSpPr>
          <p:spPr>
            <a:xfrm>
              <a:off x="-3780928" y="764704"/>
              <a:ext cx="3168352" cy="54006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-3636912" y="1124744"/>
              <a:ext cx="2686268" cy="5040560"/>
              <a:chOff x="-3852936" y="1556792"/>
              <a:chExt cx="2686268" cy="5040560"/>
            </a:xfrm>
            <a:noFill/>
          </p:grpSpPr>
          <p:sp>
            <p:nvSpPr>
              <p:cNvPr id="16" name="矩形 15"/>
              <p:cNvSpPr/>
              <p:nvPr/>
            </p:nvSpPr>
            <p:spPr>
              <a:xfrm>
                <a:off x="-2309837" y="2731565"/>
                <a:ext cx="777777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Base2</a:t>
                </a:r>
                <a:endParaRPr lang="zh-CN" altLang="en-US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-2305570" y="3186911"/>
                <a:ext cx="777777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Base1</a:t>
                </a:r>
                <a:endParaRPr lang="zh-CN" altLang="en-US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-2325099" y="3712386"/>
                <a:ext cx="777777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Base3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-2516582" y="4194894"/>
                <a:ext cx="1229824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_member1</a:t>
                </a:r>
                <a:endParaRPr lang="zh-CN" altLang="en-US" dirty="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-2516582" y="4706227"/>
                <a:ext cx="1229824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_member2</a:t>
                </a:r>
                <a:endParaRPr lang="zh-CN" altLang="en-US" dirty="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-2535861" y="5200004"/>
                <a:ext cx="1229824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_member3</a:t>
                </a:r>
                <a:endParaRPr lang="zh-CN" altLang="en-US" dirty="0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-2556792" y="1556792"/>
                <a:ext cx="1296144" cy="4608512"/>
                <a:chOff x="-2556792" y="1556792"/>
                <a:chExt cx="1296144" cy="4608512"/>
              </a:xfrm>
              <a:grpFill/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-2556792" y="1556792"/>
                  <a:ext cx="0" cy="4608512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-1260649" y="1556792"/>
                  <a:ext cx="1" cy="4608512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-2556792" y="6165304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-2556792" y="5661248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-2556792" y="5157192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-2556792" y="4653136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-2556792" y="4149080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-2556792" y="3645024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-2556792" y="3140968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-2556792" y="2636912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>
                  <a:off x="-2556792" y="2132856"/>
                  <a:ext cx="1296144" cy="0"/>
                </a:xfrm>
                <a:prstGeom prst="line">
                  <a:avLst/>
                </a:prstGeom>
                <a:grpFill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矩形 39"/>
              <p:cNvSpPr/>
              <p:nvPr/>
            </p:nvSpPr>
            <p:spPr>
              <a:xfrm>
                <a:off x="-2223611" y="1700808"/>
                <a:ext cx="530915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-3852936" y="3534742"/>
                <a:ext cx="1107996" cy="1200329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Derived</a:t>
                </a:r>
              </a:p>
              <a:p>
                <a:r>
                  <a:rPr lang="zh-CN" altLang="en-US" dirty="0"/>
                  <a:t>对象</a:t>
                </a:r>
                <a:endParaRPr lang="en-US" altLang="zh-CN" dirty="0"/>
              </a:p>
              <a:p>
                <a:r>
                  <a:rPr lang="zh-CN" altLang="en-US" dirty="0"/>
                  <a:t>内存结构</a:t>
                </a:r>
                <a:endParaRPr lang="en-US" altLang="zh-CN" dirty="0"/>
              </a:p>
              <a:p>
                <a:r>
                  <a:rPr lang="zh-CN" altLang="en-US" dirty="0"/>
                  <a:t>示意图</a:t>
                </a: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-2556792" y="6228020"/>
                <a:ext cx="1390124" cy="36933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栈（</a:t>
                </a:r>
                <a:r>
                  <a:rPr lang="en-US" altLang="zh-CN" dirty="0"/>
                  <a:t>stack</a:t>
                </a:r>
                <a:r>
                  <a:rPr lang="zh-CN" altLang="en-US" dirty="0"/>
                  <a:t>）</a:t>
                </a:r>
              </a:p>
            </p:txBody>
          </p:sp>
        </p:grpSp>
      </p:grpSp>
      <p:cxnSp>
        <p:nvCxnSpPr>
          <p:cNvPr id="58" name="直接连接符 57"/>
          <p:cNvCxnSpPr/>
          <p:nvPr/>
        </p:nvCxnSpPr>
        <p:spPr>
          <a:xfrm>
            <a:off x="3995936" y="1052736"/>
            <a:ext cx="9361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7728330" y="1111144"/>
            <a:ext cx="9361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5076056" y="1081940"/>
            <a:ext cx="1224136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424025" y="1083435"/>
            <a:ext cx="1152128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3851921" y="1117357"/>
            <a:ext cx="3312368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构造函数初始化：注意形参的分配</a:t>
            </a:r>
          </a:p>
        </p:txBody>
      </p:sp>
      <p:sp>
        <p:nvSpPr>
          <p:cNvPr id="73" name="矩形 72"/>
          <p:cNvSpPr/>
          <p:nvPr/>
        </p:nvSpPr>
        <p:spPr>
          <a:xfrm>
            <a:off x="0" y="5389351"/>
            <a:ext cx="4358886" cy="30777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latin typeface="Consolas" panose="020B0609020204030204" pitchFamily="49" charset="0"/>
              </a:rPr>
              <a:t>Base1(1), member2(4), member1(3), </a:t>
            </a:r>
            <a:r>
              <a:rPr lang="en-US" altLang="zh-CN" sz="1200" dirty="0">
                <a:latin typeface="Consolas" panose="020B0609020204030204" pitchFamily="49" charset="0"/>
              </a:rPr>
              <a:t>Base2(2)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cxnSp>
        <p:nvCxnSpPr>
          <p:cNvPr id="74" name="直接连接符 73"/>
          <p:cNvCxnSpPr>
            <a:cxnSpLocks/>
          </p:cNvCxnSpPr>
          <p:nvPr/>
        </p:nvCxnSpPr>
        <p:spPr>
          <a:xfrm>
            <a:off x="1373168" y="5214684"/>
            <a:ext cx="138793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2257048" y="5214684"/>
            <a:ext cx="0" cy="180020"/>
          </a:xfrm>
          <a:prstGeom prst="straightConnector1">
            <a:avLst/>
          </a:prstGeom>
          <a:ln w="254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169466" y="4750478"/>
            <a:ext cx="2426926" cy="175432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Base2 2</a:t>
            </a:r>
          </a:p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Base1 1</a:t>
            </a:r>
          </a:p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Base3 *</a:t>
            </a:r>
          </a:p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Base1 3</a:t>
            </a:r>
          </a:p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Base2 4</a:t>
            </a:r>
          </a:p>
          <a:p>
            <a:pPr eaLnBrk="1" hangingPunct="1"/>
            <a:r>
              <a:rPr lang="en-US" altLang="zh-CN" sz="1800" dirty="0">
                <a:solidFill>
                  <a:schemeClr val="bg1"/>
                </a:solidFill>
              </a:rPr>
              <a:t>constructing Base3 *</a:t>
            </a:r>
          </a:p>
        </p:txBody>
      </p:sp>
    </p:spTree>
    <p:extLst>
      <p:ext uri="{BB962C8B-B14F-4D97-AF65-F5344CB8AC3E}">
        <p14:creationId xmlns:p14="http://schemas.microsoft.com/office/powerpoint/2010/main" val="195189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56" grpId="0" animBg="1"/>
      <p:bldP spid="57" grpId="0" animBg="1"/>
      <p:bldP spid="72" grpId="0" animBg="1"/>
      <p:bldP spid="73" grpId="0" animBg="1"/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拷贝构造函数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712968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若建立派生类对象时没有编写拷贝构造函数，编译器会生成一个隐含的拷贝构造函数，该函数先调用基类的拷贝构造函数，再为派生类新增的成员对象执行拷贝。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若编写派生类的拷贝构造函数，则需要为基类相应的拷贝构造函数传递参数。例如</a:t>
            </a:r>
            <a:r>
              <a:rPr lang="en-US" altLang="zh-CN" dirty="0"/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/>
              <a:t>C::C(const C &amp;c1): B(c1) {…}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dirty="0"/>
              <a:t>这里使用了类型兼容</a:t>
            </a:r>
            <a:endParaRPr lang="en-US" altLang="zh-CN" dirty="0"/>
          </a:p>
        </p:txBody>
      </p:sp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0A93BAB2-B170-42BF-8E57-E076ED26277D}" type="slidenum">
              <a:rPr lang="en-US" altLang="zh-CN" sz="1400" smtClean="0"/>
              <a:pPr eaLnBrk="1" hangingPunct="1"/>
              <a:t>56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2240597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继承时的析构函数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05000"/>
            <a:ext cx="8147248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析构函数也不被继承，派生类自行声明</a:t>
            </a:r>
          </a:p>
          <a:p>
            <a:pPr eaLnBrk="1" hangingPunct="1"/>
            <a:r>
              <a:rPr lang="zh-CN" altLang="en-US" dirty="0"/>
              <a:t>声明方法与一般（无继承关系时）类的析构函数相同。</a:t>
            </a:r>
          </a:p>
          <a:p>
            <a:pPr eaLnBrk="1" hangingPunct="1"/>
            <a:r>
              <a:rPr lang="zh-CN" altLang="en-US" dirty="0"/>
              <a:t>不需要显式地调用基类的析构函数，系统会自动隐式调用。</a:t>
            </a:r>
          </a:p>
          <a:p>
            <a:pPr eaLnBrk="1" hangingPunct="1"/>
            <a:r>
              <a:rPr lang="zh-CN" altLang="en-US" dirty="0"/>
              <a:t>析构函数的调用次序与构造函数相反。</a:t>
            </a: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02D40979-94F8-449A-A949-E5129CC22C4F}" type="slidenum">
              <a:rPr lang="en-US" altLang="zh-CN" sz="1400" smtClean="0"/>
              <a:pPr eaLnBrk="1" hangingPunct="1"/>
              <a:t>57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00410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9940" y="62817"/>
            <a:ext cx="3434548" cy="701887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 dirty="0"/>
              <a:t>派生类析构函数举例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8E91C8AB-B128-4125-AE7A-0CA75406B3DF}" type="slidenum">
              <a:rPr lang="en-US" altLang="zh-CN" sz="1400" smtClean="0"/>
              <a:pPr eaLnBrk="1" hangingPunct="1"/>
              <a:t>58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5114" y="36488"/>
            <a:ext cx="5430982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Base1(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Base1 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~Base1() 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"Destructing Base1"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Base2(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Base2 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}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~Base2() 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"Destructing Base2"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Base3()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"Constructing Base3 *"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~Base3() 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"Destructing Base3"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4638035"/>
            <a:ext cx="788436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: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),_member2(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),_member1(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Base1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_member1;</a:t>
            </a:r>
          </a:p>
          <a:p>
            <a:pPr marL="365125"/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Base2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_member2;</a:t>
            </a:r>
          </a:p>
          <a:p>
            <a:pPr marL="365125"/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Base3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_member3;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29940" y="693410"/>
            <a:ext cx="295232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Derived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obj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(1,2,3,4);</a:t>
            </a:r>
          </a:p>
          <a:p>
            <a:pPr marL="363538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808683" y="1700808"/>
            <a:ext cx="2507733" cy="2747991"/>
          </a:xfrm>
          <a:prstGeom prst="rect">
            <a:avLst/>
          </a:prstGeom>
          <a:solidFill>
            <a:schemeClr val="tx1"/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Base2 2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Base1 1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Base3 *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Base1 3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Base2 4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Base3 *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Base3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Base2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Base1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Base3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Base1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Destructing Base2</a:t>
            </a:r>
          </a:p>
        </p:txBody>
      </p:sp>
    </p:spTree>
    <p:extLst>
      <p:ext uri="{BB962C8B-B14F-4D97-AF65-F5344CB8AC3E}">
        <p14:creationId xmlns:p14="http://schemas.microsoft.com/office/powerpoint/2010/main" val="234676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5536" y="1158999"/>
            <a:ext cx="7632848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/*------------------------------------------------------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【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程序改错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】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题目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:A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类为基类，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类、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C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类继承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类，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D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类继承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B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类，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C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类。继承都为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公有继承。程序运行结果为：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   class A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   class B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   class C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   class D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   class D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注意：不可以增加或删除程序行，也不可以更改程序的结构。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  仅修正改错标记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FOUND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之下的那行内容，不允许删除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FOUND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行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------------------------------------------------------*/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536" y="404664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课堂练习</a:t>
            </a:r>
            <a:r>
              <a:rPr lang="en-US" altLang="zh-CN" sz="2400" dirty="0"/>
              <a:t>1】</a:t>
            </a:r>
          </a:p>
        </p:txBody>
      </p:sp>
    </p:spTree>
    <p:extLst>
      <p:ext uri="{BB962C8B-B14F-4D97-AF65-F5344CB8AC3E}">
        <p14:creationId xmlns:p14="http://schemas.microsoft.com/office/powerpoint/2010/main" val="232162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784" y="1013241"/>
            <a:ext cx="3627120" cy="44319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A(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){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;}</a:t>
            </a:r>
          </a:p>
          <a:p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/***********FOUND***********/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}.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B: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B(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*s1,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*s2):A(s1)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&lt;&lt;s2&lt;&lt;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C(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s2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s1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s2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79912" y="1373281"/>
            <a:ext cx="5328592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B,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/***********FOUND***********/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/***********FOUND***********/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D(</a:t>
            </a:r>
            <a:r>
              <a:rPr lang="pt-B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pt-BR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s1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pt-B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pt-BR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s2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pt-B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pt-BR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s3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pt-B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</a:t>
            </a:r>
            <a:r>
              <a:rPr lang="pt-BR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s4</a:t>
            </a:r>
            <a:r>
              <a:rPr lang="pt-B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s4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/***********FOUND***********/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d(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"class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"class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"class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"class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177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95536" y="404664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课堂练习</a:t>
            </a:r>
            <a:r>
              <a:rPr lang="en-US" altLang="zh-CN" sz="2400" dirty="0"/>
              <a:t>2】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897375"/>
            <a:ext cx="748883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/*------------------------------------------------------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【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程序填空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】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题目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:Country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类为基类，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Province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类继承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Country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类，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City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类继承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Province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类。继承都为公有继承。程序运行结果为：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The People's Republic of China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Jiangsu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Nanjing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--------------------------------------------------------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注意：不可以增加或删除程序行，也不可以更改程序的结构。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仅在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【 】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中填入所需的内容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------------------------------------------------------*/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806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543609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Country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[50];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Country(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strcpy_s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m_Name,strlen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)+1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name);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Province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Country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[20];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Province(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nameCountry,</a:t>
            </a: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nameProvince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)【   】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strcpy_s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m_Name,strlen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nameProvince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)+1,nameProvince);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【   】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18048" y="3394364"/>
            <a:ext cx="6192688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City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Province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[20];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City(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nameCountry,</a:t>
            </a: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nameProvince,</a:t>
            </a: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nameCity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)【   】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strcpy_s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m_Name,strlen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nameCity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)+1,nameCity);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 </a:t>
            </a:r>
          </a:p>
          <a:p>
            <a:pPr marL="3651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【  】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m_Name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 )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City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nj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People's Republic of </a:t>
            </a:r>
            <a:r>
              <a:rPr lang="en-US" altLang="zh-C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China"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"Jiangsu"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"Nanjing</a:t>
            </a:r>
            <a:r>
              <a:rPr lang="en-US" altLang="zh-C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 </a:t>
            </a:r>
          </a:p>
          <a:p>
            <a:pPr marL="441325"/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nj.Display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13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46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20086</TotalTime>
  <Words>7485</Words>
  <Application>Microsoft Macintosh PowerPoint</Application>
  <PresentationFormat>全屏显示(4:3)</PresentationFormat>
  <Paragraphs>1428</Paragraphs>
  <Slides>62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3" baseType="lpstr">
      <vt:lpstr>华文楷体</vt:lpstr>
      <vt:lpstr>隶书</vt:lpstr>
      <vt:lpstr>宋体</vt:lpstr>
      <vt:lpstr>新宋体</vt:lpstr>
      <vt:lpstr>Arial</vt:lpstr>
      <vt:lpstr>Calibri</vt:lpstr>
      <vt:lpstr>Cambria</vt:lpstr>
      <vt:lpstr>Comic Sans MS</vt:lpstr>
      <vt:lpstr>Consolas</vt:lpstr>
      <vt:lpstr>Ebrima</vt:lpstr>
      <vt:lpstr>Franklin Gothic Book</vt:lpstr>
      <vt:lpstr>Lucida Sans Unicode</vt:lpstr>
      <vt:lpstr>Maiandra GD</vt:lpstr>
      <vt:lpstr>Perpetua</vt:lpstr>
      <vt:lpstr>Tahoma</vt:lpstr>
      <vt:lpstr>Times New Roman</vt:lpstr>
      <vt:lpstr>Trebuchet MS</vt:lpstr>
      <vt:lpstr>Wingdings</vt:lpstr>
      <vt:lpstr>Wingdings 2</vt:lpstr>
      <vt:lpstr>龙腾四海</vt:lpstr>
      <vt:lpstr>MS Org Chart</vt:lpstr>
      <vt:lpstr>第4讲   继承与派生</vt:lpstr>
      <vt:lpstr>大纲</vt:lpstr>
      <vt:lpstr>4.1 类的继承与派生</vt:lpstr>
      <vt:lpstr>类的继承与派生</vt:lpstr>
      <vt:lpstr>继承与派生的目的和作用</vt:lpstr>
      <vt:lpstr>继承与派生问题举例</vt:lpstr>
      <vt:lpstr>PowerPoint 演示文稿</vt:lpstr>
      <vt:lpstr>继承的概念</vt:lpstr>
      <vt:lpstr>派生类的定义</vt:lpstr>
      <vt:lpstr>PowerPoint 演示文稿</vt:lpstr>
      <vt:lpstr>PowerPoint 演示文稿</vt:lpstr>
      <vt:lpstr>派生类的生成过程</vt:lpstr>
      <vt:lpstr>PowerPoint 演示文稿</vt:lpstr>
      <vt:lpstr>继承方式</vt:lpstr>
      <vt:lpstr>保护成员</vt:lpstr>
      <vt:lpstr>PowerPoint 演示文稿</vt:lpstr>
      <vt:lpstr>4.2 访问控制</vt:lpstr>
      <vt:lpstr>例: 公有继承举例 点-矩形</vt:lpstr>
      <vt:lpstr>PowerPoint 演示文稿</vt:lpstr>
      <vt:lpstr>PowerPoint 演示文稿</vt:lpstr>
      <vt:lpstr>公有继承(public)</vt:lpstr>
      <vt:lpstr>PowerPoint 演示文稿</vt:lpstr>
      <vt:lpstr>PowerPoint 演示文稿</vt:lpstr>
      <vt:lpstr>私有继承(private)</vt:lpstr>
      <vt:lpstr>PowerPoint 演示文稿</vt:lpstr>
      <vt:lpstr>例: 私有继承举例</vt:lpstr>
      <vt:lpstr>PowerPoint 演示文稿</vt:lpstr>
      <vt:lpstr>private继承——class的默认继承方式</vt:lpstr>
      <vt:lpstr>保护继承(protected)</vt:lpstr>
      <vt:lpstr>PowerPoint 演示文稿</vt:lpstr>
      <vt:lpstr>不同继承方式的基类和派生类特性 </vt:lpstr>
      <vt:lpstr>类型兼容规则</vt:lpstr>
      <vt:lpstr>类型兼容规则</vt:lpstr>
      <vt:lpstr>类型兼容规则</vt:lpstr>
      <vt:lpstr>PowerPoint 演示文稿</vt:lpstr>
      <vt:lpstr>类型兼容规则*</vt:lpstr>
      <vt:lpstr>PowerPoint 演示文稿</vt:lpstr>
      <vt:lpstr>类型兼容规则举例*</vt:lpstr>
      <vt:lpstr>类型兼容规则举例*</vt:lpstr>
      <vt:lpstr>基类与派生类的对应关系</vt:lpstr>
      <vt:lpstr>多继承时派生类的声明</vt:lpstr>
      <vt:lpstr>多继承举例</vt:lpstr>
      <vt:lpstr>PowerPoint 演示文稿</vt:lpstr>
      <vt:lpstr>4.4 派生类的构造和析构函数</vt:lpstr>
      <vt:lpstr>继承时的构造函数</vt:lpstr>
      <vt:lpstr>单一继承时的构造函数</vt:lpstr>
      <vt:lpstr>PowerPoint 演示文稿</vt:lpstr>
      <vt:lpstr>单一继承时的构造函数举例</vt:lpstr>
      <vt:lpstr>PowerPoint 演示文稿</vt:lpstr>
      <vt:lpstr>PowerPoint 演示文稿</vt:lpstr>
      <vt:lpstr>派生类与基类的构造函数</vt:lpstr>
      <vt:lpstr>多继承时的构造函数</vt:lpstr>
      <vt:lpstr>多继承且有内嵌对象时 的构造函数</vt:lpstr>
      <vt:lpstr>派生类构造函数的执行顺序</vt:lpstr>
      <vt:lpstr>例：多继承且有内嵌对象的派生类构造函数举例</vt:lpstr>
      <vt:lpstr>拷贝构造函数</vt:lpstr>
      <vt:lpstr>继承时的析构函数</vt:lpstr>
      <vt:lpstr>派生类析构函数举例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 继承与派生</dc:title>
  <dc:creator>SJL</dc:creator>
  <cp:lastModifiedBy>Microsoft Office User</cp:lastModifiedBy>
  <cp:revision>113</cp:revision>
  <dcterms:created xsi:type="dcterms:W3CDTF">2017-02-27T07:52:14Z</dcterms:created>
  <dcterms:modified xsi:type="dcterms:W3CDTF">2024-04-10T08:11:04Z</dcterms:modified>
</cp:coreProperties>
</file>