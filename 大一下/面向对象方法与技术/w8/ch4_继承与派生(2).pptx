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2"/>
  </p:notesMasterIdLst>
  <p:sldIdLst>
    <p:sldId id="257" r:id="rId2"/>
    <p:sldId id="258" r:id="rId3"/>
    <p:sldId id="334" r:id="rId4"/>
    <p:sldId id="303" r:id="rId5"/>
    <p:sldId id="304" r:id="rId6"/>
    <p:sldId id="347" r:id="rId7"/>
    <p:sldId id="306" r:id="rId8"/>
    <p:sldId id="307" r:id="rId9"/>
    <p:sldId id="308" r:id="rId10"/>
    <p:sldId id="309" r:id="rId11"/>
    <p:sldId id="310" r:id="rId12"/>
    <p:sldId id="351" r:id="rId13"/>
    <p:sldId id="348" r:id="rId14"/>
    <p:sldId id="313" r:id="rId15"/>
    <p:sldId id="314" r:id="rId16"/>
    <p:sldId id="315" r:id="rId17"/>
    <p:sldId id="316" r:id="rId18"/>
    <p:sldId id="317" r:id="rId19"/>
    <p:sldId id="349" r:id="rId20"/>
    <p:sldId id="350"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33"/>
    <a:srgbClr val="FF65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autoAdjust="0"/>
    <p:restoredTop sz="94694" autoAdjust="0"/>
  </p:normalViewPr>
  <p:slideViewPr>
    <p:cSldViewPr>
      <p:cViewPr varScale="1">
        <p:scale>
          <a:sx n="121" d="100"/>
          <a:sy n="121" d="100"/>
        </p:scale>
        <p:origin x="1904" y="176"/>
      </p:cViewPr>
      <p:guideLst>
        <p:guide orient="horz" pos="2160"/>
        <p:guide pos="2880"/>
      </p:guideLst>
    </p:cSldViewPr>
  </p:slideViewPr>
  <p:outlineViewPr>
    <p:cViewPr>
      <p:scale>
        <a:sx n="33" d="100"/>
        <a:sy n="33" d="100"/>
      </p:scale>
      <p:origin x="0" y="6624"/>
    </p:cViewPr>
  </p:outlineViewPr>
  <p:notesTextViewPr>
    <p:cViewPr>
      <p:scale>
        <a:sx n="100" d="100"/>
        <a:sy n="100" d="100"/>
      </p:scale>
      <p:origin x="0" y="0"/>
    </p:cViewPr>
  </p:notesTextViewPr>
  <p:sorterViewPr>
    <p:cViewPr>
      <p:scale>
        <a:sx n="170" d="100"/>
        <a:sy n="170" d="100"/>
      </p:scale>
      <p:origin x="0" y="-1153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5C5939-5DB5-49EA-AD37-630BAA9593B5}" type="datetimeFigureOut">
              <a:rPr lang="zh-CN" altLang="en-US" smtClean="0"/>
              <a:t>2024/4/10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D02B4F-3783-434E-8D7D-31747B89B572}" type="slidenum">
              <a:rPr lang="zh-CN" altLang="en-US" smtClean="0"/>
              <a:t>‹#›</a:t>
            </a:fld>
            <a:endParaRPr lang="zh-CN" altLang="en-US"/>
          </a:p>
        </p:txBody>
      </p:sp>
    </p:spTree>
    <p:extLst>
      <p:ext uri="{BB962C8B-B14F-4D97-AF65-F5344CB8AC3E}">
        <p14:creationId xmlns:p14="http://schemas.microsoft.com/office/powerpoint/2010/main" val="2378497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AE31486E-DBE8-45EB-B9F5-222DC3294F28}" type="slidenum">
              <a:rPr lang="en-US" altLang="zh-CN" sz="1200"/>
              <a:pPr eaLnBrk="1" hangingPunct="1"/>
              <a:t>1</a:t>
            </a:fld>
            <a:endParaRPr lang="en-US" altLang="zh-CN"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9A774146-6D2D-4C40-B356-B2A49A0385B1}" type="slidenum">
              <a:rPr lang="en-US" altLang="zh-CN" sz="1200"/>
              <a:pPr eaLnBrk="1" hangingPunct="1"/>
              <a:t>2</a:t>
            </a:fld>
            <a:endParaRPr lang="en-US" altLang="zh-CN" sz="1200"/>
          </a:p>
        </p:txBody>
      </p:sp>
      <p:sp>
        <p:nvSpPr>
          <p:cNvPr id="79875" name="Rectangle 2"/>
          <p:cNvSpPr>
            <a:spLocks noGrp="1" noRot="1" noChangeAspect="1" noChangeArrowheads="1" noTextEdit="1"/>
          </p:cNvSpPr>
          <p:nvPr>
            <p:ph type="sldImg"/>
          </p:nvPr>
        </p:nvSpPr>
        <p:spPr>
          <a:ln/>
        </p:spPr>
      </p:sp>
      <p:sp>
        <p:nvSpPr>
          <p:cNvPr id="7987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9A774146-6D2D-4C40-B356-B2A49A0385B1}" type="slidenum">
              <a:rPr lang="en-US" altLang="zh-CN" sz="1200"/>
              <a:pPr eaLnBrk="1" hangingPunct="1"/>
              <a:t>3</a:t>
            </a:fld>
            <a:endParaRPr lang="en-US" altLang="zh-CN" sz="1200"/>
          </a:p>
        </p:txBody>
      </p:sp>
      <p:sp>
        <p:nvSpPr>
          <p:cNvPr id="79875" name="Rectangle 2"/>
          <p:cNvSpPr>
            <a:spLocks noGrp="1" noRot="1" noChangeAspect="1" noChangeArrowheads="1" noTextEdit="1"/>
          </p:cNvSpPr>
          <p:nvPr>
            <p:ph type="sldImg"/>
          </p:nvPr>
        </p:nvSpPr>
        <p:spPr>
          <a:ln/>
        </p:spPr>
      </p:sp>
      <p:sp>
        <p:nvSpPr>
          <p:cNvPr id="7987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DAD87124-554D-405D-8B7E-FA3137BFFEC3}" type="slidenum">
              <a:rPr lang="en-US" altLang="zh-CN" sz="1200"/>
              <a:pPr eaLnBrk="1" hangingPunct="1"/>
              <a:t>4</a:t>
            </a:fld>
            <a:endParaRPr lang="en-US" altLang="zh-CN" sz="1200"/>
          </a:p>
        </p:txBody>
      </p:sp>
      <p:sp>
        <p:nvSpPr>
          <p:cNvPr id="125955" name="Rectangle 2"/>
          <p:cNvSpPr>
            <a:spLocks noGrp="1" noRot="1" noChangeAspect="1" noChangeArrowheads="1" noTextEdit="1"/>
          </p:cNvSpPr>
          <p:nvPr>
            <p:ph type="sldImg"/>
          </p:nvPr>
        </p:nvSpPr>
        <p:spPr>
          <a:ln/>
        </p:spPr>
      </p:sp>
      <p:sp>
        <p:nvSpPr>
          <p:cNvPr id="12595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8450E3CD-3B07-44D5-8D07-96CDCBF65EDB}" type="slidenum">
              <a:rPr lang="en-US" altLang="zh-CN" sz="1200"/>
              <a:pPr eaLnBrk="1" hangingPunct="1"/>
              <a:t>5</a:t>
            </a:fld>
            <a:endParaRPr lang="en-US" altLang="zh-CN" sz="1200"/>
          </a:p>
        </p:txBody>
      </p:sp>
      <p:sp>
        <p:nvSpPr>
          <p:cNvPr id="126979" name="Rectangle 2"/>
          <p:cNvSpPr>
            <a:spLocks noGrp="1" noRot="1" noChangeAspect="1" noChangeArrowheads="1" noTextEdit="1"/>
          </p:cNvSpPr>
          <p:nvPr>
            <p:ph type="sldImg"/>
          </p:nvPr>
        </p:nvSpPr>
        <p:spPr>
          <a:ln/>
        </p:spPr>
      </p:sp>
      <p:sp>
        <p:nvSpPr>
          <p:cNvPr id="12698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B06EA4F3-73D1-4065-887A-E626A744F7A6}" type="slidenum">
              <a:rPr lang="en-US" altLang="zh-CN" sz="1200"/>
              <a:pPr eaLnBrk="1" hangingPunct="1"/>
              <a:t>7</a:t>
            </a:fld>
            <a:endParaRPr lang="en-US" altLang="zh-CN" sz="1200"/>
          </a:p>
        </p:txBody>
      </p:sp>
      <p:sp>
        <p:nvSpPr>
          <p:cNvPr id="129027" name="Rectangle 2"/>
          <p:cNvSpPr>
            <a:spLocks noGrp="1" noRot="1" noChangeAspect="1" noChangeArrowheads="1" noTextEdit="1"/>
          </p:cNvSpPr>
          <p:nvPr>
            <p:ph type="sldImg"/>
          </p:nvPr>
        </p:nvSpPr>
        <p:spPr>
          <a:ln/>
        </p:spPr>
      </p:sp>
      <p:sp>
        <p:nvSpPr>
          <p:cNvPr id="12902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3A260357-20C6-4794-A1EB-C5CF932935E4}" type="slidenum">
              <a:rPr lang="en-US" altLang="zh-CN" sz="1200"/>
              <a:pPr eaLnBrk="1" hangingPunct="1"/>
              <a:t>8</a:t>
            </a:fld>
            <a:endParaRPr lang="en-US" altLang="zh-CN" sz="1200"/>
          </a:p>
        </p:txBody>
      </p:sp>
      <p:sp>
        <p:nvSpPr>
          <p:cNvPr id="130051" name="Rectangle 2"/>
          <p:cNvSpPr>
            <a:spLocks noGrp="1" noRot="1" noChangeAspect="1" noChangeArrowheads="1" noTextEdit="1"/>
          </p:cNvSpPr>
          <p:nvPr>
            <p:ph type="sldImg"/>
          </p:nvPr>
        </p:nvSpPr>
        <p:spPr>
          <a:ln/>
        </p:spPr>
      </p:sp>
      <p:sp>
        <p:nvSpPr>
          <p:cNvPr id="13005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4E9F0607-5F77-453B-9A51-EE8BAAF88F2B}" type="slidenum">
              <a:rPr lang="en-US" altLang="zh-CN" sz="1200"/>
              <a:pPr eaLnBrk="1" hangingPunct="1"/>
              <a:t>9</a:t>
            </a:fld>
            <a:endParaRPr lang="en-US" altLang="zh-CN" sz="1200"/>
          </a:p>
        </p:txBody>
      </p:sp>
      <p:sp>
        <p:nvSpPr>
          <p:cNvPr id="131075" name="Rectangle 2"/>
          <p:cNvSpPr>
            <a:spLocks noGrp="1" noRot="1" noChangeAspect="1" noChangeArrowheads="1" noTextEdit="1"/>
          </p:cNvSpPr>
          <p:nvPr>
            <p:ph type="sldImg"/>
          </p:nvPr>
        </p:nvSpPr>
        <p:spPr>
          <a:ln/>
        </p:spPr>
      </p:sp>
      <p:sp>
        <p:nvSpPr>
          <p:cNvPr id="13107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CCE406F2-5161-42F6-BB60-F50F42745322}" type="slidenum">
              <a:rPr lang="en-US" altLang="zh-CN" sz="1200"/>
              <a:pPr eaLnBrk="1" hangingPunct="1"/>
              <a:t>10</a:t>
            </a:fld>
            <a:endParaRPr lang="en-US" altLang="zh-CN" sz="1200"/>
          </a:p>
        </p:txBody>
      </p:sp>
      <p:sp>
        <p:nvSpPr>
          <p:cNvPr id="132099" name="Rectangle 2"/>
          <p:cNvSpPr>
            <a:spLocks noGrp="1" noRot="1" noChangeAspect="1" noChangeArrowheads="1" noTextEdit="1"/>
          </p:cNvSpPr>
          <p:nvPr>
            <p:ph type="sldImg"/>
          </p:nvPr>
        </p:nvSpPr>
        <p:spPr>
          <a:ln/>
        </p:spPr>
      </p:sp>
      <p:sp>
        <p:nvSpPr>
          <p:cNvPr id="13210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658F213B-4A13-477E-81EC-D203D3CA8159}" type="slidenum">
              <a:rPr lang="en-US" altLang="zh-CN" sz="1200"/>
              <a:pPr eaLnBrk="1" hangingPunct="1"/>
              <a:t>11</a:t>
            </a:fld>
            <a:endParaRPr lang="en-US" altLang="zh-CN" sz="1200"/>
          </a:p>
        </p:txBody>
      </p:sp>
      <p:sp>
        <p:nvSpPr>
          <p:cNvPr id="133123" name="Rectangle 2"/>
          <p:cNvSpPr>
            <a:spLocks noGrp="1" noRot="1" noChangeAspect="1" noChangeArrowheads="1" noTextEdit="1"/>
          </p:cNvSpPr>
          <p:nvPr>
            <p:ph type="sldImg"/>
          </p:nvPr>
        </p:nvSpPr>
        <p:spPr>
          <a:ln/>
        </p:spPr>
      </p:sp>
      <p:sp>
        <p:nvSpPr>
          <p:cNvPr id="13312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EE242296-714E-44DE-B821-D3C501EBBBF2}" type="slidenum">
              <a:rPr lang="en-US" altLang="zh-CN" sz="1200"/>
              <a:pPr eaLnBrk="1" hangingPunct="1"/>
              <a:t>12</a:t>
            </a:fld>
            <a:endParaRPr lang="en-US" altLang="zh-CN" sz="1200"/>
          </a:p>
        </p:txBody>
      </p:sp>
      <p:sp>
        <p:nvSpPr>
          <p:cNvPr id="134147" name="Rectangle 2"/>
          <p:cNvSpPr>
            <a:spLocks noGrp="1" noRot="1" noChangeAspect="1" noChangeArrowheads="1" noTextEdit="1"/>
          </p:cNvSpPr>
          <p:nvPr>
            <p:ph type="sldImg"/>
          </p:nvPr>
        </p:nvSpPr>
        <p:spPr>
          <a:ln/>
        </p:spPr>
      </p:sp>
      <p:sp>
        <p:nvSpPr>
          <p:cNvPr id="13414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857084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CCE406F2-5161-42F6-BB60-F50F42745322}" type="slidenum">
              <a:rPr lang="en-US" altLang="zh-CN" sz="1200"/>
              <a:pPr eaLnBrk="1" hangingPunct="1"/>
              <a:t>13</a:t>
            </a:fld>
            <a:endParaRPr lang="en-US" altLang="zh-CN" sz="1200"/>
          </a:p>
        </p:txBody>
      </p:sp>
      <p:sp>
        <p:nvSpPr>
          <p:cNvPr id="132099" name="Rectangle 2"/>
          <p:cNvSpPr>
            <a:spLocks noGrp="1" noRot="1" noChangeAspect="1" noChangeArrowheads="1" noTextEdit="1"/>
          </p:cNvSpPr>
          <p:nvPr>
            <p:ph type="sldImg"/>
          </p:nvPr>
        </p:nvSpPr>
        <p:spPr>
          <a:ln/>
        </p:spPr>
      </p:sp>
      <p:sp>
        <p:nvSpPr>
          <p:cNvPr id="13210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C2CF6D1E-2880-46DF-BA7D-1DFBF0BE3FF3}" type="slidenum">
              <a:rPr lang="en-US" altLang="zh-CN" sz="1200"/>
              <a:pPr eaLnBrk="1" hangingPunct="1"/>
              <a:t>14</a:t>
            </a:fld>
            <a:endParaRPr lang="en-US" altLang="zh-CN" sz="1200"/>
          </a:p>
        </p:txBody>
      </p:sp>
      <p:sp>
        <p:nvSpPr>
          <p:cNvPr id="136195" name="Rectangle 2"/>
          <p:cNvSpPr>
            <a:spLocks noGrp="1" noRot="1" noChangeAspect="1" noChangeArrowheads="1" noTextEdit="1"/>
          </p:cNvSpPr>
          <p:nvPr>
            <p:ph type="sldImg"/>
          </p:nvPr>
        </p:nvSpPr>
        <p:spPr>
          <a:ln/>
        </p:spPr>
      </p:sp>
      <p:sp>
        <p:nvSpPr>
          <p:cNvPr id="13619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A4D1AB0E-E5F4-42AA-ABB1-53CA52733C03}" type="slidenum">
              <a:rPr lang="en-US" altLang="zh-CN" sz="1200"/>
              <a:pPr eaLnBrk="1" hangingPunct="1"/>
              <a:t>15</a:t>
            </a:fld>
            <a:endParaRPr lang="en-US" altLang="zh-CN" sz="1200"/>
          </a:p>
        </p:txBody>
      </p:sp>
      <p:sp>
        <p:nvSpPr>
          <p:cNvPr id="137219" name="Rectangle 2"/>
          <p:cNvSpPr>
            <a:spLocks noGrp="1" noRot="1" noChangeAspect="1" noChangeArrowheads="1" noTextEdit="1"/>
          </p:cNvSpPr>
          <p:nvPr>
            <p:ph type="sldImg"/>
          </p:nvPr>
        </p:nvSpPr>
        <p:spPr>
          <a:ln/>
        </p:spPr>
      </p:sp>
      <p:sp>
        <p:nvSpPr>
          <p:cNvPr id="13722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88821DF8-6EA5-4E1B-B2FA-1828C90F75DE}" type="slidenum">
              <a:rPr lang="en-US" altLang="zh-CN" sz="1200"/>
              <a:pPr eaLnBrk="1" hangingPunct="1"/>
              <a:t>16</a:t>
            </a:fld>
            <a:endParaRPr lang="en-US" altLang="zh-CN" sz="1200"/>
          </a:p>
        </p:txBody>
      </p:sp>
      <p:sp>
        <p:nvSpPr>
          <p:cNvPr id="138243" name="Rectangle 2"/>
          <p:cNvSpPr>
            <a:spLocks noGrp="1" noRot="1" noChangeAspect="1" noChangeArrowheads="1" noTextEdit="1"/>
          </p:cNvSpPr>
          <p:nvPr>
            <p:ph type="sldImg"/>
          </p:nvPr>
        </p:nvSpPr>
        <p:spPr>
          <a:ln/>
        </p:spPr>
      </p:sp>
      <p:sp>
        <p:nvSpPr>
          <p:cNvPr id="13824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5A065068-0B48-4457-8893-F5BC47A80F75}" type="slidenum">
              <a:rPr lang="en-US" altLang="zh-CN" sz="1200"/>
              <a:pPr eaLnBrk="1" hangingPunct="1"/>
              <a:t>17</a:t>
            </a:fld>
            <a:endParaRPr lang="en-US" altLang="zh-CN" sz="1200"/>
          </a:p>
        </p:txBody>
      </p:sp>
      <p:sp>
        <p:nvSpPr>
          <p:cNvPr id="139267" name="Rectangle 2"/>
          <p:cNvSpPr>
            <a:spLocks noGrp="1" noRot="1" noChangeAspect="1" noChangeArrowheads="1" noTextEdit="1"/>
          </p:cNvSpPr>
          <p:nvPr>
            <p:ph type="sldImg"/>
          </p:nvPr>
        </p:nvSpPr>
        <p:spPr>
          <a:ln/>
        </p:spPr>
      </p:sp>
      <p:sp>
        <p:nvSpPr>
          <p:cNvPr id="13926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kumimoji="1" sz="2200">
                <a:solidFill>
                  <a:schemeClr val="tx1"/>
                </a:solidFill>
                <a:latin typeface="Times New Roman" pitchFamily="18" charset="0"/>
                <a:ea typeface="宋体" charset="-122"/>
              </a:defRPr>
            </a:lvl1pPr>
            <a:lvl2pPr marL="685817" indent="-263776" defTabSz="914423" eaLnBrk="0" hangingPunct="0">
              <a:defRPr kumimoji="1" sz="2200">
                <a:solidFill>
                  <a:schemeClr val="tx1"/>
                </a:solidFill>
                <a:latin typeface="Times New Roman" pitchFamily="18" charset="0"/>
                <a:ea typeface="宋体" charset="-122"/>
              </a:defRPr>
            </a:lvl2pPr>
            <a:lvl3pPr marL="1055103" indent="-211021" defTabSz="914423" eaLnBrk="0" hangingPunct="0">
              <a:defRPr kumimoji="1" sz="2200">
                <a:solidFill>
                  <a:schemeClr val="tx1"/>
                </a:solidFill>
                <a:latin typeface="Times New Roman" pitchFamily="18" charset="0"/>
                <a:ea typeface="宋体" charset="-122"/>
              </a:defRPr>
            </a:lvl3pPr>
            <a:lvl4pPr marL="1477145" indent="-211021" defTabSz="914423" eaLnBrk="0" hangingPunct="0">
              <a:defRPr kumimoji="1" sz="2200">
                <a:solidFill>
                  <a:schemeClr val="tx1"/>
                </a:solidFill>
                <a:latin typeface="Times New Roman" pitchFamily="18" charset="0"/>
                <a:ea typeface="宋体" charset="-122"/>
              </a:defRPr>
            </a:lvl4pPr>
            <a:lvl5pPr marL="1899186" indent="-211021" defTabSz="914423" eaLnBrk="0" hangingPunct="0">
              <a:defRPr kumimoji="1" sz="2200">
                <a:solidFill>
                  <a:schemeClr val="tx1"/>
                </a:solidFill>
                <a:latin typeface="Times New Roman" pitchFamily="18" charset="0"/>
                <a:ea typeface="宋体" charset="-122"/>
              </a:defRPr>
            </a:lvl5pPr>
            <a:lvl6pPr marL="2321227"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6pPr>
            <a:lvl7pPr marL="2743269"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7pPr>
            <a:lvl8pPr marL="3165310"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8pPr>
            <a:lvl9pPr marL="3587351" indent="-211021" defTabSz="914423" eaLnBrk="0" fontAlgn="base" hangingPunct="0">
              <a:spcBef>
                <a:spcPct val="0"/>
              </a:spcBef>
              <a:spcAft>
                <a:spcPct val="0"/>
              </a:spcAft>
              <a:defRPr kumimoji="1" sz="2200">
                <a:solidFill>
                  <a:schemeClr val="tx1"/>
                </a:solidFill>
                <a:latin typeface="Times New Roman" pitchFamily="18" charset="0"/>
                <a:ea typeface="宋体" charset="-122"/>
              </a:defRPr>
            </a:lvl9pPr>
          </a:lstStyle>
          <a:p>
            <a:pPr eaLnBrk="1" hangingPunct="1"/>
            <a:fld id="{AFFE3B36-23FB-44D5-BD47-360AFFF120DC}" type="slidenum">
              <a:rPr lang="en-US" altLang="zh-CN" sz="1200"/>
              <a:pPr eaLnBrk="1" hangingPunct="1"/>
              <a:t>18</a:t>
            </a:fld>
            <a:endParaRPr lang="en-US" altLang="zh-CN" sz="1200"/>
          </a:p>
        </p:txBody>
      </p:sp>
      <p:sp>
        <p:nvSpPr>
          <p:cNvPr id="140291" name="Rectangle 2"/>
          <p:cNvSpPr>
            <a:spLocks noGrp="1" noRot="1" noChangeAspect="1" noChangeArrowheads="1" noTextEdit="1"/>
          </p:cNvSpPr>
          <p:nvPr>
            <p:ph type="sldImg"/>
          </p:nvPr>
        </p:nvSpPr>
        <p:spPr>
          <a:ln/>
        </p:spPr>
      </p:sp>
      <p:sp>
        <p:nvSpPr>
          <p:cNvPr id="14029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3">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4">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t>2024/4/10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ctrTitle"/>
          </p:nvPr>
        </p:nvSpPr>
        <p:spPr>
          <a:xfrm>
            <a:off x="723900" y="2819400"/>
            <a:ext cx="7772400" cy="1143000"/>
          </a:xfrm>
        </p:spPr>
        <p:txBody>
          <a:bodyPr/>
          <a:lstStyle/>
          <a:p>
            <a:pPr eaLnBrk="1" hangingPunct="1"/>
            <a:r>
              <a:rPr lang="zh-CN" altLang="en-US" dirty="0"/>
              <a:t>第</a:t>
            </a:r>
            <a:r>
              <a:rPr lang="en-US" altLang="zh-CN" dirty="0"/>
              <a:t>4</a:t>
            </a:r>
            <a:r>
              <a:rPr lang="zh-CN" altLang="en-US" dirty="0"/>
              <a:t>讲   继承与派生（</a:t>
            </a:r>
            <a:r>
              <a:rPr lang="en-US" altLang="zh-CN" dirty="0"/>
              <a:t>2</a:t>
            </a:r>
            <a:r>
              <a:rPr lang="zh-CN" altLang="en-US" dirty="0"/>
              <a:t>）</a:t>
            </a:r>
          </a:p>
        </p:txBody>
      </p:sp>
      <p:sp>
        <p:nvSpPr>
          <p:cNvPr id="7170" name="Rectangle 3090"/>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B6B8768-B7A3-494C-879E-C196F36ABE8B}" type="slidenum">
              <a:rPr lang="en-US" altLang="zh-CN" sz="1400" smtClean="0"/>
              <a:pPr eaLnBrk="1" hangingPunct="1"/>
              <a:t>1</a:t>
            </a:fld>
            <a:endParaRPr lang="en-US" altLang="zh-CN" sz="1400"/>
          </a:p>
        </p:txBody>
      </p:sp>
    </p:spTree>
    <p:extLst>
      <p:ext uri="{BB962C8B-B14F-4D97-AF65-F5344CB8AC3E}">
        <p14:creationId xmlns:p14="http://schemas.microsoft.com/office/powerpoint/2010/main" val="260621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zh-CN" altLang="en-US"/>
              <a:t>本章主要内容</a:t>
            </a:r>
          </a:p>
        </p:txBody>
      </p:sp>
      <p:sp>
        <p:nvSpPr>
          <p:cNvPr id="6147" name="Rectangle 3"/>
          <p:cNvSpPr>
            <a:spLocks noGrp="1" noChangeArrowheads="1"/>
          </p:cNvSpPr>
          <p:nvPr>
            <p:ph idx="1"/>
          </p:nvPr>
        </p:nvSpPr>
        <p:spPr/>
        <p:txBody>
          <a:bodyPr>
            <a:normAutofit/>
          </a:bodyPr>
          <a:lstStyle/>
          <a:p>
            <a:pPr marL="0" indent="0" algn="just" eaLnBrk="1" hangingPunct="1">
              <a:lnSpc>
                <a:spcPct val="120000"/>
              </a:lnSpc>
              <a:buNone/>
              <a:defRPr/>
            </a:pPr>
            <a:r>
              <a:rPr lang="en-US" altLang="zh-CN" sz="3600" dirty="0">
                <a:solidFill>
                  <a:schemeClr val="bg1">
                    <a:lumMod val="75000"/>
                  </a:schemeClr>
                </a:solidFill>
              </a:rPr>
              <a:t>4.1 </a:t>
            </a:r>
            <a:r>
              <a:rPr lang="zh-CN" altLang="en-US" sz="3600" dirty="0">
                <a:solidFill>
                  <a:schemeClr val="bg1">
                    <a:lumMod val="75000"/>
                  </a:schemeClr>
                </a:solidFill>
              </a:rPr>
              <a:t>类的继承与派生</a:t>
            </a:r>
          </a:p>
          <a:p>
            <a:pPr marL="0" indent="0" algn="just" eaLnBrk="1" hangingPunct="1">
              <a:lnSpc>
                <a:spcPct val="120000"/>
              </a:lnSpc>
              <a:buNone/>
              <a:defRPr/>
            </a:pPr>
            <a:r>
              <a:rPr lang="en-US" altLang="zh-CN" sz="3600" dirty="0">
                <a:solidFill>
                  <a:schemeClr val="bg1">
                    <a:lumMod val="75000"/>
                  </a:schemeClr>
                </a:solidFill>
              </a:rPr>
              <a:t>4.2 </a:t>
            </a:r>
            <a:r>
              <a:rPr lang="zh-CN" altLang="en-US" sz="3600" dirty="0">
                <a:solidFill>
                  <a:schemeClr val="bg1">
                    <a:lumMod val="75000"/>
                  </a:schemeClr>
                </a:solidFill>
              </a:rPr>
              <a:t>访问控制</a:t>
            </a:r>
          </a:p>
          <a:p>
            <a:pPr marL="0" indent="0" algn="just" eaLnBrk="1" hangingPunct="1">
              <a:lnSpc>
                <a:spcPct val="120000"/>
              </a:lnSpc>
              <a:buNone/>
              <a:defRPr/>
            </a:pPr>
            <a:r>
              <a:rPr lang="en-US" altLang="zh-CN" sz="3600" dirty="0">
                <a:solidFill>
                  <a:schemeClr val="bg1">
                    <a:lumMod val="75000"/>
                  </a:schemeClr>
                </a:solidFill>
              </a:rPr>
              <a:t>4.3 </a:t>
            </a:r>
            <a:r>
              <a:rPr lang="zh-CN" altLang="en-US" sz="3600" dirty="0">
                <a:solidFill>
                  <a:schemeClr val="bg1">
                    <a:lumMod val="75000"/>
                  </a:schemeClr>
                </a:solidFill>
              </a:rPr>
              <a:t>类型兼容规则</a:t>
            </a:r>
            <a:endParaRPr lang="en-US" altLang="zh-CN" sz="3600" dirty="0">
              <a:solidFill>
                <a:schemeClr val="bg1">
                  <a:lumMod val="75000"/>
                </a:schemeClr>
              </a:solidFill>
            </a:endParaRPr>
          </a:p>
          <a:p>
            <a:pPr marL="0" indent="0" algn="just" eaLnBrk="1" hangingPunct="1">
              <a:lnSpc>
                <a:spcPct val="120000"/>
              </a:lnSpc>
              <a:buNone/>
              <a:defRPr/>
            </a:pPr>
            <a:r>
              <a:rPr lang="en-US" altLang="zh-CN" sz="3600" dirty="0">
                <a:solidFill>
                  <a:schemeClr val="bg1">
                    <a:lumMod val="75000"/>
                  </a:schemeClr>
                </a:solidFill>
              </a:rPr>
              <a:t>4.4 </a:t>
            </a:r>
            <a:r>
              <a:rPr lang="zh-CN" altLang="en-US" sz="3600" dirty="0">
                <a:solidFill>
                  <a:schemeClr val="bg1">
                    <a:lumMod val="75000"/>
                  </a:schemeClr>
                </a:solidFill>
              </a:rPr>
              <a:t>派生类的构造和析构函数</a:t>
            </a:r>
            <a:endParaRPr lang="en-US" altLang="zh-CN" sz="3600" dirty="0">
              <a:solidFill>
                <a:schemeClr val="bg1">
                  <a:lumMod val="75000"/>
                </a:schemeClr>
              </a:solidFill>
            </a:endParaRPr>
          </a:p>
          <a:p>
            <a:pPr marL="0" indent="0" algn="just" eaLnBrk="1" hangingPunct="1">
              <a:lnSpc>
                <a:spcPct val="120000"/>
              </a:lnSpc>
              <a:buNone/>
              <a:defRPr/>
            </a:pPr>
            <a:r>
              <a:rPr lang="en-US" altLang="zh-CN" sz="3600" dirty="0"/>
              <a:t>4.5 </a:t>
            </a:r>
            <a:r>
              <a:rPr lang="zh-CN" altLang="en-US" sz="3600" dirty="0"/>
              <a:t>派生类成员的标识与访问</a:t>
            </a:r>
            <a:endParaRPr lang="en-US" altLang="zh-CN" sz="3600" dirty="0"/>
          </a:p>
        </p:txBody>
      </p:sp>
      <p:sp>
        <p:nvSpPr>
          <p:cNvPr id="81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6D651F6-B4CF-42C2-9E0F-D8845CD35307}" type="slidenum">
              <a:rPr lang="en-US" altLang="zh-CN" sz="1400" smtClean="0"/>
              <a:pPr eaLnBrk="1" hangingPunct="1"/>
              <a:t>2</a:t>
            </a:fld>
            <a:endParaRPr lang="en-US" altLang="zh-CN" sz="1400"/>
          </a:p>
        </p:txBody>
      </p:sp>
    </p:spTree>
    <p:extLst>
      <p:ext uri="{BB962C8B-B14F-4D97-AF65-F5344CB8AC3E}">
        <p14:creationId xmlns:p14="http://schemas.microsoft.com/office/powerpoint/2010/main" val="552733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a:lnSpc>
                <a:spcPct val="120000"/>
              </a:lnSpc>
              <a:defRPr/>
            </a:pPr>
            <a:r>
              <a:rPr lang="en-US" altLang="zh-CN" dirty="0"/>
              <a:t>4.5 </a:t>
            </a:r>
            <a:r>
              <a:rPr lang="zh-CN" altLang="en-US" dirty="0"/>
              <a:t>派生类成员的标识与访问</a:t>
            </a:r>
            <a:endParaRPr lang="en-US" altLang="zh-CN" dirty="0"/>
          </a:p>
        </p:txBody>
      </p:sp>
      <p:sp>
        <p:nvSpPr>
          <p:cNvPr id="6147" name="Rectangle 3"/>
          <p:cNvSpPr>
            <a:spLocks noGrp="1" noChangeArrowheads="1"/>
          </p:cNvSpPr>
          <p:nvPr>
            <p:ph idx="1"/>
          </p:nvPr>
        </p:nvSpPr>
        <p:spPr/>
        <p:txBody>
          <a:bodyPr>
            <a:normAutofit/>
          </a:bodyPr>
          <a:lstStyle/>
          <a:p>
            <a:pPr marL="0" indent="0" algn="just" eaLnBrk="1" hangingPunct="1">
              <a:lnSpc>
                <a:spcPct val="120000"/>
              </a:lnSpc>
              <a:buNone/>
              <a:defRPr/>
            </a:pPr>
            <a:r>
              <a:rPr lang="en-US" altLang="zh-CN" sz="3600" dirty="0"/>
              <a:t>4.5.1 </a:t>
            </a:r>
            <a:r>
              <a:rPr lang="zh-CN" altLang="en-US" sz="3600" dirty="0"/>
              <a:t>作用域分辨符</a:t>
            </a:r>
            <a:r>
              <a:rPr lang="en-US" altLang="zh-CN" sz="3600" dirty="0"/>
              <a:t>::</a:t>
            </a:r>
            <a:endParaRPr lang="zh-CN" altLang="en-US" sz="3600" dirty="0"/>
          </a:p>
          <a:p>
            <a:pPr marL="0" indent="0" algn="just" eaLnBrk="1" hangingPunct="1">
              <a:lnSpc>
                <a:spcPct val="120000"/>
              </a:lnSpc>
              <a:buNone/>
              <a:defRPr/>
            </a:pPr>
            <a:r>
              <a:rPr lang="en-US" altLang="zh-CN" sz="3600" dirty="0"/>
              <a:t>4.5.2 </a:t>
            </a:r>
            <a:r>
              <a:rPr lang="zh-CN" altLang="en-US" sz="3600" dirty="0"/>
              <a:t>虚基类</a:t>
            </a:r>
            <a:endParaRPr lang="en-US" altLang="zh-CN" sz="3600" dirty="0"/>
          </a:p>
          <a:p>
            <a:pPr marL="0" indent="0" algn="just" eaLnBrk="1" hangingPunct="1">
              <a:lnSpc>
                <a:spcPct val="120000"/>
              </a:lnSpc>
              <a:buNone/>
              <a:defRPr/>
            </a:pPr>
            <a:r>
              <a:rPr lang="en-US" altLang="zh-CN" sz="3600" dirty="0"/>
              <a:t>4.5.3 </a:t>
            </a:r>
            <a:r>
              <a:rPr lang="zh-CN" altLang="en-US" sz="3600" dirty="0"/>
              <a:t>虚基类及其派生类构造函数</a:t>
            </a:r>
            <a:endParaRPr lang="en-US" altLang="zh-CN" sz="3600" dirty="0"/>
          </a:p>
        </p:txBody>
      </p:sp>
      <p:sp>
        <p:nvSpPr>
          <p:cNvPr id="81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96D651F6-B4CF-42C2-9E0F-D8845CD35307}" type="slidenum">
              <a:rPr lang="en-US" altLang="zh-CN" sz="1400" smtClean="0"/>
              <a:pPr eaLnBrk="1" hangingPunct="1"/>
              <a:t>3</a:t>
            </a:fld>
            <a:endParaRPr lang="en-US" altLang="zh-CN" sz="1400"/>
          </a:p>
        </p:txBody>
      </p:sp>
    </p:spTree>
    <p:extLst>
      <p:ext uri="{BB962C8B-B14F-4D97-AF65-F5344CB8AC3E}">
        <p14:creationId xmlns:p14="http://schemas.microsoft.com/office/powerpoint/2010/main" val="3467712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zh-CN" altLang="en-US"/>
              <a:t>同名隐藏规则</a:t>
            </a:r>
          </a:p>
        </p:txBody>
      </p:sp>
      <p:sp>
        <p:nvSpPr>
          <p:cNvPr id="50180" name="Rectangle 3"/>
          <p:cNvSpPr>
            <a:spLocks noGrp="1" noChangeArrowheads="1"/>
          </p:cNvSpPr>
          <p:nvPr>
            <p:ph idx="1"/>
          </p:nvPr>
        </p:nvSpPr>
        <p:spPr/>
        <p:txBody>
          <a:bodyPr/>
          <a:lstStyle/>
          <a:p>
            <a:pPr eaLnBrk="1" hangingPunct="1">
              <a:lnSpc>
                <a:spcPct val="120000"/>
              </a:lnSpc>
              <a:buFont typeface="Wingdings" pitchFamily="2" charset="2"/>
              <a:buNone/>
            </a:pPr>
            <a:r>
              <a:rPr lang="zh-CN" altLang="en-US" dirty="0"/>
              <a:t>当派生类与基类中有相同成员时：</a:t>
            </a:r>
          </a:p>
          <a:p>
            <a:pPr eaLnBrk="1" hangingPunct="1">
              <a:lnSpc>
                <a:spcPct val="120000"/>
              </a:lnSpc>
            </a:pPr>
            <a:r>
              <a:rPr lang="zh-CN" altLang="en-US" dirty="0"/>
              <a:t>若未强行指明，则通过派生类对象使用的是派生类中的同名成员。</a:t>
            </a:r>
            <a:endParaRPr lang="en-US" altLang="zh-CN" dirty="0"/>
          </a:p>
          <a:p>
            <a:pPr lvl="1">
              <a:lnSpc>
                <a:spcPct val="120000"/>
              </a:lnSpc>
            </a:pPr>
            <a:r>
              <a:rPr lang="en-US" altLang="zh-CN" dirty="0"/>
              <a:t> </a:t>
            </a:r>
            <a:r>
              <a:rPr lang="en-US" altLang="zh-CN" dirty="0" err="1"/>
              <a:t>d.Show</a:t>
            </a:r>
            <a:r>
              <a:rPr lang="en-US" altLang="zh-CN" dirty="0"/>
              <a:t>();   =    </a:t>
            </a:r>
            <a:r>
              <a:rPr lang="en-US" altLang="zh-CN" dirty="0" err="1"/>
              <a:t>d.Derived</a:t>
            </a:r>
            <a:r>
              <a:rPr lang="en-US" altLang="zh-CN" dirty="0"/>
              <a:t>::Show();</a:t>
            </a:r>
            <a:endParaRPr lang="zh-CN" altLang="en-US" dirty="0"/>
          </a:p>
          <a:p>
            <a:pPr eaLnBrk="1" hangingPunct="1">
              <a:lnSpc>
                <a:spcPct val="120000"/>
              </a:lnSpc>
            </a:pPr>
            <a:r>
              <a:rPr lang="zh-CN" altLang="en-US" dirty="0"/>
              <a:t>如要通过派生类对象访问基类中被隐藏的同名成员，应使用基类名限定。</a:t>
            </a:r>
            <a:endParaRPr lang="en-US" altLang="zh-CN" dirty="0"/>
          </a:p>
          <a:p>
            <a:pPr lvl="1">
              <a:lnSpc>
                <a:spcPct val="120000"/>
              </a:lnSpc>
            </a:pPr>
            <a:r>
              <a:rPr lang="en-US" altLang="zh-CN" dirty="0"/>
              <a:t> </a:t>
            </a:r>
            <a:r>
              <a:rPr lang="en-US" altLang="zh-CN" dirty="0" err="1"/>
              <a:t>d.Base</a:t>
            </a:r>
            <a:r>
              <a:rPr lang="en-US" altLang="zh-CN" dirty="0"/>
              <a:t>::Show();</a:t>
            </a:r>
            <a:endParaRPr lang="zh-CN" altLang="en-US" dirty="0"/>
          </a:p>
        </p:txBody>
      </p:sp>
      <p:sp>
        <p:nvSpPr>
          <p:cNvPr id="501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48A069C-CE93-450C-9AEE-E20CBAAB2550}" type="slidenum">
              <a:rPr lang="en-US" altLang="zh-CN" sz="1400" smtClean="0"/>
              <a:pPr eaLnBrk="1" hangingPunct="1"/>
              <a:t>4</a:t>
            </a:fld>
            <a:endParaRPr lang="en-US" altLang="zh-CN" sz="1400"/>
          </a:p>
        </p:txBody>
      </p:sp>
    </p:spTree>
    <p:extLst>
      <p:ext uri="{BB962C8B-B14F-4D97-AF65-F5344CB8AC3E}">
        <p14:creationId xmlns:p14="http://schemas.microsoft.com/office/powerpoint/2010/main" val="3766486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457200" y="44624"/>
            <a:ext cx="8229600" cy="706090"/>
          </a:xfrm>
        </p:spPr>
        <p:txBody>
          <a:bodyPr>
            <a:normAutofit fontScale="90000"/>
          </a:bodyPr>
          <a:lstStyle/>
          <a:p>
            <a:pPr eaLnBrk="1" hangingPunct="1">
              <a:defRPr/>
            </a:pPr>
            <a:r>
              <a:rPr lang="zh-CN" altLang="en-US" sz="4400" dirty="0"/>
              <a:t>多继承同名隐藏举例</a:t>
            </a:r>
            <a:r>
              <a:rPr lang="en-US" altLang="zh-CN" sz="4400" dirty="0"/>
              <a:t>(1)</a:t>
            </a:r>
            <a:endParaRPr lang="zh-CN" altLang="en-US" sz="4400" dirty="0"/>
          </a:p>
        </p:txBody>
      </p:sp>
      <p:sp>
        <p:nvSpPr>
          <p:cNvPr id="95238" name="Rectangle 6"/>
          <p:cNvSpPr>
            <a:spLocks noGrp="1" noChangeArrowheads="1"/>
          </p:cNvSpPr>
          <p:nvPr>
            <p:ph idx="1"/>
          </p:nvPr>
        </p:nvSpPr>
        <p:spPr>
          <a:xfrm>
            <a:off x="179512" y="764704"/>
            <a:ext cx="3816424" cy="4608512"/>
          </a:xfrm>
          <a:noFill/>
          <a:ln>
            <a:solidFill>
              <a:schemeClr val="bg2">
                <a:lumMod val="25000"/>
              </a:schemeClr>
            </a:solidFill>
          </a:ln>
        </p:spPr>
        <p:txBody>
          <a:bodyPr>
            <a:noAutofit/>
          </a:bodyPr>
          <a:lstStyle/>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#include &lt;</a:t>
            </a:r>
            <a:r>
              <a:rPr lang="en-US" altLang="zh-CN" sz="1800" dirty="0" err="1">
                <a:latin typeface="Consolas" panose="020B0609020204030204" pitchFamily="49" charset="0"/>
              </a:rPr>
              <a:t>iostream</a:t>
            </a:r>
            <a:r>
              <a:rPr lang="en-US" altLang="zh-CN" sz="1800" dirty="0">
                <a:latin typeface="Consolas" panose="020B0609020204030204" pitchFamily="49" charset="0"/>
              </a:rPr>
              <a:t>&gt;</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using namespace std;</a:t>
            </a:r>
          </a:p>
          <a:p>
            <a:pPr>
              <a:lnSpc>
                <a:spcPct val="80000"/>
              </a:lnSpc>
              <a:spcBef>
                <a:spcPts val="200"/>
              </a:spcBef>
              <a:buNone/>
              <a:defRPr/>
            </a:pPr>
            <a:r>
              <a:rPr lang="en-US" altLang="zh-CN" sz="1800" dirty="0">
                <a:latin typeface="Consolas" panose="020B0609020204030204" pitchFamily="49" charset="0"/>
              </a:rPr>
              <a:t>class Base1 		</a:t>
            </a:r>
          </a:p>
          <a:p>
            <a:pPr>
              <a:lnSpc>
                <a:spcPct val="80000"/>
              </a:lnSpc>
              <a:spcBef>
                <a:spcPts val="200"/>
              </a:spcBef>
              <a:buNone/>
              <a:defRPr/>
            </a:pPr>
            <a:r>
              <a:rPr lang="en-US" altLang="zh-CN" sz="1800" dirty="0">
                <a:latin typeface="Consolas" panose="020B0609020204030204" pitchFamily="49" charset="0"/>
              </a:rPr>
              <a:t>{public:</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int _var;</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void fun()</a:t>
            </a:r>
          </a:p>
          <a:p>
            <a:pPr>
              <a:lnSpc>
                <a:spcPct val="80000"/>
              </a:lnSpc>
              <a:spcBef>
                <a:spcPts val="200"/>
              </a:spcBef>
              <a:buNone/>
              <a:defRPr/>
            </a:pPr>
            <a:r>
              <a:rPr lang="en-US" altLang="zh-CN" sz="1800" dirty="0">
                <a:latin typeface="Consolas" panose="020B0609020204030204" pitchFamily="49" charset="0"/>
              </a:rPr>
              <a:t>	{  </a:t>
            </a:r>
            <a:r>
              <a:rPr lang="en-US" altLang="zh-CN" sz="1800" dirty="0" err="1">
                <a:latin typeface="Consolas" panose="020B0609020204030204" pitchFamily="49" charset="0"/>
              </a:rPr>
              <a:t>cout</a:t>
            </a:r>
            <a:r>
              <a:rPr lang="en-US" altLang="zh-CN" sz="1800" dirty="0">
                <a:latin typeface="Consolas" panose="020B0609020204030204" pitchFamily="49" charset="0"/>
              </a:rPr>
              <a:t>&lt;&lt;"Member of Base1"</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&lt;&lt;</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class Base2 </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{public:</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int _var;</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void fun() </a:t>
            </a:r>
          </a:p>
          <a:p>
            <a:pPr>
              <a:lnSpc>
                <a:spcPct val="80000"/>
              </a:lnSpc>
              <a:spcBef>
                <a:spcPts val="200"/>
              </a:spcBef>
              <a:buNone/>
              <a:defRPr/>
            </a:pPr>
            <a:r>
              <a:rPr lang="en-US" altLang="zh-CN" sz="1800" dirty="0">
                <a:latin typeface="Consolas" panose="020B0609020204030204" pitchFamily="49" charset="0"/>
              </a:rPr>
              <a:t>   { </a:t>
            </a:r>
            <a:r>
              <a:rPr lang="en-US" altLang="zh-CN" sz="1800" dirty="0" err="1">
                <a:latin typeface="Consolas" panose="020B0609020204030204" pitchFamily="49" charset="0"/>
              </a:rPr>
              <a:t>cout</a:t>
            </a:r>
            <a:r>
              <a:rPr lang="en-US" altLang="zh-CN" sz="1800" dirty="0">
                <a:latin typeface="Consolas" panose="020B0609020204030204" pitchFamily="49" charset="0"/>
              </a:rPr>
              <a:t>&lt;&lt;"Member of Base2"</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&lt;&lt;</a:t>
            </a:r>
            <a:r>
              <a:rPr lang="en-US" altLang="zh-CN" sz="1800" dirty="0" err="1">
                <a:latin typeface="Consolas" panose="020B0609020204030204" pitchFamily="49" charset="0"/>
              </a:rPr>
              <a:t>endl</a:t>
            </a:r>
            <a:r>
              <a:rPr lang="en-US" altLang="zh-CN" sz="1800" dirty="0">
                <a:latin typeface="Consolas" panose="020B0609020204030204" pitchFamily="49" charset="0"/>
              </a:rPr>
              <a:t>; </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   }</a:t>
            </a:r>
          </a:p>
          <a:p>
            <a:pPr eaLnBrk="1" hangingPunct="1">
              <a:lnSpc>
                <a:spcPct val="80000"/>
              </a:lnSpc>
              <a:spcBef>
                <a:spcPts val="200"/>
              </a:spcBef>
              <a:buFont typeface="Wingdings" pitchFamily="2" charset="2"/>
              <a:buNone/>
              <a:defRPr/>
            </a:pPr>
            <a:r>
              <a:rPr lang="en-US" altLang="zh-CN" sz="1800" dirty="0">
                <a:latin typeface="Consolas" panose="020B0609020204030204" pitchFamily="49" charset="0"/>
              </a:rPr>
              <a:t>};</a:t>
            </a:r>
          </a:p>
        </p:txBody>
      </p:sp>
      <p:sp>
        <p:nvSpPr>
          <p:cNvPr id="512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59F990E-7C98-4FE6-97C2-A9ED71A33A26}" type="slidenum">
              <a:rPr lang="en-US" altLang="zh-CN" sz="1400" smtClean="0"/>
              <a:pPr eaLnBrk="1" hangingPunct="1"/>
              <a:t>5</a:t>
            </a:fld>
            <a:endParaRPr lang="en-US" altLang="zh-CN" sz="1400"/>
          </a:p>
        </p:txBody>
      </p:sp>
      <p:sp>
        <p:nvSpPr>
          <p:cNvPr id="2" name="矩形 1"/>
          <p:cNvSpPr/>
          <p:nvPr/>
        </p:nvSpPr>
        <p:spPr>
          <a:xfrm>
            <a:off x="4139952" y="764704"/>
            <a:ext cx="4824536" cy="2952328"/>
          </a:xfrm>
          <a:prstGeom prst="rect">
            <a:avLst/>
          </a:prstGeom>
          <a:noFill/>
          <a:ln>
            <a:solidFill>
              <a:schemeClr val="bg2">
                <a:lumMod val="25000"/>
              </a:schemeClr>
            </a:solidFill>
          </a:ln>
        </p:spPr>
        <p:txBody>
          <a:bodyPr vert="horz" rtlCol="0">
            <a:noAutofit/>
          </a:bodyPr>
          <a:lstStyle/>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class Derived: public Base1, public Base2 </a:t>
            </a: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 public:</a:t>
            </a: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	int _var;	</a:t>
            </a:r>
          </a:p>
          <a:p>
            <a:pPr marL="342900" indent="-342900">
              <a:lnSpc>
                <a:spcPct val="80000"/>
              </a:lnSpc>
              <a:spcBef>
                <a:spcPts val="200"/>
              </a:spcBef>
              <a:buClr>
                <a:schemeClr val="accent1"/>
              </a:buClr>
              <a:buSzPct val="50000"/>
              <a:buFont typeface="Wingdings" pitchFamily="2" charset="2"/>
              <a:buNone/>
            </a:pPr>
            <a:r>
              <a:rPr lang="zh-CN" altLang="en-US" dirty="0">
                <a:latin typeface="Consolas" panose="020B0609020204030204" pitchFamily="49" charset="0"/>
              </a:rPr>
              <a:t>	</a:t>
            </a:r>
            <a:r>
              <a:rPr lang="en-US" altLang="zh-CN" dirty="0">
                <a:latin typeface="Consolas" panose="020B0609020204030204" pitchFamily="49" charset="0"/>
              </a:rPr>
              <a:t>void fun()</a:t>
            </a: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    { </a:t>
            </a:r>
            <a:r>
              <a:rPr lang="en-US" altLang="zh-CN" dirty="0" err="1">
                <a:latin typeface="Consolas" panose="020B0609020204030204" pitchFamily="49" charset="0"/>
              </a:rPr>
              <a:t>cout</a:t>
            </a:r>
            <a:r>
              <a:rPr lang="en-US" altLang="zh-CN" dirty="0">
                <a:latin typeface="Consolas" panose="020B0609020204030204" pitchFamily="49" charset="0"/>
              </a:rPr>
              <a:t>&lt;&lt;"Member of Derived"</a:t>
            </a: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		&lt;&lt; </a:t>
            </a:r>
            <a:r>
              <a:rPr lang="en-US" altLang="zh-CN" dirty="0" err="1">
                <a:latin typeface="Consolas" panose="020B0609020204030204" pitchFamily="49" charset="0"/>
              </a:rPr>
              <a:t>endl</a:t>
            </a:r>
            <a:r>
              <a:rPr lang="en-US" altLang="zh-CN" dirty="0">
                <a:latin typeface="Consolas" panose="020B0609020204030204" pitchFamily="49" charset="0"/>
              </a:rPr>
              <a:t>; </a:t>
            </a: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    }	</a:t>
            </a:r>
            <a:endParaRPr lang="zh-CN" altLang="en-US" dirty="0">
              <a:latin typeface="Consolas" panose="020B0609020204030204" pitchFamily="49" charset="0"/>
            </a:endParaRPr>
          </a:p>
          <a:p>
            <a:pPr marL="342900" indent="-342900">
              <a:lnSpc>
                <a:spcPct val="80000"/>
              </a:lnSpc>
              <a:spcBef>
                <a:spcPts val="200"/>
              </a:spcBef>
              <a:buClr>
                <a:schemeClr val="accent1"/>
              </a:buClr>
              <a:buSzPct val="50000"/>
              <a:buFont typeface="Wingdings" pitchFamily="2" charset="2"/>
              <a:buNone/>
            </a:pPr>
            <a:r>
              <a:rPr lang="en-US" altLang="zh-CN" dirty="0">
                <a:latin typeface="Consolas" panose="020B0609020204030204" pitchFamily="49" charset="0"/>
              </a:rPr>
              <a:t>};</a:t>
            </a:r>
          </a:p>
        </p:txBody>
      </p:sp>
      <p:sp>
        <p:nvSpPr>
          <p:cNvPr id="8" name="圆角矩形 7"/>
          <p:cNvSpPr/>
          <p:nvPr/>
        </p:nvSpPr>
        <p:spPr>
          <a:xfrm>
            <a:off x="539551" y="1731532"/>
            <a:ext cx="1584176" cy="545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539551" y="3699266"/>
            <a:ext cx="1656184" cy="545339"/>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4541077" y="1484784"/>
            <a:ext cx="1399075"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121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336634803"/>
              </p:ext>
            </p:extLst>
          </p:nvPr>
        </p:nvGraphicFramePr>
        <p:xfrm>
          <a:off x="2051720" y="1412776"/>
          <a:ext cx="1584176" cy="3744414"/>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val="20000"/>
                    </a:ext>
                  </a:extLst>
                </a:gridCol>
              </a:tblGrid>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int _var</a:t>
                      </a:r>
                    </a:p>
                  </a:txBody>
                  <a:tcPr/>
                </a:tc>
                <a:extLst>
                  <a:ext uri="{0D108BD9-81ED-4DB2-BD59-A6C34878D82A}">
                    <a16:rowId xmlns:a16="http://schemas.microsoft.com/office/drawing/2014/main" val="10000"/>
                  </a:ext>
                </a:extLst>
              </a:tr>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void fun()</a:t>
                      </a:r>
                    </a:p>
                  </a:txBody>
                  <a:tcPr/>
                </a:tc>
                <a:extLst>
                  <a:ext uri="{0D108BD9-81ED-4DB2-BD59-A6C34878D82A}">
                    <a16:rowId xmlns:a16="http://schemas.microsoft.com/office/drawing/2014/main" val="10001"/>
                  </a:ext>
                </a:extLst>
              </a:tr>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int _var</a:t>
                      </a:r>
                    </a:p>
                  </a:txBody>
                  <a:tcPr/>
                </a:tc>
                <a:extLst>
                  <a:ext uri="{0D108BD9-81ED-4DB2-BD59-A6C34878D82A}">
                    <a16:rowId xmlns:a16="http://schemas.microsoft.com/office/drawing/2014/main" val="10002"/>
                  </a:ext>
                </a:extLst>
              </a:tr>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void fun()</a:t>
                      </a:r>
                    </a:p>
                  </a:txBody>
                  <a:tcPr/>
                </a:tc>
                <a:extLst>
                  <a:ext uri="{0D108BD9-81ED-4DB2-BD59-A6C34878D82A}">
                    <a16:rowId xmlns:a16="http://schemas.microsoft.com/office/drawing/2014/main" val="10003"/>
                  </a:ext>
                </a:extLst>
              </a:tr>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int _var</a:t>
                      </a:r>
                    </a:p>
                  </a:txBody>
                  <a:tcPr/>
                </a:tc>
                <a:extLst>
                  <a:ext uri="{0D108BD9-81ED-4DB2-BD59-A6C34878D82A}">
                    <a16:rowId xmlns:a16="http://schemas.microsoft.com/office/drawing/2014/main" val="10004"/>
                  </a:ext>
                </a:extLst>
              </a:tr>
              <a:tr h="6240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latin typeface="+mn-ea"/>
                        </a:rPr>
                        <a:t>void fun()</a:t>
                      </a:r>
                    </a:p>
                  </a:txBody>
                  <a:tcPr/>
                </a:tc>
                <a:extLst>
                  <a:ext uri="{0D108BD9-81ED-4DB2-BD59-A6C34878D82A}">
                    <a16:rowId xmlns:a16="http://schemas.microsoft.com/office/drawing/2014/main" val="10005"/>
                  </a:ext>
                </a:extLst>
              </a:tr>
            </a:tbl>
          </a:graphicData>
        </a:graphic>
      </p:graphicFrame>
      <p:sp>
        <p:nvSpPr>
          <p:cNvPr id="5" name="矩形 4"/>
          <p:cNvSpPr/>
          <p:nvPr/>
        </p:nvSpPr>
        <p:spPr>
          <a:xfrm>
            <a:off x="-34058" y="2996952"/>
            <a:ext cx="1149674" cy="461665"/>
          </a:xfrm>
          <a:prstGeom prst="rect">
            <a:avLst/>
          </a:prstGeom>
        </p:spPr>
        <p:txBody>
          <a:bodyPr wrap="none">
            <a:spAutoFit/>
          </a:bodyPr>
          <a:lstStyle/>
          <a:p>
            <a:r>
              <a:rPr lang="en-US" altLang="zh-CN" sz="2400" dirty="0">
                <a:latin typeface="+mn-ea"/>
              </a:rPr>
              <a:t>Derived</a:t>
            </a:r>
            <a:endParaRPr lang="zh-CN" altLang="en-US" sz="2400" dirty="0"/>
          </a:p>
        </p:txBody>
      </p:sp>
      <p:sp>
        <p:nvSpPr>
          <p:cNvPr id="6" name="矩形 5"/>
          <p:cNvSpPr/>
          <p:nvPr/>
        </p:nvSpPr>
        <p:spPr>
          <a:xfrm>
            <a:off x="1043608" y="1887215"/>
            <a:ext cx="883575" cy="461665"/>
          </a:xfrm>
          <a:prstGeom prst="rect">
            <a:avLst/>
          </a:prstGeom>
        </p:spPr>
        <p:txBody>
          <a:bodyPr wrap="none">
            <a:spAutoFit/>
          </a:bodyPr>
          <a:lstStyle/>
          <a:p>
            <a:r>
              <a:rPr lang="en-US" altLang="zh-CN" sz="2400" dirty="0">
                <a:latin typeface="+mn-ea"/>
              </a:rPr>
              <a:t>Base1</a:t>
            </a:r>
            <a:endParaRPr lang="zh-CN" altLang="en-US" sz="2400" dirty="0">
              <a:latin typeface="+mn-ea"/>
            </a:endParaRPr>
          </a:p>
        </p:txBody>
      </p:sp>
      <p:sp>
        <p:nvSpPr>
          <p:cNvPr id="7" name="矩形 6"/>
          <p:cNvSpPr/>
          <p:nvPr/>
        </p:nvSpPr>
        <p:spPr>
          <a:xfrm>
            <a:off x="1024129" y="3068960"/>
            <a:ext cx="883575" cy="461665"/>
          </a:xfrm>
          <a:prstGeom prst="rect">
            <a:avLst/>
          </a:prstGeom>
        </p:spPr>
        <p:txBody>
          <a:bodyPr wrap="none">
            <a:spAutoFit/>
          </a:bodyPr>
          <a:lstStyle/>
          <a:p>
            <a:r>
              <a:rPr lang="en-US" altLang="zh-CN" sz="2400" dirty="0">
                <a:latin typeface="+mn-ea"/>
              </a:rPr>
              <a:t>Base2</a:t>
            </a:r>
            <a:endParaRPr lang="zh-CN" altLang="en-US" sz="2400" dirty="0">
              <a:latin typeface="+mn-ea"/>
            </a:endParaRPr>
          </a:p>
        </p:txBody>
      </p:sp>
      <p:sp>
        <p:nvSpPr>
          <p:cNvPr id="8" name="Rectangle 3"/>
          <p:cNvSpPr>
            <a:spLocks noGrp="1" noChangeArrowheads="1"/>
          </p:cNvSpPr>
          <p:nvPr>
            <p:ph idx="1"/>
          </p:nvPr>
        </p:nvSpPr>
        <p:spPr>
          <a:xfrm>
            <a:off x="3995936" y="495136"/>
            <a:ext cx="3168351" cy="5886192"/>
          </a:xfrm>
          <a:solidFill>
            <a:schemeClr val="bg2">
              <a:lumMod val="90000"/>
            </a:schemeClr>
          </a:solidFill>
        </p:spPr>
        <p:txBody>
          <a:bodyPr>
            <a:noAutofit/>
          </a:bodyPr>
          <a:lstStyle/>
          <a:p>
            <a:pPr eaLnBrk="1" hangingPunct="1">
              <a:buFont typeface="Wingdings" pitchFamily="2" charset="2"/>
              <a:buNone/>
              <a:defRPr/>
            </a:pPr>
            <a:r>
              <a:rPr lang="en-US" altLang="zh-CN" sz="2000" dirty="0" err="1">
                <a:latin typeface="Consolas" panose="020B0609020204030204" pitchFamily="49" charset="0"/>
              </a:rPr>
              <a:t>int</a:t>
            </a:r>
            <a:r>
              <a:rPr lang="en-US" altLang="zh-CN" sz="2000" dirty="0">
                <a:latin typeface="Consolas" panose="020B0609020204030204" pitchFamily="49" charset="0"/>
              </a:rPr>
              <a:t> main() </a:t>
            </a:r>
          </a:p>
          <a:p>
            <a:pPr eaLnBrk="1" hangingPunct="1">
              <a:spcBef>
                <a:spcPts val="200"/>
              </a:spcBef>
              <a:buFont typeface="Wingdings" pitchFamily="2" charset="2"/>
              <a:buNone/>
              <a:defRPr/>
            </a:pPr>
            <a:r>
              <a:rPr lang="en-US" altLang="zh-CN" sz="2000" dirty="0">
                <a:latin typeface="Consolas" panose="020B0609020204030204" pitchFamily="49" charset="0"/>
              </a:rPr>
              <a:t>{	Derived d;</a:t>
            </a:r>
          </a:p>
          <a:p>
            <a:pPr eaLnBrk="1" hangingPunct="1">
              <a:spcBef>
                <a:spcPts val="200"/>
              </a:spcBef>
              <a:buFont typeface="Wingdings" pitchFamily="2" charset="2"/>
              <a:buNone/>
              <a:defRPr/>
            </a:pPr>
            <a:r>
              <a:rPr lang="en-US" altLang="zh-CN" sz="2000" dirty="0">
                <a:latin typeface="Consolas" panose="020B0609020204030204" pitchFamily="49" charset="0"/>
              </a:rPr>
              <a:t>	Derived *p=&amp;d;</a:t>
            </a:r>
          </a:p>
          <a:p>
            <a:pPr eaLnBrk="1" hangingPunct="1">
              <a:spcBef>
                <a:spcPts val="200"/>
              </a:spcBef>
              <a:buFont typeface="Wingdings" pitchFamily="2" charset="2"/>
              <a:buNone/>
              <a:defRPr/>
            </a:pPr>
            <a:endParaRPr lang="en-US" altLang="zh-CN" sz="2000" dirty="0">
              <a:latin typeface="Consolas" panose="020B0609020204030204" pitchFamily="49" charset="0"/>
            </a:endParaRPr>
          </a:p>
          <a:p>
            <a:pPr eaLnBrk="1" hangingPunct="1">
              <a:spcBef>
                <a:spcPts val="200"/>
              </a:spcBef>
              <a:buFont typeface="Wingdings" pitchFamily="2" charset="2"/>
              <a:buNone/>
              <a:defRPr/>
            </a:pPr>
            <a:r>
              <a:rPr lang="en-US" altLang="zh-CN" sz="2000" dirty="0">
                <a:latin typeface="Consolas" panose="020B0609020204030204" pitchFamily="49" charset="0"/>
              </a:rPr>
              <a:t>	</a:t>
            </a:r>
            <a:r>
              <a:rPr lang="en-US" altLang="zh-CN" sz="2000" dirty="0" err="1">
                <a:latin typeface="Consolas" panose="020B0609020204030204" pitchFamily="49" charset="0"/>
              </a:rPr>
              <a:t>d._var</a:t>
            </a:r>
            <a:r>
              <a:rPr lang="en-US" altLang="zh-CN" sz="2000" dirty="0">
                <a:latin typeface="Consolas" panose="020B0609020204030204" pitchFamily="49" charset="0"/>
              </a:rPr>
              <a:t>=1;	</a:t>
            </a: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d.fun();	</a:t>
            </a:r>
          </a:p>
          <a:p>
            <a:pPr eaLnBrk="1" hangingPunct="1">
              <a:spcBef>
                <a:spcPts val="200"/>
              </a:spcBef>
              <a:buFont typeface="Wingdings" pitchFamily="2" charset="2"/>
              <a:buNone/>
              <a:defRPr/>
            </a:pPr>
            <a:r>
              <a:rPr lang="zh-CN" altLang="en-US" sz="2000" dirty="0">
                <a:latin typeface="Consolas" panose="020B0609020204030204" pitchFamily="49" charset="0"/>
              </a:rPr>
              <a:t>	</a:t>
            </a: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d.Base1::_var=2;	</a:t>
            </a:r>
            <a:endParaRPr lang="zh-CN" altLang="en-US" sz="2000" dirty="0">
              <a:latin typeface="Consolas" panose="020B0609020204030204" pitchFamily="49" charset="0"/>
            </a:endParaRP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d.Base1::fun();	</a:t>
            </a:r>
            <a:endParaRPr lang="zh-CN" altLang="en-US" sz="2000" dirty="0">
              <a:latin typeface="Consolas" panose="020B0609020204030204" pitchFamily="49" charset="0"/>
            </a:endParaRPr>
          </a:p>
          <a:p>
            <a:pPr eaLnBrk="1" hangingPunct="1">
              <a:spcBef>
                <a:spcPts val="200"/>
              </a:spcBef>
              <a:buFont typeface="Wingdings" pitchFamily="2" charset="2"/>
              <a:buNone/>
              <a:defRPr/>
            </a:pPr>
            <a:r>
              <a:rPr lang="zh-CN" altLang="en-US" sz="2000" dirty="0">
                <a:latin typeface="Consolas" panose="020B0609020204030204" pitchFamily="49" charset="0"/>
              </a:rPr>
              <a:t>	</a:t>
            </a: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p-&gt;Base2::_var=3;	</a:t>
            </a: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p-&gt;Base2::fun();</a:t>
            </a:r>
          </a:p>
          <a:p>
            <a:pPr eaLnBrk="1" hangingPunct="1">
              <a:spcBef>
                <a:spcPts val="200"/>
              </a:spcBef>
              <a:buFont typeface="Wingdings" pitchFamily="2" charset="2"/>
              <a:buNone/>
              <a:defRPr/>
            </a:pPr>
            <a:r>
              <a:rPr lang="en-US" altLang="zh-CN" sz="2000" dirty="0">
                <a:latin typeface="Consolas" panose="020B0609020204030204" pitchFamily="49" charset="0"/>
              </a:rPr>
              <a:t>	</a:t>
            </a:r>
            <a:endParaRPr lang="zh-CN" altLang="en-US" sz="2000" dirty="0">
              <a:latin typeface="Consolas" panose="020B0609020204030204" pitchFamily="49" charset="0"/>
            </a:endParaRPr>
          </a:p>
          <a:p>
            <a:pPr eaLnBrk="1" hangingPunct="1">
              <a:spcBef>
                <a:spcPts val="200"/>
              </a:spcBef>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eaLnBrk="1" hangingPunct="1">
              <a:buFont typeface="Wingdings" pitchFamily="2" charset="2"/>
              <a:buNone/>
              <a:defRPr/>
            </a:pPr>
            <a:r>
              <a:rPr lang="en-US" altLang="zh-CN" sz="2000" dirty="0">
                <a:latin typeface="Consolas" panose="020B0609020204030204" pitchFamily="49" charset="0"/>
              </a:rPr>
              <a:t>}</a:t>
            </a:r>
          </a:p>
        </p:txBody>
      </p:sp>
      <p:sp>
        <p:nvSpPr>
          <p:cNvPr id="9" name="矩形 8"/>
          <p:cNvSpPr/>
          <p:nvPr/>
        </p:nvSpPr>
        <p:spPr>
          <a:xfrm>
            <a:off x="6793483" y="1772816"/>
            <a:ext cx="2082621" cy="369332"/>
          </a:xfrm>
          <a:prstGeom prst="rect">
            <a:avLst/>
          </a:prstGeom>
          <a:solidFill>
            <a:schemeClr val="bg2">
              <a:lumMod val="50000"/>
            </a:schemeClr>
          </a:solidFill>
        </p:spPr>
        <p:txBody>
          <a:bodyPr wrap="none">
            <a:spAutoFit/>
          </a:bodyPr>
          <a:lstStyle/>
          <a:p>
            <a:pPr>
              <a:defRPr/>
            </a:pPr>
            <a:r>
              <a:rPr lang="zh-CN" altLang="en-US" dirty="0">
                <a:latin typeface="+mn-ea"/>
              </a:rPr>
              <a:t>对象名</a:t>
            </a:r>
            <a:r>
              <a:rPr lang="en-US" altLang="zh-CN" dirty="0">
                <a:latin typeface="+mn-ea"/>
              </a:rPr>
              <a:t>.</a:t>
            </a:r>
            <a:r>
              <a:rPr lang="zh-CN" altLang="en-US" dirty="0">
                <a:latin typeface="+mn-ea"/>
              </a:rPr>
              <a:t>成员名标识</a:t>
            </a:r>
          </a:p>
        </p:txBody>
      </p:sp>
      <p:sp>
        <p:nvSpPr>
          <p:cNvPr id="10" name="矩形 9"/>
          <p:cNvSpPr/>
          <p:nvPr/>
        </p:nvSpPr>
        <p:spPr>
          <a:xfrm>
            <a:off x="6829095" y="2132856"/>
            <a:ext cx="2063385" cy="369332"/>
          </a:xfrm>
          <a:prstGeom prst="rect">
            <a:avLst/>
          </a:prstGeom>
          <a:solidFill>
            <a:schemeClr val="bg2">
              <a:lumMod val="50000"/>
            </a:schemeClr>
          </a:solidFill>
        </p:spPr>
        <p:txBody>
          <a:bodyPr wrap="none">
            <a:spAutoFit/>
          </a:bodyPr>
          <a:lstStyle/>
          <a:p>
            <a:pPr>
              <a:defRPr/>
            </a:pPr>
            <a:r>
              <a:rPr lang="zh-CN" altLang="en-US" dirty="0">
                <a:latin typeface="+mn-ea"/>
              </a:rPr>
              <a:t>访问</a:t>
            </a:r>
            <a:r>
              <a:rPr lang="en-US" altLang="zh-CN" dirty="0">
                <a:latin typeface="+mn-ea"/>
              </a:rPr>
              <a:t>Derived</a:t>
            </a:r>
            <a:r>
              <a:rPr lang="zh-CN" altLang="en-US" dirty="0">
                <a:latin typeface="+mn-ea"/>
              </a:rPr>
              <a:t>类成员</a:t>
            </a:r>
          </a:p>
        </p:txBody>
      </p:sp>
      <p:sp>
        <p:nvSpPr>
          <p:cNvPr id="11" name="矩形 10"/>
          <p:cNvSpPr/>
          <p:nvPr/>
        </p:nvSpPr>
        <p:spPr>
          <a:xfrm>
            <a:off x="6838352" y="2798590"/>
            <a:ext cx="2031325" cy="365613"/>
          </a:xfrm>
          <a:prstGeom prst="rect">
            <a:avLst/>
          </a:prstGeom>
          <a:solidFill>
            <a:srgbClr val="FF6565"/>
          </a:solidFill>
        </p:spPr>
        <p:txBody>
          <a:bodyPr wrap="none">
            <a:spAutoFit/>
          </a:bodyPr>
          <a:lstStyle/>
          <a:p>
            <a:pPr>
              <a:lnSpc>
                <a:spcPts val="2160"/>
              </a:lnSpc>
            </a:pPr>
            <a:r>
              <a:rPr lang="zh-CN" altLang="en-US" dirty="0">
                <a:latin typeface="+mn-ea"/>
              </a:rPr>
              <a:t>作用域分辨符标识</a:t>
            </a:r>
            <a:endParaRPr lang="zh-CN" altLang="en-US" dirty="0"/>
          </a:p>
        </p:txBody>
      </p:sp>
      <p:sp>
        <p:nvSpPr>
          <p:cNvPr id="12" name="矩形 11"/>
          <p:cNvSpPr/>
          <p:nvPr/>
        </p:nvSpPr>
        <p:spPr>
          <a:xfrm>
            <a:off x="6869043" y="3140968"/>
            <a:ext cx="2095445" cy="365613"/>
          </a:xfrm>
          <a:prstGeom prst="rect">
            <a:avLst/>
          </a:prstGeom>
          <a:solidFill>
            <a:srgbClr val="FF6565"/>
          </a:solidFill>
        </p:spPr>
        <p:txBody>
          <a:bodyPr wrap="none">
            <a:spAutoFit/>
          </a:bodyPr>
          <a:lstStyle/>
          <a:p>
            <a:pPr>
              <a:lnSpc>
                <a:spcPts val="2160"/>
              </a:lnSpc>
            </a:pPr>
            <a:r>
              <a:rPr lang="zh-CN" altLang="en-US" dirty="0">
                <a:latin typeface="+mn-ea"/>
              </a:rPr>
              <a:t>访问</a:t>
            </a:r>
            <a:r>
              <a:rPr lang="en-US" altLang="zh-CN" dirty="0">
                <a:latin typeface="+mn-ea"/>
              </a:rPr>
              <a:t>Base1</a:t>
            </a:r>
            <a:r>
              <a:rPr lang="zh-CN" altLang="en-US" dirty="0">
                <a:latin typeface="+mn-ea"/>
              </a:rPr>
              <a:t>基类成员</a:t>
            </a:r>
          </a:p>
        </p:txBody>
      </p:sp>
      <p:sp>
        <p:nvSpPr>
          <p:cNvPr id="13" name="矩形 12"/>
          <p:cNvSpPr/>
          <p:nvPr/>
        </p:nvSpPr>
        <p:spPr>
          <a:xfrm>
            <a:off x="6876256" y="3861048"/>
            <a:ext cx="2031325" cy="369332"/>
          </a:xfrm>
          <a:prstGeom prst="rect">
            <a:avLst/>
          </a:prstGeom>
          <a:solidFill>
            <a:srgbClr val="FFC000"/>
          </a:solidFill>
        </p:spPr>
        <p:txBody>
          <a:bodyPr wrap="none">
            <a:spAutoFit/>
          </a:bodyPr>
          <a:lstStyle/>
          <a:p>
            <a:pPr>
              <a:defRPr/>
            </a:pPr>
            <a:r>
              <a:rPr lang="zh-CN" altLang="en-US" dirty="0">
                <a:latin typeface="+mn-ea"/>
              </a:rPr>
              <a:t>作用域分辨符标识</a:t>
            </a:r>
          </a:p>
        </p:txBody>
      </p:sp>
      <p:sp>
        <p:nvSpPr>
          <p:cNvPr id="14" name="矩形 13"/>
          <p:cNvSpPr/>
          <p:nvPr/>
        </p:nvSpPr>
        <p:spPr>
          <a:xfrm>
            <a:off x="6876256" y="4189730"/>
            <a:ext cx="2095445" cy="369332"/>
          </a:xfrm>
          <a:prstGeom prst="rect">
            <a:avLst/>
          </a:prstGeom>
          <a:solidFill>
            <a:srgbClr val="FFC000"/>
          </a:solidFill>
        </p:spPr>
        <p:txBody>
          <a:bodyPr wrap="none">
            <a:spAutoFit/>
          </a:bodyPr>
          <a:lstStyle/>
          <a:p>
            <a:r>
              <a:rPr lang="zh-CN" altLang="en-US" dirty="0">
                <a:latin typeface="+mn-ea"/>
              </a:rPr>
              <a:t>访问</a:t>
            </a:r>
            <a:r>
              <a:rPr lang="en-US" altLang="zh-CN" dirty="0">
                <a:latin typeface="+mn-ea"/>
              </a:rPr>
              <a:t>Base2</a:t>
            </a:r>
            <a:r>
              <a:rPr lang="zh-CN" altLang="en-US" dirty="0">
                <a:latin typeface="+mn-ea"/>
              </a:rPr>
              <a:t>基类成员</a:t>
            </a:r>
            <a:endParaRPr lang="zh-CN" altLang="en-US" dirty="0"/>
          </a:p>
        </p:txBody>
      </p:sp>
      <p:sp>
        <p:nvSpPr>
          <p:cNvPr id="15" name="左大括号 14"/>
          <p:cNvSpPr/>
          <p:nvPr/>
        </p:nvSpPr>
        <p:spPr>
          <a:xfrm>
            <a:off x="1834513" y="1484784"/>
            <a:ext cx="216024" cy="11651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a:off x="1834513" y="2708920"/>
            <a:ext cx="216024" cy="11651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左大括号 16"/>
          <p:cNvSpPr/>
          <p:nvPr/>
        </p:nvSpPr>
        <p:spPr>
          <a:xfrm>
            <a:off x="1024128" y="1484784"/>
            <a:ext cx="163495" cy="36724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圆角矩形 18"/>
          <p:cNvSpPr/>
          <p:nvPr/>
        </p:nvSpPr>
        <p:spPr>
          <a:xfrm>
            <a:off x="4355976" y="1795609"/>
            <a:ext cx="1584176" cy="7692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1979712" y="3978642"/>
            <a:ext cx="1728192" cy="11065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4355976" y="2852936"/>
            <a:ext cx="2376264" cy="7692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1907704" y="1458362"/>
            <a:ext cx="1800200" cy="110654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4355976" y="3789040"/>
            <a:ext cx="2456160" cy="769295"/>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1907704" y="2708920"/>
            <a:ext cx="1800200" cy="110654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64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9" grpId="0" animBg="1"/>
      <p:bldP spid="10" grpId="0" animBg="1"/>
      <p:bldP spid="11" grpId="0" animBg="1"/>
      <p:bldP spid="12" grpId="0" animBg="1"/>
      <p:bldP spid="13" grpId="0" animBg="1"/>
      <p:bldP spid="14" grpId="0" animBg="1"/>
      <p:bldP spid="19"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1219200" y="304800"/>
            <a:ext cx="7239000" cy="1143000"/>
          </a:xfrm>
        </p:spPr>
        <p:txBody>
          <a:bodyPr/>
          <a:lstStyle/>
          <a:p>
            <a:pPr eaLnBrk="1" hangingPunct="1"/>
            <a:r>
              <a:rPr lang="zh-CN" altLang="en-US"/>
              <a:t>二义性问题</a:t>
            </a:r>
          </a:p>
        </p:txBody>
      </p:sp>
      <p:sp>
        <p:nvSpPr>
          <p:cNvPr id="53252" name="Rectangle 3"/>
          <p:cNvSpPr>
            <a:spLocks noGrp="1" noChangeArrowheads="1"/>
          </p:cNvSpPr>
          <p:nvPr>
            <p:ph idx="1"/>
          </p:nvPr>
        </p:nvSpPr>
        <p:spPr>
          <a:xfrm>
            <a:off x="539552" y="1628800"/>
            <a:ext cx="8280920" cy="4267200"/>
          </a:xfrm>
        </p:spPr>
        <p:txBody>
          <a:bodyPr/>
          <a:lstStyle/>
          <a:p>
            <a:pPr eaLnBrk="1" hangingPunct="1"/>
            <a:r>
              <a:rPr lang="zh-CN" altLang="en-US" sz="3000" dirty="0"/>
              <a:t>在多继承时，基类与派生类之间，或基类之间出现同名成员时，将出现访问时的二义性（不确定性）</a:t>
            </a:r>
            <a:r>
              <a:rPr lang="en-US" altLang="zh-CN" sz="3000" dirty="0"/>
              <a:t>——</a:t>
            </a:r>
            <a:r>
              <a:rPr lang="zh-CN" altLang="en-US" sz="3000" dirty="0"/>
              <a:t>采用</a:t>
            </a:r>
            <a:r>
              <a:rPr lang="zh-CN" altLang="en-US" sz="3000" b="1" dirty="0"/>
              <a:t>虚函数</a:t>
            </a:r>
            <a:r>
              <a:rPr lang="zh-CN" altLang="en-US" sz="3000" dirty="0"/>
              <a:t>（参见第</a:t>
            </a:r>
            <a:r>
              <a:rPr lang="en-US" altLang="zh-CN" sz="3000" dirty="0"/>
              <a:t>8</a:t>
            </a:r>
            <a:r>
              <a:rPr lang="zh-CN" altLang="en-US" sz="3000" dirty="0"/>
              <a:t>章）或</a:t>
            </a:r>
            <a:r>
              <a:rPr lang="zh-CN" altLang="en-US" sz="3000" b="1" dirty="0"/>
              <a:t>同名隐藏规则</a:t>
            </a:r>
            <a:r>
              <a:rPr lang="zh-CN" altLang="en-US" sz="3000" dirty="0"/>
              <a:t>来解决。</a:t>
            </a:r>
          </a:p>
          <a:p>
            <a:pPr eaLnBrk="1" hangingPunct="1"/>
            <a:r>
              <a:rPr lang="zh-CN" altLang="en-US" sz="3000" dirty="0"/>
              <a:t>当派生类从多个基类派生，而这些基类又从同一个基类派生，则在访问此共同基类中的成员时，将产生二义性</a:t>
            </a:r>
            <a:r>
              <a:rPr lang="en-US" altLang="zh-CN" sz="3000" dirty="0"/>
              <a:t>——</a:t>
            </a:r>
            <a:r>
              <a:rPr lang="zh-CN" altLang="en-US" sz="3000" dirty="0"/>
              <a:t>采用</a:t>
            </a:r>
            <a:r>
              <a:rPr lang="zh-CN" altLang="en-US" sz="3000" b="1" dirty="0"/>
              <a:t>虚基类</a:t>
            </a:r>
            <a:r>
              <a:rPr lang="zh-CN" altLang="en-US" sz="3000" dirty="0"/>
              <a:t>来解决。</a:t>
            </a:r>
          </a:p>
        </p:txBody>
      </p:sp>
      <p:sp>
        <p:nvSpPr>
          <p:cNvPr id="532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46955BA0-269C-47D1-ACE5-F3DBAAB678B8}" type="slidenum">
              <a:rPr lang="en-US" altLang="zh-CN" sz="1400" smtClean="0"/>
              <a:pPr eaLnBrk="1" hangingPunct="1"/>
              <a:t>7</a:t>
            </a:fld>
            <a:endParaRPr lang="en-US" altLang="zh-CN" sz="1400"/>
          </a:p>
        </p:txBody>
      </p:sp>
    </p:spTree>
    <p:extLst>
      <p:ext uri="{BB962C8B-B14F-4D97-AF65-F5344CB8AC3E}">
        <p14:creationId xmlns:p14="http://schemas.microsoft.com/office/powerpoint/2010/main" val="164995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44016" y="-171400"/>
            <a:ext cx="9468544" cy="1143000"/>
          </a:xfrm>
        </p:spPr>
        <p:txBody>
          <a:bodyPr>
            <a:normAutofit/>
          </a:bodyPr>
          <a:lstStyle/>
          <a:p>
            <a:pPr eaLnBrk="1" hangingPunct="1"/>
            <a:r>
              <a:rPr lang="zh-CN" altLang="en-US" dirty="0"/>
              <a:t>二义性问题举例</a:t>
            </a:r>
            <a:r>
              <a:rPr lang="en-US" altLang="zh-CN" dirty="0"/>
              <a:t>(</a:t>
            </a:r>
            <a:r>
              <a:rPr lang="zh-CN" altLang="en-US" dirty="0"/>
              <a:t>一</a:t>
            </a:r>
            <a:r>
              <a:rPr lang="en-US" altLang="zh-CN" dirty="0"/>
              <a:t>)— </a:t>
            </a:r>
            <a:r>
              <a:rPr lang="zh-CN" altLang="en-US" dirty="0"/>
              <a:t>基类间同名</a:t>
            </a:r>
          </a:p>
        </p:txBody>
      </p:sp>
      <p:sp>
        <p:nvSpPr>
          <p:cNvPr id="49155" name="Rectangle 3"/>
          <p:cNvSpPr>
            <a:spLocks noGrp="1" noChangeArrowheads="1"/>
          </p:cNvSpPr>
          <p:nvPr>
            <p:ph sz="half" idx="1"/>
          </p:nvPr>
        </p:nvSpPr>
        <p:spPr>
          <a:xfrm>
            <a:off x="611560" y="908720"/>
            <a:ext cx="2160240" cy="4648200"/>
          </a:xfrm>
          <a:solidFill>
            <a:schemeClr val="bg2">
              <a:lumMod val="90000"/>
            </a:schemeClr>
          </a:solidFill>
        </p:spPr>
        <p:txBody>
          <a:bodyPr>
            <a:normAutofit/>
          </a:bodyPr>
          <a:lstStyle/>
          <a:p>
            <a:pPr eaLnBrk="1" hangingPunct="1">
              <a:lnSpc>
                <a:spcPct val="90000"/>
              </a:lnSpc>
              <a:buFont typeface="Wingdings" pitchFamily="2" charset="2"/>
              <a:buNone/>
              <a:defRPr/>
            </a:pPr>
            <a:r>
              <a:rPr lang="en-US" altLang="zh-CN" dirty="0">
                <a:latin typeface="+mn-ea"/>
              </a:rPr>
              <a:t>class A </a:t>
            </a:r>
          </a:p>
          <a:p>
            <a:pPr eaLnBrk="1" hangingPunct="1">
              <a:lnSpc>
                <a:spcPct val="90000"/>
              </a:lnSpc>
              <a:buFont typeface="Wingdings" pitchFamily="2" charset="2"/>
              <a:buNone/>
              <a:defRPr/>
            </a:pPr>
            <a:r>
              <a:rPr lang="en-US" altLang="zh-CN" dirty="0">
                <a:latin typeface="+mn-ea"/>
              </a:rPr>
              <a:t>{public:</a:t>
            </a:r>
          </a:p>
          <a:p>
            <a:pPr eaLnBrk="1" hangingPunct="1">
              <a:lnSpc>
                <a:spcPct val="90000"/>
              </a:lnSpc>
              <a:buFont typeface="Wingdings" pitchFamily="2" charset="2"/>
              <a:buNone/>
              <a:defRPr/>
            </a:pPr>
            <a:r>
              <a:rPr lang="en-US" altLang="zh-CN" dirty="0">
                <a:latin typeface="+mn-ea"/>
              </a:rPr>
              <a:t>	void  f();</a:t>
            </a:r>
          </a:p>
          <a:p>
            <a:pPr eaLnBrk="1" hangingPunct="1">
              <a:lnSpc>
                <a:spcPct val="90000"/>
              </a:lnSpc>
              <a:buFont typeface="Wingdings" pitchFamily="2" charset="2"/>
              <a:buNone/>
              <a:defRPr/>
            </a:pPr>
            <a:r>
              <a:rPr lang="en-US" altLang="zh-CN" dirty="0">
                <a:latin typeface="+mn-ea"/>
              </a:rPr>
              <a:t>};</a:t>
            </a:r>
          </a:p>
          <a:p>
            <a:pPr eaLnBrk="1" hangingPunct="1">
              <a:lnSpc>
                <a:spcPct val="90000"/>
              </a:lnSpc>
              <a:buFont typeface="Wingdings" pitchFamily="2" charset="2"/>
              <a:buNone/>
              <a:defRPr/>
            </a:pPr>
            <a:r>
              <a:rPr lang="en-US" altLang="zh-CN" dirty="0">
                <a:latin typeface="+mn-ea"/>
              </a:rPr>
              <a:t>class B </a:t>
            </a:r>
          </a:p>
          <a:p>
            <a:pPr eaLnBrk="1" hangingPunct="1">
              <a:lnSpc>
                <a:spcPct val="90000"/>
              </a:lnSpc>
              <a:buFont typeface="Wingdings" pitchFamily="2" charset="2"/>
              <a:buNone/>
              <a:defRPr/>
            </a:pPr>
            <a:r>
              <a:rPr lang="en-US" altLang="zh-CN" dirty="0">
                <a:latin typeface="+mn-ea"/>
              </a:rPr>
              <a:t>{public:</a:t>
            </a:r>
          </a:p>
          <a:p>
            <a:pPr eaLnBrk="1" hangingPunct="1">
              <a:lnSpc>
                <a:spcPct val="90000"/>
              </a:lnSpc>
              <a:buFont typeface="Wingdings" pitchFamily="2" charset="2"/>
              <a:buNone/>
              <a:defRPr/>
            </a:pPr>
            <a:r>
              <a:rPr lang="en-US" altLang="zh-CN" dirty="0">
                <a:latin typeface="+mn-ea"/>
              </a:rPr>
              <a:t>	void f();</a:t>
            </a:r>
          </a:p>
          <a:p>
            <a:pPr eaLnBrk="1" hangingPunct="1">
              <a:lnSpc>
                <a:spcPct val="90000"/>
              </a:lnSpc>
              <a:buFont typeface="Wingdings" pitchFamily="2" charset="2"/>
              <a:buNone/>
              <a:defRPr/>
            </a:pPr>
            <a:r>
              <a:rPr lang="en-US" altLang="zh-CN" dirty="0">
                <a:latin typeface="+mn-ea"/>
              </a:rPr>
              <a:t>	void g();</a:t>
            </a:r>
          </a:p>
          <a:p>
            <a:pPr eaLnBrk="1" hangingPunct="1">
              <a:lnSpc>
                <a:spcPct val="90000"/>
              </a:lnSpc>
              <a:buFont typeface="Wingdings" pitchFamily="2" charset="2"/>
              <a:buNone/>
              <a:defRPr/>
            </a:pPr>
            <a:r>
              <a:rPr lang="en-US" altLang="zh-CN" dirty="0">
                <a:latin typeface="+mn-ea"/>
              </a:rPr>
              <a:t>};</a:t>
            </a:r>
          </a:p>
        </p:txBody>
      </p:sp>
      <p:sp>
        <p:nvSpPr>
          <p:cNvPr id="49156" name="Rectangle 4"/>
          <p:cNvSpPr>
            <a:spLocks noGrp="1" noChangeArrowheads="1"/>
          </p:cNvSpPr>
          <p:nvPr>
            <p:ph sz="half" idx="2"/>
          </p:nvPr>
        </p:nvSpPr>
        <p:spPr>
          <a:xfrm>
            <a:off x="3275856" y="908720"/>
            <a:ext cx="3960440" cy="2592288"/>
          </a:xfrm>
          <a:solidFill>
            <a:schemeClr val="bg2">
              <a:lumMod val="90000"/>
            </a:schemeClr>
          </a:solidFill>
        </p:spPr>
        <p:txBody>
          <a:bodyPr>
            <a:noAutofit/>
          </a:bodyPr>
          <a:lstStyle/>
          <a:p>
            <a:pPr marL="446088" indent="-446088" eaLnBrk="1" hangingPunct="1">
              <a:lnSpc>
                <a:spcPct val="110000"/>
              </a:lnSpc>
              <a:spcBef>
                <a:spcPts val="200"/>
              </a:spcBef>
              <a:buFont typeface="Wingdings" pitchFamily="2" charset="2"/>
              <a:buNone/>
              <a:defRPr/>
            </a:pPr>
            <a:r>
              <a:rPr lang="en-US" altLang="zh-CN" dirty="0">
                <a:latin typeface="+mn-ea"/>
              </a:rPr>
              <a:t>class C: public A, public B </a:t>
            </a:r>
          </a:p>
          <a:p>
            <a:pPr marL="446088" indent="-446088" eaLnBrk="1" hangingPunct="1">
              <a:lnSpc>
                <a:spcPct val="110000"/>
              </a:lnSpc>
              <a:spcBef>
                <a:spcPts val="200"/>
              </a:spcBef>
              <a:buFont typeface="Wingdings" pitchFamily="2" charset="2"/>
              <a:buNone/>
              <a:defRPr/>
            </a:pPr>
            <a:r>
              <a:rPr lang="en-US" altLang="zh-CN" dirty="0">
                <a:latin typeface="+mn-ea"/>
              </a:rPr>
              <a:t>{public:</a:t>
            </a:r>
          </a:p>
          <a:p>
            <a:pPr marL="446088" indent="-446088" eaLnBrk="1" hangingPunct="1">
              <a:lnSpc>
                <a:spcPct val="110000"/>
              </a:lnSpc>
              <a:spcBef>
                <a:spcPts val="200"/>
              </a:spcBef>
              <a:buFont typeface="Wingdings" pitchFamily="2" charset="2"/>
              <a:buNone/>
              <a:defRPr/>
            </a:pPr>
            <a:r>
              <a:rPr lang="en-US" altLang="zh-CN" dirty="0">
                <a:latin typeface="+mn-ea"/>
              </a:rPr>
              <a:t>	void g();</a:t>
            </a:r>
          </a:p>
          <a:p>
            <a:pPr marL="446088" indent="-446088" eaLnBrk="1" hangingPunct="1">
              <a:lnSpc>
                <a:spcPct val="110000"/>
              </a:lnSpc>
              <a:spcBef>
                <a:spcPts val="200"/>
              </a:spcBef>
              <a:buFont typeface="Wingdings" pitchFamily="2" charset="2"/>
              <a:buNone/>
              <a:defRPr/>
            </a:pPr>
            <a:r>
              <a:rPr lang="en-US" altLang="zh-CN" dirty="0">
                <a:latin typeface="+mn-ea"/>
              </a:rPr>
              <a:t>	void h();</a:t>
            </a:r>
          </a:p>
          <a:p>
            <a:pPr marL="446088" indent="-446088" eaLnBrk="1" hangingPunct="1">
              <a:lnSpc>
                <a:spcPct val="110000"/>
              </a:lnSpc>
              <a:spcBef>
                <a:spcPts val="200"/>
              </a:spcBef>
              <a:buFont typeface="Wingdings" pitchFamily="2" charset="2"/>
              <a:buNone/>
              <a:defRPr/>
            </a:pPr>
            <a:r>
              <a:rPr lang="en-US" altLang="zh-CN" dirty="0">
                <a:latin typeface="+mn-ea"/>
              </a:rPr>
              <a:t>};</a:t>
            </a:r>
          </a:p>
        </p:txBody>
      </p:sp>
      <p:sp>
        <p:nvSpPr>
          <p:cNvPr id="54274"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DA02F738-6120-4D78-AEF1-658271D23B58}" type="slidenum">
              <a:rPr lang="en-US" altLang="zh-CN" sz="1400" smtClean="0"/>
              <a:pPr eaLnBrk="1" hangingPunct="1"/>
              <a:t>8</a:t>
            </a:fld>
            <a:endParaRPr lang="en-US" altLang="zh-CN" sz="1400"/>
          </a:p>
        </p:txBody>
      </p:sp>
      <p:sp>
        <p:nvSpPr>
          <p:cNvPr id="54278" name="Line 5"/>
          <p:cNvSpPr>
            <a:spLocks noChangeShapeType="1"/>
          </p:cNvSpPr>
          <p:nvPr/>
        </p:nvSpPr>
        <p:spPr bwMode="auto">
          <a:xfrm>
            <a:off x="2987824" y="908720"/>
            <a:ext cx="0" cy="4876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矩形 1"/>
          <p:cNvSpPr/>
          <p:nvPr/>
        </p:nvSpPr>
        <p:spPr>
          <a:xfrm>
            <a:off x="3131840" y="3645024"/>
            <a:ext cx="5040560" cy="2462213"/>
          </a:xfrm>
          <a:prstGeom prst="rect">
            <a:avLst/>
          </a:prstGeom>
          <a:solidFill>
            <a:schemeClr val="bg2">
              <a:lumMod val="90000"/>
            </a:schemeClr>
          </a:solidFill>
        </p:spPr>
        <p:txBody>
          <a:bodyPr wrap="square">
            <a:spAutoFit/>
          </a:bodyPr>
          <a:lstStyle/>
          <a:p>
            <a:pPr marL="446088" indent="-446088">
              <a:lnSpc>
                <a:spcPct val="110000"/>
              </a:lnSpc>
              <a:defRPr/>
            </a:pPr>
            <a:r>
              <a:rPr lang="zh-CN" altLang="en-US" sz="2800" dirty="0">
                <a:latin typeface="+mn-ea"/>
              </a:rPr>
              <a:t>如果定义：</a:t>
            </a:r>
            <a:r>
              <a:rPr lang="en-US" altLang="zh-CN" sz="2800" dirty="0">
                <a:latin typeface="+mn-ea"/>
              </a:rPr>
              <a:t>C  c1;</a:t>
            </a:r>
          </a:p>
          <a:p>
            <a:pPr marL="446088" indent="-446088">
              <a:lnSpc>
                <a:spcPct val="110000"/>
              </a:lnSpc>
              <a:defRPr/>
            </a:pPr>
            <a:endParaRPr lang="en-US" altLang="zh-CN" sz="2800" dirty="0">
              <a:latin typeface="+mn-ea"/>
            </a:endParaRPr>
          </a:p>
          <a:p>
            <a:pPr marL="446088" indent="-446088">
              <a:lnSpc>
                <a:spcPct val="110000"/>
              </a:lnSpc>
              <a:defRPr/>
            </a:pPr>
            <a:r>
              <a:rPr lang="zh-CN" altLang="en-US" sz="2800" dirty="0">
                <a:latin typeface="+mn-ea"/>
              </a:rPr>
              <a:t>则 </a:t>
            </a:r>
            <a:r>
              <a:rPr lang="en-US" altLang="zh-CN" sz="2800" dirty="0">
                <a:latin typeface="+mn-ea"/>
              </a:rPr>
              <a:t>c1.f() </a:t>
            </a:r>
            <a:r>
              <a:rPr lang="zh-CN" altLang="en-US" sz="2800" dirty="0">
                <a:latin typeface="+mn-ea"/>
              </a:rPr>
              <a:t>具有二义性</a:t>
            </a:r>
            <a:endParaRPr lang="en-US" altLang="zh-CN" sz="2800" dirty="0">
              <a:latin typeface="+mn-ea"/>
            </a:endParaRPr>
          </a:p>
          <a:p>
            <a:pPr marL="446088" indent="-446088">
              <a:lnSpc>
                <a:spcPct val="110000"/>
              </a:lnSpc>
              <a:defRPr/>
            </a:pPr>
            <a:endParaRPr lang="zh-CN" altLang="en-US" sz="2800" dirty="0">
              <a:latin typeface="+mn-ea"/>
            </a:endParaRPr>
          </a:p>
          <a:p>
            <a:pPr marL="446088" indent="-446088">
              <a:lnSpc>
                <a:spcPct val="110000"/>
              </a:lnSpc>
              <a:defRPr/>
            </a:pPr>
            <a:r>
              <a:rPr lang="zh-CN" altLang="en-US" sz="2800" dirty="0">
                <a:latin typeface="+mn-ea"/>
              </a:rPr>
              <a:t>而 </a:t>
            </a:r>
            <a:r>
              <a:rPr lang="en-US" altLang="zh-CN" sz="2800" dirty="0">
                <a:latin typeface="+mn-ea"/>
              </a:rPr>
              <a:t>c1.g() </a:t>
            </a:r>
            <a:r>
              <a:rPr lang="zh-CN" altLang="en-US" sz="2800" dirty="0">
                <a:latin typeface="+mn-ea"/>
              </a:rPr>
              <a:t>无二义性（同名隐藏）</a:t>
            </a:r>
          </a:p>
        </p:txBody>
      </p:sp>
      <p:sp>
        <p:nvSpPr>
          <p:cNvPr id="3" name="乘号 2"/>
          <p:cNvSpPr/>
          <p:nvPr/>
        </p:nvSpPr>
        <p:spPr>
          <a:xfrm>
            <a:off x="6372200" y="4653136"/>
            <a:ext cx="648072" cy="504056"/>
          </a:xfrm>
          <a:prstGeom prst="mathMultiply">
            <a:avLst>
              <a:gd name="adj1" fmla="val 235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861695" y="5635465"/>
            <a:ext cx="526729" cy="313815"/>
            <a:chOff x="3635897" y="5995505"/>
            <a:chExt cx="526729" cy="313815"/>
          </a:xfrm>
        </p:grpSpPr>
        <p:cxnSp>
          <p:nvCxnSpPr>
            <p:cNvPr id="10" name="直接连接符 9"/>
            <p:cNvCxnSpPr/>
            <p:nvPr/>
          </p:nvCxnSpPr>
          <p:spPr>
            <a:xfrm>
              <a:off x="3635897" y="6093296"/>
              <a:ext cx="144015" cy="21602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779912" y="5995505"/>
              <a:ext cx="382714" cy="31381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 name="矩形 3"/>
          <p:cNvSpPr/>
          <p:nvPr/>
        </p:nvSpPr>
        <p:spPr>
          <a:xfrm>
            <a:off x="7092280" y="4077072"/>
            <a:ext cx="1492716" cy="523220"/>
          </a:xfrm>
          <a:prstGeom prst="rect">
            <a:avLst/>
          </a:prstGeom>
          <a:solidFill>
            <a:schemeClr val="accent6">
              <a:lumMod val="40000"/>
              <a:lumOff val="60000"/>
            </a:schemeClr>
          </a:solidFill>
        </p:spPr>
        <p:txBody>
          <a:bodyPr wrap="none">
            <a:spAutoFit/>
          </a:bodyPr>
          <a:lstStyle/>
          <a:p>
            <a:r>
              <a:rPr lang="en-US" altLang="zh-CN" sz="2800" dirty="0"/>
              <a:t>c1.A::f() </a:t>
            </a:r>
            <a:endParaRPr lang="zh-CN" altLang="en-US" sz="2800" dirty="0"/>
          </a:p>
        </p:txBody>
      </p:sp>
      <p:sp>
        <p:nvSpPr>
          <p:cNvPr id="5" name="矩形 4"/>
          <p:cNvSpPr/>
          <p:nvPr/>
        </p:nvSpPr>
        <p:spPr>
          <a:xfrm>
            <a:off x="7092280" y="4696450"/>
            <a:ext cx="1409360" cy="561757"/>
          </a:xfrm>
          <a:prstGeom prst="rect">
            <a:avLst/>
          </a:prstGeom>
          <a:solidFill>
            <a:schemeClr val="accent6">
              <a:lumMod val="40000"/>
              <a:lumOff val="60000"/>
            </a:schemeClr>
          </a:solidFill>
        </p:spPr>
        <p:txBody>
          <a:bodyPr wrap="none">
            <a:spAutoFit/>
          </a:bodyPr>
          <a:lstStyle/>
          <a:p>
            <a:pPr>
              <a:lnSpc>
                <a:spcPct val="120000"/>
              </a:lnSpc>
            </a:pPr>
            <a:r>
              <a:rPr lang="en-US" altLang="zh-CN" sz="2800" dirty="0"/>
              <a:t>c1.B::f()</a:t>
            </a:r>
          </a:p>
        </p:txBody>
      </p:sp>
      <p:grpSp>
        <p:nvGrpSpPr>
          <p:cNvPr id="14" name="组合 13"/>
          <p:cNvGrpSpPr/>
          <p:nvPr/>
        </p:nvGrpSpPr>
        <p:grpSpPr>
          <a:xfrm>
            <a:off x="8653783" y="4221088"/>
            <a:ext cx="526729" cy="313815"/>
            <a:chOff x="3635897" y="5995505"/>
            <a:chExt cx="526729" cy="313815"/>
          </a:xfrm>
        </p:grpSpPr>
        <p:cxnSp>
          <p:nvCxnSpPr>
            <p:cNvPr id="15" name="直接连接符 14"/>
            <p:cNvCxnSpPr/>
            <p:nvPr/>
          </p:nvCxnSpPr>
          <p:spPr>
            <a:xfrm>
              <a:off x="3635897" y="6093296"/>
              <a:ext cx="144015" cy="21602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779912" y="5995505"/>
              <a:ext cx="382714" cy="31381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8604448" y="4843377"/>
            <a:ext cx="526729" cy="313815"/>
            <a:chOff x="3635897" y="5995505"/>
            <a:chExt cx="526729" cy="313815"/>
          </a:xfrm>
        </p:grpSpPr>
        <p:cxnSp>
          <p:nvCxnSpPr>
            <p:cNvPr id="18" name="直接连接符 17"/>
            <p:cNvCxnSpPr/>
            <p:nvPr/>
          </p:nvCxnSpPr>
          <p:spPr>
            <a:xfrm>
              <a:off x="3635897" y="6093296"/>
              <a:ext cx="144015" cy="216024"/>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3779912" y="5995505"/>
              <a:ext cx="382714" cy="313815"/>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40820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4"/>
          <p:cNvSpPr>
            <a:spLocks noGrp="1" noChangeArrowheads="1"/>
          </p:cNvSpPr>
          <p:nvPr>
            <p:ph type="title"/>
          </p:nvPr>
        </p:nvSpPr>
        <p:spPr/>
        <p:txBody>
          <a:bodyPr/>
          <a:lstStyle/>
          <a:p>
            <a:pPr eaLnBrk="1" hangingPunct="1"/>
            <a:r>
              <a:rPr lang="zh-CN" altLang="en-US"/>
              <a:t>二义性的解决方法</a:t>
            </a:r>
          </a:p>
        </p:txBody>
      </p:sp>
      <p:sp>
        <p:nvSpPr>
          <p:cNvPr id="55300" name="Rectangle 5"/>
          <p:cNvSpPr>
            <a:spLocks noGrp="1" noChangeArrowheads="1"/>
          </p:cNvSpPr>
          <p:nvPr>
            <p:ph idx="1"/>
          </p:nvPr>
        </p:nvSpPr>
        <p:spPr/>
        <p:txBody>
          <a:bodyPr/>
          <a:lstStyle/>
          <a:p>
            <a:pPr eaLnBrk="1" hangingPunct="1">
              <a:lnSpc>
                <a:spcPct val="120000"/>
              </a:lnSpc>
            </a:pPr>
            <a:r>
              <a:rPr lang="zh-CN" altLang="en-US" dirty="0"/>
              <a:t>解决方法一：用类名来限定</a:t>
            </a:r>
            <a:br>
              <a:rPr lang="zh-CN" altLang="en-US" dirty="0"/>
            </a:br>
            <a:r>
              <a:rPr lang="en-US" altLang="zh-CN" dirty="0"/>
              <a:t>c1.A::f()    </a:t>
            </a:r>
            <a:r>
              <a:rPr lang="zh-CN" altLang="en-US" dirty="0"/>
              <a:t>或    </a:t>
            </a:r>
            <a:r>
              <a:rPr lang="en-US" altLang="zh-CN" dirty="0"/>
              <a:t>c1.B::f()</a:t>
            </a:r>
          </a:p>
          <a:p>
            <a:pPr eaLnBrk="1" hangingPunct="1">
              <a:lnSpc>
                <a:spcPct val="120000"/>
              </a:lnSpc>
            </a:pPr>
            <a:r>
              <a:rPr lang="zh-CN" altLang="en-US" dirty="0"/>
              <a:t>解决方法二：同名隐藏</a:t>
            </a:r>
            <a:br>
              <a:rPr lang="zh-CN" altLang="en-US" dirty="0"/>
            </a:br>
            <a:r>
              <a:rPr lang="zh-CN" altLang="en-US" dirty="0"/>
              <a:t>在</a:t>
            </a:r>
            <a:r>
              <a:rPr lang="en-US" altLang="zh-CN" dirty="0"/>
              <a:t>C </a:t>
            </a:r>
            <a:r>
              <a:rPr lang="zh-CN" altLang="en-US" dirty="0"/>
              <a:t>中声明一个同名成员函数</a:t>
            </a:r>
            <a:r>
              <a:rPr lang="en-US" altLang="zh-CN" dirty="0"/>
              <a:t>f()</a:t>
            </a:r>
            <a:r>
              <a:rPr lang="zh-CN" altLang="en-US" dirty="0"/>
              <a:t>，</a:t>
            </a:r>
            <a:r>
              <a:rPr lang="en-US" altLang="zh-CN" dirty="0"/>
              <a:t>f()</a:t>
            </a:r>
            <a:r>
              <a:rPr lang="zh-CN" altLang="zh-CN" dirty="0"/>
              <a:t>再根据需要调用  </a:t>
            </a:r>
            <a:r>
              <a:rPr lang="en-US" altLang="zh-CN" dirty="0"/>
              <a:t>A::f()    </a:t>
            </a:r>
            <a:r>
              <a:rPr lang="zh-CN" altLang="en-US" dirty="0"/>
              <a:t>或    </a:t>
            </a:r>
            <a:r>
              <a:rPr lang="en-US" altLang="zh-CN" dirty="0"/>
              <a:t>B::f()</a:t>
            </a:r>
          </a:p>
        </p:txBody>
      </p:sp>
      <p:sp>
        <p:nvSpPr>
          <p:cNvPr id="55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C9978BED-9E62-4FB9-9BFF-EBD538397140}" type="slidenum">
              <a:rPr lang="en-US" altLang="zh-CN" sz="1400" smtClean="0"/>
              <a:pPr eaLnBrk="1" hangingPunct="1"/>
              <a:t>9</a:t>
            </a:fld>
            <a:endParaRPr lang="en-US" altLang="zh-CN" sz="1400"/>
          </a:p>
        </p:txBody>
      </p:sp>
    </p:spTree>
    <p:extLst>
      <p:ext uri="{BB962C8B-B14F-4D97-AF65-F5344CB8AC3E}">
        <p14:creationId xmlns:p14="http://schemas.microsoft.com/office/powerpoint/2010/main" val="1206920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324544" y="-171400"/>
            <a:ext cx="9721080" cy="1143000"/>
          </a:xfrm>
        </p:spPr>
        <p:txBody>
          <a:bodyPr>
            <a:normAutofit fontScale="90000"/>
          </a:bodyPr>
          <a:lstStyle/>
          <a:p>
            <a:pPr eaLnBrk="1" hangingPunct="1"/>
            <a:r>
              <a:rPr lang="zh-CN" altLang="en-US" sz="4000" dirty="0"/>
              <a:t>二义性问题举例</a:t>
            </a:r>
            <a:r>
              <a:rPr lang="en-US" altLang="zh-CN" sz="4000" dirty="0"/>
              <a:t>(</a:t>
            </a:r>
            <a:r>
              <a:rPr lang="zh-CN" altLang="en-US" sz="4000" dirty="0"/>
              <a:t>二</a:t>
            </a:r>
            <a:r>
              <a:rPr lang="en-US" altLang="zh-CN" sz="4000" dirty="0"/>
              <a:t>)—</a:t>
            </a:r>
            <a:r>
              <a:rPr lang="zh-CN" altLang="en-US" sz="4000" dirty="0"/>
              <a:t>多级派生中有共同基类</a:t>
            </a:r>
            <a:endParaRPr lang="zh-CN" altLang="en-US" dirty="0"/>
          </a:p>
        </p:txBody>
      </p:sp>
      <p:sp>
        <p:nvSpPr>
          <p:cNvPr id="48131" name="Rectangle 3"/>
          <p:cNvSpPr>
            <a:spLocks noGrp="1" noChangeArrowheads="1"/>
          </p:cNvSpPr>
          <p:nvPr>
            <p:ph sz="half" idx="1"/>
          </p:nvPr>
        </p:nvSpPr>
        <p:spPr>
          <a:xfrm>
            <a:off x="1619673" y="707727"/>
            <a:ext cx="3370596" cy="3426321"/>
          </a:xfrm>
          <a:solidFill>
            <a:schemeClr val="bg2">
              <a:lumMod val="90000"/>
            </a:schemeClr>
          </a:solidFill>
        </p:spPr>
        <p:txBody>
          <a:bodyPr>
            <a:noAutofit/>
          </a:bodyPr>
          <a:lstStyle/>
          <a:p>
            <a:pPr eaLnBrk="1" hangingPunct="1">
              <a:lnSpc>
                <a:spcPct val="70000"/>
              </a:lnSpc>
              <a:buFont typeface="Wingdings" pitchFamily="2" charset="2"/>
              <a:buNone/>
              <a:defRPr/>
            </a:pPr>
            <a:r>
              <a:rPr lang="en-US" altLang="zh-CN" sz="2000" dirty="0">
                <a:latin typeface="Consolas" panose="020B0609020204030204" pitchFamily="49" charset="0"/>
              </a:rPr>
              <a:t>class B </a:t>
            </a:r>
          </a:p>
          <a:p>
            <a:pPr eaLnBrk="1" hangingPunct="1">
              <a:lnSpc>
                <a:spcPct val="70000"/>
              </a:lnSpc>
              <a:buFont typeface="Wingdings" pitchFamily="2" charset="2"/>
              <a:buNone/>
              <a:defRPr/>
            </a:pPr>
            <a:r>
              <a:rPr lang="en-US" altLang="zh-CN" sz="2000" dirty="0">
                <a:latin typeface="Consolas" panose="020B0609020204030204" pitchFamily="49" charset="0"/>
              </a:rPr>
              <a:t>{public:</a:t>
            </a:r>
          </a:p>
          <a:p>
            <a:pPr eaLnBrk="1" hangingPunct="1">
              <a:lnSpc>
                <a:spcPct val="70000"/>
              </a:lnSpc>
              <a:buFont typeface="Wingdings" pitchFamily="2" charset="2"/>
              <a:buNone/>
              <a:defRPr/>
            </a:pPr>
            <a:r>
              <a:rPr lang="en-US" altLang="zh-CN" sz="2000" dirty="0">
                <a:latin typeface="Consolas" panose="020B0609020204030204" pitchFamily="49" charset="0"/>
              </a:rPr>
              <a:t>	int _b;</a:t>
            </a:r>
          </a:p>
          <a:p>
            <a:pPr eaLnBrk="1" hangingPunct="1">
              <a:lnSpc>
                <a:spcPct val="70000"/>
              </a:lnSpc>
              <a:buFont typeface="Wingdings" pitchFamily="2" charset="2"/>
              <a:buNone/>
              <a:defRPr/>
            </a:pPr>
            <a:r>
              <a:rPr lang="en-US" altLang="zh-CN" sz="2000" dirty="0">
                <a:latin typeface="Consolas" panose="020B0609020204030204" pitchFamily="49" charset="0"/>
              </a:rPr>
              <a:t>};</a:t>
            </a:r>
          </a:p>
          <a:p>
            <a:pPr eaLnBrk="1" hangingPunct="1">
              <a:lnSpc>
                <a:spcPct val="70000"/>
              </a:lnSpc>
              <a:buFont typeface="Wingdings" pitchFamily="2" charset="2"/>
              <a:buNone/>
              <a:defRPr/>
            </a:pPr>
            <a:r>
              <a:rPr lang="en-US" altLang="zh-CN" sz="2000" dirty="0">
                <a:latin typeface="Consolas" panose="020B0609020204030204" pitchFamily="49" charset="0"/>
              </a:rPr>
              <a:t>class B1: public B </a:t>
            </a:r>
          </a:p>
          <a:p>
            <a:pPr eaLnBrk="1" hangingPunct="1">
              <a:lnSpc>
                <a:spcPct val="70000"/>
              </a:lnSpc>
              <a:buFont typeface="Wingdings" pitchFamily="2" charset="2"/>
              <a:buNone/>
              <a:defRPr/>
            </a:pPr>
            <a:r>
              <a:rPr lang="en-US" altLang="zh-CN" sz="2000" dirty="0">
                <a:latin typeface="Consolas" panose="020B0609020204030204" pitchFamily="49" charset="0"/>
              </a:rPr>
              <a:t>{private:</a:t>
            </a:r>
          </a:p>
          <a:p>
            <a:pPr eaLnBrk="1" hangingPunct="1">
              <a:lnSpc>
                <a:spcPct val="70000"/>
              </a:lnSpc>
              <a:buFont typeface="Wingdings" pitchFamily="2" charset="2"/>
              <a:buNone/>
              <a:defRPr/>
            </a:pPr>
            <a:r>
              <a:rPr lang="en-US" altLang="zh-CN" sz="2000" dirty="0">
                <a:latin typeface="Consolas" panose="020B0609020204030204" pitchFamily="49" charset="0"/>
              </a:rPr>
              <a:t>	int _b1;</a:t>
            </a:r>
          </a:p>
          <a:p>
            <a:pPr eaLnBrk="1" hangingPunct="1">
              <a:lnSpc>
                <a:spcPct val="70000"/>
              </a:lnSpc>
              <a:buFont typeface="Wingdings" pitchFamily="2" charset="2"/>
              <a:buNone/>
              <a:defRPr/>
            </a:pPr>
            <a:r>
              <a:rPr lang="en-US" altLang="zh-CN" sz="2000" dirty="0">
                <a:latin typeface="Consolas" panose="020B0609020204030204" pitchFamily="49" charset="0"/>
              </a:rPr>
              <a:t>};</a:t>
            </a:r>
          </a:p>
          <a:p>
            <a:pPr eaLnBrk="1" hangingPunct="1">
              <a:lnSpc>
                <a:spcPct val="70000"/>
              </a:lnSpc>
              <a:buFont typeface="Wingdings" pitchFamily="2" charset="2"/>
              <a:buNone/>
              <a:defRPr/>
            </a:pPr>
            <a:r>
              <a:rPr lang="en-US" altLang="zh-CN" sz="2000" dirty="0">
                <a:latin typeface="Consolas" panose="020B0609020204030204" pitchFamily="49" charset="0"/>
              </a:rPr>
              <a:t>class B2: public B </a:t>
            </a:r>
          </a:p>
          <a:p>
            <a:pPr eaLnBrk="1" hangingPunct="1">
              <a:lnSpc>
                <a:spcPct val="70000"/>
              </a:lnSpc>
              <a:buFont typeface="Wingdings" pitchFamily="2" charset="2"/>
              <a:buNone/>
              <a:defRPr/>
            </a:pPr>
            <a:r>
              <a:rPr lang="en-US" altLang="zh-CN" sz="2000" dirty="0">
                <a:latin typeface="Consolas" panose="020B0609020204030204" pitchFamily="49" charset="0"/>
              </a:rPr>
              <a:t>{private:</a:t>
            </a:r>
          </a:p>
          <a:p>
            <a:pPr eaLnBrk="1" hangingPunct="1">
              <a:lnSpc>
                <a:spcPct val="70000"/>
              </a:lnSpc>
              <a:buFont typeface="Wingdings" pitchFamily="2" charset="2"/>
              <a:buNone/>
              <a:defRPr/>
            </a:pPr>
            <a:r>
              <a:rPr lang="en-US" altLang="zh-CN" sz="2000" dirty="0">
                <a:latin typeface="Consolas" panose="020B0609020204030204" pitchFamily="49" charset="0"/>
              </a:rPr>
              <a:t>	int _b2;</a:t>
            </a:r>
          </a:p>
          <a:p>
            <a:pPr eaLnBrk="1" hangingPunct="1">
              <a:lnSpc>
                <a:spcPct val="70000"/>
              </a:lnSpc>
              <a:buFont typeface="Wingdings" pitchFamily="2" charset="2"/>
              <a:buNone/>
              <a:defRPr/>
            </a:pPr>
            <a:r>
              <a:rPr lang="en-US" altLang="zh-CN" sz="2000" dirty="0">
                <a:latin typeface="Consolas" panose="020B0609020204030204" pitchFamily="49" charset="0"/>
              </a:rPr>
              <a:t>};</a:t>
            </a:r>
          </a:p>
        </p:txBody>
      </p:sp>
      <p:sp>
        <p:nvSpPr>
          <p:cNvPr id="48132" name="Rectangle 4"/>
          <p:cNvSpPr>
            <a:spLocks noGrp="1" noChangeArrowheads="1"/>
          </p:cNvSpPr>
          <p:nvPr>
            <p:ph sz="half" idx="2"/>
          </p:nvPr>
        </p:nvSpPr>
        <p:spPr>
          <a:xfrm>
            <a:off x="1619672" y="4210584"/>
            <a:ext cx="4573352" cy="2088232"/>
          </a:xfrm>
          <a:solidFill>
            <a:schemeClr val="bg2">
              <a:lumMod val="90000"/>
            </a:schemeClr>
          </a:solidFill>
        </p:spPr>
        <p:txBody>
          <a:bodyPr vert="horz" rtlCol="0">
            <a:noAutofit/>
          </a:bodyPr>
          <a:lstStyle/>
          <a:p>
            <a:pPr>
              <a:lnSpc>
                <a:spcPct val="70000"/>
              </a:lnSpc>
              <a:buNone/>
            </a:pPr>
            <a:r>
              <a:rPr lang="en-US" altLang="zh-CN" sz="2000" dirty="0">
                <a:latin typeface="Consolas" panose="020B0609020204030204" pitchFamily="49" charset="0"/>
              </a:rPr>
              <a:t>class C : public B1, public B2</a:t>
            </a:r>
          </a:p>
          <a:p>
            <a:pPr>
              <a:lnSpc>
                <a:spcPct val="70000"/>
              </a:lnSpc>
              <a:buNone/>
            </a:pPr>
            <a:r>
              <a:rPr lang="en-US" altLang="zh-CN" sz="2000" dirty="0">
                <a:latin typeface="Consolas" panose="020B0609020204030204" pitchFamily="49" charset="0"/>
              </a:rPr>
              <a:t>{public:</a:t>
            </a:r>
          </a:p>
          <a:p>
            <a:pPr>
              <a:lnSpc>
                <a:spcPct val="70000"/>
              </a:lnSpc>
              <a:buNone/>
            </a:pPr>
            <a:r>
              <a:rPr lang="en-US" altLang="zh-CN" sz="2000" dirty="0">
                <a:latin typeface="Consolas" panose="020B0609020204030204" pitchFamily="49" charset="0"/>
              </a:rPr>
              <a:t>	int f();</a:t>
            </a:r>
          </a:p>
          <a:p>
            <a:pPr>
              <a:lnSpc>
                <a:spcPct val="70000"/>
              </a:lnSpc>
              <a:buNone/>
            </a:pPr>
            <a:r>
              <a:rPr lang="en-US" altLang="zh-CN" sz="2000" dirty="0">
                <a:latin typeface="Consolas" panose="020B0609020204030204" pitchFamily="49" charset="0"/>
              </a:rPr>
              <a:t>private:</a:t>
            </a:r>
          </a:p>
          <a:p>
            <a:pPr>
              <a:lnSpc>
                <a:spcPct val="70000"/>
              </a:lnSpc>
              <a:buNone/>
            </a:pPr>
            <a:r>
              <a:rPr lang="en-US" altLang="zh-CN" sz="2000" dirty="0">
                <a:latin typeface="Consolas" panose="020B0609020204030204" pitchFamily="49" charset="0"/>
              </a:rPr>
              <a:t>	int _d;</a:t>
            </a:r>
          </a:p>
          <a:p>
            <a:pPr>
              <a:lnSpc>
                <a:spcPct val="70000"/>
              </a:lnSpc>
              <a:buNone/>
            </a:pPr>
            <a:r>
              <a:rPr lang="en-US" altLang="zh-CN" sz="2000" dirty="0">
                <a:latin typeface="Consolas" panose="020B0609020204030204" pitchFamily="49" charset="0"/>
              </a:rPr>
              <a:t>};</a:t>
            </a:r>
          </a:p>
          <a:p>
            <a:pPr>
              <a:lnSpc>
                <a:spcPct val="70000"/>
              </a:lnSpc>
              <a:buNone/>
            </a:pPr>
            <a:endParaRPr lang="en-US" altLang="zh-CN" sz="2000" dirty="0">
              <a:latin typeface="Consolas" panose="020B0609020204030204" pitchFamily="49" charset="0"/>
            </a:endParaRPr>
          </a:p>
        </p:txBody>
      </p:sp>
      <p:sp>
        <p:nvSpPr>
          <p:cNvPr id="56322"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DD8FAB8-0BA9-4369-A3D9-F8FB0058AA79}" type="slidenum">
              <a:rPr lang="en-US" altLang="zh-CN" sz="1400" smtClean="0"/>
              <a:pPr eaLnBrk="1" hangingPunct="1"/>
              <a:t>10</a:t>
            </a:fld>
            <a:endParaRPr lang="en-US" altLang="zh-CN" sz="1400"/>
          </a:p>
        </p:txBody>
      </p:sp>
      <p:graphicFrame>
        <p:nvGraphicFramePr>
          <p:cNvPr id="2" name="表格 1"/>
          <p:cNvGraphicFramePr>
            <a:graphicFrameLocks noGrp="1"/>
          </p:cNvGraphicFramePr>
          <p:nvPr>
            <p:extLst>
              <p:ext uri="{D42A27DB-BD31-4B8C-83A1-F6EECF244321}">
                <p14:modId xmlns:p14="http://schemas.microsoft.com/office/powerpoint/2010/main" val="3730592128"/>
              </p:ext>
            </p:extLst>
          </p:nvPr>
        </p:nvGraphicFramePr>
        <p:xfrm>
          <a:off x="7472512" y="849596"/>
          <a:ext cx="1296144" cy="3108960"/>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20000"/>
                    </a:ext>
                  </a:extLst>
                </a:gridCol>
              </a:tblGrid>
              <a:tr h="370840">
                <a:tc>
                  <a:txBody>
                    <a:bodyPr/>
                    <a:lstStyle/>
                    <a:p>
                      <a:r>
                        <a:rPr lang="en-US" altLang="zh-CN" sz="2800" dirty="0"/>
                        <a:t> int _b</a:t>
                      </a:r>
                      <a:endParaRPr lang="zh-CN" altLang="en-US" sz="2800" dirty="0"/>
                    </a:p>
                  </a:txBody>
                  <a:tcPr/>
                </a:tc>
                <a:extLst>
                  <a:ext uri="{0D108BD9-81ED-4DB2-BD59-A6C34878D82A}">
                    <a16:rowId xmlns:a16="http://schemas.microsoft.com/office/drawing/2014/main" val="10000"/>
                  </a:ext>
                </a:extLst>
              </a:tr>
              <a:tr h="370840">
                <a:tc>
                  <a:txBody>
                    <a:bodyPr/>
                    <a:lstStyle/>
                    <a:p>
                      <a:r>
                        <a:rPr lang="en-US" altLang="zh-CN" sz="2800" dirty="0"/>
                        <a:t> int _b1</a:t>
                      </a:r>
                      <a:endParaRPr lang="zh-CN" altLang="en-US" sz="2800" dirty="0"/>
                    </a:p>
                  </a:txBody>
                  <a:tcPr/>
                </a:tc>
                <a:extLst>
                  <a:ext uri="{0D108BD9-81ED-4DB2-BD59-A6C34878D82A}">
                    <a16:rowId xmlns:a16="http://schemas.microsoft.com/office/drawing/2014/main" val="10001"/>
                  </a:ext>
                </a:extLst>
              </a:tr>
              <a:tr h="370840">
                <a:tc>
                  <a:txBody>
                    <a:bodyPr/>
                    <a:lstStyle/>
                    <a:p>
                      <a:r>
                        <a:rPr lang="en-US" altLang="zh-CN" sz="2800" dirty="0"/>
                        <a:t> int _b</a:t>
                      </a:r>
                      <a:endParaRPr lang="zh-CN" altLang="en-US" sz="2800" dirty="0"/>
                    </a:p>
                  </a:txBody>
                  <a:tcPr/>
                </a:tc>
                <a:extLst>
                  <a:ext uri="{0D108BD9-81ED-4DB2-BD59-A6C34878D82A}">
                    <a16:rowId xmlns:a16="http://schemas.microsoft.com/office/drawing/2014/main" val="10002"/>
                  </a:ext>
                </a:extLst>
              </a:tr>
              <a:tr h="370840">
                <a:tc>
                  <a:txBody>
                    <a:bodyPr/>
                    <a:lstStyle/>
                    <a:p>
                      <a:r>
                        <a:rPr lang="en-US" altLang="zh-CN" sz="2800" dirty="0"/>
                        <a:t> int _b2</a:t>
                      </a:r>
                      <a:endParaRPr lang="zh-CN" altLang="en-US" sz="2800" dirty="0"/>
                    </a:p>
                  </a:txBody>
                  <a:tcPr/>
                </a:tc>
                <a:extLst>
                  <a:ext uri="{0D108BD9-81ED-4DB2-BD59-A6C34878D82A}">
                    <a16:rowId xmlns:a16="http://schemas.microsoft.com/office/drawing/2014/main" val="10003"/>
                  </a:ext>
                </a:extLst>
              </a:tr>
              <a:tr h="370840">
                <a:tc>
                  <a:txBody>
                    <a:bodyPr/>
                    <a:lstStyle/>
                    <a:p>
                      <a:r>
                        <a:rPr lang="en-US" altLang="zh-CN" sz="2800" baseline="0" dirty="0"/>
                        <a:t> </a:t>
                      </a:r>
                      <a:r>
                        <a:rPr lang="en-US" altLang="zh-CN" sz="2800" baseline="0" dirty="0" err="1"/>
                        <a:t>int</a:t>
                      </a:r>
                      <a:r>
                        <a:rPr lang="en-US" altLang="zh-CN" sz="2800" baseline="0" dirty="0"/>
                        <a:t> f</a:t>
                      </a:r>
                      <a:r>
                        <a:rPr lang="en-US" altLang="zh-CN" sz="2800" dirty="0"/>
                        <a:t>()</a:t>
                      </a:r>
                      <a:endParaRPr lang="zh-CN" altLang="en-US" sz="2800" dirty="0"/>
                    </a:p>
                  </a:txBody>
                  <a:tcPr/>
                </a:tc>
                <a:extLst>
                  <a:ext uri="{0D108BD9-81ED-4DB2-BD59-A6C34878D82A}">
                    <a16:rowId xmlns:a16="http://schemas.microsoft.com/office/drawing/2014/main" val="10004"/>
                  </a:ext>
                </a:extLst>
              </a:tr>
              <a:tr h="370840">
                <a:tc>
                  <a:txBody>
                    <a:bodyPr/>
                    <a:lstStyle/>
                    <a:p>
                      <a:r>
                        <a:rPr lang="en-US" altLang="zh-CN" sz="2800" dirty="0"/>
                        <a:t> int _d</a:t>
                      </a:r>
                      <a:endParaRPr lang="zh-CN" altLang="en-US" sz="2800" dirty="0"/>
                    </a:p>
                  </a:txBody>
                  <a:tcPr/>
                </a:tc>
                <a:extLst>
                  <a:ext uri="{0D108BD9-81ED-4DB2-BD59-A6C34878D82A}">
                    <a16:rowId xmlns:a16="http://schemas.microsoft.com/office/drawing/2014/main" val="10005"/>
                  </a:ext>
                </a:extLst>
              </a:tr>
            </a:tbl>
          </a:graphicData>
        </a:graphic>
      </p:graphicFrame>
      <p:grpSp>
        <p:nvGrpSpPr>
          <p:cNvPr id="5" name="组合 4"/>
          <p:cNvGrpSpPr/>
          <p:nvPr/>
        </p:nvGrpSpPr>
        <p:grpSpPr>
          <a:xfrm>
            <a:off x="5796136" y="836712"/>
            <a:ext cx="1618148" cy="3075334"/>
            <a:chOff x="5631928" y="1412776"/>
            <a:chExt cx="1618148" cy="3075334"/>
          </a:xfrm>
        </p:grpSpPr>
        <p:sp>
          <p:nvSpPr>
            <p:cNvPr id="3" name="左大括号 2"/>
            <p:cNvSpPr/>
            <p:nvPr/>
          </p:nvSpPr>
          <p:spPr>
            <a:xfrm>
              <a:off x="6012160" y="1412776"/>
              <a:ext cx="216024" cy="307533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5631928" y="2679303"/>
              <a:ext cx="380232" cy="461665"/>
            </a:xfrm>
            <a:prstGeom prst="rect">
              <a:avLst/>
            </a:prstGeom>
          </p:spPr>
          <p:txBody>
            <a:bodyPr wrap="none">
              <a:spAutoFit/>
            </a:bodyPr>
            <a:lstStyle/>
            <a:p>
              <a:r>
                <a:rPr lang="en-US" altLang="zh-CN" sz="2400" dirty="0">
                  <a:latin typeface="+mn-ea"/>
                </a:rPr>
                <a:t>C</a:t>
              </a:r>
              <a:endParaRPr lang="zh-CN" altLang="en-US" sz="2400" dirty="0"/>
            </a:p>
          </p:txBody>
        </p:sp>
        <p:sp>
          <p:nvSpPr>
            <p:cNvPr id="12" name="左大括号 11"/>
            <p:cNvSpPr/>
            <p:nvPr/>
          </p:nvSpPr>
          <p:spPr>
            <a:xfrm>
              <a:off x="6588224" y="1412776"/>
              <a:ext cx="216024" cy="10081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矩形 12"/>
            <p:cNvSpPr/>
            <p:nvPr/>
          </p:nvSpPr>
          <p:spPr>
            <a:xfrm>
              <a:off x="6156176" y="1700808"/>
              <a:ext cx="518091" cy="461665"/>
            </a:xfrm>
            <a:prstGeom prst="rect">
              <a:avLst/>
            </a:prstGeom>
          </p:spPr>
          <p:txBody>
            <a:bodyPr wrap="none">
              <a:spAutoFit/>
            </a:bodyPr>
            <a:lstStyle/>
            <a:p>
              <a:r>
                <a:rPr lang="en-US" altLang="zh-CN" sz="2400" dirty="0">
                  <a:latin typeface="+mn-ea"/>
                </a:rPr>
                <a:t>B1</a:t>
              </a:r>
              <a:endParaRPr lang="zh-CN" altLang="en-US" sz="2400" dirty="0"/>
            </a:p>
          </p:txBody>
        </p:sp>
        <p:sp>
          <p:nvSpPr>
            <p:cNvPr id="14" name="左大括号 13"/>
            <p:cNvSpPr/>
            <p:nvPr/>
          </p:nvSpPr>
          <p:spPr>
            <a:xfrm>
              <a:off x="6588224" y="2492896"/>
              <a:ext cx="216024" cy="10081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矩形 14"/>
            <p:cNvSpPr/>
            <p:nvPr/>
          </p:nvSpPr>
          <p:spPr>
            <a:xfrm>
              <a:off x="6156176" y="2780928"/>
              <a:ext cx="518091" cy="461665"/>
            </a:xfrm>
            <a:prstGeom prst="rect">
              <a:avLst/>
            </a:prstGeom>
          </p:spPr>
          <p:txBody>
            <a:bodyPr wrap="none">
              <a:spAutoFit/>
            </a:bodyPr>
            <a:lstStyle/>
            <a:p>
              <a:r>
                <a:rPr lang="en-US" altLang="zh-CN" sz="2400" dirty="0">
                  <a:latin typeface="+mn-ea"/>
                </a:rPr>
                <a:t>B2</a:t>
              </a:r>
              <a:endParaRPr lang="zh-CN" altLang="en-US" sz="2400" dirty="0"/>
            </a:p>
          </p:txBody>
        </p:sp>
        <p:sp>
          <p:nvSpPr>
            <p:cNvPr id="16" name="左大括号 15"/>
            <p:cNvSpPr/>
            <p:nvPr/>
          </p:nvSpPr>
          <p:spPr>
            <a:xfrm>
              <a:off x="7020272" y="1412776"/>
              <a:ext cx="216024" cy="6056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p:cNvSpPr/>
            <p:nvPr/>
          </p:nvSpPr>
          <p:spPr>
            <a:xfrm>
              <a:off x="6718460" y="1484784"/>
              <a:ext cx="373820" cy="461665"/>
            </a:xfrm>
            <a:prstGeom prst="rect">
              <a:avLst/>
            </a:prstGeom>
          </p:spPr>
          <p:txBody>
            <a:bodyPr wrap="none">
              <a:spAutoFit/>
            </a:bodyPr>
            <a:lstStyle/>
            <a:p>
              <a:r>
                <a:rPr lang="en-US" altLang="zh-CN" sz="2400" dirty="0">
                  <a:latin typeface="+mn-ea"/>
                </a:rPr>
                <a:t>B</a:t>
              </a:r>
              <a:endParaRPr lang="zh-CN" altLang="en-US" sz="2400" dirty="0"/>
            </a:p>
          </p:txBody>
        </p:sp>
        <p:sp>
          <p:nvSpPr>
            <p:cNvPr id="18" name="左大括号 17"/>
            <p:cNvSpPr/>
            <p:nvPr/>
          </p:nvSpPr>
          <p:spPr>
            <a:xfrm>
              <a:off x="7034052" y="2492896"/>
              <a:ext cx="216024" cy="6056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6732240" y="2564903"/>
              <a:ext cx="373820" cy="461665"/>
            </a:xfrm>
            <a:prstGeom prst="rect">
              <a:avLst/>
            </a:prstGeom>
          </p:spPr>
          <p:txBody>
            <a:bodyPr wrap="none">
              <a:spAutoFit/>
            </a:bodyPr>
            <a:lstStyle/>
            <a:p>
              <a:r>
                <a:rPr lang="en-US" altLang="zh-CN" sz="2400" dirty="0">
                  <a:latin typeface="+mn-ea"/>
                </a:rPr>
                <a:t>B</a:t>
              </a:r>
              <a:endParaRPr lang="zh-CN" altLang="en-US" sz="2400" dirty="0"/>
            </a:p>
          </p:txBody>
        </p:sp>
      </p:grpSp>
      <p:grpSp>
        <p:nvGrpSpPr>
          <p:cNvPr id="20" name="组合 19">
            <a:extLst>
              <a:ext uri="{FF2B5EF4-FFF2-40B4-BE49-F238E27FC236}">
                <a16:creationId xmlns:a16="http://schemas.microsoft.com/office/drawing/2014/main" id="{C1E4B376-55BA-EEA6-DADD-CA84CDC3061A}"/>
              </a:ext>
            </a:extLst>
          </p:cNvPr>
          <p:cNvGrpSpPr/>
          <p:nvPr/>
        </p:nvGrpSpPr>
        <p:grpSpPr>
          <a:xfrm>
            <a:off x="6365541" y="4257123"/>
            <a:ext cx="2238908" cy="1277522"/>
            <a:chOff x="3131840" y="4996333"/>
            <a:chExt cx="2271315" cy="1828800"/>
          </a:xfrm>
        </p:grpSpPr>
        <p:sp>
          <p:nvSpPr>
            <p:cNvPr id="56328" name="Rectangle 34"/>
            <p:cNvSpPr>
              <a:spLocks noChangeArrowheads="1"/>
            </p:cNvSpPr>
            <p:nvPr/>
          </p:nvSpPr>
          <p:spPr bwMode="auto">
            <a:xfrm>
              <a:off x="3131840" y="4996333"/>
              <a:ext cx="2271315" cy="1828800"/>
            </a:xfrm>
            <a:prstGeom prst="rect">
              <a:avLst/>
            </a:prstGeom>
            <a:solidFill>
              <a:schemeClr val="accent5">
                <a:lumMod val="20000"/>
                <a:lumOff val="80000"/>
              </a:schemeClr>
            </a:solidFill>
            <a:ln>
              <a:noFill/>
            </a:ln>
          </p:spPr>
          <p:txBody>
            <a:bodyPr lIns="92075" tIns="46038" rIns="92075" bIns="46038"/>
            <a:lstStyle/>
            <a:p>
              <a:pPr marL="342900" indent="-342900">
                <a:buClr>
                  <a:schemeClr val="accent2"/>
                </a:buClr>
                <a:buSzPct val="80000"/>
                <a:buFont typeface="Wingdings" pitchFamily="2" charset="2"/>
                <a:buNone/>
              </a:pPr>
              <a:r>
                <a:rPr lang="zh-CN" altLang="en-US" b="1" dirty="0">
                  <a:solidFill>
                    <a:schemeClr val="tx2"/>
                  </a:solidFill>
                  <a:latin typeface="Arial" charset="0"/>
                </a:rPr>
                <a:t>有二义性：</a:t>
              </a:r>
            </a:p>
            <a:p>
              <a:pPr marL="342900" indent="-342900">
                <a:buClr>
                  <a:schemeClr val="accent2"/>
                </a:buClr>
                <a:buSzPct val="80000"/>
                <a:buFont typeface="Wingdings" pitchFamily="2" charset="2"/>
                <a:buNone/>
              </a:pPr>
              <a:r>
                <a:rPr lang="en-US" altLang="zh-CN" b="1" dirty="0">
                  <a:solidFill>
                    <a:schemeClr val="tx2"/>
                  </a:solidFill>
                  <a:latin typeface="Arial" charset="0"/>
                </a:rPr>
                <a:t>C  </a:t>
              </a:r>
              <a:r>
                <a:rPr lang="en-US" altLang="zh-CN" b="1" dirty="0" err="1">
                  <a:solidFill>
                    <a:schemeClr val="tx2"/>
                  </a:solidFill>
                  <a:latin typeface="Arial" charset="0"/>
                </a:rPr>
                <a:t>c</a:t>
              </a:r>
              <a:r>
                <a:rPr lang="en-US" altLang="zh-CN" b="1" dirty="0">
                  <a:solidFill>
                    <a:schemeClr val="tx2"/>
                  </a:solidFill>
                  <a:latin typeface="Arial" charset="0"/>
                </a:rPr>
                <a:t>;</a:t>
              </a:r>
            </a:p>
            <a:p>
              <a:pPr marL="342900" indent="-342900">
                <a:buClr>
                  <a:schemeClr val="accent2"/>
                </a:buClr>
                <a:buSzPct val="80000"/>
                <a:buFont typeface="Wingdings" pitchFamily="2" charset="2"/>
                <a:buNone/>
              </a:pPr>
              <a:r>
                <a:rPr lang="en-US" altLang="zh-CN" b="1" dirty="0" err="1">
                  <a:solidFill>
                    <a:schemeClr val="tx2"/>
                  </a:solidFill>
                  <a:latin typeface="Arial" charset="0"/>
                </a:rPr>
                <a:t>c._b</a:t>
              </a:r>
              <a:endParaRPr lang="en-US" altLang="zh-CN" b="1" dirty="0">
                <a:solidFill>
                  <a:schemeClr val="tx2"/>
                </a:solidFill>
                <a:latin typeface="Arial" charset="0"/>
              </a:endParaRPr>
            </a:p>
            <a:p>
              <a:pPr marL="342900" indent="-342900">
                <a:buClr>
                  <a:schemeClr val="accent2"/>
                </a:buClr>
                <a:buSzPct val="80000"/>
                <a:buFont typeface="Wingdings" pitchFamily="2" charset="2"/>
                <a:buNone/>
              </a:pPr>
              <a:r>
                <a:rPr lang="en-US" altLang="zh-CN" b="1" dirty="0" err="1">
                  <a:solidFill>
                    <a:schemeClr val="tx2"/>
                  </a:solidFill>
                  <a:latin typeface="Arial" charset="0"/>
                </a:rPr>
                <a:t>c.B</a:t>
              </a:r>
              <a:r>
                <a:rPr lang="en-US" altLang="zh-CN" b="1" dirty="0">
                  <a:solidFill>
                    <a:schemeClr val="tx2"/>
                  </a:solidFill>
                  <a:latin typeface="Arial" charset="0"/>
                </a:rPr>
                <a:t>::_b</a:t>
              </a:r>
            </a:p>
          </p:txBody>
        </p:sp>
        <p:sp>
          <p:nvSpPr>
            <p:cNvPr id="21" name="乘号 20"/>
            <p:cNvSpPr/>
            <p:nvPr/>
          </p:nvSpPr>
          <p:spPr>
            <a:xfrm>
              <a:off x="3978878" y="5878874"/>
              <a:ext cx="519868" cy="310760"/>
            </a:xfrm>
            <a:prstGeom prst="mathMultiply">
              <a:avLst>
                <a:gd name="adj1" fmla="val 235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乘号 21"/>
            <p:cNvSpPr/>
            <p:nvPr/>
          </p:nvSpPr>
          <p:spPr>
            <a:xfrm>
              <a:off x="4007563" y="6269006"/>
              <a:ext cx="519868" cy="310760"/>
            </a:xfrm>
            <a:prstGeom prst="mathMultiply">
              <a:avLst>
                <a:gd name="adj1" fmla="val 235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31A73174-558C-37D6-875B-CE421E4CBE6A}"/>
              </a:ext>
            </a:extLst>
          </p:cNvPr>
          <p:cNvGrpSpPr/>
          <p:nvPr/>
        </p:nvGrpSpPr>
        <p:grpSpPr>
          <a:xfrm>
            <a:off x="6399148" y="5633864"/>
            <a:ext cx="2100262" cy="923330"/>
            <a:chOff x="5640090" y="5373216"/>
            <a:chExt cx="2100262" cy="923330"/>
          </a:xfrm>
        </p:grpSpPr>
        <p:sp>
          <p:nvSpPr>
            <p:cNvPr id="56329" name="Text Box 35"/>
            <p:cNvSpPr txBox="1">
              <a:spLocks noChangeArrowheads="1"/>
            </p:cNvSpPr>
            <p:nvPr/>
          </p:nvSpPr>
          <p:spPr bwMode="auto">
            <a:xfrm>
              <a:off x="5640090" y="5373216"/>
              <a:ext cx="2100262" cy="923330"/>
            </a:xfrm>
            <a:prstGeom prst="rect">
              <a:avLst/>
            </a:prstGeom>
            <a:solidFill>
              <a:schemeClr val="accent5">
                <a:lumMod val="20000"/>
                <a:lumOff val="80000"/>
              </a:schemeClr>
            </a:solidFill>
            <a:ln>
              <a:noFill/>
            </a:ln>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buClr>
                  <a:schemeClr val="accent2"/>
                </a:buClr>
                <a:buSzPct val="80000"/>
                <a:buFont typeface="Wingdings" pitchFamily="2" charset="2"/>
                <a:buNone/>
              </a:pPr>
              <a:r>
                <a:rPr lang="zh-CN" altLang="en-US" sz="1800" b="1" dirty="0">
                  <a:latin typeface="华文楷体" panose="02010600040101010101" pitchFamily="2" charset="-122"/>
                  <a:ea typeface="华文楷体" panose="02010600040101010101" pitchFamily="2" charset="-122"/>
                </a:rPr>
                <a:t>无二义性</a:t>
              </a:r>
              <a:r>
                <a:rPr lang="zh-CN" altLang="en-US" sz="1800" b="1" dirty="0">
                  <a:latin typeface="Arial" charset="0"/>
                </a:rPr>
                <a:t>：</a:t>
              </a:r>
            </a:p>
            <a:p>
              <a:pPr eaLnBrk="1" hangingPunct="1">
                <a:buClr>
                  <a:schemeClr val="accent2"/>
                </a:buClr>
                <a:buSzPct val="80000"/>
                <a:buFont typeface="Wingdings" pitchFamily="2" charset="2"/>
                <a:buNone/>
              </a:pPr>
              <a:r>
                <a:rPr lang="en-US" altLang="zh-CN" sz="1800" b="1" dirty="0">
                  <a:latin typeface="Arial" charset="0"/>
                </a:rPr>
                <a:t>c.B1::_b</a:t>
              </a:r>
            </a:p>
            <a:p>
              <a:pPr eaLnBrk="1" hangingPunct="1">
                <a:buClr>
                  <a:schemeClr val="accent2"/>
                </a:buClr>
                <a:buSzPct val="80000"/>
                <a:buFont typeface="Wingdings" pitchFamily="2" charset="2"/>
                <a:buNone/>
              </a:pPr>
              <a:r>
                <a:rPr lang="en-US" altLang="zh-CN" sz="1800" b="1" dirty="0">
                  <a:latin typeface="Arial" charset="0"/>
                </a:rPr>
                <a:t>c.B2::_b</a:t>
              </a:r>
            </a:p>
          </p:txBody>
        </p:sp>
        <p:grpSp>
          <p:nvGrpSpPr>
            <p:cNvPr id="23" name="组合 22"/>
            <p:cNvGrpSpPr/>
            <p:nvPr/>
          </p:nvGrpSpPr>
          <p:grpSpPr>
            <a:xfrm>
              <a:off x="6765270" y="5616624"/>
              <a:ext cx="526729" cy="313815"/>
              <a:chOff x="3452903" y="5734857"/>
              <a:chExt cx="526729" cy="313815"/>
            </a:xfrm>
          </p:grpSpPr>
          <p:cxnSp>
            <p:nvCxnSpPr>
              <p:cNvPr id="24" name="直接连接符 23"/>
              <p:cNvCxnSpPr/>
              <p:nvPr/>
            </p:nvCxnSpPr>
            <p:spPr>
              <a:xfrm>
                <a:off x="3452903" y="5832648"/>
                <a:ext cx="144015" cy="2160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596918" y="5734857"/>
                <a:ext cx="382714" cy="3138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742597" y="5904656"/>
              <a:ext cx="526729" cy="313815"/>
              <a:chOff x="3452903" y="5616624"/>
              <a:chExt cx="526729" cy="313815"/>
            </a:xfrm>
          </p:grpSpPr>
          <p:cxnSp>
            <p:nvCxnSpPr>
              <p:cNvPr id="27" name="直接连接符 26"/>
              <p:cNvCxnSpPr/>
              <p:nvPr/>
            </p:nvCxnSpPr>
            <p:spPr>
              <a:xfrm>
                <a:off x="3452903" y="5714415"/>
                <a:ext cx="144015" cy="2160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596918" y="5616624"/>
                <a:ext cx="382714" cy="3138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56332" name="组合 56331"/>
          <p:cNvGrpSpPr/>
          <p:nvPr/>
        </p:nvGrpSpPr>
        <p:grpSpPr>
          <a:xfrm>
            <a:off x="18614" y="1058245"/>
            <a:ext cx="1257901" cy="2910329"/>
            <a:chOff x="7862446" y="454439"/>
            <a:chExt cx="1257901" cy="2910329"/>
          </a:xfrm>
        </p:grpSpPr>
        <p:sp>
          <p:nvSpPr>
            <p:cNvPr id="8" name="矩形 7"/>
            <p:cNvSpPr/>
            <p:nvPr/>
          </p:nvSpPr>
          <p:spPr>
            <a:xfrm>
              <a:off x="8474016" y="1557510"/>
              <a:ext cx="646331" cy="646331"/>
            </a:xfrm>
            <a:prstGeom prst="rect">
              <a:avLst/>
            </a:prstGeom>
          </p:spPr>
          <p:txBody>
            <a:bodyPr wrap="none">
              <a:spAutoFit/>
            </a:bodyPr>
            <a:lstStyle/>
            <a:p>
              <a:pPr algn="ctr"/>
              <a:r>
                <a:rPr lang="en-US" altLang="zh-CN" dirty="0">
                  <a:latin typeface="+mn-ea"/>
                </a:rPr>
                <a:t>B2</a:t>
              </a:r>
            </a:p>
            <a:p>
              <a:pPr algn="ctr"/>
              <a:r>
                <a:rPr lang="zh-CN" altLang="en-US" dirty="0">
                  <a:latin typeface="+mn-ea"/>
                </a:rPr>
                <a:t>教师</a:t>
              </a:r>
              <a:endParaRPr lang="zh-CN" altLang="en-US" dirty="0"/>
            </a:p>
          </p:txBody>
        </p:sp>
        <p:grpSp>
          <p:nvGrpSpPr>
            <p:cNvPr id="56331" name="组合 56330"/>
            <p:cNvGrpSpPr/>
            <p:nvPr/>
          </p:nvGrpSpPr>
          <p:grpSpPr>
            <a:xfrm>
              <a:off x="7862446" y="454439"/>
              <a:ext cx="934736" cy="2910329"/>
              <a:chOff x="7862446" y="454439"/>
              <a:chExt cx="934736" cy="2910329"/>
            </a:xfrm>
          </p:grpSpPr>
          <p:sp>
            <p:nvSpPr>
              <p:cNvPr id="6" name="矩形 5"/>
              <p:cNvSpPr/>
              <p:nvPr/>
            </p:nvSpPr>
            <p:spPr>
              <a:xfrm>
                <a:off x="8289534" y="454439"/>
                <a:ext cx="415498" cy="646331"/>
              </a:xfrm>
              <a:prstGeom prst="rect">
                <a:avLst/>
              </a:prstGeom>
            </p:spPr>
            <p:txBody>
              <a:bodyPr wrap="none">
                <a:spAutoFit/>
              </a:bodyPr>
              <a:lstStyle/>
              <a:p>
                <a:pPr algn="ctr"/>
                <a:r>
                  <a:rPr lang="en-US" altLang="zh-CN" dirty="0"/>
                  <a:t>B</a:t>
                </a:r>
              </a:p>
              <a:p>
                <a:r>
                  <a:rPr lang="zh-CN" altLang="en-US" dirty="0"/>
                  <a:t>人</a:t>
                </a:r>
              </a:p>
            </p:txBody>
          </p:sp>
          <p:sp>
            <p:nvSpPr>
              <p:cNvPr id="7" name="矩形 6"/>
              <p:cNvSpPr/>
              <p:nvPr/>
            </p:nvSpPr>
            <p:spPr>
              <a:xfrm>
                <a:off x="7862446" y="1556792"/>
                <a:ext cx="646331" cy="646331"/>
              </a:xfrm>
              <a:prstGeom prst="rect">
                <a:avLst/>
              </a:prstGeom>
            </p:spPr>
            <p:txBody>
              <a:bodyPr wrap="none">
                <a:spAutoFit/>
              </a:bodyPr>
              <a:lstStyle/>
              <a:p>
                <a:pPr algn="ctr"/>
                <a:r>
                  <a:rPr lang="en-US" altLang="zh-CN" dirty="0"/>
                  <a:t>B1</a:t>
                </a:r>
              </a:p>
              <a:p>
                <a:r>
                  <a:rPr lang="zh-CN" altLang="en-US" dirty="0"/>
                  <a:t>学生</a:t>
                </a:r>
              </a:p>
            </p:txBody>
          </p:sp>
          <p:sp>
            <p:nvSpPr>
              <p:cNvPr id="9" name="矩形 8"/>
              <p:cNvSpPr/>
              <p:nvPr/>
            </p:nvSpPr>
            <p:spPr>
              <a:xfrm>
                <a:off x="8141500" y="2718437"/>
                <a:ext cx="646331" cy="646331"/>
              </a:xfrm>
              <a:prstGeom prst="rect">
                <a:avLst/>
              </a:prstGeom>
            </p:spPr>
            <p:txBody>
              <a:bodyPr wrap="none">
                <a:spAutoFit/>
              </a:bodyPr>
              <a:lstStyle/>
              <a:p>
                <a:pPr algn="ctr"/>
                <a:r>
                  <a:rPr lang="en-US" altLang="zh-CN" dirty="0"/>
                  <a:t>C</a:t>
                </a:r>
              </a:p>
              <a:p>
                <a:r>
                  <a:rPr lang="zh-CN" altLang="en-US" dirty="0"/>
                  <a:t>助教</a:t>
                </a:r>
              </a:p>
            </p:txBody>
          </p:sp>
          <p:cxnSp>
            <p:nvCxnSpPr>
              <p:cNvPr id="11" name="直接箭头连接符 10"/>
              <p:cNvCxnSpPr>
                <a:stCxn id="6" idx="2"/>
                <a:endCxn id="7" idx="0"/>
              </p:cNvCxnSpPr>
              <p:nvPr/>
            </p:nvCxnSpPr>
            <p:spPr>
              <a:xfrm flipH="1">
                <a:off x="8185612" y="1100770"/>
                <a:ext cx="311671" cy="4560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cxnSpLocks/>
                <a:stCxn id="6" idx="2"/>
                <a:endCxn id="8" idx="0"/>
              </p:cNvCxnSpPr>
              <p:nvPr/>
            </p:nvCxnSpPr>
            <p:spPr>
              <a:xfrm>
                <a:off x="8497283" y="1100770"/>
                <a:ext cx="299899" cy="456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325" name="直接箭头连接符 56324"/>
              <p:cNvCxnSpPr>
                <a:stCxn id="7" idx="2"/>
                <a:endCxn id="9" idx="0"/>
              </p:cNvCxnSpPr>
              <p:nvPr/>
            </p:nvCxnSpPr>
            <p:spPr>
              <a:xfrm>
                <a:off x="8185612" y="2203123"/>
                <a:ext cx="279054" cy="515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330" name="直接箭头连接符 56329"/>
              <p:cNvCxnSpPr>
                <a:stCxn id="8" idx="2"/>
                <a:endCxn id="9" idx="0"/>
              </p:cNvCxnSpPr>
              <p:nvPr/>
            </p:nvCxnSpPr>
            <p:spPr>
              <a:xfrm flipH="1">
                <a:off x="8464666" y="2203841"/>
                <a:ext cx="332516" cy="5145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39" name="文本框 38">
            <a:extLst>
              <a:ext uri="{FF2B5EF4-FFF2-40B4-BE49-F238E27FC236}">
                <a16:creationId xmlns:a16="http://schemas.microsoft.com/office/drawing/2014/main" id="{FAE243A6-5532-1D44-932B-0C7FA03388FB}"/>
              </a:ext>
            </a:extLst>
          </p:cNvPr>
          <p:cNvSpPr txBox="1"/>
          <p:nvPr/>
        </p:nvSpPr>
        <p:spPr>
          <a:xfrm>
            <a:off x="7238" y="4507093"/>
            <a:ext cx="1569660" cy="646331"/>
          </a:xfrm>
          <a:prstGeom prst="rect">
            <a:avLst/>
          </a:prstGeom>
          <a:noFill/>
        </p:spPr>
        <p:txBody>
          <a:bodyPr wrap="none" rtlCol="0">
            <a:spAutoFit/>
          </a:bodyPr>
          <a:lstStyle/>
          <a:p>
            <a:r>
              <a:rPr kumimoji="1" lang="zh-CN" altLang="en-US" dirty="0"/>
              <a:t>这样一改</a:t>
            </a:r>
            <a:r>
              <a:rPr kumimoji="1" lang="en-US" altLang="zh-CN" dirty="0"/>
              <a:t>_b</a:t>
            </a:r>
          </a:p>
          <a:p>
            <a:r>
              <a:rPr kumimoji="1" lang="zh-CN" altLang="en-US" dirty="0"/>
              <a:t>就需要改两个</a:t>
            </a:r>
          </a:p>
        </p:txBody>
      </p:sp>
    </p:spTree>
    <p:extLst>
      <p:ext uri="{BB962C8B-B14F-4D97-AF65-F5344CB8AC3E}">
        <p14:creationId xmlns:p14="http://schemas.microsoft.com/office/powerpoint/2010/main" val="188218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143000" y="457200"/>
            <a:ext cx="7772400" cy="762000"/>
          </a:xfrm>
        </p:spPr>
        <p:txBody>
          <a:bodyPr/>
          <a:lstStyle/>
          <a:p>
            <a:pPr eaLnBrk="1" hangingPunct="1"/>
            <a:r>
              <a:rPr lang="zh-CN" altLang="en-US"/>
              <a:t>虚基类</a:t>
            </a:r>
          </a:p>
        </p:txBody>
      </p:sp>
      <p:sp>
        <p:nvSpPr>
          <p:cNvPr id="57348" name="Rectangle 3"/>
          <p:cNvSpPr>
            <a:spLocks noGrp="1" noChangeArrowheads="1"/>
          </p:cNvSpPr>
          <p:nvPr>
            <p:ph idx="1"/>
          </p:nvPr>
        </p:nvSpPr>
        <p:spPr>
          <a:xfrm>
            <a:off x="381000" y="1340768"/>
            <a:ext cx="8382000" cy="4800600"/>
          </a:xfrm>
        </p:spPr>
        <p:txBody>
          <a:bodyPr/>
          <a:lstStyle/>
          <a:p>
            <a:pPr eaLnBrk="1" hangingPunct="1">
              <a:spcBef>
                <a:spcPct val="0"/>
              </a:spcBef>
            </a:pPr>
            <a:r>
              <a:rPr lang="zh-CN" altLang="en-US" sz="2800" dirty="0"/>
              <a:t>虚基类的引入</a:t>
            </a:r>
          </a:p>
          <a:p>
            <a:pPr lvl="1" eaLnBrk="1" hangingPunct="1">
              <a:spcBef>
                <a:spcPct val="0"/>
              </a:spcBef>
            </a:pPr>
            <a:r>
              <a:rPr lang="zh-CN" altLang="en-US" sz="2400" dirty="0"/>
              <a:t>用于有共同基类的场合</a:t>
            </a:r>
          </a:p>
          <a:p>
            <a:pPr eaLnBrk="1" hangingPunct="1">
              <a:spcBef>
                <a:spcPct val="0"/>
              </a:spcBef>
            </a:pPr>
            <a:r>
              <a:rPr lang="zh-CN" altLang="en-US" sz="2800" dirty="0"/>
              <a:t>声明</a:t>
            </a:r>
          </a:p>
          <a:p>
            <a:pPr lvl="1" eaLnBrk="1" hangingPunct="1">
              <a:spcBef>
                <a:spcPct val="0"/>
              </a:spcBef>
            </a:pPr>
            <a:r>
              <a:rPr lang="zh-CN" altLang="en-US" sz="2400" dirty="0"/>
              <a:t>以</a:t>
            </a:r>
            <a:r>
              <a:rPr lang="en-US" altLang="zh-CN" sz="2400" dirty="0"/>
              <a:t>virtual</a:t>
            </a:r>
            <a:r>
              <a:rPr lang="zh-CN" altLang="en-US" sz="2400" dirty="0"/>
              <a:t>修饰说明基类</a:t>
            </a:r>
            <a:br>
              <a:rPr lang="zh-CN" altLang="en-US" sz="2400" dirty="0"/>
            </a:br>
            <a:r>
              <a:rPr lang="zh-CN" altLang="en-US" sz="2400" dirty="0"/>
              <a:t>例：</a:t>
            </a:r>
            <a:r>
              <a:rPr lang="en-US" altLang="zh-CN" sz="2400" dirty="0"/>
              <a:t>class B1:</a:t>
            </a:r>
            <a:r>
              <a:rPr lang="en-US" altLang="zh-CN" sz="2400" dirty="0">
                <a:solidFill>
                  <a:schemeClr val="tx1"/>
                </a:solidFill>
              </a:rPr>
              <a:t>virtual </a:t>
            </a:r>
            <a:r>
              <a:rPr lang="en-US" altLang="zh-CN" sz="2400" dirty="0"/>
              <a:t>public B</a:t>
            </a:r>
          </a:p>
          <a:p>
            <a:pPr eaLnBrk="1" hangingPunct="1">
              <a:spcBef>
                <a:spcPct val="0"/>
              </a:spcBef>
            </a:pPr>
            <a:r>
              <a:rPr lang="zh-CN" altLang="en-US" sz="2800" dirty="0"/>
              <a:t>作用</a:t>
            </a:r>
          </a:p>
          <a:p>
            <a:pPr lvl="1" eaLnBrk="1" hangingPunct="1">
              <a:spcBef>
                <a:spcPct val="0"/>
              </a:spcBef>
            </a:pPr>
            <a:r>
              <a:rPr lang="zh-CN" altLang="en-US" sz="2400" dirty="0"/>
              <a:t>主要用来解决多继承时可能发生的对同一基类继承多次而产生的二义性问题</a:t>
            </a:r>
            <a:r>
              <a:rPr lang="en-US" altLang="zh-CN" sz="2400" dirty="0"/>
              <a:t>.</a:t>
            </a:r>
          </a:p>
          <a:p>
            <a:pPr lvl="1" eaLnBrk="1" hangingPunct="1">
              <a:spcBef>
                <a:spcPct val="0"/>
              </a:spcBef>
            </a:pPr>
            <a:r>
              <a:rPr lang="zh-CN" altLang="en-US" sz="2400" dirty="0"/>
              <a:t>为最远的派生类提供唯一的基类成员，而不重复产生多次拷贝</a:t>
            </a:r>
          </a:p>
          <a:p>
            <a:pPr eaLnBrk="1" hangingPunct="1">
              <a:spcBef>
                <a:spcPct val="0"/>
              </a:spcBef>
            </a:pPr>
            <a:r>
              <a:rPr lang="zh-CN" altLang="en-US" sz="2800" dirty="0"/>
              <a:t>注意：</a:t>
            </a:r>
          </a:p>
          <a:p>
            <a:pPr lvl="1" eaLnBrk="1" hangingPunct="1">
              <a:spcBef>
                <a:spcPct val="0"/>
              </a:spcBef>
            </a:pPr>
            <a:r>
              <a:rPr lang="zh-CN" altLang="en-US" sz="2400" dirty="0"/>
              <a:t>在第一级继承时就要将共同基类设计为虚基类。</a:t>
            </a:r>
          </a:p>
        </p:txBody>
      </p:sp>
      <p:sp>
        <p:nvSpPr>
          <p:cNvPr id="573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7DBB352E-1A20-4128-8998-93214ABFDDED}" type="slidenum">
              <a:rPr lang="en-US" altLang="zh-CN" sz="1400" smtClean="0"/>
              <a:pPr eaLnBrk="1" hangingPunct="1"/>
              <a:t>11</a:t>
            </a:fld>
            <a:endParaRPr lang="en-US" altLang="zh-CN" sz="1400"/>
          </a:p>
        </p:txBody>
      </p:sp>
    </p:spTree>
    <p:extLst>
      <p:ext uri="{BB962C8B-B14F-4D97-AF65-F5344CB8AC3E}">
        <p14:creationId xmlns:p14="http://schemas.microsoft.com/office/powerpoint/2010/main" val="1772313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457200" y="44624"/>
            <a:ext cx="8229600" cy="552782"/>
          </a:xfrm>
        </p:spPr>
        <p:txBody>
          <a:bodyPr>
            <a:normAutofit fontScale="90000"/>
          </a:bodyPr>
          <a:lstStyle/>
          <a:p>
            <a:pPr eaLnBrk="1" hangingPunct="1"/>
            <a:r>
              <a:rPr lang="zh-CN" altLang="en-US" dirty="0"/>
              <a:t>虚基类举例</a:t>
            </a:r>
          </a:p>
        </p:txBody>
      </p:sp>
      <p:sp>
        <p:nvSpPr>
          <p:cNvPr id="55299" name="Rectangle 3"/>
          <p:cNvSpPr>
            <a:spLocks noGrp="1" noChangeArrowheads="1"/>
          </p:cNvSpPr>
          <p:nvPr>
            <p:ph idx="1"/>
          </p:nvPr>
        </p:nvSpPr>
        <p:spPr>
          <a:xfrm>
            <a:off x="6329691" y="5022721"/>
            <a:ext cx="2573673" cy="1333629"/>
          </a:xfrm>
        </p:spPr>
        <p:txBody>
          <a:bodyPr>
            <a:normAutofit/>
          </a:bodyPr>
          <a:lstStyle/>
          <a:p>
            <a:pPr eaLnBrk="1" hangingPunct="1">
              <a:buFont typeface="Wingdings" pitchFamily="2" charset="2"/>
              <a:buNone/>
              <a:defRPr/>
            </a:pPr>
            <a:r>
              <a:rPr lang="zh-CN" altLang="en-US" sz="2000" dirty="0">
                <a:latin typeface="+mn-ea"/>
              </a:rPr>
              <a:t>下面的访问是正确的：</a:t>
            </a:r>
          </a:p>
          <a:p>
            <a:pPr eaLnBrk="1" hangingPunct="1">
              <a:buFont typeface="Wingdings" pitchFamily="2" charset="2"/>
              <a:buNone/>
              <a:defRPr/>
            </a:pPr>
            <a:r>
              <a:rPr lang="en-US" altLang="zh-CN" sz="2000" dirty="0">
                <a:latin typeface="+mn-ea"/>
              </a:rPr>
              <a:t>C </a:t>
            </a:r>
            <a:r>
              <a:rPr lang="en-US" altLang="zh-CN" sz="2000" dirty="0" err="1">
                <a:latin typeface="+mn-ea"/>
              </a:rPr>
              <a:t>c</a:t>
            </a:r>
            <a:r>
              <a:rPr lang="en-US" altLang="zh-CN" sz="2000" dirty="0">
                <a:latin typeface="+mn-ea"/>
              </a:rPr>
              <a:t>;</a:t>
            </a:r>
          </a:p>
          <a:p>
            <a:pPr eaLnBrk="1" hangingPunct="1">
              <a:buFont typeface="Wingdings" pitchFamily="2" charset="2"/>
              <a:buNone/>
              <a:defRPr/>
            </a:pPr>
            <a:r>
              <a:rPr lang="en-US" altLang="zh-CN" sz="2000" dirty="0" err="1">
                <a:latin typeface="+mn-ea"/>
              </a:rPr>
              <a:t>c._b</a:t>
            </a:r>
            <a:r>
              <a:rPr lang="en-US" altLang="zh-CN" sz="2000" dirty="0">
                <a:latin typeface="+mn-ea"/>
              </a:rPr>
              <a:t>;</a:t>
            </a:r>
          </a:p>
        </p:txBody>
      </p:sp>
      <p:sp>
        <p:nvSpPr>
          <p:cNvPr id="58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342BD70B-2A32-4F22-908F-0A287FFDC88E}" type="slidenum">
              <a:rPr lang="en-US" altLang="zh-CN" sz="1400" smtClean="0"/>
              <a:pPr eaLnBrk="1" hangingPunct="1"/>
              <a:t>12</a:t>
            </a:fld>
            <a:endParaRPr lang="en-US" altLang="zh-CN" sz="1400"/>
          </a:p>
        </p:txBody>
      </p:sp>
      <p:sp>
        <p:nvSpPr>
          <p:cNvPr id="3" name="Rectangle 3">
            <a:extLst>
              <a:ext uri="{FF2B5EF4-FFF2-40B4-BE49-F238E27FC236}">
                <a16:creationId xmlns:a16="http://schemas.microsoft.com/office/drawing/2014/main" id="{AD10D72C-90FE-29CC-5E35-45A8F0C86F33}"/>
              </a:ext>
            </a:extLst>
          </p:cNvPr>
          <p:cNvSpPr txBox="1">
            <a:spLocks noChangeArrowheads="1"/>
          </p:cNvSpPr>
          <p:nvPr/>
        </p:nvSpPr>
        <p:spPr>
          <a:xfrm>
            <a:off x="1855443" y="782204"/>
            <a:ext cx="3961635" cy="3725897"/>
          </a:xfrm>
          <a:prstGeom prst="rect">
            <a:avLst/>
          </a:prstGeom>
          <a:solidFill>
            <a:schemeClr val="bg2">
              <a:lumMod val="90000"/>
            </a:schemeClr>
          </a:solidFill>
        </p:spPr>
        <p:txBody>
          <a:bodyPr vert="horz" rtlCol="0">
            <a:no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a:lnSpc>
                <a:spcPct val="70000"/>
              </a:lnSpc>
              <a:buFont typeface="Wingdings" pitchFamily="2" charset="2"/>
              <a:buNone/>
              <a:defRPr/>
            </a:pPr>
            <a:r>
              <a:rPr lang="en-US" altLang="zh-CN" sz="2000" dirty="0">
                <a:latin typeface="Consolas" panose="020B0609020204030204" pitchFamily="49" charset="0"/>
              </a:rPr>
              <a:t>class B </a:t>
            </a:r>
          </a:p>
          <a:p>
            <a:pPr>
              <a:lnSpc>
                <a:spcPct val="70000"/>
              </a:lnSpc>
              <a:buFont typeface="Wingdings" pitchFamily="2" charset="2"/>
              <a:buNone/>
              <a:defRPr/>
            </a:pPr>
            <a:r>
              <a:rPr lang="en-US" altLang="zh-CN" sz="2000" dirty="0">
                <a:latin typeface="Consolas" panose="020B0609020204030204" pitchFamily="49" charset="0"/>
              </a:rPr>
              <a:t>{public:</a:t>
            </a:r>
          </a:p>
          <a:p>
            <a:pPr>
              <a:lnSpc>
                <a:spcPct val="70000"/>
              </a:lnSpc>
              <a:buFont typeface="Wingdings" pitchFamily="2" charset="2"/>
              <a:buNone/>
              <a:defRPr/>
            </a:pPr>
            <a:r>
              <a:rPr lang="en-US" altLang="zh-CN" sz="2000" dirty="0">
                <a:latin typeface="Consolas" panose="020B0609020204030204" pitchFamily="49" charset="0"/>
              </a:rPr>
              <a:t>	int _b;</a:t>
            </a:r>
          </a:p>
          <a:p>
            <a:pPr>
              <a:lnSpc>
                <a:spcPct val="70000"/>
              </a:lnSpc>
              <a:buFont typeface="Wingdings" pitchFamily="2" charset="2"/>
              <a:buNone/>
              <a:defRPr/>
            </a:pPr>
            <a:r>
              <a:rPr lang="en-US" altLang="zh-CN" sz="2000" dirty="0">
                <a:latin typeface="Consolas" panose="020B0609020204030204" pitchFamily="49" charset="0"/>
              </a:rPr>
              <a:t>};</a:t>
            </a:r>
          </a:p>
          <a:p>
            <a:pPr>
              <a:lnSpc>
                <a:spcPct val="70000"/>
              </a:lnSpc>
              <a:buFont typeface="Wingdings" pitchFamily="2" charset="2"/>
              <a:buNone/>
              <a:defRPr/>
            </a:pPr>
            <a:r>
              <a:rPr lang="en-US" altLang="zh-CN" sz="2000" dirty="0">
                <a:latin typeface="Consolas" panose="020B0609020204030204" pitchFamily="49" charset="0"/>
              </a:rPr>
              <a:t>class B1: </a:t>
            </a:r>
            <a:r>
              <a:rPr lang="en-US" altLang="zh-CN" sz="2000" dirty="0">
                <a:solidFill>
                  <a:srgbClr val="FF0000"/>
                </a:solidFill>
                <a:latin typeface="Consolas" panose="020B0609020204030204" pitchFamily="49" charset="0"/>
              </a:rPr>
              <a:t>virtual </a:t>
            </a:r>
            <a:r>
              <a:rPr lang="en-US" altLang="zh-CN" sz="2000" dirty="0">
                <a:latin typeface="Consolas" panose="020B0609020204030204" pitchFamily="49" charset="0"/>
              </a:rPr>
              <a:t>public B </a:t>
            </a:r>
          </a:p>
          <a:p>
            <a:pPr>
              <a:lnSpc>
                <a:spcPct val="70000"/>
              </a:lnSpc>
              <a:buFont typeface="Wingdings" pitchFamily="2" charset="2"/>
              <a:buNone/>
              <a:defRPr/>
            </a:pPr>
            <a:r>
              <a:rPr lang="en-US" altLang="zh-CN" sz="2000" dirty="0">
                <a:latin typeface="Consolas" panose="020B0609020204030204" pitchFamily="49" charset="0"/>
              </a:rPr>
              <a:t>{private:</a:t>
            </a:r>
          </a:p>
          <a:p>
            <a:pPr>
              <a:lnSpc>
                <a:spcPct val="70000"/>
              </a:lnSpc>
              <a:buFont typeface="Wingdings" pitchFamily="2" charset="2"/>
              <a:buNone/>
              <a:defRPr/>
            </a:pPr>
            <a:r>
              <a:rPr lang="en-US" altLang="zh-CN" sz="2000" dirty="0">
                <a:latin typeface="Consolas" panose="020B0609020204030204" pitchFamily="49" charset="0"/>
              </a:rPr>
              <a:t>	int _b1;</a:t>
            </a:r>
          </a:p>
          <a:p>
            <a:pPr>
              <a:lnSpc>
                <a:spcPct val="70000"/>
              </a:lnSpc>
              <a:buFont typeface="Wingdings" pitchFamily="2" charset="2"/>
              <a:buNone/>
              <a:defRPr/>
            </a:pPr>
            <a:r>
              <a:rPr lang="en-US" altLang="zh-CN" sz="2000" dirty="0">
                <a:latin typeface="Consolas" panose="020B0609020204030204" pitchFamily="49" charset="0"/>
              </a:rPr>
              <a:t>};</a:t>
            </a:r>
          </a:p>
          <a:p>
            <a:pPr>
              <a:lnSpc>
                <a:spcPct val="70000"/>
              </a:lnSpc>
              <a:buFont typeface="Wingdings" pitchFamily="2" charset="2"/>
              <a:buNone/>
              <a:defRPr/>
            </a:pPr>
            <a:r>
              <a:rPr lang="en-US" altLang="zh-CN" sz="2000" dirty="0">
                <a:latin typeface="Consolas" panose="020B0609020204030204" pitchFamily="49" charset="0"/>
              </a:rPr>
              <a:t>class B2: </a:t>
            </a:r>
            <a:r>
              <a:rPr lang="en-US" altLang="zh-CN" sz="2000" dirty="0">
                <a:solidFill>
                  <a:srgbClr val="FF0000"/>
                </a:solidFill>
                <a:latin typeface="Consolas" panose="020B0609020204030204" pitchFamily="49" charset="0"/>
              </a:rPr>
              <a:t>virtual </a:t>
            </a:r>
            <a:r>
              <a:rPr lang="en-US" altLang="zh-CN" sz="2000" dirty="0">
                <a:latin typeface="Consolas" panose="020B0609020204030204" pitchFamily="49" charset="0"/>
              </a:rPr>
              <a:t>public B </a:t>
            </a:r>
          </a:p>
          <a:p>
            <a:pPr>
              <a:lnSpc>
                <a:spcPct val="70000"/>
              </a:lnSpc>
              <a:buFont typeface="Wingdings" pitchFamily="2" charset="2"/>
              <a:buNone/>
              <a:defRPr/>
            </a:pPr>
            <a:r>
              <a:rPr lang="en-US" altLang="zh-CN" sz="2000" dirty="0">
                <a:latin typeface="Consolas" panose="020B0609020204030204" pitchFamily="49" charset="0"/>
              </a:rPr>
              <a:t>{private:</a:t>
            </a:r>
          </a:p>
          <a:p>
            <a:pPr>
              <a:lnSpc>
                <a:spcPct val="70000"/>
              </a:lnSpc>
              <a:buFont typeface="Wingdings" pitchFamily="2" charset="2"/>
              <a:buNone/>
              <a:defRPr/>
            </a:pPr>
            <a:r>
              <a:rPr lang="en-US" altLang="zh-CN" sz="2000" dirty="0">
                <a:latin typeface="Consolas" panose="020B0609020204030204" pitchFamily="49" charset="0"/>
              </a:rPr>
              <a:t>	int _b2;</a:t>
            </a:r>
          </a:p>
          <a:p>
            <a:pPr>
              <a:lnSpc>
                <a:spcPct val="70000"/>
              </a:lnSpc>
              <a:buFont typeface="Wingdings" pitchFamily="2" charset="2"/>
              <a:buNone/>
              <a:defRPr/>
            </a:pPr>
            <a:r>
              <a:rPr lang="en-US" altLang="zh-CN" sz="2000" dirty="0">
                <a:latin typeface="Consolas" panose="020B0609020204030204" pitchFamily="49" charset="0"/>
              </a:rPr>
              <a:t>};</a:t>
            </a:r>
          </a:p>
        </p:txBody>
      </p:sp>
      <p:sp>
        <p:nvSpPr>
          <p:cNvPr id="4" name="Rectangle 4">
            <a:extLst>
              <a:ext uri="{FF2B5EF4-FFF2-40B4-BE49-F238E27FC236}">
                <a16:creationId xmlns:a16="http://schemas.microsoft.com/office/drawing/2014/main" id="{785068E8-7B60-FDED-B7DF-890A7D0B2EE7}"/>
              </a:ext>
            </a:extLst>
          </p:cNvPr>
          <p:cNvSpPr txBox="1">
            <a:spLocks noChangeArrowheads="1"/>
          </p:cNvSpPr>
          <p:nvPr/>
        </p:nvSpPr>
        <p:spPr>
          <a:xfrm>
            <a:off x="1845840" y="4580532"/>
            <a:ext cx="4382344" cy="1958380"/>
          </a:xfrm>
          <a:prstGeom prst="rect">
            <a:avLst/>
          </a:prstGeom>
          <a:solidFill>
            <a:schemeClr val="bg2">
              <a:lumMod val="90000"/>
            </a:schemeClr>
          </a:solidFill>
        </p:spPr>
        <p:txBody>
          <a:bodyPr vert="horz" rtlCol="0">
            <a:noAutofit/>
          </a:bodyPr>
          <a:lstStyle>
            <a:defPPr>
              <a:defRPr lang="zh-CN"/>
            </a:defPPr>
            <a:lvl1pPr marL="342900" indent="-342900">
              <a:lnSpc>
                <a:spcPct val="70000"/>
              </a:lnSpc>
              <a:spcBef>
                <a:spcPct val="20000"/>
              </a:spcBef>
              <a:buClr>
                <a:schemeClr val="accent1"/>
              </a:buClr>
              <a:buSzPct val="50000"/>
              <a:buFont typeface="Wingdings" pitchFamily="2" charset="2"/>
              <a:buNone/>
              <a:defRPr kumimoji="0" sz="2000">
                <a:latin typeface="Consolas" panose="020B0609020204030204" pitchFamily="49" charset="0"/>
              </a:defRPr>
            </a:lvl1pPr>
            <a:lvl2pPr marL="742950" indent="-285750">
              <a:spcBef>
                <a:spcPct val="20000"/>
              </a:spcBef>
              <a:buClr>
                <a:schemeClr val="accent2"/>
              </a:buClr>
              <a:buSzPct val="50000"/>
              <a:buFont typeface="Wingdings 2"/>
              <a:buChar char="³"/>
              <a:defRPr kumimoji="0" sz="2800"/>
            </a:lvl2pPr>
            <a:lvl3pPr marL="1143000" indent="-228600">
              <a:spcBef>
                <a:spcPct val="20000"/>
              </a:spcBef>
              <a:buClr>
                <a:schemeClr val="accent3"/>
              </a:buClr>
              <a:buSzPct val="60000"/>
              <a:buFont typeface="Wingdings 2"/>
              <a:buChar char="®"/>
              <a:defRPr kumimoji="0" sz="2400"/>
            </a:lvl3pPr>
            <a:lvl4pPr marL="1600200" indent="-228600">
              <a:spcBef>
                <a:spcPct val="20000"/>
              </a:spcBef>
              <a:buClr>
                <a:schemeClr val="accent5"/>
              </a:buClr>
              <a:buSzPct val="45000"/>
              <a:buFont typeface="Wingdings 2"/>
              <a:buChar char="¯"/>
              <a:defRPr kumimoji="0" sz="2000"/>
            </a:lvl4pPr>
            <a:lvl5pPr marL="2057400" indent="-228600">
              <a:spcBef>
                <a:spcPct val="20000"/>
              </a:spcBef>
              <a:buClr>
                <a:schemeClr val="accent6"/>
              </a:buClr>
              <a:buFont typeface="Wingdings 2"/>
              <a:buChar char=""/>
              <a:defRPr kumimoji="0" sz="2000"/>
            </a:lvl5pPr>
            <a:lvl6pPr marL="2514600" indent="-228600">
              <a:spcBef>
                <a:spcPct val="20000"/>
              </a:spcBef>
              <a:buFont typeface="Arial"/>
              <a:buChar char="•"/>
              <a:defRPr kumimoji="0" sz="2000"/>
            </a:lvl6pPr>
            <a:lvl7pPr marL="2971800" indent="-228600">
              <a:spcBef>
                <a:spcPct val="20000"/>
              </a:spcBef>
              <a:buFont typeface="Arial"/>
              <a:buChar char="•"/>
              <a:defRPr kumimoji="0" sz="2000"/>
            </a:lvl7pPr>
            <a:lvl8pPr marL="3429000" indent="-228600">
              <a:spcBef>
                <a:spcPct val="20000"/>
              </a:spcBef>
              <a:buFont typeface="Arial"/>
              <a:buChar char="•"/>
              <a:defRPr kumimoji="0" sz="2000"/>
            </a:lvl8pPr>
            <a:lvl9pPr marL="3886200" indent="-228600">
              <a:spcBef>
                <a:spcPct val="20000"/>
              </a:spcBef>
              <a:buFont typeface="Arial"/>
              <a:buChar char="•"/>
              <a:defRPr kumimoji="0" sz="2000"/>
            </a:lvl9pPr>
          </a:lstStyle>
          <a:p>
            <a:r>
              <a:rPr lang="en-US" altLang="zh-CN" dirty="0"/>
              <a:t>class C : public B1,public B2</a:t>
            </a:r>
          </a:p>
          <a:p>
            <a:r>
              <a:rPr lang="en-US" altLang="zh-CN" dirty="0"/>
              <a:t>{public:</a:t>
            </a:r>
          </a:p>
          <a:p>
            <a:r>
              <a:rPr lang="en-US" altLang="zh-CN" dirty="0"/>
              <a:t>	int f();</a:t>
            </a:r>
          </a:p>
          <a:p>
            <a:r>
              <a:rPr lang="en-US" altLang="zh-CN" dirty="0"/>
              <a:t>private:</a:t>
            </a:r>
          </a:p>
          <a:p>
            <a:r>
              <a:rPr lang="en-US" altLang="zh-CN" dirty="0"/>
              <a:t>	int _d;</a:t>
            </a:r>
          </a:p>
          <a:p>
            <a:r>
              <a:rPr lang="en-US" altLang="zh-CN" dirty="0"/>
              <a:t>};</a:t>
            </a:r>
          </a:p>
          <a:p>
            <a:endParaRPr lang="en-US" altLang="zh-CN" dirty="0"/>
          </a:p>
        </p:txBody>
      </p:sp>
      <p:grpSp>
        <p:nvGrpSpPr>
          <p:cNvPr id="17" name="组合 16">
            <a:extLst>
              <a:ext uri="{FF2B5EF4-FFF2-40B4-BE49-F238E27FC236}">
                <a16:creationId xmlns:a16="http://schemas.microsoft.com/office/drawing/2014/main" id="{0F896B2E-4F9E-BF5B-4718-4AF0252E7223}"/>
              </a:ext>
            </a:extLst>
          </p:cNvPr>
          <p:cNvGrpSpPr/>
          <p:nvPr/>
        </p:nvGrpSpPr>
        <p:grpSpPr>
          <a:xfrm>
            <a:off x="7034795" y="5694634"/>
            <a:ext cx="526729" cy="313815"/>
            <a:chOff x="3635897" y="5995505"/>
            <a:chExt cx="526729" cy="313815"/>
          </a:xfrm>
        </p:grpSpPr>
        <p:cxnSp>
          <p:nvCxnSpPr>
            <p:cNvPr id="18" name="直接连接符 17">
              <a:extLst>
                <a:ext uri="{FF2B5EF4-FFF2-40B4-BE49-F238E27FC236}">
                  <a16:creationId xmlns:a16="http://schemas.microsoft.com/office/drawing/2014/main" id="{90E6FEBC-FC63-B22C-114B-DBA140D756AD}"/>
                </a:ext>
              </a:extLst>
            </p:cNvPr>
            <p:cNvCxnSpPr/>
            <p:nvPr/>
          </p:nvCxnSpPr>
          <p:spPr>
            <a:xfrm>
              <a:off x="3635897" y="6093296"/>
              <a:ext cx="144015" cy="2160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E6ECC33-132A-553A-3FD3-591BCDCB716B}"/>
                </a:ext>
              </a:extLst>
            </p:cNvPr>
            <p:cNvCxnSpPr/>
            <p:nvPr/>
          </p:nvCxnSpPr>
          <p:spPr>
            <a:xfrm flipV="1">
              <a:off x="3779912" y="5995505"/>
              <a:ext cx="382714" cy="3138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20" name="表格 19">
            <a:extLst>
              <a:ext uri="{FF2B5EF4-FFF2-40B4-BE49-F238E27FC236}">
                <a16:creationId xmlns:a16="http://schemas.microsoft.com/office/drawing/2014/main" id="{F526AC1C-5038-0C3C-25A0-C97A435907A1}"/>
              </a:ext>
            </a:extLst>
          </p:cNvPr>
          <p:cNvGraphicFramePr>
            <a:graphicFrameLocks noGrp="1"/>
          </p:cNvGraphicFramePr>
          <p:nvPr>
            <p:extLst>
              <p:ext uri="{D42A27DB-BD31-4B8C-83A1-F6EECF244321}">
                <p14:modId xmlns:p14="http://schemas.microsoft.com/office/powerpoint/2010/main" val="2339978913"/>
              </p:ext>
            </p:extLst>
          </p:nvPr>
        </p:nvGraphicFramePr>
        <p:xfrm>
          <a:off x="7596336" y="836712"/>
          <a:ext cx="1316336" cy="2590800"/>
        </p:xfrm>
        <a:graphic>
          <a:graphicData uri="http://schemas.openxmlformats.org/drawingml/2006/table">
            <a:tbl>
              <a:tblPr firstRow="1" bandRow="1">
                <a:tableStyleId>{5940675A-B579-460E-94D1-54222C63F5DA}</a:tableStyleId>
              </a:tblPr>
              <a:tblGrid>
                <a:gridCol w="1316336">
                  <a:extLst>
                    <a:ext uri="{9D8B030D-6E8A-4147-A177-3AD203B41FA5}">
                      <a16:colId xmlns:a16="http://schemas.microsoft.com/office/drawing/2014/main" val="20000"/>
                    </a:ext>
                  </a:extLst>
                </a:gridCol>
              </a:tblGrid>
              <a:tr h="429901">
                <a:tc>
                  <a:txBody>
                    <a:bodyPr/>
                    <a:lstStyle/>
                    <a:p>
                      <a:r>
                        <a:rPr lang="en-US" altLang="zh-CN" sz="2800" dirty="0"/>
                        <a:t> int _b</a:t>
                      </a:r>
                      <a:endParaRPr lang="zh-CN" altLang="en-US" sz="2800" dirty="0"/>
                    </a:p>
                  </a:txBody>
                  <a:tcPr/>
                </a:tc>
                <a:extLst>
                  <a:ext uri="{0D108BD9-81ED-4DB2-BD59-A6C34878D82A}">
                    <a16:rowId xmlns:a16="http://schemas.microsoft.com/office/drawing/2014/main" val="10000"/>
                  </a:ext>
                </a:extLst>
              </a:tr>
              <a:tr h="429901">
                <a:tc>
                  <a:txBody>
                    <a:bodyPr/>
                    <a:lstStyle/>
                    <a:p>
                      <a:r>
                        <a:rPr lang="en-US" altLang="zh-CN" sz="2800" dirty="0"/>
                        <a:t> int _b1</a:t>
                      </a:r>
                      <a:endParaRPr lang="zh-CN" altLang="en-US" sz="2800" dirty="0"/>
                    </a:p>
                  </a:txBody>
                  <a:tcPr/>
                </a:tc>
                <a:extLst>
                  <a:ext uri="{0D108BD9-81ED-4DB2-BD59-A6C34878D82A}">
                    <a16:rowId xmlns:a16="http://schemas.microsoft.com/office/drawing/2014/main" val="10001"/>
                  </a:ext>
                </a:extLst>
              </a:tr>
              <a:tr h="429901">
                <a:tc>
                  <a:txBody>
                    <a:bodyPr/>
                    <a:lstStyle/>
                    <a:p>
                      <a:r>
                        <a:rPr lang="en-US" altLang="zh-CN" sz="2800" dirty="0"/>
                        <a:t> int _b2</a:t>
                      </a:r>
                      <a:endParaRPr lang="zh-CN" altLang="en-US" sz="2800" dirty="0"/>
                    </a:p>
                  </a:txBody>
                  <a:tcPr/>
                </a:tc>
                <a:extLst>
                  <a:ext uri="{0D108BD9-81ED-4DB2-BD59-A6C34878D82A}">
                    <a16:rowId xmlns:a16="http://schemas.microsoft.com/office/drawing/2014/main" val="10002"/>
                  </a:ext>
                </a:extLst>
              </a:tr>
              <a:tr h="429901">
                <a:tc>
                  <a:txBody>
                    <a:bodyPr/>
                    <a:lstStyle/>
                    <a:p>
                      <a:r>
                        <a:rPr lang="en-US" altLang="zh-CN" sz="2800" dirty="0"/>
                        <a:t> </a:t>
                      </a:r>
                      <a:r>
                        <a:rPr lang="en-US" altLang="zh-CN" sz="2800" baseline="0" dirty="0"/>
                        <a:t>int f</a:t>
                      </a:r>
                      <a:r>
                        <a:rPr lang="en-US" altLang="zh-CN" sz="2800" dirty="0"/>
                        <a:t>()</a:t>
                      </a:r>
                      <a:endParaRPr lang="zh-CN" altLang="en-US" sz="2800" dirty="0"/>
                    </a:p>
                  </a:txBody>
                  <a:tcPr/>
                </a:tc>
                <a:extLst>
                  <a:ext uri="{0D108BD9-81ED-4DB2-BD59-A6C34878D82A}">
                    <a16:rowId xmlns:a16="http://schemas.microsoft.com/office/drawing/2014/main" val="10003"/>
                  </a:ext>
                </a:extLst>
              </a:tr>
              <a:tr h="429901">
                <a:tc>
                  <a:txBody>
                    <a:bodyPr/>
                    <a:lstStyle/>
                    <a:p>
                      <a:r>
                        <a:rPr lang="en-US" altLang="zh-CN" sz="2800" baseline="0" dirty="0"/>
                        <a:t> </a:t>
                      </a:r>
                      <a:r>
                        <a:rPr lang="en-US" altLang="zh-CN" sz="2800" dirty="0"/>
                        <a:t>int _d</a:t>
                      </a:r>
                      <a:endParaRPr lang="zh-CN" altLang="en-US" sz="2800" dirty="0"/>
                    </a:p>
                  </a:txBody>
                  <a:tcPr/>
                </a:tc>
                <a:extLst>
                  <a:ext uri="{0D108BD9-81ED-4DB2-BD59-A6C34878D82A}">
                    <a16:rowId xmlns:a16="http://schemas.microsoft.com/office/drawing/2014/main" val="10004"/>
                  </a:ext>
                </a:extLst>
              </a:tr>
            </a:tbl>
          </a:graphicData>
        </a:graphic>
      </p:graphicFrame>
      <p:grpSp>
        <p:nvGrpSpPr>
          <p:cNvPr id="21" name="组合 20">
            <a:extLst>
              <a:ext uri="{FF2B5EF4-FFF2-40B4-BE49-F238E27FC236}">
                <a16:creationId xmlns:a16="http://schemas.microsoft.com/office/drawing/2014/main" id="{2D88634B-7896-1FCB-A369-81F6CCB09F00}"/>
              </a:ext>
            </a:extLst>
          </p:cNvPr>
          <p:cNvGrpSpPr/>
          <p:nvPr/>
        </p:nvGrpSpPr>
        <p:grpSpPr>
          <a:xfrm>
            <a:off x="6228184" y="836712"/>
            <a:ext cx="1155268" cy="2590800"/>
            <a:chOff x="6115792" y="1412776"/>
            <a:chExt cx="1155268" cy="3075334"/>
          </a:xfrm>
        </p:grpSpPr>
        <p:sp>
          <p:nvSpPr>
            <p:cNvPr id="22" name="左大括号 21">
              <a:extLst>
                <a:ext uri="{FF2B5EF4-FFF2-40B4-BE49-F238E27FC236}">
                  <a16:creationId xmlns:a16="http://schemas.microsoft.com/office/drawing/2014/main" id="{0A7A84F4-88A2-CE46-397A-EC2EFFA1F650}"/>
                </a:ext>
              </a:extLst>
            </p:cNvPr>
            <p:cNvSpPr/>
            <p:nvPr/>
          </p:nvSpPr>
          <p:spPr>
            <a:xfrm>
              <a:off x="6496024" y="1412776"/>
              <a:ext cx="216024" cy="307533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D9D86AC-6C51-4B37-5FA0-868B5E81650D}"/>
                </a:ext>
              </a:extLst>
            </p:cNvPr>
            <p:cNvSpPr/>
            <p:nvPr/>
          </p:nvSpPr>
          <p:spPr>
            <a:xfrm>
              <a:off x="6115792" y="2679302"/>
              <a:ext cx="380232" cy="461665"/>
            </a:xfrm>
            <a:prstGeom prst="rect">
              <a:avLst/>
            </a:prstGeom>
          </p:spPr>
          <p:txBody>
            <a:bodyPr wrap="none">
              <a:spAutoFit/>
            </a:bodyPr>
            <a:lstStyle/>
            <a:p>
              <a:r>
                <a:rPr lang="en-US" altLang="zh-CN" sz="2400" dirty="0">
                  <a:latin typeface="+mn-ea"/>
                </a:rPr>
                <a:t>C</a:t>
              </a:r>
              <a:endParaRPr lang="zh-CN" altLang="en-US" sz="2400" dirty="0"/>
            </a:p>
          </p:txBody>
        </p:sp>
        <p:sp>
          <p:nvSpPr>
            <p:cNvPr id="26" name="左大括号 25">
              <a:extLst>
                <a:ext uri="{FF2B5EF4-FFF2-40B4-BE49-F238E27FC236}">
                  <a16:creationId xmlns:a16="http://schemas.microsoft.com/office/drawing/2014/main" id="{A477A508-4891-BB30-D8C2-6B15C9D9137B}"/>
                </a:ext>
              </a:extLst>
            </p:cNvPr>
            <p:cNvSpPr/>
            <p:nvPr/>
          </p:nvSpPr>
          <p:spPr>
            <a:xfrm>
              <a:off x="7037653" y="2661770"/>
              <a:ext cx="227461" cy="46050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3BBD6120-1531-C800-73A0-475C2B7EBB14}"/>
                </a:ext>
              </a:extLst>
            </p:cNvPr>
            <p:cNvSpPr/>
            <p:nvPr/>
          </p:nvSpPr>
          <p:spPr>
            <a:xfrm>
              <a:off x="6588224" y="2609426"/>
              <a:ext cx="518091" cy="461665"/>
            </a:xfrm>
            <a:prstGeom prst="rect">
              <a:avLst/>
            </a:prstGeom>
          </p:spPr>
          <p:txBody>
            <a:bodyPr wrap="none">
              <a:spAutoFit/>
            </a:bodyPr>
            <a:lstStyle/>
            <a:p>
              <a:r>
                <a:rPr lang="en-US" altLang="zh-CN" sz="2400" dirty="0">
                  <a:latin typeface="+mn-ea"/>
                </a:rPr>
                <a:t>B2</a:t>
              </a:r>
              <a:endParaRPr lang="zh-CN" altLang="en-US" sz="2400" dirty="0"/>
            </a:p>
          </p:txBody>
        </p:sp>
        <p:sp>
          <p:nvSpPr>
            <p:cNvPr id="28" name="左大括号 27">
              <a:extLst>
                <a:ext uri="{FF2B5EF4-FFF2-40B4-BE49-F238E27FC236}">
                  <a16:creationId xmlns:a16="http://schemas.microsoft.com/office/drawing/2014/main" id="{4E3FD837-27CA-7C2C-52E0-80DF4CA95BB5}"/>
                </a:ext>
              </a:extLst>
            </p:cNvPr>
            <p:cNvSpPr/>
            <p:nvPr/>
          </p:nvSpPr>
          <p:spPr>
            <a:xfrm>
              <a:off x="7020272" y="1480803"/>
              <a:ext cx="250788" cy="4448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F6974611-5E44-8F0E-9AC0-C44B4DE3E275}"/>
                </a:ext>
              </a:extLst>
            </p:cNvPr>
            <p:cNvSpPr/>
            <p:nvPr/>
          </p:nvSpPr>
          <p:spPr>
            <a:xfrm>
              <a:off x="6718460" y="1484784"/>
              <a:ext cx="373820" cy="461665"/>
            </a:xfrm>
            <a:prstGeom prst="rect">
              <a:avLst/>
            </a:prstGeom>
          </p:spPr>
          <p:txBody>
            <a:bodyPr wrap="none">
              <a:spAutoFit/>
            </a:bodyPr>
            <a:lstStyle/>
            <a:p>
              <a:r>
                <a:rPr lang="en-US" altLang="zh-CN" sz="2400" dirty="0">
                  <a:latin typeface="+mn-ea"/>
                </a:rPr>
                <a:t>B</a:t>
              </a:r>
              <a:endParaRPr lang="zh-CN" altLang="en-US" sz="2400" dirty="0"/>
            </a:p>
          </p:txBody>
        </p:sp>
        <p:sp>
          <p:nvSpPr>
            <p:cNvPr id="30" name="左大括号 29">
              <a:extLst>
                <a:ext uri="{FF2B5EF4-FFF2-40B4-BE49-F238E27FC236}">
                  <a16:creationId xmlns:a16="http://schemas.microsoft.com/office/drawing/2014/main" id="{9A0C83AF-3D1E-47D6-6222-226EAB99C0EE}"/>
                </a:ext>
              </a:extLst>
            </p:cNvPr>
            <p:cNvSpPr/>
            <p:nvPr/>
          </p:nvSpPr>
          <p:spPr>
            <a:xfrm>
              <a:off x="7030824" y="2063445"/>
              <a:ext cx="216023" cy="46050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648AB7D-1073-E86B-0268-748A5061BAAA}"/>
                </a:ext>
              </a:extLst>
            </p:cNvPr>
            <p:cNvSpPr/>
            <p:nvPr/>
          </p:nvSpPr>
          <p:spPr>
            <a:xfrm>
              <a:off x="6615597" y="2062287"/>
              <a:ext cx="518091" cy="461665"/>
            </a:xfrm>
            <a:prstGeom prst="rect">
              <a:avLst/>
            </a:prstGeom>
          </p:spPr>
          <p:txBody>
            <a:bodyPr wrap="none">
              <a:spAutoFit/>
            </a:bodyPr>
            <a:lstStyle/>
            <a:p>
              <a:r>
                <a:rPr lang="en-US" altLang="zh-CN" sz="2400" dirty="0">
                  <a:latin typeface="+mn-ea"/>
                </a:rPr>
                <a:t>B1</a:t>
              </a:r>
              <a:endParaRPr lang="zh-CN" altLang="en-US" sz="2400" dirty="0"/>
            </a:p>
          </p:txBody>
        </p:sp>
      </p:grpSp>
      <p:grpSp>
        <p:nvGrpSpPr>
          <p:cNvPr id="33" name="组合 32">
            <a:extLst>
              <a:ext uri="{FF2B5EF4-FFF2-40B4-BE49-F238E27FC236}">
                <a16:creationId xmlns:a16="http://schemas.microsoft.com/office/drawing/2014/main" id="{DD2B8403-79F5-6946-B1E6-3C2951F55980}"/>
              </a:ext>
            </a:extLst>
          </p:cNvPr>
          <p:cNvGrpSpPr/>
          <p:nvPr/>
        </p:nvGrpSpPr>
        <p:grpSpPr>
          <a:xfrm>
            <a:off x="271937" y="757764"/>
            <a:ext cx="1257901" cy="2910329"/>
            <a:chOff x="7862446" y="454439"/>
            <a:chExt cx="1257901" cy="2910329"/>
          </a:xfrm>
        </p:grpSpPr>
        <p:sp>
          <p:nvSpPr>
            <p:cNvPr id="34" name="矩形 33">
              <a:extLst>
                <a:ext uri="{FF2B5EF4-FFF2-40B4-BE49-F238E27FC236}">
                  <a16:creationId xmlns:a16="http://schemas.microsoft.com/office/drawing/2014/main" id="{4C33B68B-55D8-2D4B-894F-B6FC6AE8920D}"/>
                </a:ext>
              </a:extLst>
            </p:cNvPr>
            <p:cNvSpPr/>
            <p:nvPr/>
          </p:nvSpPr>
          <p:spPr>
            <a:xfrm>
              <a:off x="8474016" y="1557510"/>
              <a:ext cx="646331" cy="646331"/>
            </a:xfrm>
            <a:prstGeom prst="rect">
              <a:avLst/>
            </a:prstGeom>
          </p:spPr>
          <p:txBody>
            <a:bodyPr wrap="none">
              <a:spAutoFit/>
            </a:bodyPr>
            <a:lstStyle/>
            <a:p>
              <a:pPr algn="ctr"/>
              <a:r>
                <a:rPr lang="en-US" altLang="zh-CN" dirty="0">
                  <a:latin typeface="+mn-ea"/>
                </a:rPr>
                <a:t>B2</a:t>
              </a:r>
            </a:p>
            <a:p>
              <a:pPr algn="ctr"/>
              <a:r>
                <a:rPr lang="zh-CN" altLang="en-US" dirty="0">
                  <a:latin typeface="+mn-ea"/>
                </a:rPr>
                <a:t>教师</a:t>
              </a:r>
              <a:endParaRPr lang="zh-CN" altLang="en-US" dirty="0"/>
            </a:p>
          </p:txBody>
        </p:sp>
        <p:grpSp>
          <p:nvGrpSpPr>
            <p:cNvPr id="35" name="组合 34">
              <a:extLst>
                <a:ext uri="{FF2B5EF4-FFF2-40B4-BE49-F238E27FC236}">
                  <a16:creationId xmlns:a16="http://schemas.microsoft.com/office/drawing/2014/main" id="{7A81D38A-48A5-BA4A-8EB8-F038A15860A4}"/>
                </a:ext>
              </a:extLst>
            </p:cNvPr>
            <p:cNvGrpSpPr/>
            <p:nvPr/>
          </p:nvGrpSpPr>
          <p:grpSpPr>
            <a:xfrm>
              <a:off x="7862446" y="454439"/>
              <a:ext cx="934736" cy="2910329"/>
              <a:chOff x="7862446" y="454439"/>
              <a:chExt cx="934736" cy="2910329"/>
            </a:xfrm>
          </p:grpSpPr>
          <p:sp>
            <p:nvSpPr>
              <p:cNvPr id="36" name="矩形 35">
                <a:extLst>
                  <a:ext uri="{FF2B5EF4-FFF2-40B4-BE49-F238E27FC236}">
                    <a16:creationId xmlns:a16="http://schemas.microsoft.com/office/drawing/2014/main" id="{585EFA81-0E17-7B43-A4A3-DDB41A519BDA}"/>
                  </a:ext>
                </a:extLst>
              </p:cNvPr>
              <p:cNvSpPr/>
              <p:nvPr/>
            </p:nvSpPr>
            <p:spPr>
              <a:xfrm>
                <a:off x="8289534" y="454439"/>
                <a:ext cx="415498" cy="646331"/>
              </a:xfrm>
              <a:prstGeom prst="rect">
                <a:avLst/>
              </a:prstGeom>
            </p:spPr>
            <p:txBody>
              <a:bodyPr wrap="none">
                <a:spAutoFit/>
              </a:bodyPr>
              <a:lstStyle/>
              <a:p>
                <a:pPr algn="ctr"/>
                <a:r>
                  <a:rPr lang="en-US" altLang="zh-CN" dirty="0"/>
                  <a:t>B</a:t>
                </a:r>
              </a:p>
              <a:p>
                <a:r>
                  <a:rPr lang="zh-CN" altLang="en-US" dirty="0"/>
                  <a:t>人</a:t>
                </a:r>
              </a:p>
            </p:txBody>
          </p:sp>
          <p:sp>
            <p:nvSpPr>
              <p:cNvPr id="37" name="矩形 36">
                <a:extLst>
                  <a:ext uri="{FF2B5EF4-FFF2-40B4-BE49-F238E27FC236}">
                    <a16:creationId xmlns:a16="http://schemas.microsoft.com/office/drawing/2014/main" id="{FFD46B71-57D4-6F46-AF51-74FB855FBAED}"/>
                  </a:ext>
                </a:extLst>
              </p:cNvPr>
              <p:cNvSpPr/>
              <p:nvPr/>
            </p:nvSpPr>
            <p:spPr>
              <a:xfrm>
                <a:off x="7862446" y="1556792"/>
                <a:ext cx="646331" cy="646331"/>
              </a:xfrm>
              <a:prstGeom prst="rect">
                <a:avLst/>
              </a:prstGeom>
            </p:spPr>
            <p:txBody>
              <a:bodyPr wrap="none">
                <a:spAutoFit/>
              </a:bodyPr>
              <a:lstStyle/>
              <a:p>
                <a:pPr algn="ctr"/>
                <a:r>
                  <a:rPr lang="en-US" altLang="zh-CN" dirty="0"/>
                  <a:t>B1</a:t>
                </a:r>
              </a:p>
              <a:p>
                <a:r>
                  <a:rPr lang="zh-CN" altLang="en-US" dirty="0"/>
                  <a:t>学生</a:t>
                </a:r>
              </a:p>
            </p:txBody>
          </p:sp>
          <p:sp>
            <p:nvSpPr>
              <p:cNvPr id="38" name="矩形 37">
                <a:extLst>
                  <a:ext uri="{FF2B5EF4-FFF2-40B4-BE49-F238E27FC236}">
                    <a16:creationId xmlns:a16="http://schemas.microsoft.com/office/drawing/2014/main" id="{940C52CC-C9A6-8147-9456-3012F9D6614E}"/>
                  </a:ext>
                </a:extLst>
              </p:cNvPr>
              <p:cNvSpPr/>
              <p:nvPr/>
            </p:nvSpPr>
            <p:spPr>
              <a:xfrm>
                <a:off x="8141500" y="2718437"/>
                <a:ext cx="646331" cy="646331"/>
              </a:xfrm>
              <a:prstGeom prst="rect">
                <a:avLst/>
              </a:prstGeom>
            </p:spPr>
            <p:txBody>
              <a:bodyPr wrap="none">
                <a:spAutoFit/>
              </a:bodyPr>
              <a:lstStyle/>
              <a:p>
                <a:pPr algn="ctr"/>
                <a:r>
                  <a:rPr lang="en-US" altLang="zh-CN" dirty="0"/>
                  <a:t>C</a:t>
                </a:r>
              </a:p>
              <a:p>
                <a:r>
                  <a:rPr lang="zh-CN" altLang="en-US" dirty="0"/>
                  <a:t>助教</a:t>
                </a:r>
              </a:p>
            </p:txBody>
          </p:sp>
          <p:cxnSp>
            <p:nvCxnSpPr>
              <p:cNvPr id="39" name="直接箭头连接符 10">
                <a:extLst>
                  <a:ext uri="{FF2B5EF4-FFF2-40B4-BE49-F238E27FC236}">
                    <a16:creationId xmlns:a16="http://schemas.microsoft.com/office/drawing/2014/main" id="{6D1F35AF-7E24-7344-A802-44DCBBCCA7D8}"/>
                  </a:ext>
                </a:extLst>
              </p:cNvPr>
              <p:cNvCxnSpPr>
                <a:stCxn id="36" idx="2"/>
                <a:endCxn id="37" idx="0"/>
              </p:cNvCxnSpPr>
              <p:nvPr/>
            </p:nvCxnSpPr>
            <p:spPr>
              <a:xfrm flipH="1">
                <a:off x="8185612" y="1100770"/>
                <a:ext cx="311671" cy="4560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29">
                <a:extLst>
                  <a:ext uri="{FF2B5EF4-FFF2-40B4-BE49-F238E27FC236}">
                    <a16:creationId xmlns:a16="http://schemas.microsoft.com/office/drawing/2014/main" id="{0987FBA7-E4BF-AC48-A372-C61D9C48A881}"/>
                  </a:ext>
                </a:extLst>
              </p:cNvPr>
              <p:cNvCxnSpPr>
                <a:cxnSpLocks/>
                <a:stCxn id="36" idx="2"/>
                <a:endCxn id="34" idx="0"/>
              </p:cNvCxnSpPr>
              <p:nvPr/>
            </p:nvCxnSpPr>
            <p:spPr>
              <a:xfrm>
                <a:off x="8497283" y="1100770"/>
                <a:ext cx="299899" cy="4567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56324">
                <a:extLst>
                  <a:ext uri="{FF2B5EF4-FFF2-40B4-BE49-F238E27FC236}">
                    <a16:creationId xmlns:a16="http://schemas.microsoft.com/office/drawing/2014/main" id="{CC4FE5A2-3B6F-DD4A-A836-B01941BB90A8}"/>
                  </a:ext>
                </a:extLst>
              </p:cNvPr>
              <p:cNvCxnSpPr>
                <a:stCxn id="37" idx="2"/>
                <a:endCxn id="38" idx="0"/>
              </p:cNvCxnSpPr>
              <p:nvPr/>
            </p:nvCxnSpPr>
            <p:spPr>
              <a:xfrm>
                <a:off x="8185612" y="2203123"/>
                <a:ext cx="279054" cy="515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56329">
                <a:extLst>
                  <a:ext uri="{FF2B5EF4-FFF2-40B4-BE49-F238E27FC236}">
                    <a16:creationId xmlns:a16="http://schemas.microsoft.com/office/drawing/2014/main" id="{B5D63BD3-2DB0-5141-A9AE-B4D11174428E}"/>
                  </a:ext>
                </a:extLst>
              </p:cNvPr>
              <p:cNvCxnSpPr>
                <a:stCxn id="34" idx="2"/>
                <a:endCxn id="38" idx="0"/>
              </p:cNvCxnSpPr>
              <p:nvPr/>
            </p:nvCxnSpPr>
            <p:spPr>
              <a:xfrm flipH="1">
                <a:off x="8464666" y="2203841"/>
                <a:ext cx="332516" cy="5145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
        <p:nvSpPr>
          <p:cNvPr id="43" name="矩形 42">
            <a:extLst>
              <a:ext uri="{FF2B5EF4-FFF2-40B4-BE49-F238E27FC236}">
                <a16:creationId xmlns:a16="http://schemas.microsoft.com/office/drawing/2014/main" id="{799CEEE7-281E-E740-9F7F-073A3B510A3A}"/>
              </a:ext>
            </a:extLst>
          </p:cNvPr>
          <p:cNvSpPr/>
          <p:nvPr/>
        </p:nvSpPr>
        <p:spPr>
          <a:xfrm>
            <a:off x="350390" y="1431692"/>
            <a:ext cx="877163" cy="400110"/>
          </a:xfrm>
          <a:prstGeom prst="rect">
            <a:avLst/>
          </a:prstGeom>
        </p:spPr>
        <p:txBody>
          <a:bodyPr wrap="none">
            <a:spAutoFit/>
          </a:bodyPr>
          <a:lstStyle/>
          <a:p>
            <a:r>
              <a:rPr lang="en-US" altLang="zh-CN" sz="2000" dirty="0">
                <a:solidFill>
                  <a:srgbClr val="FF0000"/>
                </a:solidFill>
                <a:latin typeface="华文楷体"/>
              </a:rPr>
              <a:t>virtual</a:t>
            </a:r>
            <a:r>
              <a:rPr lang="en-US" altLang="zh-CN" sz="2000" dirty="0">
                <a:solidFill>
                  <a:prstClr val="black"/>
                </a:solidFill>
                <a:latin typeface="华文楷体"/>
              </a:rPr>
              <a:t> </a:t>
            </a:r>
            <a:endParaRPr lang="zh-CN" altLang="en-US" sz="1400" dirty="0"/>
          </a:p>
        </p:txBody>
      </p:sp>
      <p:sp>
        <p:nvSpPr>
          <p:cNvPr id="44" name="矩形 43">
            <a:extLst>
              <a:ext uri="{FF2B5EF4-FFF2-40B4-BE49-F238E27FC236}">
                <a16:creationId xmlns:a16="http://schemas.microsoft.com/office/drawing/2014/main" id="{F484F481-8AA2-994F-9739-AF04A2025DE3}"/>
              </a:ext>
            </a:extLst>
          </p:cNvPr>
          <p:cNvSpPr/>
          <p:nvPr/>
        </p:nvSpPr>
        <p:spPr>
          <a:xfrm>
            <a:off x="5109300" y="3517905"/>
            <a:ext cx="3995004" cy="954107"/>
          </a:xfrm>
          <a:prstGeom prst="rect">
            <a:avLst/>
          </a:prstGeom>
          <a:solidFill>
            <a:srgbClr val="FFFF00"/>
          </a:solidFill>
        </p:spPr>
        <p:txBody>
          <a:bodyPr wrap="none">
            <a:spAutoFit/>
          </a:bodyPr>
          <a:lstStyle/>
          <a:p>
            <a:r>
              <a:rPr lang="zh-CN" altLang="en-US" sz="2800" dirty="0"/>
              <a:t>在最远派生类</a:t>
            </a:r>
            <a:r>
              <a:rPr lang="en-US" altLang="zh-CN" sz="2800" dirty="0"/>
              <a:t>C</a:t>
            </a:r>
            <a:r>
              <a:rPr lang="zh-CN" altLang="en-US" sz="2800" dirty="0"/>
              <a:t>中，</a:t>
            </a:r>
            <a:endParaRPr lang="en-US" altLang="zh-CN" sz="2800" dirty="0"/>
          </a:p>
          <a:p>
            <a:r>
              <a:rPr lang="zh-CN" altLang="en-US" sz="2800" dirty="0"/>
              <a:t>只有来自类</a:t>
            </a:r>
            <a:r>
              <a:rPr lang="en-US" altLang="zh-CN" sz="2800" dirty="0"/>
              <a:t>B</a:t>
            </a:r>
            <a:r>
              <a:rPr lang="zh-CN" altLang="en-US" sz="2800" dirty="0"/>
              <a:t>的一份拷贝</a:t>
            </a:r>
          </a:p>
        </p:txBody>
      </p:sp>
    </p:spTree>
    <p:extLst>
      <p:ext uri="{BB962C8B-B14F-4D97-AF65-F5344CB8AC3E}">
        <p14:creationId xmlns:p14="http://schemas.microsoft.com/office/powerpoint/2010/main" val="199016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5DD8FAB8-0BA9-4369-A3D9-F8FB0058AA79}" type="slidenum">
              <a:rPr lang="en-US" altLang="zh-CN" sz="1400" smtClean="0"/>
              <a:pPr eaLnBrk="1" hangingPunct="1"/>
              <a:t>13</a:t>
            </a:fld>
            <a:endParaRPr lang="en-US" altLang="zh-CN" sz="1400" dirty="0"/>
          </a:p>
        </p:txBody>
      </p:sp>
      <p:sp>
        <p:nvSpPr>
          <p:cNvPr id="20" name="矩形 19"/>
          <p:cNvSpPr/>
          <p:nvPr/>
        </p:nvSpPr>
        <p:spPr>
          <a:xfrm>
            <a:off x="725226" y="980728"/>
            <a:ext cx="4115229" cy="523220"/>
          </a:xfrm>
          <a:prstGeom prst="rect">
            <a:avLst/>
          </a:prstGeom>
          <a:solidFill>
            <a:schemeClr val="accent6">
              <a:lumMod val="40000"/>
              <a:lumOff val="60000"/>
            </a:schemeClr>
          </a:solidFill>
        </p:spPr>
        <p:txBody>
          <a:bodyPr wrap="none">
            <a:spAutoFit/>
          </a:bodyPr>
          <a:lstStyle/>
          <a:p>
            <a:r>
              <a:rPr lang="en-US" altLang="zh-CN" sz="2800" dirty="0"/>
              <a:t> class B</a:t>
            </a:r>
            <a:r>
              <a:rPr lang="zh-CN" altLang="en-US" sz="2800" dirty="0"/>
              <a:t>是</a:t>
            </a:r>
            <a:r>
              <a:rPr lang="en-US" altLang="zh-CN" sz="2800" dirty="0"/>
              <a:t>class C</a:t>
            </a:r>
            <a:r>
              <a:rPr lang="zh-CN" altLang="en-US" sz="2800" dirty="0"/>
              <a:t>的虚基类</a:t>
            </a:r>
          </a:p>
        </p:txBody>
      </p:sp>
      <p:sp>
        <p:nvSpPr>
          <p:cNvPr id="37" name="矩形 36"/>
          <p:cNvSpPr/>
          <p:nvPr/>
        </p:nvSpPr>
        <p:spPr>
          <a:xfrm>
            <a:off x="785834" y="2450053"/>
            <a:ext cx="3995004" cy="954107"/>
          </a:xfrm>
          <a:prstGeom prst="rect">
            <a:avLst/>
          </a:prstGeom>
          <a:solidFill>
            <a:srgbClr val="FFFF00"/>
          </a:solidFill>
        </p:spPr>
        <p:txBody>
          <a:bodyPr wrap="none">
            <a:spAutoFit/>
          </a:bodyPr>
          <a:lstStyle/>
          <a:p>
            <a:r>
              <a:rPr lang="zh-CN" altLang="en-US" sz="2800" dirty="0"/>
              <a:t>在最远派生类</a:t>
            </a:r>
            <a:r>
              <a:rPr lang="en-US" altLang="zh-CN" sz="2800" dirty="0"/>
              <a:t>C</a:t>
            </a:r>
            <a:r>
              <a:rPr lang="zh-CN" altLang="en-US" sz="2800" dirty="0"/>
              <a:t>中，</a:t>
            </a:r>
            <a:endParaRPr lang="en-US" altLang="zh-CN" sz="2800" dirty="0"/>
          </a:p>
          <a:p>
            <a:r>
              <a:rPr lang="zh-CN" altLang="en-US" sz="2800" dirty="0"/>
              <a:t>只有来自类</a:t>
            </a:r>
            <a:r>
              <a:rPr lang="en-US" altLang="zh-CN" sz="2800" dirty="0"/>
              <a:t>B</a:t>
            </a:r>
            <a:r>
              <a:rPr lang="zh-CN" altLang="en-US" sz="2800" dirty="0"/>
              <a:t>的一份拷贝</a:t>
            </a:r>
          </a:p>
        </p:txBody>
      </p:sp>
      <p:cxnSp>
        <p:nvCxnSpPr>
          <p:cNvPr id="31" name="直接箭头连接符 30"/>
          <p:cNvCxnSpPr>
            <a:cxnSpLocks/>
            <a:endCxn id="24" idx="1"/>
          </p:cNvCxnSpPr>
          <p:nvPr/>
        </p:nvCxnSpPr>
        <p:spPr>
          <a:xfrm flipV="1">
            <a:off x="4759102" y="2389471"/>
            <a:ext cx="1639702" cy="39737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表格 9">
            <a:extLst>
              <a:ext uri="{FF2B5EF4-FFF2-40B4-BE49-F238E27FC236}">
                <a16:creationId xmlns:a16="http://schemas.microsoft.com/office/drawing/2014/main" id="{90864E92-4883-8EE1-2854-D0E566D4447E}"/>
              </a:ext>
            </a:extLst>
          </p:cNvPr>
          <p:cNvGraphicFramePr>
            <a:graphicFrameLocks noGrp="1"/>
          </p:cNvGraphicFramePr>
          <p:nvPr>
            <p:extLst>
              <p:ext uri="{D42A27DB-BD31-4B8C-83A1-F6EECF244321}">
                <p14:modId xmlns:p14="http://schemas.microsoft.com/office/powerpoint/2010/main" val="2519610221"/>
              </p:ext>
            </p:extLst>
          </p:nvPr>
        </p:nvGraphicFramePr>
        <p:xfrm>
          <a:off x="7164288" y="2134344"/>
          <a:ext cx="1316336" cy="2590800"/>
        </p:xfrm>
        <a:graphic>
          <a:graphicData uri="http://schemas.openxmlformats.org/drawingml/2006/table">
            <a:tbl>
              <a:tblPr firstRow="1" bandRow="1">
                <a:tableStyleId>{5940675A-B579-460E-94D1-54222C63F5DA}</a:tableStyleId>
              </a:tblPr>
              <a:tblGrid>
                <a:gridCol w="1316336">
                  <a:extLst>
                    <a:ext uri="{9D8B030D-6E8A-4147-A177-3AD203B41FA5}">
                      <a16:colId xmlns:a16="http://schemas.microsoft.com/office/drawing/2014/main" val="20000"/>
                    </a:ext>
                  </a:extLst>
                </a:gridCol>
              </a:tblGrid>
              <a:tr h="429901">
                <a:tc>
                  <a:txBody>
                    <a:bodyPr/>
                    <a:lstStyle/>
                    <a:p>
                      <a:r>
                        <a:rPr lang="en-US" altLang="zh-CN" sz="2800" dirty="0"/>
                        <a:t> int _b</a:t>
                      </a:r>
                      <a:endParaRPr lang="zh-CN" altLang="en-US" sz="2800" dirty="0"/>
                    </a:p>
                  </a:txBody>
                  <a:tcPr/>
                </a:tc>
                <a:extLst>
                  <a:ext uri="{0D108BD9-81ED-4DB2-BD59-A6C34878D82A}">
                    <a16:rowId xmlns:a16="http://schemas.microsoft.com/office/drawing/2014/main" val="10000"/>
                  </a:ext>
                </a:extLst>
              </a:tr>
              <a:tr h="429901">
                <a:tc>
                  <a:txBody>
                    <a:bodyPr/>
                    <a:lstStyle/>
                    <a:p>
                      <a:r>
                        <a:rPr lang="en-US" altLang="zh-CN" sz="2800" dirty="0"/>
                        <a:t> int _b1</a:t>
                      </a:r>
                      <a:endParaRPr lang="zh-CN" altLang="en-US" sz="2800" dirty="0"/>
                    </a:p>
                  </a:txBody>
                  <a:tcPr/>
                </a:tc>
                <a:extLst>
                  <a:ext uri="{0D108BD9-81ED-4DB2-BD59-A6C34878D82A}">
                    <a16:rowId xmlns:a16="http://schemas.microsoft.com/office/drawing/2014/main" val="10001"/>
                  </a:ext>
                </a:extLst>
              </a:tr>
              <a:tr h="429901">
                <a:tc>
                  <a:txBody>
                    <a:bodyPr/>
                    <a:lstStyle/>
                    <a:p>
                      <a:r>
                        <a:rPr lang="en-US" altLang="zh-CN" sz="2800" dirty="0"/>
                        <a:t> int _b2</a:t>
                      </a:r>
                      <a:endParaRPr lang="zh-CN" altLang="en-US" sz="2800" dirty="0"/>
                    </a:p>
                  </a:txBody>
                  <a:tcPr/>
                </a:tc>
                <a:extLst>
                  <a:ext uri="{0D108BD9-81ED-4DB2-BD59-A6C34878D82A}">
                    <a16:rowId xmlns:a16="http://schemas.microsoft.com/office/drawing/2014/main" val="10002"/>
                  </a:ext>
                </a:extLst>
              </a:tr>
              <a:tr h="429901">
                <a:tc>
                  <a:txBody>
                    <a:bodyPr/>
                    <a:lstStyle/>
                    <a:p>
                      <a:r>
                        <a:rPr lang="en-US" altLang="zh-CN" sz="2800" dirty="0"/>
                        <a:t> </a:t>
                      </a:r>
                      <a:r>
                        <a:rPr lang="en-US" altLang="zh-CN" sz="2800" baseline="0" dirty="0"/>
                        <a:t>int f</a:t>
                      </a:r>
                      <a:r>
                        <a:rPr lang="en-US" altLang="zh-CN" sz="2800" dirty="0"/>
                        <a:t>()</a:t>
                      </a:r>
                      <a:endParaRPr lang="zh-CN" altLang="en-US" sz="2800" dirty="0"/>
                    </a:p>
                  </a:txBody>
                  <a:tcPr/>
                </a:tc>
                <a:extLst>
                  <a:ext uri="{0D108BD9-81ED-4DB2-BD59-A6C34878D82A}">
                    <a16:rowId xmlns:a16="http://schemas.microsoft.com/office/drawing/2014/main" val="10003"/>
                  </a:ext>
                </a:extLst>
              </a:tr>
              <a:tr h="429901">
                <a:tc>
                  <a:txBody>
                    <a:bodyPr/>
                    <a:lstStyle/>
                    <a:p>
                      <a:r>
                        <a:rPr lang="en-US" altLang="zh-CN" sz="2800" baseline="0" dirty="0"/>
                        <a:t> </a:t>
                      </a:r>
                      <a:r>
                        <a:rPr lang="en-US" altLang="zh-CN" sz="2800" dirty="0"/>
                        <a:t>int _d</a:t>
                      </a:r>
                      <a:endParaRPr lang="zh-CN" altLang="en-US" sz="2800" dirty="0"/>
                    </a:p>
                  </a:txBody>
                  <a:tcPr/>
                </a:tc>
                <a:extLst>
                  <a:ext uri="{0D108BD9-81ED-4DB2-BD59-A6C34878D82A}">
                    <a16:rowId xmlns:a16="http://schemas.microsoft.com/office/drawing/2014/main" val="10004"/>
                  </a:ext>
                </a:extLst>
              </a:tr>
            </a:tbl>
          </a:graphicData>
        </a:graphic>
      </p:graphicFrame>
      <p:grpSp>
        <p:nvGrpSpPr>
          <p:cNvPr id="11" name="组合 10">
            <a:extLst>
              <a:ext uri="{FF2B5EF4-FFF2-40B4-BE49-F238E27FC236}">
                <a16:creationId xmlns:a16="http://schemas.microsoft.com/office/drawing/2014/main" id="{05669736-6BCD-6A6B-DB00-1D13E051AFF7}"/>
              </a:ext>
            </a:extLst>
          </p:cNvPr>
          <p:cNvGrpSpPr/>
          <p:nvPr/>
        </p:nvGrpSpPr>
        <p:grpSpPr>
          <a:xfrm>
            <a:off x="5796136" y="2134344"/>
            <a:ext cx="1155268" cy="2590800"/>
            <a:chOff x="6115792" y="1412776"/>
            <a:chExt cx="1155268" cy="3075334"/>
          </a:xfrm>
        </p:grpSpPr>
        <p:sp>
          <p:nvSpPr>
            <p:cNvPr id="18" name="左大括号 17">
              <a:extLst>
                <a:ext uri="{FF2B5EF4-FFF2-40B4-BE49-F238E27FC236}">
                  <a16:creationId xmlns:a16="http://schemas.microsoft.com/office/drawing/2014/main" id="{7A6CF753-AE60-70F5-0FF8-DDBBC2537E86}"/>
                </a:ext>
              </a:extLst>
            </p:cNvPr>
            <p:cNvSpPr/>
            <p:nvPr/>
          </p:nvSpPr>
          <p:spPr>
            <a:xfrm>
              <a:off x="6496024" y="1412776"/>
              <a:ext cx="216024" cy="307533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EF0A931-96E0-6387-6135-50464EBED5E3}"/>
                </a:ext>
              </a:extLst>
            </p:cNvPr>
            <p:cNvSpPr/>
            <p:nvPr/>
          </p:nvSpPr>
          <p:spPr>
            <a:xfrm>
              <a:off x="6115792" y="2679302"/>
              <a:ext cx="380232" cy="461665"/>
            </a:xfrm>
            <a:prstGeom prst="rect">
              <a:avLst/>
            </a:prstGeom>
          </p:spPr>
          <p:txBody>
            <a:bodyPr wrap="none">
              <a:spAutoFit/>
            </a:bodyPr>
            <a:lstStyle/>
            <a:p>
              <a:r>
                <a:rPr lang="en-US" altLang="zh-CN" sz="2400" dirty="0">
                  <a:latin typeface="+mn-ea"/>
                </a:rPr>
                <a:t>C</a:t>
              </a:r>
              <a:endParaRPr lang="zh-CN" altLang="en-US" sz="2400" dirty="0"/>
            </a:p>
          </p:txBody>
        </p:sp>
        <p:sp>
          <p:nvSpPr>
            <p:cNvPr id="21" name="左大括号 20">
              <a:extLst>
                <a:ext uri="{FF2B5EF4-FFF2-40B4-BE49-F238E27FC236}">
                  <a16:creationId xmlns:a16="http://schemas.microsoft.com/office/drawing/2014/main" id="{EAABA19C-88AD-0CA0-CB7C-1A3FDCF9CE97}"/>
                </a:ext>
              </a:extLst>
            </p:cNvPr>
            <p:cNvSpPr/>
            <p:nvPr/>
          </p:nvSpPr>
          <p:spPr>
            <a:xfrm>
              <a:off x="7037653" y="2661770"/>
              <a:ext cx="227461" cy="46050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1B53131-AF23-CDE3-4CE3-16F4D6A6C533}"/>
                </a:ext>
              </a:extLst>
            </p:cNvPr>
            <p:cNvSpPr/>
            <p:nvPr/>
          </p:nvSpPr>
          <p:spPr>
            <a:xfrm>
              <a:off x="6588224" y="2609426"/>
              <a:ext cx="518091" cy="461665"/>
            </a:xfrm>
            <a:prstGeom prst="rect">
              <a:avLst/>
            </a:prstGeom>
          </p:spPr>
          <p:txBody>
            <a:bodyPr wrap="none">
              <a:spAutoFit/>
            </a:bodyPr>
            <a:lstStyle/>
            <a:p>
              <a:r>
                <a:rPr lang="en-US" altLang="zh-CN" sz="2400" dirty="0">
                  <a:latin typeface="+mn-ea"/>
                </a:rPr>
                <a:t>B2</a:t>
              </a:r>
              <a:endParaRPr lang="zh-CN" altLang="en-US" sz="2400" dirty="0"/>
            </a:p>
          </p:txBody>
        </p:sp>
        <p:sp>
          <p:nvSpPr>
            <p:cNvPr id="23" name="左大括号 22">
              <a:extLst>
                <a:ext uri="{FF2B5EF4-FFF2-40B4-BE49-F238E27FC236}">
                  <a16:creationId xmlns:a16="http://schemas.microsoft.com/office/drawing/2014/main" id="{DBE4A441-5337-C32C-5DD0-7B8B002B4F38}"/>
                </a:ext>
              </a:extLst>
            </p:cNvPr>
            <p:cNvSpPr/>
            <p:nvPr/>
          </p:nvSpPr>
          <p:spPr>
            <a:xfrm>
              <a:off x="7020272" y="1480803"/>
              <a:ext cx="250788" cy="4448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09585F85-D701-5724-B349-26FA46B678DE}"/>
                </a:ext>
              </a:extLst>
            </p:cNvPr>
            <p:cNvSpPr/>
            <p:nvPr/>
          </p:nvSpPr>
          <p:spPr>
            <a:xfrm>
              <a:off x="6718460" y="1484784"/>
              <a:ext cx="373820" cy="461665"/>
            </a:xfrm>
            <a:prstGeom prst="rect">
              <a:avLst/>
            </a:prstGeom>
          </p:spPr>
          <p:txBody>
            <a:bodyPr wrap="none">
              <a:spAutoFit/>
            </a:bodyPr>
            <a:lstStyle/>
            <a:p>
              <a:r>
                <a:rPr lang="en-US" altLang="zh-CN" sz="2400" dirty="0">
                  <a:latin typeface="+mn-ea"/>
                </a:rPr>
                <a:t>B</a:t>
              </a:r>
              <a:endParaRPr lang="zh-CN" altLang="en-US" sz="2400" dirty="0"/>
            </a:p>
          </p:txBody>
        </p:sp>
        <p:sp>
          <p:nvSpPr>
            <p:cNvPr id="25" name="左大括号 24">
              <a:extLst>
                <a:ext uri="{FF2B5EF4-FFF2-40B4-BE49-F238E27FC236}">
                  <a16:creationId xmlns:a16="http://schemas.microsoft.com/office/drawing/2014/main" id="{CBE1A6A5-BD6F-F688-B15C-5BE522C3F5CF}"/>
                </a:ext>
              </a:extLst>
            </p:cNvPr>
            <p:cNvSpPr/>
            <p:nvPr/>
          </p:nvSpPr>
          <p:spPr>
            <a:xfrm>
              <a:off x="7030824" y="2063445"/>
              <a:ext cx="216023" cy="46050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1D324AD9-815C-2480-3039-F877F6D1799D}"/>
                </a:ext>
              </a:extLst>
            </p:cNvPr>
            <p:cNvSpPr/>
            <p:nvPr/>
          </p:nvSpPr>
          <p:spPr>
            <a:xfrm>
              <a:off x="6615597" y="2062287"/>
              <a:ext cx="518091" cy="461665"/>
            </a:xfrm>
            <a:prstGeom prst="rect">
              <a:avLst/>
            </a:prstGeom>
          </p:spPr>
          <p:txBody>
            <a:bodyPr wrap="none">
              <a:spAutoFit/>
            </a:bodyPr>
            <a:lstStyle/>
            <a:p>
              <a:r>
                <a:rPr lang="en-US" altLang="zh-CN" sz="2400" dirty="0">
                  <a:latin typeface="+mn-ea"/>
                </a:rPr>
                <a:t>B1</a:t>
              </a:r>
              <a:endParaRPr lang="zh-CN" altLang="en-US" sz="2400" dirty="0"/>
            </a:p>
          </p:txBody>
        </p:sp>
      </p:grpSp>
    </p:spTree>
    <p:extLst>
      <p:ext uri="{BB962C8B-B14F-4D97-AF65-F5344CB8AC3E}">
        <p14:creationId xmlns:p14="http://schemas.microsoft.com/office/powerpoint/2010/main" val="3384965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Rectangle 5"/>
          <p:cNvSpPr>
            <a:spLocks noGrp="1" noChangeArrowheads="1"/>
          </p:cNvSpPr>
          <p:nvPr>
            <p:ph idx="1"/>
          </p:nvPr>
        </p:nvSpPr>
        <p:spPr>
          <a:xfrm>
            <a:off x="342900" y="421432"/>
            <a:ext cx="8458200" cy="5292824"/>
          </a:xfrm>
          <a:solidFill>
            <a:schemeClr val="bg2">
              <a:lumMod val="90000"/>
            </a:schemeClr>
          </a:solidFill>
        </p:spPr>
        <p:txBody>
          <a:bodyPr>
            <a:normAutofit/>
          </a:bodyPr>
          <a:lstStyle/>
          <a:p>
            <a:pPr eaLnBrk="1" hangingPunct="1">
              <a:lnSpc>
                <a:spcPct val="90000"/>
              </a:lnSpc>
              <a:buFont typeface="Wingdings" pitchFamily="2" charset="2"/>
              <a:buNone/>
              <a:defRPr/>
            </a:pPr>
            <a:r>
              <a:rPr lang="en-US" altLang="zh-CN" sz="2000" dirty="0">
                <a:latin typeface="Consolas" panose="020B0609020204030204" pitchFamily="49" charset="0"/>
              </a:rPr>
              <a:t>#include &lt;</a:t>
            </a:r>
            <a:r>
              <a:rPr lang="en-US" altLang="zh-CN" sz="2000" dirty="0" err="1">
                <a:latin typeface="Consolas" panose="020B0609020204030204" pitchFamily="49" charset="0"/>
              </a:rPr>
              <a:t>iostream</a:t>
            </a:r>
            <a:r>
              <a:rPr lang="en-US" altLang="zh-CN" sz="2000" dirty="0">
                <a:latin typeface="Consolas" panose="020B0609020204030204" pitchFamily="49" charset="0"/>
              </a:rPr>
              <a:t>&gt;</a:t>
            </a:r>
          </a:p>
          <a:p>
            <a:pPr eaLnBrk="1" hangingPunct="1">
              <a:lnSpc>
                <a:spcPct val="90000"/>
              </a:lnSpc>
              <a:buFont typeface="Wingdings" pitchFamily="2" charset="2"/>
              <a:buNone/>
              <a:defRPr/>
            </a:pPr>
            <a:r>
              <a:rPr lang="en-US" altLang="zh-CN" sz="2000" dirty="0">
                <a:latin typeface="Consolas" panose="020B0609020204030204" pitchFamily="49" charset="0"/>
              </a:rPr>
              <a:t>using namespace std;</a:t>
            </a:r>
          </a:p>
          <a:p>
            <a:pPr>
              <a:lnSpc>
                <a:spcPct val="90000"/>
              </a:lnSpc>
              <a:buNone/>
              <a:defRPr/>
            </a:pPr>
            <a:r>
              <a:rPr lang="en-US" altLang="zh-CN" sz="2000" dirty="0">
                <a:latin typeface="Consolas" panose="020B0609020204030204" pitchFamily="49" charset="0"/>
              </a:rPr>
              <a:t>class Base0 					//</a:t>
            </a:r>
            <a:r>
              <a:rPr lang="zh-CN" altLang="en-US" sz="2000" dirty="0">
                <a:latin typeface="Consolas" panose="020B0609020204030204" pitchFamily="49" charset="0"/>
              </a:rPr>
              <a:t>定义基类</a:t>
            </a:r>
            <a:r>
              <a:rPr lang="en-US" altLang="zh-CN" sz="2000" dirty="0">
                <a:latin typeface="Consolas" panose="020B0609020204030204" pitchFamily="49" charset="0"/>
              </a:rPr>
              <a:t>Base0</a:t>
            </a:r>
          </a:p>
          <a:p>
            <a:pPr eaLnBrk="1" hangingPunct="1">
              <a:lnSpc>
                <a:spcPct val="90000"/>
              </a:lnSpc>
              <a:buFont typeface="Wingdings" pitchFamily="2" charset="2"/>
              <a:buNone/>
              <a:defRPr/>
            </a:pPr>
            <a:r>
              <a:rPr lang="en-US" altLang="zh-CN" sz="2000" dirty="0">
                <a:latin typeface="Consolas" panose="020B0609020204030204" pitchFamily="49" charset="0"/>
              </a:rPr>
              <a:t>{public:</a:t>
            </a:r>
          </a:p>
          <a:p>
            <a:pPr eaLnBrk="1" hangingPunct="1">
              <a:lnSpc>
                <a:spcPct val="90000"/>
              </a:lnSpc>
              <a:buFont typeface="Wingdings" pitchFamily="2" charset="2"/>
              <a:buNone/>
              <a:defRPr/>
            </a:pPr>
            <a:r>
              <a:rPr lang="en-US" altLang="zh-CN" sz="2000" dirty="0">
                <a:latin typeface="Consolas" panose="020B0609020204030204" pitchFamily="49" charset="0"/>
              </a:rPr>
              <a:t>	int _var0;</a:t>
            </a:r>
          </a:p>
          <a:p>
            <a:pPr eaLnBrk="1" hangingPunct="1">
              <a:lnSpc>
                <a:spcPct val="90000"/>
              </a:lnSpc>
              <a:buFont typeface="Wingdings" pitchFamily="2" charset="2"/>
              <a:buNone/>
              <a:defRPr/>
            </a:pPr>
            <a:r>
              <a:rPr lang="en-US" altLang="zh-CN" sz="2000" dirty="0">
                <a:latin typeface="Consolas" panose="020B0609020204030204" pitchFamily="49" charset="0"/>
              </a:rPr>
              <a:t>	void fun0() { </a:t>
            </a:r>
            <a:r>
              <a:rPr lang="en-US" altLang="zh-CN" sz="2000" dirty="0" err="1">
                <a:latin typeface="Consolas" panose="020B0609020204030204" pitchFamily="49" charset="0"/>
              </a:rPr>
              <a:t>cout</a:t>
            </a:r>
            <a:r>
              <a:rPr lang="en-US" altLang="zh-CN" sz="2000" dirty="0">
                <a:latin typeface="Consolas" panose="020B0609020204030204" pitchFamily="49" charset="0"/>
              </a:rPr>
              <a:t> &lt;&lt; "Member of Base0" &lt;&lt; </a:t>
            </a:r>
            <a:r>
              <a:rPr lang="en-US" altLang="zh-CN" sz="2000" dirty="0" err="1">
                <a:latin typeface="Consolas" panose="020B0609020204030204" pitchFamily="49" charset="0"/>
              </a:rPr>
              <a:t>endl</a:t>
            </a:r>
            <a:r>
              <a:rPr lang="en-US" altLang="zh-CN" sz="2000" dirty="0">
                <a:latin typeface="Consolas" panose="020B0609020204030204" pitchFamily="49" charset="0"/>
              </a:rPr>
              <a:t>; }</a:t>
            </a:r>
          </a:p>
          <a:p>
            <a:pPr eaLnBrk="1" hangingPunct="1">
              <a:lnSpc>
                <a:spcPct val="90000"/>
              </a:lnSpc>
              <a:buFont typeface="Wingdings" pitchFamily="2" charset="2"/>
              <a:buNone/>
              <a:defRPr/>
            </a:pPr>
            <a:r>
              <a:rPr lang="en-US" altLang="zh-CN" sz="2000" dirty="0">
                <a:latin typeface="Consolas" panose="020B0609020204030204" pitchFamily="49" charset="0"/>
              </a:rPr>
              <a:t>};</a:t>
            </a:r>
          </a:p>
          <a:p>
            <a:pPr>
              <a:lnSpc>
                <a:spcPct val="90000"/>
              </a:lnSpc>
              <a:buNone/>
              <a:defRPr/>
            </a:pPr>
            <a:r>
              <a:rPr lang="en-US" altLang="zh-CN" sz="2000" dirty="0">
                <a:latin typeface="Consolas" panose="020B0609020204030204" pitchFamily="49" charset="0"/>
              </a:rPr>
              <a:t>class Base1: </a:t>
            </a:r>
            <a:r>
              <a:rPr lang="en-US" altLang="zh-CN" sz="2000" dirty="0">
                <a:solidFill>
                  <a:srgbClr val="FF0000"/>
                </a:solidFill>
                <a:latin typeface="Consolas" panose="020B0609020204030204" pitchFamily="49" charset="0"/>
              </a:rPr>
              <a:t>virtual</a:t>
            </a:r>
            <a:r>
              <a:rPr lang="en-US" altLang="zh-CN" sz="2000" dirty="0">
                <a:latin typeface="Consolas" panose="020B0609020204030204" pitchFamily="49" charset="0"/>
              </a:rPr>
              <a:t> public Base0	 //</a:t>
            </a:r>
            <a:r>
              <a:rPr lang="zh-CN" altLang="en-US" sz="2000" dirty="0">
                <a:latin typeface="Consolas" panose="020B0609020204030204" pitchFamily="49" charset="0"/>
              </a:rPr>
              <a:t>定义派生类</a:t>
            </a:r>
            <a:r>
              <a:rPr lang="en-US" altLang="zh-CN" sz="2000" dirty="0">
                <a:latin typeface="Consolas" panose="020B0609020204030204" pitchFamily="49" charset="0"/>
              </a:rPr>
              <a:t>Base1</a:t>
            </a:r>
            <a:endParaRPr lang="zh-CN" altLang="en-US" sz="2000" dirty="0">
              <a:latin typeface="Consolas" panose="020B0609020204030204" pitchFamily="49" charset="0"/>
            </a:endParaRPr>
          </a:p>
          <a:p>
            <a:pPr eaLnBrk="1" hangingPunct="1">
              <a:lnSpc>
                <a:spcPct val="90000"/>
              </a:lnSpc>
              <a:buFont typeface="Wingdings" pitchFamily="2" charset="2"/>
              <a:buNone/>
              <a:defRPr/>
            </a:pPr>
            <a:r>
              <a:rPr lang="en-US" altLang="zh-CN" sz="2000" dirty="0">
                <a:latin typeface="Consolas" panose="020B0609020204030204" pitchFamily="49" charset="0"/>
              </a:rPr>
              <a:t>{public:	</a:t>
            </a:r>
            <a:endParaRPr lang="zh-CN" altLang="en-US" sz="2000" dirty="0">
              <a:latin typeface="Consolas" panose="020B0609020204030204" pitchFamily="49" charset="0"/>
            </a:endParaRPr>
          </a:p>
          <a:p>
            <a:pPr eaLnBrk="1" hangingPunct="1">
              <a:lnSpc>
                <a:spcPct val="90000"/>
              </a:lnSpc>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int _var1;</a:t>
            </a:r>
          </a:p>
          <a:p>
            <a:pPr eaLnBrk="1" hangingPunct="1">
              <a:lnSpc>
                <a:spcPct val="90000"/>
              </a:lnSpc>
              <a:buFont typeface="Wingdings" pitchFamily="2" charset="2"/>
              <a:buNone/>
              <a:defRPr/>
            </a:pPr>
            <a:r>
              <a:rPr lang="en-US" altLang="zh-CN" sz="2000" dirty="0">
                <a:latin typeface="Consolas" panose="020B0609020204030204" pitchFamily="49" charset="0"/>
              </a:rPr>
              <a:t>};</a:t>
            </a:r>
          </a:p>
          <a:p>
            <a:pPr>
              <a:lnSpc>
                <a:spcPct val="90000"/>
              </a:lnSpc>
              <a:buNone/>
              <a:defRPr/>
            </a:pPr>
            <a:r>
              <a:rPr lang="en-US" altLang="zh-CN" sz="2000" dirty="0">
                <a:latin typeface="Consolas" panose="020B0609020204030204" pitchFamily="49" charset="0"/>
              </a:rPr>
              <a:t>class Base2: </a:t>
            </a:r>
            <a:r>
              <a:rPr lang="en-US" altLang="zh-CN" sz="2000" dirty="0">
                <a:solidFill>
                  <a:srgbClr val="FF0000"/>
                </a:solidFill>
                <a:latin typeface="Consolas" panose="020B0609020204030204" pitchFamily="49" charset="0"/>
              </a:rPr>
              <a:t>virtual</a:t>
            </a:r>
            <a:r>
              <a:rPr lang="en-US" altLang="zh-CN" sz="2000" dirty="0">
                <a:latin typeface="Consolas" panose="020B0609020204030204" pitchFamily="49" charset="0"/>
              </a:rPr>
              <a:t> public Base0 	//</a:t>
            </a:r>
            <a:r>
              <a:rPr lang="zh-CN" altLang="en-US" sz="2000" dirty="0">
                <a:latin typeface="Consolas" panose="020B0609020204030204" pitchFamily="49" charset="0"/>
              </a:rPr>
              <a:t>定义派生类</a:t>
            </a:r>
            <a:r>
              <a:rPr lang="en-US" altLang="zh-CN" sz="2000" dirty="0">
                <a:latin typeface="Consolas" panose="020B0609020204030204" pitchFamily="49" charset="0"/>
              </a:rPr>
              <a:t>Base2</a:t>
            </a:r>
            <a:endParaRPr lang="zh-CN" altLang="en-US" sz="2000" dirty="0">
              <a:latin typeface="Consolas" panose="020B0609020204030204" pitchFamily="49" charset="0"/>
            </a:endParaRPr>
          </a:p>
          <a:p>
            <a:pPr eaLnBrk="1" hangingPunct="1">
              <a:lnSpc>
                <a:spcPct val="90000"/>
              </a:lnSpc>
              <a:buFont typeface="Wingdings" pitchFamily="2" charset="2"/>
              <a:buNone/>
              <a:defRPr/>
            </a:pPr>
            <a:r>
              <a:rPr lang="en-US" altLang="zh-CN" sz="2000" dirty="0">
                <a:latin typeface="Consolas" panose="020B0609020204030204" pitchFamily="49" charset="0"/>
              </a:rPr>
              <a:t>{public:	</a:t>
            </a:r>
            <a:endParaRPr lang="zh-CN" altLang="en-US" sz="2000" dirty="0">
              <a:latin typeface="Consolas" panose="020B0609020204030204" pitchFamily="49" charset="0"/>
            </a:endParaRPr>
          </a:p>
          <a:p>
            <a:pPr eaLnBrk="1" hangingPunct="1">
              <a:lnSpc>
                <a:spcPct val="90000"/>
              </a:lnSpc>
              <a:buFont typeface="Wingdings" pitchFamily="2" charset="2"/>
              <a:buNone/>
              <a:defRPr/>
            </a:pPr>
            <a:r>
              <a:rPr lang="zh-CN" altLang="en-US" sz="2000" dirty="0">
                <a:latin typeface="Consolas" panose="020B0609020204030204" pitchFamily="49" charset="0"/>
              </a:rPr>
              <a:t>	</a:t>
            </a:r>
            <a:r>
              <a:rPr lang="en-US" altLang="zh-CN" sz="2000" dirty="0">
                <a:latin typeface="Consolas" panose="020B0609020204030204" pitchFamily="49" charset="0"/>
              </a:rPr>
              <a:t>int _var2;</a:t>
            </a:r>
          </a:p>
          <a:p>
            <a:pPr eaLnBrk="1" hangingPunct="1">
              <a:lnSpc>
                <a:spcPct val="90000"/>
              </a:lnSpc>
              <a:buFont typeface="Wingdings" pitchFamily="2" charset="2"/>
              <a:buNone/>
              <a:defRPr/>
            </a:pPr>
            <a:r>
              <a:rPr lang="en-US" altLang="zh-CN" sz="2000" dirty="0">
                <a:latin typeface="Consolas" panose="020B0609020204030204" pitchFamily="49" charset="0"/>
              </a:rPr>
              <a:t>};</a:t>
            </a:r>
          </a:p>
        </p:txBody>
      </p:sp>
      <p:sp>
        <p:nvSpPr>
          <p:cNvPr id="60419" name="Text Box 7"/>
          <p:cNvSpPr txBox="1">
            <a:spLocks noChangeArrowheads="1"/>
          </p:cNvSpPr>
          <p:nvPr/>
        </p:nvSpPr>
        <p:spPr bwMode="auto">
          <a:xfrm>
            <a:off x="8518525" y="6467475"/>
            <a:ext cx="611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fld id="{2E6D3C2F-25C0-4C67-8E73-E14318A0AD6B}" type="slidenum">
              <a:rPr lang="en-US" altLang="zh-CN" sz="1400"/>
              <a:pPr algn="r" eaLnBrk="1" hangingPunct="1">
                <a:spcBef>
                  <a:spcPct val="50000"/>
                </a:spcBef>
              </a:pPr>
              <a:t>14</a:t>
            </a:fld>
            <a:endParaRPr lang="en-US" altLang="zh-CN" sz="1400"/>
          </a:p>
        </p:txBody>
      </p:sp>
    </p:spTree>
    <p:extLst>
      <p:ext uri="{BB962C8B-B14F-4D97-AF65-F5344CB8AC3E}">
        <p14:creationId xmlns:p14="http://schemas.microsoft.com/office/powerpoint/2010/main" val="3826867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35496" y="376808"/>
            <a:ext cx="9022209" cy="6004520"/>
          </a:xfrm>
          <a:solidFill>
            <a:schemeClr val="bg2">
              <a:lumMod val="90000"/>
            </a:schemeClr>
          </a:solidFill>
        </p:spPr>
        <p:txBody>
          <a:bodyPr>
            <a:normAutofit/>
          </a:bodyPr>
          <a:lstStyle/>
          <a:p>
            <a:pPr>
              <a:lnSpc>
                <a:spcPct val="95000"/>
              </a:lnSpc>
              <a:buNone/>
              <a:tabLst>
                <a:tab pos="720725" algn="l"/>
              </a:tabLst>
              <a:defRPr/>
            </a:pPr>
            <a:r>
              <a:rPr lang="en-US" altLang="zh-CN" sz="2000" dirty="0">
                <a:latin typeface="Consolas" panose="020B0609020204030204" pitchFamily="49" charset="0"/>
              </a:rPr>
              <a:t>class Derived: public Base1, public Base2 	</a:t>
            </a:r>
            <a:r>
              <a:rPr lang="en-US" altLang="zh-CN" sz="1800" dirty="0">
                <a:latin typeface="Consolas" panose="020B0609020204030204" pitchFamily="49" charset="0"/>
              </a:rPr>
              <a:t>//</a:t>
            </a:r>
            <a:r>
              <a:rPr lang="zh-CN" altLang="en-US" sz="1800" dirty="0">
                <a:latin typeface="Consolas" panose="020B0609020204030204" pitchFamily="49" charset="0"/>
              </a:rPr>
              <a:t>定义派生类</a:t>
            </a:r>
            <a:r>
              <a:rPr lang="en-US" altLang="zh-CN" sz="1800" dirty="0">
                <a:latin typeface="Consolas" panose="020B0609020204030204" pitchFamily="49" charset="0"/>
              </a:rPr>
              <a:t>Derived </a:t>
            </a:r>
            <a:endParaRPr lang="en-US" altLang="zh-CN" sz="2000" dirty="0">
              <a:latin typeface="Consolas" panose="020B0609020204030204" pitchFamily="49" charset="0"/>
            </a:endParaRP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{public:	</a:t>
            </a:r>
            <a:endParaRPr lang="zh-CN" altLang="en-US" sz="2000" dirty="0">
              <a:latin typeface="Consolas" panose="020B0609020204030204" pitchFamily="49" charset="0"/>
            </a:endParaRPr>
          </a:p>
          <a:p>
            <a:pPr eaLnBrk="1" hangingPunct="1">
              <a:lnSpc>
                <a:spcPct val="95000"/>
              </a:lnSpc>
              <a:buFont typeface="Wingdings" pitchFamily="2" charset="2"/>
              <a:buNone/>
              <a:tabLst>
                <a:tab pos="720725" algn="l"/>
              </a:tabLst>
              <a:defRPr/>
            </a:pPr>
            <a:r>
              <a:rPr lang="zh-CN" altLang="en-US" sz="2000" dirty="0">
                <a:latin typeface="Consolas" panose="020B0609020204030204" pitchFamily="49" charset="0"/>
              </a:rPr>
              <a:t>	</a:t>
            </a:r>
            <a:r>
              <a:rPr lang="en-US" altLang="zh-CN" sz="2000" dirty="0">
                <a:latin typeface="Consolas" panose="020B0609020204030204" pitchFamily="49" charset="0"/>
              </a:rPr>
              <a:t>int _var;</a:t>
            </a: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	void fun()</a:t>
            </a: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	{	</a:t>
            </a:r>
            <a:r>
              <a:rPr lang="en-US" altLang="zh-CN" sz="2000" dirty="0" err="1">
                <a:latin typeface="Consolas" panose="020B0609020204030204" pitchFamily="49" charset="0"/>
              </a:rPr>
              <a:t>cout</a:t>
            </a:r>
            <a:r>
              <a:rPr lang="en-US" altLang="zh-CN" sz="2000" dirty="0">
                <a:latin typeface="Consolas" panose="020B0609020204030204" pitchFamily="49" charset="0"/>
              </a:rPr>
              <a:t> &lt;&lt; "Member of Derived"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	}</a:t>
            </a: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a:t>
            </a:r>
          </a:p>
          <a:p>
            <a:pPr>
              <a:lnSpc>
                <a:spcPct val="95000"/>
              </a:lnSpc>
              <a:buNone/>
              <a:tabLst>
                <a:tab pos="720725" algn="l"/>
              </a:tabLst>
              <a:defRPr/>
            </a:pPr>
            <a:r>
              <a:rPr lang="en-US" altLang="zh-CN" sz="2000" dirty="0">
                <a:latin typeface="Consolas" panose="020B0609020204030204" pitchFamily="49" charset="0"/>
              </a:rPr>
              <a:t>int main() 		</a:t>
            </a:r>
            <a:endParaRPr lang="zh-CN" altLang="en-US" sz="2000" dirty="0">
              <a:latin typeface="Consolas" panose="020B0609020204030204" pitchFamily="49" charset="0"/>
            </a:endParaRP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	Derived d;		</a:t>
            </a:r>
          </a:p>
          <a:p>
            <a:pPr>
              <a:lnSpc>
                <a:spcPct val="95000"/>
              </a:lnSpc>
              <a:buNone/>
              <a:tabLst>
                <a:tab pos="720725" algn="l"/>
              </a:tabLst>
              <a:defRPr/>
            </a:pPr>
            <a:r>
              <a:rPr lang="en-US" altLang="zh-CN" sz="2000" dirty="0">
                <a:latin typeface="Consolas" panose="020B0609020204030204" pitchFamily="49" charset="0"/>
              </a:rPr>
              <a:t>	d._var0 = 2;	//</a:t>
            </a:r>
            <a:r>
              <a:rPr lang="zh-CN" altLang="en-US" sz="2000" dirty="0">
                <a:latin typeface="Consolas" panose="020B0609020204030204" pitchFamily="49" charset="0"/>
              </a:rPr>
              <a:t>直接访问虚基类的成员数据</a:t>
            </a:r>
          </a:p>
          <a:p>
            <a:pPr>
              <a:lnSpc>
                <a:spcPct val="95000"/>
              </a:lnSpc>
              <a:buNone/>
              <a:tabLst>
                <a:tab pos="720725" algn="l"/>
              </a:tabLst>
              <a:defRPr/>
            </a:pPr>
            <a:r>
              <a:rPr lang="zh-CN" altLang="en-US" sz="2000" dirty="0">
                <a:latin typeface="Consolas" panose="020B0609020204030204" pitchFamily="49" charset="0"/>
              </a:rPr>
              <a:t>	</a:t>
            </a:r>
            <a:r>
              <a:rPr lang="en-US" altLang="zh-CN" sz="2000" dirty="0">
                <a:latin typeface="Consolas" panose="020B0609020204030204" pitchFamily="49" charset="0"/>
              </a:rPr>
              <a:t>d.fun0();		//</a:t>
            </a:r>
            <a:r>
              <a:rPr lang="zh-CN" altLang="en-US" sz="2000" dirty="0">
                <a:latin typeface="Consolas" panose="020B0609020204030204" pitchFamily="49" charset="0"/>
              </a:rPr>
              <a:t>直接访问虚基类的成员函数</a:t>
            </a:r>
          </a:p>
          <a:p>
            <a:pPr eaLnBrk="1" hangingPunct="1">
              <a:lnSpc>
                <a:spcPct val="95000"/>
              </a:lnSpc>
              <a:buFont typeface="Wingdings" pitchFamily="2" charset="2"/>
              <a:buNone/>
              <a:tabLst>
                <a:tab pos="720725" algn="l"/>
              </a:tabLst>
              <a:defRPr/>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eaLnBrk="1" hangingPunct="1">
              <a:lnSpc>
                <a:spcPct val="95000"/>
              </a:lnSpc>
              <a:buFont typeface="Wingdings" pitchFamily="2" charset="2"/>
              <a:buNone/>
              <a:tabLst>
                <a:tab pos="720725" algn="l"/>
              </a:tabLst>
              <a:defRPr/>
            </a:pPr>
            <a:r>
              <a:rPr lang="en-US" altLang="zh-CN" sz="2000" dirty="0">
                <a:latin typeface="Consolas" panose="020B0609020204030204" pitchFamily="49" charset="0"/>
              </a:rPr>
              <a:t>}</a:t>
            </a:r>
          </a:p>
        </p:txBody>
      </p:sp>
      <p:sp>
        <p:nvSpPr>
          <p:cNvPr id="61443" name="Text Box 5"/>
          <p:cNvSpPr txBox="1">
            <a:spLocks noChangeArrowheads="1"/>
          </p:cNvSpPr>
          <p:nvPr/>
        </p:nvSpPr>
        <p:spPr bwMode="auto">
          <a:xfrm>
            <a:off x="8518525" y="6467475"/>
            <a:ext cx="611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fld id="{1A3E8F6E-FC70-40F3-A5EC-9F0EABCA2E6F}" type="slidenum">
              <a:rPr lang="en-US" altLang="zh-CN" sz="1400"/>
              <a:pPr algn="r" eaLnBrk="1" hangingPunct="1">
                <a:spcBef>
                  <a:spcPct val="50000"/>
                </a:spcBef>
              </a:pPr>
              <a:t>15</a:t>
            </a:fld>
            <a:endParaRPr lang="en-US" altLang="zh-CN" sz="1400"/>
          </a:p>
        </p:txBody>
      </p:sp>
    </p:spTree>
    <p:extLst>
      <p:ext uri="{BB962C8B-B14F-4D97-AF65-F5344CB8AC3E}">
        <p14:creationId xmlns:p14="http://schemas.microsoft.com/office/powerpoint/2010/main" val="497537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xfrm>
            <a:off x="827584" y="116632"/>
            <a:ext cx="7772400" cy="1143000"/>
          </a:xfrm>
        </p:spPr>
        <p:txBody>
          <a:bodyPr/>
          <a:lstStyle/>
          <a:p>
            <a:pPr eaLnBrk="1" hangingPunct="1"/>
            <a:r>
              <a:rPr lang="zh-CN" altLang="en-US" dirty="0"/>
              <a:t>虚基类及其派生类构造函数</a:t>
            </a:r>
          </a:p>
        </p:txBody>
      </p:sp>
      <p:sp>
        <p:nvSpPr>
          <p:cNvPr id="62468" name="Rectangle 3"/>
          <p:cNvSpPr>
            <a:spLocks noGrp="1" noChangeArrowheads="1"/>
          </p:cNvSpPr>
          <p:nvPr>
            <p:ph idx="1"/>
          </p:nvPr>
        </p:nvSpPr>
        <p:spPr>
          <a:xfrm>
            <a:off x="611560" y="1268760"/>
            <a:ext cx="7988424" cy="4876800"/>
          </a:xfrm>
        </p:spPr>
        <p:txBody>
          <a:bodyPr/>
          <a:lstStyle/>
          <a:p>
            <a:pPr eaLnBrk="1" hangingPunct="1"/>
            <a:r>
              <a:rPr lang="zh-CN" altLang="en-US" sz="2800" dirty="0"/>
              <a:t>建立对象时所指定的类称为</a:t>
            </a:r>
            <a:r>
              <a:rPr lang="zh-CN" altLang="en-US" sz="2800" dirty="0">
                <a:solidFill>
                  <a:schemeClr val="tx2"/>
                </a:solidFill>
              </a:rPr>
              <a:t>最（远）派生类</a:t>
            </a:r>
            <a:r>
              <a:rPr lang="zh-CN" altLang="en-US" sz="2800" dirty="0"/>
              <a:t>。</a:t>
            </a:r>
          </a:p>
          <a:p>
            <a:pPr eaLnBrk="1" hangingPunct="1"/>
            <a:r>
              <a:rPr lang="zh-CN" altLang="en-US" sz="2800" dirty="0"/>
              <a:t>虚基类的成员是由最远派生类的构造函数通过调用虚基类的构造函数进行初始化的。</a:t>
            </a:r>
          </a:p>
          <a:p>
            <a:pPr eaLnBrk="1" hangingPunct="1"/>
            <a:r>
              <a:rPr lang="zh-CN" altLang="en-US" sz="2800" dirty="0"/>
              <a:t>在整个继承结构中，直接或间接继承虚基类的所有派生类，都必须在构造函数的成员初始化表中给出对虚基类的构造函数的调用。如果未列出，则表示调用该虚基类的默认构造函数。</a:t>
            </a:r>
          </a:p>
          <a:p>
            <a:pPr eaLnBrk="1" hangingPunct="1"/>
            <a:r>
              <a:rPr lang="zh-CN" altLang="en-US" sz="2800" dirty="0"/>
              <a:t>在建立对象时，只有最远派生类的构造函数调用虚基类的构造函数，该派生类的其他基类对虚基类构造函数的调用被忽略。</a:t>
            </a:r>
          </a:p>
        </p:txBody>
      </p:sp>
      <p:sp>
        <p:nvSpPr>
          <p:cNvPr id="624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E9AFA108-FCC7-43AA-882F-237D4EE7C9BF}" type="slidenum">
              <a:rPr lang="en-US" altLang="zh-CN" sz="1400" smtClean="0"/>
              <a:pPr eaLnBrk="1" hangingPunct="1"/>
              <a:t>16</a:t>
            </a:fld>
            <a:endParaRPr lang="en-US" altLang="zh-CN" sz="1400"/>
          </a:p>
        </p:txBody>
      </p:sp>
    </p:spTree>
    <p:extLst>
      <p:ext uri="{BB962C8B-B14F-4D97-AF65-F5344CB8AC3E}">
        <p14:creationId xmlns:p14="http://schemas.microsoft.com/office/powerpoint/2010/main" val="4077306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899592" y="-99392"/>
            <a:ext cx="7543800" cy="720080"/>
          </a:xfrm>
        </p:spPr>
        <p:txBody>
          <a:bodyPr>
            <a:normAutofit fontScale="90000"/>
          </a:bodyPr>
          <a:lstStyle/>
          <a:p>
            <a:pPr eaLnBrk="1" hangingPunct="1"/>
            <a:r>
              <a:rPr lang="zh-CN" altLang="en-US" dirty="0"/>
              <a:t>有虚基类时的构造函数举例</a:t>
            </a:r>
          </a:p>
        </p:txBody>
      </p:sp>
      <p:sp>
        <p:nvSpPr>
          <p:cNvPr id="98310" name="Rectangle 6"/>
          <p:cNvSpPr>
            <a:spLocks noGrp="1" noChangeArrowheads="1"/>
          </p:cNvSpPr>
          <p:nvPr>
            <p:ph idx="1"/>
          </p:nvPr>
        </p:nvSpPr>
        <p:spPr>
          <a:xfrm>
            <a:off x="35496" y="836712"/>
            <a:ext cx="3888432" cy="3096344"/>
          </a:xfrm>
          <a:solidFill>
            <a:schemeClr val="bg2">
              <a:lumMod val="90000"/>
            </a:schemeClr>
          </a:solidFill>
        </p:spPr>
        <p:txBody>
          <a:bodyPr>
            <a:noAutofit/>
          </a:bodyPr>
          <a:lstStyle/>
          <a:p>
            <a:pPr>
              <a:lnSpc>
                <a:spcPct val="95000"/>
              </a:lnSpc>
              <a:spcBef>
                <a:spcPct val="0"/>
              </a:spcBef>
              <a:buNone/>
              <a:defRPr/>
            </a:pPr>
            <a:r>
              <a:rPr lang="en-US" altLang="zh-CN" sz="1800" dirty="0">
                <a:latin typeface="Consolas" panose="020B0609020204030204" pitchFamily="49" charset="0"/>
              </a:rPr>
              <a:t>class Base0 	</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{public:</a:t>
            </a:r>
          </a:p>
          <a:p>
            <a:pPr>
              <a:lnSpc>
                <a:spcPct val="95000"/>
              </a:lnSpc>
              <a:spcBef>
                <a:spcPct val="0"/>
              </a:spcBef>
              <a:buNone/>
              <a:defRPr/>
            </a:pPr>
            <a:r>
              <a:rPr lang="en-US" altLang="zh-CN" sz="1800" dirty="0">
                <a:latin typeface="Consolas" panose="020B0609020204030204" pitchFamily="49" charset="0"/>
              </a:rPr>
              <a:t>	int _var0;</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	Base0(int var) : _var0(var) </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	{ }</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	void fun0()</a:t>
            </a:r>
          </a:p>
          <a:p>
            <a:pPr>
              <a:lnSpc>
                <a:spcPct val="95000"/>
              </a:lnSpc>
              <a:spcBef>
                <a:spcPct val="0"/>
              </a:spcBef>
              <a:buNone/>
              <a:defRPr/>
            </a:pPr>
            <a:r>
              <a:rPr lang="en-US" altLang="zh-CN" sz="1800" dirty="0">
                <a:latin typeface="Consolas" panose="020B0609020204030204" pitchFamily="49" charset="0"/>
              </a:rPr>
              <a:t>   { </a:t>
            </a:r>
            <a:r>
              <a:rPr lang="en-US" altLang="zh-CN" sz="1800" dirty="0" err="1">
                <a:latin typeface="Consolas" panose="020B0609020204030204" pitchFamily="49" charset="0"/>
              </a:rPr>
              <a:t>cout</a:t>
            </a:r>
            <a:r>
              <a:rPr lang="en-US" altLang="zh-CN" sz="1800" dirty="0">
                <a:latin typeface="Consolas" panose="020B0609020204030204" pitchFamily="49" charset="0"/>
              </a:rPr>
              <a:t>&lt;&lt;"Member of Base0"</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	      &lt;&lt;</a:t>
            </a:r>
            <a:r>
              <a:rPr lang="en-US" altLang="zh-CN" sz="1800" dirty="0" err="1">
                <a:latin typeface="Consolas" panose="020B0609020204030204" pitchFamily="49" charset="0"/>
              </a:rPr>
              <a:t>endl</a:t>
            </a:r>
            <a:r>
              <a:rPr lang="en-US" altLang="zh-CN" sz="1800" dirty="0">
                <a:latin typeface="Consolas" panose="020B0609020204030204" pitchFamily="49" charset="0"/>
              </a:rPr>
              <a:t>; </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   }</a:t>
            </a:r>
          </a:p>
          <a:p>
            <a:pPr eaLnBrk="1" hangingPunct="1">
              <a:lnSpc>
                <a:spcPct val="95000"/>
              </a:lnSpc>
              <a:spcBef>
                <a:spcPct val="0"/>
              </a:spcBef>
              <a:buFont typeface="Wingdings" pitchFamily="2" charset="2"/>
              <a:buNone/>
              <a:defRPr/>
            </a:pPr>
            <a:r>
              <a:rPr lang="en-US" altLang="zh-CN" sz="1800" dirty="0">
                <a:latin typeface="Consolas" panose="020B0609020204030204" pitchFamily="49" charset="0"/>
              </a:rPr>
              <a:t>};</a:t>
            </a:r>
          </a:p>
        </p:txBody>
      </p:sp>
      <p:sp>
        <p:nvSpPr>
          <p:cNvPr id="634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A1950F96-FB06-4F2B-A952-3F9B5C2F7220}" type="slidenum">
              <a:rPr lang="en-US" altLang="zh-CN" sz="1400" smtClean="0"/>
              <a:pPr eaLnBrk="1" hangingPunct="1"/>
              <a:t>17</a:t>
            </a:fld>
            <a:endParaRPr lang="en-US" altLang="zh-CN" sz="1400"/>
          </a:p>
        </p:txBody>
      </p:sp>
      <p:sp>
        <p:nvSpPr>
          <p:cNvPr id="2" name="矩形 1"/>
          <p:cNvSpPr/>
          <p:nvPr/>
        </p:nvSpPr>
        <p:spPr>
          <a:xfrm>
            <a:off x="3995936" y="836712"/>
            <a:ext cx="4608512" cy="2520280"/>
          </a:xfrm>
          <a:prstGeom prst="rect">
            <a:avLst/>
          </a:prstGeom>
          <a:solidFill>
            <a:schemeClr val="bg2">
              <a:lumMod val="90000"/>
            </a:schemeClr>
          </a:solidFill>
        </p:spPr>
        <p:txBody>
          <a:bodyPr vert="horz" rtlCol="0">
            <a:noAutofit/>
          </a:bodyPr>
          <a:lstStyle/>
          <a:p>
            <a:pPr marL="342900" indent="-342900">
              <a:lnSpc>
                <a:spcPct val="95000"/>
              </a:lnSpc>
              <a:spcBef>
                <a:spcPct val="0"/>
              </a:spcBef>
              <a:buClr>
                <a:schemeClr val="accent1"/>
              </a:buClr>
              <a:buSzPct val="50000"/>
            </a:pPr>
            <a:r>
              <a:rPr lang="en-US" altLang="zh-CN" dirty="0">
                <a:latin typeface="Consolas" panose="020B0609020204030204" pitchFamily="49" charset="0"/>
              </a:rPr>
              <a:t>class Base1: </a:t>
            </a:r>
            <a:r>
              <a:rPr lang="en-US" altLang="zh-CN" dirty="0">
                <a:solidFill>
                  <a:srgbClr val="FF0000"/>
                </a:solidFill>
                <a:latin typeface="Consolas" panose="020B0609020204030204" pitchFamily="49" charset="0"/>
              </a:rPr>
              <a:t>virtual</a:t>
            </a:r>
            <a:r>
              <a:rPr lang="en-US" altLang="zh-CN" dirty="0">
                <a:latin typeface="Consolas" panose="020B0609020204030204" pitchFamily="49" charset="0"/>
              </a:rPr>
              <a:t> public Base0</a:t>
            </a:r>
          </a:p>
          <a:p>
            <a:pPr marL="342900" indent="-342900">
              <a:lnSpc>
                <a:spcPct val="95000"/>
              </a:lnSpc>
              <a:spcBef>
                <a:spcPct val="0"/>
              </a:spcBef>
              <a:buClr>
                <a:schemeClr val="accent1"/>
              </a:buClr>
              <a:buSzPct val="50000"/>
            </a:pPr>
            <a:r>
              <a:rPr lang="en-US" altLang="zh-CN" dirty="0">
                <a:latin typeface="Consolas" panose="020B0609020204030204" pitchFamily="49" charset="0"/>
              </a:rPr>
              <a:t>{public:	</a:t>
            </a:r>
          </a:p>
          <a:p>
            <a:pPr marL="342900" indent="-342900">
              <a:lnSpc>
                <a:spcPct val="95000"/>
              </a:lnSpc>
              <a:spcBef>
                <a:spcPct val="0"/>
              </a:spcBef>
              <a:buClr>
                <a:schemeClr val="accent1"/>
              </a:buClr>
              <a:buSzPct val="50000"/>
            </a:pPr>
            <a:r>
              <a:rPr lang="zh-CN" altLang="en-US" dirty="0">
                <a:latin typeface="Consolas" panose="020B0609020204030204" pitchFamily="49" charset="0"/>
              </a:rPr>
              <a:t>	</a:t>
            </a:r>
            <a:r>
              <a:rPr lang="en-US" altLang="zh-CN" dirty="0">
                <a:latin typeface="Consolas" panose="020B0609020204030204" pitchFamily="49" charset="0"/>
              </a:rPr>
              <a:t>int _var1;</a:t>
            </a:r>
          </a:p>
          <a:p>
            <a:pPr marL="342900" indent="-342900">
              <a:lnSpc>
                <a:spcPct val="95000"/>
              </a:lnSpc>
              <a:spcBef>
                <a:spcPct val="0"/>
              </a:spcBef>
              <a:buClr>
                <a:schemeClr val="accent1"/>
              </a:buClr>
              <a:buSzPct val="50000"/>
            </a:pPr>
            <a:r>
              <a:rPr lang="en-US" altLang="zh-CN" dirty="0">
                <a:latin typeface="Consolas" panose="020B0609020204030204" pitchFamily="49" charset="0"/>
              </a:rPr>
              <a:t>	Base1(int var) : Base0(var) </a:t>
            </a:r>
          </a:p>
          <a:p>
            <a:pPr marL="342900" indent="-342900">
              <a:lnSpc>
                <a:spcPct val="95000"/>
              </a:lnSpc>
              <a:spcBef>
                <a:spcPct val="0"/>
              </a:spcBef>
              <a:buClr>
                <a:schemeClr val="accent1"/>
              </a:buClr>
              <a:buSzPct val="50000"/>
            </a:pPr>
            <a:r>
              <a:rPr lang="en-US" altLang="zh-CN" dirty="0">
                <a:latin typeface="Consolas" panose="020B0609020204030204" pitchFamily="49" charset="0"/>
              </a:rPr>
              <a:t>	{ }</a:t>
            </a:r>
          </a:p>
          <a:p>
            <a:pPr marL="342900" indent="-342900">
              <a:lnSpc>
                <a:spcPct val="95000"/>
              </a:lnSpc>
              <a:spcBef>
                <a:spcPct val="0"/>
              </a:spcBef>
              <a:buClr>
                <a:schemeClr val="accent1"/>
              </a:buClr>
              <a:buSzPct val="50000"/>
            </a:pPr>
            <a:r>
              <a:rPr lang="en-US" altLang="zh-CN" dirty="0">
                <a:latin typeface="Consolas" panose="020B0609020204030204" pitchFamily="49" charset="0"/>
              </a:rPr>
              <a:t>};</a:t>
            </a:r>
          </a:p>
        </p:txBody>
      </p:sp>
      <p:sp>
        <p:nvSpPr>
          <p:cNvPr id="3" name="矩形 2"/>
          <p:cNvSpPr/>
          <p:nvPr/>
        </p:nvSpPr>
        <p:spPr>
          <a:xfrm>
            <a:off x="3995936" y="3488087"/>
            <a:ext cx="4608512" cy="2548390"/>
          </a:xfrm>
          <a:prstGeom prst="rect">
            <a:avLst/>
          </a:prstGeom>
          <a:solidFill>
            <a:schemeClr val="accent5">
              <a:lumMod val="20000"/>
              <a:lumOff val="80000"/>
            </a:schemeClr>
          </a:solidFill>
        </p:spPr>
        <p:txBody>
          <a:bodyPr vert="horz" rtlCol="0">
            <a:noAutofit/>
          </a:bodyPr>
          <a:lstStyle/>
          <a:p>
            <a:pPr marL="342900" indent="-342900">
              <a:lnSpc>
                <a:spcPct val="95000"/>
              </a:lnSpc>
              <a:spcBef>
                <a:spcPct val="0"/>
              </a:spcBef>
              <a:buClr>
                <a:schemeClr val="accent1"/>
              </a:buClr>
              <a:buSzPct val="50000"/>
              <a:buFont typeface="Wingdings 2"/>
              <a:buNone/>
            </a:pPr>
            <a:r>
              <a:rPr lang="en-US" altLang="zh-CN" dirty="0">
                <a:latin typeface="Consolas" panose="020B0609020204030204" pitchFamily="49" charset="0"/>
              </a:rPr>
              <a:t>class Base2: </a:t>
            </a:r>
            <a:r>
              <a:rPr lang="en-US" altLang="zh-CN" dirty="0">
                <a:solidFill>
                  <a:srgbClr val="FF0000"/>
                </a:solidFill>
                <a:latin typeface="Consolas" panose="020B0609020204030204" pitchFamily="49" charset="0"/>
              </a:rPr>
              <a:t>virtual</a:t>
            </a:r>
            <a:r>
              <a:rPr lang="en-US" altLang="zh-CN" dirty="0">
                <a:latin typeface="Consolas" panose="020B0609020204030204" pitchFamily="49" charset="0"/>
              </a:rPr>
              <a:t> public Base0 </a:t>
            </a:r>
          </a:p>
          <a:p>
            <a:pPr marL="342900" indent="-342900">
              <a:lnSpc>
                <a:spcPct val="95000"/>
              </a:lnSpc>
              <a:spcBef>
                <a:spcPct val="0"/>
              </a:spcBef>
              <a:buClr>
                <a:schemeClr val="accent1"/>
              </a:buClr>
              <a:buSzPct val="50000"/>
              <a:buFont typeface="Wingdings 2"/>
              <a:buNone/>
            </a:pPr>
            <a:r>
              <a:rPr lang="en-US" altLang="zh-CN" dirty="0">
                <a:latin typeface="Consolas" panose="020B0609020204030204" pitchFamily="49" charset="0"/>
              </a:rPr>
              <a:t>{public:	</a:t>
            </a:r>
          </a:p>
          <a:p>
            <a:pPr marL="342900" indent="-342900">
              <a:lnSpc>
                <a:spcPct val="95000"/>
              </a:lnSpc>
              <a:spcBef>
                <a:spcPct val="0"/>
              </a:spcBef>
              <a:buClr>
                <a:schemeClr val="accent1"/>
              </a:buClr>
              <a:buSzPct val="50000"/>
              <a:buFont typeface="Wingdings 2"/>
              <a:buNone/>
            </a:pPr>
            <a:r>
              <a:rPr lang="zh-CN" altLang="en-US" dirty="0">
                <a:latin typeface="Consolas" panose="020B0609020204030204" pitchFamily="49" charset="0"/>
              </a:rPr>
              <a:t>	</a:t>
            </a:r>
            <a:r>
              <a:rPr lang="en-US" altLang="zh-CN" dirty="0">
                <a:latin typeface="Consolas" panose="020B0609020204030204" pitchFamily="49" charset="0"/>
              </a:rPr>
              <a:t>int _var2;</a:t>
            </a:r>
          </a:p>
          <a:p>
            <a:pPr marL="342900" indent="-342900">
              <a:lnSpc>
                <a:spcPct val="95000"/>
              </a:lnSpc>
              <a:spcBef>
                <a:spcPct val="0"/>
              </a:spcBef>
              <a:buClr>
                <a:schemeClr val="accent1"/>
              </a:buClr>
              <a:buSzPct val="50000"/>
              <a:buFont typeface="Wingdings 2"/>
              <a:buNone/>
            </a:pPr>
            <a:r>
              <a:rPr lang="en-US" altLang="zh-CN" dirty="0">
                <a:latin typeface="Consolas" panose="020B0609020204030204" pitchFamily="49" charset="0"/>
              </a:rPr>
              <a:t>	Base2(</a:t>
            </a:r>
            <a:r>
              <a:rPr lang="en-US" altLang="zh-CN" dirty="0" err="1">
                <a:latin typeface="Consolas" panose="020B0609020204030204" pitchFamily="49" charset="0"/>
              </a:rPr>
              <a:t>int</a:t>
            </a:r>
            <a:r>
              <a:rPr lang="en-US" altLang="zh-CN" dirty="0">
                <a:latin typeface="Consolas" panose="020B0609020204030204" pitchFamily="49" charset="0"/>
              </a:rPr>
              <a:t> </a:t>
            </a:r>
            <a:r>
              <a:rPr lang="en-US" altLang="zh-CN" dirty="0" err="1">
                <a:latin typeface="Consolas" panose="020B0609020204030204" pitchFamily="49" charset="0"/>
              </a:rPr>
              <a:t>var</a:t>
            </a:r>
            <a:r>
              <a:rPr lang="en-US" altLang="zh-CN" dirty="0">
                <a:latin typeface="Consolas" panose="020B0609020204030204" pitchFamily="49" charset="0"/>
              </a:rPr>
              <a:t>) : Base0(</a:t>
            </a:r>
            <a:r>
              <a:rPr lang="en-US" altLang="zh-CN" dirty="0" err="1">
                <a:latin typeface="Consolas" panose="020B0609020204030204" pitchFamily="49" charset="0"/>
              </a:rPr>
              <a:t>var</a:t>
            </a:r>
            <a:r>
              <a:rPr lang="en-US" altLang="zh-CN" dirty="0">
                <a:latin typeface="Consolas" panose="020B0609020204030204" pitchFamily="49" charset="0"/>
              </a:rPr>
              <a:t>)</a:t>
            </a:r>
          </a:p>
          <a:p>
            <a:pPr marL="342900" indent="-342900">
              <a:lnSpc>
                <a:spcPct val="95000"/>
              </a:lnSpc>
              <a:spcBef>
                <a:spcPct val="0"/>
              </a:spcBef>
              <a:buClr>
                <a:schemeClr val="accent1"/>
              </a:buClr>
              <a:buSzPct val="50000"/>
              <a:buFont typeface="Wingdings 2"/>
              <a:buNone/>
            </a:pPr>
            <a:r>
              <a:rPr lang="en-US" altLang="zh-CN" dirty="0">
                <a:latin typeface="Consolas" panose="020B0609020204030204" pitchFamily="49" charset="0"/>
              </a:rPr>
              <a:t>	{ }</a:t>
            </a:r>
          </a:p>
          <a:p>
            <a:pPr marL="342900" indent="-342900">
              <a:lnSpc>
                <a:spcPct val="95000"/>
              </a:lnSpc>
              <a:spcBef>
                <a:spcPct val="0"/>
              </a:spcBef>
              <a:buClr>
                <a:schemeClr val="accent1"/>
              </a:buClr>
              <a:buSzPct val="50000"/>
              <a:buFont typeface="Wingdings 2"/>
              <a:buNone/>
            </a:pPr>
            <a:r>
              <a:rPr lang="en-US" altLang="zh-CN" dirty="0">
                <a:latin typeface="Consolas" panose="020B0609020204030204" pitchFamily="49" charset="0"/>
              </a:rPr>
              <a:t>};</a:t>
            </a:r>
          </a:p>
        </p:txBody>
      </p:sp>
      <p:cxnSp>
        <p:nvCxnSpPr>
          <p:cNvPr id="5" name="直接连接符 4"/>
          <p:cNvCxnSpPr>
            <a:cxnSpLocks/>
          </p:cNvCxnSpPr>
          <p:nvPr/>
        </p:nvCxnSpPr>
        <p:spPr>
          <a:xfrm>
            <a:off x="539552" y="1988840"/>
            <a:ext cx="309634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p:cNvCxnSpPr>
          <p:nvPr/>
        </p:nvCxnSpPr>
        <p:spPr>
          <a:xfrm>
            <a:off x="4488196" y="1916832"/>
            <a:ext cx="332416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cxnSpLocks/>
          </p:cNvCxnSpPr>
          <p:nvPr/>
        </p:nvCxnSpPr>
        <p:spPr>
          <a:xfrm>
            <a:off x="4422086" y="4581128"/>
            <a:ext cx="339027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46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idx="1"/>
          </p:nvPr>
        </p:nvSpPr>
        <p:spPr>
          <a:xfrm>
            <a:off x="107504" y="380999"/>
            <a:ext cx="8568952" cy="6391275"/>
          </a:xfrm>
          <a:solidFill>
            <a:schemeClr val="bg2">
              <a:lumMod val="90000"/>
            </a:schemeClr>
          </a:solidFill>
        </p:spPr>
        <p:txBody>
          <a:bodyPr>
            <a:noAutofit/>
          </a:bodyPr>
          <a:lstStyle/>
          <a:p>
            <a:pPr>
              <a:lnSpc>
                <a:spcPct val="90000"/>
              </a:lnSpc>
              <a:buNone/>
              <a:defRPr/>
            </a:pPr>
            <a:r>
              <a:rPr lang="en-US" altLang="zh-CN" sz="1800" dirty="0">
                <a:latin typeface="Consolas" panose="020B0609020204030204" pitchFamily="49" charset="0"/>
              </a:rPr>
              <a:t>class Derived: public Base1, public Base2</a:t>
            </a:r>
          </a:p>
          <a:p>
            <a:pPr eaLnBrk="1" hangingPunct="1">
              <a:lnSpc>
                <a:spcPct val="90000"/>
              </a:lnSpc>
              <a:buFont typeface="Wingdings" pitchFamily="2" charset="2"/>
              <a:buNone/>
              <a:defRPr/>
            </a:pPr>
            <a:r>
              <a:rPr lang="en-US" altLang="zh-CN" sz="1800" dirty="0">
                <a:latin typeface="Consolas" panose="020B0609020204030204" pitchFamily="49" charset="0"/>
              </a:rPr>
              <a:t>{public:	</a:t>
            </a:r>
            <a:r>
              <a:rPr lang="zh-CN" altLang="en-US" sz="1800" dirty="0">
                <a:latin typeface="Consolas" panose="020B0609020204030204" pitchFamily="49" charset="0"/>
              </a:rPr>
              <a:t>	</a:t>
            </a:r>
            <a:endParaRPr lang="en-US" altLang="zh-CN" sz="1800" dirty="0">
              <a:latin typeface="Consolas" panose="020B0609020204030204" pitchFamily="49" charset="0"/>
            </a:endParaRPr>
          </a:p>
          <a:p>
            <a:pPr eaLnBrk="1" hangingPunct="1">
              <a:lnSpc>
                <a:spcPct val="90000"/>
              </a:lnSpc>
              <a:buFont typeface="Wingdings" pitchFamily="2" charset="2"/>
              <a:buNone/>
              <a:defRPr/>
            </a:pPr>
            <a:r>
              <a:rPr lang="en-US" altLang="zh-CN" sz="1800" dirty="0">
                <a:latin typeface="Consolas" panose="020B0609020204030204" pitchFamily="49" charset="0"/>
              </a:rPr>
              <a:t>	int _var;</a:t>
            </a:r>
          </a:p>
          <a:p>
            <a:pPr eaLnBrk="1" hangingPunct="1">
              <a:lnSpc>
                <a:spcPct val="90000"/>
              </a:lnSpc>
              <a:buFont typeface="Wingdings" pitchFamily="2" charset="2"/>
              <a:buNone/>
              <a:defRPr/>
            </a:pPr>
            <a:r>
              <a:rPr lang="en-US" altLang="zh-CN" sz="1800" dirty="0">
                <a:latin typeface="Consolas" panose="020B0609020204030204" pitchFamily="49" charset="0"/>
              </a:rPr>
              <a:t>	Derived(</a:t>
            </a:r>
            <a:r>
              <a:rPr lang="en-US" altLang="zh-CN" sz="1800" dirty="0" err="1">
                <a:latin typeface="Consolas" panose="020B0609020204030204" pitchFamily="49" charset="0"/>
              </a:rPr>
              <a:t>int</a:t>
            </a:r>
            <a:r>
              <a:rPr lang="en-US" altLang="zh-CN" sz="1800" dirty="0">
                <a:latin typeface="Consolas" panose="020B0609020204030204" pitchFamily="49" charset="0"/>
              </a:rPr>
              <a:t> </a:t>
            </a:r>
            <a:r>
              <a:rPr lang="en-US" altLang="zh-CN" sz="1800" dirty="0" err="1">
                <a:latin typeface="Consolas" panose="020B0609020204030204" pitchFamily="49" charset="0"/>
              </a:rPr>
              <a:t>var</a:t>
            </a:r>
            <a:r>
              <a:rPr lang="en-US" altLang="zh-CN" sz="1800" dirty="0">
                <a:latin typeface="Consolas" panose="020B0609020204030204" pitchFamily="49" charset="0"/>
              </a:rPr>
              <a:t>) : </a:t>
            </a:r>
            <a:r>
              <a:rPr lang="en-US" altLang="zh-CN" sz="1800" b="1" dirty="0">
                <a:solidFill>
                  <a:srgbClr val="FF0000"/>
                </a:solidFill>
                <a:latin typeface="Consolas" panose="020B0609020204030204" pitchFamily="49" charset="0"/>
              </a:rPr>
              <a:t>Base0(</a:t>
            </a:r>
            <a:r>
              <a:rPr lang="en-US" altLang="zh-CN" sz="1800" b="1" dirty="0" err="1">
                <a:solidFill>
                  <a:srgbClr val="FF0000"/>
                </a:solidFill>
                <a:latin typeface="Consolas" panose="020B0609020204030204" pitchFamily="49" charset="0"/>
              </a:rPr>
              <a:t>var</a:t>
            </a:r>
            <a:r>
              <a:rPr lang="en-US" altLang="zh-CN" sz="1800" b="1" dirty="0">
                <a:solidFill>
                  <a:srgbClr val="FF0000"/>
                </a:solidFill>
                <a:latin typeface="Consolas" panose="020B0609020204030204" pitchFamily="49" charset="0"/>
              </a:rPr>
              <a:t>)</a:t>
            </a:r>
            <a:r>
              <a:rPr lang="en-US" altLang="zh-CN" sz="1800" dirty="0">
                <a:latin typeface="Consolas" panose="020B0609020204030204" pitchFamily="49" charset="0"/>
              </a:rPr>
              <a:t>, Base1(</a:t>
            </a:r>
            <a:r>
              <a:rPr lang="en-US" altLang="zh-CN" sz="1800" dirty="0" err="1">
                <a:latin typeface="Consolas" panose="020B0609020204030204" pitchFamily="49" charset="0"/>
              </a:rPr>
              <a:t>var</a:t>
            </a:r>
            <a:r>
              <a:rPr lang="en-US" altLang="zh-CN" sz="1800" dirty="0">
                <a:latin typeface="Consolas" panose="020B0609020204030204" pitchFamily="49" charset="0"/>
              </a:rPr>
              <a:t>), Base2(</a:t>
            </a:r>
            <a:r>
              <a:rPr lang="en-US" altLang="zh-CN" sz="1800" dirty="0" err="1">
                <a:latin typeface="Consolas" panose="020B0609020204030204" pitchFamily="49" charset="0"/>
              </a:rPr>
              <a:t>var</a:t>
            </a:r>
            <a:r>
              <a:rPr lang="en-US" altLang="zh-CN" sz="1800" dirty="0">
                <a:latin typeface="Consolas" panose="020B0609020204030204" pitchFamily="49" charset="0"/>
              </a:rPr>
              <a:t>) </a:t>
            </a:r>
          </a:p>
          <a:p>
            <a:pPr eaLnBrk="1" hangingPunct="1">
              <a:lnSpc>
                <a:spcPct val="90000"/>
              </a:lnSpc>
              <a:buFont typeface="Wingdings" pitchFamily="2" charset="2"/>
              <a:buNone/>
              <a:defRPr/>
            </a:pPr>
            <a:r>
              <a:rPr lang="en-US" altLang="zh-CN" sz="1800" dirty="0">
                <a:latin typeface="Consolas" panose="020B0609020204030204" pitchFamily="49" charset="0"/>
              </a:rPr>
              <a:t>	{ }</a:t>
            </a:r>
          </a:p>
          <a:p>
            <a:pPr eaLnBrk="1" hangingPunct="1">
              <a:lnSpc>
                <a:spcPct val="90000"/>
              </a:lnSpc>
              <a:buFont typeface="Wingdings" pitchFamily="2" charset="2"/>
              <a:buNone/>
              <a:defRPr/>
            </a:pPr>
            <a:r>
              <a:rPr lang="en-US" altLang="zh-CN" sz="1800" dirty="0">
                <a:latin typeface="Consolas" panose="020B0609020204030204" pitchFamily="49" charset="0"/>
              </a:rPr>
              <a:t>	void fun()</a:t>
            </a:r>
          </a:p>
          <a:p>
            <a:pPr eaLnBrk="1" hangingPunct="1">
              <a:lnSpc>
                <a:spcPct val="90000"/>
              </a:lnSpc>
              <a:buFont typeface="Wingdings" pitchFamily="2" charset="2"/>
              <a:buNone/>
              <a:defRPr/>
            </a:pPr>
            <a:r>
              <a:rPr lang="en-US" altLang="zh-CN" sz="1800" dirty="0">
                <a:latin typeface="Consolas" panose="020B0609020204030204" pitchFamily="49" charset="0"/>
              </a:rPr>
              <a:t>	{ </a:t>
            </a:r>
            <a:r>
              <a:rPr lang="en-US" altLang="zh-CN" sz="1800" dirty="0" err="1">
                <a:latin typeface="Consolas" panose="020B0609020204030204" pitchFamily="49" charset="0"/>
              </a:rPr>
              <a:t>cout</a:t>
            </a:r>
            <a:r>
              <a:rPr lang="en-US" altLang="zh-CN" sz="1800" dirty="0">
                <a:latin typeface="Consolas" panose="020B0609020204030204" pitchFamily="49" charset="0"/>
              </a:rPr>
              <a:t> &lt;&lt; "Member of Derived" &lt;&lt; </a:t>
            </a:r>
            <a:r>
              <a:rPr lang="en-US" altLang="zh-CN" sz="1800" dirty="0" err="1">
                <a:latin typeface="Consolas" panose="020B0609020204030204" pitchFamily="49" charset="0"/>
              </a:rPr>
              <a:t>endl</a:t>
            </a:r>
            <a:r>
              <a:rPr lang="en-US" altLang="zh-CN" sz="1800" dirty="0">
                <a:latin typeface="Consolas" panose="020B0609020204030204" pitchFamily="49" charset="0"/>
              </a:rPr>
              <a:t>; }</a:t>
            </a:r>
          </a:p>
          <a:p>
            <a:pPr eaLnBrk="1" hangingPunct="1">
              <a:lnSpc>
                <a:spcPct val="90000"/>
              </a:lnSpc>
              <a:buFont typeface="Wingdings" pitchFamily="2" charset="2"/>
              <a:buNone/>
              <a:defRPr/>
            </a:pPr>
            <a:r>
              <a:rPr lang="en-US" altLang="zh-CN" sz="1800" dirty="0">
                <a:latin typeface="Consolas" panose="020B0609020204030204" pitchFamily="49" charset="0"/>
              </a:rPr>
              <a:t>};</a:t>
            </a:r>
          </a:p>
          <a:p>
            <a:pPr>
              <a:lnSpc>
                <a:spcPct val="90000"/>
              </a:lnSpc>
              <a:buNone/>
              <a:defRPr/>
            </a:pPr>
            <a:r>
              <a:rPr lang="en-US" altLang="zh-CN" sz="1800" dirty="0" err="1">
                <a:latin typeface="Consolas" panose="020B0609020204030204" pitchFamily="49" charset="0"/>
              </a:rPr>
              <a:t>int</a:t>
            </a:r>
            <a:r>
              <a:rPr lang="en-US" altLang="zh-CN" sz="1800" dirty="0">
                <a:latin typeface="Consolas" panose="020B0609020204030204" pitchFamily="49" charset="0"/>
              </a:rPr>
              <a:t> main() 		</a:t>
            </a:r>
          </a:p>
          <a:p>
            <a:pPr>
              <a:lnSpc>
                <a:spcPct val="90000"/>
              </a:lnSpc>
              <a:buNone/>
              <a:defRPr/>
            </a:pPr>
            <a:r>
              <a:rPr lang="en-US" altLang="zh-CN" sz="1800" dirty="0">
                <a:latin typeface="Consolas" panose="020B0609020204030204" pitchFamily="49" charset="0"/>
              </a:rPr>
              <a:t>{</a:t>
            </a:r>
            <a:r>
              <a:rPr lang="zh-CN" altLang="en-US" sz="1800" dirty="0">
                <a:latin typeface="Consolas" panose="020B0609020204030204" pitchFamily="49" charset="0"/>
              </a:rPr>
              <a:t>	</a:t>
            </a:r>
            <a:r>
              <a:rPr lang="en-US" altLang="zh-CN" sz="1800" dirty="0">
                <a:latin typeface="Consolas" panose="020B0609020204030204" pitchFamily="49" charset="0"/>
              </a:rPr>
              <a:t>Derived d(1);	</a:t>
            </a:r>
          </a:p>
          <a:p>
            <a:pPr>
              <a:lnSpc>
                <a:spcPct val="90000"/>
              </a:lnSpc>
              <a:buNone/>
              <a:defRPr/>
            </a:pPr>
            <a:r>
              <a:rPr lang="en-US" altLang="zh-CN" sz="1800" dirty="0">
                <a:latin typeface="Consolas" panose="020B0609020204030204" pitchFamily="49" charset="0"/>
              </a:rPr>
              <a:t>	d._var0=2;	</a:t>
            </a:r>
            <a:endParaRPr lang="zh-CN" altLang="en-US" sz="1800" dirty="0">
              <a:latin typeface="Consolas" panose="020B0609020204030204" pitchFamily="49" charset="0"/>
            </a:endParaRPr>
          </a:p>
          <a:p>
            <a:pPr eaLnBrk="1" hangingPunct="1">
              <a:lnSpc>
                <a:spcPct val="90000"/>
              </a:lnSpc>
              <a:buFont typeface="Wingdings" pitchFamily="2" charset="2"/>
              <a:buNone/>
              <a:defRPr/>
            </a:pPr>
            <a:r>
              <a:rPr lang="zh-CN" altLang="en-US" sz="1800" dirty="0">
                <a:latin typeface="Consolas" panose="020B0609020204030204" pitchFamily="49" charset="0"/>
              </a:rPr>
              <a:t>	</a:t>
            </a:r>
            <a:r>
              <a:rPr lang="en-US" altLang="zh-CN" sz="1800" dirty="0">
                <a:latin typeface="Consolas" panose="020B0609020204030204" pitchFamily="49" charset="0"/>
              </a:rPr>
              <a:t>d.fun0();		</a:t>
            </a:r>
            <a:endParaRPr lang="zh-CN" altLang="en-US" sz="1800" dirty="0">
              <a:latin typeface="Consolas" panose="020B0609020204030204" pitchFamily="49" charset="0"/>
            </a:endParaRPr>
          </a:p>
          <a:p>
            <a:pPr eaLnBrk="1" hangingPunct="1">
              <a:lnSpc>
                <a:spcPct val="90000"/>
              </a:lnSpc>
              <a:buFont typeface="Wingdings" pitchFamily="2" charset="2"/>
              <a:buNone/>
              <a:defRPr/>
            </a:pPr>
            <a:r>
              <a:rPr lang="zh-CN" altLang="en-US" sz="1800" dirty="0">
                <a:latin typeface="Consolas" panose="020B0609020204030204" pitchFamily="49" charset="0"/>
              </a:rPr>
              <a:t>	</a:t>
            </a:r>
            <a:r>
              <a:rPr lang="en-US" altLang="zh-CN" sz="1800" dirty="0">
                <a:latin typeface="Consolas" panose="020B0609020204030204" pitchFamily="49" charset="0"/>
              </a:rPr>
              <a:t>return 0;</a:t>
            </a:r>
          </a:p>
          <a:p>
            <a:pPr eaLnBrk="1" hangingPunct="1">
              <a:lnSpc>
                <a:spcPct val="90000"/>
              </a:lnSpc>
              <a:buFont typeface="Wingdings" pitchFamily="2" charset="2"/>
              <a:buNone/>
              <a:defRPr/>
            </a:pPr>
            <a:r>
              <a:rPr lang="en-US" altLang="zh-CN" sz="1800" dirty="0">
                <a:latin typeface="Consolas" panose="020B0609020204030204" pitchFamily="49" charset="0"/>
              </a:rPr>
              <a:t>}</a:t>
            </a:r>
          </a:p>
        </p:txBody>
      </p:sp>
      <p:sp>
        <p:nvSpPr>
          <p:cNvPr id="64515" name="Text Box 5"/>
          <p:cNvSpPr txBox="1">
            <a:spLocks noChangeArrowheads="1"/>
          </p:cNvSpPr>
          <p:nvPr/>
        </p:nvSpPr>
        <p:spPr bwMode="auto">
          <a:xfrm>
            <a:off x="8518525" y="6467475"/>
            <a:ext cx="611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spcBef>
                <a:spcPct val="50000"/>
              </a:spcBef>
            </a:pPr>
            <a:fld id="{CEF6DD05-E3AE-42F0-B948-8CFCF9E50B26}" type="slidenum">
              <a:rPr lang="en-US" altLang="zh-CN" sz="1400"/>
              <a:pPr algn="r" eaLnBrk="1" hangingPunct="1">
                <a:spcBef>
                  <a:spcPct val="50000"/>
                </a:spcBef>
              </a:pPr>
              <a:t>18</a:t>
            </a:fld>
            <a:endParaRPr lang="en-US" altLang="zh-CN" sz="1400"/>
          </a:p>
        </p:txBody>
      </p:sp>
      <p:cxnSp>
        <p:nvCxnSpPr>
          <p:cNvPr id="4" name="直接连接符 3"/>
          <p:cNvCxnSpPr/>
          <p:nvPr/>
        </p:nvCxnSpPr>
        <p:spPr>
          <a:xfrm>
            <a:off x="539552" y="1628800"/>
            <a:ext cx="698477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2339752" y="2876602"/>
            <a:ext cx="6049906" cy="1569660"/>
          </a:xfrm>
          <a:prstGeom prst="rect">
            <a:avLst/>
          </a:prstGeom>
          <a:solidFill>
            <a:schemeClr val="accent6">
              <a:lumMod val="20000"/>
              <a:lumOff val="80000"/>
            </a:schemeClr>
          </a:solidFill>
        </p:spPr>
        <p:txBody>
          <a:bodyPr wrap="square">
            <a:spAutoFit/>
          </a:bodyPr>
          <a:lstStyle/>
          <a:p>
            <a:r>
              <a:rPr lang="zh-CN" altLang="en-US" sz="2400" dirty="0"/>
              <a:t>在最远派生类的构造函数中，只有最远派生类的构造函数调用虚基类的构造函数，该派生类的其他基类对虚基类构造函数的调用被忽略</a:t>
            </a:r>
          </a:p>
        </p:txBody>
      </p:sp>
      <p:cxnSp>
        <p:nvCxnSpPr>
          <p:cNvPr id="7" name="直接连接符 6"/>
          <p:cNvCxnSpPr>
            <a:cxnSpLocks/>
          </p:cNvCxnSpPr>
          <p:nvPr/>
        </p:nvCxnSpPr>
        <p:spPr>
          <a:xfrm>
            <a:off x="2483768" y="3645024"/>
            <a:ext cx="4734526" cy="0"/>
          </a:xfrm>
          <a:prstGeom prst="line">
            <a:avLst/>
          </a:prstGeom>
          <a:ln w="254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p:cNvCxnSpPr>
          <p:nvPr/>
        </p:nvCxnSpPr>
        <p:spPr>
          <a:xfrm>
            <a:off x="7020272" y="3284984"/>
            <a:ext cx="1216986" cy="0"/>
          </a:xfrm>
          <a:prstGeom prst="line">
            <a:avLst/>
          </a:prstGeom>
          <a:ln w="25400">
            <a:solidFill>
              <a:schemeClr val="tx2">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cxnSpLocks/>
          </p:cNvCxnSpPr>
          <p:nvPr/>
        </p:nvCxnSpPr>
        <p:spPr>
          <a:xfrm flipH="1" flipV="1">
            <a:off x="3635896" y="1700808"/>
            <a:ext cx="2448272" cy="19442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915816" y="1700808"/>
            <a:ext cx="1296144" cy="0"/>
          </a:xfrm>
          <a:prstGeom prst="line">
            <a:avLst/>
          </a:prstGeom>
          <a:ln w="254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cxnSpLocks/>
          </p:cNvCxnSpPr>
          <p:nvPr/>
        </p:nvCxnSpPr>
        <p:spPr>
          <a:xfrm>
            <a:off x="3347864" y="4005064"/>
            <a:ext cx="4824536" cy="0"/>
          </a:xfrm>
          <a:prstGeom prst="line">
            <a:avLst/>
          </a:prstGeom>
          <a:ln w="38100">
            <a:solidFill>
              <a:srgbClr val="007033"/>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cxnSpLocks/>
          </p:cNvCxnSpPr>
          <p:nvPr/>
        </p:nvCxnSpPr>
        <p:spPr>
          <a:xfrm>
            <a:off x="2463942" y="4428206"/>
            <a:ext cx="523882" cy="0"/>
          </a:xfrm>
          <a:prstGeom prst="line">
            <a:avLst/>
          </a:prstGeom>
          <a:ln w="38100">
            <a:solidFill>
              <a:srgbClr val="007033"/>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427984" y="1700808"/>
            <a:ext cx="1278142" cy="0"/>
          </a:xfrm>
          <a:prstGeom prst="line">
            <a:avLst/>
          </a:prstGeom>
          <a:ln w="38100">
            <a:solidFill>
              <a:srgbClr val="007033"/>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940152" y="1700808"/>
            <a:ext cx="1278142" cy="0"/>
          </a:xfrm>
          <a:prstGeom prst="line">
            <a:avLst/>
          </a:prstGeom>
          <a:ln w="38100">
            <a:solidFill>
              <a:srgbClr val="007033"/>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cxnSpLocks/>
          </p:cNvCxnSpPr>
          <p:nvPr/>
        </p:nvCxnSpPr>
        <p:spPr>
          <a:xfrm flipH="1" flipV="1">
            <a:off x="5076056" y="1700808"/>
            <a:ext cx="1865058" cy="2304256"/>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p:cNvCxnSpPr>
          <p:nvPr/>
        </p:nvCxnSpPr>
        <p:spPr>
          <a:xfrm flipH="1" flipV="1">
            <a:off x="6451422" y="1702387"/>
            <a:ext cx="496842" cy="2302676"/>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509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2"/>
          <p:cNvSpPr>
            <a:spLocks noGrp="1"/>
          </p:cNvSpPr>
          <p:nvPr>
            <p:ph idx="1"/>
          </p:nvPr>
        </p:nvSpPr>
        <p:spPr>
          <a:xfrm>
            <a:off x="911225" y="3141663"/>
            <a:ext cx="7772400" cy="3382962"/>
          </a:xfrm>
        </p:spPr>
        <p:txBody>
          <a:bodyPr/>
          <a:lstStyle/>
          <a:p>
            <a:pPr lvl="1">
              <a:spcBef>
                <a:spcPts val="600"/>
              </a:spcBef>
              <a:spcAft>
                <a:spcPts val="600"/>
              </a:spcAft>
            </a:pPr>
            <a:r>
              <a:rPr lang="en-US" altLang="zh-CN" sz="2000" dirty="0">
                <a:solidFill>
                  <a:srgbClr val="FF0000"/>
                </a:solidFill>
              </a:rPr>
              <a:t>Student</a:t>
            </a:r>
            <a:r>
              <a:rPr lang="zh-CN" altLang="en-US" sz="2000" dirty="0">
                <a:solidFill>
                  <a:srgbClr val="FF0000"/>
                </a:solidFill>
              </a:rPr>
              <a:t>类</a:t>
            </a:r>
            <a:endParaRPr lang="en-US" altLang="zh-CN" sz="2000" dirty="0">
              <a:solidFill>
                <a:srgbClr val="FF0000"/>
              </a:solidFill>
            </a:endParaRPr>
          </a:p>
          <a:p>
            <a:pPr lvl="1">
              <a:spcBef>
                <a:spcPts val="600"/>
              </a:spcBef>
              <a:spcAft>
                <a:spcPts val="600"/>
              </a:spcAft>
            </a:pPr>
            <a:r>
              <a:rPr lang="en-US" altLang="zh-CN" sz="2000" dirty="0">
                <a:solidFill>
                  <a:srgbClr val="FF0000"/>
                </a:solidFill>
              </a:rPr>
              <a:t>Employee</a:t>
            </a:r>
            <a:r>
              <a:rPr lang="zh-CN" altLang="en-US" sz="2000" dirty="0">
                <a:solidFill>
                  <a:srgbClr val="FF0000"/>
                </a:solidFill>
              </a:rPr>
              <a:t>类</a:t>
            </a:r>
            <a:endParaRPr lang="en-US" altLang="zh-CN" sz="2000" dirty="0">
              <a:solidFill>
                <a:srgbClr val="FF0000"/>
              </a:solidFill>
            </a:endParaRPr>
          </a:p>
          <a:p>
            <a:pPr lvl="1">
              <a:spcBef>
                <a:spcPts val="600"/>
              </a:spcBef>
              <a:spcAft>
                <a:spcPts val="600"/>
              </a:spcAft>
            </a:pPr>
            <a:r>
              <a:rPr lang="en-US" altLang="zh-CN" sz="2000" dirty="0" err="1">
                <a:solidFill>
                  <a:srgbClr val="FF0000"/>
                </a:solidFill>
              </a:rPr>
              <a:t>stuEmployee</a:t>
            </a:r>
            <a:r>
              <a:rPr lang="zh-CN" altLang="en-US" sz="2000" dirty="0">
                <a:solidFill>
                  <a:srgbClr val="FF0000"/>
                </a:solidFill>
              </a:rPr>
              <a:t>类</a:t>
            </a:r>
          </a:p>
          <a:p>
            <a:pPr>
              <a:spcBef>
                <a:spcPts val="600"/>
              </a:spcBef>
              <a:spcAft>
                <a:spcPts val="600"/>
              </a:spcAft>
            </a:pPr>
            <a:r>
              <a:rPr lang="zh-CN" altLang="en-US" sz="2400" dirty="0"/>
              <a:t>把这几类人员的</a:t>
            </a:r>
            <a:r>
              <a:rPr lang="zh-CN" altLang="en-US" sz="2400" dirty="0">
                <a:solidFill>
                  <a:srgbClr val="FF00FF"/>
                </a:solidFill>
              </a:rPr>
              <a:t>共同</a:t>
            </a:r>
            <a:r>
              <a:rPr lang="zh-CN" altLang="en-US" sz="2400" dirty="0"/>
              <a:t>特征和行为</a:t>
            </a:r>
            <a:r>
              <a:rPr lang="zh-CN" altLang="en-US" sz="2400" dirty="0">
                <a:solidFill>
                  <a:srgbClr val="FF00FF"/>
                </a:solidFill>
              </a:rPr>
              <a:t>抽象</a:t>
            </a:r>
            <a:r>
              <a:rPr lang="zh-CN" altLang="en-US" sz="2400" dirty="0"/>
              <a:t>形成基类</a:t>
            </a:r>
            <a:r>
              <a:rPr lang="en-US" altLang="zh-CN" sz="2400" dirty="0"/>
              <a:t>;</a:t>
            </a:r>
          </a:p>
          <a:p>
            <a:pPr lvl="1">
              <a:spcBef>
                <a:spcPts val="600"/>
              </a:spcBef>
              <a:spcAft>
                <a:spcPts val="600"/>
              </a:spcAft>
            </a:pPr>
            <a:r>
              <a:rPr lang="en-US" altLang="zh-CN" sz="2000" dirty="0">
                <a:solidFill>
                  <a:srgbClr val="FF0000"/>
                </a:solidFill>
              </a:rPr>
              <a:t>Person</a:t>
            </a:r>
            <a:r>
              <a:rPr lang="zh-CN" altLang="en-US" sz="2000" dirty="0">
                <a:solidFill>
                  <a:srgbClr val="FF0000"/>
                </a:solidFill>
              </a:rPr>
              <a:t>类</a:t>
            </a:r>
          </a:p>
        </p:txBody>
      </p:sp>
      <p:sp>
        <p:nvSpPr>
          <p:cNvPr id="4" name="内容占位符 6"/>
          <p:cNvSpPr>
            <a:spLocks noGrp="1"/>
          </p:cNvSpPr>
          <p:nvPr/>
        </p:nvSpPr>
        <p:spPr bwMode="auto">
          <a:xfrm>
            <a:off x="900113" y="1409700"/>
            <a:ext cx="7412037" cy="1515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chemeClr val="tx1"/>
                </a:solidFill>
                <a:latin typeface="Times New Roman" panose="02020603050405020304" pitchFamily="18" charset="0"/>
                <a:ea typeface="宋体" panose="02010600030101010101" pitchFamily="2" charset="-122"/>
                <a:cs typeface="+mn-cs"/>
              </a:defRPr>
            </a:lvl9pPr>
          </a:lstStyle>
          <a:p>
            <a:pPr eaLnBrk="1" hangingPunct="1">
              <a:defRPr/>
            </a:pPr>
            <a:r>
              <a:rPr lang="zh-CN" altLang="en-US" dirty="0"/>
              <a:t>虚基类</a:t>
            </a:r>
            <a:r>
              <a:rPr lang="zh-CN" altLang="en-US" b="0" dirty="0">
                <a:latin typeface="黑体" panose="02010609060101010101" pitchFamily="49" charset="-122"/>
                <a:ea typeface="黑体" panose="02010609060101010101" pitchFamily="49" charset="-122"/>
              </a:rPr>
              <a:t>编程实例</a:t>
            </a:r>
            <a:endParaRPr lang="en-US" altLang="zh-CN" b="0" dirty="0">
              <a:latin typeface="黑体" panose="02010609060101010101" pitchFamily="49" charset="-122"/>
              <a:ea typeface="黑体" panose="02010609060101010101" pitchFamily="49" charset="-122"/>
            </a:endParaRPr>
          </a:p>
          <a:p>
            <a:pPr eaLnBrk="1" hangingPunct="1">
              <a:buFont typeface="Wingdings 2" panose="05020102010507070707" pitchFamily="18" charset="2"/>
              <a:buNone/>
              <a:defRPr/>
            </a:pPr>
            <a:r>
              <a:rPr lang="zh-CN" altLang="en-US" sz="2200" b="0" dirty="0">
                <a:latin typeface="+mn-ea"/>
              </a:rPr>
              <a:t>一个学校的人员管理系统中，有学生、员工、助工三种类型的人</a:t>
            </a:r>
            <a:r>
              <a:rPr lang="en-US" altLang="zh-CN" sz="2200" b="0" dirty="0">
                <a:latin typeface="+mn-ea"/>
              </a:rPr>
              <a:t>,</a:t>
            </a:r>
            <a:r>
              <a:rPr lang="zh-CN" altLang="en-US" sz="2200" b="0" dirty="0">
                <a:latin typeface="+mn-ea"/>
              </a:rPr>
              <a:t>助工由勤工俭学的学生来兼任，兼有学生和员工两类人的特征，设计合适的类实现此人员管理系统。</a:t>
            </a:r>
          </a:p>
        </p:txBody>
      </p:sp>
    </p:spTree>
    <p:extLst>
      <p:ext uri="{BB962C8B-B14F-4D97-AF65-F5344CB8AC3E}">
        <p14:creationId xmlns:p14="http://schemas.microsoft.com/office/powerpoint/2010/main" val="1771751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a:grpSpLocks/>
          </p:cNvGrpSpPr>
          <p:nvPr/>
        </p:nvGrpSpPr>
        <p:grpSpPr bwMode="auto">
          <a:xfrm>
            <a:off x="6227763" y="322263"/>
            <a:ext cx="2663825" cy="6342062"/>
            <a:chOff x="2245" y="1696"/>
            <a:chExt cx="1678" cy="2324"/>
          </a:xfrm>
        </p:grpSpPr>
        <p:grpSp>
          <p:nvGrpSpPr>
            <p:cNvPr id="89115" name="Group 22"/>
            <p:cNvGrpSpPr>
              <a:grpSpLocks/>
            </p:cNvGrpSpPr>
            <p:nvPr/>
          </p:nvGrpSpPr>
          <p:grpSpPr bwMode="auto">
            <a:xfrm>
              <a:off x="2245" y="1696"/>
              <a:ext cx="1678" cy="2324"/>
              <a:chOff x="2245" y="1696"/>
              <a:chExt cx="1678" cy="2324"/>
            </a:xfrm>
          </p:grpSpPr>
          <p:sp>
            <p:nvSpPr>
              <p:cNvPr id="89128" name="Rectangle 23"/>
              <p:cNvSpPr>
                <a:spLocks noChangeArrowheads="1"/>
              </p:cNvSpPr>
              <p:nvPr/>
            </p:nvSpPr>
            <p:spPr bwMode="auto">
              <a:xfrm>
                <a:off x="2245" y="1696"/>
                <a:ext cx="1678" cy="192"/>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StuEmployee</a:t>
                </a:r>
              </a:p>
            </p:txBody>
          </p:sp>
          <p:sp>
            <p:nvSpPr>
              <p:cNvPr id="89129" name="Rectangle 24"/>
              <p:cNvSpPr>
                <a:spLocks noChangeArrowheads="1"/>
              </p:cNvSpPr>
              <p:nvPr/>
            </p:nvSpPr>
            <p:spPr bwMode="auto">
              <a:xfrm>
                <a:off x="2245" y="1888"/>
                <a:ext cx="1678" cy="2132"/>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endParaRPr kumimoji="1" lang="zh-CN" altLang="en-US" sz="1600" b="0">
                  <a:latin typeface="Trebuchet MS" pitchFamily="34" charset="0"/>
                </a:endParaRPr>
              </a:p>
            </p:txBody>
          </p:sp>
        </p:grpSp>
        <p:grpSp>
          <p:nvGrpSpPr>
            <p:cNvPr id="89116" name="Group 25"/>
            <p:cNvGrpSpPr>
              <a:grpSpLocks/>
            </p:cNvGrpSpPr>
            <p:nvPr/>
          </p:nvGrpSpPr>
          <p:grpSpPr bwMode="auto">
            <a:xfrm>
              <a:off x="2517" y="1979"/>
              <a:ext cx="1104" cy="906"/>
              <a:chOff x="2517" y="1979"/>
              <a:chExt cx="1104" cy="906"/>
            </a:xfrm>
          </p:grpSpPr>
          <p:sp>
            <p:nvSpPr>
              <p:cNvPr id="89126" name="Rectangle 26"/>
              <p:cNvSpPr>
                <a:spLocks noChangeArrowheads="1"/>
              </p:cNvSpPr>
              <p:nvPr/>
            </p:nvSpPr>
            <p:spPr bwMode="auto">
              <a:xfrm>
                <a:off x="2517" y="1979"/>
                <a:ext cx="1104" cy="192"/>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Student</a:t>
                </a:r>
              </a:p>
            </p:txBody>
          </p:sp>
          <p:sp>
            <p:nvSpPr>
              <p:cNvPr id="89127" name="Rectangle 27"/>
              <p:cNvSpPr>
                <a:spLocks noChangeArrowheads="1"/>
              </p:cNvSpPr>
              <p:nvPr/>
            </p:nvSpPr>
            <p:spPr bwMode="auto">
              <a:xfrm>
                <a:off x="2517" y="2160"/>
                <a:ext cx="1104" cy="725"/>
              </a:xfrm>
              <a:prstGeom prst="rect">
                <a:avLst/>
              </a:prstGeom>
              <a:solidFill>
                <a:srgbClr val="FFFF00"/>
              </a:solidFill>
              <a:ln w="25400">
                <a:solidFill>
                  <a:schemeClr val="tx1"/>
                </a:solidFill>
                <a:miter lim="800000"/>
                <a:headEnd/>
                <a:tailEnd/>
              </a:ln>
            </p:spPr>
            <p:txBody>
              <a:bodyPr wrap="none"/>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latin typeface="Trebuchet MS" pitchFamily="34" charset="0"/>
                  </a:rPr>
                  <a:t>StuedentID</a:t>
                </a:r>
              </a:p>
              <a:p>
                <a:pPr algn="ctr" eaLnBrk="1" hangingPunct="1">
                  <a:spcBef>
                    <a:spcPct val="0"/>
                  </a:spcBef>
                  <a:buClrTx/>
                  <a:buSzTx/>
                  <a:buFontTx/>
                  <a:buNone/>
                </a:pPr>
                <a:r>
                  <a:rPr kumimoji="1" lang="en-US" altLang="zh-CN" sz="1600">
                    <a:latin typeface="Trebuchet MS" pitchFamily="34" charset="0"/>
                  </a:rPr>
                  <a:t>Major</a:t>
                </a:r>
                <a:endParaRPr kumimoji="1" lang="zh-CN" altLang="en-US" sz="1600" b="0">
                  <a:latin typeface="Trebuchet MS" pitchFamily="34" charset="0"/>
                </a:endParaRPr>
              </a:p>
            </p:txBody>
          </p:sp>
        </p:grpSp>
        <p:grpSp>
          <p:nvGrpSpPr>
            <p:cNvPr id="89117" name="Group 28"/>
            <p:cNvGrpSpPr>
              <a:grpSpLocks/>
            </p:cNvGrpSpPr>
            <p:nvPr/>
          </p:nvGrpSpPr>
          <p:grpSpPr bwMode="auto">
            <a:xfrm>
              <a:off x="2675" y="2358"/>
              <a:ext cx="817" cy="500"/>
              <a:chOff x="2404" y="1677"/>
              <a:chExt cx="817" cy="500"/>
            </a:xfrm>
          </p:grpSpPr>
          <p:sp>
            <p:nvSpPr>
              <p:cNvPr id="89124" name="Rectangle 29"/>
              <p:cNvSpPr>
                <a:spLocks noChangeArrowheads="1"/>
              </p:cNvSpPr>
              <p:nvPr/>
            </p:nvSpPr>
            <p:spPr bwMode="auto">
              <a:xfrm>
                <a:off x="2404" y="1677"/>
                <a:ext cx="817" cy="192"/>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solidFill>
                      <a:srgbClr val="FF0000"/>
                    </a:solidFill>
                    <a:latin typeface="Trebuchet MS" pitchFamily="34" charset="0"/>
                  </a:rPr>
                  <a:t>Person</a:t>
                </a:r>
                <a:r>
                  <a:rPr kumimoji="1" lang="en-US" altLang="zh-CN" sz="2000" b="0">
                    <a:latin typeface="Trebuchet MS" pitchFamily="34" charset="0"/>
                  </a:rPr>
                  <a:t> </a:t>
                </a:r>
              </a:p>
            </p:txBody>
          </p:sp>
          <p:sp>
            <p:nvSpPr>
              <p:cNvPr id="89125" name="Rectangle 30"/>
              <p:cNvSpPr>
                <a:spLocks noChangeArrowheads="1"/>
              </p:cNvSpPr>
              <p:nvPr/>
            </p:nvSpPr>
            <p:spPr bwMode="auto">
              <a:xfrm>
                <a:off x="2404" y="1859"/>
                <a:ext cx="817" cy="318"/>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solidFill>
                      <a:srgbClr val="FF0000"/>
                    </a:solidFill>
                    <a:latin typeface="Trebuchet MS" pitchFamily="34" charset="0"/>
                  </a:rPr>
                  <a:t>name</a:t>
                </a:r>
              </a:p>
              <a:p>
                <a:pPr algn="ctr" eaLnBrk="1" hangingPunct="1">
                  <a:spcBef>
                    <a:spcPct val="0"/>
                  </a:spcBef>
                  <a:buClrTx/>
                  <a:buSzTx/>
                  <a:buFontTx/>
                  <a:buNone/>
                </a:pPr>
                <a:r>
                  <a:rPr kumimoji="1" lang="en-US" altLang="zh-CN" sz="1600" b="0">
                    <a:solidFill>
                      <a:srgbClr val="FF0000"/>
                    </a:solidFill>
                    <a:latin typeface="Trebuchet MS" pitchFamily="34" charset="0"/>
                  </a:rPr>
                  <a:t>age</a:t>
                </a:r>
              </a:p>
            </p:txBody>
          </p:sp>
        </p:grpSp>
        <p:grpSp>
          <p:nvGrpSpPr>
            <p:cNvPr id="89118" name="Group 31"/>
            <p:cNvGrpSpPr>
              <a:grpSpLocks/>
            </p:cNvGrpSpPr>
            <p:nvPr/>
          </p:nvGrpSpPr>
          <p:grpSpPr bwMode="auto">
            <a:xfrm>
              <a:off x="2517" y="2931"/>
              <a:ext cx="1104" cy="986"/>
              <a:chOff x="2517" y="2931"/>
              <a:chExt cx="1104" cy="986"/>
            </a:xfrm>
          </p:grpSpPr>
          <p:sp>
            <p:nvSpPr>
              <p:cNvPr id="89122" name="Rectangle 32"/>
              <p:cNvSpPr>
                <a:spLocks noChangeArrowheads="1"/>
              </p:cNvSpPr>
              <p:nvPr/>
            </p:nvSpPr>
            <p:spPr bwMode="auto">
              <a:xfrm>
                <a:off x="2517" y="2931"/>
                <a:ext cx="1104" cy="192"/>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Employee</a:t>
                </a:r>
              </a:p>
            </p:txBody>
          </p:sp>
          <p:sp>
            <p:nvSpPr>
              <p:cNvPr id="89123" name="Rectangle 33"/>
              <p:cNvSpPr>
                <a:spLocks noChangeArrowheads="1"/>
              </p:cNvSpPr>
              <p:nvPr/>
            </p:nvSpPr>
            <p:spPr bwMode="auto">
              <a:xfrm>
                <a:off x="2517" y="3112"/>
                <a:ext cx="1104" cy="805"/>
              </a:xfrm>
              <a:prstGeom prst="rect">
                <a:avLst/>
              </a:prstGeom>
              <a:solidFill>
                <a:srgbClr val="FFFF00"/>
              </a:solidFill>
              <a:ln w="25400">
                <a:solidFill>
                  <a:schemeClr val="tx1"/>
                </a:solidFill>
                <a:miter lim="800000"/>
                <a:headEnd/>
                <a:tailEnd/>
              </a:ln>
            </p:spPr>
            <p:txBody>
              <a:bodyPr wrap="none"/>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latin typeface="Trebuchet MS" pitchFamily="34" charset="0"/>
                  </a:rPr>
                  <a:t>EmployeeID</a:t>
                </a:r>
              </a:p>
              <a:p>
                <a:pPr algn="ctr" eaLnBrk="1" hangingPunct="1">
                  <a:spcBef>
                    <a:spcPct val="0"/>
                  </a:spcBef>
                  <a:buClrTx/>
                  <a:buSzTx/>
                  <a:buFontTx/>
                  <a:buNone/>
                </a:pPr>
                <a:r>
                  <a:rPr kumimoji="1" lang="en-US" altLang="zh-CN" sz="1600">
                    <a:latin typeface="Trebuchet MS" pitchFamily="34" charset="0"/>
                  </a:rPr>
                  <a:t>Department</a:t>
                </a:r>
                <a:endParaRPr kumimoji="1" lang="zh-CN" altLang="en-US" sz="1600" b="0">
                  <a:latin typeface="Trebuchet MS" pitchFamily="34" charset="0"/>
                </a:endParaRPr>
              </a:p>
            </p:txBody>
          </p:sp>
        </p:grpSp>
        <p:grpSp>
          <p:nvGrpSpPr>
            <p:cNvPr id="89119" name="Group 34"/>
            <p:cNvGrpSpPr>
              <a:grpSpLocks/>
            </p:cNvGrpSpPr>
            <p:nvPr/>
          </p:nvGrpSpPr>
          <p:grpSpPr bwMode="auto">
            <a:xfrm>
              <a:off x="2675" y="3371"/>
              <a:ext cx="817" cy="500"/>
              <a:chOff x="2402" y="1739"/>
              <a:chExt cx="817" cy="500"/>
            </a:xfrm>
          </p:grpSpPr>
          <p:sp>
            <p:nvSpPr>
              <p:cNvPr id="89120" name="Rectangle 35"/>
              <p:cNvSpPr>
                <a:spLocks noChangeArrowheads="1"/>
              </p:cNvSpPr>
              <p:nvPr/>
            </p:nvSpPr>
            <p:spPr bwMode="auto">
              <a:xfrm>
                <a:off x="2402" y="1739"/>
                <a:ext cx="817" cy="192"/>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solidFill>
                      <a:srgbClr val="FF0000"/>
                    </a:solidFill>
                    <a:latin typeface="Trebuchet MS" pitchFamily="34" charset="0"/>
                  </a:rPr>
                  <a:t>Person </a:t>
                </a:r>
              </a:p>
            </p:txBody>
          </p:sp>
          <p:sp>
            <p:nvSpPr>
              <p:cNvPr id="89121" name="Rectangle 36"/>
              <p:cNvSpPr>
                <a:spLocks noChangeArrowheads="1"/>
              </p:cNvSpPr>
              <p:nvPr/>
            </p:nvSpPr>
            <p:spPr bwMode="auto">
              <a:xfrm>
                <a:off x="2402" y="1921"/>
                <a:ext cx="817" cy="318"/>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solidFill>
                      <a:srgbClr val="FF0000"/>
                    </a:solidFill>
                    <a:latin typeface="Trebuchet MS" pitchFamily="34" charset="0"/>
                  </a:rPr>
                  <a:t>name</a:t>
                </a:r>
                <a:br>
                  <a:rPr kumimoji="1" lang="en-US" altLang="zh-CN" sz="1600" b="0">
                    <a:solidFill>
                      <a:srgbClr val="FF0000"/>
                    </a:solidFill>
                    <a:latin typeface="Trebuchet MS" pitchFamily="34" charset="0"/>
                  </a:rPr>
                </a:br>
                <a:r>
                  <a:rPr kumimoji="1" lang="en-US" altLang="zh-CN" sz="1600" b="0">
                    <a:solidFill>
                      <a:srgbClr val="FF0000"/>
                    </a:solidFill>
                    <a:latin typeface="Trebuchet MS" pitchFamily="34" charset="0"/>
                  </a:rPr>
                  <a:t>age</a:t>
                </a:r>
              </a:p>
            </p:txBody>
          </p:sp>
        </p:grpSp>
      </p:grpSp>
      <p:pic>
        <p:nvPicPr>
          <p:cNvPr id="7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5263" y="2471738"/>
            <a:ext cx="5905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509838"/>
            <a:ext cx="5905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427038"/>
            <a:ext cx="12954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1950" y="427038"/>
            <a:ext cx="12954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25" y="2887663"/>
            <a:ext cx="18669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813" y="2446338"/>
            <a:ext cx="1619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8688" y="2455863"/>
            <a:ext cx="1619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8"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7025" y="5426075"/>
            <a:ext cx="141922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3863" y="4916488"/>
            <a:ext cx="179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525" y="4913313"/>
            <a:ext cx="1809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01"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1900" y="2887663"/>
            <a:ext cx="20955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63"/>
          <p:cNvGrpSpPr>
            <a:grpSpLocks/>
          </p:cNvGrpSpPr>
          <p:nvPr/>
        </p:nvGrpSpPr>
        <p:grpSpPr bwMode="auto">
          <a:xfrm>
            <a:off x="3368675" y="1557338"/>
            <a:ext cx="2663825" cy="5106987"/>
            <a:chOff x="2483768" y="480832"/>
            <a:chExt cx="2663825" cy="5107728"/>
          </a:xfrm>
        </p:grpSpPr>
        <p:grpSp>
          <p:nvGrpSpPr>
            <p:cNvPr id="89104" name="Group 21"/>
            <p:cNvGrpSpPr>
              <a:grpSpLocks/>
            </p:cNvGrpSpPr>
            <p:nvPr/>
          </p:nvGrpSpPr>
          <p:grpSpPr bwMode="auto">
            <a:xfrm>
              <a:off x="2483768" y="480832"/>
              <a:ext cx="2663825" cy="5107728"/>
              <a:chOff x="2245" y="1696"/>
              <a:chExt cx="1678" cy="2115"/>
            </a:xfrm>
          </p:grpSpPr>
          <p:grpSp>
            <p:nvGrpSpPr>
              <p:cNvPr id="89109" name="Group 22"/>
              <p:cNvGrpSpPr>
                <a:grpSpLocks/>
              </p:cNvGrpSpPr>
              <p:nvPr/>
            </p:nvGrpSpPr>
            <p:grpSpPr bwMode="auto">
              <a:xfrm>
                <a:off x="2245" y="1696"/>
                <a:ext cx="1678" cy="2115"/>
                <a:chOff x="2245" y="1696"/>
                <a:chExt cx="1678" cy="2115"/>
              </a:xfrm>
            </p:grpSpPr>
            <p:sp>
              <p:nvSpPr>
                <p:cNvPr id="89113" name="Rectangle 23"/>
                <p:cNvSpPr>
                  <a:spLocks noChangeArrowheads="1"/>
                </p:cNvSpPr>
                <p:nvPr/>
              </p:nvSpPr>
              <p:spPr bwMode="auto">
                <a:xfrm>
                  <a:off x="2245" y="1696"/>
                  <a:ext cx="1678" cy="192"/>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StuEmployee</a:t>
                  </a:r>
                </a:p>
              </p:txBody>
            </p:sp>
            <p:sp>
              <p:nvSpPr>
                <p:cNvPr id="89114" name="Rectangle 24"/>
                <p:cNvSpPr>
                  <a:spLocks noChangeArrowheads="1"/>
                </p:cNvSpPr>
                <p:nvPr/>
              </p:nvSpPr>
              <p:spPr bwMode="auto">
                <a:xfrm>
                  <a:off x="2245" y="1888"/>
                  <a:ext cx="1678" cy="1923"/>
                </a:xfrm>
                <a:prstGeom prst="rect">
                  <a:avLst/>
                </a:prstGeom>
                <a:solidFill>
                  <a:srgbClr val="FFFF00"/>
                </a:solidFill>
                <a:ln w="9525">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endParaRPr kumimoji="1" lang="zh-CN" altLang="en-US" sz="1600" b="0">
                    <a:latin typeface="Trebuchet MS" pitchFamily="34" charset="0"/>
                  </a:endParaRPr>
                </a:p>
              </p:txBody>
            </p:sp>
          </p:grpSp>
          <p:grpSp>
            <p:nvGrpSpPr>
              <p:cNvPr id="89110" name="Group 31"/>
              <p:cNvGrpSpPr>
                <a:grpSpLocks/>
              </p:cNvGrpSpPr>
              <p:nvPr/>
            </p:nvGrpSpPr>
            <p:grpSpPr bwMode="auto">
              <a:xfrm>
                <a:off x="2525" y="3159"/>
                <a:ext cx="1090" cy="544"/>
                <a:chOff x="2525" y="3159"/>
                <a:chExt cx="1090" cy="544"/>
              </a:xfrm>
            </p:grpSpPr>
            <p:sp>
              <p:nvSpPr>
                <p:cNvPr id="89111" name="Rectangle 32"/>
                <p:cNvSpPr>
                  <a:spLocks noChangeArrowheads="1"/>
                </p:cNvSpPr>
                <p:nvPr/>
              </p:nvSpPr>
              <p:spPr bwMode="auto">
                <a:xfrm>
                  <a:off x="2525" y="3159"/>
                  <a:ext cx="1090" cy="192"/>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Employee</a:t>
                  </a:r>
                </a:p>
              </p:txBody>
            </p:sp>
            <p:sp>
              <p:nvSpPr>
                <p:cNvPr id="89112" name="Rectangle 33"/>
                <p:cNvSpPr>
                  <a:spLocks noChangeArrowheads="1"/>
                </p:cNvSpPr>
                <p:nvPr/>
              </p:nvSpPr>
              <p:spPr bwMode="auto">
                <a:xfrm>
                  <a:off x="2525" y="3340"/>
                  <a:ext cx="1090" cy="363"/>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latin typeface="Trebuchet MS" pitchFamily="34" charset="0"/>
                    </a:rPr>
                    <a:t>EmployeeID</a:t>
                  </a:r>
                </a:p>
                <a:p>
                  <a:pPr algn="ctr" eaLnBrk="1" hangingPunct="1">
                    <a:spcBef>
                      <a:spcPct val="0"/>
                    </a:spcBef>
                    <a:buClrTx/>
                    <a:buSzTx/>
                    <a:buFontTx/>
                    <a:buNone/>
                  </a:pPr>
                  <a:r>
                    <a:rPr kumimoji="1" lang="en-US" altLang="zh-CN" sz="1600">
                      <a:latin typeface="Trebuchet MS" pitchFamily="34" charset="0"/>
                    </a:rPr>
                    <a:t>Department</a:t>
                  </a:r>
                  <a:endParaRPr kumimoji="1" lang="zh-CN" altLang="en-US" sz="1600" b="0">
                    <a:latin typeface="Trebuchet MS" pitchFamily="34" charset="0"/>
                  </a:endParaRPr>
                </a:p>
              </p:txBody>
            </p:sp>
          </p:grpSp>
        </p:grpSp>
        <p:sp>
          <p:nvSpPr>
            <p:cNvPr id="89105" name="Rectangle 26"/>
            <p:cNvSpPr>
              <a:spLocks noChangeArrowheads="1"/>
            </p:cNvSpPr>
            <p:nvPr/>
          </p:nvSpPr>
          <p:spPr bwMode="auto">
            <a:xfrm>
              <a:off x="2915568" y="2415821"/>
              <a:ext cx="1729610" cy="463680"/>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latin typeface="Trebuchet MS" pitchFamily="34" charset="0"/>
                </a:rPr>
                <a:t>Student</a:t>
              </a:r>
            </a:p>
          </p:txBody>
        </p:sp>
        <p:sp>
          <p:nvSpPr>
            <p:cNvPr id="89106" name="Rectangle 27"/>
            <p:cNvSpPr>
              <a:spLocks noChangeArrowheads="1"/>
            </p:cNvSpPr>
            <p:nvPr/>
          </p:nvSpPr>
          <p:spPr bwMode="auto">
            <a:xfrm>
              <a:off x="2915568" y="2852936"/>
              <a:ext cx="1729610" cy="936104"/>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latin typeface="Trebuchet MS" pitchFamily="34" charset="0"/>
                </a:rPr>
                <a:t>StudentID</a:t>
              </a:r>
            </a:p>
            <a:p>
              <a:pPr algn="ctr" eaLnBrk="1" hangingPunct="1">
                <a:spcBef>
                  <a:spcPct val="0"/>
                </a:spcBef>
                <a:buClrTx/>
                <a:buSzTx/>
                <a:buFontTx/>
                <a:buNone/>
              </a:pPr>
              <a:r>
                <a:rPr kumimoji="1" lang="en-US" altLang="zh-CN" sz="1600">
                  <a:latin typeface="Trebuchet MS" pitchFamily="34" charset="0"/>
                </a:rPr>
                <a:t>Major</a:t>
              </a:r>
              <a:endParaRPr kumimoji="1" lang="zh-CN" altLang="en-US" sz="1600" b="0">
                <a:latin typeface="Trebuchet MS" pitchFamily="34" charset="0"/>
              </a:endParaRPr>
            </a:p>
          </p:txBody>
        </p:sp>
        <p:sp>
          <p:nvSpPr>
            <p:cNvPr id="89107" name="Rectangle 35"/>
            <p:cNvSpPr>
              <a:spLocks noChangeArrowheads="1"/>
            </p:cNvSpPr>
            <p:nvPr/>
          </p:nvSpPr>
          <p:spPr bwMode="auto">
            <a:xfrm>
              <a:off x="2927786" y="1052736"/>
              <a:ext cx="1717551" cy="463680"/>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2000" b="0">
                  <a:solidFill>
                    <a:srgbClr val="FF0000"/>
                  </a:solidFill>
                  <a:latin typeface="Trebuchet MS" pitchFamily="34" charset="0"/>
                </a:rPr>
                <a:t>Person</a:t>
              </a:r>
              <a:r>
                <a:rPr kumimoji="1" lang="en-US" altLang="zh-CN" sz="2000" b="0">
                  <a:latin typeface="Trebuchet MS" pitchFamily="34" charset="0"/>
                </a:rPr>
                <a:t> </a:t>
              </a:r>
            </a:p>
          </p:txBody>
        </p:sp>
        <p:sp>
          <p:nvSpPr>
            <p:cNvPr id="89108" name="Rectangle 36"/>
            <p:cNvSpPr>
              <a:spLocks noChangeArrowheads="1"/>
            </p:cNvSpPr>
            <p:nvPr/>
          </p:nvSpPr>
          <p:spPr bwMode="auto">
            <a:xfrm>
              <a:off x="2927786" y="1492266"/>
              <a:ext cx="1717551" cy="767971"/>
            </a:xfrm>
            <a:prstGeom prst="rect">
              <a:avLst/>
            </a:prstGeom>
            <a:solidFill>
              <a:srgbClr val="FFFF00"/>
            </a:solidFill>
            <a:ln w="25400">
              <a:solidFill>
                <a:schemeClr val="tx1"/>
              </a:solidFill>
              <a:miter lim="800000"/>
              <a:headEnd/>
              <a:tailEnd/>
            </a:ln>
          </p:spPr>
          <p:txBody>
            <a:bodyPr wrap="none" anchor="ctr"/>
            <a:lstStyle>
              <a:lvl1pPr>
                <a:spcBef>
                  <a:spcPts val="575"/>
                </a:spcBef>
                <a:buClr>
                  <a:schemeClr val="accent1"/>
                </a:buClr>
                <a:buSzPct val="85000"/>
                <a:buFont typeface="Wingdings 2" pitchFamily="18" charset="2"/>
                <a:buChar char=""/>
                <a:defRPr sz="2600">
                  <a:solidFill>
                    <a:schemeClr val="tx1"/>
                  </a:solidFill>
                  <a:latin typeface="Perpetua" pitchFamily="18" charset="0"/>
                </a:defRPr>
              </a:lvl1pPr>
              <a:lvl2pPr marL="742950" indent="-285750">
                <a:spcBef>
                  <a:spcPts val="375"/>
                </a:spcBef>
                <a:buClr>
                  <a:schemeClr val="accent2"/>
                </a:buClr>
                <a:buSzPct val="85000"/>
                <a:buFont typeface="Wingdings 2" pitchFamily="18" charset="2"/>
                <a:buChar char=""/>
                <a:defRPr sz="2400">
                  <a:solidFill>
                    <a:schemeClr val="tx1"/>
                  </a:solidFill>
                  <a:latin typeface="Perpetua" pitchFamily="18" charset="0"/>
                </a:defRPr>
              </a:lvl2pPr>
              <a:lvl3pPr marL="1143000" indent="-228600">
                <a:spcBef>
                  <a:spcPts val="375"/>
                </a:spcBef>
                <a:buClr>
                  <a:srgbClr val="E6B1AB"/>
                </a:buClr>
                <a:buSzPct val="85000"/>
                <a:buFont typeface="Wingdings 2" pitchFamily="18" charset="2"/>
                <a:buChar char=""/>
                <a:defRPr sz="2000">
                  <a:solidFill>
                    <a:schemeClr val="tx1"/>
                  </a:solidFill>
                  <a:latin typeface="Perpetua" pitchFamily="18" charset="0"/>
                </a:defRPr>
              </a:lvl3pPr>
              <a:lvl4pPr marL="1600200" indent="-228600">
                <a:spcBef>
                  <a:spcPts val="375"/>
                </a:spcBef>
                <a:buClr>
                  <a:srgbClr val="A28E6A"/>
                </a:buClr>
                <a:buSzPct val="80000"/>
                <a:buFont typeface="Wingdings 2" pitchFamily="18" charset="2"/>
                <a:buChar char=""/>
                <a:defRPr sz="2000">
                  <a:solidFill>
                    <a:schemeClr val="tx1"/>
                  </a:solidFill>
                  <a:latin typeface="Perpetua" pitchFamily="18" charset="0"/>
                </a:defRPr>
              </a:lvl4pPr>
              <a:lvl5pPr marL="2057400" indent="-228600">
                <a:spcBef>
                  <a:spcPts val="375"/>
                </a:spcBef>
                <a:buClr>
                  <a:srgbClr val="A28E6A"/>
                </a:buClr>
                <a:buChar char="o"/>
                <a:defRPr sz="2000">
                  <a:solidFill>
                    <a:schemeClr val="tx1"/>
                  </a:solidFill>
                  <a:latin typeface="Perpetua"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itchFamily="18" charset="0"/>
                </a:defRPr>
              </a:lvl9pPr>
            </a:lstStyle>
            <a:p>
              <a:pPr algn="ctr" eaLnBrk="1" hangingPunct="1">
                <a:spcBef>
                  <a:spcPct val="0"/>
                </a:spcBef>
                <a:buClrTx/>
                <a:buSzTx/>
                <a:buFontTx/>
                <a:buNone/>
              </a:pPr>
              <a:r>
                <a:rPr kumimoji="1" lang="en-US" altLang="zh-CN" sz="1600" b="0">
                  <a:solidFill>
                    <a:srgbClr val="FF0000"/>
                  </a:solidFill>
                  <a:latin typeface="Trebuchet MS" pitchFamily="34" charset="0"/>
                </a:rPr>
                <a:t>name</a:t>
              </a:r>
              <a:br>
                <a:rPr kumimoji="1" lang="en-US" altLang="zh-CN" sz="1600" b="0">
                  <a:solidFill>
                    <a:srgbClr val="FF0000"/>
                  </a:solidFill>
                  <a:latin typeface="Trebuchet MS" pitchFamily="34" charset="0"/>
                </a:rPr>
              </a:br>
              <a:r>
                <a:rPr kumimoji="1" lang="en-US" altLang="zh-CN" sz="1600" b="0">
                  <a:solidFill>
                    <a:srgbClr val="FF0000"/>
                  </a:solidFill>
                  <a:latin typeface="Trebuchet MS" pitchFamily="34" charset="0"/>
                </a:rPr>
                <a:t>age</a:t>
              </a:r>
            </a:p>
          </p:txBody>
        </p:sp>
      </p:grpSp>
      <p:grpSp>
        <p:nvGrpSpPr>
          <p:cNvPr id="3" name="组合 2"/>
          <p:cNvGrpSpPr/>
          <p:nvPr/>
        </p:nvGrpSpPr>
        <p:grpSpPr>
          <a:xfrm>
            <a:off x="1352363" y="2564904"/>
            <a:ext cx="2046786" cy="338554"/>
            <a:chOff x="1352363" y="2564904"/>
            <a:chExt cx="2046786" cy="338554"/>
          </a:xfrm>
        </p:grpSpPr>
        <p:sp>
          <p:nvSpPr>
            <p:cNvPr id="41" name="矩形 40"/>
            <p:cNvSpPr/>
            <p:nvPr/>
          </p:nvSpPr>
          <p:spPr>
            <a:xfrm>
              <a:off x="1352363" y="2564904"/>
              <a:ext cx="771365" cy="338554"/>
            </a:xfrm>
            <a:prstGeom prst="rect">
              <a:avLst/>
            </a:prstGeom>
          </p:spPr>
          <p:txBody>
            <a:bodyPr wrap="none">
              <a:spAutoFit/>
            </a:bodyPr>
            <a:lstStyle/>
            <a:p>
              <a:r>
                <a:rPr lang="en-US" altLang="zh-CN" sz="1600" dirty="0">
                  <a:solidFill>
                    <a:srgbClr val="FF0000"/>
                  </a:solidFill>
                </a:rPr>
                <a:t>virtual</a:t>
              </a:r>
              <a:endParaRPr lang="zh-CN" altLang="en-US" sz="1600" dirty="0">
                <a:solidFill>
                  <a:srgbClr val="FF0000"/>
                </a:solidFill>
              </a:endParaRPr>
            </a:p>
          </p:txBody>
        </p:sp>
        <p:sp>
          <p:nvSpPr>
            <p:cNvPr id="42" name="矩形 41"/>
            <p:cNvSpPr/>
            <p:nvPr/>
          </p:nvSpPr>
          <p:spPr>
            <a:xfrm>
              <a:off x="2627784" y="2564904"/>
              <a:ext cx="771365" cy="338554"/>
            </a:xfrm>
            <a:prstGeom prst="rect">
              <a:avLst/>
            </a:prstGeom>
          </p:spPr>
          <p:txBody>
            <a:bodyPr wrap="none">
              <a:spAutoFit/>
            </a:bodyPr>
            <a:lstStyle/>
            <a:p>
              <a:r>
                <a:rPr lang="en-US" altLang="zh-CN" sz="1600" dirty="0">
                  <a:solidFill>
                    <a:srgbClr val="FF0000"/>
                  </a:solidFill>
                </a:rPr>
                <a:t>virtual</a:t>
              </a:r>
              <a:endParaRPr lang="zh-CN" altLang="en-US" sz="1600" dirty="0">
                <a:solidFill>
                  <a:srgbClr val="FF0000"/>
                </a:solidFill>
              </a:endParaRPr>
            </a:p>
          </p:txBody>
        </p:sp>
      </p:grpSp>
    </p:spTree>
    <p:extLst>
      <p:ext uri="{BB962C8B-B14F-4D97-AF65-F5344CB8AC3E}">
        <p14:creationId xmlns:p14="http://schemas.microsoft.com/office/powerpoint/2010/main" val="4197304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par>
                          <p:cTn id="31" fill="hold" nodeType="afterGroup">
                            <p:stCondLst>
                              <p:cond delay="0"/>
                            </p:stCondLst>
                            <p:childTnLst>
                              <p:par>
                                <p:cTn id="32" presetID="63" presetClass="path" presetSubtype="0" accel="50000" decel="50000" fill="hold" nodeType="afterEffect">
                                  <p:stCondLst>
                                    <p:cond delay="0"/>
                                  </p:stCondLst>
                                  <p:childTnLst>
                                    <p:animMotion origin="layout" path="M -2.5E-6 4.44444E-6 L 0.25365 -0.00487 " pathEditMode="relative" rAng="0" ptsTypes="AA">
                                      <p:cBhvr>
                                        <p:cTn id="33" dur="2000" fill="hold"/>
                                        <p:tgtEl>
                                          <p:spTgt spid="8"/>
                                        </p:tgtEl>
                                        <p:attrNameLst>
                                          <p:attrName>ppt_x</p:attrName>
                                          <p:attrName>ppt_y</p:attrName>
                                        </p:attrNameLst>
                                      </p:cBhvr>
                                      <p:rCtr x="12674" y="-255"/>
                                    </p:animMotion>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nodeType="clickEffect">
                                  <p:stCondLst>
                                    <p:cond delay="0"/>
                                  </p:stCondLst>
                                  <p:childTnLst>
                                    <p:animMotion origin="layout" path="M -1.11111E-6 3.60777E-6 L 0.13872 0.00393 " pathEditMode="relative" rAng="0" ptsTypes="AA">
                                      <p:cBhvr>
                                        <p:cTn id="37" dur="2000" fill="hold"/>
                                        <p:tgtEl>
                                          <p:spTgt spid="78"/>
                                        </p:tgtEl>
                                        <p:attrNameLst>
                                          <p:attrName>ppt_x</p:attrName>
                                          <p:attrName>ppt_y</p:attrName>
                                        </p:attrNameLst>
                                      </p:cBhvr>
                                      <p:rCtr x="6927" y="185"/>
                                    </p:animMotion>
                                  </p:childTnLst>
                                </p:cTn>
                              </p:par>
                              <p:par>
                                <p:cTn id="38" presetID="35" presetClass="path" presetSubtype="0" accel="50000" decel="50000" fill="hold" nodeType="withEffect">
                                  <p:stCondLst>
                                    <p:cond delay="0"/>
                                  </p:stCondLst>
                                  <p:childTnLst>
                                    <p:animMotion origin="layout" path="M -2.5E-6 3.60777E-6 L -0.12673 0.00393 " pathEditMode="relative" rAng="0" ptsTypes="AA">
                                      <p:cBhvr>
                                        <p:cTn id="39" dur="2000" fill="hold"/>
                                        <p:tgtEl>
                                          <p:spTgt spid="79"/>
                                        </p:tgtEl>
                                        <p:attrNameLst>
                                          <p:attrName>ppt_x</p:attrName>
                                          <p:attrName>ppt_y</p:attrName>
                                        </p:attrNameLst>
                                      </p:cBhvr>
                                      <p:rCtr x="-6337" y="185"/>
                                    </p:animMotion>
                                  </p:childTnLst>
                                </p:cTn>
                              </p:par>
                            </p:childTnLst>
                          </p:cTn>
                        </p:par>
                        <p:par>
                          <p:cTn id="40" fill="hold" nodeType="afterGroup">
                            <p:stCondLst>
                              <p:cond delay="2000"/>
                            </p:stCondLst>
                            <p:childTnLst>
                              <p:par>
                                <p:cTn id="41" presetID="1" presetClass="exit" presetSubtype="0" fill="hold" nodeType="afterEffect">
                                  <p:stCondLst>
                                    <p:cond delay="0"/>
                                  </p:stCondLst>
                                  <p:childTnLst>
                                    <p:set>
                                      <p:cBhvr>
                                        <p:cTn id="42" dur="1" fill="hold">
                                          <p:stCondLst>
                                            <p:cond delay="0"/>
                                          </p:stCondLst>
                                        </p:cTn>
                                        <p:tgtEl>
                                          <p:spTgt spid="8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82"/>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Dragon</Template>
  <TotalTime>7902</TotalTime>
  <Words>1782</Words>
  <Application>Microsoft Macintosh PowerPoint</Application>
  <PresentationFormat>全屏显示(4:3)</PresentationFormat>
  <Paragraphs>348</Paragraphs>
  <Slides>20</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黑体</vt:lpstr>
      <vt:lpstr>华文楷体</vt:lpstr>
      <vt:lpstr>Arial</vt:lpstr>
      <vt:lpstr>Calibri</vt:lpstr>
      <vt:lpstr>Cambria</vt:lpstr>
      <vt:lpstr>Consolas</vt:lpstr>
      <vt:lpstr>Maiandra GD</vt:lpstr>
      <vt:lpstr>Times New Roman</vt:lpstr>
      <vt:lpstr>Trebuchet MS</vt:lpstr>
      <vt:lpstr>Wingdings</vt:lpstr>
      <vt:lpstr>Wingdings 2</vt:lpstr>
      <vt:lpstr>龙腾四海</vt:lpstr>
      <vt:lpstr>第4讲   继承与派生（2）</vt:lpstr>
      <vt:lpstr>本章主要内容</vt:lpstr>
      <vt:lpstr>4.5 派生类成员的标识与访问</vt:lpstr>
      <vt:lpstr>同名隐藏规则</vt:lpstr>
      <vt:lpstr>多继承同名隐藏举例(1)</vt:lpstr>
      <vt:lpstr>PowerPoint 演示文稿</vt:lpstr>
      <vt:lpstr>二义性问题</vt:lpstr>
      <vt:lpstr>二义性问题举例(一)— 基类间同名</vt:lpstr>
      <vt:lpstr>二义性的解决方法</vt:lpstr>
      <vt:lpstr>二义性问题举例(二)—多级派生中有共同基类</vt:lpstr>
      <vt:lpstr>虚基类</vt:lpstr>
      <vt:lpstr>虚基类举例</vt:lpstr>
      <vt:lpstr>PowerPoint 演示文稿</vt:lpstr>
      <vt:lpstr>PowerPoint 演示文稿</vt:lpstr>
      <vt:lpstr>PowerPoint 演示文稿</vt:lpstr>
      <vt:lpstr>虚基类及其派生类构造函数</vt:lpstr>
      <vt:lpstr>有虚基类时的构造函数举例</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继承与派生</dc:title>
  <dc:creator>SJL</dc:creator>
  <cp:lastModifiedBy>Microsoft Office User</cp:lastModifiedBy>
  <cp:revision>57</cp:revision>
  <dcterms:created xsi:type="dcterms:W3CDTF">2017-02-27T07:52:14Z</dcterms:created>
  <dcterms:modified xsi:type="dcterms:W3CDTF">2024-04-10T08:45:39Z</dcterms:modified>
</cp:coreProperties>
</file>