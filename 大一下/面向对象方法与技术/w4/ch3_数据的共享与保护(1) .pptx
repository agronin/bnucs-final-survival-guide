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7"/>
  </p:notesMasterIdLst>
  <p:sldIdLst>
    <p:sldId id="257" r:id="rId2"/>
    <p:sldId id="258" r:id="rId3"/>
    <p:sldId id="325" r:id="rId4"/>
    <p:sldId id="332" r:id="rId5"/>
    <p:sldId id="333" r:id="rId6"/>
    <p:sldId id="259" r:id="rId7"/>
    <p:sldId id="260" r:id="rId8"/>
    <p:sldId id="261" r:id="rId9"/>
    <p:sldId id="262" r:id="rId10"/>
    <p:sldId id="353" r:id="rId11"/>
    <p:sldId id="354" r:id="rId12"/>
    <p:sldId id="356" r:id="rId13"/>
    <p:sldId id="355" r:id="rId14"/>
    <p:sldId id="263" r:id="rId15"/>
    <p:sldId id="334" r:id="rId16"/>
    <p:sldId id="331" r:id="rId17"/>
    <p:sldId id="335" r:id="rId18"/>
    <p:sldId id="264" r:id="rId19"/>
    <p:sldId id="265" r:id="rId20"/>
    <p:sldId id="266" r:id="rId21"/>
    <p:sldId id="267" r:id="rId22"/>
    <p:sldId id="342" r:id="rId23"/>
    <p:sldId id="326" r:id="rId24"/>
    <p:sldId id="268" r:id="rId25"/>
    <p:sldId id="269" r:id="rId26"/>
    <p:sldId id="270" r:id="rId27"/>
    <p:sldId id="272" r:id="rId28"/>
    <p:sldId id="271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336" r:id="rId37"/>
    <p:sldId id="327" r:id="rId38"/>
    <p:sldId id="347" r:id="rId39"/>
    <p:sldId id="283" r:id="rId40"/>
    <p:sldId id="352" r:id="rId41"/>
    <p:sldId id="337" r:id="rId42"/>
    <p:sldId id="284" r:id="rId43"/>
    <p:sldId id="285" r:id="rId44"/>
    <p:sldId id="338" r:id="rId45"/>
    <p:sldId id="341" r:id="rId46"/>
    <p:sldId id="340" r:id="rId47"/>
    <p:sldId id="350" r:id="rId48"/>
    <p:sldId id="349" r:id="rId49"/>
    <p:sldId id="351" r:id="rId50"/>
    <p:sldId id="287" r:id="rId51"/>
    <p:sldId id="286" r:id="rId52"/>
    <p:sldId id="343" r:id="rId53"/>
    <p:sldId id="344" r:id="rId54"/>
    <p:sldId id="346" r:id="rId55"/>
    <p:sldId id="348" r:id="rId5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49C"/>
    <a:srgbClr val="FF0066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250" autoAdjust="0"/>
    <p:restoredTop sz="94660"/>
  </p:normalViewPr>
  <p:slideViewPr>
    <p:cSldViewPr>
      <p:cViewPr>
        <p:scale>
          <a:sx n="70" d="100"/>
          <a:sy n="70" d="100"/>
        </p:scale>
        <p:origin x="-1734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5858C-09C9-4013-8959-F23DFD9EABBF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0D1A1-C505-4C06-835E-CA1AEBDC0A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64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F071A66-4716-4EAA-A898-4720A0DB4E72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55911CD-1070-4F41-A9CC-E6C35D357420}" type="slidenum">
              <a:rPr lang="en-US" altLang="zh-CN" sz="1200"/>
              <a:pPr/>
              <a:t>6</a:t>
            </a:fld>
            <a:endParaRPr lang="en-US" altLang="zh-CN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C7503AF-84EC-45BF-B671-A44886314762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>
                <a:ea typeface="宋体" charset="-122"/>
              </a:rPr>
              <a:t>要点：</a:t>
            </a:r>
          </a:p>
          <a:p>
            <a:pPr eaLnBrk="1" hangingPunct="1"/>
            <a:r>
              <a:rPr lang="zh-CN" altLang="en-US" sz="1800">
                <a:ea typeface="宋体" charset="-122"/>
              </a:rPr>
              <a:t>首先介绍块的概念，然后介绍块中标识符的作用域。</a:t>
            </a:r>
          </a:p>
          <a:p>
            <a:pPr eaLnBrk="1" hangingPunct="1">
              <a:buFontTx/>
              <a:buChar char="•"/>
            </a:pPr>
            <a:r>
              <a:rPr lang="zh-CN" altLang="en-US" sz="1800">
                <a:ea typeface="宋体" charset="-122"/>
              </a:rPr>
              <a:t>块是一对花括号括起来的一段程序单元。</a:t>
            </a:r>
          </a:p>
          <a:p>
            <a:pPr eaLnBrk="1" hangingPunct="1">
              <a:buFontTx/>
              <a:buChar char="•"/>
            </a:pPr>
            <a:r>
              <a:rPr lang="zh-CN" altLang="en-US" sz="1800">
                <a:ea typeface="宋体" charset="-122"/>
              </a:rPr>
              <a:t>在块中声明的标识符，其作用域从声明处开始，直到块结束的右花括号。</a:t>
            </a:r>
          </a:p>
          <a:p>
            <a:pPr eaLnBrk="1" hangingPunct="1">
              <a:buFontTx/>
              <a:buChar char="•"/>
            </a:pPr>
            <a:endParaRPr lang="en-US" altLang="zh-CN" sz="180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48CC67A-F411-42A2-8B09-E6F9EA9E8D7F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78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067BD8B-9ACC-436E-B5DF-F65102D60576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788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AF38DFF3-CAEF-47F3-BE12-61135539F871}" type="slidenum">
              <a:rPr lang="zh-CN" altLang="en-US" sz="1200" smtClean="0"/>
              <a:pPr/>
              <a:t>11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38DFF3-CAEF-47F3-BE12-61135539F8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974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896385F-4694-45CE-85C5-A9B24D576E2F}" type="slidenum">
              <a:rPr lang="en-US" altLang="zh-CN" sz="1200"/>
              <a:pPr/>
              <a:t>17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896385F-4694-45CE-85C5-A9B24D576E2F}" type="slidenum">
              <a:rPr lang="en-US" altLang="zh-CN" sz="1200"/>
              <a:pPr/>
              <a:t>18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B781063-C389-4218-8622-1EE34FEB9213}" type="slidenum">
              <a:rPr lang="en-US" altLang="zh-CN" sz="1200"/>
              <a:pPr/>
              <a:t>19</a:t>
            </a:fld>
            <a:endParaRPr lang="en-US" altLang="zh-CN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09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FA95387-3012-4DD9-A7B3-4160D2DE39AC}" type="slidenum">
              <a:rPr lang="en-US" altLang="zh-CN" sz="1200"/>
              <a:pPr/>
              <a:t>20</a:t>
            </a:fld>
            <a:endParaRPr lang="en-US" altLang="zh-CN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19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9296B78-E944-40C4-A530-8EFC14A156DF}" type="slidenum">
              <a:rPr lang="en-US" altLang="zh-CN" sz="1200"/>
              <a:pPr/>
              <a:t>21</a:t>
            </a:fld>
            <a:endParaRPr lang="en-US" altLang="zh-CN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29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C8B6C6AC-F7BA-49EE-8B01-40EBBDF48705}" type="slidenum">
              <a:rPr lang="en-US" altLang="zh-CN" sz="1200"/>
              <a:pPr/>
              <a:t>24</a:t>
            </a:fld>
            <a:endParaRPr lang="en-US" altLang="zh-CN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39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7665D9B-18FC-4E62-AFE2-A4CFBCF79AEF}" type="slidenum">
              <a:rPr lang="en-US" altLang="zh-CN" sz="1200"/>
              <a:pPr/>
              <a:t>25</a:t>
            </a:fld>
            <a:endParaRPr lang="en-US" altLang="zh-CN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49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2C5484FE-E387-4685-97F2-99E9769D3C03}" type="slidenum">
              <a:rPr lang="en-US" altLang="zh-CN" sz="1200"/>
              <a:pPr/>
              <a:t>26</a:t>
            </a:fld>
            <a:endParaRPr lang="en-US" altLang="zh-CN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41BA5FD-11C6-43DF-BB5F-67B8E6914F7F}" type="slidenum">
              <a:rPr lang="en-US" altLang="zh-CN" sz="1200"/>
              <a:pPr/>
              <a:t>27</a:t>
            </a:fld>
            <a:endParaRPr lang="en-US" altLang="zh-CN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806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2F368CB-E29D-4E72-93B8-582A0E660ED0}" type="slidenum">
              <a:rPr lang="en-US" altLang="zh-CN" sz="1200"/>
              <a:pPr/>
              <a:t>28</a:t>
            </a:fld>
            <a:endParaRPr lang="en-US" altLang="zh-CN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704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BE8B618-A1B4-4B75-8097-F73FAF50D0BB}" type="slidenum">
              <a:rPr lang="en-US" altLang="zh-CN" sz="1200"/>
              <a:pPr/>
              <a:t>29</a:t>
            </a:fld>
            <a:endParaRPr lang="en-US" altLang="zh-CN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909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3F31E79-F865-4E81-B196-10D0B715422B}" type="slidenum">
              <a:rPr lang="en-US" altLang="zh-CN" sz="1200"/>
              <a:pPr/>
              <a:t>30</a:t>
            </a:fld>
            <a:endParaRPr lang="en-US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AF513B6-BCA8-4F29-99DB-607642497A9E}" type="slidenum">
              <a:rPr lang="en-US" altLang="zh-CN" sz="1200"/>
              <a:pPr/>
              <a:t>31</a:t>
            </a:fld>
            <a:endParaRPr lang="en-US" altLang="zh-CN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1CB878A-3BC4-453D-BD99-911CA8A6185E}" type="slidenum">
              <a:rPr lang="en-US" altLang="zh-CN" sz="1200"/>
              <a:pPr/>
              <a:t>32</a:t>
            </a:fld>
            <a:endParaRPr lang="en-US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21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4298803-7793-494D-9D3B-04578B4E9076}" type="slidenum">
              <a:rPr lang="en-US" altLang="zh-CN" sz="1200"/>
              <a:pPr/>
              <a:t>33</a:t>
            </a:fld>
            <a:endParaRPr lang="en-US" altLang="zh-CN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31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1B5BD10-CB53-400B-8B45-6B1E8BC07AD5}" type="slidenum">
              <a:rPr lang="en-US" altLang="zh-CN" sz="1200"/>
              <a:pPr/>
              <a:t>34</a:t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42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B97CF74-D217-4A50-9631-81D9C1A5E544}" type="slidenum">
              <a:rPr lang="en-US" altLang="zh-CN" sz="1200"/>
              <a:pPr/>
              <a:t>35</a:t>
            </a:fld>
            <a:endParaRPr lang="en-US" altLang="zh-CN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36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37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547A85D-670E-4BFB-9E12-BCF9434A7E95}" type="slidenum">
              <a:rPr lang="en-US" altLang="zh-CN" sz="1200"/>
              <a:pPr/>
              <a:t>38</a:t>
            </a:fld>
            <a:endParaRPr lang="en-US" altLang="zh-CN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93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547A85D-670E-4BFB-9E12-BCF9434A7E95}" type="slidenum">
              <a:rPr lang="en-US" altLang="zh-CN" sz="1200"/>
              <a:pPr/>
              <a:t>39</a:t>
            </a:fld>
            <a:endParaRPr lang="en-US" altLang="zh-CN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93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B7AE4DB4-CEFB-4925-BA26-63725932E717}" type="slidenum">
              <a:rPr lang="en-US" altLang="zh-CN" sz="1200"/>
              <a:pPr/>
              <a:t>42</a:t>
            </a:fld>
            <a:endParaRPr lang="en-US" altLang="zh-CN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03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40489D7-2EFA-460E-97D3-41DE14A014E5}" type="slidenum">
              <a:rPr lang="en-US" altLang="zh-CN" sz="1200"/>
              <a:pPr/>
              <a:t>43</a:t>
            </a:fld>
            <a:endParaRPr lang="en-US" altLang="zh-CN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2E74D2C-74AC-4B05-AB30-44DC8909E416}" type="slidenum">
              <a:rPr lang="en-US" altLang="zh-CN" sz="1200"/>
              <a:pPr/>
              <a:t>44</a:t>
            </a:fld>
            <a:endParaRPr lang="en-US" altLang="zh-CN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44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407BC21-D238-442B-8EC1-57468101B0AF}" type="slidenum">
              <a:rPr lang="en-US" altLang="zh-CN" sz="1200"/>
              <a:pPr/>
              <a:t>50</a:t>
            </a:fld>
            <a:endParaRPr lang="en-US" altLang="zh-CN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7219980-6C1F-4CE0-BA36-69DEC7DA47F4}" type="slidenum">
              <a:rPr lang="en-US" altLang="zh-CN" sz="1200"/>
              <a:pPr/>
              <a:t>51</a:t>
            </a:fld>
            <a:endParaRPr lang="en-US" altLang="zh-CN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24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C++5_04.r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C++5_05.r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340768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讲</a:t>
            </a:r>
            <a:r>
              <a:rPr lang="zh-CN" altLang="en-US" dirty="0" smtClean="0"/>
              <a:t>  </a:t>
            </a:r>
            <a:r>
              <a:rPr lang="zh-CN" altLang="en-US" dirty="0"/>
              <a:t>数据的共享与保护</a:t>
            </a:r>
          </a:p>
        </p:txBody>
      </p:sp>
      <p:sp>
        <p:nvSpPr>
          <p:cNvPr id="3" name="Rectangle 3074"/>
          <p:cNvSpPr txBox="1">
            <a:spLocks noChangeArrowheads="1"/>
          </p:cNvSpPr>
          <p:nvPr/>
        </p:nvSpPr>
        <p:spPr>
          <a:xfrm>
            <a:off x="3995936" y="3095733"/>
            <a:ext cx="4680520" cy="837321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friend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4212377"/>
            <a:ext cx="2143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/>
              <a:t>教材 第</a:t>
            </a:r>
            <a:r>
              <a:rPr lang="en-US" altLang="zh-CN" sz="3200" dirty="0" smtClean="0"/>
              <a:t>5</a:t>
            </a:r>
            <a:r>
              <a:rPr lang="zh-CN" altLang="en-US" sz="3200" dirty="0" smtClean="0"/>
              <a:t>章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6803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大纲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1 </a:t>
            </a:r>
            <a:r>
              <a:rPr lang="zh-CN" altLang="en-US" dirty="0"/>
              <a:t>标志符的作用域与可见性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2 </a:t>
            </a:r>
            <a:r>
              <a:rPr lang="zh-CN" altLang="en-US" dirty="0"/>
              <a:t>对象的生存期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 </a:t>
            </a:r>
            <a:r>
              <a:rPr lang="zh-CN" altLang="en-US" dirty="0"/>
              <a:t>类的静态成员</a:t>
            </a:r>
            <a:r>
              <a:rPr lang="en-US" altLang="zh-CN" dirty="0"/>
              <a:t>static</a:t>
            </a:r>
            <a:endParaRPr lang="zh-CN" altLang="en-US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4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类的友元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friend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5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共享数据的保护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const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多文件结构和编译预处理命令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52849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5.1 </a:t>
            </a:r>
            <a:r>
              <a:rPr lang="zh-CN" altLang="en-US" dirty="0"/>
              <a:t>标志符的作用域与可见性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5.1.1 </a:t>
            </a:r>
            <a:r>
              <a:rPr lang="zh-CN" altLang="en-US" dirty="0"/>
              <a:t>作用域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5.1.2 </a:t>
            </a:r>
            <a:r>
              <a:rPr lang="zh-CN" altLang="en-US" dirty="0"/>
              <a:t>可见性</a:t>
            </a:r>
            <a:endParaRPr lang="en-US" altLang="zh-CN" dirty="0"/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7241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3414229" y="1268760"/>
            <a:ext cx="4254115" cy="4464496"/>
            <a:chOff x="3414229" y="1268760"/>
            <a:chExt cx="4254115" cy="4464496"/>
          </a:xfrm>
        </p:grpSpPr>
        <p:sp>
          <p:nvSpPr>
            <p:cNvPr id="19" name="圆角矩形 18"/>
            <p:cNvSpPr/>
            <p:nvPr/>
          </p:nvSpPr>
          <p:spPr>
            <a:xfrm>
              <a:off x="3414229" y="4365104"/>
              <a:ext cx="4254115" cy="136815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8" name="下箭头 27"/>
            <p:cNvSpPr/>
            <p:nvPr/>
          </p:nvSpPr>
          <p:spPr>
            <a:xfrm>
              <a:off x="5004048" y="1268760"/>
              <a:ext cx="792088" cy="3024336"/>
            </a:xfrm>
            <a:prstGeom prst="downArrow">
              <a:avLst>
                <a:gd name="adj1" fmla="val 13059"/>
                <a:gd name="adj2" fmla="val 17677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652120" y="1196752"/>
            <a:ext cx="3096344" cy="2808312"/>
            <a:chOff x="5652120" y="1196752"/>
            <a:chExt cx="3096344" cy="2808312"/>
          </a:xfrm>
        </p:grpSpPr>
        <p:sp>
          <p:nvSpPr>
            <p:cNvPr id="17" name="圆角矩形 16"/>
            <p:cNvSpPr/>
            <p:nvPr/>
          </p:nvSpPr>
          <p:spPr>
            <a:xfrm>
              <a:off x="5652120" y="1772816"/>
              <a:ext cx="3096344" cy="223224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下箭头 24"/>
            <p:cNvSpPr/>
            <p:nvPr/>
          </p:nvSpPr>
          <p:spPr>
            <a:xfrm>
              <a:off x="6480212" y="1196752"/>
              <a:ext cx="180020" cy="576064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03848" y="1196752"/>
            <a:ext cx="1728192" cy="2880320"/>
            <a:chOff x="3203848" y="1196752"/>
            <a:chExt cx="1728192" cy="2880320"/>
          </a:xfrm>
        </p:grpSpPr>
        <p:sp>
          <p:nvSpPr>
            <p:cNvPr id="5" name="圆角矩形 4"/>
            <p:cNvSpPr/>
            <p:nvPr/>
          </p:nvSpPr>
          <p:spPr>
            <a:xfrm>
              <a:off x="3203848" y="1772816"/>
              <a:ext cx="1728192" cy="230425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419872" y="1196752"/>
              <a:ext cx="864096" cy="576064"/>
              <a:chOff x="3419872" y="1196752"/>
              <a:chExt cx="864096" cy="576064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3419872" y="1259468"/>
                <a:ext cx="684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包含：</a:t>
                </a:r>
              </a:p>
            </p:txBody>
          </p:sp>
          <p:sp>
            <p:nvSpPr>
              <p:cNvPr id="8" name="下箭头 7"/>
              <p:cNvSpPr/>
              <p:nvPr/>
            </p:nvSpPr>
            <p:spPr>
              <a:xfrm>
                <a:off x="4103948" y="1196752"/>
                <a:ext cx="180020" cy="576064"/>
              </a:xfrm>
              <a:prstGeom prst="downArrow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5.1.1 </a:t>
            </a:r>
            <a:r>
              <a:rPr lang="zh-CN" altLang="en-US" dirty="0"/>
              <a:t>标志符的作用域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4</a:t>
            </a:fld>
            <a:endParaRPr lang="en-US" altLang="zh-CN" sz="1400"/>
          </a:p>
        </p:txBody>
      </p:sp>
      <p:cxnSp>
        <p:nvCxnSpPr>
          <p:cNvPr id="3" name="直接连接符 2"/>
          <p:cNvCxnSpPr/>
          <p:nvPr/>
        </p:nvCxnSpPr>
        <p:spPr>
          <a:xfrm>
            <a:off x="3563888" y="1124744"/>
            <a:ext cx="144016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1880" y="1835532"/>
            <a:ext cx="115212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1880" y="2473732"/>
            <a:ext cx="115212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函数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880" y="3049796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880" y="356372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5796136" y="1124744"/>
            <a:ext cx="144016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1988840"/>
            <a:ext cx="30963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作用范围</a:t>
            </a:r>
            <a:endParaRPr lang="en-US" altLang="zh-CN" sz="2800" dirty="0"/>
          </a:p>
          <a:p>
            <a:r>
              <a:rPr lang="zh-CN" altLang="en-US" sz="2800" dirty="0"/>
              <a:t>即：</a:t>
            </a:r>
            <a:endParaRPr lang="en-US" altLang="zh-CN" sz="2800" dirty="0"/>
          </a:p>
          <a:p>
            <a:r>
              <a:rPr lang="zh-CN" altLang="en-US" sz="2800" dirty="0"/>
              <a:t>可以使用的范围</a:t>
            </a:r>
            <a:endParaRPr lang="en-US" altLang="zh-CN" sz="2800" dirty="0"/>
          </a:p>
          <a:p>
            <a:r>
              <a:rPr lang="zh-CN" altLang="en-US" sz="2800" dirty="0"/>
              <a:t>可以访问到的范围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889" y="4512022"/>
            <a:ext cx="4014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标志符在哪里定义，</a:t>
            </a:r>
            <a:endParaRPr lang="en-US" altLang="zh-CN" sz="3200" dirty="0"/>
          </a:p>
          <a:p>
            <a:r>
              <a:rPr lang="zh-CN" altLang="en-US" sz="3200" dirty="0"/>
              <a:t>就在哪里使用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3491880" y="1196752"/>
            <a:ext cx="3896816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05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259632" y="692696"/>
            <a:ext cx="7128792" cy="93610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5" name="TextBox 4"/>
          <p:cNvSpPr txBox="1"/>
          <p:nvPr/>
        </p:nvSpPr>
        <p:spPr>
          <a:xfrm>
            <a:off x="1547664" y="838163"/>
            <a:ext cx="63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标志符在哪里定义，就在哪里使用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347864" y="1412776"/>
            <a:ext cx="72008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2411760" y="1556792"/>
            <a:ext cx="2592288" cy="3744416"/>
            <a:chOff x="2411760" y="1556792"/>
            <a:chExt cx="2592288" cy="3744416"/>
          </a:xfrm>
        </p:grpSpPr>
        <p:sp>
          <p:nvSpPr>
            <p:cNvPr id="10" name="下箭头 9"/>
            <p:cNvSpPr/>
            <p:nvPr/>
          </p:nvSpPr>
          <p:spPr>
            <a:xfrm>
              <a:off x="3635896" y="1556792"/>
              <a:ext cx="180020" cy="576064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411760" y="2261190"/>
              <a:ext cx="2592288" cy="304001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699792" y="2261190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函数原型</a:t>
            </a:r>
            <a:endParaRPr lang="en-US" altLang="zh-CN" sz="3200" dirty="0"/>
          </a:p>
        </p:txBody>
      </p:sp>
      <p:sp>
        <p:nvSpPr>
          <p:cNvPr id="13" name="矩形 12"/>
          <p:cNvSpPr/>
          <p:nvPr/>
        </p:nvSpPr>
        <p:spPr>
          <a:xfrm>
            <a:off x="2754052" y="2828836"/>
            <a:ext cx="15299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块</a:t>
            </a:r>
            <a:endParaRPr lang="en-US" altLang="zh-CN" sz="3200" dirty="0"/>
          </a:p>
        </p:txBody>
      </p:sp>
      <p:sp>
        <p:nvSpPr>
          <p:cNvPr id="14" name="矩形 13"/>
          <p:cNvSpPr/>
          <p:nvPr/>
        </p:nvSpPr>
        <p:spPr>
          <a:xfrm>
            <a:off x="2699792" y="3429000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类</a:t>
            </a:r>
            <a:endParaRPr lang="en-US" altLang="zh-CN" sz="3200" dirty="0"/>
          </a:p>
        </p:txBody>
      </p:sp>
      <p:sp>
        <p:nvSpPr>
          <p:cNvPr id="15" name="矩形 14"/>
          <p:cNvSpPr/>
          <p:nvPr/>
        </p:nvSpPr>
        <p:spPr>
          <a:xfrm>
            <a:off x="2718048" y="4005064"/>
            <a:ext cx="2069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命名空间</a:t>
            </a:r>
            <a:endParaRPr lang="en-US" altLang="zh-CN" sz="3200" dirty="0"/>
          </a:p>
        </p:txBody>
      </p:sp>
      <p:sp>
        <p:nvSpPr>
          <p:cNvPr id="16" name="矩形 15"/>
          <p:cNvSpPr/>
          <p:nvPr/>
        </p:nvSpPr>
        <p:spPr>
          <a:xfrm>
            <a:off x="2733085" y="4581128"/>
            <a:ext cx="13348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文件</a:t>
            </a:r>
          </a:p>
        </p:txBody>
      </p:sp>
      <p:sp>
        <p:nvSpPr>
          <p:cNvPr id="17" name="矩形 16"/>
          <p:cNvSpPr/>
          <p:nvPr/>
        </p:nvSpPr>
        <p:spPr>
          <a:xfrm>
            <a:off x="5058308" y="2852936"/>
            <a:ext cx="21779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{  ……      }  </a:t>
            </a:r>
          </a:p>
        </p:txBody>
      </p:sp>
      <p:sp>
        <p:nvSpPr>
          <p:cNvPr id="19" name="右箭头 18"/>
          <p:cNvSpPr/>
          <p:nvPr/>
        </p:nvSpPr>
        <p:spPr>
          <a:xfrm>
            <a:off x="3491880" y="3108161"/>
            <a:ext cx="1620180" cy="5878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4427984" y="3996353"/>
            <a:ext cx="3024336" cy="584775"/>
            <a:chOff x="4427984" y="3996353"/>
            <a:chExt cx="3024336" cy="584775"/>
          </a:xfrm>
        </p:grpSpPr>
        <p:sp>
          <p:nvSpPr>
            <p:cNvPr id="18" name="矩形 17"/>
            <p:cNvSpPr/>
            <p:nvPr/>
          </p:nvSpPr>
          <p:spPr>
            <a:xfrm>
              <a:off x="5076056" y="3996353"/>
              <a:ext cx="237626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dirty="0"/>
                <a:t>namespace</a:t>
              </a:r>
            </a:p>
          </p:txBody>
        </p:sp>
        <p:sp>
          <p:nvSpPr>
            <p:cNvPr id="20" name="右箭头 19"/>
            <p:cNvSpPr/>
            <p:nvPr/>
          </p:nvSpPr>
          <p:spPr>
            <a:xfrm>
              <a:off x="4427984" y="4319385"/>
              <a:ext cx="720000" cy="45719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547664" y="2132856"/>
            <a:ext cx="720080" cy="3096344"/>
            <a:chOff x="1547664" y="2132856"/>
            <a:chExt cx="720080" cy="3096344"/>
          </a:xfrm>
        </p:grpSpPr>
        <p:cxnSp>
          <p:nvCxnSpPr>
            <p:cNvPr id="22" name="直接箭头连接符 21"/>
            <p:cNvCxnSpPr/>
            <p:nvPr/>
          </p:nvCxnSpPr>
          <p:spPr>
            <a:xfrm>
              <a:off x="2051720" y="2420888"/>
              <a:ext cx="0" cy="26686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619672" y="2132856"/>
              <a:ext cx="6480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小</a:t>
              </a:r>
              <a:endParaRPr lang="en-US" altLang="zh-CN" sz="2400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1547664" y="4767535"/>
              <a:ext cx="6480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大</a:t>
              </a:r>
              <a:endParaRPr lang="en-US" altLang="zh-CN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345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7162800" cy="106680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zh-CN" altLang="en-US"/>
              <a:t>函数原形的作用域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149350" y="1905000"/>
            <a:ext cx="7239000" cy="4114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charset="-122"/>
              </a:rPr>
              <a:t>函数原型中的参数，具有原型作用域。其作用域始于</a:t>
            </a:r>
            <a:r>
              <a:rPr lang="en-US" altLang="zh-CN" dirty="0">
                <a:latin typeface="宋体" charset="-122"/>
              </a:rPr>
              <a:t>“(”</a:t>
            </a:r>
            <a:r>
              <a:rPr lang="zh-CN" altLang="en-US" dirty="0">
                <a:latin typeface="宋体" charset="-122"/>
              </a:rPr>
              <a:t>，结束于</a:t>
            </a:r>
            <a:r>
              <a:rPr lang="en-US" altLang="zh-CN" dirty="0">
                <a:latin typeface="宋体" charset="-122"/>
              </a:rPr>
              <a:t>“)”.</a:t>
            </a:r>
            <a:endParaRPr lang="zh-CN" altLang="en-US" dirty="0">
              <a:latin typeface="宋体" charset="-122"/>
            </a:endParaRPr>
          </a:p>
          <a:p>
            <a:pPr eaLnBrk="1" hangingPunct="1"/>
            <a:r>
              <a:rPr lang="zh-CN" altLang="en-US" dirty="0">
                <a:latin typeface="宋体" charset="-122"/>
              </a:rPr>
              <a:t>例如，设有下列函数原型声明：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latin typeface="宋体" charset="-122"/>
              </a:rPr>
              <a:t>double area(double radius);</a:t>
            </a:r>
          </a:p>
        </p:txBody>
      </p:sp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742BD75-0579-4B70-8A87-5073A59A9A4A}" type="slidenum">
              <a:rPr lang="en-US" altLang="zh-CN" sz="1400" smtClean="0"/>
              <a:pPr/>
              <a:t>6</a:t>
            </a:fld>
            <a:endParaRPr lang="en-US" altLang="zh-CN" sz="1400"/>
          </a:p>
        </p:txBody>
      </p:sp>
      <p:grpSp>
        <p:nvGrpSpPr>
          <p:cNvPr id="2" name="组合 1"/>
          <p:cNvGrpSpPr/>
          <p:nvPr/>
        </p:nvGrpSpPr>
        <p:grpSpPr>
          <a:xfrm>
            <a:off x="3851275" y="3962400"/>
            <a:ext cx="4741863" cy="1752600"/>
            <a:chOff x="3851275" y="3962400"/>
            <a:chExt cx="4741863" cy="1752600"/>
          </a:xfrm>
        </p:grpSpPr>
        <p:sp>
          <p:nvSpPr>
            <p:cNvPr id="5125" name="AutoShape 4"/>
            <p:cNvSpPr>
              <a:spLocks/>
            </p:cNvSpPr>
            <p:nvPr/>
          </p:nvSpPr>
          <p:spPr bwMode="auto">
            <a:xfrm rot="-5400000">
              <a:off x="4850606" y="2963069"/>
              <a:ext cx="258763" cy="2257425"/>
            </a:xfrm>
            <a:prstGeom prst="leftBrace">
              <a:avLst>
                <a:gd name="adj1" fmla="val 7269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6" name="AutoShape 5"/>
            <p:cNvSpPr>
              <a:spLocks noChangeArrowheads="1"/>
            </p:cNvSpPr>
            <p:nvPr/>
          </p:nvSpPr>
          <p:spPr bwMode="auto">
            <a:xfrm flipV="1">
              <a:off x="4859338" y="4495800"/>
              <a:ext cx="3733800" cy="1219200"/>
            </a:xfrm>
            <a:prstGeom prst="wedgeRoundRectCallout">
              <a:avLst>
                <a:gd name="adj1" fmla="val -45880"/>
                <a:gd name="adj2" fmla="val 65102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eaLnBrk="1" hangingPunct="1"/>
              <a:r>
                <a:rPr lang="zh-CN" altLang="en-US" sz="2200" dirty="0">
                  <a:latin typeface="宋体" charset="-122"/>
                </a:rPr>
                <a:t>形参</a:t>
              </a:r>
              <a:r>
                <a:rPr lang="en-US" altLang="zh-CN" sz="2200" dirty="0">
                  <a:latin typeface="宋体" charset="-122"/>
                </a:rPr>
                <a:t>radius </a:t>
              </a:r>
              <a:r>
                <a:rPr lang="zh-CN" altLang="zh-CN" sz="2200" dirty="0">
                  <a:latin typeface="宋体" charset="-122"/>
                </a:rPr>
                <a:t>的作用域仅在于此，不能用于程序正文其他地方，因而可有可无。</a:t>
              </a:r>
              <a:endParaRPr lang="zh-CN" altLang="en-US" sz="2200" dirty="0">
                <a:latin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82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584" y="1268760"/>
            <a:ext cx="77331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25000"/>
              </a:spcAft>
            </a:pPr>
            <a:r>
              <a:rPr lang="zh-CN" altLang="en-US" sz="3200" dirty="0">
                <a:latin typeface="宋体" charset="-122"/>
              </a:rPr>
              <a:t>函数的</a:t>
            </a:r>
            <a:r>
              <a:rPr lang="zh-CN" altLang="en-US" sz="3200" b="1" dirty="0">
                <a:latin typeface="宋体" charset="-122"/>
              </a:rPr>
              <a:t>形参</a:t>
            </a:r>
            <a:r>
              <a:rPr lang="zh-CN" altLang="en-US" sz="3200" dirty="0">
                <a:latin typeface="宋体" charset="-122"/>
              </a:rPr>
              <a:t>，在块中声明的</a:t>
            </a:r>
            <a:r>
              <a:rPr lang="zh-CN" altLang="en-US" sz="3200" b="1" dirty="0">
                <a:latin typeface="宋体" charset="-122"/>
              </a:rPr>
              <a:t>标识符</a:t>
            </a:r>
            <a:r>
              <a:rPr lang="zh-CN" altLang="en-US" sz="3200" dirty="0">
                <a:latin typeface="宋体" charset="-122"/>
              </a:rPr>
              <a:t>，具有块（局部）作用域。其作用域自声明处起，限于函数、块中。例如：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239000" cy="838200"/>
          </a:xfrm>
        </p:spPr>
        <p:txBody>
          <a:bodyPr/>
          <a:lstStyle/>
          <a:p>
            <a:r>
              <a:rPr lang="zh-CN" altLang="en-US" dirty="0"/>
              <a:t>块作用域（局部作用域）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780928"/>
            <a:ext cx="7239000" cy="3452813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void fun(</a:t>
            </a: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a)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 </a:t>
            </a: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b = a;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</a:t>
            </a:r>
            <a:r>
              <a:rPr lang="en-US" altLang="zh-CN" dirty="0" err="1">
                <a:latin typeface="宋体" charset="-122"/>
              </a:rPr>
              <a:t>cin</a:t>
            </a:r>
            <a:r>
              <a:rPr lang="en-US" altLang="zh-CN" dirty="0">
                <a:latin typeface="宋体" charset="-122"/>
              </a:rPr>
              <a:t> &gt;&gt; b;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if (b &gt; 0)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		{ </a:t>
            </a: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c;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endParaRPr lang="en-US" altLang="zh-CN" dirty="0">
              <a:latin typeface="宋体" charset="-122"/>
            </a:endParaRP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  ......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}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 </a:t>
            </a:r>
          </a:p>
        </p:txBody>
      </p:sp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15C2301-D60A-48C5-BCCC-DAD82EFD8172}" type="slidenum">
              <a:rPr lang="en-US" altLang="zh-CN" sz="1400" smtClean="0"/>
              <a:pPr/>
              <a:t>7</a:t>
            </a:fld>
            <a:endParaRPr lang="en-US" altLang="zh-CN" sz="1400"/>
          </a:p>
        </p:txBody>
      </p:sp>
      <p:grpSp>
        <p:nvGrpSpPr>
          <p:cNvPr id="6149" name="Group 7"/>
          <p:cNvGrpSpPr>
            <a:grpSpLocks/>
          </p:cNvGrpSpPr>
          <p:nvPr/>
        </p:nvGrpSpPr>
        <p:grpSpPr bwMode="auto">
          <a:xfrm>
            <a:off x="3786188" y="4214813"/>
            <a:ext cx="2209800" cy="990600"/>
            <a:chOff x="2304" y="3072"/>
            <a:chExt cx="1392" cy="624"/>
          </a:xfrm>
        </p:grpSpPr>
        <p:sp>
          <p:nvSpPr>
            <p:cNvPr id="6157" name="AutoShape 5"/>
            <p:cNvSpPr>
              <a:spLocks noChangeArrowheads="1"/>
            </p:cNvSpPr>
            <p:nvPr/>
          </p:nvSpPr>
          <p:spPr bwMode="auto">
            <a:xfrm>
              <a:off x="2400" y="3072"/>
              <a:ext cx="1296" cy="384"/>
            </a:xfrm>
            <a:prstGeom prst="cloudCallout">
              <a:avLst>
                <a:gd name="adj1" fmla="val -43750"/>
                <a:gd name="adj2" fmla="val 70000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 dirty="0">
                  <a:latin typeface="宋体" charset="-122"/>
                </a:rPr>
                <a:t>c</a:t>
              </a:r>
              <a:r>
                <a:rPr lang="zh-CN" altLang="en-US" sz="2400" b="1" dirty="0">
                  <a:latin typeface="宋体" charset="-122"/>
                </a:rPr>
                <a:t>的作用域</a:t>
              </a:r>
            </a:p>
          </p:txBody>
        </p:sp>
        <p:sp>
          <p:nvSpPr>
            <p:cNvPr id="6158" name="AutoShape 6"/>
            <p:cNvSpPr>
              <a:spLocks/>
            </p:cNvSpPr>
            <p:nvPr/>
          </p:nvSpPr>
          <p:spPr bwMode="auto">
            <a:xfrm>
              <a:off x="2304" y="3168"/>
              <a:ext cx="48" cy="528"/>
            </a:xfrm>
            <a:prstGeom prst="rightBracket">
              <a:avLst>
                <a:gd name="adj" fmla="val 91667"/>
              </a:avLst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50" name="Group 10"/>
          <p:cNvGrpSpPr>
            <a:grpSpLocks/>
          </p:cNvGrpSpPr>
          <p:nvPr/>
        </p:nvGrpSpPr>
        <p:grpSpPr bwMode="auto">
          <a:xfrm>
            <a:off x="1905000" y="3276600"/>
            <a:ext cx="6943725" cy="2590800"/>
            <a:chOff x="960" y="2256"/>
            <a:chExt cx="4374" cy="1632"/>
          </a:xfrm>
        </p:grpSpPr>
        <p:sp>
          <p:nvSpPr>
            <p:cNvPr id="6155" name="Freeform 8"/>
            <p:cNvSpPr>
              <a:spLocks/>
            </p:cNvSpPr>
            <p:nvPr/>
          </p:nvSpPr>
          <p:spPr bwMode="auto">
            <a:xfrm>
              <a:off x="960" y="2256"/>
              <a:ext cx="2715" cy="1632"/>
            </a:xfrm>
            <a:custGeom>
              <a:avLst/>
              <a:gdLst>
                <a:gd name="T0" fmla="*/ 1171 w 2928"/>
                <a:gd name="T1" fmla="*/ 0 h 1632"/>
                <a:gd name="T2" fmla="*/ 2164 w 2928"/>
                <a:gd name="T3" fmla="*/ 0 h 1632"/>
                <a:gd name="T4" fmla="*/ 2164 w 2928"/>
                <a:gd name="T5" fmla="*/ 1632 h 1632"/>
                <a:gd name="T6" fmla="*/ 0 w 2928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8"/>
                <a:gd name="T13" fmla="*/ 0 h 1632"/>
                <a:gd name="T14" fmla="*/ 2928 w 2928"/>
                <a:gd name="T15" fmla="*/ 1632 h 1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8" h="1632">
                  <a:moveTo>
                    <a:pt x="1584" y="0"/>
                  </a:moveTo>
                  <a:lnTo>
                    <a:pt x="2928" y="0"/>
                  </a:lnTo>
                  <a:lnTo>
                    <a:pt x="2928" y="1632"/>
                  </a:lnTo>
                  <a:lnTo>
                    <a:pt x="0" y="1632"/>
                  </a:lnTo>
                </a:path>
              </a:pathLst>
            </a:custGeom>
            <a:noFill/>
            <a:ln w="25400">
              <a:solidFill>
                <a:schemeClr val="bg2">
                  <a:lumMod val="25000"/>
                </a:schemeClr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6" name="AutoShape 9"/>
            <p:cNvSpPr>
              <a:spLocks noChangeArrowheads="1"/>
            </p:cNvSpPr>
            <p:nvPr/>
          </p:nvSpPr>
          <p:spPr bwMode="auto">
            <a:xfrm>
              <a:off x="3990" y="2851"/>
              <a:ext cx="1344" cy="432"/>
            </a:xfrm>
            <a:prstGeom prst="cloudCallout">
              <a:avLst>
                <a:gd name="adj1" fmla="val -70343"/>
                <a:gd name="adj2" fmla="val 80991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 dirty="0">
                  <a:latin typeface="宋体" charset="-122"/>
                </a:rPr>
                <a:t>b</a:t>
              </a:r>
              <a:r>
                <a:rPr lang="zh-CN" altLang="en-US" sz="2400" b="1" dirty="0">
                  <a:latin typeface="宋体" charset="-122"/>
                </a:rPr>
                <a:t>的作用域</a:t>
              </a:r>
            </a:p>
          </p:txBody>
        </p:sp>
      </p:grpSp>
      <p:sp>
        <p:nvSpPr>
          <p:cNvPr id="6152" name="AutoShape 15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179388" y="6381750"/>
            <a:ext cx="215900" cy="215900"/>
          </a:xfrm>
          <a:prstGeom prst="actionButtonSound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Freeform 8"/>
          <p:cNvSpPr>
            <a:spLocks/>
          </p:cNvSpPr>
          <p:nvPr/>
        </p:nvSpPr>
        <p:spPr bwMode="auto">
          <a:xfrm>
            <a:off x="1928813" y="2928938"/>
            <a:ext cx="4572000" cy="2928937"/>
          </a:xfrm>
          <a:custGeom>
            <a:avLst/>
            <a:gdLst>
              <a:gd name="T0" fmla="*/ 2147483647 w 2928"/>
              <a:gd name="T1" fmla="*/ 0 h 1632"/>
              <a:gd name="T2" fmla="*/ 2147483647 w 2928"/>
              <a:gd name="T3" fmla="*/ 0 h 1632"/>
              <a:gd name="T4" fmla="*/ 2147483647 w 2928"/>
              <a:gd name="T5" fmla="*/ 2147483647 h 1632"/>
              <a:gd name="T6" fmla="*/ 0 w 2928"/>
              <a:gd name="T7" fmla="*/ 2147483647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950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25400">
            <a:solidFill>
              <a:srgbClr val="FF00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AutoShape 9"/>
          <p:cNvSpPr>
            <a:spLocks noChangeArrowheads="1"/>
          </p:cNvSpPr>
          <p:nvPr/>
        </p:nvSpPr>
        <p:spPr bwMode="auto">
          <a:xfrm>
            <a:off x="6715125" y="2786063"/>
            <a:ext cx="2133600" cy="781050"/>
          </a:xfrm>
          <a:prstGeom prst="cloudCallout">
            <a:avLst>
              <a:gd name="adj1" fmla="val -54000"/>
              <a:gd name="adj2" fmla="val 135880"/>
            </a:avLst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zh-CN" sz="2400" b="1" dirty="0">
                <a:latin typeface="宋体" charset="-122"/>
              </a:rPr>
              <a:t>a</a:t>
            </a:r>
            <a:r>
              <a:rPr lang="zh-CN" altLang="en-US" sz="2400" b="1" dirty="0">
                <a:latin typeface="宋体" charset="-122"/>
              </a:rPr>
              <a:t>的作用域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267744" y="1772816"/>
            <a:ext cx="6480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12160" y="1772816"/>
            <a:ext cx="8640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067944" y="3140968"/>
            <a:ext cx="216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987824" y="3501008"/>
            <a:ext cx="21602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275856" y="4581128"/>
            <a:ext cx="21602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87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uiExpand="1" build="p"/>
      <p:bldP spid="6153" grpId="0" animBg="1"/>
      <p:bldP spid="61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228600"/>
            <a:ext cx="7162800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类作用域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628800"/>
            <a:ext cx="7239000" cy="4267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类的成员</a:t>
            </a:r>
            <a:r>
              <a:rPr lang="en-US" altLang="zh-CN" dirty="0">
                <a:latin typeface="宋体" charset="-122"/>
              </a:rPr>
              <a:t>m</a:t>
            </a:r>
            <a:r>
              <a:rPr lang="zh-CN" altLang="en-US" dirty="0">
                <a:latin typeface="宋体" charset="-122"/>
              </a:rPr>
              <a:t>具有类作用域。</a:t>
            </a:r>
            <a:endParaRPr lang="en-US" altLang="zh-CN" dirty="0">
              <a:latin typeface="宋体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对类成员</a:t>
            </a:r>
            <a:r>
              <a:rPr lang="en-US" altLang="zh-CN" dirty="0">
                <a:latin typeface="宋体" charset="-122"/>
              </a:rPr>
              <a:t>m</a:t>
            </a:r>
            <a:r>
              <a:rPr lang="zh-CN" altLang="en-US" dirty="0">
                <a:latin typeface="宋体" charset="-122"/>
              </a:rPr>
              <a:t>的访问方式如下：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如果在</a:t>
            </a:r>
            <a:r>
              <a:rPr lang="en-US" altLang="zh-CN" dirty="0">
                <a:latin typeface="宋体" charset="-122"/>
              </a:rPr>
              <a:t>X</a:t>
            </a:r>
            <a:r>
              <a:rPr lang="zh-CN" altLang="en-US" dirty="0">
                <a:latin typeface="宋体" charset="-122"/>
              </a:rPr>
              <a:t>的成员函数中没有声明同名的局部作用域标识符，那么在该函数内可以访问成员</a:t>
            </a:r>
            <a:r>
              <a:rPr lang="en-US" altLang="zh-CN" dirty="0">
                <a:latin typeface="宋体" charset="-122"/>
              </a:rPr>
              <a:t>m.</a:t>
            </a:r>
            <a:endParaRPr lang="zh-CN" altLang="en-US" dirty="0">
              <a:latin typeface="宋体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通过表达式</a:t>
            </a:r>
            <a:r>
              <a:rPr lang="en-US" altLang="zh-CN" dirty="0" err="1">
                <a:latin typeface="宋体" charset="-122"/>
              </a:rPr>
              <a:t>x.m</a:t>
            </a:r>
            <a:r>
              <a:rPr lang="zh-CN" altLang="en-US" dirty="0">
                <a:latin typeface="宋体" charset="-122"/>
              </a:rPr>
              <a:t>或者</a:t>
            </a:r>
            <a:r>
              <a:rPr lang="en-US" altLang="zh-CN" dirty="0">
                <a:latin typeface="宋体" charset="-122"/>
              </a:rPr>
              <a:t>X::m</a:t>
            </a:r>
            <a:r>
              <a:rPr lang="zh-CN" altLang="en-US" dirty="0">
                <a:latin typeface="宋体" charset="-122"/>
              </a:rPr>
              <a:t>访问。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通过表达式</a:t>
            </a:r>
            <a:r>
              <a:rPr lang="en-US" altLang="zh-CN" dirty="0" err="1">
                <a:latin typeface="宋体" charset="-122"/>
              </a:rPr>
              <a:t>ptr</a:t>
            </a:r>
            <a:r>
              <a:rPr lang="en-US" altLang="zh-CN" dirty="0">
                <a:latin typeface="宋体" charset="-122"/>
              </a:rPr>
              <a:t>-&gt;m</a:t>
            </a:r>
          </a:p>
        </p:txBody>
      </p:sp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87611C4-E328-4A1B-815A-6B6FEA04CC11}" type="slidenum">
              <a:rPr lang="en-US" altLang="zh-CN" sz="1400" smtClean="0"/>
              <a:pPr/>
              <a:t>8</a:t>
            </a:fld>
            <a:endParaRPr lang="en-US" altLang="zh-CN" sz="1400"/>
          </a:p>
        </p:txBody>
      </p:sp>
      <p:sp>
        <p:nvSpPr>
          <p:cNvPr id="7174" name="AutoShape 7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179388" y="6381750"/>
            <a:ext cx="215900" cy="215900"/>
          </a:xfrm>
          <a:prstGeom prst="actionButtonSound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49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71600" y="116632"/>
            <a:ext cx="7162800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命名空间 </a:t>
            </a:r>
            <a:r>
              <a:rPr lang="en-US" altLang="zh-CN" dirty="0"/>
              <a:t>namespace</a:t>
            </a:r>
            <a:endParaRPr lang="zh-CN" altLang="en-US" dirty="0"/>
          </a:p>
        </p:txBody>
      </p:sp>
      <p:sp>
        <p:nvSpPr>
          <p:cNvPr id="8196" name="Rectangle 1027"/>
          <p:cNvSpPr>
            <a:spLocks noGrp="1" noChangeArrowheads="1"/>
          </p:cNvSpPr>
          <p:nvPr>
            <p:ph idx="1"/>
          </p:nvPr>
        </p:nvSpPr>
        <p:spPr>
          <a:xfrm>
            <a:off x="1043608" y="1484784"/>
            <a:ext cx="7419975" cy="43815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命名空间可以解决类名、函数名等的</a:t>
            </a:r>
            <a:r>
              <a:rPr lang="zh-CN" altLang="en-US" sz="2400" b="1" dirty="0"/>
              <a:t>命名冲突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命名空间的声明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</a:rPr>
              <a:t>namespace </a:t>
            </a:r>
            <a:r>
              <a:rPr lang="zh-CN" altLang="en-US" sz="1800" dirty="0">
                <a:latin typeface="宋体" pitchFamily="2" charset="-122"/>
              </a:rPr>
              <a:t>命名空间名</a:t>
            </a:r>
            <a:endParaRPr lang="en-US" altLang="zh-CN" sz="1800" dirty="0">
              <a:latin typeface="宋体" pitchFamily="2" charset="-122"/>
            </a:endParaRP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</a:rPr>
              <a:t>{	</a:t>
            </a:r>
            <a:r>
              <a:rPr lang="zh-CN" altLang="en-US" sz="1800" dirty="0">
                <a:latin typeface="宋体" pitchFamily="2" charset="-122"/>
              </a:rPr>
              <a:t>各种声明（函数声明、类声明、</a:t>
            </a:r>
            <a:r>
              <a:rPr lang="en-US" altLang="zh-CN" sz="1800" dirty="0">
                <a:latin typeface="宋体" pitchFamily="2" charset="-122"/>
              </a:rPr>
              <a:t>……</a:t>
            </a:r>
            <a:r>
              <a:rPr lang="zh-CN" altLang="en-US" sz="1800" dirty="0">
                <a:latin typeface="宋体" pitchFamily="2" charset="-122"/>
              </a:rPr>
              <a:t>）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</a:rPr>
              <a:t>};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例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特殊的命名空间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/>
              <a:t>全局命名空间：默认的命名空间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/>
              <a:t>匿名命名空间：对每个源文件是唯一的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400" dirty="0"/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EFFA3B2-6D83-4609-89FA-4EE28504F3F7}" type="slidenum">
              <a:rPr lang="en-US" altLang="zh-CN" sz="1400" smtClean="0"/>
              <a:pPr/>
              <a:t>9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2232248" y="3429000"/>
            <a:ext cx="4211960" cy="18651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latin typeface="宋体" pitchFamily="2" charset="-122"/>
              </a:rPr>
              <a:t>namespace </a:t>
            </a:r>
            <a:r>
              <a:rPr lang="en-US" altLang="zh-CN" sz="2400" dirty="0" err="1">
                <a:latin typeface="宋体" pitchFamily="2" charset="-122"/>
              </a:rPr>
              <a:t>SomeNs</a:t>
            </a:r>
            <a:r>
              <a:rPr lang="zh-CN" altLang="en-US" sz="2400" dirty="0">
                <a:latin typeface="宋体" pitchFamily="2" charset="-122"/>
              </a:rPr>
              <a:t> </a:t>
            </a:r>
            <a:endParaRPr lang="en-US" altLang="zh-CN" sz="2400" dirty="0">
              <a:latin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latin typeface="宋体" pitchFamily="2" charset="-122"/>
              </a:rPr>
              <a:t>{	class </a:t>
            </a:r>
            <a:r>
              <a:rPr lang="en-US" altLang="zh-CN" sz="2400" dirty="0" err="1">
                <a:latin typeface="宋体" pitchFamily="2" charset="-122"/>
              </a:rPr>
              <a:t>SomeClass</a:t>
            </a:r>
            <a:r>
              <a:rPr lang="en-US" altLang="zh-CN" sz="2400" dirty="0">
                <a:latin typeface="宋体" pitchFamily="2" charset="-122"/>
              </a:rPr>
              <a:t> 	{ ... };</a:t>
            </a:r>
            <a:endParaRPr lang="zh-CN" altLang="en-US" sz="2400" dirty="0">
              <a:latin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latin typeface="宋体" pitchFamily="2" charset="-122"/>
              </a:rPr>
              <a:t>}; 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19951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611188" y="130969"/>
            <a:ext cx="8137525" cy="993775"/>
          </a:xfrm>
        </p:spPr>
        <p:txBody>
          <a:bodyPr/>
          <a:lstStyle/>
          <a:p>
            <a:r>
              <a:rPr lang="zh-CN" altLang="en-US" dirty="0">
                <a:latin typeface="Consolas" pitchFamily="49" charset="0"/>
                <a:cs typeface="Consolas" pitchFamily="49" charset="0"/>
              </a:rPr>
              <a:t>自定义命名空间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namespace</a:t>
            </a:r>
            <a:endParaRPr lang="zh-CN" altLang="en-US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90" t="19463" r="3804" b="43568"/>
          <a:stretch>
            <a:fillRect/>
          </a:stretch>
        </p:blipFill>
        <p:spPr bwMode="auto">
          <a:xfrm>
            <a:off x="5904110" y="1412776"/>
            <a:ext cx="2700338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394890" y="1410290"/>
            <a:ext cx="5329238" cy="2937108"/>
          </a:xfrm>
          <a:solidFill>
            <a:schemeClr val="bg2">
              <a:lumMod val="90000"/>
            </a:schemeClr>
          </a:solidFill>
        </p:spPr>
        <p:txBody>
          <a:bodyPr rtlCol="0">
            <a:noAutofit/>
          </a:bodyPr>
          <a:lstStyle/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400" dirty="0">
                <a:latin typeface="+mn-ea"/>
              </a:rPr>
              <a:t>在命名空间</a:t>
            </a:r>
            <a:r>
              <a:rPr lang="en-US" altLang="zh-CN" sz="2400" dirty="0" err="1">
                <a:latin typeface="+mn-ea"/>
              </a:rPr>
              <a:t>nspoint</a:t>
            </a:r>
            <a:r>
              <a:rPr lang="zh-CN" altLang="en-US" sz="2400" dirty="0">
                <a:latin typeface="+mn-ea"/>
              </a:rPr>
              <a:t>中：</a:t>
            </a:r>
            <a:endParaRPr lang="en-US" altLang="zh-CN" sz="2400" dirty="0">
              <a:latin typeface="+mn-ea"/>
            </a:endParaRP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000" dirty="0">
                <a:latin typeface="+mn-ea"/>
              </a:rPr>
              <a:t>定义原点</a:t>
            </a:r>
            <a:r>
              <a:rPr lang="en-US" altLang="zh-CN" sz="2000" dirty="0">
                <a:latin typeface="+mn-ea"/>
              </a:rPr>
              <a:t>origin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000" dirty="0">
                <a:latin typeface="+mn-ea"/>
              </a:rPr>
              <a:t>定义圆（（</a:t>
            </a:r>
            <a:r>
              <a:rPr lang="en-US" altLang="zh-CN" sz="2000" dirty="0">
                <a:latin typeface="+mn-ea"/>
              </a:rPr>
              <a:t>0,0</a:t>
            </a:r>
            <a:r>
              <a:rPr lang="zh-CN" altLang="en-US" sz="2000" dirty="0">
                <a:latin typeface="+mn-ea"/>
              </a:rPr>
              <a:t>）</a:t>
            </a:r>
            <a:r>
              <a:rPr lang="en-US" altLang="zh-CN" sz="2000" dirty="0">
                <a:latin typeface="+mn-ea"/>
              </a:rPr>
              <a:t>,1</a:t>
            </a:r>
            <a:r>
              <a:rPr lang="zh-CN" altLang="en-US" sz="2000" dirty="0">
                <a:latin typeface="+mn-ea"/>
              </a:rPr>
              <a:t>）的左上右下四个边界点 </a:t>
            </a:r>
            <a:r>
              <a:rPr lang="en-US" altLang="zh-CN" sz="2000" dirty="0" err="1">
                <a:latin typeface="+mn-ea"/>
              </a:rPr>
              <a:t>left1</a:t>
            </a:r>
            <a:r>
              <a:rPr lang="en-US" altLang="zh-CN" sz="2000" dirty="0">
                <a:latin typeface="+mn-ea"/>
              </a:rPr>
              <a:t>, </a:t>
            </a:r>
            <a:r>
              <a:rPr lang="en-US" altLang="zh-CN" sz="2000" dirty="0" err="1">
                <a:latin typeface="+mn-ea"/>
              </a:rPr>
              <a:t>top1</a:t>
            </a:r>
            <a:r>
              <a:rPr lang="en-US" altLang="zh-CN" sz="2000" dirty="0">
                <a:latin typeface="+mn-ea"/>
              </a:rPr>
              <a:t>, </a:t>
            </a:r>
            <a:r>
              <a:rPr lang="en-US" altLang="zh-CN" sz="2000" dirty="0" err="1">
                <a:latin typeface="+mn-ea"/>
              </a:rPr>
              <a:t>right1</a:t>
            </a:r>
            <a:r>
              <a:rPr lang="en-US" altLang="zh-CN" sz="2000" dirty="0">
                <a:latin typeface="+mn-ea"/>
              </a:rPr>
              <a:t>, </a:t>
            </a:r>
            <a:r>
              <a:rPr lang="en-US" altLang="zh-CN" sz="2000" dirty="0" err="1">
                <a:latin typeface="+mn-ea"/>
              </a:rPr>
              <a:t>bottom1</a:t>
            </a:r>
            <a:endParaRPr lang="en-US" altLang="zh-CN" sz="2000" dirty="0">
              <a:latin typeface="+mn-ea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400" dirty="0">
                <a:latin typeface="+mn-ea"/>
              </a:rPr>
              <a:t>在</a:t>
            </a:r>
            <a:r>
              <a:rPr lang="en-US" altLang="zh-CN" sz="2400" dirty="0">
                <a:latin typeface="+mn-ea"/>
              </a:rPr>
              <a:t>main()</a:t>
            </a:r>
            <a:r>
              <a:rPr lang="zh-CN" altLang="en-US" sz="2400" dirty="0">
                <a:latin typeface="+mn-ea"/>
              </a:rPr>
              <a:t>函数中，输出这</a:t>
            </a:r>
            <a:r>
              <a:rPr lang="en-US" altLang="zh-CN" sz="2400" dirty="0">
                <a:latin typeface="+mn-ea"/>
              </a:rPr>
              <a:t>5</a:t>
            </a:r>
            <a:r>
              <a:rPr lang="zh-CN" altLang="en-US" sz="2400" dirty="0">
                <a:latin typeface="+mn-ea"/>
              </a:rPr>
              <a:t>个点的坐标</a:t>
            </a:r>
          </a:p>
        </p:txBody>
      </p:sp>
    </p:spTree>
    <p:extLst>
      <p:ext uri="{BB962C8B-B14F-4D97-AF65-F5344CB8AC3E}">
        <p14:creationId xmlns:p14="http://schemas.microsoft.com/office/powerpoint/2010/main" val="1590031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248246" y="170210"/>
            <a:ext cx="2595562" cy="1098550"/>
            <a:chOff x="2047967" y="4386590"/>
            <a:chExt cx="2596041" cy="1097543"/>
          </a:xfrm>
        </p:grpSpPr>
        <p:sp>
          <p:nvSpPr>
            <p:cNvPr id="7" name="矩形 6"/>
            <p:cNvSpPr/>
            <p:nvPr/>
          </p:nvSpPr>
          <p:spPr>
            <a:xfrm>
              <a:off x="2051143" y="4653046"/>
              <a:ext cx="2592865" cy="8310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#pragma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once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&lt;iostream&gt;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std;</a:t>
              </a:r>
              <a:endParaRPr lang="zh-CN" altLang="en-US" sz="1600" dirty="0"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32782" name="矩形 7"/>
            <p:cNvSpPr>
              <a:spLocks noChangeArrowheads="1"/>
            </p:cNvSpPr>
            <p:nvPr/>
          </p:nvSpPr>
          <p:spPr bwMode="auto">
            <a:xfrm>
              <a:off x="2047967" y="4386590"/>
              <a:ext cx="9444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 dirty="0" err="1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include.h</a:t>
              </a:r>
              <a:endParaRPr lang="en-US" altLang="zh-CN" sz="1600" dirty="0">
                <a:solidFill>
                  <a:srgbClr val="000000"/>
                </a:solidFill>
                <a:ea typeface="新宋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209450" y="1615405"/>
            <a:ext cx="6954838" cy="4333875"/>
            <a:chOff x="2010053" y="927565"/>
            <a:chExt cx="6954435" cy="4334324"/>
          </a:xfrm>
        </p:grpSpPr>
        <p:sp>
          <p:nvSpPr>
            <p:cNvPr id="10" name="矩形 9"/>
            <p:cNvSpPr/>
            <p:nvPr/>
          </p:nvSpPr>
          <p:spPr>
            <a:xfrm>
              <a:off x="2051326" y="1230809"/>
              <a:ext cx="6913162" cy="4031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#pragma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once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class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_x, _y;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public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: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=0.0,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=0.0);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Set(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x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,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SetX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SetY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GetX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()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GetY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()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Show()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friend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operator&lt;&lt;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,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friend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operator&gt;&gt;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, </a:t>
              </a:r>
              <a:r>
                <a:rPr lang="en-US" altLang="zh-CN" sz="16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};</a:t>
              </a:r>
            </a:p>
            <a:p>
              <a:pPr>
                <a:defRPr/>
              </a:pPr>
              <a:endPara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</p:txBody>
        </p:sp>
        <p:sp>
          <p:nvSpPr>
            <p:cNvPr id="32780" name="矩形 10"/>
            <p:cNvSpPr>
              <a:spLocks noChangeArrowheads="1"/>
            </p:cNvSpPr>
            <p:nvPr/>
          </p:nvSpPr>
          <p:spPr bwMode="auto">
            <a:xfrm>
              <a:off x="2010053" y="927565"/>
              <a:ext cx="76174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point.h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4ED16BAD-E910-F62C-1239-A122285170EA}"/>
              </a:ext>
            </a:extLst>
          </p:cNvPr>
          <p:cNvGrpSpPr/>
          <p:nvPr/>
        </p:nvGrpSpPr>
        <p:grpSpPr>
          <a:xfrm>
            <a:off x="2915816" y="295390"/>
            <a:ext cx="3384378" cy="1323439"/>
            <a:chOff x="2915816" y="295390"/>
            <a:chExt cx="3384378" cy="132343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xmlns="" id="{050EFB65-5551-146B-DAF5-95FEE0D507C1}"/>
                </a:ext>
              </a:extLst>
            </p:cNvPr>
            <p:cNvSpPr txBox="1"/>
            <p:nvPr/>
          </p:nvSpPr>
          <p:spPr>
            <a:xfrm>
              <a:off x="3635898" y="295390"/>
              <a:ext cx="2664296" cy="1323439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#ifndef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INCLUDE_H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600" dirty="0">
                  <a:solidFill>
                    <a:srgbClr val="6F008A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INCLUDE_H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&lt;iostream&gt;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std;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#endif</a:t>
              </a:r>
              <a:endParaRPr lang="zh-CN" alt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" name="箭头: 左右 7">
              <a:extLst>
                <a:ext uri="{FF2B5EF4-FFF2-40B4-BE49-F238E27FC236}">
                  <a16:creationId xmlns:a16="http://schemas.microsoft.com/office/drawing/2014/main" xmlns="" id="{B2B75F98-A888-D4DB-CA3B-92D545AECAB1}"/>
                </a:ext>
              </a:extLst>
            </p:cNvPr>
            <p:cNvSpPr/>
            <p:nvPr/>
          </p:nvSpPr>
          <p:spPr>
            <a:xfrm>
              <a:off x="2915816" y="794651"/>
              <a:ext cx="576064" cy="114069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7">
              <a:extLst>
                <a:ext uri="{FF2B5EF4-FFF2-40B4-BE49-F238E27FC236}">
                  <a16:creationId xmlns:a16="http://schemas.microsoft.com/office/drawing/2014/main" xmlns="" id="{89050F8A-1206-9598-EBE1-8105225B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493" y="620688"/>
              <a:ext cx="56938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en-US" sz="1000" dirty="0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相当于</a:t>
              </a:r>
              <a:endParaRPr lang="en-US" altLang="zh-CN" sz="1000" dirty="0">
                <a:solidFill>
                  <a:srgbClr val="000000"/>
                </a:solidFill>
                <a:ea typeface="新宋体" pitchFamily="49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013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271975" y="0"/>
            <a:ext cx="5236129" cy="6430963"/>
            <a:chOff x="3605518" y="912783"/>
            <a:chExt cx="5235571" cy="6430209"/>
          </a:xfrm>
        </p:grpSpPr>
        <p:sp>
          <p:nvSpPr>
            <p:cNvPr id="13" name="矩形 12"/>
            <p:cNvSpPr/>
            <p:nvPr/>
          </p:nvSpPr>
          <p:spPr>
            <a:xfrm>
              <a:off x="3605518" y="1217547"/>
              <a:ext cx="5235571" cy="61254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include.h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point.h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::Point(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):_x(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),_y(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::Set(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_x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2698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_y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SetX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_x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SetY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_y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GetX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()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_x;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GetY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()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_y;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::Show()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cout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"("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_x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","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_y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")"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operator&lt;&lt;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out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out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"("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","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")"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operator&gt;&gt;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&gt;&gt;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&gt;&gt;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32778" name="矩形 13"/>
            <p:cNvSpPr>
              <a:spLocks noChangeArrowheads="1"/>
            </p:cNvSpPr>
            <p:nvPr/>
          </p:nvSpPr>
          <p:spPr bwMode="auto">
            <a:xfrm>
              <a:off x="3703726" y="912783"/>
              <a:ext cx="95571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宋体" pitchFamily="49" charset="-122"/>
                  <a:cs typeface="Times New Roman" pitchFamily="18" charset="0"/>
                </a:rPr>
                <a:t>point.cpp</a:t>
              </a: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5699676" y="66686"/>
            <a:ext cx="3055938" cy="2595661"/>
            <a:chOff x="-2516528" y="2492896"/>
            <a:chExt cx="3056079" cy="2596455"/>
          </a:xfrm>
        </p:grpSpPr>
        <p:sp>
          <p:nvSpPr>
            <p:cNvPr id="16" name="矩形 15"/>
            <p:cNvSpPr/>
            <p:nvPr/>
          </p:nvSpPr>
          <p:spPr>
            <a:xfrm>
              <a:off x="-2516528" y="2780321"/>
              <a:ext cx="3056079" cy="2309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#pragma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once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point.h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namespace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nspoint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origin;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right1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(1.0, 0);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left1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(-1.0, 0);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top1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(0, 1.0);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bottom1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(0, -1.0);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};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32776" name="矩形 16"/>
            <p:cNvSpPr>
              <a:spLocks noChangeArrowheads="1"/>
            </p:cNvSpPr>
            <p:nvPr/>
          </p:nvSpPr>
          <p:spPr bwMode="auto">
            <a:xfrm>
              <a:off x="-2488537" y="2492896"/>
              <a:ext cx="12410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宋体" pitchFamily="49" charset="-122"/>
                  <a:cs typeface="Times New Roman" pitchFamily="18" charset="0"/>
                </a:rPr>
                <a:t>namespace.h</a:t>
              </a: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9468544" y="351612"/>
            <a:ext cx="936625" cy="25876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94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矩形 4"/>
          <p:cNvSpPr>
            <a:spLocks noChangeArrowheads="1"/>
          </p:cNvSpPr>
          <p:nvPr/>
        </p:nvSpPr>
        <p:spPr bwMode="auto">
          <a:xfrm>
            <a:off x="1847784" y="4461346"/>
            <a:ext cx="2759075" cy="16319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dirty="0">
                <a:solidFill>
                  <a:schemeClr val="bg1"/>
                </a:solidFill>
              </a:rPr>
              <a:t>origin is: (0,0)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left vertex is: (-1,0)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top vertex is: (0,1)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right vertex is: (1,0)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bottom vertex is: (0,-1)</a:t>
            </a:r>
          </a:p>
        </p:txBody>
      </p:sp>
      <p:grpSp>
        <p:nvGrpSpPr>
          <p:cNvPr id="31749" name="组合 5"/>
          <p:cNvGrpSpPr>
            <a:grpSpLocks/>
          </p:cNvGrpSpPr>
          <p:nvPr/>
        </p:nvGrpSpPr>
        <p:grpSpPr bwMode="auto">
          <a:xfrm>
            <a:off x="395536" y="764704"/>
            <a:ext cx="6053138" cy="3333750"/>
            <a:chOff x="103751" y="764704"/>
            <a:chExt cx="6052425" cy="3333765"/>
          </a:xfrm>
        </p:grpSpPr>
        <p:sp>
          <p:nvSpPr>
            <p:cNvPr id="7" name="矩形 6"/>
            <p:cNvSpPr/>
            <p:nvPr/>
          </p:nvSpPr>
          <p:spPr>
            <a:xfrm>
              <a:off x="106926" y="1052043"/>
              <a:ext cx="6049250" cy="30464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namespace.h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nspoint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main()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"origin is: "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origin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"left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left1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"top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top1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"right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right1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"bottom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bottom1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return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31752" name="矩形 7"/>
            <p:cNvSpPr>
              <a:spLocks noChangeArrowheads="1"/>
            </p:cNvSpPr>
            <p:nvPr/>
          </p:nvSpPr>
          <p:spPr bwMode="auto">
            <a:xfrm>
              <a:off x="103751" y="764704"/>
              <a:ext cx="194796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namespace_2022.cpp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705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命名空间作用域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一个命名空间确定了一个命名空间作用域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使用其它命名空间作用域中的标识符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命名空间名</a:t>
            </a:r>
            <a:r>
              <a:rPr lang="en-US" altLang="zh-CN" dirty="0"/>
              <a:t>::</a:t>
            </a:r>
            <a:r>
              <a:rPr lang="zh-CN" altLang="en-US" dirty="0"/>
              <a:t>标识符名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例：声明一个</a:t>
            </a:r>
            <a:r>
              <a:rPr lang="en-US" altLang="zh-CN" dirty="0" err="1"/>
              <a:t>SomeClass</a:t>
            </a:r>
            <a:r>
              <a:rPr lang="zh-CN" altLang="en-US" dirty="0"/>
              <a:t>型的对象</a:t>
            </a:r>
            <a:endParaRPr lang="en-US" altLang="zh-CN" dirty="0"/>
          </a:p>
          <a:p>
            <a:pPr lvl="2">
              <a:defRPr/>
            </a:pPr>
            <a:r>
              <a:rPr lang="en-US" altLang="zh-CN" dirty="0" err="1">
                <a:latin typeface="宋体" pitchFamily="2" charset="-122"/>
              </a:rPr>
              <a:t>SomeNs</a:t>
            </a:r>
            <a:r>
              <a:rPr lang="en-US" altLang="zh-CN" dirty="0">
                <a:latin typeface="宋体" pitchFamily="2" charset="-122"/>
              </a:rPr>
              <a:t>::</a:t>
            </a:r>
            <a:r>
              <a:rPr lang="en-US" altLang="zh-CN" dirty="0" err="1">
                <a:latin typeface="宋体" pitchFamily="2" charset="-122"/>
              </a:rPr>
              <a:t>SomeClass</a:t>
            </a:r>
            <a:r>
              <a:rPr lang="en-US" altLang="zh-CN" dirty="0">
                <a:latin typeface="宋体" pitchFamily="2" charset="-122"/>
              </a:rPr>
              <a:t> obj1;</a:t>
            </a: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8DC0C08-0E05-4DDE-B611-FF718166A509}" type="slidenum">
              <a:rPr lang="en-US" altLang="zh-CN" sz="1400" smtClean="0"/>
              <a:pPr/>
              <a:t>14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721761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>
            <a:spLocks/>
          </p:cNvSpPr>
          <p:nvPr/>
        </p:nvSpPr>
        <p:spPr>
          <a:xfrm>
            <a:off x="463624" y="2204864"/>
            <a:ext cx="3460304" cy="331236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rmAutofit fontScale="85000" lnSpcReduction="2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marL="0" indent="0">
              <a:buNone/>
              <a:defRPr/>
            </a:pPr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pPr marL="0" indent="0"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>
              <a:buNone/>
              <a:defRPr/>
            </a:pPr>
            <a:r>
              <a:rPr lang="en-US" altLang="zh-CN" dirty="0"/>
              <a:t>{   </a:t>
            </a:r>
            <a:r>
              <a:rPr lang="en-US" altLang="zh-CN" dirty="0" err="1"/>
              <a:t>int</a:t>
            </a:r>
            <a:r>
              <a:rPr lang="en-US" altLang="zh-CN" dirty="0"/>
              <a:t> x;</a:t>
            </a:r>
          </a:p>
          <a:p>
            <a:pPr marL="0" indent="0"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cin</a:t>
            </a:r>
            <a:r>
              <a:rPr lang="en-US" altLang="zh-CN" dirty="0"/>
              <a:t>&gt;&gt;x;</a:t>
            </a:r>
          </a:p>
          <a:p>
            <a:pPr marL="0" indent="0"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cout</a:t>
            </a:r>
            <a:r>
              <a:rPr lang="en-US" altLang="zh-CN" dirty="0"/>
              <a:t>&lt;&lt;x&lt;&lt;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  <a:defRPr/>
            </a:pPr>
            <a:r>
              <a:rPr lang="en-US" altLang="zh-CN" dirty="0"/>
              <a:t>     return 0;</a:t>
            </a:r>
          </a:p>
          <a:p>
            <a:pPr marL="0" indent="0">
              <a:buNone/>
              <a:defRPr/>
            </a:pPr>
            <a:r>
              <a:rPr lang="en-US" altLang="zh-CN" dirty="0"/>
              <a:t>} 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971600" y="4221088"/>
            <a:ext cx="432048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71600" y="4653136"/>
            <a:ext cx="64807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555776" y="4653136"/>
            <a:ext cx="72008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04665"/>
            <a:ext cx="9612560" cy="72007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dirty="0"/>
              <a:t>将其它命名空间作用域的标识符暴露于当前作用域</a:t>
            </a:r>
            <a:endParaRPr lang="en-US" altLang="zh-CN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8DC0C08-0E05-4DDE-B611-FF718166A509}" type="slidenum">
              <a:rPr lang="en-US" altLang="zh-CN" sz="1400" smtClean="0"/>
              <a:pPr/>
              <a:t>15</a:t>
            </a:fld>
            <a:endParaRPr lang="en-US" altLang="zh-CN" sz="140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860032" y="2132856"/>
            <a:ext cx="4142928" cy="3600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iostream</a:t>
            </a:r>
            <a:r>
              <a:rPr lang="en-US" altLang="zh-CN" sz="2800" dirty="0"/>
              <a:t>&gt;</a:t>
            </a:r>
          </a:p>
          <a:p>
            <a:pPr marL="0" indent="0">
              <a:buNone/>
              <a:defRPr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std</a:t>
            </a:r>
            <a:r>
              <a:rPr lang="en-US" altLang="zh-CN" sz="2800" dirty="0"/>
              <a:t>::</a:t>
            </a:r>
            <a:r>
              <a:rPr lang="en-US" altLang="zh-CN" sz="2800" dirty="0" err="1"/>
              <a:t>cin</a:t>
            </a:r>
            <a:r>
              <a:rPr lang="en-US" altLang="zh-CN" sz="2800" dirty="0"/>
              <a:t>&gt;&gt;x;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std</a:t>
            </a:r>
            <a:r>
              <a:rPr lang="en-US" altLang="zh-CN" sz="2800" dirty="0"/>
              <a:t>::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&lt;&lt;x&lt;&lt;</a:t>
            </a:r>
            <a:r>
              <a:rPr lang="en-US" altLang="zh-CN" sz="2800" dirty="0" err="1"/>
              <a:t>std</a:t>
            </a:r>
            <a:r>
              <a:rPr lang="en-US" altLang="zh-CN" sz="2800" dirty="0"/>
              <a:t>::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    return 0;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} 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4211960" y="1124744"/>
            <a:ext cx="496855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800" dirty="0"/>
              <a:t>对特定标识符：</a:t>
            </a:r>
            <a:endParaRPr lang="en-US" altLang="zh-CN" sz="2800" dirty="0"/>
          </a:p>
          <a:p>
            <a:pPr lvl="2"/>
            <a:r>
              <a:rPr lang="en-US" altLang="zh-CN" sz="2400" dirty="0"/>
              <a:t>using </a:t>
            </a:r>
            <a:r>
              <a:rPr lang="zh-CN" altLang="en-US" sz="2400" dirty="0"/>
              <a:t>命名空间名</a:t>
            </a:r>
            <a:r>
              <a:rPr lang="en-US" altLang="zh-CN" sz="2400" dirty="0"/>
              <a:t>::</a:t>
            </a:r>
            <a:r>
              <a:rPr lang="zh-CN" altLang="en-US" sz="2400" dirty="0"/>
              <a:t>标识符名</a:t>
            </a:r>
            <a:r>
              <a:rPr lang="en-US" altLang="zh-CN" sz="2400" dirty="0"/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-361136" y="1063189"/>
            <a:ext cx="59412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zh-CN" altLang="en-US" sz="2800" dirty="0"/>
              <a:t>对所有标识符：</a:t>
            </a:r>
            <a:endParaRPr lang="en-US" altLang="zh-CN" sz="2800" dirty="0"/>
          </a:p>
          <a:p>
            <a:pPr lvl="2">
              <a:defRPr/>
            </a:pPr>
            <a:r>
              <a:rPr lang="en-US" altLang="zh-CN" sz="2400" dirty="0"/>
              <a:t>using namespace </a:t>
            </a:r>
            <a:r>
              <a:rPr lang="zh-CN" altLang="en-US" sz="2400" dirty="0"/>
              <a:t>命名空间名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4499992" y="1124744"/>
            <a:ext cx="0" cy="5184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292080" y="4149080"/>
            <a:ext cx="100811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5220072" y="4653136"/>
            <a:ext cx="129614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11560" y="2996952"/>
            <a:ext cx="2952328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17" name="组合 9216"/>
          <p:cNvGrpSpPr/>
          <p:nvPr/>
        </p:nvGrpSpPr>
        <p:grpSpPr>
          <a:xfrm>
            <a:off x="4034408" y="3450486"/>
            <a:ext cx="753616" cy="569375"/>
            <a:chOff x="4139952" y="3450486"/>
            <a:chExt cx="753616" cy="569375"/>
          </a:xfrm>
        </p:grpSpPr>
        <p:sp>
          <p:nvSpPr>
            <p:cNvPr id="31" name="左右箭头 30"/>
            <p:cNvSpPr/>
            <p:nvPr/>
          </p:nvSpPr>
          <p:spPr>
            <a:xfrm>
              <a:off x="4139952" y="3717031"/>
              <a:ext cx="753616" cy="30283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16" name="矩形 9215"/>
            <p:cNvSpPr/>
            <p:nvPr/>
          </p:nvSpPr>
          <p:spPr>
            <a:xfrm>
              <a:off x="4192989" y="3450486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/>
                <a:t>等价</a:t>
              </a: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7524328" y="4653136"/>
            <a:ext cx="140662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91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50106"/>
          </a:xfrm>
        </p:spPr>
        <p:txBody>
          <a:bodyPr/>
          <a:lstStyle/>
          <a:p>
            <a:r>
              <a:rPr lang="zh-CN" altLang="en-US" dirty="0"/>
              <a:t>文件作用域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456383"/>
          </a:xfrm>
        </p:spPr>
        <p:txBody>
          <a:bodyPr/>
          <a:lstStyle/>
          <a:p>
            <a:r>
              <a:rPr lang="zh-CN" altLang="en-US" dirty="0"/>
              <a:t>不在前述定义域中定义的标志符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也被称为：全局变量</a:t>
            </a:r>
            <a:endParaRPr lang="en-US" altLang="zh-CN" dirty="0"/>
          </a:p>
          <a:p>
            <a:r>
              <a:rPr lang="zh-CN" altLang="en-US" dirty="0"/>
              <a:t>在整个文件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中都可以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使用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986568" y="2492896"/>
            <a:ext cx="5401856" cy="35283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#include&lt;</a:t>
            </a:r>
            <a:r>
              <a:rPr lang="en-US" altLang="zh-CN" dirty="0" err="1">
                <a:latin typeface="宋体" charset="-122"/>
              </a:rPr>
              <a:t>iostream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using namespace </a:t>
            </a:r>
            <a:r>
              <a:rPr lang="en-US" altLang="zh-CN" dirty="0" err="1">
                <a:latin typeface="宋体" charset="-122"/>
              </a:rPr>
              <a:t>std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=5;   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main()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 </a:t>
            </a:r>
            <a:r>
              <a:rPr lang="en-US" altLang="zh-CN" dirty="0" err="1">
                <a:latin typeface="宋体" charset="-122"/>
              </a:rPr>
              <a:t>cout</a:t>
            </a:r>
            <a:r>
              <a:rPr lang="en-US" altLang="zh-CN" dirty="0">
                <a:latin typeface="宋体" charset="-122"/>
              </a:rPr>
              <a:t>&lt;&lt;"</a:t>
            </a:r>
            <a:r>
              <a:rPr lang="en-US" altLang="zh-CN" dirty="0" err="1"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="&lt;&lt;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&lt;&lt;</a:t>
            </a:r>
            <a:r>
              <a:rPr lang="en-US" altLang="zh-CN" dirty="0" err="1">
                <a:latin typeface="宋体" charset="-122"/>
              </a:rPr>
              <a:t>endl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return 0;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3059832" y="3933056"/>
            <a:ext cx="93610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635896" y="4869160"/>
            <a:ext cx="345638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4572000" y="3510624"/>
            <a:ext cx="2362092" cy="369332"/>
            <a:chOff x="4572000" y="3510624"/>
            <a:chExt cx="2362092" cy="369332"/>
          </a:xfrm>
        </p:grpSpPr>
        <p:sp>
          <p:nvSpPr>
            <p:cNvPr id="8" name="矩形 7"/>
            <p:cNvSpPr/>
            <p:nvPr/>
          </p:nvSpPr>
          <p:spPr>
            <a:xfrm>
              <a:off x="5337180" y="3510624"/>
              <a:ext cx="159691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marL="11113" lvl="1" indent="-11113">
                <a:lnSpc>
                  <a:spcPct val="90000"/>
                </a:lnSpc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charset="-122"/>
                </a:rPr>
                <a:t>文件作用域 </a:t>
              </a:r>
              <a:endParaRPr lang="en-US" altLang="en-US" sz="2000" b="1" dirty="0">
                <a:latin typeface="宋体" charset="-122"/>
              </a:endParaRPr>
            </a:p>
          </p:txBody>
        </p:sp>
        <p:sp>
          <p:nvSpPr>
            <p:cNvPr id="15" name="左箭头 14"/>
            <p:cNvSpPr/>
            <p:nvPr/>
          </p:nvSpPr>
          <p:spPr>
            <a:xfrm>
              <a:off x="4572000" y="3638085"/>
              <a:ext cx="648072" cy="150955"/>
            </a:xfrm>
            <a:prstGeom prst="lef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164288" y="3678682"/>
            <a:ext cx="1889586" cy="2126582"/>
            <a:chOff x="7164288" y="3678682"/>
            <a:chExt cx="1889586" cy="2126582"/>
          </a:xfrm>
        </p:grpSpPr>
        <p:sp>
          <p:nvSpPr>
            <p:cNvPr id="13" name="右大括号 12"/>
            <p:cNvSpPr/>
            <p:nvPr/>
          </p:nvSpPr>
          <p:spPr>
            <a:xfrm>
              <a:off x="7164288" y="3678682"/>
              <a:ext cx="288032" cy="2126582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7583600" y="4571836"/>
              <a:ext cx="1470274" cy="369332"/>
            </a:xfrm>
            <a:prstGeom prst="rect">
              <a:avLst/>
            </a:prstGeom>
            <a:solidFill>
              <a:srgbClr val="FF6D6D"/>
            </a:solidFill>
          </p:spPr>
          <p:txBody>
            <a:bodyPr wrap="none">
              <a:spAutoFit/>
            </a:bodyPr>
            <a:lstStyle/>
            <a:p>
              <a:pPr marL="11113" lvl="1" indent="-11113">
                <a:lnSpc>
                  <a:spcPct val="90000"/>
                </a:lnSpc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charset="-122"/>
                </a:rPr>
                <a:t>的作用域 </a:t>
              </a:r>
              <a:endParaRPr lang="en-US" altLang="en-US" sz="2000" b="1" dirty="0">
                <a:latin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10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448816"/>
            <a:ext cx="7162800" cy="819944"/>
          </a:xfrm>
        </p:spPr>
        <p:txBody>
          <a:bodyPr/>
          <a:lstStyle/>
          <a:p>
            <a:pPr eaLnBrk="1" hangingPunct="1"/>
            <a:r>
              <a:rPr lang="zh-CN" altLang="en-US" dirty="0"/>
              <a:t>标志符的可见性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556792"/>
            <a:ext cx="7272808" cy="2088232"/>
          </a:xfrm>
        </p:spPr>
        <p:txBody>
          <a:bodyPr/>
          <a:lstStyle/>
          <a:p>
            <a:r>
              <a:rPr lang="zh-CN" altLang="en-US" dirty="0"/>
              <a:t>标志符在其作用域内，是否可用？</a:t>
            </a:r>
          </a:p>
          <a:p>
            <a:r>
              <a:rPr lang="zh-CN" altLang="en-US" dirty="0"/>
              <a:t>如果可用，则可见</a:t>
            </a:r>
            <a:endParaRPr lang="en-US" altLang="zh-CN" dirty="0"/>
          </a:p>
          <a:p>
            <a:r>
              <a:rPr lang="zh-CN" altLang="en-US" dirty="0"/>
              <a:t>如果不可用，则不可见</a:t>
            </a:r>
            <a:endParaRPr lang="en-US" altLang="zh-CN" dirty="0"/>
          </a:p>
        </p:txBody>
      </p:sp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D49607F-8F6C-49AE-A427-51F04B22E46A}" type="slidenum">
              <a:rPr lang="en-US" altLang="zh-CN" sz="1400" smtClean="0"/>
              <a:pPr/>
              <a:t>17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539552" y="3789040"/>
            <a:ext cx="8064896" cy="2016224"/>
          </a:xfrm>
          <a:prstGeom prst="rect">
            <a:avLst/>
          </a:prstGeom>
        </p:spPr>
        <p:txBody>
          <a:bodyPr vert="horz" rtlCol="0">
            <a:normAutofit lnSpcReduction="10000"/>
          </a:bodyPr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</a:pPr>
            <a:r>
              <a:rPr lang="zh-CN" altLang="en-US" sz="3200" dirty="0"/>
              <a:t>标志符在其作用域内，并非总是可见的</a:t>
            </a:r>
            <a:endParaRPr lang="en-US" altLang="zh-CN" sz="32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</a:pPr>
            <a:r>
              <a:rPr lang="zh-CN" altLang="en-US" sz="3200" dirty="0"/>
              <a:t>因为作用域嵌套，如果在内层作用域内定义了同名变量，则在内层将不可见外层的同名变量</a:t>
            </a:r>
          </a:p>
        </p:txBody>
      </p:sp>
    </p:spTree>
    <p:extLst>
      <p:ext uri="{BB962C8B-B14F-4D97-AF65-F5344CB8AC3E}">
        <p14:creationId xmlns:p14="http://schemas.microsoft.com/office/powerpoint/2010/main" val="27858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404664"/>
            <a:ext cx="7162800" cy="819944"/>
          </a:xfrm>
        </p:spPr>
        <p:txBody>
          <a:bodyPr/>
          <a:lstStyle/>
          <a:p>
            <a:pPr eaLnBrk="1" hangingPunct="1"/>
            <a:r>
              <a:rPr lang="zh-CN" altLang="en-US" dirty="0"/>
              <a:t>可见性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196752"/>
            <a:ext cx="8388424" cy="2808312"/>
          </a:xfrm>
        </p:spPr>
        <p:txBody>
          <a:bodyPr/>
          <a:lstStyle/>
          <a:p>
            <a:pPr eaLnBrk="1" hangingPunct="1"/>
            <a:r>
              <a:rPr lang="zh-CN" altLang="en-US" dirty="0"/>
              <a:t>可见性是从对标识符使用的角度来谈的概念</a:t>
            </a:r>
          </a:p>
          <a:p>
            <a:pPr eaLnBrk="1" hangingPunct="1"/>
            <a:r>
              <a:rPr lang="zh-CN" altLang="en-US" dirty="0"/>
              <a:t>可见性表示从内层作用域向外层作用域“看”时能看见什么。</a:t>
            </a:r>
          </a:p>
          <a:p>
            <a:pPr eaLnBrk="1" hangingPunct="1"/>
            <a:r>
              <a:rPr lang="zh-CN" altLang="en-US" dirty="0"/>
              <a:t>如果标识符在某处可见，则就可以在该处使用此标识符。</a:t>
            </a:r>
          </a:p>
        </p:txBody>
      </p:sp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D49607F-8F6C-49AE-A427-51F04B22E46A}" type="slidenum">
              <a:rPr lang="en-US" altLang="zh-CN" sz="1400" smtClean="0"/>
              <a:pPr/>
              <a:t>18</a:t>
            </a:fld>
            <a:endParaRPr lang="en-US" altLang="zh-CN" sz="1400"/>
          </a:p>
        </p:txBody>
      </p:sp>
      <p:grpSp>
        <p:nvGrpSpPr>
          <p:cNvPr id="2" name="组合 1"/>
          <p:cNvGrpSpPr/>
          <p:nvPr/>
        </p:nvGrpSpPr>
        <p:grpSpPr>
          <a:xfrm>
            <a:off x="1907704" y="4129608"/>
            <a:ext cx="4608736" cy="2395736"/>
            <a:chOff x="2339752" y="4005064"/>
            <a:chExt cx="4608736" cy="2395736"/>
          </a:xfrm>
        </p:grpSpPr>
        <p:grpSp>
          <p:nvGrpSpPr>
            <p:cNvPr id="10245" name="Group 10"/>
            <p:cNvGrpSpPr>
              <a:grpSpLocks/>
            </p:cNvGrpSpPr>
            <p:nvPr/>
          </p:nvGrpSpPr>
          <p:grpSpPr bwMode="auto">
            <a:xfrm>
              <a:off x="2339975" y="4648200"/>
              <a:ext cx="4608513" cy="1752600"/>
              <a:chOff x="1474" y="2928"/>
              <a:chExt cx="2903" cy="1104"/>
            </a:xfrm>
          </p:grpSpPr>
          <p:sp>
            <p:nvSpPr>
              <p:cNvPr id="10247" name="Line 4"/>
              <p:cNvSpPr>
                <a:spLocks noChangeShapeType="1"/>
              </p:cNvSpPr>
              <p:nvPr/>
            </p:nvSpPr>
            <p:spPr bwMode="auto">
              <a:xfrm>
                <a:off x="1474" y="4032"/>
                <a:ext cx="2903" cy="0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2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8" name="Freeform 5"/>
              <p:cNvSpPr>
                <a:spLocks/>
              </p:cNvSpPr>
              <p:nvPr/>
            </p:nvSpPr>
            <p:spPr bwMode="auto">
              <a:xfrm>
                <a:off x="2112" y="3216"/>
                <a:ext cx="1536" cy="816"/>
              </a:xfrm>
              <a:custGeom>
                <a:avLst/>
                <a:gdLst>
                  <a:gd name="T0" fmla="*/ 0 w 1536"/>
                  <a:gd name="T1" fmla="*/ 816 h 816"/>
                  <a:gd name="T2" fmla="*/ 0 w 1536"/>
                  <a:gd name="T3" fmla="*/ 0 h 816"/>
                  <a:gd name="T4" fmla="*/ 1536 w 1536"/>
                  <a:gd name="T5" fmla="*/ 0 h 816"/>
                  <a:gd name="T6" fmla="*/ 1536 w 1536"/>
                  <a:gd name="T7" fmla="*/ 816 h 8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6"/>
                  <a:gd name="T13" fmla="*/ 0 h 816"/>
                  <a:gd name="T14" fmla="*/ 1536 w 1536"/>
                  <a:gd name="T15" fmla="*/ 816 h 8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6" h="816">
                    <a:moveTo>
                      <a:pt x="0" y="816"/>
                    </a:moveTo>
                    <a:lnTo>
                      <a:pt x="0" y="0"/>
                    </a:lnTo>
                    <a:lnTo>
                      <a:pt x="1536" y="0"/>
                    </a:lnTo>
                    <a:lnTo>
                      <a:pt x="1536" y="816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2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9" name="Freeform 6"/>
              <p:cNvSpPr>
                <a:spLocks/>
              </p:cNvSpPr>
              <p:nvPr/>
            </p:nvSpPr>
            <p:spPr bwMode="auto">
              <a:xfrm>
                <a:off x="2448" y="3504"/>
                <a:ext cx="864" cy="528"/>
              </a:xfrm>
              <a:custGeom>
                <a:avLst/>
                <a:gdLst>
                  <a:gd name="T0" fmla="*/ 0 w 864"/>
                  <a:gd name="T1" fmla="*/ 528 h 528"/>
                  <a:gd name="T2" fmla="*/ 0 w 864"/>
                  <a:gd name="T3" fmla="*/ 0 h 528"/>
                  <a:gd name="T4" fmla="*/ 864 w 864"/>
                  <a:gd name="T5" fmla="*/ 0 h 528"/>
                  <a:gd name="T6" fmla="*/ 864 w 864"/>
                  <a:gd name="T7" fmla="*/ 528 h 5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528"/>
                  <a:gd name="T14" fmla="*/ 864 w 864"/>
                  <a:gd name="T15" fmla="*/ 528 h 5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528">
                    <a:moveTo>
                      <a:pt x="0" y="528"/>
                    </a:moveTo>
                    <a:lnTo>
                      <a:pt x="0" y="0"/>
                    </a:lnTo>
                    <a:lnTo>
                      <a:pt x="864" y="0"/>
                    </a:lnTo>
                    <a:lnTo>
                      <a:pt x="864" y="528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2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0" name="Text Box 7"/>
              <p:cNvSpPr txBox="1">
                <a:spLocks noChangeArrowheads="1"/>
              </p:cNvSpPr>
              <p:nvPr/>
            </p:nvSpPr>
            <p:spPr bwMode="auto">
              <a:xfrm>
                <a:off x="2496" y="3648"/>
                <a:ext cx="7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/>
                  <a:t>块作用域</a:t>
                </a:r>
              </a:p>
            </p:txBody>
          </p:sp>
          <p:sp>
            <p:nvSpPr>
              <p:cNvPr id="10251" name="Text Box 8"/>
              <p:cNvSpPr txBox="1">
                <a:spLocks noChangeArrowheads="1"/>
              </p:cNvSpPr>
              <p:nvPr/>
            </p:nvSpPr>
            <p:spPr bwMode="auto">
              <a:xfrm>
                <a:off x="2496" y="3264"/>
                <a:ext cx="9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/>
                  <a:t>类作用域</a:t>
                </a:r>
              </a:p>
            </p:txBody>
          </p:sp>
          <p:sp>
            <p:nvSpPr>
              <p:cNvPr id="10252" name="Text Box 9"/>
              <p:cNvSpPr txBox="1">
                <a:spLocks noChangeArrowheads="1"/>
              </p:cNvSpPr>
              <p:nvPr/>
            </p:nvSpPr>
            <p:spPr bwMode="auto">
              <a:xfrm>
                <a:off x="2295" y="2928"/>
                <a:ext cx="126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dirty="0"/>
                  <a:t>命名空间作用域</a:t>
                </a:r>
              </a:p>
            </p:txBody>
          </p:sp>
        </p:grpSp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2843808" y="4509120"/>
              <a:ext cx="3528392" cy="1872208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bg2">
                  <a:lumMod val="2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339752" y="4005064"/>
              <a:ext cx="4608512" cy="2376264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bg2">
                  <a:lumMod val="2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3746376" y="4109070"/>
              <a:ext cx="16177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/>
                <a:t>文件作用域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6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7162800" cy="838200"/>
          </a:xfrm>
        </p:spPr>
        <p:txBody>
          <a:bodyPr/>
          <a:lstStyle/>
          <a:p>
            <a:pPr eaLnBrk="1" hangingPunct="1"/>
            <a:r>
              <a:rPr lang="zh-CN" altLang="en-US"/>
              <a:t>可见性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828800"/>
            <a:ext cx="7702624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标识符应声明在先，引用在后。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如果某个标识符在外层中声明，且在内层中没有同名标识符的声明，则该标识符在内层可见。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对于两个嵌套的作用域，如果在内层作用域内声明了与外层作用域中同名的标识符，则外层作用域的标识符在内层不可见。</a:t>
            </a:r>
          </a:p>
        </p:txBody>
      </p:sp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693116C-4912-40CB-90EF-711253327435}" type="slidenum">
              <a:rPr lang="en-US" altLang="zh-CN" sz="1400" smtClean="0"/>
              <a:pPr/>
              <a:t>19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1055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/>
              <a:t>同一作用域中的同名标识符</a:t>
            </a:r>
          </a:p>
        </p:txBody>
      </p:sp>
      <p:sp>
        <p:nvSpPr>
          <p:cNvPr id="12292" name="Rectangle 307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在同一作用域内的对象名、函数名、枚举类型名会隐藏同名的对象名、类名或枚举类型名。</a:t>
            </a:r>
          </a:p>
          <a:p>
            <a:pPr eaLnBrk="1" hangingPunct="1"/>
            <a:r>
              <a:rPr lang="zh-CN" altLang="en-US" dirty="0"/>
              <a:t>重载的函数可以有相同的函数名。</a:t>
            </a: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56CDA45-19A3-4A28-B6CF-8785E615A24C}" type="slidenum">
              <a:rPr lang="en-US" altLang="zh-CN" sz="1400" smtClean="0"/>
              <a:pPr/>
              <a:t>20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721535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44624"/>
            <a:ext cx="8568952" cy="6552728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#include &lt;</a:t>
            </a:r>
            <a:r>
              <a:rPr lang="en-US" altLang="zh-CN" sz="2400" dirty="0" err="1">
                <a:latin typeface="宋体" pitchFamily="2" charset="-122"/>
              </a:rPr>
              <a:t>iostream</a:t>
            </a:r>
            <a:r>
              <a:rPr lang="en-US" altLang="zh-CN" sz="2400" dirty="0">
                <a:latin typeface="宋体" pitchFamily="2" charset="-122"/>
              </a:rPr>
              <a:t>&gt;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using namespace std;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namespace Ns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;	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=5;	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Ns::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=6;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</a:t>
            </a:r>
            <a:r>
              <a:rPr lang="en-US" altLang="zh-CN" sz="2400" dirty="0">
                <a:latin typeface="宋体" pitchFamily="2" charset="-122"/>
              </a:rPr>
              <a:t>   {	using namespace Ns; 	 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	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=7;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"&lt;&lt;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&lt;&lt;"j = "&lt;&lt;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}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"&lt;&lt;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return 0;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20A6F477-2D66-477A-A1AA-F70DE54E09B0}" type="slidenum">
              <a:rPr lang="en-US" altLang="zh-CN" sz="1400" smtClean="0"/>
              <a:pPr/>
              <a:t>21</a:t>
            </a:fld>
            <a:endParaRPr lang="en-US" altLang="zh-CN" sz="1400"/>
          </a:p>
        </p:txBody>
      </p:sp>
      <p:grpSp>
        <p:nvGrpSpPr>
          <p:cNvPr id="14" name="组合 13"/>
          <p:cNvGrpSpPr/>
          <p:nvPr/>
        </p:nvGrpSpPr>
        <p:grpSpPr>
          <a:xfrm>
            <a:off x="2756439" y="3717032"/>
            <a:ext cx="3323346" cy="1107878"/>
            <a:chOff x="2756439" y="3717032"/>
            <a:chExt cx="3323346" cy="1107878"/>
          </a:xfrm>
        </p:grpSpPr>
        <p:sp>
          <p:nvSpPr>
            <p:cNvPr id="8" name="矩形 7"/>
            <p:cNvSpPr/>
            <p:nvPr/>
          </p:nvSpPr>
          <p:spPr>
            <a:xfrm>
              <a:off x="2756439" y="3717032"/>
              <a:ext cx="3323346" cy="38779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局部变量，局部作用域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895514" y="4437112"/>
              <a:ext cx="1015021" cy="38779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输出</a:t>
              </a:r>
              <a:r>
                <a:rPr lang="en-US" altLang="zh-CN" sz="2400" dirty="0">
                  <a:latin typeface="宋体" pitchFamily="2" charset="-122"/>
                </a:rPr>
                <a:t>7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555776" y="1556792"/>
            <a:ext cx="5939993" cy="3772174"/>
            <a:chOff x="2555776" y="1556792"/>
            <a:chExt cx="5939993" cy="3772174"/>
          </a:xfrm>
        </p:grpSpPr>
        <p:sp>
          <p:nvSpPr>
            <p:cNvPr id="3" name="矩形 2"/>
            <p:cNvSpPr/>
            <p:nvPr/>
          </p:nvSpPr>
          <p:spPr>
            <a:xfrm>
              <a:off x="2566223" y="1556792"/>
              <a:ext cx="3877985" cy="46166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宋体" pitchFamily="2" charset="-122"/>
                </a:rPr>
                <a:t>在</a:t>
              </a:r>
              <a:r>
                <a:rPr lang="en-US" altLang="zh-CN" sz="2400" dirty="0">
                  <a:latin typeface="宋体" pitchFamily="2" charset="-122"/>
                </a:rPr>
                <a:t>Ns</a:t>
              </a:r>
              <a:r>
                <a:rPr lang="zh-CN" altLang="en-US" sz="2400" dirty="0">
                  <a:latin typeface="宋体" pitchFamily="2" charset="-122"/>
                </a:rPr>
                <a:t>命名空间中的全局变量</a:t>
              </a:r>
              <a:endParaRPr lang="zh-CN" altLang="en-US" sz="24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555776" y="2996952"/>
              <a:ext cx="2553904" cy="38779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为全局变量</a:t>
              </a:r>
              <a:r>
                <a:rPr lang="en-US" altLang="zh-CN" sz="2400" dirty="0">
                  <a:latin typeface="宋体" pitchFamily="2" charset="-122"/>
                </a:rPr>
                <a:t>j</a:t>
              </a:r>
              <a:r>
                <a:rPr lang="zh-CN" altLang="en-US" sz="2400" dirty="0">
                  <a:latin typeface="宋体" pitchFamily="2" charset="-122"/>
                </a:rPr>
                <a:t>赋值</a:t>
              </a:r>
              <a:endParaRPr lang="en-US" altLang="zh-CN" sz="2400" dirty="0">
                <a:latin typeface="宋体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178562" y="3356992"/>
              <a:ext cx="4317207" cy="40011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000" dirty="0"/>
                <a:t>当前块中可以直接引用</a:t>
              </a:r>
              <a:r>
                <a:rPr lang="en-US" altLang="zh-CN" sz="2000" dirty="0"/>
                <a:t>Ns</a:t>
              </a:r>
              <a:r>
                <a:rPr lang="zh-CN" altLang="en-US" sz="2000" dirty="0"/>
                <a:t>中的标识符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4860032" y="4941168"/>
              <a:ext cx="1015021" cy="38779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输出</a:t>
              </a:r>
              <a:r>
                <a:rPr lang="en-US" altLang="zh-CN" sz="2400" dirty="0">
                  <a:latin typeface="宋体" pitchFamily="2" charset="-122"/>
                </a:rPr>
                <a:t>6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483768" y="836712"/>
            <a:ext cx="4185761" cy="5068318"/>
            <a:chOff x="2483768" y="836712"/>
            <a:chExt cx="4185761" cy="5068318"/>
          </a:xfrm>
        </p:grpSpPr>
        <p:sp>
          <p:nvSpPr>
            <p:cNvPr id="2" name="矩形 1"/>
            <p:cNvSpPr/>
            <p:nvPr/>
          </p:nvSpPr>
          <p:spPr>
            <a:xfrm>
              <a:off x="2483768" y="836712"/>
              <a:ext cx="4185761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宋体" pitchFamily="2" charset="-122"/>
                </a:rPr>
                <a:t>在全局命名空间中的全局变量</a:t>
              </a:r>
              <a:endParaRPr lang="zh-CN" altLang="en-US" sz="2400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2574215" y="2564904"/>
              <a:ext cx="2553904" cy="3877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为全局变量</a:t>
              </a:r>
              <a:r>
                <a:rPr lang="en-US" altLang="zh-CN" sz="2400" dirty="0" err="1">
                  <a:latin typeface="宋体" pitchFamily="2" charset="-122"/>
                </a:rPr>
                <a:t>i</a:t>
              </a:r>
              <a:r>
                <a:rPr lang="zh-CN" altLang="en-US" sz="2400" dirty="0">
                  <a:latin typeface="宋体" pitchFamily="2" charset="-122"/>
                </a:rPr>
                <a:t>赋值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4853123" y="5517232"/>
              <a:ext cx="1015021" cy="3877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输出</a:t>
              </a:r>
              <a:r>
                <a:rPr lang="en-US" altLang="zh-CN" sz="2400" dirty="0">
                  <a:latin typeface="宋体" pitchFamily="2" charset="-122"/>
                </a:rPr>
                <a:t>5</a:t>
              </a:r>
            </a:p>
          </p:txBody>
        </p:sp>
      </p:grpSp>
      <p:sp>
        <p:nvSpPr>
          <p:cNvPr id="19" name="矩形 18"/>
          <p:cNvSpPr/>
          <p:nvPr/>
        </p:nvSpPr>
        <p:spPr>
          <a:xfrm>
            <a:off x="6669529" y="4356328"/>
            <a:ext cx="1015021" cy="3924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子块</a:t>
            </a:r>
            <a:r>
              <a:rPr lang="en-US" altLang="zh-CN" sz="2400" dirty="0">
                <a:latin typeface="宋体" pitchFamily="2" charset="-122"/>
              </a:rPr>
              <a:t>1</a:t>
            </a:r>
          </a:p>
        </p:txBody>
      </p:sp>
      <p:sp>
        <p:nvSpPr>
          <p:cNvPr id="21" name="矩形 20"/>
          <p:cNvSpPr/>
          <p:nvPr/>
        </p:nvSpPr>
        <p:spPr>
          <a:xfrm>
            <a:off x="6669528" y="2721739"/>
            <a:ext cx="1015021" cy="39248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non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子块</a:t>
            </a:r>
            <a:r>
              <a:rPr lang="en-US" altLang="zh-CN" sz="2400" dirty="0">
                <a:latin typeface="宋体" pitchFamily="2" charset="-122"/>
              </a:rPr>
              <a:t>2</a:t>
            </a:r>
          </a:p>
        </p:txBody>
      </p:sp>
      <p:sp>
        <p:nvSpPr>
          <p:cNvPr id="23" name="矩形 22"/>
          <p:cNvSpPr/>
          <p:nvPr/>
        </p:nvSpPr>
        <p:spPr>
          <a:xfrm>
            <a:off x="6536364" y="2001689"/>
            <a:ext cx="2016224" cy="387798"/>
          </a:xfrm>
          <a:prstGeom prst="rect">
            <a:avLst/>
          </a:prstGeom>
          <a:solidFill>
            <a:srgbClr val="FF6D6D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文件作用域</a:t>
            </a:r>
            <a:endParaRPr lang="en-US" altLang="zh-CN" sz="2400" dirty="0">
              <a:latin typeface="宋体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03548" y="3340500"/>
            <a:ext cx="4073100" cy="224874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3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35496" y="2260380"/>
            <a:ext cx="4680520" cy="4480988"/>
          </a:xfrm>
          <a:prstGeom prst="roundRect">
            <a:avLst>
              <a:gd name="adj" fmla="val 9532"/>
            </a:avLst>
          </a:prstGeom>
          <a:solidFill>
            <a:schemeClr val="bg2">
              <a:lumMod val="75000"/>
              <a:alpha val="53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35496" y="836712"/>
            <a:ext cx="4680520" cy="5904656"/>
          </a:xfrm>
          <a:prstGeom prst="roundRect">
            <a:avLst>
              <a:gd name="adj" fmla="val 9532"/>
            </a:avLst>
          </a:prstGeom>
          <a:solidFill>
            <a:srgbClr val="FF6D6D">
              <a:alpha val="34000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8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7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44624"/>
            <a:ext cx="7056784" cy="6552728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#include &lt;</a:t>
            </a:r>
            <a:r>
              <a:rPr lang="en-US" altLang="zh-CN" sz="2400" dirty="0" err="1">
                <a:latin typeface="宋体" pitchFamily="2" charset="-122"/>
              </a:rPr>
              <a:t>iostream</a:t>
            </a:r>
            <a:r>
              <a:rPr lang="en-US" altLang="zh-CN" sz="2400" dirty="0">
                <a:latin typeface="宋体" pitchFamily="2" charset="-122"/>
              </a:rPr>
              <a:t>&gt;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using namespace std;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namespace Ns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;	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=5;	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Ns::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=6;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</a:t>
            </a:r>
            <a:r>
              <a:rPr lang="en-US" altLang="zh-CN" sz="2400" dirty="0">
                <a:latin typeface="宋体" pitchFamily="2" charset="-122"/>
              </a:rPr>
              <a:t>   {	using namespace Ns; 	 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	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=7;</a:t>
            </a:r>
          </a:p>
          <a:p>
            <a:pPr marL="87313" lvl="1" indent="-26988">
              <a:lnSpc>
                <a:spcPct val="80000"/>
              </a:lnSpc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&lt;&lt;“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”&lt;&lt;::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&lt;&lt;"j = "&lt;&lt;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}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"&lt;&lt;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return 0;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179" y="4481362"/>
            <a:ext cx="1015021" cy="3877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输出</a:t>
            </a:r>
            <a:r>
              <a:rPr lang="en-US" altLang="zh-CN" sz="2400" dirty="0">
                <a:latin typeface="宋体" pitchFamily="2" charset="-122"/>
              </a:rPr>
              <a:t>5</a:t>
            </a:r>
          </a:p>
        </p:txBody>
      </p:sp>
      <p:sp>
        <p:nvSpPr>
          <p:cNvPr id="6" name="矩形 5"/>
          <p:cNvSpPr/>
          <p:nvPr/>
        </p:nvSpPr>
        <p:spPr>
          <a:xfrm>
            <a:off x="3203848" y="1112381"/>
            <a:ext cx="5570756" cy="95410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dirty="0"/>
              <a:t>使用作用域限定符 </a:t>
            </a:r>
            <a:r>
              <a:rPr lang="en-US" altLang="zh-CN" sz="2800" dirty="0"/>
              <a:t>::</a:t>
            </a:r>
            <a:endParaRPr lang="zh-CN" altLang="en-US" sz="2800" dirty="0"/>
          </a:p>
          <a:p>
            <a:r>
              <a:rPr lang="zh-CN" altLang="en-US" sz="2800" dirty="0">
                <a:latin typeface="宋体" pitchFamily="2" charset="-122"/>
              </a:rPr>
              <a:t>在内层使用本来不可见的全局变量</a:t>
            </a: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491880" y="4365104"/>
            <a:ext cx="504056" cy="504056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27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5.2 </a:t>
            </a:r>
            <a:r>
              <a:rPr lang="zh-CN" altLang="en-US" dirty="0"/>
              <a:t>对象的生存期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277962" y="1700808"/>
            <a:ext cx="6102350" cy="1440160"/>
          </a:xfrm>
        </p:spPr>
        <p:txBody>
          <a:bodyPr vert="horz" rtlCol="0">
            <a:normAutofit/>
          </a:bodyPr>
          <a:lstStyle/>
          <a:p>
            <a:pPr marL="0" algn="just">
              <a:lnSpc>
                <a:spcPct val="90000"/>
              </a:lnSpc>
              <a:buNone/>
            </a:pPr>
            <a:r>
              <a:rPr lang="en-US" altLang="zh-CN" dirty="0"/>
              <a:t>5.2.1 </a:t>
            </a:r>
            <a:r>
              <a:rPr lang="zh-CN" altLang="en-US" dirty="0"/>
              <a:t>静态生存期</a:t>
            </a:r>
          </a:p>
          <a:p>
            <a:pPr marL="0" algn="just">
              <a:lnSpc>
                <a:spcPct val="90000"/>
              </a:lnSpc>
              <a:buNone/>
            </a:pPr>
            <a:r>
              <a:rPr lang="en-US" altLang="zh-CN" dirty="0"/>
              <a:t>5.2.2 </a:t>
            </a:r>
            <a:r>
              <a:rPr lang="zh-CN" altLang="en-US" dirty="0"/>
              <a:t>动态生存期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23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755576" y="3861048"/>
            <a:ext cx="7920880" cy="2025744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生存期：将变量的作用域从空间投射到时间，即在程序运行的过程中，变量从产生到消亡的时间段。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2987242"/>
            <a:ext cx="7200800" cy="108507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对象的生存期：就是变量的生存期</a:t>
            </a:r>
          </a:p>
        </p:txBody>
      </p:sp>
    </p:spTree>
    <p:extLst>
      <p:ext uri="{BB962C8B-B14F-4D97-AF65-F5344CB8AC3E}">
        <p14:creationId xmlns:p14="http://schemas.microsoft.com/office/powerpoint/2010/main" val="2968279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对象的生存期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2132856"/>
            <a:ext cx="7239000" cy="3657600"/>
          </a:xfrm>
        </p:spPr>
        <p:txBody>
          <a:bodyPr/>
          <a:lstStyle/>
          <a:p>
            <a:pPr marL="0" indent="74295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对象从产生到结束的这段时间就是它的生存期。</a:t>
            </a:r>
            <a:r>
              <a:rPr lang="zh-CN" altLang="en-US" dirty="0"/>
              <a:t>在对象生存期内，对象将保持它的值，以及被更新。</a:t>
            </a:r>
          </a:p>
        </p:txBody>
      </p:sp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8674F24-B2AF-4563-8DF2-51558DC153BF}" type="slidenum">
              <a:rPr lang="en-US" altLang="zh-CN" sz="1400" smtClean="0"/>
              <a:pPr/>
              <a:t>24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748661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静态生存期</a:t>
            </a:r>
          </a:p>
        </p:txBody>
      </p:sp>
      <p:sp>
        <p:nvSpPr>
          <p:cNvPr id="15364" name="Rectangle 1027"/>
          <p:cNvSpPr>
            <a:spLocks noGrp="1" noChangeArrowheads="1"/>
          </p:cNvSpPr>
          <p:nvPr>
            <p:ph idx="1"/>
          </p:nvPr>
        </p:nvSpPr>
        <p:spPr>
          <a:xfrm>
            <a:off x="395536" y="1628800"/>
            <a:ext cx="8507288" cy="226084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CN" altLang="en-US" dirty="0"/>
              <a:t>这种生存期与程序的运行期相同。</a:t>
            </a:r>
          </a:p>
          <a:p>
            <a:pPr lvl="1"/>
            <a:r>
              <a:rPr lang="zh-CN" altLang="en-US" dirty="0"/>
              <a:t>全局变量：在文件作用域中声明的对象具有静态生存期。</a:t>
            </a:r>
          </a:p>
          <a:p>
            <a:pPr lvl="1"/>
            <a:r>
              <a:rPr lang="en-US" altLang="zh-CN" dirty="0"/>
              <a:t>static</a:t>
            </a:r>
            <a:r>
              <a:rPr lang="zh-CN" altLang="en-US" dirty="0"/>
              <a:t>变量：在函数内部声明静态生存期对象，要冠以关键字</a:t>
            </a:r>
            <a:r>
              <a:rPr lang="en-US" altLang="zh-CN" dirty="0">
                <a:solidFill>
                  <a:schemeClr val="tx2"/>
                </a:solidFill>
              </a:rPr>
              <a:t>static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</p:txBody>
      </p:sp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6910E3F-1113-45F9-830C-7A9BA2D5D085}" type="slidenum">
              <a:rPr lang="en-US" altLang="zh-CN" sz="1400" smtClean="0"/>
              <a:pPr/>
              <a:t>25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140429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例：静态生存期</a:t>
            </a:r>
            <a:r>
              <a:rPr lang="en-US" altLang="zh-CN" dirty="0"/>
              <a:t>——</a:t>
            </a:r>
            <a:r>
              <a:rPr lang="zh-CN" altLang="en-US" dirty="0"/>
              <a:t>全局变量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484784"/>
            <a:ext cx="7056784" cy="36004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#include&lt;</a:t>
            </a:r>
            <a:r>
              <a:rPr lang="en-US" altLang="zh-CN" dirty="0" err="1">
                <a:latin typeface="宋体" charset="-122"/>
              </a:rPr>
              <a:t>iostream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using namespace </a:t>
            </a:r>
            <a:r>
              <a:rPr lang="en-US" altLang="zh-CN" dirty="0" err="1">
                <a:latin typeface="宋体" charset="-122"/>
              </a:rPr>
              <a:t>std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=5;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main()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 </a:t>
            </a:r>
            <a:r>
              <a:rPr lang="en-US" altLang="zh-CN" dirty="0" err="1">
                <a:latin typeface="宋体" charset="-122"/>
              </a:rPr>
              <a:t>cout</a:t>
            </a:r>
            <a:r>
              <a:rPr lang="en-US" altLang="zh-CN" dirty="0">
                <a:latin typeface="宋体" charset="-122"/>
              </a:rPr>
              <a:t>&lt;&lt;"</a:t>
            </a:r>
            <a:r>
              <a:rPr lang="en-US" altLang="zh-CN" dirty="0" err="1"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="&lt;&lt;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&lt;&lt;</a:t>
            </a:r>
            <a:r>
              <a:rPr lang="en-US" altLang="zh-CN" dirty="0" err="1">
                <a:latin typeface="宋体" charset="-122"/>
              </a:rPr>
              <a:t>endl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return 0;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CN" dirty="0">
              <a:latin typeface="宋体" charset="-122"/>
            </a:endParaRP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6D62092-F5F6-4120-81DF-0CAFD14DEBEB}" type="slidenum">
              <a:rPr lang="en-US" altLang="zh-CN" sz="1400" smtClean="0"/>
              <a:pPr/>
              <a:t>26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4607023" y="2359902"/>
            <a:ext cx="1723549" cy="4247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宋体" charset="-122"/>
              </a:rPr>
              <a:t>文件作用域</a:t>
            </a:r>
            <a:endParaRPr lang="en-US" altLang="en-US" sz="2400" dirty="0">
              <a:latin typeface="宋体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88224" y="2371966"/>
            <a:ext cx="1980029" cy="480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宋体" charset="-122"/>
              </a:rPr>
              <a:t>静态生存期</a:t>
            </a:r>
            <a:endParaRPr lang="zh-CN" altLang="en-US" sz="2800" dirty="0">
              <a:latin typeface="宋体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44008" y="2860252"/>
            <a:ext cx="1415772" cy="4247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zh-CN" altLang="en-US" sz="2400" dirty="0">
                <a:latin typeface="宋体" charset="-122"/>
              </a:rPr>
              <a:t>全局变量</a:t>
            </a:r>
            <a:endParaRPr lang="en-US" altLang="en-US" sz="2400" dirty="0">
              <a:latin typeface="宋体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99592" y="5805264"/>
            <a:ext cx="6912768" cy="504056"/>
            <a:chOff x="899592" y="5805264"/>
            <a:chExt cx="6912768" cy="504056"/>
          </a:xfrm>
        </p:grpSpPr>
        <p:sp>
          <p:nvSpPr>
            <p:cNvPr id="9" name="圆角矩形 8"/>
            <p:cNvSpPr/>
            <p:nvPr/>
          </p:nvSpPr>
          <p:spPr>
            <a:xfrm>
              <a:off x="899592" y="5805264"/>
              <a:ext cx="6912768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275856" y="5877272"/>
              <a:ext cx="2031325" cy="3139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程序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(main)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99592" y="5275308"/>
            <a:ext cx="6912768" cy="457948"/>
            <a:chOff x="899592" y="5275308"/>
            <a:chExt cx="6912768" cy="457948"/>
          </a:xfrm>
        </p:grpSpPr>
        <p:sp>
          <p:nvSpPr>
            <p:cNvPr id="14" name="圆角矩形 13"/>
            <p:cNvSpPr/>
            <p:nvPr/>
          </p:nvSpPr>
          <p:spPr>
            <a:xfrm>
              <a:off x="899592" y="5275308"/>
              <a:ext cx="6912768" cy="457948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556088" y="5347316"/>
              <a:ext cx="1519968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 err="1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</a:p>
          </p:txBody>
        </p:sp>
      </p:grpSp>
      <p:cxnSp>
        <p:nvCxnSpPr>
          <p:cNvPr id="17" name="直接箭头连接符 16"/>
          <p:cNvCxnSpPr/>
          <p:nvPr/>
        </p:nvCxnSpPr>
        <p:spPr>
          <a:xfrm>
            <a:off x="323528" y="6381328"/>
            <a:ext cx="8424936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87724" y="2852936"/>
            <a:ext cx="2160240" cy="1008112"/>
            <a:chOff x="2087724" y="2852936"/>
            <a:chExt cx="2160240" cy="1008112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087724" y="2852936"/>
              <a:ext cx="18002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067944" y="3861048"/>
              <a:ext cx="18002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268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6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8291264" cy="72008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例：静态生存期</a:t>
            </a:r>
            <a:r>
              <a:rPr lang="en-US" altLang="zh-CN" dirty="0"/>
              <a:t>——static</a:t>
            </a:r>
            <a:r>
              <a:rPr lang="zh-CN" altLang="en-US" dirty="0"/>
              <a:t>变量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1052736"/>
            <a:ext cx="3672408" cy="2664296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#include &lt;</a:t>
            </a:r>
            <a:r>
              <a:rPr lang="en-US" altLang="zh-CN" dirty="0" err="1">
                <a:latin typeface="宋体" charset="-122"/>
              </a:rPr>
              <a:t>iostream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using namespace </a:t>
            </a:r>
            <a:r>
              <a:rPr lang="en-US" altLang="zh-CN" dirty="0" err="1">
                <a:latin typeface="宋体" charset="-122"/>
              </a:rPr>
              <a:t>std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void fun();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main()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fun();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fun();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	  return 0;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</a:t>
            </a:r>
          </a:p>
        </p:txBody>
      </p:sp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193160" y="635635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45B49E7-88B1-4097-8722-D65D2E32F975}" type="slidenum">
              <a:rPr lang="en-US" altLang="zh-CN" sz="1400" smtClean="0"/>
              <a:pPr/>
              <a:t>27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779912" y="1052736"/>
            <a:ext cx="3312368" cy="31300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rmAutofit lnSpcReduction="10000"/>
          </a:bodyPr>
          <a:lstStyle/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void fun()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{ static </a:t>
            </a:r>
            <a:r>
              <a:rPr lang="en-US" altLang="zh-CN" sz="2800" dirty="0" err="1">
                <a:latin typeface="宋体" charset="-122"/>
              </a:rPr>
              <a:t>int</a:t>
            </a:r>
            <a:r>
              <a:rPr lang="en-US" altLang="zh-CN" sz="2800" dirty="0">
                <a:latin typeface="宋体" charset="-122"/>
              </a:rPr>
              <a:t> a=1;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</a:t>
            </a:r>
            <a:r>
              <a:rPr lang="en-US" altLang="zh-CN" sz="2800" dirty="0" err="1">
                <a:latin typeface="宋体" charset="-122"/>
              </a:rPr>
              <a:t>int</a:t>
            </a:r>
            <a:r>
              <a:rPr lang="en-US" altLang="zh-CN" sz="2800" dirty="0">
                <a:latin typeface="宋体" charset="-122"/>
              </a:rPr>
              <a:t> </a:t>
            </a: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=5;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a++;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</a:t>
            </a: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++;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	  </a:t>
            </a:r>
            <a:r>
              <a:rPr lang="en-US" altLang="zh-CN" sz="2800" dirty="0" err="1">
                <a:latin typeface="宋体" charset="-122"/>
              </a:rPr>
              <a:t>cout</a:t>
            </a:r>
            <a:r>
              <a:rPr lang="en-US" altLang="zh-CN" sz="2800" dirty="0">
                <a:latin typeface="宋体" charset="-122"/>
              </a:rPr>
              <a:t>&lt;&lt;"</a:t>
            </a: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="&lt;&lt;</a:t>
            </a:r>
            <a:r>
              <a:rPr lang="en-US" altLang="zh-CN" sz="2800" dirty="0" err="1">
                <a:latin typeface="宋体" charset="-122"/>
              </a:rPr>
              <a:t>i</a:t>
            </a:r>
            <a:endParaRPr lang="en-US" altLang="zh-CN" sz="2800" dirty="0">
              <a:latin typeface="宋体" charset="-122"/>
            </a:endParaRP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    &lt;&lt;",a="&lt;&lt;a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    &lt;&lt;</a:t>
            </a:r>
            <a:r>
              <a:rPr lang="en-US" altLang="zh-CN" sz="2800" dirty="0" err="1">
                <a:latin typeface="宋体" charset="-122"/>
              </a:rPr>
              <a:t>endl</a:t>
            </a:r>
            <a:r>
              <a:rPr lang="en-US" altLang="zh-CN" sz="2800" dirty="0">
                <a:latin typeface="宋体" charset="-122"/>
              </a:rPr>
              <a:t>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}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948264" y="2366942"/>
            <a:ext cx="2088232" cy="1410643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zh-CN" altLang="en-US" sz="2800" dirty="0">
                <a:latin typeface="宋体" charset="-122"/>
              </a:rPr>
              <a:t>运行结果：</a:t>
            </a:r>
          </a:p>
          <a:p>
            <a:pPr eaLnBrk="1" hangingPunct="1">
              <a:spcBef>
                <a:spcPts val="100"/>
              </a:spcBef>
            </a:pP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=6, a=2</a:t>
            </a:r>
          </a:p>
          <a:p>
            <a:pPr eaLnBrk="1" hangingPunct="1">
              <a:spcBef>
                <a:spcPts val="100"/>
              </a:spcBef>
            </a:pP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=6, a=</a:t>
            </a:r>
            <a:r>
              <a:rPr lang="en-US" altLang="zh-CN" sz="2800" b="1" dirty="0">
                <a:solidFill>
                  <a:srgbClr val="FF0000"/>
                </a:solidFill>
                <a:latin typeface="宋体" charset="-122"/>
              </a:rPr>
              <a:t>3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228184" y="1628800"/>
            <a:ext cx="21602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04048" y="1988840"/>
            <a:ext cx="216024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5220072" y="1814920"/>
            <a:ext cx="2934072" cy="523220"/>
            <a:chOff x="5220072" y="1814920"/>
            <a:chExt cx="2934072" cy="523220"/>
          </a:xfrm>
        </p:grpSpPr>
        <p:sp>
          <p:nvSpPr>
            <p:cNvPr id="3" name="矩形 2"/>
            <p:cNvSpPr/>
            <p:nvPr/>
          </p:nvSpPr>
          <p:spPr>
            <a:xfrm>
              <a:off x="6030416" y="1814920"/>
              <a:ext cx="2123728" cy="5232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800" dirty="0">
                  <a:latin typeface="宋体" charset="-122"/>
                </a:rPr>
                <a:t>动态生存期</a:t>
              </a:r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H="1" flipV="1">
              <a:off x="5220072" y="1988840"/>
              <a:ext cx="810344" cy="87690"/>
            </a:xfrm>
            <a:prstGeom prst="straightConnector1">
              <a:avLst/>
            </a:prstGeom>
            <a:ln w="25400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6588224" y="980728"/>
            <a:ext cx="2484085" cy="648072"/>
            <a:chOff x="6588224" y="980728"/>
            <a:chExt cx="2484085" cy="648072"/>
          </a:xfrm>
        </p:grpSpPr>
        <p:sp>
          <p:nvSpPr>
            <p:cNvPr id="4" name="矩形 3"/>
            <p:cNvSpPr/>
            <p:nvPr/>
          </p:nvSpPr>
          <p:spPr>
            <a:xfrm>
              <a:off x="7092280" y="980728"/>
              <a:ext cx="1980029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800" dirty="0">
                  <a:latin typeface="宋体" charset="-122"/>
                </a:rPr>
                <a:t>静态生存期</a:t>
              </a:r>
              <a:endParaRPr lang="zh-CN" altLang="en-US" sz="2800" dirty="0">
                <a:latin typeface="宋体" charset="-122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>
              <a:off x="6588224" y="1184796"/>
              <a:ext cx="504056" cy="444004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251520" y="5923380"/>
            <a:ext cx="6912768" cy="504056"/>
            <a:chOff x="899592" y="5805264"/>
            <a:chExt cx="6912768" cy="504056"/>
          </a:xfrm>
        </p:grpSpPr>
        <p:sp>
          <p:nvSpPr>
            <p:cNvPr id="18" name="圆角矩形 17"/>
            <p:cNvSpPr/>
            <p:nvPr/>
          </p:nvSpPr>
          <p:spPr>
            <a:xfrm>
              <a:off x="899592" y="5805264"/>
              <a:ext cx="6912768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3332763" y="5903172"/>
              <a:ext cx="2031325" cy="3139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程序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(main)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>
            <a:off x="107504" y="6525344"/>
            <a:ext cx="8424936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251520" y="4437112"/>
            <a:ext cx="6912768" cy="504056"/>
            <a:chOff x="899592" y="4437112"/>
            <a:chExt cx="6912768" cy="504056"/>
          </a:xfrm>
        </p:grpSpPr>
        <p:sp>
          <p:nvSpPr>
            <p:cNvPr id="32" name="圆角矩形 31"/>
            <p:cNvSpPr/>
            <p:nvPr/>
          </p:nvSpPr>
          <p:spPr>
            <a:xfrm>
              <a:off x="899592" y="4437112"/>
              <a:ext cx="6912768" cy="50405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2879812" y="4555228"/>
              <a:ext cx="2772308" cy="3139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   static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a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  <a:endParaRPr lang="zh-CN" altLang="en-US" sz="1600" dirty="0">
                <a:latin typeface="宋体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1520" y="5013176"/>
            <a:ext cx="3312368" cy="864096"/>
            <a:chOff x="899592" y="5013176"/>
            <a:chExt cx="3312368" cy="864096"/>
          </a:xfrm>
        </p:grpSpPr>
        <p:sp>
          <p:nvSpPr>
            <p:cNvPr id="21" name="圆角矩形 20"/>
            <p:cNvSpPr/>
            <p:nvPr/>
          </p:nvSpPr>
          <p:spPr>
            <a:xfrm>
              <a:off x="899592" y="5013176"/>
              <a:ext cx="3312368" cy="864096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796594" y="5491332"/>
              <a:ext cx="1518364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  <a:endParaRPr lang="zh-CN" altLang="en-US" sz="1600" dirty="0">
                <a:latin typeface="宋体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763688" y="5085184"/>
              <a:ext cx="1723549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fun()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635896" y="5013176"/>
            <a:ext cx="3528392" cy="864096"/>
            <a:chOff x="4283968" y="5013176"/>
            <a:chExt cx="3528392" cy="864096"/>
          </a:xfrm>
        </p:grpSpPr>
        <p:sp>
          <p:nvSpPr>
            <p:cNvPr id="25" name="圆角矩形 24"/>
            <p:cNvSpPr/>
            <p:nvPr/>
          </p:nvSpPr>
          <p:spPr>
            <a:xfrm>
              <a:off x="4283968" y="5013176"/>
              <a:ext cx="3528392" cy="864096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5213876" y="5491332"/>
              <a:ext cx="1518364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  <a:endParaRPr lang="zh-CN" altLang="en-US" sz="1600" dirty="0">
                <a:latin typeface="宋体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152707" y="5085184"/>
              <a:ext cx="1723549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fun()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>
            <a:off x="4283968" y="1628800"/>
            <a:ext cx="100811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7236296" y="3645024"/>
            <a:ext cx="1872208" cy="2003274"/>
            <a:chOff x="7236296" y="3645024"/>
            <a:chExt cx="1872208" cy="2003274"/>
          </a:xfrm>
        </p:grpSpPr>
        <p:grpSp>
          <p:nvGrpSpPr>
            <p:cNvPr id="45" name="组合 44"/>
            <p:cNvGrpSpPr/>
            <p:nvPr/>
          </p:nvGrpSpPr>
          <p:grpSpPr>
            <a:xfrm>
              <a:off x="7236296" y="4077072"/>
              <a:ext cx="1872208" cy="1571226"/>
              <a:chOff x="7236296" y="4077072"/>
              <a:chExt cx="1872208" cy="1571226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7236296" y="4077072"/>
                <a:ext cx="1872208" cy="124649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en-US" altLang="zh-CN" sz="2000" dirty="0">
                    <a:latin typeface="宋体" charset="-122"/>
                  </a:rPr>
                  <a:t>fun()</a:t>
                </a:r>
                <a:r>
                  <a:rPr lang="zh-CN" altLang="en-US" sz="2000" dirty="0">
                    <a:latin typeface="宋体" charset="-122"/>
                  </a:rPr>
                  <a:t>在第</a:t>
                </a:r>
                <a:r>
                  <a:rPr lang="en-US" altLang="zh-CN" sz="2000" dirty="0">
                    <a:latin typeface="宋体" charset="-122"/>
                  </a:rPr>
                  <a:t>2</a:t>
                </a:r>
                <a:r>
                  <a:rPr lang="zh-CN" altLang="en-US" sz="2000" dirty="0">
                    <a:latin typeface="宋体" charset="-122"/>
                  </a:rPr>
                  <a:t>次</a:t>
                </a:r>
                <a:endParaRPr lang="en-US" altLang="zh-CN" sz="2000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zh-CN" altLang="en-US" sz="2000" dirty="0">
                    <a:latin typeface="宋体" charset="-122"/>
                  </a:rPr>
                  <a:t>运行时：</a:t>
                </a:r>
                <a:endParaRPr lang="en-US" altLang="zh-CN" sz="2000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en-US" altLang="zh-CN" b="1" dirty="0">
                    <a:latin typeface="宋体" charset="-122"/>
                  </a:rPr>
                  <a:t>static </a:t>
                </a:r>
                <a:r>
                  <a:rPr lang="en-US" altLang="zh-CN" b="1" dirty="0" err="1">
                    <a:latin typeface="宋体" charset="-122"/>
                  </a:rPr>
                  <a:t>int</a:t>
                </a:r>
                <a:r>
                  <a:rPr lang="en-US" altLang="zh-CN" b="1" dirty="0">
                    <a:latin typeface="宋体" charset="-122"/>
                  </a:rPr>
                  <a:t> a=1;</a:t>
                </a:r>
                <a:r>
                  <a:rPr lang="zh-CN" altLang="en-US" sz="2000" b="1" dirty="0">
                    <a:latin typeface="宋体" charset="-122"/>
                  </a:rPr>
                  <a:t> </a:t>
                </a:r>
                <a:endParaRPr lang="en-US" altLang="zh-CN" sz="2000" b="1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zh-CN" altLang="en-US" sz="2000" dirty="0">
                    <a:latin typeface="宋体" charset="-122"/>
                  </a:rPr>
                  <a:t>被忽略，</a:t>
                </a:r>
                <a:endParaRPr lang="en-US" altLang="zh-CN" sz="2000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zh-CN" altLang="en-US" sz="2000" dirty="0">
                    <a:latin typeface="宋体" charset="-122"/>
                  </a:rPr>
                  <a:t>不再执行</a:t>
                </a:r>
                <a:endParaRPr lang="en-US" altLang="zh-CN" sz="2000" dirty="0">
                  <a:latin typeface="宋体" charset="-122"/>
                </a:endParaRPr>
              </a:p>
            </p:txBody>
          </p:sp>
          <p:cxnSp>
            <p:nvCxnSpPr>
              <p:cNvPr id="43" name="直接箭头连接符 42"/>
              <p:cNvCxnSpPr/>
              <p:nvPr/>
            </p:nvCxnSpPr>
            <p:spPr>
              <a:xfrm flipH="1">
                <a:off x="7236296" y="5323567"/>
                <a:ext cx="576064" cy="324731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直接箭头连接符 49"/>
            <p:cNvCxnSpPr/>
            <p:nvPr/>
          </p:nvCxnSpPr>
          <p:spPr>
            <a:xfrm flipV="1">
              <a:off x="8244408" y="3645024"/>
              <a:ext cx="144016" cy="39534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390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4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动态生存期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块作用域中声明的，没有用</a:t>
            </a:r>
            <a:r>
              <a:rPr lang="en-US" altLang="zh-CN" dirty="0"/>
              <a:t>static</a:t>
            </a:r>
            <a:r>
              <a:rPr lang="zh-CN" altLang="en-US" dirty="0"/>
              <a:t>修饰的对象是动态生存期的对象（习惯称局部生存期对象）。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开始于程序执行到声明点时，结束于命名该标识符的作用域结束处。</a:t>
            </a:r>
          </a:p>
        </p:txBody>
      </p:sp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8C1EA50-3880-402D-A9B8-6CB350A91474}" type="slidenum">
              <a:rPr lang="en-US" altLang="zh-CN" sz="1400" smtClean="0"/>
              <a:pPr/>
              <a:t>28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003952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 dirty="0"/>
              <a:t>: </a:t>
            </a:r>
            <a:r>
              <a:rPr lang="zh-CN" altLang="en-US" sz="4000" dirty="0"/>
              <a:t>变量的生存期与可见性</a:t>
            </a:r>
            <a:r>
              <a:rPr lang="en-US" altLang="zh-CN" sz="4000" dirty="0"/>
              <a:t>*</a:t>
            </a:r>
            <a:endParaRPr lang="zh-CN" altLang="en-US" sz="4000" dirty="0"/>
          </a:p>
        </p:txBody>
      </p:sp>
      <p:sp>
        <p:nvSpPr>
          <p:cNvPr id="113667" name="Rectangle 2051"/>
          <p:cNvSpPr>
            <a:spLocks noGrp="1" noChangeArrowheads="1"/>
          </p:cNvSpPr>
          <p:nvPr>
            <p:ph idx="1"/>
          </p:nvPr>
        </p:nvSpPr>
        <p:spPr>
          <a:xfrm>
            <a:off x="611560" y="1340768"/>
            <a:ext cx="8001000" cy="5105400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#include&lt;</a:t>
            </a:r>
            <a:r>
              <a:rPr lang="en-US" altLang="zh-CN" sz="2000" dirty="0" err="1">
                <a:latin typeface="宋体" pitchFamily="2" charset="-122"/>
              </a:rPr>
              <a:t>iostream</a:t>
            </a:r>
            <a:r>
              <a:rPr lang="en-US" altLang="zh-CN" sz="2000" dirty="0">
                <a:latin typeface="宋体" pitchFamily="2" charset="-122"/>
              </a:rPr>
              <a:t>&gt;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using namespace std;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 = 1; //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 </a:t>
            </a:r>
            <a:r>
              <a:rPr lang="zh-CN" altLang="en-US" sz="2000" dirty="0">
                <a:latin typeface="宋体" pitchFamily="2" charset="-122"/>
              </a:rPr>
              <a:t>为全局变量，具有静态生存期。</a:t>
            </a:r>
            <a:endParaRPr lang="en-US" altLang="zh-CN" sz="2000" dirty="0">
              <a:latin typeface="宋体" pitchFamily="2" charset="-122"/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void other()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{ static </a:t>
            </a: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a = 2;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static </a:t>
            </a: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b;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 // </a:t>
            </a:r>
            <a:r>
              <a:rPr lang="en-US" altLang="zh-CN" sz="2000" dirty="0" err="1">
                <a:latin typeface="宋体" pitchFamily="2" charset="-122"/>
              </a:rPr>
              <a:t>a,b</a:t>
            </a:r>
            <a:r>
              <a:rPr lang="zh-CN" altLang="en-US" sz="2000" dirty="0">
                <a:latin typeface="宋体" pitchFamily="2" charset="-122"/>
              </a:rPr>
              <a:t>为静态局部变量，具有全局寿命，局部可见。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 </a:t>
            </a:r>
            <a:r>
              <a:rPr lang="en-US" altLang="zh-CN" sz="2000" dirty="0">
                <a:latin typeface="宋体" pitchFamily="2" charset="-122"/>
              </a:rPr>
              <a:t>//</a:t>
            </a:r>
            <a:r>
              <a:rPr lang="zh-CN" altLang="en-US" sz="2000" dirty="0">
                <a:latin typeface="宋体" pitchFamily="2" charset="-122"/>
              </a:rPr>
              <a:t>只第一次进入函数时被初始化。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</a:t>
            </a: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c = 10; // C</a:t>
            </a:r>
            <a:r>
              <a:rPr lang="zh-CN" altLang="en-US" sz="2000" dirty="0">
                <a:latin typeface="宋体" pitchFamily="2" charset="-122"/>
              </a:rPr>
              <a:t>为局部变量，具有动态生存期，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          </a:t>
            </a:r>
            <a:r>
              <a:rPr lang="en-US" altLang="zh-CN" sz="2000" dirty="0">
                <a:latin typeface="宋体" pitchFamily="2" charset="-122"/>
              </a:rPr>
              <a:t>//</a:t>
            </a:r>
            <a:r>
              <a:rPr lang="zh-CN" altLang="en-US" sz="2000" dirty="0">
                <a:latin typeface="宋体" pitchFamily="2" charset="-122"/>
              </a:rPr>
              <a:t>每次进入函数时都初始化。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</a:t>
            </a:r>
            <a:r>
              <a:rPr lang="en-US" altLang="zh-CN" sz="2000" dirty="0">
                <a:latin typeface="宋体" pitchFamily="2" charset="-122"/>
              </a:rPr>
              <a:t>a += 2;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 += 32; c += 5;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</a:t>
            </a:r>
            <a:r>
              <a:rPr lang="en-US" altLang="zh-CN" sz="2000" dirty="0" err="1">
                <a:latin typeface="宋体" pitchFamily="2" charset="-122"/>
              </a:rPr>
              <a:t>cout</a:t>
            </a:r>
            <a:r>
              <a:rPr lang="en-US" altLang="zh-CN" sz="2000" dirty="0">
                <a:latin typeface="宋体" pitchFamily="2" charset="-122"/>
              </a:rPr>
              <a:t>&lt;&lt;"---OTHER---\n";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</a:t>
            </a:r>
            <a:r>
              <a:rPr lang="en-US" altLang="zh-CN" sz="2000" dirty="0" err="1">
                <a:latin typeface="宋体" pitchFamily="2" charset="-122"/>
              </a:rPr>
              <a:t>cout</a:t>
            </a:r>
            <a:r>
              <a:rPr lang="en-US" altLang="zh-CN" sz="2000" dirty="0">
                <a:latin typeface="宋体" pitchFamily="2" charset="-122"/>
              </a:rPr>
              <a:t>&lt;&lt;"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: "&lt;&lt;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&lt;&lt;" a: "&lt;&lt;a&lt;&lt;" b: "&lt;&lt;b&lt;&lt;" c: "&lt;&lt;c&lt;&lt;</a:t>
            </a:r>
            <a:r>
              <a:rPr lang="en-US" altLang="zh-CN" sz="2000" dirty="0" err="1">
                <a:latin typeface="宋体" pitchFamily="2" charset="-122"/>
              </a:rPr>
              <a:t>endl</a:t>
            </a:r>
            <a:r>
              <a:rPr lang="en-US" altLang="zh-CN" sz="2000" dirty="0">
                <a:latin typeface="宋体" pitchFamily="2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b = a;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}</a:t>
            </a:r>
          </a:p>
        </p:txBody>
      </p:sp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62B182B-C271-4684-B71B-4A58E4A5FCD9}" type="slidenum">
              <a:rPr lang="en-US" altLang="zh-CN" sz="1400" smtClean="0"/>
              <a:pPr/>
              <a:t>29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462509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533400"/>
            <a:ext cx="7772400" cy="59436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static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a;// </a:t>
            </a:r>
            <a:r>
              <a:rPr lang="zh-CN" altLang="en-US" sz="2400" dirty="0">
                <a:latin typeface="宋体" pitchFamily="2" charset="-122"/>
              </a:rPr>
              <a:t>静态局部变量，有全局寿命，局部可见。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b = -10; // b, c</a:t>
            </a:r>
            <a:r>
              <a:rPr lang="zh-CN" altLang="en-US" sz="2400" dirty="0">
                <a:latin typeface="宋体" pitchFamily="2" charset="-122"/>
              </a:rPr>
              <a:t>为局部变量，具有动态生存期。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c = 0;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 &lt;&lt; "---MAIN---\n";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 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: "&lt;&lt;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&lt;&lt;" a: "&lt;&lt;a&lt;&lt;" b: "&lt;&lt;b&lt;&lt;" c: "&lt;&lt;c&lt;&lt;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c += 8; other();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&lt;&lt;"---MAIN---\n";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 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: "&lt;&lt;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&lt;&lt;" a: "&lt;&lt;a&lt;&lt;" b: "&lt;&lt;b&lt;&lt;" c: "&lt;&lt;c&lt;&lt;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+= 10; other();  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return 0;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86868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821401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099"/>
          <p:cNvSpPr>
            <a:spLocks noGrp="1" noChangeArrowheads="1"/>
          </p:cNvSpPr>
          <p:nvPr>
            <p:ph idx="1"/>
          </p:nvPr>
        </p:nvSpPr>
        <p:spPr>
          <a:xfrm>
            <a:off x="685800" y="609600"/>
            <a:ext cx="7848600" cy="54102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运行结果：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---MAIN---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1 a: 0 b: -10 c: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---OTHER---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33 a: 4 b: 0 c: 15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---MAIN---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33 a: 0 b: -10 c: 8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---OTHER---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75 a: 6 b: 4 c: 15</a:t>
            </a:r>
          </a:p>
        </p:txBody>
      </p:sp>
      <p:sp>
        <p:nvSpPr>
          <p:cNvPr id="21507" name="Text Box 4101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9394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28600"/>
            <a:ext cx="7848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例：</a:t>
            </a:r>
            <a:r>
              <a:rPr lang="zh-CN" altLang="en-US" sz="2800" dirty="0"/>
              <a:t>具有静态、动态生存期对象的时钟程序</a:t>
            </a:r>
            <a:r>
              <a:rPr lang="en-US" altLang="zh-CN" sz="2800" dirty="0"/>
              <a:t>*</a:t>
            </a:r>
            <a:endParaRPr lang="zh-CN" altLang="en-US" sz="4000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412776"/>
            <a:ext cx="7315200" cy="47244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#include&lt;</a:t>
            </a:r>
            <a:r>
              <a:rPr lang="en-US" altLang="zh-CN" sz="2400" dirty="0" err="1">
                <a:latin typeface="宋体" charset="-122"/>
              </a:rPr>
              <a:t>iostream</a:t>
            </a:r>
            <a:r>
              <a:rPr lang="en-US" altLang="zh-CN" sz="2400" dirty="0">
                <a:latin typeface="宋体" charset="-122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using namespace </a:t>
            </a:r>
            <a:r>
              <a:rPr lang="en-US" altLang="zh-CN" sz="2400" dirty="0" err="1">
                <a:latin typeface="宋体" charset="-122"/>
              </a:rPr>
              <a:t>std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>
              <a:buNone/>
            </a:pPr>
            <a:r>
              <a:rPr lang="en-US" altLang="zh-CN" sz="2400" dirty="0">
                <a:latin typeface="宋体" charset="-122"/>
              </a:rPr>
              <a:t>class Clock	//</a:t>
            </a:r>
            <a:r>
              <a:rPr lang="zh-CN" altLang="en-US" sz="2400" dirty="0">
                <a:latin typeface="宋体" charset="-122"/>
              </a:rPr>
              <a:t>时钟类定义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{public:	//</a:t>
            </a:r>
            <a:r>
              <a:rPr lang="zh-CN" altLang="en-US" sz="2400" dirty="0">
                <a:latin typeface="宋体" charset="-122"/>
              </a:rPr>
              <a:t>外部接口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>
                <a:latin typeface="宋体" charset="-122"/>
              </a:rPr>
              <a:t>Clock();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void </a:t>
            </a:r>
            <a:r>
              <a:rPr lang="en-US" altLang="zh-CN" sz="2400" dirty="0" err="1">
                <a:latin typeface="宋体" charset="-122"/>
              </a:rPr>
              <a:t>setTime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newH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newM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newS</a:t>
            </a:r>
            <a:r>
              <a:rPr lang="en-US" altLang="zh-CN" sz="2400" dirty="0">
                <a:latin typeface="宋体" charset="-122"/>
              </a:rPr>
              <a:t>);   //</a:t>
            </a:r>
            <a:r>
              <a:rPr lang="zh-CN" altLang="en-US" sz="2400" dirty="0">
                <a:latin typeface="宋体" charset="-122"/>
              </a:rPr>
              <a:t>三个形参均具有函数原型作用域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>
                <a:latin typeface="宋体" charset="-122"/>
              </a:rPr>
              <a:t>void </a:t>
            </a:r>
            <a:r>
              <a:rPr lang="en-US" altLang="zh-CN" sz="2400" dirty="0" err="1">
                <a:latin typeface="宋体" charset="-122"/>
              </a:rPr>
              <a:t>showTime</a:t>
            </a:r>
            <a:r>
              <a:rPr lang="en-US" altLang="zh-CN" sz="2400" dirty="0">
                <a:latin typeface="宋体" charset="-122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private:	//</a:t>
            </a:r>
            <a:r>
              <a:rPr lang="zh-CN" altLang="en-US" sz="2400" dirty="0">
                <a:latin typeface="宋体" charset="-122"/>
              </a:rPr>
              <a:t>私有数据成员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hour, minute, second;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};</a:t>
            </a:r>
          </a:p>
        </p:txBody>
      </p:sp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9160A04-C658-41EE-900F-A3DDD6381AD0}" type="slidenum">
              <a:rPr lang="en-US" altLang="zh-CN" sz="1400" smtClean="0"/>
              <a:pPr/>
              <a:t>32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99454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72008" y="453008"/>
            <a:ext cx="9071992" cy="535225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400" dirty="0">
                <a:latin typeface="宋体" charset="-122"/>
              </a:rPr>
              <a:t>Clock::Clock() : hour(0), minute(0), second(0) </a:t>
            </a:r>
            <a:r>
              <a:rPr lang="en-US" altLang="zh-CN" sz="2000" dirty="0">
                <a:latin typeface="宋体" charset="-122"/>
              </a:rPr>
              <a:t>	//</a:t>
            </a:r>
            <a:r>
              <a:rPr lang="zh-CN" altLang="en-US" sz="2400" dirty="0">
                <a:latin typeface="宋体" charset="-122"/>
              </a:rPr>
              <a:t>构造函数</a:t>
            </a:r>
            <a:endParaRPr lang="en-US" altLang="zh-CN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  <a:endParaRPr lang="zh-CN" altLang="en-US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void Clock::</a:t>
            </a:r>
            <a:r>
              <a:rPr lang="en-US" altLang="zh-CN" sz="2400" dirty="0" err="1">
                <a:latin typeface="宋体" charset="-122"/>
              </a:rPr>
              <a:t>setTime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newH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newM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newS</a:t>
            </a:r>
            <a:r>
              <a:rPr lang="en-US" altLang="zh-CN" sz="2400" dirty="0">
                <a:latin typeface="宋体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{//</a:t>
            </a:r>
            <a:r>
              <a:rPr lang="zh-CN" altLang="en-US" sz="2400" dirty="0">
                <a:latin typeface="宋体" charset="-122"/>
              </a:rPr>
              <a:t>三个形参均具有局部作用域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>
                <a:latin typeface="宋体" charset="-122"/>
              </a:rPr>
              <a:t>hour = </a:t>
            </a:r>
            <a:r>
              <a:rPr lang="en-US" altLang="zh-CN" sz="2400" dirty="0" err="1">
                <a:latin typeface="宋体" charset="-122"/>
              </a:rPr>
              <a:t>newH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minute = </a:t>
            </a:r>
            <a:r>
              <a:rPr lang="en-US" altLang="zh-CN" sz="2400" dirty="0" err="1">
                <a:latin typeface="宋体" charset="-122"/>
              </a:rPr>
              <a:t>newM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second = </a:t>
            </a:r>
            <a:r>
              <a:rPr lang="en-US" altLang="zh-CN" sz="2400" dirty="0" err="1">
                <a:latin typeface="宋体" charset="-122"/>
              </a:rPr>
              <a:t>newS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void Clock::</a:t>
            </a:r>
            <a:r>
              <a:rPr lang="en-US" altLang="zh-CN" sz="2400" dirty="0" err="1">
                <a:latin typeface="宋体" charset="-122"/>
              </a:rPr>
              <a:t>showTime</a:t>
            </a:r>
            <a:r>
              <a:rPr lang="en-US" altLang="zh-CN" sz="2400" dirty="0">
                <a:latin typeface="宋体" charset="-122"/>
              </a:rPr>
              <a:t>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	</a:t>
            </a:r>
            <a:r>
              <a:rPr lang="en-US" altLang="zh-CN" sz="2400" dirty="0" err="1">
                <a:latin typeface="宋体" charset="-122"/>
              </a:rPr>
              <a:t>cout</a:t>
            </a:r>
            <a:r>
              <a:rPr lang="en-US" altLang="zh-CN" sz="2400" dirty="0">
                <a:latin typeface="宋体" charset="-122"/>
              </a:rPr>
              <a:t> &lt;&lt; hour &lt;&lt; ":" &lt;&lt; minute &lt;&lt; ":" &lt;&lt; second &lt;&lt; </a:t>
            </a:r>
            <a:r>
              <a:rPr lang="en-US" altLang="zh-CN" sz="2400" dirty="0" err="1">
                <a:latin typeface="宋体" charset="-122"/>
              </a:rPr>
              <a:t>endl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91177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7"/>
          <p:cNvSpPr>
            <a:spLocks noGrp="1" noChangeArrowheads="1"/>
          </p:cNvSpPr>
          <p:nvPr>
            <p:ph idx="1"/>
          </p:nvPr>
        </p:nvSpPr>
        <p:spPr>
          <a:xfrm>
            <a:off x="395536" y="332656"/>
            <a:ext cx="8283575" cy="6096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Clock </a:t>
            </a:r>
            <a:r>
              <a:rPr lang="en-US" altLang="zh-CN" sz="2400" dirty="0" err="1">
                <a:latin typeface="宋体" charset="-122"/>
              </a:rPr>
              <a:t>globClock</a:t>
            </a:r>
            <a:r>
              <a:rPr lang="en-US" altLang="zh-CN" sz="2400" dirty="0">
                <a:latin typeface="宋体" charset="-122"/>
              </a:rPr>
              <a:t>;//</a:t>
            </a:r>
            <a:r>
              <a:rPr lang="zh-CN" altLang="en-US" sz="2400" dirty="0">
                <a:latin typeface="宋体" charset="-122"/>
              </a:rPr>
              <a:t>声明对象</a:t>
            </a:r>
            <a:r>
              <a:rPr lang="en-US" altLang="zh-CN" sz="2400" dirty="0" err="1">
                <a:latin typeface="宋体" charset="-122"/>
              </a:rPr>
              <a:t>globClock</a:t>
            </a:r>
            <a:r>
              <a:rPr lang="zh-CN" altLang="en-US" sz="2400" dirty="0">
                <a:latin typeface="宋体" charset="-122"/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                </a:t>
            </a:r>
            <a:r>
              <a:rPr lang="en-US" altLang="zh-CN" sz="2400" dirty="0">
                <a:latin typeface="宋体" charset="-122"/>
              </a:rPr>
              <a:t>//</a:t>
            </a:r>
            <a:r>
              <a:rPr lang="zh-CN" altLang="en-US" sz="2400" dirty="0">
                <a:latin typeface="宋体" charset="-122"/>
              </a:rPr>
              <a:t>具有静态生存期，文件作用域</a:t>
            </a:r>
          </a:p>
          <a:p>
            <a:pPr>
              <a:buNone/>
            </a:pP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main()	 //</a:t>
            </a:r>
            <a:r>
              <a:rPr lang="zh-CN" altLang="en-US" sz="2400" dirty="0">
                <a:latin typeface="宋体" charset="-122"/>
              </a:rPr>
              <a:t>主函数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	</a:t>
            </a:r>
            <a:r>
              <a:rPr lang="en-US" altLang="zh-CN" sz="2400" dirty="0" err="1">
                <a:latin typeface="宋体" charset="-122"/>
              </a:rPr>
              <a:t>cout</a:t>
            </a:r>
            <a:r>
              <a:rPr lang="en-US" altLang="zh-CN" sz="2400" dirty="0">
                <a:latin typeface="宋体" charset="-122"/>
              </a:rPr>
              <a:t> &lt;&lt; "First time output:" &lt;&lt; </a:t>
            </a:r>
            <a:r>
              <a:rPr lang="en-US" altLang="zh-CN" sz="2400" dirty="0" err="1">
                <a:latin typeface="宋体" charset="-122"/>
              </a:rPr>
              <a:t>endl</a:t>
            </a:r>
            <a:r>
              <a:rPr lang="en-US" altLang="zh-CN" sz="2400" dirty="0">
                <a:latin typeface="宋体" charset="-122"/>
              </a:rPr>
              <a:t>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//</a:t>
            </a:r>
            <a:r>
              <a:rPr lang="zh-CN" altLang="en-US" sz="2400" dirty="0">
                <a:latin typeface="宋体" charset="-122"/>
              </a:rPr>
              <a:t>引用具有文件作用域的对象：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globClock.showTime</a:t>
            </a:r>
            <a:r>
              <a:rPr lang="en-US" altLang="zh-CN" sz="2400" dirty="0">
                <a:latin typeface="宋体" charset="-122"/>
              </a:rPr>
              <a:t>();//</a:t>
            </a:r>
            <a:r>
              <a:rPr lang="zh-CN" altLang="en-US" sz="2400" dirty="0">
                <a:latin typeface="宋体" charset="-122"/>
              </a:rPr>
              <a:t>对象的成员函数具有类作用域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globClock.setTime</a:t>
            </a:r>
            <a:r>
              <a:rPr lang="en-US" altLang="zh-CN" sz="2400" dirty="0">
                <a:latin typeface="宋体" charset="-122"/>
              </a:rPr>
              <a:t>(8,30,30);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Clock </a:t>
            </a:r>
            <a:r>
              <a:rPr lang="en-US" altLang="zh-CN" sz="2400" dirty="0" err="1">
                <a:latin typeface="宋体" charset="-122"/>
              </a:rPr>
              <a:t>myClock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en-US" altLang="zh-CN" sz="2400" dirty="0" err="1">
                <a:latin typeface="宋体" charset="-122"/>
              </a:rPr>
              <a:t>globClock</a:t>
            </a:r>
            <a:r>
              <a:rPr lang="en-US" altLang="zh-CN" sz="2400" dirty="0">
                <a:latin typeface="宋体" charset="-122"/>
              </a:rPr>
              <a:t>);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     //</a:t>
            </a:r>
            <a:r>
              <a:rPr lang="zh-CN" altLang="en-US" sz="2400" dirty="0">
                <a:latin typeface="宋体" charset="-122"/>
              </a:rPr>
              <a:t>声明具有块作用域的对象</a:t>
            </a:r>
            <a:r>
              <a:rPr lang="en-US" altLang="zh-CN" sz="2400" dirty="0" err="1">
                <a:latin typeface="宋体" charset="-122"/>
              </a:rPr>
              <a:t>myClock</a:t>
            </a:r>
            <a:endParaRPr lang="en-US" altLang="zh-CN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cout</a:t>
            </a:r>
            <a:r>
              <a:rPr lang="en-US" altLang="zh-CN" sz="2400" dirty="0">
                <a:latin typeface="宋体" charset="-122"/>
              </a:rPr>
              <a:t>&lt;&lt;"Second time output:"&lt;&lt;</a:t>
            </a:r>
            <a:r>
              <a:rPr lang="en-US" altLang="zh-CN" sz="2400" dirty="0" err="1">
                <a:latin typeface="宋体" charset="-122"/>
              </a:rPr>
              <a:t>endl</a:t>
            </a:r>
            <a:r>
              <a:rPr lang="en-US" altLang="zh-CN" sz="2400" dirty="0">
                <a:latin typeface="宋体" charset="-122"/>
              </a:rPr>
              <a:t>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myClock.showTime</a:t>
            </a:r>
            <a:r>
              <a:rPr lang="en-US" altLang="zh-CN" sz="2400" dirty="0">
                <a:latin typeface="宋体" charset="-122"/>
              </a:rPr>
              <a:t>();	//</a:t>
            </a:r>
            <a:r>
              <a:rPr lang="zh-CN" altLang="en-US" sz="2400" dirty="0">
                <a:latin typeface="宋体" charset="-122"/>
              </a:rPr>
              <a:t>引用具有块作用域的对象</a:t>
            </a:r>
            <a:endParaRPr lang="en-US" altLang="zh-CN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return 0;</a:t>
            </a:r>
            <a:endParaRPr lang="zh-CN" altLang="en-US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</a:p>
        </p:txBody>
      </p:sp>
      <p:sp>
        <p:nvSpPr>
          <p:cNvPr id="24579" name="Text Box 1029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21873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202432"/>
            <a:ext cx="7194376" cy="3522712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程序的运行结果为：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First time output: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0:0:0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Second time output: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8:30:30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latin typeface="宋体" charset="-122"/>
            </a:endParaRPr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29605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dirty="0"/>
              <a:t>为什么设计</a:t>
            </a:r>
            <a:r>
              <a:rPr lang="en-US" altLang="zh-CN" dirty="0"/>
              <a:t>static</a:t>
            </a:r>
            <a:r>
              <a:rPr lang="zh-CN" altLang="en-US" dirty="0"/>
              <a:t>变量？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187624" y="2060848"/>
            <a:ext cx="6840760" cy="864096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/>
              <a:t>程序模块化  并且  数据共享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36</a:t>
            </a:fld>
            <a:endParaRPr lang="en-US" altLang="zh-CN" sz="1400"/>
          </a:p>
        </p:txBody>
      </p:sp>
      <p:grpSp>
        <p:nvGrpSpPr>
          <p:cNvPr id="3" name="组合 2"/>
          <p:cNvGrpSpPr/>
          <p:nvPr/>
        </p:nvGrpSpPr>
        <p:grpSpPr>
          <a:xfrm>
            <a:off x="683568" y="3284984"/>
            <a:ext cx="7920880" cy="648072"/>
            <a:chOff x="683568" y="3284984"/>
            <a:chExt cx="7920880" cy="648072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>
            <a:xfrm>
              <a:off x="683568" y="3284984"/>
              <a:ext cx="7920880" cy="648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Font typeface="Wingdings 2"/>
                <a:buNone/>
                <a:defRPr/>
              </a:pPr>
              <a:r>
                <a:rPr lang="zh-CN" altLang="en-US" dirty="0"/>
                <a:t>函数中的</a:t>
              </a:r>
              <a:r>
                <a:rPr lang="en-US" altLang="zh-CN" dirty="0"/>
                <a:t>static</a:t>
              </a:r>
              <a:r>
                <a:rPr lang="zh-CN" altLang="en-US" dirty="0"/>
                <a:t>变量      本函数内的数据共享</a:t>
              </a:r>
            </a:p>
          </p:txBody>
        </p:sp>
        <p:sp>
          <p:nvSpPr>
            <p:cNvPr id="2" name="右箭头 1"/>
            <p:cNvSpPr/>
            <p:nvPr/>
          </p:nvSpPr>
          <p:spPr>
            <a:xfrm>
              <a:off x="4283968" y="3501008"/>
              <a:ext cx="432048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59655" y="4293096"/>
            <a:ext cx="7520362" cy="1080120"/>
            <a:chOff x="1059655" y="4293096"/>
            <a:chExt cx="7520362" cy="1080120"/>
          </a:xfrm>
        </p:grpSpPr>
        <p:sp>
          <p:nvSpPr>
            <p:cNvPr id="6" name="Rectangle 3"/>
            <p:cNvSpPr txBox="1">
              <a:spLocks noChangeArrowheads="1"/>
            </p:cNvSpPr>
            <p:nvPr/>
          </p:nvSpPr>
          <p:spPr>
            <a:xfrm>
              <a:off x="1059655" y="4293096"/>
              <a:ext cx="7505797" cy="648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defPPr>
                <a:defRPr lang="zh-CN"/>
              </a:defPPr>
              <a:lvl1pPr indent="0" algn="just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  <a:defRPr kumimoji="0" sz="3200"/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/>
              </a:lvl2pPr>
              <a:lvl3pPr marL="1143000" indent="-228600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/>
              </a:lvl3pPr>
              <a:lvl4pPr marL="1600200" indent="-228600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/>
              </a:lvl4pPr>
              <a:lvl5pPr marL="2057400" indent="-228600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/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kumimoji="0"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kumimoji="0"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kumimoji="0"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kumimoji="0" sz="2000"/>
              </a:lvl9pPr>
            </a:lstStyle>
            <a:p>
              <a:r>
                <a:rPr lang="zh-CN" altLang="en-US" dirty="0"/>
                <a:t>类中的</a:t>
              </a:r>
              <a:r>
                <a:rPr lang="en-US" altLang="zh-CN" dirty="0"/>
                <a:t>static</a:t>
              </a:r>
              <a:r>
                <a:rPr lang="zh-CN" altLang="en-US" dirty="0"/>
                <a:t>变量           本类内的数据共享</a:t>
              </a:r>
            </a:p>
          </p:txBody>
        </p:sp>
        <p:sp>
          <p:nvSpPr>
            <p:cNvPr id="7" name="Rectangle 3"/>
            <p:cNvSpPr txBox="1">
              <a:spLocks noChangeArrowheads="1"/>
            </p:cNvSpPr>
            <p:nvPr/>
          </p:nvSpPr>
          <p:spPr>
            <a:xfrm>
              <a:off x="3851920" y="4941168"/>
              <a:ext cx="4728097" cy="4320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defPPr>
                <a:defRPr lang="zh-CN"/>
              </a:defPPr>
              <a:lvl1pPr indent="0" algn="just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  <a:defRPr kumimoji="0" sz="3200"/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/>
              </a:lvl2pPr>
              <a:lvl3pPr marL="1143000" indent="-228600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/>
              </a:lvl3pPr>
              <a:lvl4pPr marL="1600200" indent="-228600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/>
              </a:lvl4pPr>
              <a:lvl5pPr marL="2057400" indent="-228600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/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kumimoji="0"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kumimoji="0"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kumimoji="0"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kumimoji="0" sz="2000"/>
              </a:lvl9pPr>
            </a:lstStyle>
            <a:p>
              <a:r>
                <a:rPr lang="zh-CN" altLang="en-US" sz="2400" dirty="0"/>
                <a:t>（本类的所有对象间的数据共享）</a:t>
              </a:r>
            </a:p>
          </p:txBody>
        </p:sp>
        <p:sp>
          <p:nvSpPr>
            <p:cNvPr id="9" name="右箭头 8"/>
            <p:cNvSpPr/>
            <p:nvPr/>
          </p:nvSpPr>
          <p:spPr>
            <a:xfrm>
              <a:off x="4355976" y="4509120"/>
              <a:ext cx="432048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34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5.3 </a:t>
            </a:r>
            <a:r>
              <a:rPr lang="zh-CN" altLang="en-US" dirty="0"/>
              <a:t>类的静态成员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547664" y="2276872"/>
            <a:ext cx="4032448" cy="2016224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5.3.1 </a:t>
            </a:r>
            <a:r>
              <a:rPr lang="zh-CN" altLang="en-US" dirty="0"/>
              <a:t>静态数据成员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endParaRPr lang="zh-CN" altLang="en-US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5.3.2 </a:t>
            </a:r>
            <a:r>
              <a:rPr lang="zh-CN" altLang="en-US" dirty="0"/>
              <a:t>静态成员函数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37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275856" y="1268760"/>
            <a:ext cx="3826336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类中的</a:t>
            </a:r>
            <a:r>
              <a:rPr lang="en-US" altLang="zh-CN" dirty="0"/>
              <a:t>static</a:t>
            </a:r>
            <a:r>
              <a:rPr lang="zh-CN" altLang="en-US" dirty="0"/>
              <a:t>成员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20072" y="1996832"/>
            <a:ext cx="3114248" cy="10721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类的所有对象间</a:t>
            </a:r>
            <a:endParaRPr lang="en-US" altLang="zh-CN" dirty="0"/>
          </a:p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的数据共享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7544" y="2420888"/>
            <a:ext cx="1107996" cy="1296144"/>
            <a:chOff x="1043608" y="2420888"/>
            <a:chExt cx="1107996" cy="792088"/>
          </a:xfrm>
        </p:grpSpPr>
        <p:sp>
          <p:nvSpPr>
            <p:cNvPr id="2" name="左大括号 1"/>
            <p:cNvSpPr/>
            <p:nvPr/>
          </p:nvSpPr>
          <p:spPr>
            <a:xfrm>
              <a:off x="1907704" y="2420888"/>
              <a:ext cx="216024" cy="792088"/>
            </a:xfrm>
            <a:prstGeom prst="lef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1043608" y="2663301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包括：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2699792" y="2817564"/>
            <a:ext cx="208823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699792" y="3861048"/>
            <a:ext cx="208823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5220072" y="3797032"/>
            <a:ext cx="3528392" cy="10721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操作类的静态数据的函数</a:t>
            </a:r>
          </a:p>
        </p:txBody>
      </p:sp>
    </p:spTree>
    <p:extLst>
      <p:ext uri="{BB962C8B-B14F-4D97-AF65-F5344CB8AC3E}">
        <p14:creationId xmlns:p14="http://schemas.microsoft.com/office/powerpoint/2010/main" val="281558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-27384"/>
            <a:ext cx="7315200" cy="7200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静态成员应用场景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6926872" y="1145127"/>
            <a:ext cx="1944216" cy="510909"/>
          </a:xfr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85000"/>
              </a:lnSpc>
              <a:buClr>
                <a:srgbClr val="477AB1"/>
              </a:buClr>
              <a:buNone/>
            </a:pPr>
            <a:r>
              <a:rPr lang="en-US" altLang="zh-CN" dirty="0">
                <a:solidFill>
                  <a:prstClr val="black"/>
                </a:solidFill>
              </a:rPr>
              <a:t>   ……</a:t>
            </a: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3166E28-FBCE-4238-95EA-BBB8A16F4D66}" type="slidenum">
              <a:rPr lang="en-US" altLang="zh-CN" sz="1400" smtClean="0"/>
              <a:pPr/>
              <a:t>38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95536" y="692696"/>
            <a:ext cx="6192688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lvl="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点类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每个点的数据：横坐标、纵坐标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共享数据：点的计数器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540" y="2204864"/>
            <a:ext cx="7704856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学生类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每个学生的数据：姓名、学号、性别、年龄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共享数据：班主任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536" y="3717032"/>
            <a:ext cx="7704856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链表结点类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每个结点的数据：数据、左指针、右指针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共享数据：头指针、尾指针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5229200"/>
            <a:ext cx="8496944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储蓄存款账户类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每个存款账户的数据：户名、开户日期、余额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共享数据：利率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472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0"/>
            <a:ext cx="7315200" cy="764704"/>
          </a:xfrm>
        </p:spPr>
        <p:txBody>
          <a:bodyPr/>
          <a:lstStyle/>
          <a:p>
            <a:pPr eaLnBrk="1" hangingPunct="1"/>
            <a:r>
              <a:rPr lang="zh-CN" altLang="en-US" dirty="0"/>
              <a:t>静态成员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352928" cy="576064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dirty="0"/>
              <a:t>静态数据成员</a:t>
            </a: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用关键字</a:t>
            </a:r>
            <a:r>
              <a:rPr lang="en-US" altLang="zh-CN" sz="2400" dirty="0">
                <a:solidFill>
                  <a:schemeClr val="tx1"/>
                </a:solidFill>
              </a:rPr>
              <a:t>static</a:t>
            </a:r>
            <a:r>
              <a:rPr lang="zh-CN" altLang="en-US" sz="2400" dirty="0"/>
              <a:t>声明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该类的所有对象维护同一个该成员</a:t>
            </a: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必须在类外定义和初始化，用</a:t>
            </a:r>
            <a:r>
              <a:rPr lang="en-US" altLang="zh-CN" sz="2400" dirty="0"/>
              <a:t>(::)</a:t>
            </a:r>
            <a:r>
              <a:rPr lang="zh-CN" altLang="en-US" sz="2400" dirty="0"/>
              <a:t>来指明所属的类。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dirty="0"/>
              <a:t>静态成员函数</a:t>
            </a: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类外代码可以使用</a:t>
            </a:r>
            <a:r>
              <a:rPr lang="zh-CN" altLang="en-US" sz="2400" b="1" dirty="0"/>
              <a:t>类名</a:t>
            </a:r>
            <a:r>
              <a:rPr lang="zh-CN" altLang="en-US" sz="2400" dirty="0"/>
              <a:t>和</a:t>
            </a:r>
            <a:r>
              <a:rPr lang="zh-CN" altLang="en-US" sz="2400" b="1" dirty="0"/>
              <a:t>作用域操作符</a:t>
            </a:r>
            <a:r>
              <a:rPr lang="zh-CN" altLang="en-US" sz="2400" dirty="0"/>
              <a:t>来调用静态成员函数。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没有</a:t>
            </a:r>
            <a:r>
              <a:rPr lang="en-US" altLang="zh-CN" sz="2400" dirty="0"/>
              <a:t>this</a:t>
            </a:r>
            <a:r>
              <a:rPr lang="zh-CN" altLang="en-US" sz="2400" dirty="0"/>
              <a:t>指针</a:t>
            </a:r>
          </a:p>
          <a:p>
            <a:pPr lvl="1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/>
              <a:t>静态成员函数只能引用属于该类的静态数据成员或静态成员函数。</a:t>
            </a: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3166E28-FBCE-4238-95EA-BBB8A16F4D66}" type="slidenum">
              <a:rPr lang="en-US" altLang="zh-CN" sz="1400" smtClean="0"/>
              <a:pPr/>
              <a:t>39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356792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17136" y="188640"/>
            <a:ext cx="5271087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class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endParaRPr lang="en-US" altLang="zh-CN" sz="2800" dirty="0">
              <a:solidFill>
                <a:srgbClr val="000000"/>
              </a:solidFill>
              <a:latin typeface="新宋体"/>
              <a:ea typeface="新宋体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{  ......</a:t>
            </a:r>
          </a:p>
          <a:p>
            <a:pPr marL="355600"/>
            <a:r>
              <a:rPr lang="en-US" altLang="zh-CN" sz="2800" b="1" dirty="0">
                <a:solidFill>
                  <a:srgbClr val="0000FF"/>
                </a:solidFill>
                <a:latin typeface="新宋体"/>
                <a:ea typeface="新宋体"/>
              </a:rPr>
              <a:t>static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latin typeface="新宋体"/>
                <a:ea typeface="新宋体"/>
              </a:rPr>
              <a:t>m_a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public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800" b="1" dirty="0">
                <a:solidFill>
                  <a:srgbClr val="0000FF"/>
                </a:solidFill>
                <a:latin typeface="新宋体"/>
                <a:ea typeface="新宋体"/>
              </a:rPr>
              <a:t>static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latin typeface="新宋体"/>
                <a:ea typeface="新宋体"/>
              </a:rPr>
              <a:t>ShowSatic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();</a:t>
            </a:r>
          </a:p>
          <a:p>
            <a:pPr marL="355600"/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......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};</a:t>
            </a:r>
          </a:p>
          <a:p>
            <a:r>
              <a:rPr lang="en-US" altLang="zh-CN" sz="28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::m_a = 0;</a:t>
            </a:r>
          </a:p>
          <a:p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void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::Fun()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{   </a:t>
            </a:r>
            <a:r>
              <a:rPr lang="en-US" altLang="zh-CN" sz="2800" dirty="0" err="1">
                <a:solidFill>
                  <a:srgbClr val="000000"/>
                </a:solidFill>
                <a:latin typeface="新宋体"/>
                <a:ea typeface="新宋体"/>
              </a:rPr>
              <a:t>cout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008080"/>
                </a:solidFill>
                <a:latin typeface="新宋体"/>
                <a:ea typeface="新宋体"/>
              </a:rPr>
              <a:t>&lt;&lt;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latin typeface="新宋体"/>
                <a:ea typeface="新宋体"/>
              </a:rPr>
              <a:t>m_a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>
                <a:solidFill>
                  <a:srgbClr val="008080"/>
                </a:solidFill>
                <a:latin typeface="新宋体"/>
                <a:ea typeface="新宋体"/>
              </a:rPr>
              <a:t>&lt;&lt;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latin typeface="新宋体"/>
                <a:ea typeface="新宋体"/>
              </a:rPr>
              <a:t>endl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;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}</a:t>
            </a:r>
          </a:p>
          <a:p>
            <a:r>
              <a:rPr lang="en-US" altLang="zh-CN" sz="2800" dirty="0" err="1">
                <a:solidFill>
                  <a:srgbClr val="0000FF"/>
                </a:solidFill>
                <a:latin typeface="新宋体"/>
                <a:ea typeface="新宋体"/>
              </a:rPr>
              <a:t>int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main()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{   </a:t>
            </a:r>
            <a:r>
              <a:rPr lang="en-US" altLang="zh-CN" sz="2800" dirty="0">
                <a:solidFill>
                  <a:srgbClr val="2B91AF"/>
                </a:solidFill>
                <a:latin typeface="新宋体"/>
                <a:ea typeface="新宋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::Fun();</a:t>
            </a:r>
          </a:p>
          <a:p>
            <a:pPr marL="630238"/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return</a:t>
            </a:r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 0;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新宋体"/>
                <a:ea typeface="新宋体"/>
              </a:rPr>
              <a:t>}</a:t>
            </a:r>
            <a:endParaRPr lang="zh-CN" altLang="en-US" sz="2800" dirty="0"/>
          </a:p>
        </p:txBody>
      </p:sp>
      <p:grpSp>
        <p:nvGrpSpPr>
          <p:cNvPr id="9" name="组合 8"/>
          <p:cNvGrpSpPr/>
          <p:nvPr/>
        </p:nvGrpSpPr>
        <p:grpSpPr>
          <a:xfrm>
            <a:off x="5383721" y="1124744"/>
            <a:ext cx="3722407" cy="2592288"/>
            <a:chOff x="5004048" y="1772816"/>
            <a:chExt cx="3722407" cy="2592288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>
            <a:xfrm>
              <a:off x="5704495" y="1772816"/>
              <a:ext cx="2736304" cy="41086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rmAutofit lnSpcReduction="10000"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声明静态数据成员</a:t>
              </a:r>
            </a:p>
          </p:txBody>
        </p:sp>
        <p:sp>
          <p:nvSpPr>
            <p:cNvPr id="6" name="Rectangle 3"/>
            <p:cNvSpPr txBox="1">
              <a:spLocks noChangeArrowheads="1"/>
            </p:cNvSpPr>
            <p:nvPr/>
          </p:nvSpPr>
          <p:spPr>
            <a:xfrm>
              <a:off x="5004048" y="3954242"/>
              <a:ext cx="3722407" cy="41086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定义静态数据成员（创建）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441226" y="1988840"/>
            <a:ext cx="3379246" cy="2181426"/>
            <a:chOff x="5023681" y="2636912"/>
            <a:chExt cx="3379246" cy="2181426"/>
          </a:xfrm>
        </p:grpSpPr>
        <p:sp>
          <p:nvSpPr>
            <p:cNvPr id="7" name="Rectangle 3"/>
            <p:cNvSpPr txBox="1">
              <a:spLocks noChangeArrowheads="1"/>
            </p:cNvSpPr>
            <p:nvPr/>
          </p:nvSpPr>
          <p:spPr>
            <a:xfrm>
              <a:off x="5666623" y="2636912"/>
              <a:ext cx="2736304" cy="4108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vert="horz" rtlCol="0">
              <a:normAutofit lnSpcReduction="10000"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声明静态函数成员</a:t>
              </a:r>
            </a:p>
          </p:txBody>
        </p:sp>
        <p:sp>
          <p:nvSpPr>
            <p:cNvPr id="8" name="Rectangle 3"/>
            <p:cNvSpPr txBox="1">
              <a:spLocks noChangeArrowheads="1"/>
            </p:cNvSpPr>
            <p:nvPr/>
          </p:nvSpPr>
          <p:spPr>
            <a:xfrm>
              <a:off x="5023681" y="4407476"/>
              <a:ext cx="2697038" cy="4108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vert="horz" rtlCol="0">
              <a:no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定义静态函数成员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35496" y="3193812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static</a:t>
            </a:r>
            <a:endParaRPr lang="zh-CN" altLang="en-US" dirty="0"/>
          </a:p>
        </p:txBody>
      </p:sp>
      <p:sp>
        <p:nvSpPr>
          <p:cNvPr id="12" name="乘号 11"/>
          <p:cNvSpPr/>
          <p:nvPr/>
        </p:nvSpPr>
        <p:spPr>
          <a:xfrm>
            <a:off x="450414" y="3140968"/>
            <a:ext cx="432048" cy="674494"/>
          </a:xfrm>
          <a:prstGeom prst="mathMultiply">
            <a:avLst>
              <a:gd name="adj1" fmla="val 1404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-36512" y="3592474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static</a:t>
            </a:r>
            <a:endParaRPr lang="zh-CN" altLang="en-US" dirty="0"/>
          </a:p>
        </p:txBody>
      </p:sp>
      <p:sp>
        <p:nvSpPr>
          <p:cNvPr id="14" name="乘号 13"/>
          <p:cNvSpPr/>
          <p:nvPr/>
        </p:nvSpPr>
        <p:spPr>
          <a:xfrm>
            <a:off x="522422" y="3539630"/>
            <a:ext cx="432048" cy="674494"/>
          </a:xfrm>
          <a:prstGeom prst="mathMultiply">
            <a:avLst>
              <a:gd name="adj1" fmla="val 1404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138264" y="5112326"/>
            <a:ext cx="790601" cy="830997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0  </a:t>
            </a:r>
          </a:p>
          <a:p>
            <a:r>
              <a:rPr lang="en-US" altLang="zh-CN" sz="2400" dirty="0">
                <a:solidFill>
                  <a:schemeClr val="bg1"/>
                </a:solidFill>
              </a:rPr>
              <a:t>         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5436096" y="5322394"/>
            <a:ext cx="2736304" cy="410862"/>
          </a:xfrm>
          <a:prstGeom prst="rect">
            <a:avLst/>
          </a:prstGeom>
          <a:solidFill>
            <a:srgbClr val="92D050"/>
          </a:solidFill>
        </p:spPr>
        <p:txBody>
          <a:bodyPr vert="horz" rtlCol="0">
            <a:normAutofit lnSpcReduction="1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None/>
              <a:defRPr/>
            </a:pPr>
            <a:r>
              <a:rPr lang="zh-CN" altLang="en-US" sz="2400" dirty="0"/>
              <a:t>调用静态函数成员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3625196" y="-171400"/>
            <a:ext cx="5518804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静态成员的设计语法</a:t>
            </a:r>
          </a:p>
        </p:txBody>
      </p:sp>
    </p:spTree>
    <p:extLst>
      <p:ext uri="{BB962C8B-B14F-4D97-AF65-F5344CB8AC3E}">
        <p14:creationId xmlns:p14="http://schemas.microsoft.com/office/powerpoint/2010/main" val="16657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4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Point</a:t>
            </a:r>
            <a:r>
              <a:rPr lang="zh-CN" altLang="en-US" dirty="0"/>
              <a:t>类中增加一个计数器</a:t>
            </a:r>
            <a:r>
              <a:rPr lang="en-US" altLang="zh-CN" dirty="0"/>
              <a:t>count. </a:t>
            </a:r>
          </a:p>
          <a:p>
            <a:pPr marL="0" indent="0">
              <a:buNone/>
            </a:pPr>
            <a:r>
              <a:rPr lang="zh-CN" altLang="en-US" dirty="0"/>
              <a:t>记录程序中共有多少个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76672"/>
            <a:ext cx="7992888" cy="648072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dirty="0"/>
              <a:t>例：</a:t>
            </a:r>
            <a:r>
              <a:rPr lang="zh-CN" altLang="en-US" sz="3600" dirty="0"/>
              <a:t>具有静态数据成员的 </a:t>
            </a:r>
            <a:r>
              <a:rPr lang="en-US" altLang="zh-CN" sz="3600" dirty="0"/>
              <a:t>Point</a:t>
            </a:r>
            <a:r>
              <a:rPr lang="zh-CN" altLang="en-US" sz="3600" dirty="0"/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1971069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47BA2AE-EE7D-4556-98A0-8F0BF7C1ED20}" type="slidenum">
              <a:rPr lang="en-US" altLang="zh-CN" sz="1400" smtClean="0"/>
              <a:pPr/>
              <a:t>42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430" y="113719"/>
            <a:ext cx="5867714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=0,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=0):x(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),y(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count++; }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&amp;p);</a:t>
            </a:r>
          </a:p>
          <a:p>
            <a:pPr marL="355600"/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x; }</a:t>
            </a:r>
          </a:p>
          <a:p>
            <a:pPr marL="355600"/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y;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 Object count="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x, y;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count;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::Point(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count++;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::count = 0;</a:t>
            </a:r>
            <a:endParaRPr lang="zh-CN" altLang="en-US" sz="20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3874731" y="2060848"/>
            <a:ext cx="5089757" cy="1512168"/>
            <a:chOff x="5242883" y="2368044"/>
            <a:chExt cx="5089757" cy="1512168"/>
          </a:xfrm>
        </p:grpSpPr>
        <p:grpSp>
          <p:nvGrpSpPr>
            <p:cNvPr id="15" name="组合 14"/>
            <p:cNvGrpSpPr/>
            <p:nvPr/>
          </p:nvGrpSpPr>
          <p:grpSpPr>
            <a:xfrm>
              <a:off x="5606498" y="2368044"/>
              <a:ext cx="4726142" cy="1224136"/>
              <a:chOff x="6262954" y="2834933"/>
              <a:chExt cx="4726142" cy="1224136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6821016" y="2834933"/>
                <a:ext cx="4168080" cy="9541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宋体" pitchFamily="2" charset="-122"/>
                  </a:rPr>
                  <a:t>静态数据成员的使用：</a:t>
                </a:r>
                <a:endParaRPr lang="en-US" altLang="zh-CN" sz="2800" dirty="0">
                  <a:latin typeface="宋体" pitchFamily="2" charset="-122"/>
                </a:endParaRPr>
              </a:p>
              <a:p>
                <a:r>
                  <a:rPr lang="zh-CN" altLang="en-US" sz="2800" dirty="0">
                    <a:latin typeface="宋体" pitchFamily="2" charset="-122"/>
                  </a:rPr>
                  <a:t>输出计数器的值</a:t>
                </a:r>
                <a:endParaRPr lang="zh-CN" altLang="en-US" sz="2800" dirty="0"/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 flipH="1">
                <a:off x="6262954" y="3410997"/>
                <a:ext cx="549678" cy="648072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连接符 15"/>
            <p:cNvCxnSpPr/>
            <p:nvPr/>
          </p:nvCxnSpPr>
          <p:spPr>
            <a:xfrm>
              <a:off x="5242883" y="3880212"/>
              <a:ext cx="69726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直接连接符 2"/>
          <p:cNvCxnSpPr/>
          <p:nvPr/>
        </p:nvCxnSpPr>
        <p:spPr>
          <a:xfrm>
            <a:off x="395536" y="4456276"/>
            <a:ext cx="223224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779912" y="4005064"/>
            <a:ext cx="3057247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声明静态数据成员</a:t>
            </a:r>
            <a:endParaRPr lang="zh-CN" altLang="en-US" sz="2800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107504" y="6579349"/>
            <a:ext cx="252028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674993" y="5787261"/>
            <a:ext cx="2698175" cy="95410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定义并且初始化</a:t>
            </a:r>
            <a:endParaRPr lang="en-US" altLang="zh-CN" sz="2800" dirty="0">
              <a:latin typeface="宋体" pitchFamily="2" charset="-122"/>
            </a:endParaRPr>
          </a:p>
          <a:p>
            <a:r>
              <a:rPr lang="zh-CN" altLang="en-US" sz="2800" dirty="0">
                <a:latin typeface="宋体" pitchFamily="2" charset="-122"/>
              </a:rPr>
              <a:t>静态数据成员</a:t>
            </a:r>
            <a:endParaRPr lang="zh-CN" altLang="en-US" sz="2800" dirty="0"/>
          </a:p>
        </p:txBody>
      </p:sp>
      <p:sp>
        <p:nvSpPr>
          <p:cNvPr id="30" name="矩形 29"/>
          <p:cNvSpPr/>
          <p:nvPr/>
        </p:nvSpPr>
        <p:spPr>
          <a:xfrm>
            <a:off x="6123066" y="5445224"/>
            <a:ext cx="2769414" cy="12618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atin typeface="宋体" pitchFamily="2" charset="-122"/>
              </a:rPr>
              <a:t>因为初值为</a:t>
            </a:r>
            <a:r>
              <a:rPr lang="en-US" altLang="zh-CN" sz="2800" dirty="0">
                <a:latin typeface="宋体" pitchFamily="2" charset="-122"/>
              </a:rPr>
              <a:t>0</a:t>
            </a:r>
            <a:r>
              <a:rPr lang="zh-CN" altLang="en-US" sz="2800" dirty="0">
                <a:latin typeface="宋体" pitchFamily="2" charset="-122"/>
              </a:rPr>
              <a:t>，所以也可以写成：</a:t>
            </a:r>
            <a:endParaRPr lang="en-US" altLang="zh-CN" sz="2800" dirty="0">
              <a:latin typeface="宋体" pitchFamily="2" charset="-122"/>
            </a:endParaRPr>
          </a:p>
          <a:p>
            <a:pPr lvl="0"/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::count;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  <p:grpSp>
        <p:nvGrpSpPr>
          <p:cNvPr id="30721" name="组合 30720"/>
          <p:cNvGrpSpPr/>
          <p:nvPr/>
        </p:nvGrpSpPr>
        <p:grpSpPr>
          <a:xfrm>
            <a:off x="395536" y="548680"/>
            <a:ext cx="8640960" cy="5472608"/>
            <a:chOff x="395536" y="548680"/>
            <a:chExt cx="8640960" cy="5472608"/>
          </a:xfrm>
        </p:grpSpPr>
        <p:grpSp>
          <p:nvGrpSpPr>
            <p:cNvPr id="14" name="组合 13"/>
            <p:cNvGrpSpPr/>
            <p:nvPr/>
          </p:nvGrpSpPr>
          <p:grpSpPr>
            <a:xfrm>
              <a:off x="683568" y="548680"/>
              <a:ext cx="8352928" cy="954107"/>
              <a:chOff x="719572" y="1197913"/>
              <a:chExt cx="8352928" cy="954107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719572" y="2060848"/>
                <a:ext cx="1080120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/>
              <p:cNvSpPr/>
              <p:nvPr/>
            </p:nvSpPr>
            <p:spPr>
              <a:xfrm>
                <a:off x="4399426" y="1197913"/>
                <a:ext cx="4673074" cy="9541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latin typeface="宋体" pitchFamily="2" charset="-122"/>
                  </a:rPr>
                  <a:t>静态数据成员的使用：</a:t>
                </a:r>
                <a:endParaRPr lang="en-US" altLang="zh-CN" sz="2800" dirty="0">
                  <a:latin typeface="宋体" pitchFamily="2" charset="-122"/>
                </a:endParaRPr>
              </a:p>
              <a:p>
                <a:r>
                  <a:rPr lang="zh-CN" altLang="en-US" sz="2800" dirty="0">
                    <a:latin typeface="宋体" pitchFamily="2" charset="-122"/>
                  </a:rPr>
                  <a:t>每当新建一个点，计数器加</a:t>
                </a:r>
                <a:r>
                  <a:rPr lang="en-US" altLang="zh-CN" sz="2800" dirty="0">
                    <a:latin typeface="宋体" pitchFamily="2" charset="-122"/>
                  </a:rPr>
                  <a:t>1</a:t>
                </a:r>
                <a:endParaRPr lang="zh-CN" altLang="en-US" sz="2800" dirty="0"/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 flipH="1">
                <a:off x="2015716" y="1917993"/>
                <a:ext cx="2383710" cy="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/>
            <p:cNvCxnSpPr/>
            <p:nvPr/>
          </p:nvCxnSpPr>
          <p:spPr>
            <a:xfrm>
              <a:off x="395536" y="6021288"/>
              <a:ext cx="101313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H="1">
              <a:off x="1367644" y="1411615"/>
              <a:ext cx="2995778" cy="4426748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672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28</a:t>
            </a:r>
          </a:p>
        </p:txBody>
      </p:sp>
      <p:sp>
        <p:nvSpPr>
          <p:cNvPr id="2" name="矩形 1"/>
          <p:cNvSpPr/>
          <p:nvPr/>
        </p:nvSpPr>
        <p:spPr>
          <a:xfrm>
            <a:off x="122684" y="944145"/>
            <a:ext cx="9021316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a(4, 5);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A:"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a.getX()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a.getY()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a.showCount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b(a);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B:"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b.getX()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b.getY()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b.showCount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2915816" y="1268760"/>
            <a:ext cx="1728192" cy="4308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latin typeface="宋体" pitchFamily="2" charset="-122"/>
              </a:rPr>
              <a:t> count=1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683568" y="1771655"/>
            <a:ext cx="172819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843808" y="2348880"/>
            <a:ext cx="1728192" cy="4308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latin typeface="宋体" pitchFamily="2" charset="-122"/>
              </a:rPr>
              <a:t> count=2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611560" y="2850614"/>
            <a:ext cx="172819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220072" y="3717032"/>
            <a:ext cx="2699142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Point A</a:t>
            </a:r>
            <a:r>
              <a:rPr lang="zh-CN" altLang="en-US" sz="2800" dirty="0">
                <a:solidFill>
                  <a:schemeClr val="bg1"/>
                </a:solidFill>
                <a:latin typeface="宋体" pitchFamily="2" charset="-122"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4,5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1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Point B: 4,5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035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591C477-131D-4AA1-90A4-CAAD2506A035}" type="slidenum">
              <a:rPr lang="en-US" altLang="zh-CN" sz="1400" smtClean="0"/>
              <a:pPr/>
              <a:t>44</a:t>
            </a:fld>
            <a:endParaRPr lang="en-US" altLang="zh-CN" sz="1400"/>
          </a:p>
        </p:txBody>
      </p:sp>
      <p:sp>
        <p:nvSpPr>
          <p:cNvPr id="6" name="矩形 5"/>
          <p:cNvSpPr/>
          <p:nvPr/>
        </p:nvSpPr>
        <p:spPr>
          <a:xfrm>
            <a:off x="251520" y="329743"/>
            <a:ext cx="5867714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=0,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=0):x(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),y(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count++; }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&amp;p);</a:t>
            </a:r>
          </a:p>
          <a:p>
            <a:pPr marL="355600"/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x; }</a:t>
            </a:r>
          </a:p>
          <a:p>
            <a:pPr marL="355600"/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y;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 void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 Object count="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x, y;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count;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::Point(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count++;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::count = 0;</a:t>
            </a:r>
            <a:endParaRPr lang="zh-CN" altLang="en-US" sz="20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683568" y="3501008"/>
            <a:ext cx="288032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1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796136" y="260648"/>
            <a:ext cx="3251094" cy="1622857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200" dirty="0"/>
              <a:t>将</a:t>
            </a:r>
            <a:r>
              <a:rPr lang="en-US" altLang="zh-CN" sz="3200" dirty="0"/>
              <a:t>Point</a:t>
            </a:r>
            <a:r>
              <a:rPr lang="zh-CN" altLang="en-US" sz="3200" dirty="0"/>
              <a:t>类的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 err="1">
                <a:latin typeface="宋体" pitchFamily="2" charset="-122"/>
              </a:rPr>
              <a:t>showCount</a:t>
            </a:r>
            <a:r>
              <a:rPr lang="en-US" altLang="zh-CN" sz="3200" dirty="0">
                <a:latin typeface="宋体" pitchFamily="2" charset="-122"/>
              </a:rPr>
              <a:t>()</a:t>
            </a:r>
            <a:r>
              <a:rPr lang="zh-CN" altLang="en-US" sz="3200" dirty="0">
                <a:latin typeface="宋体" pitchFamily="2" charset="-122"/>
              </a:rPr>
              <a:t>函数</a:t>
            </a:r>
            <a:r>
              <a:rPr lang="en-US" altLang="zh-CN" sz="3200" dirty="0">
                <a:latin typeface="宋体" pitchFamily="2" charset="-122"/>
              </a:rPr>
              <a:t/>
            </a:r>
            <a:br>
              <a:rPr lang="en-US" altLang="zh-CN" sz="3200" dirty="0">
                <a:latin typeface="宋体" pitchFamily="2" charset="-122"/>
              </a:rPr>
            </a:br>
            <a:r>
              <a:rPr lang="zh-CN" altLang="en-US" sz="3200" dirty="0">
                <a:latin typeface="宋体" pitchFamily="2" charset="-122"/>
              </a:rPr>
              <a:t>设为静态成员</a:t>
            </a:r>
            <a:r>
              <a:rPr lang="zh-CN" altLang="en-US" sz="3200" dirty="0"/>
              <a:t>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4499992" y="2991957"/>
            <a:ext cx="2339102" cy="437043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  <a:defRPr/>
            </a:pPr>
            <a:r>
              <a:rPr lang="zh-CN" altLang="en-US" sz="2800" dirty="0">
                <a:solidFill>
                  <a:prstClr val="black"/>
                </a:solidFill>
                <a:latin typeface="宋体" pitchFamily="2" charset="-122"/>
              </a:rPr>
              <a:t>静态成员函数</a:t>
            </a:r>
          </a:p>
        </p:txBody>
      </p:sp>
      <p:sp>
        <p:nvSpPr>
          <p:cNvPr id="21" name="矩形 20"/>
          <p:cNvSpPr/>
          <p:nvPr/>
        </p:nvSpPr>
        <p:spPr>
          <a:xfrm>
            <a:off x="395536" y="5013176"/>
            <a:ext cx="6445041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类外实现静态成员函数时：不写关键字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 </a:t>
            </a: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 Object count="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79512" y="3861048"/>
            <a:ext cx="756084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a(4, 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A:"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a.getX()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b(a);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B:"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b.getX()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000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683568" y="5157192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3568" y="6093296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987824" y="4869160"/>
            <a:ext cx="4104456" cy="1080120"/>
            <a:chOff x="2987824" y="4869160"/>
            <a:chExt cx="4104456" cy="1080120"/>
          </a:xfrm>
        </p:grpSpPr>
        <p:grpSp>
          <p:nvGrpSpPr>
            <p:cNvPr id="13" name="组合 12"/>
            <p:cNvGrpSpPr/>
            <p:nvPr/>
          </p:nvGrpSpPr>
          <p:grpSpPr>
            <a:xfrm>
              <a:off x="3185377" y="4869160"/>
              <a:ext cx="3906903" cy="461665"/>
              <a:chOff x="3905457" y="3933056"/>
              <a:chExt cx="3906903" cy="46166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5473258" y="3933056"/>
                <a:ext cx="2339102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 err="1">
                    <a:latin typeface="宋体" pitchFamily="2" charset="-122"/>
                  </a:rPr>
                  <a:t>a.showCount</a:t>
                </a:r>
                <a:r>
                  <a:rPr lang="en-US" altLang="zh-CN" sz="2400" dirty="0">
                    <a:latin typeface="宋体" pitchFamily="2" charset="-122"/>
                  </a:rPr>
                  <a:t>();</a:t>
                </a:r>
                <a:endParaRPr lang="zh-CN" altLang="en-US" sz="2400" dirty="0"/>
              </a:p>
            </p:txBody>
          </p:sp>
          <p:cxnSp>
            <p:nvCxnSpPr>
              <p:cNvPr id="15" name="直接箭头连接符 14"/>
              <p:cNvCxnSpPr/>
              <p:nvPr/>
            </p:nvCxnSpPr>
            <p:spPr>
              <a:xfrm flipH="1">
                <a:off x="3905457" y="4221088"/>
                <a:ext cx="1567801" cy="0"/>
              </a:xfrm>
              <a:prstGeom prst="straightConnector1">
                <a:avLst/>
              </a:prstGeom>
              <a:ln w="3810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直接箭头连接符 19"/>
            <p:cNvCxnSpPr/>
            <p:nvPr/>
          </p:nvCxnSpPr>
          <p:spPr>
            <a:xfrm flipH="1">
              <a:off x="2987824" y="5292209"/>
              <a:ext cx="1765354" cy="657071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1026"/>
          <p:cNvSpPr txBox="1">
            <a:spLocks noChangeArrowheads="1"/>
          </p:cNvSpPr>
          <p:nvPr/>
        </p:nvSpPr>
        <p:spPr>
          <a:xfrm>
            <a:off x="2542612" y="1991075"/>
            <a:ext cx="6601388" cy="1622857"/>
          </a:xfrm>
          <a:prstGeom prst="rect">
            <a:avLst/>
          </a:prstGeom>
          <a:solidFill>
            <a:srgbClr val="92D050"/>
          </a:solidFill>
        </p:spPr>
        <p:txBody>
          <a:bodyPr vert="horz" rtlCol="0" anchor="ctr">
            <a:normAutofit fontScale="975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algn="l"/>
            <a:r>
              <a:rPr lang="zh-CN" altLang="en-US" sz="2800" dirty="0">
                <a:latin typeface="+mn-ea"/>
                <a:ea typeface="+mn-ea"/>
              </a:rPr>
              <a:t>对</a:t>
            </a:r>
            <a:r>
              <a:rPr lang="en-US" altLang="zh-CN" sz="2800" dirty="0">
                <a:latin typeface="+mn-ea"/>
                <a:ea typeface="+mn-ea"/>
              </a:rPr>
              <a:t>public</a:t>
            </a:r>
            <a:r>
              <a:rPr lang="zh-CN" altLang="en-US" sz="2800" dirty="0">
                <a:latin typeface="+mn-ea"/>
                <a:ea typeface="+mn-ea"/>
              </a:rPr>
              <a:t>的静态成员的访问：</a:t>
            </a:r>
            <a:endParaRPr lang="en-US" altLang="zh-CN" sz="2800" dirty="0"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latin typeface="+mn-ea"/>
                <a:ea typeface="+mn-ea"/>
              </a:rPr>
              <a:t>可以通过类   </a:t>
            </a:r>
            <a:r>
              <a:rPr lang="en-US" altLang="zh-CN" sz="2800" dirty="0">
                <a:latin typeface="+mn-ea"/>
                <a:ea typeface="+mn-ea"/>
              </a:rPr>
              <a:t> Point::</a:t>
            </a:r>
            <a:r>
              <a:rPr lang="en-US" altLang="zh-CN" sz="2800" dirty="0" err="1">
                <a:latin typeface="+mn-ea"/>
                <a:ea typeface="+mn-ea"/>
              </a:rPr>
              <a:t>showCount</a:t>
            </a:r>
            <a:r>
              <a:rPr lang="en-US" altLang="zh-CN" sz="2800" dirty="0">
                <a:latin typeface="+mn-ea"/>
                <a:ea typeface="+mn-ea"/>
              </a:rPr>
              <a:t>();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zh-CN" altLang="en-US" sz="2800" dirty="0">
                <a:latin typeface="+mn-ea"/>
                <a:ea typeface="+mn-ea"/>
              </a:rPr>
              <a:t>也可以通过任何一个对象  </a:t>
            </a:r>
            <a:r>
              <a:rPr lang="en-US" altLang="zh-CN" sz="2800" dirty="0" err="1">
                <a:latin typeface="+mn-ea"/>
                <a:ea typeface="+mn-ea"/>
              </a:rPr>
              <a:t>a.showCount</a:t>
            </a:r>
            <a:r>
              <a:rPr lang="en-US" altLang="zh-CN" sz="2800" dirty="0">
                <a:latin typeface="+mn-ea"/>
                <a:ea typeface="+mn-ea"/>
              </a:rPr>
              <a:t>();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666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21" grpId="0" animBg="1"/>
      <p:bldP spid="10" grpId="0" animBg="1"/>
      <p:bldP spid="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76672"/>
            <a:ext cx="7992888" cy="648072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600" dirty="0"/>
              <a:t>类的静态成员的本质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051720" y="2967335"/>
            <a:ext cx="1872208" cy="3380894"/>
            <a:chOff x="2051720" y="2967335"/>
            <a:chExt cx="1872208" cy="3380894"/>
          </a:xfrm>
        </p:grpSpPr>
        <p:sp>
          <p:nvSpPr>
            <p:cNvPr id="5" name="矩形 4"/>
            <p:cNvSpPr/>
            <p:nvPr/>
          </p:nvSpPr>
          <p:spPr>
            <a:xfrm>
              <a:off x="2051720" y="2967335"/>
              <a:ext cx="1800200" cy="26219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2051720" y="3356992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051720" y="3789040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2051720" y="4221088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051720" y="4653136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2051720" y="5085184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411760" y="5517232"/>
              <a:ext cx="15121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    栈  </a:t>
              </a:r>
              <a:endParaRPr lang="en-US" altLang="zh-CN" sz="2400" dirty="0"/>
            </a:p>
            <a:p>
              <a:r>
                <a:rPr lang="en-US" altLang="zh-CN" sz="2400" dirty="0"/>
                <a:t>(</a:t>
              </a:r>
              <a:r>
                <a:rPr lang="zh-CN" altLang="en-US" sz="2400" dirty="0"/>
                <a:t>示意图</a:t>
              </a:r>
              <a:r>
                <a:rPr lang="en-US" altLang="zh-CN" sz="2400" dirty="0"/>
                <a:t>)</a:t>
              </a:r>
              <a:endParaRPr lang="zh-CN" altLang="en-US" sz="2400" dirty="0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55576" y="2895327"/>
            <a:ext cx="2880320" cy="2549897"/>
            <a:chOff x="755576" y="2895327"/>
            <a:chExt cx="2880320" cy="2549897"/>
          </a:xfrm>
        </p:grpSpPr>
        <p:grpSp>
          <p:nvGrpSpPr>
            <p:cNvPr id="49" name="组合 48"/>
            <p:cNvGrpSpPr/>
            <p:nvPr/>
          </p:nvGrpSpPr>
          <p:grpSpPr>
            <a:xfrm>
              <a:off x="2771800" y="2895327"/>
              <a:ext cx="864096" cy="2549897"/>
              <a:chOff x="2771800" y="2895327"/>
              <a:chExt cx="864096" cy="2549897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2771800" y="3255367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x</a:t>
                </a:r>
                <a:endParaRPr lang="zh-CN" altLang="en-US" sz="2400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71800" y="3687415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y</a:t>
                </a:r>
                <a:endParaRPr lang="zh-CN" altLang="en-US" sz="2400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771800" y="4221088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x</a:t>
                </a:r>
                <a:endParaRPr lang="zh-CN" altLang="en-US" sz="2400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771800" y="4653136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y</a:t>
                </a:r>
                <a:endParaRPr lang="zh-CN" altLang="en-US" sz="24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843808" y="2895327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843808" y="498355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755576" y="3356992"/>
              <a:ext cx="1368152" cy="864096"/>
              <a:chOff x="251520" y="2564904"/>
              <a:chExt cx="1368152" cy="864096"/>
            </a:xfrm>
          </p:grpSpPr>
          <p:sp>
            <p:nvSpPr>
              <p:cNvPr id="26" name="左大括号 25"/>
              <p:cNvSpPr/>
              <p:nvPr/>
            </p:nvSpPr>
            <p:spPr>
              <a:xfrm>
                <a:off x="1403648" y="2564904"/>
                <a:ext cx="144016" cy="864096"/>
              </a:xfrm>
              <a:prstGeom prst="leftBrace">
                <a:avLst/>
              </a:prstGeom>
              <a:ln w="38100"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51520" y="2751311"/>
                <a:ext cx="13681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Point  a</a:t>
                </a:r>
                <a:endParaRPr lang="zh-CN" altLang="en-US" sz="2400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755576" y="4221088"/>
              <a:ext cx="1368152" cy="864096"/>
              <a:chOff x="251520" y="2564904"/>
              <a:chExt cx="1368152" cy="864096"/>
            </a:xfrm>
          </p:grpSpPr>
          <p:sp>
            <p:nvSpPr>
              <p:cNvPr id="30" name="左大括号 29"/>
              <p:cNvSpPr/>
              <p:nvPr/>
            </p:nvSpPr>
            <p:spPr>
              <a:xfrm>
                <a:off x="1403648" y="2564904"/>
                <a:ext cx="144016" cy="864096"/>
              </a:xfrm>
              <a:prstGeom prst="leftBrace">
                <a:avLst/>
              </a:prstGeom>
              <a:ln w="38100"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51520" y="2751311"/>
                <a:ext cx="13681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Point  b</a:t>
                </a:r>
                <a:endParaRPr lang="zh-CN" altLang="en-US" sz="2400" dirty="0"/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4355976" y="1196753"/>
            <a:ext cx="3021760" cy="3999348"/>
            <a:chOff x="4355976" y="1196753"/>
            <a:chExt cx="3021760" cy="3999348"/>
          </a:xfrm>
        </p:grpSpPr>
        <p:grpSp>
          <p:nvGrpSpPr>
            <p:cNvPr id="42" name="组合 41"/>
            <p:cNvGrpSpPr/>
            <p:nvPr/>
          </p:nvGrpSpPr>
          <p:grpSpPr>
            <a:xfrm>
              <a:off x="4355976" y="1196753"/>
              <a:ext cx="3021760" cy="3081534"/>
              <a:chOff x="4355976" y="1196753"/>
              <a:chExt cx="3021760" cy="30815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4355976" y="1196753"/>
                <a:ext cx="3021760" cy="308153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>
                <a:off x="4355976" y="1628800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4355976" y="2060848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4355976" y="2492896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355976" y="2924944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355976" y="3356992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4355976" y="3789040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/>
            <p:cNvSpPr txBox="1"/>
            <p:nvPr/>
          </p:nvSpPr>
          <p:spPr>
            <a:xfrm>
              <a:off x="4860032" y="4365104"/>
              <a:ext cx="20162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代码内存区</a:t>
              </a:r>
              <a:r>
                <a:rPr lang="en-US" altLang="zh-CN" sz="2400" dirty="0"/>
                <a:t>(</a:t>
              </a:r>
              <a:r>
                <a:rPr lang="zh-CN" altLang="en-US" sz="2400" dirty="0"/>
                <a:t>示意图</a:t>
              </a:r>
              <a:r>
                <a:rPr lang="en-US" altLang="zh-CN" sz="2400" dirty="0"/>
                <a:t>)</a:t>
              </a:r>
              <a:endParaRPr lang="zh-CN" altLang="en-US" sz="2400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427984" y="1196752"/>
            <a:ext cx="3780420" cy="2981945"/>
            <a:chOff x="8208404" y="1196752"/>
            <a:chExt cx="3780420" cy="2981945"/>
          </a:xfrm>
        </p:grpSpPr>
        <p:sp>
          <p:nvSpPr>
            <p:cNvPr id="46" name="TextBox 45"/>
            <p:cNvSpPr txBox="1"/>
            <p:nvPr/>
          </p:nvSpPr>
          <p:spPr>
            <a:xfrm>
              <a:off x="8244408" y="1599183"/>
              <a:ext cx="33843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Point::Point(</a:t>
              </a:r>
              <a:r>
                <a:rPr lang="en-US" altLang="zh-CN" sz="2400" dirty="0" err="1"/>
                <a:t>int</a:t>
              </a:r>
              <a:r>
                <a:rPr lang="en-US" altLang="zh-CN" sz="2400" dirty="0"/>
                <a:t>, </a:t>
              </a:r>
              <a:r>
                <a:rPr lang="en-US" altLang="zh-CN" sz="2400" dirty="0" err="1"/>
                <a:t>int</a:t>
              </a:r>
              <a:r>
                <a:rPr lang="en-US" altLang="zh-CN" sz="2400" dirty="0"/>
                <a:t>)</a:t>
              </a:r>
              <a:endParaRPr lang="zh-CN" altLang="en-US" sz="24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3066" y="1196752"/>
              <a:ext cx="13295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003066" y="3717032"/>
              <a:ext cx="13295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208404" y="2031231"/>
              <a:ext cx="338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Point::Point(Point&amp;)</a:t>
              </a:r>
              <a:endParaRPr lang="zh-CN" altLang="en-US" sz="24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208404" y="2463279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</a:t>
              </a:r>
              <a:r>
                <a:rPr lang="en-US" altLang="zh-CN" sz="2400" dirty="0" err="1"/>
                <a:t>getX</a:t>
              </a:r>
              <a:r>
                <a:rPr lang="en-US" altLang="zh-CN" sz="2400" dirty="0"/>
                <a:t>()</a:t>
              </a:r>
              <a:endParaRPr lang="zh-CN" altLang="en-US" sz="24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208404" y="2895327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</a:t>
              </a:r>
              <a:r>
                <a:rPr lang="en-US" altLang="zh-CN" sz="2400" dirty="0" err="1"/>
                <a:t>getY</a:t>
              </a:r>
              <a:r>
                <a:rPr lang="en-US" altLang="zh-CN" sz="2400" dirty="0"/>
                <a:t>()</a:t>
              </a:r>
              <a:endParaRPr lang="zh-CN" altLang="en-US" sz="240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208404" y="3327375"/>
              <a:ext cx="3780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static Point::</a:t>
              </a:r>
              <a:r>
                <a:rPr lang="en-US" altLang="zh-CN" sz="2000" dirty="0" err="1"/>
                <a:t>showCount</a:t>
              </a:r>
              <a:r>
                <a:rPr lang="en-US" altLang="zh-CN" sz="2000" dirty="0"/>
                <a:t>()</a:t>
              </a:r>
              <a:endParaRPr lang="zh-CN" altLang="en-US" sz="2000" dirty="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0847" y="3918247"/>
            <a:ext cx="2092881" cy="2616389"/>
            <a:chOff x="30847" y="3918247"/>
            <a:chExt cx="2092881" cy="2616389"/>
          </a:xfrm>
        </p:grpSpPr>
        <p:sp>
          <p:nvSpPr>
            <p:cNvPr id="58" name="矩形 57"/>
            <p:cNvSpPr/>
            <p:nvPr/>
          </p:nvSpPr>
          <p:spPr>
            <a:xfrm>
              <a:off x="30847" y="5334307"/>
              <a:ext cx="2092881" cy="1200329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每个对象拥有</a:t>
              </a:r>
              <a:endParaRPr lang="en-US" altLang="zh-CN" sz="2400" dirty="0"/>
            </a:p>
            <a:p>
              <a:r>
                <a:rPr lang="zh-CN" altLang="en-US" sz="2400" dirty="0"/>
                <a:t>各自的</a:t>
              </a:r>
              <a:endParaRPr lang="en-US" altLang="zh-CN" sz="2400" dirty="0"/>
            </a:p>
            <a:p>
              <a:r>
                <a:rPr lang="zh-CN" altLang="en-US" sz="2400" dirty="0"/>
                <a:t>数据成员</a:t>
              </a:r>
            </a:p>
          </p:txBody>
        </p:sp>
        <p:cxnSp>
          <p:nvCxnSpPr>
            <p:cNvPr id="61" name="直接箭头连接符 60"/>
            <p:cNvCxnSpPr/>
            <p:nvPr/>
          </p:nvCxnSpPr>
          <p:spPr>
            <a:xfrm flipV="1">
              <a:off x="683568" y="4682753"/>
              <a:ext cx="720080" cy="62061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 flipV="1">
              <a:off x="526174" y="3918247"/>
              <a:ext cx="438737" cy="1381923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/>
          <p:cNvGrpSpPr/>
          <p:nvPr/>
        </p:nvGrpSpPr>
        <p:grpSpPr>
          <a:xfrm>
            <a:off x="80209" y="281959"/>
            <a:ext cx="2339102" cy="1667665"/>
            <a:chOff x="80209" y="281959"/>
            <a:chExt cx="2339102" cy="1667665"/>
          </a:xfrm>
        </p:grpSpPr>
        <p:sp>
          <p:nvSpPr>
            <p:cNvPr id="59" name="矩形 58"/>
            <p:cNvSpPr/>
            <p:nvPr/>
          </p:nvSpPr>
          <p:spPr>
            <a:xfrm>
              <a:off x="80209" y="281959"/>
              <a:ext cx="2339102" cy="83099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整个类拥有一份</a:t>
              </a:r>
              <a:endParaRPr lang="en-US" altLang="zh-CN" sz="2400" dirty="0"/>
            </a:p>
            <a:p>
              <a:r>
                <a:rPr lang="zh-CN" altLang="en-US" sz="2400" dirty="0"/>
                <a:t>静态数据成员</a:t>
              </a:r>
            </a:p>
          </p:txBody>
        </p:sp>
        <p:cxnSp>
          <p:nvCxnSpPr>
            <p:cNvPr id="64" name="直接箭头连接符 63"/>
            <p:cNvCxnSpPr>
              <a:endCxn id="60" idx="1"/>
            </p:cNvCxnSpPr>
            <p:nvPr/>
          </p:nvCxnSpPr>
          <p:spPr>
            <a:xfrm>
              <a:off x="933364" y="1184965"/>
              <a:ext cx="1118356" cy="76465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6948264" y="596587"/>
            <a:ext cx="2031325" cy="1771978"/>
            <a:chOff x="6948264" y="596587"/>
            <a:chExt cx="2031325" cy="1771978"/>
          </a:xfrm>
        </p:grpSpPr>
        <p:sp>
          <p:nvSpPr>
            <p:cNvPr id="70" name="矩形 69"/>
            <p:cNvSpPr/>
            <p:nvPr/>
          </p:nvSpPr>
          <p:spPr>
            <a:xfrm>
              <a:off x="6948264" y="596587"/>
              <a:ext cx="2031325" cy="83099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整个类拥有</a:t>
              </a:r>
              <a:endParaRPr lang="en-US" altLang="zh-CN" sz="2400" dirty="0"/>
            </a:p>
            <a:p>
              <a:r>
                <a:rPr lang="zh-CN" altLang="en-US" sz="2400" dirty="0"/>
                <a:t>一份成员函数</a:t>
              </a:r>
            </a:p>
          </p:txBody>
        </p:sp>
        <p:cxnSp>
          <p:nvCxnSpPr>
            <p:cNvPr id="71" name="直接箭头连接符 70"/>
            <p:cNvCxnSpPr/>
            <p:nvPr/>
          </p:nvCxnSpPr>
          <p:spPr>
            <a:xfrm flipH="1">
              <a:off x="7452320" y="1412776"/>
              <a:ext cx="684076" cy="95578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1691680" y="1334344"/>
            <a:ext cx="2376264" cy="1590600"/>
            <a:chOff x="1691680" y="1334344"/>
            <a:chExt cx="2376264" cy="159060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051720" y="1743199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051720" y="2175247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691680" y="2463279"/>
              <a:ext cx="2376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静态变量存储区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2051720" y="1334344"/>
              <a:ext cx="1800200" cy="12305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45542" y="1209526"/>
            <a:ext cx="2962362" cy="1283370"/>
            <a:chOff x="745542" y="1209526"/>
            <a:chExt cx="2962362" cy="1283370"/>
          </a:xfrm>
        </p:grpSpPr>
        <p:sp>
          <p:nvSpPr>
            <p:cNvPr id="19" name="TextBox 18"/>
            <p:cNvSpPr txBox="1"/>
            <p:nvPr/>
          </p:nvSpPr>
          <p:spPr>
            <a:xfrm>
              <a:off x="2411760" y="1713582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count</a:t>
              </a:r>
              <a:endParaRPr lang="zh-CN" altLang="en-US" sz="2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55776" y="1209526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699792" y="2031231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5542" y="1713581"/>
              <a:ext cx="1008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 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825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1944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类的每个对象都独立拥有自己的数据成员；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但整个类只拥有一份静态数据成员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（整个类也只拥有一份成员函数）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539552" y="2204864"/>
            <a:ext cx="6390456" cy="136850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静态成员是类的所有对象共享的</a:t>
            </a:r>
            <a:endParaRPr lang="en-US" altLang="zh-CN" sz="3200" dirty="0"/>
          </a:p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（成员函数也是所有对象共享的）</a:t>
            </a:r>
            <a:endParaRPr lang="en-US" altLang="zh-CN" sz="3200" dirty="0"/>
          </a:p>
        </p:txBody>
      </p:sp>
      <p:grpSp>
        <p:nvGrpSpPr>
          <p:cNvPr id="8" name="组合 7"/>
          <p:cNvGrpSpPr/>
          <p:nvPr/>
        </p:nvGrpSpPr>
        <p:grpSpPr>
          <a:xfrm>
            <a:off x="467544" y="3645024"/>
            <a:ext cx="7776864" cy="2242120"/>
            <a:chOff x="467544" y="3645024"/>
            <a:chExt cx="7776864" cy="2242120"/>
          </a:xfrm>
        </p:grpSpPr>
        <p:sp>
          <p:nvSpPr>
            <p:cNvPr id="7" name="矩形 6"/>
            <p:cNvSpPr/>
            <p:nvPr/>
          </p:nvSpPr>
          <p:spPr>
            <a:xfrm>
              <a:off x="467544" y="3645024"/>
              <a:ext cx="7776864" cy="1080120"/>
            </a:xfrm>
            <a:prstGeom prst="rect">
              <a:avLst/>
            </a:prstGeom>
          </p:spPr>
          <p:txBody>
            <a:bodyPr vert="horz" rtlCol="0">
              <a:noAutofit/>
            </a:bodyPr>
            <a:lstStyle/>
            <a:p>
              <a: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</a:pPr>
              <a:r>
                <a:rPr lang="zh-CN" altLang="en-US" sz="3200" dirty="0"/>
                <a:t>静态数据成员不是由构造函数创建的</a:t>
              </a:r>
              <a:endParaRPr lang="en-US" altLang="zh-CN" sz="3200" dirty="0"/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</a:pPr>
              <a:r>
                <a:rPr lang="zh-CN" altLang="en-US" sz="3200" dirty="0"/>
                <a:t>是由变量定义语句创建的：</a:t>
              </a:r>
              <a:endParaRPr lang="en-US" altLang="zh-CN" sz="3200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1191200" y="4725144"/>
              <a:ext cx="323678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static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 </a:t>
              </a:r>
              <a:r>
                <a:rPr lang="en-US" altLang="zh-CN" sz="2800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int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 count;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1187624" y="5363924"/>
              <a:ext cx="395492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int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 </a:t>
              </a:r>
              <a:r>
                <a:rPr lang="en-US" altLang="zh-CN" sz="2800" dirty="0">
                  <a:solidFill>
                    <a:srgbClr val="2B91A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Point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::count = 0;</a:t>
              </a:r>
              <a:endParaRPr lang="zh-CN" altLang="en-US" sz="28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5652120" y="544086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创建</a:t>
            </a:r>
          </a:p>
        </p:txBody>
      </p:sp>
    </p:spTree>
    <p:extLst>
      <p:ext uri="{BB962C8B-B14F-4D97-AF65-F5344CB8AC3E}">
        <p14:creationId xmlns:p14="http://schemas.microsoft.com/office/powerpoint/2010/main" val="427546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23528" y="2636912"/>
            <a:ext cx="8568952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+mn-ea"/>
              </a:rPr>
              <a:t>static</a:t>
            </a:r>
            <a:r>
              <a:rPr lang="zh-CN" altLang="en-US" dirty="0">
                <a:latin typeface="+mn-ea"/>
              </a:rPr>
              <a:t>成员函数 与 普通（非</a:t>
            </a:r>
            <a:r>
              <a:rPr lang="en-US" altLang="zh-CN" dirty="0">
                <a:latin typeface="+mn-ea"/>
              </a:rPr>
              <a:t>static</a:t>
            </a:r>
            <a:r>
              <a:rPr lang="zh-CN" altLang="en-US" dirty="0">
                <a:latin typeface="+mn-ea"/>
              </a:rPr>
              <a:t>）成员函数 的 不同：</a:t>
            </a:r>
            <a:endParaRPr lang="en-US" altLang="zh-CN" dirty="0">
              <a:latin typeface="+mn-ea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+mn-ea"/>
              </a:rPr>
              <a:t>  普通成员函数有 </a:t>
            </a:r>
            <a:r>
              <a:rPr lang="en-US" altLang="zh-CN" dirty="0">
                <a:latin typeface="+mn-ea"/>
              </a:rPr>
              <a:t>this </a:t>
            </a:r>
            <a:r>
              <a:rPr lang="zh-CN" altLang="en-US" dirty="0">
                <a:latin typeface="+mn-ea"/>
              </a:rPr>
              <a:t>指针</a:t>
            </a:r>
            <a:endParaRPr lang="en-US" altLang="zh-CN" dirty="0">
              <a:latin typeface="+mn-ea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+mn-ea"/>
              </a:rPr>
              <a:t>  static</a:t>
            </a:r>
            <a:r>
              <a:rPr lang="zh-CN" altLang="en-US" dirty="0">
                <a:latin typeface="+mn-ea"/>
              </a:rPr>
              <a:t>成员函数 没有 </a:t>
            </a:r>
            <a:r>
              <a:rPr lang="en-US" altLang="zh-CN" dirty="0">
                <a:latin typeface="+mn-ea"/>
              </a:rPr>
              <a:t>this </a:t>
            </a:r>
            <a:r>
              <a:rPr lang="zh-CN" altLang="en-US" dirty="0">
                <a:latin typeface="+mn-ea"/>
              </a:rPr>
              <a:t>指针</a:t>
            </a:r>
            <a:endParaRPr kumimoji="0" lang="zh-CN" altLang="en-US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6104" y="908720"/>
            <a:ext cx="8196336" cy="1296144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>
                <a:latin typeface="+mn-ea"/>
              </a:rPr>
              <a:t>对普通成员的访问需要当前对象（</a:t>
            </a:r>
            <a:r>
              <a:rPr lang="en-US" altLang="zh-CN" sz="3200" dirty="0">
                <a:latin typeface="+mn-ea"/>
              </a:rPr>
              <a:t>*this</a:t>
            </a:r>
            <a:r>
              <a:rPr lang="zh-CN" altLang="en-US" sz="3200" dirty="0">
                <a:latin typeface="+mn-ea"/>
              </a:rPr>
              <a:t>）</a:t>
            </a:r>
            <a:endParaRPr lang="en-US" altLang="zh-CN" sz="3200" dirty="0">
              <a:latin typeface="+mn-ea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>
                <a:latin typeface="+mn-ea"/>
              </a:rPr>
              <a:t>对静态成员的访问不需要当前对象</a:t>
            </a:r>
            <a:endParaRPr lang="en-US" altLang="zh-CN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347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5496" y="329743"/>
            <a:ext cx="5554861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=0,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=0):x(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),y(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count++; }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&amp;p);</a:t>
            </a:r>
          </a:p>
          <a:p>
            <a:pPr marL="355600"/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x; }</a:t>
            </a:r>
          </a:p>
          <a:p>
            <a:pPr marL="355600"/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y;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 void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"Object count="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x, y;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count;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::Point(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count++;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::count = 0;</a:t>
            </a:r>
            <a:endParaRPr lang="zh-CN" altLang="en-US" sz="2000" dirty="0"/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1619672" y="116632"/>
            <a:ext cx="7488834" cy="369974"/>
          </a:xfrm>
          <a:prstGeom prst="rect">
            <a:avLst/>
          </a:prstGeom>
          <a:solidFill>
            <a:srgbClr val="FF9900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latin typeface="Times New Roman" pitchFamily="18" charset="0"/>
              </a:rPr>
              <a:t>对于非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成员函数，编译器改变其定义，额外的</a:t>
            </a:r>
            <a:r>
              <a:rPr lang="en-US" altLang="zh-CN" sz="1800" b="1" dirty="0">
                <a:latin typeface="Times New Roman" pitchFamily="18" charset="0"/>
              </a:rPr>
              <a:t>this</a:t>
            </a:r>
            <a:r>
              <a:rPr lang="zh-CN" altLang="en-US" sz="1800" b="1" dirty="0">
                <a:latin typeface="Times New Roman" pitchFamily="18" charset="0"/>
              </a:rPr>
              <a:t>指针指向当前对象。</a:t>
            </a:r>
            <a:endParaRPr lang="en-US" altLang="zh-CN" sz="1800" b="1" dirty="0">
              <a:latin typeface="Times New Roman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835696" y="976018"/>
            <a:ext cx="7272810" cy="4939064"/>
            <a:chOff x="-3636912" y="976018"/>
            <a:chExt cx="7272810" cy="4939064"/>
          </a:xfrm>
        </p:grpSpPr>
        <p:sp>
          <p:nvSpPr>
            <p:cNvPr id="105477" name="Text Box 5"/>
            <p:cNvSpPr txBox="1">
              <a:spLocks noChangeArrowheads="1"/>
            </p:cNvSpPr>
            <p:nvPr/>
          </p:nvSpPr>
          <p:spPr bwMode="auto">
            <a:xfrm>
              <a:off x="-180528" y="976018"/>
              <a:ext cx="3672408" cy="203196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itchFamily="18" charset="2"/>
                <a:buChar char=""/>
                <a:defRPr sz="3200">
                  <a:solidFill>
                    <a:schemeClr val="tx1"/>
                  </a:solidFill>
                  <a:latin typeface="Cambria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itchFamily="18" charset="2"/>
                <a:buChar char="³"/>
                <a:defRPr sz="2800">
                  <a:solidFill>
                    <a:schemeClr val="tx1"/>
                  </a:solidFill>
                  <a:latin typeface="Cambria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itchFamily="18" charset="2"/>
                <a:buChar char="®"/>
                <a:defRPr sz="2400">
                  <a:solidFill>
                    <a:schemeClr val="tx1"/>
                  </a:solidFill>
                  <a:latin typeface="Cambria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itchFamily="18" charset="2"/>
                <a:buChar char="¯"/>
                <a:defRPr sz="2000">
                  <a:solidFill>
                    <a:schemeClr val="tx1"/>
                  </a:solidFill>
                  <a:latin typeface="Cambria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inline Point(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 *this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,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 xx,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yy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):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 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x(xx),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 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y(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yy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) { </a:t>
              </a:r>
              <a:r>
                <a:rPr lang="en-US" altLang="zh-CN" sz="1800" dirty="0">
                  <a:solidFill>
                    <a:schemeClr val="tx2"/>
                  </a:solidFill>
                  <a:latin typeface="Times New Roman" pitchFamily="18" charset="0"/>
                </a:rPr>
                <a:t>count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++; }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inline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getx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 *this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)</a:t>
              </a:r>
            </a:p>
            <a:p>
              <a:pPr eaLnBrk="1" hangingPunct="1"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{return 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this-&gt;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x;}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inline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gety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 *this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)</a:t>
              </a:r>
            </a:p>
            <a:p>
              <a:pPr eaLnBrk="1" hangingPunct="1"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{return 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this-&gt;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y;}</a:t>
              </a:r>
            </a:p>
          </p:txBody>
        </p:sp>
        <p:sp>
          <p:nvSpPr>
            <p:cNvPr id="105480" name="Text Box 8"/>
            <p:cNvSpPr txBox="1">
              <a:spLocks noChangeArrowheads="1"/>
            </p:cNvSpPr>
            <p:nvPr/>
          </p:nvSpPr>
          <p:spPr bwMode="auto">
            <a:xfrm>
              <a:off x="-180749" y="4437112"/>
              <a:ext cx="3816647" cy="147797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kumimoji="1" sz="26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kumimoji="1" sz="24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9pPr>
            </a:lstStyle>
            <a:p>
              <a:pPr>
                <a:spcBef>
                  <a:spcPts val="180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Point::Point(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Point* 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, Point &amp;p)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{  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x =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p.x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;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    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y =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p.y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;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chemeClr val="tx2"/>
                  </a:solidFill>
                  <a:latin typeface="Times New Roman" pitchFamily="18" charset="0"/>
                </a:rPr>
                <a:t>    count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++;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105481" name="Line 9"/>
            <p:cNvSpPr>
              <a:spLocks noChangeShapeType="1"/>
            </p:cNvSpPr>
            <p:nvPr/>
          </p:nvSpPr>
          <p:spPr bwMode="auto">
            <a:xfrm flipV="1">
              <a:off x="-396551" y="1118270"/>
              <a:ext cx="215800" cy="0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482" name="Line 10"/>
            <p:cNvSpPr>
              <a:spLocks noChangeShapeType="1"/>
            </p:cNvSpPr>
            <p:nvPr/>
          </p:nvSpPr>
          <p:spPr bwMode="auto">
            <a:xfrm flipV="1">
              <a:off x="-3636912" y="1916832"/>
              <a:ext cx="3456161" cy="216024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483" name="Line 11"/>
            <p:cNvSpPr>
              <a:spLocks noChangeShapeType="1"/>
            </p:cNvSpPr>
            <p:nvPr/>
          </p:nvSpPr>
          <p:spPr bwMode="auto">
            <a:xfrm flipV="1">
              <a:off x="-3636912" y="2564904"/>
              <a:ext cx="3456383" cy="144016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488" name="Line 16"/>
            <p:cNvSpPr>
              <a:spLocks noChangeShapeType="1"/>
            </p:cNvSpPr>
            <p:nvPr/>
          </p:nvSpPr>
          <p:spPr bwMode="auto">
            <a:xfrm flipV="1">
              <a:off x="-2556792" y="4581128"/>
              <a:ext cx="2376265" cy="553144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5651994" y="548680"/>
            <a:ext cx="3168478" cy="36997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成员函数没有</a:t>
            </a:r>
            <a:r>
              <a:rPr lang="en-US" altLang="zh-CN" sz="1800" b="1" dirty="0">
                <a:latin typeface="Times New Roman" pitchFamily="18" charset="0"/>
              </a:rPr>
              <a:t>this</a:t>
            </a:r>
            <a:r>
              <a:rPr lang="zh-CN" altLang="en-US" sz="1800" b="1" dirty="0">
                <a:latin typeface="Times New Roman" pitchFamily="18" charset="0"/>
              </a:rPr>
              <a:t>指针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20097" y="2996952"/>
            <a:ext cx="4896319" cy="936104"/>
            <a:chOff x="3420097" y="2996952"/>
            <a:chExt cx="4896319" cy="936104"/>
          </a:xfrm>
        </p:grpSpPr>
        <p:sp>
          <p:nvSpPr>
            <p:cNvPr id="105484" name="Line 12"/>
            <p:cNvSpPr>
              <a:spLocks noChangeShapeType="1"/>
            </p:cNvSpPr>
            <p:nvPr/>
          </p:nvSpPr>
          <p:spPr bwMode="auto">
            <a:xfrm flipV="1">
              <a:off x="3420097" y="3212976"/>
              <a:ext cx="1871983" cy="72008"/>
            </a:xfrm>
            <a:prstGeom prst="line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5292080" y="2996952"/>
              <a:ext cx="3024336" cy="936104"/>
              <a:chOff x="9217024" y="2996952"/>
              <a:chExt cx="3024336" cy="936104"/>
            </a:xfrm>
          </p:grpSpPr>
          <p:sp>
            <p:nvSpPr>
              <p:cNvPr id="24" name="Text Box 5"/>
              <p:cNvSpPr txBox="1">
                <a:spLocks noChangeArrowheads="1"/>
              </p:cNvSpPr>
              <p:nvPr/>
            </p:nvSpPr>
            <p:spPr bwMode="auto">
              <a:xfrm>
                <a:off x="9217024" y="3009084"/>
                <a:ext cx="3024336" cy="92397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 2" pitchFamily="18" charset="2"/>
                  <a:buChar char=""/>
                  <a:defRPr sz="3200">
                    <a:solidFill>
                      <a:schemeClr val="tx1"/>
                    </a:solidFill>
                    <a:latin typeface="Cambria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50000"/>
                  <a:buFont typeface="Wingdings 2" pitchFamily="18" charset="2"/>
                  <a:buChar char="³"/>
                  <a:defRPr sz="2800">
                    <a:solidFill>
                      <a:schemeClr val="tx1"/>
                    </a:solidFill>
                    <a:latin typeface="Cambria" pitchFamily="18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7B9B57"/>
                  </a:buClr>
                  <a:buSzPct val="60000"/>
                  <a:buFont typeface="Wingdings 2" pitchFamily="18" charset="2"/>
                  <a:buChar char="®"/>
                  <a:defRPr sz="2400">
                    <a:solidFill>
                      <a:schemeClr val="tx1"/>
                    </a:solidFill>
                    <a:latin typeface="Cambria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B7396"/>
                  </a:buClr>
                  <a:buSzPct val="45000"/>
                  <a:buFont typeface="Wingdings 2" pitchFamily="18" charset="2"/>
                  <a:buChar char="¯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inline static void 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showCount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()</a:t>
                </a:r>
              </a:p>
              <a:p>
                <a:pPr eaLnBrk="1" hangingPunct="1">
                  <a:spcBef>
                    <a:spcPts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{  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cout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&lt;&lt;"Object count="</a:t>
                </a:r>
              </a:p>
              <a:p>
                <a:pPr eaLnBrk="1" hangingPunct="1">
                  <a:spcBef>
                    <a:spcPts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   &lt;&lt; </a:t>
                </a:r>
                <a:r>
                  <a:rPr lang="en-US" altLang="zh-CN" sz="1800" dirty="0">
                    <a:solidFill>
                      <a:schemeClr val="tx2"/>
                    </a:solidFill>
                    <a:latin typeface="Times New Roman" pitchFamily="18" charset="0"/>
                  </a:rPr>
                  <a:t>count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&lt;&lt;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endl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;  }</a:t>
                </a: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9252520" y="2996952"/>
                <a:ext cx="2988840" cy="90852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107504" y="4437112"/>
            <a:ext cx="7110536" cy="2420888"/>
            <a:chOff x="107504" y="4437112"/>
            <a:chExt cx="7110536" cy="2420888"/>
          </a:xfrm>
        </p:grpSpPr>
        <p:grpSp>
          <p:nvGrpSpPr>
            <p:cNvPr id="13" name="组合 12"/>
            <p:cNvGrpSpPr/>
            <p:nvPr/>
          </p:nvGrpSpPr>
          <p:grpSpPr>
            <a:xfrm>
              <a:off x="2843809" y="6340616"/>
              <a:ext cx="4374231" cy="400752"/>
              <a:chOff x="2843809" y="6340616"/>
              <a:chExt cx="4374231" cy="40075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4860032" y="6340616"/>
                <a:ext cx="2358008" cy="400752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kumimoji="1" lang="zh-CN" altLang="en-US" sz="2000" dirty="0">
                    <a:solidFill>
                      <a:schemeClr val="tx2"/>
                    </a:solidFill>
                    <a:latin typeface="Times New Roman" pitchFamily="18" charset="0"/>
                    <a:ea typeface="宋体" pitchFamily="2" charset="-122"/>
                  </a:rPr>
                  <a:t>创建</a:t>
                </a:r>
                <a:r>
                  <a:rPr kumimoji="1" lang="en-US" altLang="zh-CN" sz="2000" dirty="0">
                    <a:solidFill>
                      <a:schemeClr val="tx2"/>
                    </a:solidFill>
                    <a:latin typeface="Times New Roman" pitchFamily="18" charset="0"/>
                    <a:ea typeface="宋体" pitchFamily="2" charset="-122"/>
                  </a:rPr>
                  <a:t>static</a:t>
                </a:r>
                <a:r>
                  <a:rPr kumimoji="1" lang="zh-CN" altLang="en-US" sz="2000" dirty="0">
                    <a:solidFill>
                      <a:schemeClr val="tx2"/>
                    </a:solidFill>
                    <a:latin typeface="Times New Roman" pitchFamily="18" charset="0"/>
                    <a:ea typeface="宋体" pitchFamily="2" charset="-122"/>
                  </a:rPr>
                  <a:t>数据成员</a:t>
                </a:r>
                <a:endParaRPr kumimoji="1"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2" name="Line 16"/>
              <p:cNvSpPr>
                <a:spLocks noChangeShapeType="1"/>
              </p:cNvSpPr>
              <p:nvPr/>
            </p:nvSpPr>
            <p:spPr bwMode="auto">
              <a:xfrm flipV="1">
                <a:off x="2843809" y="6540992"/>
                <a:ext cx="2016224" cy="128368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07504" y="4437112"/>
              <a:ext cx="2705422" cy="2420888"/>
              <a:chOff x="107504" y="4437112"/>
              <a:chExt cx="2705422" cy="2420888"/>
            </a:xfrm>
          </p:grpSpPr>
          <p:sp>
            <p:nvSpPr>
              <p:cNvPr id="16" name="圆角矩形 15"/>
              <p:cNvSpPr/>
              <p:nvPr/>
            </p:nvSpPr>
            <p:spPr>
              <a:xfrm>
                <a:off x="323528" y="4437112"/>
                <a:ext cx="2376264" cy="2880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107504" y="6525344"/>
                <a:ext cx="2705422" cy="33265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6" name="圆角矩形 25"/>
          <p:cNvSpPr/>
          <p:nvPr/>
        </p:nvSpPr>
        <p:spPr>
          <a:xfrm>
            <a:off x="475927" y="3140968"/>
            <a:ext cx="2944169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1874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5476" grpId="0" animBg="1"/>
      <p:bldP spid="28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2262922"/>
            <a:ext cx="4283968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a(4,5);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A:"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a.getX()</a:t>
            </a:r>
          </a:p>
          <a:p>
            <a:pPr marL="441325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b(a);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B:"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b.getX()</a:t>
            </a:r>
          </a:p>
          <a:p>
            <a:pPr marL="441325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000" dirty="0"/>
          </a:p>
        </p:txBody>
      </p:sp>
      <p:sp>
        <p:nvSpPr>
          <p:cNvPr id="105485" name="Rectangle 13"/>
          <p:cNvSpPr>
            <a:spLocks noChangeArrowheads="1"/>
          </p:cNvSpPr>
          <p:nvPr/>
        </p:nvSpPr>
        <p:spPr bwMode="auto">
          <a:xfrm>
            <a:off x="251520" y="476672"/>
            <a:ext cx="8712968" cy="646973"/>
          </a:xfrm>
          <a:prstGeom prst="rect">
            <a:avLst/>
          </a:prstGeom>
          <a:solidFill>
            <a:srgbClr val="FF9900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latin typeface="Times New Roman" pitchFamily="18" charset="0"/>
              </a:rPr>
              <a:t>对于非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成员函数，编译器改变其调用，加上一个额外的实参，即被调用对象的地址。</a:t>
            </a:r>
            <a:endParaRPr lang="en-US" altLang="zh-CN" sz="1800" b="1" dirty="0">
              <a:latin typeface="Times New Roman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07704" y="2428330"/>
            <a:ext cx="6912768" cy="2368822"/>
            <a:chOff x="1907704" y="2428330"/>
            <a:chExt cx="6912768" cy="2368822"/>
          </a:xfrm>
        </p:grpSpPr>
        <p:grpSp>
          <p:nvGrpSpPr>
            <p:cNvPr id="6" name="组合 5"/>
            <p:cNvGrpSpPr/>
            <p:nvPr/>
          </p:nvGrpSpPr>
          <p:grpSpPr>
            <a:xfrm>
              <a:off x="1907704" y="2428330"/>
              <a:ext cx="6912768" cy="2368822"/>
              <a:chOff x="1907704" y="2428330"/>
              <a:chExt cx="6912768" cy="2368822"/>
            </a:xfrm>
          </p:grpSpPr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 flipV="1">
                <a:off x="2987824" y="3259221"/>
                <a:ext cx="3453009" cy="169779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907704" y="2428330"/>
                <a:ext cx="6912768" cy="2368822"/>
                <a:chOff x="1979712" y="2428330"/>
                <a:chExt cx="6912768" cy="2368822"/>
              </a:xfrm>
            </p:grpSpPr>
            <p:sp>
              <p:nvSpPr>
                <p:cNvPr id="10547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716909" y="2428330"/>
                  <a:ext cx="2447379" cy="366712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Point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&amp;a 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, 4, 5)        </a:t>
                  </a:r>
                </a:p>
              </p:txBody>
            </p:sp>
            <p:sp>
              <p:nvSpPr>
                <p:cNvPr id="10548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267744" y="2612480"/>
                  <a:ext cx="2376140" cy="182562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488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779912" y="3058418"/>
                  <a:ext cx="288032" cy="82550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067944" y="2918272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getX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&amp;a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1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444208" y="2924944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getY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&amp;a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2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859784" y="3861048"/>
                  <a:ext cx="1458410" cy="366712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Point(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&amp;b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, a)        </a:t>
                  </a:r>
                </a:p>
              </p:txBody>
            </p:sp>
            <p:sp>
              <p:nvSpPr>
                <p:cNvPr id="2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283968" y="4276490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getX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&amp;b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22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660232" y="4427178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getY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&amp;b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979712" y="4001859"/>
                  <a:ext cx="2808312" cy="35873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Line 15"/>
                <p:cNvSpPr>
                  <a:spLocks noChangeShapeType="1"/>
                </p:cNvSpPr>
                <p:nvPr/>
              </p:nvSpPr>
              <p:spPr bwMode="auto">
                <a:xfrm>
                  <a:off x="3815978" y="4283162"/>
                  <a:ext cx="395858" cy="121282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V="1">
              <a:off x="2996331" y="4653136"/>
              <a:ext cx="3663901" cy="0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843932" y="3429000"/>
            <a:ext cx="4860416" cy="1872208"/>
            <a:chOff x="2843932" y="3429000"/>
            <a:chExt cx="4860416" cy="1872208"/>
          </a:xfrm>
        </p:grpSpPr>
        <p:grpSp>
          <p:nvGrpSpPr>
            <p:cNvPr id="8" name="组合 7"/>
            <p:cNvGrpSpPr/>
            <p:nvPr/>
          </p:nvGrpSpPr>
          <p:grpSpPr>
            <a:xfrm>
              <a:off x="2843932" y="3429000"/>
              <a:ext cx="4860416" cy="1872208"/>
              <a:chOff x="2843932" y="3429000"/>
              <a:chExt cx="4860416" cy="1872208"/>
            </a:xfrm>
          </p:grpSpPr>
          <p:sp>
            <p:nvSpPr>
              <p:cNvPr id="19" name="Text Box 7"/>
              <p:cNvSpPr txBox="1">
                <a:spLocks noChangeArrowheads="1"/>
              </p:cNvSpPr>
              <p:nvPr/>
            </p:nvSpPr>
            <p:spPr bwMode="auto">
              <a:xfrm>
                <a:off x="4788024" y="3429000"/>
                <a:ext cx="2916324" cy="36671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itchFamily="18" charset="2"/>
                  <a:buChar char=""/>
                  <a:defRPr kumimoji="1" sz="26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itchFamily="18" charset="2"/>
                  <a:buChar char=""/>
                  <a:defRPr kumimoji="1" sz="24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itchFamily="18" charset="2"/>
                  <a:buChar char="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itchFamily="18" charset="2"/>
                  <a:buChar char="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inline void 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showCount</a:t>
                </a:r>
                <a:r>
                  <a:rPr lang="en-US" altLang="zh-CN" sz="1800" dirty="0">
                    <a:solidFill>
                      <a:schemeClr val="bg2">
                        <a:lumMod val="25000"/>
                      </a:schemeClr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)        </a:t>
                </a: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2843932" y="3429000"/>
                <a:ext cx="4860416" cy="1872208"/>
                <a:chOff x="2843932" y="3429000"/>
                <a:chExt cx="4860416" cy="1872208"/>
              </a:xfrm>
            </p:grpSpPr>
            <p:sp>
              <p:nvSpPr>
                <p:cNvPr id="2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788024" y="4934496"/>
                  <a:ext cx="2916324" cy="366712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void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showCount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</a:t>
                  </a:r>
                </a:p>
              </p:txBody>
            </p:sp>
            <p:sp>
              <p:nvSpPr>
                <p:cNvPr id="26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843932" y="3612356"/>
                  <a:ext cx="1944092" cy="104676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Line 15"/>
                <p:cNvSpPr>
                  <a:spLocks noChangeShapeType="1"/>
                </p:cNvSpPr>
                <p:nvPr/>
              </p:nvSpPr>
              <p:spPr bwMode="auto">
                <a:xfrm>
                  <a:off x="2987823" y="4977302"/>
                  <a:ext cx="1729085" cy="151005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圆角矩形 30"/>
                <p:cNvSpPr/>
                <p:nvPr/>
              </p:nvSpPr>
              <p:spPr>
                <a:xfrm>
                  <a:off x="4788024" y="3429000"/>
                  <a:ext cx="2772308" cy="36671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2" name="圆角矩形 31"/>
            <p:cNvSpPr/>
            <p:nvPr/>
          </p:nvSpPr>
          <p:spPr>
            <a:xfrm>
              <a:off x="4788024" y="4955406"/>
              <a:ext cx="2772308" cy="34580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51520" y="1196752"/>
            <a:ext cx="8712968" cy="36997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latin typeface="Times New Roman" pitchFamily="18" charset="0"/>
              </a:rPr>
              <a:t>对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成员函数的调用，则不增加这个额外的实参。（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函数本来就没有</a:t>
            </a:r>
            <a:r>
              <a:rPr lang="en-US" altLang="zh-CN" sz="1800" b="1" dirty="0">
                <a:latin typeface="Times New Roman" pitchFamily="18" charset="0"/>
              </a:rPr>
              <a:t>this</a:t>
            </a:r>
            <a:r>
              <a:rPr lang="zh-CN" altLang="en-US" sz="1800" b="1" dirty="0">
                <a:latin typeface="Times New Roman" pitchFamily="18" charset="0"/>
              </a:rPr>
              <a:t>参数）</a:t>
            </a:r>
          </a:p>
        </p:txBody>
      </p:sp>
    </p:spTree>
    <p:extLst>
      <p:ext uri="{BB962C8B-B14F-4D97-AF65-F5344CB8AC3E}">
        <p14:creationId xmlns:p14="http://schemas.microsoft.com/office/powerpoint/2010/main" val="12244755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5485" grpId="0" animBg="1"/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729048" y="3840914"/>
            <a:ext cx="294034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::f(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&lt;&lt; x;</a:t>
            </a:r>
          </a:p>
          <a:p>
            <a:pPr marL="533400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&lt;&lt; </a:t>
            </a:r>
            <a:r>
              <a:rPr lang="en-US" altLang="zh-CN" sz="24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.x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755576" y="1405220"/>
            <a:ext cx="3672408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f(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a);</a:t>
            </a: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x;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静态成员函数举例</a:t>
            </a:r>
            <a:r>
              <a:rPr lang="en-US" altLang="zh-CN" dirty="0"/>
              <a:t>:</a:t>
            </a:r>
            <a:r>
              <a:rPr lang="zh-CN" altLang="en-US" dirty="0"/>
              <a:t>易错情况</a:t>
            </a:r>
          </a:p>
        </p:txBody>
      </p:sp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360EFAA-8A2B-4B64-ADA0-A34D44558BCC}" type="slidenum">
              <a:rPr lang="en-US" altLang="zh-CN" sz="1400" smtClean="0"/>
              <a:pPr/>
              <a:t>50</a:t>
            </a:fld>
            <a:endParaRPr lang="en-US" altLang="zh-CN" sz="1400"/>
          </a:p>
        </p:txBody>
      </p:sp>
      <p:grpSp>
        <p:nvGrpSpPr>
          <p:cNvPr id="15" name="组合 14"/>
          <p:cNvGrpSpPr/>
          <p:nvPr/>
        </p:nvGrpSpPr>
        <p:grpSpPr>
          <a:xfrm>
            <a:off x="2843808" y="4365104"/>
            <a:ext cx="216024" cy="260640"/>
            <a:chOff x="7560332" y="4581128"/>
            <a:chExt cx="252028" cy="288032"/>
          </a:xfrm>
        </p:grpSpPr>
        <p:cxnSp>
          <p:nvCxnSpPr>
            <p:cNvPr id="3" name="直接连接符 2"/>
            <p:cNvCxnSpPr/>
            <p:nvPr/>
          </p:nvCxnSpPr>
          <p:spPr>
            <a:xfrm flipH="1">
              <a:off x="7560332" y="4581128"/>
              <a:ext cx="252028" cy="28803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7560332" y="4581128"/>
              <a:ext cx="252028" cy="28803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059832" y="4815357"/>
            <a:ext cx="360040" cy="341835"/>
            <a:chOff x="4716016" y="5013176"/>
            <a:chExt cx="576064" cy="432048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4716016" y="5229200"/>
              <a:ext cx="144016" cy="21602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4860032" y="5013176"/>
              <a:ext cx="432048" cy="43204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椭圆 9"/>
          <p:cNvSpPr/>
          <p:nvPr/>
        </p:nvSpPr>
        <p:spPr>
          <a:xfrm>
            <a:off x="1187624" y="2204864"/>
            <a:ext cx="1080120" cy="432048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3419872" y="3933056"/>
            <a:ext cx="5760640" cy="707886"/>
            <a:chOff x="3419872" y="3711427"/>
            <a:chExt cx="5760640" cy="707886"/>
          </a:xfrm>
        </p:grpSpPr>
        <p:sp>
          <p:nvSpPr>
            <p:cNvPr id="22" name="矩形 21"/>
            <p:cNvSpPr/>
            <p:nvPr/>
          </p:nvSpPr>
          <p:spPr>
            <a:xfrm>
              <a:off x="4211960" y="3711427"/>
              <a:ext cx="4968552" cy="707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宋体" pitchFamily="2" charset="-122"/>
                </a:rPr>
                <a:t>静态成员函数中没有当前对象，所以没有</a:t>
              </a:r>
              <a:r>
                <a:rPr lang="en-US" altLang="zh-CN" sz="2000" dirty="0">
                  <a:latin typeface="宋体" pitchFamily="2" charset="-122"/>
                </a:rPr>
                <a:t>this</a:t>
              </a:r>
              <a:r>
                <a:rPr lang="zh-CN" altLang="en-US" sz="2000" dirty="0">
                  <a:latin typeface="宋体" pitchFamily="2" charset="-122"/>
                </a:rPr>
                <a:t>指针、不能直接访问非静态成员。</a:t>
              </a:r>
              <a:endParaRPr lang="en-US" altLang="zh-CN" sz="2000" dirty="0">
                <a:latin typeface="宋体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3419872" y="4293096"/>
              <a:ext cx="792088" cy="0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792" name="组合 33791"/>
          <p:cNvGrpSpPr/>
          <p:nvPr/>
        </p:nvGrpSpPr>
        <p:grpSpPr>
          <a:xfrm>
            <a:off x="2843808" y="4221088"/>
            <a:ext cx="5832648" cy="1163830"/>
            <a:chOff x="2843808" y="4286999"/>
            <a:chExt cx="5832648" cy="1163830"/>
          </a:xfrm>
        </p:grpSpPr>
        <p:grpSp>
          <p:nvGrpSpPr>
            <p:cNvPr id="24" name="组合 23"/>
            <p:cNvGrpSpPr/>
            <p:nvPr/>
          </p:nvGrpSpPr>
          <p:grpSpPr>
            <a:xfrm>
              <a:off x="3527884" y="4742943"/>
              <a:ext cx="5148572" cy="707886"/>
              <a:chOff x="2990332" y="4521314"/>
              <a:chExt cx="5148572" cy="707886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4067944" y="4521314"/>
                <a:ext cx="4070960" cy="707886"/>
              </a:xfrm>
              <a:prstGeom prst="rect">
                <a:avLst/>
              </a:prstGeom>
              <a:solidFill>
                <a:srgbClr val="C2E49C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宋体" pitchFamily="2" charset="-122"/>
                  </a:rPr>
                  <a:t>静态成员函数对非静态成员的访问</a:t>
                </a:r>
                <a:endParaRPr lang="en-US" altLang="zh-CN" sz="2000" dirty="0">
                  <a:latin typeface="宋体" pitchFamily="2" charset="-122"/>
                </a:endParaRPr>
              </a:p>
              <a:p>
                <a:r>
                  <a:rPr lang="zh-CN" altLang="en-US" sz="2000" dirty="0">
                    <a:latin typeface="宋体" pitchFamily="2" charset="-122"/>
                  </a:rPr>
                  <a:t>要通过对象</a:t>
                </a:r>
                <a:endParaRPr lang="en-US" altLang="zh-CN" sz="2000" dirty="0">
                  <a:latin typeface="宋体" pitchFamily="2" charset="-122"/>
                </a:endParaRPr>
              </a:p>
            </p:txBody>
          </p:sp>
          <p:cxnSp>
            <p:nvCxnSpPr>
              <p:cNvPr id="23" name="直接箭头连接符 22"/>
              <p:cNvCxnSpPr/>
              <p:nvPr/>
            </p:nvCxnSpPr>
            <p:spPr>
              <a:xfrm flipH="1">
                <a:off x="2990332" y="4707142"/>
                <a:ext cx="1077612" cy="0"/>
              </a:xfrm>
              <a:prstGeom prst="straightConnector1">
                <a:avLst/>
              </a:prstGeom>
              <a:ln w="22225">
                <a:solidFill>
                  <a:srgbClr val="00B05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直接箭头连接符 30"/>
            <p:cNvCxnSpPr/>
            <p:nvPr/>
          </p:nvCxnSpPr>
          <p:spPr>
            <a:xfrm flipH="1" flipV="1">
              <a:off x="2843808" y="4286999"/>
              <a:ext cx="1761688" cy="641771"/>
            </a:xfrm>
            <a:prstGeom prst="straightConnector1">
              <a:avLst/>
            </a:prstGeom>
            <a:ln w="22225">
              <a:solidFill>
                <a:srgbClr val="00B05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593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静态成员函数举例</a:t>
            </a:r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32772" name="Rectangle 11"/>
          <p:cNvSpPr>
            <a:spLocks noGrp="1" noChangeArrowheads="1"/>
          </p:cNvSpPr>
          <p:nvPr>
            <p:ph sz="half" idx="1"/>
          </p:nvPr>
        </p:nvSpPr>
        <p:spPr>
          <a:xfrm>
            <a:off x="539552" y="1556792"/>
            <a:ext cx="4176464" cy="44196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#include &lt;</a:t>
            </a:r>
            <a:r>
              <a:rPr lang="en-US" altLang="zh-CN" sz="2400" dirty="0" err="1">
                <a:latin typeface="宋体" charset="-122"/>
              </a:rPr>
              <a:t>iostream</a:t>
            </a:r>
            <a:r>
              <a:rPr lang="en-US" altLang="zh-CN" sz="2400" dirty="0">
                <a:latin typeface="宋体" charset="-122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using namespace </a:t>
            </a:r>
            <a:r>
              <a:rPr lang="en-US" altLang="zh-CN" sz="2400" dirty="0" err="1">
                <a:latin typeface="宋体" charset="-122"/>
              </a:rPr>
              <a:t>std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class Application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static void f();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static void g();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static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global;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Application::global=0;</a:t>
            </a:r>
          </a:p>
        </p:txBody>
      </p:sp>
      <p:sp>
        <p:nvSpPr>
          <p:cNvPr id="47116" name="Rectangle 12"/>
          <p:cNvSpPr>
            <a:spLocks noGrp="1" noChangeArrowheads="1"/>
          </p:cNvSpPr>
          <p:nvPr>
            <p:ph sz="half" idx="2"/>
          </p:nvPr>
        </p:nvSpPr>
        <p:spPr>
          <a:xfrm>
            <a:off x="5048250" y="1556792"/>
            <a:ext cx="3786188" cy="44196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void Application::f()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	global=5;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void Application::g()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&lt;&lt;global&lt;&lt;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	Application::f();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Application::g();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return 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</p:txBody>
      </p:sp>
      <p:sp>
        <p:nvSpPr>
          <p:cNvPr id="3277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368B43C-77DD-41E3-BEFD-96B0BEED256E}" type="slidenum">
              <a:rPr lang="en-US" altLang="zh-CN" sz="1400" smtClean="0"/>
              <a:pPr/>
              <a:t>51</a:t>
            </a:fld>
            <a:endParaRPr lang="en-US" altLang="zh-CN" sz="1400"/>
          </a:p>
        </p:txBody>
      </p:sp>
      <p:sp>
        <p:nvSpPr>
          <p:cNvPr id="32774" name="Line 9"/>
          <p:cNvSpPr>
            <a:spLocks noChangeShapeType="1"/>
          </p:cNvSpPr>
          <p:nvPr/>
        </p:nvSpPr>
        <p:spPr bwMode="auto">
          <a:xfrm>
            <a:off x="4860032" y="1556792"/>
            <a:ext cx="0" cy="4419600"/>
          </a:xfrm>
          <a:prstGeom prst="line">
            <a:avLst/>
          </a:prstGeom>
          <a:noFill/>
          <a:ln w="9525">
            <a:solidFill>
              <a:schemeClr val="bg2">
                <a:lumMod val="2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83568" y="5589240"/>
            <a:ext cx="374441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84639" y="4744308"/>
            <a:ext cx="2551257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115616" y="3573016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15616" y="3933056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2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39763"/>
            <a:ext cx="75438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ffectLst/>
                <a:latin typeface="+mn-ea"/>
                <a:ea typeface="+mn-ea"/>
              </a:rPr>
              <a:t>静态成员综合应用</a:t>
            </a:r>
            <a:endParaRPr lang="en-US" altLang="zh-CN" dirty="0"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ffectLst/>
                <a:latin typeface="+mn-ea"/>
              </a:rPr>
              <a:t>学生登记时，每注册一名新生就为他分配编号。该编号是自动编号，是从</a:t>
            </a:r>
            <a:r>
              <a:rPr lang="en-US" altLang="zh-CN" dirty="0">
                <a:effectLst/>
                <a:latin typeface="+mn-ea"/>
              </a:rPr>
              <a:t>1</a:t>
            </a:r>
            <a:r>
              <a:rPr lang="zh-CN" altLang="en-US" dirty="0">
                <a:effectLst/>
                <a:latin typeface="+mn-ea"/>
              </a:rPr>
              <a:t>开始的自然数。程序自动生成，没有重复。</a:t>
            </a:r>
          </a:p>
          <a:p>
            <a:pPr marL="0" indent="0" eaLnBrk="1" hangingPunct="1">
              <a:buNone/>
            </a:pPr>
            <a:endParaRPr lang="en-US" altLang="zh-CN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7842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96" y="154369"/>
            <a:ext cx="9001000" cy="63709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&lt;</a:t>
            </a:r>
            <a:r>
              <a:rPr lang="en-US" altLang="zh-CN" sz="24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iostream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&gt;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#include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&lt;string&gt;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using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namespace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std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m_nNumber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        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自动编号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365125"/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string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m_strName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51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总共新建的学生数目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3651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m_s_nActualTotal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现有的实际学生数目</a:t>
            </a:r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651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string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name = 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"XXX"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);</a:t>
            </a:r>
          </a:p>
          <a:p>
            <a:pPr marL="3651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&amp; student);</a:t>
            </a:r>
          </a:p>
          <a:p>
            <a:pPr marL="365125"/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~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3651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365125"/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GetNumber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{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m_nNumber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pPr marL="3651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{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pPr marL="3651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GetActualTotal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{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m_s_nActualTotal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899592" y="44624"/>
            <a:ext cx="7488832" cy="710963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= 0;</a:t>
            </a:r>
          </a:p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m_s_nActualTotal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= 0;</a:t>
            </a:r>
          </a:p>
          <a:p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string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name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m_strName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name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51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m_nNumber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= ++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51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m_s_nActualTotal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++;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&amp; 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m_strName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student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.m_strName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51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m_nNumber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= ++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651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m_s_nActualTotal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++;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::~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m_s_nActualTotal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--;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ShowStudent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"student's name is 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m_strName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"\</a:t>
            </a:r>
            <a:r>
              <a:rPr lang="en-US" altLang="zh-CN" sz="24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tnumber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is 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m_nNumber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080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32656"/>
            <a:ext cx="9396536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代码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：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10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个学生的数组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266700"/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arrayStudent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[10];</a:t>
            </a:r>
          </a:p>
          <a:p>
            <a:pPr marL="2667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for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=0;i&lt;10;i++)</a:t>
            </a:r>
          </a:p>
          <a:p>
            <a:pPr marL="5334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arrayStudent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].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266700"/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注意以下用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种方式访问静态成员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2667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266700"/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"\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tm_s_nActualTotal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arrayStudent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GetActualTotal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2887682"/>
            <a:ext cx="9396536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66700"/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代码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：一个学生指针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266700"/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* p =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new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2667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p-&gt;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2667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723900"/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"\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tm_s_nActualTotal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p-&gt;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GetActualTotal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2667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"after delete a student of number :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p-&gt;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GetNumber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266700"/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delete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p;</a:t>
            </a:r>
          </a:p>
          <a:p>
            <a:pPr marL="2667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723900" indent="88900"/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"\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tm_s_nActualTotal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p-&gt;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GetActualTotal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43036" y="2348880"/>
            <a:ext cx="9361040" cy="40934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66700"/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代码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3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：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10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新宋体"/>
                <a:ea typeface="新宋体"/>
              </a:rPr>
              <a:t>个学生的动态数组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266700"/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* arrayStudent2;</a:t>
            </a:r>
          </a:p>
          <a:p>
            <a:pPr marL="2667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arrayStudent2 =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new 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[10];</a:t>
            </a:r>
          </a:p>
          <a:p>
            <a:pPr marL="2667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for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=0;i&lt;10;i++)</a:t>
            </a:r>
          </a:p>
          <a:p>
            <a:pPr marL="5334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arrayStudent2[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].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2667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723900"/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"\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tm_s_nActualTotal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arrayStudent2[0].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GetActualTotal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2667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"after delete 10 student"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266700"/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delete[]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arrayStudent2;</a:t>
            </a:r>
          </a:p>
          <a:p>
            <a:pPr marL="266700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m_s_nTotal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CStudent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723900"/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"\</a:t>
            </a:r>
            <a:r>
              <a:rPr lang="en-US" altLang="zh-CN" sz="2000" dirty="0" err="1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tm_s_nActualTotal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 = 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arrayStudent2[0].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GetActualTotal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2667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4104456" y="332656"/>
            <a:ext cx="4572000" cy="655564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代码</a:t>
            </a:r>
            <a:r>
              <a:rPr lang="en-US" altLang="zh-CN" sz="1200" dirty="0">
                <a:solidFill>
                  <a:schemeClr val="bg1"/>
                </a:solidFill>
              </a:rPr>
              <a:t>1</a:t>
            </a:r>
            <a:r>
              <a:rPr lang="zh-CN" altLang="en-US" sz="1200" dirty="0">
                <a:solidFill>
                  <a:schemeClr val="bg1"/>
                </a:solidFill>
              </a:rPr>
              <a:t>：</a:t>
            </a:r>
            <a:r>
              <a:rPr lang="en-US" altLang="zh-CN" sz="1200" dirty="0">
                <a:solidFill>
                  <a:schemeClr val="bg1"/>
                </a:solidFill>
              </a:rPr>
              <a:t>10</a:t>
            </a:r>
            <a:r>
              <a:rPr lang="zh-CN" altLang="en-US" sz="1200" dirty="0">
                <a:solidFill>
                  <a:schemeClr val="bg1"/>
                </a:solidFill>
              </a:rPr>
              <a:t>个学生的数组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2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3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4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5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6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7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8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9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10</a:t>
            </a:r>
          </a:p>
          <a:p>
            <a:r>
              <a:rPr lang="en-US" altLang="zh-CN" sz="1200" dirty="0" err="1">
                <a:solidFill>
                  <a:schemeClr val="bg1"/>
                </a:solidFill>
              </a:rPr>
              <a:t>m_s_nTotal</a:t>
            </a:r>
            <a:r>
              <a:rPr lang="en-US" altLang="zh-CN" sz="1200" dirty="0">
                <a:solidFill>
                  <a:schemeClr val="bg1"/>
                </a:solidFill>
              </a:rPr>
              <a:t> = 10          </a:t>
            </a:r>
            <a:r>
              <a:rPr lang="en-US" altLang="zh-CN" sz="1200" dirty="0" err="1">
                <a:solidFill>
                  <a:schemeClr val="bg1"/>
                </a:solidFill>
              </a:rPr>
              <a:t>m_s_nActualTotal</a:t>
            </a:r>
            <a:r>
              <a:rPr lang="en-US" altLang="zh-CN" sz="1200" dirty="0">
                <a:solidFill>
                  <a:schemeClr val="bg1"/>
                </a:solidFill>
              </a:rPr>
              <a:t> = 10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**********************************************</a:t>
            </a:r>
          </a:p>
          <a:p>
            <a:r>
              <a:rPr lang="zh-CN" altLang="en-US" sz="1200" dirty="0">
                <a:solidFill>
                  <a:schemeClr val="bg1"/>
                </a:solidFill>
              </a:rPr>
              <a:t>代码</a:t>
            </a:r>
            <a:r>
              <a:rPr lang="en-US" altLang="zh-CN" sz="1200" dirty="0">
                <a:solidFill>
                  <a:schemeClr val="bg1"/>
                </a:solidFill>
              </a:rPr>
              <a:t>2</a:t>
            </a:r>
            <a:r>
              <a:rPr lang="zh-CN" altLang="en-US" sz="1200" dirty="0">
                <a:solidFill>
                  <a:schemeClr val="bg1"/>
                </a:solidFill>
              </a:rPr>
              <a:t>：一个学生指针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11</a:t>
            </a:r>
          </a:p>
          <a:p>
            <a:r>
              <a:rPr lang="en-US" altLang="zh-CN" sz="1200" dirty="0" err="1">
                <a:solidFill>
                  <a:schemeClr val="bg1"/>
                </a:solidFill>
              </a:rPr>
              <a:t>m_s_nTotal</a:t>
            </a:r>
            <a:r>
              <a:rPr lang="en-US" altLang="zh-CN" sz="1200" dirty="0">
                <a:solidFill>
                  <a:schemeClr val="bg1"/>
                </a:solidFill>
              </a:rPr>
              <a:t> = 11         </a:t>
            </a:r>
            <a:r>
              <a:rPr lang="en-US" altLang="zh-CN" sz="1200" dirty="0" err="1">
                <a:solidFill>
                  <a:schemeClr val="bg1"/>
                </a:solidFill>
              </a:rPr>
              <a:t>m_s_nActualTotal</a:t>
            </a:r>
            <a:r>
              <a:rPr lang="en-US" altLang="zh-CN" sz="1200" dirty="0">
                <a:solidFill>
                  <a:schemeClr val="bg1"/>
                </a:solidFill>
              </a:rPr>
              <a:t> = 11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after delete a student of number : 11</a:t>
            </a:r>
          </a:p>
          <a:p>
            <a:r>
              <a:rPr lang="en-US" altLang="zh-CN" sz="1200" dirty="0" err="1">
                <a:solidFill>
                  <a:schemeClr val="bg1"/>
                </a:solidFill>
              </a:rPr>
              <a:t>m_s_nTotal</a:t>
            </a:r>
            <a:r>
              <a:rPr lang="en-US" altLang="zh-CN" sz="1200" dirty="0">
                <a:solidFill>
                  <a:schemeClr val="bg1"/>
                </a:solidFill>
              </a:rPr>
              <a:t> = 11          </a:t>
            </a:r>
            <a:r>
              <a:rPr lang="en-US" altLang="zh-CN" sz="1200" dirty="0" err="1">
                <a:solidFill>
                  <a:schemeClr val="bg1"/>
                </a:solidFill>
              </a:rPr>
              <a:t>m_s_nActualTotal</a:t>
            </a:r>
            <a:r>
              <a:rPr lang="en-US" altLang="zh-CN" sz="1200" dirty="0">
                <a:solidFill>
                  <a:schemeClr val="bg1"/>
                </a:solidFill>
              </a:rPr>
              <a:t> = 10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**********************************************</a:t>
            </a:r>
          </a:p>
          <a:p>
            <a:r>
              <a:rPr lang="zh-CN" altLang="en-US" sz="1200" dirty="0">
                <a:solidFill>
                  <a:schemeClr val="bg1"/>
                </a:solidFill>
              </a:rPr>
              <a:t>代码</a:t>
            </a:r>
            <a:r>
              <a:rPr lang="en-US" altLang="zh-CN" sz="1200" dirty="0">
                <a:solidFill>
                  <a:schemeClr val="bg1"/>
                </a:solidFill>
              </a:rPr>
              <a:t>3</a:t>
            </a:r>
            <a:r>
              <a:rPr lang="zh-CN" altLang="en-US" sz="1200" dirty="0">
                <a:solidFill>
                  <a:schemeClr val="bg1"/>
                </a:solidFill>
              </a:rPr>
              <a:t>：</a:t>
            </a:r>
            <a:r>
              <a:rPr lang="en-US" altLang="zh-CN" sz="1200" dirty="0">
                <a:solidFill>
                  <a:schemeClr val="bg1"/>
                </a:solidFill>
              </a:rPr>
              <a:t>10</a:t>
            </a:r>
            <a:r>
              <a:rPr lang="zh-CN" altLang="en-US" sz="1200" dirty="0">
                <a:solidFill>
                  <a:schemeClr val="bg1"/>
                </a:solidFill>
              </a:rPr>
              <a:t>个学生的数组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12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13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14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15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16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17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18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19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20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student's name is XXX   number is 21</a:t>
            </a:r>
          </a:p>
          <a:p>
            <a:r>
              <a:rPr lang="en-US" altLang="zh-CN" sz="1200" dirty="0" err="1">
                <a:solidFill>
                  <a:schemeClr val="bg1"/>
                </a:solidFill>
              </a:rPr>
              <a:t>m_s_nTotal</a:t>
            </a:r>
            <a:r>
              <a:rPr lang="en-US" altLang="zh-CN" sz="1200" dirty="0">
                <a:solidFill>
                  <a:schemeClr val="bg1"/>
                </a:solidFill>
              </a:rPr>
              <a:t> = 21           </a:t>
            </a:r>
            <a:r>
              <a:rPr lang="en-US" altLang="zh-CN" sz="1200" dirty="0" err="1">
                <a:solidFill>
                  <a:schemeClr val="bg1"/>
                </a:solidFill>
              </a:rPr>
              <a:t>m_s_nActualTotal</a:t>
            </a:r>
            <a:r>
              <a:rPr lang="en-US" altLang="zh-CN" sz="1200" dirty="0">
                <a:solidFill>
                  <a:schemeClr val="bg1"/>
                </a:solidFill>
              </a:rPr>
              <a:t> = 20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**********************************************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after delete 10 student</a:t>
            </a:r>
          </a:p>
          <a:p>
            <a:r>
              <a:rPr lang="en-US" altLang="zh-CN" sz="1200" dirty="0" err="1">
                <a:solidFill>
                  <a:schemeClr val="bg1"/>
                </a:solidFill>
              </a:rPr>
              <a:t>m_s_nTotal</a:t>
            </a:r>
            <a:r>
              <a:rPr lang="en-US" altLang="zh-CN" sz="1200" dirty="0">
                <a:solidFill>
                  <a:schemeClr val="bg1"/>
                </a:solidFill>
              </a:rPr>
              <a:t> = 21            </a:t>
            </a:r>
            <a:r>
              <a:rPr lang="en-US" altLang="zh-CN" sz="1200" dirty="0" err="1">
                <a:solidFill>
                  <a:schemeClr val="bg1"/>
                </a:solidFill>
              </a:rPr>
              <a:t>m_s_nActualTotal</a:t>
            </a:r>
            <a:r>
              <a:rPr lang="en-US" altLang="zh-CN" sz="1200" dirty="0">
                <a:solidFill>
                  <a:schemeClr val="bg1"/>
                </a:solidFill>
              </a:rPr>
              <a:t> = 10</a:t>
            </a:r>
          </a:p>
          <a:p>
            <a:r>
              <a:rPr lang="zh-CN" altLang="en-US" sz="1200" dirty="0">
                <a:solidFill>
                  <a:schemeClr val="bg1"/>
                </a:solidFill>
              </a:rPr>
              <a:t>请按任意键继续</a:t>
            </a:r>
            <a:r>
              <a:rPr lang="en-US" altLang="zh-CN" sz="1200" dirty="0">
                <a:solidFill>
                  <a:schemeClr val="bg1"/>
                </a:solidFill>
              </a:rPr>
              <a:t>. . .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10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19008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【</a:t>
            </a:r>
            <a:r>
              <a:rPr lang="zh-CN" altLang="en-US" dirty="0">
                <a:latin typeface="+mn-ea"/>
              </a:rPr>
              <a:t>课堂练习</a:t>
            </a:r>
            <a:r>
              <a:rPr lang="en-US" altLang="zh-CN" dirty="0">
                <a:latin typeface="+mn-ea"/>
              </a:rPr>
              <a:t>】</a:t>
            </a:r>
            <a:r>
              <a:rPr lang="zh-CN" altLang="en-US" dirty="0">
                <a:effectLst/>
                <a:latin typeface="+mn-ea"/>
              </a:rPr>
              <a:t>设计类，使用静态成员，求从</a:t>
            </a:r>
            <a:r>
              <a:rPr lang="en-US" altLang="zh-CN" dirty="0">
                <a:effectLst/>
                <a:latin typeface="+mn-ea"/>
              </a:rPr>
              <a:t>1</a:t>
            </a:r>
            <a:r>
              <a:rPr lang="zh-CN" altLang="en-US" dirty="0">
                <a:effectLst/>
                <a:latin typeface="+mn-ea"/>
              </a:rPr>
              <a:t>到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是大于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的整数）的和 </a:t>
            </a:r>
            <a:r>
              <a:rPr lang="en-US" altLang="zh-CN" dirty="0">
                <a:latin typeface="+mn-ea"/>
              </a:rPr>
              <a:t>.</a:t>
            </a:r>
          </a:p>
          <a:p>
            <a:pPr marL="0" indent="0" eaLnBrk="1" hangingPunct="1">
              <a:buNone/>
            </a:pPr>
            <a:r>
              <a:rPr lang="zh-CN" altLang="en-US" dirty="0">
                <a:latin typeface="+mn-ea"/>
              </a:rPr>
              <a:t>程序中不要使用循环，不要使用求和公式。</a:t>
            </a:r>
            <a:endParaRPr lang="en-US" altLang="zh-CN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9170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15044</TotalTime>
  <Words>4191</Words>
  <Application>Microsoft Office PowerPoint</Application>
  <PresentationFormat>全屏显示(4:3)</PresentationFormat>
  <Paragraphs>887</Paragraphs>
  <Slides>55</Slides>
  <Notes>37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56" baseType="lpstr">
      <vt:lpstr>龙腾四海</vt:lpstr>
      <vt:lpstr>第3讲  数据的共享与保护</vt:lpstr>
      <vt:lpstr>大纲</vt:lpstr>
      <vt:lpstr>5.1 标志符的作用域与可见性</vt:lpstr>
      <vt:lpstr>5.1.1 标志符的作用域</vt:lpstr>
      <vt:lpstr>PowerPoint 演示文稿</vt:lpstr>
      <vt:lpstr>函数原形的作用域</vt:lpstr>
      <vt:lpstr>块作用域（局部作用域）</vt:lpstr>
      <vt:lpstr>类作用域</vt:lpstr>
      <vt:lpstr>命名空间 namespace</vt:lpstr>
      <vt:lpstr>自定义命名空间namespace</vt:lpstr>
      <vt:lpstr>PowerPoint 演示文稿</vt:lpstr>
      <vt:lpstr>PowerPoint 演示文稿</vt:lpstr>
      <vt:lpstr>PowerPoint 演示文稿</vt:lpstr>
      <vt:lpstr>命名空间作用域</vt:lpstr>
      <vt:lpstr>PowerPoint 演示文稿</vt:lpstr>
      <vt:lpstr>文件作用域</vt:lpstr>
      <vt:lpstr>标志符的可见性</vt:lpstr>
      <vt:lpstr>可见性</vt:lpstr>
      <vt:lpstr>可见性</vt:lpstr>
      <vt:lpstr>同一作用域中的同名标识符</vt:lpstr>
      <vt:lpstr>PowerPoint 演示文稿</vt:lpstr>
      <vt:lpstr>PowerPoint 演示文稿</vt:lpstr>
      <vt:lpstr>5.2 对象的生存期</vt:lpstr>
      <vt:lpstr>对象的生存期</vt:lpstr>
      <vt:lpstr>静态生存期</vt:lpstr>
      <vt:lpstr>例：静态生存期——全局变量</vt:lpstr>
      <vt:lpstr>例：静态生存期——static变量</vt:lpstr>
      <vt:lpstr>动态生存期</vt:lpstr>
      <vt:lpstr>例: 变量的生存期与可见性*</vt:lpstr>
      <vt:lpstr>PowerPoint 演示文稿</vt:lpstr>
      <vt:lpstr>PowerPoint 演示文稿</vt:lpstr>
      <vt:lpstr>例：具有静态、动态生存期对象的时钟程序*</vt:lpstr>
      <vt:lpstr>PowerPoint 演示文稿</vt:lpstr>
      <vt:lpstr>PowerPoint 演示文稿</vt:lpstr>
      <vt:lpstr>PowerPoint 演示文稿</vt:lpstr>
      <vt:lpstr>为什么设计static变量？</vt:lpstr>
      <vt:lpstr>5.3 类的静态成员</vt:lpstr>
      <vt:lpstr>静态成员应用场景</vt:lpstr>
      <vt:lpstr>静态成员</vt:lpstr>
      <vt:lpstr>静态成员的设计语法</vt:lpstr>
      <vt:lpstr>例：具有静态数据成员的 Point类</vt:lpstr>
      <vt:lpstr>PowerPoint 演示文稿</vt:lpstr>
      <vt:lpstr>PowerPoint 演示文稿</vt:lpstr>
      <vt:lpstr>将Point类的 showCount()函数 设为静态成员函数</vt:lpstr>
      <vt:lpstr>类的静态成员的本质</vt:lpstr>
      <vt:lpstr>PowerPoint 演示文稿</vt:lpstr>
      <vt:lpstr>PowerPoint 演示文稿</vt:lpstr>
      <vt:lpstr>PowerPoint 演示文稿</vt:lpstr>
      <vt:lpstr>PowerPoint 演示文稿</vt:lpstr>
      <vt:lpstr>静态成员函数举例:易错情况</vt:lpstr>
      <vt:lpstr>静态成员函数举例*</vt:lpstr>
      <vt:lpstr>静态成员综合应用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C++程序的结构</dc:title>
  <dc:creator>SJL</dc:creator>
  <cp:lastModifiedBy>申佳丽</cp:lastModifiedBy>
  <cp:revision>64</cp:revision>
  <dcterms:created xsi:type="dcterms:W3CDTF">2017-02-27T06:47:02Z</dcterms:created>
  <dcterms:modified xsi:type="dcterms:W3CDTF">2024-03-13T04:07:36Z</dcterms:modified>
</cp:coreProperties>
</file>