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0"/>
  </p:notesMasterIdLst>
  <p:sldIdLst>
    <p:sldId id="257" r:id="rId2"/>
    <p:sldId id="258" r:id="rId3"/>
    <p:sldId id="325" r:id="rId4"/>
    <p:sldId id="332" r:id="rId5"/>
    <p:sldId id="333" r:id="rId6"/>
    <p:sldId id="259" r:id="rId7"/>
    <p:sldId id="260" r:id="rId8"/>
    <p:sldId id="261" r:id="rId9"/>
    <p:sldId id="262" r:id="rId10"/>
    <p:sldId id="353" r:id="rId11"/>
    <p:sldId id="354" r:id="rId12"/>
    <p:sldId id="356" r:id="rId13"/>
    <p:sldId id="355" r:id="rId14"/>
    <p:sldId id="263" r:id="rId15"/>
    <p:sldId id="334" r:id="rId16"/>
    <p:sldId id="331" r:id="rId17"/>
    <p:sldId id="335" r:id="rId18"/>
    <p:sldId id="264" r:id="rId19"/>
    <p:sldId id="265" r:id="rId20"/>
    <p:sldId id="266" r:id="rId21"/>
    <p:sldId id="267" r:id="rId22"/>
    <p:sldId id="342" r:id="rId23"/>
    <p:sldId id="326" r:id="rId24"/>
    <p:sldId id="268" r:id="rId25"/>
    <p:sldId id="269" r:id="rId26"/>
    <p:sldId id="270" r:id="rId27"/>
    <p:sldId id="272" r:id="rId28"/>
    <p:sldId id="271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336" r:id="rId37"/>
    <p:sldId id="327" r:id="rId38"/>
    <p:sldId id="347" r:id="rId39"/>
    <p:sldId id="283" r:id="rId40"/>
    <p:sldId id="352" r:id="rId41"/>
    <p:sldId id="337" r:id="rId42"/>
    <p:sldId id="284" r:id="rId43"/>
    <p:sldId id="285" r:id="rId44"/>
    <p:sldId id="338" r:id="rId45"/>
    <p:sldId id="357" r:id="rId46"/>
    <p:sldId id="341" r:id="rId47"/>
    <p:sldId id="340" r:id="rId48"/>
    <p:sldId id="350" r:id="rId49"/>
    <p:sldId id="349" r:id="rId50"/>
    <p:sldId id="351" r:id="rId51"/>
    <p:sldId id="287" r:id="rId52"/>
    <p:sldId id="286" r:id="rId53"/>
    <p:sldId id="343" r:id="rId54"/>
    <p:sldId id="344" r:id="rId55"/>
    <p:sldId id="358" r:id="rId56"/>
    <p:sldId id="346" r:id="rId57"/>
    <p:sldId id="359" r:id="rId58"/>
    <p:sldId id="348" r:id="rId59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2E49C"/>
    <a:srgbClr val="FF0066"/>
    <a:srgbClr val="FF6D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21" autoAdjust="0"/>
    <p:restoredTop sz="94694"/>
  </p:normalViewPr>
  <p:slideViewPr>
    <p:cSldViewPr>
      <p:cViewPr varScale="1">
        <p:scale>
          <a:sx n="121" d="100"/>
          <a:sy n="121" d="100"/>
        </p:scale>
        <p:origin x="157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90" d="100"/>
        <a:sy n="190" d="100"/>
      </p:scale>
      <p:origin x="0" y="-39989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85858C-09C9-4013-8959-F23DFD9EABBF}" type="datetimeFigureOut">
              <a:rPr lang="zh-CN" altLang="en-US" smtClean="0"/>
              <a:t>2024/3/21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C0D1A1-C505-4C06-835E-CA1AEBDC0A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8646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4F071A66-4716-4EAA-A898-4720A0DB4E72}" type="slidenum">
              <a:rPr lang="en-US" altLang="zh-CN" sz="1200"/>
              <a:pPr/>
              <a:t>1</a:t>
            </a:fld>
            <a:endParaRPr lang="en-US" altLang="zh-CN" sz="1200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F35B9EFB-BF0B-42EC-BD8C-F5686C9CC288}" type="slidenum">
              <a:rPr lang="en-US" altLang="zh-CN" sz="1200"/>
              <a:pPr/>
              <a:t>2</a:t>
            </a:fld>
            <a:endParaRPr lang="en-US" altLang="zh-CN" sz="1200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74756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F35B9EFB-BF0B-42EC-BD8C-F5686C9CC288}" type="slidenum">
              <a:rPr lang="en-US" altLang="zh-CN" sz="1200"/>
              <a:pPr/>
              <a:t>3</a:t>
            </a:fld>
            <a:endParaRPr lang="en-US" altLang="zh-CN" sz="1200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74756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F35B9EFB-BF0B-42EC-BD8C-F5686C9CC288}" type="slidenum">
              <a:rPr lang="en-US" altLang="zh-CN" sz="1200"/>
              <a:pPr/>
              <a:t>4</a:t>
            </a:fld>
            <a:endParaRPr lang="en-US" altLang="zh-CN" sz="1200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74756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A55911CD-1070-4F41-A9CC-E6C35D357420}" type="slidenum">
              <a:rPr lang="en-US" altLang="zh-CN" sz="1200"/>
              <a:pPr/>
              <a:t>6</a:t>
            </a:fld>
            <a:endParaRPr lang="en-US" altLang="zh-CN" sz="1200"/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75780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6C7503AF-84EC-45BF-B671-A44886314762}" type="slidenum">
              <a:rPr lang="en-US" altLang="zh-CN" sz="1200"/>
              <a:pPr/>
              <a:t>7</a:t>
            </a:fld>
            <a:endParaRPr lang="en-US" altLang="zh-CN" sz="1200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sz="1800">
                <a:ea typeface="宋体" charset="-122"/>
              </a:rPr>
              <a:t>要点：</a:t>
            </a:r>
          </a:p>
          <a:p>
            <a:pPr eaLnBrk="1" hangingPunct="1"/>
            <a:r>
              <a:rPr lang="zh-CN" altLang="en-US" sz="1800">
                <a:ea typeface="宋体" charset="-122"/>
              </a:rPr>
              <a:t>首先介绍块的概念，然后介绍块中标识符的作用域。</a:t>
            </a:r>
          </a:p>
          <a:p>
            <a:pPr eaLnBrk="1" hangingPunct="1">
              <a:buFontTx/>
              <a:buChar char="•"/>
            </a:pPr>
            <a:r>
              <a:rPr lang="zh-CN" altLang="en-US" sz="1800">
                <a:ea typeface="宋体" charset="-122"/>
              </a:rPr>
              <a:t>块是一对花括号括起来的一段程序单元。</a:t>
            </a:r>
          </a:p>
          <a:p>
            <a:pPr eaLnBrk="1" hangingPunct="1">
              <a:buFontTx/>
              <a:buChar char="•"/>
            </a:pPr>
            <a:r>
              <a:rPr lang="zh-CN" altLang="en-US" sz="1800">
                <a:ea typeface="宋体" charset="-122"/>
              </a:rPr>
              <a:t>在块中声明的标识符，其作用域从声明处开始，直到块结束的右花括号。</a:t>
            </a:r>
          </a:p>
          <a:p>
            <a:pPr eaLnBrk="1" hangingPunct="1">
              <a:buFontTx/>
              <a:buChar char="•"/>
            </a:pPr>
            <a:endParaRPr lang="en-US" altLang="zh-CN" sz="1800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448CC67A-F411-42A2-8B09-E6F9EA9E8D7F}" type="slidenum">
              <a:rPr lang="en-US" altLang="zh-CN" sz="1200"/>
              <a:pPr/>
              <a:t>8</a:t>
            </a:fld>
            <a:endParaRPr lang="en-US" altLang="zh-CN" sz="1200"/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77828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1067BD8B-9ACC-436E-B5DF-F65102D60576}" type="slidenum">
              <a:rPr lang="en-US" altLang="zh-CN" sz="1200"/>
              <a:pPr/>
              <a:t>9</a:t>
            </a:fld>
            <a:endParaRPr lang="en-US" altLang="zh-CN" sz="1200"/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78852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577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ea typeface="宋体" pitchFamily="2" charset="-122"/>
            </a:endParaRPr>
          </a:p>
        </p:txBody>
      </p:sp>
      <p:sp>
        <p:nvSpPr>
          <p:cNvPr id="7578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fld id="{AF38DFF3-CAEF-47F3-BE12-61135539F871}" type="slidenum">
              <a:rPr lang="zh-CN" altLang="en-US" sz="1200" smtClean="0"/>
              <a:pPr/>
              <a:t>11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577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ea typeface="宋体" pitchFamily="2" charset="-122"/>
            </a:endParaRPr>
          </a:p>
        </p:txBody>
      </p:sp>
      <p:sp>
        <p:nvSpPr>
          <p:cNvPr id="7578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38DFF3-CAEF-47F3-BE12-61135539F87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889748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1896385F-4694-45CE-85C5-A9B24D576E2F}" type="slidenum">
              <a:rPr lang="en-US" altLang="zh-CN" sz="1200"/>
              <a:pPr/>
              <a:t>17</a:t>
            </a:fld>
            <a:endParaRPr lang="en-US" altLang="zh-CN" sz="1200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79876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1896385F-4694-45CE-85C5-A9B24D576E2F}" type="slidenum">
              <a:rPr lang="en-US" altLang="zh-CN" sz="1200"/>
              <a:pPr/>
              <a:t>18</a:t>
            </a:fld>
            <a:endParaRPr lang="en-US" altLang="zh-CN" sz="1200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79876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8B781063-C389-4218-8622-1EE34FEB9213}" type="slidenum">
              <a:rPr lang="en-US" altLang="zh-CN" sz="1200"/>
              <a:pPr/>
              <a:t>19</a:t>
            </a:fld>
            <a:endParaRPr lang="en-US" altLang="zh-CN" sz="1200"/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80900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0FA95387-3012-4DD9-A7B3-4160D2DE39AC}" type="slidenum">
              <a:rPr lang="en-US" altLang="zh-CN" sz="1200"/>
              <a:pPr/>
              <a:t>20</a:t>
            </a:fld>
            <a:endParaRPr lang="en-US" altLang="zh-CN" sz="1200"/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81924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E9296B78-E944-40C4-A530-8EFC14A156DF}" type="slidenum">
              <a:rPr lang="en-US" altLang="zh-CN" sz="1200"/>
              <a:pPr/>
              <a:t>21</a:t>
            </a:fld>
            <a:endParaRPr lang="en-US" altLang="zh-CN" sz="1200"/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82948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F35B9EFB-BF0B-42EC-BD8C-F5686C9CC288}" type="slidenum">
              <a:rPr lang="en-US" altLang="zh-CN" sz="1200"/>
              <a:pPr/>
              <a:t>23</a:t>
            </a:fld>
            <a:endParaRPr lang="en-US" altLang="zh-CN" sz="1200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74756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C8B6C6AC-F7BA-49EE-8B01-40EBBDF48705}" type="slidenum">
              <a:rPr lang="en-US" altLang="zh-CN" sz="1200"/>
              <a:pPr/>
              <a:t>24</a:t>
            </a:fld>
            <a:endParaRPr lang="en-US" altLang="zh-CN" sz="1200"/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83972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17665D9B-18FC-4E62-AFE2-A4CFBCF79AEF}" type="slidenum">
              <a:rPr lang="en-US" altLang="zh-CN" sz="1200"/>
              <a:pPr/>
              <a:t>25</a:t>
            </a:fld>
            <a:endParaRPr lang="en-US" altLang="zh-CN" sz="1200"/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84996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2C5484FE-E387-4685-97F2-99E9769D3C03}" type="slidenum">
              <a:rPr lang="en-US" altLang="zh-CN" sz="1200"/>
              <a:pPr/>
              <a:t>26</a:t>
            </a:fld>
            <a:endParaRPr lang="en-US" altLang="zh-CN" sz="1200"/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86020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A41BA5FD-11C6-43DF-BB5F-67B8E6914F7F}" type="slidenum">
              <a:rPr lang="en-US" altLang="zh-CN" sz="1200"/>
              <a:pPr/>
              <a:t>27</a:t>
            </a:fld>
            <a:endParaRPr lang="en-US" altLang="zh-CN" sz="1200"/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88068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12F368CB-E29D-4E72-93B8-582A0E660ED0}" type="slidenum">
              <a:rPr lang="en-US" altLang="zh-CN" sz="1200"/>
              <a:pPr/>
              <a:t>28</a:t>
            </a:fld>
            <a:endParaRPr lang="en-US" altLang="zh-CN" sz="1200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87044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7BE8B618-A1B4-4B75-8097-F73FAF50D0BB}" type="slidenum">
              <a:rPr lang="en-US" altLang="zh-CN" sz="1200"/>
              <a:pPr/>
              <a:t>29</a:t>
            </a:fld>
            <a:endParaRPr lang="en-US" altLang="zh-CN" sz="1200"/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89092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13F31E79-F865-4E81-B196-10D0B715422B}" type="slidenum">
              <a:rPr lang="en-US" altLang="zh-CN" sz="1200"/>
              <a:pPr/>
              <a:t>30</a:t>
            </a:fld>
            <a:endParaRPr lang="en-US" altLang="zh-CN" sz="1200"/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90116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7AF513B6-BCA8-4F29-99DB-607642497A9E}" type="slidenum">
              <a:rPr lang="en-US" altLang="zh-CN" sz="1200"/>
              <a:pPr/>
              <a:t>31</a:t>
            </a:fld>
            <a:endParaRPr lang="en-US" altLang="zh-CN" sz="1200"/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D1CB878A-3BC4-453D-BD99-911CA8A6185E}" type="slidenum">
              <a:rPr lang="en-US" altLang="zh-CN" sz="1200"/>
              <a:pPr/>
              <a:t>32</a:t>
            </a:fld>
            <a:endParaRPr lang="en-US" altLang="zh-CN" sz="1200"/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92164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44298803-7793-494D-9D3B-04578B4E9076}" type="slidenum">
              <a:rPr lang="en-US" altLang="zh-CN" sz="1200"/>
              <a:pPr/>
              <a:t>33</a:t>
            </a:fld>
            <a:endParaRPr lang="en-US" altLang="zh-CN" sz="1200"/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93188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31B5BD10-CB53-400B-8B45-6B1E8BC07AD5}" type="slidenum">
              <a:rPr lang="en-US" altLang="zh-CN" sz="1200"/>
              <a:pPr/>
              <a:t>34</a:t>
            </a:fld>
            <a:endParaRPr lang="en-US" altLang="zh-CN" sz="1200"/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94212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AB97CF74-D217-4A50-9631-81D9C1A5E544}" type="slidenum">
              <a:rPr lang="en-US" altLang="zh-CN" sz="1200"/>
              <a:pPr/>
              <a:t>35</a:t>
            </a:fld>
            <a:endParaRPr lang="en-US" altLang="zh-CN" sz="1200"/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F35B9EFB-BF0B-42EC-BD8C-F5686C9CC288}" type="slidenum">
              <a:rPr lang="en-US" altLang="zh-CN" sz="1200"/>
              <a:pPr/>
              <a:t>36</a:t>
            </a:fld>
            <a:endParaRPr lang="en-US" altLang="zh-CN" sz="1200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74756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F35B9EFB-BF0B-42EC-BD8C-F5686C9CC288}" type="slidenum">
              <a:rPr lang="en-US" altLang="zh-CN" sz="1200"/>
              <a:pPr/>
              <a:t>37</a:t>
            </a:fld>
            <a:endParaRPr lang="en-US" altLang="zh-CN" sz="1200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74756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A547A85D-670E-4BFB-9E12-BCF9434A7E95}" type="slidenum">
              <a:rPr lang="en-US" altLang="zh-CN" sz="1200"/>
              <a:pPr/>
              <a:t>38</a:t>
            </a:fld>
            <a:endParaRPr lang="en-US" altLang="zh-CN" sz="1200"/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99332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A547A85D-670E-4BFB-9E12-BCF9434A7E95}" type="slidenum">
              <a:rPr lang="en-US" altLang="zh-CN" sz="1200"/>
              <a:pPr/>
              <a:t>39</a:t>
            </a:fld>
            <a:endParaRPr lang="en-US" altLang="zh-CN" sz="1200"/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99332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B7AE4DB4-CEFB-4925-BA26-63725932E717}" type="slidenum">
              <a:rPr lang="en-US" altLang="zh-CN" sz="1200"/>
              <a:pPr/>
              <a:t>42</a:t>
            </a:fld>
            <a:endParaRPr lang="en-US" altLang="zh-CN" sz="1200"/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00356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A40489D7-2EFA-460E-97D3-41DE14A014E5}" type="slidenum">
              <a:rPr lang="en-US" altLang="zh-CN" sz="1200"/>
              <a:pPr/>
              <a:t>43</a:t>
            </a:fld>
            <a:endParaRPr lang="en-US" altLang="zh-CN" sz="1200"/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01380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02E74D2C-74AC-4B05-AB30-44DC8909E416}" type="slidenum">
              <a:rPr lang="en-US" altLang="zh-CN" sz="1200"/>
              <a:pPr/>
              <a:t>44</a:t>
            </a:fld>
            <a:endParaRPr lang="en-US" altLang="zh-CN" sz="1200"/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04452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02E74D2C-74AC-4B05-AB30-44DC8909E416}" type="slidenum">
              <a:rPr lang="en-US" altLang="zh-CN" sz="1200"/>
              <a:pPr/>
              <a:t>45</a:t>
            </a:fld>
            <a:endParaRPr lang="en-US" altLang="zh-CN" sz="1200"/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04452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1620518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7407BC21-D238-442B-8EC1-57468101B0AF}" type="slidenum">
              <a:rPr lang="en-US" altLang="zh-CN" sz="1200"/>
              <a:pPr/>
              <a:t>51</a:t>
            </a:fld>
            <a:endParaRPr lang="en-US" altLang="zh-CN" sz="1200"/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03428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685817" indent="-263776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055103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477145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1899186" indent="-211021" defTabSz="914423"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321227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743269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165310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587351" indent="-211021" defTabSz="914423" eaLnBrk="0" fontAlgn="base" hangingPunct="0">
              <a:spcBef>
                <a:spcPct val="0"/>
              </a:spcBef>
              <a:spcAft>
                <a:spcPct val="0"/>
              </a:spcAft>
              <a:defRPr kumimoji="1" sz="2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87219980-6C1F-4CE0-BA36-69DEC7DA47F4}" type="slidenum">
              <a:rPr lang="en-US" altLang="zh-CN" sz="1200"/>
              <a:pPr/>
              <a:t>52</a:t>
            </a:fld>
            <a:endParaRPr lang="en-US" altLang="zh-CN" sz="1200"/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02404" name="Rectangle 4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173157"/>
            <a:ext cx="7772400" cy="1470025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87716" y="2643182"/>
            <a:ext cx="6670366" cy="1752600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zh-CN" altLang="en-US"/>
              <a:t>单击此处编辑母版副标题样式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2024/3/21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2024/3/21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2924181"/>
            <a:ext cx="7772400" cy="1362075"/>
          </a:xfrm>
        </p:spPr>
        <p:txBody>
          <a:bodyPr anchor="t"/>
          <a:lstStyle>
            <a:lvl1pPr algn="l">
              <a:defRPr sz="4400" b="0" cap="all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85800" y="1428747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2024/3/21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2024/3/21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2024/3/21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2024/3/21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2024/3/21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0382" y="1071546"/>
            <a:ext cx="5111750" cy="50497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679083" y="1071546"/>
            <a:ext cx="3008313" cy="34290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2024/3/21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5" y="285728"/>
            <a:ext cx="8230993" cy="696626"/>
          </a:xfrm>
        </p:spPr>
        <p:txBody>
          <a:bodyPr anchor="ctr"/>
          <a:lstStyle>
            <a:lvl1pPr algn="ctr">
              <a:defRPr sz="3600" b="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01024" y="642918"/>
            <a:ext cx="785818" cy="4572032"/>
          </a:xfrm>
        </p:spPr>
        <p:txBody>
          <a:bodyPr vert="eaVert" anchor="ctr"/>
          <a:lstStyle>
            <a:lvl1pPr algn="l">
              <a:defRPr sz="2400" b="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42922" y="541340"/>
            <a:ext cx="6415094" cy="5459428"/>
          </a:xfrm>
          <a:prstGeom prst="roundRect">
            <a:avLst>
              <a:gd name="adj" fmla="val 4800"/>
            </a:avLst>
          </a:prstGeom>
          <a:solidFill>
            <a:schemeClr val="accent1">
              <a:tint val="20000"/>
            </a:schemeClr>
          </a:solidFill>
          <a:ln w="38100">
            <a:gradFill flip="none"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tint val="20000"/>
                  </a:schemeClr>
                </a:gs>
              </a:gsLst>
              <a:lin ang="16200000" scaled="1"/>
              <a:tileRect/>
            </a:gradFill>
          </a:ln>
          <a:effectLst>
            <a:outerShdw blurRad="76200" dist="38100" dir="5400000" sx="100500" sy="100500" algn="tl" rotWithShape="0">
              <a:srgbClr val="000000">
                <a:alpha val="50000"/>
              </a:srgb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zh-CN" altLang="en-US"/>
              <a:t>单击图标添加图片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072330" y="1000108"/>
            <a:ext cx="914368" cy="4214842"/>
          </a:xfrm>
        </p:spPr>
        <p:txBody>
          <a:bodyPr vert="eaVert" anchor="ctr"/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900"/>
            </a:lvl4pPr>
            <a:lvl5pPr marL="1828800" indent="0" algn="ctr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2024/3/21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2024/3/21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143768" y="274639"/>
            <a:ext cx="1543032" cy="5851525"/>
          </a:xfrm>
        </p:spPr>
        <p:txBody>
          <a:bodyPr vert="eaVert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615130" cy="5851525"/>
          </a:xfrm>
        </p:spPr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2024/3/21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3">
            <a:duotone>
              <a:schemeClr val="accent1"/>
              <a:srgbClr val="FFFFFF"/>
            </a:duotone>
            <a:lum bright="12000" contrast="40000"/>
          </a:blip>
          <a:stretch>
            <a:fillRect/>
          </a:stretch>
        </p:blipFill>
        <p:spPr>
          <a:xfrm>
            <a:off x="6667809" y="4915143"/>
            <a:ext cx="2476191" cy="1942857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矩形 9"/>
          <p:cNvSpPr/>
          <p:nvPr/>
        </p:nvSpPr>
        <p:spPr>
          <a:xfrm>
            <a:off x="0" y="0"/>
            <a:ext cx="9144000" cy="7143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50000"/>
                  <a:hueMod val="100000"/>
                  <a:satMod val="250000"/>
                  <a:alpha val="0"/>
                </a:schemeClr>
              </a:gs>
              <a:gs pos="75000">
                <a:schemeClr val="accent1">
                  <a:tint val="80000"/>
                  <a:shade val="100000"/>
                  <a:hueMod val="100000"/>
                  <a:satMod val="375000"/>
                  <a:alpha val="20000"/>
                </a:schemeClr>
              </a:gs>
              <a:gs pos="100000">
                <a:schemeClr val="accent1">
                  <a:tint val="50000"/>
                  <a:shade val="100000"/>
                  <a:hueMod val="100000"/>
                  <a:satMod val="500000"/>
                </a:schemeClr>
              </a:gs>
            </a:gsLst>
            <a:lin ang="18900000" scaled="1"/>
            <a:tileRect/>
          </a:gradFill>
          <a:ln w="12700" cap="rnd" cmpd="sng" algn="ctr">
            <a:noFill/>
            <a:prstDash val="soli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0" y="40951"/>
            <a:ext cx="4572000" cy="7143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50000"/>
                  <a:hueMod val="100000"/>
                  <a:satMod val="250000"/>
                  <a:alpha val="0"/>
                </a:schemeClr>
              </a:gs>
              <a:gs pos="75000">
                <a:schemeClr val="accent1">
                  <a:tint val="80000"/>
                  <a:shade val="100000"/>
                  <a:hueMod val="100000"/>
                  <a:satMod val="375000"/>
                  <a:alpha val="5000"/>
                </a:schemeClr>
              </a:gs>
              <a:gs pos="100000">
                <a:schemeClr val="accent1">
                  <a:tint val="50000"/>
                  <a:shade val="100000"/>
                  <a:hueMod val="100000"/>
                  <a:satMod val="500000"/>
                  <a:alpha val="60000"/>
                </a:schemeClr>
              </a:gs>
            </a:gsLst>
            <a:lin ang="8100000" scaled="1"/>
            <a:tileRect/>
          </a:gradFill>
          <a:ln w="12700" cap="rnd" cmpd="sng" algn="ctr">
            <a:noFill/>
            <a:prstDash val="solid"/>
          </a:ln>
          <a:effectLst>
            <a:glow>
              <a:schemeClr val="accent1">
                <a:tint val="100000"/>
                <a:shade val="100000"/>
                <a:hueMod val="100000"/>
                <a:satMod val="100000"/>
              </a:schemeClr>
            </a:glow>
            <a:softEdge rad="1270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4">
            <a:duotone>
              <a:schemeClr val="accent1"/>
              <a:srgbClr val="FFFFFF"/>
            </a:duotone>
            <a:lum bright="35000" contrast="40000"/>
          </a:blip>
          <a:stretch>
            <a:fillRect/>
          </a:stretch>
        </p:blipFill>
        <p:spPr>
          <a:xfrm>
            <a:off x="0" y="6420445"/>
            <a:ext cx="9144000" cy="43755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  <a:p>
            <a:pPr lvl="1" eaLnBrk="1" latinLnBrk="0" hangingPunct="1"/>
            <a:r>
              <a:rPr kumimoji="0" lang="zh-CN" altLang="en-US"/>
              <a:t>第二级</a:t>
            </a:r>
          </a:p>
          <a:p>
            <a:pPr lvl="2" eaLnBrk="1" latinLnBrk="0" hangingPunct="1"/>
            <a:r>
              <a:rPr kumimoji="0" lang="zh-CN" altLang="en-US"/>
              <a:t>第三级</a:t>
            </a:r>
          </a:p>
          <a:p>
            <a:pPr lvl="3" eaLnBrk="1" latinLnBrk="0" hangingPunct="1"/>
            <a:r>
              <a:rPr kumimoji="0" lang="zh-CN" altLang="en-US"/>
              <a:t>第四级</a:t>
            </a:r>
          </a:p>
          <a:p>
            <a:pPr lvl="4" eaLnBrk="1" latinLnBrk="0" hangingPunct="1"/>
            <a:r>
              <a:rPr kumimoji="0"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rtlCol="0" anchor="ctr"/>
          <a:lstStyle>
            <a:lvl1pPr algn="l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2024/3/21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rtlCol="0" anchor="ctr"/>
          <a:lstStyle>
            <a:lvl1pPr algn="ctr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rtlCol="0" anchor="ctr"/>
          <a:lstStyle>
            <a:lvl1pPr algn="r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50000"/>
        <a:buFont typeface="Wingdings 2"/>
        <a:buChar char="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2"/>
        </a:buClr>
        <a:buSzPct val="50000"/>
        <a:buFont typeface="Wingdings 2"/>
        <a:buChar char="³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3"/>
        </a:buClr>
        <a:buSzPct val="60000"/>
        <a:buFont typeface="Wingdings 2"/>
        <a:buChar char="®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5"/>
        </a:buClr>
        <a:buSzPct val="45000"/>
        <a:buFont typeface="Wingdings 2"/>
        <a:buChar char="¯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6"/>
        </a:buClr>
        <a:buFont typeface="Wingdings 2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C++5_04.ra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C++5_05.ra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3074"/>
          <p:cNvSpPr>
            <a:spLocks noGrp="1" noChangeArrowheads="1"/>
          </p:cNvSpPr>
          <p:nvPr>
            <p:ph type="ctrTitle"/>
          </p:nvPr>
        </p:nvSpPr>
        <p:spPr>
          <a:xfrm>
            <a:off x="685800" y="1340768"/>
            <a:ext cx="7772400" cy="1143000"/>
          </a:xfrm>
        </p:spPr>
        <p:txBody>
          <a:bodyPr/>
          <a:lstStyle/>
          <a:p>
            <a:pPr eaLnBrk="1" hangingPunct="1"/>
            <a:r>
              <a:rPr lang="zh-CN" altLang="en-US" dirty="0"/>
              <a:t>第</a:t>
            </a:r>
            <a:r>
              <a:rPr lang="en-US" altLang="zh-CN" dirty="0"/>
              <a:t>3</a:t>
            </a:r>
            <a:r>
              <a:rPr lang="zh-CN" altLang="en-US" dirty="0"/>
              <a:t>讲  数据的共享与保护</a:t>
            </a:r>
          </a:p>
        </p:txBody>
      </p:sp>
      <p:sp>
        <p:nvSpPr>
          <p:cNvPr id="3" name="Rectangle 3074"/>
          <p:cNvSpPr txBox="1">
            <a:spLocks noChangeArrowheads="1"/>
          </p:cNvSpPr>
          <p:nvPr/>
        </p:nvSpPr>
        <p:spPr>
          <a:xfrm>
            <a:off x="3995936" y="3095733"/>
            <a:ext cx="4680520" cy="837321"/>
          </a:xfrm>
          <a:prstGeom prst="rect">
            <a:avLst/>
          </a:prstGeom>
        </p:spPr>
        <p:txBody>
          <a:bodyPr vert="horz" rtlCol="0" anchor="b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8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friend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71600" y="4212377"/>
            <a:ext cx="214353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/>
              <a:t>教材 第</a:t>
            </a:r>
            <a:r>
              <a:rPr lang="en-US" altLang="zh-CN" sz="3200" dirty="0"/>
              <a:t>5</a:t>
            </a:r>
            <a:r>
              <a:rPr lang="zh-CN" altLang="en-US" sz="3200" dirty="0"/>
              <a:t>章</a:t>
            </a:r>
          </a:p>
        </p:txBody>
      </p:sp>
    </p:spTree>
    <p:extLst>
      <p:ext uri="{BB962C8B-B14F-4D97-AF65-F5344CB8AC3E}">
        <p14:creationId xmlns:p14="http://schemas.microsoft.com/office/powerpoint/2010/main" val="3668037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大纲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1863725" y="1905000"/>
            <a:ext cx="6102350" cy="4114800"/>
          </a:xfrm>
        </p:spPr>
        <p:txBody>
          <a:bodyPr>
            <a:normAutofit/>
          </a:bodyPr>
          <a:lstStyle/>
          <a:p>
            <a:pPr marL="0" indent="0" algn="just" eaLnBrk="1" hangingPunct="1">
              <a:lnSpc>
                <a:spcPct val="90000"/>
              </a:lnSpc>
              <a:buNone/>
              <a:defRPr/>
            </a:pPr>
            <a:r>
              <a:rPr lang="en-US" altLang="zh-CN" dirty="0"/>
              <a:t>1 </a:t>
            </a:r>
            <a:r>
              <a:rPr lang="zh-CN" altLang="en-US" dirty="0"/>
              <a:t>标志符的作用域与可见性</a:t>
            </a:r>
          </a:p>
          <a:p>
            <a:pPr marL="0" indent="0" algn="just" eaLnBrk="1" hangingPunct="1">
              <a:lnSpc>
                <a:spcPct val="90000"/>
              </a:lnSpc>
              <a:buNone/>
              <a:defRPr/>
            </a:pPr>
            <a:r>
              <a:rPr lang="en-US" altLang="zh-CN" dirty="0"/>
              <a:t>2 </a:t>
            </a:r>
            <a:r>
              <a:rPr lang="zh-CN" altLang="en-US" dirty="0"/>
              <a:t>对象的生存期</a:t>
            </a:r>
          </a:p>
          <a:p>
            <a:pPr marL="0" indent="0" algn="just" eaLnBrk="1" hangingPunct="1">
              <a:lnSpc>
                <a:spcPct val="90000"/>
              </a:lnSpc>
              <a:buNone/>
              <a:defRPr/>
            </a:pPr>
            <a:r>
              <a:rPr lang="en-US" altLang="zh-CN" dirty="0"/>
              <a:t>3 </a:t>
            </a:r>
            <a:r>
              <a:rPr lang="zh-CN" altLang="en-US" dirty="0"/>
              <a:t>类的静态成员</a:t>
            </a:r>
            <a:r>
              <a:rPr lang="en-US" altLang="zh-CN" dirty="0"/>
              <a:t>static</a:t>
            </a:r>
            <a:endParaRPr lang="zh-CN" altLang="en-US" dirty="0"/>
          </a:p>
          <a:p>
            <a:pPr marL="0" indent="0" algn="just" eaLnBrk="1" hangingPunct="1">
              <a:lnSpc>
                <a:spcPct val="90000"/>
              </a:lnSpc>
              <a:buNone/>
              <a:defRPr/>
            </a:pP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4 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类的友元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friend</a:t>
            </a:r>
          </a:p>
          <a:p>
            <a:pPr marL="0" indent="0" algn="just" eaLnBrk="1" hangingPunct="1">
              <a:lnSpc>
                <a:spcPct val="90000"/>
              </a:lnSpc>
              <a:buNone/>
              <a:defRPr/>
            </a:pP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5 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共享数据的保护</a:t>
            </a:r>
            <a:r>
              <a:rPr lang="en-US" altLang="zh-CN" dirty="0" err="1">
                <a:solidFill>
                  <a:schemeClr val="bg1">
                    <a:lumMod val="65000"/>
                  </a:schemeClr>
                </a:solidFill>
              </a:rPr>
              <a:t>const</a:t>
            </a:r>
            <a:endParaRPr lang="zh-CN" altLang="en-US" dirty="0">
              <a:solidFill>
                <a:schemeClr val="bg1">
                  <a:lumMod val="65000"/>
                </a:schemeClr>
              </a:solidFill>
            </a:endParaRPr>
          </a:p>
          <a:p>
            <a:pPr marL="0" indent="0" algn="just">
              <a:lnSpc>
                <a:spcPct val="90000"/>
              </a:lnSpc>
              <a:buNone/>
              <a:defRPr/>
            </a:pP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6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多文件结构和编译预处理命令</a:t>
            </a:r>
            <a:endParaRPr lang="en-US" altLang="zh-CN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09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1A7BEDC6-3DB4-4D00-BBFB-88877B2CC616}" type="slidenum">
              <a:rPr lang="en-US" altLang="zh-CN" sz="1400" smtClean="0"/>
              <a:pPr/>
              <a:t>2</a:t>
            </a:fld>
            <a:endParaRPr lang="en-US" altLang="zh-CN" sz="1400"/>
          </a:p>
        </p:txBody>
      </p:sp>
    </p:spTree>
    <p:extLst>
      <p:ext uri="{BB962C8B-B14F-4D97-AF65-F5344CB8AC3E}">
        <p14:creationId xmlns:p14="http://schemas.microsoft.com/office/powerpoint/2010/main" val="3528491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altLang="zh-CN" dirty="0"/>
              <a:t>3.1 </a:t>
            </a:r>
            <a:r>
              <a:rPr lang="zh-CN" altLang="en-US" dirty="0"/>
              <a:t>标志符的作用域与可见性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1863725" y="1905000"/>
            <a:ext cx="6102350" cy="4114800"/>
          </a:xfrm>
        </p:spPr>
        <p:txBody>
          <a:bodyPr>
            <a:normAutofit/>
          </a:bodyPr>
          <a:lstStyle/>
          <a:p>
            <a:pPr marL="0" indent="0" algn="just" eaLnBrk="1" hangingPunct="1">
              <a:lnSpc>
                <a:spcPct val="90000"/>
              </a:lnSpc>
              <a:buNone/>
              <a:defRPr/>
            </a:pPr>
            <a:r>
              <a:rPr lang="en-US" altLang="zh-CN" dirty="0"/>
              <a:t>3.1.1 </a:t>
            </a:r>
            <a:r>
              <a:rPr lang="zh-CN" altLang="en-US" dirty="0"/>
              <a:t>作用域</a:t>
            </a:r>
          </a:p>
          <a:p>
            <a:pPr marL="0" indent="0" algn="just" eaLnBrk="1" hangingPunct="1">
              <a:lnSpc>
                <a:spcPct val="90000"/>
              </a:lnSpc>
              <a:buNone/>
              <a:defRPr/>
            </a:pPr>
            <a:r>
              <a:rPr lang="en-US" altLang="zh-CN" dirty="0"/>
              <a:t>3.1.2 </a:t>
            </a:r>
            <a:r>
              <a:rPr lang="zh-CN" altLang="en-US" dirty="0"/>
              <a:t>可见性</a:t>
            </a:r>
            <a:endParaRPr lang="en-US" altLang="zh-CN" dirty="0"/>
          </a:p>
        </p:txBody>
      </p:sp>
      <p:sp>
        <p:nvSpPr>
          <p:cNvPr id="409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1A7BEDC6-3DB4-4D00-BBFB-88877B2CC616}" type="slidenum">
              <a:rPr lang="en-US" altLang="zh-CN" sz="1400" smtClean="0"/>
              <a:pPr/>
              <a:t>3</a:t>
            </a:fld>
            <a:endParaRPr lang="en-US" altLang="zh-CN" sz="1400"/>
          </a:p>
        </p:txBody>
      </p:sp>
    </p:spTree>
    <p:extLst>
      <p:ext uri="{BB962C8B-B14F-4D97-AF65-F5344CB8AC3E}">
        <p14:creationId xmlns:p14="http://schemas.microsoft.com/office/powerpoint/2010/main" val="14724166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组合 28"/>
          <p:cNvGrpSpPr/>
          <p:nvPr/>
        </p:nvGrpSpPr>
        <p:grpSpPr>
          <a:xfrm>
            <a:off x="3414229" y="1268760"/>
            <a:ext cx="4254115" cy="4464496"/>
            <a:chOff x="3414229" y="1268760"/>
            <a:chExt cx="4254115" cy="4464496"/>
          </a:xfrm>
        </p:grpSpPr>
        <p:sp>
          <p:nvSpPr>
            <p:cNvPr id="19" name="圆角矩形 18"/>
            <p:cNvSpPr/>
            <p:nvPr/>
          </p:nvSpPr>
          <p:spPr>
            <a:xfrm>
              <a:off x="3414229" y="4365104"/>
              <a:ext cx="4254115" cy="1368152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28" name="下箭头 27"/>
            <p:cNvSpPr/>
            <p:nvPr/>
          </p:nvSpPr>
          <p:spPr>
            <a:xfrm>
              <a:off x="5004048" y="1268760"/>
              <a:ext cx="792088" cy="3024336"/>
            </a:xfrm>
            <a:prstGeom prst="downArrow">
              <a:avLst>
                <a:gd name="adj1" fmla="val 13059"/>
                <a:gd name="adj2" fmla="val 17677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5652120" y="1196752"/>
            <a:ext cx="3096344" cy="2808312"/>
            <a:chOff x="5652120" y="1196752"/>
            <a:chExt cx="3096344" cy="2808312"/>
          </a:xfrm>
        </p:grpSpPr>
        <p:sp>
          <p:nvSpPr>
            <p:cNvPr id="17" name="圆角矩形 16"/>
            <p:cNvSpPr/>
            <p:nvPr/>
          </p:nvSpPr>
          <p:spPr>
            <a:xfrm>
              <a:off x="5652120" y="1772816"/>
              <a:ext cx="3096344" cy="2232248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下箭头 24"/>
            <p:cNvSpPr/>
            <p:nvPr/>
          </p:nvSpPr>
          <p:spPr>
            <a:xfrm>
              <a:off x="6480212" y="1196752"/>
              <a:ext cx="180020" cy="576064"/>
            </a:xfrm>
            <a:prstGeom prst="downArrow">
              <a:avLst/>
            </a:prstGeom>
            <a:solidFill>
              <a:schemeClr val="tx2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3203848" y="1196752"/>
            <a:ext cx="1728192" cy="2880320"/>
            <a:chOff x="3203848" y="1196752"/>
            <a:chExt cx="1728192" cy="2880320"/>
          </a:xfrm>
        </p:grpSpPr>
        <p:sp>
          <p:nvSpPr>
            <p:cNvPr id="5" name="圆角矩形 4"/>
            <p:cNvSpPr/>
            <p:nvPr/>
          </p:nvSpPr>
          <p:spPr>
            <a:xfrm>
              <a:off x="3203848" y="1772816"/>
              <a:ext cx="1728192" cy="2304256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3" name="组合 22"/>
            <p:cNvGrpSpPr/>
            <p:nvPr/>
          </p:nvGrpSpPr>
          <p:grpSpPr>
            <a:xfrm>
              <a:off x="3419872" y="1196752"/>
              <a:ext cx="864096" cy="576064"/>
              <a:chOff x="3419872" y="1196752"/>
              <a:chExt cx="864096" cy="576064"/>
            </a:xfrm>
          </p:grpSpPr>
          <p:sp>
            <p:nvSpPr>
              <p:cNvPr id="4" name="TextBox 3"/>
              <p:cNvSpPr txBox="1"/>
              <p:nvPr/>
            </p:nvSpPr>
            <p:spPr>
              <a:xfrm>
                <a:off x="3419872" y="1259468"/>
                <a:ext cx="68407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包含：</a:t>
                </a:r>
              </a:p>
            </p:txBody>
          </p:sp>
          <p:sp>
            <p:nvSpPr>
              <p:cNvPr id="8" name="下箭头 7"/>
              <p:cNvSpPr/>
              <p:nvPr/>
            </p:nvSpPr>
            <p:spPr>
              <a:xfrm>
                <a:off x="4103948" y="1196752"/>
                <a:ext cx="180020" cy="576064"/>
              </a:xfrm>
              <a:prstGeom prst="downArrow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altLang="zh-CN" dirty="0"/>
              <a:t>3.1.1 </a:t>
            </a:r>
            <a:r>
              <a:rPr lang="zh-CN" altLang="en-US" dirty="0"/>
              <a:t>标志符的作用域</a:t>
            </a:r>
          </a:p>
        </p:txBody>
      </p:sp>
      <p:sp>
        <p:nvSpPr>
          <p:cNvPr id="409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1A7BEDC6-3DB4-4D00-BBFB-88877B2CC616}" type="slidenum">
              <a:rPr lang="en-US" altLang="zh-CN" sz="1400" smtClean="0"/>
              <a:pPr/>
              <a:t>4</a:t>
            </a:fld>
            <a:endParaRPr lang="en-US" altLang="zh-CN" sz="1400"/>
          </a:p>
        </p:txBody>
      </p:sp>
      <p:cxnSp>
        <p:nvCxnSpPr>
          <p:cNvPr id="3" name="直接连接符 2"/>
          <p:cNvCxnSpPr/>
          <p:nvPr/>
        </p:nvCxnSpPr>
        <p:spPr>
          <a:xfrm>
            <a:off x="3563888" y="1124744"/>
            <a:ext cx="1440160" cy="0"/>
          </a:xfrm>
          <a:prstGeom prst="line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491880" y="1835532"/>
            <a:ext cx="1152128" cy="52322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变量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91880" y="2473732"/>
            <a:ext cx="1152128" cy="52322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函数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91880" y="3049796"/>
            <a:ext cx="11521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1880" y="3563724"/>
            <a:ext cx="1152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……</a:t>
            </a:r>
            <a:endParaRPr lang="zh-CN" altLang="en-US" dirty="0"/>
          </a:p>
        </p:txBody>
      </p:sp>
      <p:cxnSp>
        <p:nvCxnSpPr>
          <p:cNvPr id="16" name="直接连接符 15"/>
          <p:cNvCxnSpPr/>
          <p:nvPr/>
        </p:nvCxnSpPr>
        <p:spPr>
          <a:xfrm>
            <a:off x="5796136" y="1124744"/>
            <a:ext cx="1440160" cy="0"/>
          </a:xfrm>
          <a:prstGeom prst="line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652120" y="1988840"/>
            <a:ext cx="309634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作用范围</a:t>
            </a:r>
            <a:endParaRPr lang="en-US" altLang="zh-CN" sz="2800" dirty="0"/>
          </a:p>
          <a:p>
            <a:r>
              <a:rPr lang="zh-CN" altLang="en-US" sz="2800" dirty="0"/>
              <a:t>即：</a:t>
            </a:r>
            <a:endParaRPr lang="en-US" altLang="zh-CN" sz="2800" dirty="0"/>
          </a:p>
          <a:p>
            <a:r>
              <a:rPr lang="zh-CN" altLang="en-US" sz="2800" dirty="0"/>
              <a:t>可以使用的范围</a:t>
            </a:r>
            <a:endParaRPr lang="en-US" altLang="zh-CN" sz="2800" dirty="0"/>
          </a:p>
          <a:p>
            <a:r>
              <a:rPr lang="zh-CN" altLang="en-US" sz="2800" dirty="0"/>
              <a:t>可以访问到的范围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81889" y="4512022"/>
            <a:ext cx="401444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标志符在哪里定义，</a:t>
            </a:r>
            <a:endParaRPr lang="en-US" altLang="zh-CN" sz="3200" dirty="0"/>
          </a:p>
          <a:p>
            <a:r>
              <a:rPr lang="zh-CN" altLang="en-US" sz="3200" dirty="0"/>
              <a:t>就在哪里使用</a:t>
            </a:r>
          </a:p>
        </p:txBody>
      </p:sp>
      <p:cxnSp>
        <p:nvCxnSpPr>
          <p:cNvPr id="26" name="直接连接符 25"/>
          <p:cNvCxnSpPr/>
          <p:nvPr/>
        </p:nvCxnSpPr>
        <p:spPr>
          <a:xfrm>
            <a:off x="3491880" y="1196752"/>
            <a:ext cx="3896816" cy="0"/>
          </a:xfrm>
          <a:prstGeom prst="line">
            <a:avLst/>
          </a:prstGeom>
          <a:ln w="381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9050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/>
      <p:bldP spid="12" grpId="0"/>
      <p:bldP spid="18" grpId="0"/>
      <p:bldP spid="2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/>
          <p:cNvSpPr/>
          <p:nvPr/>
        </p:nvSpPr>
        <p:spPr>
          <a:xfrm>
            <a:off x="1259632" y="692696"/>
            <a:ext cx="7128792" cy="936104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5" name="TextBox 4"/>
          <p:cNvSpPr txBox="1"/>
          <p:nvPr/>
        </p:nvSpPr>
        <p:spPr>
          <a:xfrm>
            <a:off x="1547664" y="838163"/>
            <a:ext cx="63367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标志符在哪里定义，就在哪里使用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3347864" y="1412776"/>
            <a:ext cx="720080" cy="0"/>
          </a:xfrm>
          <a:prstGeom prst="line">
            <a:avLst/>
          </a:prstGeom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组合 25"/>
          <p:cNvGrpSpPr/>
          <p:nvPr/>
        </p:nvGrpSpPr>
        <p:grpSpPr>
          <a:xfrm>
            <a:off x="2411760" y="1556792"/>
            <a:ext cx="2592288" cy="3744416"/>
            <a:chOff x="2411760" y="1556792"/>
            <a:chExt cx="2592288" cy="3744416"/>
          </a:xfrm>
        </p:grpSpPr>
        <p:sp>
          <p:nvSpPr>
            <p:cNvPr id="10" name="下箭头 9"/>
            <p:cNvSpPr/>
            <p:nvPr/>
          </p:nvSpPr>
          <p:spPr>
            <a:xfrm>
              <a:off x="3635896" y="1556792"/>
              <a:ext cx="180020" cy="576064"/>
            </a:xfrm>
            <a:prstGeom prst="downArrow">
              <a:avLst/>
            </a:prstGeom>
            <a:solidFill>
              <a:schemeClr val="tx2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圆角矩形 10"/>
            <p:cNvSpPr/>
            <p:nvPr/>
          </p:nvSpPr>
          <p:spPr>
            <a:xfrm>
              <a:off x="2411760" y="2261190"/>
              <a:ext cx="2592288" cy="3040018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2699792" y="2261190"/>
            <a:ext cx="18722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函数原型</a:t>
            </a:r>
            <a:endParaRPr lang="en-US" altLang="zh-CN" sz="3200" dirty="0"/>
          </a:p>
        </p:txBody>
      </p:sp>
      <p:sp>
        <p:nvSpPr>
          <p:cNvPr id="13" name="矩形 12"/>
          <p:cNvSpPr/>
          <p:nvPr/>
        </p:nvSpPr>
        <p:spPr>
          <a:xfrm>
            <a:off x="2754052" y="2828836"/>
            <a:ext cx="152991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/>
              <a:t>块</a:t>
            </a:r>
            <a:endParaRPr lang="en-US" altLang="zh-CN" sz="3200" dirty="0"/>
          </a:p>
        </p:txBody>
      </p:sp>
      <p:sp>
        <p:nvSpPr>
          <p:cNvPr id="14" name="矩形 13"/>
          <p:cNvSpPr/>
          <p:nvPr/>
        </p:nvSpPr>
        <p:spPr>
          <a:xfrm>
            <a:off x="2699792" y="3429000"/>
            <a:ext cx="158417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/>
              <a:t>类</a:t>
            </a:r>
            <a:endParaRPr lang="en-US" altLang="zh-CN" sz="3200" dirty="0"/>
          </a:p>
        </p:txBody>
      </p:sp>
      <p:sp>
        <p:nvSpPr>
          <p:cNvPr id="15" name="矩形 14"/>
          <p:cNvSpPr/>
          <p:nvPr/>
        </p:nvSpPr>
        <p:spPr>
          <a:xfrm>
            <a:off x="2718048" y="4005064"/>
            <a:ext cx="206997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/>
              <a:t>命名空间</a:t>
            </a:r>
            <a:endParaRPr lang="en-US" altLang="zh-CN" sz="3200" dirty="0"/>
          </a:p>
        </p:txBody>
      </p:sp>
      <p:sp>
        <p:nvSpPr>
          <p:cNvPr id="16" name="矩形 15"/>
          <p:cNvSpPr/>
          <p:nvPr/>
        </p:nvSpPr>
        <p:spPr>
          <a:xfrm>
            <a:off x="2733085" y="4581128"/>
            <a:ext cx="133485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/>
              <a:t>文件</a:t>
            </a:r>
          </a:p>
        </p:txBody>
      </p:sp>
      <p:sp>
        <p:nvSpPr>
          <p:cNvPr id="17" name="矩形 16"/>
          <p:cNvSpPr/>
          <p:nvPr/>
        </p:nvSpPr>
        <p:spPr>
          <a:xfrm>
            <a:off x="5058308" y="2852936"/>
            <a:ext cx="217798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dirty="0"/>
              <a:t>{  ……      }  </a:t>
            </a:r>
          </a:p>
        </p:txBody>
      </p:sp>
      <p:sp>
        <p:nvSpPr>
          <p:cNvPr id="19" name="右箭头 18"/>
          <p:cNvSpPr/>
          <p:nvPr/>
        </p:nvSpPr>
        <p:spPr>
          <a:xfrm>
            <a:off x="3491880" y="3108161"/>
            <a:ext cx="1620180" cy="58782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8" name="组合 27"/>
          <p:cNvGrpSpPr/>
          <p:nvPr/>
        </p:nvGrpSpPr>
        <p:grpSpPr>
          <a:xfrm>
            <a:off x="4427984" y="3996353"/>
            <a:ext cx="3024336" cy="584775"/>
            <a:chOff x="4427984" y="3996353"/>
            <a:chExt cx="3024336" cy="584775"/>
          </a:xfrm>
        </p:grpSpPr>
        <p:sp>
          <p:nvSpPr>
            <p:cNvPr id="18" name="矩形 17"/>
            <p:cNvSpPr/>
            <p:nvPr/>
          </p:nvSpPr>
          <p:spPr>
            <a:xfrm>
              <a:off x="5076056" y="3996353"/>
              <a:ext cx="2376264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3200" dirty="0"/>
                <a:t>namespace</a:t>
              </a:r>
            </a:p>
          </p:txBody>
        </p:sp>
        <p:sp>
          <p:nvSpPr>
            <p:cNvPr id="20" name="右箭头 19"/>
            <p:cNvSpPr/>
            <p:nvPr/>
          </p:nvSpPr>
          <p:spPr>
            <a:xfrm>
              <a:off x="4427984" y="4319385"/>
              <a:ext cx="720000" cy="45719"/>
            </a:xfrm>
            <a:prstGeom prst="rightArrow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1547664" y="2132856"/>
            <a:ext cx="720080" cy="3096344"/>
            <a:chOff x="1547664" y="2132856"/>
            <a:chExt cx="720080" cy="3096344"/>
          </a:xfrm>
        </p:grpSpPr>
        <p:cxnSp>
          <p:nvCxnSpPr>
            <p:cNvPr id="22" name="直接箭头连接符 21"/>
            <p:cNvCxnSpPr/>
            <p:nvPr/>
          </p:nvCxnSpPr>
          <p:spPr>
            <a:xfrm>
              <a:off x="2051720" y="2420888"/>
              <a:ext cx="0" cy="266865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矩形 23"/>
            <p:cNvSpPr/>
            <p:nvPr/>
          </p:nvSpPr>
          <p:spPr>
            <a:xfrm>
              <a:off x="1619672" y="2132856"/>
              <a:ext cx="64807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dirty="0"/>
                <a:t>小</a:t>
              </a:r>
              <a:endParaRPr lang="en-US" altLang="zh-CN" sz="2400" dirty="0"/>
            </a:p>
          </p:txBody>
        </p:sp>
        <p:sp>
          <p:nvSpPr>
            <p:cNvPr id="25" name="矩形 24"/>
            <p:cNvSpPr/>
            <p:nvPr/>
          </p:nvSpPr>
          <p:spPr>
            <a:xfrm>
              <a:off x="1547664" y="4767535"/>
              <a:ext cx="64807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dirty="0"/>
                <a:t>大</a:t>
              </a:r>
              <a:endParaRPr lang="en-US" altLang="zh-CN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4193459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  <p:bldP spid="1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1295400" y="228600"/>
            <a:ext cx="7162800" cy="1066800"/>
          </a:xfrm>
        </p:spPr>
        <p:txBody>
          <a:bodyPr/>
          <a:lstStyle/>
          <a:p>
            <a:pPr eaLnBrk="1" hangingPunct="1">
              <a:lnSpc>
                <a:spcPct val="70000"/>
              </a:lnSpc>
            </a:pPr>
            <a:r>
              <a:rPr lang="zh-CN" altLang="en-US"/>
              <a:t>函数原形的作用域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idx="1"/>
          </p:nvPr>
        </p:nvSpPr>
        <p:spPr>
          <a:xfrm>
            <a:off x="1149350" y="1905000"/>
            <a:ext cx="7239000" cy="4114800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宋体" charset="-122"/>
              </a:rPr>
              <a:t>函数原型中的参数，具有原型作用域。其作用域始于</a:t>
            </a:r>
            <a:r>
              <a:rPr lang="en-US" altLang="zh-CN" dirty="0">
                <a:latin typeface="宋体" charset="-122"/>
              </a:rPr>
              <a:t>“(”</a:t>
            </a:r>
            <a:r>
              <a:rPr lang="zh-CN" altLang="en-US" dirty="0">
                <a:latin typeface="宋体" charset="-122"/>
              </a:rPr>
              <a:t>，结束于</a:t>
            </a:r>
            <a:r>
              <a:rPr lang="en-US" altLang="zh-CN" dirty="0">
                <a:latin typeface="宋体" charset="-122"/>
              </a:rPr>
              <a:t>“)”.</a:t>
            </a:r>
            <a:endParaRPr lang="zh-CN" altLang="en-US" dirty="0">
              <a:latin typeface="宋体" charset="-122"/>
            </a:endParaRPr>
          </a:p>
          <a:p>
            <a:pPr eaLnBrk="1" hangingPunct="1"/>
            <a:r>
              <a:rPr lang="zh-CN" altLang="en-US" dirty="0">
                <a:latin typeface="宋体" charset="-122"/>
              </a:rPr>
              <a:t>例如，设有下列函数原型声明：</a:t>
            </a:r>
          </a:p>
          <a:p>
            <a:pPr lvl="1" eaLnBrk="1" hangingPunct="1">
              <a:buFontTx/>
              <a:buNone/>
            </a:pPr>
            <a:r>
              <a:rPr lang="en-US" altLang="zh-CN" dirty="0">
                <a:latin typeface="宋体" charset="-122"/>
              </a:rPr>
              <a:t>double area(double radius);</a:t>
            </a:r>
          </a:p>
        </p:txBody>
      </p:sp>
      <p:sp>
        <p:nvSpPr>
          <p:cNvPr id="512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0742BD75-0579-4B70-8A87-5073A59A9A4A}" type="slidenum">
              <a:rPr lang="en-US" altLang="zh-CN" sz="1400" smtClean="0"/>
              <a:pPr/>
              <a:t>6</a:t>
            </a:fld>
            <a:endParaRPr lang="en-US" altLang="zh-CN" sz="1400"/>
          </a:p>
        </p:txBody>
      </p:sp>
      <p:grpSp>
        <p:nvGrpSpPr>
          <p:cNvPr id="2" name="组合 1"/>
          <p:cNvGrpSpPr/>
          <p:nvPr/>
        </p:nvGrpSpPr>
        <p:grpSpPr>
          <a:xfrm>
            <a:off x="3851275" y="3962400"/>
            <a:ext cx="4741863" cy="1752600"/>
            <a:chOff x="3851275" y="3962400"/>
            <a:chExt cx="4741863" cy="1752600"/>
          </a:xfrm>
        </p:grpSpPr>
        <p:sp>
          <p:nvSpPr>
            <p:cNvPr id="5125" name="AutoShape 4"/>
            <p:cNvSpPr>
              <a:spLocks/>
            </p:cNvSpPr>
            <p:nvPr/>
          </p:nvSpPr>
          <p:spPr bwMode="auto">
            <a:xfrm rot="-5400000">
              <a:off x="4850606" y="2963069"/>
              <a:ext cx="258763" cy="2257425"/>
            </a:xfrm>
            <a:prstGeom prst="leftBrace">
              <a:avLst>
                <a:gd name="adj1" fmla="val 72699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6" name="AutoShape 5"/>
            <p:cNvSpPr>
              <a:spLocks noChangeArrowheads="1"/>
            </p:cNvSpPr>
            <p:nvPr/>
          </p:nvSpPr>
          <p:spPr bwMode="auto">
            <a:xfrm flipV="1">
              <a:off x="4859338" y="4495800"/>
              <a:ext cx="3733800" cy="1219200"/>
            </a:xfrm>
            <a:prstGeom prst="wedgeRoundRectCallout">
              <a:avLst>
                <a:gd name="adj1" fmla="val -45880"/>
                <a:gd name="adj2" fmla="val 65102"/>
                <a:gd name="adj3" fmla="val 16667"/>
              </a:avLst>
            </a:prstGeom>
            <a:solidFill>
              <a:srgbClr val="66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anchor="ctr"/>
            <a:lstStyle/>
            <a:p>
              <a:pPr eaLnBrk="1" hangingPunct="1"/>
              <a:r>
                <a:rPr lang="zh-CN" altLang="en-US" sz="2200" dirty="0">
                  <a:latin typeface="宋体" charset="-122"/>
                </a:rPr>
                <a:t>形参</a:t>
              </a:r>
              <a:r>
                <a:rPr lang="en-US" altLang="zh-CN" sz="2200" dirty="0">
                  <a:latin typeface="宋体" charset="-122"/>
                </a:rPr>
                <a:t>radius </a:t>
              </a:r>
              <a:r>
                <a:rPr lang="zh-CN" altLang="zh-CN" sz="2200" dirty="0">
                  <a:latin typeface="宋体" charset="-122"/>
                </a:rPr>
                <a:t>的作用域仅在于此，不能用于程序正文其他地方，因而可有可无。</a:t>
              </a:r>
              <a:endParaRPr lang="zh-CN" altLang="en-US" sz="2200" dirty="0">
                <a:latin typeface="宋体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2826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827584" y="1268760"/>
            <a:ext cx="773310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ct val="25000"/>
              </a:spcAft>
            </a:pPr>
            <a:r>
              <a:rPr lang="zh-CN" altLang="en-US" sz="3200" dirty="0">
                <a:latin typeface="宋体" charset="-122"/>
              </a:rPr>
              <a:t>函数的</a:t>
            </a:r>
            <a:r>
              <a:rPr lang="zh-CN" altLang="en-US" sz="3200" b="1" dirty="0">
                <a:latin typeface="宋体" charset="-122"/>
              </a:rPr>
              <a:t>形参</a:t>
            </a:r>
            <a:r>
              <a:rPr lang="zh-CN" altLang="en-US" sz="3200" dirty="0">
                <a:latin typeface="宋体" charset="-122"/>
              </a:rPr>
              <a:t>，在块中声明的</a:t>
            </a:r>
            <a:r>
              <a:rPr lang="zh-CN" altLang="en-US" sz="3200" b="1" dirty="0">
                <a:latin typeface="宋体" charset="-122"/>
              </a:rPr>
              <a:t>标识符</a:t>
            </a:r>
            <a:r>
              <a:rPr lang="zh-CN" altLang="en-US" sz="3200" dirty="0">
                <a:latin typeface="宋体" charset="-122"/>
              </a:rPr>
              <a:t>，具有块（局部）作用域。其作用域自声明处起，限于函数、块中。例如：</a:t>
            </a:r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457200"/>
            <a:ext cx="7239000" cy="838200"/>
          </a:xfrm>
        </p:spPr>
        <p:txBody>
          <a:bodyPr/>
          <a:lstStyle/>
          <a:p>
            <a:r>
              <a:rPr lang="zh-CN" altLang="en-US" dirty="0"/>
              <a:t>块作用域（局部作用域）</a:t>
            </a:r>
          </a:p>
        </p:txBody>
      </p:sp>
      <p:sp>
        <p:nvSpPr>
          <p:cNvPr id="6148" name="Rectangle 3"/>
          <p:cNvSpPr>
            <a:spLocks noGrp="1" noChangeArrowheads="1"/>
          </p:cNvSpPr>
          <p:nvPr>
            <p:ph idx="1"/>
          </p:nvPr>
        </p:nvSpPr>
        <p:spPr>
          <a:xfrm>
            <a:off x="1219200" y="2780928"/>
            <a:ext cx="7239000" cy="3452813"/>
          </a:xfrm>
        </p:spPr>
        <p:txBody>
          <a:bodyPr>
            <a:normAutofit/>
          </a:bodyPr>
          <a:lstStyle/>
          <a:p>
            <a:pPr lvl="1" eaLnBrk="1" hangingPunct="1">
              <a:lnSpc>
                <a:spcPct val="65000"/>
              </a:lnSpc>
              <a:buFontTx/>
              <a:buNone/>
            </a:pPr>
            <a:r>
              <a:rPr lang="en-US" altLang="zh-CN" dirty="0">
                <a:latin typeface="宋体" charset="-122"/>
              </a:rPr>
              <a:t>void fun(</a:t>
            </a:r>
            <a:r>
              <a:rPr lang="en-US" altLang="zh-CN" dirty="0" err="1">
                <a:latin typeface="宋体" charset="-122"/>
              </a:rPr>
              <a:t>int</a:t>
            </a:r>
            <a:r>
              <a:rPr lang="en-US" altLang="zh-CN" dirty="0">
                <a:latin typeface="宋体" charset="-122"/>
              </a:rPr>
              <a:t> a)</a:t>
            </a:r>
          </a:p>
          <a:p>
            <a:pPr lvl="1" eaLnBrk="1" hangingPunct="1">
              <a:lnSpc>
                <a:spcPct val="65000"/>
              </a:lnSpc>
              <a:buFontTx/>
              <a:buNone/>
            </a:pPr>
            <a:r>
              <a:rPr lang="en-US" altLang="zh-CN" dirty="0">
                <a:latin typeface="宋体" charset="-122"/>
              </a:rPr>
              <a:t>{  </a:t>
            </a:r>
            <a:r>
              <a:rPr lang="en-US" altLang="zh-CN" dirty="0" err="1">
                <a:latin typeface="宋体" charset="-122"/>
              </a:rPr>
              <a:t>int</a:t>
            </a:r>
            <a:r>
              <a:rPr lang="en-US" altLang="zh-CN" dirty="0">
                <a:latin typeface="宋体" charset="-122"/>
              </a:rPr>
              <a:t> b = a;</a:t>
            </a:r>
          </a:p>
          <a:p>
            <a:pPr lvl="1" eaLnBrk="1" hangingPunct="1">
              <a:lnSpc>
                <a:spcPct val="65000"/>
              </a:lnSpc>
              <a:buFontTx/>
              <a:buNone/>
            </a:pPr>
            <a:r>
              <a:rPr lang="en-US" altLang="zh-CN" dirty="0">
                <a:latin typeface="宋体" charset="-122"/>
              </a:rPr>
              <a:t>   </a:t>
            </a:r>
            <a:r>
              <a:rPr lang="en-US" altLang="zh-CN" dirty="0" err="1">
                <a:latin typeface="宋体" charset="-122"/>
              </a:rPr>
              <a:t>cin</a:t>
            </a:r>
            <a:r>
              <a:rPr lang="en-US" altLang="zh-CN" dirty="0">
                <a:latin typeface="宋体" charset="-122"/>
              </a:rPr>
              <a:t> &gt;&gt; b;</a:t>
            </a:r>
          </a:p>
          <a:p>
            <a:pPr lvl="1" eaLnBrk="1" hangingPunct="1">
              <a:lnSpc>
                <a:spcPct val="65000"/>
              </a:lnSpc>
              <a:buFontTx/>
              <a:buNone/>
            </a:pPr>
            <a:r>
              <a:rPr lang="en-US" altLang="zh-CN" dirty="0">
                <a:latin typeface="宋体" charset="-122"/>
              </a:rPr>
              <a:t>   if (b &gt; 0)</a:t>
            </a:r>
          </a:p>
          <a:p>
            <a:pPr lvl="1" eaLnBrk="1" hangingPunct="1">
              <a:lnSpc>
                <a:spcPct val="65000"/>
              </a:lnSpc>
              <a:buFontTx/>
              <a:buNone/>
            </a:pPr>
            <a:r>
              <a:rPr lang="en-US" altLang="zh-CN" dirty="0">
                <a:latin typeface="宋体" charset="-122"/>
              </a:rPr>
              <a:t>		{ </a:t>
            </a:r>
            <a:r>
              <a:rPr lang="en-US" altLang="zh-CN" dirty="0" err="1">
                <a:latin typeface="宋体" charset="-122"/>
              </a:rPr>
              <a:t>int</a:t>
            </a:r>
            <a:r>
              <a:rPr lang="en-US" altLang="zh-CN" dirty="0">
                <a:latin typeface="宋体" charset="-122"/>
              </a:rPr>
              <a:t> c;</a:t>
            </a:r>
          </a:p>
          <a:p>
            <a:pPr lvl="1" eaLnBrk="1" hangingPunct="1">
              <a:lnSpc>
                <a:spcPct val="65000"/>
              </a:lnSpc>
              <a:buFontTx/>
              <a:buNone/>
            </a:pPr>
            <a:endParaRPr lang="en-US" altLang="zh-CN" dirty="0">
              <a:latin typeface="宋体" charset="-122"/>
            </a:endParaRPr>
          </a:p>
          <a:p>
            <a:pPr lvl="1" eaLnBrk="1" hangingPunct="1">
              <a:lnSpc>
                <a:spcPct val="65000"/>
              </a:lnSpc>
              <a:buFontTx/>
              <a:buNone/>
            </a:pPr>
            <a:r>
              <a:rPr lang="en-US" altLang="zh-CN" dirty="0">
                <a:latin typeface="宋体" charset="-122"/>
              </a:rPr>
              <a:t>     ......</a:t>
            </a:r>
          </a:p>
          <a:p>
            <a:pPr lvl="1" eaLnBrk="1" hangingPunct="1">
              <a:lnSpc>
                <a:spcPct val="65000"/>
              </a:lnSpc>
              <a:buFontTx/>
              <a:buNone/>
            </a:pPr>
            <a:r>
              <a:rPr lang="en-US" altLang="zh-CN" dirty="0">
                <a:latin typeface="宋体" charset="-122"/>
              </a:rPr>
              <a:t>   }</a:t>
            </a:r>
          </a:p>
          <a:p>
            <a:pPr lvl="1" eaLnBrk="1" hangingPunct="1">
              <a:lnSpc>
                <a:spcPct val="65000"/>
              </a:lnSpc>
              <a:buFontTx/>
              <a:buNone/>
            </a:pPr>
            <a:r>
              <a:rPr lang="en-US" altLang="zh-CN" dirty="0">
                <a:latin typeface="宋体" charset="-122"/>
              </a:rPr>
              <a:t>} </a:t>
            </a:r>
          </a:p>
        </p:txBody>
      </p:sp>
      <p:sp>
        <p:nvSpPr>
          <p:cNvPr id="614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615C2301-D60A-48C5-BCCC-DAD82EFD8172}" type="slidenum">
              <a:rPr lang="en-US" altLang="zh-CN" sz="1400" smtClean="0"/>
              <a:pPr/>
              <a:t>7</a:t>
            </a:fld>
            <a:endParaRPr lang="en-US" altLang="zh-CN" sz="1400"/>
          </a:p>
        </p:txBody>
      </p:sp>
      <p:grpSp>
        <p:nvGrpSpPr>
          <p:cNvPr id="6149" name="Group 7"/>
          <p:cNvGrpSpPr>
            <a:grpSpLocks/>
          </p:cNvGrpSpPr>
          <p:nvPr/>
        </p:nvGrpSpPr>
        <p:grpSpPr bwMode="auto">
          <a:xfrm>
            <a:off x="3786188" y="4214813"/>
            <a:ext cx="2209800" cy="990600"/>
            <a:chOff x="2304" y="3072"/>
            <a:chExt cx="1392" cy="624"/>
          </a:xfrm>
        </p:grpSpPr>
        <p:sp>
          <p:nvSpPr>
            <p:cNvPr id="6157" name="AutoShape 5"/>
            <p:cNvSpPr>
              <a:spLocks noChangeArrowheads="1"/>
            </p:cNvSpPr>
            <p:nvPr/>
          </p:nvSpPr>
          <p:spPr bwMode="auto">
            <a:xfrm>
              <a:off x="2400" y="3072"/>
              <a:ext cx="1296" cy="384"/>
            </a:xfrm>
            <a:prstGeom prst="cloudCallout">
              <a:avLst>
                <a:gd name="adj1" fmla="val -43750"/>
                <a:gd name="adj2" fmla="val 70000"/>
              </a:avLst>
            </a:prstGeom>
            <a:solidFill>
              <a:schemeClr val="accent3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r>
                <a:rPr lang="en-US" altLang="zh-CN" sz="2400" b="1" dirty="0">
                  <a:latin typeface="宋体" charset="-122"/>
                </a:rPr>
                <a:t>c</a:t>
              </a:r>
              <a:r>
                <a:rPr lang="zh-CN" altLang="en-US" sz="2400" b="1" dirty="0">
                  <a:latin typeface="宋体" charset="-122"/>
                </a:rPr>
                <a:t>的作用域</a:t>
              </a:r>
            </a:p>
          </p:txBody>
        </p:sp>
        <p:sp>
          <p:nvSpPr>
            <p:cNvPr id="6158" name="AutoShape 6"/>
            <p:cNvSpPr>
              <a:spLocks/>
            </p:cNvSpPr>
            <p:nvPr/>
          </p:nvSpPr>
          <p:spPr bwMode="auto">
            <a:xfrm>
              <a:off x="2304" y="3168"/>
              <a:ext cx="48" cy="528"/>
            </a:xfrm>
            <a:prstGeom prst="rightBracket">
              <a:avLst>
                <a:gd name="adj" fmla="val 91667"/>
              </a:avLst>
            </a:prstGeom>
            <a:noFill/>
            <a:ln w="25400">
              <a:solidFill>
                <a:srgbClr val="00B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150" name="Group 10"/>
          <p:cNvGrpSpPr>
            <a:grpSpLocks/>
          </p:cNvGrpSpPr>
          <p:nvPr/>
        </p:nvGrpSpPr>
        <p:grpSpPr bwMode="auto">
          <a:xfrm>
            <a:off x="1905000" y="3276600"/>
            <a:ext cx="6943725" cy="2590800"/>
            <a:chOff x="960" y="2256"/>
            <a:chExt cx="4374" cy="1632"/>
          </a:xfrm>
        </p:grpSpPr>
        <p:sp>
          <p:nvSpPr>
            <p:cNvPr id="6155" name="Freeform 8"/>
            <p:cNvSpPr>
              <a:spLocks/>
            </p:cNvSpPr>
            <p:nvPr/>
          </p:nvSpPr>
          <p:spPr bwMode="auto">
            <a:xfrm>
              <a:off x="960" y="2256"/>
              <a:ext cx="2715" cy="1632"/>
            </a:xfrm>
            <a:custGeom>
              <a:avLst/>
              <a:gdLst>
                <a:gd name="T0" fmla="*/ 1171 w 2928"/>
                <a:gd name="T1" fmla="*/ 0 h 1632"/>
                <a:gd name="T2" fmla="*/ 2164 w 2928"/>
                <a:gd name="T3" fmla="*/ 0 h 1632"/>
                <a:gd name="T4" fmla="*/ 2164 w 2928"/>
                <a:gd name="T5" fmla="*/ 1632 h 1632"/>
                <a:gd name="T6" fmla="*/ 0 w 2928"/>
                <a:gd name="T7" fmla="*/ 1632 h 163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28"/>
                <a:gd name="T13" fmla="*/ 0 h 1632"/>
                <a:gd name="T14" fmla="*/ 2928 w 2928"/>
                <a:gd name="T15" fmla="*/ 1632 h 163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28" h="1632">
                  <a:moveTo>
                    <a:pt x="1584" y="0"/>
                  </a:moveTo>
                  <a:lnTo>
                    <a:pt x="2928" y="0"/>
                  </a:lnTo>
                  <a:lnTo>
                    <a:pt x="2928" y="1632"/>
                  </a:lnTo>
                  <a:lnTo>
                    <a:pt x="0" y="1632"/>
                  </a:lnTo>
                </a:path>
              </a:pathLst>
            </a:custGeom>
            <a:noFill/>
            <a:ln w="25400">
              <a:solidFill>
                <a:schemeClr val="bg2">
                  <a:lumMod val="25000"/>
                </a:schemeClr>
              </a:solidFill>
              <a:round/>
              <a:headEnd type="triangle" w="lg" len="lg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56" name="AutoShape 9"/>
            <p:cNvSpPr>
              <a:spLocks noChangeArrowheads="1"/>
            </p:cNvSpPr>
            <p:nvPr/>
          </p:nvSpPr>
          <p:spPr bwMode="auto">
            <a:xfrm>
              <a:off x="3990" y="2851"/>
              <a:ext cx="1344" cy="432"/>
            </a:xfrm>
            <a:prstGeom prst="cloudCallout">
              <a:avLst>
                <a:gd name="adj1" fmla="val -70343"/>
                <a:gd name="adj2" fmla="val 80991"/>
              </a:avLst>
            </a:prstGeom>
            <a:solidFill>
              <a:schemeClr val="tx2">
                <a:lumMod val="50000"/>
                <a:lumOff val="5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r>
                <a:rPr lang="en-US" altLang="zh-CN" sz="2400" b="1" dirty="0">
                  <a:latin typeface="宋体" charset="-122"/>
                </a:rPr>
                <a:t>b</a:t>
              </a:r>
              <a:r>
                <a:rPr lang="zh-CN" altLang="en-US" sz="2400" b="1" dirty="0">
                  <a:latin typeface="宋体" charset="-122"/>
                </a:rPr>
                <a:t>的作用域</a:t>
              </a:r>
            </a:p>
          </p:txBody>
        </p:sp>
      </p:grpSp>
      <p:sp>
        <p:nvSpPr>
          <p:cNvPr id="6152" name="AutoShape 15">
            <a:hlinkClick r:id="rId3" action="ppaction://hlinkfile" highlightClick="1"/>
          </p:cNvPr>
          <p:cNvSpPr>
            <a:spLocks noChangeArrowheads="1"/>
          </p:cNvSpPr>
          <p:nvPr/>
        </p:nvSpPr>
        <p:spPr bwMode="auto">
          <a:xfrm>
            <a:off x="179388" y="6381750"/>
            <a:ext cx="215900" cy="215900"/>
          </a:xfrm>
          <a:prstGeom prst="actionButtonSound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53" name="Freeform 8"/>
          <p:cNvSpPr>
            <a:spLocks/>
          </p:cNvSpPr>
          <p:nvPr/>
        </p:nvSpPr>
        <p:spPr bwMode="auto">
          <a:xfrm>
            <a:off x="1928813" y="2928938"/>
            <a:ext cx="4572000" cy="2928937"/>
          </a:xfrm>
          <a:custGeom>
            <a:avLst/>
            <a:gdLst>
              <a:gd name="T0" fmla="*/ 2147483647 w 2928"/>
              <a:gd name="T1" fmla="*/ 0 h 1632"/>
              <a:gd name="T2" fmla="*/ 2147483647 w 2928"/>
              <a:gd name="T3" fmla="*/ 0 h 1632"/>
              <a:gd name="T4" fmla="*/ 2147483647 w 2928"/>
              <a:gd name="T5" fmla="*/ 2147483647 h 1632"/>
              <a:gd name="T6" fmla="*/ 0 w 2928"/>
              <a:gd name="T7" fmla="*/ 2147483647 h 1632"/>
              <a:gd name="T8" fmla="*/ 0 60000 65536"/>
              <a:gd name="T9" fmla="*/ 0 60000 65536"/>
              <a:gd name="T10" fmla="*/ 0 60000 65536"/>
              <a:gd name="T11" fmla="*/ 0 60000 65536"/>
              <a:gd name="T12" fmla="*/ 0 w 2928"/>
              <a:gd name="T13" fmla="*/ 0 h 1632"/>
              <a:gd name="T14" fmla="*/ 2928 w 2928"/>
              <a:gd name="T15" fmla="*/ 1632 h 163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928" h="1632">
                <a:moveTo>
                  <a:pt x="1950" y="0"/>
                </a:moveTo>
                <a:lnTo>
                  <a:pt x="2928" y="0"/>
                </a:lnTo>
                <a:lnTo>
                  <a:pt x="2928" y="1632"/>
                </a:lnTo>
                <a:lnTo>
                  <a:pt x="0" y="1632"/>
                </a:lnTo>
              </a:path>
            </a:pathLst>
          </a:custGeom>
          <a:noFill/>
          <a:ln w="25400">
            <a:solidFill>
              <a:srgbClr val="FF0000"/>
            </a:solidFill>
            <a:round/>
            <a:headEnd type="triangle" w="lg" len="lg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54" name="AutoShape 9"/>
          <p:cNvSpPr>
            <a:spLocks noChangeArrowheads="1"/>
          </p:cNvSpPr>
          <p:nvPr/>
        </p:nvSpPr>
        <p:spPr bwMode="auto">
          <a:xfrm>
            <a:off x="6715125" y="2786063"/>
            <a:ext cx="2133600" cy="781050"/>
          </a:xfrm>
          <a:prstGeom prst="cloudCallout">
            <a:avLst>
              <a:gd name="adj1" fmla="val -54000"/>
              <a:gd name="adj2" fmla="val 135880"/>
            </a:avLst>
          </a:prstGeom>
          <a:solidFill>
            <a:srgbClr val="FF006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US" altLang="zh-CN" sz="2400" b="1" dirty="0">
                <a:latin typeface="宋体" charset="-122"/>
              </a:rPr>
              <a:t>a</a:t>
            </a:r>
            <a:r>
              <a:rPr lang="zh-CN" altLang="en-US" sz="2400" b="1" dirty="0">
                <a:latin typeface="宋体" charset="-122"/>
              </a:rPr>
              <a:t>的作用域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2267744" y="1772816"/>
            <a:ext cx="64807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6012160" y="1772816"/>
            <a:ext cx="86409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4067944" y="3140968"/>
            <a:ext cx="21602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2987824" y="3501008"/>
            <a:ext cx="21602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3275856" y="4581128"/>
            <a:ext cx="216024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7871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8" grpId="0" uiExpand="1" build="p"/>
      <p:bldP spid="6153" grpId="0" animBg="1"/>
      <p:bldP spid="615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>
          <a:xfrm>
            <a:off x="971600" y="228600"/>
            <a:ext cx="7162800" cy="1066800"/>
          </a:xfrm>
        </p:spPr>
        <p:txBody>
          <a:bodyPr/>
          <a:lstStyle/>
          <a:p>
            <a:pPr eaLnBrk="1" hangingPunct="1"/>
            <a:r>
              <a:rPr lang="zh-CN" altLang="en-US" dirty="0"/>
              <a:t>类作用域</a:t>
            </a:r>
          </a:p>
        </p:txBody>
      </p:sp>
      <p:sp>
        <p:nvSpPr>
          <p:cNvPr id="7172" name="Rectangle 3"/>
          <p:cNvSpPr>
            <a:spLocks noGrp="1" noChangeArrowheads="1"/>
          </p:cNvSpPr>
          <p:nvPr>
            <p:ph idx="1"/>
          </p:nvPr>
        </p:nvSpPr>
        <p:spPr>
          <a:xfrm>
            <a:off x="827584" y="1628800"/>
            <a:ext cx="7239000" cy="4267200"/>
          </a:xfrm>
        </p:spPr>
        <p:txBody>
          <a:bodyPr>
            <a:normAutofit/>
          </a:bodyPr>
          <a:lstStyle/>
          <a:p>
            <a:pPr eaLnBrk="1" hangingPunct="1">
              <a:lnSpc>
                <a:spcPct val="120000"/>
              </a:lnSpc>
            </a:pPr>
            <a:r>
              <a:rPr lang="zh-CN" altLang="en-US" dirty="0">
                <a:latin typeface="宋体" charset="-122"/>
              </a:rPr>
              <a:t>类的成员</a:t>
            </a:r>
            <a:r>
              <a:rPr lang="en-US" altLang="zh-CN" dirty="0">
                <a:latin typeface="宋体" charset="-122"/>
              </a:rPr>
              <a:t>m</a:t>
            </a:r>
            <a:r>
              <a:rPr lang="zh-CN" altLang="en-US" dirty="0">
                <a:latin typeface="宋体" charset="-122"/>
              </a:rPr>
              <a:t>具有类作用域。</a:t>
            </a:r>
            <a:endParaRPr lang="en-US" altLang="zh-CN" dirty="0">
              <a:latin typeface="宋体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dirty="0">
                <a:latin typeface="宋体" charset="-122"/>
              </a:rPr>
              <a:t>对类成员</a:t>
            </a:r>
            <a:r>
              <a:rPr lang="en-US" altLang="zh-CN" dirty="0">
                <a:latin typeface="宋体" charset="-122"/>
              </a:rPr>
              <a:t>m</a:t>
            </a:r>
            <a:r>
              <a:rPr lang="zh-CN" altLang="en-US" dirty="0">
                <a:latin typeface="宋体" charset="-122"/>
              </a:rPr>
              <a:t>的访问方式如下： 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>
                <a:latin typeface="宋体" charset="-122"/>
              </a:rPr>
              <a:t>如果在</a:t>
            </a:r>
            <a:r>
              <a:rPr lang="en-US" altLang="zh-CN" dirty="0">
                <a:latin typeface="宋体" charset="-122"/>
              </a:rPr>
              <a:t>X</a:t>
            </a:r>
            <a:r>
              <a:rPr lang="zh-CN" altLang="en-US" dirty="0">
                <a:latin typeface="宋体" charset="-122"/>
              </a:rPr>
              <a:t>的成员函数中没有声明同名的局部作用域标识符，那么在该函数内可以访问成员</a:t>
            </a:r>
            <a:r>
              <a:rPr lang="en-US" altLang="zh-CN" dirty="0">
                <a:latin typeface="宋体" charset="-122"/>
              </a:rPr>
              <a:t>m.</a:t>
            </a:r>
            <a:endParaRPr lang="zh-CN" altLang="en-US" dirty="0">
              <a:latin typeface="宋体" charset="-122"/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>
                <a:latin typeface="宋体" charset="-122"/>
              </a:rPr>
              <a:t>通过表达式</a:t>
            </a:r>
            <a:r>
              <a:rPr lang="en-US" altLang="zh-CN" dirty="0" err="1">
                <a:latin typeface="宋体" charset="-122"/>
              </a:rPr>
              <a:t>x.m</a:t>
            </a:r>
            <a:r>
              <a:rPr lang="zh-CN" altLang="en-US" dirty="0">
                <a:latin typeface="宋体" charset="-122"/>
              </a:rPr>
              <a:t>或者</a:t>
            </a:r>
            <a:r>
              <a:rPr lang="en-US" altLang="zh-CN" dirty="0">
                <a:latin typeface="宋体" charset="-122"/>
              </a:rPr>
              <a:t>X::m</a:t>
            </a:r>
            <a:r>
              <a:rPr lang="zh-CN" altLang="en-US" dirty="0">
                <a:latin typeface="宋体" charset="-122"/>
              </a:rPr>
              <a:t>访问。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>
                <a:latin typeface="宋体" charset="-122"/>
              </a:rPr>
              <a:t>通过表达式</a:t>
            </a:r>
            <a:r>
              <a:rPr lang="en-US" altLang="zh-CN" dirty="0" err="1">
                <a:latin typeface="宋体" charset="-122"/>
              </a:rPr>
              <a:t>ptr</a:t>
            </a:r>
            <a:r>
              <a:rPr lang="en-US" altLang="zh-CN" dirty="0">
                <a:latin typeface="宋体" charset="-122"/>
              </a:rPr>
              <a:t>-&gt;m</a:t>
            </a:r>
          </a:p>
        </p:txBody>
      </p:sp>
      <p:sp>
        <p:nvSpPr>
          <p:cNvPr id="717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D87611C4-E328-4A1B-815A-6B6FEA04CC11}" type="slidenum">
              <a:rPr lang="en-US" altLang="zh-CN" sz="1400" smtClean="0"/>
              <a:pPr/>
              <a:t>8</a:t>
            </a:fld>
            <a:endParaRPr lang="en-US" altLang="zh-CN" sz="1400"/>
          </a:p>
        </p:txBody>
      </p:sp>
      <p:sp>
        <p:nvSpPr>
          <p:cNvPr id="7174" name="AutoShape 7">
            <a:hlinkClick r:id="rId3" action="ppaction://hlinkfile" highlightClick="1"/>
          </p:cNvPr>
          <p:cNvSpPr>
            <a:spLocks noChangeArrowheads="1"/>
          </p:cNvSpPr>
          <p:nvPr/>
        </p:nvSpPr>
        <p:spPr bwMode="auto">
          <a:xfrm>
            <a:off x="179388" y="6381750"/>
            <a:ext cx="215900" cy="215900"/>
          </a:xfrm>
          <a:prstGeom prst="actionButtonSound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94968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1026"/>
          <p:cNvSpPr>
            <a:spLocks noGrp="1" noChangeArrowheads="1"/>
          </p:cNvSpPr>
          <p:nvPr>
            <p:ph type="title"/>
          </p:nvPr>
        </p:nvSpPr>
        <p:spPr>
          <a:xfrm>
            <a:off x="971600" y="116632"/>
            <a:ext cx="7162800" cy="1066800"/>
          </a:xfrm>
        </p:spPr>
        <p:txBody>
          <a:bodyPr/>
          <a:lstStyle/>
          <a:p>
            <a:pPr eaLnBrk="1" hangingPunct="1"/>
            <a:r>
              <a:rPr lang="zh-CN" altLang="en-US" dirty="0"/>
              <a:t>命名空间 </a:t>
            </a:r>
            <a:r>
              <a:rPr lang="en-US" altLang="zh-CN" dirty="0"/>
              <a:t>namespace</a:t>
            </a:r>
            <a:endParaRPr lang="zh-CN" altLang="en-US" dirty="0"/>
          </a:p>
        </p:txBody>
      </p:sp>
      <p:sp>
        <p:nvSpPr>
          <p:cNvPr id="8196" name="Rectangle 1027"/>
          <p:cNvSpPr>
            <a:spLocks noGrp="1" noChangeArrowheads="1"/>
          </p:cNvSpPr>
          <p:nvPr>
            <p:ph idx="1"/>
          </p:nvPr>
        </p:nvSpPr>
        <p:spPr>
          <a:xfrm>
            <a:off x="1043608" y="1484784"/>
            <a:ext cx="7419975" cy="4381500"/>
          </a:xfrm>
        </p:spPr>
        <p:txBody>
          <a:bodyPr>
            <a:noAutofit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sz="2400" dirty="0"/>
              <a:t>命名空间可以解决类名、函数名等的</a:t>
            </a:r>
            <a:r>
              <a:rPr lang="zh-CN" altLang="en-US" sz="2400" b="1" dirty="0"/>
              <a:t>命名冲突</a:t>
            </a:r>
            <a:endParaRPr lang="en-US" altLang="zh-CN" sz="2400" b="1" dirty="0"/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sz="2400" dirty="0"/>
              <a:t>命名空间的声明</a:t>
            </a:r>
            <a:endParaRPr lang="en-US" altLang="zh-CN" sz="2400" dirty="0"/>
          </a:p>
          <a:p>
            <a:pPr lvl="1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1800" dirty="0">
                <a:latin typeface="宋体" pitchFamily="2" charset="-122"/>
              </a:rPr>
              <a:t>namespace </a:t>
            </a:r>
            <a:r>
              <a:rPr lang="zh-CN" altLang="en-US" sz="1800" dirty="0">
                <a:latin typeface="宋体" pitchFamily="2" charset="-122"/>
              </a:rPr>
              <a:t>命名空间名</a:t>
            </a:r>
            <a:endParaRPr lang="en-US" altLang="zh-CN" sz="1800" dirty="0">
              <a:latin typeface="宋体" pitchFamily="2" charset="-122"/>
            </a:endParaRPr>
          </a:p>
          <a:p>
            <a:pPr lvl="1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1800" dirty="0">
                <a:latin typeface="宋体" pitchFamily="2" charset="-122"/>
              </a:rPr>
              <a:t>{	</a:t>
            </a:r>
            <a:r>
              <a:rPr lang="zh-CN" altLang="en-US" sz="1800" dirty="0">
                <a:latin typeface="宋体" pitchFamily="2" charset="-122"/>
              </a:rPr>
              <a:t>各种声明（函数声明、类声明、</a:t>
            </a:r>
            <a:r>
              <a:rPr lang="en-US" altLang="zh-CN" sz="1800" dirty="0">
                <a:latin typeface="宋体" pitchFamily="2" charset="-122"/>
              </a:rPr>
              <a:t>……</a:t>
            </a:r>
            <a:r>
              <a:rPr lang="zh-CN" altLang="en-US" sz="1800" dirty="0">
                <a:latin typeface="宋体" pitchFamily="2" charset="-122"/>
              </a:rPr>
              <a:t>）</a:t>
            </a:r>
          </a:p>
          <a:p>
            <a:pPr lvl="1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1800" dirty="0">
                <a:latin typeface="宋体" pitchFamily="2" charset="-122"/>
              </a:rPr>
              <a:t>};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sz="2400" dirty="0"/>
              <a:t>例</a:t>
            </a:r>
            <a:endParaRPr lang="en-US" altLang="zh-CN" sz="2400" dirty="0"/>
          </a:p>
          <a:p>
            <a:pPr eaLnBrk="1" hangingPunct="1">
              <a:lnSpc>
                <a:spcPct val="120000"/>
              </a:lnSpc>
              <a:defRPr/>
            </a:pPr>
            <a:endParaRPr lang="en-US" altLang="zh-CN" sz="2400" dirty="0"/>
          </a:p>
          <a:p>
            <a:pPr eaLnBrk="1" hangingPunct="1">
              <a:lnSpc>
                <a:spcPct val="120000"/>
              </a:lnSpc>
              <a:defRPr/>
            </a:pPr>
            <a:endParaRPr lang="en-US" altLang="zh-CN" sz="2400" dirty="0"/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sz="2400" dirty="0"/>
              <a:t>特殊的命名空间</a:t>
            </a:r>
            <a:endParaRPr lang="en-US" altLang="zh-CN" sz="2400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sz="2400" dirty="0"/>
              <a:t>全局命名空间：默认的命名空间</a:t>
            </a:r>
            <a:endParaRPr lang="en-US" altLang="zh-CN" sz="2400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sz="2400" dirty="0"/>
              <a:t>匿名命名空间：对每个源文件是唯一的</a:t>
            </a:r>
            <a:endParaRPr lang="en-US" altLang="zh-CN" sz="2400" dirty="0"/>
          </a:p>
          <a:p>
            <a:pPr eaLnBrk="1" hangingPunct="1">
              <a:lnSpc>
                <a:spcPct val="120000"/>
              </a:lnSpc>
              <a:defRPr/>
            </a:pPr>
            <a:endParaRPr lang="en-US" altLang="zh-CN" sz="2400" dirty="0"/>
          </a:p>
        </p:txBody>
      </p:sp>
      <p:sp>
        <p:nvSpPr>
          <p:cNvPr id="819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DEFFA3B2-6D83-4609-89FA-4EE28504F3F7}" type="slidenum">
              <a:rPr lang="en-US" altLang="zh-CN" sz="1400" smtClean="0"/>
              <a:pPr/>
              <a:t>9</a:t>
            </a:fld>
            <a:endParaRPr lang="en-US" altLang="zh-CN" sz="1400"/>
          </a:p>
        </p:txBody>
      </p:sp>
      <p:sp>
        <p:nvSpPr>
          <p:cNvPr id="2" name="矩形 1"/>
          <p:cNvSpPr/>
          <p:nvPr/>
        </p:nvSpPr>
        <p:spPr>
          <a:xfrm>
            <a:off x="2232248" y="3429000"/>
            <a:ext cx="4211960" cy="1865126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lvl="1">
              <a:lnSpc>
                <a:spcPct val="120000"/>
              </a:lnSpc>
              <a:defRPr/>
            </a:pPr>
            <a:r>
              <a:rPr lang="en-US" altLang="zh-CN" sz="2400" dirty="0">
                <a:latin typeface="宋体" pitchFamily="2" charset="-122"/>
              </a:rPr>
              <a:t>namespace </a:t>
            </a:r>
            <a:r>
              <a:rPr lang="en-US" altLang="zh-CN" sz="2400" dirty="0" err="1">
                <a:latin typeface="宋体" pitchFamily="2" charset="-122"/>
              </a:rPr>
              <a:t>SomeNs</a:t>
            </a:r>
            <a:r>
              <a:rPr lang="zh-CN" altLang="en-US" sz="2400" dirty="0">
                <a:latin typeface="宋体" pitchFamily="2" charset="-122"/>
              </a:rPr>
              <a:t> </a:t>
            </a:r>
            <a:endParaRPr lang="en-US" altLang="zh-CN" sz="2400" dirty="0">
              <a:latin typeface="宋体" pitchFamily="2" charset="-122"/>
            </a:endParaRPr>
          </a:p>
          <a:p>
            <a:pPr lvl="1">
              <a:lnSpc>
                <a:spcPct val="120000"/>
              </a:lnSpc>
              <a:defRPr/>
            </a:pPr>
            <a:r>
              <a:rPr lang="en-US" altLang="zh-CN" sz="2400" dirty="0">
                <a:latin typeface="宋体" pitchFamily="2" charset="-122"/>
              </a:rPr>
              <a:t>{	class </a:t>
            </a:r>
            <a:r>
              <a:rPr lang="en-US" altLang="zh-CN" sz="2400" dirty="0" err="1">
                <a:latin typeface="宋体" pitchFamily="2" charset="-122"/>
              </a:rPr>
              <a:t>SomeClass</a:t>
            </a:r>
            <a:r>
              <a:rPr lang="en-US" altLang="zh-CN" sz="2400" dirty="0">
                <a:latin typeface="宋体" pitchFamily="2" charset="-122"/>
              </a:rPr>
              <a:t> 	{ ... };</a:t>
            </a:r>
            <a:endParaRPr lang="zh-CN" altLang="en-US" sz="2400" dirty="0">
              <a:latin typeface="宋体" pitchFamily="2" charset="-122"/>
            </a:endParaRPr>
          </a:p>
          <a:p>
            <a:pPr lvl="1">
              <a:lnSpc>
                <a:spcPct val="120000"/>
              </a:lnSpc>
              <a:defRPr/>
            </a:pPr>
            <a:r>
              <a:rPr lang="en-US" altLang="zh-CN" sz="2400" dirty="0">
                <a:latin typeface="宋体" pitchFamily="2" charset="-122"/>
              </a:rPr>
              <a:t>}; </a:t>
            </a:r>
            <a:endParaRPr lang="en-US" altLang="zh-CN" sz="3200" dirty="0"/>
          </a:p>
        </p:txBody>
      </p:sp>
    </p:spTree>
    <p:extLst>
      <p:ext uri="{BB962C8B-B14F-4D97-AF65-F5344CB8AC3E}">
        <p14:creationId xmlns:p14="http://schemas.microsoft.com/office/powerpoint/2010/main" val="21995144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标题 1"/>
          <p:cNvSpPr>
            <a:spLocks noGrp="1"/>
          </p:cNvSpPr>
          <p:nvPr>
            <p:ph type="title"/>
          </p:nvPr>
        </p:nvSpPr>
        <p:spPr>
          <a:xfrm>
            <a:off x="611188" y="130969"/>
            <a:ext cx="8137525" cy="993775"/>
          </a:xfrm>
        </p:spPr>
        <p:txBody>
          <a:bodyPr/>
          <a:lstStyle/>
          <a:p>
            <a:r>
              <a:rPr lang="zh-CN" altLang="en-US" dirty="0">
                <a:latin typeface="Consolas" pitchFamily="49" charset="0"/>
                <a:cs typeface="Consolas" pitchFamily="49" charset="0"/>
              </a:rPr>
              <a:t>自定义命名空间</a:t>
            </a:r>
            <a:r>
              <a:rPr lang="en-US" altLang="zh-CN" dirty="0">
                <a:latin typeface="Consolas" pitchFamily="49" charset="0"/>
                <a:cs typeface="Consolas" pitchFamily="49" charset="0"/>
              </a:rPr>
              <a:t>namespace</a:t>
            </a:r>
            <a:endParaRPr lang="zh-CN" altLang="en-US" dirty="0">
              <a:latin typeface="Consolas" pitchFamily="49" charset="0"/>
              <a:cs typeface="Consolas" pitchFamily="49" charset="0"/>
            </a:endParaRPr>
          </a:p>
        </p:txBody>
      </p:sp>
      <p:pic>
        <p:nvPicPr>
          <p:cNvPr id="3174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090" t="19463" r="3804" b="43568"/>
          <a:stretch>
            <a:fillRect/>
          </a:stretch>
        </p:blipFill>
        <p:spPr bwMode="auto">
          <a:xfrm>
            <a:off x="5904110" y="1412776"/>
            <a:ext cx="2700338" cy="294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内容占位符 2"/>
          <p:cNvSpPr>
            <a:spLocks noGrp="1"/>
          </p:cNvSpPr>
          <p:nvPr>
            <p:ph idx="1"/>
          </p:nvPr>
        </p:nvSpPr>
        <p:spPr>
          <a:xfrm>
            <a:off x="394890" y="1410290"/>
            <a:ext cx="5329238" cy="2937108"/>
          </a:xfrm>
          <a:solidFill>
            <a:schemeClr val="bg2">
              <a:lumMod val="90000"/>
            </a:schemeClr>
          </a:solidFill>
        </p:spPr>
        <p:txBody>
          <a:bodyPr rtlCol="0">
            <a:noAutofit/>
          </a:bodyPr>
          <a:lstStyle/>
          <a:p>
            <a:pPr eaLnBrk="1" fontAlgn="auto" hangingPunct="1">
              <a:spcBef>
                <a:spcPts val="600"/>
              </a:spcBef>
              <a:spcAft>
                <a:spcPts val="600"/>
              </a:spcAft>
              <a:buFont typeface="Wingdings 2"/>
              <a:buChar char=""/>
              <a:defRPr/>
            </a:pPr>
            <a:r>
              <a:rPr lang="zh-CN" altLang="en-US" sz="2400" dirty="0">
                <a:latin typeface="+mn-ea"/>
              </a:rPr>
              <a:t>在命名空间</a:t>
            </a:r>
            <a:r>
              <a:rPr lang="en-US" altLang="zh-CN" sz="2400" dirty="0" err="1">
                <a:latin typeface="+mn-ea"/>
              </a:rPr>
              <a:t>nspoint</a:t>
            </a:r>
            <a:r>
              <a:rPr lang="zh-CN" altLang="en-US" sz="2400" dirty="0">
                <a:latin typeface="+mn-ea"/>
              </a:rPr>
              <a:t>中：</a:t>
            </a:r>
            <a:endParaRPr lang="en-US" altLang="zh-CN" sz="2400" dirty="0">
              <a:latin typeface="+mn-ea"/>
            </a:endParaRPr>
          </a:p>
          <a:p>
            <a:pPr lvl="1" eaLnBrk="1" fontAlgn="auto" hangingPunct="1">
              <a:spcBef>
                <a:spcPts val="600"/>
              </a:spcBef>
              <a:spcAft>
                <a:spcPts val="600"/>
              </a:spcAft>
              <a:buFont typeface="Wingdings 2"/>
              <a:buChar char=""/>
              <a:defRPr/>
            </a:pPr>
            <a:r>
              <a:rPr lang="zh-CN" altLang="en-US" sz="2000" dirty="0">
                <a:latin typeface="+mn-ea"/>
              </a:rPr>
              <a:t>定义原点</a:t>
            </a:r>
            <a:r>
              <a:rPr lang="en-US" altLang="zh-CN" sz="2000" dirty="0">
                <a:latin typeface="+mn-ea"/>
              </a:rPr>
              <a:t>origin</a:t>
            </a:r>
          </a:p>
          <a:p>
            <a:pPr lvl="1" eaLnBrk="1" fontAlgn="auto" hangingPunct="1">
              <a:spcBef>
                <a:spcPts val="600"/>
              </a:spcBef>
              <a:spcAft>
                <a:spcPts val="600"/>
              </a:spcAft>
              <a:buFont typeface="Wingdings 2"/>
              <a:buChar char=""/>
              <a:defRPr/>
            </a:pPr>
            <a:r>
              <a:rPr lang="zh-CN" altLang="en-US" sz="2000" dirty="0">
                <a:latin typeface="+mn-ea"/>
              </a:rPr>
              <a:t>定义圆（（</a:t>
            </a:r>
            <a:r>
              <a:rPr lang="en-US" altLang="zh-CN" sz="2000" dirty="0">
                <a:latin typeface="+mn-ea"/>
              </a:rPr>
              <a:t>0,0</a:t>
            </a:r>
            <a:r>
              <a:rPr lang="zh-CN" altLang="en-US" sz="2000" dirty="0">
                <a:latin typeface="+mn-ea"/>
              </a:rPr>
              <a:t>）</a:t>
            </a:r>
            <a:r>
              <a:rPr lang="en-US" altLang="zh-CN" sz="2000" dirty="0">
                <a:latin typeface="+mn-ea"/>
              </a:rPr>
              <a:t>,1</a:t>
            </a:r>
            <a:r>
              <a:rPr lang="zh-CN" altLang="en-US" sz="2000" dirty="0">
                <a:latin typeface="+mn-ea"/>
              </a:rPr>
              <a:t>）的左上右下四个边界点 </a:t>
            </a:r>
            <a:r>
              <a:rPr lang="en-US" altLang="zh-CN" sz="2000" dirty="0" err="1">
                <a:latin typeface="+mn-ea"/>
              </a:rPr>
              <a:t>left1</a:t>
            </a:r>
            <a:r>
              <a:rPr lang="en-US" altLang="zh-CN" sz="2000" dirty="0">
                <a:latin typeface="+mn-ea"/>
              </a:rPr>
              <a:t>, </a:t>
            </a:r>
            <a:r>
              <a:rPr lang="en-US" altLang="zh-CN" sz="2000" dirty="0" err="1">
                <a:latin typeface="+mn-ea"/>
              </a:rPr>
              <a:t>top1</a:t>
            </a:r>
            <a:r>
              <a:rPr lang="en-US" altLang="zh-CN" sz="2000" dirty="0">
                <a:latin typeface="+mn-ea"/>
              </a:rPr>
              <a:t>, </a:t>
            </a:r>
            <a:r>
              <a:rPr lang="en-US" altLang="zh-CN" sz="2000" dirty="0" err="1">
                <a:latin typeface="+mn-ea"/>
              </a:rPr>
              <a:t>right1</a:t>
            </a:r>
            <a:r>
              <a:rPr lang="en-US" altLang="zh-CN" sz="2000" dirty="0">
                <a:latin typeface="+mn-ea"/>
              </a:rPr>
              <a:t>, </a:t>
            </a:r>
            <a:r>
              <a:rPr lang="en-US" altLang="zh-CN" sz="2000" dirty="0" err="1">
                <a:latin typeface="+mn-ea"/>
              </a:rPr>
              <a:t>bottom1</a:t>
            </a:r>
            <a:endParaRPr lang="en-US" altLang="zh-CN" sz="2000" dirty="0">
              <a:latin typeface="+mn-ea"/>
            </a:endParaRPr>
          </a:p>
          <a:p>
            <a:pPr eaLnBrk="1" fontAlgn="auto" hangingPunct="1">
              <a:spcBef>
                <a:spcPts val="600"/>
              </a:spcBef>
              <a:spcAft>
                <a:spcPts val="600"/>
              </a:spcAft>
              <a:buFont typeface="Wingdings 2"/>
              <a:buChar char=""/>
              <a:defRPr/>
            </a:pPr>
            <a:r>
              <a:rPr lang="zh-CN" altLang="en-US" sz="2400" dirty="0">
                <a:latin typeface="+mn-ea"/>
              </a:rPr>
              <a:t>在</a:t>
            </a:r>
            <a:r>
              <a:rPr lang="en-US" altLang="zh-CN" sz="2400" dirty="0">
                <a:latin typeface="+mn-ea"/>
              </a:rPr>
              <a:t>main()</a:t>
            </a:r>
            <a:r>
              <a:rPr lang="zh-CN" altLang="en-US" sz="2400" dirty="0">
                <a:latin typeface="+mn-ea"/>
              </a:rPr>
              <a:t>函数中，输出这</a:t>
            </a:r>
            <a:r>
              <a:rPr lang="en-US" altLang="zh-CN" sz="2400" dirty="0">
                <a:latin typeface="+mn-ea"/>
              </a:rPr>
              <a:t>5</a:t>
            </a:r>
            <a:r>
              <a:rPr lang="zh-CN" altLang="en-US" sz="2400" dirty="0">
                <a:latin typeface="+mn-ea"/>
              </a:rPr>
              <a:t>个点的坐标</a:t>
            </a:r>
          </a:p>
        </p:txBody>
      </p:sp>
    </p:spTree>
    <p:extLst>
      <p:ext uri="{BB962C8B-B14F-4D97-AF65-F5344CB8AC3E}">
        <p14:creationId xmlns:p14="http://schemas.microsoft.com/office/powerpoint/2010/main" val="15900317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>
            <a:grpSpLocks/>
          </p:cNvGrpSpPr>
          <p:nvPr/>
        </p:nvGrpSpPr>
        <p:grpSpPr bwMode="auto">
          <a:xfrm>
            <a:off x="248246" y="170210"/>
            <a:ext cx="2595562" cy="1098550"/>
            <a:chOff x="2047967" y="4386590"/>
            <a:chExt cx="2596041" cy="1097543"/>
          </a:xfrm>
        </p:grpSpPr>
        <p:sp>
          <p:nvSpPr>
            <p:cNvPr id="7" name="矩形 6"/>
            <p:cNvSpPr/>
            <p:nvPr/>
          </p:nvSpPr>
          <p:spPr>
            <a:xfrm>
              <a:off x="2051143" y="4653046"/>
              <a:ext cx="2592865" cy="83108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>
                  <a:lumMod val="25000"/>
                </a:schemeClr>
              </a:solidFill>
            </a:ln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r>
                <a:rPr lang="en-US" altLang="zh-CN" sz="1600" dirty="0">
                  <a:solidFill>
                    <a:srgbClr val="80808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#pragma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lang="en-US" altLang="zh-CN" sz="1600" dirty="0">
                  <a:solidFill>
                    <a:srgbClr val="80808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once</a:t>
              </a:r>
              <a:endParaRPr lang="en-US" altLang="zh-CN" sz="1600" dirty="0">
                <a:solidFill>
                  <a:srgbClr val="000000"/>
                </a:solidFill>
                <a:latin typeface="Consolas" pitchFamily="49" charset="0"/>
                <a:ea typeface="新宋体" pitchFamily="49" charset="-122"/>
                <a:cs typeface="Consolas" pitchFamily="49" charset="0"/>
              </a:endParaRPr>
            </a:p>
            <a:p>
              <a:r>
                <a:rPr lang="en-US" altLang="zh-CN" sz="1600" dirty="0">
                  <a:solidFill>
                    <a:srgbClr val="80808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#include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lang="en-US" altLang="zh-CN" sz="1600" dirty="0">
                  <a:solidFill>
                    <a:srgbClr val="A31515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&lt;iostream&gt;</a:t>
              </a:r>
              <a:endParaRPr lang="en-US" altLang="zh-CN" sz="1600" dirty="0">
                <a:solidFill>
                  <a:srgbClr val="000000"/>
                </a:solidFill>
                <a:latin typeface="Consolas" pitchFamily="49" charset="0"/>
                <a:ea typeface="新宋体" pitchFamily="49" charset="-122"/>
                <a:cs typeface="Consolas" pitchFamily="49" charset="0"/>
              </a:endParaRPr>
            </a:p>
            <a:p>
              <a:r>
                <a:rPr lang="en-US" altLang="zh-CN" sz="1600" dirty="0">
                  <a:solidFill>
                    <a:srgbClr val="0000FF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using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lang="en-US" altLang="zh-CN" sz="1600" dirty="0">
                  <a:solidFill>
                    <a:srgbClr val="0000FF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namespace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std;</a:t>
              </a:r>
              <a:endParaRPr lang="zh-CN" altLang="en-US" sz="1600" dirty="0">
                <a:latin typeface="Consolas" pitchFamily="49" charset="0"/>
                <a:ea typeface="新宋体" pitchFamily="49" charset="-122"/>
                <a:cs typeface="Consolas" pitchFamily="49" charset="0"/>
              </a:endParaRPr>
            </a:p>
          </p:txBody>
        </p:sp>
        <p:sp>
          <p:nvSpPr>
            <p:cNvPr id="32782" name="矩形 7"/>
            <p:cNvSpPr>
              <a:spLocks noChangeArrowheads="1"/>
            </p:cNvSpPr>
            <p:nvPr/>
          </p:nvSpPr>
          <p:spPr bwMode="auto">
            <a:xfrm>
              <a:off x="2047967" y="4386590"/>
              <a:ext cx="944489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r>
                <a:rPr lang="en-US" altLang="zh-CN" sz="1600" dirty="0" err="1">
                  <a:solidFill>
                    <a:srgbClr val="000000"/>
                  </a:solidFill>
                  <a:ea typeface="新宋体" pitchFamily="49" charset="-122"/>
                  <a:cs typeface="Times New Roman" pitchFamily="18" charset="0"/>
                </a:rPr>
                <a:t>include.h</a:t>
              </a:r>
              <a:endParaRPr lang="en-US" altLang="zh-CN" sz="1600" dirty="0">
                <a:solidFill>
                  <a:srgbClr val="000000"/>
                </a:solidFill>
                <a:ea typeface="新宋体" pitchFamily="49" charset="-122"/>
                <a:cs typeface="Times New Roman" pitchFamily="18" charset="0"/>
              </a:endParaRPr>
            </a:p>
          </p:txBody>
        </p:sp>
      </p:grpSp>
      <p:grpSp>
        <p:nvGrpSpPr>
          <p:cNvPr id="12" name="组合 11"/>
          <p:cNvGrpSpPr>
            <a:grpSpLocks/>
          </p:cNvGrpSpPr>
          <p:nvPr/>
        </p:nvGrpSpPr>
        <p:grpSpPr bwMode="auto">
          <a:xfrm>
            <a:off x="209450" y="1615405"/>
            <a:ext cx="6954838" cy="4333875"/>
            <a:chOff x="2010053" y="927565"/>
            <a:chExt cx="6954435" cy="4334324"/>
          </a:xfrm>
        </p:grpSpPr>
        <p:sp>
          <p:nvSpPr>
            <p:cNvPr id="10" name="矩形 9"/>
            <p:cNvSpPr/>
            <p:nvPr/>
          </p:nvSpPr>
          <p:spPr>
            <a:xfrm>
              <a:off x="2051326" y="1230809"/>
              <a:ext cx="6913162" cy="40310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>
                  <a:lumMod val="25000"/>
                </a:schemeClr>
              </a:solidFill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1600" dirty="0">
                  <a:solidFill>
                    <a:srgbClr val="80808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#pragma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</a:t>
              </a:r>
              <a:r>
                <a:rPr lang="en-US" altLang="zh-CN" sz="1600" dirty="0">
                  <a:solidFill>
                    <a:srgbClr val="80808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once</a:t>
              </a:r>
              <a:endPara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endParaRPr>
            </a:p>
            <a:p>
              <a:pPr>
                <a:defRPr/>
              </a:pPr>
              <a:r>
                <a:rPr lang="en-US" altLang="zh-CN" sz="1600" dirty="0">
                  <a:solidFill>
                    <a:srgbClr val="80808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#include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</a:t>
              </a:r>
              <a:r>
                <a:rPr lang="en-US" altLang="zh-CN" sz="1600" dirty="0">
                  <a:solidFill>
                    <a:srgbClr val="A31515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"</a:t>
              </a:r>
              <a:r>
                <a:rPr lang="en-US" altLang="zh-CN" sz="1600" dirty="0" err="1">
                  <a:solidFill>
                    <a:srgbClr val="A31515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include.h</a:t>
              </a:r>
              <a:r>
                <a:rPr lang="en-US" altLang="zh-CN" sz="1600" dirty="0">
                  <a:solidFill>
                    <a:srgbClr val="A31515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"</a:t>
              </a:r>
              <a:endPara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endParaRPr>
            </a:p>
            <a:p>
              <a:pPr>
                <a:defRPr/>
              </a:pPr>
              <a:r>
                <a:rPr lang="en-US" altLang="zh-CN" sz="1600" dirty="0">
                  <a:solidFill>
                    <a:srgbClr val="0000FF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class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</a:t>
              </a:r>
              <a:r>
                <a:rPr lang="en-US" altLang="zh-CN" sz="1600" dirty="0">
                  <a:solidFill>
                    <a:srgbClr val="2B91AF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Point</a:t>
              </a:r>
              <a:endPara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endParaRPr>
            </a:p>
            <a:p>
              <a:pPr>
                <a:defRPr/>
              </a:pP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{  </a:t>
              </a:r>
              <a:r>
                <a:rPr lang="en-US" altLang="zh-CN" sz="1600" dirty="0">
                  <a:solidFill>
                    <a:srgbClr val="0000FF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double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_x, _y;</a:t>
              </a:r>
            </a:p>
            <a:p>
              <a:pPr>
                <a:defRPr/>
              </a:pPr>
              <a:r>
                <a:rPr lang="en-US" altLang="zh-CN" sz="1600" dirty="0">
                  <a:solidFill>
                    <a:srgbClr val="0000FF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public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:</a:t>
              </a:r>
            </a:p>
            <a:p>
              <a:pPr marL="363538">
                <a:defRPr/>
              </a:pP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Point(</a:t>
              </a:r>
              <a:r>
                <a:rPr lang="en-US" altLang="zh-CN" sz="1600" dirty="0">
                  <a:solidFill>
                    <a:srgbClr val="0000FF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double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</a:t>
              </a:r>
              <a:r>
                <a:rPr lang="en-US" altLang="zh-CN" sz="1600" dirty="0">
                  <a:solidFill>
                    <a:srgbClr val="80808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x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=0.0, </a:t>
              </a:r>
              <a:r>
                <a:rPr lang="en-US" altLang="zh-CN" sz="1600" dirty="0">
                  <a:solidFill>
                    <a:srgbClr val="0000FF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double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</a:t>
              </a:r>
              <a:r>
                <a:rPr lang="en-US" altLang="zh-CN" sz="1600" dirty="0">
                  <a:solidFill>
                    <a:srgbClr val="80808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y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=0.0);</a:t>
              </a:r>
            </a:p>
            <a:p>
              <a:pPr marL="363538">
                <a:defRPr/>
              </a:pPr>
              <a:r>
                <a:rPr lang="en-US" altLang="zh-CN" sz="1600" dirty="0">
                  <a:solidFill>
                    <a:srgbClr val="0000FF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void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Set(</a:t>
              </a:r>
              <a:r>
                <a:rPr lang="en-US" altLang="zh-CN" sz="1600" dirty="0">
                  <a:solidFill>
                    <a:srgbClr val="0000FF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double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</a:t>
              </a:r>
              <a:r>
                <a:rPr lang="en-US" altLang="zh-CN" sz="1600" dirty="0" err="1">
                  <a:solidFill>
                    <a:srgbClr val="80808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x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,</a:t>
              </a:r>
              <a:r>
                <a:rPr lang="en-US" altLang="zh-CN" sz="1600" dirty="0" err="1">
                  <a:solidFill>
                    <a:srgbClr val="0000FF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double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</a:t>
              </a:r>
              <a:r>
                <a:rPr lang="en-US" altLang="zh-CN" sz="1600" dirty="0">
                  <a:solidFill>
                    <a:srgbClr val="80808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y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);</a:t>
              </a:r>
            </a:p>
            <a:p>
              <a:pPr marL="363538">
                <a:defRPr/>
              </a:pPr>
              <a:r>
                <a:rPr lang="en-US" altLang="zh-CN" sz="1600" dirty="0">
                  <a:solidFill>
                    <a:srgbClr val="0000FF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void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SetX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(</a:t>
              </a:r>
              <a:r>
                <a:rPr lang="en-US" altLang="zh-CN" sz="1600" dirty="0">
                  <a:solidFill>
                    <a:srgbClr val="0000FF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double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</a:t>
              </a:r>
              <a:r>
                <a:rPr lang="en-US" altLang="zh-CN" sz="1600" dirty="0">
                  <a:solidFill>
                    <a:srgbClr val="80808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x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);</a:t>
              </a:r>
            </a:p>
            <a:p>
              <a:pPr marL="363538">
                <a:defRPr/>
              </a:pPr>
              <a:r>
                <a:rPr lang="en-US" altLang="zh-CN" sz="1600" dirty="0">
                  <a:solidFill>
                    <a:srgbClr val="0000FF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void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SetY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(</a:t>
              </a:r>
              <a:r>
                <a:rPr lang="en-US" altLang="zh-CN" sz="1600" dirty="0">
                  <a:solidFill>
                    <a:srgbClr val="0000FF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double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</a:t>
              </a:r>
              <a:r>
                <a:rPr lang="en-US" altLang="zh-CN" sz="1600" dirty="0">
                  <a:solidFill>
                    <a:srgbClr val="80808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y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);</a:t>
              </a:r>
            </a:p>
            <a:p>
              <a:pPr marL="363538">
                <a:defRPr/>
              </a:pPr>
              <a:r>
                <a:rPr lang="en-US" altLang="zh-CN" sz="1600" dirty="0">
                  <a:solidFill>
                    <a:srgbClr val="0000FF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double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GetX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() </a:t>
              </a:r>
              <a:r>
                <a:rPr lang="en-US" altLang="zh-CN" sz="1600" dirty="0" err="1">
                  <a:solidFill>
                    <a:srgbClr val="0000FF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const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;</a:t>
              </a:r>
            </a:p>
            <a:p>
              <a:pPr marL="363538">
                <a:defRPr/>
              </a:pPr>
              <a:r>
                <a:rPr lang="en-US" altLang="zh-CN" sz="1600" dirty="0">
                  <a:solidFill>
                    <a:srgbClr val="0000FF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double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GetY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() </a:t>
              </a:r>
              <a:r>
                <a:rPr lang="en-US" altLang="zh-CN" sz="1600" dirty="0" err="1">
                  <a:solidFill>
                    <a:srgbClr val="0000FF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const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;</a:t>
              </a:r>
            </a:p>
            <a:p>
              <a:pPr marL="363538">
                <a:defRPr/>
              </a:pPr>
              <a:r>
                <a:rPr lang="en-US" altLang="zh-CN" sz="1600" dirty="0">
                  <a:solidFill>
                    <a:srgbClr val="0000FF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void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Show() </a:t>
              </a:r>
              <a:r>
                <a:rPr lang="en-US" altLang="zh-CN" sz="1600" dirty="0" err="1">
                  <a:solidFill>
                    <a:srgbClr val="0000FF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const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;</a:t>
              </a:r>
            </a:p>
            <a:p>
              <a:pPr marL="363538">
                <a:defRPr/>
              </a:pPr>
              <a:r>
                <a:rPr lang="en-US" altLang="zh-CN" sz="1600" dirty="0">
                  <a:solidFill>
                    <a:srgbClr val="0000FF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friend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</a:t>
              </a:r>
              <a:r>
                <a:rPr lang="en-US" altLang="zh-CN" sz="1600" dirty="0" err="1">
                  <a:solidFill>
                    <a:srgbClr val="2B91AF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ostream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&amp; </a:t>
              </a:r>
              <a:r>
                <a:rPr lang="en-US" altLang="zh-CN" sz="1600" dirty="0">
                  <a:solidFill>
                    <a:srgbClr val="00808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operator&lt;&lt;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(</a:t>
              </a:r>
              <a:r>
                <a:rPr lang="en-US" altLang="zh-CN" sz="1600" dirty="0" err="1">
                  <a:solidFill>
                    <a:srgbClr val="2B91AF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ostream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&amp; </a:t>
              </a:r>
              <a:r>
                <a:rPr lang="en-US" altLang="zh-CN" sz="1600" dirty="0">
                  <a:solidFill>
                    <a:srgbClr val="80808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out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, </a:t>
              </a:r>
              <a:r>
                <a:rPr lang="en-US" altLang="zh-CN" sz="1600" dirty="0" err="1">
                  <a:solidFill>
                    <a:srgbClr val="0000FF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const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</a:t>
              </a:r>
              <a:r>
                <a:rPr lang="en-US" altLang="zh-CN" sz="1600" dirty="0">
                  <a:solidFill>
                    <a:srgbClr val="2B91AF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Point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&amp; </a:t>
              </a:r>
              <a:r>
                <a:rPr lang="en-US" altLang="zh-CN" sz="1600" dirty="0">
                  <a:solidFill>
                    <a:srgbClr val="80808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p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);</a:t>
              </a:r>
            </a:p>
            <a:p>
              <a:pPr marL="363538">
                <a:defRPr/>
              </a:pPr>
              <a:r>
                <a:rPr lang="en-US" altLang="zh-CN" sz="1600" dirty="0">
                  <a:solidFill>
                    <a:srgbClr val="0000FF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friend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</a:t>
              </a:r>
              <a:r>
                <a:rPr lang="en-US" altLang="zh-CN" sz="1600" dirty="0" err="1">
                  <a:solidFill>
                    <a:srgbClr val="2B91AF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istream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&amp; </a:t>
              </a:r>
              <a:r>
                <a:rPr lang="en-US" altLang="zh-CN" sz="1600" dirty="0">
                  <a:solidFill>
                    <a:srgbClr val="00808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operator&gt;&gt;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(</a:t>
              </a:r>
              <a:r>
                <a:rPr lang="en-US" altLang="zh-CN" sz="1600" dirty="0" err="1">
                  <a:solidFill>
                    <a:srgbClr val="2B91AF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istream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&amp; </a:t>
              </a:r>
              <a:r>
                <a:rPr lang="en-US" altLang="zh-CN" sz="1600" dirty="0">
                  <a:solidFill>
                    <a:srgbClr val="80808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in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, </a:t>
              </a:r>
              <a:r>
                <a:rPr lang="en-US" altLang="zh-CN" sz="1600" dirty="0">
                  <a:solidFill>
                    <a:srgbClr val="2B91AF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Point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&amp; </a:t>
              </a:r>
              <a:r>
                <a:rPr lang="en-US" altLang="zh-CN" sz="1600" dirty="0">
                  <a:solidFill>
                    <a:srgbClr val="80808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p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);</a:t>
              </a:r>
            </a:p>
            <a:p>
              <a:pPr>
                <a:defRPr/>
              </a:pP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};</a:t>
              </a:r>
            </a:p>
            <a:p>
              <a:pPr>
                <a:defRPr/>
              </a:pPr>
              <a:endParaRPr lang="zh-CN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endParaRPr>
            </a:p>
          </p:txBody>
        </p:sp>
        <p:sp>
          <p:nvSpPr>
            <p:cNvPr id="32780" name="矩形 10"/>
            <p:cNvSpPr>
              <a:spLocks noChangeArrowheads="1"/>
            </p:cNvSpPr>
            <p:nvPr/>
          </p:nvSpPr>
          <p:spPr bwMode="auto">
            <a:xfrm>
              <a:off x="2010053" y="927565"/>
              <a:ext cx="761747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r>
                <a:rPr lang="en-US" altLang="zh-CN" sz="1600">
                  <a:solidFill>
                    <a:srgbClr val="000000"/>
                  </a:solidFill>
                  <a:ea typeface="新宋体" pitchFamily="49" charset="-122"/>
                  <a:cs typeface="Times New Roman" pitchFamily="18" charset="0"/>
                </a:rPr>
                <a:t>point.h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4ED16BAD-E910-F62C-1239-A122285170EA}"/>
              </a:ext>
            </a:extLst>
          </p:cNvPr>
          <p:cNvGrpSpPr/>
          <p:nvPr/>
        </p:nvGrpSpPr>
        <p:grpSpPr>
          <a:xfrm>
            <a:off x="2915816" y="295390"/>
            <a:ext cx="3384378" cy="1323439"/>
            <a:chOff x="2915816" y="295390"/>
            <a:chExt cx="3384378" cy="1323439"/>
          </a:xfrm>
        </p:grpSpPr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050EFB65-5551-146B-DAF5-95FEE0D507C1}"/>
                </a:ext>
              </a:extLst>
            </p:cNvPr>
            <p:cNvSpPr txBox="1"/>
            <p:nvPr/>
          </p:nvSpPr>
          <p:spPr>
            <a:xfrm>
              <a:off x="3635898" y="295390"/>
              <a:ext cx="2664296" cy="1323439"/>
            </a:xfrm>
            <a:prstGeom prst="rect">
              <a:avLst/>
            </a:prstGeom>
            <a:noFill/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altLang="zh-CN" sz="1600" dirty="0">
                  <a:solidFill>
                    <a:srgbClr val="808080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#ifndef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 INCLUDE_H</a:t>
              </a:r>
            </a:p>
            <a:p>
              <a:r>
                <a:rPr lang="en-US" altLang="zh-CN" sz="1600" dirty="0">
                  <a:solidFill>
                    <a:srgbClr val="808080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#define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 </a:t>
              </a:r>
              <a:r>
                <a:rPr lang="en-US" altLang="zh-CN" sz="1600" dirty="0">
                  <a:solidFill>
                    <a:srgbClr val="6F008A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INCLUDE_H</a:t>
              </a:r>
              <a:endPara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endParaRPr>
            </a:p>
            <a:p>
              <a:r>
                <a:rPr lang="en-US" altLang="zh-CN" sz="1600" dirty="0">
                  <a:solidFill>
                    <a:srgbClr val="808080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#include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 </a:t>
              </a:r>
              <a:r>
                <a:rPr lang="en-US" altLang="zh-CN" sz="1600" dirty="0">
                  <a:solidFill>
                    <a:srgbClr val="A31515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&lt;iostream&gt;</a:t>
              </a:r>
              <a:endPara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endParaRPr>
            </a:p>
            <a:p>
              <a:r>
                <a:rPr lang="en-US" altLang="zh-CN" sz="1600" dirty="0">
                  <a:solidFill>
                    <a:srgbClr val="0000FF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using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 </a:t>
              </a:r>
              <a:r>
                <a:rPr lang="en-US" altLang="zh-CN" sz="1600" dirty="0">
                  <a:solidFill>
                    <a:srgbClr val="0000FF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namespace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 std;</a:t>
              </a:r>
            </a:p>
            <a:p>
              <a:r>
                <a:rPr lang="en-US" altLang="zh-CN" sz="1600" dirty="0">
                  <a:solidFill>
                    <a:srgbClr val="808080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#endif</a:t>
              </a:r>
              <a:endParaRPr lang="zh-CN" altLang="en-US" sz="1600" dirty="0">
                <a:latin typeface="Consolas" panose="020B0609020204030204" pitchFamily="49" charset="0"/>
              </a:endParaRPr>
            </a:p>
          </p:txBody>
        </p:sp>
        <p:sp>
          <p:nvSpPr>
            <p:cNvPr id="8" name="箭头: 左右 7">
              <a:extLst>
                <a:ext uri="{FF2B5EF4-FFF2-40B4-BE49-F238E27FC236}">
                  <a16:creationId xmlns:a16="http://schemas.microsoft.com/office/drawing/2014/main" id="{B2B75F98-A888-D4DB-CA3B-92D545AECAB1}"/>
                </a:ext>
              </a:extLst>
            </p:cNvPr>
            <p:cNvSpPr/>
            <p:nvPr/>
          </p:nvSpPr>
          <p:spPr>
            <a:xfrm>
              <a:off x="2915816" y="794651"/>
              <a:ext cx="576064" cy="114069"/>
            </a:xfrm>
            <a:prstGeom prst="left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7">
              <a:extLst>
                <a:ext uri="{FF2B5EF4-FFF2-40B4-BE49-F238E27FC236}">
                  <a16:creationId xmlns:a16="http://schemas.microsoft.com/office/drawing/2014/main" id="{89050F8A-1206-9598-EBE1-8105225B3E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2493" y="620688"/>
              <a:ext cx="569387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r>
                <a:rPr lang="zh-CN" altLang="en-US" sz="1000" dirty="0">
                  <a:solidFill>
                    <a:srgbClr val="000000"/>
                  </a:solidFill>
                  <a:ea typeface="新宋体" pitchFamily="49" charset="-122"/>
                  <a:cs typeface="Times New Roman" pitchFamily="18" charset="0"/>
                </a:rPr>
                <a:t>相当于</a:t>
              </a:r>
              <a:endParaRPr lang="en-US" altLang="zh-CN" sz="1000" dirty="0">
                <a:solidFill>
                  <a:srgbClr val="000000"/>
                </a:solidFill>
                <a:ea typeface="新宋体" pitchFamily="49" charset="-122"/>
                <a:cs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00135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>
            <a:grpSpLocks/>
          </p:cNvGrpSpPr>
          <p:nvPr/>
        </p:nvGrpSpPr>
        <p:grpSpPr bwMode="auto">
          <a:xfrm>
            <a:off x="271975" y="0"/>
            <a:ext cx="5236129" cy="6430963"/>
            <a:chOff x="3605518" y="912783"/>
            <a:chExt cx="5235571" cy="6430209"/>
          </a:xfrm>
        </p:grpSpPr>
        <p:sp>
          <p:nvSpPr>
            <p:cNvPr id="13" name="矩形 12"/>
            <p:cNvSpPr/>
            <p:nvPr/>
          </p:nvSpPr>
          <p:spPr>
            <a:xfrm>
              <a:off x="3605518" y="1217547"/>
              <a:ext cx="5235571" cy="612544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>
                  <a:lumMod val="25000"/>
                </a:schemeClr>
              </a:solidFill>
            </a:ln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#include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A31515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"</a:t>
              </a:r>
              <a:r>
                <a:rPr kumimoji="0" lang="en-US" altLang="zh-CN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A31515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include.h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A31515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"</a:t>
              </a:r>
              <a:endPara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新宋体" pitchFamily="49" charset="-122"/>
                <a:cs typeface="Consolas" pitchFamily="49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#include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A31515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"</a:t>
              </a:r>
              <a:r>
                <a:rPr kumimoji="0" lang="en-US" altLang="zh-CN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A31515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point.h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A31515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"</a:t>
              </a:r>
              <a:endPara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新宋体" pitchFamily="49" charset="-122"/>
                <a:cs typeface="Consolas" pitchFamily="49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2B91AF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Point</a:t>
              </a:r>
              <a:r>
                <a:rPr kumimoji="0" lang="fr-FR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::Point(</a:t>
              </a:r>
              <a:r>
                <a:rPr kumimoji="0" lang="fr-FR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double</a:t>
              </a:r>
              <a:r>
                <a:rPr kumimoji="0" lang="fr-FR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kumimoji="0" lang="fr-FR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x</a:t>
              </a:r>
              <a:r>
                <a:rPr kumimoji="0" lang="fr-FR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, </a:t>
              </a:r>
              <a:r>
                <a:rPr kumimoji="0" lang="fr-FR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double</a:t>
              </a:r>
              <a:r>
                <a:rPr kumimoji="0" lang="fr-FR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kumimoji="0" lang="fr-FR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y</a:t>
              </a:r>
              <a:r>
                <a:rPr kumimoji="0" lang="fr-FR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):_x(</a:t>
              </a:r>
              <a:r>
                <a:rPr kumimoji="0" lang="fr-FR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x</a:t>
              </a:r>
              <a:r>
                <a:rPr kumimoji="0" lang="fr-FR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),_y(</a:t>
              </a:r>
              <a:r>
                <a:rPr kumimoji="0" lang="fr-FR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y</a:t>
              </a:r>
              <a:r>
                <a:rPr kumimoji="0" lang="fr-FR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)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{}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void</a:t>
              </a:r>
              <a:r>
                <a:rPr kumimoji="0" lang="fr-FR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kumimoji="0" lang="fr-FR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2B91AF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Point</a:t>
              </a:r>
              <a:r>
                <a:rPr kumimoji="0" lang="fr-FR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::Set(</a:t>
              </a:r>
              <a:r>
                <a:rPr kumimoji="0" lang="fr-FR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double</a:t>
              </a:r>
              <a:r>
                <a:rPr kumimoji="0" lang="fr-FR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kumimoji="0" lang="fr-FR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x</a:t>
              </a:r>
              <a:r>
                <a:rPr kumimoji="0" lang="fr-FR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, </a:t>
              </a:r>
              <a:r>
                <a:rPr kumimoji="0" lang="fr-FR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double</a:t>
              </a:r>
              <a:r>
                <a:rPr kumimoji="0" lang="fr-FR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kumimoji="0" lang="fr-FR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y</a:t>
              </a:r>
              <a:r>
                <a:rPr kumimoji="0" lang="fr-FR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)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{  _x =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x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;</a:t>
              </a:r>
            </a:p>
            <a:p>
              <a:pPr marL="0" marR="0" lvl="0" indent="26987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_y =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y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;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}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void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2B91AF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Point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::</a:t>
              </a:r>
              <a:r>
                <a:rPr kumimoji="0" lang="en-US" altLang="zh-CN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SetX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(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double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x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)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{  _x =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x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;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}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void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2B91AF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Point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::</a:t>
              </a:r>
              <a:r>
                <a:rPr kumimoji="0" lang="en-US" altLang="zh-CN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SetY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(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double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y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)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{  _y =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y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;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}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double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2B91AF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Point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::</a:t>
              </a:r>
              <a:r>
                <a:rPr kumimoji="0" lang="en-US" altLang="zh-CN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GetX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() </a:t>
              </a:r>
              <a:r>
                <a:rPr kumimoji="0" lang="en-US" altLang="zh-CN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const</a:t>
              </a:r>
              <a:endPara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新宋体" pitchFamily="49" charset="-122"/>
                <a:cs typeface="Consolas" pitchFamily="49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{ 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return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_x;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}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double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2B91AF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Point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::</a:t>
              </a:r>
              <a:r>
                <a:rPr kumimoji="0" lang="en-US" altLang="zh-CN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GetY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() </a:t>
              </a:r>
              <a:r>
                <a:rPr kumimoji="0" lang="en-US" altLang="zh-CN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const</a:t>
              </a:r>
              <a:endPara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新宋体" pitchFamily="49" charset="-122"/>
                <a:cs typeface="Consolas" pitchFamily="49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{ 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return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_y;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}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void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2B91AF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Point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::Show() </a:t>
              </a:r>
              <a:r>
                <a:rPr kumimoji="0" lang="en-US" altLang="zh-CN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const</a:t>
              </a:r>
              <a:endPara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新宋体" pitchFamily="49" charset="-122"/>
                <a:cs typeface="Consolas" pitchFamily="49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{  </a:t>
              </a:r>
              <a:r>
                <a:rPr kumimoji="0" lang="en-US" altLang="zh-CN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cout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08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&lt;&lt;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A31515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"("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08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&lt;&lt;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_x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08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&lt;&lt;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A31515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","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08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&lt;&lt;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_y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08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&lt;&lt;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A31515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")"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;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}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B91AF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ostream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&amp;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08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operator&lt;&lt;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(</a:t>
              </a:r>
              <a:r>
                <a:rPr kumimoji="0" lang="en-US" altLang="zh-CN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B91AF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ostream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&amp;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out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, </a:t>
              </a:r>
              <a:r>
                <a:rPr kumimoji="0" lang="en-US" altLang="zh-CN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const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2B91AF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Point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&amp;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p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)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{ 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return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out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08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&lt;&lt;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A31515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"("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08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&lt;&lt;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kumimoji="0" lang="en-US" altLang="zh-CN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p</a:t>
              </a:r>
              <a:r>
                <a:rPr kumimoji="0" lang="en-US" altLang="zh-CN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._x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08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&lt;&lt;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A31515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","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08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&lt;&lt;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kumimoji="0" lang="en-US" altLang="zh-CN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p</a:t>
              </a:r>
              <a:r>
                <a:rPr kumimoji="0" lang="en-US" altLang="zh-CN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._y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08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&lt;&lt;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A31515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")"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;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}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B91AF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istream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&amp;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08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operator&gt;&gt;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(</a:t>
              </a:r>
              <a:r>
                <a:rPr kumimoji="0" lang="en-US" altLang="zh-CN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B91AF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istream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&amp;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in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,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2B91AF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Point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&amp;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p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)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{ 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return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in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08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&gt;&gt;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kumimoji="0" lang="en-US" altLang="zh-CN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p</a:t>
              </a:r>
              <a:r>
                <a:rPr kumimoji="0" lang="en-US" altLang="zh-CN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._x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08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&gt;&gt;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kumimoji="0" lang="en-US" altLang="zh-CN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p</a:t>
              </a:r>
              <a:r>
                <a:rPr kumimoji="0" lang="en-US" altLang="zh-CN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._y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;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}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新宋体" pitchFamily="49" charset="-122"/>
                <a:cs typeface="Consolas" pitchFamily="49" charset="0"/>
              </a:endParaRPr>
            </a:p>
          </p:txBody>
        </p:sp>
        <p:sp>
          <p:nvSpPr>
            <p:cNvPr id="32778" name="矩形 13"/>
            <p:cNvSpPr>
              <a:spLocks noChangeArrowheads="1"/>
            </p:cNvSpPr>
            <p:nvPr/>
          </p:nvSpPr>
          <p:spPr bwMode="auto">
            <a:xfrm>
              <a:off x="3703726" y="912783"/>
              <a:ext cx="955711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新宋体" pitchFamily="49" charset="-122"/>
                  <a:cs typeface="Times New Roman" pitchFamily="18" charset="0"/>
                </a:rPr>
                <a:t>point.cpp</a:t>
              </a:r>
            </a:p>
          </p:txBody>
        </p:sp>
      </p:grpSp>
      <p:grpSp>
        <p:nvGrpSpPr>
          <p:cNvPr id="18" name="组合 17"/>
          <p:cNvGrpSpPr>
            <a:grpSpLocks/>
          </p:cNvGrpSpPr>
          <p:nvPr/>
        </p:nvGrpSpPr>
        <p:grpSpPr bwMode="auto">
          <a:xfrm>
            <a:off x="5699676" y="66686"/>
            <a:ext cx="3055938" cy="2595661"/>
            <a:chOff x="-2516528" y="2492896"/>
            <a:chExt cx="3056079" cy="2596455"/>
          </a:xfrm>
        </p:grpSpPr>
        <p:sp>
          <p:nvSpPr>
            <p:cNvPr id="16" name="矩形 15"/>
            <p:cNvSpPr/>
            <p:nvPr/>
          </p:nvSpPr>
          <p:spPr>
            <a:xfrm>
              <a:off x="-2516528" y="2780321"/>
              <a:ext cx="3056079" cy="23090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>
                  <a:lumMod val="25000"/>
                </a:schemeClr>
              </a:solidFill>
            </a:ln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#pragma</a:t>
              </a: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once</a:t>
              </a: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新宋体" pitchFamily="49" charset="-122"/>
                <a:cs typeface="Consolas" pitchFamily="49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#include</a:t>
              </a: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A31515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"</a:t>
              </a:r>
              <a:r>
                <a:rPr kumimoji="0" lang="en-US" altLang="zh-CN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A31515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point.h</a:t>
              </a: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A31515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"</a:t>
              </a: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新宋体" pitchFamily="49" charset="-122"/>
                <a:cs typeface="Consolas" pitchFamily="49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namespace</a:t>
              </a: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kumimoji="0" lang="en-US" altLang="zh-CN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nspoint</a:t>
              </a: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新宋体" pitchFamily="49" charset="-122"/>
                <a:cs typeface="Consolas" pitchFamily="49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{  </a:t>
              </a: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2B91AF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Point</a:t>
              </a: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origin;</a:t>
              </a:r>
            </a:p>
            <a:p>
              <a:pPr marL="269875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2B91AF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Point</a:t>
              </a: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kumimoji="0" lang="en-US" altLang="zh-CN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right1</a:t>
              </a: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(1.0, 0);</a:t>
              </a:r>
            </a:p>
            <a:p>
              <a:pPr marL="269875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2B91AF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Point</a:t>
              </a: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kumimoji="0" lang="en-US" altLang="zh-CN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left1</a:t>
              </a: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(-1.0, 0);</a:t>
              </a:r>
            </a:p>
            <a:p>
              <a:pPr marL="269875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2B91AF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Point</a:t>
              </a: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kumimoji="0" lang="en-US" altLang="zh-CN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top1</a:t>
              </a: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(0, 1.0);</a:t>
              </a:r>
            </a:p>
            <a:p>
              <a:pPr marL="269875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2B91AF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Point</a:t>
              </a: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 </a:t>
              </a:r>
              <a:r>
                <a:rPr kumimoji="0" lang="en-US" altLang="zh-CN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bottom1</a:t>
              </a: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(0, -1.0);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itchFamily="49" charset="0"/>
                  <a:ea typeface="新宋体" pitchFamily="49" charset="-122"/>
                  <a:cs typeface="Consolas" pitchFamily="49" charset="0"/>
                </a:rPr>
                <a:t>};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新宋体" pitchFamily="49" charset="-122"/>
                <a:cs typeface="Consolas" pitchFamily="49" charset="0"/>
              </a:endParaRPr>
            </a:p>
          </p:txBody>
        </p:sp>
        <p:sp>
          <p:nvSpPr>
            <p:cNvPr id="32776" name="矩形 16"/>
            <p:cNvSpPr>
              <a:spLocks noChangeArrowheads="1"/>
            </p:cNvSpPr>
            <p:nvPr/>
          </p:nvSpPr>
          <p:spPr bwMode="auto">
            <a:xfrm>
              <a:off x="-2488537" y="2492896"/>
              <a:ext cx="1241045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新宋体" pitchFamily="49" charset="-122"/>
                  <a:cs typeface="Times New Roman" pitchFamily="18" charset="0"/>
                </a:rPr>
                <a:t>namespace.h</a:t>
              </a:r>
            </a:p>
          </p:txBody>
        </p:sp>
      </p:grpSp>
      <p:sp>
        <p:nvSpPr>
          <p:cNvPr id="20" name="圆角矩形 19"/>
          <p:cNvSpPr/>
          <p:nvPr/>
        </p:nvSpPr>
        <p:spPr>
          <a:xfrm>
            <a:off x="9468544" y="351612"/>
            <a:ext cx="936625" cy="258762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/>
              <a:ea typeface="华文楷体" panose="0201060004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1945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矩形 4"/>
          <p:cNvSpPr>
            <a:spLocks noChangeArrowheads="1"/>
          </p:cNvSpPr>
          <p:nvPr/>
        </p:nvSpPr>
        <p:spPr bwMode="auto">
          <a:xfrm>
            <a:off x="1847784" y="4461346"/>
            <a:ext cx="2759075" cy="1631950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lang="en-US" altLang="zh-CN" sz="2000" dirty="0">
                <a:solidFill>
                  <a:schemeClr val="bg1"/>
                </a:solidFill>
              </a:rPr>
              <a:t>origin is: (0,0)</a:t>
            </a:r>
          </a:p>
          <a:p>
            <a:r>
              <a:rPr lang="en-US" altLang="zh-CN" sz="2000" dirty="0">
                <a:solidFill>
                  <a:schemeClr val="bg1"/>
                </a:solidFill>
              </a:rPr>
              <a:t>left vertex is: (-1,0)</a:t>
            </a:r>
          </a:p>
          <a:p>
            <a:r>
              <a:rPr lang="en-US" altLang="zh-CN" sz="2000" dirty="0">
                <a:solidFill>
                  <a:schemeClr val="bg1"/>
                </a:solidFill>
              </a:rPr>
              <a:t>top vertex is: (0,1)</a:t>
            </a:r>
          </a:p>
          <a:p>
            <a:r>
              <a:rPr lang="en-US" altLang="zh-CN" sz="2000" dirty="0">
                <a:solidFill>
                  <a:schemeClr val="bg1"/>
                </a:solidFill>
              </a:rPr>
              <a:t>right vertex is: (1,0)</a:t>
            </a:r>
          </a:p>
          <a:p>
            <a:r>
              <a:rPr lang="en-US" altLang="zh-CN" sz="2000" dirty="0">
                <a:solidFill>
                  <a:schemeClr val="bg1"/>
                </a:solidFill>
              </a:rPr>
              <a:t>bottom vertex is: (0,-1)</a:t>
            </a:r>
          </a:p>
        </p:txBody>
      </p:sp>
      <p:grpSp>
        <p:nvGrpSpPr>
          <p:cNvPr id="31749" name="组合 5"/>
          <p:cNvGrpSpPr>
            <a:grpSpLocks/>
          </p:cNvGrpSpPr>
          <p:nvPr/>
        </p:nvGrpSpPr>
        <p:grpSpPr bwMode="auto">
          <a:xfrm>
            <a:off x="395536" y="764704"/>
            <a:ext cx="6053138" cy="3333750"/>
            <a:chOff x="103751" y="764704"/>
            <a:chExt cx="6052425" cy="3333765"/>
          </a:xfrm>
        </p:grpSpPr>
        <p:sp>
          <p:nvSpPr>
            <p:cNvPr id="7" name="矩形 6"/>
            <p:cNvSpPr/>
            <p:nvPr/>
          </p:nvSpPr>
          <p:spPr>
            <a:xfrm>
              <a:off x="106926" y="1052043"/>
              <a:ext cx="6049250" cy="304642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2">
                  <a:lumMod val="25000"/>
                </a:schemeClr>
              </a:solidFill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1600" dirty="0">
                  <a:solidFill>
                    <a:srgbClr val="80808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#include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</a:t>
              </a:r>
              <a:r>
                <a:rPr lang="en-US" altLang="zh-CN" sz="1600" dirty="0">
                  <a:solidFill>
                    <a:srgbClr val="A31515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"</a:t>
              </a:r>
              <a:r>
                <a:rPr lang="en-US" altLang="zh-CN" sz="1600" dirty="0" err="1">
                  <a:solidFill>
                    <a:srgbClr val="A31515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include.h</a:t>
              </a:r>
              <a:r>
                <a:rPr lang="en-US" altLang="zh-CN" sz="1600" dirty="0">
                  <a:solidFill>
                    <a:srgbClr val="A31515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"</a:t>
              </a:r>
              <a:endPara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endParaRPr>
            </a:p>
            <a:p>
              <a:pPr>
                <a:defRPr/>
              </a:pPr>
              <a:r>
                <a:rPr lang="en-US" altLang="zh-CN" sz="1600" dirty="0">
                  <a:solidFill>
                    <a:srgbClr val="80808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#include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</a:t>
              </a:r>
              <a:r>
                <a:rPr lang="en-US" altLang="zh-CN" sz="1600" dirty="0">
                  <a:solidFill>
                    <a:srgbClr val="A31515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"</a:t>
              </a:r>
              <a:r>
                <a:rPr lang="en-US" altLang="zh-CN" sz="1600" dirty="0" err="1">
                  <a:solidFill>
                    <a:srgbClr val="A31515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point.h</a:t>
              </a:r>
              <a:r>
                <a:rPr lang="en-US" altLang="zh-CN" sz="1600" dirty="0">
                  <a:solidFill>
                    <a:srgbClr val="A31515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"</a:t>
              </a:r>
              <a:endPara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endParaRPr>
            </a:p>
            <a:p>
              <a:pPr>
                <a:defRPr/>
              </a:pPr>
              <a:r>
                <a:rPr lang="en-US" altLang="zh-CN" sz="1600" dirty="0">
                  <a:solidFill>
                    <a:srgbClr val="80808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#include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</a:t>
              </a:r>
              <a:r>
                <a:rPr lang="en-US" altLang="zh-CN" sz="1600" dirty="0">
                  <a:solidFill>
                    <a:srgbClr val="A31515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"</a:t>
              </a:r>
              <a:r>
                <a:rPr lang="en-US" altLang="zh-CN" sz="1600" dirty="0" err="1">
                  <a:solidFill>
                    <a:srgbClr val="A31515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namespace.h</a:t>
              </a:r>
              <a:r>
                <a:rPr lang="en-US" altLang="zh-CN" sz="1600" dirty="0">
                  <a:solidFill>
                    <a:srgbClr val="A31515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"</a:t>
              </a:r>
              <a:endPara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  <a:cs typeface="Consolas" panose="020B0609020204030204" pitchFamily="49" charset="0"/>
              </a:endParaRPr>
            </a:p>
            <a:p>
              <a:pPr>
                <a:defRPr/>
              </a:pPr>
              <a:r>
                <a:rPr lang="en-US" altLang="zh-CN" sz="1600" dirty="0">
                  <a:solidFill>
                    <a:srgbClr val="0000FF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using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</a:t>
              </a:r>
              <a:r>
                <a:rPr lang="en-US" altLang="zh-CN" sz="1600" dirty="0">
                  <a:solidFill>
                    <a:srgbClr val="0000FF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namespace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nspoint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;</a:t>
              </a:r>
            </a:p>
            <a:p>
              <a:pPr>
                <a:defRPr/>
              </a:pPr>
              <a:r>
                <a:rPr lang="en-US" altLang="zh-CN" sz="1600" dirty="0" err="1">
                  <a:solidFill>
                    <a:srgbClr val="0000FF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int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main()</a:t>
              </a:r>
            </a:p>
            <a:p>
              <a:pPr>
                <a:defRPr/>
              </a:pP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{   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cout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</a:t>
              </a:r>
              <a:r>
                <a:rPr lang="en-US" altLang="zh-CN" sz="1600" dirty="0">
                  <a:solidFill>
                    <a:srgbClr val="00808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&lt;&lt;</a:t>
              </a:r>
              <a:r>
                <a:rPr lang="en-US" altLang="zh-CN" sz="1600" dirty="0">
                  <a:solidFill>
                    <a:srgbClr val="A31515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"origin is: "</a:t>
              </a:r>
              <a:r>
                <a:rPr lang="en-US" altLang="zh-CN" sz="1600" dirty="0">
                  <a:solidFill>
                    <a:srgbClr val="00808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&lt;&lt;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origin</a:t>
              </a:r>
              <a:r>
                <a:rPr lang="en-US" altLang="zh-CN" sz="1600" dirty="0">
                  <a:solidFill>
                    <a:srgbClr val="00808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&lt;&lt;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endl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;</a:t>
              </a:r>
            </a:p>
            <a:p>
              <a:pPr>
                <a:defRPr/>
              </a:pP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   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cout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</a:t>
              </a:r>
              <a:r>
                <a:rPr lang="en-US" altLang="zh-CN" sz="1600" dirty="0">
                  <a:solidFill>
                    <a:srgbClr val="00808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&lt;&lt;</a:t>
              </a:r>
              <a:r>
                <a:rPr lang="en-US" altLang="zh-CN" sz="1600" dirty="0">
                  <a:solidFill>
                    <a:srgbClr val="A31515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"left vertex is: "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</a:t>
              </a:r>
              <a:r>
                <a:rPr lang="en-US" altLang="zh-CN" sz="1600" dirty="0">
                  <a:solidFill>
                    <a:srgbClr val="00808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&lt;&lt;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left1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</a:t>
              </a:r>
              <a:r>
                <a:rPr lang="en-US" altLang="zh-CN" sz="1600" dirty="0">
                  <a:solidFill>
                    <a:srgbClr val="00808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&lt;&lt;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endl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;</a:t>
              </a:r>
            </a:p>
            <a:p>
              <a:pPr>
                <a:defRPr/>
              </a:pP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   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cout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</a:t>
              </a:r>
              <a:r>
                <a:rPr lang="en-US" altLang="zh-CN" sz="1600" dirty="0">
                  <a:solidFill>
                    <a:srgbClr val="00808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&lt;&lt;</a:t>
              </a:r>
              <a:r>
                <a:rPr lang="en-US" altLang="zh-CN" sz="1600" dirty="0">
                  <a:solidFill>
                    <a:srgbClr val="A31515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"top vertex is: "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</a:t>
              </a:r>
              <a:r>
                <a:rPr lang="en-US" altLang="zh-CN" sz="1600" dirty="0">
                  <a:solidFill>
                    <a:srgbClr val="00808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&lt;&lt;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top1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</a:t>
              </a:r>
              <a:r>
                <a:rPr lang="en-US" altLang="zh-CN" sz="1600" dirty="0">
                  <a:solidFill>
                    <a:srgbClr val="00808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&lt;&lt;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endl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;</a:t>
              </a:r>
            </a:p>
            <a:p>
              <a:pPr>
                <a:defRPr/>
              </a:pP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   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cout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</a:t>
              </a:r>
              <a:r>
                <a:rPr lang="en-US" altLang="zh-CN" sz="1600" dirty="0">
                  <a:solidFill>
                    <a:srgbClr val="00808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&lt;&lt;</a:t>
              </a:r>
              <a:r>
                <a:rPr lang="en-US" altLang="zh-CN" sz="1600" dirty="0">
                  <a:solidFill>
                    <a:srgbClr val="A31515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"right vertex is: "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</a:t>
              </a:r>
              <a:r>
                <a:rPr lang="en-US" altLang="zh-CN" sz="1600" dirty="0">
                  <a:solidFill>
                    <a:srgbClr val="00808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&lt;&lt;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right1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</a:t>
              </a:r>
              <a:r>
                <a:rPr lang="en-US" altLang="zh-CN" sz="1600" dirty="0">
                  <a:solidFill>
                    <a:srgbClr val="00808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&lt;&lt;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endl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;</a:t>
              </a:r>
            </a:p>
            <a:p>
              <a:pPr>
                <a:defRPr/>
              </a:pP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   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cout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</a:t>
              </a:r>
              <a:r>
                <a:rPr lang="en-US" altLang="zh-CN" sz="1600" dirty="0">
                  <a:solidFill>
                    <a:srgbClr val="00808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&lt;&lt;</a:t>
              </a:r>
              <a:r>
                <a:rPr lang="en-US" altLang="zh-CN" sz="1600" dirty="0">
                  <a:solidFill>
                    <a:srgbClr val="A31515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"bottom vertex is: "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</a:t>
              </a:r>
              <a:r>
                <a:rPr lang="en-US" altLang="zh-CN" sz="1600" dirty="0">
                  <a:solidFill>
                    <a:srgbClr val="00808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&lt;&lt;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bottom1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</a:t>
              </a:r>
              <a:r>
                <a:rPr lang="en-US" altLang="zh-CN" sz="1600" dirty="0">
                  <a:solidFill>
                    <a:srgbClr val="00808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&lt;&lt;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</a:t>
              </a:r>
              <a:r>
                <a:rPr lang="en-US" altLang="zh-CN" sz="16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endl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;</a:t>
              </a:r>
            </a:p>
            <a:p>
              <a:pPr>
                <a:defRPr/>
              </a:pP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   </a:t>
              </a:r>
              <a:r>
                <a:rPr lang="en-US" altLang="zh-CN" sz="1600" dirty="0">
                  <a:solidFill>
                    <a:srgbClr val="0000FF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return</a:t>
              </a: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 0;</a:t>
              </a:r>
            </a:p>
            <a:p>
              <a:pPr>
                <a:defRPr/>
              </a:pPr>
              <a:r>
                <a:rPr lang="en-US" altLang="zh-CN" sz="16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  <a:cs typeface="Consolas" panose="020B0609020204030204" pitchFamily="49" charset="0"/>
                </a:rPr>
                <a:t>}</a:t>
              </a:r>
            </a:p>
          </p:txBody>
        </p:sp>
        <p:sp>
          <p:nvSpPr>
            <p:cNvPr id="31752" name="矩形 7"/>
            <p:cNvSpPr>
              <a:spLocks noChangeArrowheads="1"/>
            </p:cNvSpPr>
            <p:nvPr/>
          </p:nvSpPr>
          <p:spPr bwMode="auto">
            <a:xfrm>
              <a:off x="103751" y="764704"/>
              <a:ext cx="1947969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r>
                <a:rPr lang="en-US" altLang="zh-CN" sz="1600">
                  <a:solidFill>
                    <a:srgbClr val="000000"/>
                  </a:solidFill>
                  <a:ea typeface="新宋体" pitchFamily="49" charset="-122"/>
                  <a:cs typeface="Times New Roman" pitchFamily="18" charset="0"/>
                </a:rPr>
                <a:t>namespace_2022.cpp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470500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命名空间作用域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zh-CN" altLang="en-US" dirty="0"/>
              <a:t>一个命名空间确定了一个命名空间作用域</a:t>
            </a:r>
            <a:endParaRPr lang="en-US" altLang="zh-CN" dirty="0"/>
          </a:p>
          <a:p>
            <a:pPr>
              <a:defRPr/>
            </a:pPr>
            <a:r>
              <a:rPr lang="zh-CN" altLang="en-US" dirty="0"/>
              <a:t>使用其它命名空间作用域中的标识符</a:t>
            </a:r>
            <a:endParaRPr lang="en-US" altLang="zh-CN" dirty="0"/>
          </a:p>
          <a:p>
            <a:pPr lvl="1">
              <a:defRPr/>
            </a:pPr>
            <a:r>
              <a:rPr lang="zh-CN" altLang="en-US" dirty="0"/>
              <a:t>命名空间名</a:t>
            </a:r>
            <a:r>
              <a:rPr lang="en-US" altLang="zh-CN" dirty="0"/>
              <a:t>::</a:t>
            </a:r>
            <a:r>
              <a:rPr lang="zh-CN" altLang="en-US" dirty="0"/>
              <a:t>标识符名</a:t>
            </a:r>
            <a:endParaRPr lang="en-US" altLang="zh-CN" dirty="0"/>
          </a:p>
          <a:p>
            <a:pPr lvl="1">
              <a:defRPr/>
            </a:pPr>
            <a:r>
              <a:rPr lang="zh-CN" altLang="en-US" dirty="0"/>
              <a:t>例：声明一个</a:t>
            </a:r>
            <a:r>
              <a:rPr lang="en-US" altLang="zh-CN" dirty="0" err="1"/>
              <a:t>SomeClass</a:t>
            </a:r>
            <a:r>
              <a:rPr lang="zh-CN" altLang="en-US" dirty="0"/>
              <a:t>型的对象</a:t>
            </a:r>
            <a:endParaRPr lang="en-US" altLang="zh-CN" dirty="0"/>
          </a:p>
          <a:p>
            <a:pPr lvl="2">
              <a:defRPr/>
            </a:pPr>
            <a:r>
              <a:rPr lang="en-US" altLang="zh-CN" dirty="0" err="1">
                <a:latin typeface="宋体" pitchFamily="2" charset="-122"/>
              </a:rPr>
              <a:t>SomeNs</a:t>
            </a:r>
            <a:r>
              <a:rPr lang="en-US" altLang="zh-CN" dirty="0">
                <a:latin typeface="宋体" pitchFamily="2" charset="-122"/>
              </a:rPr>
              <a:t>::</a:t>
            </a:r>
            <a:r>
              <a:rPr lang="en-US" altLang="zh-CN" dirty="0" err="1">
                <a:latin typeface="宋体" pitchFamily="2" charset="-122"/>
              </a:rPr>
              <a:t>SomeClass</a:t>
            </a:r>
            <a:r>
              <a:rPr lang="en-US" altLang="zh-CN" dirty="0">
                <a:latin typeface="宋体" pitchFamily="2" charset="-122"/>
              </a:rPr>
              <a:t> obj1;</a:t>
            </a:r>
          </a:p>
        </p:txBody>
      </p:sp>
      <p:sp>
        <p:nvSpPr>
          <p:cNvPr id="9220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E8DC0C08-0E05-4DDE-B611-FF718166A509}" type="slidenum">
              <a:rPr lang="en-US" altLang="zh-CN" sz="1400" smtClean="0"/>
              <a:pPr/>
              <a:t>14</a:t>
            </a:fld>
            <a:endParaRPr lang="en-US" altLang="zh-CN" sz="1400"/>
          </a:p>
        </p:txBody>
      </p:sp>
    </p:spTree>
    <p:extLst>
      <p:ext uri="{BB962C8B-B14F-4D97-AF65-F5344CB8AC3E}">
        <p14:creationId xmlns:p14="http://schemas.microsoft.com/office/powerpoint/2010/main" val="7217617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2"/>
          <p:cNvSpPr txBox="1">
            <a:spLocks/>
          </p:cNvSpPr>
          <p:nvPr/>
        </p:nvSpPr>
        <p:spPr>
          <a:xfrm>
            <a:off x="463624" y="2204864"/>
            <a:ext cx="3460304" cy="331236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vert="horz" rtlCol="0">
            <a:normAutofit fontScale="85000" lnSpcReduction="20000"/>
          </a:bodyPr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50000"/>
              <a:buFont typeface="Wingdings 2"/>
              <a:buChar char="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50000"/>
              <a:buFont typeface="Wingdings 2"/>
              <a:buChar char="³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0000"/>
              <a:buFont typeface="Wingdings 2"/>
              <a:buChar char="®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accent5"/>
              </a:buClr>
              <a:buSzPct val="45000"/>
              <a:buFont typeface="Wingdings 2"/>
              <a:buChar char="¯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en-US" altLang="zh-CN" dirty="0"/>
              <a:t>#include &lt;</a:t>
            </a:r>
            <a:r>
              <a:rPr lang="en-US" altLang="zh-CN" dirty="0" err="1"/>
              <a:t>iostream</a:t>
            </a:r>
            <a:r>
              <a:rPr lang="en-US" altLang="zh-CN" dirty="0"/>
              <a:t>&gt;</a:t>
            </a:r>
          </a:p>
          <a:p>
            <a:pPr marL="0" indent="0">
              <a:buNone/>
              <a:defRPr/>
            </a:pPr>
            <a:r>
              <a:rPr lang="en-US" altLang="zh-CN" dirty="0"/>
              <a:t>using namespace </a:t>
            </a:r>
            <a:r>
              <a:rPr lang="en-US" altLang="zh-CN" dirty="0" err="1"/>
              <a:t>std</a:t>
            </a:r>
            <a:r>
              <a:rPr lang="en-US" altLang="zh-CN" dirty="0"/>
              <a:t>;</a:t>
            </a:r>
          </a:p>
          <a:p>
            <a:pPr marL="0" indent="0">
              <a:buNone/>
              <a:defRPr/>
            </a:pPr>
            <a:r>
              <a:rPr lang="en-US" altLang="zh-CN" dirty="0" err="1"/>
              <a:t>int</a:t>
            </a:r>
            <a:r>
              <a:rPr lang="en-US" altLang="zh-CN" dirty="0"/>
              <a:t> main()</a:t>
            </a:r>
          </a:p>
          <a:p>
            <a:pPr marL="0" indent="0">
              <a:buNone/>
              <a:defRPr/>
            </a:pPr>
            <a:r>
              <a:rPr lang="en-US" altLang="zh-CN" dirty="0"/>
              <a:t>{   </a:t>
            </a:r>
            <a:r>
              <a:rPr lang="en-US" altLang="zh-CN" dirty="0" err="1"/>
              <a:t>int</a:t>
            </a:r>
            <a:r>
              <a:rPr lang="en-US" altLang="zh-CN" dirty="0"/>
              <a:t> x;</a:t>
            </a:r>
          </a:p>
          <a:p>
            <a:pPr marL="0" indent="0">
              <a:buNone/>
              <a:defRPr/>
            </a:pPr>
            <a:r>
              <a:rPr lang="en-US" altLang="zh-CN" dirty="0"/>
              <a:t>     </a:t>
            </a:r>
            <a:r>
              <a:rPr lang="en-US" altLang="zh-CN" dirty="0" err="1"/>
              <a:t>cin</a:t>
            </a:r>
            <a:r>
              <a:rPr lang="en-US" altLang="zh-CN" dirty="0"/>
              <a:t>&gt;&gt;x;</a:t>
            </a:r>
          </a:p>
          <a:p>
            <a:pPr marL="0" indent="0">
              <a:buNone/>
              <a:defRPr/>
            </a:pPr>
            <a:r>
              <a:rPr lang="en-US" altLang="zh-CN" dirty="0"/>
              <a:t>     </a:t>
            </a:r>
            <a:r>
              <a:rPr lang="en-US" altLang="zh-CN" dirty="0" err="1"/>
              <a:t>cout</a:t>
            </a:r>
            <a:r>
              <a:rPr lang="en-US" altLang="zh-CN" dirty="0"/>
              <a:t>&lt;&lt;x&lt;&lt;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</a:p>
          <a:p>
            <a:pPr marL="0" indent="0">
              <a:buNone/>
              <a:defRPr/>
            </a:pPr>
            <a:r>
              <a:rPr lang="en-US" altLang="zh-CN" dirty="0"/>
              <a:t>     return 0;</a:t>
            </a:r>
          </a:p>
          <a:p>
            <a:pPr marL="0" indent="0">
              <a:buNone/>
              <a:defRPr/>
            </a:pPr>
            <a:r>
              <a:rPr lang="en-US" altLang="zh-CN" dirty="0"/>
              <a:t>} </a:t>
            </a:r>
            <a:endParaRPr lang="zh-CN" altLang="en-US" dirty="0"/>
          </a:p>
        </p:txBody>
      </p:sp>
      <p:cxnSp>
        <p:nvCxnSpPr>
          <p:cNvPr id="17" name="直接连接符 16"/>
          <p:cNvCxnSpPr/>
          <p:nvPr/>
        </p:nvCxnSpPr>
        <p:spPr>
          <a:xfrm>
            <a:off x="971600" y="4221088"/>
            <a:ext cx="432048" cy="0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971600" y="4653136"/>
            <a:ext cx="648072" cy="0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2555776" y="4653136"/>
            <a:ext cx="720080" cy="0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404665"/>
            <a:ext cx="9612560" cy="720079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zh-CN" altLang="en-US" dirty="0"/>
              <a:t>将其它命名空间作用域的标识符暴露于当前作用域</a:t>
            </a:r>
            <a:endParaRPr lang="en-US" altLang="zh-CN" dirty="0"/>
          </a:p>
        </p:txBody>
      </p:sp>
      <p:sp>
        <p:nvSpPr>
          <p:cNvPr id="9220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E8DC0C08-0E05-4DDE-B611-FF718166A509}" type="slidenum">
              <a:rPr lang="en-US" altLang="zh-CN" sz="1400" smtClean="0"/>
              <a:pPr/>
              <a:t>15</a:t>
            </a:fld>
            <a:endParaRPr lang="en-US" altLang="zh-CN" sz="1400"/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4860032" y="2132856"/>
            <a:ext cx="4142928" cy="36004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vert="horz" rtlCol="0">
            <a:noAutofit/>
          </a:bodyPr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50000"/>
              <a:buFont typeface="Wingdings 2"/>
              <a:buChar char="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50000"/>
              <a:buFont typeface="Wingdings 2"/>
              <a:buChar char="³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0000"/>
              <a:buFont typeface="Wingdings 2"/>
              <a:buChar char="®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accent5"/>
              </a:buClr>
              <a:buSzPct val="45000"/>
              <a:buFont typeface="Wingdings 2"/>
              <a:buChar char="¯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en-US" altLang="zh-CN" sz="2800" dirty="0"/>
              <a:t>#include &lt;</a:t>
            </a:r>
            <a:r>
              <a:rPr lang="en-US" altLang="zh-CN" sz="2800" dirty="0" err="1"/>
              <a:t>iostream</a:t>
            </a:r>
            <a:r>
              <a:rPr lang="en-US" altLang="zh-CN" sz="2800" dirty="0"/>
              <a:t>&gt;</a:t>
            </a:r>
          </a:p>
          <a:p>
            <a:pPr marL="0" indent="0">
              <a:buNone/>
              <a:defRPr/>
            </a:pPr>
            <a:r>
              <a:rPr lang="en-US" altLang="zh-CN" sz="2800" dirty="0" err="1"/>
              <a:t>int</a:t>
            </a:r>
            <a:r>
              <a:rPr lang="en-US" altLang="zh-CN" sz="2800" dirty="0"/>
              <a:t> main()</a:t>
            </a:r>
          </a:p>
          <a:p>
            <a:pPr marL="0" indent="0">
              <a:buNone/>
              <a:defRPr/>
            </a:pPr>
            <a:r>
              <a:rPr lang="en-US" altLang="zh-CN" sz="2800" dirty="0"/>
              <a:t>{  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 x;</a:t>
            </a:r>
          </a:p>
          <a:p>
            <a:pPr marL="0" indent="0">
              <a:buNone/>
              <a:defRPr/>
            </a:pPr>
            <a:r>
              <a:rPr lang="en-US" altLang="zh-CN" sz="2800" dirty="0"/>
              <a:t>    </a:t>
            </a:r>
            <a:r>
              <a:rPr lang="en-US" altLang="zh-CN" sz="2800" dirty="0" err="1"/>
              <a:t>std</a:t>
            </a:r>
            <a:r>
              <a:rPr lang="en-US" altLang="zh-CN" sz="2800" dirty="0"/>
              <a:t>::</a:t>
            </a:r>
            <a:r>
              <a:rPr lang="en-US" altLang="zh-CN" sz="2800" dirty="0" err="1"/>
              <a:t>cin</a:t>
            </a:r>
            <a:r>
              <a:rPr lang="en-US" altLang="zh-CN" sz="2800" dirty="0"/>
              <a:t>&gt;&gt;x;</a:t>
            </a:r>
          </a:p>
          <a:p>
            <a:pPr marL="0" indent="0">
              <a:buNone/>
              <a:defRPr/>
            </a:pPr>
            <a:r>
              <a:rPr lang="en-US" altLang="zh-CN" sz="2800" dirty="0"/>
              <a:t>    </a:t>
            </a:r>
            <a:r>
              <a:rPr lang="en-US" altLang="zh-CN" sz="2800" dirty="0" err="1"/>
              <a:t>std</a:t>
            </a:r>
            <a:r>
              <a:rPr lang="en-US" altLang="zh-CN" sz="2800" dirty="0"/>
              <a:t>::</a:t>
            </a:r>
            <a:r>
              <a:rPr lang="en-US" altLang="zh-CN" sz="2800" dirty="0" err="1"/>
              <a:t>cout</a:t>
            </a:r>
            <a:r>
              <a:rPr lang="en-US" altLang="zh-CN" sz="2800" dirty="0"/>
              <a:t>&lt;&lt;x&lt;&lt;</a:t>
            </a:r>
            <a:r>
              <a:rPr lang="en-US" altLang="zh-CN" sz="2800" dirty="0" err="1"/>
              <a:t>std</a:t>
            </a:r>
            <a:r>
              <a:rPr lang="en-US" altLang="zh-CN" sz="2800" dirty="0"/>
              <a:t>::</a:t>
            </a:r>
            <a:r>
              <a:rPr lang="en-US" altLang="zh-CN" sz="2800" dirty="0" err="1"/>
              <a:t>endl</a:t>
            </a:r>
            <a:r>
              <a:rPr lang="en-US" altLang="zh-CN" sz="2800" dirty="0"/>
              <a:t>;</a:t>
            </a:r>
          </a:p>
          <a:p>
            <a:pPr marL="0" indent="0">
              <a:buNone/>
              <a:defRPr/>
            </a:pPr>
            <a:r>
              <a:rPr lang="en-US" altLang="zh-CN" sz="2800" dirty="0"/>
              <a:t>    return 0;</a:t>
            </a:r>
          </a:p>
          <a:p>
            <a:pPr marL="0" indent="0">
              <a:buNone/>
              <a:defRPr/>
            </a:pPr>
            <a:r>
              <a:rPr lang="en-US" altLang="zh-CN" sz="2800" dirty="0"/>
              <a:t>} </a:t>
            </a:r>
            <a:endParaRPr lang="zh-CN" altLang="en-US" sz="2800" dirty="0"/>
          </a:p>
        </p:txBody>
      </p:sp>
      <p:sp>
        <p:nvSpPr>
          <p:cNvPr id="4" name="矩形 3"/>
          <p:cNvSpPr/>
          <p:nvPr/>
        </p:nvSpPr>
        <p:spPr>
          <a:xfrm>
            <a:off x="4211960" y="1124744"/>
            <a:ext cx="4968552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zh-CN" altLang="en-US" sz="2800" dirty="0"/>
              <a:t>对特定标识符：</a:t>
            </a:r>
            <a:endParaRPr lang="en-US" altLang="zh-CN" sz="2800" dirty="0"/>
          </a:p>
          <a:p>
            <a:pPr lvl="2"/>
            <a:r>
              <a:rPr lang="en-US" altLang="zh-CN" sz="2400" dirty="0"/>
              <a:t>using </a:t>
            </a:r>
            <a:r>
              <a:rPr lang="zh-CN" altLang="en-US" sz="2400" dirty="0"/>
              <a:t>命名空间名</a:t>
            </a:r>
            <a:r>
              <a:rPr lang="en-US" altLang="zh-CN" sz="2400" dirty="0"/>
              <a:t>::</a:t>
            </a:r>
            <a:r>
              <a:rPr lang="zh-CN" altLang="en-US" sz="2400" dirty="0"/>
              <a:t>标识符名</a:t>
            </a:r>
            <a:r>
              <a:rPr lang="en-US" altLang="zh-CN" sz="2400" dirty="0"/>
              <a:t>;</a:t>
            </a:r>
          </a:p>
        </p:txBody>
      </p:sp>
      <p:sp>
        <p:nvSpPr>
          <p:cNvPr id="5" name="矩形 4"/>
          <p:cNvSpPr/>
          <p:nvPr/>
        </p:nvSpPr>
        <p:spPr>
          <a:xfrm>
            <a:off x="-361136" y="1063189"/>
            <a:ext cx="594124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zh-CN" altLang="en-US" sz="2800" dirty="0"/>
              <a:t>对所有标识符：</a:t>
            </a:r>
            <a:endParaRPr lang="en-US" altLang="zh-CN" sz="2800" dirty="0"/>
          </a:p>
          <a:p>
            <a:pPr lvl="2">
              <a:defRPr/>
            </a:pPr>
            <a:r>
              <a:rPr lang="en-US" altLang="zh-CN" sz="2400" dirty="0"/>
              <a:t>using namespace </a:t>
            </a:r>
            <a:r>
              <a:rPr lang="zh-CN" altLang="en-US" sz="2400" dirty="0"/>
              <a:t>命名空间名</a:t>
            </a:r>
            <a:r>
              <a:rPr lang="en-US" altLang="zh-CN" sz="2800" dirty="0"/>
              <a:t>;</a:t>
            </a:r>
            <a:endParaRPr lang="zh-CN" altLang="en-US" sz="2800" dirty="0"/>
          </a:p>
        </p:txBody>
      </p:sp>
      <p:cxnSp>
        <p:nvCxnSpPr>
          <p:cNvPr id="15" name="直接连接符 14"/>
          <p:cNvCxnSpPr/>
          <p:nvPr/>
        </p:nvCxnSpPr>
        <p:spPr>
          <a:xfrm>
            <a:off x="4499992" y="1124744"/>
            <a:ext cx="0" cy="51845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5292080" y="4149080"/>
            <a:ext cx="1008112" cy="0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5220072" y="4653136"/>
            <a:ext cx="1296144" cy="0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611560" y="2996952"/>
            <a:ext cx="2952328" cy="0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217" name="组合 9216"/>
          <p:cNvGrpSpPr/>
          <p:nvPr/>
        </p:nvGrpSpPr>
        <p:grpSpPr>
          <a:xfrm>
            <a:off x="4034408" y="3450486"/>
            <a:ext cx="753616" cy="569375"/>
            <a:chOff x="4139952" y="3450486"/>
            <a:chExt cx="753616" cy="569375"/>
          </a:xfrm>
        </p:grpSpPr>
        <p:sp>
          <p:nvSpPr>
            <p:cNvPr id="31" name="左右箭头 30"/>
            <p:cNvSpPr/>
            <p:nvPr/>
          </p:nvSpPr>
          <p:spPr>
            <a:xfrm>
              <a:off x="4139952" y="3717031"/>
              <a:ext cx="753616" cy="302830"/>
            </a:xfrm>
            <a:prstGeom prst="left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216" name="矩形 9215"/>
            <p:cNvSpPr/>
            <p:nvPr/>
          </p:nvSpPr>
          <p:spPr>
            <a:xfrm>
              <a:off x="4192989" y="3450486"/>
              <a:ext cx="595035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600" b="1" dirty="0"/>
                <a:t>等价</a:t>
              </a:r>
            </a:p>
          </p:txBody>
        </p:sp>
      </p:grpSp>
      <p:cxnSp>
        <p:nvCxnSpPr>
          <p:cNvPr id="21" name="直接连接符 20"/>
          <p:cNvCxnSpPr/>
          <p:nvPr/>
        </p:nvCxnSpPr>
        <p:spPr>
          <a:xfrm>
            <a:off x="7524328" y="4653136"/>
            <a:ext cx="1406624" cy="0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0915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4" grpId="0"/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229600" cy="850106"/>
          </a:xfrm>
        </p:spPr>
        <p:txBody>
          <a:bodyPr/>
          <a:lstStyle/>
          <a:p>
            <a:r>
              <a:rPr lang="zh-CN" altLang="en-US" dirty="0"/>
              <a:t>文件作用域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3456383"/>
          </a:xfrm>
        </p:spPr>
        <p:txBody>
          <a:bodyPr/>
          <a:lstStyle/>
          <a:p>
            <a:r>
              <a:rPr lang="zh-CN" altLang="en-US" dirty="0"/>
              <a:t>不在前述定义域中定义的标志符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</a:t>
            </a:r>
            <a:r>
              <a:rPr lang="zh-CN" altLang="en-US" dirty="0"/>
              <a:t>也被称为：全局变量</a:t>
            </a:r>
            <a:endParaRPr lang="en-US" altLang="zh-CN" dirty="0"/>
          </a:p>
          <a:p>
            <a:r>
              <a:rPr lang="zh-CN" altLang="en-US" dirty="0"/>
              <a:t>在整个文件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</a:t>
            </a:r>
            <a:r>
              <a:rPr lang="zh-CN" altLang="en-US" dirty="0"/>
              <a:t>中都可以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 </a:t>
            </a:r>
            <a:r>
              <a:rPr lang="zh-CN" altLang="en-US" dirty="0"/>
              <a:t>使用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2986568" y="2492896"/>
            <a:ext cx="5401856" cy="352839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vert="horz" rtlCol="0">
            <a:normAutofit/>
          </a:bodyPr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50000"/>
              <a:buFont typeface="Wingdings 2"/>
              <a:buChar char="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50000"/>
              <a:buFont typeface="Wingdings 2"/>
              <a:buChar char="³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0000"/>
              <a:buFont typeface="Wingdings 2"/>
              <a:buChar char="®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accent5"/>
              </a:buClr>
              <a:buSzPct val="45000"/>
              <a:buFont typeface="Wingdings 2"/>
              <a:buChar char="¯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113" lvl="1" indent="-11113">
              <a:lnSpc>
                <a:spcPct val="90000"/>
              </a:lnSpc>
              <a:buFontTx/>
              <a:buNone/>
            </a:pPr>
            <a:r>
              <a:rPr lang="en-US" altLang="zh-CN" dirty="0">
                <a:latin typeface="宋体" charset="-122"/>
              </a:rPr>
              <a:t>#include&lt;</a:t>
            </a:r>
            <a:r>
              <a:rPr lang="en-US" altLang="zh-CN" dirty="0" err="1">
                <a:latin typeface="宋体" charset="-122"/>
              </a:rPr>
              <a:t>iostream</a:t>
            </a:r>
            <a:r>
              <a:rPr lang="en-US" altLang="zh-CN" dirty="0">
                <a:latin typeface="宋体" charset="-122"/>
              </a:rPr>
              <a:t>&gt;</a:t>
            </a:r>
          </a:p>
          <a:p>
            <a:pPr marL="11113" lvl="1" indent="-11113">
              <a:lnSpc>
                <a:spcPct val="90000"/>
              </a:lnSpc>
              <a:buFontTx/>
              <a:buNone/>
            </a:pPr>
            <a:r>
              <a:rPr lang="en-US" altLang="zh-CN" dirty="0">
                <a:latin typeface="宋体" charset="-122"/>
              </a:rPr>
              <a:t>using namespace </a:t>
            </a:r>
            <a:r>
              <a:rPr lang="en-US" altLang="zh-CN" dirty="0" err="1">
                <a:latin typeface="宋体" charset="-122"/>
              </a:rPr>
              <a:t>std</a:t>
            </a:r>
            <a:r>
              <a:rPr lang="en-US" altLang="zh-CN" dirty="0">
                <a:latin typeface="宋体" charset="-122"/>
              </a:rPr>
              <a:t>;</a:t>
            </a:r>
          </a:p>
          <a:p>
            <a:pPr marL="11113" lvl="1" indent="-11113">
              <a:lnSpc>
                <a:spcPct val="90000"/>
              </a:lnSpc>
              <a:buFontTx/>
              <a:buNone/>
            </a:pPr>
            <a:r>
              <a:rPr lang="en-US" altLang="zh-CN" dirty="0" err="1">
                <a:latin typeface="宋体" charset="-122"/>
              </a:rPr>
              <a:t>int</a:t>
            </a:r>
            <a:r>
              <a:rPr lang="en-US" altLang="zh-CN" dirty="0">
                <a:latin typeface="宋体" charset="-122"/>
              </a:rPr>
              <a:t> </a:t>
            </a:r>
            <a:r>
              <a:rPr lang="en-US" altLang="zh-CN" dirty="0" err="1">
                <a:solidFill>
                  <a:schemeClr val="tx2"/>
                </a:solidFill>
                <a:latin typeface="宋体" charset="-122"/>
              </a:rPr>
              <a:t>i</a:t>
            </a:r>
            <a:r>
              <a:rPr lang="en-US" altLang="zh-CN" dirty="0">
                <a:latin typeface="宋体" charset="-122"/>
              </a:rPr>
              <a:t>=5;   </a:t>
            </a:r>
          </a:p>
          <a:p>
            <a:pPr marL="11113" lvl="1" indent="-11113">
              <a:lnSpc>
                <a:spcPct val="90000"/>
              </a:lnSpc>
              <a:buFontTx/>
              <a:buNone/>
            </a:pPr>
            <a:r>
              <a:rPr lang="en-US" altLang="zh-CN" dirty="0" err="1">
                <a:latin typeface="宋体" charset="-122"/>
              </a:rPr>
              <a:t>int</a:t>
            </a:r>
            <a:r>
              <a:rPr lang="en-US" altLang="zh-CN" dirty="0">
                <a:latin typeface="宋体" charset="-122"/>
              </a:rPr>
              <a:t> main()</a:t>
            </a:r>
          </a:p>
          <a:p>
            <a:pPr marL="11113" lvl="1" indent="-11113">
              <a:lnSpc>
                <a:spcPct val="90000"/>
              </a:lnSpc>
              <a:buFontTx/>
              <a:buNone/>
            </a:pPr>
            <a:r>
              <a:rPr lang="en-US" altLang="zh-CN" dirty="0">
                <a:latin typeface="宋体" charset="-122"/>
              </a:rPr>
              <a:t>{  </a:t>
            </a:r>
            <a:r>
              <a:rPr lang="en-US" altLang="zh-CN" dirty="0" err="1">
                <a:latin typeface="宋体" charset="-122"/>
              </a:rPr>
              <a:t>cout</a:t>
            </a:r>
            <a:r>
              <a:rPr lang="en-US" altLang="zh-CN" dirty="0">
                <a:latin typeface="宋体" charset="-122"/>
              </a:rPr>
              <a:t>&lt;&lt;"</a:t>
            </a:r>
            <a:r>
              <a:rPr lang="en-US" altLang="zh-CN" dirty="0" err="1">
                <a:latin typeface="宋体" charset="-122"/>
              </a:rPr>
              <a:t>i</a:t>
            </a:r>
            <a:r>
              <a:rPr lang="en-US" altLang="zh-CN" dirty="0">
                <a:latin typeface="宋体" charset="-122"/>
              </a:rPr>
              <a:t>="&lt;&lt;</a:t>
            </a:r>
            <a:r>
              <a:rPr lang="en-US" altLang="zh-CN" dirty="0" err="1">
                <a:solidFill>
                  <a:schemeClr val="tx2"/>
                </a:solidFill>
                <a:latin typeface="宋体" charset="-122"/>
              </a:rPr>
              <a:t>i</a:t>
            </a:r>
            <a:r>
              <a:rPr lang="en-US" altLang="zh-CN" dirty="0">
                <a:latin typeface="宋体" charset="-122"/>
              </a:rPr>
              <a:t>&lt;&lt;</a:t>
            </a:r>
            <a:r>
              <a:rPr lang="en-US" altLang="zh-CN" dirty="0" err="1">
                <a:latin typeface="宋体" charset="-122"/>
              </a:rPr>
              <a:t>endl</a:t>
            </a:r>
            <a:r>
              <a:rPr lang="en-US" altLang="zh-CN" dirty="0">
                <a:latin typeface="宋体" charset="-122"/>
              </a:rPr>
              <a:t>;</a:t>
            </a:r>
          </a:p>
          <a:p>
            <a:pPr marL="11113" lvl="1" indent="-11113">
              <a:lnSpc>
                <a:spcPct val="90000"/>
              </a:lnSpc>
              <a:buFontTx/>
              <a:buNone/>
            </a:pPr>
            <a:r>
              <a:rPr lang="en-US" altLang="zh-CN" dirty="0">
                <a:latin typeface="宋体" charset="-122"/>
              </a:rPr>
              <a:t>   return 0;</a:t>
            </a:r>
          </a:p>
          <a:p>
            <a:pPr marL="11113" lvl="1" indent="-11113">
              <a:lnSpc>
                <a:spcPct val="90000"/>
              </a:lnSpc>
              <a:buFontTx/>
              <a:buNone/>
            </a:pPr>
            <a:r>
              <a:rPr lang="en-US" altLang="zh-CN" dirty="0">
                <a:latin typeface="宋体" charset="-122"/>
              </a:rPr>
              <a:t>}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3059832" y="3933056"/>
            <a:ext cx="936104" cy="0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3635896" y="4869160"/>
            <a:ext cx="3456384" cy="0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组合 19"/>
          <p:cNvGrpSpPr/>
          <p:nvPr/>
        </p:nvGrpSpPr>
        <p:grpSpPr>
          <a:xfrm>
            <a:off x="4572000" y="3510624"/>
            <a:ext cx="2362092" cy="369332"/>
            <a:chOff x="4572000" y="3510624"/>
            <a:chExt cx="2362092" cy="369332"/>
          </a:xfrm>
        </p:grpSpPr>
        <p:sp>
          <p:nvSpPr>
            <p:cNvPr id="8" name="矩形 7"/>
            <p:cNvSpPr/>
            <p:nvPr/>
          </p:nvSpPr>
          <p:spPr>
            <a:xfrm>
              <a:off x="5337180" y="3510624"/>
              <a:ext cx="1596912" cy="36933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none">
              <a:spAutoFit/>
            </a:bodyPr>
            <a:lstStyle/>
            <a:p>
              <a:pPr marL="11113" lvl="1" indent="-11113">
                <a:lnSpc>
                  <a:spcPct val="90000"/>
                </a:lnSpc>
                <a:buFontTx/>
                <a:buNone/>
              </a:pPr>
              <a:r>
                <a:rPr lang="zh-CN" altLang="en-US" sz="2000" b="1" dirty="0">
                  <a:solidFill>
                    <a:schemeClr val="tx2"/>
                  </a:solidFill>
                  <a:latin typeface="宋体" charset="-122"/>
                </a:rPr>
                <a:t>文件作用域 </a:t>
              </a:r>
              <a:endParaRPr lang="en-US" altLang="en-US" sz="2000" b="1" dirty="0">
                <a:latin typeface="宋体" charset="-122"/>
              </a:endParaRPr>
            </a:p>
          </p:txBody>
        </p:sp>
        <p:sp>
          <p:nvSpPr>
            <p:cNvPr id="15" name="左箭头 14"/>
            <p:cNvSpPr/>
            <p:nvPr/>
          </p:nvSpPr>
          <p:spPr>
            <a:xfrm>
              <a:off x="4572000" y="3638085"/>
              <a:ext cx="648072" cy="150955"/>
            </a:xfrm>
            <a:prstGeom prst="leftArrow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7164288" y="3678682"/>
            <a:ext cx="1889586" cy="2126582"/>
            <a:chOff x="7164288" y="3678682"/>
            <a:chExt cx="1889586" cy="2126582"/>
          </a:xfrm>
        </p:grpSpPr>
        <p:sp>
          <p:nvSpPr>
            <p:cNvPr id="13" name="右大括号 12"/>
            <p:cNvSpPr/>
            <p:nvPr/>
          </p:nvSpPr>
          <p:spPr>
            <a:xfrm>
              <a:off x="7164288" y="3678682"/>
              <a:ext cx="288032" cy="2126582"/>
            </a:xfrm>
            <a:prstGeom prst="rightBrac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/>
            <p:cNvSpPr/>
            <p:nvPr/>
          </p:nvSpPr>
          <p:spPr>
            <a:xfrm>
              <a:off x="7583600" y="4571836"/>
              <a:ext cx="1470274" cy="369332"/>
            </a:xfrm>
            <a:prstGeom prst="rect">
              <a:avLst/>
            </a:prstGeom>
            <a:solidFill>
              <a:srgbClr val="FF6D6D"/>
            </a:solidFill>
          </p:spPr>
          <p:txBody>
            <a:bodyPr wrap="none">
              <a:spAutoFit/>
            </a:bodyPr>
            <a:lstStyle/>
            <a:p>
              <a:pPr marL="11113" lvl="1" indent="-11113">
                <a:lnSpc>
                  <a:spcPct val="90000"/>
                </a:lnSpc>
                <a:buFontTx/>
                <a:buNone/>
              </a:pPr>
              <a:r>
                <a:rPr lang="en-US" altLang="zh-CN" sz="2000" b="1" dirty="0">
                  <a:solidFill>
                    <a:schemeClr val="tx2"/>
                  </a:solidFill>
                  <a:latin typeface="宋体" charset="-122"/>
                </a:rPr>
                <a:t>i</a:t>
              </a:r>
              <a:r>
                <a:rPr lang="zh-CN" altLang="en-US" sz="2000" b="1" dirty="0">
                  <a:solidFill>
                    <a:schemeClr val="tx2"/>
                  </a:solidFill>
                  <a:latin typeface="宋体" charset="-122"/>
                </a:rPr>
                <a:t>的作用域 </a:t>
              </a:r>
              <a:endParaRPr lang="en-US" altLang="en-US" sz="2000" b="1" dirty="0">
                <a:latin typeface="宋体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50102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971600" y="448816"/>
            <a:ext cx="7162800" cy="819944"/>
          </a:xfrm>
        </p:spPr>
        <p:txBody>
          <a:bodyPr/>
          <a:lstStyle/>
          <a:p>
            <a:pPr eaLnBrk="1" hangingPunct="1"/>
            <a:r>
              <a:rPr lang="zh-CN" altLang="en-US" dirty="0"/>
              <a:t>标志符的可见性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idx="1"/>
          </p:nvPr>
        </p:nvSpPr>
        <p:spPr>
          <a:xfrm>
            <a:off x="755576" y="1556792"/>
            <a:ext cx="7272808" cy="2088232"/>
          </a:xfrm>
        </p:spPr>
        <p:txBody>
          <a:bodyPr/>
          <a:lstStyle/>
          <a:p>
            <a:r>
              <a:rPr lang="zh-CN" altLang="en-US" dirty="0"/>
              <a:t>标志符在其作用域内，是否可用？</a:t>
            </a:r>
          </a:p>
          <a:p>
            <a:r>
              <a:rPr lang="zh-CN" altLang="en-US" dirty="0"/>
              <a:t>如果可用，则可见</a:t>
            </a:r>
            <a:endParaRPr lang="en-US" altLang="zh-CN" dirty="0"/>
          </a:p>
          <a:p>
            <a:r>
              <a:rPr lang="zh-CN" altLang="en-US" dirty="0"/>
              <a:t>如果不可用，则不可见</a:t>
            </a:r>
            <a:endParaRPr lang="en-US" altLang="zh-CN" dirty="0"/>
          </a:p>
        </p:txBody>
      </p:sp>
      <p:sp>
        <p:nvSpPr>
          <p:cNvPr id="1024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DD49607F-8F6C-49AE-A427-51F04B22E46A}" type="slidenum">
              <a:rPr lang="en-US" altLang="zh-CN" sz="1400" smtClean="0"/>
              <a:pPr/>
              <a:t>17</a:t>
            </a:fld>
            <a:endParaRPr lang="en-US" altLang="zh-CN" sz="1400"/>
          </a:p>
        </p:txBody>
      </p:sp>
      <p:sp>
        <p:nvSpPr>
          <p:cNvPr id="2" name="矩形 1"/>
          <p:cNvSpPr/>
          <p:nvPr/>
        </p:nvSpPr>
        <p:spPr>
          <a:xfrm>
            <a:off x="539552" y="3789040"/>
            <a:ext cx="8064896" cy="2016224"/>
          </a:xfrm>
          <a:prstGeom prst="rect">
            <a:avLst/>
          </a:prstGeom>
        </p:spPr>
        <p:txBody>
          <a:bodyPr vert="horz" rtlCol="0">
            <a:normAutofit lnSpcReduction="10000"/>
          </a:bodyPr>
          <a:lstStyle/>
          <a:p>
            <a:pPr marL="342900" indent="-342900">
              <a:spcBef>
                <a:spcPct val="20000"/>
              </a:spcBef>
              <a:buClr>
                <a:schemeClr val="accent1"/>
              </a:buClr>
              <a:buSzPct val="50000"/>
              <a:buFont typeface="Wingdings 2"/>
              <a:buChar char=""/>
            </a:pPr>
            <a:r>
              <a:rPr lang="zh-CN" altLang="en-US" sz="3200" dirty="0"/>
              <a:t>标志符在其作用域内，并非总是可见的</a:t>
            </a:r>
            <a:endParaRPr lang="en-US" altLang="zh-CN" sz="3200" dirty="0"/>
          </a:p>
          <a:p>
            <a:pPr marL="342900" indent="-342900">
              <a:spcBef>
                <a:spcPct val="20000"/>
              </a:spcBef>
              <a:buClr>
                <a:schemeClr val="accent1"/>
              </a:buClr>
              <a:buSzPct val="50000"/>
              <a:buFont typeface="Wingdings 2"/>
              <a:buChar char=""/>
            </a:pPr>
            <a:r>
              <a:rPr lang="zh-CN" altLang="en-US" sz="3200" dirty="0"/>
              <a:t>因为作用域嵌套，如果在内层作用域内定义了同名变量，则在内层将不可见外层的同名变量</a:t>
            </a:r>
          </a:p>
        </p:txBody>
      </p:sp>
    </p:spTree>
    <p:extLst>
      <p:ext uri="{BB962C8B-B14F-4D97-AF65-F5344CB8AC3E}">
        <p14:creationId xmlns:p14="http://schemas.microsoft.com/office/powerpoint/2010/main" val="2785852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4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971600" y="404664"/>
            <a:ext cx="7162800" cy="819944"/>
          </a:xfrm>
        </p:spPr>
        <p:txBody>
          <a:bodyPr/>
          <a:lstStyle/>
          <a:p>
            <a:pPr eaLnBrk="1" hangingPunct="1"/>
            <a:r>
              <a:rPr lang="zh-CN" altLang="en-US" dirty="0"/>
              <a:t>可见性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idx="1"/>
          </p:nvPr>
        </p:nvSpPr>
        <p:spPr>
          <a:xfrm>
            <a:off x="467544" y="1196752"/>
            <a:ext cx="8388424" cy="2808312"/>
          </a:xfrm>
        </p:spPr>
        <p:txBody>
          <a:bodyPr/>
          <a:lstStyle/>
          <a:p>
            <a:pPr eaLnBrk="1" hangingPunct="1"/>
            <a:r>
              <a:rPr lang="zh-CN" altLang="en-US" dirty="0"/>
              <a:t>可见性是从对标识符使用的角度来谈的概念</a:t>
            </a:r>
          </a:p>
          <a:p>
            <a:pPr eaLnBrk="1" hangingPunct="1"/>
            <a:r>
              <a:rPr lang="zh-CN" altLang="en-US" dirty="0"/>
              <a:t>可见性表示从内层作用域向外层作用域“看”时能看见什么。</a:t>
            </a:r>
          </a:p>
          <a:p>
            <a:pPr eaLnBrk="1" hangingPunct="1"/>
            <a:r>
              <a:rPr lang="zh-CN" altLang="en-US" dirty="0"/>
              <a:t>如果标识符在某处可见，则就可以在该处使用此标识符。</a:t>
            </a:r>
          </a:p>
        </p:txBody>
      </p:sp>
      <p:sp>
        <p:nvSpPr>
          <p:cNvPr id="1024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DD49607F-8F6C-49AE-A427-51F04B22E46A}" type="slidenum">
              <a:rPr lang="en-US" altLang="zh-CN" sz="1400" smtClean="0"/>
              <a:pPr/>
              <a:t>18</a:t>
            </a:fld>
            <a:endParaRPr lang="en-US" altLang="zh-CN" sz="1400"/>
          </a:p>
        </p:txBody>
      </p:sp>
      <p:grpSp>
        <p:nvGrpSpPr>
          <p:cNvPr id="2" name="组合 1"/>
          <p:cNvGrpSpPr/>
          <p:nvPr/>
        </p:nvGrpSpPr>
        <p:grpSpPr>
          <a:xfrm>
            <a:off x="1907704" y="4129608"/>
            <a:ext cx="4608736" cy="2395736"/>
            <a:chOff x="2339752" y="4005064"/>
            <a:chExt cx="4608736" cy="2395736"/>
          </a:xfrm>
        </p:grpSpPr>
        <p:grpSp>
          <p:nvGrpSpPr>
            <p:cNvPr id="10245" name="Group 10"/>
            <p:cNvGrpSpPr>
              <a:grpSpLocks/>
            </p:cNvGrpSpPr>
            <p:nvPr/>
          </p:nvGrpSpPr>
          <p:grpSpPr bwMode="auto">
            <a:xfrm>
              <a:off x="2339975" y="4648200"/>
              <a:ext cx="4608513" cy="1752600"/>
              <a:chOff x="1474" y="2928"/>
              <a:chExt cx="2903" cy="1104"/>
            </a:xfrm>
          </p:grpSpPr>
          <p:sp>
            <p:nvSpPr>
              <p:cNvPr id="10247" name="Line 4"/>
              <p:cNvSpPr>
                <a:spLocks noChangeShapeType="1"/>
              </p:cNvSpPr>
              <p:nvPr/>
            </p:nvSpPr>
            <p:spPr bwMode="auto">
              <a:xfrm>
                <a:off x="1474" y="4032"/>
                <a:ext cx="2903" cy="0"/>
              </a:xfrm>
              <a:prstGeom prst="line">
                <a:avLst/>
              </a:prstGeom>
              <a:noFill/>
              <a:ln w="9525">
                <a:solidFill>
                  <a:schemeClr val="bg2">
                    <a:lumMod val="2500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248" name="Freeform 5"/>
              <p:cNvSpPr>
                <a:spLocks/>
              </p:cNvSpPr>
              <p:nvPr/>
            </p:nvSpPr>
            <p:spPr bwMode="auto">
              <a:xfrm>
                <a:off x="2112" y="3216"/>
                <a:ext cx="1536" cy="816"/>
              </a:xfrm>
              <a:custGeom>
                <a:avLst/>
                <a:gdLst>
                  <a:gd name="T0" fmla="*/ 0 w 1536"/>
                  <a:gd name="T1" fmla="*/ 816 h 816"/>
                  <a:gd name="T2" fmla="*/ 0 w 1536"/>
                  <a:gd name="T3" fmla="*/ 0 h 816"/>
                  <a:gd name="T4" fmla="*/ 1536 w 1536"/>
                  <a:gd name="T5" fmla="*/ 0 h 816"/>
                  <a:gd name="T6" fmla="*/ 1536 w 1536"/>
                  <a:gd name="T7" fmla="*/ 816 h 81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36"/>
                  <a:gd name="T13" fmla="*/ 0 h 816"/>
                  <a:gd name="T14" fmla="*/ 1536 w 1536"/>
                  <a:gd name="T15" fmla="*/ 816 h 81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36" h="816">
                    <a:moveTo>
                      <a:pt x="0" y="816"/>
                    </a:moveTo>
                    <a:lnTo>
                      <a:pt x="0" y="0"/>
                    </a:lnTo>
                    <a:lnTo>
                      <a:pt x="1536" y="0"/>
                    </a:lnTo>
                    <a:lnTo>
                      <a:pt x="1536" y="816"/>
                    </a:lnTo>
                  </a:path>
                </a:pathLst>
              </a:custGeom>
              <a:noFill/>
              <a:ln w="9525">
                <a:solidFill>
                  <a:schemeClr val="bg2">
                    <a:lumMod val="2500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249" name="Freeform 6"/>
              <p:cNvSpPr>
                <a:spLocks/>
              </p:cNvSpPr>
              <p:nvPr/>
            </p:nvSpPr>
            <p:spPr bwMode="auto">
              <a:xfrm>
                <a:off x="2448" y="3504"/>
                <a:ext cx="864" cy="528"/>
              </a:xfrm>
              <a:custGeom>
                <a:avLst/>
                <a:gdLst>
                  <a:gd name="T0" fmla="*/ 0 w 864"/>
                  <a:gd name="T1" fmla="*/ 528 h 528"/>
                  <a:gd name="T2" fmla="*/ 0 w 864"/>
                  <a:gd name="T3" fmla="*/ 0 h 528"/>
                  <a:gd name="T4" fmla="*/ 864 w 864"/>
                  <a:gd name="T5" fmla="*/ 0 h 528"/>
                  <a:gd name="T6" fmla="*/ 864 w 864"/>
                  <a:gd name="T7" fmla="*/ 528 h 52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864"/>
                  <a:gd name="T13" fmla="*/ 0 h 528"/>
                  <a:gd name="T14" fmla="*/ 864 w 864"/>
                  <a:gd name="T15" fmla="*/ 528 h 52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864" h="528">
                    <a:moveTo>
                      <a:pt x="0" y="528"/>
                    </a:moveTo>
                    <a:lnTo>
                      <a:pt x="0" y="0"/>
                    </a:lnTo>
                    <a:lnTo>
                      <a:pt x="864" y="0"/>
                    </a:lnTo>
                    <a:lnTo>
                      <a:pt x="864" y="528"/>
                    </a:lnTo>
                  </a:path>
                </a:pathLst>
              </a:custGeom>
              <a:noFill/>
              <a:ln w="9525">
                <a:solidFill>
                  <a:schemeClr val="bg2">
                    <a:lumMod val="2500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250" name="Text Box 7"/>
              <p:cNvSpPr txBox="1">
                <a:spLocks noChangeArrowheads="1"/>
              </p:cNvSpPr>
              <p:nvPr/>
            </p:nvSpPr>
            <p:spPr bwMode="auto">
              <a:xfrm>
                <a:off x="2496" y="3648"/>
                <a:ext cx="76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000"/>
                  <a:t>块作用域</a:t>
                </a:r>
              </a:p>
            </p:txBody>
          </p:sp>
          <p:sp>
            <p:nvSpPr>
              <p:cNvPr id="10251" name="Text Box 8"/>
              <p:cNvSpPr txBox="1">
                <a:spLocks noChangeArrowheads="1"/>
              </p:cNvSpPr>
              <p:nvPr/>
            </p:nvSpPr>
            <p:spPr bwMode="auto">
              <a:xfrm>
                <a:off x="2496" y="3264"/>
                <a:ext cx="912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000"/>
                  <a:t>类作用域</a:t>
                </a:r>
              </a:p>
            </p:txBody>
          </p:sp>
          <p:sp>
            <p:nvSpPr>
              <p:cNvPr id="10252" name="Text Box 9"/>
              <p:cNvSpPr txBox="1">
                <a:spLocks noChangeArrowheads="1"/>
              </p:cNvSpPr>
              <p:nvPr/>
            </p:nvSpPr>
            <p:spPr bwMode="auto">
              <a:xfrm>
                <a:off x="2295" y="2928"/>
                <a:ext cx="1260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000" dirty="0"/>
                  <a:t>命名空间作用域</a:t>
                </a:r>
              </a:p>
            </p:txBody>
          </p:sp>
        </p:grpSp>
        <p:sp>
          <p:nvSpPr>
            <p:cNvPr id="12" name="Freeform 5"/>
            <p:cNvSpPr>
              <a:spLocks/>
            </p:cNvSpPr>
            <p:nvPr/>
          </p:nvSpPr>
          <p:spPr bwMode="auto">
            <a:xfrm>
              <a:off x="2843808" y="4509120"/>
              <a:ext cx="3528392" cy="1872208"/>
            </a:xfrm>
            <a:custGeom>
              <a:avLst/>
              <a:gdLst>
                <a:gd name="T0" fmla="*/ 0 w 1536"/>
                <a:gd name="T1" fmla="*/ 816 h 816"/>
                <a:gd name="T2" fmla="*/ 0 w 1536"/>
                <a:gd name="T3" fmla="*/ 0 h 816"/>
                <a:gd name="T4" fmla="*/ 1536 w 1536"/>
                <a:gd name="T5" fmla="*/ 0 h 816"/>
                <a:gd name="T6" fmla="*/ 1536 w 1536"/>
                <a:gd name="T7" fmla="*/ 816 h 8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536"/>
                <a:gd name="T13" fmla="*/ 0 h 816"/>
                <a:gd name="T14" fmla="*/ 1536 w 1536"/>
                <a:gd name="T15" fmla="*/ 816 h 8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536" h="816">
                  <a:moveTo>
                    <a:pt x="0" y="816"/>
                  </a:moveTo>
                  <a:lnTo>
                    <a:pt x="0" y="0"/>
                  </a:lnTo>
                  <a:lnTo>
                    <a:pt x="1536" y="0"/>
                  </a:lnTo>
                  <a:lnTo>
                    <a:pt x="1536" y="816"/>
                  </a:lnTo>
                </a:path>
              </a:pathLst>
            </a:custGeom>
            <a:noFill/>
            <a:ln w="9525">
              <a:solidFill>
                <a:schemeClr val="bg2">
                  <a:lumMod val="2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Freeform 5"/>
            <p:cNvSpPr>
              <a:spLocks/>
            </p:cNvSpPr>
            <p:nvPr/>
          </p:nvSpPr>
          <p:spPr bwMode="auto">
            <a:xfrm>
              <a:off x="2339752" y="4005064"/>
              <a:ext cx="4608512" cy="2376264"/>
            </a:xfrm>
            <a:custGeom>
              <a:avLst/>
              <a:gdLst>
                <a:gd name="T0" fmla="*/ 0 w 1536"/>
                <a:gd name="T1" fmla="*/ 816 h 816"/>
                <a:gd name="T2" fmla="*/ 0 w 1536"/>
                <a:gd name="T3" fmla="*/ 0 h 816"/>
                <a:gd name="T4" fmla="*/ 1536 w 1536"/>
                <a:gd name="T5" fmla="*/ 0 h 816"/>
                <a:gd name="T6" fmla="*/ 1536 w 1536"/>
                <a:gd name="T7" fmla="*/ 816 h 8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536"/>
                <a:gd name="T13" fmla="*/ 0 h 816"/>
                <a:gd name="T14" fmla="*/ 1536 w 1536"/>
                <a:gd name="T15" fmla="*/ 816 h 8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536" h="816">
                  <a:moveTo>
                    <a:pt x="0" y="816"/>
                  </a:moveTo>
                  <a:lnTo>
                    <a:pt x="0" y="0"/>
                  </a:lnTo>
                  <a:lnTo>
                    <a:pt x="1536" y="0"/>
                  </a:lnTo>
                  <a:lnTo>
                    <a:pt x="1536" y="816"/>
                  </a:lnTo>
                </a:path>
              </a:pathLst>
            </a:custGeom>
            <a:noFill/>
            <a:ln w="9525">
              <a:solidFill>
                <a:schemeClr val="bg2">
                  <a:lumMod val="2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Text Box 9"/>
            <p:cNvSpPr txBox="1">
              <a:spLocks noChangeArrowheads="1"/>
            </p:cNvSpPr>
            <p:nvPr/>
          </p:nvSpPr>
          <p:spPr bwMode="auto">
            <a:xfrm>
              <a:off x="3746376" y="4109070"/>
              <a:ext cx="1617712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000" dirty="0"/>
                <a:t>文件作用域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366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1295400" y="381000"/>
            <a:ext cx="7162800" cy="838200"/>
          </a:xfrm>
        </p:spPr>
        <p:txBody>
          <a:bodyPr/>
          <a:lstStyle/>
          <a:p>
            <a:pPr eaLnBrk="1" hangingPunct="1"/>
            <a:r>
              <a:rPr lang="zh-CN" altLang="en-US"/>
              <a:t>可见性</a:t>
            </a:r>
          </a:p>
        </p:txBody>
      </p:sp>
      <p:sp>
        <p:nvSpPr>
          <p:cNvPr id="11268" name="Rectangle 3"/>
          <p:cNvSpPr>
            <a:spLocks noGrp="1" noChangeArrowheads="1"/>
          </p:cNvSpPr>
          <p:nvPr>
            <p:ph idx="1"/>
          </p:nvPr>
        </p:nvSpPr>
        <p:spPr>
          <a:xfrm>
            <a:off x="755576" y="1828800"/>
            <a:ext cx="7702624" cy="411480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sz="2800" dirty="0"/>
              <a:t>标识符应声明在先，引用在后。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800" dirty="0"/>
              <a:t>如果某个标识符在外层中声明，且在内层中没有同名标识符的声明，则该标识符在内层可见。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800" dirty="0"/>
              <a:t>对于两个嵌套的作用域，如果在内层作用域内声明了与外层作用域中同名的标识符，则外层作用域的标识符在内层不可见。</a:t>
            </a:r>
          </a:p>
        </p:txBody>
      </p:sp>
      <p:sp>
        <p:nvSpPr>
          <p:cNvPr id="1126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5693116C-4912-40CB-90EF-711253327435}" type="slidenum">
              <a:rPr lang="en-US" altLang="zh-CN" sz="1400" smtClean="0"/>
              <a:pPr/>
              <a:t>19</a:t>
            </a:fld>
            <a:endParaRPr lang="en-US" altLang="zh-CN" sz="1400"/>
          </a:p>
        </p:txBody>
      </p:sp>
    </p:spTree>
    <p:extLst>
      <p:ext uri="{BB962C8B-B14F-4D97-AF65-F5344CB8AC3E}">
        <p14:creationId xmlns:p14="http://schemas.microsoft.com/office/powerpoint/2010/main" val="11055317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307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400"/>
              <a:t>同一作用域中的同名标识符</a:t>
            </a:r>
          </a:p>
        </p:txBody>
      </p:sp>
      <p:sp>
        <p:nvSpPr>
          <p:cNvPr id="12292" name="Rectangle 307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在同一作用域内的对象名、函数名、枚举类型名会隐藏同名的对象名、类名或枚举类型名。</a:t>
            </a:r>
          </a:p>
          <a:p>
            <a:pPr eaLnBrk="1" hangingPunct="1"/>
            <a:r>
              <a:rPr lang="zh-CN" altLang="en-US" dirty="0"/>
              <a:t>重载的函数可以有相同的函数名。</a:t>
            </a:r>
          </a:p>
        </p:txBody>
      </p:sp>
      <p:sp>
        <p:nvSpPr>
          <p:cNvPr id="1229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656CDA45-19A3-4A28-B6CF-8785E615A24C}" type="slidenum">
              <a:rPr lang="en-US" altLang="zh-CN" sz="1400" smtClean="0"/>
              <a:pPr/>
              <a:t>20</a:t>
            </a:fld>
            <a:endParaRPr lang="en-US" altLang="zh-CN" sz="1400"/>
          </a:p>
        </p:txBody>
      </p:sp>
    </p:spTree>
    <p:extLst>
      <p:ext uri="{BB962C8B-B14F-4D97-AF65-F5344CB8AC3E}">
        <p14:creationId xmlns:p14="http://schemas.microsoft.com/office/powerpoint/2010/main" val="37215354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35496" y="44624"/>
            <a:ext cx="8568952" cy="6552728"/>
          </a:xfrm>
          <a:solidFill>
            <a:schemeClr val="bg2">
              <a:lumMod val="90000"/>
            </a:schemeClr>
          </a:solidFill>
        </p:spPr>
        <p:txBody>
          <a:bodyPr>
            <a:noAutofit/>
          </a:bodyPr>
          <a:lstStyle/>
          <a:p>
            <a:pPr marL="87313" lvl="1" indent="-26988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400" dirty="0">
                <a:latin typeface="宋体" pitchFamily="2" charset="-122"/>
              </a:rPr>
              <a:t>#include &lt;</a:t>
            </a:r>
            <a:r>
              <a:rPr lang="en-US" altLang="zh-CN" sz="2400" dirty="0" err="1">
                <a:latin typeface="宋体" pitchFamily="2" charset="-122"/>
              </a:rPr>
              <a:t>iostream</a:t>
            </a:r>
            <a:r>
              <a:rPr lang="en-US" altLang="zh-CN" sz="2400" dirty="0">
                <a:latin typeface="宋体" pitchFamily="2" charset="-122"/>
              </a:rPr>
              <a:t>&gt;</a:t>
            </a:r>
          </a:p>
          <a:p>
            <a:pPr marL="87313" lvl="1" indent="-26988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400" dirty="0">
                <a:latin typeface="宋体" pitchFamily="2" charset="-122"/>
              </a:rPr>
              <a:t>using namespace std;</a:t>
            </a:r>
          </a:p>
          <a:p>
            <a:pPr marL="87313" lvl="1" indent="-26988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400" dirty="0" err="1">
                <a:latin typeface="宋体" pitchFamily="2" charset="-122"/>
              </a:rPr>
              <a:t>int</a:t>
            </a:r>
            <a:r>
              <a:rPr lang="en-US" altLang="zh-CN" sz="2400" dirty="0">
                <a:latin typeface="宋体" pitchFamily="2" charset="-122"/>
              </a:rPr>
              <a:t> </a:t>
            </a:r>
            <a:r>
              <a:rPr lang="en-US" altLang="zh-CN" sz="2400" b="1" dirty="0" err="1">
                <a:solidFill>
                  <a:srgbClr val="C00000"/>
                </a:solidFill>
                <a:latin typeface="宋体" pitchFamily="2" charset="-122"/>
              </a:rPr>
              <a:t>i</a:t>
            </a:r>
            <a:r>
              <a:rPr lang="en-US" altLang="zh-CN" sz="2400" dirty="0">
                <a:latin typeface="宋体" pitchFamily="2" charset="-122"/>
              </a:rPr>
              <a:t>;	</a:t>
            </a:r>
            <a:endParaRPr lang="zh-CN" altLang="en-US" sz="2400" dirty="0">
              <a:latin typeface="宋体" pitchFamily="2" charset="-122"/>
            </a:endParaRPr>
          </a:p>
          <a:p>
            <a:pPr marL="87313" lvl="1" indent="-26988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400" dirty="0">
                <a:latin typeface="宋体" pitchFamily="2" charset="-122"/>
              </a:rPr>
              <a:t>namespace Ns</a:t>
            </a:r>
          </a:p>
          <a:p>
            <a:pPr marL="87313" lvl="1" indent="-26988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400" dirty="0">
                <a:latin typeface="宋体" pitchFamily="2" charset="-122"/>
              </a:rPr>
              <a:t>{ </a:t>
            </a:r>
            <a:r>
              <a:rPr lang="en-US" altLang="zh-CN" sz="2400" dirty="0" err="1">
                <a:latin typeface="宋体" pitchFamily="2" charset="-122"/>
              </a:rPr>
              <a:t>int</a:t>
            </a:r>
            <a:r>
              <a:rPr lang="en-US" altLang="zh-CN" sz="2400" dirty="0">
                <a:latin typeface="宋体" pitchFamily="2" charset="-122"/>
              </a:rPr>
              <a:t> </a:t>
            </a:r>
            <a:r>
              <a:rPr lang="en-US" altLang="zh-CN" sz="2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宋体" pitchFamily="2" charset="-122"/>
              </a:rPr>
              <a:t>j</a:t>
            </a:r>
            <a:r>
              <a:rPr lang="en-US" altLang="zh-CN" sz="2400" dirty="0">
                <a:latin typeface="宋体" pitchFamily="2" charset="-122"/>
              </a:rPr>
              <a:t>;		</a:t>
            </a:r>
            <a:endParaRPr lang="zh-CN" altLang="en-US" sz="2400" dirty="0">
              <a:latin typeface="宋体" pitchFamily="2" charset="-122"/>
            </a:endParaRPr>
          </a:p>
          <a:p>
            <a:pPr marL="87313" lvl="1" indent="-26988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400" dirty="0">
                <a:latin typeface="宋体" pitchFamily="2" charset="-122"/>
              </a:rPr>
              <a:t>};</a:t>
            </a:r>
          </a:p>
          <a:p>
            <a:pPr marL="87313" lvl="1" indent="-26988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400" dirty="0" err="1">
                <a:latin typeface="宋体" pitchFamily="2" charset="-122"/>
              </a:rPr>
              <a:t>int</a:t>
            </a:r>
            <a:r>
              <a:rPr lang="en-US" altLang="zh-CN" sz="2400" dirty="0">
                <a:latin typeface="宋体" pitchFamily="2" charset="-122"/>
              </a:rPr>
              <a:t> main()</a:t>
            </a:r>
          </a:p>
          <a:p>
            <a:pPr marL="87313" lvl="1" indent="-26988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400" dirty="0">
                <a:latin typeface="宋体" pitchFamily="2" charset="-122"/>
              </a:rPr>
              <a:t>{  </a:t>
            </a:r>
            <a:r>
              <a:rPr lang="en-US" altLang="zh-CN" sz="2400" b="1" dirty="0" err="1">
                <a:solidFill>
                  <a:srgbClr val="C00000"/>
                </a:solidFill>
                <a:latin typeface="宋体" pitchFamily="2" charset="-122"/>
              </a:rPr>
              <a:t>i</a:t>
            </a:r>
            <a:r>
              <a:rPr lang="en-US" altLang="zh-CN" sz="2400" dirty="0">
                <a:latin typeface="宋体" pitchFamily="2" charset="-122"/>
              </a:rPr>
              <a:t>=5;			</a:t>
            </a:r>
          </a:p>
          <a:p>
            <a:pPr marL="87313" lvl="1" indent="-26988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400" dirty="0">
                <a:latin typeface="宋体" pitchFamily="2" charset="-122"/>
              </a:rPr>
              <a:t>   Ns::</a:t>
            </a:r>
            <a:r>
              <a:rPr lang="en-US" altLang="zh-CN" sz="2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宋体" pitchFamily="2" charset="-122"/>
              </a:rPr>
              <a:t>j</a:t>
            </a:r>
            <a:r>
              <a:rPr lang="en-US" altLang="zh-CN" sz="2400" dirty="0">
                <a:latin typeface="宋体" pitchFamily="2" charset="-122"/>
              </a:rPr>
              <a:t>=6;		</a:t>
            </a:r>
          </a:p>
          <a:p>
            <a:pPr marL="87313" lvl="1" indent="-26988" eaLnBrk="1" hangingPunct="1">
              <a:lnSpc>
                <a:spcPct val="80000"/>
              </a:lnSpc>
              <a:buFontTx/>
              <a:buNone/>
              <a:defRPr/>
            </a:pPr>
            <a:r>
              <a:rPr lang="zh-CN" altLang="en-US" sz="2400" dirty="0">
                <a:latin typeface="宋体" pitchFamily="2" charset="-122"/>
              </a:rPr>
              <a:t>	</a:t>
            </a:r>
            <a:r>
              <a:rPr lang="en-US" altLang="zh-CN" sz="2400" dirty="0">
                <a:latin typeface="宋体" pitchFamily="2" charset="-122"/>
              </a:rPr>
              <a:t>   {	using namespace Ns; 	 	</a:t>
            </a:r>
          </a:p>
          <a:p>
            <a:pPr marL="87313" lvl="1" indent="-26988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400" dirty="0">
                <a:latin typeface="宋体" pitchFamily="2" charset="-122"/>
              </a:rPr>
              <a:t>		</a:t>
            </a:r>
            <a:r>
              <a:rPr lang="en-US" altLang="zh-CN" sz="2400" dirty="0" err="1">
                <a:latin typeface="宋体" pitchFamily="2" charset="-122"/>
              </a:rPr>
              <a:t>int</a:t>
            </a:r>
            <a:r>
              <a:rPr lang="en-US" altLang="zh-CN" sz="2400" dirty="0">
                <a:latin typeface="宋体" pitchFamily="2" charset="-122"/>
              </a:rPr>
              <a:t> </a:t>
            </a:r>
            <a:r>
              <a:rPr lang="en-US" altLang="zh-CN" sz="2400" b="1" dirty="0" err="1">
                <a:solidFill>
                  <a:srgbClr val="00B050"/>
                </a:solidFill>
                <a:latin typeface="宋体" pitchFamily="2" charset="-122"/>
              </a:rPr>
              <a:t>i</a:t>
            </a:r>
            <a:r>
              <a:rPr lang="en-US" altLang="zh-CN" sz="2400" dirty="0">
                <a:latin typeface="宋体" pitchFamily="2" charset="-122"/>
              </a:rPr>
              <a:t>;		</a:t>
            </a:r>
          </a:p>
          <a:p>
            <a:pPr marL="87313" lvl="1" indent="-26988" eaLnBrk="1" hangingPunct="1">
              <a:lnSpc>
                <a:spcPct val="80000"/>
              </a:lnSpc>
              <a:buFontTx/>
              <a:buNone/>
              <a:defRPr/>
            </a:pPr>
            <a:r>
              <a:rPr lang="zh-CN" altLang="en-US" sz="2400" dirty="0">
                <a:latin typeface="宋体" pitchFamily="2" charset="-122"/>
              </a:rPr>
              <a:t>		</a:t>
            </a:r>
            <a:r>
              <a:rPr lang="en-US" altLang="zh-CN" sz="2400" b="1" dirty="0" err="1">
                <a:solidFill>
                  <a:srgbClr val="00B050"/>
                </a:solidFill>
                <a:latin typeface="宋体" pitchFamily="2" charset="-122"/>
              </a:rPr>
              <a:t>i</a:t>
            </a:r>
            <a:r>
              <a:rPr lang="en-US" altLang="zh-CN" sz="2400" dirty="0">
                <a:latin typeface="宋体" pitchFamily="2" charset="-122"/>
              </a:rPr>
              <a:t>=7;</a:t>
            </a:r>
          </a:p>
          <a:p>
            <a:pPr marL="87313" lvl="1" indent="-26988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400" dirty="0">
                <a:latin typeface="宋体" pitchFamily="2" charset="-122"/>
              </a:rPr>
              <a:t>		</a:t>
            </a:r>
            <a:r>
              <a:rPr lang="en-US" altLang="zh-CN" sz="2400" dirty="0" err="1">
                <a:latin typeface="宋体" pitchFamily="2" charset="-122"/>
              </a:rPr>
              <a:t>cout</a:t>
            </a:r>
            <a:r>
              <a:rPr lang="en-US" altLang="zh-CN" sz="2400" dirty="0">
                <a:latin typeface="宋体" pitchFamily="2" charset="-122"/>
              </a:rPr>
              <a:t>&lt;&lt;"</a:t>
            </a:r>
            <a:r>
              <a:rPr lang="en-US" altLang="zh-CN" sz="2400" dirty="0" err="1">
                <a:latin typeface="宋体" pitchFamily="2" charset="-122"/>
              </a:rPr>
              <a:t>i</a:t>
            </a:r>
            <a:r>
              <a:rPr lang="en-US" altLang="zh-CN" sz="2400" dirty="0">
                <a:latin typeface="宋体" pitchFamily="2" charset="-122"/>
              </a:rPr>
              <a:t> = "&lt;&lt;</a:t>
            </a:r>
            <a:r>
              <a:rPr lang="en-US" altLang="zh-CN" sz="2400" b="1" dirty="0" err="1">
                <a:solidFill>
                  <a:srgbClr val="00B050"/>
                </a:solidFill>
                <a:latin typeface="宋体" pitchFamily="2" charset="-122"/>
              </a:rPr>
              <a:t>i</a:t>
            </a:r>
            <a:r>
              <a:rPr lang="en-US" altLang="zh-CN" sz="2400" dirty="0">
                <a:latin typeface="宋体" pitchFamily="2" charset="-122"/>
              </a:rPr>
              <a:t>&lt;&lt;</a:t>
            </a:r>
            <a:r>
              <a:rPr lang="en-US" altLang="zh-CN" sz="2400" dirty="0" err="1">
                <a:latin typeface="宋体" pitchFamily="2" charset="-122"/>
              </a:rPr>
              <a:t>endl</a:t>
            </a:r>
            <a:r>
              <a:rPr lang="en-US" altLang="zh-CN" sz="2400" dirty="0">
                <a:latin typeface="宋体" pitchFamily="2" charset="-122"/>
              </a:rPr>
              <a:t>;</a:t>
            </a:r>
          </a:p>
          <a:p>
            <a:pPr marL="87313" lvl="1" indent="-26988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400" dirty="0">
                <a:latin typeface="宋体" pitchFamily="2" charset="-122"/>
              </a:rPr>
              <a:t>		</a:t>
            </a:r>
            <a:r>
              <a:rPr lang="en-US" altLang="zh-CN" sz="2400" dirty="0" err="1">
                <a:latin typeface="宋体" pitchFamily="2" charset="-122"/>
              </a:rPr>
              <a:t>cout</a:t>
            </a:r>
            <a:r>
              <a:rPr lang="en-US" altLang="zh-CN" sz="2400" dirty="0">
                <a:latin typeface="宋体" pitchFamily="2" charset="-122"/>
              </a:rPr>
              <a:t>&lt;&lt;"j = "&lt;&lt;</a:t>
            </a:r>
            <a:r>
              <a:rPr lang="en-US" altLang="zh-CN" sz="2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宋体" pitchFamily="2" charset="-122"/>
              </a:rPr>
              <a:t>j</a:t>
            </a:r>
            <a:r>
              <a:rPr lang="en-US" altLang="zh-CN" sz="2400" dirty="0">
                <a:latin typeface="宋体" pitchFamily="2" charset="-122"/>
              </a:rPr>
              <a:t>&lt;&lt;</a:t>
            </a:r>
            <a:r>
              <a:rPr lang="en-US" altLang="zh-CN" sz="2400" dirty="0" err="1">
                <a:latin typeface="宋体" pitchFamily="2" charset="-122"/>
              </a:rPr>
              <a:t>endl</a:t>
            </a:r>
            <a:r>
              <a:rPr lang="en-US" altLang="zh-CN" sz="2400" dirty="0">
                <a:latin typeface="宋体" pitchFamily="2" charset="-122"/>
              </a:rPr>
              <a:t>;</a:t>
            </a:r>
          </a:p>
          <a:p>
            <a:pPr marL="87313" lvl="1" indent="-26988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400" dirty="0">
                <a:latin typeface="宋体" pitchFamily="2" charset="-122"/>
              </a:rPr>
              <a:t>	   }</a:t>
            </a:r>
          </a:p>
          <a:p>
            <a:pPr marL="87313" lvl="1" indent="-26988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400" dirty="0">
                <a:latin typeface="宋体" pitchFamily="2" charset="-122"/>
              </a:rPr>
              <a:t>	   </a:t>
            </a:r>
            <a:r>
              <a:rPr lang="en-US" altLang="zh-CN" sz="2400" dirty="0" err="1">
                <a:latin typeface="宋体" pitchFamily="2" charset="-122"/>
              </a:rPr>
              <a:t>cout</a:t>
            </a:r>
            <a:r>
              <a:rPr lang="en-US" altLang="zh-CN" sz="2400" dirty="0">
                <a:latin typeface="宋体" pitchFamily="2" charset="-122"/>
              </a:rPr>
              <a:t>&lt;&lt;"</a:t>
            </a:r>
            <a:r>
              <a:rPr lang="en-US" altLang="zh-CN" sz="2400" dirty="0" err="1">
                <a:latin typeface="宋体" pitchFamily="2" charset="-122"/>
              </a:rPr>
              <a:t>i</a:t>
            </a:r>
            <a:r>
              <a:rPr lang="en-US" altLang="zh-CN" sz="2400" dirty="0">
                <a:latin typeface="宋体" pitchFamily="2" charset="-122"/>
              </a:rPr>
              <a:t> = "&lt;&lt;</a:t>
            </a:r>
            <a:r>
              <a:rPr lang="en-US" altLang="zh-CN" sz="2400" b="1" dirty="0" err="1">
                <a:solidFill>
                  <a:srgbClr val="C00000"/>
                </a:solidFill>
                <a:latin typeface="宋体" pitchFamily="2" charset="-122"/>
              </a:rPr>
              <a:t>i</a:t>
            </a:r>
            <a:r>
              <a:rPr lang="en-US" altLang="zh-CN" sz="2400" dirty="0">
                <a:latin typeface="宋体" pitchFamily="2" charset="-122"/>
              </a:rPr>
              <a:t>&lt;&lt;</a:t>
            </a:r>
            <a:r>
              <a:rPr lang="en-US" altLang="zh-CN" sz="2400" dirty="0" err="1">
                <a:latin typeface="宋体" pitchFamily="2" charset="-122"/>
              </a:rPr>
              <a:t>endl</a:t>
            </a:r>
            <a:r>
              <a:rPr lang="en-US" altLang="zh-CN" sz="2400" dirty="0">
                <a:latin typeface="宋体" pitchFamily="2" charset="-122"/>
              </a:rPr>
              <a:t>;	</a:t>
            </a:r>
          </a:p>
          <a:p>
            <a:pPr marL="87313" lvl="1" indent="-26988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400" dirty="0">
                <a:latin typeface="宋体" pitchFamily="2" charset="-122"/>
              </a:rPr>
              <a:t>   return 0;</a:t>
            </a:r>
          </a:p>
          <a:p>
            <a:pPr marL="87313" lvl="1" indent="-26988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400" dirty="0">
                <a:latin typeface="宋体" pitchFamily="2" charset="-122"/>
              </a:rPr>
              <a:t>}</a:t>
            </a:r>
            <a:endParaRPr lang="zh-CN" altLang="en-US" sz="2400" dirty="0">
              <a:latin typeface="宋体" pitchFamily="2" charset="-122"/>
            </a:endParaRPr>
          </a:p>
        </p:txBody>
      </p:sp>
      <p:sp>
        <p:nvSpPr>
          <p:cNvPr id="1331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20A6F477-2D66-477A-A1AA-F70DE54E09B0}" type="slidenum">
              <a:rPr lang="en-US" altLang="zh-CN" sz="1400" smtClean="0"/>
              <a:pPr/>
              <a:t>21</a:t>
            </a:fld>
            <a:endParaRPr lang="en-US" altLang="zh-CN" sz="1400"/>
          </a:p>
        </p:txBody>
      </p:sp>
      <p:grpSp>
        <p:nvGrpSpPr>
          <p:cNvPr id="14" name="组合 13"/>
          <p:cNvGrpSpPr/>
          <p:nvPr/>
        </p:nvGrpSpPr>
        <p:grpSpPr>
          <a:xfrm>
            <a:off x="2756439" y="3717032"/>
            <a:ext cx="3323346" cy="1107878"/>
            <a:chOff x="2756439" y="3717032"/>
            <a:chExt cx="3323346" cy="1107878"/>
          </a:xfrm>
        </p:grpSpPr>
        <p:sp>
          <p:nvSpPr>
            <p:cNvPr id="8" name="矩形 7"/>
            <p:cNvSpPr/>
            <p:nvPr/>
          </p:nvSpPr>
          <p:spPr>
            <a:xfrm>
              <a:off x="2756439" y="3717032"/>
              <a:ext cx="3323346" cy="387798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txBody>
            <a:bodyPr wrap="none">
              <a:spAutoFit/>
            </a:bodyPr>
            <a:lstStyle/>
            <a:p>
              <a:pPr marL="87313" lvl="1" indent="-26988">
                <a:lnSpc>
                  <a:spcPct val="80000"/>
                </a:lnSpc>
                <a:defRPr/>
              </a:pPr>
              <a:r>
                <a:rPr lang="zh-CN" altLang="en-US" sz="2400" dirty="0">
                  <a:latin typeface="宋体" pitchFamily="2" charset="-122"/>
                </a:rPr>
                <a:t>局部变量，局部作用域</a:t>
              </a:r>
            </a:p>
          </p:txBody>
        </p:sp>
        <p:sp>
          <p:nvSpPr>
            <p:cNvPr id="9" name="矩形 8"/>
            <p:cNvSpPr/>
            <p:nvPr/>
          </p:nvSpPr>
          <p:spPr>
            <a:xfrm>
              <a:off x="4895514" y="4437112"/>
              <a:ext cx="1015021" cy="387798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txBody>
            <a:bodyPr wrap="none">
              <a:spAutoFit/>
            </a:bodyPr>
            <a:lstStyle/>
            <a:p>
              <a:pPr marL="87313" lvl="1" indent="-26988">
                <a:lnSpc>
                  <a:spcPct val="80000"/>
                </a:lnSpc>
                <a:defRPr/>
              </a:pPr>
              <a:r>
                <a:rPr lang="zh-CN" altLang="en-US" sz="2400" dirty="0">
                  <a:latin typeface="宋体" pitchFamily="2" charset="-122"/>
                </a:rPr>
                <a:t>输出</a:t>
              </a:r>
              <a:r>
                <a:rPr lang="en-US" altLang="zh-CN" sz="2400" dirty="0">
                  <a:latin typeface="宋体" pitchFamily="2" charset="-122"/>
                </a:rPr>
                <a:t>7</a:t>
              </a: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2555776" y="1556792"/>
            <a:ext cx="5939993" cy="3772174"/>
            <a:chOff x="2555776" y="1556792"/>
            <a:chExt cx="5939993" cy="3772174"/>
          </a:xfrm>
        </p:grpSpPr>
        <p:sp>
          <p:nvSpPr>
            <p:cNvPr id="3" name="矩形 2"/>
            <p:cNvSpPr/>
            <p:nvPr/>
          </p:nvSpPr>
          <p:spPr>
            <a:xfrm>
              <a:off x="2566223" y="1556792"/>
              <a:ext cx="3877985" cy="461665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txBody>
            <a:bodyPr wrap="none">
              <a:spAutoFit/>
            </a:bodyPr>
            <a:lstStyle/>
            <a:p>
              <a:r>
                <a:rPr lang="zh-CN" altLang="en-US" sz="2400" dirty="0">
                  <a:latin typeface="宋体" pitchFamily="2" charset="-122"/>
                </a:rPr>
                <a:t>在</a:t>
              </a:r>
              <a:r>
                <a:rPr lang="en-US" altLang="zh-CN" sz="2400" dirty="0">
                  <a:latin typeface="宋体" pitchFamily="2" charset="-122"/>
                </a:rPr>
                <a:t>Ns</a:t>
              </a:r>
              <a:r>
                <a:rPr lang="zh-CN" altLang="en-US" sz="2400" dirty="0">
                  <a:latin typeface="宋体" pitchFamily="2" charset="-122"/>
                </a:rPr>
                <a:t>命名空间中的全局变量</a:t>
              </a:r>
              <a:endParaRPr lang="zh-CN" altLang="en-US" sz="2400" dirty="0"/>
            </a:p>
          </p:txBody>
        </p:sp>
        <p:sp>
          <p:nvSpPr>
            <p:cNvPr id="5" name="矩形 4"/>
            <p:cNvSpPr/>
            <p:nvPr/>
          </p:nvSpPr>
          <p:spPr>
            <a:xfrm>
              <a:off x="2555776" y="2996952"/>
              <a:ext cx="2553904" cy="387798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</p:spPr>
          <p:txBody>
            <a:bodyPr wrap="none">
              <a:spAutoFit/>
            </a:bodyPr>
            <a:lstStyle/>
            <a:p>
              <a:pPr marL="87313" lvl="1" indent="-26988">
                <a:lnSpc>
                  <a:spcPct val="80000"/>
                </a:lnSpc>
                <a:defRPr/>
              </a:pPr>
              <a:r>
                <a:rPr lang="zh-CN" altLang="en-US" sz="2400" dirty="0">
                  <a:latin typeface="宋体" pitchFamily="2" charset="-122"/>
                </a:rPr>
                <a:t>为全局变量</a:t>
              </a:r>
              <a:r>
                <a:rPr lang="en-US" altLang="zh-CN" sz="2400" dirty="0">
                  <a:latin typeface="宋体" pitchFamily="2" charset="-122"/>
                </a:rPr>
                <a:t>j</a:t>
              </a:r>
              <a:r>
                <a:rPr lang="zh-CN" altLang="en-US" sz="2400" dirty="0">
                  <a:latin typeface="宋体" pitchFamily="2" charset="-122"/>
                </a:rPr>
                <a:t>赋值</a:t>
              </a:r>
              <a:endParaRPr lang="en-US" altLang="zh-CN" sz="2400" dirty="0">
                <a:latin typeface="宋体" pitchFamily="2" charset="-122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4178562" y="3356992"/>
              <a:ext cx="4317207" cy="400110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</p:spPr>
          <p:txBody>
            <a:bodyPr wrap="none">
              <a:spAutoFit/>
            </a:bodyPr>
            <a:lstStyle/>
            <a:p>
              <a:r>
                <a:rPr lang="zh-CN" altLang="en-US" sz="2000" dirty="0"/>
                <a:t>当前块中可以直接引用</a:t>
              </a:r>
              <a:r>
                <a:rPr lang="en-US" altLang="zh-CN" sz="2000" dirty="0"/>
                <a:t>Ns</a:t>
              </a:r>
              <a:r>
                <a:rPr lang="zh-CN" altLang="en-US" sz="2000" dirty="0"/>
                <a:t>中的标识符</a:t>
              </a:r>
            </a:p>
          </p:txBody>
        </p:sp>
        <p:sp>
          <p:nvSpPr>
            <p:cNvPr id="10" name="矩形 9"/>
            <p:cNvSpPr/>
            <p:nvPr/>
          </p:nvSpPr>
          <p:spPr>
            <a:xfrm>
              <a:off x="4860032" y="4941168"/>
              <a:ext cx="1015021" cy="387798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</p:spPr>
          <p:txBody>
            <a:bodyPr wrap="none">
              <a:spAutoFit/>
            </a:bodyPr>
            <a:lstStyle/>
            <a:p>
              <a:pPr marL="87313" lvl="1" indent="-26988">
                <a:lnSpc>
                  <a:spcPct val="80000"/>
                </a:lnSpc>
                <a:defRPr/>
              </a:pPr>
              <a:r>
                <a:rPr lang="zh-CN" altLang="en-US" sz="2400" dirty="0">
                  <a:latin typeface="宋体" pitchFamily="2" charset="-122"/>
                </a:rPr>
                <a:t>输出</a:t>
              </a:r>
              <a:r>
                <a:rPr lang="en-US" altLang="zh-CN" sz="2400" dirty="0">
                  <a:latin typeface="宋体" pitchFamily="2" charset="-122"/>
                </a:rPr>
                <a:t>6</a:t>
              </a: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2483768" y="836712"/>
            <a:ext cx="4185761" cy="5068318"/>
            <a:chOff x="2483768" y="836712"/>
            <a:chExt cx="4185761" cy="5068318"/>
          </a:xfrm>
        </p:grpSpPr>
        <p:sp>
          <p:nvSpPr>
            <p:cNvPr id="2" name="矩形 1"/>
            <p:cNvSpPr/>
            <p:nvPr/>
          </p:nvSpPr>
          <p:spPr>
            <a:xfrm>
              <a:off x="2483768" y="836712"/>
              <a:ext cx="4185761" cy="46166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none">
              <a:spAutoFit/>
            </a:bodyPr>
            <a:lstStyle/>
            <a:p>
              <a:r>
                <a:rPr lang="zh-CN" altLang="en-US" sz="2400" dirty="0">
                  <a:latin typeface="宋体" pitchFamily="2" charset="-122"/>
                </a:rPr>
                <a:t>在全局命名空间中的全局变量</a:t>
              </a:r>
              <a:endParaRPr lang="zh-CN" altLang="en-US" sz="2400" dirty="0"/>
            </a:p>
          </p:txBody>
        </p:sp>
        <p:sp>
          <p:nvSpPr>
            <p:cNvPr id="4" name="矩形 3"/>
            <p:cNvSpPr/>
            <p:nvPr/>
          </p:nvSpPr>
          <p:spPr>
            <a:xfrm>
              <a:off x="2574215" y="2564904"/>
              <a:ext cx="2553904" cy="38779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none">
              <a:spAutoFit/>
            </a:bodyPr>
            <a:lstStyle/>
            <a:p>
              <a:pPr marL="87313" lvl="1" indent="-26988">
                <a:lnSpc>
                  <a:spcPct val="80000"/>
                </a:lnSpc>
                <a:defRPr/>
              </a:pPr>
              <a:r>
                <a:rPr lang="zh-CN" altLang="en-US" sz="2400" dirty="0">
                  <a:latin typeface="宋体" pitchFamily="2" charset="-122"/>
                </a:rPr>
                <a:t>为全局变量</a:t>
              </a:r>
              <a:r>
                <a:rPr lang="en-US" altLang="zh-CN" sz="2400" dirty="0" err="1">
                  <a:latin typeface="宋体" pitchFamily="2" charset="-122"/>
                </a:rPr>
                <a:t>i</a:t>
              </a:r>
              <a:r>
                <a:rPr lang="zh-CN" altLang="en-US" sz="2400" dirty="0">
                  <a:latin typeface="宋体" pitchFamily="2" charset="-122"/>
                </a:rPr>
                <a:t>赋值</a:t>
              </a:r>
            </a:p>
          </p:txBody>
        </p:sp>
        <p:sp>
          <p:nvSpPr>
            <p:cNvPr id="11" name="矩形 10"/>
            <p:cNvSpPr/>
            <p:nvPr/>
          </p:nvSpPr>
          <p:spPr>
            <a:xfrm>
              <a:off x="4853123" y="5517232"/>
              <a:ext cx="1015021" cy="38779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none">
              <a:spAutoFit/>
            </a:bodyPr>
            <a:lstStyle/>
            <a:p>
              <a:pPr marL="87313" lvl="1" indent="-26988">
                <a:lnSpc>
                  <a:spcPct val="80000"/>
                </a:lnSpc>
                <a:defRPr/>
              </a:pPr>
              <a:r>
                <a:rPr lang="zh-CN" altLang="en-US" sz="2400" dirty="0">
                  <a:latin typeface="宋体" pitchFamily="2" charset="-122"/>
                </a:rPr>
                <a:t>输出</a:t>
              </a:r>
              <a:r>
                <a:rPr lang="en-US" altLang="zh-CN" sz="2400" dirty="0">
                  <a:latin typeface="宋体" pitchFamily="2" charset="-122"/>
                </a:rPr>
                <a:t>5</a:t>
              </a:r>
            </a:p>
          </p:txBody>
        </p:sp>
      </p:grpSp>
      <p:sp>
        <p:nvSpPr>
          <p:cNvPr id="19" name="矩形 18"/>
          <p:cNvSpPr/>
          <p:nvPr/>
        </p:nvSpPr>
        <p:spPr>
          <a:xfrm>
            <a:off x="6669529" y="4356328"/>
            <a:ext cx="1015021" cy="39248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pPr marL="87313" lvl="1" indent="-26988">
              <a:lnSpc>
                <a:spcPct val="80000"/>
              </a:lnSpc>
              <a:defRPr/>
            </a:pPr>
            <a:r>
              <a:rPr lang="zh-CN" altLang="en-US" sz="2400" dirty="0">
                <a:latin typeface="宋体" pitchFamily="2" charset="-122"/>
              </a:rPr>
              <a:t>子块</a:t>
            </a:r>
            <a:r>
              <a:rPr lang="en-US" altLang="zh-CN" sz="2400" dirty="0">
                <a:latin typeface="宋体" pitchFamily="2" charset="-122"/>
              </a:rPr>
              <a:t>1</a:t>
            </a:r>
          </a:p>
        </p:txBody>
      </p:sp>
      <p:sp>
        <p:nvSpPr>
          <p:cNvPr id="21" name="矩形 20"/>
          <p:cNvSpPr/>
          <p:nvPr/>
        </p:nvSpPr>
        <p:spPr>
          <a:xfrm>
            <a:off x="6669528" y="2721739"/>
            <a:ext cx="1015021" cy="39248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txBody>
          <a:bodyPr wrap="none">
            <a:spAutoFit/>
          </a:bodyPr>
          <a:lstStyle/>
          <a:p>
            <a:pPr marL="87313" lvl="1" indent="-26988">
              <a:lnSpc>
                <a:spcPct val="80000"/>
              </a:lnSpc>
              <a:defRPr/>
            </a:pPr>
            <a:r>
              <a:rPr lang="zh-CN" altLang="en-US" sz="2400" dirty="0">
                <a:latin typeface="宋体" pitchFamily="2" charset="-122"/>
              </a:rPr>
              <a:t>子块</a:t>
            </a:r>
            <a:r>
              <a:rPr lang="en-US" altLang="zh-CN" sz="2400" dirty="0">
                <a:latin typeface="宋体" pitchFamily="2" charset="-122"/>
              </a:rPr>
              <a:t>2</a:t>
            </a:r>
          </a:p>
        </p:txBody>
      </p:sp>
      <p:sp>
        <p:nvSpPr>
          <p:cNvPr id="23" name="矩形 22"/>
          <p:cNvSpPr/>
          <p:nvPr/>
        </p:nvSpPr>
        <p:spPr>
          <a:xfrm>
            <a:off x="6536364" y="2001689"/>
            <a:ext cx="2016224" cy="387798"/>
          </a:xfrm>
          <a:prstGeom prst="rect">
            <a:avLst/>
          </a:prstGeom>
          <a:solidFill>
            <a:srgbClr val="FF6D6D"/>
          </a:solidFill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marL="87313" lvl="1" indent="-26988">
              <a:lnSpc>
                <a:spcPct val="80000"/>
              </a:lnSpc>
              <a:defRPr/>
            </a:pPr>
            <a:r>
              <a:rPr lang="zh-CN" altLang="en-US" sz="2400" dirty="0">
                <a:latin typeface="宋体" pitchFamily="2" charset="-122"/>
              </a:rPr>
              <a:t>文件作用域</a:t>
            </a:r>
            <a:endParaRPr lang="en-US" altLang="zh-CN" sz="2400" dirty="0">
              <a:latin typeface="宋体" pitchFamily="2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503548" y="3340500"/>
            <a:ext cx="4073100" cy="2248740"/>
          </a:xfrm>
          <a:prstGeom prst="roundRect">
            <a:avLst/>
          </a:prstGeom>
          <a:solidFill>
            <a:schemeClr val="accent3">
              <a:lumMod val="40000"/>
              <a:lumOff val="60000"/>
              <a:alpha val="53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圆角矩形 24"/>
          <p:cNvSpPr/>
          <p:nvPr/>
        </p:nvSpPr>
        <p:spPr>
          <a:xfrm>
            <a:off x="35496" y="2260380"/>
            <a:ext cx="4680520" cy="4480988"/>
          </a:xfrm>
          <a:prstGeom prst="roundRect">
            <a:avLst>
              <a:gd name="adj" fmla="val 9532"/>
            </a:avLst>
          </a:prstGeom>
          <a:solidFill>
            <a:schemeClr val="bg2">
              <a:lumMod val="75000"/>
              <a:alpha val="53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圆角矩形 25"/>
          <p:cNvSpPr/>
          <p:nvPr/>
        </p:nvSpPr>
        <p:spPr>
          <a:xfrm>
            <a:off x="35496" y="836712"/>
            <a:ext cx="4680520" cy="5904656"/>
          </a:xfrm>
          <a:prstGeom prst="roundRect">
            <a:avLst>
              <a:gd name="adj" fmla="val 9532"/>
            </a:avLst>
          </a:prstGeom>
          <a:solidFill>
            <a:srgbClr val="FF6D6D">
              <a:alpha val="34000"/>
            </a:srgb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688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1" grpId="0" animBg="1"/>
      <p:bldP spid="23" grpId="0" animBg="1"/>
      <p:bldP spid="7" grpId="0" animBg="1"/>
      <p:bldP spid="25" grpId="0" animBg="1"/>
      <p:bldP spid="2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35496" y="44624"/>
            <a:ext cx="7056784" cy="6552728"/>
          </a:xfrm>
          <a:solidFill>
            <a:schemeClr val="bg2">
              <a:lumMod val="90000"/>
            </a:schemeClr>
          </a:solidFill>
        </p:spPr>
        <p:txBody>
          <a:bodyPr>
            <a:noAutofit/>
          </a:bodyPr>
          <a:lstStyle/>
          <a:p>
            <a:pPr marL="87313" lvl="1" indent="-26988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400" dirty="0">
                <a:latin typeface="宋体" pitchFamily="2" charset="-122"/>
              </a:rPr>
              <a:t>#include &lt;</a:t>
            </a:r>
            <a:r>
              <a:rPr lang="en-US" altLang="zh-CN" sz="2400" dirty="0" err="1">
                <a:latin typeface="宋体" pitchFamily="2" charset="-122"/>
              </a:rPr>
              <a:t>iostream</a:t>
            </a:r>
            <a:r>
              <a:rPr lang="en-US" altLang="zh-CN" sz="2400" dirty="0">
                <a:latin typeface="宋体" pitchFamily="2" charset="-122"/>
              </a:rPr>
              <a:t>&gt;</a:t>
            </a:r>
          </a:p>
          <a:p>
            <a:pPr marL="87313" lvl="1" indent="-26988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400" dirty="0">
                <a:latin typeface="宋体" pitchFamily="2" charset="-122"/>
              </a:rPr>
              <a:t>using namespace std;</a:t>
            </a:r>
          </a:p>
          <a:p>
            <a:pPr marL="87313" lvl="1" indent="-26988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400" dirty="0" err="1">
                <a:latin typeface="宋体" pitchFamily="2" charset="-122"/>
              </a:rPr>
              <a:t>int</a:t>
            </a:r>
            <a:r>
              <a:rPr lang="en-US" altLang="zh-CN" sz="2400" dirty="0">
                <a:latin typeface="宋体" pitchFamily="2" charset="-122"/>
              </a:rPr>
              <a:t> </a:t>
            </a:r>
            <a:r>
              <a:rPr lang="en-US" altLang="zh-CN" sz="2400" b="1" dirty="0" err="1">
                <a:solidFill>
                  <a:srgbClr val="C00000"/>
                </a:solidFill>
                <a:latin typeface="宋体" pitchFamily="2" charset="-122"/>
              </a:rPr>
              <a:t>i</a:t>
            </a:r>
            <a:r>
              <a:rPr lang="en-US" altLang="zh-CN" sz="2400" dirty="0">
                <a:latin typeface="宋体" pitchFamily="2" charset="-122"/>
              </a:rPr>
              <a:t>;	</a:t>
            </a:r>
            <a:endParaRPr lang="zh-CN" altLang="en-US" sz="2400" dirty="0">
              <a:latin typeface="宋体" pitchFamily="2" charset="-122"/>
            </a:endParaRPr>
          </a:p>
          <a:p>
            <a:pPr marL="87313" lvl="1" indent="-26988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400" dirty="0">
                <a:latin typeface="宋体" pitchFamily="2" charset="-122"/>
              </a:rPr>
              <a:t>namespace Ns</a:t>
            </a:r>
          </a:p>
          <a:p>
            <a:pPr marL="87313" lvl="1" indent="-26988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400" dirty="0">
                <a:latin typeface="宋体" pitchFamily="2" charset="-122"/>
              </a:rPr>
              <a:t>{ </a:t>
            </a:r>
            <a:r>
              <a:rPr lang="en-US" altLang="zh-CN" sz="2400" dirty="0" err="1">
                <a:latin typeface="宋体" pitchFamily="2" charset="-122"/>
              </a:rPr>
              <a:t>int</a:t>
            </a:r>
            <a:r>
              <a:rPr lang="en-US" altLang="zh-CN" sz="2400" dirty="0">
                <a:latin typeface="宋体" pitchFamily="2" charset="-122"/>
              </a:rPr>
              <a:t> </a:t>
            </a:r>
            <a:r>
              <a:rPr lang="en-US" altLang="zh-CN" sz="2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宋体" pitchFamily="2" charset="-122"/>
              </a:rPr>
              <a:t>j</a:t>
            </a:r>
            <a:r>
              <a:rPr lang="en-US" altLang="zh-CN" sz="2400" dirty="0">
                <a:latin typeface="宋体" pitchFamily="2" charset="-122"/>
              </a:rPr>
              <a:t>;		</a:t>
            </a:r>
            <a:endParaRPr lang="zh-CN" altLang="en-US" sz="2400" dirty="0">
              <a:latin typeface="宋体" pitchFamily="2" charset="-122"/>
            </a:endParaRPr>
          </a:p>
          <a:p>
            <a:pPr marL="87313" lvl="1" indent="-26988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400" dirty="0">
                <a:latin typeface="宋体" pitchFamily="2" charset="-122"/>
              </a:rPr>
              <a:t>}</a:t>
            </a:r>
          </a:p>
          <a:p>
            <a:pPr marL="87313" lvl="1" indent="-26988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400" dirty="0" err="1">
                <a:latin typeface="宋体" pitchFamily="2" charset="-122"/>
              </a:rPr>
              <a:t>int</a:t>
            </a:r>
            <a:r>
              <a:rPr lang="en-US" altLang="zh-CN" sz="2400" dirty="0">
                <a:latin typeface="宋体" pitchFamily="2" charset="-122"/>
              </a:rPr>
              <a:t> main()</a:t>
            </a:r>
          </a:p>
          <a:p>
            <a:pPr marL="87313" lvl="1" indent="-26988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400" dirty="0">
                <a:latin typeface="宋体" pitchFamily="2" charset="-122"/>
              </a:rPr>
              <a:t>{  </a:t>
            </a:r>
            <a:r>
              <a:rPr lang="en-US" altLang="zh-CN" sz="2400" b="1" dirty="0" err="1">
                <a:solidFill>
                  <a:srgbClr val="C00000"/>
                </a:solidFill>
                <a:latin typeface="宋体" pitchFamily="2" charset="-122"/>
              </a:rPr>
              <a:t>i</a:t>
            </a:r>
            <a:r>
              <a:rPr lang="en-US" altLang="zh-CN" sz="2400" dirty="0">
                <a:latin typeface="宋体" pitchFamily="2" charset="-122"/>
              </a:rPr>
              <a:t>=5;			</a:t>
            </a:r>
          </a:p>
          <a:p>
            <a:pPr marL="87313" lvl="1" indent="-26988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400" dirty="0">
                <a:latin typeface="宋体" pitchFamily="2" charset="-122"/>
              </a:rPr>
              <a:t>   Ns::</a:t>
            </a:r>
            <a:r>
              <a:rPr lang="en-US" altLang="zh-CN" sz="2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宋体" pitchFamily="2" charset="-122"/>
              </a:rPr>
              <a:t>j</a:t>
            </a:r>
            <a:r>
              <a:rPr lang="en-US" altLang="zh-CN" sz="2400" dirty="0">
                <a:latin typeface="宋体" pitchFamily="2" charset="-122"/>
              </a:rPr>
              <a:t>=6;		</a:t>
            </a:r>
          </a:p>
          <a:p>
            <a:pPr marL="87313" lvl="1" indent="-26988" eaLnBrk="1" hangingPunct="1">
              <a:lnSpc>
                <a:spcPct val="80000"/>
              </a:lnSpc>
              <a:buFontTx/>
              <a:buNone/>
              <a:defRPr/>
            </a:pPr>
            <a:r>
              <a:rPr lang="zh-CN" altLang="en-US" sz="2400" dirty="0">
                <a:latin typeface="宋体" pitchFamily="2" charset="-122"/>
              </a:rPr>
              <a:t>	</a:t>
            </a:r>
            <a:r>
              <a:rPr lang="en-US" altLang="zh-CN" sz="2400" dirty="0">
                <a:latin typeface="宋体" pitchFamily="2" charset="-122"/>
              </a:rPr>
              <a:t>   {	using namespace Ns; 	 	</a:t>
            </a:r>
          </a:p>
          <a:p>
            <a:pPr marL="87313" lvl="1" indent="-26988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400" dirty="0">
                <a:latin typeface="宋体" pitchFamily="2" charset="-122"/>
              </a:rPr>
              <a:t>		</a:t>
            </a:r>
            <a:r>
              <a:rPr lang="en-US" altLang="zh-CN" sz="2400" dirty="0" err="1">
                <a:latin typeface="宋体" pitchFamily="2" charset="-122"/>
              </a:rPr>
              <a:t>int</a:t>
            </a:r>
            <a:r>
              <a:rPr lang="en-US" altLang="zh-CN" sz="2400" dirty="0">
                <a:latin typeface="宋体" pitchFamily="2" charset="-122"/>
              </a:rPr>
              <a:t> </a:t>
            </a:r>
            <a:r>
              <a:rPr lang="en-US" altLang="zh-CN" sz="2400" b="1" dirty="0" err="1">
                <a:solidFill>
                  <a:srgbClr val="00B050"/>
                </a:solidFill>
                <a:latin typeface="宋体" pitchFamily="2" charset="-122"/>
              </a:rPr>
              <a:t>i</a:t>
            </a:r>
            <a:r>
              <a:rPr lang="en-US" altLang="zh-CN" sz="2400" dirty="0">
                <a:latin typeface="宋体" pitchFamily="2" charset="-122"/>
              </a:rPr>
              <a:t>;		</a:t>
            </a:r>
          </a:p>
          <a:p>
            <a:pPr marL="87313" lvl="1" indent="-26988" eaLnBrk="1" hangingPunct="1">
              <a:lnSpc>
                <a:spcPct val="80000"/>
              </a:lnSpc>
              <a:buFontTx/>
              <a:buNone/>
              <a:defRPr/>
            </a:pPr>
            <a:r>
              <a:rPr lang="zh-CN" altLang="en-US" sz="2400" dirty="0">
                <a:latin typeface="宋体" pitchFamily="2" charset="-122"/>
              </a:rPr>
              <a:t>		</a:t>
            </a:r>
            <a:r>
              <a:rPr lang="en-US" altLang="zh-CN" sz="2400" b="1" dirty="0" err="1">
                <a:solidFill>
                  <a:srgbClr val="00B050"/>
                </a:solidFill>
                <a:latin typeface="宋体" pitchFamily="2" charset="-122"/>
              </a:rPr>
              <a:t>i</a:t>
            </a:r>
            <a:r>
              <a:rPr lang="en-US" altLang="zh-CN" sz="2400" dirty="0">
                <a:latin typeface="宋体" pitchFamily="2" charset="-122"/>
              </a:rPr>
              <a:t>=7;</a:t>
            </a:r>
          </a:p>
          <a:p>
            <a:pPr marL="87313" lvl="1" indent="-26988">
              <a:lnSpc>
                <a:spcPct val="80000"/>
              </a:lnSpc>
              <a:buNone/>
              <a:defRPr/>
            </a:pPr>
            <a:r>
              <a:rPr lang="en-US" altLang="zh-CN" sz="2400" dirty="0">
                <a:latin typeface="宋体" pitchFamily="2" charset="-122"/>
              </a:rPr>
              <a:t>		</a:t>
            </a:r>
            <a:r>
              <a:rPr lang="en-US" altLang="zh-CN" sz="2400" dirty="0" err="1">
                <a:latin typeface="宋体" pitchFamily="2" charset="-122"/>
              </a:rPr>
              <a:t>cout</a:t>
            </a:r>
            <a:r>
              <a:rPr lang="en-US" altLang="zh-CN" sz="2400" dirty="0">
                <a:latin typeface="宋体" pitchFamily="2" charset="-122"/>
              </a:rPr>
              <a:t>&lt;&lt;“</a:t>
            </a:r>
            <a:r>
              <a:rPr lang="en-US" altLang="zh-CN" sz="2400" dirty="0" err="1">
                <a:latin typeface="宋体" pitchFamily="2" charset="-122"/>
              </a:rPr>
              <a:t>i</a:t>
            </a:r>
            <a:r>
              <a:rPr lang="en-US" altLang="zh-CN" sz="2400" dirty="0">
                <a:latin typeface="宋体" pitchFamily="2" charset="-122"/>
              </a:rPr>
              <a:t> = ”&lt;&lt;::</a:t>
            </a:r>
            <a:r>
              <a:rPr lang="en-US" altLang="zh-CN" sz="2400" b="1" dirty="0" err="1">
                <a:solidFill>
                  <a:srgbClr val="C00000"/>
                </a:solidFill>
                <a:latin typeface="宋体" pitchFamily="2" charset="-122"/>
              </a:rPr>
              <a:t>i</a:t>
            </a:r>
            <a:r>
              <a:rPr lang="en-US" altLang="zh-CN" sz="2400" dirty="0">
                <a:latin typeface="宋体" pitchFamily="2" charset="-122"/>
              </a:rPr>
              <a:t>&lt;&lt;</a:t>
            </a:r>
            <a:r>
              <a:rPr lang="en-US" altLang="zh-CN" sz="2400" dirty="0" err="1">
                <a:latin typeface="宋体" pitchFamily="2" charset="-122"/>
              </a:rPr>
              <a:t>endl</a:t>
            </a:r>
            <a:r>
              <a:rPr lang="en-US" altLang="zh-CN" sz="2400" dirty="0">
                <a:latin typeface="宋体" pitchFamily="2" charset="-122"/>
              </a:rPr>
              <a:t>;</a:t>
            </a:r>
          </a:p>
          <a:p>
            <a:pPr marL="87313" lvl="1" indent="-26988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400" dirty="0">
                <a:latin typeface="宋体" pitchFamily="2" charset="-122"/>
              </a:rPr>
              <a:t>		</a:t>
            </a:r>
            <a:r>
              <a:rPr lang="en-US" altLang="zh-CN" sz="2400" dirty="0" err="1">
                <a:latin typeface="宋体" pitchFamily="2" charset="-122"/>
              </a:rPr>
              <a:t>cout</a:t>
            </a:r>
            <a:r>
              <a:rPr lang="en-US" altLang="zh-CN" sz="2400" dirty="0">
                <a:latin typeface="宋体" pitchFamily="2" charset="-122"/>
              </a:rPr>
              <a:t>&lt;&lt;"j = "&lt;&lt;</a:t>
            </a:r>
            <a:r>
              <a:rPr lang="en-US" altLang="zh-CN" sz="2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宋体" pitchFamily="2" charset="-122"/>
              </a:rPr>
              <a:t>j</a:t>
            </a:r>
            <a:r>
              <a:rPr lang="en-US" altLang="zh-CN" sz="2400" dirty="0">
                <a:latin typeface="宋体" pitchFamily="2" charset="-122"/>
              </a:rPr>
              <a:t>&lt;&lt;</a:t>
            </a:r>
            <a:r>
              <a:rPr lang="en-US" altLang="zh-CN" sz="2400" dirty="0" err="1">
                <a:latin typeface="宋体" pitchFamily="2" charset="-122"/>
              </a:rPr>
              <a:t>endl</a:t>
            </a:r>
            <a:r>
              <a:rPr lang="en-US" altLang="zh-CN" sz="2400" dirty="0">
                <a:latin typeface="宋体" pitchFamily="2" charset="-122"/>
              </a:rPr>
              <a:t>;</a:t>
            </a:r>
          </a:p>
          <a:p>
            <a:pPr marL="87313" lvl="1" indent="-26988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400" dirty="0">
                <a:latin typeface="宋体" pitchFamily="2" charset="-122"/>
              </a:rPr>
              <a:t>	   }</a:t>
            </a:r>
          </a:p>
          <a:p>
            <a:pPr marL="87313" lvl="1" indent="-26988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400" dirty="0">
                <a:latin typeface="宋体" pitchFamily="2" charset="-122"/>
              </a:rPr>
              <a:t>	   </a:t>
            </a:r>
            <a:r>
              <a:rPr lang="en-US" altLang="zh-CN" sz="2400" dirty="0" err="1">
                <a:latin typeface="宋体" pitchFamily="2" charset="-122"/>
              </a:rPr>
              <a:t>cout</a:t>
            </a:r>
            <a:r>
              <a:rPr lang="en-US" altLang="zh-CN" sz="2400" dirty="0">
                <a:latin typeface="宋体" pitchFamily="2" charset="-122"/>
              </a:rPr>
              <a:t>&lt;&lt;"</a:t>
            </a:r>
            <a:r>
              <a:rPr lang="en-US" altLang="zh-CN" sz="2400" dirty="0" err="1">
                <a:latin typeface="宋体" pitchFamily="2" charset="-122"/>
              </a:rPr>
              <a:t>i</a:t>
            </a:r>
            <a:r>
              <a:rPr lang="en-US" altLang="zh-CN" sz="2400" dirty="0">
                <a:latin typeface="宋体" pitchFamily="2" charset="-122"/>
              </a:rPr>
              <a:t> = "&lt;&lt;</a:t>
            </a:r>
            <a:r>
              <a:rPr lang="en-US" altLang="zh-CN" sz="2400" b="1" dirty="0" err="1">
                <a:solidFill>
                  <a:srgbClr val="C00000"/>
                </a:solidFill>
                <a:latin typeface="宋体" pitchFamily="2" charset="-122"/>
              </a:rPr>
              <a:t>i</a:t>
            </a:r>
            <a:r>
              <a:rPr lang="en-US" altLang="zh-CN" sz="2400" dirty="0">
                <a:latin typeface="宋体" pitchFamily="2" charset="-122"/>
              </a:rPr>
              <a:t>&lt;&lt;</a:t>
            </a:r>
            <a:r>
              <a:rPr lang="en-US" altLang="zh-CN" sz="2400" dirty="0" err="1">
                <a:latin typeface="宋体" pitchFamily="2" charset="-122"/>
              </a:rPr>
              <a:t>endl</a:t>
            </a:r>
            <a:r>
              <a:rPr lang="en-US" altLang="zh-CN" sz="2400" dirty="0">
                <a:latin typeface="宋体" pitchFamily="2" charset="-122"/>
              </a:rPr>
              <a:t>;	</a:t>
            </a:r>
          </a:p>
          <a:p>
            <a:pPr marL="87313" lvl="1" indent="-26988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400" dirty="0">
                <a:latin typeface="宋体" pitchFamily="2" charset="-122"/>
              </a:rPr>
              <a:t>   return 0;</a:t>
            </a:r>
          </a:p>
          <a:p>
            <a:pPr marL="87313" lvl="1" indent="-26988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400" dirty="0">
                <a:latin typeface="宋体" pitchFamily="2" charset="-122"/>
              </a:rPr>
              <a:t>}</a:t>
            </a:r>
            <a:endParaRPr lang="zh-CN" altLang="en-US" sz="2400" dirty="0">
              <a:latin typeface="宋体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357179" y="4481362"/>
            <a:ext cx="1015021" cy="3877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pPr marL="87313" lvl="1" indent="-26988">
              <a:lnSpc>
                <a:spcPct val="80000"/>
              </a:lnSpc>
              <a:defRPr/>
            </a:pPr>
            <a:r>
              <a:rPr lang="zh-CN" altLang="en-US" sz="2400" dirty="0">
                <a:latin typeface="宋体" pitchFamily="2" charset="-122"/>
              </a:rPr>
              <a:t>输出</a:t>
            </a:r>
            <a:r>
              <a:rPr lang="en-US" altLang="zh-CN" sz="2400" dirty="0">
                <a:latin typeface="宋体" pitchFamily="2" charset="-122"/>
              </a:rPr>
              <a:t>5</a:t>
            </a:r>
          </a:p>
        </p:txBody>
      </p:sp>
      <p:sp>
        <p:nvSpPr>
          <p:cNvPr id="6" name="矩形 5"/>
          <p:cNvSpPr/>
          <p:nvPr/>
        </p:nvSpPr>
        <p:spPr>
          <a:xfrm>
            <a:off x="3203848" y="1112381"/>
            <a:ext cx="5570756" cy="954107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none">
            <a:spAutoFit/>
          </a:bodyPr>
          <a:lstStyle/>
          <a:p>
            <a:r>
              <a:rPr lang="zh-CN" altLang="en-US" sz="2800" dirty="0"/>
              <a:t>使用作用域限定符 </a:t>
            </a:r>
            <a:r>
              <a:rPr lang="en-US" altLang="zh-CN" sz="2800" dirty="0"/>
              <a:t>::</a:t>
            </a:r>
            <a:endParaRPr lang="zh-CN" altLang="en-US" sz="2800" dirty="0"/>
          </a:p>
          <a:p>
            <a:r>
              <a:rPr lang="zh-CN" altLang="en-US" sz="2800" dirty="0">
                <a:latin typeface="宋体" pitchFamily="2" charset="-122"/>
              </a:rPr>
              <a:t>在内层使用本来不可见的全局变量</a:t>
            </a:r>
            <a:endParaRPr lang="en-US" altLang="zh-CN" sz="2800" dirty="0">
              <a:latin typeface="宋体" pitchFamily="2" charset="-122"/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3491880" y="4365104"/>
            <a:ext cx="504056" cy="504056"/>
          </a:xfrm>
          <a:prstGeom prst="round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4279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altLang="zh-CN" dirty="0"/>
              <a:t>3.2 </a:t>
            </a:r>
            <a:r>
              <a:rPr lang="zh-CN" altLang="en-US" dirty="0"/>
              <a:t>对象的生存期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1277962" y="1700808"/>
            <a:ext cx="6102350" cy="1440160"/>
          </a:xfrm>
        </p:spPr>
        <p:txBody>
          <a:bodyPr vert="horz" rtlCol="0">
            <a:normAutofit/>
          </a:bodyPr>
          <a:lstStyle/>
          <a:p>
            <a:pPr marL="0" algn="just">
              <a:lnSpc>
                <a:spcPct val="90000"/>
              </a:lnSpc>
              <a:buNone/>
            </a:pPr>
            <a:r>
              <a:rPr lang="en-US" altLang="zh-CN" dirty="0"/>
              <a:t>3.2.1 </a:t>
            </a:r>
            <a:r>
              <a:rPr lang="zh-CN" altLang="en-US" dirty="0"/>
              <a:t>静态生存期</a:t>
            </a:r>
          </a:p>
          <a:p>
            <a:pPr marL="0" algn="just">
              <a:lnSpc>
                <a:spcPct val="90000"/>
              </a:lnSpc>
              <a:buNone/>
            </a:pPr>
            <a:r>
              <a:rPr lang="en-US" altLang="zh-CN" dirty="0"/>
              <a:t>3.2.2 </a:t>
            </a:r>
            <a:r>
              <a:rPr lang="zh-CN" altLang="en-US" dirty="0"/>
              <a:t>动态生存期</a:t>
            </a:r>
          </a:p>
        </p:txBody>
      </p:sp>
      <p:sp>
        <p:nvSpPr>
          <p:cNvPr id="409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1A7BEDC6-3DB4-4D00-BBFB-88877B2CC616}" type="slidenum">
              <a:rPr lang="en-US" altLang="zh-CN" sz="1400" smtClean="0"/>
              <a:pPr/>
              <a:t>23</a:t>
            </a:fld>
            <a:endParaRPr lang="en-US" altLang="zh-CN" sz="1400"/>
          </a:p>
        </p:txBody>
      </p:sp>
      <p:sp>
        <p:nvSpPr>
          <p:cNvPr id="2" name="矩形 1"/>
          <p:cNvSpPr/>
          <p:nvPr/>
        </p:nvSpPr>
        <p:spPr>
          <a:xfrm>
            <a:off x="755576" y="3861048"/>
            <a:ext cx="7920880" cy="2025744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 2"/>
              <a:buNone/>
            </a:pPr>
            <a:r>
              <a:rPr lang="zh-CN" altLang="en-US" sz="3200" dirty="0"/>
              <a:t>生存期：将变量的作用域从空间投射到时间，即在程序运行的过程中，变量从产生到消亡的时间段。</a:t>
            </a:r>
          </a:p>
        </p:txBody>
      </p:sp>
      <p:sp>
        <p:nvSpPr>
          <p:cNvPr id="3" name="矩形 2"/>
          <p:cNvSpPr/>
          <p:nvPr/>
        </p:nvSpPr>
        <p:spPr>
          <a:xfrm>
            <a:off x="755576" y="2987242"/>
            <a:ext cx="7200800" cy="108507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 2"/>
              <a:buNone/>
            </a:pPr>
            <a:r>
              <a:rPr lang="zh-CN" altLang="en-US" sz="3200" dirty="0"/>
              <a:t>对象的生存期：就是变量的生存期</a:t>
            </a:r>
          </a:p>
        </p:txBody>
      </p:sp>
    </p:spTree>
    <p:extLst>
      <p:ext uri="{BB962C8B-B14F-4D97-AF65-F5344CB8AC3E}">
        <p14:creationId xmlns:p14="http://schemas.microsoft.com/office/powerpoint/2010/main" val="29682796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对象的生存期</a:t>
            </a:r>
          </a:p>
        </p:txBody>
      </p:sp>
      <p:sp>
        <p:nvSpPr>
          <p:cNvPr id="14340" name="Rectangle 3"/>
          <p:cNvSpPr>
            <a:spLocks noGrp="1" noChangeArrowheads="1"/>
          </p:cNvSpPr>
          <p:nvPr>
            <p:ph idx="1"/>
          </p:nvPr>
        </p:nvSpPr>
        <p:spPr>
          <a:xfrm>
            <a:off x="683568" y="2132856"/>
            <a:ext cx="7239000" cy="3657600"/>
          </a:xfrm>
        </p:spPr>
        <p:txBody>
          <a:bodyPr/>
          <a:lstStyle/>
          <a:p>
            <a:pPr marL="0" indent="742950"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zh-CN" altLang="en-US" dirty="0">
                <a:latin typeface="Times New Roman" pitchFamily="18" charset="0"/>
              </a:rPr>
              <a:t>对象从产生到结束的这段时间就是它的生存期。</a:t>
            </a:r>
            <a:r>
              <a:rPr lang="zh-CN" altLang="en-US" dirty="0"/>
              <a:t>在对象生存期内，对象将保持它的值，以及被更新。</a:t>
            </a:r>
          </a:p>
        </p:txBody>
      </p:sp>
      <p:sp>
        <p:nvSpPr>
          <p:cNvPr id="1433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E8674F24-B2AF-4563-8DF2-51558DC153BF}" type="slidenum">
              <a:rPr lang="en-US" altLang="zh-CN" sz="1400" smtClean="0"/>
              <a:pPr/>
              <a:t>24</a:t>
            </a:fld>
            <a:endParaRPr lang="en-US" altLang="zh-CN" sz="1400"/>
          </a:p>
        </p:txBody>
      </p:sp>
    </p:spTree>
    <p:extLst>
      <p:ext uri="{BB962C8B-B14F-4D97-AF65-F5344CB8AC3E}">
        <p14:creationId xmlns:p14="http://schemas.microsoft.com/office/powerpoint/2010/main" val="7486610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静态生存期</a:t>
            </a:r>
          </a:p>
        </p:txBody>
      </p:sp>
      <p:sp>
        <p:nvSpPr>
          <p:cNvPr id="15364" name="Rectangle 1027"/>
          <p:cNvSpPr>
            <a:spLocks noGrp="1" noChangeArrowheads="1"/>
          </p:cNvSpPr>
          <p:nvPr>
            <p:ph idx="1"/>
          </p:nvPr>
        </p:nvSpPr>
        <p:spPr>
          <a:xfrm>
            <a:off x="395536" y="1628800"/>
            <a:ext cx="8507288" cy="2260848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zh-CN" altLang="en-US" dirty="0"/>
              <a:t>这种生存期与程序的运行期相同。</a:t>
            </a:r>
          </a:p>
          <a:p>
            <a:pPr lvl="1"/>
            <a:r>
              <a:rPr lang="zh-CN" altLang="en-US" dirty="0"/>
              <a:t>全局变量：在文件作用域中声明的对象具有静态生存期。</a:t>
            </a:r>
          </a:p>
          <a:p>
            <a:pPr lvl="1"/>
            <a:r>
              <a:rPr lang="en-US" altLang="zh-CN" dirty="0"/>
              <a:t>static</a:t>
            </a:r>
            <a:r>
              <a:rPr lang="zh-CN" altLang="en-US" dirty="0"/>
              <a:t>变量：在函数内部声明静态生存期对象，要冠以关键字</a:t>
            </a:r>
            <a:r>
              <a:rPr lang="en-US" altLang="zh-CN" dirty="0">
                <a:solidFill>
                  <a:schemeClr val="tx2"/>
                </a:solidFill>
              </a:rPr>
              <a:t>static</a:t>
            </a:r>
            <a:r>
              <a:rPr lang="en-US" altLang="zh-CN" dirty="0"/>
              <a:t> </a:t>
            </a:r>
            <a:r>
              <a:rPr lang="zh-CN" altLang="en-US" dirty="0"/>
              <a:t>。</a:t>
            </a:r>
          </a:p>
        </p:txBody>
      </p:sp>
      <p:sp>
        <p:nvSpPr>
          <p:cNvPr id="1536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76910E3F-1113-45F9-830C-7A9BA2D5D085}" type="slidenum">
              <a:rPr lang="en-US" altLang="zh-CN" sz="1400" smtClean="0"/>
              <a:pPr/>
              <a:t>25</a:t>
            </a:fld>
            <a:endParaRPr lang="en-US" altLang="zh-CN" sz="1400"/>
          </a:p>
        </p:txBody>
      </p:sp>
    </p:spTree>
    <p:extLst>
      <p:ext uri="{BB962C8B-B14F-4D97-AF65-F5344CB8AC3E}">
        <p14:creationId xmlns:p14="http://schemas.microsoft.com/office/powerpoint/2010/main" val="41404291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9" name="Rectangle 5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 dirty="0"/>
              <a:t>例：静态生存期</a:t>
            </a:r>
            <a:r>
              <a:rPr lang="en-US" altLang="zh-CN" dirty="0"/>
              <a:t>——</a:t>
            </a:r>
            <a:r>
              <a:rPr lang="zh-CN" altLang="en-US" dirty="0"/>
              <a:t>全局变量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827584" y="1484784"/>
            <a:ext cx="7056784" cy="3600400"/>
          </a:xfr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/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zh-CN" dirty="0">
                <a:latin typeface="宋体" charset="-122"/>
              </a:rPr>
              <a:t>#include&lt;</a:t>
            </a:r>
            <a:r>
              <a:rPr lang="en-US" altLang="zh-CN" dirty="0" err="1">
                <a:latin typeface="宋体" charset="-122"/>
              </a:rPr>
              <a:t>iostream</a:t>
            </a:r>
            <a:r>
              <a:rPr lang="en-US" altLang="zh-CN" dirty="0">
                <a:latin typeface="宋体" charset="-122"/>
              </a:rPr>
              <a:t>&gt;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zh-CN" dirty="0">
                <a:latin typeface="宋体" charset="-122"/>
              </a:rPr>
              <a:t>using namespace </a:t>
            </a:r>
            <a:r>
              <a:rPr lang="en-US" altLang="zh-CN" dirty="0" err="1">
                <a:latin typeface="宋体" charset="-122"/>
              </a:rPr>
              <a:t>std</a:t>
            </a:r>
            <a:r>
              <a:rPr lang="en-US" altLang="zh-CN" dirty="0">
                <a:latin typeface="宋体" charset="-122"/>
              </a:rPr>
              <a:t>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zh-CN" dirty="0" err="1">
                <a:latin typeface="宋体" charset="-122"/>
              </a:rPr>
              <a:t>int</a:t>
            </a:r>
            <a:r>
              <a:rPr lang="en-US" altLang="zh-CN" dirty="0">
                <a:latin typeface="宋体" charset="-122"/>
              </a:rPr>
              <a:t> </a:t>
            </a:r>
            <a:r>
              <a:rPr lang="en-US" altLang="zh-CN" dirty="0" err="1">
                <a:solidFill>
                  <a:schemeClr val="tx2"/>
                </a:solidFill>
                <a:latin typeface="宋体" charset="-122"/>
              </a:rPr>
              <a:t>i</a:t>
            </a:r>
            <a:r>
              <a:rPr lang="en-US" altLang="zh-CN" dirty="0">
                <a:latin typeface="宋体" charset="-122"/>
              </a:rPr>
              <a:t>=5; 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zh-CN" dirty="0" err="1">
                <a:latin typeface="宋体" charset="-122"/>
              </a:rPr>
              <a:t>int</a:t>
            </a:r>
            <a:r>
              <a:rPr lang="en-US" altLang="zh-CN" dirty="0">
                <a:latin typeface="宋体" charset="-122"/>
              </a:rPr>
              <a:t> main()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zh-CN" dirty="0">
                <a:latin typeface="宋体" charset="-122"/>
              </a:rPr>
              <a:t>{  </a:t>
            </a:r>
            <a:r>
              <a:rPr lang="en-US" altLang="zh-CN" dirty="0" err="1">
                <a:latin typeface="宋体" charset="-122"/>
              </a:rPr>
              <a:t>cout</a:t>
            </a:r>
            <a:r>
              <a:rPr lang="en-US" altLang="zh-CN" dirty="0">
                <a:latin typeface="宋体" charset="-122"/>
              </a:rPr>
              <a:t>&lt;&lt;"</a:t>
            </a:r>
            <a:r>
              <a:rPr lang="en-US" altLang="zh-CN" dirty="0" err="1">
                <a:latin typeface="宋体" charset="-122"/>
              </a:rPr>
              <a:t>i</a:t>
            </a:r>
            <a:r>
              <a:rPr lang="en-US" altLang="zh-CN" dirty="0">
                <a:latin typeface="宋体" charset="-122"/>
              </a:rPr>
              <a:t>="&lt;&lt;</a:t>
            </a:r>
            <a:r>
              <a:rPr lang="en-US" altLang="zh-CN" dirty="0" err="1">
                <a:solidFill>
                  <a:schemeClr val="tx2"/>
                </a:solidFill>
                <a:latin typeface="宋体" charset="-122"/>
              </a:rPr>
              <a:t>i</a:t>
            </a:r>
            <a:r>
              <a:rPr lang="en-US" altLang="zh-CN" dirty="0">
                <a:latin typeface="宋体" charset="-122"/>
              </a:rPr>
              <a:t>&lt;&lt;</a:t>
            </a:r>
            <a:r>
              <a:rPr lang="en-US" altLang="zh-CN" dirty="0" err="1">
                <a:latin typeface="宋体" charset="-122"/>
              </a:rPr>
              <a:t>endl</a:t>
            </a:r>
            <a:r>
              <a:rPr lang="en-US" altLang="zh-CN" dirty="0">
                <a:latin typeface="宋体" charset="-122"/>
              </a:rPr>
              <a:t>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zh-CN" dirty="0">
                <a:latin typeface="宋体" charset="-122"/>
              </a:rPr>
              <a:t>   return 0;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zh-CN" dirty="0">
                <a:latin typeface="宋体" charset="-122"/>
              </a:rPr>
              <a:t>}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US" altLang="zh-CN" dirty="0">
              <a:latin typeface="宋体" charset="-122"/>
            </a:endParaRPr>
          </a:p>
        </p:txBody>
      </p:sp>
      <p:sp>
        <p:nvSpPr>
          <p:cNvPr id="1638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86D62092-F5F6-4120-81DF-0CAFD14DEBEB}" type="slidenum">
              <a:rPr lang="en-US" altLang="zh-CN" sz="1400" smtClean="0"/>
              <a:pPr/>
              <a:t>26</a:t>
            </a:fld>
            <a:endParaRPr lang="en-US" altLang="zh-CN" sz="1400"/>
          </a:p>
        </p:txBody>
      </p:sp>
      <p:sp>
        <p:nvSpPr>
          <p:cNvPr id="2" name="矩形 1"/>
          <p:cNvSpPr/>
          <p:nvPr/>
        </p:nvSpPr>
        <p:spPr>
          <a:xfrm>
            <a:off x="4607023" y="2359902"/>
            <a:ext cx="1723549" cy="4247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pPr marL="0" lvl="1">
              <a:lnSpc>
                <a:spcPct val="90000"/>
              </a:lnSpc>
            </a:pPr>
            <a:r>
              <a:rPr lang="zh-CN" altLang="en-US" sz="2400" dirty="0">
                <a:solidFill>
                  <a:schemeClr val="tx2"/>
                </a:solidFill>
                <a:latin typeface="宋体" charset="-122"/>
              </a:rPr>
              <a:t>文件作用域</a:t>
            </a:r>
            <a:endParaRPr lang="en-US" altLang="en-US" sz="2400" dirty="0">
              <a:latin typeface="宋体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588224" y="2371966"/>
            <a:ext cx="1980029" cy="4801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pPr marL="0" lvl="1">
              <a:lnSpc>
                <a:spcPct val="90000"/>
              </a:lnSpc>
            </a:pPr>
            <a:r>
              <a:rPr lang="zh-CN" altLang="en-US" sz="2800" dirty="0">
                <a:solidFill>
                  <a:schemeClr val="tx2"/>
                </a:solidFill>
                <a:latin typeface="宋体" charset="-122"/>
              </a:rPr>
              <a:t>静态生存期</a:t>
            </a:r>
            <a:endParaRPr lang="zh-CN" altLang="en-US" sz="2800" dirty="0">
              <a:latin typeface="宋体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644008" y="2860252"/>
            <a:ext cx="1415772" cy="4247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pPr marL="0" lvl="1">
              <a:lnSpc>
                <a:spcPct val="90000"/>
              </a:lnSpc>
            </a:pPr>
            <a:r>
              <a:rPr lang="zh-CN" altLang="en-US" sz="2400" dirty="0">
                <a:latin typeface="宋体" charset="-122"/>
              </a:rPr>
              <a:t>全局变量</a:t>
            </a:r>
            <a:endParaRPr lang="en-US" altLang="en-US" sz="2400" dirty="0">
              <a:latin typeface="宋体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899592" y="5805264"/>
            <a:ext cx="6912768" cy="504056"/>
            <a:chOff x="899592" y="5805264"/>
            <a:chExt cx="6912768" cy="504056"/>
          </a:xfrm>
        </p:grpSpPr>
        <p:sp>
          <p:nvSpPr>
            <p:cNvPr id="9" name="圆角矩形 8"/>
            <p:cNvSpPr/>
            <p:nvPr/>
          </p:nvSpPr>
          <p:spPr>
            <a:xfrm>
              <a:off x="899592" y="5805264"/>
              <a:ext cx="6912768" cy="504056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/>
          </p:nvSpPr>
          <p:spPr>
            <a:xfrm>
              <a:off x="3275856" y="5877272"/>
              <a:ext cx="2031325" cy="313932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none">
              <a:spAutoFit/>
            </a:bodyPr>
            <a:lstStyle/>
            <a:p>
              <a:pPr marL="0" lvl="1">
                <a:lnSpc>
                  <a:spcPct val="90000"/>
                </a:lnSpc>
              </a:pPr>
              <a:r>
                <a:rPr lang="zh-CN" altLang="en-US" sz="1600" dirty="0">
                  <a:solidFill>
                    <a:schemeClr val="tx2"/>
                  </a:solidFill>
                  <a:latin typeface="宋体" charset="-122"/>
                </a:rPr>
                <a:t>程序</a:t>
              </a:r>
              <a:r>
                <a:rPr lang="en-US" altLang="zh-CN" sz="1600" dirty="0">
                  <a:solidFill>
                    <a:schemeClr val="tx2"/>
                  </a:solidFill>
                  <a:latin typeface="宋体" charset="-122"/>
                </a:rPr>
                <a:t>(main)</a:t>
              </a:r>
              <a:r>
                <a:rPr lang="zh-CN" altLang="en-US" sz="1600" dirty="0">
                  <a:solidFill>
                    <a:schemeClr val="tx2"/>
                  </a:solidFill>
                  <a:latin typeface="宋体" charset="-122"/>
                </a:rPr>
                <a:t>运行时间</a:t>
              </a:r>
              <a:endParaRPr lang="zh-CN" altLang="en-US" sz="1600" dirty="0">
                <a:latin typeface="宋体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899592" y="5275308"/>
            <a:ext cx="6912768" cy="457948"/>
            <a:chOff x="899592" y="5275308"/>
            <a:chExt cx="6912768" cy="457948"/>
          </a:xfrm>
        </p:grpSpPr>
        <p:sp>
          <p:nvSpPr>
            <p:cNvPr id="14" name="圆角矩形 13"/>
            <p:cNvSpPr/>
            <p:nvPr/>
          </p:nvSpPr>
          <p:spPr>
            <a:xfrm>
              <a:off x="899592" y="5275308"/>
              <a:ext cx="6912768" cy="457948"/>
            </a:xfrm>
            <a:prstGeom prst="round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/>
          </p:nvSpPr>
          <p:spPr>
            <a:xfrm>
              <a:off x="3556088" y="5347316"/>
              <a:ext cx="1519968" cy="313932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txBody>
            <a:bodyPr wrap="none">
              <a:spAutoFit/>
            </a:bodyPr>
            <a:lstStyle/>
            <a:p>
              <a:pPr marL="0" lvl="1">
                <a:lnSpc>
                  <a:spcPct val="90000"/>
                </a:lnSpc>
              </a:pPr>
              <a:r>
                <a:rPr lang="zh-CN" altLang="en-US" sz="1600" dirty="0">
                  <a:solidFill>
                    <a:schemeClr val="tx2"/>
                  </a:solidFill>
                  <a:latin typeface="宋体" charset="-122"/>
                </a:rPr>
                <a:t>变量</a:t>
              </a:r>
              <a:r>
                <a:rPr lang="en-US" altLang="zh-CN" sz="1600" dirty="0" err="1">
                  <a:solidFill>
                    <a:schemeClr val="tx2"/>
                  </a:solidFill>
                  <a:latin typeface="宋体" charset="-122"/>
                </a:rPr>
                <a:t>i</a:t>
              </a:r>
              <a:r>
                <a:rPr lang="zh-CN" altLang="en-US" sz="1600" dirty="0">
                  <a:solidFill>
                    <a:schemeClr val="tx2"/>
                  </a:solidFill>
                  <a:latin typeface="宋体" charset="-122"/>
                </a:rPr>
                <a:t>的生存期</a:t>
              </a:r>
            </a:p>
          </p:txBody>
        </p:sp>
      </p:grpSp>
      <p:cxnSp>
        <p:nvCxnSpPr>
          <p:cNvPr id="17" name="直接箭头连接符 16"/>
          <p:cNvCxnSpPr/>
          <p:nvPr/>
        </p:nvCxnSpPr>
        <p:spPr>
          <a:xfrm>
            <a:off x="323528" y="6381328"/>
            <a:ext cx="8424936" cy="0"/>
          </a:xfrm>
          <a:prstGeom prst="straightConnector1">
            <a:avLst/>
          </a:prstGeom>
          <a:ln w="38100">
            <a:solidFill>
              <a:schemeClr val="tx2">
                <a:lumMod val="90000"/>
                <a:lumOff val="1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2087724" y="2852936"/>
            <a:ext cx="2160240" cy="1008112"/>
            <a:chOff x="2087724" y="2852936"/>
            <a:chExt cx="2160240" cy="1008112"/>
          </a:xfrm>
        </p:grpSpPr>
        <p:cxnSp>
          <p:nvCxnSpPr>
            <p:cNvPr id="7" name="直接连接符 6"/>
            <p:cNvCxnSpPr/>
            <p:nvPr/>
          </p:nvCxnSpPr>
          <p:spPr>
            <a:xfrm>
              <a:off x="2087724" y="2852936"/>
              <a:ext cx="180020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>
              <a:off x="4067944" y="3861048"/>
              <a:ext cx="180020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02682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11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8" name="Rectangle 6"/>
          <p:cNvSpPr>
            <a:spLocks noGrp="1" noChangeArrowheads="1"/>
          </p:cNvSpPr>
          <p:nvPr>
            <p:ph type="title"/>
          </p:nvPr>
        </p:nvSpPr>
        <p:spPr>
          <a:xfrm>
            <a:off x="323528" y="260648"/>
            <a:ext cx="8291264" cy="720080"/>
          </a:xfrm>
          <a:noFill/>
        </p:spPr>
        <p:txBody>
          <a:bodyPr>
            <a:normAutofit fontScale="90000"/>
          </a:bodyPr>
          <a:lstStyle/>
          <a:p>
            <a:pPr eaLnBrk="1" hangingPunct="1"/>
            <a:r>
              <a:rPr lang="zh-CN" altLang="en-US" dirty="0"/>
              <a:t>例：静态生存期</a:t>
            </a:r>
            <a:r>
              <a:rPr lang="en-US" altLang="zh-CN" dirty="0"/>
              <a:t>——static</a:t>
            </a:r>
            <a:r>
              <a:rPr lang="zh-CN" altLang="en-US" dirty="0"/>
              <a:t>变量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35496" y="1052736"/>
            <a:ext cx="3672408" cy="2664296"/>
          </a:xfrm>
          <a:solidFill>
            <a:schemeClr val="bg2">
              <a:lumMod val="90000"/>
            </a:schemeClr>
          </a:solidFill>
        </p:spPr>
        <p:txBody>
          <a:bodyPr>
            <a:normAutofit lnSpcReduction="10000"/>
          </a:bodyPr>
          <a:lstStyle/>
          <a:p>
            <a:pPr marL="88900" lvl="1" indent="-26988" eaLnBrk="1" hangingPunct="1">
              <a:lnSpc>
                <a:spcPct val="65000"/>
              </a:lnSpc>
              <a:buFontTx/>
              <a:buNone/>
            </a:pPr>
            <a:r>
              <a:rPr lang="en-US" altLang="zh-CN" dirty="0">
                <a:latin typeface="宋体" charset="-122"/>
              </a:rPr>
              <a:t>#include &lt;</a:t>
            </a:r>
            <a:r>
              <a:rPr lang="en-US" altLang="zh-CN" dirty="0" err="1">
                <a:latin typeface="宋体" charset="-122"/>
              </a:rPr>
              <a:t>iostream</a:t>
            </a:r>
            <a:r>
              <a:rPr lang="en-US" altLang="zh-CN" dirty="0">
                <a:latin typeface="宋体" charset="-122"/>
              </a:rPr>
              <a:t>&gt;</a:t>
            </a:r>
          </a:p>
          <a:p>
            <a:pPr marL="88900" lvl="1" indent="-26988" eaLnBrk="1" hangingPunct="1">
              <a:lnSpc>
                <a:spcPct val="65000"/>
              </a:lnSpc>
              <a:buFontTx/>
              <a:buNone/>
            </a:pPr>
            <a:r>
              <a:rPr lang="en-US" altLang="zh-CN" dirty="0">
                <a:latin typeface="宋体" charset="-122"/>
              </a:rPr>
              <a:t>using namespace </a:t>
            </a:r>
            <a:r>
              <a:rPr lang="en-US" altLang="zh-CN" dirty="0" err="1">
                <a:latin typeface="宋体" charset="-122"/>
              </a:rPr>
              <a:t>std</a:t>
            </a:r>
            <a:r>
              <a:rPr lang="en-US" altLang="zh-CN" dirty="0">
                <a:latin typeface="宋体" charset="-122"/>
              </a:rPr>
              <a:t>;</a:t>
            </a:r>
          </a:p>
          <a:p>
            <a:pPr marL="88900" lvl="1" indent="-26988" eaLnBrk="1" hangingPunct="1">
              <a:lnSpc>
                <a:spcPct val="65000"/>
              </a:lnSpc>
              <a:buFontTx/>
              <a:buNone/>
            </a:pPr>
            <a:r>
              <a:rPr lang="en-US" altLang="zh-CN" dirty="0">
                <a:latin typeface="宋体" charset="-122"/>
              </a:rPr>
              <a:t>void fun();</a:t>
            </a:r>
          </a:p>
          <a:p>
            <a:pPr marL="88900" lvl="1" indent="-26988" eaLnBrk="1" hangingPunct="1">
              <a:lnSpc>
                <a:spcPct val="65000"/>
              </a:lnSpc>
              <a:buFontTx/>
              <a:buNone/>
            </a:pPr>
            <a:r>
              <a:rPr lang="en-US" altLang="zh-CN" dirty="0" err="1">
                <a:latin typeface="宋体" charset="-122"/>
              </a:rPr>
              <a:t>int</a:t>
            </a:r>
            <a:r>
              <a:rPr lang="en-US" altLang="zh-CN" dirty="0">
                <a:latin typeface="宋体" charset="-122"/>
              </a:rPr>
              <a:t> main()</a:t>
            </a:r>
          </a:p>
          <a:p>
            <a:pPr marL="88900" lvl="1" indent="-26988" eaLnBrk="1" hangingPunct="1">
              <a:lnSpc>
                <a:spcPct val="65000"/>
              </a:lnSpc>
              <a:buFontTx/>
              <a:buNone/>
            </a:pPr>
            <a:r>
              <a:rPr lang="en-US" altLang="zh-CN" dirty="0">
                <a:latin typeface="宋体" charset="-122"/>
              </a:rPr>
              <a:t>{ fun();</a:t>
            </a:r>
          </a:p>
          <a:p>
            <a:pPr marL="88900" lvl="1" indent="-26988" eaLnBrk="1" hangingPunct="1">
              <a:lnSpc>
                <a:spcPct val="65000"/>
              </a:lnSpc>
              <a:buFontTx/>
              <a:buNone/>
            </a:pPr>
            <a:r>
              <a:rPr lang="en-US" altLang="zh-CN" dirty="0">
                <a:latin typeface="宋体" charset="-122"/>
              </a:rPr>
              <a:t>  fun();</a:t>
            </a:r>
          </a:p>
          <a:p>
            <a:pPr marL="88900" lvl="1" indent="-26988" eaLnBrk="1" hangingPunct="1">
              <a:lnSpc>
                <a:spcPct val="65000"/>
              </a:lnSpc>
              <a:buFontTx/>
              <a:buNone/>
            </a:pPr>
            <a:r>
              <a:rPr lang="en-US" altLang="zh-CN" dirty="0">
                <a:latin typeface="宋体" charset="-122"/>
              </a:rPr>
              <a:t>	  return 0;</a:t>
            </a:r>
          </a:p>
          <a:p>
            <a:pPr marL="88900" lvl="1" indent="-26988" eaLnBrk="1" hangingPunct="1">
              <a:lnSpc>
                <a:spcPct val="65000"/>
              </a:lnSpc>
              <a:buFontTx/>
              <a:buNone/>
            </a:pPr>
            <a:r>
              <a:rPr lang="en-US" altLang="zh-CN" dirty="0">
                <a:latin typeface="宋体" charset="-122"/>
              </a:rPr>
              <a:t>}</a:t>
            </a:r>
          </a:p>
        </p:txBody>
      </p:sp>
      <p:sp>
        <p:nvSpPr>
          <p:cNvPr id="18434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193160" y="6356350"/>
            <a:ext cx="2133600" cy="3651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445B49E7-88B1-4097-8722-D65D2E32F975}" type="slidenum">
              <a:rPr lang="en-US" altLang="zh-CN" sz="1400" smtClean="0"/>
              <a:pPr/>
              <a:t>27</a:t>
            </a:fld>
            <a:endParaRPr lang="en-US" altLang="zh-CN" sz="1400"/>
          </a:p>
        </p:txBody>
      </p:sp>
      <p:sp>
        <p:nvSpPr>
          <p:cNvPr id="2" name="矩形 1"/>
          <p:cNvSpPr/>
          <p:nvPr/>
        </p:nvSpPr>
        <p:spPr>
          <a:xfrm>
            <a:off x="3779912" y="1052736"/>
            <a:ext cx="3312368" cy="313008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vert="horz" rtlCol="0">
            <a:normAutofit lnSpcReduction="10000"/>
          </a:bodyPr>
          <a:lstStyle/>
          <a:p>
            <a:pPr marL="88900" lvl="1" indent="-26988">
              <a:lnSpc>
                <a:spcPct val="65000"/>
              </a:lnSpc>
              <a:spcBef>
                <a:spcPct val="20000"/>
              </a:spcBef>
              <a:buClr>
                <a:schemeClr val="accent2"/>
              </a:buClr>
              <a:buSzPct val="50000"/>
            </a:pPr>
            <a:r>
              <a:rPr lang="en-US" altLang="zh-CN" sz="2800" dirty="0">
                <a:latin typeface="宋体" charset="-122"/>
              </a:rPr>
              <a:t>void fun()</a:t>
            </a:r>
          </a:p>
          <a:p>
            <a:pPr marL="88900" lvl="1" indent="-26988">
              <a:lnSpc>
                <a:spcPct val="65000"/>
              </a:lnSpc>
              <a:spcBef>
                <a:spcPct val="20000"/>
              </a:spcBef>
              <a:buClr>
                <a:schemeClr val="accent2"/>
              </a:buClr>
              <a:buSzPct val="50000"/>
            </a:pPr>
            <a:r>
              <a:rPr lang="en-US" altLang="zh-CN" sz="2800" dirty="0">
                <a:latin typeface="宋体" charset="-122"/>
              </a:rPr>
              <a:t>{ static </a:t>
            </a:r>
            <a:r>
              <a:rPr lang="en-US" altLang="zh-CN" sz="2800" dirty="0" err="1">
                <a:latin typeface="宋体" charset="-122"/>
              </a:rPr>
              <a:t>int</a:t>
            </a:r>
            <a:r>
              <a:rPr lang="en-US" altLang="zh-CN" sz="2800" dirty="0">
                <a:latin typeface="宋体" charset="-122"/>
              </a:rPr>
              <a:t> a=1;</a:t>
            </a:r>
          </a:p>
          <a:p>
            <a:pPr marL="88900" lvl="1" indent="-26988">
              <a:lnSpc>
                <a:spcPct val="65000"/>
              </a:lnSpc>
              <a:spcBef>
                <a:spcPct val="20000"/>
              </a:spcBef>
              <a:buClr>
                <a:schemeClr val="accent2"/>
              </a:buClr>
              <a:buSzPct val="50000"/>
            </a:pPr>
            <a:r>
              <a:rPr lang="en-US" altLang="zh-CN" sz="2800" dirty="0">
                <a:latin typeface="宋体" charset="-122"/>
              </a:rPr>
              <a:t>  </a:t>
            </a:r>
            <a:r>
              <a:rPr lang="en-US" altLang="zh-CN" sz="2800" dirty="0" err="1">
                <a:latin typeface="宋体" charset="-122"/>
              </a:rPr>
              <a:t>int</a:t>
            </a:r>
            <a:r>
              <a:rPr lang="en-US" altLang="zh-CN" sz="2800" dirty="0">
                <a:latin typeface="宋体" charset="-122"/>
              </a:rPr>
              <a:t> </a:t>
            </a:r>
            <a:r>
              <a:rPr lang="en-US" altLang="zh-CN" sz="2800" dirty="0" err="1">
                <a:latin typeface="宋体" charset="-122"/>
              </a:rPr>
              <a:t>i</a:t>
            </a:r>
            <a:r>
              <a:rPr lang="en-US" altLang="zh-CN" sz="2800" dirty="0">
                <a:latin typeface="宋体" charset="-122"/>
              </a:rPr>
              <a:t>=5;</a:t>
            </a:r>
          </a:p>
          <a:p>
            <a:pPr marL="88900" lvl="1" indent="-26988">
              <a:lnSpc>
                <a:spcPct val="65000"/>
              </a:lnSpc>
              <a:spcBef>
                <a:spcPct val="20000"/>
              </a:spcBef>
              <a:buClr>
                <a:schemeClr val="accent2"/>
              </a:buClr>
              <a:buSzPct val="50000"/>
            </a:pPr>
            <a:r>
              <a:rPr lang="en-US" altLang="zh-CN" sz="2800" dirty="0">
                <a:latin typeface="宋体" charset="-122"/>
              </a:rPr>
              <a:t>  a++;</a:t>
            </a:r>
          </a:p>
          <a:p>
            <a:pPr marL="88900" lvl="1" indent="-26988">
              <a:lnSpc>
                <a:spcPct val="65000"/>
              </a:lnSpc>
              <a:spcBef>
                <a:spcPct val="20000"/>
              </a:spcBef>
              <a:buClr>
                <a:schemeClr val="accent2"/>
              </a:buClr>
              <a:buSzPct val="50000"/>
            </a:pPr>
            <a:r>
              <a:rPr lang="en-US" altLang="zh-CN" sz="2800" dirty="0">
                <a:latin typeface="宋体" charset="-122"/>
              </a:rPr>
              <a:t>  </a:t>
            </a:r>
            <a:r>
              <a:rPr lang="en-US" altLang="zh-CN" sz="2800" dirty="0" err="1">
                <a:latin typeface="宋体" charset="-122"/>
              </a:rPr>
              <a:t>i</a:t>
            </a:r>
            <a:r>
              <a:rPr lang="en-US" altLang="zh-CN" sz="2800" dirty="0">
                <a:latin typeface="宋体" charset="-122"/>
              </a:rPr>
              <a:t>++;</a:t>
            </a:r>
          </a:p>
          <a:p>
            <a:pPr marL="88900" lvl="1" indent="-26988">
              <a:lnSpc>
                <a:spcPct val="65000"/>
              </a:lnSpc>
              <a:spcBef>
                <a:spcPct val="20000"/>
              </a:spcBef>
              <a:buClr>
                <a:schemeClr val="accent2"/>
              </a:buClr>
              <a:buSzPct val="50000"/>
            </a:pPr>
            <a:r>
              <a:rPr lang="en-US" altLang="zh-CN" sz="2800" dirty="0">
                <a:latin typeface="宋体" charset="-122"/>
              </a:rPr>
              <a:t>	  </a:t>
            </a:r>
            <a:r>
              <a:rPr lang="en-US" altLang="zh-CN" sz="2800" dirty="0" err="1">
                <a:latin typeface="宋体" charset="-122"/>
              </a:rPr>
              <a:t>cout</a:t>
            </a:r>
            <a:r>
              <a:rPr lang="en-US" altLang="zh-CN" sz="2800" dirty="0">
                <a:latin typeface="宋体" charset="-122"/>
              </a:rPr>
              <a:t>&lt;&lt;"</a:t>
            </a:r>
            <a:r>
              <a:rPr lang="en-US" altLang="zh-CN" sz="2800" dirty="0" err="1">
                <a:latin typeface="宋体" charset="-122"/>
              </a:rPr>
              <a:t>i</a:t>
            </a:r>
            <a:r>
              <a:rPr lang="en-US" altLang="zh-CN" sz="2800" dirty="0">
                <a:latin typeface="宋体" charset="-122"/>
              </a:rPr>
              <a:t>="&lt;&lt;</a:t>
            </a:r>
            <a:r>
              <a:rPr lang="en-US" altLang="zh-CN" sz="2800" dirty="0" err="1">
                <a:latin typeface="宋体" charset="-122"/>
              </a:rPr>
              <a:t>i</a:t>
            </a:r>
            <a:endParaRPr lang="en-US" altLang="zh-CN" sz="2800" dirty="0">
              <a:latin typeface="宋体" charset="-122"/>
            </a:endParaRPr>
          </a:p>
          <a:p>
            <a:pPr marL="88900" lvl="1" indent="-26988">
              <a:lnSpc>
                <a:spcPct val="65000"/>
              </a:lnSpc>
              <a:spcBef>
                <a:spcPct val="20000"/>
              </a:spcBef>
              <a:buClr>
                <a:schemeClr val="accent2"/>
              </a:buClr>
              <a:buSzPct val="50000"/>
            </a:pPr>
            <a:r>
              <a:rPr lang="en-US" altLang="zh-CN" sz="2800" dirty="0">
                <a:latin typeface="宋体" charset="-122"/>
              </a:rPr>
              <a:t>      &lt;&lt;",a="&lt;&lt;a</a:t>
            </a:r>
          </a:p>
          <a:p>
            <a:pPr marL="88900" lvl="1" indent="-26988">
              <a:lnSpc>
                <a:spcPct val="65000"/>
              </a:lnSpc>
              <a:spcBef>
                <a:spcPct val="20000"/>
              </a:spcBef>
              <a:buClr>
                <a:schemeClr val="accent2"/>
              </a:buClr>
              <a:buSzPct val="50000"/>
            </a:pPr>
            <a:r>
              <a:rPr lang="en-US" altLang="zh-CN" sz="2800" dirty="0">
                <a:latin typeface="宋体" charset="-122"/>
              </a:rPr>
              <a:t>      &lt;&lt;</a:t>
            </a:r>
            <a:r>
              <a:rPr lang="en-US" altLang="zh-CN" sz="2800" dirty="0" err="1">
                <a:latin typeface="宋体" charset="-122"/>
              </a:rPr>
              <a:t>endl</a:t>
            </a:r>
            <a:r>
              <a:rPr lang="en-US" altLang="zh-CN" sz="2800" dirty="0">
                <a:latin typeface="宋体" charset="-122"/>
              </a:rPr>
              <a:t>;</a:t>
            </a:r>
          </a:p>
          <a:p>
            <a:pPr marL="88900" lvl="1" indent="-26988">
              <a:lnSpc>
                <a:spcPct val="65000"/>
              </a:lnSpc>
              <a:spcBef>
                <a:spcPct val="20000"/>
              </a:spcBef>
              <a:buClr>
                <a:schemeClr val="accent2"/>
              </a:buClr>
              <a:buSzPct val="50000"/>
            </a:pPr>
            <a:r>
              <a:rPr lang="en-US" altLang="zh-CN" sz="2800" dirty="0">
                <a:latin typeface="宋体" charset="-122"/>
              </a:rPr>
              <a:t>}</a:t>
            </a:r>
          </a:p>
        </p:txBody>
      </p:sp>
      <p:sp>
        <p:nvSpPr>
          <p:cNvPr id="18436" name="Text Box 4"/>
          <p:cNvSpPr txBox="1">
            <a:spLocks noChangeArrowheads="1"/>
          </p:cNvSpPr>
          <p:nvPr/>
        </p:nvSpPr>
        <p:spPr bwMode="auto">
          <a:xfrm>
            <a:off x="6948264" y="2366942"/>
            <a:ext cx="2088232" cy="1410643"/>
          </a:xfrm>
          <a:prstGeom prst="rect">
            <a:avLst/>
          </a:prstGeom>
          <a:solidFill>
            <a:srgbClr val="66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ts val="100"/>
              </a:spcBef>
            </a:pPr>
            <a:r>
              <a:rPr lang="zh-CN" altLang="en-US" sz="2800" dirty="0">
                <a:latin typeface="宋体" charset="-122"/>
              </a:rPr>
              <a:t>运行结果：</a:t>
            </a:r>
          </a:p>
          <a:p>
            <a:pPr eaLnBrk="1" hangingPunct="1">
              <a:spcBef>
                <a:spcPts val="100"/>
              </a:spcBef>
            </a:pPr>
            <a:r>
              <a:rPr lang="en-US" altLang="zh-CN" sz="2800" dirty="0" err="1">
                <a:latin typeface="宋体" charset="-122"/>
              </a:rPr>
              <a:t>i</a:t>
            </a:r>
            <a:r>
              <a:rPr lang="en-US" altLang="zh-CN" sz="2800" dirty="0">
                <a:latin typeface="宋体" charset="-122"/>
              </a:rPr>
              <a:t>=6, a=2</a:t>
            </a:r>
          </a:p>
          <a:p>
            <a:pPr eaLnBrk="1" hangingPunct="1">
              <a:spcBef>
                <a:spcPts val="100"/>
              </a:spcBef>
            </a:pPr>
            <a:r>
              <a:rPr lang="en-US" altLang="zh-CN" sz="2800" dirty="0" err="1">
                <a:latin typeface="宋体" charset="-122"/>
              </a:rPr>
              <a:t>i</a:t>
            </a:r>
            <a:r>
              <a:rPr lang="en-US" altLang="zh-CN" sz="2800" dirty="0">
                <a:latin typeface="宋体" charset="-122"/>
              </a:rPr>
              <a:t>=6, a=</a:t>
            </a:r>
            <a:r>
              <a:rPr lang="en-US" altLang="zh-CN" sz="2800" b="1" dirty="0">
                <a:solidFill>
                  <a:srgbClr val="FF0000"/>
                </a:solidFill>
                <a:latin typeface="宋体" charset="-122"/>
              </a:rPr>
              <a:t>3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6228184" y="1628800"/>
            <a:ext cx="216024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5004048" y="1988840"/>
            <a:ext cx="216024" cy="0"/>
          </a:xfrm>
          <a:prstGeom prst="line">
            <a:avLst/>
          </a:prstGeom>
          <a:ln w="381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组合 14"/>
          <p:cNvGrpSpPr/>
          <p:nvPr/>
        </p:nvGrpSpPr>
        <p:grpSpPr>
          <a:xfrm>
            <a:off x="5220072" y="1814920"/>
            <a:ext cx="2934072" cy="523220"/>
            <a:chOff x="5220072" y="1814920"/>
            <a:chExt cx="2934072" cy="523220"/>
          </a:xfrm>
        </p:grpSpPr>
        <p:sp>
          <p:nvSpPr>
            <p:cNvPr id="3" name="矩形 2"/>
            <p:cNvSpPr/>
            <p:nvPr/>
          </p:nvSpPr>
          <p:spPr>
            <a:xfrm>
              <a:off x="6030416" y="1814920"/>
              <a:ext cx="2123728" cy="52322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zh-CN" sz="2800" dirty="0">
                  <a:latin typeface="宋体" charset="-122"/>
                </a:rPr>
                <a:t>动态生存期</a:t>
              </a:r>
            </a:p>
          </p:txBody>
        </p:sp>
        <p:cxnSp>
          <p:nvCxnSpPr>
            <p:cNvPr id="8" name="直接箭头连接符 7"/>
            <p:cNvCxnSpPr/>
            <p:nvPr/>
          </p:nvCxnSpPr>
          <p:spPr>
            <a:xfrm flipH="1" flipV="1">
              <a:off x="5220072" y="1988840"/>
              <a:ext cx="810344" cy="87690"/>
            </a:xfrm>
            <a:prstGeom prst="straightConnector1">
              <a:avLst/>
            </a:prstGeom>
            <a:ln w="25400">
              <a:solidFill>
                <a:schemeClr val="accent3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组合 13"/>
          <p:cNvGrpSpPr/>
          <p:nvPr/>
        </p:nvGrpSpPr>
        <p:grpSpPr>
          <a:xfrm>
            <a:off x="6588224" y="980728"/>
            <a:ext cx="2484085" cy="648072"/>
            <a:chOff x="6588224" y="980728"/>
            <a:chExt cx="2484085" cy="648072"/>
          </a:xfrm>
        </p:grpSpPr>
        <p:sp>
          <p:nvSpPr>
            <p:cNvPr id="4" name="矩形 3"/>
            <p:cNvSpPr/>
            <p:nvPr/>
          </p:nvSpPr>
          <p:spPr>
            <a:xfrm>
              <a:off x="7092280" y="980728"/>
              <a:ext cx="1980029" cy="52322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zh-CN" sz="2800" dirty="0">
                  <a:latin typeface="宋体" charset="-122"/>
                </a:rPr>
                <a:t>静态生存期</a:t>
              </a:r>
              <a:endParaRPr lang="zh-CN" altLang="en-US" sz="2800" dirty="0">
                <a:latin typeface="宋体" charset="-122"/>
              </a:endParaRPr>
            </a:p>
          </p:txBody>
        </p:sp>
        <p:cxnSp>
          <p:nvCxnSpPr>
            <p:cNvPr id="10" name="直接箭头连接符 9"/>
            <p:cNvCxnSpPr/>
            <p:nvPr/>
          </p:nvCxnSpPr>
          <p:spPr>
            <a:xfrm flipH="1">
              <a:off x="6588224" y="1184796"/>
              <a:ext cx="504056" cy="444004"/>
            </a:xfrm>
            <a:prstGeom prst="straightConnector1">
              <a:avLst/>
            </a:prstGeom>
            <a:ln w="25400">
              <a:solidFill>
                <a:schemeClr val="accent6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组合 16"/>
          <p:cNvGrpSpPr/>
          <p:nvPr/>
        </p:nvGrpSpPr>
        <p:grpSpPr>
          <a:xfrm>
            <a:off x="251520" y="5923380"/>
            <a:ext cx="6912768" cy="504056"/>
            <a:chOff x="899592" y="5805264"/>
            <a:chExt cx="6912768" cy="504056"/>
          </a:xfrm>
        </p:grpSpPr>
        <p:sp>
          <p:nvSpPr>
            <p:cNvPr id="18" name="圆角矩形 17"/>
            <p:cNvSpPr/>
            <p:nvPr/>
          </p:nvSpPr>
          <p:spPr>
            <a:xfrm>
              <a:off x="899592" y="5805264"/>
              <a:ext cx="6912768" cy="504056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/>
            <p:cNvSpPr/>
            <p:nvPr/>
          </p:nvSpPr>
          <p:spPr>
            <a:xfrm>
              <a:off x="3332763" y="5903172"/>
              <a:ext cx="2031325" cy="313932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none">
              <a:spAutoFit/>
            </a:bodyPr>
            <a:lstStyle/>
            <a:p>
              <a:pPr marL="0" lvl="1">
                <a:lnSpc>
                  <a:spcPct val="90000"/>
                </a:lnSpc>
              </a:pPr>
              <a:r>
                <a:rPr lang="zh-CN" altLang="en-US" sz="1600" dirty="0">
                  <a:solidFill>
                    <a:schemeClr val="tx2"/>
                  </a:solidFill>
                  <a:latin typeface="宋体" charset="-122"/>
                </a:rPr>
                <a:t>程序</a:t>
              </a:r>
              <a:r>
                <a:rPr lang="en-US" altLang="zh-CN" sz="1600" dirty="0">
                  <a:solidFill>
                    <a:schemeClr val="tx2"/>
                  </a:solidFill>
                  <a:latin typeface="宋体" charset="-122"/>
                </a:rPr>
                <a:t>(main)</a:t>
              </a:r>
              <a:r>
                <a:rPr lang="zh-CN" altLang="en-US" sz="1600" dirty="0">
                  <a:solidFill>
                    <a:schemeClr val="tx2"/>
                  </a:solidFill>
                  <a:latin typeface="宋体" charset="-122"/>
                </a:rPr>
                <a:t>运行时间</a:t>
              </a:r>
              <a:endParaRPr lang="zh-CN" altLang="en-US" sz="1600" dirty="0">
                <a:latin typeface="宋体" charset="-122"/>
              </a:endParaRPr>
            </a:p>
          </p:txBody>
        </p:sp>
      </p:grpSp>
      <p:cxnSp>
        <p:nvCxnSpPr>
          <p:cNvPr id="23" name="直接箭头连接符 22"/>
          <p:cNvCxnSpPr/>
          <p:nvPr/>
        </p:nvCxnSpPr>
        <p:spPr>
          <a:xfrm>
            <a:off x="107504" y="6525344"/>
            <a:ext cx="8424936" cy="0"/>
          </a:xfrm>
          <a:prstGeom prst="straightConnector1">
            <a:avLst/>
          </a:prstGeom>
          <a:ln w="38100">
            <a:solidFill>
              <a:schemeClr val="tx2">
                <a:lumMod val="90000"/>
                <a:lumOff val="1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组合 37"/>
          <p:cNvGrpSpPr/>
          <p:nvPr/>
        </p:nvGrpSpPr>
        <p:grpSpPr>
          <a:xfrm>
            <a:off x="251520" y="4437112"/>
            <a:ext cx="6912768" cy="504056"/>
            <a:chOff x="899592" y="4437112"/>
            <a:chExt cx="6912768" cy="504056"/>
          </a:xfrm>
        </p:grpSpPr>
        <p:sp>
          <p:nvSpPr>
            <p:cNvPr id="32" name="圆角矩形 31"/>
            <p:cNvSpPr/>
            <p:nvPr/>
          </p:nvSpPr>
          <p:spPr>
            <a:xfrm>
              <a:off x="899592" y="4437112"/>
              <a:ext cx="6912768" cy="504056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矩形 30"/>
            <p:cNvSpPr/>
            <p:nvPr/>
          </p:nvSpPr>
          <p:spPr>
            <a:xfrm>
              <a:off x="2879812" y="4555228"/>
              <a:ext cx="2772308" cy="313932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square">
              <a:spAutoFit/>
            </a:bodyPr>
            <a:lstStyle/>
            <a:p>
              <a:pPr marL="0" lvl="1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2"/>
                  </a:solidFill>
                  <a:latin typeface="宋体" charset="-122"/>
                </a:rPr>
                <a:t>   static</a:t>
              </a:r>
              <a:r>
                <a:rPr lang="zh-CN" altLang="en-US" sz="1600" dirty="0">
                  <a:solidFill>
                    <a:schemeClr val="tx2"/>
                  </a:solidFill>
                  <a:latin typeface="宋体" charset="-122"/>
                </a:rPr>
                <a:t>变量</a:t>
              </a:r>
              <a:r>
                <a:rPr lang="en-US" altLang="zh-CN" sz="1600" dirty="0">
                  <a:solidFill>
                    <a:schemeClr val="tx2"/>
                  </a:solidFill>
                  <a:latin typeface="宋体" charset="-122"/>
                </a:rPr>
                <a:t>a</a:t>
              </a:r>
              <a:r>
                <a:rPr lang="zh-CN" altLang="en-US" sz="1600" dirty="0">
                  <a:solidFill>
                    <a:schemeClr val="tx2"/>
                  </a:solidFill>
                  <a:latin typeface="宋体" charset="-122"/>
                </a:rPr>
                <a:t>的生存期</a:t>
              </a:r>
              <a:endParaRPr lang="zh-CN" altLang="en-US" sz="1600" dirty="0">
                <a:latin typeface="宋体" charset="-122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251520" y="5013176"/>
            <a:ext cx="3312368" cy="864096"/>
            <a:chOff x="899592" y="5013176"/>
            <a:chExt cx="3312368" cy="864096"/>
          </a:xfrm>
        </p:grpSpPr>
        <p:sp>
          <p:nvSpPr>
            <p:cNvPr id="21" name="圆角矩形 20"/>
            <p:cNvSpPr/>
            <p:nvPr/>
          </p:nvSpPr>
          <p:spPr>
            <a:xfrm>
              <a:off x="899592" y="5013176"/>
              <a:ext cx="3312368" cy="864096"/>
            </a:xfrm>
            <a:prstGeom prst="round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矩形 32"/>
            <p:cNvSpPr/>
            <p:nvPr/>
          </p:nvSpPr>
          <p:spPr>
            <a:xfrm>
              <a:off x="1796594" y="5491332"/>
              <a:ext cx="1518364" cy="313932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txBody>
            <a:bodyPr wrap="none">
              <a:spAutoFit/>
            </a:bodyPr>
            <a:lstStyle/>
            <a:p>
              <a:pPr marL="0" lvl="1">
                <a:lnSpc>
                  <a:spcPct val="90000"/>
                </a:lnSpc>
              </a:pPr>
              <a:r>
                <a:rPr lang="zh-CN" altLang="en-US" sz="1600" dirty="0">
                  <a:solidFill>
                    <a:schemeClr val="tx2"/>
                  </a:solidFill>
                  <a:latin typeface="宋体" charset="-122"/>
                </a:rPr>
                <a:t>变量</a:t>
              </a:r>
              <a:r>
                <a:rPr lang="en-US" altLang="zh-CN" sz="1600" dirty="0">
                  <a:solidFill>
                    <a:schemeClr val="tx2"/>
                  </a:solidFill>
                  <a:latin typeface="宋体" charset="-122"/>
                </a:rPr>
                <a:t>i</a:t>
              </a:r>
              <a:r>
                <a:rPr lang="zh-CN" altLang="en-US" sz="1600" dirty="0">
                  <a:solidFill>
                    <a:schemeClr val="tx2"/>
                  </a:solidFill>
                  <a:latin typeface="宋体" charset="-122"/>
                </a:rPr>
                <a:t>的生存期</a:t>
              </a:r>
              <a:endParaRPr lang="zh-CN" altLang="en-US" sz="1600" dirty="0">
                <a:latin typeface="宋体" charset="-122"/>
              </a:endParaRPr>
            </a:p>
          </p:txBody>
        </p:sp>
        <p:sp>
          <p:nvSpPr>
            <p:cNvPr id="35" name="矩形 34"/>
            <p:cNvSpPr/>
            <p:nvPr/>
          </p:nvSpPr>
          <p:spPr>
            <a:xfrm>
              <a:off x="1763688" y="5085184"/>
              <a:ext cx="1723549" cy="313932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txBody>
            <a:bodyPr wrap="none">
              <a:spAutoFit/>
            </a:bodyPr>
            <a:lstStyle/>
            <a:p>
              <a:pPr marL="0" lvl="1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2"/>
                  </a:solidFill>
                  <a:latin typeface="宋体" charset="-122"/>
                </a:rPr>
                <a:t>fun()</a:t>
              </a:r>
              <a:r>
                <a:rPr lang="zh-CN" altLang="en-US" sz="1600" dirty="0">
                  <a:solidFill>
                    <a:schemeClr val="tx2"/>
                  </a:solidFill>
                  <a:latin typeface="宋体" charset="-122"/>
                </a:rPr>
                <a:t>的运行时间</a:t>
              </a:r>
              <a:endParaRPr lang="zh-CN" altLang="en-US" sz="1600" dirty="0">
                <a:latin typeface="宋体" charset="-122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3635896" y="5013176"/>
            <a:ext cx="3528392" cy="864096"/>
            <a:chOff x="4283968" y="5013176"/>
            <a:chExt cx="3528392" cy="864096"/>
          </a:xfrm>
        </p:grpSpPr>
        <p:sp>
          <p:nvSpPr>
            <p:cNvPr id="25" name="圆角矩形 24"/>
            <p:cNvSpPr/>
            <p:nvPr/>
          </p:nvSpPr>
          <p:spPr>
            <a:xfrm>
              <a:off x="4283968" y="5013176"/>
              <a:ext cx="3528392" cy="864096"/>
            </a:xfrm>
            <a:prstGeom prst="round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矩形 33"/>
            <p:cNvSpPr/>
            <p:nvPr/>
          </p:nvSpPr>
          <p:spPr>
            <a:xfrm>
              <a:off x="5213876" y="5491332"/>
              <a:ext cx="1518364" cy="313932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txBody>
            <a:bodyPr wrap="none">
              <a:spAutoFit/>
            </a:bodyPr>
            <a:lstStyle/>
            <a:p>
              <a:pPr marL="0" lvl="1">
                <a:lnSpc>
                  <a:spcPct val="90000"/>
                </a:lnSpc>
              </a:pPr>
              <a:r>
                <a:rPr lang="zh-CN" altLang="en-US" sz="1600" dirty="0">
                  <a:solidFill>
                    <a:schemeClr val="tx2"/>
                  </a:solidFill>
                  <a:latin typeface="宋体" charset="-122"/>
                </a:rPr>
                <a:t>变量</a:t>
              </a:r>
              <a:r>
                <a:rPr lang="en-US" altLang="zh-CN" sz="1600" dirty="0">
                  <a:solidFill>
                    <a:schemeClr val="tx2"/>
                  </a:solidFill>
                  <a:latin typeface="宋体" charset="-122"/>
                </a:rPr>
                <a:t>i</a:t>
              </a:r>
              <a:r>
                <a:rPr lang="zh-CN" altLang="en-US" sz="1600" dirty="0">
                  <a:solidFill>
                    <a:schemeClr val="tx2"/>
                  </a:solidFill>
                  <a:latin typeface="宋体" charset="-122"/>
                </a:rPr>
                <a:t>的生存期</a:t>
              </a:r>
              <a:endParaRPr lang="zh-CN" altLang="en-US" sz="1600" dirty="0">
                <a:latin typeface="宋体" charset="-122"/>
              </a:endParaRPr>
            </a:p>
          </p:txBody>
        </p:sp>
        <p:sp>
          <p:nvSpPr>
            <p:cNvPr id="37" name="矩形 36"/>
            <p:cNvSpPr/>
            <p:nvPr/>
          </p:nvSpPr>
          <p:spPr>
            <a:xfrm>
              <a:off x="5152707" y="5085184"/>
              <a:ext cx="1723549" cy="313932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txBody>
            <a:bodyPr wrap="none">
              <a:spAutoFit/>
            </a:bodyPr>
            <a:lstStyle/>
            <a:p>
              <a:pPr marL="0" lvl="1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2"/>
                  </a:solidFill>
                  <a:latin typeface="宋体" charset="-122"/>
                </a:rPr>
                <a:t>fun()</a:t>
              </a:r>
              <a:r>
                <a:rPr lang="zh-CN" altLang="en-US" sz="1600" dirty="0">
                  <a:solidFill>
                    <a:schemeClr val="tx2"/>
                  </a:solidFill>
                  <a:latin typeface="宋体" charset="-122"/>
                </a:rPr>
                <a:t>的运行时间</a:t>
              </a:r>
              <a:endParaRPr lang="zh-CN" altLang="en-US" sz="1600" dirty="0">
                <a:latin typeface="宋体" charset="-122"/>
              </a:endParaRPr>
            </a:p>
          </p:txBody>
        </p:sp>
      </p:grpSp>
      <p:cxnSp>
        <p:nvCxnSpPr>
          <p:cNvPr id="44" name="直接连接符 43"/>
          <p:cNvCxnSpPr/>
          <p:nvPr/>
        </p:nvCxnSpPr>
        <p:spPr>
          <a:xfrm>
            <a:off x="4283968" y="1628800"/>
            <a:ext cx="1008112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组合 46"/>
          <p:cNvGrpSpPr/>
          <p:nvPr/>
        </p:nvGrpSpPr>
        <p:grpSpPr>
          <a:xfrm>
            <a:off x="7236296" y="3645024"/>
            <a:ext cx="1872208" cy="2003274"/>
            <a:chOff x="7236296" y="3645024"/>
            <a:chExt cx="1872208" cy="2003274"/>
          </a:xfrm>
        </p:grpSpPr>
        <p:grpSp>
          <p:nvGrpSpPr>
            <p:cNvPr id="45" name="组合 44"/>
            <p:cNvGrpSpPr/>
            <p:nvPr/>
          </p:nvGrpSpPr>
          <p:grpSpPr>
            <a:xfrm>
              <a:off x="7236296" y="4077072"/>
              <a:ext cx="1872208" cy="1571226"/>
              <a:chOff x="7236296" y="4077072"/>
              <a:chExt cx="1872208" cy="1571226"/>
            </a:xfrm>
          </p:grpSpPr>
          <p:sp>
            <p:nvSpPr>
              <p:cNvPr id="41" name="矩形 40"/>
              <p:cNvSpPr/>
              <p:nvPr/>
            </p:nvSpPr>
            <p:spPr>
              <a:xfrm>
                <a:off x="7236296" y="4077072"/>
                <a:ext cx="1872208" cy="1246495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 lIns="0" tIns="0" rIns="0" bIns="0">
                <a:spAutoFit/>
              </a:bodyPr>
              <a:lstStyle/>
              <a:p>
                <a:pPr marL="88900" lvl="1" indent="-26988">
                  <a:lnSpc>
                    <a:spcPct val="65000"/>
                  </a:lnSpc>
                  <a:spcBef>
                    <a:spcPct val="20000"/>
                  </a:spcBef>
                  <a:buClr>
                    <a:schemeClr val="accent2"/>
                  </a:buClr>
                  <a:buSzPct val="50000"/>
                </a:pPr>
                <a:r>
                  <a:rPr lang="en-US" altLang="zh-CN" sz="2000" dirty="0">
                    <a:latin typeface="宋体" charset="-122"/>
                  </a:rPr>
                  <a:t>fun()</a:t>
                </a:r>
                <a:r>
                  <a:rPr lang="zh-CN" altLang="en-US" sz="2000" dirty="0">
                    <a:latin typeface="宋体" charset="-122"/>
                  </a:rPr>
                  <a:t>在第</a:t>
                </a:r>
                <a:r>
                  <a:rPr lang="en-US" altLang="zh-CN" sz="2000" dirty="0">
                    <a:latin typeface="宋体" charset="-122"/>
                  </a:rPr>
                  <a:t>2</a:t>
                </a:r>
                <a:r>
                  <a:rPr lang="zh-CN" altLang="en-US" sz="2000" dirty="0">
                    <a:latin typeface="宋体" charset="-122"/>
                  </a:rPr>
                  <a:t>次</a:t>
                </a:r>
                <a:endParaRPr lang="en-US" altLang="zh-CN" sz="2000" dirty="0">
                  <a:latin typeface="宋体" charset="-122"/>
                </a:endParaRPr>
              </a:p>
              <a:p>
                <a:pPr marL="88900" lvl="1" indent="-26988">
                  <a:lnSpc>
                    <a:spcPct val="65000"/>
                  </a:lnSpc>
                  <a:spcBef>
                    <a:spcPct val="20000"/>
                  </a:spcBef>
                  <a:buClr>
                    <a:schemeClr val="accent2"/>
                  </a:buClr>
                  <a:buSzPct val="50000"/>
                </a:pPr>
                <a:r>
                  <a:rPr lang="zh-CN" altLang="en-US" sz="2000" dirty="0">
                    <a:latin typeface="宋体" charset="-122"/>
                  </a:rPr>
                  <a:t>运行时：</a:t>
                </a:r>
                <a:endParaRPr lang="en-US" altLang="zh-CN" sz="2000" dirty="0">
                  <a:latin typeface="宋体" charset="-122"/>
                </a:endParaRPr>
              </a:p>
              <a:p>
                <a:pPr marL="88900" lvl="1" indent="-26988">
                  <a:lnSpc>
                    <a:spcPct val="65000"/>
                  </a:lnSpc>
                  <a:spcBef>
                    <a:spcPct val="20000"/>
                  </a:spcBef>
                  <a:buClr>
                    <a:schemeClr val="accent2"/>
                  </a:buClr>
                  <a:buSzPct val="50000"/>
                </a:pPr>
                <a:r>
                  <a:rPr lang="en-US" altLang="zh-CN" b="1" dirty="0">
                    <a:latin typeface="宋体" charset="-122"/>
                  </a:rPr>
                  <a:t>static </a:t>
                </a:r>
                <a:r>
                  <a:rPr lang="en-US" altLang="zh-CN" b="1" dirty="0" err="1">
                    <a:latin typeface="宋体" charset="-122"/>
                  </a:rPr>
                  <a:t>int</a:t>
                </a:r>
                <a:r>
                  <a:rPr lang="en-US" altLang="zh-CN" b="1" dirty="0">
                    <a:latin typeface="宋体" charset="-122"/>
                  </a:rPr>
                  <a:t> a=1;</a:t>
                </a:r>
                <a:r>
                  <a:rPr lang="zh-CN" altLang="en-US" sz="2000" b="1" dirty="0">
                    <a:latin typeface="宋体" charset="-122"/>
                  </a:rPr>
                  <a:t> </a:t>
                </a:r>
                <a:endParaRPr lang="en-US" altLang="zh-CN" sz="2000" b="1" dirty="0">
                  <a:latin typeface="宋体" charset="-122"/>
                </a:endParaRPr>
              </a:p>
              <a:p>
                <a:pPr marL="88900" lvl="1" indent="-26988">
                  <a:lnSpc>
                    <a:spcPct val="65000"/>
                  </a:lnSpc>
                  <a:spcBef>
                    <a:spcPct val="20000"/>
                  </a:spcBef>
                  <a:buClr>
                    <a:schemeClr val="accent2"/>
                  </a:buClr>
                  <a:buSzPct val="50000"/>
                </a:pPr>
                <a:r>
                  <a:rPr lang="zh-CN" altLang="en-US" sz="2000" dirty="0">
                    <a:latin typeface="宋体" charset="-122"/>
                  </a:rPr>
                  <a:t>被忽略，</a:t>
                </a:r>
                <a:endParaRPr lang="en-US" altLang="zh-CN" sz="2000" dirty="0">
                  <a:latin typeface="宋体" charset="-122"/>
                </a:endParaRPr>
              </a:p>
              <a:p>
                <a:pPr marL="88900" lvl="1" indent="-26988">
                  <a:lnSpc>
                    <a:spcPct val="65000"/>
                  </a:lnSpc>
                  <a:spcBef>
                    <a:spcPct val="20000"/>
                  </a:spcBef>
                  <a:buClr>
                    <a:schemeClr val="accent2"/>
                  </a:buClr>
                  <a:buSzPct val="50000"/>
                </a:pPr>
                <a:r>
                  <a:rPr lang="zh-CN" altLang="en-US" sz="2000" dirty="0">
                    <a:latin typeface="宋体" charset="-122"/>
                  </a:rPr>
                  <a:t>不再执行</a:t>
                </a:r>
                <a:endParaRPr lang="en-US" altLang="zh-CN" sz="2000" dirty="0">
                  <a:latin typeface="宋体" charset="-122"/>
                </a:endParaRPr>
              </a:p>
            </p:txBody>
          </p:sp>
          <p:cxnSp>
            <p:nvCxnSpPr>
              <p:cNvPr id="43" name="直接箭头连接符 42"/>
              <p:cNvCxnSpPr/>
              <p:nvPr/>
            </p:nvCxnSpPr>
            <p:spPr>
              <a:xfrm flipH="1">
                <a:off x="7236296" y="5323567"/>
                <a:ext cx="576064" cy="324731"/>
              </a:xfrm>
              <a:prstGeom prst="straightConnector1">
                <a:avLst/>
              </a:prstGeom>
              <a:ln w="38100">
                <a:solidFill>
                  <a:srgbClr val="FFC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0" name="直接箭头连接符 49"/>
            <p:cNvCxnSpPr/>
            <p:nvPr/>
          </p:nvCxnSpPr>
          <p:spPr>
            <a:xfrm flipV="1">
              <a:off x="8244408" y="3645024"/>
              <a:ext cx="144016" cy="395349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03906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843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动态生存期</a:t>
            </a:r>
          </a:p>
        </p:txBody>
      </p:sp>
      <p:sp>
        <p:nvSpPr>
          <p:cNvPr id="17412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150000"/>
              </a:lnSpc>
            </a:pPr>
            <a:r>
              <a:rPr lang="zh-CN" altLang="en-US" dirty="0"/>
              <a:t>块作用域中声明的，没有用</a:t>
            </a:r>
            <a:r>
              <a:rPr lang="en-US" altLang="zh-CN" dirty="0"/>
              <a:t>static</a:t>
            </a:r>
            <a:r>
              <a:rPr lang="zh-CN" altLang="en-US" dirty="0"/>
              <a:t>修饰的对象是动态生存期的对象（习惯称局部生存期对象）。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dirty="0"/>
              <a:t>开始于程序执行到声明点时，结束于命名该标识符的作用域结束处。</a:t>
            </a:r>
          </a:p>
        </p:txBody>
      </p:sp>
      <p:sp>
        <p:nvSpPr>
          <p:cNvPr id="1741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A8C1EA50-3880-402D-A9B8-6CB350A91474}" type="slidenum">
              <a:rPr lang="en-US" altLang="zh-CN" sz="1400" smtClean="0"/>
              <a:pPr/>
              <a:t>28</a:t>
            </a:fld>
            <a:endParaRPr lang="en-US" altLang="zh-CN" sz="1400"/>
          </a:p>
        </p:txBody>
      </p:sp>
    </p:spTree>
    <p:extLst>
      <p:ext uri="{BB962C8B-B14F-4D97-AF65-F5344CB8AC3E}">
        <p14:creationId xmlns:p14="http://schemas.microsoft.com/office/powerpoint/2010/main" val="20039521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Rectangle 20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000" dirty="0"/>
              <a:t>例</a:t>
            </a:r>
            <a:r>
              <a:rPr lang="en-US" altLang="zh-CN" sz="4000" dirty="0"/>
              <a:t>: </a:t>
            </a:r>
            <a:r>
              <a:rPr lang="zh-CN" altLang="en-US" sz="4000" dirty="0"/>
              <a:t>变量的生存期与可见性</a:t>
            </a:r>
            <a:r>
              <a:rPr lang="en-US" altLang="zh-CN" sz="4000" dirty="0"/>
              <a:t>*</a:t>
            </a:r>
            <a:endParaRPr lang="zh-CN" altLang="en-US" sz="4000" dirty="0"/>
          </a:p>
        </p:txBody>
      </p:sp>
      <p:sp>
        <p:nvSpPr>
          <p:cNvPr id="113667" name="Rectangle 2051"/>
          <p:cNvSpPr>
            <a:spLocks noGrp="1" noChangeArrowheads="1"/>
          </p:cNvSpPr>
          <p:nvPr>
            <p:ph idx="1"/>
          </p:nvPr>
        </p:nvSpPr>
        <p:spPr>
          <a:xfrm>
            <a:off x="611560" y="1340768"/>
            <a:ext cx="8001000" cy="5105400"/>
          </a:xfrm>
          <a:solidFill>
            <a:schemeClr val="bg2">
              <a:lumMod val="90000"/>
            </a:schemeClr>
          </a:solidFill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95000"/>
              </a:lnSpc>
              <a:buFont typeface="Wingdings" pitchFamily="2" charset="2"/>
              <a:buNone/>
              <a:defRPr/>
            </a:pPr>
            <a:r>
              <a:rPr lang="en-US" altLang="zh-CN" sz="2000" dirty="0">
                <a:latin typeface="宋体" pitchFamily="2" charset="-122"/>
              </a:rPr>
              <a:t>#include&lt;</a:t>
            </a:r>
            <a:r>
              <a:rPr lang="en-US" altLang="zh-CN" sz="2000" dirty="0" err="1">
                <a:latin typeface="宋体" pitchFamily="2" charset="-122"/>
              </a:rPr>
              <a:t>iostream</a:t>
            </a:r>
            <a:r>
              <a:rPr lang="en-US" altLang="zh-CN" sz="2000" dirty="0">
                <a:latin typeface="宋体" pitchFamily="2" charset="-122"/>
              </a:rPr>
              <a:t>&gt;</a:t>
            </a:r>
          </a:p>
          <a:p>
            <a:pPr eaLnBrk="1" hangingPunct="1">
              <a:lnSpc>
                <a:spcPct val="95000"/>
              </a:lnSpc>
              <a:buFont typeface="Wingdings" pitchFamily="2" charset="2"/>
              <a:buNone/>
              <a:defRPr/>
            </a:pPr>
            <a:r>
              <a:rPr lang="en-US" altLang="zh-CN" sz="2000" dirty="0">
                <a:latin typeface="宋体" pitchFamily="2" charset="-122"/>
              </a:rPr>
              <a:t>using namespace std;</a:t>
            </a:r>
          </a:p>
          <a:p>
            <a:pPr eaLnBrk="1" hangingPunct="1">
              <a:lnSpc>
                <a:spcPct val="95000"/>
              </a:lnSpc>
              <a:buFont typeface="Wingdings" pitchFamily="2" charset="2"/>
              <a:buNone/>
              <a:defRPr/>
            </a:pPr>
            <a:r>
              <a:rPr lang="en-US" altLang="zh-CN" sz="2000" dirty="0" err="1">
                <a:latin typeface="宋体" pitchFamily="2" charset="-122"/>
              </a:rPr>
              <a:t>int</a:t>
            </a:r>
            <a:r>
              <a:rPr lang="en-US" altLang="zh-CN" sz="2000" dirty="0">
                <a:latin typeface="宋体" pitchFamily="2" charset="-122"/>
              </a:rPr>
              <a:t> </a:t>
            </a:r>
            <a:r>
              <a:rPr lang="en-US" altLang="zh-CN" sz="2000" dirty="0" err="1">
                <a:latin typeface="宋体" pitchFamily="2" charset="-122"/>
              </a:rPr>
              <a:t>i</a:t>
            </a:r>
            <a:r>
              <a:rPr lang="en-US" altLang="zh-CN" sz="2000" dirty="0">
                <a:latin typeface="宋体" pitchFamily="2" charset="-122"/>
              </a:rPr>
              <a:t> = 1; // </a:t>
            </a:r>
            <a:r>
              <a:rPr lang="en-US" altLang="zh-CN" sz="2000" dirty="0" err="1">
                <a:latin typeface="宋体" pitchFamily="2" charset="-122"/>
              </a:rPr>
              <a:t>i</a:t>
            </a:r>
            <a:r>
              <a:rPr lang="en-US" altLang="zh-CN" sz="2000" dirty="0">
                <a:latin typeface="宋体" pitchFamily="2" charset="-122"/>
              </a:rPr>
              <a:t> </a:t>
            </a:r>
            <a:r>
              <a:rPr lang="zh-CN" altLang="en-US" sz="2000" dirty="0">
                <a:latin typeface="宋体" pitchFamily="2" charset="-122"/>
              </a:rPr>
              <a:t>为全局变量，具有静态生存期。</a:t>
            </a:r>
            <a:endParaRPr lang="en-US" altLang="zh-CN" sz="2000" dirty="0">
              <a:latin typeface="宋体" pitchFamily="2" charset="-122"/>
            </a:endParaRPr>
          </a:p>
          <a:p>
            <a:pPr algn="just" eaLnBrk="1" hangingPunct="1">
              <a:buFont typeface="Wingdings" pitchFamily="2" charset="2"/>
              <a:buNone/>
              <a:defRPr/>
            </a:pPr>
            <a:r>
              <a:rPr lang="en-US" altLang="zh-CN" sz="2000" dirty="0">
                <a:latin typeface="宋体" pitchFamily="2" charset="-122"/>
              </a:rPr>
              <a:t>void other()</a:t>
            </a:r>
          </a:p>
          <a:p>
            <a:pPr algn="just" eaLnBrk="1" hangingPunct="1">
              <a:buFont typeface="Wingdings" pitchFamily="2" charset="2"/>
              <a:buNone/>
              <a:defRPr/>
            </a:pPr>
            <a:r>
              <a:rPr lang="en-US" altLang="zh-CN" sz="2000" dirty="0">
                <a:latin typeface="宋体" pitchFamily="2" charset="-122"/>
              </a:rPr>
              <a:t>{ static </a:t>
            </a:r>
            <a:r>
              <a:rPr lang="en-US" altLang="zh-CN" sz="2000" dirty="0" err="1">
                <a:latin typeface="宋体" pitchFamily="2" charset="-122"/>
              </a:rPr>
              <a:t>int</a:t>
            </a:r>
            <a:r>
              <a:rPr lang="en-US" altLang="zh-CN" sz="2000" dirty="0">
                <a:latin typeface="宋体" pitchFamily="2" charset="-122"/>
              </a:rPr>
              <a:t> a = 2;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000" dirty="0">
                <a:latin typeface="宋体" pitchFamily="2" charset="-122"/>
              </a:rPr>
              <a:t>  static </a:t>
            </a:r>
            <a:r>
              <a:rPr lang="en-US" altLang="zh-CN" sz="2000" dirty="0" err="1">
                <a:latin typeface="宋体" pitchFamily="2" charset="-122"/>
              </a:rPr>
              <a:t>int</a:t>
            </a:r>
            <a:r>
              <a:rPr lang="en-US" altLang="zh-CN" sz="2000" dirty="0">
                <a:latin typeface="宋体" pitchFamily="2" charset="-122"/>
              </a:rPr>
              <a:t> b;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000" dirty="0">
                <a:latin typeface="宋体" pitchFamily="2" charset="-122"/>
              </a:rPr>
              <a:t>   // </a:t>
            </a:r>
            <a:r>
              <a:rPr lang="en-US" altLang="zh-CN" sz="2000" dirty="0" err="1">
                <a:latin typeface="宋体" pitchFamily="2" charset="-122"/>
              </a:rPr>
              <a:t>a,b</a:t>
            </a:r>
            <a:r>
              <a:rPr lang="zh-CN" altLang="en-US" sz="2000" dirty="0">
                <a:latin typeface="宋体" pitchFamily="2" charset="-122"/>
              </a:rPr>
              <a:t>为静态局部变量，具有全局寿命，局部可见。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zh-CN" altLang="en-US" sz="2000" dirty="0">
                <a:latin typeface="宋体" pitchFamily="2" charset="-122"/>
              </a:rPr>
              <a:t>   </a:t>
            </a:r>
            <a:r>
              <a:rPr lang="en-US" altLang="zh-CN" sz="2000" dirty="0">
                <a:latin typeface="宋体" pitchFamily="2" charset="-122"/>
              </a:rPr>
              <a:t>//</a:t>
            </a:r>
            <a:r>
              <a:rPr lang="zh-CN" altLang="en-US" sz="2000" dirty="0">
                <a:latin typeface="宋体" pitchFamily="2" charset="-122"/>
              </a:rPr>
              <a:t>只第一次进入函数时被初始化。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zh-CN" altLang="en-US" sz="2000" dirty="0">
                <a:latin typeface="宋体" pitchFamily="2" charset="-122"/>
              </a:rPr>
              <a:t>  </a:t>
            </a:r>
            <a:r>
              <a:rPr lang="en-US" altLang="zh-CN" sz="2000" dirty="0" err="1">
                <a:latin typeface="宋体" pitchFamily="2" charset="-122"/>
              </a:rPr>
              <a:t>int</a:t>
            </a:r>
            <a:r>
              <a:rPr lang="en-US" altLang="zh-CN" sz="2000" dirty="0">
                <a:latin typeface="宋体" pitchFamily="2" charset="-122"/>
              </a:rPr>
              <a:t> c = 10; // C</a:t>
            </a:r>
            <a:r>
              <a:rPr lang="zh-CN" altLang="en-US" sz="2000" dirty="0">
                <a:latin typeface="宋体" pitchFamily="2" charset="-122"/>
              </a:rPr>
              <a:t>为局部变量，具有动态生存期，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zh-CN" altLang="en-US" sz="2000" dirty="0">
                <a:latin typeface="宋体" pitchFamily="2" charset="-122"/>
              </a:rPr>
              <a:t>            </a:t>
            </a:r>
            <a:r>
              <a:rPr lang="en-US" altLang="zh-CN" sz="2000" dirty="0">
                <a:latin typeface="宋体" pitchFamily="2" charset="-122"/>
              </a:rPr>
              <a:t>//</a:t>
            </a:r>
            <a:r>
              <a:rPr lang="zh-CN" altLang="en-US" sz="2000" dirty="0">
                <a:latin typeface="宋体" pitchFamily="2" charset="-122"/>
              </a:rPr>
              <a:t>每次进入函数时都初始化。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zh-CN" altLang="en-US" sz="2000" dirty="0">
                <a:latin typeface="宋体" pitchFamily="2" charset="-122"/>
              </a:rPr>
              <a:t>  </a:t>
            </a:r>
            <a:r>
              <a:rPr lang="en-US" altLang="zh-CN" sz="2000" dirty="0">
                <a:latin typeface="宋体" pitchFamily="2" charset="-122"/>
              </a:rPr>
              <a:t>a += 2; </a:t>
            </a:r>
            <a:r>
              <a:rPr lang="en-US" altLang="zh-CN" sz="2000" dirty="0" err="1">
                <a:latin typeface="宋体" pitchFamily="2" charset="-122"/>
              </a:rPr>
              <a:t>i</a:t>
            </a:r>
            <a:r>
              <a:rPr lang="en-US" altLang="zh-CN" sz="2000" dirty="0">
                <a:latin typeface="宋体" pitchFamily="2" charset="-122"/>
              </a:rPr>
              <a:t> += 32; c += 5;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000" dirty="0">
                <a:latin typeface="宋体" pitchFamily="2" charset="-122"/>
              </a:rPr>
              <a:t>  </a:t>
            </a:r>
            <a:r>
              <a:rPr lang="en-US" altLang="zh-CN" sz="2000" dirty="0" err="1">
                <a:latin typeface="宋体" pitchFamily="2" charset="-122"/>
              </a:rPr>
              <a:t>cout</a:t>
            </a:r>
            <a:r>
              <a:rPr lang="en-US" altLang="zh-CN" sz="2000" dirty="0">
                <a:latin typeface="宋体" pitchFamily="2" charset="-122"/>
              </a:rPr>
              <a:t>&lt;&lt;"---OTHER---\n";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000" dirty="0">
                <a:latin typeface="宋体" pitchFamily="2" charset="-122"/>
              </a:rPr>
              <a:t>  </a:t>
            </a:r>
            <a:r>
              <a:rPr lang="en-US" altLang="zh-CN" sz="2000" dirty="0" err="1">
                <a:latin typeface="宋体" pitchFamily="2" charset="-122"/>
              </a:rPr>
              <a:t>cout</a:t>
            </a:r>
            <a:r>
              <a:rPr lang="en-US" altLang="zh-CN" sz="2000" dirty="0">
                <a:latin typeface="宋体" pitchFamily="2" charset="-122"/>
              </a:rPr>
              <a:t>&lt;&lt;" </a:t>
            </a:r>
            <a:r>
              <a:rPr lang="en-US" altLang="zh-CN" sz="2000" dirty="0" err="1">
                <a:latin typeface="宋体" pitchFamily="2" charset="-122"/>
              </a:rPr>
              <a:t>i</a:t>
            </a:r>
            <a:r>
              <a:rPr lang="en-US" altLang="zh-CN" sz="2000" dirty="0">
                <a:latin typeface="宋体" pitchFamily="2" charset="-122"/>
              </a:rPr>
              <a:t>: "&lt;&lt;</a:t>
            </a:r>
            <a:r>
              <a:rPr lang="en-US" altLang="zh-CN" sz="2000" dirty="0" err="1">
                <a:latin typeface="宋体" pitchFamily="2" charset="-122"/>
              </a:rPr>
              <a:t>i</a:t>
            </a:r>
            <a:r>
              <a:rPr lang="en-US" altLang="zh-CN" sz="2000" dirty="0">
                <a:latin typeface="宋体" pitchFamily="2" charset="-122"/>
              </a:rPr>
              <a:t>&lt;&lt;" a: "&lt;&lt;a&lt;&lt;" b: "&lt;&lt;b&lt;&lt;" c: "&lt;&lt;c&lt;&lt;</a:t>
            </a:r>
            <a:r>
              <a:rPr lang="en-US" altLang="zh-CN" sz="2000" dirty="0" err="1">
                <a:latin typeface="宋体" pitchFamily="2" charset="-122"/>
              </a:rPr>
              <a:t>endl</a:t>
            </a:r>
            <a:r>
              <a:rPr lang="en-US" altLang="zh-CN" sz="2000" dirty="0">
                <a:latin typeface="宋体" pitchFamily="2" charset="-122"/>
              </a:rPr>
              <a:t>;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000" dirty="0">
                <a:latin typeface="宋体" pitchFamily="2" charset="-122"/>
              </a:rPr>
              <a:t>  b = a;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000" dirty="0">
                <a:latin typeface="宋体" pitchFamily="2" charset="-122"/>
              </a:rPr>
              <a:t>}</a:t>
            </a:r>
          </a:p>
        </p:txBody>
      </p:sp>
      <p:sp>
        <p:nvSpPr>
          <p:cNvPr id="1945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A62B182B-C271-4684-B71B-4A58E4A5FCD9}" type="slidenum">
              <a:rPr lang="en-US" altLang="zh-CN" sz="1400" smtClean="0"/>
              <a:pPr/>
              <a:t>29</a:t>
            </a:fld>
            <a:endParaRPr lang="en-US" altLang="zh-CN" sz="1400"/>
          </a:p>
        </p:txBody>
      </p:sp>
    </p:spTree>
    <p:extLst>
      <p:ext uri="{BB962C8B-B14F-4D97-AF65-F5344CB8AC3E}">
        <p14:creationId xmlns:p14="http://schemas.microsoft.com/office/powerpoint/2010/main" val="24625093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1" name="Rectangle 3"/>
          <p:cNvSpPr>
            <a:spLocks noGrp="1" noChangeArrowheads="1"/>
          </p:cNvSpPr>
          <p:nvPr>
            <p:ph idx="1"/>
          </p:nvPr>
        </p:nvSpPr>
        <p:spPr>
          <a:xfrm>
            <a:off x="762000" y="533400"/>
            <a:ext cx="7772400" cy="5943600"/>
          </a:xfrm>
          <a:solidFill>
            <a:schemeClr val="bg2">
              <a:lumMod val="90000"/>
            </a:schemeClr>
          </a:solidFill>
        </p:spPr>
        <p:txBody>
          <a:bodyPr>
            <a:normAutofit lnSpcReduction="10000"/>
          </a:bodyPr>
          <a:lstStyle/>
          <a:p>
            <a:pPr eaLnBrk="1" hangingPunct="1">
              <a:lnSpc>
                <a:spcPct val="95000"/>
              </a:lnSpc>
              <a:buFont typeface="Wingdings" pitchFamily="2" charset="2"/>
              <a:buNone/>
              <a:defRPr/>
            </a:pPr>
            <a:r>
              <a:rPr lang="en-US" altLang="zh-CN" sz="2400" dirty="0" err="1">
                <a:latin typeface="宋体" pitchFamily="2" charset="-122"/>
              </a:rPr>
              <a:t>int</a:t>
            </a:r>
            <a:r>
              <a:rPr lang="en-US" altLang="zh-CN" sz="2400" dirty="0">
                <a:latin typeface="宋体" pitchFamily="2" charset="-122"/>
              </a:rPr>
              <a:t> main()</a:t>
            </a:r>
          </a:p>
          <a:p>
            <a:pPr eaLnBrk="1" hangingPunct="1">
              <a:lnSpc>
                <a:spcPct val="95000"/>
              </a:lnSpc>
              <a:buFont typeface="Wingdings" pitchFamily="2" charset="2"/>
              <a:buNone/>
              <a:defRPr/>
            </a:pPr>
            <a:r>
              <a:rPr lang="en-US" altLang="zh-CN" sz="2400" dirty="0">
                <a:latin typeface="宋体" pitchFamily="2" charset="-122"/>
              </a:rPr>
              <a:t>{ static </a:t>
            </a:r>
            <a:r>
              <a:rPr lang="en-US" altLang="zh-CN" sz="2400" dirty="0" err="1">
                <a:latin typeface="宋体" pitchFamily="2" charset="-122"/>
              </a:rPr>
              <a:t>int</a:t>
            </a:r>
            <a:r>
              <a:rPr lang="en-US" altLang="zh-CN" sz="2400" dirty="0">
                <a:latin typeface="宋体" pitchFamily="2" charset="-122"/>
              </a:rPr>
              <a:t> a;// </a:t>
            </a:r>
            <a:r>
              <a:rPr lang="zh-CN" altLang="en-US" sz="2400" dirty="0">
                <a:latin typeface="宋体" pitchFamily="2" charset="-122"/>
              </a:rPr>
              <a:t>静态局部变量，有全局寿命，局部可见。</a:t>
            </a:r>
          </a:p>
          <a:p>
            <a:pPr eaLnBrk="1" hangingPunct="1">
              <a:lnSpc>
                <a:spcPct val="95000"/>
              </a:lnSpc>
              <a:buFont typeface="Wingdings" pitchFamily="2" charset="2"/>
              <a:buNone/>
              <a:defRPr/>
            </a:pPr>
            <a:r>
              <a:rPr lang="zh-CN" altLang="en-US" sz="2400" dirty="0">
                <a:latin typeface="宋体" pitchFamily="2" charset="-122"/>
              </a:rPr>
              <a:t>  </a:t>
            </a:r>
            <a:r>
              <a:rPr lang="en-US" altLang="zh-CN" sz="2400" dirty="0" err="1">
                <a:latin typeface="宋体" pitchFamily="2" charset="-122"/>
              </a:rPr>
              <a:t>int</a:t>
            </a:r>
            <a:r>
              <a:rPr lang="en-US" altLang="zh-CN" sz="2400" dirty="0">
                <a:latin typeface="宋体" pitchFamily="2" charset="-122"/>
              </a:rPr>
              <a:t> b = -10; // b, c</a:t>
            </a:r>
            <a:r>
              <a:rPr lang="zh-CN" altLang="en-US" sz="2400" dirty="0">
                <a:latin typeface="宋体" pitchFamily="2" charset="-122"/>
              </a:rPr>
              <a:t>为局部变量，具有动态生存期。</a:t>
            </a:r>
          </a:p>
          <a:p>
            <a:pPr eaLnBrk="1" hangingPunct="1">
              <a:lnSpc>
                <a:spcPct val="95000"/>
              </a:lnSpc>
              <a:buFont typeface="Wingdings" pitchFamily="2" charset="2"/>
              <a:buNone/>
              <a:defRPr/>
            </a:pPr>
            <a:r>
              <a:rPr lang="zh-CN" altLang="en-US" sz="2400" dirty="0">
                <a:latin typeface="宋体" pitchFamily="2" charset="-122"/>
              </a:rPr>
              <a:t>  </a:t>
            </a:r>
            <a:r>
              <a:rPr lang="en-US" altLang="zh-CN" sz="2400" dirty="0" err="1">
                <a:latin typeface="宋体" pitchFamily="2" charset="-122"/>
              </a:rPr>
              <a:t>int</a:t>
            </a:r>
            <a:r>
              <a:rPr lang="en-US" altLang="zh-CN" sz="2400" dirty="0">
                <a:latin typeface="宋体" pitchFamily="2" charset="-122"/>
              </a:rPr>
              <a:t> c = 0;</a:t>
            </a:r>
          </a:p>
          <a:p>
            <a:pPr eaLnBrk="1" hangingPunct="1">
              <a:lnSpc>
                <a:spcPct val="95000"/>
              </a:lnSpc>
              <a:buFont typeface="Wingdings" pitchFamily="2" charset="2"/>
              <a:buNone/>
              <a:defRPr/>
            </a:pPr>
            <a:r>
              <a:rPr lang="en-US" altLang="zh-CN" sz="2400" dirty="0">
                <a:latin typeface="宋体" pitchFamily="2" charset="-122"/>
              </a:rPr>
              <a:t>	</a:t>
            </a:r>
            <a:r>
              <a:rPr lang="en-US" altLang="zh-CN" sz="2400" dirty="0" err="1">
                <a:latin typeface="宋体" pitchFamily="2" charset="-122"/>
              </a:rPr>
              <a:t>cout</a:t>
            </a:r>
            <a:r>
              <a:rPr lang="en-US" altLang="zh-CN" sz="2400" dirty="0">
                <a:latin typeface="宋体" pitchFamily="2" charset="-122"/>
              </a:rPr>
              <a:t> &lt;&lt; "---MAIN---\n";</a:t>
            </a:r>
          </a:p>
          <a:p>
            <a:pPr eaLnBrk="1" hangingPunct="1">
              <a:lnSpc>
                <a:spcPct val="95000"/>
              </a:lnSpc>
              <a:buFont typeface="Wingdings" pitchFamily="2" charset="2"/>
              <a:buNone/>
              <a:defRPr/>
            </a:pPr>
            <a:r>
              <a:rPr lang="en-US" altLang="zh-CN" sz="2400" dirty="0">
                <a:latin typeface="宋体" pitchFamily="2" charset="-122"/>
              </a:rPr>
              <a:t>  </a:t>
            </a:r>
            <a:r>
              <a:rPr lang="en-US" altLang="zh-CN" sz="2400" dirty="0" err="1">
                <a:latin typeface="宋体" pitchFamily="2" charset="-122"/>
              </a:rPr>
              <a:t>cout</a:t>
            </a:r>
            <a:r>
              <a:rPr lang="en-US" altLang="zh-CN" sz="2400" dirty="0">
                <a:latin typeface="宋体" pitchFamily="2" charset="-122"/>
              </a:rPr>
              <a:t>&lt;&lt;" </a:t>
            </a:r>
            <a:r>
              <a:rPr lang="en-US" altLang="zh-CN" sz="2400" dirty="0" err="1">
                <a:latin typeface="宋体" pitchFamily="2" charset="-122"/>
              </a:rPr>
              <a:t>i</a:t>
            </a:r>
            <a:r>
              <a:rPr lang="en-US" altLang="zh-CN" sz="2400" dirty="0">
                <a:latin typeface="宋体" pitchFamily="2" charset="-122"/>
              </a:rPr>
              <a:t>: "&lt;&lt;</a:t>
            </a:r>
            <a:r>
              <a:rPr lang="en-US" altLang="zh-CN" sz="2400" dirty="0" err="1">
                <a:latin typeface="宋体" pitchFamily="2" charset="-122"/>
              </a:rPr>
              <a:t>i</a:t>
            </a:r>
            <a:r>
              <a:rPr lang="en-US" altLang="zh-CN" sz="2400" dirty="0">
                <a:latin typeface="宋体" pitchFamily="2" charset="-122"/>
              </a:rPr>
              <a:t>&lt;&lt;" a: "&lt;&lt;a&lt;&lt;" b: "&lt;&lt;b&lt;&lt;" c: "&lt;&lt;c&lt;&lt;</a:t>
            </a:r>
            <a:r>
              <a:rPr lang="en-US" altLang="zh-CN" sz="2400" dirty="0" err="1">
                <a:latin typeface="宋体" pitchFamily="2" charset="-122"/>
              </a:rPr>
              <a:t>endl</a:t>
            </a:r>
            <a:r>
              <a:rPr lang="en-US" altLang="zh-CN" sz="2400" dirty="0">
                <a:latin typeface="宋体" pitchFamily="2" charset="-122"/>
              </a:rPr>
              <a:t>;</a:t>
            </a:r>
          </a:p>
          <a:p>
            <a:pPr eaLnBrk="1" hangingPunct="1">
              <a:lnSpc>
                <a:spcPct val="95000"/>
              </a:lnSpc>
              <a:buFont typeface="Wingdings" pitchFamily="2" charset="2"/>
              <a:buNone/>
              <a:defRPr/>
            </a:pPr>
            <a:r>
              <a:rPr lang="en-US" altLang="zh-CN" sz="2400" dirty="0">
                <a:latin typeface="宋体" pitchFamily="2" charset="-122"/>
              </a:rPr>
              <a:t>  c += 8; other();</a:t>
            </a:r>
          </a:p>
          <a:p>
            <a:pPr eaLnBrk="1" hangingPunct="1">
              <a:lnSpc>
                <a:spcPct val="95000"/>
              </a:lnSpc>
              <a:buFont typeface="Wingdings" pitchFamily="2" charset="2"/>
              <a:buNone/>
              <a:defRPr/>
            </a:pPr>
            <a:r>
              <a:rPr lang="en-US" altLang="zh-CN" sz="2400" dirty="0">
                <a:latin typeface="宋体" pitchFamily="2" charset="-122"/>
              </a:rPr>
              <a:t>  </a:t>
            </a:r>
            <a:r>
              <a:rPr lang="en-US" altLang="zh-CN" sz="2400" dirty="0" err="1">
                <a:latin typeface="宋体" pitchFamily="2" charset="-122"/>
              </a:rPr>
              <a:t>cout</a:t>
            </a:r>
            <a:r>
              <a:rPr lang="en-US" altLang="zh-CN" sz="2400" dirty="0">
                <a:latin typeface="宋体" pitchFamily="2" charset="-122"/>
              </a:rPr>
              <a:t>&lt;&lt;"---MAIN---\n";</a:t>
            </a:r>
          </a:p>
          <a:p>
            <a:pPr eaLnBrk="1" hangingPunct="1">
              <a:lnSpc>
                <a:spcPct val="95000"/>
              </a:lnSpc>
              <a:buFont typeface="Wingdings" pitchFamily="2" charset="2"/>
              <a:buNone/>
              <a:defRPr/>
            </a:pPr>
            <a:r>
              <a:rPr lang="en-US" altLang="zh-CN" sz="2400" dirty="0">
                <a:latin typeface="宋体" pitchFamily="2" charset="-122"/>
              </a:rPr>
              <a:t>  </a:t>
            </a:r>
            <a:r>
              <a:rPr lang="en-US" altLang="zh-CN" sz="2400" dirty="0" err="1">
                <a:latin typeface="宋体" pitchFamily="2" charset="-122"/>
              </a:rPr>
              <a:t>cout</a:t>
            </a:r>
            <a:r>
              <a:rPr lang="en-US" altLang="zh-CN" sz="2400" dirty="0">
                <a:latin typeface="宋体" pitchFamily="2" charset="-122"/>
              </a:rPr>
              <a:t>&lt;&lt;" </a:t>
            </a:r>
            <a:r>
              <a:rPr lang="en-US" altLang="zh-CN" sz="2400" dirty="0" err="1">
                <a:latin typeface="宋体" pitchFamily="2" charset="-122"/>
              </a:rPr>
              <a:t>i</a:t>
            </a:r>
            <a:r>
              <a:rPr lang="en-US" altLang="zh-CN" sz="2400" dirty="0">
                <a:latin typeface="宋体" pitchFamily="2" charset="-122"/>
              </a:rPr>
              <a:t>: "&lt;&lt;</a:t>
            </a:r>
            <a:r>
              <a:rPr lang="en-US" altLang="zh-CN" sz="2400" dirty="0" err="1">
                <a:latin typeface="宋体" pitchFamily="2" charset="-122"/>
              </a:rPr>
              <a:t>i</a:t>
            </a:r>
            <a:r>
              <a:rPr lang="en-US" altLang="zh-CN" sz="2400" dirty="0">
                <a:latin typeface="宋体" pitchFamily="2" charset="-122"/>
              </a:rPr>
              <a:t>&lt;&lt;" a: "&lt;&lt;a&lt;&lt;" b: "&lt;&lt;b&lt;&lt;" c: "&lt;&lt;c&lt;&lt;</a:t>
            </a:r>
            <a:r>
              <a:rPr lang="en-US" altLang="zh-CN" sz="2400" dirty="0" err="1">
                <a:latin typeface="宋体" pitchFamily="2" charset="-122"/>
              </a:rPr>
              <a:t>endl</a:t>
            </a:r>
            <a:r>
              <a:rPr lang="en-US" altLang="zh-CN" sz="2400" dirty="0">
                <a:latin typeface="宋体" pitchFamily="2" charset="-122"/>
              </a:rPr>
              <a:t>;</a:t>
            </a:r>
          </a:p>
          <a:p>
            <a:pPr eaLnBrk="1" hangingPunct="1">
              <a:lnSpc>
                <a:spcPct val="95000"/>
              </a:lnSpc>
              <a:buFont typeface="Wingdings" pitchFamily="2" charset="2"/>
              <a:buNone/>
              <a:defRPr/>
            </a:pPr>
            <a:r>
              <a:rPr lang="en-US" altLang="zh-CN" sz="2400" dirty="0">
                <a:latin typeface="宋体" pitchFamily="2" charset="-122"/>
              </a:rPr>
              <a:t>  </a:t>
            </a:r>
            <a:r>
              <a:rPr lang="en-US" altLang="zh-CN" sz="2400" dirty="0" err="1">
                <a:latin typeface="宋体" pitchFamily="2" charset="-122"/>
              </a:rPr>
              <a:t>i</a:t>
            </a:r>
            <a:r>
              <a:rPr lang="en-US" altLang="zh-CN" sz="2400" dirty="0">
                <a:latin typeface="宋体" pitchFamily="2" charset="-122"/>
              </a:rPr>
              <a:t> += 10; other();  </a:t>
            </a:r>
          </a:p>
          <a:p>
            <a:pPr eaLnBrk="1" hangingPunct="1">
              <a:lnSpc>
                <a:spcPct val="95000"/>
              </a:lnSpc>
              <a:buFont typeface="Wingdings" pitchFamily="2" charset="2"/>
              <a:buNone/>
              <a:defRPr/>
            </a:pPr>
            <a:r>
              <a:rPr lang="en-US" altLang="zh-CN" sz="2400" dirty="0">
                <a:latin typeface="宋体" pitchFamily="2" charset="-122"/>
              </a:rPr>
              <a:t>	return 0;</a:t>
            </a:r>
          </a:p>
          <a:p>
            <a:pPr eaLnBrk="1" hangingPunct="1">
              <a:lnSpc>
                <a:spcPct val="95000"/>
              </a:lnSpc>
              <a:buFont typeface="Wingdings" pitchFamily="2" charset="2"/>
              <a:buNone/>
              <a:defRPr/>
            </a:pPr>
            <a:r>
              <a:rPr lang="en-US" altLang="zh-CN" sz="2400" dirty="0">
                <a:latin typeface="宋体" pitchFamily="2" charset="-122"/>
              </a:rPr>
              <a:t>}</a:t>
            </a:r>
          </a:p>
        </p:txBody>
      </p:sp>
      <p:sp>
        <p:nvSpPr>
          <p:cNvPr id="20483" name="Text Box 5"/>
          <p:cNvSpPr txBox="1">
            <a:spLocks noChangeArrowheads="1"/>
          </p:cNvSpPr>
          <p:nvPr/>
        </p:nvSpPr>
        <p:spPr bwMode="auto">
          <a:xfrm>
            <a:off x="8686800" y="6521450"/>
            <a:ext cx="533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600"/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38214016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4099"/>
          <p:cNvSpPr>
            <a:spLocks noGrp="1" noChangeArrowheads="1"/>
          </p:cNvSpPr>
          <p:nvPr>
            <p:ph idx="1"/>
          </p:nvPr>
        </p:nvSpPr>
        <p:spPr>
          <a:xfrm>
            <a:off x="685800" y="609600"/>
            <a:ext cx="7848600" cy="54102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dirty="0">
                <a:latin typeface="宋体" charset="-122"/>
              </a:rPr>
              <a:t>运行结果：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latin typeface="宋体" charset="-122"/>
              </a:rPr>
              <a:t>---MAIN---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latin typeface="宋体" charset="-122"/>
              </a:rPr>
              <a:t> i: 1 a: 0 b: -10 c: 0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latin typeface="宋体" charset="-122"/>
              </a:rPr>
              <a:t>---OTHER---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latin typeface="宋体" charset="-122"/>
              </a:rPr>
              <a:t> i: 33 a: 4 b: 0 c: 15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latin typeface="宋体" charset="-122"/>
              </a:rPr>
              <a:t>---MAIN---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latin typeface="宋体" charset="-122"/>
              </a:rPr>
              <a:t> i: 33 a: 0 b: -10 c: 8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latin typeface="宋体" charset="-122"/>
              </a:rPr>
              <a:t>---OTHER---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latin typeface="宋体" charset="-122"/>
              </a:rPr>
              <a:t> i: 75 a: 6 b: 4 c: 15</a:t>
            </a:r>
          </a:p>
        </p:txBody>
      </p:sp>
      <p:sp>
        <p:nvSpPr>
          <p:cNvPr id="21507" name="Text Box 4101"/>
          <p:cNvSpPr txBox="1">
            <a:spLocks noChangeArrowheads="1"/>
          </p:cNvSpPr>
          <p:nvPr/>
        </p:nvSpPr>
        <p:spPr bwMode="auto">
          <a:xfrm>
            <a:off x="8610600" y="6521450"/>
            <a:ext cx="533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600"/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0693946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683568" y="228600"/>
            <a:ext cx="7848600" cy="1143000"/>
          </a:xfrm>
        </p:spPr>
        <p:txBody>
          <a:bodyPr/>
          <a:lstStyle/>
          <a:p>
            <a:pPr eaLnBrk="1" hangingPunct="1"/>
            <a:r>
              <a:rPr lang="zh-CN" altLang="en-US" dirty="0"/>
              <a:t>例：</a:t>
            </a:r>
            <a:r>
              <a:rPr lang="zh-CN" altLang="en-US" sz="2800" dirty="0"/>
              <a:t>具有静态、动态生存期对象的时钟程序</a:t>
            </a:r>
            <a:r>
              <a:rPr lang="en-US" altLang="zh-CN" sz="2800" dirty="0"/>
              <a:t>*</a:t>
            </a:r>
            <a:endParaRPr lang="zh-CN" altLang="en-US" sz="4000" dirty="0"/>
          </a:p>
        </p:txBody>
      </p:sp>
      <p:sp>
        <p:nvSpPr>
          <p:cNvPr id="22532" name="Rectangle 3"/>
          <p:cNvSpPr>
            <a:spLocks noGrp="1" noChangeArrowheads="1"/>
          </p:cNvSpPr>
          <p:nvPr>
            <p:ph idx="1"/>
          </p:nvPr>
        </p:nvSpPr>
        <p:spPr>
          <a:xfrm>
            <a:off x="1043608" y="1412776"/>
            <a:ext cx="7315200" cy="4724400"/>
          </a:xfrm>
          <a:solidFill>
            <a:schemeClr val="bg2">
              <a:lumMod val="90000"/>
            </a:schemeClr>
          </a:solidFill>
        </p:spPr>
        <p:txBody>
          <a:bodyPr>
            <a:normAutofit lnSpcReduction="10000"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latin typeface="宋体" charset="-122"/>
              </a:rPr>
              <a:t>#include&lt;</a:t>
            </a:r>
            <a:r>
              <a:rPr lang="en-US" altLang="zh-CN" sz="2400" dirty="0" err="1">
                <a:latin typeface="宋体" charset="-122"/>
              </a:rPr>
              <a:t>iostream</a:t>
            </a:r>
            <a:r>
              <a:rPr lang="en-US" altLang="zh-CN" sz="2400" dirty="0">
                <a:latin typeface="宋体" charset="-122"/>
              </a:rPr>
              <a:t>&gt;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latin typeface="宋体" charset="-122"/>
              </a:rPr>
              <a:t>using namespace </a:t>
            </a:r>
            <a:r>
              <a:rPr lang="en-US" altLang="zh-CN" sz="2400" dirty="0" err="1">
                <a:latin typeface="宋体" charset="-122"/>
              </a:rPr>
              <a:t>std</a:t>
            </a:r>
            <a:r>
              <a:rPr lang="en-US" altLang="zh-CN" sz="2400" dirty="0">
                <a:latin typeface="宋体" charset="-122"/>
              </a:rPr>
              <a:t>;</a:t>
            </a:r>
          </a:p>
          <a:p>
            <a:pPr>
              <a:buNone/>
            </a:pPr>
            <a:r>
              <a:rPr lang="en-US" altLang="zh-CN" sz="2400" dirty="0">
                <a:latin typeface="宋体" charset="-122"/>
              </a:rPr>
              <a:t>class Clock	//</a:t>
            </a:r>
            <a:r>
              <a:rPr lang="zh-CN" altLang="en-US" sz="2400" dirty="0">
                <a:latin typeface="宋体" charset="-122"/>
              </a:rPr>
              <a:t>时钟类定义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latin typeface="宋体" charset="-122"/>
              </a:rPr>
              <a:t>{public:	//</a:t>
            </a:r>
            <a:r>
              <a:rPr lang="zh-CN" altLang="en-US" sz="2400" dirty="0">
                <a:latin typeface="宋体" charset="-122"/>
              </a:rPr>
              <a:t>外部接口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 dirty="0">
                <a:latin typeface="宋体" charset="-122"/>
              </a:rPr>
              <a:t>	</a:t>
            </a:r>
            <a:r>
              <a:rPr lang="en-US" altLang="zh-CN" sz="2400" dirty="0">
                <a:latin typeface="宋体" charset="-122"/>
              </a:rPr>
              <a:t>Clock();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latin typeface="宋体" charset="-122"/>
              </a:rPr>
              <a:t>	void </a:t>
            </a:r>
            <a:r>
              <a:rPr lang="en-US" altLang="zh-CN" sz="2400" dirty="0" err="1">
                <a:latin typeface="宋体" charset="-122"/>
              </a:rPr>
              <a:t>setTime</a:t>
            </a:r>
            <a:r>
              <a:rPr lang="en-US" altLang="zh-CN" sz="2400" dirty="0">
                <a:latin typeface="宋体" charset="-122"/>
              </a:rPr>
              <a:t>(</a:t>
            </a:r>
            <a:r>
              <a:rPr lang="en-US" altLang="zh-CN" sz="2400" dirty="0" err="1">
                <a:latin typeface="宋体" charset="-122"/>
              </a:rPr>
              <a:t>int</a:t>
            </a:r>
            <a:r>
              <a:rPr lang="en-US" altLang="zh-CN" sz="2400" dirty="0">
                <a:latin typeface="宋体" charset="-122"/>
              </a:rPr>
              <a:t> </a:t>
            </a:r>
            <a:r>
              <a:rPr lang="en-US" altLang="zh-CN" sz="2400" dirty="0" err="1">
                <a:latin typeface="宋体" charset="-122"/>
              </a:rPr>
              <a:t>newH</a:t>
            </a:r>
            <a:r>
              <a:rPr lang="en-US" altLang="zh-CN" sz="2400" dirty="0">
                <a:latin typeface="宋体" charset="-122"/>
              </a:rPr>
              <a:t>, </a:t>
            </a:r>
            <a:r>
              <a:rPr lang="en-US" altLang="zh-CN" sz="2400" dirty="0" err="1">
                <a:latin typeface="宋体" charset="-122"/>
              </a:rPr>
              <a:t>int</a:t>
            </a:r>
            <a:r>
              <a:rPr lang="en-US" altLang="zh-CN" sz="2400" dirty="0">
                <a:latin typeface="宋体" charset="-122"/>
              </a:rPr>
              <a:t> </a:t>
            </a:r>
            <a:r>
              <a:rPr lang="en-US" altLang="zh-CN" sz="2400" dirty="0" err="1">
                <a:latin typeface="宋体" charset="-122"/>
              </a:rPr>
              <a:t>newM</a:t>
            </a:r>
            <a:r>
              <a:rPr lang="en-US" altLang="zh-CN" sz="2400" dirty="0">
                <a:latin typeface="宋体" charset="-122"/>
              </a:rPr>
              <a:t>, </a:t>
            </a:r>
            <a:r>
              <a:rPr lang="en-US" altLang="zh-CN" sz="2400" dirty="0" err="1">
                <a:latin typeface="宋体" charset="-122"/>
              </a:rPr>
              <a:t>int</a:t>
            </a:r>
            <a:r>
              <a:rPr lang="en-US" altLang="zh-CN" sz="2400" dirty="0">
                <a:latin typeface="宋体" charset="-122"/>
              </a:rPr>
              <a:t> </a:t>
            </a:r>
            <a:r>
              <a:rPr lang="en-US" altLang="zh-CN" sz="2400" dirty="0" err="1">
                <a:latin typeface="宋体" charset="-122"/>
              </a:rPr>
              <a:t>newS</a:t>
            </a:r>
            <a:r>
              <a:rPr lang="en-US" altLang="zh-CN" sz="2400" dirty="0">
                <a:latin typeface="宋体" charset="-122"/>
              </a:rPr>
              <a:t>);   //</a:t>
            </a:r>
            <a:r>
              <a:rPr lang="zh-CN" altLang="en-US" sz="2400" dirty="0">
                <a:latin typeface="宋体" charset="-122"/>
              </a:rPr>
              <a:t>三个形参均具有函数原型作用域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 dirty="0">
                <a:latin typeface="宋体" charset="-122"/>
              </a:rPr>
              <a:t>	</a:t>
            </a:r>
            <a:r>
              <a:rPr lang="en-US" altLang="zh-CN" sz="2400" dirty="0">
                <a:latin typeface="宋体" charset="-122"/>
              </a:rPr>
              <a:t>void </a:t>
            </a:r>
            <a:r>
              <a:rPr lang="en-US" altLang="zh-CN" sz="2400" dirty="0" err="1">
                <a:latin typeface="宋体" charset="-122"/>
              </a:rPr>
              <a:t>showTime</a:t>
            </a:r>
            <a:r>
              <a:rPr lang="en-US" altLang="zh-CN" sz="2400" dirty="0">
                <a:latin typeface="宋体" charset="-122"/>
              </a:rPr>
              <a:t>();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latin typeface="宋体" charset="-122"/>
              </a:rPr>
              <a:t>private:	//</a:t>
            </a:r>
            <a:r>
              <a:rPr lang="zh-CN" altLang="en-US" sz="2400" dirty="0">
                <a:latin typeface="宋体" charset="-122"/>
              </a:rPr>
              <a:t>私有数据成员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 dirty="0">
                <a:latin typeface="宋体" charset="-122"/>
              </a:rPr>
              <a:t>	</a:t>
            </a:r>
            <a:r>
              <a:rPr lang="en-US" altLang="zh-CN" sz="2400" dirty="0" err="1">
                <a:latin typeface="宋体" charset="-122"/>
              </a:rPr>
              <a:t>int</a:t>
            </a:r>
            <a:r>
              <a:rPr lang="en-US" altLang="zh-CN" sz="2400" dirty="0">
                <a:latin typeface="宋体" charset="-122"/>
              </a:rPr>
              <a:t> hour, minute, second;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latin typeface="宋体" charset="-122"/>
              </a:rPr>
              <a:t>};</a:t>
            </a:r>
          </a:p>
        </p:txBody>
      </p:sp>
      <p:sp>
        <p:nvSpPr>
          <p:cNvPr id="2253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59160A04-C658-41EE-900F-A3DDD6381AD0}" type="slidenum">
              <a:rPr lang="en-US" altLang="zh-CN" sz="1400" smtClean="0"/>
              <a:pPr/>
              <a:t>32</a:t>
            </a:fld>
            <a:endParaRPr lang="en-US" altLang="zh-CN" sz="1400"/>
          </a:p>
        </p:txBody>
      </p:sp>
    </p:spTree>
    <p:extLst>
      <p:ext uri="{BB962C8B-B14F-4D97-AF65-F5344CB8AC3E}">
        <p14:creationId xmlns:p14="http://schemas.microsoft.com/office/powerpoint/2010/main" val="14994543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3"/>
          <p:cNvSpPr>
            <a:spLocks noGrp="1" noChangeArrowheads="1"/>
          </p:cNvSpPr>
          <p:nvPr>
            <p:ph idx="1"/>
          </p:nvPr>
        </p:nvSpPr>
        <p:spPr>
          <a:xfrm>
            <a:off x="72008" y="453008"/>
            <a:ext cx="9071992" cy="5352256"/>
          </a:xfr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CN" sz="2400" dirty="0">
                <a:latin typeface="宋体" charset="-122"/>
              </a:rPr>
              <a:t>Clock::Clock() : hour(0), minute(0), second(0) </a:t>
            </a:r>
            <a:r>
              <a:rPr lang="en-US" altLang="zh-CN" sz="2000" dirty="0">
                <a:latin typeface="宋体" charset="-122"/>
              </a:rPr>
              <a:t>	//</a:t>
            </a:r>
            <a:r>
              <a:rPr lang="zh-CN" altLang="en-US" sz="2400" dirty="0">
                <a:latin typeface="宋体" charset="-122"/>
              </a:rPr>
              <a:t>构造函数</a:t>
            </a:r>
            <a:endParaRPr lang="en-US" altLang="zh-CN" sz="2400" dirty="0">
              <a:latin typeface="宋体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latin typeface="宋体" charset="-122"/>
              </a:rPr>
              <a:t>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latin typeface="宋体" charset="-122"/>
              </a:rPr>
              <a:t>}</a:t>
            </a:r>
            <a:endParaRPr lang="zh-CN" altLang="en-US" sz="2400" dirty="0">
              <a:latin typeface="宋体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latin typeface="宋体" charset="-122"/>
              </a:rPr>
              <a:t>void Clock::</a:t>
            </a:r>
            <a:r>
              <a:rPr lang="en-US" altLang="zh-CN" sz="2400" dirty="0" err="1">
                <a:latin typeface="宋体" charset="-122"/>
              </a:rPr>
              <a:t>setTime</a:t>
            </a:r>
            <a:r>
              <a:rPr lang="en-US" altLang="zh-CN" sz="2400" dirty="0">
                <a:latin typeface="宋体" charset="-122"/>
              </a:rPr>
              <a:t>(</a:t>
            </a:r>
            <a:r>
              <a:rPr lang="en-US" altLang="zh-CN" sz="2400" dirty="0" err="1">
                <a:latin typeface="宋体" charset="-122"/>
              </a:rPr>
              <a:t>int</a:t>
            </a:r>
            <a:r>
              <a:rPr lang="en-US" altLang="zh-CN" sz="2400" dirty="0">
                <a:latin typeface="宋体" charset="-122"/>
              </a:rPr>
              <a:t> </a:t>
            </a:r>
            <a:r>
              <a:rPr lang="en-US" altLang="zh-CN" sz="2400" dirty="0" err="1">
                <a:latin typeface="宋体" charset="-122"/>
              </a:rPr>
              <a:t>newH</a:t>
            </a:r>
            <a:r>
              <a:rPr lang="en-US" altLang="zh-CN" sz="2400" dirty="0">
                <a:latin typeface="宋体" charset="-122"/>
              </a:rPr>
              <a:t>, </a:t>
            </a:r>
            <a:r>
              <a:rPr lang="en-US" altLang="zh-CN" sz="2400" dirty="0" err="1">
                <a:latin typeface="宋体" charset="-122"/>
              </a:rPr>
              <a:t>int</a:t>
            </a:r>
            <a:r>
              <a:rPr lang="en-US" altLang="zh-CN" sz="2400" dirty="0">
                <a:latin typeface="宋体" charset="-122"/>
              </a:rPr>
              <a:t> </a:t>
            </a:r>
            <a:r>
              <a:rPr lang="en-US" altLang="zh-CN" sz="2400" dirty="0" err="1">
                <a:latin typeface="宋体" charset="-122"/>
              </a:rPr>
              <a:t>newM</a:t>
            </a:r>
            <a:r>
              <a:rPr lang="en-US" altLang="zh-CN" sz="2400" dirty="0">
                <a:latin typeface="宋体" charset="-122"/>
              </a:rPr>
              <a:t>, </a:t>
            </a:r>
            <a:r>
              <a:rPr lang="en-US" altLang="zh-CN" sz="2400" dirty="0" err="1">
                <a:latin typeface="宋体" charset="-122"/>
              </a:rPr>
              <a:t>int</a:t>
            </a:r>
            <a:r>
              <a:rPr lang="en-US" altLang="zh-CN" sz="2400" dirty="0">
                <a:latin typeface="宋体" charset="-122"/>
              </a:rPr>
              <a:t> </a:t>
            </a:r>
            <a:r>
              <a:rPr lang="en-US" altLang="zh-CN" sz="2400" dirty="0" err="1">
                <a:latin typeface="宋体" charset="-122"/>
              </a:rPr>
              <a:t>newS</a:t>
            </a:r>
            <a:r>
              <a:rPr lang="en-US" altLang="zh-CN" sz="2400" dirty="0">
                <a:latin typeface="宋体" charset="-122"/>
              </a:rPr>
              <a:t>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latin typeface="宋体" charset="-122"/>
              </a:rPr>
              <a:t>{//</a:t>
            </a:r>
            <a:r>
              <a:rPr lang="zh-CN" altLang="en-US" sz="2400" dirty="0">
                <a:latin typeface="宋体" charset="-122"/>
              </a:rPr>
              <a:t>三个形参均具有局部作用域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 dirty="0">
                <a:latin typeface="宋体" charset="-122"/>
              </a:rPr>
              <a:t>	</a:t>
            </a:r>
            <a:r>
              <a:rPr lang="en-US" altLang="zh-CN" sz="2400" dirty="0">
                <a:latin typeface="宋体" charset="-122"/>
              </a:rPr>
              <a:t>hour = </a:t>
            </a:r>
            <a:r>
              <a:rPr lang="en-US" altLang="zh-CN" sz="2400" dirty="0" err="1">
                <a:latin typeface="宋体" charset="-122"/>
              </a:rPr>
              <a:t>newH</a:t>
            </a:r>
            <a:r>
              <a:rPr lang="en-US" altLang="zh-CN" sz="2400" dirty="0">
                <a:latin typeface="宋体" charset="-122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latin typeface="宋体" charset="-122"/>
              </a:rPr>
              <a:t>	minute = </a:t>
            </a:r>
            <a:r>
              <a:rPr lang="en-US" altLang="zh-CN" sz="2400" dirty="0" err="1">
                <a:latin typeface="宋体" charset="-122"/>
              </a:rPr>
              <a:t>newM</a:t>
            </a:r>
            <a:r>
              <a:rPr lang="en-US" altLang="zh-CN" sz="2400" dirty="0">
                <a:latin typeface="宋体" charset="-122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latin typeface="宋体" charset="-122"/>
              </a:rPr>
              <a:t>	second = </a:t>
            </a:r>
            <a:r>
              <a:rPr lang="en-US" altLang="zh-CN" sz="2400" dirty="0" err="1">
                <a:latin typeface="宋体" charset="-122"/>
              </a:rPr>
              <a:t>newS</a:t>
            </a:r>
            <a:r>
              <a:rPr lang="en-US" altLang="zh-CN" sz="2400" dirty="0">
                <a:latin typeface="宋体" charset="-122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latin typeface="宋体" charset="-122"/>
              </a:rPr>
              <a:t>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latin typeface="宋体" charset="-122"/>
              </a:rPr>
              <a:t>void Clock::</a:t>
            </a:r>
            <a:r>
              <a:rPr lang="en-US" altLang="zh-CN" sz="2400" dirty="0" err="1">
                <a:latin typeface="宋体" charset="-122"/>
              </a:rPr>
              <a:t>showTime</a:t>
            </a:r>
            <a:r>
              <a:rPr lang="en-US" altLang="zh-CN" sz="2400" dirty="0">
                <a:latin typeface="宋体" charset="-122"/>
              </a:rPr>
              <a:t>()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latin typeface="宋体" charset="-122"/>
              </a:rPr>
              <a:t>{	</a:t>
            </a:r>
            <a:r>
              <a:rPr lang="en-US" altLang="zh-CN" sz="2400" dirty="0" err="1">
                <a:latin typeface="宋体" charset="-122"/>
              </a:rPr>
              <a:t>cout</a:t>
            </a:r>
            <a:r>
              <a:rPr lang="en-US" altLang="zh-CN" sz="2400" dirty="0">
                <a:latin typeface="宋体" charset="-122"/>
              </a:rPr>
              <a:t> &lt;&lt; hour &lt;&lt; ":" &lt;&lt; minute &lt;&lt; ":" &lt;&lt; second &lt;&lt; </a:t>
            </a:r>
            <a:r>
              <a:rPr lang="en-US" altLang="zh-CN" sz="2400" dirty="0" err="1">
                <a:latin typeface="宋体" charset="-122"/>
              </a:rPr>
              <a:t>endl</a:t>
            </a:r>
            <a:r>
              <a:rPr lang="en-US" altLang="zh-CN" sz="2400" dirty="0">
                <a:latin typeface="宋体" charset="-122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latin typeface="宋体" charset="-122"/>
              </a:rPr>
              <a:t>}</a:t>
            </a:r>
          </a:p>
        </p:txBody>
      </p:sp>
      <p:sp>
        <p:nvSpPr>
          <p:cNvPr id="23555" name="Text Box 5"/>
          <p:cNvSpPr txBox="1">
            <a:spLocks noChangeArrowheads="1"/>
          </p:cNvSpPr>
          <p:nvPr/>
        </p:nvSpPr>
        <p:spPr bwMode="auto">
          <a:xfrm>
            <a:off x="8610600" y="6521450"/>
            <a:ext cx="533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600"/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40911773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1027"/>
          <p:cNvSpPr>
            <a:spLocks noGrp="1" noChangeArrowheads="1"/>
          </p:cNvSpPr>
          <p:nvPr>
            <p:ph idx="1"/>
          </p:nvPr>
        </p:nvSpPr>
        <p:spPr>
          <a:xfrm>
            <a:off x="395536" y="332656"/>
            <a:ext cx="8283575" cy="6096000"/>
          </a:xfr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latin typeface="宋体" charset="-122"/>
              </a:rPr>
              <a:t>Clock </a:t>
            </a:r>
            <a:r>
              <a:rPr lang="en-US" altLang="zh-CN" sz="2400" dirty="0" err="1">
                <a:latin typeface="宋体" charset="-122"/>
              </a:rPr>
              <a:t>globClock</a:t>
            </a:r>
            <a:r>
              <a:rPr lang="en-US" altLang="zh-CN" sz="2400" dirty="0">
                <a:latin typeface="宋体" charset="-122"/>
              </a:rPr>
              <a:t>;//</a:t>
            </a:r>
            <a:r>
              <a:rPr lang="zh-CN" altLang="en-US" sz="2400" dirty="0">
                <a:latin typeface="宋体" charset="-122"/>
              </a:rPr>
              <a:t>声明对象</a:t>
            </a:r>
            <a:r>
              <a:rPr lang="en-US" altLang="zh-CN" sz="2400" dirty="0" err="1">
                <a:latin typeface="宋体" charset="-122"/>
              </a:rPr>
              <a:t>globClock</a:t>
            </a:r>
            <a:r>
              <a:rPr lang="zh-CN" altLang="en-US" sz="2400" dirty="0">
                <a:latin typeface="宋体" charset="-122"/>
              </a:rPr>
              <a:t>，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 dirty="0">
                <a:latin typeface="宋体" charset="-122"/>
              </a:rPr>
              <a:t>                </a:t>
            </a:r>
            <a:r>
              <a:rPr lang="en-US" altLang="zh-CN" sz="2400" dirty="0">
                <a:latin typeface="宋体" charset="-122"/>
              </a:rPr>
              <a:t>//</a:t>
            </a:r>
            <a:r>
              <a:rPr lang="zh-CN" altLang="en-US" sz="2400" dirty="0">
                <a:latin typeface="宋体" charset="-122"/>
              </a:rPr>
              <a:t>具有静态生存期，文件作用域</a:t>
            </a:r>
          </a:p>
          <a:p>
            <a:pPr>
              <a:buNone/>
            </a:pPr>
            <a:r>
              <a:rPr lang="en-US" altLang="zh-CN" sz="2400" dirty="0" err="1">
                <a:latin typeface="宋体" charset="-122"/>
              </a:rPr>
              <a:t>int</a:t>
            </a:r>
            <a:r>
              <a:rPr lang="en-US" altLang="zh-CN" sz="2400" dirty="0">
                <a:latin typeface="宋体" charset="-122"/>
              </a:rPr>
              <a:t> main()	 //</a:t>
            </a:r>
            <a:r>
              <a:rPr lang="zh-CN" altLang="en-US" sz="2400" dirty="0">
                <a:latin typeface="宋体" charset="-122"/>
              </a:rPr>
              <a:t>主函数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latin typeface="宋体" charset="-122"/>
              </a:rPr>
              <a:t>{	</a:t>
            </a:r>
            <a:r>
              <a:rPr lang="en-US" altLang="zh-CN" sz="2400" dirty="0" err="1">
                <a:latin typeface="宋体" charset="-122"/>
              </a:rPr>
              <a:t>cout</a:t>
            </a:r>
            <a:r>
              <a:rPr lang="en-US" altLang="zh-CN" sz="2400" dirty="0">
                <a:latin typeface="宋体" charset="-122"/>
              </a:rPr>
              <a:t> &lt;&lt; "First time output:" &lt;&lt; </a:t>
            </a:r>
            <a:r>
              <a:rPr lang="en-US" altLang="zh-CN" sz="2400" dirty="0" err="1">
                <a:latin typeface="宋体" charset="-122"/>
              </a:rPr>
              <a:t>endl</a:t>
            </a:r>
            <a:r>
              <a:rPr lang="en-US" altLang="zh-CN" sz="2400" dirty="0">
                <a:latin typeface="宋体" charset="-122"/>
              </a:rPr>
              <a:t>;	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latin typeface="宋体" charset="-122"/>
              </a:rPr>
              <a:t>	//</a:t>
            </a:r>
            <a:r>
              <a:rPr lang="zh-CN" altLang="en-US" sz="2400" dirty="0">
                <a:latin typeface="宋体" charset="-122"/>
              </a:rPr>
              <a:t>引用具有文件作用域的对象：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 dirty="0">
                <a:latin typeface="宋体" charset="-122"/>
              </a:rPr>
              <a:t>	</a:t>
            </a:r>
            <a:r>
              <a:rPr lang="en-US" altLang="zh-CN" sz="2400" dirty="0" err="1">
                <a:latin typeface="宋体" charset="-122"/>
              </a:rPr>
              <a:t>globClock.showTime</a:t>
            </a:r>
            <a:r>
              <a:rPr lang="en-US" altLang="zh-CN" sz="2400" dirty="0">
                <a:latin typeface="宋体" charset="-122"/>
              </a:rPr>
              <a:t>();//</a:t>
            </a:r>
            <a:r>
              <a:rPr lang="zh-CN" altLang="en-US" sz="2400" dirty="0">
                <a:latin typeface="宋体" charset="-122"/>
              </a:rPr>
              <a:t>对象的成员函数具有类作用域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 dirty="0">
                <a:latin typeface="宋体" charset="-122"/>
              </a:rPr>
              <a:t>	</a:t>
            </a:r>
            <a:r>
              <a:rPr lang="en-US" altLang="zh-CN" sz="2400" dirty="0" err="1">
                <a:latin typeface="宋体" charset="-122"/>
              </a:rPr>
              <a:t>globClock.setTime</a:t>
            </a:r>
            <a:r>
              <a:rPr lang="en-US" altLang="zh-CN" sz="2400" dirty="0">
                <a:latin typeface="宋体" charset="-122"/>
              </a:rPr>
              <a:t>(8,30,30);	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latin typeface="宋体" charset="-122"/>
              </a:rPr>
              <a:t>	Clock </a:t>
            </a:r>
            <a:r>
              <a:rPr lang="en-US" altLang="zh-CN" sz="2400" dirty="0" err="1">
                <a:latin typeface="宋体" charset="-122"/>
              </a:rPr>
              <a:t>myClock</a:t>
            </a:r>
            <a:r>
              <a:rPr lang="en-US" altLang="zh-CN" sz="2400" dirty="0">
                <a:latin typeface="宋体" charset="-122"/>
              </a:rPr>
              <a:t>(</a:t>
            </a:r>
            <a:r>
              <a:rPr lang="en-US" altLang="zh-CN" sz="2400" dirty="0" err="1">
                <a:latin typeface="宋体" charset="-122"/>
              </a:rPr>
              <a:t>globClock</a:t>
            </a:r>
            <a:r>
              <a:rPr lang="en-US" altLang="zh-CN" sz="2400" dirty="0">
                <a:latin typeface="宋体" charset="-122"/>
              </a:rPr>
              <a:t>);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latin typeface="宋体" charset="-122"/>
              </a:rPr>
              <a:t>        //</a:t>
            </a:r>
            <a:r>
              <a:rPr lang="zh-CN" altLang="en-US" sz="2400" dirty="0">
                <a:latin typeface="宋体" charset="-122"/>
              </a:rPr>
              <a:t>声明具有块作用域的对象</a:t>
            </a:r>
            <a:r>
              <a:rPr lang="en-US" altLang="zh-CN" sz="2400" dirty="0" err="1">
                <a:latin typeface="宋体" charset="-122"/>
              </a:rPr>
              <a:t>myClock</a:t>
            </a:r>
            <a:endParaRPr lang="en-US" altLang="zh-CN" sz="2400" dirty="0">
              <a:latin typeface="宋体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latin typeface="宋体" charset="-122"/>
              </a:rPr>
              <a:t>	</a:t>
            </a:r>
            <a:r>
              <a:rPr lang="en-US" altLang="zh-CN" sz="2400" dirty="0" err="1">
                <a:latin typeface="宋体" charset="-122"/>
              </a:rPr>
              <a:t>cout</a:t>
            </a:r>
            <a:r>
              <a:rPr lang="en-US" altLang="zh-CN" sz="2400" dirty="0">
                <a:latin typeface="宋体" charset="-122"/>
              </a:rPr>
              <a:t>&lt;&lt;"Second time output:"&lt;&lt;</a:t>
            </a:r>
            <a:r>
              <a:rPr lang="en-US" altLang="zh-CN" sz="2400" dirty="0" err="1">
                <a:latin typeface="宋体" charset="-122"/>
              </a:rPr>
              <a:t>endl</a:t>
            </a:r>
            <a:r>
              <a:rPr lang="en-US" altLang="zh-CN" sz="2400" dirty="0">
                <a:latin typeface="宋体" charset="-122"/>
              </a:rPr>
              <a:t>;	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latin typeface="宋体" charset="-122"/>
              </a:rPr>
              <a:t>	</a:t>
            </a:r>
            <a:r>
              <a:rPr lang="en-US" altLang="zh-CN" sz="2400" dirty="0" err="1">
                <a:latin typeface="宋体" charset="-122"/>
              </a:rPr>
              <a:t>myClock.showTime</a:t>
            </a:r>
            <a:r>
              <a:rPr lang="en-US" altLang="zh-CN" sz="2400" dirty="0">
                <a:latin typeface="宋体" charset="-122"/>
              </a:rPr>
              <a:t>();	//</a:t>
            </a:r>
            <a:r>
              <a:rPr lang="zh-CN" altLang="en-US" sz="2400" dirty="0">
                <a:latin typeface="宋体" charset="-122"/>
              </a:rPr>
              <a:t>引用具有块作用域的对象</a:t>
            </a:r>
            <a:endParaRPr lang="en-US" altLang="zh-CN" sz="2400" dirty="0">
              <a:latin typeface="宋体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latin typeface="宋体" charset="-122"/>
              </a:rPr>
              <a:t>	return 0;</a:t>
            </a:r>
            <a:endParaRPr lang="zh-CN" altLang="en-US" sz="2400" dirty="0">
              <a:latin typeface="宋体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latin typeface="宋体" charset="-122"/>
              </a:rPr>
              <a:t>}</a:t>
            </a:r>
          </a:p>
        </p:txBody>
      </p:sp>
      <p:sp>
        <p:nvSpPr>
          <p:cNvPr id="24579" name="Text Box 1029"/>
          <p:cNvSpPr txBox="1">
            <a:spLocks noChangeArrowheads="1"/>
          </p:cNvSpPr>
          <p:nvPr/>
        </p:nvSpPr>
        <p:spPr bwMode="auto">
          <a:xfrm>
            <a:off x="8610600" y="6521450"/>
            <a:ext cx="533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600"/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1218732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idx="1"/>
          </p:nvPr>
        </p:nvSpPr>
        <p:spPr>
          <a:xfrm>
            <a:off x="762000" y="1202432"/>
            <a:ext cx="7194376" cy="3522712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dirty="0">
                <a:latin typeface="宋体" charset="-122"/>
              </a:rPr>
              <a:t>程序的运行结果为：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latin typeface="宋体" charset="-122"/>
              </a:rPr>
              <a:t>First time output: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latin typeface="宋体" charset="-122"/>
              </a:rPr>
              <a:t>0:0:0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latin typeface="宋体" charset="-122"/>
              </a:rPr>
              <a:t>Second time output: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latin typeface="宋体" charset="-122"/>
              </a:rPr>
              <a:t>8:30:30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dirty="0">
              <a:latin typeface="宋体" charset="-122"/>
            </a:endParaRPr>
          </a:p>
        </p:txBody>
      </p:sp>
      <p:sp>
        <p:nvSpPr>
          <p:cNvPr id="25603" name="Text Box 5"/>
          <p:cNvSpPr txBox="1">
            <a:spLocks noChangeArrowheads="1"/>
          </p:cNvSpPr>
          <p:nvPr/>
        </p:nvSpPr>
        <p:spPr bwMode="auto">
          <a:xfrm>
            <a:off x="8610600" y="6521450"/>
            <a:ext cx="533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600"/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42960508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zh-CN" altLang="en-US" dirty="0"/>
              <a:t>为什么设计</a:t>
            </a:r>
            <a:r>
              <a:rPr lang="en-US" altLang="zh-CN" dirty="0"/>
              <a:t>static</a:t>
            </a:r>
            <a:r>
              <a:rPr lang="zh-CN" altLang="en-US" dirty="0"/>
              <a:t>变量？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1187624" y="2060848"/>
            <a:ext cx="6840760" cy="864096"/>
          </a:xfrm>
        </p:spPr>
        <p:txBody>
          <a:bodyPr>
            <a:noAutofit/>
          </a:bodyPr>
          <a:lstStyle/>
          <a:p>
            <a:pPr marL="0" indent="0" algn="just" eaLnBrk="1" hangingPunct="1">
              <a:lnSpc>
                <a:spcPct val="90000"/>
              </a:lnSpc>
              <a:buNone/>
              <a:defRPr/>
            </a:pPr>
            <a:r>
              <a:rPr lang="zh-CN" altLang="en-US" sz="4000" dirty="0"/>
              <a:t>程序模块化  并且  数据共享</a:t>
            </a:r>
          </a:p>
        </p:txBody>
      </p:sp>
      <p:sp>
        <p:nvSpPr>
          <p:cNvPr id="409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1A7BEDC6-3DB4-4D00-BBFB-88877B2CC616}" type="slidenum">
              <a:rPr lang="en-US" altLang="zh-CN" sz="1400" smtClean="0"/>
              <a:pPr/>
              <a:t>36</a:t>
            </a:fld>
            <a:endParaRPr lang="en-US" altLang="zh-CN" sz="1400"/>
          </a:p>
        </p:txBody>
      </p:sp>
      <p:grpSp>
        <p:nvGrpSpPr>
          <p:cNvPr id="3" name="组合 2"/>
          <p:cNvGrpSpPr/>
          <p:nvPr/>
        </p:nvGrpSpPr>
        <p:grpSpPr>
          <a:xfrm>
            <a:off x="683568" y="3284984"/>
            <a:ext cx="7920880" cy="648072"/>
            <a:chOff x="683568" y="3284984"/>
            <a:chExt cx="7920880" cy="648072"/>
          </a:xfrm>
        </p:grpSpPr>
        <p:sp>
          <p:nvSpPr>
            <p:cNvPr id="5" name="Rectangle 3"/>
            <p:cNvSpPr txBox="1">
              <a:spLocks noChangeArrowheads="1"/>
            </p:cNvSpPr>
            <p:nvPr/>
          </p:nvSpPr>
          <p:spPr>
            <a:xfrm>
              <a:off x="683568" y="3284984"/>
              <a:ext cx="7920880" cy="648072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txBody>
            <a:bodyPr vert="horz" rtlCol="0">
              <a:noAutofit/>
            </a:bodyPr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 2"/>
                <a:buChar char="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accent2"/>
                </a:buClr>
                <a:buSzPct val="50000"/>
                <a:buFont typeface="Wingdings 2"/>
                <a:buChar char="³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accent3"/>
                </a:buClr>
                <a:buSzPct val="60000"/>
                <a:buFont typeface="Wingdings 2"/>
                <a:buChar char="®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accent5"/>
                </a:buClr>
                <a:buSzPct val="45000"/>
                <a:buFont typeface="Wingdings 2"/>
                <a:buChar char="¯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accent6"/>
                </a:buClr>
                <a:buFont typeface="Wingdings 2"/>
                <a:buChar char="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rtl="0" eaLnBrk="1" latinLnBrk="0" hangingPunct="1">
                <a:spcBef>
                  <a:spcPct val="20000"/>
                </a:spcBef>
                <a:buFont typeface="Arial"/>
                <a:buChar char="•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rtl="0" eaLnBrk="1" latinLnBrk="0" hangingPunct="1">
                <a:spcBef>
                  <a:spcPct val="20000"/>
                </a:spcBef>
                <a:buFont typeface="Arial"/>
                <a:buChar char="•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rtl="0" eaLnBrk="1" latinLnBrk="0" hangingPunct="1">
                <a:spcBef>
                  <a:spcPct val="20000"/>
                </a:spcBef>
                <a:buFont typeface="Arial"/>
                <a:buChar char="•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rtl="0" eaLnBrk="1" latinLnBrk="0" hangingPunct="1">
                <a:spcBef>
                  <a:spcPct val="20000"/>
                </a:spcBef>
                <a:buFont typeface="Arial"/>
                <a:buChar char="•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lnSpc>
                  <a:spcPct val="90000"/>
                </a:lnSpc>
                <a:buFont typeface="Wingdings 2"/>
                <a:buNone/>
                <a:defRPr/>
              </a:pPr>
              <a:r>
                <a:rPr lang="zh-CN" altLang="en-US" dirty="0"/>
                <a:t>函数中的</a:t>
              </a:r>
              <a:r>
                <a:rPr lang="en-US" altLang="zh-CN" dirty="0"/>
                <a:t>static</a:t>
              </a:r>
              <a:r>
                <a:rPr lang="zh-CN" altLang="en-US" dirty="0"/>
                <a:t>变量      本函数内的数据共享</a:t>
              </a:r>
            </a:p>
          </p:txBody>
        </p:sp>
        <p:sp>
          <p:nvSpPr>
            <p:cNvPr id="2" name="右箭头 1"/>
            <p:cNvSpPr/>
            <p:nvPr/>
          </p:nvSpPr>
          <p:spPr>
            <a:xfrm>
              <a:off x="4283968" y="3501008"/>
              <a:ext cx="432048" cy="10801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059655" y="4293096"/>
            <a:ext cx="7520362" cy="1080120"/>
            <a:chOff x="1059655" y="4293096"/>
            <a:chExt cx="7520362" cy="1080120"/>
          </a:xfrm>
        </p:grpSpPr>
        <p:sp>
          <p:nvSpPr>
            <p:cNvPr id="6" name="Rectangle 3"/>
            <p:cNvSpPr txBox="1">
              <a:spLocks noChangeArrowheads="1"/>
            </p:cNvSpPr>
            <p:nvPr/>
          </p:nvSpPr>
          <p:spPr>
            <a:xfrm>
              <a:off x="1059655" y="4293096"/>
              <a:ext cx="7505797" cy="648072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txBody>
            <a:bodyPr vert="horz" rtlCol="0">
              <a:noAutofit/>
            </a:bodyPr>
            <a:lstStyle>
              <a:defPPr>
                <a:defRPr lang="zh-CN"/>
              </a:defPPr>
              <a:lvl1pPr indent="0" algn="just">
                <a:lnSpc>
                  <a:spcPct val="90000"/>
                </a:lnSpc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 2"/>
                <a:buNone/>
                <a:defRPr kumimoji="0" sz="3200"/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0000"/>
                <a:buFont typeface="Wingdings 2"/>
                <a:buChar char="³"/>
                <a:defRPr kumimoji="0" sz="2800"/>
              </a:lvl2pPr>
              <a:lvl3pPr marL="1143000" indent="-228600">
                <a:spcBef>
                  <a:spcPct val="20000"/>
                </a:spcBef>
                <a:buClr>
                  <a:schemeClr val="accent3"/>
                </a:buClr>
                <a:buSzPct val="60000"/>
                <a:buFont typeface="Wingdings 2"/>
                <a:buChar char="®"/>
                <a:defRPr kumimoji="0" sz="2400"/>
              </a:lvl3pPr>
              <a:lvl4pPr marL="1600200" indent="-228600">
                <a:spcBef>
                  <a:spcPct val="20000"/>
                </a:spcBef>
                <a:buClr>
                  <a:schemeClr val="accent5"/>
                </a:buClr>
                <a:buSzPct val="45000"/>
                <a:buFont typeface="Wingdings 2"/>
                <a:buChar char="¯"/>
                <a:defRPr kumimoji="0" sz="2000"/>
              </a:lvl4pPr>
              <a:lvl5pPr marL="2057400" indent="-228600">
                <a:spcBef>
                  <a:spcPct val="20000"/>
                </a:spcBef>
                <a:buClr>
                  <a:schemeClr val="accent6"/>
                </a:buClr>
                <a:buFont typeface="Wingdings 2"/>
                <a:buChar char=""/>
                <a:defRPr kumimoji="0" sz="2000"/>
              </a:lvl5pPr>
              <a:lvl6pPr marL="2514600" indent="-228600">
                <a:spcBef>
                  <a:spcPct val="20000"/>
                </a:spcBef>
                <a:buFont typeface="Arial"/>
                <a:buChar char="•"/>
                <a:defRPr kumimoji="0" sz="2000"/>
              </a:lvl6pPr>
              <a:lvl7pPr marL="2971800" indent="-228600">
                <a:spcBef>
                  <a:spcPct val="20000"/>
                </a:spcBef>
                <a:buFont typeface="Arial"/>
                <a:buChar char="•"/>
                <a:defRPr kumimoji="0" sz="2000"/>
              </a:lvl7pPr>
              <a:lvl8pPr marL="3429000" indent="-228600">
                <a:spcBef>
                  <a:spcPct val="20000"/>
                </a:spcBef>
                <a:buFont typeface="Arial"/>
                <a:buChar char="•"/>
                <a:defRPr kumimoji="0" sz="2000"/>
              </a:lvl8pPr>
              <a:lvl9pPr marL="3886200" indent="-228600">
                <a:spcBef>
                  <a:spcPct val="20000"/>
                </a:spcBef>
                <a:buFont typeface="Arial"/>
                <a:buChar char="•"/>
                <a:defRPr kumimoji="0" sz="2000"/>
              </a:lvl9pPr>
            </a:lstStyle>
            <a:p>
              <a:r>
                <a:rPr lang="zh-CN" altLang="en-US" dirty="0"/>
                <a:t>类中的</a:t>
              </a:r>
              <a:r>
                <a:rPr lang="en-US" altLang="zh-CN" dirty="0"/>
                <a:t>static</a:t>
              </a:r>
              <a:r>
                <a:rPr lang="zh-CN" altLang="en-US" dirty="0"/>
                <a:t>变量           本类内的数据共享</a:t>
              </a:r>
            </a:p>
          </p:txBody>
        </p:sp>
        <p:sp>
          <p:nvSpPr>
            <p:cNvPr id="7" name="Rectangle 3"/>
            <p:cNvSpPr txBox="1">
              <a:spLocks noChangeArrowheads="1"/>
            </p:cNvSpPr>
            <p:nvPr/>
          </p:nvSpPr>
          <p:spPr>
            <a:xfrm>
              <a:off x="3851920" y="4941168"/>
              <a:ext cx="4728097" cy="432048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txBody>
            <a:bodyPr vert="horz" rtlCol="0">
              <a:noAutofit/>
            </a:bodyPr>
            <a:lstStyle>
              <a:defPPr>
                <a:defRPr lang="zh-CN"/>
              </a:defPPr>
              <a:lvl1pPr indent="0" algn="just">
                <a:lnSpc>
                  <a:spcPct val="90000"/>
                </a:lnSpc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 2"/>
                <a:buNone/>
                <a:defRPr kumimoji="0" sz="3200"/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50000"/>
                <a:buFont typeface="Wingdings 2"/>
                <a:buChar char="³"/>
                <a:defRPr kumimoji="0" sz="2800"/>
              </a:lvl2pPr>
              <a:lvl3pPr marL="1143000" indent="-228600">
                <a:spcBef>
                  <a:spcPct val="20000"/>
                </a:spcBef>
                <a:buClr>
                  <a:schemeClr val="accent3"/>
                </a:buClr>
                <a:buSzPct val="60000"/>
                <a:buFont typeface="Wingdings 2"/>
                <a:buChar char="®"/>
                <a:defRPr kumimoji="0" sz="2400"/>
              </a:lvl3pPr>
              <a:lvl4pPr marL="1600200" indent="-228600">
                <a:spcBef>
                  <a:spcPct val="20000"/>
                </a:spcBef>
                <a:buClr>
                  <a:schemeClr val="accent5"/>
                </a:buClr>
                <a:buSzPct val="45000"/>
                <a:buFont typeface="Wingdings 2"/>
                <a:buChar char="¯"/>
                <a:defRPr kumimoji="0" sz="2000"/>
              </a:lvl4pPr>
              <a:lvl5pPr marL="2057400" indent="-228600">
                <a:spcBef>
                  <a:spcPct val="20000"/>
                </a:spcBef>
                <a:buClr>
                  <a:schemeClr val="accent6"/>
                </a:buClr>
                <a:buFont typeface="Wingdings 2"/>
                <a:buChar char=""/>
                <a:defRPr kumimoji="0" sz="2000"/>
              </a:lvl5pPr>
              <a:lvl6pPr marL="2514600" indent="-228600">
                <a:spcBef>
                  <a:spcPct val="20000"/>
                </a:spcBef>
                <a:buFont typeface="Arial"/>
                <a:buChar char="•"/>
                <a:defRPr kumimoji="0" sz="2000"/>
              </a:lvl6pPr>
              <a:lvl7pPr marL="2971800" indent="-228600">
                <a:spcBef>
                  <a:spcPct val="20000"/>
                </a:spcBef>
                <a:buFont typeface="Arial"/>
                <a:buChar char="•"/>
                <a:defRPr kumimoji="0" sz="2000"/>
              </a:lvl7pPr>
              <a:lvl8pPr marL="3429000" indent="-228600">
                <a:spcBef>
                  <a:spcPct val="20000"/>
                </a:spcBef>
                <a:buFont typeface="Arial"/>
                <a:buChar char="•"/>
                <a:defRPr kumimoji="0" sz="2000"/>
              </a:lvl8pPr>
              <a:lvl9pPr marL="3886200" indent="-228600">
                <a:spcBef>
                  <a:spcPct val="20000"/>
                </a:spcBef>
                <a:buFont typeface="Arial"/>
                <a:buChar char="•"/>
                <a:defRPr kumimoji="0" sz="2000"/>
              </a:lvl9pPr>
            </a:lstStyle>
            <a:p>
              <a:r>
                <a:rPr lang="zh-CN" altLang="en-US" sz="2400" dirty="0"/>
                <a:t>（本类的所有对象间的数据共享）</a:t>
              </a:r>
            </a:p>
          </p:txBody>
        </p:sp>
        <p:sp>
          <p:nvSpPr>
            <p:cNvPr id="9" name="右箭头 8"/>
            <p:cNvSpPr/>
            <p:nvPr/>
          </p:nvSpPr>
          <p:spPr>
            <a:xfrm>
              <a:off x="4355976" y="4509120"/>
              <a:ext cx="432048" cy="10801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648342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altLang="zh-CN" dirty="0"/>
              <a:t>3.3 </a:t>
            </a:r>
            <a:r>
              <a:rPr lang="zh-CN" altLang="en-US" dirty="0"/>
              <a:t>类的静态成员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1547664" y="2276872"/>
            <a:ext cx="4032448" cy="2016224"/>
          </a:xfrm>
        </p:spPr>
        <p:txBody>
          <a:bodyPr>
            <a:normAutofit/>
          </a:bodyPr>
          <a:lstStyle/>
          <a:p>
            <a:pPr marL="0" indent="0" algn="just" eaLnBrk="1" hangingPunct="1">
              <a:lnSpc>
                <a:spcPct val="90000"/>
              </a:lnSpc>
              <a:buNone/>
              <a:defRPr/>
            </a:pPr>
            <a:r>
              <a:rPr lang="en-US" altLang="zh-CN" dirty="0"/>
              <a:t>3.3.1 </a:t>
            </a:r>
            <a:r>
              <a:rPr lang="zh-CN" altLang="en-US" dirty="0"/>
              <a:t>静态成员数据</a:t>
            </a:r>
            <a:endParaRPr lang="en-US" altLang="zh-CN" dirty="0"/>
          </a:p>
          <a:p>
            <a:pPr marL="0" indent="0" algn="just" eaLnBrk="1" hangingPunct="1">
              <a:lnSpc>
                <a:spcPct val="90000"/>
              </a:lnSpc>
              <a:buNone/>
              <a:defRPr/>
            </a:pPr>
            <a:endParaRPr lang="zh-CN" altLang="en-US" dirty="0"/>
          </a:p>
          <a:p>
            <a:pPr marL="0" indent="0" algn="just" eaLnBrk="1" hangingPunct="1">
              <a:lnSpc>
                <a:spcPct val="90000"/>
              </a:lnSpc>
              <a:buNone/>
              <a:defRPr/>
            </a:pPr>
            <a:r>
              <a:rPr lang="en-US" altLang="zh-CN" dirty="0"/>
              <a:t>3.3.2 </a:t>
            </a:r>
            <a:r>
              <a:rPr lang="zh-CN" altLang="en-US" dirty="0"/>
              <a:t>静态成员函数</a:t>
            </a:r>
          </a:p>
        </p:txBody>
      </p:sp>
      <p:sp>
        <p:nvSpPr>
          <p:cNvPr id="409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1A7BEDC6-3DB4-4D00-BBFB-88877B2CC616}" type="slidenum">
              <a:rPr lang="en-US" altLang="zh-CN" sz="1400" smtClean="0"/>
              <a:pPr/>
              <a:t>37</a:t>
            </a:fld>
            <a:endParaRPr lang="en-US" altLang="zh-CN" sz="140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3275856" y="1268760"/>
            <a:ext cx="3826336" cy="720080"/>
          </a:xfrm>
          <a:prstGeom prst="rect">
            <a:avLst/>
          </a:prstGeom>
        </p:spPr>
        <p:txBody>
          <a:bodyPr vert="horz" rtlCol="0">
            <a:normAutofit/>
          </a:bodyPr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50000"/>
              <a:buFont typeface="Wingdings 2"/>
              <a:buChar char="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50000"/>
              <a:buFont typeface="Wingdings 2"/>
              <a:buChar char="³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0000"/>
              <a:buFont typeface="Wingdings 2"/>
              <a:buChar char="®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accent5"/>
              </a:buClr>
              <a:buSzPct val="45000"/>
              <a:buFont typeface="Wingdings 2"/>
              <a:buChar char="¯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90000"/>
              </a:lnSpc>
              <a:buFont typeface="Wingdings 2"/>
              <a:buNone/>
              <a:defRPr/>
            </a:pPr>
            <a:r>
              <a:rPr lang="zh-CN" altLang="en-US" dirty="0"/>
              <a:t>类中的</a:t>
            </a:r>
            <a:r>
              <a:rPr lang="en-US" altLang="zh-CN" dirty="0"/>
              <a:t>static</a:t>
            </a:r>
            <a:r>
              <a:rPr lang="zh-CN" altLang="en-US" dirty="0"/>
              <a:t>成员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5220072" y="1996832"/>
            <a:ext cx="3114248" cy="107212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vert="horz" rtlCol="0">
            <a:normAutofit/>
          </a:bodyPr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50000"/>
              <a:buFont typeface="Wingdings 2"/>
              <a:buChar char="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50000"/>
              <a:buFont typeface="Wingdings 2"/>
              <a:buChar char="³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0000"/>
              <a:buFont typeface="Wingdings 2"/>
              <a:buChar char="®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accent5"/>
              </a:buClr>
              <a:buSzPct val="45000"/>
              <a:buFont typeface="Wingdings 2"/>
              <a:buChar char="¯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90000"/>
              </a:lnSpc>
              <a:buFont typeface="Wingdings 2"/>
              <a:buNone/>
              <a:defRPr/>
            </a:pPr>
            <a:r>
              <a:rPr lang="zh-CN" altLang="en-US" dirty="0"/>
              <a:t>类的所有对象间</a:t>
            </a:r>
            <a:endParaRPr lang="en-US" altLang="zh-CN" dirty="0"/>
          </a:p>
          <a:p>
            <a:pPr marL="0" indent="0" algn="just">
              <a:lnSpc>
                <a:spcPct val="90000"/>
              </a:lnSpc>
              <a:buFont typeface="Wingdings 2"/>
              <a:buNone/>
              <a:defRPr/>
            </a:pPr>
            <a:r>
              <a:rPr lang="zh-CN" altLang="en-US" dirty="0"/>
              <a:t>的数据共享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467544" y="2420888"/>
            <a:ext cx="1107996" cy="1296144"/>
            <a:chOff x="1043608" y="2420888"/>
            <a:chExt cx="1107996" cy="792088"/>
          </a:xfrm>
        </p:grpSpPr>
        <p:sp>
          <p:nvSpPr>
            <p:cNvPr id="2" name="左大括号 1"/>
            <p:cNvSpPr/>
            <p:nvPr/>
          </p:nvSpPr>
          <p:spPr>
            <a:xfrm>
              <a:off x="1907704" y="2420888"/>
              <a:ext cx="216024" cy="792088"/>
            </a:xfrm>
            <a:prstGeom prst="leftBrac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矩形 2"/>
            <p:cNvSpPr/>
            <p:nvPr/>
          </p:nvSpPr>
          <p:spPr>
            <a:xfrm>
              <a:off x="1043608" y="2663301"/>
              <a:ext cx="110799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dirty="0"/>
                <a:t>包括：</a:t>
              </a:r>
            </a:p>
          </p:txBody>
        </p:sp>
      </p:grpSp>
      <p:cxnSp>
        <p:nvCxnSpPr>
          <p:cNvPr id="8" name="直接连接符 7"/>
          <p:cNvCxnSpPr/>
          <p:nvPr/>
        </p:nvCxnSpPr>
        <p:spPr>
          <a:xfrm>
            <a:off x="2699792" y="2817564"/>
            <a:ext cx="2088232" cy="0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2699792" y="3861048"/>
            <a:ext cx="2088232" cy="0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3"/>
          <p:cNvSpPr txBox="1">
            <a:spLocks noChangeArrowheads="1"/>
          </p:cNvSpPr>
          <p:nvPr/>
        </p:nvSpPr>
        <p:spPr>
          <a:xfrm>
            <a:off x="5220072" y="3797032"/>
            <a:ext cx="3528392" cy="107212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vert="horz" rtlCol="0">
            <a:normAutofit/>
          </a:bodyPr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50000"/>
              <a:buFont typeface="Wingdings 2"/>
              <a:buChar char="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50000"/>
              <a:buFont typeface="Wingdings 2"/>
              <a:buChar char="³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0000"/>
              <a:buFont typeface="Wingdings 2"/>
              <a:buChar char="®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accent5"/>
              </a:buClr>
              <a:buSzPct val="45000"/>
              <a:buFont typeface="Wingdings 2"/>
              <a:buChar char="¯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90000"/>
              </a:lnSpc>
              <a:buFont typeface="Wingdings 2"/>
              <a:buNone/>
              <a:defRPr/>
            </a:pPr>
            <a:r>
              <a:rPr lang="zh-CN" altLang="en-US" dirty="0"/>
              <a:t>操作类的静态数据的函数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836FB54-3F72-F248-91FF-06C0B13E54B3}"/>
              </a:ext>
            </a:extLst>
          </p:cNvPr>
          <p:cNvSpPr txBox="1"/>
          <p:nvPr/>
        </p:nvSpPr>
        <p:spPr>
          <a:xfrm>
            <a:off x="467544" y="4437112"/>
            <a:ext cx="25651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写了</a:t>
            </a:r>
            <a:r>
              <a:rPr kumimoji="1" lang="en-US" altLang="zh-CN" dirty="0"/>
              <a:t>static</a:t>
            </a:r>
            <a:r>
              <a:rPr kumimoji="1" lang="zh-CN" altLang="en-US" dirty="0"/>
              <a:t>：类的行为</a:t>
            </a:r>
            <a:endParaRPr kumimoji="1" lang="en-US" altLang="zh-CN" dirty="0"/>
          </a:p>
          <a:p>
            <a:r>
              <a:rPr kumimoji="1" lang="zh-CN" altLang="en-US" dirty="0"/>
              <a:t>没写</a:t>
            </a:r>
            <a:r>
              <a:rPr kumimoji="1" lang="en-US" altLang="zh-CN" dirty="0"/>
              <a:t>static</a:t>
            </a:r>
            <a:r>
              <a:rPr kumimoji="1" lang="zh-CN" altLang="en-US" dirty="0"/>
              <a:t>：对象的行为</a:t>
            </a:r>
          </a:p>
        </p:txBody>
      </p:sp>
    </p:spTree>
    <p:extLst>
      <p:ext uri="{BB962C8B-B14F-4D97-AF65-F5344CB8AC3E}">
        <p14:creationId xmlns:p14="http://schemas.microsoft.com/office/powerpoint/2010/main" val="2815582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>
          <a:xfrm>
            <a:off x="755576" y="-27384"/>
            <a:ext cx="7315200" cy="72008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zh-CN" altLang="en-US" dirty="0"/>
              <a:t>静态成员应用场景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idx="1"/>
          </p:nvPr>
        </p:nvSpPr>
        <p:spPr>
          <a:xfrm>
            <a:off x="6926872" y="1145127"/>
            <a:ext cx="1944216" cy="510909"/>
          </a:xfr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marL="0" indent="0">
              <a:lnSpc>
                <a:spcPct val="85000"/>
              </a:lnSpc>
              <a:buClr>
                <a:srgbClr val="477AB1"/>
              </a:buClr>
              <a:buNone/>
            </a:pPr>
            <a:r>
              <a:rPr lang="en-US" altLang="zh-CN" dirty="0">
                <a:solidFill>
                  <a:prstClr val="black"/>
                </a:solidFill>
              </a:rPr>
              <a:t>   ……</a:t>
            </a:r>
          </a:p>
        </p:txBody>
      </p:sp>
      <p:sp>
        <p:nvSpPr>
          <p:cNvPr id="2969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53166E28-FBCE-4238-95EA-BBB8A16F4D66}" type="slidenum">
              <a:rPr lang="en-US" altLang="zh-CN" sz="1400" smtClean="0"/>
              <a:pPr/>
              <a:t>38</a:t>
            </a:fld>
            <a:endParaRPr lang="en-US" altLang="zh-CN" sz="1400"/>
          </a:p>
        </p:txBody>
      </p:sp>
      <p:sp>
        <p:nvSpPr>
          <p:cNvPr id="2" name="矩形 1"/>
          <p:cNvSpPr/>
          <p:nvPr/>
        </p:nvSpPr>
        <p:spPr>
          <a:xfrm>
            <a:off x="395536" y="692696"/>
            <a:ext cx="6192688" cy="141577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marL="342900" lvl="0" indent="-342900">
              <a:lnSpc>
                <a:spcPct val="85000"/>
              </a:lnSpc>
              <a:spcBef>
                <a:spcPct val="20000"/>
              </a:spcBef>
              <a:buClr>
                <a:srgbClr val="477AB1"/>
              </a:buClr>
              <a:buSzPct val="50000"/>
              <a:buFont typeface="Wingdings 2"/>
              <a:buChar char=""/>
            </a:pPr>
            <a:r>
              <a:rPr lang="zh-CN" altLang="en-US" sz="3200" dirty="0">
                <a:solidFill>
                  <a:prstClr val="black"/>
                </a:solidFill>
              </a:rPr>
              <a:t>点类</a:t>
            </a:r>
            <a:endParaRPr lang="en-US" altLang="zh-CN" sz="3200" dirty="0">
              <a:solidFill>
                <a:prstClr val="black"/>
              </a:solidFill>
            </a:endParaRPr>
          </a:p>
          <a:p>
            <a:pPr marL="742950" lvl="1" indent="-285750">
              <a:lnSpc>
                <a:spcPct val="85000"/>
              </a:lnSpc>
              <a:spcBef>
                <a:spcPct val="20000"/>
              </a:spcBef>
              <a:buClr>
                <a:srgbClr val="51848E"/>
              </a:buClr>
              <a:buSzPct val="50000"/>
              <a:buFont typeface="Wingdings 2"/>
              <a:buChar char="³"/>
            </a:pPr>
            <a:r>
              <a:rPr lang="zh-CN" altLang="en-US" sz="2800" dirty="0">
                <a:solidFill>
                  <a:prstClr val="black"/>
                </a:solidFill>
              </a:rPr>
              <a:t>每个点的数据：横坐标、纵坐标</a:t>
            </a:r>
            <a:endParaRPr lang="en-US" altLang="zh-CN" sz="2800" dirty="0">
              <a:solidFill>
                <a:prstClr val="black"/>
              </a:solidFill>
            </a:endParaRPr>
          </a:p>
          <a:p>
            <a:pPr marL="742950" lvl="1" indent="-285750">
              <a:lnSpc>
                <a:spcPct val="85000"/>
              </a:lnSpc>
              <a:spcBef>
                <a:spcPct val="20000"/>
              </a:spcBef>
              <a:buClr>
                <a:srgbClr val="51848E"/>
              </a:buClr>
              <a:buSzPct val="50000"/>
              <a:buFont typeface="Wingdings 2"/>
              <a:buChar char="³"/>
            </a:pPr>
            <a:r>
              <a:rPr lang="zh-CN" altLang="en-US" sz="2800" dirty="0">
                <a:solidFill>
                  <a:prstClr val="black"/>
                </a:solidFill>
              </a:rPr>
              <a:t>共享数据：点的计数器</a:t>
            </a:r>
            <a:endParaRPr lang="en-US" altLang="zh-CN" sz="2800" dirty="0">
              <a:solidFill>
                <a:prstClr val="black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431540" y="2204864"/>
            <a:ext cx="7704856" cy="141577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477AB1"/>
              </a:buClr>
              <a:buSzPct val="50000"/>
              <a:buFont typeface="Wingdings 2"/>
              <a:buChar char=""/>
            </a:pPr>
            <a:r>
              <a:rPr lang="zh-CN" altLang="en-US" sz="3200" dirty="0">
                <a:solidFill>
                  <a:prstClr val="black"/>
                </a:solidFill>
              </a:rPr>
              <a:t>学生类</a:t>
            </a:r>
            <a:endParaRPr lang="en-US" altLang="zh-CN" sz="3200" dirty="0">
              <a:solidFill>
                <a:prstClr val="black"/>
              </a:solidFill>
            </a:endParaRPr>
          </a:p>
          <a:p>
            <a:pPr marL="742950" lvl="1" indent="-285750">
              <a:lnSpc>
                <a:spcPct val="85000"/>
              </a:lnSpc>
              <a:spcBef>
                <a:spcPct val="20000"/>
              </a:spcBef>
              <a:buClr>
                <a:srgbClr val="51848E"/>
              </a:buClr>
              <a:buSzPct val="50000"/>
              <a:buFont typeface="Wingdings 2"/>
              <a:buChar char="³"/>
            </a:pPr>
            <a:r>
              <a:rPr lang="zh-CN" altLang="en-US" sz="2800" dirty="0">
                <a:solidFill>
                  <a:prstClr val="black"/>
                </a:solidFill>
              </a:rPr>
              <a:t>每个学生的数据：姓名、学号、性别、年龄</a:t>
            </a:r>
            <a:endParaRPr lang="en-US" altLang="zh-CN" sz="2800" dirty="0">
              <a:solidFill>
                <a:prstClr val="black"/>
              </a:solidFill>
            </a:endParaRPr>
          </a:p>
          <a:p>
            <a:pPr marL="742950" lvl="1" indent="-285750">
              <a:lnSpc>
                <a:spcPct val="85000"/>
              </a:lnSpc>
              <a:spcBef>
                <a:spcPct val="20000"/>
              </a:spcBef>
              <a:buClr>
                <a:srgbClr val="51848E"/>
              </a:buClr>
              <a:buSzPct val="50000"/>
              <a:buFont typeface="Wingdings 2"/>
              <a:buChar char="³"/>
            </a:pPr>
            <a:r>
              <a:rPr lang="zh-CN" altLang="en-US" sz="2800" dirty="0">
                <a:solidFill>
                  <a:prstClr val="black"/>
                </a:solidFill>
              </a:rPr>
              <a:t>共享数据：班主任</a:t>
            </a:r>
            <a:endParaRPr lang="en-US" altLang="zh-CN" sz="2800" dirty="0">
              <a:solidFill>
                <a:prstClr val="black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395536" y="3717032"/>
            <a:ext cx="7704856" cy="141577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477AB1"/>
              </a:buClr>
              <a:buSzPct val="50000"/>
              <a:buFont typeface="Wingdings 2"/>
              <a:buChar char=""/>
            </a:pPr>
            <a:r>
              <a:rPr lang="zh-CN" altLang="en-US" sz="3200" dirty="0">
                <a:solidFill>
                  <a:prstClr val="black"/>
                </a:solidFill>
              </a:rPr>
              <a:t>链表结点类</a:t>
            </a:r>
            <a:endParaRPr lang="en-US" altLang="zh-CN" sz="3200" dirty="0">
              <a:solidFill>
                <a:prstClr val="black"/>
              </a:solidFill>
            </a:endParaRPr>
          </a:p>
          <a:p>
            <a:pPr marL="742950" lvl="1" indent="-285750">
              <a:lnSpc>
                <a:spcPct val="85000"/>
              </a:lnSpc>
              <a:spcBef>
                <a:spcPct val="20000"/>
              </a:spcBef>
              <a:buClr>
                <a:srgbClr val="51848E"/>
              </a:buClr>
              <a:buSzPct val="50000"/>
              <a:buFont typeface="Wingdings 2"/>
              <a:buChar char="³"/>
            </a:pPr>
            <a:r>
              <a:rPr lang="zh-CN" altLang="en-US" sz="2800" dirty="0">
                <a:solidFill>
                  <a:prstClr val="black"/>
                </a:solidFill>
              </a:rPr>
              <a:t>每个结点的数据：数据、左指针、右指针</a:t>
            </a:r>
            <a:endParaRPr lang="en-US" altLang="zh-CN" sz="2800" dirty="0">
              <a:solidFill>
                <a:prstClr val="black"/>
              </a:solidFill>
            </a:endParaRPr>
          </a:p>
          <a:p>
            <a:pPr marL="742950" lvl="1" indent="-285750">
              <a:lnSpc>
                <a:spcPct val="85000"/>
              </a:lnSpc>
              <a:spcBef>
                <a:spcPct val="20000"/>
              </a:spcBef>
              <a:buClr>
                <a:srgbClr val="51848E"/>
              </a:buClr>
              <a:buSzPct val="50000"/>
              <a:buFont typeface="Wingdings 2"/>
              <a:buChar char="³"/>
            </a:pPr>
            <a:r>
              <a:rPr lang="zh-CN" altLang="en-US" sz="2800" dirty="0">
                <a:solidFill>
                  <a:prstClr val="black"/>
                </a:solidFill>
              </a:rPr>
              <a:t>共享数据：头指针、尾指针</a:t>
            </a:r>
            <a:endParaRPr lang="en-US" altLang="zh-CN" sz="2800" dirty="0">
              <a:solidFill>
                <a:prstClr val="black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395536" y="5229200"/>
            <a:ext cx="8496944" cy="141577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marL="342900" indent="-342900">
              <a:lnSpc>
                <a:spcPct val="85000"/>
              </a:lnSpc>
              <a:spcBef>
                <a:spcPct val="20000"/>
              </a:spcBef>
              <a:buClr>
                <a:srgbClr val="477AB1"/>
              </a:buClr>
              <a:buSzPct val="50000"/>
              <a:buFont typeface="Wingdings 2"/>
              <a:buChar char=""/>
            </a:pPr>
            <a:r>
              <a:rPr lang="zh-CN" altLang="en-US" sz="3200" dirty="0">
                <a:solidFill>
                  <a:prstClr val="black"/>
                </a:solidFill>
              </a:rPr>
              <a:t>储蓄存款账户类</a:t>
            </a:r>
            <a:endParaRPr lang="en-US" altLang="zh-CN" sz="3200" dirty="0">
              <a:solidFill>
                <a:prstClr val="black"/>
              </a:solidFill>
            </a:endParaRPr>
          </a:p>
          <a:p>
            <a:pPr marL="742950" lvl="1" indent="-285750">
              <a:lnSpc>
                <a:spcPct val="85000"/>
              </a:lnSpc>
              <a:spcBef>
                <a:spcPct val="20000"/>
              </a:spcBef>
              <a:buClr>
                <a:srgbClr val="51848E"/>
              </a:buClr>
              <a:buSzPct val="50000"/>
              <a:buFont typeface="Wingdings 2"/>
              <a:buChar char="³"/>
            </a:pPr>
            <a:r>
              <a:rPr lang="zh-CN" altLang="en-US" sz="2800" dirty="0">
                <a:solidFill>
                  <a:prstClr val="black"/>
                </a:solidFill>
              </a:rPr>
              <a:t>每个存款账户的数据：户名、开户日期、余额</a:t>
            </a:r>
            <a:endParaRPr lang="en-US" altLang="zh-CN" sz="2800" dirty="0">
              <a:solidFill>
                <a:prstClr val="black"/>
              </a:solidFill>
            </a:endParaRPr>
          </a:p>
          <a:p>
            <a:pPr marL="742950" lvl="1" indent="-285750">
              <a:lnSpc>
                <a:spcPct val="85000"/>
              </a:lnSpc>
              <a:spcBef>
                <a:spcPct val="20000"/>
              </a:spcBef>
              <a:buClr>
                <a:srgbClr val="51848E"/>
              </a:buClr>
              <a:buSzPct val="50000"/>
              <a:buFont typeface="Wingdings 2"/>
              <a:buChar char="³"/>
            </a:pPr>
            <a:r>
              <a:rPr lang="zh-CN" altLang="en-US" sz="2800" dirty="0">
                <a:solidFill>
                  <a:prstClr val="black"/>
                </a:solidFill>
              </a:rPr>
              <a:t>共享数据：利率</a:t>
            </a:r>
            <a:endParaRPr lang="en-US" altLang="zh-CN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74724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0" name="Rectangle 3"/>
          <p:cNvSpPr>
            <a:spLocks noGrp="1" noChangeArrowheads="1"/>
          </p:cNvSpPr>
          <p:nvPr>
            <p:ph idx="1"/>
          </p:nvPr>
        </p:nvSpPr>
        <p:spPr>
          <a:xfrm>
            <a:off x="333872" y="260648"/>
            <a:ext cx="8352928" cy="5760640"/>
          </a:xfrm>
        </p:spPr>
        <p:txBody>
          <a:bodyPr>
            <a:noAutofit/>
          </a:bodyPr>
          <a:lstStyle/>
          <a:p>
            <a:pPr eaLnBrk="1" hangingPunct="1">
              <a:lnSpc>
                <a:spcPct val="120000"/>
              </a:lnSpc>
              <a:spcBef>
                <a:spcPts val="600"/>
              </a:spcBef>
            </a:pPr>
            <a:r>
              <a:rPr lang="zh-CN" altLang="en-US" sz="2800" dirty="0"/>
              <a:t>静态数据成员</a:t>
            </a:r>
          </a:p>
          <a:p>
            <a:pPr lvl="1" eaLnBrk="1" hangingPunct="1">
              <a:lnSpc>
                <a:spcPct val="120000"/>
              </a:lnSpc>
              <a:spcBef>
                <a:spcPts val="600"/>
              </a:spcBef>
            </a:pPr>
            <a:r>
              <a:rPr lang="zh-CN" altLang="en-US" sz="2400" dirty="0"/>
              <a:t>用关键字</a:t>
            </a:r>
            <a:r>
              <a:rPr lang="en-US" altLang="zh-CN" sz="2400" dirty="0">
                <a:solidFill>
                  <a:schemeClr val="tx1"/>
                </a:solidFill>
              </a:rPr>
              <a:t>static</a:t>
            </a:r>
            <a:r>
              <a:rPr lang="zh-CN" altLang="en-US" sz="2400" dirty="0"/>
              <a:t>声明</a:t>
            </a: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zh-CN" altLang="en-US" sz="2400" dirty="0"/>
              <a:t>该类的所有对象维护同一个该成员</a:t>
            </a:r>
          </a:p>
          <a:p>
            <a:pPr lvl="1" eaLnBrk="1" hangingPunct="1">
              <a:lnSpc>
                <a:spcPct val="120000"/>
              </a:lnSpc>
              <a:spcBef>
                <a:spcPts val="600"/>
              </a:spcBef>
            </a:pPr>
            <a:r>
              <a:rPr lang="zh-CN" altLang="en-US" sz="2400" dirty="0"/>
              <a:t>必须在类内定义和类外初始化，用</a:t>
            </a:r>
            <a:r>
              <a:rPr lang="en-US" altLang="zh-CN" sz="2400" dirty="0"/>
              <a:t>(::)</a:t>
            </a:r>
            <a:r>
              <a:rPr lang="zh-CN" altLang="en-US" sz="2400" dirty="0"/>
              <a:t>来指明所属的类。</a:t>
            </a:r>
          </a:p>
          <a:p>
            <a:pPr eaLnBrk="1" hangingPunct="1">
              <a:lnSpc>
                <a:spcPct val="120000"/>
              </a:lnSpc>
              <a:spcBef>
                <a:spcPts val="600"/>
              </a:spcBef>
            </a:pPr>
            <a:r>
              <a:rPr lang="zh-CN" altLang="en-US" sz="2800" dirty="0"/>
              <a:t>静态成员函数</a:t>
            </a:r>
          </a:p>
          <a:p>
            <a:pPr lvl="1" eaLnBrk="1" hangingPunct="1">
              <a:lnSpc>
                <a:spcPct val="120000"/>
              </a:lnSpc>
              <a:spcBef>
                <a:spcPts val="600"/>
              </a:spcBef>
            </a:pPr>
            <a:r>
              <a:rPr lang="zh-CN" altLang="en-US" sz="2400" dirty="0"/>
              <a:t>类外代码可以使用</a:t>
            </a:r>
            <a:r>
              <a:rPr lang="zh-CN" altLang="en-US" sz="2400" b="1" dirty="0"/>
              <a:t>类名</a:t>
            </a:r>
            <a:r>
              <a:rPr lang="zh-CN" altLang="en-US" sz="2400" dirty="0"/>
              <a:t>和</a:t>
            </a:r>
            <a:r>
              <a:rPr lang="zh-CN" altLang="en-US" sz="2400" b="1" dirty="0"/>
              <a:t>作用域操作符</a:t>
            </a:r>
            <a:r>
              <a:rPr lang="zh-CN" altLang="en-US" sz="2400" dirty="0"/>
              <a:t>来调用公有静态成员函数。</a:t>
            </a:r>
            <a:endParaRPr lang="en-US" altLang="zh-CN" sz="2400" dirty="0"/>
          </a:p>
          <a:p>
            <a:pPr lvl="1" eaLnBrk="1" hangingPunct="1">
              <a:lnSpc>
                <a:spcPct val="120000"/>
              </a:lnSpc>
              <a:spcBef>
                <a:spcPts val="600"/>
              </a:spcBef>
            </a:pPr>
            <a:r>
              <a:rPr lang="zh-CN" altLang="en-US" sz="2400" dirty="0"/>
              <a:t>没有</a:t>
            </a:r>
            <a:r>
              <a:rPr lang="en-US" altLang="zh-CN" sz="2400" dirty="0"/>
              <a:t>this</a:t>
            </a:r>
            <a:r>
              <a:rPr lang="zh-CN" altLang="en-US" sz="2400" dirty="0"/>
              <a:t>指针</a:t>
            </a:r>
          </a:p>
          <a:p>
            <a:pPr lvl="1" eaLnBrk="1" hangingPunct="1">
              <a:lnSpc>
                <a:spcPct val="120000"/>
              </a:lnSpc>
              <a:spcBef>
                <a:spcPts val="600"/>
              </a:spcBef>
            </a:pPr>
            <a:r>
              <a:rPr lang="zh-CN" altLang="en-US" sz="2400" dirty="0"/>
              <a:t>静态成员函数只能引用属于该类的静态数据成员或静态成员函数，不能直接访问非静态成员，对于非静态成员的使用需要传参</a:t>
            </a:r>
            <a:endParaRPr lang="en-US" altLang="zh-CN" sz="2400" dirty="0"/>
          </a:p>
          <a:p>
            <a:pPr lvl="1" eaLnBrk="1" hangingPunct="1">
              <a:lnSpc>
                <a:spcPct val="120000"/>
              </a:lnSpc>
              <a:spcBef>
                <a:spcPts val="600"/>
              </a:spcBef>
            </a:pPr>
            <a:r>
              <a:rPr lang="zh-CN" altLang="en-US" sz="2400" dirty="0"/>
              <a:t>不能定义成</a:t>
            </a:r>
            <a:r>
              <a:rPr lang="en-US" altLang="zh-CN" sz="2400" dirty="0"/>
              <a:t>const</a:t>
            </a:r>
            <a:r>
              <a:rPr lang="zh-CN" altLang="en-US" sz="2400" dirty="0"/>
              <a:t>函数</a:t>
            </a:r>
          </a:p>
        </p:txBody>
      </p:sp>
      <p:sp>
        <p:nvSpPr>
          <p:cNvPr id="2969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53166E28-FBCE-4238-95EA-BBB8A16F4D66}" type="slidenum">
              <a:rPr lang="en-US" altLang="zh-CN" sz="1400" smtClean="0"/>
              <a:pPr/>
              <a:t>39</a:t>
            </a:fld>
            <a:endParaRPr lang="en-US" altLang="zh-CN" sz="1400"/>
          </a:p>
        </p:txBody>
      </p:sp>
    </p:spTree>
    <p:extLst>
      <p:ext uri="{BB962C8B-B14F-4D97-AF65-F5344CB8AC3E}">
        <p14:creationId xmlns:p14="http://schemas.microsoft.com/office/powerpoint/2010/main" val="335679286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317136" y="388977"/>
            <a:ext cx="5271087" cy="5632311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class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24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A</a:t>
            </a:r>
            <a:endParaRPr lang="en-US" altLang="zh-CN" sz="2400" dirty="0">
              <a:solidFill>
                <a:srgbClr val="000000"/>
              </a:solidFill>
              <a:latin typeface="Consolas" panose="020B0609020204030204" pitchFamily="49" charset="0"/>
              <a:ea typeface="新宋体"/>
            </a:endParaRPr>
          </a:p>
          <a:p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{  ......</a:t>
            </a:r>
          </a:p>
          <a:p>
            <a:pPr marL="355600"/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static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24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24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m_a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r>
              <a:rPr lang="en-US" altLang="zh-CN" sz="2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public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:</a:t>
            </a:r>
          </a:p>
          <a:p>
            <a:pPr marL="355600"/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static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2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Fun();</a:t>
            </a:r>
          </a:p>
          <a:p>
            <a:pPr marL="355600"/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......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};</a:t>
            </a:r>
          </a:p>
          <a:p>
            <a:r>
              <a:rPr lang="en-US" altLang="zh-CN" sz="24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24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A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::m_a = 0;</a:t>
            </a:r>
          </a:p>
          <a:p>
            <a:r>
              <a:rPr lang="en-US" altLang="zh-CN" sz="2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24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A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::Fun()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{   </a:t>
            </a:r>
            <a:r>
              <a:rPr lang="en-US" altLang="zh-CN" sz="24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24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24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m_a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24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24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endl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}</a:t>
            </a:r>
          </a:p>
          <a:p>
            <a:r>
              <a:rPr lang="en-US" altLang="zh-CN" sz="24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main()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{   </a:t>
            </a:r>
            <a:r>
              <a:rPr lang="en-US" altLang="zh-CN" sz="24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A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::Fun();</a:t>
            </a:r>
          </a:p>
          <a:p>
            <a:pPr marL="630238"/>
            <a:r>
              <a:rPr lang="en-US" altLang="zh-CN" sz="2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return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0;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}</a:t>
            </a:r>
            <a:endParaRPr lang="zh-CN" altLang="en-US" sz="2400" dirty="0">
              <a:latin typeface="Consolas" panose="020B0609020204030204" pitchFamily="49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5368196" y="1124744"/>
            <a:ext cx="3722407" cy="2191898"/>
            <a:chOff x="4988523" y="1772816"/>
            <a:chExt cx="3722407" cy="2191898"/>
          </a:xfrm>
        </p:grpSpPr>
        <p:sp>
          <p:nvSpPr>
            <p:cNvPr id="5" name="Rectangle 3"/>
            <p:cNvSpPr txBox="1">
              <a:spLocks noChangeArrowheads="1"/>
            </p:cNvSpPr>
            <p:nvPr/>
          </p:nvSpPr>
          <p:spPr>
            <a:xfrm>
              <a:off x="5704495" y="1772816"/>
              <a:ext cx="2736304" cy="410862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txBody>
            <a:bodyPr vert="horz" rtlCol="0">
              <a:normAutofit lnSpcReduction="10000"/>
            </a:bodyPr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 2"/>
                <a:buChar char="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accent2"/>
                </a:buClr>
                <a:buSzPct val="50000"/>
                <a:buFont typeface="Wingdings 2"/>
                <a:buChar char="³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accent3"/>
                </a:buClr>
                <a:buSzPct val="60000"/>
                <a:buFont typeface="Wingdings 2"/>
                <a:buChar char="®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accent5"/>
                </a:buClr>
                <a:buSzPct val="45000"/>
                <a:buFont typeface="Wingdings 2"/>
                <a:buChar char="¯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accent6"/>
                </a:buClr>
                <a:buFont typeface="Wingdings 2"/>
                <a:buChar char="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rtl="0" eaLnBrk="1" latinLnBrk="0" hangingPunct="1">
                <a:spcBef>
                  <a:spcPct val="20000"/>
                </a:spcBef>
                <a:buFont typeface="Arial"/>
                <a:buChar char="•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rtl="0" eaLnBrk="1" latinLnBrk="0" hangingPunct="1">
                <a:spcBef>
                  <a:spcPct val="20000"/>
                </a:spcBef>
                <a:buFont typeface="Arial"/>
                <a:buChar char="•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rtl="0" eaLnBrk="1" latinLnBrk="0" hangingPunct="1">
                <a:spcBef>
                  <a:spcPct val="20000"/>
                </a:spcBef>
                <a:buFont typeface="Arial"/>
                <a:buChar char="•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rtl="0" eaLnBrk="1" latinLnBrk="0" hangingPunct="1">
                <a:spcBef>
                  <a:spcPct val="20000"/>
                </a:spcBef>
                <a:buFont typeface="Arial"/>
                <a:buChar char="•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lnSpc>
                  <a:spcPct val="90000"/>
                </a:lnSpc>
                <a:buNone/>
                <a:defRPr/>
              </a:pPr>
              <a:r>
                <a:rPr lang="zh-CN" altLang="en-US" sz="2400" dirty="0"/>
                <a:t>声明静态成员数据</a:t>
              </a:r>
            </a:p>
          </p:txBody>
        </p:sp>
        <p:sp>
          <p:nvSpPr>
            <p:cNvPr id="6" name="Rectangle 3"/>
            <p:cNvSpPr txBox="1">
              <a:spLocks noChangeArrowheads="1"/>
            </p:cNvSpPr>
            <p:nvPr/>
          </p:nvSpPr>
          <p:spPr>
            <a:xfrm>
              <a:off x="4988523" y="3553852"/>
              <a:ext cx="3722407" cy="410862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txBody>
            <a:bodyPr vert="horz" rtlCol="0">
              <a:noAutofit/>
            </a:bodyPr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 2"/>
                <a:buChar char="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accent2"/>
                </a:buClr>
                <a:buSzPct val="50000"/>
                <a:buFont typeface="Wingdings 2"/>
                <a:buChar char="³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accent3"/>
                </a:buClr>
                <a:buSzPct val="60000"/>
                <a:buFont typeface="Wingdings 2"/>
                <a:buChar char="®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accent5"/>
                </a:buClr>
                <a:buSzPct val="45000"/>
                <a:buFont typeface="Wingdings 2"/>
                <a:buChar char="¯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accent6"/>
                </a:buClr>
                <a:buFont typeface="Wingdings 2"/>
                <a:buChar char="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rtl="0" eaLnBrk="1" latinLnBrk="0" hangingPunct="1">
                <a:spcBef>
                  <a:spcPct val="20000"/>
                </a:spcBef>
                <a:buFont typeface="Arial"/>
                <a:buChar char="•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rtl="0" eaLnBrk="1" latinLnBrk="0" hangingPunct="1">
                <a:spcBef>
                  <a:spcPct val="20000"/>
                </a:spcBef>
                <a:buFont typeface="Arial"/>
                <a:buChar char="•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rtl="0" eaLnBrk="1" latinLnBrk="0" hangingPunct="1">
                <a:spcBef>
                  <a:spcPct val="20000"/>
                </a:spcBef>
                <a:buFont typeface="Arial"/>
                <a:buChar char="•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rtl="0" eaLnBrk="1" latinLnBrk="0" hangingPunct="1">
                <a:spcBef>
                  <a:spcPct val="20000"/>
                </a:spcBef>
                <a:buFont typeface="Arial"/>
                <a:buChar char="•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lnSpc>
                  <a:spcPct val="90000"/>
                </a:lnSpc>
                <a:buNone/>
                <a:defRPr/>
              </a:pPr>
              <a:r>
                <a:rPr lang="zh-CN" altLang="en-US" sz="2400" dirty="0"/>
                <a:t>定义静态成员数据（创建）</a:t>
              </a: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5441226" y="1988840"/>
            <a:ext cx="3379246" cy="1728192"/>
            <a:chOff x="5023681" y="2636912"/>
            <a:chExt cx="3379246" cy="1728192"/>
          </a:xfrm>
        </p:grpSpPr>
        <p:sp>
          <p:nvSpPr>
            <p:cNvPr id="7" name="Rectangle 3"/>
            <p:cNvSpPr txBox="1">
              <a:spLocks noChangeArrowheads="1"/>
            </p:cNvSpPr>
            <p:nvPr/>
          </p:nvSpPr>
          <p:spPr>
            <a:xfrm>
              <a:off x="5666623" y="2636912"/>
              <a:ext cx="2736304" cy="410862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txBody>
            <a:bodyPr vert="horz" rtlCol="0">
              <a:normAutofit lnSpcReduction="10000"/>
            </a:bodyPr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 2"/>
                <a:buChar char="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accent2"/>
                </a:buClr>
                <a:buSzPct val="50000"/>
                <a:buFont typeface="Wingdings 2"/>
                <a:buChar char="³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accent3"/>
                </a:buClr>
                <a:buSzPct val="60000"/>
                <a:buFont typeface="Wingdings 2"/>
                <a:buChar char="®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accent5"/>
                </a:buClr>
                <a:buSzPct val="45000"/>
                <a:buFont typeface="Wingdings 2"/>
                <a:buChar char="¯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accent6"/>
                </a:buClr>
                <a:buFont typeface="Wingdings 2"/>
                <a:buChar char="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rtl="0" eaLnBrk="1" latinLnBrk="0" hangingPunct="1">
                <a:spcBef>
                  <a:spcPct val="20000"/>
                </a:spcBef>
                <a:buFont typeface="Arial"/>
                <a:buChar char="•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rtl="0" eaLnBrk="1" latinLnBrk="0" hangingPunct="1">
                <a:spcBef>
                  <a:spcPct val="20000"/>
                </a:spcBef>
                <a:buFont typeface="Arial"/>
                <a:buChar char="•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rtl="0" eaLnBrk="1" latinLnBrk="0" hangingPunct="1">
                <a:spcBef>
                  <a:spcPct val="20000"/>
                </a:spcBef>
                <a:buFont typeface="Arial"/>
                <a:buChar char="•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rtl="0" eaLnBrk="1" latinLnBrk="0" hangingPunct="1">
                <a:spcBef>
                  <a:spcPct val="20000"/>
                </a:spcBef>
                <a:buFont typeface="Arial"/>
                <a:buChar char="•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lnSpc>
                  <a:spcPct val="90000"/>
                </a:lnSpc>
                <a:buNone/>
                <a:defRPr/>
              </a:pPr>
              <a:r>
                <a:rPr lang="zh-CN" altLang="en-US" sz="2400" dirty="0"/>
                <a:t>声明静态成员函数</a:t>
              </a:r>
            </a:p>
          </p:txBody>
        </p:sp>
        <p:sp>
          <p:nvSpPr>
            <p:cNvPr id="8" name="Rectangle 3"/>
            <p:cNvSpPr txBox="1">
              <a:spLocks noChangeArrowheads="1"/>
            </p:cNvSpPr>
            <p:nvPr/>
          </p:nvSpPr>
          <p:spPr>
            <a:xfrm>
              <a:off x="5023681" y="3954242"/>
              <a:ext cx="2697038" cy="410862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txBody>
            <a:bodyPr vert="horz" rtlCol="0">
              <a:noAutofit/>
            </a:bodyPr>
            <a:lstStyle>
              <a:lvl1pPr marL="342900" indent="-342900" algn="l" rtl="0" eaLnBrk="1" latinLnBrk="0" hangingPunct="1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 2"/>
                <a:buChar char=""/>
                <a:defRPr kumimoji="0"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1" latinLnBrk="0" hangingPunct="1">
                <a:spcBef>
                  <a:spcPct val="20000"/>
                </a:spcBef>
                <a:buClr>
                  <a:schemeClr val="accent2"/>
                </a:buClr>
                <a:buSzPct val="50000"/>
                <a:buFont typeface="Wingdings 2"/>
                <a:buChar char="³"/>
                <a:defRPr kumimoji="0"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1" latinLnBrk="0" hangingPunct="1">
                <a:spcBef>
                  <a:spcPct val="20000"/>
                </a:spcBef>
                <a:buClr>
                  <a:schemeClr val="accent3"/>
                </a:buClr>
                <a:buSzPct val="60000"/>
                <a:buFont typeface="Wingdings 2"/>
                <a:buChar char="®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1" latinLnBrk="0" hangingPunct="1">
                <a:spcBef>
                  <a:spcPct val="20000"/>
                </a:spcBef>
                <a:buClr>
                  <a:schemeClr val="accent5"/>
                </a:buClr>
                <a:buSzPct val="45000"/>
                <a:buFont typeface="Wingdings 2"/>
                <a:buChar char="¯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1" latinLnBrk="0" hangingPunct="1">
                <a:spcBef>
                  <a:spcPct val="20000"/>
                </a:spcBef>
                <a:buClr>
                  <a:schemeClr val="accent6"/>
                </a:buClr>
                <a:buFont typeface="Wingdings 2"/>
                <a:buChar char="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rtl="0" eaLnBrk="1" latinLnBrk="0" hangingPunct="1">
                <a:spcBef>
                  <a:spcPct val="20000"/>
                </a:spcBef>
                <a:buFont typeface="Arial"/>
                <a:buChar char="•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rtl="0" eaLnBrk="1" latinLnBrk="0" hangingPunct="1">
                <a:spcBef>
                  <a:spcPct val="20000"/>
                </a:spcBef>
                <a:buFont typeface="Arial"/>
                <a:buChar char="•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rtl="0" eaLnBrk="1" latinLnBrk="0" hangingPunct="1">
                <a:spcBef>
                  <a:spcPct val="20000"/>
                </a:spcBef>
                <a:buFont typeface="Arial"/>
                <a:buChar char="•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rtl="0" eaLnBrk="1" latinLnBrk="0" hangingPunct="1">
                <a:spcBef>
                  <a:spcPct val="20000"/>
                </a:spcBef>
                <a:buFont typeface="Arial"/>
                <a:buChar char="•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lnSpc>
                  <a:spcPct val="90000"/>
                </a:lnSpc>
                <a:buNone/>
                <a:defRPr/>
              </a:pPr>
              <a:r>
                <a:rPr lang="zh-CN" altLang="en-US" sz="2400" dirty="0"/>
                <a:t>定义静态成员函数</a:t>
              </a:r>
            </a:p>
          </p:txBody>
        </p:sp>
      </p:grpSp>
      <p:sp>
        <p:nvSpPr>
          <p:cNvPr id="11" name="矩形 10"/>
          <p:cNvSpPr/>
          <p:nvPr/>
        </p:nvSpPr>
        <p:spPr>
          <a:xfrm>
            <a:off x="37872" y="2905780"/>
            <a:ext cx="126188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rgbClr val="0000FF"/>
                </a:solidFill>
                <a:latin typeface="新宋体"/>
                <a:ea typeface="新宋体"/>
              </a:rPr>
              <a:t>static</a:t>
            </a:r>
            <a:endParaRPr lang="zh-CN" altLang="en-US" dirty="0"/>
          </a:p>
        </p:txBody>
      </p:sp>
      <p:sp>
        <p:nvSpPr>
          <p:cNvPr id="12" name="乘号 11"/>
          <p:cNvSpPr/>
          <p:nvPr/>
        </p:nvSpPr>
        <p:spPr>
          <a:xfrm>
            <a:off x="452790" y="2852936"/>
            <a:ext cx="432048" cy="674494"/>
          </a:xfrm>
          <a:prstGeom prst="mathMultiply">
            <a:avLst>
              <a:gd name="adj1" fmla="val 14043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37872" y="3315035"/>
            <a:ext cx="126188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rgbClr val="0000FF"/>
                </a:solidFill>
                <a:latin typeface="新宋体"/>
                <a:ea typeface="新宋体"/>
              </a:rPr>
              <a:t>static</a:t>
            </a:r>
            <a:endParaRPr lang="zh-CN" altLang="en-US" dirty="0"/>
          </a:p>
        </p:txBody>
      </p:sp>
      <p:sp>
        <p:nvSpPr>
          <p:cNvPr id="14" name="乘号 13"/>
          <p:cNvSpPr/>
          <p:nvPr/>
        </p:nvSpPr>
        <p:spPr>
          <a:xfrm>
            <a:off x="524798" y="3251598"/>
            <a:ext cx="432048" cy="674494"/>
          </a:xfrm>
          <a:prstGeom prst="mathMultiply">
            <a:avLst>
              <a:gd name="adj1" fmla="val 14043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8138264" y="5112326"/>
            <a:ext cx="790601" cy="830997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</a:rPr>
              <a:t>0  </a:t>
            </a:r>
          </a:p>
          <a:p>
            <a:r>
              <a:rPr lang="en-US" altLang="zh-CN" sz="2400" dirty="0">
                <a:solidFill>
                  <a:schemeClr val="bg1"/>
                </a:solidFill>
              </a:rPr>
              <a:t>         </a:t>
            </a:r>
          </a:p>
        </p:txBody>
      </p:sp>
      <p:sp>
        <p:nvSpPr>
          <p:cNvPr id="16" name="Rectangle 3"/>
          <p:cNvSpPr txBox="1">
            <a:spLocks noChangeArrowheads="1"/>
          </p:cNvSpPr>
          <p:nvPr/>
        </p:nvSpPr>
        <p:spPr>
          <a:xfrm>
            <a:off x="5436096" y="5322394"/>
            <a:ext cx="2736304" cy="410862"/>
          </a:xfrm>
          <a:prstGeom prst="rect">
            <a:avLst/>
          </a:prstGeom>
          <a:solidFill>
            <a:srgbClr val="92D050"/>
          </a:solidFill>
        </p:spPr>
        <p:txBody>
          <a:bodyPr vert="horz" rtlCol="0">
            <a:normAutofit lnSpcReduction="10000"/>
          </a:bodyPr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50000"/>
              <a:buFont typeface="Wingdings 2"/>
              <a:buChar char="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50000"/>
              <a:buFont typeface="Wingdings 2"/>
              <a:buChar char="³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0000"/>
              <a:buFont typeface="Wingdings 2"/>
              <a:buChar char="®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accent5"/>
              </a:buClr>
              <a:buSzPct val="45000"/>
              <a:buFont typeface="Wingdings 2"/>
              <a:buChar char="¯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latinLnBrk="0" hangingPunct="1">
              <a:spcBef>
                <a:spcPct val="20000"/>
              </a:spcBef>
              <a:buFont typeface="Arial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90000"/>
              </a:lnSpc>
              <a:buNone/>
              <a:defRPr/>
            </a:pPr>
            <a:r>
              <a:rPr lang="zh-CN" altLang="en-US" sz="2400" dirty="0"/>
              <a:t>调用静态成员函数</a:t>
            </a:r>
          </a:p>
        </p:txBody>
      </p:sp>
      <p:sp>
        <p:nvSpPr>
          <p:cNvPr id="17" name="Rectangle 2"/>
          <p:cNvSpPr>
            <a:spLocks noGrp="1" noChangeArrowheads="1"/>
          </p:cNvSpPr>
          <p:nvPr>
            <p:ph type="title"/>
          </p:nvPr>
        </p:nvSpPr>
        <p:spPr>
          <a:xfrm>
            <a:off x="3625196" y="-171400"/>
            <a:ext cx="5518804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sz="4000" dirty="0"/>
              <a:t>静态成员的设计语法</a:t>
            </a:r>
          </a:p>
        </p:txBody>
      </p:sp>
    </p:spTree>
    <p:extLst>
      <p:ext uri="{BB962C8B-B14F-4D97-AF65-F5344CB8AC3E}">
        <p14:creationId xmlns:p14="http://schemas.microsoft.com/office/powerpoint/2010/main" val="166577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 animBg="1"/>
      <p:bldP spid="13" grpId="0"/>
      <p:bldP spid="14" grpId="0" animBg="1"/>
      <p:bldP spid="15" grpId="0" animBg="1"/>
      <p:bldP spid="16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在</a:t>
            </a:r>
            <a:r>
              <a:rPr lang="en-US" altLang="zh-CN" dirty="0"/>
              <a:t>Point</a:t>
            </a:r>
            <a:r>
              <a:rPr lang="zh-CN" altLang="en-US" dirty="0"/>
              <a:t>类中增加一个计数器</a:t>
            </a:r>
            <a:r>
              <a:rPr lang="en-US" altLang="zh-CN" dirty="0"/>
              <a:t>count. </a:t>
            </a:r>
          </a:p>
          <a:p>
            <a:pPr marL="0" indent="0">
              <a:buNone/>
            </a:pPr>
            <a:r>
              <a:rPr lang="zh-CN" altLang="en-US" dirty="0"/>
              <a:t>记录程序中共有多少个</a:t>
            </a:r>
            <a:r>
              <a:rPr lang="en-US" altLang="zh-CN" dirty="0"/>
              <a:t>Point</a:t>
            </a:r>
            <a:r>
              <a:rPr lang="zh-CN" altLang="en-US" dirty="0"/>
              <a:t>对象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683568" y="476672"/>
            <a:ext cx="7992888" cy="648072"/>
          </a:xfrm>
        </p:spPr>
        <p:txBody>
          <a:bodyPr>
            <a:noAutofit/>
          </a:bodyPr>
          <a:lstStyle/>
          <a:p>
            <a:pPr eaLnBrk="1" hangingPunct="1"/>
            <a:r>
              <a:rPr lang="zh-CN" altLang="en-US" sz="4000" dirty="0"/>
              <a:t>例：</a:t>
            </a:r>
            <a:r>
              <a:rPr lang="zh-CN" altLang="en-US" sz="3600" dirty="0"/>
              <a:t>具有静态数据成员的 </a:t>
            </a:r>
            <a:r>
              <a:rPr lang="en-US" altLang="zh-CN" sz="3600" dirty="0"/>
              <a:t>Point</a:t>
            </a:r>
            <a:r>
              <a:rPr lang="zh-CN" altLang="en-US" sz="3600" dirty="0"/>
              <a:t>类</a:t>
            </a:r>
          </a:p>
        </p:txBody>
      </p:sp>
    </p:spTree>
    <p:extLst>
      <p:ext uri="{BB962C8B-B14F-4D97-AF65-F5344CB8AC3E}">
        <p14:creationId xmlns:p14="http://schemas.microsoft.com/office/powerpoint/2010/main" val="197106957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747BA2AE-EE7D-4556-98A0-8F0BF7C1ED20}" type="slidenum">
              <a:rPr lang="en-US" altLang="zh-CN" sz="1400" smtClean="0"/>
              <a:pPr/>
              <a:t>42</a:t>
            </a:fld>
            <a:endParaRPr lang="en-US" altLang="zh-CN" sz="1400"/>
          </a:p>
        </p:txBody>
      </p:sp>
      <p:sp>
        <p:nvSpPr>
          <p:cNvPr id="2" name="矩形 1"/>
          <p:cNvSpPr/>
          <p:nvPr/>
        </p:nvSpPr>
        <p:spPr>
          <a:xfrm>
            <a:off x="430" y="113719"/>
            <a:ext cx="5867714" cy="6555641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class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0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Point</a:t>
            </a:r>
            <a:endParaRPr lang="en-US" altLang="zh-CN" sz="2000" dirty="0">
              <a:solidFill>
                <a:srgbClr val="000000"/>
              </a:solidFill>
              <a:highlight>
                <a:srgbClr val="FFFFFF"/>
              </a:highlight>
              <a:latin typeface="新宋体"/>
              <a:ea typeface="新宋体"/>
            </a:endParaRPr>
          </a:p>
          <a:p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{</a:t>
            </a:r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public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:</a:t>
            </a:r>
          </a:p>
          <a:p>
            <a:pPr marL="355600"/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Point(</a:t>
            </a:r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000" dirty="0">
                <a:solidFill>
                  <a:srgbClr val="8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x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=0,</a:t>
            </a:r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000" dirty="0">
                <a:solidFill>
                  <a:srgbClr val="8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y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=0):_x(</a:t>
            </a:r>
            <a:r>
              <a:rPr lang="en-US" altLang="zh-CN" sz="2000" dirty="0">
                <a:solidFill>
                  <a:srgbClr val="8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x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),_y(</a:t>
            </a:r>
            <a:r>
              <a:rPr lang="en-US" altLang="zh-CN" sz="2000" dirty="0">
                <a:solidFill>
                  <a:srgbClr val="8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y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) </a:t>
            </a:r>
          </a:p>
          <a:p>
            <a:pPr marL="355600"/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{ _count++; }</a:t>
            </a:r>
          </a:p>
          <a:p>
            <a:pPr marL="355600"/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Point(</a:t>
            </a:r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const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0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Point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&amp;p);</a:t>
            </a:r>
          </a:p>
          <a:p>
            <a:pPr marL="355600"/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getX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() </a:t>
            </a:r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const</a:t>
            </a:r>
          </a:p>
          <a:p>
            <a:pPr marL="355600"/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{  </a:t>
            </a:r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return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_x; }</a:t>
            </a:r>
          </a:p>
          <a:p>
            <a:pPr marL="355600"/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getY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() </a:t>
            </a:r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const</a:t>
            </a:r>
            <a:endParaRPr lang="en-US" altLang="zh-CN" sz="2000" dirty="0">
              <a:solidFill>
                <a:srgbClr val="000000"/>
              </a:solidFill>
              <a:highlight>
                <a:srgbClr val="FFFFFF"/>
              </a:highlight>
              <a:latin typeface="新宋体"/>
              <a:ea typeface="新宋体"/>
            </a:endParaRPr>
          </a:p>
          <a:p>
            <a:pPr marL="355600"/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{ </a:t>
            </a:r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return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_y; }</a:t>
            </a:r>
          </a:p>
          <a:p>
            <a:pPr marL="355600"/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void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showCount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()</a:t>
            </a:r>
          </a:p>
          <a:p>
            <a:pPr marL="355600"/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{  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cout</a:t>
            </a:r>
            <a:r>
              <a:rPr lang="en-US" altLang="zh-CN" sz="20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000" dirty="0">
                <a:solidFill>
                  <a:srgbClr val="A31515"/>
                </a:solidFill>
                <a:highlight>
                  <a:srgbClr val="FFFFFF"/>
                </a:highlight>
                <a:latin typeface="新宋体"/>
                <a:ea typeface="新宋体"/>
              </a:rPr>
              <a:t>" Object count="</a:t>
            </a:r>
            <a:r>
              <a:rPr lang="en-US" altLang="zh-CN" sz="20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&lt;&lt;_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count</a:t>
            </a:r>
            <a:r>
              <a:rPr lang="en-US" altLang="zh-CN" sz="20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endl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; }</a:t>
            </a:r>
          </a:p>
          <a:p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private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:</a:t>
            </a:r>
          </a:p>
          <a:p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   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_x, _y;</a:t>
            </a:r>
          </a:p>
          <a:p>
            <a:pPr marL="355600"/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static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_count;</a:t>
            </a:r>
          </a:p>
          <a:p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};</a:t>
            </a:r>
          </a:p>
          <a:p>
            <a:r>
              <a:rPr lang="en-US" altLang="zh-CN" sz="20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Point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::Point(</a:t>
            </a:r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const </a:t>
            </a:r>
            <a:r>
              <a:rPr lang="en-US" altLang="zh-CN" sz="20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Point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&amp;</a:t>
            </a:r>
            <a:r>
              <a:rPr lang="en-US" altLang="zh-CN" sz="2000" dirty="0">
                <a:solidFill>
                  <a:srgbClr val="8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p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)</a:t>
            </a:r>
          </a:p>
          <a:p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{  _x = </a:t>
            </a:r>
            <a:r>
              <a:rPr lang="en-US" altLang="zh-CN" sz="2000" dirty="0" err="1">
                <a:solidFill>
                  <a:srgbClr val="8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p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._x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;</a:t>
            </a:r>
          </a:p>
          <a:p>
            <a:pPr marL="355600"/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_y = </a:t>
            </a:r>
            <a:r>
              <a:rPr lang="en-US" altLang="zh-CN" sz="2000" dirty="0" err="1">
                <a:solidFill>
                  <a:srgbClr val="8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p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._y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;</a:t>
            </a:r>
          </a:p>
          <a:p>
            <a:pPr marL="355600"/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_count++;</a:t>
            </a:r>
          </a:p>
          <a:p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}</a:t>
            </a:r>
          </a:p>
          <a:p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0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Point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::_count = 0;</a:t>
            </a:r>
            <a:endParaRPr lang="zh-CN" altLang="en-US" sz="2000" dirty="0"/>
          </a:p>
        </p:txBody>
      </p:sp>
      <p:grpSp>
        <p:nvGrpSpPr>
          <p:cNvPr id="17" name="组合 16"/>
          <p:cNvGrpSpPr/>
          <p:nvPr/>
        </p:nvGrpSpPr>
        <p:grpSpPr>
          <a:xfrm>
            <a:off x="3874731" y="2060848"/>
            <a:ext cx="4225661" cy="1512168"/>
            <a:chOff x="5242883" y="2368044"/>
            <a:chExt cx="4225661" cy="1512168"/>
          </a:xfrm>
        </p:grpSpPr>
        <p:grpSp>
          <p:nvGrpSpPr>
            <p:cNvPr id="15" name="组合 14"/>
            <p:cNvGrpSpPr/>
            <p:nvPr/>
          </p:nvGrpSpPr>
          <p:grpSpPr>
            <a:xfrm>
              <a:off x="5606498" y="2368044"/>
              <a:ext cx="3862046" cy="1224136"/>
              <a:chOff x="6262954" y="2834933"/>
              <a:chExt cx="3862046" cy="1224136"/>
            </a:xfrm>
          </p:grpSpPr>
          <p:sp>
            <p:nvSpPr>
              <p:cNvPr id="18" name="矩形 17"/>
              <p:cNvSpPr/>
              <p:nvPr/>
            </p:nvSpPr>
            <p:spPr>
              <a:xfrm>
                <a:off x="6821016" y="2834933"/>
                <a:ext cx="3303984" cy="830997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r>
                  <a:rPr lang="zh-CN" altLang="en-US" sz="2400" dirty="0">
                    <a:latin typeface="宋体" pitchFamily="2" charset="-122"/>
                  </a:rPr>
                  <a:t>静态数据成员的使用：</a:t>
                </a:r>
                <a:endParaRPr lang="en-US" altLang="zh-CN" sz="2400" dirty="0">
                  <a:latin typeface="宋体" pitchFamily="2" charset="-122"/>
                </a:endParaRPr>
              </a:p>
              <a:p>
                <a:r>
                  <a:rPr lang="zh-CN" altLang="en-US" sz="2400" dirty="0">
                    <a:latin typeface="宋体" pitchFamily="2" charset="-122"/>
                  </a:rPr>
                  <a:t>输出计数器的值</a:t>
                </a:r>
                <a:endParaRPr lang="zh-CN" altLang="en-US" sz="2400" dirty="0"/>
              </a:p>
            </p:txBody>
          </p:sp>
          <p:cxnSp>
            <p:nvCxnSpPr>
              <p:cNvPr id="19" name="直接箭头连接符 18"/>
              <p:cNvCxnSpPr/>
              <p:nvPr/>
            </p:nvCxnSpPr>
            <p:spPr>
              <a:xfrm flipH="1">
                <a:off x="6262954" y="3410997"/>
                <a:ext cx="549678" cy="648072"/>
              </a:xfrm>
              <a:prstGeom prst="straightConnector1">
                <a:avLst/>
              </a:prstGeom>
              <a:ln w="38100">
                <a:solidFill>
                  <a:schemeClr val="accent6">
                    <a:lumMod val="75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6" name="直接连接符 15"/>
            <p:cNvCxnSpPr/>
            <p:nvPr/>
          </p:nvCxnSpPr>
          <p:spPr>
            <a:xfrm>
              <a:off x="5242883" y="3880212"/>
              <a:ext cx="697269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" name="直接连接符 2"/>
          <p:cNvCxnSpPr/>
          <p:nvPr/>
        </p:nvCxnSpPr>
        <p:spPr>
          <a:xfrm>
            <a:off x="395536" y="4456276"/>
            <a:ext cx="2232248" cy="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3779912" y="4005064"/>
            <a:ext cx="3057247" cy="523220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宋体" pitchFamily="2" charset="-122"/>
              </a:rPr>
              <a:t>声明静态数据成员</a:t>
            </a:r>
            <a:endParaRPr lang="zh-CN" altLang="en-US" sz="2800" dirty="0"/>
          </a:p>
        </p:txBody>
      </p:sp>
      <p:cxnSp>
        <p:nvCxnSpPr>
          <p:cNvPr id="23" name="直接连接符 22"/>
          <p:cNvCxnSpPr/>
          <p:nvPr/>
        </p:nvCxnSpPr>
        <p:spPr>
          <a:xfrm>
            <a:off x="107504" y="6579349"/>
            <a:ext cx="2520280" cy="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3169969" y="5477740"/>
            <a:ext cx="2698175" cy="954107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宋体" pitchFamily="2" charset="-122"/>
              </a:rPr>
              <a:t>定义并且初始化</a:t>
            </a:r>
            <a:endParaRPr lang="en-US" altLang="zh-CN" sz="2800" dirty="0">
              <a:latin typeface="宋体" pitchFamily="2" charset="-122"/>
            </a:endParaRPr>
          </a:p>
          <a:p>
            <a:r>
              <a:rPr lang="zh-CN" altLang="en-US" sz="2800" dirty="0">
                <a:latin typeface="宋体" pitchFamily="2" charset="-122"/>
              </a:rPr>
              <a:t>静态数据成员</a:t>
            </a:r>
            <a:endParaRPr lang="zh-CN" altLang="en-US" sz="2800" dirty="0"/>
          </a:p>
        </p:txBody>
      </p:sp>
      <p:sp>
        <p:nvSpPr>
          <p:cNvPr id="30" name="矩形 29"/>
          <p:cNvSpPr/>
          <p:nvPr/>
        </p:nvSpPr>
        <p:spPr>
          <a:xfrm>
            <a:off x="6123066" y="5445224"/>
            <a:ext cx="2769414" cy="1261884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zh-CN" altLang="en-US" sz="2800" dirty="0">
                <a:latin typeface="宋体" pitchFamily="2" charset="-122"/>
              </a:rPr>
              <a:t>因为初值为</a:t>
            </a:r>
            <a:r>
              <a:rPr lang="en-US" altLang="zh-CN" sz="2800" dirty="0">
                <a:latin typeface="宋体" pitchFamily="2" charset="-122"/>
              </a:rPr>
              <a:t>0</a:t>
            </a:r>
            <a:r>
              <a:rPr lang="zh-CN" altLang="en-US" sz="2800" dirty="0">
                <a:latin typeface="宋体" pitchFamily="2" charset="-122"/>
              </a:rPr>
              <a:t>，所以也可以写成：</a:t>
            </a:r>
            <a:endParaRPr lang="en-US" altLang="zh-CN" sz="2800" dirty="0">
              <a:latin typeface="宋体" pitchFamily="2" charset="-122"/>
            </a:endParaRPr>
          </a:p>
          <a:p>
            <a:pPr lvl="0"/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0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Point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::_count;</a:t>
            </a:r>
            <a:endParaRPr lang="zh-CN" altLang="en-US" sz="2000" dirty="0">
              <a:solidFill>
                <a:prstClr val="black"/>
              </a:solidFill>
            </a:endParaRPr>
          </a:p>
        </p:txBody>
      </p:sp>
      <p:grpSp>
        <p:nvGrpSpPr>
          <p:cNvPr id="30721" name="组合 30720"/>
          <p:cNvGrpSpPr/>
          <p:nvPr/>
        </p:nvGrpSpPr>
        <p:grpSpPr>
          <a:xfrm>
            <a:off x="395536" y="548680"/>
            <a:ext cx="8640960" cy="5472608"/>
            <a:chOff x="395536" y="548680"/>
            <a:chExt cx="8640960" cy="5472608"/>
          </a:xfrm>
        </p:grpSpPr>
        <p:grpSp>
          <p:nvGrpSpPr>
            <p:cNvPr id="14" name="组合 13"/>
            <p:cNvGrpSpPr/>
            <p:nvPr/>
          </p:nvGrpSpPr>
          <p:grpSpPr>
            <a:xfrm>
              <a:off x="683568" y="548680"/>
              <a:ext cx="8352928" cy="862935"/>
              <a:chOff x="719572" y="1197913"/>
              <a:chExt cx="8352928" cy="862935"/>
            </a:xfrm>
          </p:grpSpPr>
          <p:cxnSp>
            <p:nvCxnSpPr>
              <p:cNvPr id="9" name="直接连接符 8"/>
              <p:cNvCxnSpPr/>
              <p:nvPr/>
            </p:nvCxnSpPr>
            <p:spPr>
              <a:xfrm>
                <a:off x="719572" y="2060848"/>
                <a:ext cx="1080120" cy="0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矩形 11"/>
              <p:cNvSpPr/>
              <p:nvPr/>
            </p:nvSpPr>
            <p:spPr>
              <a:xfrm>
                <a:off x="5040627" y="1197913"/>
                <a:ext cx="4031873" cy="830997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none">
                <a:spAutoFit/>
              </a:bodyPr>
              <a:lstStyle/>
              <a:p>
                <a:r>
                  <a:rPr lang="zh-CN" altLang="en-US" sz="2400" dirty="0">
                    <a:latin typeface="宋体" pitchFamily="2" charset="-122"/>
                  </a:rPr>
                  <a:t>静态数据成员的使用：</a:t>
                </a:r>
                <a:endParaRPr lang="en-US" altLang="zh-CN" sz="2400" dirty="0">
                  <a:latin typeface="宋体" pitchFamily="2" charset="-122"/>
                </a:endParaRPr>
              </a:p>
              <a:p>
                <a:r>
                  <a:rPr lang="zh-CN" altLang="en-US" sz="2400" dirty="0">
                    <a:latin typeface="宋体" pitchFamily="2" charset="-122"/>
                  </a:rPr>
                  <a:t>每当新建一个点，计数器加</a:t>
                </a:r>
                <a:r>
                  <a:rPr lang="en-US" altLang="zh-CN" sz="2400" dirty="0">
                    <a:latin typeface="宋体" pitchFamily="2" charset="-122"/>
                  </a:rPr>
                  <a:t>1</a:t>
                </a:r>
                <a:endParaRPr lang="zh-CN" altLang="en-US" sz="2400" dirty="0"/>
              </a:p>
            </p:txBody>
          </p:sp>
          <p:cxnSp>
            <p:nvCxnSpPr>
              <p:cNvPr id="10" name="直接箭头连接符 9"/>
              <p:cNvCxnSpPr>
                <a:cxnSpLocks/>
              </p:cNvCxnSpPr>
              <p:nvPr/>
            </p:nvCxnSpPr>
            <p:spPr>
              <a:xfrm flipH="1">
                <a:off x="2015716" y="1917993"/>
                <a:ext cx="3024911" cy="0"/>
              </a:xfrm>
              <a:prstGeom prst="straightConnector1">
                <a:avLst/>
              </a:prstGeom>
              <a:ln w="38100">
                <a:solidFill>
                  <a:schemeClr val="accent6">
                    <a:lumMod val="75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3" name="直接连接符 32"/>
            <p:cNvCxnSpPr/>
            <p:nvPr/>
          </p:nvCxnSpPr>
          <p:spPr>
            <a:xfrm>
              <a:off x="395536" y="6021288"/>
              <a:ext cx="1013139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箭头连接符 33"/>
            <p:cNvCxnSpPr>
              <a:cxnSpLocks/>
            </p:cNvCxnSpPr>
            <p:nvPr/>
          </p:nvCxnSpPr>
          <p:spPr>
            <a:xfrm flipH="1">
              <a:off x="1367644" y="1268760"/>
              <a:ext cx="3636979" cy="4569603"/>
            </a:xfrm>
            <a:prstGeom prst="straightConnector1">
              <a:avLst/>
            </a:prstGeom>
            <a:ln w="38100">
              <a:solidFill>
                <a:schemeClr val="accent6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06724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4" grpId="0" animBg="1"/>
      <p:bldP spid="30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Text Box 5"/>
          <p:cNvSpPr txBox="1">
            <a:spLocks noChangeArrowheads="1"/>
          </p:cNvSpPr>
          <p:nvPr/>
        </p:nvSpPr>
        <p:spPr bwMode="auto">
          <a:xfrm>
            <a:off x="8610600" y="6521450"/>
            <a:ext cx="533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600"/>
              <a:t>28</a:t>
            </a:r>
          </a:p>
        </p:txBody>
      </p:sp>
      <p:sp>
        <p:nvSpPr>
          <p:cNvPr id="2" name="矩形 1"/>
          <p:cNvSpPr/>
          <p:nvPr/>
        </p:nvSpPr>
        <p:spPr>
          <a:xfrm>
            <a:off x="122684" y="944145"/>
            <a:ext cx="9021316" cy="3416320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dirty="0" err="1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int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main()</a:t>
            </a:r>
          </a:p>
          <a:p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{  </a:t>
            </a:r>
            <a:r>
              <a:rPr lang="en-US" altLang="zh-CN" sz="24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Point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a(4, 5);</a:t>
            </a:r>
          </a:p>
          <a:p>
            <a:pPr marL="441325"/>
            <a:r>
              <a:rPr lang="en-US" altLang="zh-CN" sz="24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cout</a:t>
            </a:r>
            <a:r>
              <a:rPr lang="en-US" altLang="zh-CN" sz="24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400" dirty="0">
                <a:solidFill>
                  <a:srgbClr val="A31515"/>
                </a:solidFill>
                <a:highlight>
                  <a:srgbClr val="FFFFFF"/>
                </a:highlight>
                <a:latin typeface="新宋体"/>
                <a:ea typeface="新宋体"/>
              </a:rPr>
              <a:t>"Point A:"</a:t>
            </a:r>
            <a:r>
              <a:rPr lang="en-US" altLang="zh-CN" sz="24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a.getX()</a:t>
            </a:r>
            <a:r>
              <a:rPr lang="en-US" altLang="zh-CN" sz="24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400" dirty="0">
                <a:solidFill>
                  <a:srgbClr val="A31515"/>
                </a:solidFill>
                <a:highlight>
                  <a:srgbClr val="FFFFFF"/>
                </a:highlight>
                <a:latin typeface="新宋体"/>
                <a:ea typeface="新宋体"/>
              </a:rPr>
              <a:t>","</a:t>
            </a:r>
            <a:r>
              <a:rPr lang="en-US" altLang="zh-CN" sz="24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a.getY()</a:t>
            </a:r>
            <a:r>
              <a:rPr lang="en-US" altLang="zh-CN" sz="24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endl;</a:t>
            </a:r>
          </a:p>
          <a:p>
            <a:pPr marL="441325"/>
            <a:r>
              <a:rPr lang="en-US" altLang="zh-CN" sz="24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a.showCount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();</a:t>
            </a:r>
          </a:p>
          <a:p>
            <a:pPr marL="441325"/>
            <a:r>
              <a:rPr lang="en-US" altLang="zh-CN" sz="24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Point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b(a);</a:t>
            </a:r>
          </a:p>
          <a:p>
            <a:pPr marL="441325"/>
            <a:r>
              <a:rPr lang="en-US" altLang="zh-CN" sz="24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cout</a:t>
            </a:r>
            <a:r>
              <a:rPr lang="en-US" altLang="zh-CN" sz="24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400" dirty="0">
                <a:solidFill>
                  <a:srgbClr val="A31515"/>
                </a:solidFill>
                <a:highlight>
                  <a:srgbClr val="FFFFFF"/>
                </a:highlight>
                <a:latin typeface="新宋体"/>
                <a:ea typeface="新宋体"/>
              </a:rPr>
              <a:t>"Point B:"</a:t>
            </a:r>
            <a:r>
              <a:rPr lang="en-US" altLang="zh-CN" sz="24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b.getX()</a:t>
            </a:r>
            <a:r>
              <a:rPr lang="en-US" altLang="zh-CN" sz="24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400" dirty="0">
                <a:solidFill>
                  <a:srgbClr val="A31515"/>
                </a:solidFill>
                <a:highlight>
                  <a:srgbClr val="FFFFFF"/>
                </a:highlight>
                <a:latin typeface="新宋体"/>
                <a:ea typeface="新宋体"/>
              </a:rPr>
              <a:t>","</a:t>
            </a:r>
            <a:r>
              <a:rPr lang="en-US" altLang="zh-CN" sz="24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b.getY()</a:t>
            </a:r>
            <a:r>
              <a:rPr lang="en-US" altLang="zh-CN" sz="24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4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endl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;</a:t>
            </a:r>
          </a:p>
          <a:p>
            <a:pPr marL="441325"/>
            <a:r>
              <a:rPr lang="en-US" altLang="zh-CN" sz="24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b.showCount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();</a:t>
            </a:r>
          </a:p>
          <a:p>
            <a:pPr marL="441325"/>
            <a:r>
              <a:rPr lang="en-US" altLang="zh-CN" sz="24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return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0;</a:t>
            </a:r>
          </a:p>
          <a:p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}</a:t>
            </a:r>
            <a:endParaRPr lang="zh-CN" altLang="en-US" sz="2400" dirty="0"/>
          </a:p>
        </p:txBody>
      </p:sp>
      <p:sp>
        <p:nvSpPr>
          <p:cNvPr id="14" name="矩形 13"/>
          <p:cNvSpPr/>
          <p:nvPr/>
        </p:nvSpPr>
        <p:spPr>
          <a:xfrm>
            <a:off x="2915816" y="1268760"/>
            <a:ext cx="1728192" cy="43088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square" lIns="0" tIns="0" rIns="0" bIns="0">
            <a:spAutoFit/>
          </a:bodyPr>
          <a:lstStyle/>
          <a:p>
            <a:r>
              <a:rPr lang="en-US" altLang="zh-CN" sz="2800" dirty="0">
                <a:latin typeface="宋体" pitchFamily="2" charset="-122"/>
              </a:rPr>
              <a:t> _count=1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683568" y="1771655"/>
            <a:ext cx="1728192" cy="0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2843808" y="2348880"/>
            <a:ext cx="1728192" cy="43088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square" lIns="0" tIns="0" rIns="0" bIns="0">
            <a:spAutoFit/>
          </a:bodyPr>
          <a:lstStyle/>
          <a:p>
            <a:r>
              <a:rPr lang="en-US" altLang="zh-CN" sz="2800" dirty="0">
                <a:latin typeface="宋体" pitchFamily="2" charset="-122"/>
              </a:rPr>
              <a:t> _count=2</a:t>
            </a:r>
          </a:p>
        </p:txBody>
      </p:sp>
      <p:cxnSp>
        <p:nvCxnSpPr>
          <p:cNvPr id="18" name="直接连接符 17"/>
          <p:cNvCxnSpPr/>
          <p:nvPr/>
        </p:nvCxnSpPr>
        <p:spPr>
          <a:xfrm>
            <a:off x="611560" y="2850614"/>
            <a:ext cx="1728192" cy="0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5220072" y="3717032"/>
            <a:ext cx="2699142" cy="181588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  <a:latin typeface="宋体" pitchFamily="2" charset="-122"/>
              </a:rPr>
              <a:t>Point A</a:t>
            </a:r>
            <a:r>
              <a:rPr lang="zh-CN" altLang="en-US" sz="2800" dirty="0">
                <a:solidFill>
                  <a:schemeClr val="bg1"/>
                </a:solidFill>
                <a:latin typeface="宋体" pitchFamily="2" charset="-122"/>
              </a:rPr>
              <a:t>：</a:t>
            </a:r>
            <a:r>
              <a:rPr lang="en-US" altLang="zh-CN" sz="2800" dirty="0">
                <a:solidFill>
                  <a:schemeClr val="bg1"/>
                </a:solidFill>
                <a:latin typeface="宋体" pitchFamily="2" charset="-122"/>
              </a:rPr>
              <a:t>4,5</a:t>
            </a:r>
          </a:p>
          <a:p>
            <a:r>
              <a:rPr lang="en-US" altLang="zh-CN" sz="2800" dirty="0">
                <a:solidFill>
                  <a:schemeClr val="bg1"/>
                </a:solidFill>
                <a:latin typeface="宋体" pitchFamily="2" charset="-122"/>
              </a:rPr>
              <a:t>1</a:t>
            </a:r>
          </a:p>
          <a:p>
            <a:r>
              <a:rPr lang="en-US" altLang="zh-CN" sz="2800" dirty="0">
                <a:solidFill>
                  <a:schemeClr val="bg1"/>
                </a:solidFill>
                <a:latin typeface="宋体" pitchFamily="2" charset="-122"/>
              </a:rPr>
              <a:t>Point B: 4,5</a:t>
            </a:r>
          </a:p>
          <a:p>
            <a:r>
              <a:rPr lang="en-US" altLang="zh-CN" sz="2800" dirty="0">
                <a:solidFill>
                  <a:schemeClr val="bg1"/>
                </a:solidFill>
                <a:latin typeface="宋体" pitchFamily="2" charset="-122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690352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7" grpId="0" animBg="1"/>
      <p:bldP spid="12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D591C477-131D-4AA1-90A4-CAAD2506A035}" type="slidenum">
              <a:rPr lang="en-US" altLang="zh-CN" sz="1400" smtClean="0"/>
              <a:pPr/>
              <a:t>44</a:t>
            </a:fld>
            <a:endParaRPr lang="en-US" altLang="zh-CN" sz="1400"/>
          </a:p>
        </p:txBody>
      </p:sp>
      <p:sp>
        <p:nvSpPr>
          <p:cNvPr id="6" name="矩形 5"/>
          <p:cNvSpPr/>
          <p:nvPr/>
        </p:nvSpPr>
        <p:spPr>
          <a:xfrm>
            <a:off x="251520" y="329743"/>
            <a:ext cx="5867714" cy="6555641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class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0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Point</a:t>
            </a:r>
            <a:endParaRPr lang="en-US" altLang="zh-CN" sz="2000" dirty="0">
              <a:solidFill>
                <a:srgbClr val="000000"/>
              </a:solidFill>
              <a:highlight>
                <a:srgbClr val="FFFFFF"/>
              </a:highlight>
              <a:latin typeface="新宋体"/>
              <a:ea typeface="新宋体"/>
            </a:endParaRPr>
          </a:p>
          <a:p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{</a:t>
            </a:r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public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:</a:t>
            </a:r>
          </a:p>
          <a:p>
            <a:pPr marL="355600"/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Point(</a:t>
            </a:r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000" dirty="0">
                <a:solidFill>
                  <a:srgbClr val="8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x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=0,</a:t>
            </a:r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000" dirty="0">
                <a:solidFill>
                  <a:srgbClr val="8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y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=0):_x(</a:t>
            </a:r>
            <a:r>
              <a:rPr lang="en-US" altLang="zh-CN" sz="2000" dirty="0">
                <a:solidFill>
                  <a:srgbClr val="8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xx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),_y(</a:t>
            </a:r>
            <a:r>
              <a:rPr lang="en-US" altLang="zh-CN" sz="2000" dirty="0" err="1">
                <a:solidFill>
                  <a:srgbClr val="8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yy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) </a:t>
            </a:r>
          </a:p>
          <a:p>
            <a:pPr marL="355600"/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{ _count++; }</a:t>
            </a:r>
          </a:p>
          <a:p>
            <a:pPr marL="355600"/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Point(</a:t>
            </a:r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const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0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Point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&amp;p);</a:t>
            </a:r>
          </a:p>
          <a:p>
            <a:pPr marL="355600"/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getX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()</a:t>
            </a:r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 const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</a:p>
          <a:p>
            <a:pPr marL="355600"/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{  </a:t>
            </a:r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return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_x; }</a:t>
            </a:r>
          </a:p>
          <a:p>
            <a:pPr marL="355600"/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getY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() </a:t>
            </a:r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const</a:t>
            </a:r>
          </a:p>
          <a:p>
            <a:pPr marL="355600"/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{ </a:t>
            </a:r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return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_y; }</a:t>
            </a:r>
          </a:p>
          <a:p>
            <a:pPr marL="355600"/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static void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showCount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()</a:t>
            </a:r>
          </a:p>
          <a:p>
            <a:pPr marL="355600"/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{  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cout</a:t>
            </a:r>
            <a:r>
              <a:rPr lang="en-US" altLang="zh-CN" sz="20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000" dirty="0">
                <a:solidFill>
                  <a:srgbClr val="A31515"/>
                </a:solidFill>
                <a:highlight>
                  <a:srgbClr val="FFFFFF"/>
                </a:highlight>
                <a:latin typeface="新宋体"/>
                <a:ea typeface="新宋体"/>
              </a:rPr>
              <a:t>" Object count="</a:t>
            </a:r>
            <a:r>
              <a:rPr lang="en-US" altLang="zh-CN" sz="20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&lt;&lt;_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count</a:t>
            </a:r>
            <a:r>
              <a:rPr lang="en-US" altLang="zh-CN" sz="20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endl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; }</a:t>
            </a:r>
          </a:p>
          <a:p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private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:</a:t>
            </a:r>
          </a:p>
          <a:p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   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_x, _y;</a:t>
            </a:r>
          </a:p>
          <a:p>
            <a:pPr marL="355600"/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static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_count;</a:t>
            </a:r>
          </a:p>
          <a:p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};</a:t>
            </a:r>
          </a:p>
          <a:p>
            <a:r>
              <a:rPr lang="en-US" altLang="zh-CN" sz="20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Point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::Point(</a:t>
            </a:r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const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0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Point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&amp;</a:t>
            </a:r>
            <a:r>
              <a:rPr lang="en-US" altLang="zh-CN" sz="2000" dirty="0">
                <a:solidFill>
                  <a:srgbClr val="8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p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)</a:t>
            </a:r>
          </a:p>
          <a:p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{  _x = </a:t>
            </a:r>
            <a:r>
              <a:rPr lang="en-US" altLang="zh-CN" sz="2000" dirty="0" err="1">
                <a:solidFill>
                  <a:srgbClr val="8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p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._x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;</a:t>
            </a:r>
          </a:p>
          <a:p>
            <a:pPr marL="355600"/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_y = </a:t>
            </a:r>
            <a:r>
              <a:rPr lang="en-US" altLang="zh-CN" sz="2000" dirty="0" err="1">
                <a:solidFill>
                  <a:srgbClr val="8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p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._y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;</a:t>
            </a:r>
          </a:p>
          <a:p>
            <a:pPr marL="355600"/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_count++;</a:t>
            </a:r>
          </a:p>
          <a:p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}</a:t>
            </a:r>
          </a:p>
          <a:p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0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Point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::_count = 0;</a:t>
            </a:r>
            <a:endParaRPr lang="zh-CN" altLang="en-US" sz="2000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683568" y="3429000"/>
            <a:ext cx="2880320" cy="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819" name="Rectangle 1026"/>
          <p:cNvSpPr>
            <a:spLocks noGrp="1" noChangeArrowheads="1"/>
          </p:cNvSpPr>
          <p:nvPr>
            <p:ph type="title"/>
          </p:nvPr>
        </p:nvSpPr>
        <p:spPr>
          <a:xfrm>
            <a:off x="5796136" y="260648"/>
            <a:ext cx="3251094" cy="1622857"/>
          </a:xfrm>
        </p:spPr>
        <p:txBody>
          <a:bodyPr>
            <a:normAutofit fontScale="90000"/>
          </a:bodyPr>
          <a:lstStyle/>
          <a:p>
            <a:pPr algn="l"/>
            <a:r>
              <a:rPr lang="zh-CN" altLang="en-US" sz="3200" dirty="0"/>
              <a:t>将</a:t>
            </a:r>
            <a:r>
              <a:rPr lang="en-US" altLang="zh-CN" sz="3200" dirty="0"/>
              <a:t>Point</a:t>
            </a:r>
            <a:r>
              <a:rPr lang="zh-CN" altLang="en-US" sz="3200" dirty="0"/>
              <a:t>类的</a:t>
            </a:r>
            <a:br>
              <a:rPr lang="en-US" altLang="zh-CN" sz="3200" dirty="0"/>
            </a:br>
            <a:r>
              <a:rPr lang="en-US" altLang="zh-CN" sz="3200" dirty="0" err="1">
                <a:latin typeface="宋体" pitchFamily="2" charset="-122"/>
              </a:rPr>
              <a:t>showCount</a:t>
            </a:r>
            <a:r>
              <a:rPr lang="en-US" altLang="zh-CN" sz="3200" dirty="0">
                <a:latin typeface="宋体" pitchFamily="2" charset="-122"/>
              </a:rPr>
              <a:t>()</a:t>
            </a:r>
            <a:r>
              <a:rPr lang="zh-CN" altLang="en-US" sz="3200" dirty="0">
                <a:latin typeface="宋体" pitchFamily="2" charset="-122"/>
              </a:rPr>
              <a:t>函数</a:t>
            </a:r>
            <a:br>
              <a:rPr lang="en-US" altLang="zh-CN" sz="3200" dirty="0">
                <a:latin typeface="宋体" pitchFamily="2" charset="-122"/>
              </a:rPr>
            </a:br>
            <a:r>
              <a:rPr lang="zh-CN" altLang="en-US" sz="3200" dirty="0">
                <a:latin typeface="宋体" pitchFamily="2" charset="-122"/>
              </a:rPr>
              <a:t>设为静态成员</a:t>
            </a:r>
            <a:r>
              <a:rPr lang="zh-CN" altLang="en-US" sz="3200" dirty="0"/>
              <a:t>函数</a:t>
            </a:r>
          </a:p>
        </p:txBody>
      </p:sp>
      <p:sp>
        <p:nvSpPr>
          <p:cNvPr id="4" name="矩形 3"/>
          <p:cNvSpPr/>
          <p:nvPr/>
        </p:nvSpPr>
        <p:spPr>
          <a:xfrm>
            <a:off x="4499992" y="2991957"/>
            <a:ext cx="2339102" cy="437043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pPr marL="342900" lvl="0" indent="-342900">
              <a:lnSpc>
                <a:spcPct val="80000"/>
              </a:lnSpc>
              <a:spcBef>
                <a:spcPct val="20000"/>
              </a:spcBef>
              <a:buClr>
                <a:srgbClr val="477AB1"/>
              </a:buClr>
              <a:buSzPct val="50000"/>
              <a:defRPr/>
            </a:pPr>
            <a:r>
              <a:rPr lang="zh-CN" altLang="en-US" sz="2800" dirty="0">
                <a:solidFill>
                  <a:prstClr val="black"/>
                </a:solidFill>
                <a:latin typeface="宋体" pitchFamily="2" charset="-122"/>
              </a:rPr>
              <a:t>静态成员函数</a:t>
            </a:r>
          </a:p>
        </p:txBody>
      </p:sp>
      <p:sp>
        <p:nvSpPr>
          <p:cNvPr id="21" name="矩形 20"/>
          <p:cNvSpPr/>
          <p:nvPr/>
        </p:nvSpPr>
        <p:spPr>
          <a:xfrm>
            <a:off x="3707904" y="3717032"/>
            <a:ext cx="5413398" cy="1323439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类外实现静态成员函数时：不写关键字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static </a:t>
            </a:r>
          </a:p>
          <a:p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void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0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Point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::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showCount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()</a:t>
            </a:r>
          </a:p>
          <a:p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{  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cout</a:t>
            </a:r>
            <a:r>
              <a:rPr lang="en-US" altLang="zh-CN" sz="20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000" dirty="0">
                <a:solidFill>
                  <a:srgbClr val="A31515"/>
                </a:solidFill>
                <a:highlight>
                  <a:srgbClr val="FFFFFF"/>
                </a:highlight>
                <a:latin typeface="新宋体"/>
                <a:ea typeface="新宋体"/>
              </a:rPr>
              <a:t>" Object count="</a:t>
            </a:r>
            <a:r>
              <a:rPr lang="en-US" altLang="zh-CN" sz="20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&lt;&lt;_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count</a:t>
            </a:r>
            <a:r>
              <a:rPr lang="en-US" altLang="zh-CN" sz="20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endl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;</a:t>
            </a:r>
          </a:p>
          <a:p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}</a:t>
            </a:r>
            <a:endParaRPr lang="zh-CN" altLang="en-US" sz="20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F04416B-6791-3943-A90B-A51DDF847EC8}"/>
              </a:ext>
            </a:extLst>
          </p:cNvPr>
          <p:cNvSpPr/>
          <p:nvPr/>
        </p:nvSpPr>
        <p:spPr>
          <a:xfrm>
            <a:off x="3185377" y="5767368"/>
            <a:ext cx="2698175" cy="954107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宋体" pitchFamily="2" charset="-122"/>
              </a:rPr>
              <a:t>定义并且初始化</a:t>
            </a:r>
            <a:endParaRPr lang="en-US" altLang="zh-CN" sz="2800" dirty="0">
              <a:latin typeface="宋体" pitchFamily="2" charset="-122"/>
            </a:endParaRPr>
          </a:p>
          <a:p>
            <a:r>
              <a:rPr lang="zh-CN" altLang="en-US" sz="2800" dirty="0">
                <a:latin typeface="宋体" pitchFamily="2" charset="-122"/>
              </a:rPr>
              <a:t>静态数据成员</a:t>
            </a:r>
            <a:endParaRPr lang="zh-CN" altLang="en-US" sz="28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3F9507A-6EBF-7E4D-8F9D-67296369869B}"/>
              </a:ext>
            </a:extLst>
          </p:cNvPr>
          <p:cNvSpPr/>
          <p:nvPr/>
        </p:nvSpPr>
        <p:spPr>
          <a:xfrm>
            <a:off x="6123066" y="5525304"/>
            <a:ext cx="2769414" cy="1261884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zh-CN" altLang="en-US" sz="2800" dirty="0">
                <a:latin typeface="宋体" pitchFamily="2" charset="-122"/>
              </a:rPr>
              <a:t>因为初值为</a:t>
            </a:r>
            <a:r>
              <a:rPr lang="en-US" altLang="zh-CN" sz="2800" dirty="0">
                <a:latin typeface="宋体" pitchFamily="2" charset="-122"/>
              </a:rPr>
              <a:t>0</a:t>
            </a:r>
            <a:r>
              <a:rPr lang="zh-CN" altLang="en-US" sz="2800" dirty="0">
                <a:latin typeface="宋体" pitchFamily="2" charset="-122"/>
              </a:rPr>
              <a:t>，所以也可以写成：</a:t>
            </a:r>
            <a:endParaRPr lang="en-US" altLang="zh-CN" sz="2800" dirty="0">
              <a:latin typeface="宋体" pitchFamily="2" charset="-122"/>
            </a:endParaRPr>
          </a:p>
          <a:p>
            <a:pPr lvl="0"/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0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Point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::_count;</a:t>
            </a:r>
            <a:endParaRPr lang="zh-CN" altLang="en-US" sz="20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6667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4" grpId="0" animBg="1"/>
      <p:bldP spid="21" grpId="0" animBg="1"/>
      <p:bldP spid="8" grpId="0" animBg="1"/>
      <p:bldP spid="9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D591C477-131D-4AA1-90A4-CAAD2506A035}" type="slidenum">
              <a:rPr lang="en-US" altLang="zh-CN" sz="1400" smtClean="0"/>
              <a:pPr/>
              <a:t>45</a:t>
            </a:fld>
            <a:endParaRPr lang="en-US" altLang="zh-CN" sz="1400"/>
          </a:p>
        </p:txBody>
      </p:sp>
      <p:sp>
        <p:nvSpPr>
          <p:cNvPr id="10" name="矩形 9"/>
          <p:cNvSpPr/>
          <p:nvPr/>
        </p:nvSpPr>
        <p:spPr>
          <a:xfrm>
            <a:off x="59160" y="2852936"/>
            <a:ext cx="7560840" cy="2862322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000" dirty="0" err="1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main()</a:t>
            </a:r>
          </a:p>
          <a:p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{  </a:t>
            </a:r>
            <a:r>
              <a:rPr lang="en-US" altLang="zh-CN" sz="20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Point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a(4, 5);</a:t>
            </a:r>
          </a:p>
          <a:p>
            <a:pPr marL="441325"/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cout</a:t>
            </a:r>
            <a:r>
              <a:rPr lang="en-US" altLang="zh-CN" sz="20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000" dirty="0">
                <a:solidFill>
                  <a:srgbClr val="A31515"/>
                </a:solidFill>
                <a:highlight>
                  <a:srgbClr val="FFFFFF"/>
                </a:highlight>
                <a:latin typeface="新宋体"/>
                <a:ea typeface="新宋体"/>
              </a:rPr>
              <a:t>"Point A:"</a:t>
            </a:r>
            <a:r>
              <a:rPr lang="en-US" altLang="zh-CN" sz="20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a.getX()</a:t>
            </a:r>
            <a:r>
              <a:rPr lang="en-US" altLang="zh-CN" sz="20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000" dirty="0">
                <a:solidFill>
                  <a:srgbClr val="A31515"/>
                </a:solidFill>
                <a:highlight>
                  <a:srgbClr val="FFFFFF"/>
                </a:highlight>
                <a:latin typeface="新宋体"/>
                <a:ea typeface="新宋体"/>
              </a:rPr>
              <a:t>","</a:t>
            </a:r>
            <a:r>
              <a:rPr lang="en-US" altLang="zh-CN" sz="20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a.getY()</a:t>
            </a:r>
            <a:r>
              <a:rPr lang="en-US" altLang="zh-CN" sz="20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endl;</a:t>
            </a:r>
          </a:p>
          <a:p>
            <a:pPr marL="441325"/>
            <a:r>
              <a:rPr lang="en-US" altLang="zh-CN" sz="20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Point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::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showCount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();</a:t>
            </a:r>
          </a:p>
          <a:p>
            <a:pPr marL="441325"/>
            <a:r>
              <a:rPr lang="en-US" altLang="zh-CN" sz="20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Point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b(a);</a:t>
            </a:r>
          </a:p>
          <a:p>
            <a:pPr marL="441325"/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cout</a:t>
            </a:r>
            <a:r>
              <a:rPr lang="en-US" altLang="zh-CN" sz="20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000" dirty="0">
                <a:solidFill>
                  <a:srgbClr val="A31515"/>
                </a:solidFill>
                <a:highlight>
                  <a:srgbClr val="FFFFFF"/>
                </a:highlight>
                <a:latin typeface="新宋体"/>
                <a:ea typeface="新宋体"/>
              </a:rPr>
              <a:t>"Point B:"</a:t>
            </a:r>
            <a:r>
              <a:rPr lang="en-US" altLang="zh-CN" sz="20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b.getX()</a:t>
            </a:r>
            <a:r>
              <a:rPr lang="en-US" altLang="zh-CN" sz="20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000" dirty="0">
                <a:solidFill>
                  <a:srgbClr val="A31515"/>
                </a:solidFill>
                <a:highlight>
                  <a:srgbClr val="FFFFFF"/>
                </a:highlight>
                <a:latin typeface="新宋体"/>
                <a:ea typeface="新宋体"/>
              </a:rPr>
              <a:t>","</a:t>
            </a:r>
            <a:r>
              <a:rPr lang="en-US" altLang="zh-CN" sz="20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b.getY()</a:t>
            </a:r>
            <a:r>
              <a:rPr lang="en-US" altLang="zh-CN" sz="20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endl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;</a:t>
            </a:r>
          </a:p>
          <a:p>
            <a:pPr marL="441325"/>
            <a:r>
              <a:rPr lang="en-US" altLang="zh-CN" sz="20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Point</a:t>
            </a:r>
            <a:r>
              <a:rPr lang="en-US" altLang="zh-CN" sz="2000" dirty="0">
                <a:highlight>
                  <a:srgbClr val="FFFFFF"/>
                </a:highlight>
                <a:latin typeface="新宋体"/>
                <a:ea typeface="新宋体"/>
              </a:rPr>
              <a:t>::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showCount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();</a:t>
            </a:r>
          </a:p>
          <a:p>
            <a:pPr marL="441325"/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return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0;</a:t>
            </a:r>
          </a:p>
          <a:p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}</a:t>
            </a:r>
            <a:endParaRPr lang="zh-CN" altLang="en-US" sz="2000" dirty="0"/>
          </a:p>
        </p:txBody>
      </p:sp>
      <p:cxnSp>
        <p:nvCxnSpPr>
          <p:cNvPr id="11" name="直接连接符 10"/>
          <p:cNvCxnSpPr/>
          <p:nvPr/>
        </p:nvCxnSpPr>
        <p:spPr>
          <a:xfrm>
            <a:off x="611560" y="4149080"/>
            <a:ext cx="2304256" cy="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611560" y="5085184"/>
            <a:ext cx="2304256" cy="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2915816" y="3861048"/>
            <a:ext cx="4104456" cy="1080120"/>
            <a:chOff x="2987824" y="4869160"/>
            <a:chExt cx="4104456" cy="1080120"/>
          </a:xfrm>
        </p:grpSpPr>
        <p:grpSp>
          <p:nvGrpSpPr>
            <p:cNvPr id="13" name="组合 12"/>
            <p:cNvGrpSpPr/>
            <p:nvPr/>
          </p:nvGrpSpPr>
          <p:grpSpPr>
            <a:xfrm>
              <a:off x="3185377" y="4869160"/>
              <a:ext cx="3906903" cy="461665"/>
              <a:chOff x="3905457" y="3933056"/>
              <a:chExt cx="3906903" cy="461665"/>
            </a:xfrm>
          </p:grpSpPr>
          <p:sp>
            <p:nvSpPr>
              <p:cNvPr id="14" name="矩形 13"/>
              <p:cNvSpPr/>
              <p:nvPr/>
            </p:nvSpPr>
            <p:spPr>
              <a:xfrm>
                <a:off x="5473258" y="3933056"/>
                <a:ext cx="2339102" cy="461665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 err="1">
                    <a:latin typeface="宋体" pitchFamily="2" charset="-122"/>
                  </a:rPr>
                  <a:t>a.showCount</a:t>
                </a:r>
                <a:r>
                  <a:rPr lang="en-US" altLang="zh-CN" sz="2400" dirty="0">
                    <a:latin typeface="宋体" pitchFamily="2" charset="-122"/>
                  </a:rPr>
                  <a:t>();</a:t>
                </a:r>
                <a:endParaRPr lang="zh-CN" altLang="en-US" sz="2400" dirty="0"/>
              </a:p>
            </p:txBody>
          </p:sp>
          <p:cxnSp>
            <p:nvCxnSpPr>
              <p:cNvPr id="15" name="直接箭头连接符 14"/>
              <p:cNvCxnSpPr/>
              <p:nvPr/>
            </p:nvCxnSpPr>
            <p:spPr>
              <a:xfrm flipH="1">
                <a:off x="3905457" y="4221088"/>
                <a:ext cx="1567801" cy="0"/>
              </a:xfrm>
              <a:prstGeom prst="straightConnector1">
                <a:avLst/>
              </a:prstGeom>
              <a:ln w="38100">
                <a:solidFill>
                  <a:schemeClr val="accent5">
                    <a:lumMod val="75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0" name="直接箭头连接符 19"/>
            <p:cNvCxnSpPr/>
            <p:nvPr/>
          </p:nvCxnSpPr>
          <p:spPr>
            <a:xfrm flipH="1">
              <a:off x="2987824" y="5292209"/>
              <a:ext cx="1765354" cy="657071"/>
            </a:xfrm>
            <a:prstGeom prst="straightConnector1">
              <a:avLst/>
            </a:prstGeom>
            <a:ln w="38100">
              <a:solidFill>
                <a:schemeClr val="accent5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Rectangle 1026"/>
          <p:cNvSpPr txBox="1">
            <a:spLocks noChangeArrowheads="1"/>
          </p:cNvSpPr>
          <p:nvPr/>
        </p:nvSpPr>
        <p:spPr>
          <a:xfrm>
            <a:off x="1907704" y="952886"/>
            <a:ext cx="6601388" cy="1622857"/>
          </a:xfrm>
          <a:prstGeom prst="rect">
            <a:avLst/>
          </a:prstGeom>
          <a:solidFill>
            <a:srgbClr val="92D050"/>
          </a:solidFill>
        </p:spPr>
        <p:txBody>
          <a:bodyPr vert="horz" rtlCol="0" anchor="ctr">
            <a:normAutofit fontScale="97500"/>
          </a:bodyPr>
          <a:lstStyle>
            <a:lvl1pPr algn="ctr" rtl="0" eaLnBrk="1" latinLnBrk="0" hangingPunct="1">
              <a:spcBef>
                <a:spcPct val="0"/>
              </a:spcBef>
              <a:buNone/>
              <a:defRPr kumimoji="0"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pPr algn="l"/>
            <a:r>
              <a:rPr lang="zh-CN" altLang="en-US" sz="2800" dirty="0">
                <a:latin typeface="+mn-ea"/>
                <a:ea typeface="+mn-ea"/>
              </a:rPr>
              <a:t>对</a:t>
            </a:r>
            <a:r>
              <a:rPr lang="en-US" altLang="zh-CN" sz="2800" dirty="0">
                <a:latin typeface="+mn-ea"/>
                <a:ea typeface="+mn-ea"/>
              </a:rPr>
              <a:t>public</a:t>
            </a:r>
            <a:r>
              <a:rPr lang="zh-CN" altLang="en-US" sz="2800" dirty="0">
                <a:latin typeface="+mn-ea"/>
                <a:ea typeface="+mn-ea"/>
              </a:rPr>
              <a:t>的静态成员的访问：</a:t>
            </a:r>
            <a:endParaRPr lang="en-US" altLang="zh-CN" sz="2800" dirty="0">
              <a:latin typeface="+mn-ea"/>
              <a:ea typeface="+mn-ea"/>
            </a:endParaRPr>
          </a:p>
          <a:p>
            <a:pPr algn="l"/>
            <a:r>
              <a:rPr lang="zh-CN" altLang="en-US" sz="2800" dirty="0">
                <a:latin typeface="+mn-ea"/>
                <a:ea typeface="+mn-ea"/>
              </a:rPr>
              <a:t>可以通过类   </a:t>
            </a:r>
            <a:r>
              <a:rPr lang="en-US" altLang="zh-CN" sz="2800" dirty="0">
                <a:latin typeface="+mn-ea"/>
                <a:ea typeface="+mn-ea"/>
              </a:rPr>
              <a:t> Point::</a:t>
            </a:r>
            <a:r>
              <a:rPr lang="en-US" altLang="zh-CN" sz="2800" dirty="0" err="1">
                <a:latin typeface="+mn-ea"/>
                <a:ea typeface="+mn-ea"/>
              </a:rPr>
              <a:t>showCount</a:t>
            </a:r>
            <a:r>
              <a:rPr lang="en-US" altLang="zh-CN" sz="2800" dirty="0">
                <a:latin typeface="+mn-ea"/>
                <a:ea typeface="+mn-ea"/>
              </a:rPr>
              <a:t>();</a:t>
            </a:r>
            <a:br>
              <a:rPr lang="en-US" altLang="zh-CN" sz="2800" dirty="0">
                <a:latin typeface="+mn-ea"/>
                <a:ea typeface="+mn-ea"/>
              </a:rPr>
            </a:br>
            <a:r>
              <a:rPr lang="zh-CN" altLang="en-US" sz="2800" dirty="0">
                <a:latin typeface="+mn-ea"/>
                <a:ea typeface="+mn-ea"/>
              </a:rPr>
              <a:t>也可以通过任何一个对象  </a:t>
            </a:r>
            <a:r>
              <a:rPr lang="en-US" altLang="zh-CN" sz="2800" dirty="0" err="1">
                <a:latin typeface="+mn-ea"/>
                <a:ea typeface="+mn-ea"/>
              </a:rPr>
              <a:t>a.showCount</a:t>
            </a:r>
            <a:r>
              <a:rPr lang="en-US" altLang="zh-CN" sz="2800" dirty="0">
                <a:latin typeface="+mn-ea"/>
                <a:ea typeface="+mn-ea"/>
              </a:rPr>
              <a:t>();</a:t>
            </a:r>
            <a:endParaRPr lang="zh-CN" altLang="en-US" sz="28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822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6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683568" y="476672"/>
            <a:ext cx="7992888" cy="648072"/>
          </a:xfrm>
        </p:spPr>
        <p:txBody>
          <a:bodyPr>
            <a:noAutofit/>
          </a:bodyPr>
          <a:lstStyle/>
          <a:p>
            <a:pPr eaLnBrk="1" hangingPunct="1"/>
            <a:r>
              <a:rPr lang="zh-CN" altLang="en-US" sz="3600" dirty="0"/>
              <a:t>类的静态成员的本质</a:t>
            </a:r>
          </a:p>
        </p:txBody>
      </p:sp>
      <p:grpSp>
        <p:nvGrpSpPr>
          <p:cNvPr id="48" name="组合 47"/>
          <p:cNvGrpSpPr/>
          <p:nvPr/>
        </p:nvGrpSpPr>
        <p:grpSpPr>
          <a:xfrm>
            <a:off x="2051720" y="2967335"/>
            <a:ext cx="1872208" cy="3380894"/>
            <a:chOff x="2051720" y="2967335"/>
            <a:chExt cx="1872208" cy="3380894"/>
          </a:xfrm>
        </p:grpSpPr>
        <p:sp>
          <p:nvSpPr>
            <p:cNvPr id="5" name="矩形 4"/>
            <p:cNvSpPr/>
            <p:nvPr/>
          </p:nvSpPr>
          <p:spPr>
            <a:xfrm>
              <a:off x="2051720" y="2967335"/>
              <a:ext cx="1800200" cy="262190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0" name="直接连接符 9"/>
            <p:cNvCxnSpPr/>
            <p:nvPr/>
          </p:nvCxnSpPr>
          <p:spPr>
            <a:xfrm>
              <a:off x="2051720" y="3356992"/>
              <a:ext cx="18002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>
              <a:off x="2051720" y="3789040"/>
              <a:ext cx="18002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>
              <a:off x="2051720" y="4221088"/>
              <a:ext cx="18002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>
              <a:off x="2051720" y="4653136"/>
              <a:ext cx="18002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>
              <a:off x="2051720" y="5085184"/>
              <a:ext cx="18002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/>
            <p:nvPr/>
          </p:nvSpPr>
          <p:spPr>
            <a:xfrm>
              <a:off x="2411760" y="5517232"/>
              <a:ext cx="151216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/>
                <a:t>    栈  </a:t>
              </a:r>
              <a:endParaRPr lang="en-US" altLang="zh-CN" sz="2400" dirty="0"/>
            </a:p>
            <a:p>
              <a:r>
                <a:rPr lang="en-US" altLang="zh-CN" sz="2400" dirty="0"/>
                <a:t>(</a:t>
              </a:r>
              <a:r>
                <a:rPr lang="zh-CN" altLang="en-US" sz="2400" dirty="0"/>
                <a:t>示意图</a:t>
              </a:r>
              <a:r>
                <a:rPr lang="en-US" altLang="zh-CN" sz="2400" dirty="0"/>
                <a:t>)</a:t>
              </a:r>
              <a:endParaRPr lang="zh-CN" altLang="en-US" sz="2400" dirty="0"/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755576" y="2895327"/>
            <a:ext cx="2880320" cy="2549897"/>
            <a:chOff x="755576" y="2895327"/>
            <a:chExt cx="2880320" cy="2549897"/>
          </a:xfrm>
        </p:grpSpPr>
        <p:grpSp>
          <p:nvGrpSpPr>
            <p:cNvPr id="49" name="组合 48"/>
            <p:cNvGrpSpPr/>
            <p:nvPr/>
          </p:nvGrpSpPr>
          <p:grpSpPr>
            <a:xfrm>
              <a:off x="2771800" y="2895327"/>
              <a:ext cx="864096" cy="2549897"/>
              <a:chOff x="2771800" y="2895327"/>
              <a:chExt cx="864096" cy="2549897"/>
            </a:xfrm>
          </p:grpSpPr>
          <p:sp>
            <p:nvSpPr>
              <p:cNvPr id="15" name="TextBox 14"/>
              <p:cNvSpPr txBox="1"/>
              <p:nvPr/>
            </p:nvSpPr>
            <p:spPr>
              <a:xfrm>
                <a:off x="2771800" y="3255367"/>
                <a:ext cx="7920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/>
                  <a:t>_x</a:t>
                </a:r>
                <a:endParaRPr lang="zh-CN" altLang="en-US" sz="2400" dirty="0"/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2771800" y="3687415"/>
                <a:ext cx="7920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/>
                  <a:t>_y</a:t>
                </a:r>
                <a:endParaRPr lang="zh-CN" altLang="en-US" sz="2400" dirty="0"/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>
                <a:off x="2771800" y="4221088"/>
                <a:ext cx="7920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/>
                  <a:t>_x</a:t>
                </a:r>
                <a:endParaRPr lang="zh-CN" altLang="en-US" sz="2400" dirty="0"/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2771800" y="4653136"/>
                <a:ext cx="7920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/>
                  <a:t>_y</a:t>
                </a:r>
                <a:endParaRPr lang="zh-CN" altLang="en-US" sz="2400" dirty="0"/>
              </a:p>
            </p:txBody>
          </p:sp>
          <p:sp>
            <p:nvSpPr>
              <p:cNvPr id="22" name="TextBox 21"/>
              <p:cNvSpPr txBox="1"/>
              <p:nvPr/>
            </p:nvSpPr>
            <p:spPr>
              <a:xfrm>
                <a:off x="2843808" y="2895327"/>
                <a:ext cx="7920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/>
                  <a:t>…</a:t>
                </a:r>
                <a:endParaRPr lang="zh-CN" altLang="en-US" sz="2400" dirty="0"/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2843808" y="4983559"/>
                <a:ext cx="7920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/>
                  <a:t>…</a:t>
                </a:r>
                <a:endParaRPr lang="zh-CN" altLang="en-US" sz="2400" dirty="0"/>
              </a:p>
            </p:txBody>
          </p:sp>
        </p:grpSp>
        <p:grpSp>
          <p:nvGrpSpPr>
            <p:cNvPr id="28" name="组合 27"/>
            <p:cNvGrpSpPr/>
            <p:nvPr/>
          </p:nvGrpSpPr>
          <p:grpSpPr>
            <a:xfrm>
              <a:off x="755576" y="3356992"/>
              <a:ext cx="1368152" cy="864096"/>
              <a:chOff x="251520" y="2564904"/>
              <a:chExt cx="1368152" cy="864096"/>
            </a:xfrm>
          </p:grpSpPr>
          <p:sp>
            <p:nvSpPr>
              <p:cNvPr id="26" name="左大括号 25"/>
              <p:cNvSpPr/>
              <p:nvPr/>
            </p:nvSpPr>
            <p:spPr>
              <a:xfrm>
                <a:off x="1403648" y="2564904"/>
                <a:ext cx="144016" cy="864096"/>
              </a:xfrm>
              <a:prstGeom prst="leftBrace">
                <a:avLst/>
              </a:prstGeom>
              <a:ln w="38100">
                <a:solidFill>
                  <a:schemeClr val="bg2">
                    <a:lumMod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" name="TextBox 26"/>
              <p:cNvSpPr txBox="1"/>
              <p:nvPr/>
            </p:nvSpPr>
            <p:spPr>
              <a:xfrm>
                <a:off x="251520" y="2751311"/>
                <a:ext cx="136815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/>
                  <a:t>Point  a</a:t>
                </a:r>
                <a:endParaRPr lang="zh-CN" altLang="en-US" sz="2400" dirty="0"/>
              </a:p>
            </p:txBody>
          </p:sp>
        </p:grpSp>
        <p:grpSp>
          <p:nvGrpSpPr>
            <p:cNvPr id="29" name="组合 28"/>
            <p:cNvGrpSpPr/>
            <p:nvPr/>
          </p:nvGrpSpPr>
          <p:grpSpPr>
            <a:xfrm>
              <a:off x="755576" y="4221088"/>
              <a:ext cx="1368152" cy="864096"/>
              <a:chOff x="251520" y="2564904"/>
              <a:chExt cx="1368152" cy="864096"/>
            </a:xfrm>
          </p:grpSpPr>
          <p:sp>
            <p:nvSpPr>
              <p:cNvPr id="30" name="左大括号 29"/>
              <p:cNvSpPr/>
              <p:nvPr/>
            </p:nvSpPr>
            <p:spPr>
              <a:xfrm>
                <a:off x="1403648" y="2564904"/>
                <a:ext cx="144016" cy="864096"/>
              </a:xfrm>
              <a:prstGeom prst="leftBrace">
                <a:avLst/>
              </a:prstGeom>
              <a:ln w="38100">
                <a:solidFill>
                  <a:schemeClr val="bg2">
                    <a:lumMod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" name="TextBox 30"/>
              <p:cNvSpPr txBox="1"/>
              <p:nvPr/>
            </p:nvSpPr>
            <p:spPr>
              <a:xfrm>
                <a:off x="251520" y="2751311"/>
                <a:ext cx="136815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/>
                  <a:t>Point  b</a:t>
                </a:r>
                <a:endParaRPr lang="zh-CN" altLang="en-US" sz="2400" dirty="0"/>
              </a:p>
            </p:txBody>
          </p:sp>
        </p:grpSp>
      </p:grpSp>
      <p:grpSp>
        <p:nvGrpSpPr>
          <p:cNvPr id="43" name="组合 42"/>
          <p:cNvGrpSpPr/>
          <p:nvPr/>
        </p:nvGrpSpPr>
        <p:grpSpPr>
          <a:xfrm>
            <a:off x="4355976" y="1196753"/>
            <a:ext cx="3960440" cy="3999348"/>
            <a:chOff x="4355976" y="1196753"/>
            <a:chExt cx="3021760" cy="3999348"/>
          </a:xfrm>
        </p:grpSpPr>
        <p:grpSp>
          <p:nvGrpSpPr>
            <p:cNvPr id="42" name="组合 41"/>
            <p:cNvGrpSpPr/>
            <p:nvPr/>
          </p:nvGrpSpPr>
          <p:grpSpPr>
            <a:xfrm>
              <a:off x="4355976" y="1196753"/>
              <a:ext cx="3021760" cy="3081534"/>
              <a:chOff x="4355976" y="1196753"/>
              <a:chExt cx="3021760" cy="3081534"/>
            </a:xfrm>
          </p:grpSpPr>
          <p:sp>
            <p:nvSpPr>
              <p:cNvPr id="33" name="矩形 32"/>
              <p:cNvSpPr/>
              <p:nvPr/>
            </p:nvSpPr>
            <p:spPr>
              <a:xfrm>
                <a:off x="4355976" y="1196753"/>
                <a:ext cx="3021760" cy="3081534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4" name="直接连接符 33"/>
              <p:cNvCxnSpPr/>
              <p:nvPr/>
            </p:nvCxnSpPr>
            <p:spPr>
              <a:xfrm>
                <a:off x="4355976" y="1628800"/>
                <a:ext cx="302176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/>
              <p:cNvCxnSpPr/>
              <p:nvPr/>
            </p:nvCxnSpPr>
            <p:spPr>
              <a:xfrm>
                <a:off x="4355976" y="2060848"/>
                <a:ext cx="302176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/>
              <p:cNvCxnSpPr/>
              <p:nvPr/>
            </p:nvCxnSpPr>
            <p:spPr>
              <a:xfrm>
                <a:off x="4355976" y="2492896"/>
                <a:ext cx="302176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/>
              <p:cNvCxnSpPr/>
              <p:nvPr/>
            </p:nvCxnSpPr>
            <p:spPr>
              <a:xfrm>
                <a:off x="4355976" y="2924944"/>
                <a:ext cx="302176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/>
              <p:cNvCxnSpPr/>
              <p:nvPr/>
            </p:nvCxnSpPr>
            <p:spPr>
              <a:xfrm>
                <a:off x="4355976" y="3356992"/>
                <a:ext cx="302176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/>
              <p:cNvCxnSpPr/>
              <p:nvPr/>
            </p:nvCxnSpPr>
            <p:spPr>
              <a:xfrm>
                <a:off x="4355976" y="3789040"/>
                <a:ext cx="302176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1" name="TextBox 50"/>
            <p:cNvSpPr txBox="1"/>
            <p:nvPr/>
          </p:nvSpPr>
          <p:spPr>
            <a:xfrm>
              <a:off x="4860032" y="4365104"/>
              <a:ext cx="201622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/>
                <a:t>代码内存区</a:t>
              </a:r>
              <a:r>
                <a:rPr lang="en-US" altLang="zh-CN" sz="2400" dirty="0"/>
                <a:t>(</a:t>
              </a:r>
              <a:r>
                <a:rPr lang="zh-CN" altLang="en-US" sz="2400" dirty="0"/>
                <a:t>示意图</a:t>
              </a:r>
              <a:r>
                <a:rPr lang="en-US" altLang="zh-CN" sz="2400" dirty="0"/>
                <a:t>)</a:t>
              </a:r>
              <a:endParaRPr lang="zh-CN" altLang="en-US" sz="2400" dirty="0"/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4427984" y="1196752"/>
            <a:ext cx="3780420" cy="2981945"/>
            <a:chOff x="8208404" y="1196752"/>
            <a:chExt cx="3780420" cy="2981945"/>
          </a:xfrm>
        </p:grpSpPr>
        <p:sp>
          <p:nvSpPr>
            <p:cNvPr id="46" name="TextBox 45"/>
            <p:cNvSpPr txBox="1"/>
            <p:nvPr/>
          </p:nvSpPr>
          <p:spPr>
            <a:xfrm>
              <a:off x="8244408" y="1599183"/>
              <a:ext cx="33843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/>
                <a:t>Point::Point(</a:t>
              </a:r>
              <a:r>
                <a:rPr lang="en-US" altLang="zh-CN" sz="2400" dirty="0" err="1"/>
                <a:t>int</a:t>
              </a:r>
              <a:r>
                <a:rPr lang="en-US" altLang="zh-CN" sz="2400" dirty="0"/>
                <a:t>, </a:t>
              </a:r>
              <a:r>
                <a:rPr lang="en-US" altLang="zh-CN" sz="2400" dirty="0" err="1"/>
                <a:t>int</a:t>
              </a:r>
              <a:r>
                <a:rPr lang="en-US" altLang="zh-CN" sz="2400" dirty="0"/>
                <a:t>)</a:t>
              </a:r>
              <a:endParaRPr lang="zh-CN" altLang="en-US" sz="2400" dirty="0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9003066" y="1196752"/>
              <a:ext cx="13295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/>
                <a:t>…</a:t>
              </a:r>
              <a:endParaRPr lang="zh-CN" altLang="en-US" sz="2400" dirty="0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9003066" y="3717032"/>
              <a:ext cx="13295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/>
                <a:t>…</a:t>
              </a:r>
              <a:endParaRPr lang="zh-CN" altLang="en-US" sz="2400" dirty="0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8208404" y="2031231"/>
              <a:ext cx="366983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/>
                <a:t>Point::Point(const Point&amp;)</a:t>
              </a:r>
              <a:endParaRPr lang="zh-CN" altLang="en-US" sz="2400" dirty="0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8208404" y="2463279"/>
              <a:ext cx="28803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/>
                <a:t>Point::</a:t>
              </a:r>
              <a:r>
                <a:rPr lang="en-US" altLang="zh-CN" sz="2400" dirty="0" err="1"/>
                <a:t>getX</a:t>
              </a:r>
              <a:r>
                <a:rPr lang="en-US" altLang="zh-CN" sz="2400" dirty="0"/>
                <a:t>() const</a:t>
              </a:r>
              <a:endParaRPr lang="zh-CN" altLang="en-US" sz="2400" dirty="0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8208404" y="2895327"/>
              <a:ext cx="28803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/>
                <a:t>Point::</a:t>
              </a:r>
              <a:r>
                <a:rPr lang="en-US" altLang="zh-CN" sz="2400" dirty="0" err="1"/>
                <a:t>getY</a:t>
              </a:r>
              <a:r>
                <a:rPr lang="en-US" altLang="zh-CN" sz="2400" dirty="0"/>
                <a:t>() const</a:t>
              </a:r>
              <a:endParaRPr lang="zh-CN" altLang="en-US" sz="2400" dirty="0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8208404" y="3327375"/>
              <a:ext cx="37804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/>
                <a:t>static Point::</a:t>
              </a:r>
              <a:r>
                <a:rPr lang="en-US" altLang="zh-CN" sz="2400" dirty="0" err="1"/>
                <a:t>showCount</a:t>
              </a:r>
              <a:r>
                <a:rPr lang="en-US" altLang="zh-CN" sz="2400" dirty="0"/>
                <a:t>()</a:t>
              </a:r>
              <a:endParaRPr lang="zh-CN" altLang="en-US" sz="2400" dirty="0"/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30847" y="3918247"/>
            <a:ext cx="2092881" cy="2616389"/>
            <a:chOff x="30847" y="3918247"/>
            <a:chExt cx="2092881" cy="2616389"/>
          </a:xfrm>
        </p:grpSpPr>
        <p:sp>
          <p:nvSpPr>
            <p:cNvPr id="58" name="矩形 57"/>
            <p:cNvSpPr/>
            <p:nvPr/>
          </p:nvSpPr>
          <p:spPr>
            <a:xfrm>
              <a:off x="30847" y="5334307"/>
              <a:ext cx="2092881" cy="1200329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>
              <a:spAutoFit/>
            </a:bodyPr>
            <a:lstStyle/>
            <a:p>
              <a:r>
                <a:rPr lang="zh-CN" altLang="en-US" sz="2400" dirty="0"/>
                <a:t>每个对象拥有</a:t>
              </a:r>
              <a:endParaRPr lang="en-US" altLang="zh-CN" sz="2400" dirty="0"/>
            </a:p>
            <a:p>
              <a:r>
                <a:rPr lang="zh-CN" altLang="en-US" sz="2400" dirty="0"/>
                <a:t>各自的</a:t>
              </a:r>
              <a:endParaRPr lang="en-US" altLang="zh-CN" sz="2400" dirty="0"/>
            </a:p>
            <a:p>
              <a:r>
                <a:rPr lang="zh-CN" altLang="en-US" sz="2400" dirty="0"/>
                <a:t>成员数据</a:t>
              </a:r>
            </a:p>
          </p:txBody>
        </p:sp>
        <p:cxnSp>
          <p:nvCxnSpPr>
            <p:cNvPr id="61" name="直接箭头连接符 60"/>
            <p:cNvCxnSpPr/>
            <p:nvPr/>
          </p:nvCxnSpPr>
          <p:spPr>
            <a:xfrm flipV="1">
              <a:off x="683568" y="4682753"/>
              <a:ext cx="720080" cy="620610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箭头连接符 61"/>
            <p:cNvCxnSpPr/>
            <p:nvPr/>
          </p:nvCxnSpPr>
          <p:spPr>
            <a:xfrm flipV="1">
              <a:off x="526174" y="3918247"/>
              <a:ext cx="438737" cy="1381923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9" name="组合 68"/>
          <p:cNvGrpSpPr/>
          <p:nvPr/>
        </p:nvGrpSpPr>
        <p:grpSpPr>
          <a:xfrm>
            <a:off x="80209" y="281959"/>
            <a:ext cx="2339102" cy="1667665"/>
            <a:chOff x="80209" y="281959"/>
            <a:chExt cx="2339102" cy="1667665"/>
          </a:xfrm>
        </p:grpSpPr>
        <p:sp>
          <p:nvSpPr>
            <p:cNvPr id="59" name="矩形 58"/>
            <p:cNvSpPr/>
            <p:nvPr/>
          </p:nvSpPr>
          <p:spPr>
            <a:xfrm>
              <a:off x="80209" y="281959"/>
              <a:ext cx="2339102" cy="830997"/>
            </a:xfrm>
            <a:prstGeom prst="rect">
              <a:avLst/>
            </a:prstGeom>
            <a:solidFill>
              <a:srgbClr val="FFFF00"/>
            </a:solidFill>
          </p:spPr>
          <p:txBody>
            <a:bodyPr wrap="none">
              <a:spAutoFit/>
            </a:bodyPr>
            <a:lstStyle/>
            <a:p>
              <a:r>
                <a:rPr lang="zh-CN" altLang="en-US" sz="2400" dirty="0"/>
                <a:t>整个类拥有一份</a:t>
              </a:r>
              <a:endParaRPr lang="en-US" altLang="zh-CN" sz="2400" dirty="0"/>
            </a:p>
            <a:p>
              <a:r>
                <a:rPr lang="zh-CN" altLang="en-US" sz="2400" dirty="0"/>
                <a:t>静态成员数据</a:t>
              </a:r>
            </a:p>
          </p:txBody>
        </p:sp>
        <p:cxnSp>
          <p:nvCxnSpPr>
            <p:cNvPr id="64" name="直接箭头连接符 63"/>
            <p:cNvCxnSpPr>
              <a:endCxn id="60" idx="1"/>
            </p:cNvCxnSpPr>
            <p:nvPr/>
          </p:nvCxnSpPr>
          <p:spPr>
            <a:xfrm>
              <a:off x="933364" y="1184965"/>
              <a:ext cx="1118356" cy="764659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4" name="组合 73"/>
          <p:cNvGrpSpPr/>
          <p:nvPr/>
        </p:nvGrpSpPr>
        <p:grpSpPr>
          <a:xfrm>
            <a:off x="6948264" y="838"/>
            <a:ext cx="2031325" cy="1712743"/>
            <a:chOff x="6948264" y="596587"/>
            <a:chExt cx="2031325" cy="1712743"/>
          </a:xfrm>
        </p:grpSpPr>
        <p:sp>
          <p:nvSpPr>
            <p:cNvPr id="70" name="矩形 69"/>
            <p:cNvSpPr/>
            <p:nvPr/>
          </p:nvSpPr>
          <p:spPr>
            <a:xfrm>
              <a:off x="6948264" y="596587"/>
              <a:ext cx="2031325" cy="830997"/>
            </a:xfrm>
            <a:prstGeom prst="rect">
              <a:avLst/>
            </a:prstGeom>
            <a:solidFill>
              <a:srgbClr val="FFFF00"/>
            </a:solidFill>
          </p:spPr>
          <p:txBody>
            <a:bodyPr wrap="none">
              <a:spAutoFit/>
            </a:bodyPr>
            <a:lstStyle/>
            <a:p>
              <a:r>
                <a:rPr lang="zh-CN" altLang="en-US" sz="2400" dirty="0"/>
                <a:t>整个类拥有</a:t>
              </a:r>
              <a:endParaRPr lang="en-US" altLang="zh-CN" sz="2400" dirty="0"/>
            </a:p>
            <a:p>
              <a:r>
                <a:rPr lang="zh-CN" altLang="en-US" sz="2400" dirty="0"/>
                <a:t>一份成员函数</a:t>
              </a:r>
            </a:p>
          </p:txBody>
        </p:sp>
        <p:cxnSp>
          <p:nvCxnSpPr>
            <p:cNvPr id="71" name="直接箭头连接符 70"/>
            <p:cNvCxnSpPr>
              <a:cxnSpLocks/>
            </p:cNvCxnSpPr>
            <p:nvPr/>
          </p:nvCxnSpPr>
          <p:spPr>
            <a:xfrm flipH="1">
              <a:off x="7560332" y="1412776"/>
              <a:ext cx="576064" cy="896554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组合 43"/>
          <p:cNvGrpSpPr/>
          <p:nvPr/>
        </p:nvGrpSpPr>
        <p:grpSpPr>
          <a:xfrm>
            <a:off x="1691680" y="1334344"/>
            <a:ext cx="2376264" cy="1590600"/>
            <a:chOff x="1691680" y="1334344"/>
            <a:chExt cx="2376264" cy="1590600"/>
          </a:xfrm>
        </p:grpSpPr>
        <p:cxnSp>
          <p:nvCxnSpPr>
            <p:cNvPr id="7" name="直接连接符 6"/>
            <p:cNvCxnSpPr/>
            <p:nvPr/>
          </p:nvCxnSpPr>
          <p:spPr>
            <a:xfrm>
              <a:off x="2051720" y="1743199"/>
              <a:ext cx="18002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/>
          </p:nvCxnSpPr>
          <p:spPr>
            <a:xfrm>
              <a:off x="2051720" y="2175247"/>
              <a:ext cx="18002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>
              <a:off x="1691680" y="2463279"/>
              <a:ext cx="237626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/>
                <a:t>静态变量存储区</a:t>
              </a:r>
            </a:p>
          </p:txBody>
        </p:sp>
        <p:sp>
          <p:nvSpPr>
            <p:cNvPr id="60" name="矩形 59"/>
            <p:cNvSpPr/>
            <p:nvPr/>
          </p:nvSpPr>
          <p:spPr>
            <a:xfrm>
              <a:off x="2051720" y="1334344"/>
              <a:ext cx="1800200" cy="123056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745542" y="1209526"/>
            <a:ext cx="2962362" cy="1283370"/>
            <a:chOff x="745542" y="1209526"/>
            <a:chExt cx="2962362" cy="1283370"/>
          </a:xfrm>
        </p:grpSpPr>
        <p:sp>
          <p:nvSpPr>
            <p:cNvPr id="19" name="TextBox 18"/>
            <p:cNvSpPr txBox="1"/>
            <p:nvPr/>
          </p:nvSpPr>
          <p:spPr>
            <a:xfrm>
              <a:off x="2411760" y="1713582"/>
              <a:ext cx="12961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/>
                <a:t>_count</a:t>
              </a:r>
              <a:endParaRPr lang="zh-CN" altLang="en-US" sz="2400" dirty="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555776" y="1209526"/>
              <a:ext cx="79208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/>
                <a:t>…</a:t>
              </a:r>
              <a:endParaRPr lang="zh-CN" altLang="en-US" sz="2400" dirty="0"/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2699792" y="2031231"/>
              <a:ext cx="79208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/>
                <a:t>…</a:t>
              </a:r>
              <a:endParaRPr lang="zh-CN" altLang="en-US" sz="2400" dirty="0"/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745542" y="1713581"/>
              <a:ext cx="100811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/>
                <a:t>Point </a:t>
              </a:r>
              <a:endParaRPr lang="zh-CN" altLang="en-US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3798253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88640"/>
            <a:ext cx="8229600" cy="19442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/>
              <a:t>类的每个对象都独立拥有自己的成员数据；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但整个类只拥有一份静态成员数据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（整个类也只拥有一份成员函数）</a:t>
            </a:r>
            <a:endParaRPr lang="en-US" altLang="zh-CN" dirty="0"/>
          </a:p>
        </p:txBody>
      </p:sp>
      <p:sp>
        <p:nvSpPr>
          <p:cNvPr id="6" name="矩形 5"/>
          <p:cNvSpPr/>
          <p:nvPr/>
        </p:nvSpPr>
        <p:spPr>
          <a:xfrm>
            <a:off x="539552" y="2204864"/>
            <a:ext cx="6390456" cy="1368503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>
              <a:spcBef>
                <a:spcPct val="20000"/>
              </a:spcBef>
              <a:buClr>
                <a:schemeClr val="accent1"/>
              </a:buClr>
              <a:buSzPct val="50000"/>
              <a:buFont typeface="Wingdings 2"/>
              <a:buNone/>
            </a:pPr>
            <a:r>
              <a:rPr lang="zh-CN" altLang="en-US" sz="3200" dirty="0"/>
              <a:t>静态成员是类的所有对象共享的</a:t>
            </a:r>
            <a:endParaRPr lang="en-US" altLang="zh-CN" sz="3200" dirty="0"/>
          </a:p>
          <a:p>
            <a:pPr>
              <a:spcBef>
                <a:spcPct val="20000"/>
              </a:spcBef>
              <a:buClr>
                <a:schemeClr val="accent1"/>
              </a:buClr>
              <a:buSzPct val="50000"/>
              <a:buFont typeface="Wingdings 2"/>
              <a:buNone/>
            </a:pPr>
            <a:r>
              <a:rPr lang="zh-CN" altLang="en-US" sz="3200" dirty="0"/>
              <a:t>（成员函数也是所有对象共享的）</a:t>
            </a:r>
            <a:endParaRPr lang="en-US" altLang="zh-CN" sz="3200" dirty="0"/>
          </a:p>
        </p:txBody>
      </p:sp>
      <p:grpSp>
        <p:nvGrpSpPr>
          <p:cNvPr id="8" name="组合 7"/>
          <p:cNvGrpSpPr/>
          <p:nvPr/>
        </p:nvGrpSpPr>
        <p:grpSpPr>
          <a:xfrm>
            <a:off x="467544" y="3645024"/>
            <a:ext cx="7776864" cy="2242120"/>
            <a:chOff x="467544" y="3645024"/>
            <a:chExt cx="7776864" cy="2242120"/>
          </a:xfrm>
        </p:grpSpPr>
        <p:sp>
          <p:nvSpPr>
            <p:cNvPr id="7" name="矩形 6"/>
            <p:cNvSpPr/>
            <p:nvPr/>
          </p:nvSpPr>
          <p:spPr>
            <a:xfrm>
              <a:off x="467544" y="3645024"/>
              <a:ext cx="7776864" cy="1080120"/>
            </a:xfrm>
            <a:prstGeom prst="rect">
              <a:avLst/>
            </a:prstGeom>
          </p:spPr>
          <p:txBody>
            <a:bodyPr vert="horz" rtlCol="0">
              <a:noAutofit/>
            </a:bodyPr>
            <a:lstStyle/>
            <a:p>
              <a: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 2"/>
                <a:buNone/>
              </a:pPr>
              <a:r>
                <a:rPr lang="zh-CN" altLang="en-US" sz="3200" dirty="0"/>
                <a:t>静态成员数据不是由构造函数创建的</a:t>
              </a:r>
              <a:endParaRPr lang="en-US" altLang="zh-CN" sz="3200" dirty="0"/>
            </a:p>
            <a:p>
              <a:pPr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 2"/>
                <a:buNone/>
              </a:pPr>
              <a:r>
                <a:rPr lang="zh-CN" altLang="en-US" sz="3200" dirty="0"/>
                <a:t>是由变量定义语句创建的：</a:t>
              </a:r>
              <a:endParaRPr lang="en-US" altLang="zh-CN" sz="3200" dirty="0"/>
            </a:p>
          </p:txBody>
        </p:sp>
        <p:sp>
          <p:nvSpPr>
            <p:cNvPr id="4" name="矩形 3"/>
            <p:cNvSpPr/>
            <p:nvPr/>
          </p:nvSpPr>
          <p:spPr>
            <a:xfrm>
              <a:off x="1191200" y="4725144"/>
              <a:ext cx="3236784" cy="52322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r>
                <a:rPr lang="en-US" altLang="zh-CN" sz="2800" dirty="0">
                  <a:solidFill>
                    <a:srgbClr val="0000FF"/>
                  </a:solidFill>
                  <a:highlight>
                    <a:srgbClr val="FFFFFF"/>
                  </a:highlight>
                  <a:latin typeface="新宋体"/>
                  <a:ea typeface="新宋体"/>
                </a:rPr>
                <a:t>static</a:t>
              </a:r>
              <a:r>
                <a:rPr lang="en-US" altLang="zh-CN" sz="2800" dirty="0">
                  <a:solidFill>
                    <a:srgbClr val="000000"/>
                  </a:solidFill>
                  <a:highlight>
                    <a:srgbClr val="FFFFFF"/>
                  </a:highlight>
                  <a:latin typeface="新宋体"/>
                  <a:ea typeface="新宋体"/>
                </a:rPr>
                <a:t> </a:t>
              </a:r>
              <a:r>
                <a:rPr lang="en-US" altLang="zh-CN" sz="2800" dirty="0" err="1">
                  <a:solidFill>
                    <a:srgbClr val="0000FF"/>
                  </a:solidFill>
                  <a:highlight>
                    <a:srgbClr val="FFFFFF"/>
                  </a:highlight>
                  <a:latin typeface="新宋体"/>
                  <a:ea typeface="新宋体"/>
                </a:rPr>
                <a:t>int</a:t>
              </a:r>
              <a:r>
                <a:rPr lang="en-US" altLang="zh-CN" sz="2800" dirty="0">
                  <a:solidFill>
                    <a:srgbClr val="000000"/>
                  </a:solidFill>
                  <a:highlight>
                    <a:srgbClr val="FFFFFF"/>
                  </a:highlight>
                  <a:latin typeface="新宋体"/>
                  <a:ea typeface="新宋体"/>
                </a:rPr>
                <a:t> count;</a:t>
              </a:r>
            </a:p>
          </p:txBody>
        </p:sp>
        <p:sp>
          <p:nvSpPr>
            <p:cNvPr id="5" name="矩形 4"/>
            <p:cNvSpPr/>
            <p:nvPr/>
          </p:nvSpPr>
          <p:spPr>
            <a:xfrm>
              <a:off x="1187624" y="5363924"/>
              <a:ext cx="3954929" cy="52322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r>
                <a:rPr lang="en-US" altLang="zh-CN" sz="2800" dirty="0" err="1">
                  <a:solidFill>
                    <a:srgbClr val="0000FF"/>
                  </a:solidFill>
                  <a:highlight>
                    <a:srgbClr val="FFFFFF"/>
                  </a:highlight>
                  <a:latin typeface="新宋体"/>
                  <a:ea typeface="新宋体"/>
                </a:rPr>
                <a:t>int</a:t>
              </a:r>
              <a:r>
                <a:rPr lang="en-US" altLang="zh-CN" sz="2800" dirty="0">
                  <a:solidFill>
                    <a:srgbClr val="000000"/>
                  </a:solidFill>
                  <a:highlight>
                    <a:srgbClr val="FFFFFF"/>
                  </a:highlight>
                  <a:latin typeface="新宋体"/>
                  <a:ea typeface="新宋体"/>
                </a:rPr>
                <a:t> </a:t>
              </a:r>
              <a:r>
                <a:rPr lang="en-US" altLang="zh-CN" sz="2800" dirty="0">
                  <a:solidFill>
                    <a:srgbClr val="2B91AF"/>
                  </a:solidFill>
                  <a:highlight>
                    <a:srgbClr val="FFFFFF"/>
                  </a:highlight>
                  <a:latin typeface="新宋体"/>
                  <a:ea typeface="新宋体"/>
                </a:rPr>
                <a:t>Point</a:t>
              </a:r>
              <a:r>
                <a:rPr lang="en-US" altLang="zh-CN" sz="2800" dirty="0">
                  <a:solidFill>
                    <a:srgbClr val="000000"/>
                  </a:solidFill>
                  <a:highlight>
                    <a:srgbClr val="FFFFFF"/>
                  </a:highlight>
                  <a:latin typeface="新宋体"/>
                  <a:ea typeface="新宋体"/>
                </a:rPr>
                <a:t>::count = 0;</a:t>
              </a:r>
              <a:endParaRPr lang="zh-CN" altLang="en-US" sz="2800" dirty="0"/>
            </a:p>
          </p:txBody>
        </p:sp>
      </p:grpSp>
      <p:sp>
        <p:nvSpPr>
          <p:cNvPr id="2" name="矩形 1"/>
          <p:cNvSpPr/>
          <p:nvPr/>
        </p:nvSpPr>
        <p:spPr>
          <a:xfrm>
            <a:off x="5652120" y="5440868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/>
              <a:t>创建</a:t>
            </a:r>
          </a:p>
        </p:txBody>
      </p:sp>
    </p:spTree>
    <p:extLst>
      <p:ext uri="{BB962C8B-B14F-4D97-AF65-F5344CB8AC3E}">
        <p14:creationId xmlns:p14="http://schemas.microsoft.com/office/powerpoint/2010/main" val="4275462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0" y="2636912"/>
            <a:ext cx="9144000" cy="2062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"/>
              <a:defRPr sz="3200">
                <a:solidFill>
                  <a:schemeClr val="tx1"/>
                </a:solidFill>
                <a:latin typeface="Cambria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0000"/>
              <a:buFont typeface="Wingdings 2" pitchFamily="18" charset="2"/>
              <a:buChar char="³"/>
              <a:defRPr sz="2800">
                <a:solidFill>
                  <a:schemeClr val="tx1"/>
                </a:solidFill>
                <a:latin typeface="Cambria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7B9B57"/>
              </a:buClr>
              <a:buSzPct val="60000"/>
              <a:buFont typeface="Wingdings 2" pitchFamily="18" charset="2"/>
              <a:buChar char="®"/>
              <a:defRPr sz="2400">
                <a:solidFill>
                  <a:schemeClr val="tx1"/>
                </a:solidFill>
                <a:latin typeface="Cambria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B7396"/>
              </a:buClr>
              <a:buSzPct val="45000"/>
              <a:buFont typeface="Wingdings 2" pitchFamily="18" charset="2"/>
              <a:buChar char="¯"/>
              <a:defRPr sz="2000">
                <a:solidFill>
                  <a:schemeClr val="tx1"/>
                </a:solidFill>
                <a:latin typeface="Cambria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E89A53"/>
              </a:buClr>
              <a:buFont typeface="Wingdings 2" pitchFamily="18" charset="2"/>
              <a:buChar char=""/>
              <a:defRPr sz="2000">
                <a:solidFill>
                  <a:schemeClr val="tx1"/>
                </a:solidFill>
                <a:latin typeface="Cambria" pitchFamily="18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itchFamily="18" charset="2"/>
              <a:buChar char=""/>
              <a:defRPr sz="2000">
                <a:solidFill>
                  <a:schemeClr val="tx1"/>
                </a:solidFill>
                <a:latin typeface="Cambria" pitchFamily="18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itchFamily="18" charset="2"/>
              <a:buChar char=""/>
              <a:defRPr sz="2000">
                <a:solidFill>
                  <a:schemeClr val="tx1"/>
                </a:solidFill>
                <a:latin typeface="Cambria" pitchFamily="18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itchFamily="18" charset="2"/>
              <a:buChar char=""/>
              <a:defRPr sz="2000">
                <a:solidFill>
                  <a:schemeClr val="tx1"/>
                </a:solidFill>
                <a:latin typeface="Cambria" pitchFamily="18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itchFamily="18" charset="2"/>
              <a:buChar char=""/>
              <a:defRPr sz="2000">
                <a:solidFill>
                  <a:schemeClr val="tx1"/>
                </a:solidFill>
                <a:latin typeface="Cambria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+mn-ea"/>
              </a:rPr>
              <a:t>static</a:t>
            </a:r>
            <a:r>
              <a:rPr lang="zh-CN" altLang="en-US" dirty="0">
                <a:latin typeface="+mn-ea"/>
              </a:rPr>
              <a:t>成员函数 与 普通（非</a:t>
            </a:r>
            <a:r>
              <a:rPr lang="en-US" altLang="zh-CN" dirty="0">
                <a:latin typeface="+mn-ea"/>
              </a:rPr>
              <a:t>static</a:t>
            </a:r>
            <a:r>
              <a:rPr lang="zh-CN" altLang="en-US" dirty="0">
                <a:latin typeface="+mn-ea"/>
              </a:rPr>
              <a:t>）成员函数 的 不同：</a:t>
            </a:r>
            <a:endParaRPr lang="en-US" altLang="zh-CN" dirty="0">
              <a:latin typeface="+mn-ea"/>
            </a:endParaRPr>
          </a:p>
          <a:p>
            <a:pPr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lang="zh-CN" altLang="en-US" dirty="0">
                <a:latin typeface="+mn-ea"/>
              </a:rPr>
              <a:t>  普通成员函数有 </a:t>
            </a:r>
            <a:r>
              <a:rPr lang="en-US" altLang="zh-CN" dirty="0">
                <a:latin typeface="+mn-ea"/>
              </a:rPr>
              <a:t>this </a:t>
            </a:r>
            <a:r>
              <a:rPr lang="zh-CN" altLang="en-US" dirty="0">
                <a:latin typeface="+mn-ea"/>
              </a:rPr>
              <a:t>指针</a:t>
            </a:r>
            <a:endParaRPr lang="en-US" altLang="zh-CN" dirty="0">
              <a:latin typeface="+mn-ea"/>
            </a:endParaRPr>
          </a:p>
          <a:p>
            <a:pPr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+mn-ea"/>
              </a:rPr>
              <a:t>  static</a:t>
            </a:r>
            <a:r>
              <a:rPr lang="zh-CN" altLang="en-US" dirty="0">
                <a:latin typeface="+mn-ea"/>
              </a:rPr>
              <a:t>成员函数 没有 </a:t>
            </a:r>
            <a:r>
              <a:rPr lang="en-US" altLang="zh-CN" dirty="0">
                <a:latin typeface="+mn-ea"/>
              </a:rPr>
              <a:t>this </a:t>
            </a:r>
            <a:r>
              <a:rPr lang="zh-CN" altLang="en-US" dirty="0">
                <a:latin typeface="+mn-ea"/>
              </a:rPr>
              <a:t>指针</a:t>
            </a:r>
            <a:endParaRPr kumimoji="0" lang="zh-CN" altLang="en-US" dirty="0">
              <a:latin typeface="+mn-ea"/>
              <a:ea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36104" y="908720"/>
            <a:ext cx="8196336" cy="1296144"/>
          </a:xfrm>
          <a:prstGeom prst="rect">
            <a:avLst/>
          </a:prstGeom>
        </p:spPr>
        <p:txBody>
          <a:bodyPr vert="horz" rtlCol="0">
            <a:noAutofit/>
          </a:bodyPr>
          <a:lstStyle/>
          <a:p>
            <a:pPr>
              <a:spcBef>
                <a:spcPct val="20000"/>
              </a:spcBef>
              <a:buClr>
                <a:schemeClr val="accent1"/>
              </a:buClr>
              <a:buSzPct val="50000"/>
              <a:buFont typeface="Wingdings 2"/>
              <a:buNone/>
            </a:pPr>
            <a:r>
              <a:rPr lang="zh-CN" altLang="en-US" sz="3200" dirty="0">
                <a:latin typeface="+mn-ea"/>
              </a:rPr>
              <a:t>对普通成员的访问需要当前对象（</a:t>
            </a:r>
            <a:r>
              <a:rPr lang="en-US" altLang="zh-CN" sz="3200" dirty="0">
                <a:latin typeface="+mn-ea"/>
              </a:rPr>
              <a:t>*this</a:t>
            </a:r>
            <a:r>
              <a:rPr lang="zh-CN" altLang="en-US" sz="3200" dirty="0">
                <a:latin typeface="+mn-ea"/>
              </a:rPr>
              <a:t>）</a:t>
            </a:r>
            <a:endParaRPr lang="en-US" altLang="zh-CN" sz="3200" dirty="0">
              <a:latin typeface="+mn-ea"/>
            </a:endParaRPr>
          </a:p>
          <a:p>
            <a:pPr>
              <a:spcBef>
                <a:spcPct val="20000"/>
              </a:spcBef>
              <a:buClr>
                <a:schemeClr val="accent1"/>
              </a:buClr>
              <a:buSzPct val="50000"/>
              <a:buFont typeface="Wingdings 2"/>
              <a:buNone/>
            </a:pPr>
            <a:r>
              <a:rPr lang="zh-CN" altLang="en-US" sz="3200" dirty="0">
                <a:latin typeface="+mn-ea"/>
              </a:rPr>
              <a:t>对静态成员的访问不需要当前对象</a:t>
            </a:r>
            <a:endParaRPr lang="en-US" altLang="zh-CN" sz="32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93478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35496" y="329743"/>
            <a:ext cx="5904656" cy="6555641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class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0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Point</a:t>
            </a:r>
            <a:endParaRPr lang="en-US" altLang="zh-CN" sz="2000" dirty="0">
              <a:solidFill>
                <a:srgbClr val="000000"/>
              </a:solidFill>
              <a:highlight>
                <a:srgbClr val="FFFFFF"/>
              </a:highlight>
              <a:latin typeface="新宋体"/>
              <a:ea typeface="新宋体"/>
            </a:endParaRPr>
          </a:p>
          <a:p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{</a:t>
            </a:r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public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:</a:t>
            </a:r>
          </a:p>
          <a:p>
            <a:pPr marL="355600"/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Point(</a:t>
            </a:r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000" dirty="0">
                <a:solidFill>
                  <a:srgbClr val="8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x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=0,</a:t>
            </a:r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000" dirty="0">
                <a:solidFill>
                  <a:srgbClr val="8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y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=0):_x(</a:t>
            </a:r>
            <a:r>
              <a:rPr lang="en-US" altLang="zh-CN" sz="2000" dirty="0">
                <a:solidFill>
                  <a:srgbClr val="8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x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),_y(</a:t>
            </a:r>
            <a:r>
              <a:rPr lang="en-US" altLang="zh-CN" sz="2000" dirty="0">
                <a:solidFill>
                  <a:srgbClr val="8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y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) </a:t>
            </a:r>
          </a:p>
          <a:p>
            <a:pPr marL="355600"/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{ _count++; }</a:t>
            </a:r>
          </a:p>
          <a:p>
            <a:pPr marL="355600"/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Point(</a:t>
            </a:r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const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0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Point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&amp;p);</a:t>
            </a:r>
          </a:p>
          <a:p>
            <a:pPr marL="355600"/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getX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() </a:t>
            </a:r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const</a:t>
            </a:r>
            <a:endParaRPr lang="en-US" altLang="zh-CN" sz="2000" dirty="0">
              <a:solidFill>
                <a:srgbClr val="000000"/>
              </a:solidFill>
              <a:highlight>
                <a:srgbClr val="FFFFFF"/>
              </a:highlight>
              <a:latin typeface="新宋体"/>
              <a:ea typeface="新宋体"/>
            </a:endParaRPr>
          </a:p>
          <a:p>
            <a:pPr marL="355600"/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{  </a:t>
            </a:r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return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_x; }</a:t>
            </a:r>
          </a:p>
          <a:p>
            <a:pPr marL="355600"/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getY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()</a:t>
            </a:r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 const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</a:p>
          <a:p>
            <a:pPr marL="355600"/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{ </a:t>
            </a:r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return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_y; }</a:t>
            </a:r>
          </a:p>
          <a:p>
            <a:pPr marL="355600"/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static void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showCount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()</a:t>
            </a:r>
          </a:p>
          <a:p>
            <a:pPr marL="355600"/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{  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cout</a:t>
            </a:r>
            <a:r>
              <a:rPr lang="en-US" altLang="zh-CN" sz="20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000" dirty="0">
                <a:solidFill>
                  <a:srgbClr val="A31515"/>
                </a:solidFill>
                <a:highlight>
                  <a:srgbClr val="FFFFFF"/>
                </a:highlight>
                <a:latin typeface="新宋体"/>
                <a:ea typeface="新宋体"/>
              </a:rPr>
              <a:t>"Object count="</a:t>
            </a:r>
            <a:r>
              <a:rPr lang="en-US" altLang="zh-CN" sz="20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&lt;&lt;_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count</a:t>
            </a:r>
            <a:r>
              <a:rPr lang="en-US" altLang="zh-CN" sz="20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endl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; }</a:t>
            </a:r>
          </a:p>
          <a:p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private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:</a:t>
            </a:r>
          </a:p>
          <a:p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   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_x, _y;</a:t>
            </a:r>
          </a:p>
          <a:p>
            <a:pPr marL="355600"/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static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_count;</a:t>
            </a:r>
          </a:p>
          <a:p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};</a:t>
            </a:r>
          </a:p>
          <a:p>
            <a:r>
              <a:rPr lang="en-US" altLang="zh-CN" sz="20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Point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::Point(</a:t>
            </a:r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const </a:t>
            </a:r>
            <a:r>
              <a:rPr lang="en-US" altLang="zh-CN" sz="20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Point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&amp;</a:t>
            </a:r>
            <a:r>
              <a:rPr lang="en-US" altLang="zh-CN" sz="2000" dirty="0">
                <a:solidFill>
                  <a:srgbClr val="8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p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)</a:t>
            </a:r>
          </a:p>
          <a:p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{  _x = </a:t>
            </a:r>
            <a:r>
              <a:rPr lang="en-US" altLang="zh-CN" sz="2000" dirty="0" err="1">
                <a:solidFill>
                  <a:srgbClr val="8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p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._x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;</a:t>
            </a:r>
          </a:p>
          <a:p>
            <a:pPr marL="355600"/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_y = </a:t>
            </a:r>
            <a:r>
              <a:rPr lang="en-US" altLang="zh-CN" sz="2000" dirty="0" err="1">
                <a:solidFill>
                  <a:srgbClr val="8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p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._y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;</a:t>
            </a:r>
          </a:p>
          <a:p>
            <a:pPr marL="355600"/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_count++;</a:t>
            </a:r>
          </a:p>
          <a:p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}</a:t>
            </a:r>
          </a:p>
          <a:p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0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Point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::_count = 0;</a:t>
            </a:r>
            <a:endParaRPr lang="zh-CN" altLang="en-US" sz="2000" dirty="0"/>
          </a:p>
        </p:txBody>
      </p:sp>
      <p:sp>
        <p:nvSpPr>
          <p:cNvPr id="105476" name="Rectangle 4"/>
          <p:cNvSpPr>
            <a:spLocks noChangeArrowheads="1"/>
          </p:cNvSpPr>
          <p:nvPr/>
        </p:nvSpPr>
        <p:spPr bwMode="auto">
          <a:xfrm>
            <a:off x="1619672" y="116632"/>
            <a:ext cx="7488834" cy="369974"/>
          </a:xfrm>
          <a:prstGeom prst="rect">
            <a:avLst/>
          </a:prstGeom>
          <a:solidFill>
            <a:srgbClr val="FF9900"/>
          </a:solidFill>
          <a:ln w="3175">
            <a:solidFill>
              <a:schemeClr val="bg1"/>
            </a:solidFill>
            <a:miter lim="800000"/>
            <a:headEnd/>
            <a:tailEnd/>
          </a:ln>
        </p:spPr>
        <p:txBody>
          <a:bodyPr wrap="square" lIns="92075" tIns="46038" rIns="92075" bIns="46038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"/>
              <a:defRPr sz="3200">
                <a:solidFill>
                  <a:schemeClr val="tx1"/>
                </a:solidFill>
                <a:latin typeface="Cambria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0000"/>
              <a:buFont typeface="Wingdings 2" pitchFamily="18" charset="2"/>
              <a:buChar char="³"/>
              <a:defRPr sz="2800">
                <a:solidFill>
                  <a:schemeClr val="tx1"/>
                </a:solidFill>
                <a:latin typeface="Cambria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7B9B57"/>
              </a:buClr>
              <a:buSzPct val="60000"/>
              <a:buFont typeface="Wingdings 2" pitchFamily="18" charset="2"/>
              <a:buChar char="®"/>
              <a:defRPr sz="2400">
                <a:solidFill>
                  <a:schemeClr val="tx1"/>
                </a:solidFill>
                <a:latin typeface="Cambria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B7396"/>
              </a:buClr>
              <a:buSzPct val="45000"/>
              <a:buFont typeface="Wingdings 2" pitchFamily="18" charset="2"/>
              <a:buChar char="¯"/>
              <a:defRPr sz="2000">
                <a:solidFill>
                  <a:schemeClr val="tx1"/>
                </a:solidFill>
                <a:latin typeface="Cambria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E89A53"/>
              </a:buClr>
              <a:buFont typeface="Wingdings 2" pitchFamily="18" charset="2"/>
              <a:buChar char=""/>
              <a:defRPr sz="2000">
                <a:solidFill>
                  <a:schemeClr val="tx1"/>
                </a:solidFill>
                <a:latin typeface="Cambria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itchFamily="18" charset="2"/>
              <a:buChar char=""/>
              <a:defRPr sz="2000">
                <a:solidFill>
                  <a:schemeClr val="tx1"/>
                </a:solidFill>
                <a:latin typeface="Cambria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itchFamily="18" charset="2"/>
              <a:buChar char=""/>
              <a:defRPr sz="2000">
                <a:solidFill>
                  <a:schemeClr val="tx1"/>
                </a:solidFill>
                <a:latin typeface="Cambria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itchFamily="18" charset="2"/>
              <a:buChar char=""/>
              <a:defRPr sz="2000">
                <a:solidFill>
                  <a:schemeClr val="tx1"/>
                </a:solidFill>
                <a:latin typeface="Cambria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itchFamily="18" charset="2"/>
              <a:buChar char=""/>
              <a:defRPr sz="2000">
                <a:solidFill>
                  <a:schemeClr val="tx1"/>
                </a:solidFill>
                <a:latin typeface="Cambria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None/>
            </a:pPr>
            <a:r>
              <a:rPr lang="zh-CN" altLang="en-US" sz="1800" b="1" dirty="0">
                <a:latin typeface="Times New Roman" pitchFamily="18" charset="0"/>
              </a:rPr>
              <a:t>对于非</a:t>
            </a:r>
            <a:r>
              <a:rPr lang="en-US" altLang="zh-CN" sz="1800" b="1" dirty="0">
                <a:latin typeface="Times New Roman" pitchFamily="18" charset="0"/>
              </a:rPr>
              <a:t>static</a:t>
            </a:r>
            <a:r>
              <a:rPr lang="zh-CN" altLang="en-US" sz="1800" b="1" dirty="0">
                <a:latin typeface="Times New Roman" pitchFamily="18" charset="0"/>
              </a:rPr>
              <a:t>成员函数，编译器改变其定义，额外的</a:t>
            </a:r>
            <a:r>
              <a:rPr lang="en-US" altLang="zh-CN" sz="1800" b="1" dirty="0">
                <a:latin typeface="Times New Roman" pitchFamily="18" charset="0"/>
              </a:rPr>
              <a:t>this</a:t>
            </a:r>
            <a:r>
              <a:rPr lang="zh-CN" altLang="en-US" sz="1800" b="1" dirty="0">
                <a:latin typeface="Times New Roman" pitchFamily="18" charset="0"/>
              </a:rPr>
              <a:t>指针指向当前对象。</a:t>
            </a:r>
            <a:endParaRPr lang="en-US" altLang="zh-CN" sz="1800" b="1" dirty="0">
              <a:latin typeface="Times New Roman" pitchFamily="18" charset="0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2483768" y="976018"/>
            <a:ext cx="6660232" cy="5045270"/>
            <a:chOff x="-2988840" y="976018"/>
            <a:chExt cx="6660232" cy="5045270"/>
          </a:xfrm>
        </p:grpSpPr>
        <p:sp>
          <p:nvSpPr>
            <p:cNvPr id="105477" name="Text Box 5"/>
            <p:cNvSpPr txBox="1">
              <a:spLocks noChangeArrowheads="1"/>
            </p:cNvSpPr>
            <p:nvPr/>
          </p:nvSpPr>
          <p:spPr bwMode="auto">
            <a:xfrm>
              <a:off x="-180528" y="976018"/>
              <a:ext cx="3851920" cy="2031968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 2" pitchFamily="18" charset="2"/>
                <a:buChar char=""/>
                <a:defRPr sz="3200">
                  <a:solidFill>
                    <a:schemeClr val="tx1"/>
                  </a:solidFill>
                  <a:latin typeface="Cambria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50000"/>
                <a:buFont typeface="Wingdings 2" pitchFamily="18" charset="2"/>
                <a:buChar char="³"/>
                <a:defRPr sz="2800">
                  <a:solidFill>
                    <a:schemeClr val="tx1"/>
                  </a:solidFill>
                  <a:latin typeface="Cambria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7B9B57"/>
                </a:buClr>
                <a:buSzPct val="60000"/>
                <a:buFont typeface="Wingdings 2" pitchFamily="18" charset="2"/>
                <a:buChar char="®"/>
                <a:defRPr sz="2400">
                  <a:solidFill>
                    <a:schemeClr val="tx1"/>
                  </a:solidFill>
                  <a:latin typeface="Cambria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B7396"/>
                </a:buClr>
                <a:buSzPct val="45000"/>
                <a:buFont typeface="Wingdings 2" pitchFamily="18" charset="2"/>
                <a:buChar char="¯"/>
                <a:defRPr sz="2000">
                  <a:solidFill>
                    <a:schemeClr val="tx1"/>
                  </a:solidFill>
                  <a:latin typeface="Cambria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E89A53"/>
                </a:buClr>
                <a:buFont typeface="Wingdings 2" pitchFamily="18" charset="2"/>
                <a:buChar char=""/>
                <a:defRPr sz="2000">
                  <a:solidFill>
                    <a:schemeClr val="tx1"/>
                  </a:solidFill>
                  <a:latin typeface="Cambria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itchFamily="18" charset="2"/>
                <a:buChar char=""/>
                <a:defRPr sz="2000">
                  <a:solidFill>
                    <a:schemeClr val="tx1"/>
                  </a:solidFill>
                  <a:latin typeface="Cambria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itchFamily="18" charset="2"/>
                <a:buChar char=""/>
                <a:defRPr sz="2000">
                  <a:solidFill>
                    <a:schemeClr val="tx1"/>
                  </a:solidFill>
                  <a:latin typeface="Cambria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itchFamily="18" charset="2"/>
                <a:buChar char=""/>
                <a:defRPr sz="2000">
                  <a:solidFill>
                    <a:schemeClr val="tx1"/>
                  </a:solidFill>
                  <a:latin typeface="Cambria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itchFamily="18" charset="2"/>
                <a:buChar char=""/>
                <a:defRPr sz="2000">
                  <a:solidFill>
                    <a:schemeClr val="tx1"/>
                  </a:solidFill>
                  <a:latin typeface="Cambria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solidFill>
                    <a:srgbClr val="0033CC"/>
                  </a:solidFill>
                  <a:latin typeface="Times New Roman" pitchFamily="18" charset="0"/>
                </a:rPr>
                <a:t>inline Point(</a:t>
              </a:r>
              <a:r>
                <a:rPr lang="en-US" altLang="zh-CN" sz="1800" dirty="0">
                  <a:solidFill>
                    <a:srgbClr val="FF0000"/>
                  </a:solidFill>
                  <a:latin typeface="Times New Roman" pitchFamily="18" charset="0"/>
                </a:rPr>
                <a:t>Point *this</a:t>
              </a:r>
              <a:r>
                <a:rPr lang="en-US" altLang="zh-CN" sz="1800" dirty="0">
                  <a:solidFill>
                    <a:srgbClr val="0033CC"/>
                  </a:solidFill>
                  <a:latin typeface="Times New Roman" pitchFamily="18" charset="0"/>
                </a:rPr>
                <a:t>, int x, int y):</a:t>
              </a:r>
              <a:r>
                <a:rPr lang="en-US" altLang="zh-CN" sz="1800" dirty="0">
                  <a:solidFill>
                    <a:srgbClr val="FF0000"/>
                  </a:solidFill>
                  <a:latin typeface="Times New Roman" pitchFamily="18" charset="0"/>
                </a:rPr>
                <a:t> this-&gt; </a:t>
              </a:r>
              <a:r>
                <a:rPr lang="en-US" altLang="zh-CN" sz="1800" dirty="0">
                  <a:solidFill>
                    <a:srgbClr val="0033CC"/>
                  </a:solidFill>
                  <a:latin typeface="Times New Roman" pitchFamily="18" charset="0"/>
                </a:rPr>
                <a:t>_x(x),</a:t>
              </a:r>
              <a:r>
                <a:rPr lang="en-US" altLang="zh-CN" sz="1800" dirty="0">
                  <a:solidFill>
                    <a:srgbClr val="FF0000"/>
                  </a:solidFill>
                  <a:latin typeface="Times New Roman" pitchFamily="18" charset="0"/>
                </a:rPr>
                <a:t> this-&gt; </a:t>
              </a:r>
              <a:r>
                <a:rPr lang="en-US" altLang="zh-CN" sz="1800" dirty="0">
                  <a:solidFill>
                    <a:srgbClr val="0033CC"/>
                  </a:solidFill>
                  <a:latin typeface="Times New Roman" pitchFamily="18" charset="0"/>
                </a:rPr>
                <a:t>_y(y) { _</a:t>
              </a:r>
              <a:r>
                <a:rPr lang="en-US" altLang="zh-CN" sz="1800" dirty="0">
                  <a:solidFill>
                    <a:schemeClr val="tx2"/>
                  </a:solidFill>
                  <a:latin typeface="Times New Roman" pitchFamily="18" charset="0"/>
                </a:rPr>
                <a:t>count</a:t>
              </a:r>
              <a:r>
                <a:rPr lang="en-US" altLang="zh-CN" sz="1800" dirty="0">
                  <a:solidFill>
                    <a:srgbClr val="0033CC"/>
                  </a:solidFill>
                  <a:latin typeface="Times New Roman" pitchFamily="18" charset="0"/>
                </a:rPr>
                <a:t>++; }</a:t>
              </a:r>
            </a:p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solidFill>
                    <a:srgbClr val="0033CC"/>
                  </a:solidFill>
                  <a:latin typeface="Times New Roman" pitchFamily="18" charset="0"/>
                </a:rPr>
                <a:t>inline int </a:t>
              </a:r>
              <a:r>
                <a:rPr lang="en-US" altLang="zh-CN" sz="1800" dirty="0" err="1">
                  <a:solidFill>
                    <a:srgbClr val="0033CC"/>
                  </a:solidFill>
                  <a:latin typeface="Times New Roman" pitchFamily="18" charset="0"/>
                </a:rPr>
                <a:t>getx</a:t>
              </a:r>
              <a:r>
                <a:rPr lang="en-US" altLang="zh-CN" sz="1800" dirty="0">
                  <a:solidFill>
                    <a:srgbClr val="0033CC"/>
                  </a:solidFill>
                  <a:latin typeface="Times New Roman" pitchFamily="18" charset="0"/>
                </a:rPr>
                <a:t>(</a:t>
              </a:r>
              <a:r>
                <a:rPr lang="en-US" altLang="zh-CN" sz="1800" dirty="0">
                  <a:solidFill>
                    <a:srgbClr val="FF0000"/>
                  </a:solidFill>
                  <a:latin typeface="Times New Roman" pitchFamily="18" charset="0"/>
                </a:rPr>
                <a:t>Point *this</a:t>
              </a:r>
              <a:r>
                <a:rPr lang="en-US" altLang="zh-CN" sz="1800" dirty="0">
                  <a:solidFill>
                    <a:srgbClr val="0033CC"/>
                  </a:solidFill>
                  <a:latin typeface="Times New Roman" pitchFamily="18" charset="0"/>
                </a:rPr>
                <a:t>) const</a:t>
              </a:r>
            </a:p>
            <a:p>
              <a:pPr eaLnBrk="1" hangingPunct="1">
                <a:spcBef>
                  <a:spcPts val="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solidFill>
                    <a:srgbClr val="0033CC"/>
                  </a:solidFill>
                  <a:latin typeface="Times New Roman" pitchFamily="18" charset="0"/>
                </a:rPr>
                <a:t>{return </a:t>
              </a:r>
              <a:r>
                <a:rPr lang="en-US" altLang="zh-CN" sz="1800" dirty="0">
                  <a:solidFill>
                    <a:srgbClr val="FF0000"/>
                  </a:solidFill>
                  <a:latin typeface="Times New Roman" pitchFamily="18" charset="0"/>
                </a:rPr>
                <a:t>this-&gt;</a:t>
              </a:r>
              <a:r>
                <a:rPr lang="en-US" altLang="zh-CN" sz="1800" dirty="0">
                  <a:solidFill>
                    <a:srgbClr val="0033CC"/>
                  </a:solidFill>
                  <a:latin typeface="Times New Roman" pitchFamily="18" charset="0"/>
                </a:rPr>
                <a:t> _x;}</a:t>
              </a:r>
            </a:p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solidFill>
                    <a:srgbClr val="0033CC"/>
                  </a:solidFill>
                  <a:latin typeface="Times New Roman" pitchFamily="18" charset="0"/>
                </a:rPr>
                <a:t>inline int </a:t>
              </a:r>
              <a:r>
                <a:rPr lang="en-US" altLang="zh-CN" sz="1800" dirty="0" err="1">
                  <a:solidFill>
                    <a:srgbClr val="0033CC"/>
                  </a:solidFill>
                  <a:latin typeface="Times New Roman" pitchFamily="18" charset="0"/>
                </a:rPr>
                <a:t>gety</a:t>
              </a:r>
              <a:r>
                <a:rPr lang="en-US" altLang="zh-CN" sz="1800" dirty="0">
                  <a:solidFill>
                    <a:srgbClr val="0033CC"/>
                  </a:solidFill>
                  <a:latin typeface="Times New Roman" pitchFamily="18" charset="0"/>
                </a:rPr>
                <a:t>(</a:t>
              </a:r>
              <a:r>
                <a:rPr lang="en-US" altLang="zh-CN" sz="1800" dirty="0">
                  <a:solidFill>
                    <a:srgbClr val="FF0000"/>
                  </a:solidFill>
                  <a:latin typeface="Times New Roman" pitchFamily="18" charset="0"/>
                </a:rPr>
                <a:t>Point *this</a:t>
              </a:r>
              <a:r>
                <a:rPr lang="en-US" altLang="zh-CN" sz="1800" dirty="0">
                  <a:solidFill>
                    <a:srgbClr val="0033CC"/>
                  </a:solidFill>
                  <a:latin typeface="Times New Roman" pitchFamily="18" charset="0"/>
                </a:rPr>
                <a:t>) const</a:t>
              </a:r>
            </a:p>
            <a:p>
              <a:pPr eaLnBrk="1" hangingPunct="1">
                <a:spcBef>
                  <a:spcPts val="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solidFill>
                    <a:srgbClr val="0033CC"/>
                  </a:solidFill>
                  <a:latin typeface="Times New Roman" pitchFamily="18" charset="0"/>
                </a:rPr>
                <a:t>{return </a:t>
              </a:r>
              <a:r>
                <a:rPr lang="en-US" altLang="zh-CN" sz="1800" dirty="0">
                  <a:solidFill>
                    <a:srgbClr val="FF0000"/>
                  </a:solidFill>
                  <a:latin typeface="Times New Roman" pitchFamily="18" charset="0"/>
                </a:rPr>
                <a:t>this-&gt;</a:t>
              </a:r>
              <a:r>
                <a:rPr lang="en-US" altLang="zh-CN" sz="1800" dirty="0">
                  <a:solidFill>
                    <a:srgbClr val="0033CC"/>
                  </a:solidFill>
                  <a:latin typeface="Times New Roman" pitchFamily="18" charset="0"/>
                </a:rPr>
                <a:t> _y;}</a:t>
              </a:r>
            </a:p>
          </p:txBody>
        </p:sp>
        <p:sp>
          <p:nvSpPr>
            <p:cNvPr id="105480" name="Text Box 8"/>
            <p:cNvSpPr txBox="1">
              <a:spLocks noChangeArrowheads="1"/>
            </p:cNvSpPr>
            <p:nvPr/>
          </p:nvSpPr>
          <p:spPr bwMode="auto">
            <a:xfrm>
              <a:off x="-468560" y="4543318"/>
              <a:ext cx="4032669" cy="1477970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2075" tIns="46038" rIns="92075" bIns="46038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itchFamily="18" charset="2"/>
                <a:buChar char=""/>
                <a:defRPr kumimoji="1" sz="2600">
                  <a:solidFill>
                    <a:schemeClr val="tx1"/>
                  </a:solidFill>
                  <a:latin typeface="Perpetua" charset="0"/>
                  <a:ea typeface="宋体" pitchFamily="2" charset="-122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itchFamily="18" charset="2"/>
                <a:buChar char=""/>
                <a:defRPr kumimoji="1" sz="2400">
                  <a:solidFill>
                    <a:schemeClr val="tx1"/>
                  </a:solidFill>
                  <a:latin typeface="Perpetua" charset="0"/>
                  <a:ea typeface="宋体" pitchFamily="2" charset="-122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itchFamily="18" charset="2"/>
                <a:buChar char=""/>
                <a:defRPr kumimoji="1" sz="2000">
                  <a:solidFill>
                    <a:schemeClr val="tx1"/>
                  </a:solidFill>
                  <a:latin typeface="Perpetua" charset="0"/>
                  <a:ea typeface="宋体" pitchFamily="2" charset="-122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itchFamily="18" charset="2"/>
                <a:buChar char=""/>
                <a:defRPr kumimoji="1" sz="2000">
                  <a:solidFill>
                    <a:schemeClr val="tx1"/>
                  </a:solidFill>
                  <a:latin typeface="Perpetua" charset="0"/>
                  <a:ea typeface="宋体" pitchFamily="2" charset="-122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kumimoji="1" sz="2000">
                  <a:solidFill>
                    <a:schemeClr val="tx1"/>
                  </a:solidFill>
                  <a:latin typeface="Perpetua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kumimoji="1" sz="2000">
                  <a:solidFill>
                    <a:schemeClr val="tx1"/>
                  </a:solidFill>
                  <a:latin typeface="Perpetua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kumimoji="1" sz="2000">
                  <a:solidFill>
                    <a:schemeClr val="tx1"/>
                  </a:solidFill>
                  <a:latin typeface="Perpetua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kumimoji="1" sz="2000">
                  <a:solidFill>
                    <a:schemeClr val="tx1"/>
                  </a:solidFill>
                  <a:latin typeface="Perpetua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kumimoji="1" sz="2000">
                  <a:solidFill>
                    <a:schemeClr val="tx1"/>
                  </a:solidFill>
                  <a:latin typeface="Perpetua" charset="0"/>
                  <a:ea typeface="宋体" pitchFamily="2" charset="-122"/>
                </a:defRPr>
              </a:lvl9pPr>
            </a:lstStyle>
            <a:p>
              <a:pPr>
                <a:spcBef>
                  <a:spcPts val="1800"/>
                </a:spcBef>
                <a:buClrTx/>
                <a:buSzTx/>
                <a:buFontTx/>
                <a:buNone/>
                <a:defRPr/>
              </a:pPr>
              <a:r>
                <a:rPr lang="en-US" altLang="zh-CN" sz="1800" dirty="0">
                  <a:solidFill>
                    <a:srgbClr val="0033CC"/>
                  </a:solidFill>
                  <a:latin typeface="Times New Roman" pitchFamily="18" charset="0"/>
                </a:rPr>
                <a:t>Point::Point(</a:t>
              </a:r>
              <a:r>
                <a:rPr lang="en-US" altLang="zh-CN" sz="1800" dirty="0">
                  <a:solidFill>
                    <a:srgbClr val="FF0000"/>
                  </a:solidFill>
                  <a:latin typeface="Times New Roman" pitchFamily="18" charset="0"/>
                </a:rPr>
                <a:t>Point* this</a:t>
              </a:r>
              <a:r>
                <a:rPr lang="en-US" altLang="zh-CN" sz="1800" dirty="0">
                  <a:solidFill>
                    <a:srgbClr val="0033CC"/>
                  </a:solidFill>
                  <a:latin typeface="Times New Roman" pitchFamily="18" charset="0"/>
                </a:rPr>
                <a:t>, const Point &amp;p)</a:t>
              </a:r>
            </a:p>
            <a:p>
              <a:pPr>
                <a:spcBef>
                  <a:spcPts val="0"/>
                </a:spcBef>
                <a:buClrTx/>
                <a:buSzTx/>
                <a:buFontTx/>
                <a:buNone/>
                <a:defRPr/>
              </a:pPr>
              <a:r>
                <a:rPr lang="en-US" altLang="zh-CN" sz="1800" dirty="0">
                  <a:solidFill>
                    <a:srgbClr val="0033CC"/>
                  </a:solidFill>
                  <a:latin typeface="Times New Roman" pitchFamily="18" charset="0"/>
                </a:rPr>
                <a:t>{  </a:t>
              </a:r>
              <a:r>
                <a:rPr lang="en-US" altLang="zh-CN" sz="1800" dirty="0">
                  <a:solidFill>
                    <a:srgbClr val="FF0000"/>
                  </a:solidFill>
                  <a:latin typeface="Times New Roman" pitchFamily="18" charset="0"/>
                </a:rPr>
                <a:t>this-&gt; </a:t>
              </a:r>
              <a:r>
                <a:rPr lang="en-US" altLang="zh-CN" sz="1800" dirty="0">
                  <a:solidFill>
                    <a:srgbClr val="0033CC"/>
                  </a:solidFill>
                  <a:latin typeface="Times New Roman" pitchFamily="18" charset="0"/>
                </a:rPr>
                <a:t>_x = p. _x;</a:t>
              </a:r>
            </a:p>
            <a:p>
              <a:pPr>
                <a:spcBef>
                  <a:spcPts val="0"/>
                </a:spcBef>
                <a:buClrTx/>
                <a:buSzTx/>
                <a:buFontTx/>
                <a:buNone/>
                <a:defRPr/>
              </a:pPr>
              <a:r>
                <a:rPr lang="en-US" altLang="zh-CN" sz="1800" dirty="0">
                  <a:solidFill>
                    <a:srgbClr val="FF0000"/>
                  </a:solidFill>
                  <a:latin typeface="Times New Roman" pitchFamily="18" charset="0"/>
                </a:rPr>
                <a:t>    this-&gt; </a:t>
              </a:r>
              <a:r>
                <a:rPr lang="en-US" altLang="zh-CN" sz="1800" dirty="0">
                  <a:solidFill>
                    <a:srgbClr val="0033CC"/>
                  </a:solidFill>
                  <a:latin typeface="Times New Roman" pitchFamily="18" charset="0"/>
                </a:rPr>
                <a:t>_y = p. _y;</a:t>
              </a:r>
            </a:p>
            <a:p>
              <a:pPr>
                <a:spcBef>
                  <a:spcPts val="0"/>
                </a:spcBef>
                <a:buClrTx/>
                <a:buSzTx/>
                <a:buFontTx/>
                <a:buNone/>
                <a:defRPr/>
              </a:pPr>
              <a:r>
                <a:rPr lang="en-US" altLang="zh-CN" sz="1800" dirty="0">
                  <a:solidFill>
                    <a:schemeClr val="tx2"/>
                  </a:solidFill>
                  <a:latin typeface="Times New Roman" pitchFamily="18" charset="0"/>
                </a:rPr>
                <a:t>    _count</a:t>
              </a:r>
              <a:r>
                <a:rPr lang="en-US" altLang="zh-CN" sz="1800" dirty="0">
                  <a:solidFill>
                    <a:srgbClr val="0033CC"/>
                  </a:solidFill>
                  <a:latin typeface="Times New Roman" pitchFamily="18" charset="0"/>
                </a:rPr>
                <a:t>++;</a:t>
              </a:r>
            </a:p>
            <a:p>
              <a:pPr>
                <a:spcBef>
                  <a:spcPts val="0"/>
                </a:spcBef>
                <a:buClrTx/>
                <a:buSzTx/>
                <a:buFontTx/>
                <a:buNone/>
                <a:defRPr/>
              </a:pPr>
              <a:r>
                <a:rPr lang="en-US" altLang="zh-CN" sz="1800" dirty="0">
                  <a:solidFill>
                    <a:srgbClr val="0033CC"/>
                  </a:solidFill>
                  <a:latin typeface="Times New Roman" pitchFamily="18" charset="0"/>
                </a:rPr>
                <a:t>}</a:t>
              </a:r>
            </a:p>
          </p:txBody>
        </p:sp>
        <p:sp>
          <p:nvSpPr>
            <p:cNvPr id="105481" name="Line 9"/>
            <p:cNvSpPr>
              <a:spLocks noChangeShapeType="1"/>
            </p:cNvSpPr>
            <p:nvPr/>
          </p:nvSpPr>
          <p:spPr bwMode="auto">
            <a:xfrm flipV="1">
              <a:off x="-684584" y="1118270"/>
              <a:ext cx="503833" cy="47186"/>
            </a:xfrm>
            <a:prstGeom prst="line">
              <a:avLst/>
            </a:prstGeom>
            <a:noFill/>
            <a:ln w="317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2075" tIns="46038" rIns="92075" bIns="46038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05482" name="Line 10"/>
            <p:cNvSpPr>
              <a:spLocks noChangeShapeType="1"/>
            </p:cNvSpPr>
            <p:nvPr/>
          </p:nvSpPr>
          <p:spPr bwMode="auto">
            <a:xfrm flipV="1">
              <a:off x="-2988840" y="1916832"/>
              <a:ext cx="2808089" cy="158659"/>
            </a:xfrm>
            <a:prstGeom prst="line">
              <a:avLst/>
            </a:prstGeom>
            <a:noFill/>
            <a:ln w="317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2075" tIns="46038" rIns="92075" bIns="46038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05483" name="Line 11"/>
            <p:cNvSpPr>
              <a:spLocks noChangeShapeType="1"/>
            </p:cNvSpPr>
            <p:nvPr/>
          </p:nvSpPr>
          <p:spPr bwMode="auto">
            <a:xfrm flipV="1">
              <a:off x="-2988840" y="2564904"/>
              <a:ext cx="2808311" cy="144015"/>
            </a:xfrm>
            <a:prstGeom prst="line">
              <a:avLst/>
            </a:prstGeom>
            <a:noFill/>
            <a:ln w="317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2075" tIns="46038" rIns="92075" bIns="46038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05488" name="Line 16"/>
            <p:cNvSpPr>
              <a:spLocks noChangeShapeType="1"/>
            </p:cNvSpPr>
            <p:nvPr/>
          </p:nvSpPr>
          <p:spPr bwMode="auto">
            <a:xfrm flipV="1">
              <a:off x="-1764703" y="4684432"/>
              <a:ext cx="1296144" cy="400752"/>
            </a:xfrm>
            <a:prstGeom prst="line">
              <a:avLst/>
            </a:prstGeom>
            <a:noFill/>
            <a:ln w="317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2075" tIns="46038" rIns="92075" bIns="46038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28" name="Rectangle 4"/>
          <p:cNvSpPr>
            <a:spLocks noChangeArrowheads="1"/>
          </p:cNvSpPr>
          <p:nvPr/>
        </p:nvSpPr>
        <p:spPr bwMode="auto">
          <a:xfrm>
            <a:off x="5651994" y="548680"/>
            <a:ext cx="3168478" cy="369974"/>
          </a:xfrm>
          <a:prstGeom prst="rect">
            <a:avLst/>
          </a:prstGeom>
          <a:solidFill>
            <a:schemeClr val="bg2">
              <a:lumMod val="90000"/>
            </a:schemeClr>
          </a:solidFill>
          <a:ln w="3175">
            <a:solidFill>
              <a:schemeClr val="bg1"/>
            </a:solidFill>
            <a:miter lim="800000"/>
            <a:headEnd/>
            <a:tailEnd/>
          </a:ln>
        </p:spPr>
        <p:txBody>
          <a:bodyPr wrap="square" lIns="92075" tIns="46038" rIns="92075" bIns="46038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"/>
              <a:defRPr sz="3200">
                <a:solidFill>
                  <a:schemeClr val="tx1"/>
                </a:solidFill>
                <a:latin typeface="Cambria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0000"/>
              <a:buFont typeface="Wingdings 2" pitchFamily="18" charset="2"/>
              <a:buChar char="³"/>
              <a:defRPr sz="2800">
                <a:solidFill>
                  <a:schemeClr val="tx1"/>
                </a:solidFill>
                <a:latin typeface="Cambria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7B9B57"/>
              </a:buClr>
              <a:buSzPct val="60000"/>
              <a:buFont typeface="Wingdings 2" pitchFamily="18" charset="2"/>
              <a:buChar char="®"/>
              <a:defRPr sz="2400">
                <a:solidFill>
                  <a:schemeClr val="tx1"/>
                </a:solidFill>
                <a:latin typeface="Cambria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B7396"/>
              </a:buClr>
              <a:buSzPct val="45000"/>
              <a:buFont typeface="Wingdings 2" pitchFamily="18" charset="2"/>
              <a:buChar char="¯"/>
              <a:defRPr sz="2000">
                <a:solidFill>
                  <a:schemeClr val="tx1"/>
                </a:solidFill>
                <a:latin typeface="Cambria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E89A53"/>
              </a:buClr>
              <a:buFont typeface="Wingdings 2" pitchFamily="18" charset="2"/>
              <a:buChar char=""/>
              <a:defRPr sz="2000">
                <a:solidFill>
                  <a:schemeClr val="tx1"/>
                </a:solidFill>
                <a:latin typeface="Cambria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itchFamily="18" charset="2"/>
              <a:buChar char=""/>
              <a:defRPr sz="2000">
                <a:solidFill>
                  <a:schemeClr val="tx1"/>
                </a:solidFill>
                <a:latin typeface="Cambria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itchFamily="18" charset="2"/>
              <a:buChar char=""/>
              <a:defRPr sz="2000">
                <a:solidFill>
                  <a:schemeClr val="tx1"/>
                </a:solidFill>
                <a:latin typeface="Cambria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itchFamily="18" charset="2"/>
              <a:buChar char=""/>
              <a:defRPr sz="2000">
                <a:solidFill>
                  <a:schemeClr val="tx1"/>
                </a:solidFill>
                <a:latin typeface="Cambria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itchFamily="18" charset="2"/>
              <a:buChar char=""/>
              <a:defRPr sz="2000">
                <a:solidFill>
                  <a:schemeClr val="tx1"/>
                </a:solidFill>
                <a:latin typeface="Cambria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1800" b="1" dirty="0">
                <a:latin typeface="Times New Roman" pitchFamily="18" charset="0"/>
              </a:rPr>
              <a:t>static</a:t>
            </a:r>
            <a:r>
              <a:rPr lang="zh-CN" altLang="en-US" sz="1800" b="1" dirty="0">
                <a:latin typeface="Times New Roman" pitchFamily="18" charset="0"/>
              </a:rPr>
              <a:t>成员函数没有</a:t>
            </a:r>
            <a:r>
              <a:rPr lang="en-US" altLang="zh-CN" sz="1800" b="1" dirty="0">
                <a:latin typeface="Times New Roman" pitchFamily="18" charset="0"/>
              </a:rPr>
              <a:t>this</a:t>
            </a:r>
            <a:r>
              <a:rPr lang="zh-CN" altLang="en-US" sz="1800" b="1" dirty="0">
                <a:latin typeface="Times New Roman" pitchFamily="18" charset="0"/>
              </a:rPr>
              <a:t>指针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3420097" y="2996952"/>
            <a:ext cx="4896319" cy="936104"/>
            <a:chOff x="3420097" y="2996952"/>
            <a:chExt cx="4896319" cy="936104"/>
          </a:xfrm>
        </p:grpSpPr>
        <p:sp>
          <p:nvSpPr>
            <p:cNvPr id="105484" name="Line 12"/>
            <p:cNvSpPr>
              <a:spLocks noChangeShapeType="1"/>
            </p:cNvSpPr>
            <p:nvPr/>
          </p:nvSpPr>
          <p:spPr bwMode="auto">
            <a:xfrm flipV="1">
              <a:off x="3420097" y="3212976"/>
              <a:ext cx="1871983" cy="72008"/>
            </a:xfrm>
            <a:prstGeom prst="line">
              <a:avLst/>
            </a:prstGeom>
            <a:noFill/>
            <a:ln w="12700">
              <a:solidFill>
                <a:srgbClr val="00B05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2075" tIns="46038" rIns="92075" bIns="46038"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5292080" y="2996952"/>
              <a:ext cx="3024336" cy="936104"/>
              <a:chOff x="9217024" y="2996952"/>
              <a:chExt cx="3024336" cy="936104"/>
            </a:xfrm>
          </p:grpSpPr>
          <p:sp>
            <p:nvSpPr>
              <p:cNvPr id="24" name="Text Box 5"/>
              <p:cNvSpPr txBox="1">
                <a:spLocks noChangeArrowheads="1"/>
              </p:cNvSpPr>
              <p:nvPr/>
            </p:nvSpPr>
            <p:spPr bwMode="auto">
              <a:xfrm>
                <a:off x="9217024" y="3009084"/>
                <a:ext cx="3024336" cy="923972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2075" tIns="46038" rIns="92075" bIns="46038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 2" pitchFamily="18" charset="2"/>
                  <a:buChar char=""/>
                  <a:defRPr sz="3200">
                    <a:solidFill>
                      <a:schemeClr val="tx1"/>
                    </a:solidFill>
                    <a:latin typeface="Cambria" pitchFamily="18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2"/>
                  </a:buClr>
                  <a:buSzPct val="50000"/>
                  <a:buFont typeface="Wingdings 2" pitchFamily="18" charset="2"/>
                  <a:buChar char="³"/>
                  <a:defRPr sz="2800">
                    <a:solidFill>
                      <a:schemeClr val="tx1"/>
                    </a:solidFill>
                    <a:latin typeface="Cambria" pitchFamily="18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7B9B57"/>
                  </a:buClr>
                  <a:buSzPct val="60000"/>
                  <a:buFont typeface="Wingdings 2" pitchFamily="18" charset="2"/>
                  <a:buChar char="®"/>
                  <a:defRPr sz="2400">
                    <a:solidFill>
                      <a:schemeClr val="tx1"/>
                    </a:solidFill>
                    <a:latin typeface="Cambria" pitchFamily="18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8B7396"/>
                  </a:buClr>
                  <a:buSzPct val="45000"/>
                  <a:buFont typeface="Wingdings 2" pitchFamily="18" charset="2"/>
                  <a:buChar char="¯"/>
                  <a:defRPr sz="2000">
                    <a:solidFill>
                      <a:schemeClr val="tx1"/>
                    </a:solidFill>
                    <a:latin typeface="Cambria" pitchFamily="18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E89A53"/>
                  </a:buClr>
                  <a:buFont typeface="Wingdings 2" pitchFamily="18" charset="2"/>
                  <a:buChar char=""/>
                  <a:defRPr sz="2000">
                    <a:solidFill>
                      <a:schemeClr val="tx1"/>
                    </a:solidFill>
                    <a:latin typeface="Cambria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E89A53"/>
                  </a:buClr>
                  <a:buFont typeface="Wingdings 2" pitchFamily="18" charset="2"/>
                  <a:buChar char=""/>
                  <a:defRPr sz="2000">
                    <a:solidFill>
                      <a:schemeClr val="tx1"/>
                    </a:solidFill>
                    <a:latin typeface="Cambria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E89A53"/>
                  </a:buClr>
                  <a:buFont typeface="Wingdings 2" pitchFamily="18" charset="2"/>
                  <a:buChar char=""/>
                  <a:defRPr sz="2000">
                    <a:solidFill>
                      <a:schemeClr val="tx1"/>
                    </a:solidFill>
                    <a:latin typeface="Cambria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E89A53"/>
                  </a:buClr>
                  <a:buFont typeface="Wingdings 2" pitchFamily="18" charset="2"/>
                  <a:buChar char=""/>
                  <a:defRPr sz="2000">
                    <a:solidFill>
                      <a:schemeClr val="tx1"/>
                    </a:solidFill>
                    <a:latin typeface="Cambria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E89A53"/>
                  </a:buClr>
                  <a:buFont typeface="Wingdings 2" pitchFamily="18" charset="2"/>
                  <a:buChar char=""/>
                  <a:defRPr sz="2000">
                    <a:solidFill>
                      <a:schemeClr val="tx1"/>
                    </a:solidFill>
                    <a:latin typeface="Cambria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1800" dirty="0">
                    <a:solidFill>
                      <a:srgbClr val="0033CC"/>
                    </a:solidFill>
                    <a:latin typeface="Times New Roman" pitchFamily="18" charset="0"/>
                  </a:rPr>
                  <a:t>inline static void </a:t>
                </a:r>
                <a:r>
                  <a:rPr lang="en-US" altLang="zh-CN" sz="1800" dirty="0" err="1">
                    <a:solidFill>
                      <a:srgbClr val="0033CC"/>
                    </a:solidFill>
                    <a:latin typeface="Times New Roman" pitchFamily="18" charset="0"/>
                  </a:rPr>
                  <a:t>showCount</a:t>
                </a:r>
                <a:r>
                  <a:rPr lang="en-US" altLang="zh-CN" sz="1800" dirty="0">
                    <a:solidFill>
                      <a:srgbClr val="0033CC"/>
                    </a:solidFill>
                    <a:latin typeface="Times New Roman" pitchFamily="18" charset="0"/>
                  </a:rPr>
                  <a:t>()</a:t>
                </a:r>
              </a:p>
              <a:p>
                <a:pPr eaLnBrk="1" hangingPunct="1">
                  <a:spcBef>
                    <a:spcPts val="0"/>
                  </a:spcBef>
                  <a:buClrTx/>
                  <a:buSzTx/>
                  <a:buFontTx/>
                  <a:buNone/>
                </a:pPr>
                <a:r>
                  <a:rPr lang="en-US" altLang="zh-CN" sz="1800" dirty="0">
                    <a:solidFill>
                      <a:srgbClr val="0033CC"/>
                    </a:solidFill>
                    <a:latin typeface="Times New Roman" pitchFamily="18" charset="0"/>
                  </a:rPr>
                  <a:t>{  </a:t>
                </a:r>
                <a:r>
                  <a:rPr lang="en-US" altLang="zh-CN" sz="1800" dirty="0" err="1">
                    <a:solidFill>
                      <a:srgbClr val="0033CC"/>
                    </a:solidFill>
                    <a:latin typeface="Times New Roman" pitchFamily="18" charset="0"/>
                  </a:rPr>
                  <a:t>cout</a:t>
                </a:r>
                <a:r>
                  <a:rPr lang="en-US" altLang="zh-CN" sz="1800" dirty="0">
                    <a:solidFill>
                      <a:srgbClr val="0033CC"/>
                    </a:solidFill>
                    <a:latin typeface="Times New Roman" pitchFamily="18" charset="0"/>
                  </a:rPr>
                  <a:t>&lt;&lt;"Object count="</a:t>
                </a:r>
              </a:p>
              <a:p>
                <a:pPr eaLnBrk="1" hangingPunct="1">
                  <a:spcBef>
                    <a:spcPts val="0"/>
                  </a:spcBef>
                  <a:buClrTx/>
                  <a:buSzTx/>
                  <a:buFontTx/>
                  <a:buNone/>
                </a:pPr>
                <a:r>
                  <a:rPr lang="en-US" altLang="zh-CN" sz="1800" dirty="0">
                    <a:solidFill>
                      <a:srgbClr val="0033CC"/>
                    </a:solidFill>
                    <a:latin typeface="Times New Roman" pitchFamily="18" charset="0"/>
                  </a:rPr>
                  <a:t>   &lt;&lt; _</a:t>
                </a:r>
                <a:r>
                  <a:rPr lang="en-US" altLang="zh-CN" sz="1800" dirty="0">
                    <a:solidFill>
                      <a:schemeClr val="tx2"/>
                    </a:solidFill>
                    <a:latin typeface="Times New Roman" pitchFamily="18" charset="0"/>
                  </a:rPr>
                  <a:t>count</a:t>
                </a:r>
                <a:r>
                  <a:rPr lang="en-US" altLang="zh-CN" sz="1800" dirty="0">
                    <a:solidFill>
                      <a:srgbClr val="0033CC"/>
                    </a:solidFill>
                    <a:latin typeface="Times New Roman" pitchFamily="18" charset="0"/>
                  </a:rPr>
                  <a:t>&lt;&lt;</a:t>
                </a:r>
                <a:r>
                  <a:rPr lang="en-US" altLang="zh-CN" sz="1800" dirty="0" err="1">
                    <a:solidFill>
                      <a:srgbClr val="0033CC"/>
                    </a:solidFill>
                    <a:latin typeface="Times New Roman" pitchFamily="18" charset="0"/>
                  </a:rPr>
                  <a:t>endl</a:t>
                </a:r>
                <a:r>
                  <a:rPr lang="en-US" altLang="zh-CN" sz="1800" dirty="0">
                    <a:solidFill>
                      <a:srgbClr val="0033CC"/>
                    </a:solidFill>
                    <a:latin typeface="Times New Roman" pitchFamily="18" charset="0"/>
                  </a:rPr>
                  <a:t>;  }</a:t>
                </a:r>
              </a:p>
            </p:txBody>
          </p:sp>
          <p:sp>
            <p:nvSpPr>
              <p:cNvPr id="25" name="圆角矩形 24"/>
              <p:cNvSpPr/>
              <p:nvPr/>
            </p:nvSpPr>
            <p:spPr>
              <a:xfrm>
                <a:off x="9252520" y="2996952"/>
                <a:ext cx="2988840" cy="908522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8" name="组合 17"/>
          <p:cNvGrpSpPr/>
          <p:nvPr/>
        </p:nvGrpSpPr>
        <p:grpSpPr>
          <a:xfrm>
            <a:off x="107504" y="4437112"/>
            <a:ext cx="7110536" cy="2420888"/>
            <a:chOff x="107504" y="4437112"/>
            <a:chExt cx="7110536" cy="2420888"/>
          </a:xfrm>
        </p:grpSpPr>
        <p:grpSp>
          <p:nvGrpSpPr>
            <p:cNvPr id="13" name="组合 12"/>
            <p:cNvGrpSpPr/>
            <p:nvPr/>
          </p:nvGrpSpPr>
          <p:grpSpPr>
            <a:xfrm>
              <a:off x="2843809" y="6340616"/>
              <a:ext cx="4374231" cy="400752"/>
              <a:chOff x="2843809" y="6340616"/>
              <a:chExt cx="4374231" cy="400752"/>
            </a:xfrm>
          </p:grpSpPr>
          <p:sp>
            <p:nvSpPr>
              <p:cNvPr id="21" name="矩形 20"/>
              <p:cNvSpPr/>
              <p:nvPr/>
            </p:nvSpPr>
            <p:spPr>
              <a:xfrm>
                <a:off x="4860032" y="6340616"/>
                <a:ext cx="2358008" cy="400752"/>
              </a:xfrm>
              <a:prstGeom prst="rect">
                <a:avLst/>
              </a:prstGeom>
              <a:solidFill>
                <a:srgbClr val="FFFF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2075" tIns="46038" rIns="92075" bIns="46038">
                <a:spAutoFit/>
              </a:bodyPr>
              <a:lstStyle/>
              <a:p>
                <a:pPr>
                  <a:spcBef>
                    <a:spcPts val="1800"/>
                  </a:spcBef>
                </a:pPr>
                <a:r>
                  <a:rPr kumimoji="1" lang="zh-CN" altLang="en-US" sz="2000" dirty="0">
                    <a:solidFill>
                      <a:schemeClr val="tx2"/>
                    </a:solidFill>
                    <a:latin typeface="Times New Roman" pitchFamily="18" charset="0"/>
                    <a:ea typeface="宋体" pitchFamily="2" charset="-122"/>
                  </a:rPr>
                  <a:t>创建</a:t>
                </a:r>
                <a:r>
                  <a:rPr kumimoji="1" lang="en-US" altLang="zh-CN" sz="2000" dirty="0">
                    <a:solidFill>
                      <a:schemeClr val="tx2"/>
                    </a:solidFill>
                    <a:latin typeface="Times New Roman" pitchFamily="18" charset="0"/>
                    <a:ea typeface="宋体" pitchFamily="2" charset="-122"/>
                  </a:rPr>
                  <a:t>static</a:t>
                </a:r>
                <a:r>
                  <a:rPr kumimoji="1" lang="zh-CN" altLang="en-US" sz="2000" dirty="0">
                    <a:solidFill>
                      <a:schemeClr val="tx2"/>
                    </a:solidFill>
                    <a:latin typeface="Times New Roman" pitchFamily="18" charset="0"/>
                    <a:ea typeface="宋体" pitchFamily="2" charset="-122"/>
                  </a:rPr>
                  <a:t>数据成员</a:t>
                </a:r>
                <a:endParaRPr kumimoji="1" lang="en-US" altLang="zh-CN" sz="2000" dirty="0">
                  <a:solidFill>
                    <a:schemeClr val="tx2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22" name="Line 16"/>
              <p:cNvSpPr>
                <a:spLocks noChangeShapeType="1"/>
              </p:cNvSpPr>
              <p:nvPr/>
            </p:nvSpPr>
            <p:spPr bwMode="auto">
              <a:xfrm flipV="1">
                <a:off x="2843809" y="6540992"/>
                <a:ext cx="2016224" cy="128368"/>
              </a:xfrm>
              <a:prstGeom prst="line">
                <a:avLst/>
              </a:prstGeom>
              <a:noFill/>
              <a:ln w="3175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square" lIns="92075" tIns="46038" rIns="92075" bIns="46038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7" name="组合 16"/>
            <p:cNvGrpSpPr/>
            <p:nvPr/>
          </p:nvGrpSpPr>
          <p:grpSpPr>
            <a:xfrm>
              <a:off x="107504" y="4437112"/>
              <a:ext cx="2705422" cy="2420888"/>
              <a:chOff x="107504" y="4437112"/>
              <a:chExt cx="2705422" cy="2420888"/>
            </a:xfrm>
          </p:grpSpPr>
          <p:sp>
            <p:nvSpPr>
              <p:cNvPr id="16" name="圆角矩形 15"/>
              <p:cNvSpPr/>
              <p:nvPr/>
            </p:nvSpPr>
            <p:spPr>
              <a:xfrm>
                <a:off x="323528" y="4437112"/>
                <a:ext cx="2376264" cy="288032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圆角矩形 33"/>
              <p:cNvSpPr/>
              <p:nvPr/>
            </p:nvSpPr>
            <p:spPr>
              <a:xfrm>
                <a:off x="107504" y="6525344"/>
                <a:ext cx="2705422" cy="332656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26" name="圆角矩形 25"/>
          <p:cNvSpPr/>
          <p:nvPr/>
        </p:nvSpPr>
        <p:spPr>
          <a:xfrm>
            <a:off x="475927" y="3140968"/>
            <a:ext cx="2944169" cy="28803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118742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05476" grpId="0" animBg="1"/>
      <p:bldP spid="28" grpId="0" animBg="1"/>
      <p:bldP spid="26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0" y="2262922"/>
            <a:ext cx="4283968" cy="3477875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000" dirty="0" err="1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main()</a:t>
            </a:r>
          </a:p>
          <a:p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{  </a:t>
            </a:r>
            <a:r>
              <a:rPr lang="en-US" altLang="zh-CN" sz="20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Point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a(4,5);</a:t>
            </a:r>
          </a:p>
          <a:p>
            <a:pPr marL="441325"/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cout</a:t>
            </a:r>
            <a:r>
              <a:rPr lang="en-US" altLang="zh-CN" sz="20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000" dirty="0">
                <a:solidFill>
                  <a:srgbClr val="A31515"/>
                </a:solidFill>
                <a:highlight>
                  <a:srgbClr val="FFFFFF"/>
                </a:highlight>
                <a:latin typeface="新宋体"/>
                <a:ea typeface="新宋体"/>
              </a:rPr>
              <a:t>"Point A:"</a:t>
            </a:r>
            <a:r>
              <a:rPr lang="en-US" altLang="zh-CN" sz="20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a.getX()</a:t>
            </a:r>
          </a:p>
          <a:p>
            <a:pPr marL="441325"/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   </a:t>
            </a:r>
            <a:r>
              <a:rPr lang="en-US" altLang="zh-CN" sz="20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000" dirty="0">
                <a:solidFill>
                  <a:srgbClr val="A31515"/>
                </a:solidFill>
                <a:highlight>
                  <a:srgbClr val="FFFFFF"/>
                </a:highlight>
                <a:latin typeface="新宋体"/>
                <a:ea typeface="新宋体"/>
              </a:rPr>
              <a:t>","</a:t>
            </a:r>
            <a:r>
              <a:rPr lang="en-US" altLang="zh-CN" sz="20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a.getY()</a:t>
            </a:r>
            <a:r>
              <a:rPr lang="en-US" altLang="zh-CN" sz="20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endl;</a:t>
            </a:r>
          </a:p>
          <a:p>
            <a:pPr marL="441325"/>
            <a:r>
              <a:rPr lang="en-US" altLang="zh-CN" sz="20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Point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::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showCount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();</a:t>
            </a:r>
          </a:p>
          <a:p>
            <a:pPr marL="441325"/>
            <a:r>
              <a:rPr lang="en-US" altLang="zh-CN" sz="20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Point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b(a);</a:t>
            </a:r>
          </a:p>
          <a:p>
            <a:pPr marL="441325"/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cout</a:t>
            </a:r>
            <a:r>
              <a:rPr lang="en-US" altLang="zh-CN" sz="20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000" dirty="0">
                <a:solidFill>
                  <a:srgbClr val="A31515"/>
                </a:solidFill>
                <a:highlight>
                  <a:srgbClr val="FFFFFF"/>
                </a:highlight>
                <a:latin typeface="新宋体"/>
                <a:ea typeface="新宋体"/>
              </a:rPr>
              <a:t>"Point B:"</a:t>
            </a:r>
            <a:r>
              <a:rPr lang="en-US" altLang="zh-CN" sz="20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b.getX()</a:t>
            </a:r>
          </a:p>
          <a:p>
            <a:pPr marL="441325"/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   </a:t>
            </a:r>
            <a:r>
              <a:rPr lang="en-US" altLang="zh-CN" sz="20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000" dirty="0">
                <a:solidFill>
                  <a:srgbClr val="A31515"/>
                </a:solidFill>
                <a:highlight>
                  <a:srgbClr val="FFFFFF"/>
                </a:highlight>
                <a:latin typeface="新宋体"/>
                <a:ea typeface="新宋体"/>
              </a:rPr>
              <a:t>","</a:t>
            </a:r>
            <a:r>
              <a:rPr lang="en-US" altLang="zh-CN" sz="20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b.getY()</a:t>
            </a:r>
            <a:r>
              <a:rPr lang="en-US" altLang="zh-CN" sz="2000" dirty="0">
                <a:solidFill>
                  <a:srgbClr val="0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&lt;&lt;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endl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;</a:t>
            </a:r>
          </a:p>
          <a:p>
            <a:pPr marL="441325"/>
            <a:r>
              <a:rPr lang="en-US" altLang="zh-CN" sz="20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Point</a:t>
            </a:r>
            <a:r>
              <a:rPr lang="en-US" altLang="zh-CN" sz="2000" dirty="0">
                <a:highlight>
                  <a:srgbClr val="FFFFFF"/>
                </a:highlight>
                <a:latin typeface="新宋体"/>
                <a:ea typeface="新宋体"/>
              </a:rPr>
              <a:t>::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showCount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();</a:t>
            </a:r>
          </a:p>
          <a:p>
            <a:pPr marL="441325"/>
            <a:r>
              <a:rPr lang="en-US" altLang="zh-CN" sz="20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return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0;</a:t>
            </a:r>
          </a:p>
          <a:p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}</a:t>
            </a:r>
            <a:endParaRPr lang="zh-CN" altLang="en-US" sz="2000" dirty="0"/>
          </a:p>
        </p:txBody>
      </p:sp>
      <p:sp>
        <p:nvSpPr>
          <p:cNvPr id="105485" name="Rectangle 13"/>
          <p:cNvSpPr>
            <a:spLocks noChangeArrowheads="1"/>
          </p:cNvSpPr>
          <p:nvPr/>
        </p:nvSpPr>
        <p:spPr bwMode="auto">
          <a:xfrm>
            <a:off x="251520" y="476672"/>
            <a:ext cx="8712968" cy="646973"/>
          </a:xfrm>
          <a:prstGeom prst="rect">
            <a:avLst/>
          </a:prstGeom>
          <a:solidFill>
            <a:srgbClr val="FF9900"/>
          </a:solidFill>
          <a:ln w="3175">
            <a:solidFill>
              <a:schemeClr val="bg1"/>
            </a:solidFill>
            <a:miter lim="800000"/>
            <a:headEnd/>
            <a:tailEnd/>
          </a:ln>
        </p:spPr>
        <p:txBody>
          <a:bodyPr wrap="square" lIns="92075" tIns="46038" rIns="92075" bIns="46038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"/>
              <a:defRPr sz="3200">
                <a:solidFill>
                  <a:schemeClr val="tx1"/>
                </a:solidFill>
                <a:latin typeface="Cambria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0000"/>
              <a:buFont typeface="Wingdings 2" pitchFamily="18" charset="2"/>
              <a:buChar char="³"/>
              <a:defRPr sz="2800">
                <a:solidFill>
                  <a:schemeClr val="tx1"/>
                </a:solidFill>
                <a:latin typeface="Cambria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7B9B57"/>
              </a:buClr>
              <a:buSzPct val="60000"/>
              <a:buFont typeface="Wingdings 2" pitchFamily="18" charset="2"/>
              <a:buChar char="®"/>
              <a:defRPr sz="2400">
                <a:solidFill>
                  <a:schemeClr val="tx1"/>
                </a:solidFill>
                <a:latin typeface="Cambria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B7396"/>
              </a:buClr>
              <a:buSzPct val="45000"/>
              <a:buFont typeface="Wingdings 2" pitchFamily="18" charset="2"/>
              <a:buChar char="¯"/>
              <a:defRPr sz="2000">
                <a:solidFill>
                  <a:schemeClr val="tx1"/>
                </a:solidFill>
                <a:latin typeface="Cambria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E89A53"/>
              </a:buClr>
              <a:buFont typeface="Wingdings 2" pitchFamily="18" charset="2"/>
              <a:buChar char=""/>
              <a:defRPr sz="2000">
                <a:solidFill>
                  <a:schemeClr val="tx1"/>
                </a:solidFill>
                <a:latin typeface="Cambria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itchFamily="18" charset="2"/>
              <a:buChar char=""/>
              <a:defRPr sz="2000">
                <a:solidFill>
                  <a:schemeClr val="tx1"/>
                </a:solidFill>
                <a:latin typeface="Cambria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itchFamily="18" charset="2"/>
              <a:buChar char=""/>
              <a:defRPr sz="2000">
                <a:solidFill>
                  <a:schemeClr val="tx1"/>
                </a:solidFill>
                <a:latin typeface="Cambria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itchFamily="18" charset="2"/>
              <a:buChar char=""/>
              <a:defRPr sz="2000">
                <a:solidFill>
                  <a:schemeClr val="tx1"/>
                </a:solidFill>
                <a:latin typeface="Cambria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itchFamily="18" charset="2"/>
              <a:buChar char=""/>
              <a:defRPr sz="2000">
                <a:solidFill>
                  <a:schemeClr val="tx1"/>
                </a:solidFill>
                <a:latin typeface="Cambria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None/>
            </a:pPr>
            <a:r>
              <a:rPr lang="zh-CN" altLang="en-US" sz="1800" b="1" dirty="0">
                <a:latin typeface="Times New Roman" pitchFamily="18" charset="0"/>
              </a:rPr>
              <a:t>对于非</a:t>
            </a:r>
            <a:r>
              <a:rPr lang="en-US" altLang="zh-CN" sz="1800" b="1" dirty="0">
                <a:latin typeface="Times New Roman" pitchFamily="18" charset="0"/>
              </a:rPr>
              <a:t>static</a:t>
            </a:r>
            <a:r>
              <a:rPr lang="zh-CN" altLang="en-US" sz="1800" b="1" dirty="0">
                <a:latin typeface="Times New Roman" pitchFamily="18" charset="0"/>
              </a:rPr>
              <a:t>成员函数，编译器改变其调用，加上一个额外的实参，即被调用对象的地址。</a:t>
            </a:r>
            <a:endParaRPr lang="en-US" altLang="zh-CN" sz="1800" b="1" dirty="0">
              <a:latin typeface="Times New Roman" pitchFamily="18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907704" y="2428330"/>
            <a:ext cx="6912768" cy="2368822"/>
            <a:chOff x="1907704" y="2428330"/>
            <a:chExt cx="6912768" cy="2368822"/>
          </a:xfrm>
        </p:grpSpPr>
        <p:grpSp>
          <p:nvGrpSpPr>
            <p:cNvPr id="6" name="组合 5"/>
            <p:cNvGrpSpPr/>
            <p:nvPr/>
          </p:nvGrpSpPr>
          <p:grpSpPr>
            <a:xfrm>
              <a:off x="1907704" y="2428330"/>
              <a:ext cx="6912768" cy="2368822"/>
              <a:chOff x="1907704" y="2428330"/>
              <a:chExt cx="6912768" cy="2368822"/>
            </a:xfrm>
          </p:grpSpPr>
          <p:sp>
            <p:nvSpPr>
              <p:cNvPr id="25" name="Line 15"/>
              <p:cNvSpPr>
                <a:spLocks noChangeShapeType="1"/>
              </p:cNvSpPr>
              <p:nvPr/>
            </p:nvSpPr>
            <p:spPr bwMode="auto">
              <a:xfrm flipV="1">
                <a:off x="2987824" y="3259221"/>
                <a:ext cx="3453009" cy="169779"/>
              </a:xfrm>
              <a:prstGeom prst="line">
                <a:avLst/>
              </a:prstGeom>
              <a:noFill/>
              <a:ln w="3175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square" lIns="92075" tIns="46038" rIns="92075" bIns="46038" anchor="ctr">
                <a:spAutoFit/>
              </a:bodyPr>
              <a:lstStyle/>
              <a:p>
                <a:endParaRPr lang="zh-CN" altLang="en-US"/>
              </a:p>
            </p:txBody>
          </p:sp>
          <p:grpSp>
            <p:nvGrpSpPr>
              <p:cNvPr id="4" name="组合 3"/>
              <p:cNvGrpSpPr/>
              <p:nvPr/>
            </p:nvGrpSpPr>
            <p:grpSpPr>
              <a:xfrm>
                <a:off x="1907704" y="2428330"/>
                <a:ext cx="6912768" cy="2368822"/>
                <a:chOff x="1979712" y="2428330"/>
                <a:chExt cx="6912768" cy="2368822"/>
              </a:xfrm>
            </p:grpSpPr>
            <p:sp>
              <p:nvSpPr>
                <p:cNvPr id="105479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4716909" y="2428330"/>
                  <a:ext cx="2447379" cy="366712"/>
                </a:xfrm>
                <a:prstGeom prst="rect">
                  <a:avLst/>
                </a:prstGeom>
                <a:solidFill>
                  <a:srgbClr val="FFFF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31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2075" tIns="46038" rIns="92075" bIns="46038">
                  <a:spAutoFit/>
                </a:bodyPr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itchFamily="18" charset="2"/>
                    <a:buChar char=""/>
                    <a:defRPr kumimoji="1" sz="26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1pPr>
                  <a:lvl2pPr marL="742950" indent="-28575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itchFamily="18" charset="2"/>
                    <a:buChar char=""/>
                    <a:defRPr kumimoji="1" sz="24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2pPr>
                  <a:lvl3pPr marL="1143000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itchFamily="18" charset="2"/>
                    <a:buChar char=""/>
                    <a:defRPr kumimoji="1" sz="20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3pPr>
                  <a:lvl4pPr marL="1600200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itchFamily="18" charset="2"/>
                    <a:buChar char=""/>
                    <a:defRPr kumimoji="1" sz="20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4pPr>
                  <a:lvl5pPr marL="20574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kumimoji="1" sz="20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kumimoji="1" sz="20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kumimoji="1" sz="20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kumimoji="1" sz="20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kumimoji="1" sz="20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  <a:buClrTx/>
                    <a:buSzTx/>
                    <a:buFontTx/>
                    <a:buNone/>
                    <a:defRPr/>
                  </a:pPr>
                  <a:r>
                    <a:rPr lang="en-US" altLang="zh-CN" sz="1800" dirty="0">
                      <a:solidFill>
                        <a:srgbClr val="0033CC"/>
                      </a:solidFill>
                      <a:latin typeface="Times New Roman" pitchFamily="18" charset="0"/>
                    </a:rPr>
                    <a:t>inline Point</a:t>
                  </a:r>
                  <a:r>
                    <a:rPr lang="en-US" altLang="zh-CN" sz="1800" dirty="0">
                      <a:solidFill>
                        <a:schemeClr val="bg2">
                          <a:lumMod val="25000"/>
                        </a:schemeClr>
                      </a:solidFill>
                      <a:latin typeface="Times New Roman" pitchFamily="18" charset="0"/>
                    </a:rPr>
                    <a:t>(</a:t>
                  </a:r>
                  <a:r>
                    <a:rPr lang="en-US" altLang="zh-CN" sz="1800" dirty="0">
                      <a:solidFill>
                        <a:srgbClr val="FF0000"/>
                      </a:solidFill>
                      <a:latin typeface="Times New Roman" pitchFamily="18" charset="0"/>
                    </a:rPr>
                    <a:t>&amp;a </a:t>
                  </a:r>
                  <a:r>
                    <a:rPr lang="en-US" altLang="zh-CN" sz="1800" dirty="0">
                      <a:solidFill>
                        <a:srgbClr val="0033CC"/>
                      </a:solidFill>
                      <a:latin typeface="Times New Roman" pitchFamily="18" charset="0"/>
                    </a:rPr>
                    <a:t>, 4, 5)        </a:t>
                  </a:r>
                </a:p>
              </p:txBody>
            </p:sp>
            <p:sp>
              <p:nvSpPr>
                <p:cNvPr id="105487" name="Line 15"/>
                <p:cNvSpPr>
                  <a:spLocks noChangeShapeType="1"/>
                </p:cNvSpPr>
                <p:nvPr/>
              </p:nvSpPr>
              <p:spPr bwMode="auto">
                <a:xfrm flipV="1">
                  <a:off x="2267744" y="2612480"/>
                  <a:ext cx="2376140" cy="182562"/>
                </a:xfrm>
                <a:prstGeom prst="line">
                  <a:avLst/>
                </a:prstGeom>
                <a:noFill/>
                <a:ln w="3175">
                  <a:solidFill>
                    <a:srgbClr val="FF33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square" lIns="92075" tIns="46038" rIns="92075" bIns="46038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5488" name="Line 16"/>
                <p:cNvSpPr>
                  <a:spLocks noChangeShapeType="1"/>
                </p:cNvSpPr>
                <p:nvPr/>
              </p:nvSpPr>
              <p:spPr bwMode="auto">
                <a:xfrm flipV="1">
                  <a:off x="3779912" y="3058418"/>
                  <a:ext cx="288032" cy="82550"/>
                </a:xfrm>
                <a:prstGeom prst="line">
                  <a:avLst/>
                </a:prstGeom>
                <a:noFill/>
                <a:ln w="3175">
                  <a:solidFill>
                    <a:srgbClr val="FF33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square" lIns="92075" tIns="46038" rIns="92075" bIns="46038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4067944" y="2918272"/>
                  <a:ext cx="2232248" cy="369974"/>
                </a:xfrm>
                <a:prstGeom prst="rect">
                  <a:avLst/>
                </a:prstGeom>
                <a:solidFill>
                  <a:srgbClr val="FFFF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31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2075" tIns="46038" rIns="92075" bIns="46038">
                  <a:spAutoFit/>
                </a:bodyPr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itchFamily="18" charset="2"/>
                    <a:buChar char=""/>
                    <a:defRPr kumimoji="1" sz="26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1pPr>
                  <a:lvl2pPr marL="742950" indent="-28575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itchFamily="18" charset="2"/>
                    <a:buChar char=""/>
                    <a:defRPr kumimoji="1" sz="24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2pPr>
                  <a:lvl3pPr marL="1143000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itchFamily="18" charset="2"/>
                    <a:buChar char=""/>
                    <a:defRPr kumimoji="1" sz="20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3pPr>
                  <a:lvl4pPr marL="1600200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itchFamily="18" charset="2"/>
                    <a:buChar char=""/>
                    <a:defRPr kumimoji="1" sz="20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4pPr>
                  <a:lvl5pPr marL="20574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kumimoji="1" sz="20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kumimoji="1" sz="20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kumimoji="1" sz="20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kumimoji="1" sz="20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kumimoji="1" sz="20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  <a:buClrTx/>
                    <a:buSzTx/>
                    <a:buFontTx/>
                    <a:buNone/>
                    <a:defRPr/>
                  </a:pPr>
                  <a:r>
                    <a:rPr lang="en-US" altLang="zh-CN" sz="1800" dirty="0">
                      <a:solidFill>
                        <a:srgbClr val="0033CC"/>
                      </a:solidFill>
                      <a:latin typeface="Times New Roman" pitchFamily="18" charset="0"/>
                    </a:rPr>
                    <a:t>inline </a:t>
                  </a:r>
                  <a:r>
                    <a:rPr lang="en-US" altLang="zh-CN" sz="1800" dirty="0" err="1">
                      <a:solidFill>
                        <a:srgbClr val="0033CC"/>
                      </a:solidFill>
                      <a:latin typeface="Times New Roman" pitchFamily="18" charset="0"/>
                    </a:rPr>
                    <a:t>int</a:t>
                  </a:r>
                  <a:r>
                    <a:rPr lang="en-US" altLang="zh-CN" sz="1800" dirty="0">
                      <a:solidFill>
                        <a:srgbClr val="0033CC"/>
                      </a:solidFill>
                      <a:latin typeface="Times New Roman" pitchFamily="18" charset="0"/>
                    </a:rPr>
                    <a:t> </a:t>
                  </a:r>
                  <a:r>
                    <a:rPr lang="en-US" altLang="zh-CN" sz="1800" dirty="0" err="1">
                      <a:solidFill>
                        <a:srgbClr val="0033CC"/>
                      </a:solidFill>
                      <a:latin typeface="Times New Roman" pitchFamily="18" charset="0"/>
                    </a:rPr>
                    <a:t>getX</a:t>
                  </a:r>
                  <a:r>
                    <a:rPr lang="en-US" altLang="zh-CN" sz="1800" dirty="0">
                      <a:solidFill>
                        <a:schemeClr val="bg2">
                          <a:lumMod val="25000"/>
                        </a:schemeClr>
                      </a:solidFill>
                      <a:latin typeface="Times New Roman" pitchFamily="18" charset="0"/>
                    </a:rPr>
                    <a:t>(</a:t>
                  </a:r>
                  <a:r>
                    <a:rPr lang="en-US" altLang="zh-CN" sz="1800" dirty="0">
                      <a:solidFill>
                        <a:srgbClr val="FF0000"/>
                      </a:solidFill>
                      <a:latin typeface="Times New Roman" pitchFamily="18" charset="0"/>
                    </a:rPr>
                    <a:t>&amp;a</a:t>
                  </a:r>
                  <a:r>
                    <a:rPr lang="en-US" altLang="zh-CN" sz="1800" dirty="0">
                      <a:solidFill>
                        <a:srgbClr val="0033CC"/>
                      </a:solidFill>
                      <a:latin typeface="Times New Roman" pitchFamily="18" charset="0"/>
                    </a:rPr>
                    <a:t>)         </a:t>
                  </a:r>
                </a:p>
              </p:txBody>
            </p:sp>
            <p:sp>
              <p:nvSpPr>
                <p:cNvPr id="18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6444208" y="2924944"/>
                  <a:ext cx="2232248" cy="369974"/>
                </a:xfrm>
                <a:prstGeom prst="rect">
                  <a:avLst/>
                </a:prstGeom>
                <a:solidFill>
                  <a:srgbClr val="FFFF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31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2075" tIns="46038" rIns="92075" bIns="46038">
                  <a:spAutoFit/>
                </a:bodyPr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itchFamily="18" charset="2"/>
                    <a:buChar char=""/>
                    <a:defRPr kumimoji="1" sz="26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1pPr>
                  <a:lvl2pPr marL="742950" indent="-28575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itchFamily="18" charset="2"/>
                    <a:buChar char=""/>
                    <a:defRPr kumimoji="1" sz="24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2pPr>
                  <a:lvl3pPr marL="1143000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itchFamily="18" charset="2"/>
                    <a:buChar char=""/>
                    <a:defRPr kumimoji="1" sz="20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3pPr>
                  <a:lvl4pPr marL="1600200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itchFamily="18" charset="2"/>
                    <a:buChar char=""/>
                    <a:defRPr kumimoji="1" sz="20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4pPr>
                  <a:lvl5pPr marL="20574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kumimoji="1" sz="20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kumimoji="1" sz="20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kumimoji="1" sz="20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kumimoji="1" sz="20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kumimoji="1" sz="20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  <a:buClrTx/>
                    <a:buSzTx/>
                    <a:buFontTx/>
                    <a:buNone/>
                    <a:defRPr/>
                  </a:pPr>
                  <a:r>
                    <a:rPr lang="en-US" altLang="zh-CN" sz="1800" dirty="0">
                      <a:solidFill>
                        <a:srgbClr val="0033CC"/>
                      </a:solidFill>
                      <a:latin typeface="Times New Roman" pitchFamily="18" charset="0"/>
                    </a:rPr>
                    <a:t>inline </a:t>
                  </a:r>
                  <a:r>
                    <a:rPr lang="en-US" altLang="zh-CN" sz="1800" dirty="0" err="1">
                      <a:solidFill>
                        <a:srgbClr val="0033CC"/>
                      </a:solidFill>
                      <a:latin typeface="Times New Roman" pitchFamily="18" charset="0"/>
                    </a:rPr>
                    <a:t>int</a:t>
                  </a:r>
                  <a:r>
                    <a:rPr lang="en-US" altLang="zh-CN" sz="1800" dirty="0">
                      <a:solidFill>
                        <a:srgbClr val="0033CC"/>
                      </a:solidFill>
                      <a:latin typeface="Times New Roman" pitchFamily="18" charset="0"/>
                    </a:rPr>
                    <a:t> </a:t>
                  </a:r>
                  <a:r>
                    <a:rPr lang="en-US" altLang="zh-CN" sz="1800" dirty="0" err="1">
                      <a:solidFill>
                        <a:srgbClr val="0033CC"/>
                      </a:solidFill>
                      <a:latin typeface="Times New Roman" pitchFamily="18" charset="0"/>
                    </a:rPr>
                    <a:t>getY</a:t>
                  </a:r>
                  <a:r>
                    <a:rPr lang="en-US" altLang="zh-CN" sz="1800" dirty="0">
                      <a:solidFill>
                        <a:schemeClr val="bg2">
                          <a:lumMod val="25000"/>
                        </a:schemeClr>
                      </a:solidFill>
                      <a:latin typeface="Times New Roman" pitchFamily="18" charset="0"/>
                    </a:rPr>
                    <a:t>(</a:t>
                  </a:r>
                  <a:r>
                    <a:rPr lang="en-US" altLang="zh-CN" sz="1800" dirty="0">
                      <a:solidFill>
                        <a:srgbClr val="FF0000"/>
                      </a:solidFill>
                      <a:latin typeface="Times New Roman" pitchFamily="18" charset="0"/>
                    </a:rPr>
                    <a:t>&amp;a</a:t>
                  </a:r>
                  <a:r>
                    <a:rPr lang="en-US" altLang="zh-CN" sz="1800" dirty="0">
                      <a:solidFill>
                        <a:srgbClr val="0033CC"/>
                      </a:solidFill>
                      <a:latin typeface="Times New Roman" pitchFamily="18" charset="0"/>
                    </a:rPr>
                    <a:t>)         </a:t>
                  </a:r>
                </a:p>
              </p:txBody>
            </p:sp>
            <p:sp>
              <p:nvSpPr>
                <p:cNvPr id="20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4859784" y="3861048"/>
                  <a:ext cx="1458410" cy="366712"/>
                </a:xfrm>
                <a:prstGeom prst="rect">
                  <a:avLst/>
                </a:prstGeom>
                <a:solidFill>
                  <a:srgbClr val="FFFF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31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2075" tIns="46038" rIns="92075" bIns="46038">
                  <a:spAutoFit/>
                </a:bodyPr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itchFamily="18" charset="2"/>
                    <a:buChar char=""/>
                    <a:defRPr kumimoji="1" sz="26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1pPr>
                  <a:lvl2pPr marL="742950" indent="-28575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itchFamily="18" charset="2"/>
                    <a:buChar char=""/>
                    <a:defRPr kumimoji="1" sz="24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2pPr>
                  <a:lvl3pPr marL="1143000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itchFamily="18" charset="2"/>
                    <a:buChar char=""/>
                    <a:defRPr kumimoji="1" sz="20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3pPr>
                  <a:lvl4pPr marL="1600200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itchFamily="18" charset="2"/>
                    <a:buChar char=""/>
                    <a:defRPr kumimoji="1" sz="20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4pPr>
                  <a:lvl5pPr marL="20574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kumimoji="1" sz="20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kumimoji="1" sz="20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kumimoji="1" sz="20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kumimoji="1" sz="20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kumimoji="1" sz="20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  <a:buClrTx/>
                    <a:buSzTx/>
                    <a:buFontTx/>
                    <a:buNone/>
                    <a:defRPr/>
                  </a:pPr>
                  <a:r>
                    <a:rPr lang="en-US" altLang="zh-CN" sz="1800" dirty="0">
                      <a:solidFill>
                        <a:srgbClr val="0033CC"/>
                      </a:solidFill>
                      <a:latin typeface="Times New Roman" pitchFamily="18" charset="0"/>
                    </a:rPr>
                    <a:t>Point(</a:t>
                  </a:r>
                  <a:r>
                    <a:rPr lang="en-US" altLang="zh-CN" sz="1800" dirty="0">
                      <a:solidFill>
                        <a:srgbClr val="FF0000"/>
                      </a:solidFill>
                      <a:latin typeface="Times New Roman" pitchFamily="18" charset="0"/>
                    </a:rPr>
                    <a:t>&amp;b</a:t>
                  </a:r>
                  <a:r>
                    <a:rPr lang="en-US" altLang="zh-CN" sz="1800" dirty="0">
                      <a:solidFill>
                        <a:srgbClr val="0033CC"/>
                      </a:solidFill>
                      <a:latin typeface="Times New Roman" pitchFamily="18" charset="0"/>
                    </a:rPr>
                    <a:t>, a)        </a:t>
                  </a:r>
                </a:p>
              </p:txBody>
            </p:sp>
            <p:sp>
              <p:nvSpPr>
                <p:cNvPr id="21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4283968" y="4276490"/>
                  <a:ext cx="2232248" cy="369974"/>
                </a:xfrm>
                <a:prstGeom prst="rect">
                  <a:avLst/>
                </a:prstGeom>
                <a:solidFill>
                  <a:srgbClr val="FFFF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31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2075" tIns="46038" rIns="92075" bIns="46038">
                  <a:spAutoFit/>
                </a:bodyPr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itchFamily="18" charset="2"/>
                    <a:buChar char=""/>
                    <a:defRPr kumimoji="1" sz="26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1pPr>
                  <a:lvl2pPr marL="742950" indent="-28575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itchFamily="18" charset="2"/>
                    <a:buChar char=""/>
                    <a:defRPr kumimoji="1" sz="24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2pPr>
                  <a:lvl3pPr marL="1143000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itchFamily="18" charset="2"/>
                    <a:buChar char=""/>
                    <a:defRPr kumimoji="1" sz="20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3pPr>
                  <a:lvl4pPr marL="1600200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itchFamily="18" charset="2"/>
                    <a:buChar char=""/>
                    <a:defRPr kumimoji="1" sz="20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4pPr>
                  <a:lvl5pPr marL="20574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kumimoji="1" sz="20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kumimoji="1" sz="20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kumimoji="1" sz="20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kumimoji="1" sz="20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kumimoji="1" sz="20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  <a:buClrTx/>
                    <a:buSzTx/>
                    <a:buFontTx/>
                    <a:buNone/>
                    <a:defRPr/>
                  </a:pPr>
                  <a:r>
                    <a:rPr lang="en-US" altLang="zh-CN" sz="1800" dirty="0">
                      <a:solidFill>
                        <a:srgbClr val="0033CC"/>
                      </a:solidFill>
                      <a:latin typeface="Times New Roman" pitchFamily="18" charset="0"/>
                    </a:rPr>
                    <a:t>inline </a:t>
                  </a:r>
                  <a:r>
                    <a:rPr lang="en-US" altLang="zh-CN" sz="1800" dirty="0" err="1">
                      <a:solidFill>
                        <a:srgbClr val="0033CC"/>
                      </a:solidFill>
                      <a:latin typeface="Times New Roman" pitchFamily="18" charset="0"/>
                    </a:rPr>
                    <a:t>int</a:t>
                  </a:r>
                  <a:r>
                    <a:rPr lang="en-US" altLang="zh-CN" sz="1800" dirty="0">
                      <a:solidFill>
                        <a:srgbClr val="0033CC"/>
                      </a:solidFill>
                      <a:latin typeface="Times New Roman" pitchFamily="18" charset="0"/>
                    </a:rPr>
                    <a:t> </a:t>
                  </a:r>
                  <a:r>
                    <a:rPr lang="en-US" altLang="zh-CN" sz="1800" dirty="0" err="1">
                      <a:solidFill>
                        <a:srgbClr val="0033CC"/>
                      </a:solidFill>
                      <a:latin typeface="Times New Roman" pitchFamily="18" charset="0"/>
                    </a:rPr>
                    <a:t>getX</a:t>
                  </a:r>
                  <a:r>
                    <a:rPr lang="en-US" altLang="zh-CN" sz="1800" dirty="0">
                      <a:solidFill>
                        <a:schemeClr val="bg2">
                          <a:lumMod val="25000"/>
                        </a:schemeClr>
                      </a:solidFill>
                      <a:latin typeface="Times New Roman" pitchFamily="18" charset="0"/>
                    </a:rPr>
                    <a:t>(</a:t>
                  </a:r>
                  <a:r>
                    <a:rPr lang="en-US" altLang="zh-CN" sz="1800" dirty="0">
                      <a:solidFill>
                        <a:srgbClr val="FF0000"/>
                      </a:solidFill>
                      <a:latin typeface="Times New Roman" pitchFamily="18" charset="0"/>
                    </a:rPr>
                    <a:t>&amp;b</a:t>
                  </a:r>
                  <a:r>
                    <a:rPr lang="en-US" altLang="zh-CN" sz="1800" dirty="0">
                      <a:solidFill>
                        <a:srgbClr val="0033CC"/>
                      </a:solidFill>
                      <a:latin typeface="Times New Roman" pitchFamily="18" charset="0"/>
                    </a:rPr>
                    <a:t>)         </a:t>
                  </a:r>
                </a:p>
              </p:txBody>
            </p:sp>
            <p:sp>
              <p:nvSpPr>
                <p:cNvPr id="22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6660232" y="4427178"/>
                  <a:ext cx="2232248" cy="369974"/>
                </a:xfrm>
                <a:prstGeom prst="rect">
                  <a:avLst/>
                </a:prstGeom>
                <a:solidFill>
                  <a:srgbClr val="FFFF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31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2075" tIns="46038" rIns="92075" bIns="46038">
                  <a:spAutoFit/>
                </a:bodyPr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itchFamily="18" charset="2"/>
                    <a:buChar char=""/>
                    <a:defRPr kumimoji="1" sz="26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1pPr>
                  <a:lvl2pPr marL="742950" indent="-28575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itchFamily="18" charset="2"/>
                    <a:buChar char=""/>
                    <a:defRPr kumimoji="1" sz="24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2pPr>
                  <a:lvl3pPr marL="1143000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itchFamily="18" charset="2"/>
                    <a:buChar char=""/>
                    <a:defRPr kumimoji="1" sz="20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3pPr>
                  <a:lvl4pPr marL="1600200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itchFamily="18" charset="2"/>
                    <a:buChar char=""/>
                    <a:defRPr kumimoji="1" sz="20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4pPr>
                  <a:lvl5pPr marL="20574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kumimoji="1" sz="20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kumimoji="1" sz="20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kumimoji="1" sz="20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kumimoji="1" sz="20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kumimoji="1" sz="20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  <a:buClrTx/>
                    <a:buSzTx/>
                    <a:buFontTx/>
                    <a:buNone/>
                    <a:defRPr/>
                  </a:pPr>
                  <a:r>
                    <a:rPr lang="en-US" altLang="zh-CN" sz="1800" dirty="0">
                      <a:solidFill>
                        <a:srgbClr val="0033CC"/>
                      </a:solidFill>
                      <a:latin typeface="Times New Roman" pitchFamily="18" charset="0"/>
                    </a:rPr>
                    <a:t>inline </a:t>
                  </a:r>
                  <a:r>
                    <a:rPr lang="en-US" altLang="zh-CN" sz="1800" dirty="0" err="1">
                      <a:solidFill>
                        <a:srgbClr val="0033CC"/>
                      </a:solidFill>
                      <a:latin typeface="Times New Roman" pitchFamily="18" charset="0"/>
                    </a:rPr>
                    <a:t>int</a:t>
                  </a:r>
                  <a:r>
                    <a:rPr lang="en-US" altLang="zh-CN" sz="1800" dirty="0">
                      <a:solidFill>
                        <a:srgbClr val="0033CC"/>
                      </a:solidFill>
                      <a:latin typeface="Times New Roman" pitchFamily="18" charset="0"/>
                    </a:rPr>
                    <a:t> </a:t>
                  </a:r>
                  <a:r>
                    <a:rPr lang="en-US" altLang="zh-CN" sz="1800" dirty="0" err="1">
                      <a:solidFill>
                        <a:srgbClr val="0033CC"/>
                      </a:solidFill>
                      <a:latin typeface="Times New Roman" pitchFamily="18" charset="0"/>
                    </a:rPr>
                    <a:t>getY</a:t>
                  </a:r>
                  <a:r>
                    <a:rPr lang="en-US" altLang="zh-CN" sz="1800" dirty="0">
                      <a:solidFill>
                        <a:schemeClr val="bg2">
                          <a:lumMod val="25000"/>
                        </a:schemeClr>
                      </a:solidFill>
                      <a:latin typeface="Times New Roman" pitchFamily="18" charset="0"/>
                    </a:rPr>
                    <a:t>(</a:t>
                  </a:r>
                  <a:r>
                    <a:rPr lang="en-US" altLang="zh-CN" sz="1800" dirty="0">
                      <a:solidFill>
                        <a:srgbClr val="FF0000"/>
                      </a:solidFill>
                      <a:latin typeface="Times New Roman" pitchFamily="18" charset="0"/>
                    </a:rPr>
                    <a:t>&amp;b</a:t>
                  </a:r>
                  <a:r>
                    <a:rPr lang="en-US" altLang="zh-CN" sz="1800" dirty="0">
                      <a:solidFill>
                        <a:srgbClr val="0033CC"/>
                      </a:solidFill>
                      <a:latin typeface="Times New Roman" pitchFamily="18" charset="0"/>
                    </a:rPr>
                    <a:t>)         </a:t>
                  </a:r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auto">
                <a:xfrm flipV="1">
                  <a:off x="1979712" y="4001859"/>
                  <a:ext cx="2808312" cy="35873"/>
                </a:xfrm>
                <a:prstGeom prst="line">
                  <a:avLst/>
                </a:prstGeom>
                <a:noFill/>
                <a:ln w="3175">
                  <a:solidFill>
                    <a:srgbClr val="FF33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square" lIns="92075" tIns="46038" rIns="92075" bIns="46038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" name="Line 15"/>
                <p:cNvSpPr>
                  <a:spLocks noChangeShapeType="1"/>
                </p:cNvSpPr>
                <p:nvPr/>
              </p:nvSpPr>
              <p:spPr bwMode="auto">
                <a:xfrm>
                  <a:off x="3815978" y="4283162"/>
                  <a:ext cx="395858" cy="121282"/>
                </a:xfrm>
                <a:prstGeom prst="line">
                  <a:avLst/>
                </a:prstGeom>
                <a:noFill/>
                <a:ln w="3175">
                  <a:solidFill>
                    <a:srgbClr val="FF33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square" lIns="92075" tIns="46038" rIns="92075" bIns="46038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29" name="Line 15"/>
            <p:cNvSpPr>
              <a:spLocks noChangeShapeType="1"/>
            </p:cNvSpPr>
            <p:nvPr/>
          </p:nvSpPr>
          <p:spPr bwMode="auto">
            <a:xfrm flipV="1">
              <a:off x="2996331" y="4653136"/>
              <a:ext cx="3663901" cy="0"/>
            </a:xfrm>
            <a:prstGeom prst="line">
              <a:avLst/>
            </a:prstGeom>
            <a:noFill/>
            <a:ln w="317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92075" tIns="46038" rIns="92075" bIns="46038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2843932" y="3429000"/>
            <a:ext cx="4860416" cy="1872208"/>
            <a:chOff x="2843932" y="3429000"/>
            <a:chExt cx="4860416" cy="1872208"/>
          </a:xfrm>
        </p:grpSpPr>
        <p:grpSp>
          <p:nvGrpSpPr>
            <p:cNvPr id="8" name="组合 7"/>
            <p:cNvGrpSpPr/>
            <p:nvPr/>
          </p:nvGrpSpPr>
          <p:grpSpPr>
            <a:xfrm>
              <a:off x="2843932" y="3429000"/>
              <a:ext cx="4860416" cy="1872208"/>
              <a:chOff x="2843932" y="3429000"/>
              <a:chExt cx="4860416" cy="1872208"/>
            </a:xfrm>
          </p:grpSpPr>
          <p:sp>
            <p:nvSpPr>
              <p:cNvPr id="19" name="Text Box 7"/>
              <p:cNvSpPr txBox="1">
                <a:spLocks noChangeArrowheads="1"/>
              </p:cNvSpPr>
              <p:nvPr/>
            </p:nvSpPr>
            <p:spPr bwMode="auto">
              <a:xfrm>
                <a:off x="4788024" y="3429000"/>
                <a:ext cx="2916324" cy="366712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2075" tIns="46038" rIns="92075" bIns="46038"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itchFamily="18" charset="2"/>
                  <a:buChar char=""/>
                  <a:defRPr kumimoji="1" sz="2600">
                    <a:solidFill>
                      <a:schemeClr val="tx1"/>
                    </a:solidFill>
                    <a:latin typeface="Perpetua" charset="0"/>
                    <a:ea typeface="宋体" pitchFamily="2" charset="-122"/>
                  </a:defRPr>
                </a:lvl1pPr>
                <a:lvl2pPr marL="742950" indent="-28575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itchFamily="18" charset="2"/>
                  <a:buChar char=""/>
                  <a:defRPr kumimoji="1" sz="2400">
                    <a:solidFill>
                      <a:schemeClr val="tx1"/>
                    </a:solidFill>
                    <a:latin typeface="Perpetua" charset="0"/>
                    <a:ea typeface="宋体" pitchFamily="2" charset="-122"/>
                  </a:defRPr>
                </a:lvl2pPr>
                <a:lvl3pPr marL="1143000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itchFamily="18" charset="2"/>
                  <a:buChar char=""/>
                  <a:defRPr kumimoji="1" sz="2000">
                    <a:solidFill>
                      <a:schemeClr val="tx1"/>
                    </a:solidFill>
                    <a:latin typeface="Perpetua" charset="0"/>
                    <a:ea typeface="宋体" pitchFamily="2" charset="-122"/>
                  </a:defRPr>
                </a:lvl3pPr>
                <a:lvl4pPr marL="1600200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itchFamily="18" charset="2"/>
                  <a:buChar char=""/>
                  <a:defRPr kumimoji="1" sz="2000">
                    <a:solidFill>
                      <a:schemeClr val="tx1"/>
                    </a:solidFill>
                    <a:latin typeface="Perpetua" charset="0"/>
                    <a:ea typeface="宋体" pitchFamily="2" charset="-122"/>
                  </a:defRPr>
                </a:lvl4pPr>
                <a:lvl5pPr marL="20574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kumimoji="1" sz="2000">
                    <a:solidFill>
                      <a:schemeClr val="tx1"/>
                    </a:solidFill>
                    <a:latin typeface="Perpetua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kumimoji="1" sz="2000">
                    <a:solidFill>
                      <a:schemeClr val="tx1"/>
                    </a:solidFill>
                    <a:latin typeface="Perpetua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kumimoji="1" sz="2000">
                    <a:solidFill>
                      <a:schemeClr val="tx1"/>
                    </a:solidFill>
                    <a:latin typeface="Perpetua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kumimoji="1" sz="2000">
                    <a:solidFill>
                      <a:schemeClr val="tx1"/>
                    </a:solidFill>
                    <a:latin typeface="Perpetua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kumimoji="1" sz="2000">
                    <a:solidFill>
                      <a:schemeClr val="tx1"/>
                    </a:solidFill>
                    <a:latin typeface="Perpetua" charset="0"/>
                    <a:ea typeface="宋体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  <a:defRPr/>
                </a:pPr>
                <a:r>
                  <a:rPr lang="en-US" altLang="zh-CN" sz="1800" dirty="0">
                    <a:solidFill>
                      <a:srgbClr val="0033CC"/>
                    </a:solidFill>
                    <a:latin typeface="Times New Roman" pitchFamily="18" charset="0"/>
                  </a:rPr>
                  <a:t>inline void </a:t>
                </a:r>
                <a:r>
                  <a:rPr lang="en-US" altLang="zh-CN" sz="1800" dirty="0" err="1">
                    <a:solidFill>
                      <a:srgbClr val="0033CC"/>
                    </a:solidFill>
                    <a:latin typeface="Times New Roman" pitchFamily="18" charset="0"/>
                  </a:rPr>
                  <a:t>showCount</a:t>
                </a:r>
                <a:r>
                  <a:rPr lang="en-US" altLang="zh-CN" sz="1800" dirty="0">
                    <a:solidFill>
                      <a:schemeClr val="bg2">
                        <a:lumMod val="25000"/>
                      </a:schemeClr>
                    </a:solidFill>
                    <a:latin typeface="Times New Roman" pitchFamily="18" charset="0"/>
                  </a:rPr>
                  <a:t>(</a:t>
                </a:r>
                <a:r>
                  <a:rPr lang="en-US" altLang="zh-CN" sz="1800" dirty="0">
                    <a:solidFill>
                      <a:srgbClr val="0033CC"/>
                    </a:solidFill>
                    <a:latin typeface="Times New Roman" pitchFamily="18" charset="0"/>
                  </a:rPr>
                  <a:t>)        </a:t>
                </a:r>
              </a:p>
            </p:txBody>
          </p:sp>
          <p:grpSp>
            <p:nvGrpSpPr>
              <p:cNvPr id="5" name="组合 4"/>
              <p:cNvGrpSpPr/>
              <p:nvPr/>
            </p:nvGrpSpPr>
            <p:grpSpPr>
              <a:xfrm>
                <a:off x="2843932" y="3429000"/>
                <a:ext cx="4860416" cy="1872208"/>
                <a:chOff x="2843932" y="3429000"/>
                <a:chExt cx="4860416" cy="1872208"/>
              </a:xfrm>
            </p:grpSpPr>
            <p:sp>
              <p:nvSpPr>
                <p:cNvPr id="23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4788024" y="4934496"/>
                  <a:ext cx="2916324" cy="366712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31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2075" tIns="46038" rIns="92075" bIns="46038">
                  <a:spAutoFit/>
                </a:bodyPr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itchFamily="18" charset="2"/>
                    <a:buChar char=""/>
                    <a:defRPr kumimoji="1" sz="26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1pPr>
                  <a:lvl2pPr marL="742950" indent="-28575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itchFamily="18" charset="2"/>
                    <a:buChar char=""/>
                    <a:defRPr kumimoji="1" sz="24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2pPr>
                  <a:lvl3pPr marL="1143000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itchFamily="18" charset="2"/>
                    <a:buChar char=""/>
                    <a:defRPr kumimoji="1" sz="20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3pPr>
                  <a:lvl4pPr marL="1600200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itchFamily="18" charset="2"/>
                    <a:buChar char=""/>
                    <a:defRPr kumimoji="1" sz="20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4pPr>
                  <a:lvl5pPr marL="20574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kumimoji="1" sz="20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kumimoji="1" sz="20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kumimoji="1" sz="20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kumimoji="1" sz="20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kumimoji="1" sz="2000">
                      <a:solidFill>
                        <a:schemeClr val="tx1"/>
                      </a:solidFill>
                      <a:latin typeface="Perpetua" charset="0"/>
                      <a:ea typeface="宋体" pitchFamily="2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  <a:buClrTx/>
                    <a:buSzTx/>
                    <a:buFontTx/>
                    <a:buNone/>
                    <a:defRPr/>
                  </a:pPr>
                  <a:r>
                    <a:rPr lang="en-US" altLang="zh-CN" sz="1800" dirty="0">
                      <a:solidFill>
                        <a:srgbClr val="0033CC"/>
                      </a:solidFill>
                      <a:latin typeface="Times New Roman" pitchFamily="18" charset="0"/>
                    </a:rPr>
                    <a:t>inline void </a:t>
                  </a:r>
                  <a:r>
                    <a:rPr lang="en-US" altLang="zh-CN" sz="1800" dirty="0" err="1">
                      <a:solidFill>
                        <a:srgbClr val="0033CC"/>
                      </a:solidFill>
                      <a:latin typeface="Times New Roman" pitchFamily="18" charset="0"/>
                    </a:rPr>
                    <a:t>showCount</a:t>
                  </a:r>
                  <a:r>
                    <a:rPr lang="en-US" altLang="zh-CN" sz="1800" dirty="0">
                      <a:solidFill>
                        <a:schemeClr val="bg2">
                          <a:lumMod val="25000"/>
                        </a:schemeClr>
                      </a:solidFill>
                      <a:latin typeface="Times New Roman" pitchFamily="18" charset="0"/>
                    </a:rPr>
                    <a:t>(</a:t>
                  </a:r>
                  <a:r>
                    <a:rPr lang="en-US" altLang="zh-CN" sz="1800" dirty="0">
                      <a:solidFill>
                        <a:srgbClr val="0033CC"/>
                      </a:solidFill>
                      <a:latin typeface="Times New Roman" pitchFamily="18" charset="0"/>
                    </a:rPr>
                    <a:t>)        </a:t>
                  </a:r>
                </a:p>
              </p:txBody>
            </p:sp>
            <p:sp>
              <p:nvSpPr>
                <p:cNvPr id="26" name="Line 15"/>
                <p:cNvSpPr>
                  <a:spLocks noChangeShapeType="1"/>
                </p:cNvSpPr>
                <p:nvPr/>
              </p:nvSpPr>
              <p:spPr bwMode="auto">
                <a:xfrm flipV="1">
                  <a:off x="2843932" y="3612356"/>
                  <a:ext cx="1944092" cy="104676"/>
                </a:xfrm>
                <a:prstGeom prst="line">
                  <a:avLst/>
                </a:prstGeom>
                <a:noFill/>
                <a:ln w="3175">
                  <a:solidFill>
                    <a:srgbClr val="FF33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square" lIns="92075" tIns="46038" rIns="92075" bIns="46038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0" name="Line 15"/>
                <p:cNvSpPr>
                  <a:spLocks noChangeShapeType="1"/>
                </p:cNvSpPr>
                <p:nvPr/>
              </p:nvSpPr>
              <p:spPr bwMode="auto">
                <a:xfrm>
                  <a:off x="2987823" y="4977302"/>
                  <a:ext cx="1729085" cy="151005"/>
                </a:xfrm>
                <a:prstGeom prst="line">
                  <a:avLst/>
                </a:prstGeom>
                <a:noFill/>
                <a:ln w="3175">
                  <a:solidFill>
                    <a:srgbClr val="FF33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square" lIns="92075" tIns="46038" rIns="92075" bIns="46038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1" name="圆角矩形 30"/>
                <p:cNvSpPr/>
                <p:nvPr/>
              </p:nvSpPr>
              <p:spPr>
                <a:xfrm>
                  <a:off x="4788024" y="3429000"/>
                  <a:ext cx="2772308" cy="366712"/>
                </a:xfrm>
                <a:prstGeom prst="round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32" name="圆角矩形 31"/>
            <p:cNvSpPr/>
            <p:nvPr/>
          </p:nvSpPr>
          <p:spPr>
            <a:xfrm>
              <a:off x="4788024" y="4955406"/>
              <a:ext cx="2772308" cy="34580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3" name="Rectangle 13"/>
          <p:cNvSpPr>
            <a:spLocks noChangeArrowheads="1"/>
          </p:cNvSpPr>
          <p:nvPr/>
        </p:nvSpPr>
        <p:spPr bwMode="auto">
          <a:xfrm>
            <a:off x="251520" y="1196752"/>
            <a:ext cx="8712968" cy="369974"/>
          </a:xfrm>
          <a:prstGeom prst="rect">
            <a:avLst/>
          </a:prstGeom>
          <a:solidFill>
            <a:schemeClr val="bg2">
              <a:lumMod val="90000"/>
            </a:schemeClr>
          </a:solidFill>
          <a:ln w="3175">
            <a:solidFill>
              <a:schemeClr val="bg1"/>
            </a:solidFill>
            <a:miter lim="800000"/>
            <a:headEnd/>
            <a:tailEnd/>
          </a:ln>
        </p:spPr>
        <p:txBody>
          <a:bodyPr wrap="square" lIns="92075" tIns="46038" rIns="92075" bIns="46038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 2" pitchFamily="18" charset="2"/>
              <a:buChar char=""/>
              <a:defRPr sz="3200">
                <a:solidFill>
                  <a:schemeClr val="tx1"/>
                </a:solidFill>
                <a:latin typeface="Cambria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0000"/>
              <a:buFont typeface="Wingdings 2" pitchFamily="18" charset="2"/>
              <a:buChar char="³"/>
              <a:defRPr sz="2800">
                <a:solidFill>
                  <a:schemeClr val="tx1"/>
                </a:solidFill>
                <a:latin typeface="Cambria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7B9B57"/>
              </a:buClr>
              <a:buSzPct val="60000"/>
              <a:buFont typeface="Wingdings 2" pitchFamily="18" charset="2"/>
              <a:buChar char="®"/>
              <a:defRPr sz="2400">
                <a:solidFill>
                  <a:schemeClr val="tx1"/>
                </a:solidFill>
                <a:latin typeface="Cambria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B7396"/>
              </a:buClr>
              <a:buSzPct val="45000"/>
              <a:buFont typeface="Wingdings 2" pitchFamily="18" charset="2"/>
              <a:buChar char="¯"/>
              <a:defRPr sz="2000">
                <a:solidFill>
                  <a:schemeClr val="tx1"/>
                </a:solidFill>
                <a:latin typeface="Cambria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E89A53"/>
              </a:buClr>
              <a:buFont typeface="Wingdings 2" pitchFamily="18" charset="2"/>
              <a:buChar char=""/>
              <a:defRPr sz="2000">
                <a:solidFill>
                  <a:schemeClr val="tx1"/>
                </a:solidFill>
                <a:latin typeface="Cambria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itchFamily="18" charset="2"/>
              <a:buChar char=""/>
              <a:defRPr sz="2000">
                <a:solidFill>
                  <a:schemeClr val="tx1"/>
                </a:solidFill>
                <a:latin typeface="Cambria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itchFamily="18" charset="2"/>
              <a:buChar char=""/>
              <a:defRPr sz="2000">
                <a:solidFill>
                  <a:schemeClr val="tx1"/>
                </a:solidFill>
                <a:latin typeface="Cambria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itchFamily="18" charset="2"/>
              <a:buChar char=""/>
              <a:defRPr sz="2000">
                <a:solidFill>
                  <a:schemeClr val="tx1"/>
                </a:solidFill>
                <a:latin typeface="Cambria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itchFamily="18" charset="2"/>
              <a:buChar char=""/>
              <a:defRPr sz="2000">
                <a:solidFill>
                  <a:schemeClr val="tx1"/>
                </a:solidFill>
                <a:latin typeface="Cambria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None/>
            </a:pPr>
            <a:r>
              <a:rPr lang="zh-CN" altLang="en-US" sz="1800" b="1" dirty="0">
                <a:latin typeface="Times New Roman" pitchFamily="18" charset="0"/>
              </a:rPr>
              <a:t>对</a:t>
            </a:r>
            <a:r>
              <a:rPr lang="en-US" altLang="zh-CN" sz="1800" b="1" dirty="0">
                <a:latin typeface="Times New Roman" pitchFamily="18" charset="0"/>
              </a:rPr>
              <a:t>static</a:t>
            </a:r>
            <a:r>
              <a:rPr lang="zh-CN" altLang="en-US" sz="1800" b="1" dirty="0">
                <a:latin typeface="Times New Roman" pitchFamily="18" charset="0"/>
              </a:rPr>
              <a:t>成员函数的调用，则不增加这个额外的实参。（</a:t>
            </a:r>
            <a:r>
              <a:rPr lang="en-US" altLang="zh-CN" sz="1800" b="1" dirty="0">
                <a:latin typeface="Times New Roman" pitchFamily="18" charset="0"/>
              </a:rPr>
              <a:t>static</a:t>
            </a:r>
            <a:r>
              <a:rPr lang="zh-CN" altLang="en-US" sz="1800" b="1" dirty="0">
                <a:latin typeface="Times New Roman" pitchFamily="18" charset="0"/>
              </a:rPr>
              <a:t>函数本来就没有</a:t>
            </a:r>
            <a:r>
              <a:rPr lang="en-US" altLang="zh-CN" sz="1800" b="1" dirty="0">
                <a:latin typeface="Times New Roman" pitchFamily="18" charset="0"/>
              </a:rPr>
              <a:t>this</a:t>
            </a:r>
            <a:r>
              <a:rPr lang="zh-CN" altLang="en-US" sz="1800" b="1" dirty="0">
                <a:latin typeface="Times New Roman" pitchFamily="18" charset="0"/>
              </a:rPr>
              <a:t>参数）</a:t>
            </a:r>
          </a:p>
        </p:txBody>
      </p:sp>
    </p:spTree>
    <p:extLst>
      <p:ext uri="{BB962C8B-B14F-4D97-AF65-F5344CB8AC3E}">
        <p14:creationId xmlns:p14="http://schemas.microsoft.com/office/powerpoint/2010/main" val="122447555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05485" grpId="0" animBg="1"/>
      <p:bldP spid="33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729048" y="3840914"/>
            <a:ext cx="2940344" cy="1569660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void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4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A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::f(</a:t>
            </a:r>
            <a:r>
              <a:rPr lang="en-US" altLang="zh-CN" sz="24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A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400" dirty="0">
                <a:solidFill>
                  <a:srgbClr val="8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a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)</a:t>
            </a:r>
          </a:p>
          <a:p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{  </a:t>
            </a:r>
            <a:r>
              <a:rPr lang="en-US" altLang="zh-CN" sz="24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cout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&lt;&lt; _x;</a:t>
            </a:r>
          </a:p>
          <a:p>
            <a:pPr marL="533400"/>
            <a:r>
              <a:rPr lang="en-US" altLang="zh-CN" sz="24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cout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&lt;&lt; </a:t>
            </a:r>
            <a:r>
              <a:rPr lang="en-US" altLang="zh-CN" sz="2400" dirty="0" err="1">
                <a:solidFill>
                  <a:srgbClr val="808080"/>
                </a:solidFill>
                <a:highlight>
                  <a:srgbClr val="FFFFFF"/>
                </a:highlight>
                <a:latin typeface="新宋体"/>
                <a:ea typeface="新宋体"/>
              </a:rPr>
              <a:t>a</a:t>
            </a:r>
            <a:r>
              <a:rPr lang="en-US" altLang="zh-CN" sz="2400" dirty="0" err="1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._x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;</a:t>
            </a:r>
          </a:p>
          <a:p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}</a:t>
            </a:r>
            <a:endParaRPr lang="zh-CN" altLang="en-US" sz="2400" dirty="0"/>
          </a:p>
        </p:txBody>
      </p:sp>
      <p:sp>
        <p:nvSpPr>
          <p:cNvPr id="2" name="矩形 1"/>
          <p:cNvSpPr/>
          <p:nvPr/>
        </p:nvSpPr>
        <p:spPr>
          <a:xfrm>
            <a:off x="755576" y="1405220"/>
            <a:ext cx="3672408" cy="2308324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class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4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A</a:t>
            </a:r>
            <a:endParaRPr lang="en-US" altLang="zh-CN" sz="2400" dirty="0">
              <a:solidFill>
                <a:srgbClr val="000000"/>
              </a:solidFill>
              <a:highlight>
                <a:srgbClr val="FFFFFF"/>
              </a:highlight>
              <a:latin typeface="新宋体"/>
              <a:ea typeface="新宋体"/>
            </a:endParaRPr>
          </a:p>
          <a:p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{</a:t>
            </a:r>
            <a:r>
              <a:rPr lang="en-US" altLang="zh-CN" sz="24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public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:</a:t>
            </a:r>
          </a:p>
          <a:p>
            <a:pPr marL="441325"/>
            <a:r>
              <a:rPr lang="en-US" altLang="zh-CN" sz="24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static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</a:t>
            </a:r>
            <a:r>
              <a:rPr lang="en-US" altLang="zh-CN" sz="24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void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f(</a:t>
            </a:r>
            <a:r>
              <a:rPr lang="en-US" altLang="zh-CN" sz="2400" dirty="0">
                <a:solidFill>
                  <a:srgbClr val="2B91AF"/>
                </a:solidFill>
                <a:highlight>
                  <a:srgbClr val="FFFFFF"/>
                </a:highlight>
                <a:latin typeface="新宋体"/>
                <a:ea typeface="新宋体"/>
              </a:rPr>
              <a:t>A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a);</a:t>
            </a:r>
          </a:p>
          <a:p>
            <a:r>
              <a:rPr lang="en-US" altLang="zh-CN" sz="24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private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:</a:t>
            </a:r>
          </a:p>
          <a:p>
            <a:pPr marL="441325"/>
            <a:r>
              <a:rPr lang="en-US" altLang="zh-CN" sz="2400" dirty="0">
                <a:solidFill>
                  <a:srgbClr val="0000FF"/>
                </a:solidFill>
                <a:highlight>
                  <a:srgbClr val="FFFFFF"/>
                </a:highlight>
                <a:latin typeface="新宋体"/>
                <a:ea typeface="新宋体"/>
              </a:rPr>
              <a:t>int</a:t>
            </a:r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 _x;</a:t>
            </a:r>
          </a:p>
          <a:p>
            <a:r>
              <a:rPr lang="en-US" altLang="zh-CN" sz="2400" dirty="0">
                <a:solidFill>
                  <a:srgbClr val="000000"/>
                </a:solidFill>
                <a:highlight>
                  <a:srgbClr val="FFFFFF"/>
                </a:highlight>
                <a:latin typeface="新宋体"/>
                <a:ea typeface="新宋体"/>
              </a:rPr>
              <a:t>};</a:t>
            </a:r>
          </a:p>
        </p:txBody>
      </p:sp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静态成员函数举例</a:t>
            </a:r>
            <a:r>
              <a:rPr lang="en-US" altLang="zh-CN" dirty="0"/>
              <a:t>:</a:t>
            </a:r>
            <a:r>
              <a:rPr lang="zh-CN" altLang="en-US" dirty="0"/>
              <a:t>易错情况</a:t>
            </a:r>
          </a:p>
        </p:txBody>
      </p:sp>
      <p:sp>
        <p:nvSpPr>
          <p:cNvPr id="3379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A360EFAA-8A2B-4B64-ADA0-A34D44558BCC}" type="slidenum">
              <a:rPr lang="en-US" altLang="zh-CN" sz="1400" smtClean="0"/>
              <a:pPr/>
              <a:t>51</a:t>
            </a:fld>
            <a:endParaRPr lang="en-US" altLang="zh-CN" sz="1400"/>
          </a:p>
        </p:txBody>
      </p:sp>
      <p:grpSp>
        <p:nvGrpSpPr>
          <p:cNvPr id="15" name="组合 14"/>
          <p:cNvGrpSpPr/>
          <p:nvPr/>
        </p:nvGrpSpPr>
        <p:grpSpPr>
          <a:xfrm>
            <a:off x="2843808" y="4365104"/>
            <a:ext cx="216024" cy="260640"/>
            <a:chOff x="7560332" y="4581128"/>
            <a:chExt cx="252028" cy="288032"/>
          </a:xfrm>
        </p:grpSpPr>
        <p:cxnSp>
          <p:nvCxnSpPr>
            <p:cNvPr id="3" name="直接连接符 2"/>
            <p:cNvCxnSpPr/>
            <p:nvPr/>
          </p:nvCxnSpPr>
          <p:spPr>
            <a:xfrm flipH="1">
              <a:off x="7560332" y="4581128"/>
              <a:ext cx="252028" cy="288032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/>
          </p:nvCxnSpPr>
          <p:spPr>
            <a:xfrm>
              <a:off x="7560332" y="4581128"/>
              <a:ext cx="252028" cy="288032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组合 13"/>
          <p:cNvGrpSpPr/>
          <p:nvPr/>
        </p:nvGrpSpPr>
        <p:grpSpPr>
          <a:xfrm>
            <a:off x="3059832" y="4815357"/>
            <a:ext cx="360040" cy="341835"/>
            <a:chOff x="4716016" y="5013176"/>
            <a:chExt cx="576064" cy="432048"/>
          </a:xfrm>
        </p:grpSpPr>
        <p:cxnSp>
          <p:nvCxnSpPr>
            <p:cNvPr id="11" name="直接连接符 10"/>
            <p:cNvCxnSpPr/>
            <p:nvPr/>
          </p:nvCxnSpPr>
          <p:spPr>
            <a:xfrm>
              <a:off x="4716016" y="5229200"/>
              <a:ext cx="144016" cy="216024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 flipV="1">
              <a:off x="4860032" y="5013176"/>
              <a:ext cx="432048" cy="432048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椭圆 9"/>
          <p:cNvSpPr/>
          <p:nvPr/>
        </p:nvSpPr>
        <p:spPr>
          <a:xfrm>
            <a:off x="1187624" y="2204864"/>
            <a:ext cx="1080120" cy="432048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5" name="组合 24"/>
          <p:cNvGrpSpPr/>
          <p:nvPr/>
        </p:nvGrpSpPr>
        <p:grpSpPr>
          <a:xfrm>
            <a:off x="3419872" y="3933056"/>
            <a:ext cx="5760640" cy="707886"/>
            <a:chOff x="3419872" y="3711427"/>
            <a:chExt cx="5760640" cy="707886"/>
          </a:xfrm>
        </p:grpSpPr>
        <p:sp>
          <p:nvSpPr>
            <p:cNvPr id="22" name="矩形 21"/>
            <p:cNvSpPr/>
            <p:nvPr/>
          </p:nvSpPr>
          <p:spPr>
            <a:xfrm>
              <a:off x="4211960" y="3711427"/>
              <a:ext cx="4968552" cy="7078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zh-CN" altLang="en-US" sz="2000" dirty="0">
                  <a:latin typeface="宋体" pitchFamily="2" charset="-122"/>
                </a:rPr>
                <a:t>静态成员函数中没有当前对象，所以没有</a:t>
              </a:r>
              <a:r>
                <a:rPr lang="en-US" altLang="zh-CN" sz="2000" dirty="0">
                  <a:latin typeface="宋体" pitchFamily="2" charset="-122"/>
                </a:rPr>
                <a:t>this</a:t>
              </a:r>
              <a:r>
                <a:rPr lang="zh-CN" altLang="en-US" sz="2000" dirty="0">
                  <a:latin typeface="宋体" pitchFamily="2" charset="-122"/>
                </a:rPr>
                <a:t>指针、不能直接访问非静态成员。</a:t>
              </a:r>
              <a:endParaRPr lang="en-US" altLang="zh-CN" sz="2000" dirty="0">
                <a:latin typeface="宋体" pitchFamily="2" charset="-122"/>
              </a:endParaRPr>
            </a:p>
          </p:txBody>
        </p:sp>
        <p:cxnSp>
          <p:nvCxnSpPr>
            <p:cNvPr id="16" name="直接箭头连接符 15"/>
            <p:cNvCxnSpPr/>
            <p:nvPr/>
          </p:nvCxnSpPr>
          <p:spPr>
            <a:xfrm flipH="1">
              <a:off x="3419872" y="4293096"/>
              <a:ext cx="792088" cy="0"/>
            </a:xfrm>
            <a:prstGeom prst="straightConnector1">
              <a:avLst/>
            </a:prstGeom>
            <a:ln w="22225">
              <a:solidFill>
                <a:srgbClr val="C00000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792" name="组合 33791"/>
          <p:cNvGrpSpPr/>
          <p:nvPr/>
        </p:nvGrpSpPr>
        <p:grpSpPr>
          <a:xfrm>
            <a:off x="2843808" y="4221088"/>
            <a:ext cx="5832648" cy="1163830"/>
            <a:chOff x="2843808" y="4286999"/>
            <a:chExt cx="5832648" cy="1163830"/>
          </a:xfrm>
        </p:grpSpPr>
        <p:grpSp>
          <p:nvGrpSpPr>
            <p:cNvPr id="24" name="组合 23"/>
            <p:cNvGrpSpPr/>
            <p:nvPr/>
          </p:nvGrpSpPr>
          <p:grpSpPr>
            <a:xfrm>
              <a:off x="3527884" y="4742943"/>
              <a:ext cx="5148572" cy="707886"/>
              <a:chOff x="2990332" y="4521314"/>
              <a:chExt cx="5148572" cy="707886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4067944" y="4521314"/>
                <a:ext cx="4070960" cy="707886"/>
              </a:xfrm>
              <a:prstGeom prst="rect">
                <a:avLst/>
              </a:prstGeom>
              <a:solidFill>
                <a:srgbClr val="C2E49C"/>
              </a:solidFill>
            </p:spPr>
            <p:txBody>
              <a:bodyPr wrap="square">
                <a:spAutoFit/>
              </a:bodyPr>
              <a:lstStyle/>
              <a:p>
                <a:r>
                  <a:rPr lang="zh-CN" altLang="en-US" sz="2000" dirty="0">
                    <a:latin typeface="宋体" pitchFamily="2" charset="-122"/>
                  </a:rPr>
                  <a:t>静态成员函数对非静态成员的访问</a:t>
                </a:r>
                <a:endParaRPr lang="en-US" altLang="zh-CN" sz="2000" dirty="0">
                  <a:latin typeface="宋体" pitchFamily="2" charset="-122"/>
                </a:endParaRPr>
              </a:p>
              <a:p>
                <a:r>
                  <a:rPr lang="zh-CN" altLang="en-US" sz="2000" dirty="0">
                    <a:latin typeface="宋体" pitchFamily="2" charset="-122"/>
                  </a:rPr>
                  <a:t>要通过对象</a:t>
                </a:r>
                <a:endParaRPr lang="en-US" altLang="zh-CN" sz="2000" dirty="0">
                  <a:latin typeface="宋体" pitchFamily="2" charset="-122"/>
                </a:endParaRPr>
              </a:p>
            </p:txBody>
          </p:sp>
          <p:cxnSp>
            <p:nvCxnSpPr>
              <p:cNvPr id="23" name="直接箭头连接符 22"/>
              <p:cNvCxnSpPr/>
              <p:nvPr/>
            </p:nvCxnSpPr>
            <p:spPr>
              <a:xfrm flipH="1">
                <a:off x="2990332" y="4707142"/>
                <a:ext cx="1077612" cy="0"/>
              </a:xfrm>
              <a:prstGeom prst="straightConnector1">
                <a:avLst/>
              </a:prstGeom>
              <a:ln w="22225">
                <a:solidFill>
                  <a:srgbClr val="00B050"/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1" name="直接箭头连接符 30"/>
            <p:cNvCxnSpPr/>
            <p:nvPr/>
          </p:nvCxnSpPr>
          <p:spPr>
            <a:xfrm flipH="1" flipV="1">
              <a:off x="2843808" y="4286999"/>
              <a:ext cx="1761688" cy="641771"/>
            </a:xfrm>
            <a:prstGeom prst="straightConnector1">
              <a:avLst/>
            </a:prstGeom>
            <a:ln w="22225">
              <a:solidFill>
                <a:srgbClr val="00B050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75937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10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1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静态成员函数举例</a:t>
            </a:r>
            <a:r>
              <a:rPr lang="en-US" altLang="zh-CN" dirty="0"/>
              <a:t>*</a:t>
            </a:r>
            <a:endParaRPr lang="zh-CN" altLang="en-US" dirty="0"/>
          </a:p>
        </p:txBody>
      </p:sp>
      <p:sp>
        <p:nvSpPr>
          <p:cNvPr id="32772" name="Rectangle 11"/>
          <p:cNvSpPr>
            <a:spLocks noGrp="1" noChangeArrowheads="1"/>
          </p:cNvSpPr>
          <p:nvPr>
            <p:ph sz="half" idx="1"/>
          </p:nvPr>
        </p:nvSpPr>
        <p:spPr>
          <a:xfrm>
            <a:off x="539552" y="1556792"/>
            <a:ext cx="4176464" cy="4419600"/>
          </a:xfrm>
          <a:solidFill>
            <a:schemeClr val="bg2">
              <a:lumMod val="90000"/>
            </a:schemeClr>
          </a:solidFill>
        </p:spPr>
        <p:txBody>
          <a:bodyPr>
            <a:normAutofit lnSpcReduction="10000"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latin typeface="宋体" charset="-122"/>
              </a:rPr>
              <a:t>#include &lt;</a:t>
            </a:r>
            <a:r>
              <a:rPr lang="en-US" altLang="zh-CN" sz="2400" dirty="0" err="1">
                <a:latin typeface="宋体" charset="-122"/>
              </a:rPr>
              <a:t>iostream</a:t>
            </a:r>
            <a:r>
              <a:rPr lang="en-US" altLang="zh-CN" sz="2400" dirty="0">
                <a:latin typeface="宋体" charset="-122"/>
              </a:rPr>
              <a:t>&gt;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latin typeface="宋体" charset="-122"/>
              </a:rPr>
              <a:t>using namespace </a:t>
            </a:r>
            <a:r>
              <a:rPr lang="en-US" altLang="zh-CN" sz="2400" dirty="0" err="1">
                <a:latin typeface="宋体" charset="-122"/>
              </a:rPr>
              <a:t>std</a:t>
            </a:r>
            <a:r>
              <a:rPr lang="en-US" altLang="zh-CN" sz="2400" dirty="0">
                <a:latin typeface="宋体" charset="-122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latin typeface="宋体" charset="-122"/>
              </a:rPr>
              <a:t>class Application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latin typeface="宋体" charset="-122"/>
              </a:rPr>
              <a:t>{public: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latin typeface="宋体" charset="-122"/>
              </a:rPr>
              <a:t>   static void f();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latin typeface="宋体" charset="-122"/>
              </a:rPr>
              <a:t>   static void g();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latin typeface="宋体" charset="-122"/>
              </a:rPr>
              <a:t>private: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latin typeface="宋体" charset="-122"/>
              </a:rPr>
              <a:t>   static </a:t>
            </a:r>
            <a:r>
              <a:rPr lang="en-US" altLang="zh-CN" sz="2400" dirty="0" err="1">
                <a:latin typeface="宋体" charset="-122"/>
              </a:rPr>
              <a:t>int</a:t>
            </a:r>
            <a:r>
              <a:rPr lang="en-US" altLang="zh-CN" sz="2400" dirty="0">
                <a:latin typeface="宋体" charset="-122"/>
              </a:rPr>
              <a:t> global;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latin typeface="宋体" charset="-122"/>
              </a:rPr>
              <a:t>};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 err="1">
                <a:latin typeface="宋体" charset="-122"/>
              </a:rPr>
              <a:t>int</a:t>
            </a:r>
            <a:r>
              <a:rPr lang="en-US" altLang="zh-CN" sz="2400" dirty="0">
                <a:latin typeface="宋体" charset="-122"/>
              </a:rPr>
              <a:t> Application::global=0;</a:t>
            </a:r>
          </a:p>
        </p:txBody>
      </p:sp>
      <p:sp>
        <p:nvSpPr>
          <p:cNvPr id="47116" name="Rectangle 12"/>
          <p:cNvSpPr>
            <a:spLocks noGrp="1" noChangeArrowheads="1"/>
          </p:cNvSpPr>
          <p:nvPr>
            <p:ph sz="half" idx="2"/>
          </p:nvPr>
        </p:nvSpPr>
        <p:spPr>
          <a:xfrm>
            <a:off x="5048250" y="1556792"/>
            <a:ext cx="3786188" cy="4419600"/>
          </a:xfrm>
          <a:solidFill>
            <a:schemeClr val="bg2">
              <a:lumMod val="90000"/>
            </a:schemeClr>
          </a:solidFill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>
                <a:latin typeface="宋体" pitchFamily="2" charset="-122"/>
              </a:rPr>
              <a:t>void Application::f()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>
                <a:latin typeface="宋体" pitchFamily="2" charset="-122"/>
              </a:rPr>
              <a:t>{	global=5;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>
                <a:latin typeface="宋体" pitchFamily="2" charset="-122"/>
              </a:rPr>
              <a:t>}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>
                <a:latin typeface="宋体" pitchFamily="2" charset="-122"/>
              </a:rPr>
              <a:t>void Application::g()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>
                <a:latin typeface="宋体" pitchFamily="2" charset="-122"/>
              </a:rPr>
              <a:t>{	</a:t>
            </a:r>
            <a:r>
              <a:rPr lang="en-US" altLang="zh-CN" sz="2400" dirty="0" err="1">
                <a:latin typeface="宋体" pitchFamily="2" charset="-122"/>
              </a:rPr>
              <a:t>cout</a:t>
            </a:r>
            <a:r>
              <a:rPr lang="en-US" altLang="zh-CN" sz="2400" dirty="0">
                <a:latin typeface="宋体" pitchFamily="2" charset="-122"/>
              </a:rPr>
              <a:t>&lt;&lt;global&lt;&lt;</a:t>
            </a:r>
            <a:r>
              <a:rPr lang="en-US" altLang="zh-CN" sz="2400" dirty="0" err="1">
                <a:latin typeface="宋体" pitchFamily="2" charset="-122"/>
              </a:rPr>
              <a:t>endl</a:t>
            </a:r>
            <a:r>
              <a:rPr lang="en-US" altLang="zh-CN" sz="2400" dirty="0">
                <a:latin typeface="宋体" pitchFamily="2" charset="-122"/>
              </a:rPr>
              <a:t>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>
                <a:latin typeface="宋体" pitchFamily="2" charset="-122"/>
              </a:rPr>
              <a:t>}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err="1">
                <a:latin typeface="宋体" pitchFamily="2" charset="-122"/>
              </a:rPr>
              <a:t>int</a:t>
            </a:r>
            <a:r>
              <a:rPr lang="en-US" altLang="zh-CN" sz="2400" dirty="0">
                <a:latin typeface="宋体" pitchFamily="2" charset="-122"/>
              </a:rPr>
              <a:t> main()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>
                <a:latin typeface="宋体" pitchFamily="2" charset="-122"/>
              </a:rPr>
              <a:t>{	Application::f();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>
                <a:latin typeface="宋体" pitchFamily="2" charset="-122"/>
              </a:rPr>
              <a:t>	Application::g();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>
                <a:latin typeface="宋体" pitchFamily="2" charset="-122"/>
              </a:rPr>
              <a:t>	return 0;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>
                <a:latin typeface="宋体" pitchFamily="2" charset="-122"/>
              </a:rPr>
              <a:t>}</a:t>
            </a:r>
          </a:p>
        </p:txBody>
      </p:sp>
      <p:sp>
        <p:nvSpPr>
          <p:cNvPr id="32770" name="灯片编号占位符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fld id="{4368B43C-77DD-41E3-BEFD-96B0BEED256E}" type="slidenum">
              <a:rPr lang="en-US" altLang="zh-CN" sz="1400" smtClean="0"/>
              <a:pPr/>
              <a:t>52</a:t>
            </a:fld>
            <a:endParaRPr lang="en-US" altLang="zh-CN" sz="1400" dirty="0"/>
          </a:p>
        </p:txBody>
      </p:sp>
      <p:sp>
        <p:nvSpPr>
          <p:cNvPr id="32774" name="Line 9"/>
          <p:cNvSpPr>
            <a:spLocks noChangeShapeType="1"/>
          </p:cNvSpPr>
          <p:nvPr/>
        </p:nvSpPr>
        <p:spPr bwMode="auto">
          <a:xfrm>
            <a:off x="4860032" y="1556792"/>
            <a:ext cx="0" cy="4419600"/>
          </a:xfrm>
          <a:prstGeom prst="line">
            <a:avLst/>
          </a:prstGeom>
          <a:noFill/>
          <a:ln w="9525">
            <a:solidFill>
              <a:schemeClr val="bg2">
                <a:lumMod val="25000"/>
              </a:schemeClr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683568" y="5589240"/>
            <a:ext cx="3744416" cy="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1084639" y="4744308"/>
            <a:ext cx="2551257" cy="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1115616" y="3573016"/>
            <a:ext cx="2304256" cy="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1115616" y="3933056"/>
            <a:ext cx="2304256" cy="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DB033888-434B-6A47-9AEB-5448A86BA1EF}"/>
              </a:ext>
            </a:extLst>
          </p:cNvPr>
          <p:cNvSpPr txBox="1"/>
          <p:nvPr/>
        </p:nvSpPr>
        <p:spPr>
          <a:xfrm>
            <a:off x="1115616" y="6237312"/>
            <a:ext cx="6404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这就是封装。将本来是全局变量的</a:t>
            </a:r>
            <a:r>
              <a:rPr kumimoji="1" lang="en-US" altLang="zh-CN" dirty="0"/>
              <a:t>global</a:t>
            </a:r>
            <a:r>
              <a:rPr kumimoji="1" lang="zh-CN" altLang="en-US" dirty="0"/>
              <a:t>封进了</a:t>
            </a:r>
            <a:r>
              <a:rPr kumimoji="1" lang="en-US" altLang="zh-CN" dirty="0"/>
              <a:t>Application</a:t>
            </a:r>
            <a:r>
              <a:rPr kumimoji="1" lang="zh-CN" altLang="en-US" dirty="0"/>
              <a:t>类</a:t>
            </a:r>
          </a:p>
        </p:txBody>
      </p:sp>
    </p:spTree>
    <p:extLst>
      <p:ext uri="{BB962C8B-B14F-4D97-AF65-F5344CB8AC3E}">
        <p14:creationId xmlns:p14="http://schemas.microsoft.com/office/powerpoint/2010/main" val="3447326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639763"/>
            <a:ext cx="7543800" cy="762000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chemeClr val="tx1"/>
                </a:solidFill>
                <a:effectLst/>
                <a:latin typeface="+mn-ea"/>
                <a:ea typeface="+mn-ea"/>
              </a:rPr>
              <a:t>静态成员综合应用</a:t>
            </a:r>
            <a:endParaRPr lang="en-US" altLang="zh-CN" dirty="0">
              <a:solidFill>
                <a:schemeClr val="tx1"/>
              </a:solidFill>
              <a:effectLst/>
              <a:latin typeface="+mn-ea"/>
              <a:ea typeface="+mn-ea"/>
            </a:endParaRP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ffectLst/>
                <a:latin typeface="+mn-ea"/>
              </a:rPr>
              <a:t>学生登记时，每注册一名新生就为他分配编号。该编号是自动编号，是从</a:t>
            </a:r>
            <a:r>
              <a:rPr lang="en-US" altLang="zh-CN" dirty="0">
                <a:effectLst/>
                <a:latin typeface="+mn-ea"/>
              </a:rPr>
              <a:t>1</a:t>
            </a:r>
            <a:r>
              <a:rPr lang="zh-CN" altLang="en-US" dirty="0">
                <a:effectLst/>
                <a:latin typeface="+mn-ea"/>
              </a:rPr>
              <a:t>开始的自然数。程序自动生成，没有重复。</a:t>
            </a:r>
          </a:p>
          <a:p>
            <a:pPr marL="0" indent="0" eaLnBrk="1" hangingPunct="1">
              <a:buNone/>
            </a:pPr>
            <a:endParaRPr lang="en-US" altLang="zh-CN" dirty="0">
              <a:effectLst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2784209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5496" y="154369"/>
            <a:ext cx="9001000" cy="4524315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#include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</a:t>
            </a:r>
            <a:r>
              <a:rPr lang="en-US" altLang="zh-CN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iostream</a:t>
            </a:r>
            <a:r>
              <a:rPr lang="en-US" altLang="zh-CN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&gt;</a:t>
            </a:r>
            <a:endParaRPr lang="en-US" altLang="zh-CN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using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namespace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std;</a:t>
            </a:r>
          </a:p>
          <a:p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class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CStudent</a:t>
            </a:r>
            <a:endParaRPr lang="en-US" altLang="zh-CN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</a:t>
            </a:r>
            <a:r>
              <a:rPr lang="en-US" altLang="zh-CN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m_nNumber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                    </a:t>
            </a:r>
            <a:r>
              <a:rPr lang="en-US" altLang="zh-CN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//</a:t>
            </a:r>
            <a:r>
              <a:rPr lang="zh-CN" altLang="en-US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自动编号</a:t>
            </a:r>
            <a:endParaRPr lang="zh-CN" alt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pPr marL="365125"/>
            <a:r>
              <a:rPr lang="en-US" altLang="zh-CN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string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m_strName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65125"/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static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m_s_nTotal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           </a:t>
            </a:r>
            <a:r>
              <a:rPr lang="en-US" altLang="zh-CN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//</a:t>
            </a:r>
            <a:r>
              <a:rPr lang="zh-CN" altLang="en-US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总共新建的学生数目</a:t>
            </a:r>
            <a:endParaRPr lang="zh-CN" alt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pPr marL="365125"/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static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m_s_nActualTotal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     </a:t>
            </a:r>
            <a:r>
              <a:rPr lang="en-US" altLang="zh-CN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//</a:t>
            </a:r>
            <a:r>
              <a:rPr lang="zh-CN" altLang="en-US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现有的实际学生数目</a:t>
            </a:r>
            <a:endParaRPr lang="zh-CN" alt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public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</a:t>
            </a:r>
          </a:p>
          <a:p>
            <a:pPr marL="365125"/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CStudent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string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name = </a:t>
            </a:r>
            <a:r>
              <a:rPr lang="en-US" altLang="zh-CN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"XXX"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);</a:t>
            </a:r>
          </a:p>
          <a:p>
            <a:pPr marL="365125"/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CStudent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const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CStudent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&amp; student);</a:t>
            </a:r>
          </a:p>
          <a:p>
            <a:pPr marL="365125"/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~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CStudent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();</a:t>
            </a:r>
          </a:p>
          <a:p>
            <a:pPr marL="365125"/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ShowStudent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const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65125"/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GetNumber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const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{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return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m_nNumber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 }</a:t>
            </a:r>
          </a:p>
          <a:p>
            <a:pPr marL="365125"/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static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GetTotal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 {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return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m_s_nTotal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 }</a:t>
            </a:r>
          </a:p>
          <a:p>
            <a:pPr marL="365125"/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static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GetActualTotal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 {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return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m_s_nActualTotal</a:t>
            </a:r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 }</a:t>
            </a:r>
          </a:p>
          <a:p>
            <a:r>
              <a:rPr lang="en-US" altLang="zh-C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};</a:t>
            </a:r>
            <a:endParaRPr lang="zh-CN" alt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080435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899592" y="161920"/>
            <a:ext cx="7488832" cy="5355312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int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 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CStudent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::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m_s_nTotal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 = 0;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int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 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CStudent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::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m_s_nActualTotal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 = 0;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CStudent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::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CStudent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(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string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name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{  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m_strName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=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name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651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m_nNumber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 = ++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m_s_nTotal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651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m_s_nActualTotal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++;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}</a:t>
            </a:r>
          </a:p>
          <a:p>
            <a:pPr lvl="0"/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CStudent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::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CStudent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const 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CStudent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&amp;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student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{  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m_strName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=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 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student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.m_strName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651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m_nNumber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 = ++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m_s_nTotal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651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m_s_nActualTotal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++;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CStudent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::~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CStudent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{  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m_s_nActualTotal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--;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}</a:t>
            </a:r>
          </a:p>
          <a:p>
            <a:pPr lvl="0"/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void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 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CStudent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::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ShowStudent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() </a:t>
            </a:r>
            <a:r>
              <a:rPr lang="en-US" altLang="zh-C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const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onsolas" panose="020B0609020204030204" pitchFamily="49" charset="0"/>
              <a:ea typeface="新宋体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{  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cout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&lt;&lt;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"student's name is "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&lt;&lt;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m_strName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onsolas" panose="020B0609020204030204" pitchFamily="49" charset="0"/>
              <a:ea typeface="新宋体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  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&lt;&lt;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"\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srgbClr val="A31515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tnumber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 is "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&lt;&lt;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m_nNumber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808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&lt;&lt;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endl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新宋体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1536131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44016" y="332656"/>
            <a:ext cx="8820472" cy="2123658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main()</a:t>
            </a:r>
          </a:p>
          <a:p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6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//</a:t>
            </a:r>
            <a:r>
              <a:rPr lang="zh-CN" altLang="en-US" sz="16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代码</a:t>
            </a:r>
            <a:r>
              <a:rPr lang="en-US" altLang="zh-CN" sz="16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1</a:t>
            </a:r>
            <a:r>
              <a:rPr lang="zh-CN" altLang="en-US" sz="16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：</a:t>
            </a:r>
            <a:r>
              <a:rPr lang="en-US" altLang="zh-CN" sz="16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10</a:t>
            </a:r>
            <a:r>
              <a:rPr lang="zh-CN" altLang="en-US" sz="16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个学生的数组</a:t>
            </a:r>
            <a:endParaRPr lang="zh-CN" alt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pPr marL="266700"/>
            <a:r>
              <a:rPr lang="en-US" altLang="zh-CN" sz="16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CStudent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arrayStudent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[10];</a:t>
            </a:r>
          </a:p>
          <a:p>
            <a:pPr marL="266700"/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for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sz="16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=0;i&lt;10;i++)</a:t>
            </a:r>
          </a:p>
          <a:p>
            <a:pPr marL="533400"/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arrayStudent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[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].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ShowStudent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();</a:t>
            </a:r>
          </a:p>
          <a:p>
            <a:pPr marL="266700"/>
            <a:r>
              <a:rPr lang="en-US" altLang="zh-CN" sz="16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//</a:t>
            </a:r>
            <a:r>
              <a:rPr lang="zh-CN" altLang="en-US" sz="16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注意以下用</a:t>
            </a:r>
            <a:r>
              <a:rPr lang="en-US" altLang="zh-CN" sz="16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2</a:t>
            </a:r>
            <a:r>
              <a:rPr lang="zh-CN" altLang="en-US" sz="16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种方式访问静态成员</a:t>
            </a:r>
            <a:endParaRPr lang="zh-CN" alt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pPr marL="266700"/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</a:t>
            </a:r>
            <a:r>
              <a:rPr lang="en-US" altLang="zh-CN" sz="16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m_s_nTotal</a:t>
            </a:r>
            <a:r>
              <a:rPr lang="en-US" altLang="zh-CN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= "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CStudent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::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GetTotal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</a:t>
            </a:r>
          </a:p>
          <a:p>
            <a:pPr marL="266700"/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   &lt;&lt;</a:t>
            </a:r>
            <a:r>
              <a:rPr lang="en-US" altLang="zh-CN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"\</a:t>
            </a:r>
            <a:r>
              <a:rPr lang="en-US" altLang="zh-CN" sz="16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tm_s_nActualTotal</a:t>
            </a:r>
            <a:r>
              <a:rPr lang="en-US" altLang="zh-CN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= "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arrayStudent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[0].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GetActualTotal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</p:txBody>
      </p:sp>
      <p:sp>
        <p:nvSpPr>
          <p:cNvPr id="5" name="矩形 4"/>
          <p:cNvSpPr/>
          <p:nvPr/>
        </p:nvSpPr>
        <p:spPr>
          <a:xfrm>
            <a:off x="144016" y="2887682"/>
            <a:ext cx="8820472" cy="289310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266700"/>
            <a:r>
              <a:rPr lang="en-US" altLang="zh-CN" sz="16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//</a:t>
            </a:r>
            <a:r>
              <a:rPr lang="zh-CN" altLang="en-US" sz="16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代码</a:t>
            </a:r>
            <a:r>
              <a:rPr lang="en-US" altLang="zh-CN" sz="16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2</a:t>
            </a:r>
            <a:r>
              <a:rPr lang="zh-CN" altLang="en-US" sz="16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：一个学生指针</a:t>
            </a:r>
            <a:endParaRPr lang="zh-CN" alt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pPr marL="266700"/>
            <a:r>
              <a:rPr lang="en-US" altLang="zh-CN" sz="16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CStudent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* p = 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new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CStudent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266700"/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p-&gt;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ShowStudent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();</a:t>
            </a:r>
          </a:p>
          <a:p>
            <a:pPr marL="266700"/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</a:t>
            </a:r>
            <a:r>
              <a:rPr lang="en-US" altLang="zh-CN" sz="16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m_s_nTotal</a:t>
            </a:r>
            <a:r>
              <a:rPr lang="en-US" altLang="zh-CN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= "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CStudent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::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GetTotal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</a:t>
            </a:r>
          </a:p>
          <a:p>
            <a:pPr marL="723900"/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"\</a:t>
            </a:r>
            <a:r>
              <a:rPr lang="en-US" altLang="zh-CN" sz="16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tm_s_nActualTotal</a:t>
            </a:r>
            <a:r>
              <a:rPr lang="en-US" altLang="zh-CN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= "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p-&gt;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GetActualTotal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266700"/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"after delete a student of number : "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p-&gt;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GetNumber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266700"/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delete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p;</a:t>
            </a:r>
          </a:p>
          <a:p>
            <a:pPr marL="266700"/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</a:t>
            </a:r>
            <a:r>
              <a:rPr lang="en-US" altLang="zh-CN" sz="16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m_s_nTotal</a:t>
            </a:r>
            <a:r>
              <a:rPr lang="en-US" altLang="zh-CN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= "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CStudent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::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GetTotal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</a:t>
            </a:r>
          </a:p>
          <a:p>
            <a:pPr marL="723900" indent="88900"/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"\</a:t>
            </a:r>
            <a:r>
              <a:rPr lang="en-US" altLang="zh-CN" sz="16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tm_s_nActualTotal</a:t>
            </a:r>
            <a:r>
              <a:rPr lang="en-US" altLang="zh-CN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= "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p-&gt;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GetActualTotal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endParaRPr lang="zh-CN" alt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endParaRPr lang="zh-CN" altLang="en-US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210329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35496" y="188640"/>
            <a:ext cx="8928992" cy="338554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266700"/>
            <a:r>
              <a:rPr lang="en-US" altLang="zh-CN" sz="16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//</a:t>
            </a:r>
            <a:r>
              <a:rPr lang="zh-CN" altLang="en-US" sz="16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代码</a:t>
            </a:r>
            <a:r>
              <a:rPr lang="en-US" altLang="zh-CN" sz="16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3</a:t>
            </a:r>
            <a:r>
              <a:rPr lang="zh-CN" altLang="en-US" sz="16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：</a:t>
            </a:r>
            <a:r>
              <a:rPr lang="en-US" altLang="zh-CN" sz="16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10</a:t>
            </a:r>
            <a:r>
              <a:rPr lang="zh-CN" altLang="en-US" sz="16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个学生的动态数组</a:t>
            </a:r>
            <a:endParaRPr lang="zh-CN" alt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  <a:ea typeface="新宋体"/>
            </a:endParaRPr>
          </a:p>
          <a:p>
            <a:pPr marL="266700"/>
            <a:r>
              <a:rPr lang="en-US" altLang="zh-CN" sz="16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CStudent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* arrayStudent2;</a:t>
            </a:r>
          </a:p>
          <a:p>
            <a:pPr marL="266700"/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arrayStudent2 = 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new </a:t>
            </a:r>
            <a:r>
              <a:rPr lang="en-US" altLang="zh-CN" sz="16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CStudent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[10];</a:t>
            </a:r>
          </a:p>
          <a:p>
            <a:pPr marL="266700"/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for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sz="16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=0;i&lt;10;i++)</a:t>
            </a:r>
          </a:p>
          <a:p>
            <a:pPr marL="533400"/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arrayStudent2[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].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ShowStudent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();</a:t>
            </a:r>
          </a:p>
          <a:p>
            <a:pPr marL="266700"/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</a:t>
            </a:r>
            <a:r>
              <a:rPr lang="en-US" altLang="zh-CN" sz="16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m_s_nTotal</a:t>
            </a:r>
            <a:r>
              <a:rPr lang="en-US" altLang="zh-CN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= "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CStudent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::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GetTotal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</a:t>
            </a:r>
          </a:p>
          <a:p>
            <a:pPr marL="723900"/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"\</a:t>
            </a:r>
            <a:r>
              <a:rPr lang="en-US" altLang="zh-CN" sz="16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tm_s_nActualTotal</a:t>
            </a:r>
            <a:r>
              <a:rPr lang="en-US" altLang="zh-CN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= "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arrayStudent2[0].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GetActualTotal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266700"/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"after delete 10 student"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266700"/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delete[]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arrayStudent2;</a:t>
            </a:r>
          </a:p>
          <a:p>
            <a:pPr marL="266700"/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</a:t>
            </a:r>
            <a:r>
              <a:rPr lang="en-US" altLang="zh-CN" sz="16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m_s_nTotal</a:t>
            </a:r>
            <a:r>
              <a:rPr lang="en-US" altLang="zh-CN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= "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CStudent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::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GetTotal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</a:t>
            </a:r>
          </a:p>
          <a:p>
            <a:pPr marL="723900"/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"\</a:t>
            </a:r>
            <a:r>
              <a:rPr lang="en-US" altLang="zh-CN" sz="16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tm_s_nActualTotal</a:t>
            </a:r>
            <a:r>
              <a:rPr lang="en-US" altLang="zh-CN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= "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arrayStudent2[0].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GetActualTotal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()</a:t>
            </a:r>
            <a:r>
              <a:rPr lang="en-US" altLang="zh-CN" sz="1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266700"/>
            <a:r>
              <a:rPr lang="en-US" altLang="zh-CN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return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 0;</a:t>
            </a:r>
          </a:p>
          <a:p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ea typeface="新宋体"/>
              </a:rPr>
              <a:t>}</a:t>
            </a:r>
            <a:endParaRPr lang="zh-CN" altLang="en-US" sz="1600" dirty="0">
              <a:latin typeface="Consolas" panose="020B0609020204030204" pitchFamily="49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47821547-30D4-6845-F868-FA260BD234FB}"/>
              </a:ext>
            </a:extLst>
          </p:cNvPr>
          <p:cNvGrpSpPr/>
          <p:nvPr/>
        </p:nvGrpSpPr>
        <p:grpSpPr>
          <a:xfrm>
            <a:off x="338264" y="3284984"/>
            <a:ext cx="8266184" cy="3600986"/>
            <a:chOff x="338264" y="3284984"/>
            <a:chExt cx="8266184" cy="3600986"/>
          </a:xfrm>
        </p:grpSpPr>
        <p:sp>
          <p:nvSpPr>
            <p:cNvPr id="4" name="矩形 3"/>
            <p:cNvSpPr/>
            <p:nvPr/>
          </p:nvSpPr>
          <p:spPr>
            <a:xfrm>
              <a:off x="338264" y="3284984"/>
              <a:ext cx="4017712" cy="3600986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>
              <a:spAutoFit/>
            </a:bodyPr>
            <a:lstStyle/>
            <a:p>
              <a:r>
                <a:rPr lang="zh-CN" altLang="en-US" sz="1200" dirty="0">
                  <a:solidFill>
                    <a:schemeClr val="bg1"/>
                  </a:solidFill>
                </a:rPr>
                <a:t>代码</a:t>
              </a:r>
              <a:r>
                <a:rPr lang="en-US" altLang="zh-CN" sz="1200" dirty="0">
                  <a:solidFill>
                    <a:schemeClr val="bg1"/>
                  </a:solidFill>
                </a:rPr>
                <a:t>1</a:t>
              </a:r>
              <a:r>
                <a:rPr lang="zh-CN" altLang="en-US" sz="1200" dirty="0">
                  <a:solidFill>
                    <a:schemeClr val="bg1"/>
                  </a:solidFill>
                </a:rPr>
                <a:t>：</a:t>
              </a:r>
              <a:r>
                <a:rPr lang="en-US" altLang="zh-CN" sz="1200" dirty="0">
                  <a:solidFill>
                    <a:schemeClr val="bg1"/>
                  </a:solidFill>
                </a:rPr>
                <a:t>10</a:t>
              </a:r>
              <a:r>
                <a:rPr lang="zh-CN" altLang="en-US" sz="1200" dirty="0">
                  <a:solidFill>
                    <a:schemeClr val="bg1"/>
                  </a:solidFill>
                </a:rPr>
                <a:t>个学生的数组</a:t>
              </a:r>
            </a:p>
            <a:p>
              <a:r>
                <a:rPr lang="en-US" altLang="zh-CN" sz="1200" dirty="0">
                  <a:solidFill>
                    <a:schemeClr val="bg1"/>
                  </a:solidFill>
                </a:rPr>
                <a:t>student's name is XXX   number is 1</a:t>
              </a:r>
            </a:p>
            <a:p>
              <a:r>
                <a:rPr lang="en-US" altLang="zh-CN" sz="1200" dirty="0">
                  <a:solidFill>
                    <a:schemeClr val="bg1"/>
                  </a:solidFill>
                </a:rPr>
                <a:t>student's name is XXX   number is 2</a:t>
              </a:r>
            </a:p>
            <a:p>
              <a:r>
                <a:rPr lang="en-US" altLang="zh-CN" sz="1200" dirty="0">
                  <a:solidFill>
                    <a:schemeClr val="bg1"/>
                  </a:solidFill>
                </a:rPr>
                <a:t>student's name is XXX   number is 3</a:t>
              </a:r>
            </a:p>
            <a:p>
              <a:r>
                <a:rPr lang="en-US" altLang="zh-CN" sz="1200" dirty="0">
                  <a:solidFill>
                    <a:schemeClr val="bg1"/>
                  </a:solidFill>
                </a:rPr>
                <a:t>student's name is XXX   number is 4</a:t>
              </a:r>
            </a:p>
            <a:p>
              <a:r>
                <a:rPr lang="en-US" altLang="zh-CN" sz="1200" dirty="0">
                  <a:solidFill>
                    <a:schemeClr val="bg1"/>
                  </a:solidFill>
                </a:rPr>
                <a:t>student's name is XXX   number is 5</a:t>
              </a:r>
            </a:p>
            <a:p>
              <a:r>
                <a:rPr lang="en-US" altLang="zh-CN" sz="1200" dirty="0">
                  <a:solidFill>
                    <a:schemeClr val="bg1"/>
                  </a:solidFill>
                </a:rPr>
                <a:t>student's name is XXX   number is 6</a:t>
              </a:r>
            </a:p>
            <a:p>
              <a:r>
                <a:rPr lang="en-US" altLang="zh-CN" sz="1200" dirty="0">
                  <a:solidFill>
                    <a:schemeClr val="bg1"/>
                  </a:solidFill>
                </a:rPr>
                <a:t>student's name is XXX   number is 7</a:t>
              </a:r>
            </a:p>
            <a:p>
              <a:r>
                <a:rPr lang="en-US" altLang="zh-CN" sz="1200" dirty="0">
                  <a:solidFill>
                    <a:schemeClr val="bg1"/>
                  </a:solidFill>
                </a:rPr>
                <a:t>student's name is XXX   number is 8</a:t>
              </a:r>
            </a:p>
            <a:p>
              <a:r>
                <a:rPr lang="en-US" altLang="zh-CN" sz="1200" dirty="0">
                  <a:solidFill>
                    <a:schemeClr val="bg1"/>
                  </a:solidFill>
                </a:rPr>
                <a:t>student's name is XXX   number is 9</a:t>
              </a:r>
            </a:p>
            <a:p>
              <a:r>
                <a:rPr lang="en-US" altLang="zh-CN" sz="1200" dirty="0">
                  <a:solidFill>
                    <a:schemeClr val="bg1"/>
                  </a:solidFill>
                </a:rPr>
                <a:t>student's name is XXX   number is 10</a:t>
              </a:r>
            </a:p>
            <a:p>
              <a:r>
                <a:rPr lang="en-US" altLang="zh-CN" sz="1200" dirty="0" err="1">
                  <a:solidFill>
                    <a:schemeClr val="bg1"/>
                  </a:solidFill>
                </a:rPr>
                <a:t>m_s_nTotal</a:t>
              </a:r>
              <a:r>
                <a:rPr lang="en-US" altLang="zh-CN" sz="1200" dirty="0">
                  <a:solidFill>
                    <a:schemeClr val="bg1"/>
                  </a:solidFill>
                </a:rPr>
                <a:t> = 10          </a:t>
              </a:r>
              <a:r>
                <a:rPr lang="en-US" altLang="zh-CN" sz="1200" dirty="0" err="1">
                  <a:solidFill>
                    <a:schemeClr val="bg1"/>
                  </a:solidFill>
                </a:rPr>
                <a:t>m_s_nActualTotal</a:t>
              </a:r>
              <a:r>
                <a:rPr lang="en-US" altLang="zh-CN" sz="1200" dirty="0">
                  <a:solidFill>
                    <a:schemeClr val="bg1"/>
                  </a:solidFill>
                </a:rPr>
                <a:t> = 10</a:t>
              </a:r>
            </a:p>
            <a:p>
              <a:r>
                <a:rPr lang="en-US" altLang="zh-CN" sz="1200" dirty="0">
                  <a:solidFill>
                    <a:schemeClr val="bg1"/>
                  </a:solidFill>
                </a:rPr>
                <a:t>**********************************************</a:t>
              </a:r>
            </a:p>
            <a:p>
              <a:r>
                <a:rPr lang="zh-CN" altLang="en-US" sz="1200" dirty="0">
                  <a:solidFill>
                    <a:schemeClr val="bg1"/>
                  </a:solidFill>
                </a:rPr>
                <a:t>代码</a:t>
              </a:r>
              <a:r>
                <a:rPr lang="en-US" altLang="zh-CN" sz="1200" dirty="0">
                  <a:solidFill>
                    <a:schemeClr val="bg1"/>
                  </a:solidFill>
                </a:rPr>
                <a:t>2</a:t>
              </a:r>
              <a:r>
                <a:rPr lang="zh-CN" altLang="en-US" sz="1200" dirty="0">
                  <a:solidFill>
                    <a:schemeClr val="bg1"/>
                  </a:solidFill>
                </a:rPr>
                <a:t>：一个学生指针</a:t>
              </a:r>
            </a:p>
            <a:p>
              <a:r>
                <a:rPr lang="en-US" altLang="zh-CN" sz="1200" dirty="0">
                  <a:solidFill>
                    <a:schemeClr val="bg1"/>
                  </a:solidFill>
                </a:rPr>
                <a:t>student's name is XXX   number is 11</a:t>
              </a:r>
            </a:p>
            <a:p>
              <a:r>
                <a:rPr lang="en-US" altLang="zh-CN" sz="1200" dirty="0" err="1">
                  <a:solidFill>
                    <a:schemeClr val="bg1"/>
                  </a:solidFill>
                </a:rPr>
                <a:t>m_s_nTotal</a:t>
              </a:r>
              <a:r>
                <a:rPr lang="en-US" altLang="zh-CN" sz="1200" dirty="0">
                  <a:solidFill>
                    <a:schemeClr val="bg1"/>
                  </a:solidFill>
                </a:rPr>
                <a:t> = 11         </a:t>
              </a:r>
              <a:r>
                <a:rPr lang="en-US" altLang="zh-CN" sz="1200" dirty="0" err="1">
                  <a:solidFill>
                    <a:schemeClr val="bg1"/>
                  </a:solidFill>
                </a:rPr>
                <a:t>m_s_nActualTotal</a:t>
              </a:r>
              <a:r>
                <a:rPr lang="en-US" altLang="zh-CN" sz="1200" dirty="0">
                  <a:solidFill>
                    <a:schemeClr val="bg1"/>
                  </a:solidFill>
                </a:rPr>
                <a:t> = 11</a:t>
              </a:r>
            </a:p>
            <a:p>
              <a:r>
                <a:rPr lang="en-US" altLang="zh-CN" sz="1200" dirty="0">
                  <a:solidFill>
                    <a:schemeClr val="bg1"/>
                  </a:solidFill>
                </a:rPr>
                <a:t>after delete a student of number : 11</a:t>
              </a:r>
            </a:p>
            <a:p>
              <a:r>
                <a:rPr lang="en-US" altLang="zh-CN" sz="1200" dirty="0" err="1">
                  <a:solidFill>
                    <a:schemeClr val="bg1"/>
                  </a:solidFill>
                </a:rPr>
                <a:t>m_s_nTotal</a:t>
              </a:r>
              <a:r>
                <a:rPr lang="en-US" altLang="zh-CN" sz="1200" dirty="0">
                  <a:solidFill>
                    <a:schemeClr val="bg1"/>
                  </a:solidFill>
                </a:rPr>
                <a:t> = 11          </a:t>
              </a:r>
              <a:r>
                <a:rPr lang="en-US" altLang="zh-CN" sz="1200" dirty="0" err="1">
                  <a:solidFill>
                    <a:schemeClr val="bg1"/>
                  </a:solidFill>
                </a:rPr>
                <a:t>m_s_nActualTotal</a:t>
              </a:r>
              <a:r>
                <a:rPr lang="en-US" altLang="zh-CN" sz="1200" dirty="0">
                  <a:solidFill>
                    <a:schemeClr val="bg1"/>
                  </a:solidFill>
                </a:rPr>
                <a:t> = 10</a:t>
              </a:r>
            </a:p>
            <a:p>
              <a:r>
                <a:rPr lang="en-US" altLang="zh-CN" sz="1200" dirty="0">
                  <a:solidFill>
                    <a:schemeClr val="bg1"/>
                  </a:solidFill>
                </a:rPr>
                <a:t>**********************************************</a:t>
              </a:r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06EDFF6C-F224-A7BA-3B53-DF3A405EA23D}"/>
                </a:ext>
              </a:extLst>
            </p:cNvPr>
            <p:cNvSpPr/>
            <p:nvPr/>
          </p:nvSpPr>
          <p:spPr>
            <a:xfrm>
              <a:off x="4370712" y="3284984"/>
              <a:ext cx="4233736" cy="3046988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>
              <a:spAutoFit/>
            </a:bodyPr>
            <a:lstStyle/>
            <a:p>
              <a:r>
                <a:rPr lang="zh-CN" altLang="en-US" sz="1200" dirty="0">
                  <a:solidFill>
                    <a:schemeClr val="bg1"/>
                  </a:solidFill>
                </a:rPr>
                <a:t>代码</a:t>
              </a:r>
              <a:r>
                <a:rPr lang="en-US" altLang="zh-CN" sz="1200" dirty="0">
                  <a:solidFill>
                    <a:schemeClr val="bg1"/>
                  </a:solidFill>
                </a:rPr>
                <a:t>3</a:t>
              </a:r>
              <a:r>
                <a:rPr lang="zh-CN" altLang="en-US" sz="1200" dirty="0">
                  <a:solidFill>
                    <a:schemeClr val="bg1"/>
                  </a:solidFill>
                </a:rPr>
                <a:t>：</a:t>
              </a:r>
              <a:r>
                <a:rPr lang="en-US" altLang="zh-CN" sz="1200" dirty="0">
                  <a:solidFill>
                    <a:schemeClr val="bg1"/>
                  </a:solidFill>
                </a:rPr>
                <a:t>10</a:t>
              </a:r>
              <a:r>
                <a:rPr lang="zh-CN" altLang="en-US" sz="1200" dirty="0">
                  <a:solidFill>
                    <a:schemeClr val="bg1"/>
                  </a:solidFill>
                </a:rPr>
                <a:t>个学生的数组</a:t>
              </a:r>
            </a:p>
            <a:p>
              <a:r>
                <a:rPr lang="en-US" altLang="zh-CN" sz="1200" dirty="0">
                  <a:solidFill>
                    <a:schemeClr val="bg1"/>
                  </a:solidFill>
                </a:rPr>
                <a:t>student's name is XXX   number is 12</a:t>
              </a:r>
            </a:p>
            <a:p>
              <a:r>
                <a:rPr lang="en-US" altLang="zh-CN" sz="1200" dirty="0">
                  <a:solidFill>
                    <a:schemeClr val="bg1"/>
                  </a:solidFill>
                </a:rPr>
                <a:t>student's name is XXX   number is 13</a:t>
              </a:r>
            </a:p>
            <a:p>
              <a:r>
                <a:rPr lang="en-US" altLang="zh-CN" sz="1200" dirty="0">
                  <a:solidFill>
                    <a:schemeClr val="bg1"/>
                  </a:solidFill>
                </a:rPr>
                <a:t>student's name is XXX   number is 14</a:t>
              </a:r>
            </a:p>
            <a:p>
              <a:r>
                <a:rPr lang="en-US" altLang="zh-CN" sz="1200" dirty="0">
                  <a:solidFill>
                    <a:schemeClr val="bg1"/>
                  </a:solidFill>
                </a:rPr>
                <a:t>student's name is XXX   number is 15</a:t>
              </a:r>
            </a:p>
            <a:p>
              <a:r>
                <a:rPr lang="en-US" altLang="zh-CN" sz="1200" dirty="0">
                  <a:solidFill>
                    <a:schemeClr val="bg1"/>
                  </a:solidFill>
                </a:rPr>
                <a:t>student's name is XXX   number is 16</a:t>
              </a:r>
            </a:p>
            <a:p>
              <a:r>
                <a:rPr lang="en-US" altLang="zh-CN" sz="1200" dirty="0">
                  <a:solidFill>
                    <a:schemeClr val="bg1"/>
                  </a:solidFill>
                </a:rPr>
                <a:t>student's name is XXX   number is 17</a:t>
              </a:r>
            </a:p>
            <a:p>
              <a:r>
                <a:rPr lang="en-US" altLang="zh-CN" sz="1200" dirty="0">
                  <a:solidFill>
                    <a:schemeClr val="bg1"/>
                  </a:solidFill>
                </a:rPr>
                <a:t>student's name is XXX   number is 18</a:t>
              </a:r>
            </a:p>
            <a:p>
              <a:r>
                <a:rPr lang="en-US" altLang="zh-CN" sz="1200" dirty="0">
                  <a:solidFill>
                    <a:schemeClr val="bg1"/>
                  </a:solidFill>
                </a:rPr>
                <a:t>student's name is XXX   number is 19</a:t>
              </a:r>
            </a:p>
            <a:p>
              <a:r>
                <a:rPr lang="en-US" altLang="zh-CN" sz="1200" dirty="0">
                  <a:solidFill>
                    <a:schemeClr val="bg1"/>
                  </a:solidFill>
                </a:rPr>
                <a:t>student's name is XXX   number is 20</a:t>
              </a:r>
            </a:p>
            <a:p>
              <a:r>
                <a:rPr lang="en-US" altLang="zh-CN" sz="1200" dirty="0">
                  <a:solidFill>
                    <a:schemeClr val="bg1"/>
                  </a:solidFill>
                </a:rPr>
                <a:t>student's name is XXX   number is 21</a:t>
              </a:r>
            </a:p>
            <a:p>
              <a:r>
                <a:rPr lang="en-US" altLang="zh-CN" sz="1200" dirty="0" err="1">
                  <a:solidFill>
                    <a:schemeClr val="bg1"/>
                  </a:solidFill>
                </a:rPr>
                <a:t>m_s_nTotal</a:t>
              </a:r>
              <a:r>
                <a:rPr lang="en-US" altLang="zh-CN" sz="1200" dirty="0">
                  <a:solidFill>
                    <a:schemeClr val="bg1"/>
                  </a:solidFill>
                </a:rPr>
                <a:t> = 21           </a:t>
              </a:r>
              <a:r>
                <a:rPr lang="en-US" altLang="zh-CN" sz="1200" dirty="0" err="1">
                  <a:solidFill>
                    <a:schemeClr val="bg1"/>
                  </a:solidFill>
                </a:rPr>
                <a:t>m_s_nActualTotal</a:t>
              </a:r>
              <a:r>
                <a:rPr lang="en-US" altLang="zh-CN" sz="1200" dirty="0">
                  <a:solidFill>
                    <a:schemeClr val="bg1"/>
                  </a:solidFill>
                </a:rPr>
                <a:t> = 20</a:t>
              </a:r>
            </a:p>
            <a:p>
              <a:r>
                <a:rPr lang="en-US" altLang="zh-CN" sz="1200" dirty="0">
                  <a:solidFill>
                    <a:schemeClr val="bg1"/>
                  </a:solidFill>
                </a:rPr>
                <a:t>**********************************************</a:t>
              </a:r>
            </a:p>
            <a:p>
              <a:r>
                <a:rPr lang="en-US" altLang="zh-CN" sz="1200" dirty="0">
                  <a:solidFill>
                    <a:schemeClr val="bg1"/>
                  </a:solidFill>
                </a:rPr>
                <a:t>after delete 10 student</a:t>
              </a:r>
            </a:p>
            <a:p>
              <a:r>
                <a:rPr lang="en-US" altLang="zh-CN" sz="1200" dirty="0" err="1">
                  <a:solidFill>
                    <a:schemeClr val="bg1"/>
                  </a:solidFill>
                </a:rPr>
                <a:t>m_s_nTotal</a:t>
              </a:r>
              <a:r>
                <a:rPr lang="en-US" altLang="zh-CN" sz="1200" dirty="0">
                  <a:solidFill>
                    <a:schemeClr val="bg1"/>
                  </a:solidFill>
                </a:rPr>
                <a:t> = 21            </a:t>
              </a:r>
              <a:r>
                <a:rPr lang="en-US" altLang="zh-CN" sz="1200" dirty="0" err="1">
                  <a:solidFill>
                    <a:schemeClr val="bg1"/>
                  </a:solidFill>
                </a:rPr>
                <a:t>m_s_nActualTotal</a:t>
              </a:r>
              <a:r>
                <a:rPr lang="en-US" altLang="zh-CN" sz="1200" dirty="0">
                  <a:solidFill>
                    <a:schemeClr val="bg1"/>
                  </a:solidFill>
                </a:rPr>
                <a:t> = 10</a:t>
              </a:r>
            </a:p>
            <a:p>
              <a:r>
                <a:rPr lang="zh-CN" altLang="en-US" sz="1200" dirty="0">
                  <a:solidFill>
                    <a:schemeClr val="bg1"/>
                  </a:solidFill>
                </a:rPr>
                <a:t>请按任意键继续</a:t>
              </a:r>
              <a:r>
                <a:rPr lang="en-US" altLang="zh-CN" sz="1200" dirty="0">
                  <a:solidFill>
                    <a:schemeClr val="bg1"/>
                  </a:solidFill>
                </a:rPr>
                <a:t>. . .</a:t>
              </a:r>
              <a:endParaRPr lang="zh-CN" altLang="en-US" sz="12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16638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1"/>
            <a:ext cx="8229600" cy="1900808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>
                <a:latin typeface="+mn-ea"/>
              </a:rPr>
              <a:t>【</a:t>
            </a:r>
            <a:r>
              <a:rPr lang="zh-CN" altLang="en-US" dirty="0">
                <a:latin typeface="+mn-ea"/>
              </a:rPr>
              <a:t>课堂练习</a:t>
            </a:r>
            <a:r>
              <a:rPr lang="en-US" altLang="zh-CN" dirty="0">
                <a:latin typeface="+mn-ea"/>
              </a:rPr>
              <a:t>】</a:t>
            </a:r>
            <a:r>
              <a:rPr lang="zh-CN" altLang="en-US" dirty="0">
                <a:effectLst/>
                <a:latin typeface="+mn-ea"/>
              </a:rPr>
              <a:t>设计类，使用静态成员，求从</a:t>
            </a:r>
            <a:r>
              <a:rPr lang="en-US" altLang="zh-CN" dirty="0">
                <a:effectLst/>
                <a:latin typeface="+mn-ea"/>
              </a:rPr>
              <a:t>1</a:t>
            </a:r>
            <a:r>
              <a:rPr lang="zh-CN" altLang="en-US" dirty="0">
                <a:effectLst/>
                <a:latin typeface="+mn-ea"/>
              </a:rPr>
              <a:t>到</a:t>
            </a:r>
            <a:r>
              <a:rPr lang="en-US" altLang="zh-CN" dirty="0">
                <a:latin typeface="+mn-ea"/>
              </a:rPr>
              <a:t>n</a:t>
            </a:r>
            <a:r>
              <a:rPr lang="zh-CN" altLang="en-US" dirty="0">
                <a:latin typeface="+mn-ea"/>
              </a:rPr>
              <a:t>（</a:t>
            </a:r>
            <a:r>
              <a:rPr lang="en-US" altLang="zh-CN" dirty="0">
                <a:latin typeface="+mn-ea"/>
              </a:rPr>
              <a:t>n</a:t>
            </a:r>
            <a:r>
              <a:rPr lang="zh-CN" altLang="en-US" dirty="0">
                <a:latin typeface="+mn-ea"/>
              </a:rPr>
              <a:t>是大于</a:t>
            </a:r>
            <a:r>
              <a:rPr lang="en-US" altLang="zh-CN" dirty="0">
                <a:latin typeface="+mn-ea"/>
              </a:rPr>
              <a:t>0</a:t>
            </a:r>
            <a:r>
              <a:rPr lang="zh-CN" altLang="en-US" dirty="0">
                <a:latin typeface="+mn-ea"/>
              </a:rPr>
              <a:t>的整数）的和 </a:t>
            </a:r>
            <a:r>
              <a:rPr lang="en-US" altLang="zh-CN" dirty="0">
                <a:latin typeface="+mn-ea"/>
              </a:rPr>
              <a:t>.</a:t>
            </a:r>
          </a:p>
          <a:p>
            <a:pPr marL="0" indent="0" eaLnBrk="1" hangingPunct="1">
              <a:buNone/>
            </a:pPr>
            <a:r>
              <a:rPr lang="zh-CN" altLang="en-US" dirty="0">
                <a:latin typeface="+mn-ea"/>
              </a:rPr>
              <a:t>程序中不要使用循环，不要使用求和公式。</a:t>
            </a:r>
            <a:endParaRPr lang="en-US" altLang="zh-CN" dirty="0">
              <a:effectLst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3917095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龙腾四海">
  <a:themeElements>
    <a:clrScheme name="龙腾四海">
      <a:dk1>
        <a:sysClr val="windowText" lastClr="000000"/>
      </a:dk1>
      <a:lt1>
        <a:sysClr val="window" lastClr="FFFFFF"/>
      </a:lt1>
      <a:dk2>
        <a:srgbClr val="001B36"/>
      </a:dk2>
      <a:lt2>
        <a:srgbClr val="EDF8FE"/>
      </a:lt2>
      <a:accent1>
        <a:srgbClr val="477AB1"/>
      </a:accent1>
      <a:accent2>
        <a:srgbClr val="51848E"/>
      </a:accent2>
      <a:accent3>
        <a:srgbClr val="7B9B57"/>
      </a:accent3>
      <a:accent4>
        <a:srgbClr val="8B8D8C"/>
      </a:accent4>
      <a:accent5>
        <a:srgbClr val="8B7396"/>
      </a:accent5>
      <a:accent6>
        <a:srgbClr val="E89A53"/>
      </a:accent6>
      <a:hlink>
        <a:srgbClr val="0080FF"/>
      </a:hlink>
      <a:folHlink>
        <a:srgbClr val="FF00FF"/>
      </a:folHlink>
    </a:clrScheme>
    <a:fontScheme name="龙腾四海">
      <a:majorFont>
        <a:latin typeface="Maiandra GD"/>
        <a:ea typeface=""/>
        <a:cs typeface=""/>
        <a:font script="CYRL" typeface="Times New Roman"/>
        <a:font script="GREK" typeface="Times New Roman"/>
        <a:font script="Jpan" typeface="ＭＳ Ｐゴシック"/>
        <a:font script="Hang" typeface="HY중고딕"/>
        <a:font script="Hans" typeface="隶书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Ｐ明朝"/>
        <a:font script="Hang" typeface="HY견명조"/>
        <a:font script="Hans" typeface="华文楷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龙腾四海">
      <a: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phClr">
                <a:tint val="100000"/>
                <a:shade val="50000"/>
                <a:hueMod val="100000"/>
                <a:satMod val="250000"/>
              </a:schemeClr>
            </a:gs>
            <a:gs pos="75000">
              <a:schemeClr val="phClr">
                <a:tint val="80000"/>
                <a:shade val="100000"/>
                <a:hueMod val="100000"/>
                <a:satMod val="375000"/>
              </a:schemeClr>
            </a:gs>
            <a:gs pos="100000">
              <a:schemeClr val="phClr">
                <a:tint val="50000"/>
                <a:shade val="100000"/>
                <a:hueMod val="100000"/>
                <a:satMod val="5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100000"/>
                <a:shade val="50000"/>
                <a:hueMod val="100000"/>
                <a:satMod val="100000"/>
              </a:schemeClr>
              <a:schemeClr val="phClr">
                <a:tint val="100000"/>
                <a:shade val="75000"/>
                <a:hueMod val="100000"/>
                <a:satMod val="100000"/>
              </a:schemeClr>
            </a:duotone>
          </a:blip>
          <a:tile tx="0" ty="0" sx="50000" sy="50000" flip="none" algn="ctr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  <a:scene3d>
            <a:camera prst="orthographicFront" fov="0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2700" h="12700" prst="relaxedInset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  <a:outerShdw blurRad="44450" dist="50800" dir="3300000" sx="99000" sy="99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contrasting" dir="tl">
              <a:rot lat="0" lon="0" rev="14220000"/>
            </a:lightRig>
          </a:scene3d>
          <a:sp3d prstMaterial="dkEdge">
            <a:bevelT w="63500" h="63500"/>
            <a:bevelB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</a:effectStyleLst>
      <a:bg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bg1">
                <a:tint val="100000"/>
                <a:shade val="100000"/>
                <a:hueMod val="100000"/>
                <a:satMod val="150000"/>
              </a:schemeClr>
            </a:gs>
            <a:gs pos="55000">
              <a:schemeClr val="bg1">
                <a:tint val="100000"/>
                <a:shade val="90000"/>
                <a:hueMod val="100000"/>
                <a:satMod val="375000"/>
              </a:schemeClr>
            </a:gs>
            <a:gs pos="100000">
              <a:schemeClr val="phClr">
                <a:tint val="88000"/>
                <a:shade val="100000"/>
                <a:hueMod val="100000"/>
                <a:satMod val="500000"/>
              </a:schemeClr>
            </a:gs>
          </a:gsLst>
          <a:lin ang="5400000" scaled="1"/>
        </a:gradFill>
        <a:blipFill>
          <a:blip xmlns:r="http://schemas.openxmlformats.org/officeDocument/2006/relationships" r:embed="rId2">
            <a:duotone>
              <a:schemeClr val="phClr">
                <a:shade val="30000"/>
                <a:satMod val="555000"/>
              </a:schemeClr>
              <a:schemeClr val="phClr">
                <a:tint val="96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Dragon</Template>
  <TotalTime>15162</TotalTime>
  <Words>5577</Words>
  <Application>Microsoft Macintosh PowerPoint</Application>
  <PresentationFormat>全屏显示(4:3)</PresentationFormat>
  <Paragraphs>895</Paragraphs>
  <Slides>58</Slides>
  <Notes>38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58</vt:i4>
      </vt:variant>
    </vt:vector>
  </HeadingPairs>
  <TitlesOfParts>
    <vt:vector size="70" baseType="lpstr">
      <vt:lpstr>华文楷体</vt:lpstr>
      <vt:lpstr>宋体</vt:lpstr>
      <vt:lpstr>新宋体</vt:lpstr>
      <vt:lpstr>Arial</vt:lpstr>
      <vt:lpstr>Calibri</vt:lpstr>
      <vt:lpstr>Cambria</vt:lpstr>
      <vt:lpstr>Consolas</vt:lpstr>
      <vt:lpstr>Maiandra GD</vt:lpstr>
      <vt:lpstr>Times New Roman</vt:lpstr>
      <vt:lpstr>Wingdings</vt:lpstr>
      <vt:lpstr>Wingdings 2</vt:lpstr>
      <vt:lpstr>龙腾四海</vt:lpstr>
      <vt:lpstr>第3讲  数据的共享与保护</vt:lpstr>
      <vt:lpstr>大纲</vt:lpstr>
      <vt:lpstr>3.1 标志符的作用域与可见性</vt:lpstr>
      <vt:lpstr>3.1.1 标志符的作用域</vt:lpstr>
      <vt:lpstr>PowerPoint 演示文稿</vt:lpstr>
      <vt:lpstr>函数原形的作用域</vt:lpstr>
      <vt:lpstr>块作用域（局部作用域）</vt:lpstr>
      <vt:lpstr>类作用域</vt:lpstr>
      <vt:lpstr>命名空间 namespace</vt:lpstr>
      <vt:lpstr>自定义命名空间namespace</vt:lpstr>
      <vt:lpstr>PowerPoint 演示文稿</vt:lpstr>
      <vt:lpstr>PowerPoint 演示文稿</vt:lpstr>
      <vt:lpstr>PowerPoint 演示文稿</vt:lpstr>
      <vt:lpstr>命名空间作用域</vt:lpstr>
      <vt:lpstr>PowerPoint 演示文稿</vt:lpstr>
      <vt:lpstr>文件作用域</vt:lpstr>
      <vt:lpstr>标志符的可见性</vt:lpstr>
      <vt:lpstr>可见性</vt:lpstr>
      <vt:lpstr>可见性</vt:lpstr>
      <vt:lpstr>同一作用域中的同名标识符</vt:lpstr>
      <vt:lpstr>PowerPoint 演示文稿</vt:lpstr>
      <vt:lpstr>PowerPoint 演示文稿</vt:lpstr>
      <vt:lpstr>3.2 对象的生存期</vt:lpstr>
      <vt:lpstr>对象的生存期</vt:lpstr>
      <vt:lpstr>静态生存期</vt:lpstr>
      <vt:lpstr>例：静态生存期——全局变量</vt:lpstr>
      <vt:lpstr>例：静态生存期——static变量</vt:lpstr>
      <vt:lpstr>动态生存期</vt:lpstr>
      <vt:lpstr>例: 变量的生存期与可见性*</vt:lpstr>
      <vt:lpstr>PowerPoint 演示文稿</vt:lpstr>
      <vt:lpstr>PowerPoint 演示文稿</vt:lpstr>
      <vt:lpstr>例：具有静态、动态生存期对象的时钟程序*</vt:lpstr>
      <vt:lpstr>PowerPoint 演示文稿</vt:lpstr>
      <vt:lpstr>PowerPoint 演示文稿</vt:lpstr>
      <vt:lpstr>PowerPoint 演示文稿</vt:lpstr>
      <vt:lpstr>为什么设计static变量？</vt:lpstr>
      <vt:lpstr>3.3 类的静态成员</vt:lpstr>
      <vt:lpstr>静态成员应用场景</vt:lpstr>
      <vt:lpstr>PowerPoint 演示文稿</vt:lpstr>
      <vt:lpstr>静态成员的设计语法</vt:lpstr>
      <vt:lpstr>例：具有静态数据成员的 Point类</vt:lpstr>
      <vt:lpstr>PowerPoint 演示文稿</vt:lpstr>
      <vt:lpstr>PowerPoint 演示文稿</vt:lpstr>
      <vt:lpstr>将Point类的 showCount()函数 设为静态成员函数</vt:lpstr>
      <vt:lpstr>PowerPoint 演示文稿</vt:lpstr>
      <vt:lpstr>类的静态成员的本质</vt:lpstr>
      <vt:lpstr>PowerPoint 演示文稿</vt:lpstr>
      <vt:lpstr>PowerPoint 演示文稿</vt:lpstr>
      <vt:lpstr>PowerPoint 演示文稿</vt:lpstr>
      <vt:lpstr>PowerPoint 演示文稿</vt:lpstr>
      <vt:lpstr>静态成员函数举例:易错情况</vt:lpstr>
      <vt:lpstr>静态成员函数举例*</vt:lpstr>
      <vt:lpstr>静态成员综合应用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第五章  C++程序的结构</dc:title>
  <dc:creator>SJL</dc:creator>
  <cp:lastModifiedBy>Microsoft Office User</cp:lastModifiedBy>
  <cp:revision>80</cp:revision>
  <dcterms:created xsi:type="dcterms:W3CDTF">2017-02-27T06:47:02Z</dcterms:created>
  <dcterms:modified xsi:type="dcterms:W3CDTF">2024-03-21T06:26:11Z</dcterms:modified>
</cp:coreProperties>
</file>