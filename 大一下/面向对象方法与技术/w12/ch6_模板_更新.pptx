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63"/>
  </p:notesMasterIdLst>
  <p:sldIdLst>
    <p:sldId id="375" r:id="rId2"/>
    <p:sldId id="376" r:id="rId3"/>
    <p:sldId id="260" r:id="rId4"/>
    <p:sldId id="478" r:id="rId5"/>
    <p:sldId id="477" r:id="rId6"/>
    <p:sldId id="466" r:id="rId7"/>
    <p:sldId id="377" r:id="rId8"/>
    <p:sldId id="410" r:id="rId9"/>
    <p:sldId id="380" r:id="rId10"/>
    <p:sldId id="383" r:id="rId11"/>
    <p:sldId id="454" r:id="rId12"/>
    <p:sldId id="470" r:id="rId13"/>
    <p:sldId id="386" r:id="rId14"/>
    <p:sldId id="429" r:id="rId15"/>
    <p:sldId id="431" r:id="rId16"/>
    <p:sldId id="453" r:id="rId17"/>
    <p:sldId id="432" r:id="rId18"/>
    <p:sldId id="389" r:id="rId19"/>
    <p:sldId id="390" r:id="rId20"/>
    <p:sldId id="391" r:id="rId21"/>
    <p:sldId id="392" r:id="rId22"/>
    <p:sldId id="436" r:id="rId23"/>
    <p:sldId id="265" r:id="rId24"/>
    <p:sldId id="281" r:id="rId25"/>
    <p:sldId id="283" r:id="rId26"/>
    <p:sldId id="393" r:id="rId27"/>
    <p:sldId id="463" r:id="rId28"/>
    <p:sldId id="394" r:id="rId29"/>
    <p:sldId id="437" r:id="rId30"/>
    <p:sldId id="468" r:id="rId31"/>
    <p:sldId id="395" r:id="rId32"/>
    <p:sldId id="438" r:id="rId33"/>
    <p:sldId id="426" r:id="rId34"/>
    <p:sldId id="396" r:id="rId35"/>
    <p:sldId id="441" r:id="rId36"/>
    <p:sldId id="413" r:id="rId37"/>
    <p:sldId id="472" r:id="rId38"/>
    <p:sldId id="440" r:id="rId39"/>
    <p:sldId id="275" r:id="rId40"/>
    <p:sldId id="284" r:id="rId41"/>
    <p:sldId id="274" r:id="rId42"/>
    <p:sldId id="286" r:id="rId43"/>
    <p:sldId id="287" r:id="rId44"/>
    <p:sldId id="486" r:id="rId45"/>
    <p:sldId id="288" r:id="rId46"/>
    <p:sldId id="487" r:id="rId47"/>
    <p:sldId id="398" r:id="rId48"/>
    <p:sldId id="464" r:id="rId49"/>
    <p:sldId id="411" r:id="rId50"/>
    <p:sldId id="469" r:id="rId51"/>
    <p:sldId id="465" r:id="rId52"/>
    <p:sldId id="414" r:id="rId53"/>
    <p:sldId id="480" r:id="rId54"/>
    <p:sldId id="481" r:id="rId55"/>
    <p:sldId id="482" r:id="rId56"/>
    <p:sldId id="483" r:id="rId57"/>
    <p:sldId id="484" r:id="rId58"/>
    <p:sldId id="479" r:id="rId59"/>
    <p:sldId id="476" r:id="rId60"/>
    <p:sldId id="473" r:id="rId61"/>
    <p:sldId id="475" r:id="rId62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55" autoAdjust="0"/>
    <p:restoredTop sz="94490" autoAdjust="0"/>
  </p:normalViewPr>
  <p:slideViewPr>
    <p:cSldViewPr>
      <p:cViewPr varScale="1">
        <p:scale>
          <a:sx n="121" d="100"/>
          <a:sy n="121" d="100"/>
        </p:scale>
        <p:origin x="1776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90" d="100"/>
        <a:sy n="190" d="100"/>
      </p:scale>
      <p:origin x="0" y="-29933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9.xml"/><Relationship Id="rId2" Type="http://schemas.openxmlformats.org/officeDocument/2006/relationships/slide" Target="slides/slide23.xml"/><Relationship Id="rId1" Type="http://schemas.openxmlformats.org/officeDocument/2006/relationships/slide" Target="slides/slide3.xml"/><Relationship Id="rId4" Type="http://schemas.openxmlformats.org/officeDocument/2006/relationships/slide" Target="slides/slide4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8D1C927-A4F9-6112-B578-274479452B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ED7D4ED-C467-DE4F-7B10-B664B7F7B65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BDEB172-6833-4076-B5A9-E91C9591048A}" type="datetimeFigureOut">
              <a:rPr lang="zh-CN" altLang="en-US"/>
              <a:pPr>
                <a:defRPr/>
              </a:pPr>
              <a:t>2024/5/28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0C908F3A-AFC2-0FD1-7258-BD3B998620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587BDB99-AFEF-C79B-08F3-09D0581A5F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2AD7CF-4116-868A-0BB3-9E2F716A4D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20FB42-6EB1-841A-9E19-3709F9B00D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13F94B9-0302-4646-91D1-8D25495BDCF5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8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泛型：与</a:t>
            </a:r>
            <a:r>
              <a:rPr lang="zh-CN" altLang="en-US">
                <a:solidFill>
                  <a:srgbClr val="FF0000"/>
                </a:solidFill>
              </a:rPr>
              <a:t>数据类型无关</a:t>
            </a:r>
            <a:r>
              <a:rPr lang="zh-CN" altLang="en-US"/>
              <a:t>的通用程序设计技术</a:t>
            </a:r>
          </a:p>
        </p:txBody>
      </p:sp>
      <p:sp>
        <p:nvSpPr>
          <p:cNvPr id="19459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79DD11F-30D8-461A-A823-EA79A15CB30D}" type="slidenum">
              <a:rPr lang="zh-CN" altLang="en-US" sz="1200" smtClean="0"/>
              <a:pPr/>
              <a:t>6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5774037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8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泛型：与</a:t>
            </a:r>
            <a:r>
              <a:rPr lang="zh-CN" altLang="en-US">
                <a:solidFill>
                  <a:srgbClr val="FF0000"/>
                </a:solidFill>
              </a:rPr>
              <a:t>数据类型无关</a:t>
            </a:r>
            <a:r>
              <a:rPr lang="zh-CN" altLang="en-US"/>
              <a:t>的通用程序设计技术</a:t>
            </a:r>
          </a:p>
        </p:txBody>
      </p:sp>
      <p:sp>
        <p:nvSpPr>
          <p:cNvPr id="19459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79DD11F-30D8-461A-A823-EA79A15CB30D}" type="slidenum">
              <a:rPr lang="zh-CN" altLang="en-US" sz="1200" smtClean="0"/>
              <a:pPr/>
              <a:t>7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0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能不能用通用函数去处理？</a:t>
            </a:r>
          </a:p>
        </p:txBody>
      </p:sp>
      <p:sp>
        <p:nvSpPr>
          <p:cNvPr id="22531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C96F016-4457-455B-BFED-0EE5FD604E07}" type="slidenum">
              <a:rPr lang="zh-CN" altLang="en-US" sz="1200" smtClean="0"/>
              <a:pPr/>
              <a:t>9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2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5603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B8CB33A-27C2-498D-94FB-8DD8D8753A01}" type="slidenum">
              <a:rPr lang="zh-CN" altLang="en-US" sz="1200" smtClean="0"/>
              <a:pPr/>
              <a:t>11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8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9699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64C6334-DCF1-4801-9B0F-C2F8DAB13196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12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185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8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9699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64C6334-DCF1-4801-9B0F-C2F8DAB13196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13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0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2771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6BAF9DE7-F54A-4099-A4F2-B0A50379FAFE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14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7E5922-3E62-46C5-ADC5-FA8836E90342}" type="slidenum">
              <a:rPr lang="zh-CN" altLang="en-US" smtClean="0"/>
              <a:pPr>
                <a:defRPr/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468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2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solidFill>
                  <a:srgbClr val="0000FF"/>
                </a:solidFill>
                <a:latin typeface="Consolas" pitchFamily="49" charset="0"/>
              </a:rPr>
              <a:t>template</a:t>
            </a:r>
            <a:r>
              <a:rPr lang="en-US" altLang="zh-CN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>
                <a:solidFill>
                  <a:srgbClr val="000000"/>
                </a:solidFill>
                <a:latin typeface="Consolas" pitchFamily="49" charset="0"/>
              </a:rPr>
              <a:t> tmin&lt;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>
                <a:solidFill>
                  <a:srgbClr val="000000"/>
                </a:solidFill>
                <a:latin typeface="Consolas" pitchFamily="49" charset="0"/>
              </a:rPr>
              <a:t>&gt;(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>
                <a:solidFill>
                  <a:srgbClr val="000000"/>
                </a:solidFill>
                <a:latin typeface="Consolas" pitchFamily="49" charset="0"/>
              </a:rPr>
              <a:t> a, </a:t>
            </a:r>
            <a:r>
              <a:rPr lang="en-US" altLang="zh-CN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>
                <a:solidFill>
                  <a:srgbClr val="000000"/>
                </a:solidFill>
                <a:latin typeface="Consolas" pitchFamily="49" charset="0"/>
              </a:rPr>
              <a:t> b);</a:t>
            </a:r>
            <a:r>
              <a:rPr lang="zh-CN" altLang="en-US"/>
              <a:t>也可实例化时加入类型参数</a:t>
            </a:r>
            <a:endParaRPr lang="en-US" altLang="zh-CN">
              <a:solidFill>
                <a:srgbClr val="000000"/>
              </a:solidFill>
              <a:latin typeface="Consolas" pitchFamily="49" charset="0"/>
            </a:endParaRPr>
          </a:p>
        </p:txBody>
      </p:sp>
      <p:sp>
        <p:nvSpPr>
          <p:cNvPr id="40963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AF2C99E-5627-4F51-91C3-44D535F999F9}" type="slidenum">
              <a:rPr lang="zh-CN" altLang="en-US" sz="1200" smtClean="0"/>
              <a:pPr/>
              <a:t>18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0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808038" lvl="1" indent="-533400" eaLnBrk="1" hangingPunct="1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2200"/>
              <a:t>在普通函数的调用过程中，</a:t>
            </a:r>
            <a:r>
              <a:rPr lang="en-US" altLang="zh-CN" sz="2200"/>
              <a:t>C++</a:t>
            </a:r>
            <a:r>
              <a:rPr lang="zh-CN" altLang="en-US" sz="2200"/>
              <a:t>会对类型不匹配的参数进行</a:t>
            </a:r>
            <a:r>
              <a:rPr lang="zh-CN" altLang="en-US" sz="2200">
                <a:solidFill>
                  <a:srgbClr val="FF0000"/>
                </a:solidFill>
              </a:rPr>
              <a:t>隐式的类型转换</a:t>
            </a:r>
            <a:r>
              <a:rPr lang="zh-CN" altLang="en-US" sz="2200"/>
              <a:t> 。</a:t>
            </a:r>
            <a:endParaRPr lang="en-US" altLang="zh-CN" sz="2200"/>
          </a:p>
          <a:p>
            <a:pPr marL="808038" lvl="1" indent="-533400" eaLnBrk="1" hangingPunct="1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2200">
                <a:solidFill>
                  <a:srgbClr val="FF0000"/>
                </a:solidFill>
              </a:rPr>
              <a:t>模板实例化</a:t>
            </a:r>
            <a:r>
              <a:rPr lang="zh-CN" altLang="en-US" sz="2200"/>
              <a:t>过程中</a:t>
            </a:r>
            <a:r>
              <a:rPr lang="zh-CN" altLang="en-US" sz="2200">
                <a:solidFill>
                  <a:srgbClr val="FF0000"/>
                </a:solidFill>
              </a:rPr>
              <a:t>不会</a:t>
            </a:r>
            <a:r>
              <a:rPr lang="zh-CN" altLang="en-US" sz="2200"/>
              <a:t>进行任何形式的参数</a:t>
            </a:r>
            <a:r>
              <a:rPr lang="zh-CN" altLang="en-US" sz="2200">
                <a:solidFill>
                  <a:srgbClr val="FF0000"/>
                </a:solidFill>
              </a:rPr>
              <a:t>类型转换，</a:t>
            </a:r>
            <a:r>
              <a:rPr lang="zh-CN" altLang="en-US" sz="2200"/>
              <a:t>从而导致模板函数的参数类型不匹配，产生编译错误。</a:t>
            </a:r>
            <a:endParaRPr lang="en-US" altLang="zh-CN" sz="2200"/>
          </a:p>
          <a:p>
            <a:endParaRPr lang="zh-CN" altLang="en-US"/>
          </a:p>
        </p:txBody>
      </p:sp>
      <p:sp>
        <p:nvSpPr>
          <p:cNvPr id="43011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CF9A1BB-4A63-4879-BDA2-AEA38769693F}" type="slidenum">
              <a:rPr lang="zh-CN" altLang="en-US" sz="1200" smtClean="0"/>
              <a:pPr/>
              <a:t>19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7E5922-3E62-46C5-ADC5-FA8836E90342}" type="slidenum">
              <a:rPr lang="zh-CN" altLang="en-US" smtClean="0"/>
              <a:pPr>
                <a:defRPr/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43380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用函数模板实现数组的选择法排序</a:t>
            </a:r>
          </a:p>
        </p:txBody>
      </p:sp>
      <p:sp>
        <p:nvSpPr>
          <p:cNvPr id="4710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23A1EC5-5913-435F-B0A2-DE33A1BAEE2C}" type="slidenum">
              <a:rPr lang="zh-CN" altLang="en-US" sz="1200" smtClean="0"/>
              <a:pPr/>
              <a:t>21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0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1" lang="en-US" altLang="zh-CN"/>
              <a:t>tmin(string(“ys”),string(“cs”));</a:t>
            </a:r>
            <a:endParaRPr kumimoji="1" lang="zh-CN" altLang="en-US"/>
          </a:p>
        </p:txBody>
      </p:sp>
      <p:sp>
        <p:nvSpPr>
          <p:cNvPr id="53251" name="幻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3A147C0-D564-4D81-88E4-45A0F72605D5}" type="slidenum">
              <a:rPr lang="zh-CN" altLang="en-US" sz="1200" smtClean="0"/>
              <a:pPr/>
              <a:t>29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8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5299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6625134-AF11-499A-98CF-052FEB6F66B5}" type="slidenum">
              <a:rPr lang="zh-CN" altLang="en-US" sz="1200" smtClean="0"/>
              <a:pPr/>
              <a:t>30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5471778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8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在同一个程序中，除了函数模板和它的特化外，还可以有</a:t>
            </a:r>
            <a:r>
              <a:rPr lang="zh-CN" altLang="en-US">
                <a:solidFill>
                  <a:srgbClr val="FF0000"/>
                </a:solidFill>
              </a:rPr>
              <a:t>同名的普通函数</a:t>
            </a:r>
            <a:r>
              <a:rPr lang="zh-CN" altLang="en-US"/>
              <a:t>。其区别在于</a:t>
            </a:r>
            <a:r>
              <a:rPr lang="en-US" altLang="zh-CN"/>
              <a:t>C++</a:t>
            </a:r>
            <a:r>
              <a:rPr lang="zh-CN" altLang="en-US"/>
              <a:t>会对普通函数的</a:t>
            </a:r>
            <a:r>
              <a:rPr lang="zh-CN" altLang="en-US">
                <a:solidFill>
                  <a:srgbClr val="FF0000"/>
                </a:solidFill>
              </a:rPr>
              <a:t>调用实参</a:t>
            </a:r>
            <a:r>
              <a:rPr lang="zh-CN" altLang="en-US"/>
              <a:t>进行</a:t>
            </a:r>
            <a:r>
              <a:rPr lang="zh-CN" altLang="en-US">
                <a:solidFill>
                  <a:srgbClr val="FF0000"/>
                </a:solidFill>
              </a:rPr>
              <a:t>隐式的类型转换</a:t>
            </a:r>
            <a:r>
              <a:rPr lang="zh-CN" altLang="en-US"/>
              <a:t>，但不会对</a:t>
            </a:r>
            <a:r>
              <a:rPr lang="zh-CN" altLang="en-US">
                <a:solidFill>
                  <a:srgbClr val="FF0000"/>
                </a:solidFill>
              </a:rPr>
              <a:t>模板函数</a:t>
            </a:r>
            <a:r>
              <a:rPr lang="zh-CN" altLang="en-US"/>
              <a:t>及</a:t>
            </a:r>
            <a:r>
              <a:rPr lang="zh-CN" altLang="en-US">
                <a:solidFill>
                  <a:srgbClr val="FF0000"/>
                </a:solidFill>
              </a:rPr>
              <a:t>特化函数</a:t>
            </a:r>
            <a:r>
              <a:rPr lang="zh-CN" altLang="en-US"/>
              <a:t>的</a:t>
            </a:r>
            <a:r>
              <a:rPr lang="zh-CN" altLang="en-US" b="1"/>
              <a:t>参数</a:t>
            </a:r>
            <a:r>
              <a:rPr lang="zh-CN" altLang="en-US"/>
              <a:t>进行任何形式的类型转换。</a:t>
            </a:r>
            <a:endParaRPr lang="en-US" altLang="zh-CN"/>
          </a:p>
          <a:p>
            <a:endParaRPr lang="zh-CN" altLang="en-US"/>
          </a:p>
        </p:txBody>
      </p:sp>
      <p:sp>
        <p:nvSpPr>
          <p:cNvPr id="55299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6625134-AF11-499A-98CF-052FEB6F66B5}" type="slidenum">
              <a:rPr lang="zh-CN" altLang="en-US" sz="1200" smtClean="0"/>
              <a:pPr/>
              <a:t>31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>
            <a:extLst>
              <a:ext uri="{FF2B5EF4-FFF2-40B4-BE49-F238E27FC236}">
                <a16:creationId xmlns:a16="http://schemas.microsoft.com/office/drawing/2014/main" id="{5FC69EBC-DE58-1B87-7C68-ECA0163BF8E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备注占位符 2">
            <a:extLst>
              <a:ext uri="{FF2B5EF4-FFF2-40B4-BE49-F238E27FC236}">
                <a16:creationId xmlns:a16="http://schemas.microsoft.com/office/drawing/2014/main" id="{7A1236FA-E134-1EC1-325A-0EBDBAAFC1A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2772" name="灯片编号占位符 3">
            <a:extLst>
              <a:ext uri="{FF2B5EF4-FFF2-40B4-BE49-F238E27FC236}">
                <a16:creationId xmlns:a16="http://schemas.microsoft.com/office/drawing/2014/main" id="{6D72A504-1B47-6B53-F8A5-34465C4DF0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6C8E40A0-B82D-4624-96B3-A99394F2F287}" type="slidenum">
              <a:rPr lang="zh-CN" altLang="en-US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42</a:t>
            </a:fld>
            <a:endParaRPr lang="zh-CN" altLang="en-US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9121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>
            <a:extLst>
              <a:ext uri="{FF2B5EF4-FFF2-40B4-BE49-F238E27FC236}">
                <a16:creationId xmlns:a16="http://schemas.microsoft.com/office/drawing/2014/main" id="{136CE153-E12D-70CD-6278-45E970F1303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备注占位符 2">
            <a:extLst>
              <a:ext uri="{FF2B5EF4-FFF2-40B4-BE49-F238E27FC236}">
                <a16:creationId xmlns:a16="http://schemas.microsoft.com/office/drawing/2014/main" id="{9018BAE4-E2C9-ED48-F310-EABD19BC97B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3796" name="灯片编号占位符 3">
            <a:extLst>
              <a:ext uri="{FF2B5EF4-FFF2-40B4-BE49-F238E27FC236}">
                <a16:creationId xmlns:a16="http://schemas.microsoft.com/office/drawing/2014/main" id="{E7CF29EA-F212-E4F7-B47A-D2C0CFC7C3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D5F90B2F-70D7-4B36-94DA-E536F117B4E3}" type="slidenum">
              <a:rPr lang="zh-CN" altLang="en-US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43</a:t>
            </a:fld>
            <a:endParaRPr lang="zh-CN" altLang="en-US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21617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>
            <a:extLst>
              <a:ext uri="{FF2B5EF4-FFF2-40B4-BE49-F238E27FC236}">
                <a16:creationId xmlns:a16="http://schemas.microsoft.com/office/drawing/2014/main" id="{136CE153-E12D-70CD-6278-45E970F1303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备注占位符 2">
            <a:extLst>
              <a:ext uri="{FF2B5EF4-FFF2-40B4-BE49-F238E27FC236}">
                <a16:creationId xmlns:a16="http://schemas.microsoft.com/office/drawing/2014/main" id="{9018BAE4-E2C9-ED48-F310-EABD19BC97B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3796" name="灯片编号占位符 3">
            <a:extLst>
              <a:ext uri="{FF2B5EF4-FFF2-40B4-BE49-F238E27FC236}">
                <a16:creationId xmlns:a16="http://schemas.microsoft.com/office/drawing/2014/main" id="{E7CF29EA-F212-E4F7-B47A-D2C0CFC7C3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D5F90B2F-70D7-4B36-94DA-E536F117B4E3}" type="slidenum">
              <a:rPr lang="zh-CN" altLang="en-US">
                <a:latin typeface="Tahoma" panose="020B0604030504040204" pitchFamily="34" charset="0"/>
              </a:rPr>
              <a:pPr eaLnBrk="1" hangingPunct="1">
                <a:spcBef>
                  <a:spcPct val="0"/>
                </a:spcBef>
              </a:pPr>
              <a:t>44</a:t>
            </a:fld>
            <a:endParaRPr lang="zh-CN" altLang="en-US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0091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4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全特化与偏特化</a:t>
            </a:r>
          </a:p>
        </p:txBody>
      </p:sp>
      <p:sp>
        <p:nvSpPr>
          <p:cNvPr id="74755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F7D9173-8C62-4825-AC59-92BBB45293FF}" type="slidenum">
              <a:rPr lang="zh-CN" altLang="en-US" sz="1200" smtClean="0"/>
              <a:pPr/>
              <a:t>47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4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全特化与偏特化</a:t>
            </a:r>
          </a:p>
        </p:txBody>
      </p:sp>
      <p:sp>
        <p:nvSpPr>
          <p:cNvPr id="74755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F7D9173-8C62-4825-AC59-92BBB45293FF}" type="slidenum">
              <a:rPr lang="zh-CN" altLang="en-US" sz="1200" smtClean="0"/>
              <a:pPr/>
              <a:t>48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3443832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2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全特化与偏特化</a:t>
            </a:r>
          </a:p>
        </p:txBody>
      </p:sp>
      <p:sp>
        <p:nvSpPr>
          <p:cNvPr id="76803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EC0B837-B48B-4508-B993-DAB18F4D45BF}" type="slidenum">
              <a:rPr lang="zh-CN" altLang="en-US" sz="1200" smtClean="0"/>
              <a:pPr/>
              <a:t>49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8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全特化与偏特化</a:t>
            </a:r>
          </a:p>
        </p:txBody>
      </p:sp>
      <p:sp>
        <p:nvSpPr>
          <p:cNvPr id="86019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6BB0BB6-F103-4CB1-8116-C34CB99E7881}" type="slidenum">
              <a:rPr lang="zh-CN" altLang="en-US" sz="1200" smtClean="0"/>
              <a:pPr/>
              <a:t>50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8164679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8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全特化与偏特化</a:t>
            </a:r>
          </a:p>
        </p:txBody>
      </p:sp>
      <p:sp>
        <p:nvSpPr>
          <p:cNvPr id="86019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6BB0BB6-F103-4CB1-8116-C34CB99E7881}" type="slidenum">
              <a:rPr lang="zh-CN" altLang="en-US" sz="1200" smtClean="0"/>
              <a:pPr/>
              <a:t>51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9459004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8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全特化与偏特化</a:t>
            </a:r>
          </a:p>
        </p:txBody>
      </p:sp>
      <p:sp>
        <p:nvSpPr>
          <p:cNvPr id="86019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6BB0BB6-F103-4CB1-8116-C34CB99E7881}" type="slidenum">
              <a:rPr lang="zh-CN" altLang="en-US" sz="1200" smtClean="0"/>
              <a:pPr/>
              <a:t>52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6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3E8DA2C-C577-4DF1-8471-B3A0800903C9}" type="slidenum">
              <a:rPr lang="zh-CN" altLang="en-US" sz="1200" smtClean="0"/>
              <a:pPr/>
              <a:t>53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2855911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6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3E8DA2C-C577-4DF1-8471-B3A0800903C9}" type="slidenum">
              <a:rPr lang="zh-CN" altLang="en-US" sz="1200" smtClean="0"/>
              <a:pPr/>
              <a:t>54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51092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5F29B5-86F2-CA6D-FCC8-6CF2DC4A8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35E186-E52B-D63F-DAE4-F2A073067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65FFCB-032E-D9D8-D99A-BEFFCDFB9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3FF345-8D30-4AFF-917C-7650D724AE5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42434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680F1D-1E8C-6FD1-43D6-D32A2ABA6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AEC30E-58AD-8ACF-9940-0DC525CDC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E32595-6C15-5AEC-1E16-7A46D0F51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B515DB-B772-4D8C-89CC-577B471E076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4549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7EE2F8-7638-B0A7-DE63-CE5D52DC1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7F5CB2-4871-5F89-07BC-2684A4158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89BAE3-7514-1770-2AE1-A2FBC9821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F3D0C1-FC0F-47F6-BAFE-CE643FB117B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42647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B1E758B9-C693-CC18-6DAD-D6E8C5B14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2B8DC94A-F8DD-BDB8-0920-6E151835E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11FDA33-B90C-F665-7867-8B73ACEE7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858202-66A6-4EC0-A14E-89F58641DF0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4794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426510EB-E486-F736-2694-A2CA88520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B945FAF4-E4A5-5340-2DB4-06ED0EE4E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BF5B2532-455C-9326-DFF8-51AAB855D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735A6D-571E-4157-9C0C-D37FBCB7FAA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4283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9AD87036-2008-13C7-E462-D9821D5A6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B5CF416A-5A01-E634-487F-1D3C02FD1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BDC7026C-BE82-C990-3AE5-FC4366879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A47DB2-FDC1-4501-BC7F-F4F3F95DF1E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5697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9EAE9E02-E779-18E5-4A53-CCFB06DDB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FAF8E14C-5D26-2ADB-14B1-074802710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00656D7F-FA9E-92D6-F302-D104FAAE4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E9E34F-31F4-4B98-99E3-BB78C184855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6531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/>
          <a:lstStyle>
            <a:lvl1pPr algn="ctr">
              <a:defRPr sz="36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F9B74D5C-5AFA-05F1-557C-9B0399A4D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10F8D3D6-A36F-F0E8-F549-90595DC13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3509AC2F-64BC-F0CA-9A4D-BE63B0ADA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EEBDC7-7D3D-4FD1-9EFC-4F503A6716B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0289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/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1FA580D0-DED6-94CC-662D-3B3970958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CD8F934-C625-1202-D281-2CB7305D1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83D21BBA-B8C4-1BD8-6020-8A29E399A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CD2FAF-2AA2-4D29-BB9B-69833A5D327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270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6005AB-11F7-AB3E-21BA-31D5C46FE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74441C-4A0D-011E-339A-C1E6B49A9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CC85EF-8D34-320D-5EE6-66EBD95ED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B7CECB-4D5A-4C8B-9EE5-9CB434F53A2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4634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F88D34-EF49-AEB1-0903-109C9EAE2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82E228-6BBE-A533-8448-A2B3B966D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B12238-9753-8004-3966-2F6E8CAEA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258DA4-118E-4300-8E2D-E8116506BC2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1616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55000">
              <a:srgbClr val="F3F3F3"/>
            </a:gs>
            <a:gs pos="100000">
              <a:srgbClr val="D2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7">
            <a:extLst>
              <a:ext uri="{FF2B5EF4-FFF2-40B4-BE49-F238E27FC236}">
                <a16:creationId xmlns:a16="http://schemas.microsoft.com/office/drawing/2014/main" id="{99F00930-7114-BD27-C96F-F98EF97DF1CD}"/>
              </a:ext>
            </a:extLst>
          </p:cNvPr>
          <p:cNvPicPr>
            <a:picLocks noChangeAspect="1"/>
          </p:cNvPicPr>
          <p:nvPr/>
        </p:nvPicPr>
        <p:blipFill>
          <a:blip r:embed="rId13">
            <a:lum bright="12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0" y="4914900"/>
            <a:ext cx="2476500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C138F966-60F5-860F-52FA-EB2FF3C6E48B}"/>
              </a:ext>
            </a:extLst>
          </p:cNvPr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F57286-4334-949A-8A02-64C4B9B7BE5B}"/>
              </a:ext>
            </a:extLst>
          </p:cNvPr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1033" name="图片 8">
            <a:extLst>
              <a:ext uri="{FF2B5EF4-FFF2-40B4-BE49-F238E27FC236}">
                <a16:creationId xmlns:a16="http://schemas.microsoft.com/office/drawing/2014/main" id="{C9D0CBD9-35D3-900D-118B-3FF2EA347C77}"/>
              </a:ext>
            </a:extLst>
          </p:cNvPr>
          <p:cNvPicPr>
            <a:picLocks noChangeAspect="1"/>
          </p:cNvPicPr>
          <p:nvPr/>
        </p:nvPicPr>
        <p:blipFill>
          <a:blip r:embed="rId14">
            <a:lum bright="34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19850"/>
            <a:ext cx="91440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标题占位符 1">
            <a:extLst>
              <a:ext uri="{FF2B5EF4-FFF2-40B4-BE49-F238E27FC236}">
                <a16:creationId xmlns:a16="http://schemas.microsoft.com/office/drawing/2014/main" id="{39C4DE4D-979C-7D4E-2D02-C6763CDD05E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35" name="文本占位符 2">
            <a:extLst>
              <a:ext uri="{FF2B5EF4-FFF2-40B4-BE49-F238E27FC236}">
                <a16:creationId xmlns:a16="http://schemas.microsoft.com/office/drawing/2014/main" id="{D0D9CA5C-DEBE-7949-D2C4-941DC544760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87BAB1-DCED-3FF4-BA75-5A52957658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9A6134-8863-779F-A443-612A4DB3C5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B78371-1994-A12C-D744-8C926739AA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29C57374-ACF2-41C6-BB04-24962DFFE1B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38" r:id="rId2"/>
    <p:sldLayoutId id="214748374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Maiandra GD"/>
          <a:ea typeface="隶书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Maiandra GD"/>
          <a:ea typeface="隶书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Maiandra GD"/>
          <a:ea typeface="隶书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Maiandra GD"/>
          <a:ea typeface="隶书" pitchFamily="49" charset="-122"/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 2" panose="05020102010507070707" pitchFamily="18" charset="2"/>
        <a:buChar char="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0000"/>
        <a:buFont typeface="Wingdings 2" panose="05020102010507070707" pitchFamily="18" charset="2"/>
        <a:buChar char="³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7B9B57"/>
        </a:buClr>
        <a:buSzPct val="60000"/>
        <a:buFont typeface="Wingdings 2" panose="05020102010507070707" pitchFamily="18" charset="2"/>
        <a:buChar char="®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B7396"/>
        </a:buClr>
        <a:buSzPct val="45000"/>
        <a:buFont typeface="Wingdings 2" panose="05020102010507070707" pitchFamily="18" charset="2"/>
        <a:buChar char="¯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E89A53"/>
        </a:buClr>
        <a:buFont typeface="Wingdings 2" panose="05020102010507070707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4"/>
          <p:cNvSpPr>
            <a:spLocks noGrp="1" noChangeArrowheads="1"/>
          </p:cNvSpPr>
          <p:nvPr>
            <p:ph type="ctrTitle"/>
          </p:nvPr>
        </p:nvSpPr>
        <p:spPr>
          <a:xfrm>
            <a:off x="457200" y="1506538"/>
            <a:ext cx="8229600" cy="1470025"/>
          </a:xfrm>
          <a:noFill/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chemeClr val="tx1"/>
                </a:solidFill>
              </a:rPr>
              <a:t>第</a:t>
            </a:r>
            <a:r>
              <a:rPr lang="en-US" altLang="zh-CN" b="1" dirty="0">
                <a:solidFill>
                  <a:schemeClr val="tx1"/>
                </a:solidFill>
              </a:rPr>
              <a:t>6</a:t>
            </a:r>
            <a:r>
              <a:rPr lang="zh-CN" altLang="en-US" b="1" dirty="0">
                <a:solidFill>
                  <a:schemeClr val="tx1"/>
                </a:solidFill>
              </a:rPr>
              <a:t>讲 模板</a:t>
            </a:r>
            <a:endParaRPr altLang="zh-CN" b="1" dirty="0">
              <a:solidFill>
                <a:schemeClr val="tx1"/>
              </a:solidFill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4544F22-3A38-BAFB-D2D0-C3F319CF83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146425"/>
            <a:ext cx="8229600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Maiandra GD"/>
                <a:ea typeface="隶书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Maiandra GD"/>
                <a:ea typeface="隶书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Maiandra GD"/>
                <a:ea typeface="隶书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Maiandra GD"/>
                <a:ea typeface="隶书" pitchFamily="49" charset="-122"/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tx1"/>
                </a:solidFill>
                <a:latin typeface="+mn-ea"/>
                <a:ea typeface="+mn-ea"/>
              </a:rPr>
              <a:t>教材 第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  <a:ea typeface="+mn-ea"/>
              </a:rPr>
              <a:t>9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  <a:ea typeface="+mn-ea"/>
              </a:rPr>
              <a:t>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大纲</a:t>
            </a:r>
          </a:p>
        </p:txBody>
      </p:sp>
      <p:grpSp>
        <p:nvGrpSpPr>
          <p:cNvPr id="17410" name="Group 117"/>
          <p:cNvGrpSpPr>
            <a:grpSpLocks/>
          </p:cNvGrpSpPr>
          <p:nvPr/>
        </p:nvGrpSpPr>
        <p:grpSpPr bwMode="auto">
          <a:xfrm>
            <a:off x="2124075" y="2890838"/>
            <a:ext cx="5310188" cy="609600"/>
            <a:chOff x="1263" y="1881"/>
            <a:chExt cx="3345" cy="384"/>
          </a:xfrm>
        </p:grpSpPr>
        <p:grpSp>
          <p:nvGrpSpPr>
            <p:cNvPr id="17443" name="Group 118"/>
            <p:cNvGrpSpPr>
              <a:grpSpLocks/>
            </p:cNvGrpSpPr>
            <p:nvPr/>
          </p:nvGrpSpPr>
          <p:grpSpPr bwMode="auto">
            <a:xfrm>
              <a:off x="1263" y="1881"/>
              <a:ext cx="384" cy="384"/>
              <a:chOff x="816" y="1872"/>
              <a:chExt cx="384" cy="384"/>
            </a:xfrm>
          </p:grpSpPr>
          <p:sp>
            <p:nvSpPr>
              <p:cNvPr id="56" name="Oval 119"/>
              <p:cNvSpPr>
                <a:spLocks noChangeArrowheads="1"/>
              </p:cNvSpPr>
              <p:nvPr/>
            </p:nvSpPr>
            <p:spPr bwMode="gray">
              <a:xfrm>
                <a:off x="816" y="1872"/>
                <a:ext cx="384" cy="38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tint val="0"/>
                      <a:invGamma/>
                    </a:schemeClr>
                  </a:gs>
                  <a:gs pos="5000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57" name="Oval 120"/>
              <p:cNvSpPr>
                <a:spLocks noChangeArrowheads="1"/>
              </p:cNvSpPr>
              <p:nvPr/>
            </p:nvSpPr>
            <p:spPr bwMode="gray">
              <a:xfrm>
                <a:off x="816" y="1872"/>
                <a:ext cx="384" cy="38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alpha val="32001"/>
                    </a:schemeClr>
                  </a:gs>
                  <a:gs pos="100000">
                    <a:schemeClr val="accent2">
                      <a:gamma/>
                      <a:shade val="0"/>
                      <a:invGamma/>
                      <a:alpha val="89999"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58" name="Oval 121"/>
              <p:cNvSpPr>
                <a:spLocks noChangeArrowheads="1"/>
              </p:cNvSpPr>
              <p:nvPr/>
            </p:nvSpPr>
            <p:spPr bwMode="gray">
              <a:xfrm>
                <a:off x="841" y="1897"/>
                <a:ext cx="334" cy="33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54118"/>
                      <a:invGamma/>
                    </a:schemeClr>
                  </a:gs>
                  <a:gs pos="50000">
                    <a:schemeClr val="accent2"/>
                  </a:gs>
                  <a:gs pos="100000">
                    <a:schemeClr val="accent2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59" name="Oval 122"/>
              <p:cNvSpPr>
                <a:spLocks noChangeArrowheads="1"/>
              </p:cNvSpPr>
              <p:nvPr/>
            </p:nvSpPr>
            <p:spPr bwMode="gray">
              <a:xfrm>
                <a:off x="866" y="1922"/>
                <a:ext cx="334" cy="33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63529"/>
                      <a:invGamma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17451" name="Oval 123"/>
              <p:cNvSpPr>
                <a:spLocks noChangeArrowheads="1"/>
              </p:cNvSpPr>
              <p:nvPr/>
            </p:nvSpPr>
            <p:spPr bwMode="gray">
              <a:xfrm>
                <a:off x="859" y="1914"/>
                <a:ext cx="300" cy="30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452" name="Oval 124"/>
              <p:cNvSpPr>
                <a:spLocks noChangeArrowheads="1"/>
              </p:cNvSpPr>
              <p:nvPr/>
            </p:nvSpPr>
            <p:spPr bwMode="gray">
              <a:xfrm>
                <a:off x="864" y="1919"/>
                <a:ext cx="291" cy="291"/>
              </a:xfrm>
              <a:prstGeom prst="ellipse">
                <a:avLst/>
              </a:prstGeom>
              <a:gradFill rotWithShape="1">
                <a:gsLst>
                  <a:gs pos="0">
                    <a:srgbClr val="595959"/>
                  </a:gs>
                  <a:gs pos="100000">
                    <a:srgbClr val="C0C0C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453" name="Oval 125"/>
              <p:cNvSpPr>
                <a:spLocks noChangeArrowheads="1"/>
              </p:cNvSpPr>
              <p:nvPr/>
            </p:nvSpPr>
            <p:spPr bwMode="gray">
              <a:xfrm>
                <a:off x="868" y="1921"/>
                <a:ext cx="283" cy="283"/>
              </a:xfrm>
              <a:prstGeom prst="ellipse">
                <a:avLst/>
              </a:prstGeom>
              <a:gradFill rotWithShape="1">
                <a:gsLst>
                  <a:gs pos="0">
                    <a:srgbClr val="C0C0C0">
                      <a:alpha val="0"/>
                    </a:srgbClr>
                  </a:gs>
                  <a:gs pos="100000">
                    <a:srgbClr val="E9E9E9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454" name="Oval 126"/>
              <p:cNvSpPr>
                <a:spLocks noChangeArrowheads="1"/>
              </p:cNvSpPr>
              <p:nvPr/>
            </p:nvSpPr>
            <p:spPr bwMode="gray">
              <a:xfrm>
                <a:off x="871" y="1923"/>
                <a:ext cx="270" cy="265"/>
              </a:xfrm>
              <a:prstGeom prst="ellipse">
                <a:avLst/>
              </a:prstGeom>
              <a:gradFill rotWithShape="1">
                <a:gsLst>
                  <a:gs pos="0">
                    <a:srgbClr val="989898"/>
                  </a:gs>
                  <a:gs pos="100000">
                    <a:srgbClr val="C0C0C0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455" name="Oval 127"/>
              <p:cNvSpPr>
                <a:spLocks noChangeArrowheads="1"/>
              </p:cNvSpPr>
              <p:nvPr/>
            </p:nvSpPr>
            <p:spPr bwMode="gray">
              <a:xfrm>
                <a:off x="886" y="1931"/>
                <a:ext cx="240" cy="215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>
                      <a:alpha val="37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7444" name="Line 128"/>
            <p:cNvSpPr>
              <a:spLocks noChangeShapeType="1"/>
            </p:cNvSpPr>
            <p:nvPr/>
          </p:nvSpPr>
          <p:spPr bwMode="auto">
            <a:xfrm>
              <a:off x="1584" y="2235"/>
              <a:ext cx="3024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5" name="Text Box 129"/>
            <p:cNvSpPr txBox="1">
              <a:spLocks noChangeArrowheads="1"/>
            </p:cNvSpPr>
            <p:nvPr/>
          </p:nvSpPr>
          <p:spPr bwMode="auto">
            <a:xfrm>
              <a:off x="1728" y="1899"/>
              <a:ext cx="27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547688" indent="-22860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822325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096963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13716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1828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286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2743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2004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 2" panose="05020102010507070707" pitchFamily="18" charset="2"/>
                <a:buNone/>
              </a:pPr>
              <a:r>
                <a:rPr lang="zh-CN" altLang="en-US" sz="2400" dirty="0">
                  <a:latin typeface="Times New Roman" panose="02020603050405020304" pitchFamily="18" charset="0"/>
                </a:rPr>
                <a:t>函数模板</a:t>
              </a:r>
            </a:p>
          </p:txBody>
        </p:sp>
        <p:sp>
          <p:nvSpPr>
            <p:cNvPr id="17446" name="Text Box 130"/>
            <p:cNvSpPr txBox="1">
              <a:spLocks noChangeArrowheads="1"/>
            </p:cNvSpPr>
            <p:nvPr/>
          </p:nvSpPr>
          <p:spPr bwMode="gray">
            <a:xfrm>
              <a:off x="1344" y="1934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547688" indent="-22860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822325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096963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13716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1828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286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2743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2004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17411" name="Group 145"/>
          <p:cNvGrpSpPr>
            <a:grpSpLocks/>
          </p:cNvGrpSpPr>
          <p:nvPr/>
        </p:nvGrpSpPr>
        <p:grpSpPr bwMode="auto">
          <a:xfrm>
            <a:off x="2124075" y="2243138"/>
            <a:ext cx="5334000" cy="628650"/>
            <a:chOff x="1248" y="1188"/>
            <a:chExt cx="3360" cy="396"/>
          </a:xfrm>
        </p:grpSpPr>
        <p:sp>
          <p:nvSpPr>
            <p:cNvPr id="17428" name="Line 146"/>
            <p:cNvSpPr>
              <a:spLocks noChangeShapeType="1"/>
            </p:cNvSpPr>
            <p:nvPr/>
          </p:nvSpPr>
          <p:spPr bwMode="auto">
            <a:xfrm>
              <a:off x="1584" y="1524"/>
              <a:ext cx="3024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9" name="Text Box 147"/>
            <p:cNvSpPr txBox="1">
              <a:spLocks noChangeArrowheads="1"/>
            </p:cNvSpPr>
            <p:nvPr/>
          </p:nvSpPr>
          <p:spPr bwMode="auto">
            <a:xfrm>
              <a:off x="1728" y="1188"/>
              <a:ext cx="27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547688" indent="-22860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822325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096963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13716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1828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286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2743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2004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C00000"/>
                  </a:solidFill>
                  <a:latin typeface="Times New Roman" panose="02020603050405020304" pitchFamily="18" charset="0"/>
                </a:rPr>
                <a:t>模板的概念</a:t>
              </a:r>
            </a:p>
          </p:txBody>
        </p:sp>
        <p:grpSp>
          <p:nvGrpSpPr>
            <p:cNvPr id="17430" name="Group 148"/>
            <p:cNvGrpSpPr>
              <a:grpSpLocks/>
            </p:cNvGrpSpPr>
            <p:nvPr/>
          </p:nvGrpSpPr>
          <p:grpSpPr bwMode="auto">
            <a:xfrm>
              <a:off x="1248" y="1200"/>
              <a:ext cx="384" cy="384"/>
              <a:chOff x="1248" y="1200"/>
              <a:chExt cx="384" cy="384"/>
            </a:xfrm>
          </p:grpSpPr>
          <p:grpSp>
            <p:nvGrpSpPr>
              <p:cNvPr id="17431" name="Group 149"/>
              <p:cNvGrpSpPr>
                <a:grpSpLocks/>
              </p:cNvGrpSpPr>
              <p:nvPr/>
            </p:nvGrpSpPr>
            <p:grpSpPr bwMode="auto">
              <a:xfrm>
                <a:off x="1248" y="1200"/>
                <a:ext cx="384" cy="384"/>
                <a:chOff x="2016" y="912"/>
                <a:chExt cx="384" cy="384"/>
              </a:xfrm>
            </p:grpSpPr>
            <p:sp>
              <p:nvSpPr>
                <p:cNvPr id="17433" name="Text Box 150"/>
                <p:cNvSpPr txBox="1">
                  <a:spLocks noChangeArrowheads="1"/>
                </p:cNvSpPr>
                <p:nvPr/>
              </p:nvSpPr>
              <p:spPr bwMode="gray">
                <a:xfrm>
                  <a:off x="2094" y="960"/>
                  <a:ext cx="22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30" name="Oval 151"/>
                <p:cNvSpPr>
                  <a:spLocks noChangeArrowheads="1"/>
                </p:cNvSpPr>
                <p:nvPr/>
              </p:nvSpPr>
              <p:spPr bwMode="gray">
                <a:xfrm>
                  <a:off x="2016" y="912"/>
                  <a:ext cx="384" cy="38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hlink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/>
              </p:spPr>
              <p:txBody>
                <a:bodyPr wrap="none"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31" name="Oval 152"/>
                <p:cNvSpPr>
                  <a:spLocks noChangeArrowheads="1"/>
                </p:cNvSpPr>
                <p:nvPr/>
              </p:nvSpPr>
              <p:spPr bwMode="gray">
                <a:xfrm>
                  <a:off x="2016" y="912"/>
                  <a:ext cx="384" cy="38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alpha val="32001"/>
                      </a:schemeClr>
                    </a:gs>
                    <a:gs pos="100000">
                      <a:schemeClr val="hlink">
                        <a:gamma/>
                        <a:shade val="0"/>
                        <a:invGamma/>
                        <a:alpha val="89999"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32" name="Oval 153"/>
                <p:cNvSpPr>
                  <a:spLocks noChangeArrowheads="1"/>
                </p:cNvSpPr>
                <p:nvPr/>
              </p:nvSpPr>
              <p:spPr bwMode="gray">
                <a:xfrm>
                  <a:off x="2034" y="918"/>
                  <a:ext cx="334" cy="33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33" name="Oval 154"/>
                <p:cNvSpPr>
                  <a:spLocks noChangeArrowheads="1"/>
                </p:cNvSpPr>
                <p:nvPr/>
              </p:nvSpPr>
              <p:spPr bwMode="gray">
                <a:xfrm>
                  <a:off x="2040" y="936"/>
                  <a:ext cx="334" cy="33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63529"/>
                        <a:invGamma/>
                      </a:schemeClr>
                    </a:gs>
                    <a:gs pos="100000">
                      <a:schemeClr val="hlink">
                        <a:alpha val="0"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17438" name="Oval 155"/>
                <p:cNvSpPr>
                  <a:spLocks noChangeArrowheads="1"/>
                </p:cNvSpPr>
                <p:nvPr/>
              </p:nvSpPr>
              <p:spPr bwMode="gray">
                <a:xfrm>
                  <a:off x="2052" y="948"/>
                  <a:ext cx="300" cy="300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7439" name="Oval 156"/>
                <p:cNvSpPr>
                  <a:spLocks noChangeArrowheads="1"/>
                </p:cNvSpPr>
                <p:nvPr/>
              </p:nvSpPr>
              <p:spPr bwMode="gray">
                <a:xfrm>
                  <a:off x="2064" y="959"/>
                  <a:ext cx="291" cy="29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95959"/>
                    </a:gs>
                    <a:gs pos="100000">
                      <a:srgbClr val="C0C0C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7440" name="Oval 157"/>
                <p:cNvSpPr>
                  <a:spLocks noChangeArrowheads="1"/>
                </p:cNvSpPr>
                <p:nvPr/>
              </p:nvSpPr>
              <p:spPr bwMode="gray">
                <a:xfrm>
                  <a:off x="2068" y="961"/>
                  <a:ext cx="283" cy="28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0C0C0">
                        <a:alpha val="0"/>
                      </a:srgbClr>
                    </a:gs>
                    <a:gs pos="100000">
                      <a:srgbClr val="E9E9E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7441" name="Oval 158"/>
                <p:cNvSpPr>
                  <a:spLocks noChangeArrowheads="1"/>
                </p:cNvSpPr>
                <p:nvPr/>
              </p:nvSpPr>
              <p:spPr bwMode="gray">
                <a:xfrm>
                  <a:off x="2071" y="963"/>
                  <a:ext cx="270" cy="26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89898"/>
                    </a:gs>
                    <a:gs pos="100000">
                      <a:srgbClr val="C0C0C0">
                        <a:alpha val="48000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7442" name="Oval 159"/>
                <p:cNvSpPr>
                  <a:spLocks noChangeArrowheads="1"/>
                </p:cNvSpPr>
                <p:nvPr/>
              </p:nvSpPr>
              <p:spPr bwMode="gray">
                <a:xfrm>
                  <a:off x="2086" y="971"/>
                  <a:ext cx="240" cy="2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>
                        <a:alpha val="37999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7432" name="Text Box 160"/>
              <p:cNvSpPr txBox="1">
                <a:spLocks noChangeArrowheads="1"/>
              </p:cNvSpPr>
              <p:nvPr/>
            </p:nvSpPr>
            <p:spPr bwMode="gray">
              <a:xfrm>
                <a:off x="1326" y="1248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</p:grpSp>
      <p:grpSp>
        <p:nvGrpSpPr>
          <p:cNvPr id="17412" name="Group 161"/>
          <p:cNvGrpSpPr>
            <a:grpSpLocks/>
          </p:cNvGrpSpPr>
          <p:nvPr/>
        </p:nvGrpSpPr>
        <p:grpSpPr bwMode="auto">
          <a:xfrm>
            <a:off x="2124075" y="3538538"/>
            <a:ext cx="5334000" cy="633412"/>
            <a:chOff x="1248" y="2326"/>
            <a:chExt cx="3360" cy="398"/>
          </a:xfrm>
        </p:grpSpPr>
        <p:sp>
          <p:nvSpPr>
            <p:cNvPr id="17413" name="Line 162"/>
            <p:cNvSpPr>
              <a:spLocks noChangeShapeType="1"/>
            </p:cNvSpPr>
            <p:nvPr/>
          </p:nvSpPr>
          <p:spPr bwMode="auto">
            <a:xfrm>
              <a:off x="1584" y="2662"/>
              <a:ext cx="3024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4" name="Text Box 163"/>
            <p:cNvSpPr txBox="1">
              <a:spLocks noChangeArrowheads="1"/>
            </p:cNvSpPr>
            <p:nvPr/>
          </p:nvSpPr>
          <p:spPr bwMode="auto">
            <a:xfrm>
              <a:off x="1728" y="2326"/>
              <a:ext cx="27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547688" indent="-22860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822325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096963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13716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1828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286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2743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2004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类模板</a:t>
              </a:r>
            </a:p>
          </p:txBody>
        </p:sp>
        <p:grpSp>
          <p:nvGrpSpPr>
            <p:cNvPr id="17415" name="Group 164"/>
            <p:cNvGrpSpPr>
              <a:grpSpLocks/>
            </p:cNvGrpSpPr>
            <p:nvPr/>
          </p:nvGrpSpPr>
          <p:grpSpPr bwMode="auto">
            <a:xfrm>
              <a:off x="1248" y="2340"/>
              <a:ext cx="384" cy="384"/>
              <a:chOff x="1248" y="1200"/>
              <a:chExt cx="384" cy="384"/>
            </a:xfrm>
          </p:grpSpPr>
          <p:grpSp>
            <p:nvGrpSpPr>
              <p:cNvPr id="17416" name="Group 165"/>
              <p:cNvGrpSpPr>
                <a:grpSpLocks/>
              </p:cNvGrpSpPr>
              <p:nvPr/>
            </p:nvGrpSpPr>
            <p:grpSpPr bwMode="auto">
              <a:xfrm>
                <a:off x="1248" y="1200"/>
                <a:ext cx="384" cy="384"/>
                <a:chOff x="2016" y="912"/>
                <a:chExt cx="384" cy="384"/>
              </a:xfrm>
            </p:grpSpPr>
            <p:sp>
              <p:nvSpPr>
                <p:cNvPr id="17418" name="Text Box 166"/>
                <p:cNvSpPr txBox="1">
                  <a:spLocks noChangeArrowheads="1"/>
                </p:cNvSpPr>
                <p:nvPr/>
              </p:nvSpPr>
              <p:spPr bwMode="gray">
                <a:xfrm>
                  <a:off x="2094" y="960"/>
                  <a:ext cx="22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15" name="Oval 167"/>
                <p:cNvSpPr>
                  <a:spLocks noChangeArrowheads="1"/>
                </p:cNvSpPr>
                <p:nvPr/>
              </p:nvSpPr>
              <p:spPr bwMode="gray">
                <a:xfrm>
                  <a:off x="2016" y="912"/>
                  <a:ext cx="384" cy="38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hlink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/>
              </p:spPr>
              <p:txBody>
                <a:bodyPr wrap="none"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16" name="Oval 168"/>
                <p:cNvSpPr>
                  <a:spLocks noChangeArrowheads="1"/>
                </p:cNvSpPr>
                <p:nvPr/>
              </p:nvSpPr>
              <p:spPr bwMode="gray">
                <a:xfrm>
                  <a:off x="2016" y="912"/>
                  <a:ext cx="384" cy="38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alpha val="32001"/>
                      </a:schemeClr>
                    </a:gs>
                    <a:gs pos="100000">
                      <a:schemeClr val="hlink">
                        <a:gamma/>
                        <a:shade val="0"/>
                        <a:invGamma/>
                        <a:alpha val="89999"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17" name="Oval 169"/>
                <p:cNvSpPr>
                  <a:spLocks noChangeArrowheads="1"/>
                </p:cNvSpPr>
                <p:nvPr/>
              </p:nvSpPr>
              <p:spPr bwMode="gray">
                <a:xfrm>
                  <a:off x="2034" y="918"/>
                  <a:ext cx="334" cy="33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18" name="Oval 170"/>
                <p:cNvSpPr>
                  <a:spLocks noChangeArrowheads="1"/>
                </p:cNvSpPr>
                <p:nvPr/>
              </p:nvSpPr>
              <p:spPr bwMode="gray">
                <a:xfrm>
                  <a:off x="2040" y="936"/>
                  <a:ext cx="334" cy="33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63529"/>
                        <a:invGamma/>
                      </a:schemeClr>
                    </a:gs>
                    <a:gs pos="100000">
                      <a:schemeClr val="hlink">
                        <a:alpha val="0"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17423" name="Oval 171"/>
                <p:cNvSpPr>
                  <a:spLocks noChangeArrowheads="1"/>
                </p:cNvSpPr>
                <p:nvPr/>
              </p:nvSpPr>
              <p:spPr bwMode="gray">
                <a:xfrm>
                  <a:off x="2052" y="948"/>
                  <a:ext cx="300" cy="300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7424" name="Oval 172"/>
                <p:cNvSpPr>
                  <a:spLocks noChangeArrowheads="1"/>
                </p:cNvSpPr>
                <p:nvPr/>
              </p:nvSpPr>
              <p:spPr bwMode="gray">
                <a:xfrm>
                  <a:off x="2064" y="959"/>
                  <a:ext cx="291" cy="29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95959"/>
                    </a:gs>
                    <a:gs pos="100000">
                      <a:srgbClr val="C0C0C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7425" name="Oval 173"/>
                <p:cNvSpPr>
                  <a:spLocks noChangeArrowheads="1"/>
                </p:cNvSpPr>
                <p:nvPr/>
              </p:nvSpPr>
              <p:spPr bwMode="gray">
                <a:xfrm>
                  <a:off x="2068" y="961"/>
                  <a:ext cx="283" cy="28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0C0C0">
                        <a:alpha val="0"/>
                      </a:srgbClr>
                    </a:gs>
                    <a:gs pos="100000">
                      <a:srgbClr val="E9E9E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7426" name="Oval 174"/>
                <p:cNvSpPr>
                  <a:spLocks noChangeArrowheads="1"/>
                </p:cNvSpPr>
                <p:nvPr/>
              </p:nvSpPr>
              <p:spPr bwMode="gray">
                <a:xfrm>
                  <a:off x="2071" y="963"/>
                  <a:ext cx="270" cy="26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89898"/>
                    </a:gs>
                    <a:gs pos="100000">
                      <a:srgbClr val="C0C0C0">
                        <a:alpha val="48000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7427" name="Oval 175"/>
                <p:cNvSpPr>
                  <a:spLocks noChangeArrowheads="1"/>
                </p:cNvSpPr>
                <p:nvPr/>
              </p:nvSpPr>
              <p:spPr bwMode="gray">
                <a:xfrm>
                  <a:off x="2086" y="971"/>
                  <a:ext cx="240" cy="2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>
                        <a:alpha val="37999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7417" name="Text Box 176"/>
              <p:cNvSpPr txBox="1">
                <a:spLocks noChangeArrowheads="1"/>
              </p:cNvSpPr>
              <p:nvPr/>
            </p:nvSpPr>
            <p:spPr bwMode="gray">
              <a:xfrm>
                <a:off x="1326" y="1248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C54F506-D204-593E-72CC-01593AB021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>
                <a:latin typeface="+mj-ea"/>
              </a:rPr>
              <a:t>模板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1B95887-CF80-0B69-DC1A-1A8B93B9AF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华文楷体" panose="02010600040101010101" pitchFamily="2" charset="-122"/>
              </a:rPr>
              <a:t>参数多态性</a:t>
            </a:r>
          </a:p>
          <a:p>
            <a:pPr eaLnBrk="1" hangingPunct="1"/>
            <a:r>
              <a:rPr lang="zh-CN" altLang="en-US">
                <a:latin typeface="华文楷体" panose="02010600040101010101" pitchFamily="2" charset="-122"/>
              </a:rPr>
              <a:t>将程序所处理的对象的</a:t>
            </a:r>
            <a:r>
              <a:rPr lang="zh-CN" altLang="en-US">
                <a:solidFill>
                  <a:srgbClr val="FF0000"/>
                </a:solidFill>
                <a:latin typeface="华文楷体" panose="02010600040101010101" pitchFamily="2" charset="-122"/>
              </a:rPr>
              <a:t>类型参数化</a:t>
            </a:r>
            <a:r>
              <a:rPr lang="zh-CN" altLang="en-US">
                <a:latin typeface="华文楷体" panose="02010600040101010101" pitchFamily="2" charset="-122"/>
              </a:rPr>
              <a:t>，使得一段程序可以用于处理多种不同类型的对象</a:t>
            </a:r>
          </a:p>
          <a:p>
            <a:pPr eaLnBrk="1" hangingPunct="1"/>
            <a:r>
              <a:rPr lang="zh-CN" altLang="en-US">
                <a:latin typeface="华文楷体" panose="02010600040101010101" pitchFamily="2" charset="-122"/>
              </a:rPr>
              <a:t>静态联编</a:t>
            </a:r>
          </a:p>
        </p:txBody>
      </p:sp>
      <p:sp>
        <p:nvSpPr>
          <p:cNvPr id="6148" name="Text Box 4">
            <a:extLst>
              <a:ext uri="{FF2B5EF4-FFF2-40B4-BE49-F238E27FC236}">
                <a16:creationId xmlns:a16="http://schemas.microsoft.com/office/drawing/2014/main" id="{9272DE76-5F9B-5C5E-0BAD-EA9FD526B1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5715000"/>
            <a:ext cx="45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hlinkClick r:id="rId2" action="ppaction://hlinksldjump"/>
              </a:rPr>
              <a:t>&lt;&lt;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9964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模板</a:t>
            </a:r>
          </a:p>
        </p:txBody>
      </p:sp>
      <p:pic>
        <p:nvPicPr>
          <p:cNvPr id="6" name="内容占位符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42"/>
          <a:stretch/>
        </p:blipFill>
        <p:spPr bwMode="auto">
          <a:xfrm>
            <a:off x="2761828" y="4238713"/>
            <a:ext cx="4762500" cy="1040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内容占位符 4"/>
          <p:cNvPicPr>
            <a:picLocks noGrp="1" noChangeAspect="1"/>
          </p:cNvPicPr>
          <p:nvPr>
            <p:ph sz="quarter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307" b="43168"/>
          <a:stretch/>
        </p:blipFill>
        <p:spPr>
          <a:xfrm>
            <a:off x="2728100" y="4097271"/>
            <a:ext cx="1699884" cy="1385777"/>
          </a:xfrm>
        </p:spPr>
      </p:pic>
      <p:sp>
        <p:nvSpPr>
          <p:cNvPr id="3" name="矩形 2"/>
          <p:cNvSpPr/>
          <p:nvPr/>
        </p:nvSpPr>
        <p:spPr>
          <a:xfrm>
            <a:off x="2771800" y="5594968"/>
            <a:ext cx="27542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无</a:t>
            </a:r>
            <a:r>
              <a:rPr lang="zh-CN" altLang="en-US" sz="2000" dirty="0">
                <a:solidFill>
                  <a:srgbClr val="C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模板的</a:t>
            </a:r>
            <a:r>
              <a:rPr lang="en-US" altLang="zh-CN" sz="2000" dirty="0">
                <a:solidFill>
                  <a:srgbClr val="C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C++</a:t>
            </a:r>
            <a:r>
              <a:rPr lang="zh-CN" altLang="en-US" sz="2000" dirty="0">
                <a:solidFill>
                  <a:srgbClr val="C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程序编译</a:t>
            </a:r>
          </a:p>
        </p:txBody>
      </p:sp>
      <p:sp>
        <p:nvSpPr>
          <p:cNvPr id="7" name="矩形 6"/>
          <p:cNvSpPr/>
          <p:nvPr/>
        </p:nvSpPr>
        <p:spPr>
          <a:xfrm>
            <a:off x="1112445" y="3590982"/>
            <a:ext cx="121219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无</a:t>
            </a:r>
            <a:r>
              <a:rPr lang="zh-CN" altLang="en-US" sz="2000" dirty="0">
                <a:solidFill>
                  <a:srgbClr val="C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模板的</a:t>
            </a:r>
            <a:endParaRPr lang="en-US" altLang="zh-CN" sz="2000" dirty="0">
              <a:solidFill>
                <a:srgbClr val="C00000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solidFill>
                  <a:srgbClr val="C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C++</a:t>
            </a:r>
            <a:r>
              <a:rPr lang="zh-CN" altLang="en-US" sz="2000" dirty="0">
                <a:solidFill>
                  <a:srgbClr val="C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源码</a:t>
            </a:r>
          </a:p>
        </p:txBody>
      </p:sp>
      <p:cxnSp>
        <p:nvCxnSpPr>
          <p:cNvPr id="8" name="直接箭头连接符 7"/>
          <p:cNvCxnSpPr/>
          <p:nvPr/>
        </p:nvCxnSpPr>
        <p:spPr>
          <a:xfrm>
            <a:off x="2358577" y="3875393"/>
            <a:ext cx="465597" cy="423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1456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模板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quarter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168"/>
          <a:stretch/>
        </p:blipFill>
        <p:spPr>
          <a:xfrm>
            <a:off x="2752166" y="2852936"/>
            <a:ext cx="4762500" cy="1385777"/>
          </a:xfrm>
        </p:spPr>
      </p:pic>
      <p:pic>
        <p:nvPicPr>
          <p:cNvPr id="6" name="内容占位符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42"/>
          <a:stretch/>
        </p:blipFill>
        <p:spPr bwMode="auto">
          <a:xfrm>
            <a:off x="2761828" y="4238713"/>
            <a:ext cx="4762500" cy="1040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2771800" y="5594968"/>
            <a:ext cx="26965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zh-CN" altLang="en-US" sz="2000" dirty="0">
                <a:solidFill>
                  <a:srgbClr val="C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模板的</a:t>
            </a:r>
            <a:r>
              <a:rPr lang="en-US" altLang="zh-CN" sz="2000" dirty="0">
                <a:solidFill>
                  <a:srgbClr val="C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C++</a:t>
            </a:r>
            <a:r>
              <a:rPr lang="zh-CN" altLang="en-US" sz="2000" dirty="0">
                <a:solidFill>
                  <a:srgbClr val="C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程序编译</a:t>
            </a:r>
          </a:p>
        </p:txBody>
      </p:sp>
      <p:sp>
        <p:nvSpPr>
          <p:cNvPr id="9" name="矩形 8"/>
          <p:cNvSpPr/>
          <p:nvPr/>
        </p:nvSpPr>
        <p:spPr>
          <a:xfrm>
            <a:off x="1112445" y="3590982"/>
            <a:ext cx="121219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zh-CN" altLang="en-US" sz="2000" dirty="0">
                <a:solidFill>
                  <a:srgbClr val="C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模板的</a:t>
            </a:r>
            <a:endParaRPr lang="en-US" altLang="zh-CN" sz="2000" dirty="0">
              <a:solidFill>
                <a:srgbClr val="C00000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solidFill>
                  <a:srgbClr val="C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C++</a:t>
            </a:r>
            <a:r>
              <a:rPr lang="zh-CN" altLang="en-US" sz="2000" dirty="0">
                <a:solidFill>
                  <a:srgbClr val="C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源码</a:t>
            </a:r>
          </a:p>
        </p:txBody>
      </p:sp>
      <p:cxnSp>
        <p:nvCxnSpPr>
          <p:cNvPr id="10" name="直接箭头连接符 9"/>
          <p:cNvCxnSpPr/>
          <p:nvPr/>
        </p:nvCxnSpPr>
        <p:spPr>
          <a:xfrm flipV="1">
            <a:off x="2358577" y="3429000"/>
            <a:ext cx="465597" cy="446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4139952" y="2636912"/>
            <a:ext cx="1872208" cy="280831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8880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6.1</a:t>
            </a:r>
            <a:r>
              <a:rPr lang="en-US" altLang="zh-CN" dirty="0">
                <a:latin typeface="+mn-ea"/>
                <a:ea typeface="+mn-ea"/>
              </a:rPr>
              <a:t> </a:t>
            </a:r>
            <a:r>
              <a:rPr lang="zh-CN" altLang="en-US" dirty="0">
                <a:latin typeface="+mj-ea"/>
              </a:rPr>
              <a:t>模板的概念</a:t>
            </a:r>
            <a:endParaRPr lang="en-US" altLang="zh-CN" dirty="0">
              <a:latin typeface="+mj-ea"/>
            </a:endParaRPr>
          </a:p>
        </p:txBody>
      </p:sp>
      <p:sp>
        <p:nvSpPr>
          <p:cNvPr id="9222" name="内容占位符 2"/>
          <p:cNvSpPr txBox="1">
            <a:spLocks/>
          </p:cNvSpPr>
          <p:nvPr/>
        </p:nvSpPr>
        <p:spPr bwMode="auto">
          <a:xfrm>
            <a:off x="753005" y="1412776"/>
            <a:ext cx="7772400" cy="135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547688" indent="-22860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822325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096963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3716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1828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286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743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004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zh-CN" altLang="en-US" sz="2800" b="1" dirty="0"/>
              <a:t>模板</a:t>
            </a:r>
            <a:r>
              <a:rPr lang="en-US" altLang="zh-CN" sz="2800" b="1" dirty="0"/>
              <a:t>: </a:t>
            </a:r>
            <a:r>
              <a:rPr lang="zh-CN" altLang="en-US" sz="2800" b="1" dirty="0">
                <a:solidFill>
                  <a:srgbClr val="FF0000"/>
                </a:solidFill>
              </a:rPr>
              <a:t>类型参数化 </a:t>
            </a:r>
            <a:endParaRPr lang="en-US" altLang="zh-CN" sz="2800" b="1" dirty="0"/>
          </a:p>
        </p:txBody>
      </p:sp>
      <p:sp>
        <p:nvSpPr>
          <p:cNvPr id="2" name="矩形 1"/>
          <p:cNvSpPr/>
          <p:nvPr/>
        </p:nvSpPr>
        <p:spPr>
          <a:xfrm>
            <a:off x="3124200" y="2092226"/>
            <a:ext cx="4564361" cy="8654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eaLnBrk="1" hangingPunct="1">
              <a:lnSpc>
                <a:spcPct val="150000"/>
              </a:lnSpc>
              <a:spcBef>
                <a:spcPts val="600"/>
              </a:spcBef>
            </a:pPr>
            <a:r>
              <a:rPr lang="zh-CN" altLang="en-US" sz="1800" dirty="0"/>
              <a:t>使得</a:t>
            </a:r>
            <a:r>
              <a:rPr lang="zh-CN" alt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一段源代码</a:t>
            </a:r>
            <a:r>
              <a:rPr lang="zh-CN" altLang="en-US" sz="1800" dirty="0"/>
              <a:t>可用于多种不类型的对象</a:t>
            </a:r>
            <a:r>
              <a:rPr lang="en-US" altLang="zh-CN" sz="1800" dirty="0"/>
              <a:t>~ </a:t>
            </a:r>
            <a:r>
              <a:rPr lang="zh-CN" altLang="en-US" sz="1800" b="1" dirty="0">
                <a:solidFill>
                  <a:srgbClr val="FF0000"/>
                </a:solidFill>
              </a:rPr>
              <a:t>参数化多态</a:t>
            </a:r>
            <a:endParaRPr lang="en-US" altLang="zh-CN" sz="1800" b="1" dirty="0"/>
          </a:p>
        </p:txBody>
      </p:sp>
      <p:sp>
        <p:nvSpPr>
          <p:cNvPr id="3" name="任意多边形 2"/>
          <p:cNvSpPr/>
          <p:nvPr/>
        </p:nvSpPr>
        <p:spPr>
          <a:xfrm>
            <a:off x="2555776" y="1898592"/>
            <a:ext cx="457955" cy="570271"/>
          </a:xfrm>
          <a:custGeom>
            <a:avLst/>
            <a:gdLst>
              <a:gd name="connsiteX0" fmla="*/ 457955 w 457955"/>
              <a:gd name="connsiteY0" fmla="*/ 570271 h 570271"/>
              <a:gd name="connsiteX1" fmla="*/ 15503 w 457955"/>
              <a:gd name="connsiteY1" fmla="*/ 265471 h 570271"/>
              <a:gd name="connsiteX2" fmla="*/ 143322 w 457955"/>
              <a:gd name="connsiteY2" fmla="*/ 0 h 57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7955" h="570271">
                <a:moveTo>
                  <a:pt x="457955" y="570271"/>
                </a:moveTo>
                <a:cubicBezTo>
                  <a:pt x="262948" y="465393"/>
                  <a:pt x="67942" y="360516"/>
                  <a:pt x="15503" y="265471"/>
                </a:cubicBezTo>
                <a:cubicBezTo>
                  <a:pt x="-36936" y="170426"/>
                  <a:pt x="53193" y="85213"/>
                  <a:pt x="143322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27584" y="5157192"/>
            <a:ext cx="76546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zh-CN" sz="2800" b="1" dirty="0">
                <a:solidFill>
                  <a:srgbClr val="C00000"/>
                </a:solidFill>
              </a:rPr>
              <a:t>• </a:t>
            </a:r>
            <a:r>
              <a:rPr lang="zh-CN" altLang="en-US" sz="2800" b="1" dirty="0"/>
              <a:t>模板是</a:t>
            </a:r>
            <a:r>
              <a:rPr lang="zh-CN" altLang="en-US" sz="2800" b="1" dirty="0">
                <a:solidFill>
                  <a:srgbClr val="FF0000"/>
                </a:solidFill>
              </a:rPr>
              <a:t>泛型</a:t>
            </a:r>
            <a:r>
              <a:rPr lang="zh-CN" altLang="en-US" sz="2800" b="1" dirty="0"/>
              <a:t>技术的基础 </a:t>
            </a:r>
            <a:r>
              <a:rPr lang="en-US" altLang="zh-CN" sz="3200" b="1" dirty="0">
                <a:solidFill>
                  <a:srgbClr val="006600"/>
                </a:solidFill>
              </a:rPr>
              <a:t>~ </a:t>
            </a:r>
            <a:r>
              <a:rPr lang="zh-CN" altLang="en-US" sz="3200" b="1" dirty="0">
                <a:solidFill>
                  <a:srgbClr val="006600"/>
                </a:solidFill>
              </a:rPr>
              <a:t>第</a:t>
            </a:r>
            <a:r>
              <a:rPr lang="en-US" altLang="zh-CN" sz="3200" b="1" dirty="0">
                <a:solidFill>
                  <a:srgbClr val="006600"/>
                </a:solidFill>
              </a:rPr>
              <a:t>7</a:t>
            </a:r>
            <a:r>
              <a:rPr lang="zh-CN" altLang="en-US" sz="3200" b="1" dirty="0">
                <a:solidFill>
                  <a:srgbClr val="006600"/>
                </a:solidFill>
              </a:rPr>
              <a:t>讲（</a:t>
            </a:r>
            <a:r>
              <a:rPr lang="zh-CN" altLang="en-US" sz="2800" dirty="0">
                <a:solidFill>
                  <a:srgbClr val="006600"/>
                </a:solidFill>
              </a:rPr>
              <a:t>第</a:t>
            </a:r>
            <a:r>
              <a:rPr lang="en-US" altLang="zh-CN" sz="2800" dirty="0">
                <a:solidFill>
                  <a:srgbClr val="006600"/>
                </a:solidFill>
              </a:rPr>
              <a:t>10</a:t>
            </a:r>
            <a:r>
              <a:rPr lang="zh-CN" altLang="en-US" sz="2800" dirty="0">
                <a:solidFill>
                  <a:srgbClr val="006600"/>
                </a:solidFill>
              </a:rPr>
              <a:t>章）</a:t>
            </a:r>
          </a:p>
        </p:txBody>
      </p:sp>
      <p:sp>
        <p:nvSpPr>
          <p:cNvPr id="13" name="矩形 12"/>
          <p:cNvSpPr/>
          <p:nvPr/>
        </p:nvSpPr>
        <p:spPr>
          <a:xfrm>
            <a:off x="1050613" y="3729571"/>
            <a:ext cx="52776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-apple-system"/>
              </a:rPr>
              <a:t>目的</a:t>
            </a:r>
            <a:r>
              <a:rPr lang="zh-CN" altLang="en-US" sz="2000" dirty="0">
                <a:latin typeface="-apple-system"/>
              </a:rPr>
              <a:t>：就是为了减少重复代码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347255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6.1</a:t>
            </a:r>
            <a:r>
              <a:rPr lang="en-US" altLang="zh-CN" dirty="0">
                <a:latin typeface="+mn-ea"/>
                <a:ea typeface="+mn-ea"/>
              </a:rPr>
              <a:t> </a:t>
            </a:r>
            <a:r>
              <a:rPr lang="zh-CN" altLang="en-US" dirty="0">
                <a:latin typeface="+mj-ea"/>
              </a:rPr>
              <a:t>模板的概念</a:t>
            </a:r>
            <a:endParaRPr lang="en-US" altLang="zh-CN" dirty="0">
              <a:latin typeface="+mj-ea"/>
            </a:endParaRPr>
          </a:p>
        </p:txBody>
      </p:sp>
      <p:sp>
        <p:nvSpPr>
          <p:cNvPr id="18436" name="矩形 2"/>
          <p:cNvSpPr>
            <a:spLocks noChangeArrowheads="1"/>
          </p:cNvSpPr>
          <p:nvPr/>
        </p:nvSpPr>
        <p:spPr bwMode="auto">
          <a:xfrm>
            <a:off x="395536" y="1772816"/>
            <a:ext cx="8352928" cy="3200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4318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8890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88900" lvl="2" indent="0" eaLnBrk="1" hangingPunct="1">
              <a:spcBef>
                <a:spcPts val="600"/>
              </a:spcBef>
              <a:buClr>
                <a:schemeClr val="accent1"/>
              </a:buClr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模板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template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  <a:r>
              <a:rPr lang="zh-CN" altLang="en-US" sz="2800" b="1" dirty="0">
                <a:latin typeface="Comic Sans MS" panose="030F0702030302020204" pitchFamily="66" charset="0"/>
              </a:rPr>
              <a:t>概念</a:t>
            </a:r>
            <a:endParaRPr lang="en-US" altLang="zh-CN" sz="2800" b="1" dirty="0">
              <a:latin typeface="Comic Sans MS" panose="030F0702030302020204" pitchFamily="66" charset="0"/>
            </a:endParaRPr>
          </a:p>
          <a:p>
            <a:pPr marL="88900" lvl="2" indent="0" eaLnBrk="1" hangingPunct="1">
              <a:spcBef>
                <a:spcPts val="600"/>
              </a:spcBef>
              <a:buClr>
                <a:schemeClr val="accent1"/>
              </a:buClr>
            </a:pPr>
            <a:endParaRPr lang="en-US" altLang="zh-CN" sz="2800" b="1" dirty="0">
              <a:latin typeface="Comic Sans MS" panose="030F0702030302020204" pitchFamily="66" charset="0"/>
            </a:endParaRPr>
          </a:p>
          <a:p>
            <a:pPr lvl="3"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函数模板</a:t>
            </a:r>
            <a:r>
              <a:rPr lang="zh-CN" altLang="en-US" sz="2800" dirty="0">
                <a:latin typeface="宋体" panose="02010600030101010101" pitchFamily="2" charset="-122"/>
              </a:rPr>
              <a:t>：对具有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相同特性</a:t>
            </a:r>
            <a:r>
              <a:rPr lang="zh-CN" altLang="en-US" sz="2800" dirty="0">
                <a:latin typeface="宋体" panose="02010600030101010101" pitchFamily="2" charset="-122"/>
              </a:rPr>
              <a:t>的函数描述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再抽象。</a:t>
            </a:r>
            <a:endParaRPr lang="zh-CN" altLang="en-US" sz="2800" dirty="0"/>
          </a:p>
          <a:p>
            <a:pPr lvl="3"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2800" dirty="0">
              <a:latin typeface="宋体" panose="02010600030101010101" pitchFamily="2" charset="-122"/>
            </a:endParaRPr>
          </a:p>
          <a:p>
            <a:pPr lvl="3"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类模板</a:t>
            </a:r>
            <a:r>
              <a:rPr lang="zh-CN" altLang="en-US" sz="2800" dirty="0">
                <a:latin typeface="宋体" panose="02010600030101010101" pitchFamily="2" charset="-122"/>
              </a:rPr>
              <a:t>：对具有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相同特性</a:t>
            </a:r>
            <a:r>
              <a:rPr lang="zh-CN" altLang="en-US" sz="2800" dirty="0">
                <a:latin typeface="宋体" panose="02010600030101010101" pitchFamily="2" charset="-122"/>
              </a:rPr>
              <a:t>的类的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再抽象。</a:t>
            </a:r>
            <a:endParaRPr lang="en-US" altLang="zh-CN" sz="2800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267744" y="3484964"/>
            <a:ext cx="2880320" cy="477709"/>
            <a:chOff x="2267744" y="3484964"/>
            <a:chExt cx="2880320" cy="477709"/>
          </a:xfrm>
        </p:grpSpPr>
        <p:sp>
          <p:nvSpPr>
            <p:cNvPr id="7" name="矩形 6"/>
            <p:cNvSpPr/>
            <p:nvPr/>
          </p:nvSpPr>
          <p:spPr>
            <a:xfrm>
              <a:off x="2699792" y="3501008"/>
              <a:ext cx="2448272" cy="461665"/>
            </a:xfrm>
            <a:prstGeom prst="rect">
              <a:avLst/>
            </a:prstGeom>
            <a:solidFill>
              <a:srgbClr val="FF0000">
                <a:alpha val="15000"/>
              </a:srgbClr>
            </a:solidFill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  <a:latin typeface="宋体" panose="02010600030101010101" pitchFamily="2" charset="-122"/>
                </a:rPr>
                <a:t>不是函数！！！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10" name="直接箭头连接符 9"/>
            <p:cNvCxnSpPr>
              <a:stCxn id="7" idx="1"/>
            </p:cNvCxnSpPr>
            <p:nvPr/>
          </p:nvCxnSpPr>
          <p:spPr>
            <a:xfrm flipH="1" flipV="1">
              <a:off x="2267744" y="3484964"/>
              <a:ext cx="432048" cy="24687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2267744" y="4967515"/>
            <a:ext cx="2880320" cy="477709"/>
            <a:chOff x="2267744" y="4967515"/>
            <a:chExt cx="2880320" cy="477709"/>
          </a:xfrm>
        </p:grpSpPr>
        <p:sp>
          <p:nvSpPr>
            <p:cNvPr id="15" name="矩形 14"/>
            <p:cNvSpPr/>
            <p:nvPr/>
          </p:nvSpPr>
          <p:spPr>
            <a:xfrm>
              <a:off x="2699792" y="4983559"/>
              <a:ext cx="2448272" cy="461665"/>
            </a:xfrm>
            <a:prstGeom prst="rect">
              <a:avLst/>
            </a:prstGeom>
            <a:solidFill>
              <a:srgbClr val="FF0000">
                <a:alpha val="15000"/>
              </a:srgbClr>
            </a:solidFill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  <a:latin typeface="宋体" panose="02010600030101010101" pitchFamily="2" charset="-122"/>
                </a:rPr>
                <a:t>不是类！！！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16" name="直接箭头连接符 15"/>
            <p:cNvCxnSpPr>
              <a:stCxn id="15" idx="1"/>
            </p:cNvCxnSpPr>
            <p:nvPr/>
          </p:nvCxnSpPr>
          <p:spPr>
            <a:xfrm flipH="1" flipV="1">
              <a:off x="2267744" y="4967515"/>
              <a:ext cx="432048" cy="24687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大纲</a:t>
            </a:r>
          </a:p>
        </p:txBody>
      </p:sp>
      <p:grpSp>
        <p:nvGrpSpPr>
          <p:cNvPr id="20482" name="Group 117"/>
          <p:cNvGrpSpPr>
            <a:grpSpLocks/>
          </p:cNvGrpSpPr>
          <p:nvPr/>
        </p:nvGrpSpPr>
        <p:grpSpPr bwMode="auto">
          <a:xfrm>
            <a:off x="2124075" y="2901950"/>
            <a:ext cx="5310188" cy="609600"/>
            <a:chOff x="1263" y="1881"/>
            <a:chExt cx="3345" cy="384"/>
          </a:xfrm>
        </p:grpSpPr>
        <p:grpSp>
          <p:nvGrpSpPr>
            <p:cNvPr id="20515" name="Group 118"/>
            <p:cNvGrpSpPr>
              <a:grpSpLocks/>
            </p:cNvGrpSpPr>
            <p:nvPr/>
          </p:nvGrpSpPr>
          <p:grpSpPr bwMode="auto">
            <a:xfrm>
              <a:off x="1263" y="1881"/>
              <a:ext cx="384" cy="384"/>
              <a:chOff x="816" y="1872"/>
              <a:chExt cx="384" cy="384"/>
            </a:xfrm>
          </p:grpSpPr>
          <p:sp>
            <p:nvSpPr>
              <p:cNvPr id="56" name="Oval 119"/>
              <p:cNvSpPr>
                <a:spLocks noChangeArrowheads="1"/>
              </p:cNvSpPr>
              <p:nvPr/>
            </p:nvSpPr>
            <p:spPr bwMode="gray">
              <a:xfrm>
                <a:off x="816" y="1872"/>
                <a:ext cx="384" cy="38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tint val="0"/>
                      <a:invGamma/>
                    </a:schemeClr>
                  </a:gs>
                  <a:gs pos="5000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57" name="Oval 120"/>
              <p:cNvSpPr>
                <a:spLocks noChangeArrowheads="1"/>
              </p:cNvSpPr>
              <p:nvPr/>
            </p:nvSpPr>
            <p:spPr bwMode="gray">
              <a:xfrm>
                <a:off x="816" y="1872"/>
                <a:ext cx="384" cy="38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alpha val="32001"/>
                    </a:schemeClr>
                  </a:gs>
                  <a:gs pos="100000">
                    <a:schemeClr val="accent2">
                      <a:gamma/>
                      <a:shade val="0"/>
                      <a:invGamma/>
                      <a:alpha val="89999"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58" name="Oval 121"/>
              <p:cNvSpPr>
                <a:spLocks noChangeArrowheads="1"/>
              </p:cNvSpPr>
              <p:nvPr/>
            </p:nvSpPr>
            <p:spPr bwMode="gray">
              <a:xfrm>
                <a:off x="841" y="1897"/>
                <a:ext cx="334" cy="33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54118"/>
                      <a:invGamma/>
                    </a:schemeClr>
                  </a:gs>
                  <a:gs pos="50000">
                    <a:schemeClr val="accent2"/>
                  </a:gs>
                  <a:gs pos="100000">
                    <a:schemeClr val="accent2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59" name="Oval 122"/>
              <p:cNvSpPr>
                <a:spLocks noChangeArrowheads="1"/>
              </p:cNvSpPr>
              <p:nvPr/>
            </p:nvSpPr>
            <p:spPr bwMode="gray">
              <a:xfrm>
                <a:off x="866" y="1922"/>
                <a:ext cx="334" cy="33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63529"/>
                      <a:invGamma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20523" name="Oval 123"/>
              <p:cNvSpPr>
                <a:spLocks noChangeArrowheads="1"/>
              </p:cNvSpPr>
              <p:nvPr/>
            </p:nvSpPr>
            <p:spPr bwMode="gray">
              <a:xfrm>
                <a:off x="859" y="1914"/>
                <a:ext cx="300" cy="30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24" name="Oval 124"/>
              <p:cNvSpPr>
                <a:spLocks noChangeArrowheads="1"/>
              </p:cNvSpPr>
              <p:nvPr/>
            </p:nvSpPr>
            <p:spPr bwMode="gray">
              <a:xfrm>
                <a:off x="864" y="1919"/>
                <a:ext cx="291" cy="291"/>
              </a:xfrm>
              <a:prstGeom prst="ellipse">
                <a:avLst/>
              </a:prstGeom>
              <a:gradFill rotWithShape="1">
                <a:gsLst>
                  <a:gs pos="0">
                    <a:srgbClr val="595959"/>
                  </a:gs>
                  <a:gs pos="100000">
                    <a:srgbClr val="C0C0C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25" name="Oval 125"/>
              <p:cNvSpPr>
                <a:spLocks noChangeArrowheads="1"/>
              </p:cNvSpPr>
              <p:nvPr/>
            </p:nvSpPr>
            <p:spPr bwMode="gray">
              <a:xfrm>
                <a:off x="868" y="1921"/>
                <a:ext cx="283" cy="283"/>
              </a:xfrm>
              <a:prstGeom prst="ellipse">
                <a:avLst/>
              </a:prstGeom>
              <a:gradFill rotWithShape="1">
                <a:gsLst>
                  <a:gs pos="0">
                    <a:srgbClr val="C0C0C0">
                      <a:alpha val="0"/>
                    </a:srgbClr>
                  </a:gs>
                  <a:gs pos="100000">
                    <a:srgbClr val="E9E9E9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26" name="Oval 126"/>
              <p:cNvSpPr>
                <a:spLocks noChangeArrowheads="1"/>
              </p:cNvSpPr>
              <p:nvPr/>
            </p:nvSpPr>
            <p:spPr bwMode="gray">
              <a:xfrm>
                <a:off x="871" y="1923"/>
                <a:ext cx="270" cy="265"/>
              </a:xfrm>
              <a:prstGeom prst="ellipse">
                <a:avLst/>
              </a:prstGeom>
              <a:gradFill rotWithShape="1">
                <a:gsLst>
                  <a:gs pos="0">
                    <a:srgbClr val="989898"/>
                  </a:gs>
                  <a:gs pos="100000">
                    <a:srgbClr val="C0C0C0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27" name="Oval 127"/>
              <p:cNvSpPr>
                <a:spLocks noChangeArrowheads="1"/>
              </p:cNvSpPr>
              <p:nvPr/>
            </p:nvSpPr>
            <p:spPr bwMode="gray">
              <a:xfrm>
                <a:off x="886" y="1931"/>
                <a:ext cx="240" cy="215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>
                      <a:alpha val="37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0516" name="Line 128"/>
            <p:cNvSpPr>
              <a:spLocks noChangeShapeType="1"/>
            </p:cNvSpPr>
            <p:nvPr/>
          </p:nvSpPr>
          <p:spPr bwMode="auto">
            <a:xfrm>
              <a:off x="1584" y="2235"/>
              <a:ext cx="3024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17" name="Text Box 129"/>
            <p:cNvSpPr txBox="1">
              <a:spLocks noChangeArrowheads="1"/>
            </p:cNvSpPr>
            <p:nvPr/>
          </p:nvSpPr>
          <p:spPr bwMode="auto">
            <a:xfrm>
              <a:off x="1728" y="1899"/>
              <a:ext cx="27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547688" indent="-22860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822325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096963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13716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1828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286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2743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2004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 2" panose="05020102010507070707" pitchFamily="18" charset="2"/>
                <a:buNone/>
              </a:pPr>
              <a:r>
                <a:rPr lang="zh-CN" altLang="en-US" sz="2400">
                  <a:solidFill>
                    <a:srgbClr val="C00000"/>
                  </a:solidFill>
                  <a:latin typeface="Times New Roman" panose="02020603050405020304" pitchFamily="18" charset="0"/>
                </a:rPr>
                <a:t>函数模板</a:t>
              </a:r>
            </a:p>
          </p:txBody>
        </p:sp>
        <p:sp>
          <p:nvSpPr>
            <p:cNvPr id="20518" name="Text Box 130"/>
            <p:cNvSpPr txBox="1">
              <a:spLocks noChangeArrowheads="1"/>
            </p:cNvSpPr>
            <p:nvPr/>
          </p:nvSpPr>
          <p:spPr bwMode="gray">
            <a:xfrm>
              <a:off x="1344" y="1934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547688" indent="-22860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822325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096963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13716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1828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286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2743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2004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20483" name="Group 145"/>
          <p:cNvGrpSpPr>
            <a:grpSpLocks/>
          </p:cNvGrpSpPr>
          <p:nvPr/>
        </p:nvGrpSpPr>
        <p:grpSpPr bwMode="auto">
          <a:xfrm>
            <a:off x="2124075" y="1989138"/>
            <a:ext cx="5334000" cy="628650"/>
            <a:chOff x="1248" y="1188"/>
            <a:chExt cx="3360" cy="396"/>
          </a:xfrm>
        </p:grpSpPr>
        <p:sp>
          <p:nvSpPr>
            <p:cNvPr id="20500" name="Line 146"/>
            <p:cNvSpPr>
              <a:spLocks noChangeShapeType="1"/>
            </p:cNvSpPr>
            <p:nvPr/>
          </p:nvSpPr>
          <p:spPr bwMode="auto">
            <a:xfrm>
              <a:off x="1584" y="1524"/>
              <a:ext cx="3024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1" name="Text Box 147"/>
            <p:cNvSpPr txBox="1">
              <a:spLocks noChangeArrowheads="1"/>
            </p:cNvSpPr>
            <p:nvPr/>
          </p:nvSpPr>
          <p:spPr bwMode="auto">
            <a:xfrm>
              <a:off x="1728" y="1188"/>
              <a:ext cx="27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547688" indent="-22860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822325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096963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13716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1828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286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2743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2004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模板的概念</a:t>
              </a:r>
            </a:p>
          </p:txBody>
        </p:sp>
        <p:grpSp>
          <p:nvGrpSpPr>
            <p:cNvPr id="20502" name="Group 148"/>
            <p:cNvGrpSpPr>
              <a:grpSpLocks/>
            </p:cNvGrpSpPr>
            <p:nvPr/>
          </p:nvGrpSpPr>
          <p:grpSpPr bwMode="auto">
            <a:xfrm>
              <a:off x="1248" y="1200"/>
              <a:ext cx="384" cy="384"/>
              <a:chOff x="1248" y="1200"/>
              <a:chExt cx="384" cy="384"/>
            </a:xfrm>
          </p:grpSpPr>
          <p:grpSp>
            <p:nvGrpSpPr>
              <p:cNvPr id="20503" name="Group 149"/>
              <p:cNvGrpSpPr>
                <a:grpSpLocks/>
              </p:cNvGrpSpPr>
              <p:nvPr/>
            </p:nvGrpSpPr>
            <p:grpSpPr bwMode="auto">
              <a:xfrm>
                <a:off x="1248" y="1200"/>
                <a:ext cx="384" cy="384"/>
                <a:chOff x="2016" y="912"/>
                <a:chExt cx="384" cy="384"/>
              </a:xfrm>
            </p:grpSpPr>
            <p:sp>
              <p:nvSpPr>
                <p:cNvPr id="20505" name="Text Box 150"/>
                <p:cNvSpPr txBox="1">
                  <a:spLocks noChangeArrowheads="1"/>
                </p:cNvSpPr>
                <p:nvPr/>
              </p:nvSpPr>
              <p:spPr bwMode="gray">
                <a:xfrm>
                  <a:off x="2094" y="960"/>
                  <a:ext cx="22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30" name="Oval 151"/>
                <p:cNvSpPr>
                  <a:spLocks noChangeArrowheads="1"/>
                </p:cNvSpPr>
                <p:nvPr/>
              </p:nvSpPr>
              <p:spPr bwMode="gray">
                <a:xfrm>
                  <a:off x="2016" y="912"/>
                  <a:ext cx="384" cy="38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hlink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/>
              </p:spPr>
              <p:txBody>
                <a:bodyPr wrap="none"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31" name="Oval 152"/>
                <p:cNvSpPr>
                  <a:spLocks noChangeArrowheads="1"/>
                </p:cNvSpPr>
                <p:nvPr/>
              </p:nvSpPr>
              <p:spPr bwMode="gray">
                <a:xfrm>
                  <a:off x="2016" y="912"/>
                  <a:ext cx="384" cy="38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alpha val="32001"/>
                      </a:schemeClr>
                    </a:gs>
                    <a:gs pos="100000">
                      <a:schemeClr val="hlink">
                        <a:gamma/>
                        <a:shade val="0"/>
                        <a:invGamma/>
                        <a:alpha val="89999"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32" name="Oval 153"/>
                <p:cNvSpPr>
                  <a:spLocks noChangeArrowheads="1"/>
                </p:cNvSpPr>
                <p:nvPr/>
              </p:nvSpPr>
              <p:spPr bwMode="gray">
                <a:xfrm>
                  <a:off x="2034" y="918"/>
                  <a:ext cx="334" cy="33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33" name="Oval 154"/>
                <p:cNvSpPr>
                  <a:spLocks noChangeArrowheads="1"/>
                </p:cNvSpPr>
                <p:nvPr/>
              </p:nvSpPr>
              <p:spPr bwMode="gray">
                <a:xfrm>
                  <a:off x="2040" y="936"/>
                  <a:ext cx="334" cy="33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63529"/>
                        <a:invGamma/>
                      </a:schemeClr>
                    </a:gs>
                    <a:gs pos="100000">
                      <a:schemeClr val="hlink">
                        <a:alpha val="0"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20510" name="Oval 155"/>
                <p:cNvSpPr>
                  <a:spLocks noChangeArrowheads="1"/>
                </p:cNvSpPr>
                <p:nvPr/>
              </p:nvSpPr>
              <p:spPr bwMode="gray">
                <a:xfrm>
                  <a:off x="2052" y="948"/>
                  <a:ext cx="300" cy="300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11" name="Oval 156"/>
                <p:cNvSpPr>
                  <a:spLocks noChangeArrowheads="1"/>
                </p:cNvSpPr>
                <p:nvPr/>
              </p:nvSpPr>
              <p:spPr bwMode="gray">
                <a:xfrm>
                  <a:off x="2064" y="959"/>
                  <a:ext cx="291" cy="29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95959"/>
                    </a:gs>
                    <a:gs pos="100000">
                      <a:srgbClr val="C0C0C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12" name="Oval 157"/>
                <p:cNvSpPr>
                  <a:spLocks noChangeArrowheads="1"/>
                </p:cNvSpPr>
                <p:nvPr/>
              </p:nvSpPr>
              <p:spPr bwMode="gray">
                <a:xfrm>
                  <a:off x="2068" y="961"/>
                  <a:ext cx="283" cy="28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0C0C0">
                        <a:alpha val="0"/>
                      </a:srgbClr>
                    </a:gs>
                    <a:gs pos="100000">
                      <a:srgbClr val="E9E9E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13" name="Oval 158"/>
                <p:cNvSpPr>
                  <a:spLocks noChangeArrowheads="1"/>
                </p:cNvSpPr>
                <p:nvPr/>
              </p:nvSpPr>
              <p:spPr bwMode="gray">
                <a:xfrm>
                  <a:off x="2071" y="963"/>
                  <a:ext cx="270" cy="26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89898"/>
                    </a:gs>
                    <a:gs pos="100000">
                      <a:srgbClr val="C0C0C0">
                        <a:alpha val="48000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14" name="Oval 159"/>
                <p:cNvSpPr>
                  <a:spLocks noChangeArrowheads="1"/>
                </p:cNvSpPr>
                <p:nvPr/>
              </p:nvSpPr>
              <p:spPr bwMode="gray">
                <a:xfrm>
                  <a:off x="2086" y="971"/>
                  <a:ext cx="240" cy="2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>
                        <a:alpha val="37999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0504" name="Text Box 160"/>
              <p:cNvSpPr txBox="1">
                <a:spLocks noChangeArrowheads="1"/>
              </p:cNvSpPr>
              <p:nvPr/>
            </p:nvSpPr>
            <p:spPr bwMode="gray">
              <a:xfrm>
                <a:off x="1326" y="1248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</p:grpSp>
      <p:grpSp>
        <p:nvGrpSpPr>
          <p:cNvPr id="20484" name="Group 161"/>
          <p:cNvGrpSpPr>
            <a:grpSpLocks/>
          </p:cNvGrpSpPr>
          <p:nvPr/>
        </p:nvGrpSpPr>
        <p:grpSpPr bwMode="auto">
          <a:xfrm>
            <a:off x="2124075" y="3910013"/>
            <a:ext cx="5334000" cy="633412"/>
            <a:chOff x="1248" y="2326"/>
            <a:chExt cx="3360" cy="398"/>
          </a:xfrm>
        </p:grpSpPr>
        <p:sp>
          <p:nvSpPr>
            <p:cNvPr id="20485" name="Line 162"/>
            <p:cNvSpPr>
              <a:spLocks noChangeShapeType="1"/>
            </p:cNvSpPr>
            <p:nvPr/>
          </p:nvSpPr>
          <p:spPr bwMode="auto">
            <a:xfrm>
              <a:off x="1584" y="2662"/>
              <a:ext cx="3024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86" name="Text Box 163"/>
            <p:cNvSpPr txBox="1">
              <a:spLocks noChangeArrowheads="1"/>
            </p:cNvSpPr>
            <p:nvPr/>
          </p:nvSpPr>
          <p:spPr bwMode="auto">
            <a:xfrm>
              <a:off x="1728" y="2326"/>
              <a:ext cx="27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547688" indent="-22860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822325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096963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13716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1828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286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2743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2004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类模板</a:t>
              </a:r>
            </a:p>
          </p:txBody>
        </p:sp>
        <p:grpSp>
          <p:nvGrpSpPr>
            <p:cNvPr id="20487" name="Group 164"/>
            <p:cNvGrpSpPr>
              <a:grpSpLocks/>
            </p:cNvGrpSpPr>
            <p:nvPr/>
          </p:nvGrpSpPr>
          <p:grpSpPr bwMode="auto">
            <a:xfrm>
              <a:off x="1248" y="2340"/>
              <a:ext cx="384" cy="384"/>
              <a:chOff x="1248" y="1200"/>
              <a:chExt cx="384" cy="384"/>
            </a:xfrm>
          </p:grpSpPr>
          <p:grpSp>
            <p:nvGrpSpPr>
              <p:cNvPr id="20488" name="Group 165"/>
              <p:cNvGrpSpPr>
                <a:grpSpLocks/>
              </p:cNvGrpSpPr>
              <p:nvPr/>
            </p:nvGrpSpPr>
            <p:grpSpPr bwMode="auto">
              <a:xfrm>
                <a:off x="1248" y="1200"/>
                <a:ext cx="384" cy="384"/>
                <a:chOff x="2016" y="912"/>
                <a:chExt cx="384" cy="384"/>
              </a:xfrm>
            </p:grpSpPr>
            <p:sp>
              <p:nvSpPr>
                <p:cNvPr id="20490" name="Text Box 166"/>
                <p:cNvSpPr txBox="1">
                  <a:spLocks noChangeArrowheads="1"/>
                </p:cNvSpPr>
                <p:nvPr/>
              </p:nvSpPr>
              <p:spPr bwMode="gray">
                <a:xfrm>
                  <a:off x="2094" y="960"/>
                  <a:ext cx="22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15" name="Oval 167"/>
                <p:cNvSpPr>
                  <a:spLocks noChangeArrowheads="1"/>
                </p:cNvSpPr>
                <p:nvPr/>
              </p:nvSpPr>
              <p:spPr bwMode="gray">
                <a:xfrm>
                  <a:off x="2016" y="912"/>
                  <a:ext cx="384" cy="38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hlink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/>
              </p:spPr>
              <p:txBody>
                <a:bodyPr wrap="none"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16" name="Oval 168"/>
                <p:cNvSpPr>
                  <a:spLocks noChangeArrowheads="1"/>
                </p:cNvSpPr>
                <p:nvPr/>
              </p:nvSpPr>
              <p:spPr bwMode="gray">
                <a:xfrm>
                  <a:off x="2016" y="912"/>
                  <a:ext cx="384" cy="38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alpha val="32001"/>
                      </a:schemeClr>
                    </a:gs>
                    <a:gs pos="100000">
                      <a:schemeClr val="hlink">
                        <a:gamma/>
                        <a:shade val="0"/>
                        <a:invGamma/>
                        <a:alpha val="89999"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17" name="Oval 169"/>
                <p:cNvSpPr>
                  <a:spLocks noChangeArrowheads="1"/>
                </p:cNvSpPr>
                <p:nvPr/>
              </p:nvSpPr>
              <p:spPr bwMode="gray">
                <a:xfrm>
                  <a:off x="2034" y="918"/>
                  <a:ext cx="334" cy="33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18" name="Oval 170"/>
                <p:cNvSpPr>
                  <a:spLocks noChangeArrowheads="1"/>
                </p:cNvSpPr>
                <p:nvPr/>
              </p:nvSpPr>
              <p:spPr bwMode="gray">
                <a:xfrm>
                  <a:off x="2040" y="936"/>
                  <a:ext cx="334" cy="33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63529"/>
                        <a:invGamma/>
                      </a:schemeClr>
                    </a:gs>
                    <a:gs pos="100000">
                      <a:schemeClr val="hlink">
                        <a:alpha val="0"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20495" name="Oval 171"/>
                <p:cNvSpPr>
                  <a:spLocks noChangeArrowheads="1"/>
                </p:cNvSpPr>
                <p:nvPr/>
              </p:nvSpPr>
              <p:spPr bwMode="gray">
                <a:xfrm>
                  <a:off x="2052" y="948"/>
                  <a:ext cx="300" cy="300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496" name="Oval 172"/>
                <p:cNvSpPr>
                  <a:spLocks noChangeArrowheads="1"/>
                </p:cNvSpPr>
                <p:nvPr/>
              </p:nvSpPr>
              <p:spPr bwMode="gray">
                <a:xfrm>
                  <a:off x="2064" y="959"/>
                  <a:ext cx="291" cy="29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95959"/>
                    </a:gs>
                    <a:gs pos="100000">
                      <a:srgbClr val="C0C0C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497" name="Oval 173"/>
                <p:cNvSpPr>
                  <a:spLocks noChangeArrowheads="1"/>
                </p:cNvSpPr>
                <p:nvPr/>
              </p:nvSpPr>
              <p:spPr bwMode="gray">
                <a:xfrm>
                  <a:off x="2068" y="961"/>
                  <a:ext cx="283" cy="28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0C0C0">
                        <a:alpha val="0"/>
                      </a:srgbClr>
                    </a:gs>
                    <a:gs pos="100000">
                      <a:srgbClr val="E9E9E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498" name="Oval 174"/>
                <p:cNvSpPr>
                  <a:spLocks noChangeArrowheads="1"/>
                </p:cNvSpPr>
                <p:nvPr/>
              </p:nvSpPr>
              <p:spPr bwMode="gray">
                <a:xfrm>
                  <a:off x="2071" y="963"/>
                  <a:ext cx="270" cy="26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89898"/>
                    </a:gs>
                    <a:gs pos="100000">
                      <a:srgbClr val="C0C0C0">
                        <a:alpha val="48000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499" name="Oval 175"/>
                <p:cNvSpPr>
                  <a:spLocks noChangeArrowheads="1"/>
                </p:cNvSpPr>
                <p:nvPr/>
              </p:nvSpPr>
              <p:spPr bwMode="gray">
                <a:xfrm>
                  <a:off x="2086" y="971"/>
                  <a:ext cx="240" cy="2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>
                        <a:alpha val="37999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0489" name="Text Box 176"/>
              <p:cNvSpPr txBox="1">
                <a:spLocks noChangeArrowheads="1"/>
              </p:cNvSpPr>
              <p:nvPr/>
            </p:nvSpPr>
            <p:spPr bwMode="gray">
              <a:xfrm>
                <a:off x="1326" y="1248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-100013"/>
            <a:ext cx="4176713" cy="936626"/>
          </a:xfrm>
        </p:spPr>
        <p:txBody>
          <a:bodyPr/>
          <a:lstStyle/>
          <a:p>
            <a:pPr eaLnBrk="1" hangingPunct="1"/>
            <a:r>
              <a:rPr lang="en-US" altLang="zh-CN" dirty="0"/>
              <a:t>6.2  </a:t>
            </a:r>
            <a:r>
              <a:rPr lang="zh-CN" altLang="en-US" dirty="0"/>
              <a:t>函数模板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1173741" y="1659916"/>
            <a:ext cx="2559864" cy="431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400" dirty="0"/>
              <a:t>利用函数</a:t>
            </a:r>
            <a:r>
              <a:rPr lang="zh-CN" altLang="en-US" sz="2400" dirty="0">
                <a:solidFill>
                  <a:srgbClr val="FF0000"/>
                </a:solidFill>
              </a:rPr>
              <a:t>重载</a:t>
            </a:r>
            <a:r>
              <a:rPr lang="zh-CN" altLang="en-US" sz="2400" dirty="0"/>
              <a:t>：</a:t>
            </a:r>
          </a:p>
        </p:txBody>
      </p:sp>
      <p:sp>
        <p:nvSpPr>
          <p:cNvPr id="21506" name="矩形 1"/>
          <p:cNvSpPr>
            <a:spLocks noChangeArrowheads="1"/>
          </p:cNvSpPr>
          <p:nvPr/>
        </p:nvSpPr>
        <p:spPr bwMode="auto">
          <a:xfrm>
            <a:off x="611560" y="1045123"/>
            <a:ext cx="7777163" cy="42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rgbClr val="D34817"/>
              </a:buClr>
            </a:pPr>
            <a:r>
              <a:rPr lang="zh-CN" altLang="en-US" sz="2400" dirty="0">
                <a:solidFill>
                  <a:srgbClr val="9B2D1F"/>
                </a:solidFill>
              </a:rPr>
              <a:t>引例：对</a:t>
            </a:r>
            <a:r>
              <a:rPr lang="zh-CN" altLang="en-US" sz="2400" dirty="0">
                <a:solidFill>
                  <a:srgbClr val="FF0000"/>
                </a:solidFill>
              </a:rPr>
              <a:t>不同类型</a:t>
            </a:r>
            <a:r>
              <a:rPr lang="zh-CN" altLang="en-US" sz="2400" dirty="0">
                <a:solidFill>
                  <a:srgbClr val="9B2D1F"/>
                </a:solidFill>
              </a:rPr>
              <a:t>数据的最小数</a:t>
            </a:r>
            <a:r>
              <a:rPr lang="en-US" altLang="zh-CN" sz="2400" dirty="0" err="1">
                <a:solidFill>
                  <a:srgbClr val="9B2D1F"/>
                </a:solidFill>
              </a:rPr>
              <a:t>tmin</a:t>
            </a:r>
            <a:r>
              <a:rPr lang="zh-CN" altLang="en-US" sz="2400" dirty="0">
                <a:solidFill>
                  <a:srgbClr val="9B2D1F"/>
                </a:solidFill>
              </a:rPr>
              <a:t>函数方法</a:t>
            </a:r>
            <a:r>
              <a:rPr lang="en-US" altLang="zh-CN" sz="2400" dirty="0">
                <a:solidFill>
                  <a:srgbClr val="9B2D1F"/>
                </a:solidFill>
              </a:rPr>
              <a:t>.</a:t>
            </a:r>
            <a:endParaRPr lang="en-US" altLang="zh-CN" sz="2400" dirty="0">
              <a:solidFill>
                <a:srgbClr val="0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766996" y="1678050"/>
            <a:ext cx="4752528" cy="4801314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tmin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8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>
              <a:defRPr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 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8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altLang="zh-CN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? </a:t>
            </a:r>
            <a:r>
              <a:rPr lang="en-US" altLang="zh-CN" sz="18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</a:t>
            </a:r>
            <a:r>
              <a:rPr lang="en-US" altLang="zh-CN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</a:p>
          <a:p>
            <a:pPr>
              <a:defRPr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>
              <a:defRPr/>
            </a:pP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tmin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char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c1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char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c2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</a:p>
          <a:p>
            <a:pPr>
              <a:defRPr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 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c1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altLang="zh-CN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c2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? </a:t>
            </a:r>
            <a:r>
              <a:rPr lang="en-US" altLang="zh-CN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c1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</a:t>
            </a:r>
            <a:r>
              <a:rPr lang="en-US" altLang="zh-CN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c2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</a:p>
          <a:p>
            <a:pPr>
              <a:defRPr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>
              <a:defRPr/>
            </a:pP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float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tmin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float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f1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float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f2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</a:p>
          <a:p>
            <a:pPr>
              <a:defRPr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 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f1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altLang="zh-CN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f2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? </a:t>
            </a:r>
            <a:r>
              <a:rPr lang="en-US" altLang="zh-CN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f1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</a:t>
            </a:r>
            <a:r>
              <a:rPr lang="en-US" altLang="zh-CN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f2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</a:p>
          <a:p>
            <a:pPr>
              <a:defRPr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>
              <a:defRPr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……</a:t>
            </a:r>
          </a:p>
          <a:p>
            <a:pPr>
              <a:defRPr/>
            </a:pP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altLang="zh-CN" sz="1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tmin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(3, 4);</a:t>
            </a:r>
          </a:p>
          <a:p>
            <a:pPr>
              <a:defRPr/>
            </a:pPr>
            <a:r>
              <a:rPr lang="sv-SE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char</a:t>
            </a:r>
            <a:r>
              <a:rPr lang="sv-SE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ch = tmin(</a:t>
            </a:r>
            <a:r>
              <a:rPr lang="en-US" altLang="zh-CN" dirty="0"/>
              <a:t>'</a:t>
            </a:r>
            <a:r>
              <a:rPr lang="sv-SE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altLang="zh-CN" dirty="0">
                <a:highlight>
                  <a:srgbClr val="FFFFFF"/>
                </a:highlight>
              </a:rPr>
              <a:t>'</a:t>
            </a:r>
            <a:r>
              <a:rPr lang="sv-SE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altLang="zh-CN" dirty="0"/>
              <a:t>'</a:t>
            </a:r>
            <a:r>
              <a:rPr lang="sv-SE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altLang="zh-CN" dirty="0"/>
              <a:t>'</a:t>
            </a:r>
            <a:r>
              <a:rPr lang="sv-SE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>
              <a:defRPr/>
            </a:pP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float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f = 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tmin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(5.0, 1.0);</a:t>
            </a:r>
          </a:p>
          <a:p>
            <a:pPr>
              <a:defRPr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……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387738" y="2996952"/>
            <a:ext cx="3384376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2" indent="0" eaLnBrk="1" hangingPunct="1">
              <a:lnSpc>
                <a:spcPct val="150000"/>
              </a:lnSpc>
            </a:pPr>
            <a:r>
              <a:rPr lang="zh-CN" altLang="en-US" sz="3200" b="1" dirty="0">
                <a:solidFill>
                  <a:srgbClr val="FF0000"/>
                </a:solidFill>
              </a:rPr>
              <a:t>缺点</a:t>
            </a:r>
            <a:r>
              <a:rPr lang="zh-CN" altLang="en-US" sz="3200" b="1" dirty="0"/>
              <a:t>：</a:t>
            </a:r>
            <a:endParaRPr lang="en-US" altLang="zh-CN" sz="3200" b="1" dirty="0"/>
          </a:p>
          <a:p>
            <a:pPr marL="0" lvl="2" indent="0" eaLnBrk="1" hangingPunct="1">
              <a:lnSpc>
                <a:spcPct val="150000"/>
              </a:lnSpc>
            </a:pPr>
            <a:r>
              <a:rPr lang="zh-CN" altLang="en-US" sz="2800" b="1" dirty="0"/>
              <a:t>相同逻辑</a:t>
            </a:r>
            <a:r>
              <a:rPr lang="zh-CN" altLang="en-US" sz="2800" b="1" dirty="0">
                <a:solidFill>
                  <a:srgbClr val="FF0000"/>
                </a:solidFill>
              </a:rPr>
              <a:t>重复</a:t>
            </a:r>
            <a:r>
              <a:rPr lang="zh-CN" altLang="en-US" sz="2800" b="1" dirty="0"/>
              <a:t>描述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dirty="0"/>
              <a:t>6.2  </a:t>
            </a:r>
            <a:r>
              <a:rPr lang="zh-CN" altLang="en-US" dirty="0"/>
              <a:t>函数模板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3554" name="Rectangle 2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lvl="1" eaLnBrk="1" hangingPunct="1">
              <a:lnSpc>
                <a:spcPct val="80000"/>
              </a:lnSpc>
            </a:pPr>
            <a:r>
              <a:rPr lang="zh-CN" altLang="en-US" dirty="0"/>
              <a:t>用模板 </a:t>
            </a:r>
            <a:r>
              <a:rPr lang="en-US" altLang="zh-CN" dirty="0">
                <a:solidFill>
                  <a:srgbClr val="FF0000"/>
                </a:solidFill>
              </a:rPr>
              <a:t>Template</a:t>
            </a:r>
            <a:r>
              <a:rPr lang="en-US" altLang="zh-CN" dirty="0"/>
              <a:t> </a:t>
            </a:r>
            <a:r>
              <a:rPr lang="zh-CN" altLang="en-US" dirty="0"/>
              <a:t>实现的</a:t>
            </a:r>
            <a:r>
              <a:rPr lang="en-US" altLang="zh-CN" dirty="0" err="1"/>
              <a:t>tmin</a:t>
            </a:r>
            <a:r>
              <a:rPr lang="zh-CN" altLang="en-US" dirty="0"/>
              <a:t>函数</a:t>
            </a:r>
          </a:p>
          <a:p>
            <a:pPr marL="0" indent="0" eaLnBrk="1" hangingPunct="1">
              <a:lnSpc>
                <a:spcPct val="80000"/>
              </a:lnSpc>
              <a:buFont typeface="Wingdings 2" panose="05020102010507070707" pitchFamily="18" charset="2"/>
              <a:buNone/>
            </a:pPr>
            <a:endParaRPr lang="zh-CN" altLang="en-US" sz="2400" b="1" dirty="0"/>
          </a:p>
        </p:txBody>
      </p:sp>
      <p:sp>
        <p:nvSpPr>
          <p:cNvPr id="23555" name="矩形 1"/>
          <p:cNvSpPr>
            <a:spLocks noChangeArrowheads="1"/>
          </p:cNvSpPr>
          <p:nvPr/>
        </p:nvSpPr>
        <p:spPr bwMode="auto">
          <a:xfrm>
            <a:off x="5390357" y="2225535"/>
            <a:ext cx="3574380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1200150" indent="-285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1657350" indent="-285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114550" indent="-285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2571750" indent="-285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2" indent="0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特点：</a:t>
            </a:r>
          </a:p>
          <a:p>
            <a:pPr marL="0" lvl="4" indent="0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相同逻辑只</a:t>
            </a: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描述一次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4" indent="0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4" indent="0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编译器自动生成针对不同类型的函数代码。</a:t>
            </a:r>
            <a:endParaRPr lang="en-US" altLang="zh-CN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65821" y="2476079"/>
            <a:ext cx="4654251" cy="3785652"/>
            <a:chOff x="1007604" y="2987695"/>
            <a:chExt cx="4654251" cy="3785652"/>
          </a:xfrm>
        </p:grpSpPr>
        <p:sp>
          <p:nvSpPr>
            <p:cNvPr id="3" name="矩形 2"/>
            <p:cNvSpPr/>
            <p:nvPr/>
          </p:nvSpPr>
          <p:spPr>
            <a:xfrm>
              <a:off x="1007604" y="2987695"/>
              <a:ext cx="4654251" cy="3785652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zh-CN" sz="2000" dirty="0">
                  <a:solidFill>
                    <a:srgbClr val="FF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// </a:t>
              </a:r>
              <a:r>
                <a:rPr lang="zh-CN" altLang="en-US" sz="2000" dirty="0">
                  <a:solidFill>
                    <a:srgbClr val="FF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定义函数模板</a:t>
              </a:r>
              <a:endParaRPr lang="en-US" altLang="zh-CN" sz="20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endParaRPr>
            </a:p>
            <a:p>
              <a:pPr>
                <a:defRPr/>
              </a:pPr>
              <a:r>
                <a:rPr lang="en-US" altLang="zh-CN" sz="2000" dirty="0">
                  <a:solidFill>
                    <a:srgbClr val="0000F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template</a:t>
              </a:r>
              <a:r>
                <a:rPr lang="en-US" altLang="zh-CN" sz="20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&lt;</a:t>
              </a:r>
              <a:r>
                <a:rPr lang="en-US" altLang="zh-CN" sz="2000" dirty="0">
                  <a:solidFill>
                    <a:srgbClr val="0000F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class</a:t>
              </a:r>
              <a:r>
                <a:rPr lang="en-US" altLang="zh-CN" sz="20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</a:t>
              </a:r>
              <a:r>
                <a:rPr lang="en-US" altLang="zh-CN" sz="2000" dirty="0">
                  <a:solidFill>
                    <a:srgbClr val="2B91A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T</a:t>
              </a:r>
              <a:r>
                <a:rPr lang="en-US" altLang="zh-CN" sz="20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&gt;</a:t>
              </a:r>
            </a:p>
            <a:p>
              <a:pPr>
                <a:defRPr/>
              </a:pPr>
              <a:r>
                <a:rPr lang="en-US" altLang="zh-CN" sz="2000" dirty="0">
                  <a:solidFill>
                    <a:srgbClr val="2B91A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T</a:t>
              </a:r>
              <a:r>
                <a:rPr lang="en-US" altLang="zh-CN" sz="20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</a:t>
              </a:r>
              <a:r>
                <a:rPr lang="en-US" altLang="zh-CN" sz="2000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tmin</a:t>
              </a:r>
              <a:r>
                <a:rPr lang="en-US" altLang="zh-CN" sz="20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(</a:t>
              </a:r>
              <a:r>
                <a:rPr lang="en-US" altLang="zh-CN" sz="2000" dirty="0">
                  <a:solidFill>
                    <a:srgbClr val="2B91A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T</a:t>
              </a:r>
              <a:r>
                <a:rPr lang="en-US" altLang="zh-CN" sz="20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</a:t>
              </a:r>
              <a:r>
                <a:rPr lang="en-US" altLang="zh-CN" sz="20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a</a:t>
              </a:r>
              <a:r>
                <a:rPr lang="en-US" altLang="zh-CN" sz="20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, </a:t>
              </a:r>
              <a:r>
                <a:rPr lang="en-US" altLang="zh-CN" sz="2000" dirty="0">
                  <a:solidFill>
                    <a:srgbClr val="2B91A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T</a:t>
              </a:r>
              <a:r>
                <a:rPr lang="en-US" altLang="zh-CN" sz="20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</a:t>
              </a:r>
              <a:r>
                <a:rPr lang="en-US" altLang="zh-CN" sz="20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b</a:t>
              </a:r>
              <a:r>
                <a:rPr lang="en-US" altLang="zh-CN" sz="20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) </a:t>
              </a:r>
            </a:p>
            <a:p>
              <a:pPr>
                <a:defRPr/>
              </a:pPr>
              <a:r>
                <a:rPr lang="en-US" altLang="zh-CN" sz="20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{  </a:t>
              </a:r>
              <a:r>
                <a:rPr lang="en-US" altLang="zh-CN" sz="2000" dirty="0">
                  <a:solidFill>
                    <a:srgbClr val="0000F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return</a:t>
              </a:r>
              <a:r>
                <a:rPr lang="en-US" altLang="zh-CN" sz="20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</a:t>
              </a:r>
              <a:r>
                <a:rPr lang="en-US" altLang="zh-CN" sz="20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a</a:t>
              </a:r>
              <a:r>
                <a:rPr lang="en-US" altLang="zh-CN" sz="20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&lt;</a:t>
              </a:r>
              <a:r>
                <a:rPr lang="en-US" altLang="zh-CN" sz="20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b</a:t>
              </a:r>
              <a:r>
                <a:rPr lang="en-US" altLang="zh-CN" sz="20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? </a:t>
              </a:r>
              <a:r>
                <a:rPr lang="en-US" altLang="zh-CN" sz="20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a</a:t>
              </a:r>
              <a:r>
                <a:rPr lang="en-US" altLang="zh-CN" sz="20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: </a:t>
              </a:r>
              <a:r>
                <a:rPr lang="en-US" altLang="zh-CN" sz="20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b</a:t>
              </a:r>
              <a:r>
                <a:rPr lang="en-US" altLang="zh-CN" sz="20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; </a:t>
              </a:r>
            </a:p>
            <a:p>
              <a:pPr>
                <a:defRPr/>
              </a:pPr>
              <a:r>
                <a:rPr lang="en-US" altLang="zh-CN" sz="20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}</a:t>
              </a:r>
            </a:p>
            <a:p>
              <a:pPr>
                <a:defRPr/>
              </a:pPr>
              <a:r>
                <a:rPr lang="en-US" altLang="zh-CN" sz="20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……</a:t>
              </a:r>
            </a:p>
            <a:p>
              <a:pPr>
                <a:defRPr/>
              </a:pPr>
              <a:endParaRPr lang="en-US" altLang="zh-CN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endParaRPr>
            </a:p>
            <a:p>
              <a:pPr>
                <a:defRPr/>
              </a:pPr>
              <a:r>
                <a:rPr lang="en-US" altLang="zh-CN" sz="2000" dirty="0">
                  <a:solidFill>
                    <a:srgbClr val="FF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//</a:t>
              </a:r>
              <a:r>
                <a:rPr lang="zh-CN" altLang="en-US" sz="2000" dirty="0">
                  <a:solidFill>
                    <a:srgbClr val="FF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使用函数模板</a:t>
              </a:r>
              <a:endParaRPr lang="en-US" altLang="zh-CN" sz="20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endParaRPr>
            </a:p>
            <a:p>
              <a:pPr>
                <a:defRPr/>
              </a:pPr>
              <a:r>
                <a:rPr lang="en-US" altLang="zh-CN" sz="20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altLang="zh-CN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20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altLang="zh-CN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 </a:t>
              </a:r>
              <a:r>
                <a:rPr lang="en-US" altLang="zh-CN" sz="20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tmin</a:t>
              </a:r>
              <a:r>
                <a:rPr lang="en-US" altLang="zh-CN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(3, 4);</a:t>
              </a:r>
            </a:p>
            <a:p>
              <a:pPr>
                <a:defRPr/>
              </a:pPr>
              <a:r>
                <a:rPr lang="sv-SE" altLang="zh-CN" sz="20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char</a:t>
              </a:r>
              <a:r>
                <a:rPr lang="sv-SE" altLang="zh-CN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ch = tmin(</a:t>
              </a:r>
              <a:r>
                <a:rPr lang="en-US" altLang="zh-CN" sz="1800" dirty="0">
                  <a:solidFill>
                    <a:srgbClr val="A31515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'</a:t>
              </a:r>
              <a:r>
                <a:rPr lang="sv-SE" altLang="zh-CN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a</a:t>
              </a:r>
              <a:r>
                <a:rPr lang="en-US" altLang="zh-CN" sz="1800" dirty="0">
                  <a:solidFill>
                    <a:srgbClr val="A31515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'</a:t>
              </a:r>
              <a:r>
                <a:rPr lang="sv-SE" altLang="zh-CN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</a:t>
              </a:r>
              <a:r>
                <a:rPr lang="en-US" altLang="zh-CN" sz="1800" dirty="0">
                  <a:solidFill>
                    <a:srgbClr val="A31515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'</a:t>
              </a:r>
              <a:r>
                <a:rPr lang="sv-SE" altLang="zh-CN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A</a:t>
              </a:r>
              <a:r>
                <a:rPr lang="en-US" altLang="zh-CN" sz="1800" dirty="0">
                  <a:solidFill>
                    <a:srgbClr val="A31515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'</a:t>
              </a:r>
              <a:r>
                <a:rPr lang="sv-SE" altLang="zh-CN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pPr>
                <a:defRPr/>
              </a:pPr>
              <a:r>
                <a:rPr lang="en-US" altLang="zh-CN" sz="20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float</a:t>
              </a:r>
              <a:r>
                <a:rPr lang="en-US" altLang="zh-CN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f = </a:t>
              </a:r>
              <a:r>
                <a:rPr lang="en-US" altLang="zh-CN" sz="20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tmin</a:t>
              </a:r>
              <a:r>
                <a:rPr lang="en-US" altLang="zh-CN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(5.0, 1.0);</a:t>
              </a:r>
            </a:p>
            <a:p>
              <a:pPr>
                <a:defRPr/>
              </a:pPr>
              <a:r>
                <a:rPr lang="en-US" altLang="zh-CN" sz="20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……</a:t>
              </a:r>
              <a:endParaRPr lang="zh-CN" altLang="en-US" sz="6000" dirty="0"/>
            </a:p>
          </p:txBody>
        </p:sp>
        <p:sp>
          <p:nvSpPr>
            <p:cNvPr id="2" name="矩形 1"/>
            <p:cNvSpPr/>
            <p:nvPr/>
          </p:nvSpPr>
          <p:spPr>
            <a:xfrm>
              <a:off x="1110363" y="3360328"/>
              <a:ext cx="3996444" cy="1296144"/>
            </a:xfrm>
            <a:prstGeom prst="rect">
              <a:avLst/>
            </a:prstGeom>
            <a:solidFill>
              <a:srgbClr val="FFFF0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6" name="直接箭头连接符 5"/>
          <p:cNvCxnSpPr/>
          <p:nvPr/>
        </p:nvCxnSpPr>
        <p:spPr>
          <a:xfrm flipH="1">
            <a:off x="4562265" y="4437112"/>
            <a:ext cx="828092" cy="2880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endCxn id="2" idx="3"/>
          </p:cNvCxnSpPr>
          <p:nvPr/>
        </p:nvCxnSpPr>
        <p:spPr>
          <a:xfrm flipH="1">
            <a:off x="4665024" y="3493137"/>
            <a:ext cx="729815" cy="36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zh-CN" dirty="0"/>
              <a:t>6.2.1  </a:t>
            </a:r>
            <a:r>
              <a:rPr lang="zh-CN" altLang="en-US" dirty="0"/>
              <a:t>函数模板的定义和使用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4578" name="Rectangle 2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lvl="1" eaLnBrk="1" hangingPunct="1">
              <a:lnSpc>
                <a:spcPct val="150000"/>
              </a:lnSpc>
              <a:spcAft>
                <a:spcPts val="600"/>
              </a:spcAft>
              <a:buFontTx/>
              <a:buNone/>
            </a:pPr>
            <a:r>
              <a:rPr lang="en-US" altLang="zh-CN" sz="2800" dirty="0"/>
              <a:t>1</a:t>
            </a:r>
            <a:r>
              <a:rPr lang="zh-CN" altLang="en-US" sz="2800" dirty="0"/>
              <a:t>、</a:t>
            </a:r>
            <a:r>
              <a:rPr lang="zh-CN" altLang="en-US" sz="2800" b="1" dirty="0">
                <a:solidFill>
                  <a:srgbClr val="FF0000"/>
                </a:solidFill>
              </a:rPr>
              <a:t>函数模板</a:t>
            </a:r>
            <a:r>
              <a:rPr lang="zh-CN" altLang="en-US" sz="2800" dirty="0"/>
              <a:t>的定义</a:t>
            </a:r>
          </a:p>
          <a:p>
            <a:pPr lvl="4" eaLnBrk="1" hangingPunct="1">
              <a:spcBef>
                <a:spcPct val="0"/>
              </a:spcBef>
              <a:buFontTx/>
              <a:buNone/>
            </a:pPr>
            <a:endParaRPr lang="en-US" altLang="zh-CN" sz="2400" dirty="0">
              <a:solidFill>
                <a:srgbClr val="FF0000"/>
              </a:solidFill>
            </a:endParaRPr>
          </a:p>
          <a:p>
            <a:pPr lvl="4" eaLnBrk="1" hangingPunct="1">
              <a:spcBef>
                <a:spcPct val="0"/>
              </a:spcBef>
              <a:buFontTx/>
              <a:buNone/>
            </a:pPr>
            <a:endParaRPr lang="en-US" altLang="zh-CN" sz="2400" dirty="0">
              <a:solidFill>
                <a:srgbClr val="FF0000"/>
              </a:solidFill>
            </a:endParaRPr>
          </a:p>
          <a:p>
            <a:pPr lvl="4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template</a:t>
            </a:r>
            <a:r>
              <a:rPr lang="en-US" altLang="zh-CN" sz="2400" dirty="0"/>
              <a:t> &lt;</a:t>
            </a:r>
            <a:r>
              <a:rPr lang="en-US" altLang="zh-CN" sz="2400" dirty="0">
                <a:solidFill>
                  <a:srgbClr val="FF0000"/>
                </a:solidFill>
              </a:rPr>
              <a:t>class</a:t>
            </a:r>
            <a:r>
              <a:rPr lang="en-US" altLang="zh-CN" sz="2400" dirty="0"/>
              <a:t> </a:t>
            </a:r>
            <a:r>
              <a:rPr lang="en-US" altLang="zh-CN" sz="2400" b="1" dirty="0"/>
              <a:t>T1</a:t>
            </a:r>
            <a:r>
              <a:rPr lang="en-US" altLang="zh-CN" sz="2400" dirty="0"/>
              <a:t>, </a:t>
            </a:r>
            <a:r>
              <a:rPr lang="en-US" altLang="zh-CN" sz="2400" dirty="0">
                <a:solidFill>
                  <a:srgbClr val="FF0000"/>
                </a:solidFill>
              </a:rPr>
              <a:t>class</a:t>
            </a:r>
            <a:r>
              <a:rPr lang="en-US" altLang="zh-CN" sz="2400" dirty="0"/>
              <a:t> </a:t>
            </a:r>
            <a:r>
              <a:rPr lang="en-US" altLang="zh-CN" sz="2400" b="1" dirty="0"/>
              <a:t>T2</a:t>
            </a:r>
            <a:r>
              <a:rPr lang="en-US" altLang="zh-CN" sz="2400" dirty="0"/>
              <a:t>,</a:t>
            </a:r>
            <a:r>
              <a:rPr lang="en-US" altLang="zh-CN" sz="2400" dirty="0">
                <a:latin typeface="Arial" panose="020B0604020202020204" pitchFamily="34" charset="0"/>
              </a:rPr>
              <a:t>…</a:t>
            </a:r>
            <a:r>
              <a:rPr lang="en-US" altLang="zh-CN" sz="2400" dirty="0"/>
              <a:t>&gt; </a:t>
            </a:r>
          </a:p>
          <a:p>
            <a:pPr lvl="4" eaLnBrk="1" hangingPunct="1">
              <a:buFontTx/>
              <a:buNone/>
            </a:pPr>
            <a:r>
              <a:rPr lang="zh-CN" altLang="en-US" sz="2400" dirty="0"/>
              <a:t>返回类型 函数名</a:t>
            </a:r>
            <a:r>
              <a:rPr lang="en-US" altLang="zh-CN" sz="2400" dirty="0"/>
              <a:t>(</a:t>
            </a:r>
            <a:r>
              <a:rPr lang="zh-CN" altLang="en-US" sz="2400" dirty="0"/>
              <a:t>参数表</a:t>
            </a:r>
            <a:r>
              <a:rPr lang="en-US" altLang="zh-CN" sz="2400" dirty="0"/>
              <a:t>)</a:t>
            </a:r>
          </a:p>
          <a:p>
            <a:pPr lvl="4" eaLnBrk="1" hangingPunct="1">
              <a:buFontTx/>
              <a:buNone/>
            </a:pPr>
            <a:r>
              <a:rPr lang="en-US" altLang="zh-CN" sz="2400" dirty="0"/>
              <a:t>{			</a:t>
            </a:r>
            <a:r>
              <a:rPr lang="mr-IN" altLang="zh-CN" sz="2400" dirty="0"/>
              <a:t>……</a:t>
            </a:r>
            <a:r>
              <a:rPr lang="en-US" altLang="zh-CN" sz="2400" dirty="0"/>
              <a:t> //</a:t>
            </a:r>
            <a:r>
              <a:rPr lang="zh-CN" altLang="en-US" sz="2400" dirty="0"/>
              <a:t>函数模板定义体</a:t>
            </a:r>
          </a:p>
          <a:p>
            <a:pPr lvl="4" eaLnBrk="1" hangingPunct="1">
              <a:buFontTx/>
              <a:buNone/>
            </a:pPr>
            <a:r>
              <a:rPr lang="en-US" altLang="zh-CN" sz="2400" dirty="0"/>
              <a:t>}</a:t>
            </a:r>
            <a:endParaRPr lang="en-US" altLang="zh-CN" sz="2800" dirty="0"/>
          </a:p>
          <a:p>
            <a:pPr lvl="4" eaLnBrk="1" hangingPunct="1">
              <a:spcBef>
                <a:spcPts val="600"/>
              </a:spcBef>
              <a:spcAft>
                <a:spcPts val="600"/>
              </a:spcAft>
              <a:buFontTx/>
              <a:buNone/>
            </a:pPr>
            <a:endParaRPr lang="en-US" altLang="zh-CN" sz="2400" b="1" dirty="0"/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3347864" y="1997673"/>
            <a:ext cx="4176464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2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class</a:t>
            </a:r>
            <a:r>
              <a:rPr lang="zh-CN" altLang="en-US" sz="2000" b="1" dirty="0">
                <a:latin typeface="Comic Sans MS" panose="030F0702030302020204" pitchFamily="66" charset="0"/>
              </a:rPr>
              <a:t>和</a:t>
            </a:r>
            <a:r>
              <a:rPr lang="en-US" altLang="zh-CN" sz="2000" b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typename</a:t>
            </a:r>
            <a:r>
              <a:rPr lang="zh-CN" altLang="en-US" sz="2000" b="1" dirty="0">
                <a:latin typeface="Comic Sans MS" panose="030F0702030302020204" pitchFamily="66" charset="0"/>
              </a:rPr>
              <a:t>具有同等意义</a:t>
            </a:r>
          </a:p>
        </p:txBody>
      </p:sp>
      <p:sp>
        <p:nvSpPr>
          <p:cNvPr id="2" name="矩形 1"/>
          <p:cNvSpPr/>
          <p:nvPr/>
        </p:nvSpPr>
        <p:spPr>
          <a:xfrm>
            <a:off x="2182906" y="3063958"/>
            <a:ext cx="5184576" cy="173981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/>
          <p:cNvCxnSpPr>
            <a:cxnSpLocks/>
          </p:cNvCxnSpPr>
          <p:nvPr/>
        </p:nvCxnSpPr>
        <p:spPr>
          <a:xfrm>
            <a:off x="4319973" y="2415267"/>
            <a:ext cx="0" cy="6228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2209800" y="5201248"/>
            <a:ext cx="4104456" cy="1323439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template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&lt;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T&gt;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T </a:t>
            </a:r>
            <a:r>
              <a:rPr lang="en-US" altLang="zh-CN" sz="2000" dirty="0" err="1">
                <a:solidFill>
                  <a:srgbClr val="000000"/>
                </a:solidFill>
                <a:latin typeface="Consolas" pitchFamily="49" charset="0"/>
              </a:rPr>
              <a:t>tmin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(T </a:t>
            </a:r>
            <a:r>
              <a:rPr lang="en-US" altLang="zh-CN" sz="2000" dirty="0" err="1">
                <a:solidFill>
                  <a:srgbClr val="000000"/>
                </a:solidFill>
                <a:latin typeface="Consolas" pitchFamily="49" charset="0"/>
              </a:rPr>
              <a:t>a,T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b) 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{  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(a&lt;b)?</a:t>
            </a:r>
            <a:r>
              <a:rPr lang="en-US" altLang="zh-CN" sz="2000" dirty="0" err="1">
                <a:solidFill>
                  <a:srgbClr val="000000"/>
                </a:solidFill>
                <a:latin typeface="Consolas" pitchFamily="49" charset="0"/>
              </a:rPr>
              <a:t>a:b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1187624" y="4505842"/>
            <a:ext cx="4176464" cy="498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2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示例</a:t>
            </a:r>
            <a:endParaRPr lang="zh-CN" altLang="en-US" sz="2000" b="1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6.2.1  </a:t>
            </a:r>
            <a:r>
              <a:rPr lang="zh-CN" altLang="en-US" dirty="0"/>
              <a:t>函数模板的定义和使用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8674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CN" altLang="en-US" sz="2400" dirty="0"/>
              <a:t>函数模板的使用</a:t>
            </a:r>
            <a:r>
              <a:rPr lang="zh-CN" altLang="en-US" sz="2400" dirty="0">
                <a:solidFill>
                  <a:srgbClr val="C00000"/>
                </a:solidFill>
              </a:rPr>
              <a:t>说明：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marL="457200" lvl="1" indent="-457200" eaLnBrk="1" hangingPunct="1">
              <a:spcBef>
                <a:spcPts val="600"/>
              </a:spcBef>
              <a:spcAft>
                <a:spcPts val="600"/>
              </a:spcAft>
              <a:buFontTx/>
              <a:buAutoNum type="circleNumDbPlain"/>
            </a:pPr>
            <a:r>
              <a:rPr lang="zh-CN" altLang="en-US" dirty="0"/>
              <a:t>定义模板时，</a:t>
            </a:r>
            <a:r>
              <a:rPr lang="zh-CN" altLang="en-US" dirty="0">
                <a:solidFill>
                  <a:srgbClr val="FF0000"/>
                </a:solidFill>
              </a:rPr>
              <a:t>不</a:t>
            </a:r>
            <a:r>
              <a:rPr lang="zh-CN" altLang="en-US" dirty="0"/>
              <a:t>允许</a:t>
            </a:r>
            <a:r>
              <a:rPr lang="en-US" altLang="zh-CN" dirty="0"/>
              <a:t>template</a:t>
            </a:r>
            <a:r>
              <a:rPr lang="zh-CN" altLang="en-US" dirty="0"/>
              <a:t>语句与函数模板定义</a:t>
            </a:r>
            <a:r>
              <a:rPr lang="zh-CN" altLang="en-US" dirty="0">
                <a:solidFill>
                  <a:srgbClr val="FF0000"/>
                </a:solidFill>
              </a:rPr>
              <a:t>之间</a:t>
            </a:r>
            <a:r>
              <a:rPr lang="zh-CN" altLang="en-US" dirty="0"/>
              <a:t>有任何其他</a:t>
            </a:r>
            <a:r>
              <a:rPr lang="zh-CN" altLang="en-US" dirty="0">
                <a:solidFill>
                  <a:srgbClr val="FF0000"/>
                </a:solidFill>
              </a:rPr>
              <a:t>语句</a:t>
            </a:r>
            <a:r>
              <a:rPr lang="zh-CN" altLang="en-US" dirty="0"/>
              <a:t>。</a:t>
            </a:r>
          </a:p>
          <a:p>
            <a:pPr lvl="3" eaLnBrk="1" hangingPunct="1">
              <a:spcBef>
                <a:spcPct val="0"/>
              </a:spcBef>
            </a:pPr>
            <a:endParaRPr lang="en-US" altLang="zh-CN" sz="1600" dirty="0"/>
          </a:p>
          <a:p>
            <a:pPr lvl="3" eaLnBrk="1" hangingPunct="1">
              <a:spcBef>
                <a:spcPts val="1200"/>
              </a:spcBef>
            </a:pPr>
            <a:endParaRPr lang="en-US" altLang="zh-CN" dirty="0"/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1763688" y="2986907"/>
            <a:ext cx="5397500" cy="1200329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89113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180000" lvl="3" eaLnBrk="1" hangingPunct="1"/>
            <a:r>
              <a:rPr lang="en-US" altLang="zh-CN" dirty="0">
                <a:solidFill>
                  <a:srgbClr val="0000FF"/>
                </a:solidFill>
                <a:latin typeface="Consolas" pitchFamily="49" charset="0"/>
              </a:rPr>
              <a:t>template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dirty="0">
                <a:latin typeface="Consolas" pitchFamily="49" charset="0"/>
              </a:rPr>
              <a:t>&lt;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dirty="0">
                <a:latin typeface="Consolas" pitchFamily="49" charset="0"/>
              </a:rPr>
              <a:t> T&gt;</a:t>
            </a:r>
          </a:p>
          <a:p>
            <a:pPr marL="180000" lvl="3" eaLnBrk="1" hangingPunct="1"/>
            <a:r>
              <a:rPr lang="en-US" altLang="zh-CN" dirty="0" err="1">
                <a:solidFill>
                  <a:srgbClr val="FF0000"/>
                </a:solidFill>
                <a:latin typeface="Consolas" pitchFamily="49" charset="0"/>
              </a:rPr>
              <a:t>int</a:t>
            </a:r>
            <a:r>
              <a:rPr lang="en-US" altLang="zh-CN" dirty="0">
                <a:solidFill>
                  <a:srgbClr val="FF0000"/>
                </a:solidFill>
                <a:latin typeface="Consolas" pitchFamily="49" charset="0"/>
              </a:rPr>
              <a:t> x;</a:t>
            </a:r>
            <a:r>
              <a:rPr lang="en-US" altLang="zh-CN" dirty="0">
                <a:latin typeface="Consolas" pitchFamily="49" charset="0"/>
              </a:rPr>
              <a:t> </a:t>
            </a:r>
          </a:p>
          <a:p>
            <a:pPr marL="180000" lvl="3" eaLnBrk="1" hangingPunct="1"/>
            <a:r>
              <a:rPr lang="en-US" altLang="zh-CN" dirty="0">
                <a:latin typeface="Consolas" pitchFamily="49" charset="0"/>
              </a:rPr>
              <a:t>T </a:t>
            </a:r>
            <a:r>
              <a:rPr lang="en-US" altLang="zh-CN" dirty="0" err="1">
                <a:latin typeface="Consolas" pitchFamily="49" charset="0"/>
              </a:rPr>
              <a:t>tmin</a:t>
            </a:r>
            <a:r>
              <a:rPr lang="en-US" altLang="zh-CN" dirty="0">
                <a:latin typeface="Consolas" pitchFamily="49" charset="0"/>
              </a:rPr>
              <a:t>(T </a:t>
            </a:r>
            <a:r>
              <a:rPr lang="en-US" altLang="zh-CN" dirty="0" err="1">
                <a:latin typeface="Consolas" pitchFamily="49" charset="0"/>
              </a:rPr>
              <a:t>a,T</a:t>
            </a:r>
            <a:r>
              <a:rPr lang="en-US" altLang="zh-CN" dirty="0">
                <a:latin typeface="Consolas" pitchFamily="49" charset="0"/>
              </a:rPr>
              <a:t> b){…}</a:t>
            </a:r>
          </a:p>
        </p:txBody>
      </p: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4283050" y="3501008"/>
            <a:ext cx="358775" cy="288925"/>
            <a:chOff x="2699792" y="6309296"/>
            <a:chExt cx="360040" cy="288056"/>
          </a:xfrm>
        </p:grpSpPr>
        <p:cxnSp>
          <p:nvCxnSpPr>
            <p:cNvPr id="8" name="直接连接符 7"/>
            <p:cNvCxnSpPr/>
            <p:nvPr/>
          </p:nvCxnSpPr>
          <p:spPr>
            <a:xfrm flipH="1">
              <a:off x="2699792" y="6309296"/>
              <a:ext cx="360040" cy="28805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2699792" y="6309296"/>
              <a:ext cx="360040" cy="28805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11186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6.2.1  </a:t>
            </a:r>
            <a:r>
              <a:rPr lang="zh-CN" altLang="en-US" dirty="0"/>
              <a:t>函数模板的定义和使用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8674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CN" altLang="en-US" sz="2400" dirty="0"/>
              <a:t>函数模板的使用</a:t>
            </a:r>
            <a:r>
              <a:rPr lang="zh-CN" altLang="en-US" sz="2400" dirty="0">
                <a:solidFill>
                  <a:srgbClr val="C00000"/>
                </a:solidFill>
              </a:rPr>
              <a:t>说明：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lvl="3" eaLnBrk="1" hangingPunct="1">
              <a:spcBef>
                <a:spcPct val="0"/>
              </a:spcBef>
            </a:pPr>
            <a:endParaRPr lang="en-US" altLang="zh-CN" sz="1600" dirty="0"/>
          </a:p>
          <a:p>
            <a:pPr lvl="3" eaLnBrk="1" hangingPunct="1">
              <a:spcBef>
                <a:spcPts val="1200"/>
              </a:spcBef>
            </a:pPr>
            <a:endParaRPr lang="en-US" altLang="zh-CN" dirty="0"/>
          </a:p>
        </p:txBody>
      </p:sp>
      <p:sp>
        <p:nvSpPr>
          <p:cNvPr id="20484" name="矩形 1"/>
          <p:cNvSpPr>
            <a:spLocks noChangeArrowheads="1"/>
          </p:cNvSpPr>
          <p:nvPr/>
        </p:nvSpPr>
        <p:spPr bwMode="auto">
          <a:xfrm>
            <a:off x="228600" y="2217466"/>
            <a:ext cx="788193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33463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  <a:buFontTx/>
              <a:buAutoNum type="circleNumDbPlain" startAt="2"/>
            </a:pPr>
            <a:r>
              <a:rPr lang="zh-CN" alt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函数模板可以有多个</a:t>
            </a: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类型参数</a:t>
            </a:r>
            <a:r>
              <a:rPr lang="zh-CN" alt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，但每个类型参数都必须用关键字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</a:rPr>
              <a:t>class</a:t>
            </a:r>
            <a:r>
              <a:rPr lang="zh-CN" alt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或</a:t>
            </a:r>
            <a:r>
              <a:rPr lang="en-US" altLang="zh-CN" dirty="0" err="1">
                <a:solidFill>
                  <a:srgbClr val="FF0000"/>
                </a:solidFill>
                <a:latin typeface="Comic Sans MS" panose="030F0702030302020204" pitchFamily="66" charset="0"/>
              </a:rPr>
              <a:t>typename</a:t>
            </a:r>
            <a:r>
              <a:rPr lang="zh-CN" alt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限定。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909936" y="3665728"/>
            <a:ext cx="7776864" cy="1569660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89113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template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&lt;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T1,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T2,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typename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T3&gt;</a:t>
            </a:r>
          </a:p>
          <a:p>
            <a:r>
              <a:rPr lang="fr-FR" altLang="zh-CN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T3 tmin(</a:t>
            </a:r>
            <a:r>
              <a:rPr lang="fr-FR" altLang="zh-CN" dirty="0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const</a:t>
            </a:r>
            <a:r>
              <a:rPr lang="fr-FR" altLang="zh-CN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T1&amp; a, </a:t>
            </a:r>
            <a:r>
              <a:rPr lang="fr-FR" altLang="zh-CN" dirty="0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const</a:t>
            </a:r>
            <a:r>
              <a:rPr lang="fr-FR" altLang="zh-CN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T2&amp; b)</a:t>
            </a:r>
          </a:p>
          <a:p>
            <a:r>
              <a:rPr lang="fr-FR" altLang="zh-CN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{  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a &lt; b? b : a;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6.2.1  </a:t>
            </a:r>
            <a:r>
              <a:rPr lang="zh-CN" altLang="en-US" dirty="0"/>
              <a:t>函数模板的定义和使用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1746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marL="457200" lvl="1" indent="-4572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AutoNum type="circleNumDbPlain" startAt="3"/>
            </a:pPr>
            <a:r>
              <a:rPr lang="zh-CN" altLang="en-US" dirty="0"/>
              <a:t>模板参数中还可以出现</a:t>
            </a:r>
            <a:r>
              <a:rPr lang="zh-CN" altLang="en-US" dirty="0">
                <a:solidFill>
                  <a:srgbClr val="FF0000"/>
                </a:solidFill>
              </a:rPr>
              <a:t>非类型参数</a:t>
            </a:r>
            <a:r>
              <a:rPr lang="zh-CN" altLang="en-US" dirty="0"/>
              <a:t>（即确定类型参数）。</a:t>
            </a:r>
            <a:endParaRPr lang="en-US" altLang="zh-CN" dirty="0"/>
          </a:p>
          <a:p>
            <a:pPr lvl="3" eaLnBrk="1" hangingPunct="1">
              <a:lnSpc>
                <a:spcPct val="150000"/>
              </a:lnSpc>
              <a:spcBef>
                <a:spcPct val="0"/>
              </a:spcBef>
            </a:pPr>
            <a:endParaRPr lang="en-US" altLang="zh-CN" sz="2400" dirty="0"/>
          </a:p>
          <a:p>
            <a:pPr lvl="3" eaLnBrk="1" hangingPunct="1">
              <a:lnSpc>
                <a:spcPct val="150000"/>
              </a:lnSpc>
              <a:spcBef>
                <a:spcPct val="0"/>
              </a:spcBef>
            </a:pPr>
            <a:endParaRPr lang="en-US" altLang="zh-CN" sz="2400" dirty="0"/>
          </a:p>
          <a:p>
            <a:pPr lvl="3" eaLnBrk="1" hangingPunct="1">
              <a:lnSpc>
                <a:spcPct val="150000"/>
              </a:lnSpc>
              <a:spcBef>
                <a:spcPts val="1200"/>
              </a:spcBef>
            </a:pPr>
            <a:endParaRPr lang="en-US" altLang="zh-CN" sz="2400" dirty="0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2017768" y="3062273"/>
            <a:ext cx="6065466" cy="1938992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89113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3" eaLnBrk="1" hangingPunct="1">
              <a:buClr>
                <a:srgbClr val="A28E6A"/>
              </a:buClr>
              <a:buSzPct val="80000"/>
            </a:pPr>
            <a:r>
              <a:rPr lang="en-US" altLang="zh-CN" dirty="0">
                <a:solidFill>
                  <a:srgbClr val="0000FF"/>
                </a:solidFill>
                <a:latin typeface="Consolas" pitchFamily="49" charset="0"/>
              </a:rPr>
              <a:t>template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 &lt;</a:t>
            </a:r>
            <a:r>
              <a:rPr lang="en-US" altLang="zh-CN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 T1,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int</a:t>
            </a:r>
            <a:r>
              <a:rPr lang="en-US" altLang="zh-CN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&gt;</a:t>
            </a:r>
          </a:p>
          <a:p>
            <a:pPr marL="0" lvl="3" eaLnBrk="1" hangingPunct="1">
              <a:buClr>
                <a:srgbClr val="A28E6A"/>
              </a:buClr>
              <a:buSzPct val="80000"/>
            </a:pPr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T1 </a:t>
            </a:r>
            <a:r>
              <a:rPr lang="en-US" altLang="zh-CN" dirty="0" err="1">
                <a:solidFill>
                  <a:srgbClr val="000000"/>
                </a:solidFill>
                <a:latin typeface="Consolas" pitchFamily="49" charset="0"/>
              </a:rPr>
              <a:t>func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(T1 a)</a:t>
            </a:r>
          </a:p>
          <a:p>
            <a:pPr marL="0" lvl="3" eaLnBrk="1" hangingPunct="1">
              <a:buClr>
                <a:srgbClr val="A28E6A"/>
              </a:buClr>
              <a:buSzPct val="80000"/>
            </a:pPr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{  int </a:t>
            </a:r>
            <a:r>
              <a:rPr lang="en-US" altLang="zh-CN" dirty="0" err="1">
                <a:solidFill>
                  <a:srgbClr val="000000"/>
                </a:solidFill>
                <a:latin typeface="Consolas" pitchFamily="49" charset="0"/>
              </a:rPr>
              <a:t>i</a:t>
            </a:r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 = C;</a:t>
            </a:r>
          </a:p>
          <a:p>
            <a:pPr marL="0" lvl="3" eaLnBrk="1" hangingPunct="1">
              <a:buClr>
                <a:srgbClr val="A28E6A"/>
              </a:buClr>
              <a:buSzPct val="80000"/>
            </a:pPr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	……</a:t>
            </a:r>
          </a:p>
          <a:p>
            <a:pPr marL="0" lvl="3" eaLnBrk="1" hangingPunct="1">
              <a:buClr>
                <a:srgbClr val="A28E6A"/>
              </a:buClr>
              <a:buSzPct val="80000"/>
            </a:pPr>
            <a:r>
              <a:rPr lang="en-US" altLang="zh-CN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</p:txBody>
      </p:sp>
      <p:sp>
        <p:nvSpPr>
          <p:cNvPr id="2" name="矩形 1"/>
          <p:cNvSpPr/>
          <p:nvPr/>
        </p:nvSpPr>
        <p:spPr>
          <a:xfrm>
            <a:off x="1308456" y="5275498"/>
            <a:ext cx="68061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3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在传递实参时，非类型参数只能使用</a:t>
            </a:r>
            <a:r>
              <a:rPr lang="zh-CN" altLang="en-US" dirty="0">
                <a:solidFill>
                  <a:srgbClr val="FF0000"/>
                </a:solidFill>
              </a:rPr>
              <a:t>常量</a:t>
            </a:r>
            <a:endParaRPr lang="en-US" altLang="zh-CN" dirty="0">
              <a:solidFill>
                <a:srgbClr val="FF0000"/>
              </a:solidFill>
            </a:endParaRPr>
          </a:p>
          <a:p>
            <a:pPr marL="342900" lvl="3" indent="-34290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非类型参数</a:t>
            </a:r>
            <a:r>
              <a:rPr lang="zh-CN" altLang="en-US" b="1" dirty="0">
                <a:solidFill>
                  <a:srgbClr val="FF0000"/>
                </a:solidFill>
              </a:rPr>
              <a:t>不允许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FF0000"/>
                </a:solidFill>
              </a:rPr>
              <a:t>浮点型（或双精度型）</a:t>
            </a:r>
            <a:endParaRPr lang="en-US" altLang="zh-CN" sz="1800" dirty="0"/>
          </a:p>
        </p:txBody>
      </p:sp>
      <p:sp>
        <p:nvSpPr>
          <p:cNvPr id="7" name="矩形 6"/>
          <p:cNvSpPr/>
          <p:nvPr/>
        </p:nvSpPr>
        <p:spPr>
          <a:xfrm>
            <a:off x="1051801" y="2892532"/>
            <a:ext cx="947048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3" eaLnBrk="1" hangingPunct="1">
              <a:lnSpc>
                <a:spcPct val="150000"/>
              </a:lnSpc>
            </a:pPr>
            <a:r>
              <a:rPr lang="zh-CN" altLang="en-US" dirty="0"/>
              <a:t>如：</a:t>
            </a:r>
            <a:endParaRPr lang="en-US" altLang="zh-CN" sz="1800" dirty="0"/>
          </a:p>
        </p:txBody>
      </p:sp>
      <p:cxnSp>
        <p:nvCxnSpPr>
          <p:cNvPr id="4" name="直接箭头连接符 3"/>
          <p:cNvCxnSpPr>
            <a:cxnSpLocks/>
          </p:cNvCxnSpPr>
          <p:nvPr/>
        </p:nvCxnSpPr>
        <p:spPr>
          <a:xfrm>
            <a:off x="5486400" y="2187221"/>
            <a:ext cx="304800" cy="993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cxnSpLocks/>
          </p:cNvCxnSpPr>
          <p:nvPr/>
        </p:nvCxnSpPr>
        <p:spPr>
          <a:xfrm flipV="1">
            <a:off x="5410200" y="3429000"/>
            <a:ext cx="609600" cy="1846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矩形 3"/>
          <p:cNvSpPr>
            <a:spLocks noChangeArrowheads="1"/>
          </p:cNvSpPr>
          <p:nvPr/>
        </p:nvSpPr>
        <p:spPr bwMode="auto">
          <a:xfrm>
            <a:off x="539751" y="188913"/>
            <a:ext cx="8352730" cy="5355312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#include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</a:t>
            </a:r>
            <a:r>
              <a:rPr lang="en-US" altLang="zh-CN" sz="1800" dirty="0">
                <a:solidFill>
                  <a:srgbClr val="A31515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&lt;</a:t>
            </a:r>
            <a:r>
              <a:rPr lang="en-US" altLang="zh-CN" sz="1800" dirty="0" err="1">
                <a:solidFill>
                  <a:srgbClr val="A31515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iostream</a:t>
            </a:r>
            <a:r>
              <a:rPr lang="en-US" altLang="zh-CN" sz="1800" dirty="0">
                <a:solidFill>
                  <a:srgbClr val="A31515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&gt;</a:t>
            </a:r>
          </a:p>
          <a:p>
            <a:endParaRPr lang="zh-CN" altLang="en-US" sz="1800" dirty="0">
              <a:solidFill>
                <a:srgbClr val="000000"/>
              </a:solidFill>
              <a:latin typeface="Consolas" pitchFamily="49" charset="0"/>
              <a:ea typeface="新宋体" panose="02010609030101010101" pitchFamily="49" charset="-122"/>
              <a:cs typeface="Consolas" pitchFamily="49" charset="0"/>
            </a:endParaRPr>
          </a:p>
          <a:p>
            <a:r>
              <a:rPr lang="en-US" altLang="zh-CN" sz="1800" dirty="0">
                <a:solidFill>
                  <a:srgbClr val="008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rgbClr val="008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整型模板</a:t>
            </a:r>
            <a:endParaRPr lang="zh-CN" altLang="en-US" sz="1800" dirty="0">
              <a:solidFill>
                <a:srgbClr val="000000"/>
              </a:solidFill>
              <a:latin typeface="Consolas" pitchFamily="49" charset="0"/>
              <a:ea typeface="新宋体" panose="02010609030101010101" pitchFamily="49" charset="-122"/>
              <a:cs typeface="Consolas" pitchFamily="49" charset="0"/>
            </a:endParaRPr>
          </a:p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template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&lt;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N,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unsigned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M&gt;</a:t>
            </a:r>
          </a:p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bool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compare (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const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char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(&amp;p1)[N], 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const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char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(&amp;p2)[M])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{</a:t>
            </a:r>
          </a:p>
          <a:p>
            <a:pPr lvl="1"/>
            <a:r>
              <a:rPr lang="en-US" altLang="zh-CN" sz="1800" dirty="0" err="1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std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::</a:t>
            </a:r>
            <a:r>
              <a:rPr lang="en-US" altLang="zh-CN" sz="1800" dirty="0" err="1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cout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&lt;&lt; </a:t>
            </a:r>
            <a:r>
              <a:rPr lang="en-US" altLang="zh-CN" sz="1800" dirty="0">
                <a:solidFill>
                  <a:srgbClr val="A31515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"size : "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&lt;&lt; N &lt;&lt; </a:t>
            </a:r>
            <a:r>
              <a:rPr lang="en-US" altLang="zh-CN" sz="1800" dirty="0">
                <a:solidFill>
                  <a:srgbClr val="A31515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" "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&lt;&lt; M &lt;&lt; </a:t>
            </a:r>
            <a:r>
              <a:rPr lang="en-US" altLang="zh-CN" sz="1800" dirty="0" err="1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std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::</a:t>
            </a:r>
            <a:r>
              <a:rPr lang="en-US" altLang="zh-CN" sz="1800" dirty="0" err="1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endl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;</a:t>
            </a:r>
          </a:p>
          <a:p>
            <a:pPr lvl="1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return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N&gt;M;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}</a:t>
            </a:r>
          </a:p>
          <a:p>
            <a:endParaRPr lang="zh-CN" altLang="en-US" sz="1800" dirty="0">
              <a:solidFill>
                <a:srgbClr val="000000"/>
              </a:solidFill>
              <a:latin typeface="Consolas" pitchFamily="49" charset="0"/>
              <a:ea typeface="新宋体" panose="02010609030101010101" pitchFamily="49" charset="-122"/>
              <a:cs typeface="Consolas" pitchFamily="49" charset="0"/>
            </a:endParaRPr>
          </a:p>
          <a:p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main(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void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)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{</a:t>
            </a:r>
          </a:p>
          <a:p>
            <a:pPr lvl="1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if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(compare(</a:t>
            </a:r>
            <a:r>
              <a:rPr lang="en-US" altLang="zh-CN" sz="1800" dirty="0">
                <a:solidFill>
                  <a:srgbClr val="A31515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"Caroline"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, </a:t>
            </a:r>
            <a:r>
              <a:rPr lang="en-US" altLang="zh-CN" sz="1800" dirty="0">
                <a:solidFill>
                  <a:srgbClr val="A31515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"Wendy"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))</a:t>
            </a:r>
          </a:p>
          <a:p>
            <a:pPr lvl="1"/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  std::</a:t>
            </a:r>
            <a:r>
              <a:rPr lang="en-US" altLang="zh-CN" sz="1800" dirty="0" err="1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cout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&lt;&lt; </a:t>
            </a:r>
            <a:r>
              <a:rPr lang="en-US" altLang="zh-CN" sz="1800" dirty="0">
                <a:solidFill>
                  <a:srgbClr val="A31515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"Caroline is long."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&lt;&lt; std::</a:t>
            </a:r>
            <a:r>
              <a:rPr lang="en-US" altLang="zh-CN" sz="1800" dirty="0" err="1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endl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;</a:t>
            </a:r>
          </a:p>
          <a:p>
            <a:pPr lvl="1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else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</a:t>
            </a:r>
          </a:p>
          <a:p>
            <a:pPr lvl="1"/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  std::</a:t>
            </a:r>
            <a:r>
              <a:rPr lang="en-US" altLang="zh-CN" sz="1800" dirty="0" err="1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cout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&lt;&lt; </a:t>
            </a:r>
            <a:r>
              <a:rPr lang="en-US" altLang="zh-CN" sz="1800" dirty="0">
                <a:solidFill>
                  <a:srgbClr val="A31515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"Wendy is long."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&lt;&lt; std::</a:t>
            </a:r>
            <a:r>
              <a:rPr lang="en-US" altLang="zh-CN" sz="1800" dirty="0" err="1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endl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;</a:t>
            </a:r>
          </a:p>
          <a:p>
            <a:pPr lvl="1"/>
            <a:endParaRPr lang="en-US" altLang="zh-CN" sz="1800" dirty="0">
              <a:solidFill>
                <a:srgbClr val="000000"/>
              </a:solidFill>
              <a:latin typeface="Consolas" pitchFamily="49" charset="0"/>
              <a:ea typeface="新宋体" panose="02010609030101010101" pitchFamily="49" charset="-122"/>
              <a:cs typeface="Consolas" pitchFamily="49" charset="0"/>
            </a:endParaRPr>
          </a:p>
          <a:p>
            <a:pPr lvl="1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return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 0;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  <a:ea typeface="新宋体" panose="02010609030101010101" pitchFamily="49" charset="-122"/>
                <a:cs typeface="Consolas" pitchFamily="49" charset="0"/>
              </a:rPr>
              <a:t>}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182" y="5661248"/>
            <a:ext cx="4252912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539751" y="1648585"/>
            <a:ext cx="8064698" cy="1584176"/>
          </a:xfrm>
          <a:prstGeom prst="rect">
            <a:avLst/>
          </a:prstGeom>
          <a:solidFill>
            <a:srgbClr val="FFFF0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6.2.2  </a:t>
            </a:r>
            <a:r>
              <a:rPr lang="zh-CN" altLang="en-US" dirty="0"/>
              <a:t>函数模板的</a:t>
            </a:r>
            <a:r>
              <a:rPr lang="zh-CN" altLang="en-US" dirty="0">
                <a:solidFill>
                  <a:srgbClr val="C00000"/>
                </a:solidFill>
              </a:rPr>
              <a:t>实例化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CN" altLang="en-US" sz="3200" b="1" dirty="0"/>
              <a:t>模板的</a:t>
            </a:r>
            <a:r>
              <a:rPr lang="zh-CN" altLang="en-US" sz="3200" b="1" dirty="0">
                <a:solidFill>
                  <a:srgbClr val="FF0000"/>
                </a:solidFill>
              </a:rPr>
              <a:t>实例化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marL="261938"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dirty="0">
                <a:solidFill>
                  <a:srgbClr val="FF0000"/>
                </a:solidFill>
              </a:rPr>
              <a:t>函数模板</a:t>
            </a:r>
            <a:r>
              <a:rPr lang="zh-CN" altLang="en-US" dirty="0"/>
              <a:t>是一个通用功能的函数，编译器根据调用类型</a:t>
            </a:r>
            <a:r>
              <a:rPr lang="zh-CN" altLang="en-US" dirty="0">
                <a:solidFill>
                  <a:srgbClr val="FF0000"/>
                </a:solidFill>
              </a:rPr>
              <a:t>自动</a:t>
            </a:r>
            <a:r>
              <a:rPr lang="zh-CN" altLang="en-US" dirty="0"/>
              <a:t>将它</a:t>
            </a:r>
            <a:r>
              <a:rPr lang="zh-CN" altLang="en-US" dirty="0">
                <a:solidFill>
                  <a:srgbClr val="FF0000"/>
                </a:solidFill>
              </a:rPr>
              <a:t>实例化</a:t>
            </a:r>
            <a:r>
              <a:rPr lang="zh-CN" altLang="en-US" dirty="0"/>
              <a:t>。</a:t>
            </a:r>
            <a:endParaRPr lang="en-US" altLang="zh-CN" dirty="0"/>
          </a:p>
          <a:p>
            <a:pPr marL="536575" lvl="2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zh-CN" dirty="0">
              <a:latin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22576" y="4272915"/>
            <a:ext cx="7632848" cy="984885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marL="0" lvl="2"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</a:rPr>
              <a:t> 编译器确定模板的参数类型，并生成对应函数代码。</a:t>
            </a:r>
            <a:endParaRPr lang="en-US" altLang="zh-CN" dirty="0">
              <a:latin typeface="宋体" panose="02010600030101010101" pitchFamily="2" charset="-122"/>
            </a:endParaRPr>
          </a:p>
          <a:p>
            <a:pPr marL="342900" lvl="2" indent="-342900" eaLnBrk="1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</a:rPr>
              <a:t>每种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不同数据类型</a:t>
            </a:r>
            <a:r>
              <a:rPr lang="zh-CN" altLang="en-US" dirty="0">
                <a:latin typeface="宋体" panose="02010600030101010101" pitchFamily="2" charset="-122"/>
              </a:rPr>
              <a:t>将生成一份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不同的代码</a:t>
            </a:r>
            <a:r>
              <a:rPr lang="zh-CN" altLang="en-US" dirty="0">
                <a:latin typeface="宋体" panose="02010600030101010101" pitchFamily="2" charset="-122"/>
              </a:rPr>
              <a:t>。</a:t>
            </a:r>
            <a:endParaRPr lang="en-US" altLang="zh-CN" dirty="0">
              <a:latin typeface="宋体" panose="02010600030101010101" pitchFamily="2" charset="-122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 flipH="1" flipV="1">
            <a:off x="3810000" y="3764684"/>
            <a:ext cx="432048" cy="339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44450"/>
            <a:ext cx="7772400" cy="936625"/>
          </a:xfrm>
        </p:spPr>
        <p:txBody>
          <a:bodyPr/>
          <a:lstStyle/>
          <a:p>
            <a:r>
              <a:rPr lang="en-US" altLang="zh-CN" dirty="0"/>
              <a:t>6.2.2  </a:t>
            </a:r>
            <a:r>
              <a:rPr lang="zh-CN" altLang="en-US" dirty="0"/>
              <a:t>函数模板的</a:t>
            </a:r>
            <a:r>
              <a:rPr lang="zh-CN" altLang="en-US" dirty="0">
                <a:solidFill>
                  <a:srgbClr val="C00000"/>
                </a:solidFill>
              </a:rPr>
              <a:t>实例化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文本框 1"/>
          <p:cNvSpPr txBox="1">
            <a:spLocks noChangeArrowheads="1"/>
          </p:cNvSpPr>
          <p:nvPr/>
        </p:nvSpPr>
        <p:spPr bwMode="auto">
          <a:xfrm>
            <a:off x="434590" y="3148531"/>
            <a:ext cx="3245602" cy="95410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template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</a:p>
          <a:p>
            <a:pPr>
              <a:defRPr/>
            </a:pPr>
            <a:r>
              <a:rPr lang="fr-FR" altLang="zh-C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tmin(</a:t>
            </a:r>
            <a:r>
              <a:rPr lang="fr-FR" altLang="zh-C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fr-FR" altLang="zh-C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</a:t>
            </a:r>
          </a:p>
          <a:p>
            <a:pPr>
              <a:defRPr/>
            </a:pP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  </a:t>
            </a:r>
            <a:r>
              <a:rPr lang="en-US" altLang="zh-C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? 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</a:t>
            </a:r>
            <a:r>
              <a:rPr lang="en-US" altLang="zh-CN" sz="1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defRPr/>
            </a:pP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altLang="zh-CN" sz="1400" dirty="0"/>
          </a:p>
        </p:txBody>
      </p:sp>
      <p:sp>
        <p:nvSpPr>
          <p:cNvPr id="15" name="文本框 19"/>
          <p:cNvSpPr txBox="1">
            <a:spLocks noChangeArrowheads="1"/>
          </p:cNvSpPr>
          <p:nvPr/>
        </p:nvSpPr>
        <p:spPr bwMode="auto">
          <a:xfrm>
            <a:off x="611560" y="1137697"/>
            <a:ext cx="25922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</a:rPr>
              <a:t>模板实例化示例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3502616" y="1595520"/>
            <a:ext cx="5511643" cy="1515452"/>
            <a:chOff x="3502616" y="1595520"/>
            <a:chExt cx="5511643" cy="1515452"/>
          </a:xfrm>
        </p:grpSpPr>
        <p:sp>
          <p:nvSpPr>
            <p:cNvPr id="4" name="文本框 8"/>
            <p:cNvSpPr txBox="1">
              <a:spLocks noChangeArrowheads="1"/>
            </p:cNvSpPr>
            <p:nvPr/>
          </p:nvSpPr>
          <p:spPr bwMode="auto">
            <a:xfrm>
              <a:off x="5150169" y="1595520"/>
              <a:ext cx="3864090" cy="738664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lang="en-US" altLang="zh-CN" sz="1400" dirty="0">
                  <a:solidFill>
                    <a:srgbClr val="0000F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int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</a:t>
              </a:r>
              <a:r>
                <a:rPr lang="en-US" altLang="zh-CN" sz="1400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tmin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(</a:t>
              </a:r>
              <a:r>
                <a:rPr lang="en-US" altLang="zh-CN" sz="1400" dirty="0">
                  <a:solidFill>
                    <a:srgbClr val="0000F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int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</a:t>
              </a:r>
              <a:r>
                <a:rPr lang="en-US" altLang="zh-CN" sz="14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a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, </a:t>
              </a:r>
              <a:r>
                <a:rPr lang="en-US" altLang="zh-CN" sz="1400" dirty="0">
                  <a:solidFill>
                    <a:srgbClr val="0000F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int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</a:t>
              </a:r>
              <a:r>
                <a:rPr lang="en-US" altLang="zh-CN" sz="14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b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) </a:t>
              </a:r>
            </a:p>
            <a:p>
              <a:pPr>
                <a:defRPr/>
              </a:pP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{  </a:t>
              </a:r>
              <a:r>
                <a:rPr lang="en-US" altLang="zh-CN" sz="1400" dirty="0">
                  <a:solidFill>
                    <a:srgbClr val="0000F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return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(</a:t>
              </a:r>
              <a:r>
                <a:rPr lang="en-US" altLang="zh-CN" sz="14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a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&lt;</a:t>
              </a:r>
              <a:r>
                <a:rPr lang="en-US" altLang="zh-CN" sz="14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b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)?</a:t>
              </a:r>
              <a:r>
                <a:rPr lang="en-US" altLang="zh-CN" sz="1400" dirty="0" err="1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a</a:t>
              </a:r>
              <a:r>
                <a:rPr lang="en-US" altLang="zh-CN" sz="1400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:</a:t>
              </a:r>
              <a:r>
                <a:rPr lang="en-US" altLang="zh-CN" sz="1400" dirty="0" err="1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b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;</a:t>
              </a:r>
            </a:p>
            <a:p>
              <a:pPr>
                <a:defRPr/>
              </a:pP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}</a:t>
              </a:r>
              <a:endParaRPr lang="en-US" altLang="zh-CN" sz="1400" dirty="0"/>
            </a:p>
          </p:txBody>
        </p:sp>
        <p:cxnSp>
          <p:nvCxnSpPr>
            <p:cNvPr id="12" name="直接箭头连接符 11"/>
            <p:cNvCxnSpPr/>
            <p:nvPr/>
          </p:nvCxnSpPr>
          <p:spPr>
            <a:xfrm flipV="1">
              <a:off x="3680192" y="1988840"/>
              <a:ext cx="1395864" cy="1122132"/>
            </a:xfrm>
            <a:prstGeom prst="straightConnector1">
              <a:avLst/>
            </a:prstGeom>
            <a:ln w="762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 8"/>
            <p:cNvSpPr/>
            <p:nvPr/>
          </p:nvSpPr>
          <p:spPr>
            <a:xfrm>
              <a:off x="3502616" y="2029582"/>
              <a:ext cx="114326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 err="1">
                  <a:solidFill>
                    <a:srgbClr val="0070C0"/>
                  </a:solidFill>
                </a:rPr>
                <a:t>tmin</a:t>
              </a:r>
              <a:r>
                <a:rPr lang="en-US" altLang="zh-CN" sz="2000" dirty="0">
                  <a:solidFill>
                    <a:srgbClr val="0070C0"/>
                  </a:solidFill>
                </a:rPr>
                <a:t>(2,3)</a:t>
              </a:r>
              <a:endParaRPr lang="zh-CN" altLang="en-US" sz="2000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3680192" y="3217981"/>
            <a:ext cx="5346967" cy="738664"/>
            <a:chOff x="3172025" y="3171618"/>
            <a:chExt cx="5919358" cy="738664"/>
          </a:xfrm>
        </p:grpSpPr>
        <p:sp>
          <p:nvSpPr>
            <p:cNvPr id="5" name="文本框 9"/>
            <p:cNvSpPr txBox="1">
              <a:spLocks noChangeArrowheads="1"/>
            </p:cNvSpPr>
            <p:nvPr/>
          </p:nvSpPr>
          <p:spPr bwMode="auto">
            <a:xfrm>
              <a:off x="4820147" y="3171618"/>
              <a:ext cx="4271236" cy="738664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lang="fr-FR" altLang="zh-CN" sz="1400" dirty="0">
                  <a:solidFill>
                    <a:srgbClr val="0000F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double</a:t>
              </a:r>
              <a:r>
                <a:rPr lang="fr-FR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tmin(</a:t>
              </a:r>
              <a:r>
                <a:rPr lang="fr-FR" altLang="zh-CN" sz="1400" dirty="0">
                  <a:solidFill>
                    <a:srgbClr val="0000F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double</a:t>
              </a:r>
              <a:r>
                <a:rPr lang="fr-FR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</a:t>
              </a:r>
              <a:r>
                <a:rPr lang="fr-FR" altLang="zh-CN" sz="14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a</a:t>
              </a:r>
              <a:r>
                <a:rPr lang="fr-FR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, </a:t>
              </a:r>
              <a:r>
                <a:rPr lang="fr-FR" altLang="zh-CN" sz="1400" dirty="0">
                  <a:solidFill>
                    <a:srgbClr val="0000F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double</a:t>
              </a:r>
              <a:r>
                <a:rPr lang="fr-FR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</a:t>
              </a:r>
              <a:r>
                <a:rPr lang="fr-FR" altLang="zh-CN" sz="14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b</a:t>
              </a:r>
              <a:r>
                <a:rPr lang="fr-FR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)</a:t>
              </a:r>
            </a:p>
            <a:p>
              <a:pPr>
                <a:defRPr/>
              </a:pP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{  </a:t>
              </a:r>
              <a:r>
                <a:rPr lang="en-US" altLang="zh-CN" sz="1400" dirty="0">
                  <a:solidFill>
                    <a:srgbClr val="0000F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return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(</a:t>
              </a:r>
              <a:r>
                <a:rPr lang="en-US" altLang="zh-CN" sz="14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a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&lt;</a:t>
              </a:r>
              <a:r>
                <a:rPr lang="en-US" altLang="zh-CN" sz="14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b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) ? </a:t>
              </a:r>
              <a:r>
                <a:rPr lang="en-US" altLang="zh-CN" sz="14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a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: </a:t>
              </a:r>
              <a:r>
                <a:rPr lang="en-US" altLang="zh-CN" sz="14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b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;</a:t>
              </a:r>
            </a:p>
            <a:p>
              <a:pPr>
                <a:defRPr/>
              </a:pP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}</a:t>
              </a:r>
              <a:endParaRPr lang="en-US" altLang="zh-CN" sz="1400" dirty="0"/>
            </a:p>
          </p:txBody>
        </p:sp>
        <p:cxnSp>
          <p:nvCxnSpPr>
            <p:cNvPr id="17" name="直接箭头连接符 16"/>
            <p:cNvCxnSpPr/>
            <p:nvPr/>
          </p:nvCxnSpPr>
          <p:spPr>
            <a:xfrm>
              <a:off x="3254072" y="3680679"/>
              <a:ext cx="1484029" cy="0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9"/>
            <p:cNvSpPr/>
            <p:nvPr/>
          </p:nvSpPr>
          <p:spPr>
            <a:xfrm>
              <a:off x="3172025" y="3187978"/>
              <a:ext cx="139653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800" dirty="0" err="1">
                  <a:solidFill>
                    <a:srgbClr val="C00000"/>
                  </a:solidFill>
                </a:rPr>
                <a:t>tmin</a:t>
              </a:r>
              <a:r>
                <a:rPr lang="en-US" altLang="zh-CN" sz="1800" dirty="0">
                  <a:solidFill>
                    <a:srgbClr val="C00000"/>
                  </a:solidFill>
                </a:rPr>
                <a:t>(2.3,3.4)</a:t>
              </a:r>
              <a:endParaRPr lang="zh-CN" altLang="en-US" sz="18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3173178" y="4219743"/>
            <a:ext cx="5841081" cy="1622572"/>
            <a:chOff x="3173178" y="4219743"/>
            <a:chExt cx="5841081" cy="1622572"/>
          </a:xfrm>
        </p:grpSpPr>
        <p:sp>
          <p:nvSpPr>
            <p:cNvPr id="6" name="文本框 10"/>
            <p:cNvSpPr txBox="1">
              <a:spLocks noChangeArrowheads="1"/>
            </p:cNvSpPr>
            <p:nvPr/>
          </p:nvSpPr>
          <p:spPr bwMode="auto">
            <a:xfrm>
              <a:off x="5150169" y="5103651"/>
              <a:ext cx="3864090" cy="738664"/>
            </a:xfrm>
            <a:prstGeom prst="rect">
              <a:avLst/>
            </a:prstGeom>
            <a:noFill/>
            <a:ln w="9525">
              <a:solidFill>
                <a:srgbClr val="00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lang="en-US" altLang="zh-CN" sz="1400" dirty="0">
                  <a:solidFill>
                    <a:srgbClr val="0000F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char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</a:t>
              </a:r>
              <a:r>
                <a:rPr lang="en-US" altLang="zh-CN" sz="1400" dirty="0" err="1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tmin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(</a:t>
              </a:r>
              <a:r>
                <a:rPr lang="en-US" altLang="zh-CN" sz="1400" dirty="0">
                  <a:solidFill>
                    <a:srgbClr val="0000F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char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</a:t>
              </a:r>
              <a:r>
                <a:rPr lang="en-US" altLang="zh-CN" sz="14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a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, </a:t>
              </a:r>
              <a:r>
                <a:rPr lang="en-US" altLang="zh-CN" sz="1400" dirty="0">
                  <a:solidFill>
                    <a:srgbClr val="0000F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char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</a:t>
              </a:r>
              <a:r>
                <a:rPr lang="en-US" altLang="zh-CN" sz="14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b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) </a:t>
              </a:r>
            </a:p>
            <a:p>
              <a:pPr>
                <a:defRPr/>
              </a:pP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{  </a:t>
              </a:r>
              <a:r>
                <a:rPr lang="en-US" altLang="zh-CN" sz="1400" dirty="0">
                  <a:solidFill>
                    <a:srgbClr val="0000FF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return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(</a:t>
              </a:r>
              <a:r>
                <a:rPr lang="en-US" altLang="zh-CN" sz="14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a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&lt;</a:t>
              </a:r>
              <a:r>
                <a:rPr lang="en-US" altLang="zh-CN" sz="14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b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) ? </a:t>
              </a:r>
              <a:r>
                <a:rPr lang="en-US" altLang="zh-CN" sz="14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a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 : </a:t>
              </a:r>
              <a:r>
                <a:rPr lang="en-US" altLang="zh-CN" sz="1400" dirty="0">
                  <a:solidFill>
                    <a:srgbClr val="80808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b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;</a:t>
              </a:r>
            </a:p>
            <a:p>
              <a:pPr>
                <a:defRPr/>
              </a:pPr>
              <a:r>
                <a:rPr lang="en-US" altLang="zh-CN" sz="1400" dirty="0">
                  <a:solidFill>
                    <a:srgbClr val="000000"/>
                  </a:solidFill>
                  <a:highlight>
                    <a:srgbClr val="FFFFFF"/>
                  </a:highlight>
                  <a:latin typeface="Consolas" panose="020B0609020204030204" pitchFamily="49" charset="0"/>
                </a:rPr>
                <a:t>}</a:t>
              </a:r>
              <a:endParaRPr lang="en-US" altLang="zh-CN" sz="1400" dirty="0"/>
            </a:p>
          </p:txBody>
        </p:sp>
        <p:cxnSp>
          <p:nvCxnSpPr>
            <p:cNvPr id="18" name="直接箭头连接符 17"/>
            <p:cNvCxnSpPr/>
            <p:nvPr/>
          </p:nvCxnSpPr>
          <p:spPr>
            <a:xfrm>
              <a:off x="3680192" y="4219743"/>
              <a:ext cx="1395864" cy="1225481"/>
            </a:xfrm>
            <a:prstGeom prst="straightConnector1">
              <a:avLst/>
            </a:prstGeom>
            <a:ln w="76200">
              <a:solidFill>
                <a:srgbClr val="0066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矩形 25"/>
            <p:cNvSpPr/>
            <p:nvPr/>
          </p:nvSpPr>
          <p:spPr>
            <a:xfrm>
              <a:off x="3173178" y="5121519"/>
              <a:ext cx="146867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dirty="0" err="1">
                  <a:solidFill>
                    <a:srgbClr val="006600"/>
                  </a:solidFill>
                </a:rPr>
                <a:t>tmin</a:t>
              </a:r>
              <a:r>
                <a:rPr lang="en-US" altLang="zh-CN" sz="2000" dirty="0">
                  <a:solidFill>
                    <a:srgbClr val="006600"/>
                  </a:solidFill>
                </a:rPr>
                <a:t>(‘</a:t>
              </a:r>
              <a:r>
                <a:rPr lang="en-US" altLang="zh-CN" sz="2000" dirty="0" err="1">
                  <a:solidFill>
                    <a:srgbClr val="006600"/>
                  </a:solidFill>
                </a:rPr>
                <a:t>a’,’b</a:t>
              </a:r>
              <a:r>
                <a:rPr lang="en-US" altLang="zh-CN" sz="2000" dirty="0">
                  <a:solidFill>
                    <a:srgbClr val="006600"/>
                  </a:solidFill>
                </a:rPr>
                <a:t>’)</a:t>
              </a:r>
              <a:endParaRPr lang="zh-CN" altLang="en-US" sz="2000" dirty="0">
                <a:solidFill>
                  <a:srgbClr val="0066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3"/>
          <p:cNvSpPr>
            <a:spLocks noGrp="1" noChangeArrowheads="1"/>
          </p:cNvSpPr>
          <p:nvPr>
            <p:ph type="title"/>
          </p:nvPr>
        </p:nvSpPr>
        <p:spPr>
          <a:xfrm>
            <a:off x="423522" y="131580"/>
            <a:ext cx="8229600" cy="1143000"/>
          </a:xfrm>
          <a:noFill/>
        </p:spPr>
        <p:txBody>
          <a:bodyPr/>
          <a:lstStyle/>
          <a:p>
            <a:r>
              <a:rPr lang="en-US" altLang="zh-CN" dirty="0"/>
              <a:t>6.2.2  </a:t>
            </a:r>
            <a:r>
              <a:rPr lang="zh-CN" altLang="en-US" dirty="0"/>
              <a:t>函数模板的</a:t>
            </a:r>
            <a:r>
              <a:rPr lang="zh-CN" altLang="en-US" dirty="0">
                <a:solidFill>
                  <a:schemeClr val="tx1"/>
                </a:solidFill>
              </a:rPr>
              <a:t>实例化</a:t>
            </a:r>
          </a:p>
        </p:txBody>
      </p:sp>
      <p:sp>
        <p:nvSpPr>
          <p:cNvPr id="24579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423522" y="1066800"/>
            <a:ext cx="822960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400" dirty="0"/>
              <a:t>实例化的</a:t>
            </a:r>
            <a:r>
              <a:rPr lang="zh-CN" altLang="en-US" sz="2400" dirty="0">
                <a:solidFill>
                  <a:srgbClr val="C00000"/>
                </a:solidFill>
              </a:rPr>
              <a:t>方式：</a:t>
            </a:r>
          </a:p>
          <a:p>
            <a:pPr marL="776288" lvl="1" indent="-457200" eaLnBrk="1" hangingPunct="1">
              <a:buFontTx/>
              <a:buAutoNum type="circleNumDbPlain"/>
            </a:pPr>
            <a:r>
              <a:rPr lang="zh-CN" altLang="en-US" sz="2000" b="1" dirty="0">
                <a:solidFill>
                  <a:srgbClr val="FF0000"/>
                </a:solidFill>
              </a:rPr>
              <a:t>隐式</a:t>
            </a:r>
            <a:r>
              <a:rPr lang="zh-CN" altLang="en-US" sz="2000" b="1" dirty="0"/>
              <a:t>实例化</a:t>
            </a:r>
            <a:endParaRPr lang="en-US" altLang="zh-CN" sz="2000" b="1" dirty="0"/>
          </a:p>
          <a:p>
            <a:pPr lvl="2" eaLnBrk="1" hangingPunct="1"/>
            <a:r>
              <a:rPr lang="zh-CN" altLang="en-US" dirty="0"/>
              <a:t>编译器判断</a:t>
            </a:r>
            <a:r>
              <a:rPr lang="zh-CN" altLang="en-US" dirty="0">
                <a:solidFill>
                  <a:srgbClr val="FF0000"/>
                </a:solidFill>
              </a:rPr>
              <a:t>模板参数类型</a:t>
            </a:r>
            <a:r>
              <a:rPr lang="zh-CN" altLang="en-US" dirty="0"/>
              <a:t>时，自动实例化</a:t>
            </a:r>
            <a:r>
              <a:rPr lang="zh-CN" altLang="en-US" dirty="0">
                <a:solidFill>
                  <a:srgbClr val="FF0000"/>
                </a:solidFill>
              </a:rPr>
              <a:t>函数模板。</a:t>
            </a:r>
            <a:endParaRPr lang="en-US" altLang="zh-CN" sz="1800" dirty="0">
              <a:latin typeface="Consolas" pitchFamily="49" charset="0"/>
            </a:endParaRPr>
          </a:p>
          <a:p>
            <a:pPr marL="776288" lvl="1" indent="-457200" eaLnBrk="1" hangingPunct="1">
              <a:buFontTx/>
              <a:buAutoNum type="circleNumDbPlain"/>
            </a:pPr>
            <a:r>
              <a:rPr lang="zh-CN" altLang="en-US" sz="2000" b="1" dirty="0">
                <a:solidFill>
                  <a:srgbClr val="FF0000"/>
                </a:solidFill>
              </a:rPr>
              <a:t>显式</a:t>
            </a:r>
            <a:r>
              <a:rPr lang="zh-CN" altLang="en-US" sz="2000" b="1" dirty="0"/>
              <a:t>实例化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</a:rPr>
              <a:t>		 	 </a:t>
            </a:r>
          </a:p>
          <a:p>
            <a:pPr>
              <a:buFont typeface="Wingdings 2" panose="05020102010507070707" pitchFamily="18" charset="2"/>
              <a:buNone/>
            </a:pPr>
            <a:endParaRPr lang="en-US" altLang="zh-CN" sz="1800" dirty="0">
              <a:solidFill>
                <a:srgbClr val="0000FF"/>
              </a:solidFill>
              <a:latin typeface="Consolas" pitchFamily="49" charset="0"/>
            </a:endParaRPr>
          </a:p>
          <a:p>
            <a:pPr>
              <a:buFont typeface="Wingdings 2" panose="05020102010507070707" pitchFamily="18" charset="2"/>
              <a:buNone/>
            </a:pPr>
            <a:endParaRPr lang="en-US" altLang="zh-CN" sz="1800" dirty="0">
              <a:solidFill>
                <a:srgbClr val="0000FF"/>
              </a:solidFill>
              <a:latin typeface="Consolas" pitchFamily="49" charset="0"/>
            </a:endParaRPr>
          </a:p>
          <a:p>
            <a:pPr>
              <a:buFont typeface="Wingdings 2" panose="05020102010507070707" pitchFamily="18" charset="2"/>
              <a:buNone/>
            </a:pPr>
            <a:endParaRPr lang="en-US" altLang="zh-CN" sz="1800" dirty="0">
              <a:solidFill>
                <a:srgbClr val="0000FF"/>
              </a:solidFill>
              <a:latin typeface="Consolas" pitchFamily="49" charset="0"/>
            </a:endParaRPr>
          </a:p>
          <a:p>
            <a:pPr marL="2157413" lvl="4" eaLnBrk="1" hangingPunct="1">
              <a:spcBef>
                <a:spcPct val="0"/>
              </a:spcBef>
              <a:buFontTx/>
              <a:buNone/>
            </a:pPr>
            <a:endParaRPr lang="en-US" altLang="zh-CN" sz="1800" dirty="0">
              <a:latin typeface="Consolas" pitchFamily="49" charset="0"/>
            </a:endParaRPr>
          </a:p>
          <a:p>
            <a:pPr marL="2157413" lvl="4" eaLnBrk="1" hangingPunct="1">
              <a:spcBef>
                <a:spcPct val="0"/>
              </a:spcBef>
              <a:buFontTx/>
              <a:buNone/>
            </a:pPr>
            <a:endParaRPr lang="en-US" altLang="zh-CN" sz="1800" dirty="0">
              <a:latin typeface="Consolas" pitchFamily="49" charset="0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7118985" y="3733800"/>
            <a:ext cx="1152128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solidFill>
                  <a:srgbClr val="FF0000"/>
                </a:solidFill>
              </a:rPr>
              <a:t>显式实例化有什么作用？</a:t>
            </a:r>
          </a:p>
        </p:txBody>
      </p:sp>
      <p:sp>
        <p:nvSpPr>
          <p:cNvPr id="4" name="矩形 3"/>
          <p:cNvSpPr/>
          <p:nvPr/>
        </p:nvSpPr>
        <p:spPr>
          <a:xfrm>
            <a:off x="1405974" y="2701259"/>
            <a:ext cx="5375826" cy="3693319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template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 &lt;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class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2B91AF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T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&gt; </a:t>
            </a:r>
          </a:p>
          <a:p>
            <a:pPr>
              <a:defRPr/>
            </a:pPr>
            <a:r>
              <a:rPr lang="fr-FR" altLang="zh-CN" sz="1800" dirty="0">
                <a:solidFill>
                  <a:srgbClr val="2B91AF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T</a:t>
            </a:r>
            <a:r>
              <a:rPr lang="fr-FR" altLang="zh-CN" sz="1800" dirty="0">
                <a:solidFill>
                  <a:srgbClr val="0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 tmin(</a:t>
            </a:r>
            <a:r>
              <a:rPr lang="fr-FR" altLang="zh-CN" sz="1800" dirty="0">
                <a:solidFill>
                  <a:srgbClr val="2B91AF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T</a:t>
            </a:r>
            <a:r>
              <a:rPr lang="fr-FR" altLang="zh-CN" sz="1800" dirty="0">
                <a:solidFill>
                  <a:srgbClr val="0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 </a:t>
            </a:r>
            <a:r>
              <a:rPr lang="fr-FR" altLang="zh-CN" sz="1800" dirty="0">
                <a:solidFill>
                  <a:srgbClr val="80808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a</a:t>
            </a:r>
            <a:r>
              <a:rPr lang="fr-FR" altLang="zh-CN" sz="1800" dirty="0">
                <a:solidFill>
                  <a:srgbClr val="0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, </a:t>
            </a:r>
            <a:r>
              <a:rPr lang="fr-FR" altLang="zh-CN" sz="1800" dirty="0">
                <a:solidFill>
                  <a:srgbClr val="2B91AF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T</a:t>
            </a:r>
            <a:r>
              <a:rPr lang="fr-FR" altLang="zh-CN" sz="1800" dirty="0">
                <a:solidFill>
                  <a:srgbClr val="0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 </a:t>
            </a:r>
            <a:r>
              <a:rPr lang="fr-FR" altLang="zh-CN" sz="1800" dirty="0">
                <a:solidFill>
                  <a:srgbClr val="80808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b</a:t>
            </a:r>
            <a:r>
              <a:rPr lang="fr-FR" altLang="zh-CN" sz="1800" dirty="0">
                <a:solidFill>
                  <a:srgbClr val="0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) </a:t>
            </a:r>
          </a:p>
          <a:p>
            <a:pPr>
              <a:defRPr/>
            </a:pPr>
            <a:r>
              <a:rPr lang="fr-FR" altLang="zh-CN" sz="1800" dirty="0">
                <a:solidFill>
                  <a:srgbClr val="0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{  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return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 (</a:t>
            </a:r>
            <a:r>
              <a:rPr lang="en-US" altLang="zh-CN" sz="1800" dirty="0">
                <a:solidFill>
                  <a:srgbClr val="80808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a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&lt;</a:t>
            </a:r>
            <a:r>
              <a:rPr lang="en-US" altLang="zh-CN" sz="1800" dirty="0">
                <a:solidFill>
                  <a:srgbClr val="80808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b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) ? </a:t>
            </a:r>
            <a:r>
              <a:rPr lang="en-US" altLang="zh-CN" sz="1800" dirty="0">
                <a:solidFill>
                  <a:srgbClr val="80808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a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 : </a:t>
            </a:r>
            <a:r>
              <a:rPr lang="en-US" altLang="zh-CN" sz="1800" dirty="0">
                <a:solidFill>
                  <a:srgbClr val="80808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b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;</a:t>
            </a:r>
          </a:p>
          <a:p>
            <a:pPr>
              <a:defRPr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}</a:t>
            </a:r>
          </a:p>
          <a:p>
            <a:pPr>
              <a:defRPr/>
            </a:pPr>
            <a:r>
              <a:rPr lang="en-US" altLang="zh-CN" sz="1800" dirty="0">
                <a:solidFill>
                  <a:srgbClr val="C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/*</a:t>
            </a:r>
            <a:r>
              <a:rPr lang="zh-CN" altLang="en-US" sz="1800" dirty="0">
                <a:solidFill>
                  <a:srgbClr val="C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隐式实例化</a:t>
            </a:r>
            <a:r>
              <a:rPr lang="en-US" altLang="zh-CN" sz="1800" dirty="0">
                <a:solidFill>
                  <a:srgbClr val="C00000"/>
                </a:solidFill>
                <a:highlight>
                  <a:srgbClr val="FFFFFF"/>
                </a:highlight>
                <a:cs typeface="Times New Roman" panose="02020603050405020304" pitchFamily="18" charset="0"/>
              </a:rPr>
              <a:t>*/</a:t>
            </a:r>
            <a:endParaRPr lang="en-US" altLang="zh-CN" sz="1800" dirty="0">
              <a:solidFill>
                <a:srgbClr val="C00000"/>
              </a:solidFill>
              <a:cs typeface="Times New Roman" panose="02020603050405020304" pitchFamily="18" charset="0"/>
            </a:endParaRPr>
          </a:p>
          <a:p>
            <a:pPr marL="0" lvl="4" eaLnBrk="1" hangingPunct="1"/>
            <a:r>
              <a:rPr lang="en-US" altLang="zh-CN" sz="1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int</a:t>
            </a:r>
            <a:r>
              <a:rPr lang="en-US" altLang="zh-CN" sz="1800" dirty="0"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cs typeface="Times New Roman" panose="02020603050405020304" pitchFamily="18" charset="0"/>
              </a:rPr>
              <a:t>i</a:t>
            </a:r>
            <a:r>
              <a:rPr lang="en-US" altLang="zh-CN" sz="1800" dirty="0">
                <a:cs typeface="Times New Roman" panose="02020603050405020304" pitchFamily="18" charset="0"/>
              </a:rPr>
              <a:t> = </a:t>
            </a:r>
            <a:r>
              <a:rPr lang="en-US" altLang="zh-CN" sz="1800" dirty="0" err="1">
                <a:cs typeface="Times New Roman" panose="02020603050405020304" pitchFamily="18" charset="0"/>
              </a:rPr>
              <a:t>tmin</a:t>
            </a:r>
            <a:r>
              <a:rPr lang="en-US" altLang="zh-CN" sz="1800" dirty="0">
                <a:cs typeface="Times New Roman" panose="02020603050405020304" pitchFamily="18" charset="0"/>
              </a:rPr>
              <a:t> (1, 2); </a:t>
            </a:r>
          </a:p>
          <a:p>
            <a:pPr marL="0" lvl="4" eaLnBrk="1" hangingPunct="1"/>
            <a:r>
              <a:rPr lang="en-US" altLang="zh-CN" sz="1800" dirty="0">
                <a:solidFill>
                  <a:srgbClr val="0000FF"/>
                </a:solidFill>
                <a:cs typeface="Times New Roman" panose="02020603050405020304" pitchFamily="18" charset="0"/>
              </a:rPr>
              <a:t>float</a:t>
            </a:r>
            <a:r>
              <a:rPr lang="en-US" altLang="zh-CN" sz="1800" dirty="0">
                <a:cs typeface="Times New Roman" panose="02020603050405020304" pitchFamily="18" charset="0"/>
              </a:rPr>
              <a:t> f = </a:t>
            </a:r>
            <a:r>
              <a:rPr lang="en-US" altLang="zh-CN" sz="1800" dirty="0" err="1">
                <a:cs typeface="Times New Roman" panose="02020603050405020304" pitchFamily="18" charset="0"/>
              </a:rPr>
              <a:t>tmin</a:t>
            </a:r>
            <a:r>
              <a:rPr lang="en-US" altLang="zh-CN" sz="1800" dirty="0">
                <a:cs typeface="Times New Roman" panose="02020603050405020304" pitchFamily="18" charset="0"/>
              </a:rPr>
              <a:t> (1.0, 2.0);</a:t>
            </a:r>
          </a:p>
          <a:p>
            <a:pPr marL="0" lvl="4" eaLnBrk="1" hangingPunct="1"/>
            <a:r>
              <a:rPr lang="en-US" altLang="zh-CN" sz="1800" dirty="0">
                <a:solidFill>
                  <a:srgbClr val="0000FF"/>
                </a:solidFill>
                <a:cs typeface="Times New Roman" panose="02020603050405020304" pitchFamily="18" charset="0"/>
              </a:rPr>
              <a:t>char</a:t>
            </a:r>
            <a:r>
              <a:rPr lang="en-US" altLang="zh-CN" sz="1800" dirty="0"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cs typeface="Times New Roman" panose="02020603050405020304" pitchFamily="18" charset="0"/>
              </a:rPr>
              <a:t>ch</a:t>
            </a:r>
            <a:r>
              <a:rPr lang="en-US" altLang="zh-CN" sz="1800" dirty="0">
                <a:cs typeface="Times New Roman" panose="02020603050405020304" pitchFamily="18" charset="0"/>
              </a:rPr>
              <a:t> = </a:t>
            </a:r>
            <a:r>
              <a:rPr lang="en-US" altLang="zh-CN" sz="1800" dirty="0" err="1">
                <a:cs typeface="Times New Roman" panose="02020603050405020304" pitchFamily="18" charset="0"/>
              </a:rPr>
              <a:t>tmin</a:t>
            </a:r>
            <a:r>
              <a:rPr lang="en-US" altLang="zh-CN" sz="1800" dirty="0">
                <a:cs typeface="Times New Roman" panose="02020603050405020304" pitchFamily="18" charset="0"/>
              </a:rPr>
              <a:t> (‘a’, ‘A’);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1800" dirty="0">
                <a:solidFill>
                  <a:srgbClr val="C00000"/>
                </a:solidFill>
                <a:cs typeface="Times New Roman" panose="02020603050405020304" pitchFamily="18" charset="0"/>
              </a:rPr>
              <a:t>/</a:t>
            </a:r>
            <a:r>
              <a:rPr lang="zh-CN" altLang="en-US" sz="1800" dirty="0">
                <a:solidFill>
                  <a:srgbClr val="C00000"/>
                </a:solidFill>
                <a:cs typeface="Times New Roman" panose="02020603050405020304" pitchFamily="18" charset="0"/>
              </a:rPr>
              <a:t>*显式实例化*</a:t>
            </a:r>
            <a:r>
              <a:rPr lang="en-US" altLang="zh-CN" sz="1800" dirty="0">
                <a:solidFill>
                  <a:srgbClr val="C00000"/>
                </a:solidFill>
                <a:cs typeface="Times New Roman" panose="02020603050405020304" pitchFamily="18" charset="0"/>
              </a:rPr>
              <a:t>/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1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int</a:t>
            </a:r>
            <a:r>
              <a:rPr lang="en-US" altLang="zh-CN" sz="1800" dirty="0"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cs typeface="Times New Roman" panose="02020603050405020304" pitchFamily="18" charset="0"/>
              </a:rPr>
              <a:t>i</a:t>
            </a:r>
            <a:r>
              <a:rPr lang="en-US" altLang="zh-CN" sz="1800" dirty="0">
                <a:cs typeface="Times New Roman" panose="02020603050405020304" pitchFamily="18" charset="0"/>
              </a:rPr>
              <a:t> = </a:t>
            </a:r>
            <a:r>
              <a:rPr lang="en-US" altLang="zh-CN" sz="1800" dirty="0" err="1">
                <a:cs typeface="Times New Roman" panose="02020603050405020304" pitchFamily="18" charset="0"/>
              </a:rPr>
              <a:t>tmin</a:t>
            </a:r>
            <a:r>
              <a:rPr lang="en-US" altLang="zh-CN" sz="1800" dirty="0">
                <a:cs typeface="Times New Roman" panose="02020603050405020304" pitchFamily="18" charset="0"/>
              </a:rPr>
              <a:t> &lt;</a:t>
            </a:r>
            <a:r>
              <a:rPr lang="en-US" altLang="zh-CN" sz="1800" dirty="0" err="1">
                <a:solidFill>
                  <a:srgbClr val="0000FF"/>
                </a:solidFill>
                <a:cs typeface="Times New Roman" panose="02020603050405020304" pitchFamily="18" charset="0"/>
              </a:rPr>
              <a:t>int</a:t>
            </a:r>
            <a:r>
              <a:rPr lang="en-US" altLang="zh-CN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&gt;</a:t>
            </a:r>
            <a:r>
              <a:rPr lang="en-US" altLang="zh-CN" sz="1800" dirty="0">
                <a:cs typeface="Times New Roman" panose="02020603050405020304" pitchFamily="18" charset="0"/>
              </a:rPr>
              <a:t>(1, 2);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1800" dirty="0">
                <a:solidFill>
                  <a:srgbClr val="0000FF"/>
                </a:solidFill>
                <a:cs typeface="Times New Roman" panose="02020603050405020304" pitchFamily="18" charset="0"/>
              </a:rPr>
              <a:t>float</a:t>
            </a:r>
            <a:r>
              <a:rPr lang="en-US" altLang="zh-CN" sz="1800" dirty="0">
                <a:cs typeface="Times New Roman" panose="02020603050405020304" pitchFamily="18" charset="0"/>
              </a:rPr>
              <a:t> f = </a:t>
            </a:r>
            <a:r>
              <a:rPr lang="en-US" altLang="zh-CN" sz="1800" dirty="0" err="1">
                <a:cs typeface="Times New Roman" panose="02020603050405020304" pitchFamily="18" charset="0"/>
              </a:rPr>
              <a:t>tmin</a:t>
            </a:r>
            <a:r>
              <a:rPr lang="en-US" altLang="zh-CN" sz="1800" dirty="0">
                <a:cs typeface="Times New Roman" panose="02020603050405020304" pitchFamily="18" charset="0"/>
              </a:rPr>
              <a:t> &lt;</a:t>
            </a:r>
            <a:r>
              <a:rPr lang="en-US" altLang="zh-CN" sz="1800" dirty="0">
                <a:solidFill>
                  <a:srgbClr val="0000FF"/>
                </a:solidFill>
                <a:cs typeface="Times New Roman" panose="02020603050405020304" pitchFamily="18" charset="0"/>
              </a:rPr>
              <a:t>float</a:t>
            </a:r>
            <a:r>
              <a:rPr lang="en-US" altLang="zh-CN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&gt;</a:t>
            </a:r>
            <a:r>
              <a:rPr lang="en-US" altLang="zh-CN" sz="1800" dirty="0">
                <a:cs typeface="Times New Roman" panose="02020603050405020304" pitchFamily="18" charset="0"/>
              </a:rPr>
              <a:t>(1.0, 2.0);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1800" dirty="0">
                <a:solidFill>
                  <a:srgbClr val="0000FF"/>
                </a:solidFill>
                <a:cs typeface="Times New Roman" panose="02020603050405020304" pitchFamily="18" charset="0"/>
              </a:rPr>
              <a:t>char</a:t>
            </a:r>
            <a:r>
              <a:rPr lang="en-US" altLang="zh-CN" sz="1800" dirty="0"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cs typeface="Times New Roman" panose="02020603050405020304" pitchFamily="18" charset="0"/>
              </a:rPr>
              <a:t>ch</a:t>
            </a:r>
            <a:r>
              <a:rPr lang="en-US" altLang="zh-CN" sz="1800" dirty="0">
                <a:cs typeface="Times New Roman" panose="02020603050405020304" pitchFamily="18" charset="0"/>
              </a:rPr>
              <a:t> = </a:t>
            </a:r>
            <a:r>
              <a:rPr lang="en-US" altLang="zh-CN" sz="1800" dirty="0" err="1">
                <a:cs typeface="Times New Roman" panose="02020603050405020304" pitchFamily="18" charset="0"/>
              </a:rPr>
              <a:t>tmin</a:t>
            </a:r>
            <a:r>
              <a:rPr lang="en-US" altLang="zh-CN" sz="1800" dirty="0">
                <a:cs typeface="Times New Roman" panose="02020603050405020304" pitchFamily="18" charset="0"/>
              </a:rPr>
              <a:t> &lt;</a:t>
            </a:r>
            <a:r>
              <a:rPr lang="en-US" altLang="zh-CN" sz="1800" dirty="0">
                <a:solidFill>
                  <a:srgbClr val="0000FF"/>
                </a:solidFill>
                <a:cs typeface="Times New Roman" panose="02020603050405020304" pitchFamily="18" charset="0"/>
              </a:rPr>
              <a:t>char</a:t>
            </a:r>
            <a:r>
              <a:rPr lang="en-US" altLang="zh-CN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&gt;</a:t>
            </a:r>
            <a:r>
              <a:rPr lang="en-US" altLang="zh-CN" sz="1800" dirty="0">
                <a:cs typeface="Times New Roman" panose="02020603050405020304" pitchFamily="18" charset="0"/>
              </a:rPr>
              <a:t>(‘a’, ‘A’);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zh-CN" sz="1800" dirty="0">
                <a:cs typeface="Times New Roman" panose="02020603050405020304" pitchFamily="18" charset="0"/>
              </a:rPr>
              <a:t>string </a:t>
            </a:r>
            <a:r>
              <a:rPr lang="en-US" altLang="zh-CN" sz="1800" dirty="0" err="1">
                <a:cs typeface="Times New Roman" panose="02020603050405020304" pitchFamily="18" charset="0"/>
              </a:rPr>
              <a:t>str</a:t>
            </a:r>
            <a:r>
              <a:rPr lang="en-US" altLang="zh-CN" sz="1800" dirty="0">
                <a:cs typeface="Times New Roman" panose="02020603050405020304" pitchFamily="18" charset="0"/>
              </a:rPr>
              <a:t> = </a:t>
            </a:r>
            <a:r>
              <a:rPr lang="en-US" altLang="zh-CN" sz="1800" dirty="0" err="1">
                <a:cs typeface="Times New Roman" panose="02020603050405020304" pitchFamily="18" charset="0"/>
              </a:rPr>
              <a:t>tmin</a:t>
            </a:r>
            <a:r>
              <a:rPr lang="en-US" altLang="zh-CN" sz="1800" dirty="0">
                <a:cs typeface="Times New Roman" panose="02020603050405020304" pitchFamily="18" charset="0"/>
              </a:rPr>
              <a:t>&lt;string</a:t>
            </a:r>
            <a:r>
              <a:rPr lang="en-US" altLang="zh-CN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, string&gt;</a:t>
            </a:r>
            <a:r>
              <a:rPr lang="en-US" altLang="zh-CN" sz="1800" dirty="0">
                <a:cs typeface="Times New Roman" panose="02020603050405020304" pitchFamily="18" charset="0"/>
              </a:rPr>
              <a:t>(“xx”, “</a:t>
            </a:r>
            <a:r>
              <a:rPr lang="en-US" altLang="zh-CN" sz="1800" dirty="0" err="1">
                <a:cs typeface="Times New Roman" panose="02020603050405020304" pitchFamily="18" charset="0"/>
              </a:rPr>
              <a:t>yy</a:t>
            </a:r>
            <a:r>
              <a:rPr lang="en-US" altLang="zh-CN" sz="1800" dirty="0">
                <a:cs typeface="Times New Roman" panose="02020603050405020304" pitchFamily="18" charset="0"/>
              </a:rPr>
              <a:t>”);</a:t>
            </a:r>
            <a:endParaRPr lang="en-US" altLang="zh-CN" sz="16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>
          <a:xfrm>
            <a:off x="721741" y="-69301"/>
            <a:ext cx="7772400" cy="936625"/>
          </a:xfrm>
        </p:spPr>
        <p:txBody>
          <a:bodyPr/>
          <a:lstStyle/>
          <a:p>
            <a:r>
              <a:rPr lang="en-US" altLang="zh-CN" dirty="0"/>
              <a:t>6.2.2  </a:t>
            </a:r>
            <a:r>
              <a:rPr lang="zh-CN" altLang="en-US" dirty="0"/>
              <a:t>函数模板的</a:t>
            </a:r>
            <a:r>
              <a:rPr lang="zh-CN" altLang="en-US" dirty="0">
                <a:solidFill>
                  <a:srgbClr val="C00000"/>
                </a:solidFill>
              </a:rPr>
              <a:t>实例化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198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876535" y="4956292"/>
            <a:ext cx="6264695" cy="1439887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000" dirty="0"/>
              <a:t>隐式实例化中找不到与实参列表匹配的模板</a:t>
            </a:r>
            <a:r>
              <a:rPr lang="en-US" altLang="zh-CN" sz="2000" dirty="0" err="1"/>
              <a:t>tmin</a:t>
            </a:r>
            <a:r>
              <a:rPr lang="zh-CN" altLang="en-US" sz="2000" dirty="0"/>
              <a:t>。</a:t>
            </a:r>
            <a:endParaRPr lang="en-US" altLang="zh-CN" sz="2000" dirty="0"/>
          </a:p>
        </p:txBody>
      </p:sp>
      <p:sp>
        <p:nvSpPr>
          <p:cNvPr id="41987" name="矩形 1"/>
          <p:cNvSpPr>
            <a:spLocks noChangeArrowheads="1"/>
          </p:cNvSpPr>
          <p:nvPr/>
        </p:nvSpPr>
        <p:spPr bwMode="auto">
          <a:xfrm>
            <a:off x="898947" y="836826"/>
            <a:ext cx="7704583" cy="4031873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#include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&lt;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iostream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using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namespace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std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endParaRPr lang="en-US" altLang="zh-CN" sz="16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template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&lt;</a:t>
            </a:r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class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T&gt;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T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tmin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(T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a,T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b)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   return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(a&gt;b)?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a:b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  <a:p>
            <a:endParaRPr lang="en-US" altLang="zh-CN" sz="16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main()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   double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a=2,b=3.4;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    float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 c=5.1,d=3.2;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"2, 3.2 </a:t>
            </a:r>
            <a:r>
              <a:rPr lang="zh-CN" altLang="en-US" sz="1600" dirty="0">
                <a:solidFill>
                  <a:srgbClr val="A31515"/>
                </a:solidFill>
                <a:latin typeface="Consolas" pitchFamily="49" charset="0"/>
              </a:rPr>
              <a:t>的最大值是：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tmin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(2,3.2)&lt;&lt;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"a c </a:t>
            </a:r>
            <a:r>
              <a:rPr lang="zh-CN" altLang="en-US" sz="1600" dirty="0">
                <a:solidFill>
                  <a:srgbClr val="A31515"/>
                </a:solidFill>
                <a:latin typeface="Consolas" pitchFamily="49" charset="0"/>
              </a:rPr>
              <a:t>的最大值是：</a:t>
            </a:r>
            <a:r>
              <a:rPr lang="en-US" altLang="zh-CN" sz="1800" dirty="0">
                <a:solidFill>
                  <a:srgbClr val="A31515"/>
                </a:solidFill>
                <a:latin typeface="Consolas" pitchFamily="49" charset="0"/>
              </a:rPr>
              <a:t>"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   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tmin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a,c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 )&lt;&lt;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"'a', 3 </a:t>
            </a:r>
            <a:r>
              <a:rPr lang="zh-CN" altLang="en-US" sz="1600" dirty="0">
                <a:solidFill>
                  <a:srgbClr val="A31515"/>
                </a:solidFill>
                <a:latin typeface="Consolas" pitchFamily="49" charset="0"/>
              </a:rPr>
              <a:t>的最大值是：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tmin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'a'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,3)&lt;&lt;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    return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0;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</p:txBody>
      </p: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7221909" y="3657600"/>
            <a:ext cx="720725" cy="576262"/>
            <a:chOff x="2699792" y="6309296"/>
            <a:chExt cx="360040" cy="288056"/>
          </a:xfrm>
        </p:grpSpPr>
        <p:cxnSp>
          <p:nvCxnSpPr>
            <p:cNvPr id="6" name="直接连接符 5"/>
            <p:cNvCxnSpPr/>
            <p:nvPr/>
          </p:nvCxnSpPr>
          <p:spPr>
            <a:xfrm flipH="1">
              <a:off x="2699792" y="6309296"/>
              <a:ext cx="360040" cy="28805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2699792" y="6309296"/>
              <a:ext cx="360040" cy="28805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898947" y="5713979"/>
            <a:ext cx="174426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solidFill>
                  <a:srgbClr val="FF0000"/>
                </a:solidFill>
              </a:rPr>
              <a:t>怎么解决？</a:t>
            </a:r>
          </a:p>
        </p:txBody>
      </p:sp>
      <p:sp>
        <p:nvSpPr>
          <p:cNvPr id="3" name="矩形 2"/>
          <p:cNvSpPr/>
          <p:nvPr/>
        </p:nvSpPr>
        <p:spPr>
          <a:xfrm>
            <a:off x="2362199" y="5440853"/>
            <a:ext cx="5220072" cy="955326"/>
          </a:xfrm>
          <a:prstGeom prst="rect">
            <a:avLst/>
          </a:prstGeom>
          <a:solidFill>
            <a:srgbClr val="FF0000">
              <a:alpha val="15000"/>
            </a:srgbClr>
          </a:solidFill>
        </p:spPr>
        <p:txBody>
          <a:bodyPr wrap="square">
            <a:spAutoFit/>
          </a:bodyPr>
          <a:lstStyle/>
          <a:p>
            <a:pPr marL="273050" lvl="1" indent="-273050">
              <a:lnSpc>
                <a:spcPct val="150000"/>
              </a:lnSpc>
              <a:spcBef>
                <a:spcPts val="575"/>
              </a:spcBef>
              <a:buClr>
                <a:schemeClr val="accent1"/>
              </a:buClr>
            </a:pPr>
            <a:r>
              <a:rPr lang="zh-CN" altLang="en-US" sz="1800" dirty="0"/>
              <a:t>实例化过程中</a:t>
            </a:r>
            <a:r>
              <a:rPr lang="zh-CN" altLang="en-US" sz="1800" dirty="0">
                <a:solidFill>
                  <a:srgbClr val="FF0000"/>
                </a:solidFill>
              </a:rPr>
              <a:t>不会自动</a:t>
            </a:r>
            <a:r>
              <a:rPr lang="zh-CN" altLang="en-US" sz="1800" dirty="0"/>
              <a:t>进行参数</a:t>
            </a:r>
            <a:r>
              <a:rPr lang="zh-CN" altLang="en-US" sz="1800" dirty="0">
                <a:solidFill>
                  <a:srgbClr val="FF0000"/>
                </a:solidFill>
              </a:rPr>
              <a:t>类型</a:t>
            </a:r>
            <a:r>
              <a:rPr lang="zh-CN" altLang="en-US" sz="1800" dirty="0"/>
              <a:t>的任何</a:t>
            </a:r>
            <a:r>
              <a:rPr lang="zh-CN" altLang="en-US" sz="1800" dirty="0">
                <a:solidFill>
                  <a:srgbClr val="FF0000"/>
                </a:solidFill>
              </a:rPr>
              <a:t>转换</a:t>
            </a:r>
            <a:r>
              <a:rPr lang="zh-CN" altLang="en-US" sz="1800" dirty="0"/>
              <a:t>。</a:t>
            </a:r>
            <a:endParaRPr lang="en-US" altLang="zh-CN" sz="1800" dirty="0"/>
          </a:p>
          <a:p>
            <a:pPr marL="273050" lvl="1" indent="-273050">
              <a:lnSpc>
                <a:spcPct val="150000"/>
              </a:lnSpc>
              <a:spcBef>
                <a:spcPts val="575"/>
              </a:spcBef>
              <a:buClr>
                <a:schemeClr val="accent1"/>
              </a:buClr>
            </a:pPr>
            <a:r>
              <a:rPr lang="zh-CN" altLang="en-US" sz="1800" dirty="0">
                <a:latin typeface="华文楷体" panose="02010600040101010101" pitchFamily="2" charset="-122"/>
              </a:rPr>
              <a:t>模板不支持隐式的类型转换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" grpId="0" build="p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6.2.2  </a:t>
            </a:r>
            <a:r>
              <a:rPr lang="zh-CN" altLang="en-US" dirty="0"/>
              <a:t>函数模板的</a:t>
            </a:r>
            <a:r>
              <a:rPr lang="zh-CN" altLang="en-US" dirty="0">
                <a:solidFill>
                  <a:schemeClr val="tx1"/>
                </a:solidFill>
              </a:rPr>
              <a:t>实例化</a:t>
            </a:r>
          </a:p>
        </p:txBody>
      </p:sp>
      <p:sp>
        <p:nvSpPr>
          <p:cNvPr id="44034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Wingdings 2" panose="05020102010507070707" pitchFamily="18" charset="2"/>
              <a:buNone/>
            </a:pPr>
            <a:r>
              <a:rPr lang="zh-CN" altLang="en-US" sz="2400" b="1" dirty="0"/>
              <a:t>解决方法：</a:t>
            </a:r>
            <a:endParaRPr lang="en-US" altLang="zh-CN" sz="2400" b="1" dirty="0"/>
          </a:p>
          <a:p>
            <a:pPr marL="808038" lvl="1" indent="-533400"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zh-CN" altLang="en-US" sz="2200" dirty="0"/>
              <a:t>（</a:t>
            </a:r>
            <a:r>
              <a:rPr lang="en-US" altLang="zh-CN" sz="2200" dirty="0"/>
              <a:t>1</a:t>
            </a:r>
            <a:r>
              <a:rPr lang="zh-CN" altLang="en-US" sz="2200" dirty="0"/>
              <a:t>）</a:t>
            </a:r>
            <a:r>
              <a:rPr lang="zh-CN" altLang="en-US" sz="2200" dirty="0">
                <a:solidFill>
                  <a:srgbClr val="FF0000"/>
                </a:solidFill>
              </a:rPr>
              <a:t>显式实例化。</a:t>
            </a:r>
          </a:p>
          <a:p>
            <a:pPr marL="1187450" lvl="2" indent="-457200"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zh-CN" sz="1800" dirty="0">
                <a:latin typeface="Consolas" pitchFamily="49" charset="0"/>
                <a:cs typeface="Consolas" pitchFamily="49" charset="0"/>
              </a:rPr>
              <a:t>	</a:t>
            </a:r>
            <a:endParaRPr lang="zh-CN" altLang="en-US" sz="2400" b="1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23528" y="5335473"/>
            <a:ext cx="77724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808038" indent="-53340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87450" indent="-4572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096963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3716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1828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286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743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004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lvl="1"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zh-CN" altLang="en-US" sz="2200" dirty="0"/>
              <a:t>（</a:t>
            </a:r>
            <a:r>
              <a:rPr lang="en-US" altLang="zh-CN" sz="2200" dirty="0"/>
              <a:t>2</a:t>
            </a:r>
            <a:r>
              <a:rPr lang="zh-CN" altLang="en-US" sz="2200" dirty="0"/>
              <a:t>）对实参的</a:t>
            </a:r>
            <a:r>
              <a:rPr lang="zh-CN" altLang="en-US" sz="2200" dirty="0">
                <a:solidFill>
                  <a:srgbClr val="FF0000"/>
                </a:solidFill>
              </a:rPr>
              <a:t>强制类型转换。</a:t>
            </a:r>
          </a:p>
          <a:p>
            <a:pPr lvl="2"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zh-CN" sz="1800" dirty="0">
                <a:latin typeface="Consolas" pitchFamily="49" charset="0"/>
                <a:cs typeface="Consolas" pitchFamily="49" charset="0"/>
              </a:rPr>
              <a:t>	</a:t>
            </a:r>
            <a:r>
              <a:rPr lang="en-US" altLang="zh-CN" sz="1800" dirty="0" err="1">
                <a:latin typeface="Consolas" pitchFamily="49" charset="0"/>
                <a:cs typeface="Consolas" pitchFamily="49" charset="0"/>
              </a:rPr>
              <a:t>cout</a:t>
            </a:r>
            <a:r>
              <a:rPr lang="en-US" altLang="zh-CN" sz="1800" dirty="0">
                <a:latin typeface="Consolas" pitchFamily="49" charset="0"/>
                <a:cs typeface="Consolas" pitchFamily="49" charset="0"/>
              </a:rPr>
              <a:t>&lt;&lt;</a:t>
            </a:r>
            <a:r>
              <a:rPr lang="en-US" altLang="zh-CN" sz="1800" dirty="0" err="1">
                <a:latin typeface="Consolas" pitchFamily="49" charset="0"/>
                <a:cs typeface="Consolas" pitchFamily="49" charset="0"/>
              </a:rPr>
              <a:t>tmin</a:t>
            </a:r>
            <a:r>
              <a:rPr lang="en-US" altLang="zh-CN" sz="18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double</a:t>
            </a:r>
            <a:r>
              <a:rPr lang="en-US" altLang="zh-CN" sz="1800" dirty="0">
                <a:latin typeface="Consolas" pitchFamily="49" charset="0"/>
              </a:rPr>
              <a:t>(</a:t>
            </a:r>
            <a:r>
              <a:rPr lang="en-US" altLang="zh-CN" sz="1800" dirty="0">
                <a:solidFill>
                  <a:srgbClr val="FF0000"/>
                </a:solidFill>
                <a:latin typeface="Consolas" pitchFamily="49" charset="0"/>
              </a:rPr>
              <a:t>2</a:t>
            </a:r>
            <a:r>
              <a:rPr lang="en-US" altLang="zh-CN" sz="1800" dirty="0">
                <a:latin typeface="Consolas" pitchFamily="49" charset="0"/>
              </a:rPr>
              <a:t>),3.2)&lt;&lt;</a:t>
            </a:r>
            <a:r>
              <a:rPr lang="en-US" altLang="zh-CN" sz="1800" dirty="0" err="1">
                <a:latin typeface="Consolas" pitchFamily="49" charset="0"/>
              </a:rPr>
              <a:t>endl</a:t>
            </a:r>
            <a:r>
              <a:rPr lang="en-US" altLang="zh-CN" sz="1800" dirty="0">
                <a:latin typeface="Consolas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</a:pPr>
            <a:endParaRPr lang="zh-CN" altLang="en-US" sz="2400" b="1" dirty="0"/>
          </a:p>
        </p:txBody>
      </p:sp>
      <p:sp>
        <p:nvSpPr>
          <p:cNvPr id="44036" name="矩形 5"/>
          <p:cNvSpPr>
            <a:spLocks noChangeArrowheads="1"/>
          </p:cNvSpPr>
          <p:nvPr/>
        </p:nvSpPr>
        <p:spPr bwMode="auto">
          <a:xfrm>
            <a:off x="881063" y="2566990"/>
            <a:ext cx="6967537" cy="2308324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en-US" altLang="zh-CN" sz="1600" dirty="0">
              <a:solidFill>
                <a:srgbClr val="0000FF"/>
              </a:solidFill>
              <a:latin typeface="Consolas" pitchFamily="49" charset="0"/>
            </a:endParaRPr>
          </a:p>
          <a:p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main(){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    double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a=2,b=3.4;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    float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 c=5.1,d=3.2;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"2, 3.2 </a:t>
            </a:r>
            <a:r>
              <a:rPr lang="zh-CN" altLang="en-US" sz="1600" dirty="0">
                <a:solidFill>
                  <a:srgbClr val="A31515"/>
                </a:solidFill>
                <a:latin typeface="Consolas" pitchFamily="49" charset="0"/>
              </a:rPr>
              <a:t>的最大值是：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tmin</a:t>
            </a:r>
            <a:r>
              <a:rPr lang="en-US" altLang="zh-CN" sz="1600" dirty="0">
                <a:latin typeface="Consolas" pitchFamily="49" charset="0"/>
              </a:rPr>
              <a:t>&lt;</a:t>
            </a:r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double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&gt;(2,3.2)&lt;&lt;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“a c </a:t>
            </a:r>
            <a:r>
              <a:rPr lang="zh-CN" altLang="en-US" sz="1600" dirty="0">
                <a:solidFill>
                  <a:srgbClr val="A31515"/>
                </a:solidFill>
                <a:latin typeface="Consolas" pitchFamily="49" charset="0"/>
              </a:rPr>
              <a:t>的最大值是：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   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tmin</a:t>
            </a:r>
            <a:r>
              <a:rPr lang="en-US" altLang="zh-CN" sz="1600" dirty="0">
                <a:latin typeface="Consolas" pitchFamily="49" charset="0"/>
              </a:rPr>
              <a:t>&lt;</a:t>
            </a:r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double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&gt;(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a,c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 )&lt;&lt;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"'a', 3 </a:t>
            </a:r>
            <a:r>
              <a:rPr lang="zh-CN" altLang="en-US" sz="1600" dirty="0">
                <a:solidFill>
                  <a:srgbClr val="A31515"/>
                </a:solidFill>
                <a:latin typeface="Consolas" pitchFamily="49" charset="0"/>
              </a:rPr>
              <a:t>的最大值是：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tmin</a:t>
            </a:r>
            <a:r>
              <a:rPr lang="en-US" altLang="zh-CN" sz="1600" dirty="0">
                <a:latin typeface="Consolas" pitchFamily="49" charset="0"/>
              </a:rPr>
              <a:t>&lt;</a:t>
            </a:r>
            <a:r>
              <a:rPr lang="en-US" altLang="zh-CN" sz="16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int</a:t>
            </a:r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  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&gt;(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'a'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,3)&lt;&lt;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    return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0;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</p:txBody>
      </p:sp>
      <p:sp>
        <p:nvSpPr>
          <p:cNvPr id="3" name="矩形 2"/>
          <p:cNvSpPr/>
          <p:nvPr/>
        </p:nvSpPr>
        <p:spPr>
          <a:xfrm>
            <a:off x="4953000" y="3581400"/>
            <a:ext cx="864096" cy="792088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2717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dirty="0"/>
              <a:t>6.2  </a:t>
            </a:r>
            <a:r>
              <a:rPr lang="zh-CN" altLang="en-US" dirty="0"/>
              <a:t>函数模板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6082" name="矩形 2"/>
          <p:cNvSpPr>
            <a:spLocks noChangeArrowheads="1"/>
          </p:cNvSpPr>
          <p:nvPr/>
        </p:nvSpPr>
        <p:spPr bwMode="auto">
          <a:xfrm>
            <a:off x="703049" y="914400"/>
            <a:ext cx="8064896" cy="1498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b="1" dirty="0"/>
              <a:t>编程实例</a:t>
            </a:r>
            <a:r>
              <a:rPr lang="zh-CN" altLang="en-US" dirty="0"/>
              <a:t>：用函数模板实现数组的选择法排序。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/>
              <a:t>选择排序的基本思想： 每次从待排序序列中选择一个关键字最小的元素，顺序排在已排序列的最后，直至全部排完。</a:t>
            </a:r>
          </a:p>
        </p:txBody>
      </p:sp>
      <p:pic>
        <p:nvPicPr>
          <p:cNvPr id="46083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119"/>
          <a:stretch>
            <a:fillRect/>
          </a:stretch>
        </p:blipFill>
        <p:spPr bwMode="auto">
          <a:xfrm>
            <a:off x="703049" y="2590800"/>
            <a:ext cx="7897863" cy="3219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矩形 3"/>
          <p:cNvSpPr>
            <a:spLocks noChangeArrowheads="1"/>
          </p:cNvSpPr>
          <p:nvPr/>
        </p:nvSpPr>
        <p:spPr bwMode="auto">
          <a:xfrm>
            <a:off x="395536" y="253318"/>
            <a:ext cx="4392612" cy="6494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#include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&lt;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iostream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using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namespace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std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endParaRPr lang="zh-CN" altLang="en-US" sz="16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template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&lt;</a:t>
            </a:r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class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T&gt;</a:t>
            </a:r>
          </a:p>
          <a:p>
            <a:r>
              <a:rPr lang="fr-FR" altLang="zh-CN" sz="1600" dirty="0">
                <a:solidFill>
                  <a:srgbClr val="0000FF"/>
                </a:solidFill>
                <a:latin typeface="Consolas" pitchFamily="49" charset="0"/>
              </a:rPr>
              <a:t>void</a:t>
            </a:r>
            <a:r>
              <a:rPr lang="fr-FR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fr-FR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myswap</a:t>
            </a:r>
            <a:r>
              <a:rPr lang="fr-FR" altLang="zh-CN" sz="1600" dirty="0">
                <a:solidFill>
                  <a:srgbClr val="000000"/>
                </a:solidFill>
                <a:latin typeface="Consolas" pitchFamily="49" charset="0"/>
              </a:rPr>
              <a:t>(T &amp;x, T &amp;y)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{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T temp = x;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x = y;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y = temp;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  <a:p>
            <a:endParaRPr lang="zh-CN" altLang="en-US" sz="16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template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&lt;</a:t>
            </a:r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class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T&gt;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selectionSort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(T*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a,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n)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{</a:t>
            </a:r>
          </a:p>
          <a:p>
            <a:pPr lvl="1"/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for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(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=0;i&lt;n-1;i++)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{</a:t>
            </a:r>
          </a:p>
          <a:p>
            <a:pPr lvl="2"/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leastindex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=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pPr lvl="2"/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for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j=i+1;j&lt;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n;j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++)</a:t>
            </a:r>
          </a:p>
          <a:p>
            <a:pPr lvl="3"/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if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(a[j] &lt; a[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leastindex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])</a:t>
            </a:r>
          </a:p>
          <a:p>
            <a:pPr lvl="4"/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leastindex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= j;</a:t>
            </a:r>
          </a:p>
          <a:p>
            <a:pPr lvl="2"/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myswap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(a[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],a[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leastindex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]);</a:t>
            </a:r>
            <a:endParaRPr lang="zh-CN" altLang="en-US" sz="1600" dirty="0">
              <a:solidFill>
                <a:srgbClr val="000000"/>
              </a:solidFill>
              <a:latin typeface="Consolas" pitchFamily="49" charset="0"/>
            </a:endParaRP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  <a:p>
            <a:endParaRPr lang="zh-CN" altLang="en-US" sz="1600" dirty="0">
              <a:solidFill>
                <a:srgbClr val="000000"/>
              </a:solidFill>
              <a:latin typeface="Consolas" pitchFamily="49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131" name="矩形 6"/>
          <p:cNvSpPr>
            <a:spLocks noChangeArrowheads="1"/>
          </p:cNvSpPr>
          <p:nvPr/>
        </p:nvSpPr>
        <p:spPr bwMode="auto">
          <a:xfrm>
            <a:off x="4643438" y="476250"/>
            <a:ext cx="4392612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template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&lt;</a:t>
            </a:r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class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T&gt;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display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(T*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a,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n)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{</a:t>
            </a:r>
          </a:p>
          <a:p>
            <a:pPr lvl="1"/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for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=0;i&lt;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n;i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++)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&lt;&lt;a[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]&lt;&lt;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"\t"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  <a:p>
            <a:endParaRPr lang="zh-CN" altLang="en-US" sz="16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main()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{</a:t>
            </a:r>
          </a:p>
          <a:p>
            <a:pPr lvl="1"/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a[]={1,41,2,5,8,21,23};</a:t>
            </a:r>
          </a:p>
          <a:p>
            <a:pPr lvl="1"/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char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b[]={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'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a'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,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'x'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,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'y'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,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'e'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,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'q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'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, 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'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g'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,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'o'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,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'u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'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};</a:t>
            </a:r>
          </a:p>
          <a:p>
            <a:pPr lvl="1"/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selectionSort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(a,7);</a:t>
            </a:r>
          </a:p>
          <a:p>
            <a:pPr lvl="1"/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selectionSort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(b,8);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display(a,7);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display(b,8);</a:t>
            </a:r>
          </a:p>
          <a:p>
            <a:pPr lvl="1"/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0;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  <a:p>
            <a:endParaRPr lang="zh-CN" altLang="en-US" sz="1600" dirty="0">
              <a:solidFill>
                <a:srgbClr val="000000"/>
              </a:solidFill>
              <a:latin typeface="Consolas" pitchFamily="49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5877272"/>
            <a:ext cx="7086319" cy="753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40F6D43-0E8F-9151-EFA8-9C7818F01D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函数模板例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3937E3BE-E9E6-EB9F-AC39-09EAB0A414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1"/>
            <a:ext cx="8229600" cy="3048000"/>
          </a:xfrm>
        </p:spPr>
        <p:txBody>
          <a:bodyPr/>
          <a:lstStyle/>
          <a:p>
            <a:pPr marL="0" indent="0" eaLnBrk="1" hangingPunct="1">
              <a:buNone/>
              <a:defRPr/>
            </a:pPr>
            <a:r>
              <a:rPr lang="zh-CN" altLang="en-US" dirty="0">
                <a:latin typeface="+mn-ea"/>
              </a:rPr>
              <a:t>插入排序函数模板</a:t>
            </a:r>
          </a:p>
          <a:p>
            <a:pPr marL="0" indent="0" eaLnBrk="1" hangingPunct="1">
              <a:buNone/>
              <a:defRPr/>
            </a:pPr>
            <a:r>
              <a:rPr lang="zh-CN" altLang="en-US" dirty="0">
                <a:latin typeface="+mn-ea"/>
              </a:rPr>
              <a:t>主测试函数也使用函数模板，所以是模板的嵌套使用</a:t>
            </a:r>
          </a:p>
          <a:p>
            <a:pPr marL="0" indent="0" eaLnBrk="1" hangingPunct="1">
              <a:buNone/>
              <a:defRPr/>
            </a:pPr>
            <a:endParaRPr lang="en-US" altLang="zh-CN" dirty="0">
              <a:latin typeface="+mn-ea"/>
            </a:endParaRPr>
          </a:p>
        </p:txBody>
      </p:sp>
      <p:sp>
        <p:nvSpPr>
          <p:cNvPr id="17412" name="Text Box 4">
            <a:extLst>
              <a:ext uri="{FF2B5EF4-FFF2-40B4-BE49-F238E27FC236}">
                <a16:creationId xmlns:a16="http://schemas.microsoft.com/office/drawing/2014/main" id="{49F82BDF-0978-BBEE-4A6F-7BA7BC567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5715000"/>
            <a:ext cx="45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hlinkClick r:id="rId2" action="ppaction://hlinksldjump"/>
              </a:rPr>
              <a:t>&lt;&lt;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04794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组合 6">
            <a:extLst>
              <a:ext uri="{FF2B5EF4-FFF2-40B4-BE49-F238E27FC236}">
                <a16:creationId xmlns:a16="http://schemas.microsoft.com/office/drawing/2014/main" id="{E97D1929-6180-BCD3-7A25-CC0982EE9AB3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76200"/>
            <a:ext cx="5257800" cy="3934718"/>
            <a:chOff x="1066800" y="285690"/>
            <a:chExt cx="5257800" cy="393464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25AF882-A62D-9930-8B79-981FEF2D6D7E}"/>
                </a:ext>
              </a:extLst>
            </p:cNvPr>
            <p:cNvSpPr/>
            <p:nvPr/>
          </p:nvSpPr>
          <p:spPr>
            <a:xfrm>
              <a:off x="1066800" y="680971"/>
              <a:ext cx="5257800" cy="35393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14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</a:rPr>
                <a:t>#</a:t>
              </a:r>
              <a:r>
                <a:rPr lang="en-US" altLang="zh-CN" sz="1400" dirty="0" err="1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</a:rPr>
                <a:t>ifndef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 ARRAY_BASED_SORTING_FUNCTIONS</a:t>
              </a:r>
            </a:p>
            <a:p>
              <a:pPr>
                <a:defRPr/>
              </a:pPr>
              <a:r>
                <a:rPr lang="en-US" altLang="zh-CN" sz="14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</a:rPr>
                <a:t>#define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 </a:t>
              </a:r>
              <a:r>
                <a:rPr lang="en-US" altLang="zh-CN" sz="1400" dirty="0">
                  <a:solidFill>
                    <a:srgbClr val="6F008A"/>
                  </a:solidFill>
                  <a:latin typeface="Consolas" panose="020B0609020204030204" pitchFamily="49" charset="0"/>
                  <a:ea typeface="新宋体"/>
                </a:rPr>
                <a:t>ARRAY_BASED_SORTING_FUNCTIONS</a:t>
              </a:r>
              <a:endPara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endParaRPr>
            </a:p>
            <a:p>
              <a:pPr>
                <a:defRPr/>
              </a:pPr>
              <a:r>
                <a:rPr lang="en-US" altLang="zh-CN" sz="14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</a:rPr>
                <a:t>template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 &lt;</a:t>
              </a:r>
              <a:r>
                <a:rPr lang="en-US" altLang="zh-CN" sz="1400" dirty="0" err="1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</a:rPr>
                <a:t>typename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 </a:t>
              </a:r>
              <a:r>
                <a:rPr lang="en-US" altLang="zh-CN" sz="1400" dirty="0">
                  <a:solidFill>
                    <a:srgbClr val="2B91AF"/>
                  </a:solidFill>
                  <a:latin typeface="Consolas" panose="020B0609020204030204" pitchFamily="49" charset="0"/>
                  <a:ea typeface="新宋体"/>
                </a:rPr>
                <a:t>T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&gt;</a:t>
              </a:r>
            </a:p>
            <a:p>
              <a:pPr>
                <a:defRPr/>
              </a:pPr>
              <a:r>
                <a:rPr lang="fr-FR" altLang="zh-CN" sz="14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</a:rPr>
                <a:t>void</a:t>
              </a:r>
              <a:r>
                <a:rPr lang="fr-FR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 InsertionSort(</a:t>
              </a:r>
              <a:r>
                <a:rPr lang="fr-FR" altLang="zh-CN" sz="1400" dirty="0">
                  <a:solidFill>
                    <a:srgbClr val="2B91AF"/>
                  </a:solidFill>
                  <a:latin typeface="Consolas" panose="020B0609020204030204" pitchFamily="49" charset="0"/>
                  <a:ea typeface="新宋体"/>
                </a:rPr>
                <a:t>T</a:t>
              </a:r>
              <a:r>
                <a:rPr lang="fr-FR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 </a:t>
              </a:r>
              <a:r>
                <a:rPr lang="fr-FR" altLang="zh-CN" sz="14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</a:rPr>
                <a:t>A</a:t>
              </a:r>
              <a:r>
                <a:rPr lang="fr-FR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[], </a:t>
              </a:r>
              <a:r>
                <a:rPr lang="fr-FR" altLang="zh-CN" sz="14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</a:rPr>
                <a:t>int</a:t>
              </a:r>
              <a:r>
                <a:rPr lang="fr-FR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 </a:t>
              </a:r>
              <a:r>
                <a:rPr lang="fr-FR" altLang="zh-CN" sz="14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</a:rPr>
                <a:t>n</a:t>
              </a:r>
              <a:r>
                <a:rPr lang="fr-FR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)</a:t>
              </a:r>
            </a:p>
            <a:p>
              <a:pPr>
                <a:defRPr/>
              </a:pP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{   </a:t>
              </a:r>
              <a:r>
                <a:rPr lang="en-US" altLang="zh-CN" sz="14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</a:rPr>
                <a:t>int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 </a:t>
              </a:r>
              <a:r>
                <a:rPr lang="en-US" altLang="zh-CN" sz="14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i,j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;</a:t>
              </a:r>
            </a:p>
            <a:p>
              <a:pPr marL="365125">
                <a:defRPr/>
              </a:pPr>
              <a:r>
                <a:rPr lang="en-US" altLang="zh-CN" sz="1400" dirty="0">
                  <a:solidFill>
                    <a:srgbClr val="2B91AF"/>
                  </a:solidFill>
                  <a:latin typeface="Consolas" panose="020B0609020204030204" pitchFamily="49" charset="0"/>
                  <a:ea typeface="新宋体"/>
                </a:rPr>
                <a:t>T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 temp;</a:t>
              </a:r>
            </a:p>
            <a:p>
              <a:pPr marL="365125">
                <a:defRPr/>
              </a:pPr>
              <a:r>
                <a:rPr lang="nn-NO" altLang="zh-CN" sz="14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</a:rPr>
                <a:t>for</a:t>
              </a:r>
              <a:r>
                <a:rPr lang="nn-NO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(i=1;i&lt;</a:t>
              </a:r>
              <a:r>
                <a:rPr lang="nn-NO" altLang="zh-CN" sz="14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</a:rPr>
                <a:t>n</a:t>
              </a:r>
              <a:r>
                <a:rPr lang="nn-NO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;i++)</a:t>
              </a:r>
            </a:p>
            <a:p>
              <a:pPr marL="365125">
                <a:defRPr/>
              </a:pP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{  j=</a:t>
              </a:r>
              <a:r>
                <a:rPr lang="en-US" altLang="zh-CN" sz="14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i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;</a:t>
              </a:r>
            </a:p>
            <a:p>
              <a:pPr marL="715963">
                <a:defRPr/>
              </a:pP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temp=</a:t>
              </a:r>
              <a:r>
                <a:rPr lang="en-US" altLang="zh-CN" sz="14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</a:rPr>
                <a:t>A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[</a:t>
              </a:r>
              <a:r>
                <a:rPr lang="en-US" altLang="zh-CN" sz="14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i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];</a:t>
              </a:r>
            </a:p>
            <a:p>
              <a:pPr marL="715963">
                <a:defRPr/>
              </a:pPr>
              <a:r>
                <a:rPr lang="en-US" altLang="zh-CN" sz="14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</a:rPr>
                <a:t>while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(j&gt;0&amp;&amp;temp&lt;</a:t>
              </a:r>
              <a:r>
                <a:rPr lang="en-US" altLang="zh-CN" sz="14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</a:rPr>
                <a:t>A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[j-1])</a:t>
              </a:r>
            </a:p>
            <a:p>
              <a:pPr marL="715963">
                <a:defRPr/>
              </a:pP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{  </a:t>
              </a:r>
              <a:r>
                <a:rPr lang="en-US" altLang="zh-CN" sz="14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</a:rPr>
                <a:t>A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[j] = </a:t>
              </a:r>
              <a:r>
                <a:rPr lang="en-US" altLang="zh-CN" sz="14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</a:rPr>
                <a:t>A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[j-1];</a:t>
              </a:r>
            </a:p>
            <a:p>
              <a:pPr marL="715963">
                <a:defRPr/>
              </a:pP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   j--;</a:t>
              </a:r>
            </a:p>
            <a:p>
              <a:pPr marL="715963">
                <a:defRPr/>
              </a:pP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}</a:t>
              </a:r>
            </a:p>
            <a:p>
              <a:pPr marL="715963">
                <a:defRPr/>
              </a:pPr>
              <a:r>
                <a:rPr lang="en-US" altLang="zh-CN" sz="14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</a:rPr>
                <a:t>A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[j]=temp;</a:t>
              </a:r>
            </a:p>
            <a:p>
              <a:pPr marL="365125">
                <a:defRPr/>
              </a:pP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}</a:t>
              </a:r>
            </a:p>
            <a:p>
              <a:pPr>
                <a:defRPr/>
              </a:pP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}</a:t>
              </a:r>
              <a:endParaRPr lang="zh-CN" altLang="en-US" sz="1400" dirty="0">
                <a:latin typeface="Consolas" panose="020B0609020204030204" pitchFamily="49" charset="0"/>
              </a:endParaRPr>
            </a:p>
          </p:txBody>
        </p:sp>
        <p:sp>
          <p:nvSpPr>
            <p:cNvPr id="18437" name="矩形 5">
              <a:extLst>
                <a:ext uri="{FF2B5EF4-FFF2-40B4-BE49-F238E27FC236}">
                  <a16:creationId xmlns:a16="http://schemas.microsoft.com/office/drawing/2014/main" id="{2B93EADD-F413-F06C-8DA0-CC5532298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800" y="285690"/>
              <a:ext cx="1723549" cy="4001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anose="05020102010507070707" pitchFamily="18" charset="2"/>
                <a:buChar char=""/>
                <a:defRPr sz="32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anose="05020102010507070707" pitchFamily="18" charset="2"/>
                <a:buChar char="³"/>
                <a:defRPr sz="28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anose="05020102010507070707" pitchFamily="18" charset="2"/>
                <a:buChar char="®"/>
                <a:defRPr sz="24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anose="05020102010507070707" pitchFamily="18" charset="2"/>
                <a:buChar char="¯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 err="1">
                  <a:solidFill>
                    <a:srgbClr val="A31515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insertsort.h</a:t>
              </a:r>
              <a:endParaRPr lang="en-US" altLang="zh-CN" sz="20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9BDF3565-A711-5C30-F565-3D5C5EFA862D}"/>
              </a:ext>
            </a:extLst>
          </p:cNvPr>
          <p:cNvSpPr/>
          <p:nvPr/>
        </p:nvSpPr>
        <p:spPr>
          <a:xfrm>
            <a:off x="3352800" y="2514600"/>
            <a:ext cx="5486400" cy="440120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template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&lt;</a:t>
            </a:r>
            <a:r>
              <a:rPr lang="en-US" altLang="zh-CN" sz="14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typename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</a:t>
            </a:r>
          </a:p>
          <a:p>
            <a:pPr>
              <a:defRPr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testfunction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* </a:t>
            </a:r>
            <a:r>
              <a:rPr lang="en-US" altLang="zh-CN" sz="14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arraytype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</a:t>
            </a:r>
          </a:p>
          <a:p>
            <a:pPr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(0);</a:t>
            </a:r>
          </a:p>
          <a:p>
            <a:pPr marL="365125">
              <a:defRPr/>
            </a:pPr>
            <a:r>
              <a:rPr lang="en-US" altLang="zh-CN" sz="14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arraylength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 0;</a:t>
            </a:r>
          </a:p>
          <a:p>
            <a:pPr marL="365125">
              <a:defRPr/>
            </a:pP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4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"Please input </a:t>
            </a:r>
            <a:r>
              <a:rPr lang="en-US" altLang="zh-CN" sz="1400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arraylength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:"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>
              <a:defRPr/>
            </a:pP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cin</a:t>
            </a:r>
            <a:r>
              <a:rPr lang="en-US" altLang="zh-CN" sz="14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&gt;&gt;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arraylength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>
              <a:defRPr/>
            </a:pPr>
            <a:r>
              <a:rPr lang="en-US" altLang="zh-CN" sz="14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arraytype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new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arraylength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];</a:t>
            </a:r>
          </a:p>
          <a:p>
            <a:pPr marL="365125">
              <a:defRPr/>
            </a:pP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4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"Please input the elements of array:\n"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>
              <a:defRPr/>
            </a:pPr>
            <a:r>
              <a:rPr lang="nn-NO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for</a:t>
            </a:r>
            <a:r>
              <a:rPr lang="nn-NO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(i=0;i&lt;arraylength;i++)</a:t>
            </a:r>
          </a:p>
          <a:p>
            <a:pPr marL="365125"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cin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&gt;&gt; </a:t>
            </a:r>
            <a:r>
              <a:rPr lang="en-US" altLang="zh-CN" sz="14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arraytype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];</a:t>
            </a:r>
          </a:p>
          <a:p>
            <a:pPr marL="365125">
              <a:defRPr/>
            </a:pP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InsertionSort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4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arraytype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arraylength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365125">
              <a:defRPr/>
            </a:pP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4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"Here is the sort result:\n"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>
              <a:defRPr/>
            </a:pP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 0;</a:t>
            </a:r>
          </a:p>
          <a:p>
            <a:pPr marL="365125">
              <a:defRPr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while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arraylength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365125"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&lt;&lt;</a:t>
            </a:r>
            <a:r>
              <a:rPr lang="en-US" altLang="zh-CN" sz="14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arraytype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++]&lt;&lt;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 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>
              <a:defRPr/>
            </a:pP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4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>
              <a:defRPr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delete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[] </a:t>
            </a:r>
            <a:r>
              <a:rPr lang="en-US" altLang="zh-CN" sz="14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arraytype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>
              <a:defRPr/>
            </a:pPr>
            <a:r>
              <a:rPr lang="en-US" altLang="zh-CN" sz="14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arraytype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latin typeface="Consolas" panose="020B0609020204030204" pitchFamily="49" charset="0"/>
                <a:ea typeface="新宋体"/>
              </a:rPr>
              <a:t>= NULL</a:t>
            </a: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;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  <a:p>
            <a:pPr>
              <a:defRPr/>
            </a:pP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#</a:t>
            </a:r>
            <a:r>
              <a:rPr lang="en-US" altLang="zh-CN" sz="14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endif</a:t>
            </a:r>
            <a:endParaRPr lang="zh-CN" alt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50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组合 6">
            <a:extLst>
              <a:ext uri="{FF2B5EF4-FFF2-40B4-BE49-F238E27FC236}">
                <a16:creationId xmlns:a16="http://schemas.microsoft.com/office/drawing/2014/main" id="{35D65BCC-4543-E761-AF07-71759BAF5398}"/>
              </a:ext>
            </a:extLst>
          </p:cNvPr>
          <p:cNvGrpSpPr>
            <a:grpSpLocks/>
          </p:cNvGrpSpPr>
          <p:nvPr/>
        </p:nvGrpSpPr>
        <p:grpSpPr bwMode="auto">
          <a:xfrm>
            <a:off x="0" y="180975"/>
            <a:ext cx="5715000" cy="4325918"/>
            <a:chOff x="304800" y="181481"/>
            <a:chExt cx="5715000" cy="432557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F1777C5-E0CA-804C-17B8-E93952D411F0}"/>
                </a:ext>
              </a:extLst>
            </p:cNvPr>
            <p:cNvSpPr/>
            <p:nvPr/>
          </p:nvSpPr>
          <p:spPr>
            <a:xfrm>
              <a:off x="304800" y="537052"/>
              <a:ext cx="5715000" cy="3969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14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</a:rPr>
                <a:t>#include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 </a:t>
              </a:r>
              <a:r>
                <a:rPr lang="en-US" altLang="zh-CN" sz="14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</a:rPr>
                <a:t>&lt;</a:t>
              </a:r>
              <a:r>
                <a:rPr lang="en-US" altLang="zh-CN" sz="1400" dirty="0" err="1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</a:rPr>
                <a:t>iostream</a:t>
              </a:r>
              <a:r>
                <a:rPr lang="en-US" altLang="zh-CN" sz="14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</a:rPr>
                <a:t>&gt;</a:t>
              </a:r>
              <a:endPara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endParaRPr>
            </a:p>
            <a:p>
              <a:pPr>
                <a:defRPr/>
              </a:pPr>
              <a:r>
                <a:rPr lang="en-US" altLang="zh-CN" sz="14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</a:rPr>
                <a:t>using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 </a:t>
              </a:r>
              <a:r>
                <a:rPr lang="en-US" altLang="zh-CN" sz="14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</a:rPr>
                <a:t>namespace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 std;</a:t>
              </a:r>
            </a:p>
            <a:p>
              <a:pPr>
                <a:defRPr/>
              </a:pPr>
              <a:r>
                <a:rPr lang="en-US" altLang="zh-CN" sz="1400" dirty="0">
                  <a:solidFill>
                    <a:srgbClr val="808080"/>
                  </a:solidFill>
                  <a:latin typeface="Consolas" panose="020B0609020204030204" pitchFamily="49" charset="0"/>
                  <a:ea typeface="新宋体"/>
                </a:rPr>
                <a:t>#include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 </a:t>
              </a:r>
              <a:r>
                <a:rPr lang="en-US" altLang="zh-CN" sz="14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</a:rPr>
                <a:t>"</a:t>
              </a:r>
              <a:r>
                <a:rPr lang="en-US" altLang="zh-CN" sz="1400" dirty="0" err="1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</a:rPr>
                <a:t>insertionsort.h</a:t>
              </a:r>
              <a:r>
                <a:rPr lang="en-US" altLang="zh-CN" sz="14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</a:rPr>
                <a:t>"</a:t>
              </a:r>
              <a:endPara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endParaRPr>
            </a:p>
            <a:p>
              <a:pPr>
                <a:defRPr/>
              </a:pPr>
              <a:r>
                <a:rPr lang="en-US" altLang="zh-CN" sz="1400" dirty="0" err="1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</a:rPr>
                <a:t>int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 main()</a:t>
              </a:r>
            </a:p>
            <a:p>
              <a:pPr>
                <a:defRPr/>
              </a:pP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{   </a:t>
              </a:r>
              <a:r>
                <a:rPr lang="en-US" altLang="zh-CN" sz="14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cout</a:t>
              </a:r>
              <a:r>
                <a:rPr lang="en-US" altLang="zh-CN" sz="14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</a:rPr>
                <a:t>&lt;&lt;</a:t>
              </a:r>
              <a:r>
                <a:rPr lang="en-US" altLang="zh-CN" sz="14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</a:rPr>
                <a:t>"First, type of int:\n"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;</a:t>
              </a:r>
            </a:p>
            <a:p>
              <a:pPr marL="365125">
                <a:defRPr/>
              </a:pPr>
              <a:r>
                <a:rPr lang="en-US" altLang="zh-CN" sz="1400" dirty="0" err="1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</a:rPr>
                <a:t>int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* </a:t>
              </a:r>
              <a:r>
                <a:rPr lang="en-US" altLang="zh-CN" sz="14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arrayint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 = </a:t>
              </a:r>
              <a:r>
                <a:rPr lang="en-US" altLang="zh-CN" sz="1400" dirty="0">
                  <a:solidFill>
                    <a:srgbClr val="6F008A"/>
                  </a:solidFill>
                  <a:latin typeface="Consolas" panose="020B0609020204030204" pitchFamily="49" charset="0"/>
                  <a:ea typeface="新宋体"/>
                </a:rPr>
                <a:t>NULL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;</a:t>
              </a:r>
            </a:p>
            <a:p>
              <a:pPr marL="365125">
                <a:defRPr/>
              </a:pPr>
              <a:r>
                <a:rPr lang="en-US" altLang="zh-CN" sz="14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testfunction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(</a:t>
              </a:r>
              <a:r>
                <a:rPr lang="en-US" altLang="zh-CN" sz="14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arrayint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);</a:t>
              </a:r>
            </a:p>
            <a:p>
              <a:pPr marL="365125">
                <a:defRPr/>
              </a:pPr>
              <a:r>
                <a:rPr lang="en-US" altLang="zh-CN" sz="14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cout</a:t>
              </a:r>
              <a:r>
                <a:rPr lang="en-US" altLang="zh-CN" sz="14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</a:rPr>
                <a:t>&lt;&lt;</a:t>
              </a:r>
              <a:r>
                <a:rPr lang="en-US" altLang="zh-CN" sz="14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</a:rPr>
                <a:t>"\</a:t>
              </a:r>
              <a:r>
                <a:rPr lang="en-US" altLang="zh-CN" sz="1400" dirty="0" err="1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</a:rPr>
                <a:t>nSecond</a:t>
              </a:r>
              <a:r>
                <a:rPr lang="en-US" altLang="zh-CN" sz="14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</a:rPr>
                <a:t>, type of float:\n"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;</a:t>
              </a:r>
            </a:p>
            <a:p>
              <a:pPr marL="365125">
                <a:defRPr/>
              </a:pPr>
              <a:r>
                <a:rPr lang="en-US" altLang="zh-CN" sz="14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</a:rPr>
                <a:t>float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* </a:t>
              </a:r>
              <a:r>
                <a:rPr lang="en-US" altLang="zh-CN" sz="14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arrayfloat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 = </a:t>
              </a:r>
              <a:r>
                <a:rPr lang="en-US" altLang="zh-CN" sz="1400" dirty="0">
                  <a:solidFill>
                    <a:srgbClr val="6F008A"/>
                  </a:solidFill>
                  <a:latin typeface="Consolas" panose="020B0609020204030204" pitchFamily="49" charset="0"/>
                  <a:ea typeface="新宋体"/>
                </a:rPr>
                <a:t>NULL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;</a:t>
              </a:r>
            </a:p>
            <a:p>
              <a:pPr marL="365125">
                <a:defRPr/>
              </a:pPr>
              <a:r>
                <a:rPr lang="en-US" altLang="zh-CN" sz="14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testfunction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(</a:t>
              </a:r>
              <a:r>
                <a:rPr lang="en-US" altLang="zh-CN" sz="14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arrayfloat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);</a:t>
              </a:r>
            </a:p>
            <a:p>
              <a:pPr marL="365125">
                <a:defRPr/>
              </a:pPr>
              <a:r>
                <a:rPr lang="en-US" altLang="zh-CN" sz="14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cout</a:t>
              </a:r>
              <a:r>
                <a:rPr lang="en-US" altLang="zh-CN" sz="14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</a:rPr>
                <a:t>&lt;&lt;</a:t>
              </a:r>
              <a:r>
                <a:rPr lang="en-US" altLang="zh-CN" sz="14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</a:rPr>
                <a:t>"\</a:t>
              </a:r>
              <a:r>
                <a:rPr lang="en-US" altLang="zh-CN" sz="1400" dirty="0" err="1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</a:rPr>
                <a:t>nThird</a:t>
              </a:r>
              <a:r>
                <a:rPr lang="en-US" altLang="zh-CN" sz="14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</a:rPr>
                <a:t>, type of double:\n"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;</a:t>
              </a:r>
            </a:p>
            <a:p>
              <a:pPr marL="365125">
                <a:defRPr/>
              </a:pPr>
              <a:r>
                <a:rPr lang="en-US" altLang="zh-CN" sz="14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</a:rPr>
                <a:t>double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* </a:t>
              </a:r>
              <a:r>
                <a:rPr lang="en-US" altLang="zh-CN" sz="14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arraydouble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 = </a:t>
              </a:r>
              <a:r>
                <a:rPr lang="en-US" altLang="zh-CN" sz="1400" dirty="0">
                  <a:solidFill>
                    <a:srgbClr val="6F008A"/>
                  </a:solidFill>
                  <a:latin typeface="Consolas" panose="020B0609020204030204" pitchFamily="49" charset="0"/>
                  <a:ea typeface="新宋体"/>
                </a:rPr>
                <a:t>NULL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;</a:t>
              </a:r>
            </a:p>
            <a:p>
              <a:pPr marL="365125">
                <a:defRPr/>
              </a:pPr>
              <a:r>
                <a:rPr lang="en-US" altLang="zh-CN" sz="14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testfunction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(</a:t>
              </a:r>
              <a:r>
                <a:rPr lang="en-US" altLang="zh-CN" sz="14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arraydouble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);</a:t>
              </a:r>
            </a:p>
            <a:p>
              <a:pPr marL="365125">
                <a:defRPr/>
              </a:pPr>
              <a:r>
                <a:rPr lang="en-US" altLang="zh-CN" sz="1400" dirty="0">
                  <a:solidFill>
                    <a:srgbClr val="2B91AF"/>
                  </a:solidFill>
                  <a:latin typeface="Consolas" panose="020B0609020204030204" pitchFamily="49" charset="0"/>
                  <a:ea typeface="新宋体"/>
                </a:rPr>
                <a:t>string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* </a:t>
              </a:r>
              <a:r>
                <a:rPr lang="en-US" altLang="zh-CN" sz="14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arraystring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 = </a:t>
              </a:r>
              <a:r>
                <a:rPr lang="en-US" altLang="zh-CN" sz="1400" dirty="0">
                  <a:solidFill>
                    <a:srgbClr val="6F008A"/>
                  </a:solidFill>
                  <a:latin typeface="Consolas" panose="020B0609020204030204" pitchFamily="49" charset="0"/>
                  <a:ea typeface="新宋体"/>
                </a:rPr>
                <a:t>NULL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;</a:t>
              </a:r>
            </a:p>
            <a:p>
              <a:pPr marL="365125">
                <a:defRPr/>
              </a:pPr>
              <a:r>
                <a:rPr lang="en-US" altLang="zh-CN" sz="14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cout</a:t>
              </a:r>
              <a:r>
                <a:rPr lang="en-US" altLang="zh-CN" sz="1400" dirty="0">
                  <a:solidFill>
                    <a:srgbClr val="008080"/>
                  </a:solidFill>
                  <a:latin typeface="Consolas" panose="020B0609020204030204" pitchFamily="49" charset="0"/>
                  <a:ea typeface="新宋体"/>
                </a:rPr>
                <a:t>&lt;&lt;</a:t>
              </a:r>
              <a:r>
                <a:rPr lang="en-US" altLang="zh-CN" sz="14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</a:rPr>
                <a:t>"\</a:t>
              </a:r>
              <a:r>
                <a:rPr lang="en-US" altLang="zh-CN" sz="1400" dirty="0" err="1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</a:rPr>
                <a:t>nForth</a:t>
              </a:r>
              <a:r>
                <a:rPr lang="en-US" altLang="zh-CN" sz="1400" dirty="0">
                  <a:solidFill>
                    <a:srgbClr val="A31515"/>
                  </a:solidFill>
                  <a:latin typeface="Consolas" panose="020B0609020204030204" pitchFamily="49" charset="0"/>
                  <a:ea typeface="新宋体"/>
                </a:rPr>
                <a:t>, type of string:\n"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;</a:t>
              </a:r>
            </a:p>
            <a:p>
              <a:pPr marL="365125">
                <a:defRPr/>
              </a:pPr>
              <a:r>
                <a:rPr lang="en-US" altLang="zh-CN" sz="14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testfunction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(</a:t>
              </a:r>
              <a:r>
                <a:rPr lang="en-US" altLang="zh-CN" sz="14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arraystring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);</a:t>
              </a:r>
            </a:p>
            <a:p>
              <a:pPr marL="365125">
                <a:defRPr/>
              </a:pPr>
              <a:r>
                <a:rPr lang="en-US" altLang="zh-CN" sz="1400" dirty="0">
                  <a:solidFill>
                    <a:srgbClr val="0000FF"/>
                  </a:solidFill>
                  <a:latin typeface="Consolas" panose="020B0609020204030204" pitchFamily="49" charset="0"/>
                  <a:ea typeface="新宋体"/>
                </a:rPr>
                <a:t>return</a:t>
              </a: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 0;</a:t>
              </a:r>
            </a:p>
            <a:p>
              <a:pPr>
                <a:defRPr/>
              </a:pPr>
              <a:r>
                <a:rPr lang="en-US" altLang="zh-CN" sz="1400" dirty="0">
                  <a:solidFill>
                    <a:srgbClr val="000000"/>
                  </a:solidFill>
                  <a:latin typeface="Consolas" panose="020B0609020204030204" pitchFamily="49" charset="0"/>
                  <a:ea typeface="新宋体"/>
                </a:rPr>
                <a:t>}</a:t>
              </a:r>
              <a:endParaRPr lang="zh-CN" altLang="en-US" sz="1400" dirty="0">
                <a:latin typeface="Consolas" panose="020B0609020204030204" pitchFamily="49" charset="0"/>
              </a:endParaRPr>
            </a:p>
          </p:txBody>
        </p:sp>
        <p:sp>
          <p:nvSpPr>
            <p:cNvPr id="19461" name="矩形 4">
              <a:extLst>
                <a:ext uri="{FF2B5EF4-FFF2-40B4-BE49-F238E27FC236}">
                  <a16:creationId xmlns:a16="http://schemas.microsoft.com/office/drawing/2014/main" id="{91EAC7F1-FA30-1D70-15D7-CE9956D709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181481"/>
              <a:ext cx="1620957" cy="338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anose="05020102010507070707" pitchFamily="18" charset="2"/>
                <a:buChar char=""/>
                <a:defRPr sz="32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anose="05020102010507070707" pitchFamily="18" charset="2"/>
                <a:buChar char="³"/>
                <a:defRPr sz="28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anose="05020102010507070707" pitchFamily="18" charset="2"/>
                <a:buChar char="®"/>
                <a:defRPr sz="24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anose="05020102010507070707" pitchFamily="18" charset="2"/>
                <a:buChar char="¯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rgbClr val="A31515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insertsort.cpp</a:t>
              </a:r>
              <a:endParaRPr lang="en-US" altLang="zh-CN" sz="16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EB6C6473-8DE7-0F9D-13B6-C2C1D9AD7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762000"/>
            <a:ext cx="3886200" cy="590931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First, type of int: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Please input arraylength:5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Please input the elements of array: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9 8 0 1 2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Here is the sort result: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0 1 2 8 9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4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Second, type of float: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Please input arraylength:3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Please input the elements of array: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0.5 100 -90.9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Here is the sort result: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-90.9 0.5 100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4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Third, type of double: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Please input arraylength:3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Please input the elements of array: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33.5 -2.3 90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Here is the sort result: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-2.3 33.5 90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4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Forth, type of string: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Please input arraylength:5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Please input the elements of array: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 err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bnu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ok love number </a:t>
            </a:r>
            <a:r>
              <a:rPr lang="en-US" altLang="zh-CN" sz="1400" dirty="0" err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c++</a:t>
            </a:r>
            <a:endParaRPr lang="en-US" altLang="zh-CN" sz="14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Here is the sort result: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 err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bnu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c++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love number ok</a:t>
            </a:r>
          </a:p>
        </p:txBody>
      </p:sp>
    </p:spTree>
    <p:extLst>
      <p:ext uri="{BB962C8B-B14F-4D97-AF65-F5344CB8AC3E}">
        <p14:creationId xmlns:p14="http://schemas.microsoft.com/office/powerpoint/2010/main" val="752882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6.2.3  </a:t>
            </a:r>
            <a:r>
              <a:rPr lang="zh-CN" altLang="en-US" dirty="0"/>
              <a:t>函数模板的</a:t>
            </a:r>
            <a:r>
              <a:rPr lang="zh-CN" altLang="en-US" dirty="0">
                <a:solidFill>
                  <a:srgbClr val="C00000"/>
                </a:solidFill>
              </a:rPr>
              <a:t>特化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9154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zh-CN" altLang="en-US" sz="2800" dirty="0"/>
              <a:t>为什么需要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模板特化</a:t>
            </a:r>
            <a:r>
              <a:rPr lang="zh-CN" altLang="en-US" sz="2800" dirty="0"/>
              <a:t>？</a:t>
            </a:r>
            <a:endParaRPr lang="en-US" altLang="zh-CN" sz="2800" dirty="0"/>
          </a:p>
          <a:p>
            <a:pPr lvl="2" eaLnBrk="1" hangingPunct="1">
              <a:lnSpc>
                <a:spcPct val="150000"/>
              </a:lnSpc>
            </a:pPr>
            <a:endParaRPr lang="en-US" altLang="zh-CN" sz="2400" b="1" dirty="0"/>
          </a:p>
          <a:p>
            <a:pPr lvl="2" eaLnBrk="1" hangingPunct="1"/>
            <a:endParaRPr lang="en-US" altLang="zh-CN" b="1" dirty="0"/>
          </a:p>
          <a:p>
            <a:pPr lvl="2" eaLnBrk="1" hangingPunct="1"/>
            <a:endParaRPr lang="zh-CN" altLang="en-US" b="1" dirty="0"/>
          </a:p>
          <a:p>
            <a:pPr lvl="2" eaLnBrk="1" hangingPunct="1"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	</a:t>
            </a:r>
            <a:endParaRPr lang="zh-CN" altLang="en-US" dirty="0"/>
          </a:p>
        </p:txBody>
      </p:sp>
      <p:sp>
        <p:nvSpPr>
          <p:cNvPr id="49155" name="矩形 2"/>
          <p:cNvSpPr>
            <a:spLocks noChangeArrowheads="1"/>
          </p:cNvSpPr>
          <p:nvPr/>
        </p:nvSpPr>
        <p:spPr bwMode="auto">
          <a:xfrm>
            <a:off x="2270212" y="3144109"/>
            <a:ext cx="5760640" cy="1323439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template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&lt;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T&gt;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T </a:t>
            </a:r>
            <a:r>
              <a:rPr lang="en-US" altLang="zh-CN" sz="2000" dirty="0" err="1">
                <a:solidFill>
                  <a:srgbClr val="000000"/>
                </a:solidFill>
                <a:latin typeface="Consolas" pitchFamily="49" charset="0"/>
              </a:rPr>
              <a:t>tmin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(T </a:t>
            </a:r>
            <a:r>
              <a:rPr lang="en-US" altLang="zh-CN" sz="2000" dirty="0" err="1">
                <a:solidFill>
                  <a:srgbClr val="000000"/>
                </a:solidFill>
                <a:latin typeface="Consolas" pitchFamily="49" charset="0"/>
              </a:rPr>
              <a:t>a,T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b)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{  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(a&lt;b)?</a:t>
            </a:r>
            <a:r>
              <a:rPr lang="en-US" altLang="zh-CN" sz="2000" dirty="0" err="1">
                <a:solidFill>
                  <a:srgbClr val="000000"/>
                </a:solidFill>
                <a:latin typeface="Consolas" pitchFamily="49" charset="0"/>
              </a:rPr>
              <a:t>a:b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2152406" y="4813035"/>
            <a:ext cx="28229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fr-FR" altLang="zh-CN" sz="2000" dirty="0">
                <a:latin typeface="Consolas" pitchFamily="49" charset="0"/>
              </a:rPr>
              <a:t>tmin(</a:t>
            </a:r>
            <a:r>
              <a:rPr lang="en-US" altLang="zh-CN" sz="18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</a:t>
            </a:r>
            <a:r>
              <a:rPr lang="fr-FR" altLang="zh-CN" sz="2000" dirty="0">
                <a:solidFill>
                  <a:srgbClr val="A31515"/>
                </a:solidFill>
                <a:latin typeface="Consolas" pitchFamily="49" charset="0"/>
              </a:rPr>
              <a:t>xx</a:t>
            </a:r>
            <a:r>
              <a:rPr lang="en-US" altLang="zh-CN" sz="18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</a:t>
            </a:r>
            <a:r>
              <a:rPr lang="fr-FR" altLang="zh-CN" sz="2000" dirty="0">
                <a:solidFill>
                  <a:srgbClr val="000000"/>
                </a:solidFill>
                <a:latin typeface="Consolas" pitchFamily="49" charset="0"/>
              </a:rPr>
              <a:t>,</a:t>
            </a:r>
            <a:r>
              <a:rPr lang="en-US" altLang="zh-CN" sz="18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 "</a:t>
            </a:r>
            <a:r>
              <a:rPr lang="fr-FR" altLang="zh-CN" sz="2000" dirty="0">
                <a:solidFill>
                  <a:srgbClr val="A31515"/>
                </a:solidFill>
                <a:latin typeface="Consolas" pitchFamily="49" charset="0"/>
              </a:rPr>
              <a:t>xb</a:t>
            </a:r>
            <a:r>
              <a:rPr lang="en-US" altLang="zh-CN" sz="18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</a:t>
            </a:r>
            <a:r>
              <a:rPr lang="fr-FR" altLang="zh-CN" sz="2000" dirty="0">
                <a:solidFill>
                  <a:srgbClr val="000000"/>
                </a:solidFill>
                <a:latin typeface="Consolas" pitchFamily="49" charset="0"/>
              </a:rPr>
              <a:t>)</a:t>
            </a:r>
            <a:r>
              <a:rPr lang="en-US" altLang="zh-CN" sz="2000" dirty="0">
                <a:solidFill>
                  <a:srgbClr val="FF0000"/>
                </a:solidFill>
                <a:latin typeface="Consolas" pitchFamily="49" charset="0"/>
              </a:rPr>
              <a:t> </a:t>
            </a:r>
          </a:p>
        </p:txBody>
      </p:sp>
      <p:sp>
        <p:nvSpPr>
          <p:cNvPr id="2" name="矩形 1"/>
          <p:cNvSpPr/>
          <p:nvPr/>
        </p:nvSpPr>
        <p:spPr>
          <a:xfrm>
            <a:off x="4448365" y="4813035"/>
            <a:ext cx="44444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b="1" dirty="0">
                <a:latin typeface="Consolas" pitchFamily="49" charset="0"/>
              </a:rPr>
              <a:t> </a:t>
            </a:r>
            <a:r>
              <a:rPr lang="zh-CN" altLang="en-US" b="1" dirty="0">
                <a:latin typeface="Consolas" pitchFamily="49" charset="0"/>
              </a:rPr>
              <a:t>能正确比较字符串的内容吗？</a:t>
            </a:r>
            <a:endParaRPr lang="fr-FR" altLang="zh-CN" b="1" dirty="0">
              <a:latin typeface="Consolas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04937" y="2543246"/>
            <a:ext cx="3158951" cy="113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eaLnBrk="1" hangingPunct="1">
              <a:lnSpc>
                <a:spcPct val="150000"/>
              </a:lnSpc>
            </a:pPr>
            <a:r>
              <a:rPr lang="zh-CN" altLang="en-US" b="1" dirty="0"/>
              <a:t>引例：</a:t>
            </a:r>
            <a:endParaRPr lang="en-US" altLang="zh-CN" b="1" dirty="0"/>
          </a:p>
          <a:p>
            <a:pPr marL="0" lvl="2" eaLnBrk="1" hangingPunct="1">
              <a:lnSpc>
                <a:spcPct val="150000"/>
              </a:lnSpc>
            </a:pPr>
            <a:r>
              <a:rPr lang="zh-CN" altLang="en-US" b="1" dirty="0"/>
              <a:t>若定义模板</a:t>
            </a:r>
            <a:endParaRPr lang="en-US" altLang="zh-CN" b="1" dirty="0"/>
          </a:p>
        </p:txBody>
      </p:sp>
      <p:sp>
        <p:nvSpPr>
          <p:cNvPr id="10" name="矩形 9"/>
          <p:cNvSpPr/>
          <p:nvPr/>
        </p:nvSpPr>
        <p:spPr>
          <a:xfrm>
            <a:off x="810117" y="4751480"/>
            <a:ext cx="9893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b="1" dirty="0">
                <a:latin typeface="Consolas" pitchFamily="49" charset="0"/>
              </a:rPr>
              <a:t> </a:t>
            </a:r>
            <a:r>
              <a:rPr lang="zh-CN" altLang="en-US" b="1" dirty="0">
                <a:latin typeface="Consolas" pitchFamily="49" charset="0"/>
              </a:rPr>
              <a:t>那么</a:t>
            </a:r>
            <a:endParaRPr lang="fr-FR" altLang="zh-CN" b="1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551955" y="3833446"/>
            <a:ext cx="8363236" cy="1662807"/>
            <a:chOff x="463360" y="3847132"/>
            <a:chExt cx="8363236" cy="1662807"/>
          </a:xfrm>
        </p:grpSpPr>
        <p:sp>
          <p:nvSpPr>
            <p:cNvPr id="16" name="圆角矩形 15"/>
            <p:cNvSpPr/>
            <p:nvPr/>
          </p:nvSpPr>
          <p:spPr>
            <a:xfrm>
              <a:off x="463360" y="4308797"/>
              <a:ext cx="8363236" cy="1201142"/>
            </a:xfrm>
            <a:prstGeom prst="roundRect">
              <a:avLst>
                <a:gd name="adj" fmla="val 9159"/>
              </a:avLst>
            </a:pr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181" name="矩形 2"/>
            <p:cNvSpPr>
              <a:spLocks noChangeArrowheads="1"/>
            </p:cNvSpPr>
            <p:nvPr/>
          </p:nvSpPr>
          <p:spPr bwMode="auto">
            <a:xfrm>
              <a:off x="629308" y="4448285"/>
              <a:ext cx="8029400" cy="923330"/>
            </a:xfrm>
            <a:prstGeom prst="rect">
              <a:avLst/>
            </a:prstGeom>
            <a:noFill/>
            <a:ln w="9525">
              <a:solidFill>
                <a:srgbClr val="00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6000" lvl="2" eaLnBrk="1" hangingPunct="1"/>
              <a:r>
                <a:rPr lang="en-US" altLang="zh-CN" sz="1800" dirty="0">
                  <a:latin typeface="Consolas" pitchFamily="49" charset="0"/>
                </a:rPr>
                <a:t>const char * </a:t>
              </a:r>
              <a:r>
                <a:rPr lang="en-US" altLang="zh-CN" sz="1800" dirty="0" err="1">
                  <a:latin typeface="Consolas" pitchFamily="49" charset="0"/>
                </a:rPr>
                <a:t>tmin</a:t>
              </a:r>
              <a:r>
                <a:rPr lang="en-US" altLang="zh-CN" sz="1800" dirty="0">
                  <a:latin typeface="Consolas" pitchFamily="49" charset="0"/>
                </a:rPr>
                <a:t>(const char * a, const char * b)</a:t>
              </a:r>
            </a:p>
            <a:p>
              <a:pPr marL="36000" lvl="2" eaLnBrk="1" hangingPunct="1"/>
              <a:r>
                <a:rPr lang="en-US" altLang="zh-CN" sz="1800" dirty="0">
                  <a:latin typeface="Consolas" pitchFamily="49" charset="0"/>
                </a:rPr>
                <a:t>{   return a &lt; b ? a : b;  //</a:t>
              </a:r>
              <a:r>
                <a:rPr lang="zh-CN" altLang="en-US" sz="1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</a:rPr>
                <a:t>比较了两个指针（地址）的大小</a:t>
              </a:r>
              <a:endParaRPr lang="en-US" altLang="zh-CN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endParaRPr>
            </a:p>
            <a:p>
              <a:pPr marL="36000" lvl="2" eaLnBrk="1" hangingPunct="1"/>
              <a:r>
                <a:rPr lang="en-US" altLang="zh-CN" sz="1800" dirty="0">
                  <a:latin typeface="Consolas" pitchFamily="49" charset="0"/>
                </a:rPr>
                <a:t>}</a:t>
              </a:r>
            </a:p>
          </p:txBody>
        </p:sp>
        <p:sp>
          <p:nvSpPr>
            <p:cNvPr id="3" name="矩形 2"/>
            <p:cNvSpPr/>
            <p:nvPr/>
          </p:nvSpPr>
          <p:spPr>
            <a:xfrm>
              <a:off x="656792" y="3847132"/>
              <a:ext cx="4572000" cy="46166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36000" lvl="2" eaLnBrk="1" hangingPunct="1"/>
              <a:r>
                <a:rPr lang="zh-CN" altLang="en-US" dirty="0">
                  <a:latin typeface="Consolas" pitchFamily="49" charset="0"/>
                </a:rPr>
                <a:t>编译器</a:t>
              </a:r>
              <a:r>
                <a:rPr lang="zh-CN" altLang="en-US" b="1" dirty="0"/>
                <a:t>实例化为：</a:t>
              </a:r>
              <a:endParaRPr lang="zh-CN" altLang="en-US" dirty="0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505345" y="1758384"/>
            <a:ext cx="8363236" cy="1833944"/>
            <a:chOff x="506452" y="1795414"/>
            <a:chExt cx="8363236" cy="1833944"/>
          </a:xfrm>
        </p:grpSpPr>
        <p:sp>
          <p:nvSpPr>
            <p:cNvPr id="2" name="矩形 1"/>
            <p:cNvSpPr>
              <a:spLocks noChangeArrowheads="1"/>
            </p:cNvSpPr>
            <p:nvPr/>
          </p:nvSpPr>
          <p:spPr bwMode="auto">
            <a:xfrm>
              <a:off x="646221" y="2423177"/>
              <a:ext cx="8029400" cy="1154162"/>
            </a:xfrm>
            <a:prstGeom prst="rect">
              <a:avLst/>
            </a:prstGeom>
            <a:noFill/>
            <a:ln w="9525">
              <a:solidFill>
                <a:srgbClr val="00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lvl="2"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800" dirty="0">
                  <a:solidFill>
                    <a:srgbClr val="006600"/>
                  </a:solidFill>
                  <a:latin typeface="Consolas" pitchFamily="49" charset="0"/>
                </a:rPr>
                <a:t>const char * </a:t>
              </a:r>
              <a:r>
                <a:rPr lang="en-US" altLang="zh-CN" sz="1800" dirty="0" err="1">
                  <a:solidFill>
                    <a:srgbClr val="006600"/>
                  </a:solidFill>
                  <a:latin typeface="Consolas" pitchFamily="49" charset="0"/>
                </a:rPr>
                <a:t>tmin</a:t>
              </a:r>
              <a:r>
                <a:rPr lang="en-US" altLang="zh-CN" sz="1800" dirty="0">
                  <a:solidFill>
                    <a:srgbClr val="006600"/>
                  </a:solidFill>
                  <a:latin typeface="Consolas" pitchFamily="49" charset="0"/>
                </a:rPr>
                <a:t>(const char * a, const char * b)</a:t>
              </a:r>
            </a:p>
            <a:p>
              <a:pPr marL="0" lvl="2" eaLnBrk="1" hangingPunct="1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800" dirty="0">
                  <a:solidFill>
                    <a:srgbClr val="006600"/>
                  </a:solidFill>
                  <a:latin typeface="Consolas" pitchFamily="49" charset="0"/>
                </a:rPr>
                <a:t>{    return </a:t>
              </a:r>
              <a:r>
                <a:rPr lang="en-US" altLang="zh-CN" sz="1800" dirty="0" err="1">
                  <a:solidFill>
                    <a:srgbClr val="006600"/>
                  </a:solidFill>
                  <a:latin typeface="Consolas" pitchFamily="49" charset="0"/>
                </a:rPr>
                <a:t>strcmp</a:t>
              </a:r>
              <a:r>
                <a:rPr lang="en-US" altLang="zh-CN" sz="1800" dirty="0">
                  <a:solidFill>
                    <a:srgbClr val="006600"/>
                  </a:solidFill>
                  <a:latin typeface="Consolas" pitchFamily="49" charset="0"/>
                </a:rPr>
                <a:t>(a, b)&lt;=0 ? a : b;   </a:t>
              </a:r>
            </a:p>
            <a:p>
              <a:pPr marL="0" lvl="2" eaLnBrk="1" hangingPunct="1"/>
              <a:r>
                <a:rPr lang="en-US" altLang="zh-CN" sz="1800" dirty="0">
                  <a:solidFill>
                    <a:srgbClr val="006600"/>
                  </a:solidFill>
                  <a:latin typeface="Consolas" pitchFamily="49" charset="0"/>
                </a:rPr>
                <a:t>}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734961" y="1795414"/>
              <a:ext cx="482536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/>
                <a:t>期望的正确字符串内容比较方法：</a:t>
              </a:r>
              <a:endParaRPr lang="zh-CN" altLang="en-US" dirty="0"/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506452" y="2310316"/>
              <a:ext cx="8363236" cy="1319042"/>
            </a:xfrm>
            <a:prstGeom prst="roundRect">
              <a:avLst>
                <a:gd name="adj" fmla="val 9159"/>
              </a:avLst>
            </a:prstGeom>
            <a:solidFill>
              <a:srgbClr val="92D05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501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6.2.3  </a:t>
            </a:r>
            <a:r>
              <a:rPr lang="zh-CN" altLang="en-US" dirty="0"/>
              <a:t>函数模板的</a:t>
            </a:r>
            <a:r>
              <a:rPr lang="zh-CN" altLang="en-US" dirty="0">
                <a:solidFill>
                  <a:schemeClr val="tx1"/>
                </a:solidFill>
              </a:rPr>
              <a:t>特化</a:t>
            </a:r>
          </a:p>
        </p:txBody>
      </p:sp>
      <p:sp>
        <p:nvSpPr>
          <p:cNvPr id="50178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5398378" y="5457508"/>
            <a:ext cx="3384376" cy="757370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2800" b="1" dirty="0"/>
              <a:t>解决办法</a:t>
            </a:r>
            <a:r>
              <a:rPr lang="en-US" altLang="zh-CN" sz="2800" b="1" dirty="0"/>
              <a:t>~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模板特化</a:t>
            </a:r>
            <a:endParaRPr lang="zh-CN" altLang="en-US" sz="2800" b="1" dirty="0"/>
          </a:p>
        </p:txBody>
      </p:sp>
      <p:sp>
        <p:nvSpPr>
          <p:cNvPr id="4" name="矩形 3"/>
          <p:cNvSpPr/>
          <p:nvPr/>
        </p:nvSpPr>
        <p:spPr>
          <a:xfrm>
            <a:off x="534026" y="1089296"/>
            <a:ext cx="22076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solidFill>
                  <a:srgbClr val="FF0000"/>
                </a:solidFill>
                <a:latin typeface="Consolas" pitchFamily="49" charset="0"/>
              </a:rPr>
              <a:t>tmin</a:t>
            </a:r>
            <a:r>
              <a:rPr lang="en-US" altLang="zh-CN" dirty="0">
                <a:solidFill>
                  <a:srgbClr val="FF0000"/>
                </a:solidFill>
                <a:latin typeface="Consolas" pitchFamily="49" charset="0"/>
              </a:rPr>
              <a:t>(</a:t>
            </a:r>
            <a:r>
              <a:rPr lang="en-US" altLang="zh-CN" sz="18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</a:t>
            </a:r>
            <a:r>
              <a:rPr lang="en-US" altLang="zh-CN" dirty="0" err="1">
                <a:solidFill>
                  <a:srgbClr val="FF0000"/>
                </a:solidFill>
                <a:latin typeface="Consolas" pitchFamily="49" charset="0"/>
              </a:rPr>
              <a:t>xy</a:t>
            </a:r>
            <a:r>
              <a:rPr lang="en-US" altLang="zh-CN" sz="18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</a:t>
            </a:r>
            <a:r>
              <a:rPr lang="en-US" altLang="zh-CN" dirty="0">
                <a:solidFill>
                  <a:srgbClr val="FF0000"/>
                </a:solidFill>
                <a:latin typeface="Consolas" pitchFamily="49" charset="0"/>
              </a:rPr>
              <a:t>, </a:t>
            </a:r>
            <a:r>
              <a:rPr lang="en-US" altLang="zh-CN" sz="18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</a:t>
            </a:r>
            <a:r>
              <a:rPr lang="en-US" altLang="zh-CN" dirty="0" err="1">
                <a:solidFill>
                  <a:srgbClr val="FF0000"/>
                </a:solidFill>
                <a:latin typeface="Consolas" pitchFamily="49" charset="0"/>
              </a:rPr>
              <a:t>xb</a:t>
            </a:r>
            <a:r>
              <a:rPr lang="en-US" altLang="zh-CN" sz="1800" dirty="0">
                <a:solidFill>
                  <a:srgbClr val="A31515"/>
                </a:solidFill>
                <a:latin typeface="新宋体" panose="02010609030101010101" pitchFamily="49" charset="-122"/>
                <a:ea typeface="新宋体" panose="02010609030101010101" pitchFamily="49" charset="-122"/>
              </a:rPr>
              <a:t>"</a:t>
            </a:r>
            <a:r>
              <a:rPr lang="en-US" altLang="zh-CN" dirty="0">
                <a:solidFill>
                  <a:srgbClr val="FF0000"/>
                </a:solidFill>
                <a:latin typeface="Consolas" pitchFamily="49" charset="0"/>
              </a:rPr>
              <a:t>); </a:t>
            </a:r>
            <a:endParaRPr lang="zh-CN" altLang="en-US" dirty="0"/>
          </a:p>
        </p:txBody>
      </p:sp>
      <p:grpSp>
        <p:nvGrpSpPr>
          <p:cNvPr id="15" name="组合 14"/>
          <p:cNvGrpSpPr/>
          <p:nvPr/>
        </p:nvGrpSpPr>
        <p:grpSpPr>
          <a:xfrm>
            <a:off x="542990" y="5336357"/>
            <a:ext cx="8188604" cy="905806"/>
            <a:chOff x="542990" y="5336357"/>
            <a:chExt cx="8188604" cy="905806"/>
          </a:xfrm>
        </p:grpSpPr>
        <p:grpSp>
          <p:nvGrpSpPr>
            <p:cNvPr id="5" name="组合 4"/>
            <p:cNvGrpSpPr>
              <a:grpSpLocks/>
            </p:cNvGrpSpPr>
            <p:nvPr/>
          </p:nvGrpSpPr>
          <p:grpSpPr bwMode="auto">
            <a:xfrm>
              <a:off x="3563888" y="5336357"/>
              <a:ext cx="360362" cy="288925"/>
              <a:chOff x="2699792" y="6309296"/>
              <a:chExt cx="360040" cy="288056"/>
            </a:xfrm>
          </p:grpSpPr>
          <p:cxnSp>
            <p:nvCxnSpPr>
              <p:cNvPr id="6" name="直接连接符 5"/>
              <p:cNvCxnSpPr/>
              <p:nvPr/>
            </p:nvCxnSpPr>
            <p:spPr>
              <a:xfrm flipH="1">
                <a:off x="2699792" y="6309296"/>
                <a:ext cx="360040" cy="288056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>
                <a:off x="2699792" y="6309296"/>
                <a:ext cx="360040" cy="288056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矩形 2"/>
            <p:cNvSpPr>
              <a:spLocks noChangeArrowheads="1"/>
            </p:cNvSpPr>
            <p:nvPr/>
          </p:nvSpPr>
          <p:spPr bwMode="auto">
            <a:xfrm>
              <a:off x="542990" y="5595832"/>
              <a:ext cx="818860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6000" lvl="2" eaLnBrk="1" hangingPunct="1"/>
              <a:r>
                <a:rPr lang="en-US" altLang="zh-CN" sz="1800" dirty="0">
                  <a:solidFill>
                    <a:srgbClr val="FF0000"/>
                  </a:solidFill>
                  <a:latin typeface="Consolas" pitchFamily="49" charset="0"/>
                </a:rPr>
                <a:t>~ NO</a:t>
              </a:r>
              <a:r>
                <a:rPr lang="zh-CN" altLang="en-US" sz="1800" dirty="0">
                  <a:solidFill>
                    <a:srgbClr val="FF0000"/>
                  </a:solidFill>
                  <a:latin typeface="Consolas" pitchFamily="49" charset="0"/>
                </a:rPr>
                <a:t>。 </a:t>
              </a:r>
              <a:endParaRPr lang="en-US" altLang="zh-CN" sz="1800" dirty="0">
                <a:solidFill>
                  <a:srgbClr val="FF0000"/>
                </a:solidFill>
                <a:latin typeface="Consolas" pitchFamily="49" charset="0"/>
              </a:endParaRPr>
            </a:p>
            <a:p>
              <a:pPr marL="36000" lvl="2" eaLnBrk="1" hangingPunct="1"/>
              <a:r>
                <a:rPr lang="zh-CN" altLang="en-US" sz="1800" dirty="0">
                  <a:solidFill>
                    <a:srgbClr val="FF0000"/>
                  </a:solidFill>
                  <a:latin typeface="Consolas" pitchFamily="49" charset="0"/>
                </a:rPr>
                <a:t>虽然编译能通过，但是语义上不能实现字符串内容的比较！</a:t>
              </a:r>
              <a:endParaRPr lang="en-US" altLang="zh-CN" sz="1800" dirty="0">
                <a:solidFill>
                  <a:srgbClr val="FF0000"/>
                </a:solidFill>
                <a:latin typeface="Consolas" pitchFamily="49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8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6.2.3  </a:t>
            </a:r>
            <a:r>
              <a:rPr lang="zh-CN" altLang="en-US" dirty="0"/>
              <a:t>函数模板的</a:t>
            </a:r>
            <a:r>
              <a:rPr lang="zh-CN" altLang="en-US" dirty="0">
                <a:solidFill>
                  <a:schemeClr val="tx1"/>
                </a:solidFill>
              </a:rPr>
              <a:t>特化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</a:pPr>
            <a:r>
              <a:rPr lang="zh-CN" altLang="en-US" sz="2400" dirty="0"/>
              <a:t>模板特化的定义形式：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template &lt;&gt;</a:t>
            </a:r>
            <a:r>
              <a:rPr lang="en-US" altLang="zh-CN" sz="2800" dirty="0">
                <a:solidFill>
                  <a:srgbClr val="FF0000"/>
                </a:solidFill>
              </a:rPr>
              <a:t> 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返回类型 函数名</a:t>
            </a:r>
            <a:r>
              <a:rPr lang="en-US" altLang="zh-CN" sz="2800" dirty="0">
                <a:solidFill>
                  <a:srgbClr val="FF0000"/>
                </a:solidFill>
              </a:rPr>
              <a:t>&lt;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特化的数据类型</a:t>
            </a:r>
            <a:r>
              <a:rPr lang="en-US" altLang="zh-CN" sz="2800" dirty="0">
                <a:solidFill>
                  <a:srgbClr val="FF0000"/>
                </a:solidFill>
              </a:rPr>
              <a:t>&gt;(</a:t>
            </a:r>
            <a:r>
              <a:rPr lang="zh-CN" altLang="en-US" sz="2800" dirty="0">
                <a:solidFill>
                  <a:srgbClr val="FF0000"/>
                </a:solidFill>
              </a:rPr>
              <a:t>参数表</a:t>
            </a:r>
            <a:r>
              <a:rPr lang="en-US" altLang="zh-CN" sz="2800" dirty="0">
                <a:solidFill>
                  <a:srgbClr val="FF0000"/>
                </a:solidFill>
              </a:rPr>
              <a:t>)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 {}</a:t>
            </a:r>
          </a:p>
          <a:p>
            <a:pPr lvl="2" eaLnBrk="1" hangingPunct="1">
              <a:spcBef>
                <a:spcPct val="0"/>
              </a:spcBef>
              <a:buFontTx/>
              <a:buNone/>
            </a:pPr>
            <a:endParaRPr lang="en-US" altLang="zh-CN" dirty="0">
              <a:solidFill>
                <a:srgbClr val="FF0000"/>
              </a:solidFill>
            </a:endParaRPr>
          </a:p>
          <a:p>
            <a:pPr lvl="2">
              <a:buFont typeface="Wingdings 2" panose="05020102010507070707" pitchFamily="18" charset="2"/>
              <a:buNone/>
            </a:pPr>
            <a:endParaRPr lang="en-US" altLang="zh-CN" sz="1600" dirty="0">
              <a:solidFill>
                <a:srgbClr val="0000FF"/>
              </a:solidFill>
              <a:latin typeface="Consolas" pitchFamily="49" charset="0"/>
            </a:endParaRPr>
          </a:p>
          <a:p>
            <a:pPr lvl="2">
              <a:buFont typeface="Wingdings 2" panose="05020102010507070707" pitchFamily="18" charset="2"/>
              <a:buNone/>
            </a:pPr>
            <a:endParaRPr lang="en-US" altLang="zh-CN" sz="1600" dirty="0">
              <a:solidFill>
                <a:srgbClr val="0000FF"/>
              </a:solidFill>
              <a:latin typeface="Consolas" pitchFamily="49" charset="0"/>
            </a:endParaRPr>
          </a:p>
          <a:p>
            <a:pPr lvl="2">
              <a:buFont typeface="Wingdings 2" panose="05020102010507070707" pitchFamily="18" charset="2"/>
              <a:buNone/>
            </a:pPr>
            <a:endParaRPr lang="en-US" altLang="zh-CN" sz="1600" dirty="0">
              <a:solidFill>
                <a:srgbClr val="000000"/>
              </a:solidFill>
              <a:latin typeface="Consolas" pitchFamily="49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34118" y="2215973"/>
            <a:ext cx="7911228" cy="1415727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圆角矩形标注 12"/>
          <p:cNvSpPr/>
          <p:nvPr/>
        </p:nvSpPr>
        <p:spPr>
          <a:xfrm>
            <a:off x="4540624" y="1397159"/>
            <a:ext cx="3169964" cy="366524"/>
          </a:xfrm>
          <a:prstGeom prst="wedgeRoundRectCallout">
            <a:avLst>
              <a:gd name="adj1" fmla="val -19410"/>
              <a:gd name="adj2" fmla="val 36737"/>
              <a:gd name="adj3" fmla="val 1666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2" eaLnBrk="1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</a:pPr>
            <a:r>
              <a:rPr lang="en-US" altLang="zh-CN" sz="2000" dirty="0">
                <a:solidFill>
                  <a:srgbClr val="FF0000"/>
                </a:solidFill>
              </a:rPr>
              <a:t>&lt; &gt;</a:t>
            </a:r>
            <a:r>
              <a:rPr lang="zh-CN" altLang="en-US" sz="2000" dirty="0">
                <a:solidFill>
                  <a:srgbClr val="FF0000"/>
                </a:solidFill>
              </a:rPr>
              <a:t>中不需要任何内容；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sp>
        <p:nvSpPr>
          <p:cNvPr id="17" name="圆角矩形标注 16"/>
          <p:cNvSpPr/>
          <p:nvPr/>
        </p:nvSpPr>
        <p:spPr>
          <a:xfrm>
            <a:off x="3886200" y="3054705"/>
            <a:ext cx="4350852" cy="488992"/>
          </a:xfrm>
          <a:prstGeom prst="wedgeRoundRectCallout">
            <a:avLst>
              <a:gd name="adj1" fmla="val -22209"/>
              <a:gd name="adj2" fmla="val -46824"/>
              <a:gd name="adj3" fmla="val 1666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2000" dirty="0">
                <a:solidFill>
                  <a:srgbClr val="0070C0"/>
                </a:solidFill>
              </a:rPr>
              <a:t>特化处理的数据类型 可省略。</a:t>
            </a:r>
          </a:p>
        </p:txBody>
      </p:sp>
      <p:cxnSp>
        <p:nvCxnSpPr>
          <p:cNvPr id="4" name="直接箭头连接符 3"/>
          <p:cNvCxnSpPr>
            <a:cxnSpLocks/>
          </p:cNvCxnSpPr>
          <p:nvPr/>
        </p:nvCxnSpPr>
        <p:spPr>
          <a:xfrm flipH="1">
            <a:off x="4191000" y="1785739"/>
            <a:ext cx="533400" cy="366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H="1" flipV="1">
            <a:off x="5715000" y="2923836"/>
            <a:ext cx="144016" cy="292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603773" y="4169757"/>
            <a:ext cx="8215844" cy="1323439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marL="360000" lvl="2"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template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&lt;&gt;  </a:t>
            </a:r>
            <a:r>
              <a:rPr lang="en-US" altLang="zh-CN" sz="1600" dirty="0">
                <a:solidFill>
                  <a:srgbClr val="008000"/>
                </a:solidFill>
                <a:latin typeface="Consolas" pitchFamily="49" charset="0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latin typeface="Consolas" pitchFamily="49" charset="0"/>
              </a:rPr>
              <a:t>特化</a:t>
            </a:r>
            <a:endParaRPr lang="zh-CN" altLang="en-US" sz="1600" dirty="0">
              <a:solidFill>
                <a:srgbClr val="000000"/>
              </a:solidFill>
              <a:latin typeface="Consolas" pitchFamily="49" charset="0"/>
            </a:endParaRPr>
          </a:p>
          <a:p>
            <a:pPr marL="360000" lvl="2">
              <a:buFont typeface="Wingdings 2" panose="05020102010507070707" pitchFamily="18" charset="2"/>
              <a:buNone/>
            </a:pP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</a:rPr>
              <a:t>const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char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*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tmin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</a:rPr>
              <a:t>const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char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*&gt;(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</a:rPr>
              <a:t>const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char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*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a,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</a:rPr>
              <a:t>const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char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*b) </a:t>
            </a:r>
          </a:p>
          <a:p>
            <a:pPr marL="360000" lvl="2"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{</a:t>
            </a:r>
          </a:p>
          <a:p>
            <a:pPr marL="360000" lvl="2"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	return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(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strcmp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a,b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)&lt;=0)?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a:b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pPr marL="360000" lvl="2">
              <a:buFont typeface="Wingdings 2" panose="05020102010507070707" pitchFamily="18" charset="2"/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</p:txBody>
      </p:sp>
      <p:sp>
        <p:nvSpPr>
          <p:cNvPr id="8" name="矩形 7"/>
          <p:cNvSpPr/>
          <p:nvPr/>
        </p:nvSpPr>
        <p:spPr>
          <a:xfrm>
            <a:off x="467544" y="3716063"/>
            <a:ext cx="12407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60000" lvl="2">
              <a:buFont typeface="Wingdings 2" panose="05020102010507070707" pitchFamily="18" charset="2"/>
              <a:buNone/>
            </a:pP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</a:rPr>
              <a:t>例如：</a:t>
            </a:r>
            <a:endParaRPr lang="en-US" altLang="zh-CN" sz="1800" dirty="0">
              <a:solidFill>
                <a:srgbClr val="0000FF"/>
              </a:solidFill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矩形 3"/>
          <p:cNvSpPr>
            <a:spLocks noChangeArrowheads="1"/>
          </p:cNvSpPr>
          <p:nvPr/>
        </p:nvSpPr>
        <p:spPr bwMode="auto">
          <a:xfrm>
            <a:off x="719138" y="188913"/>
            <a:ext cx="8173342" cy="600164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#include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&lt;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iostream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using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namespace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std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endParaRPr lang="zh-CN" altLang="en-US" sz="16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template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&lt;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T&gt;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T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tmin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(T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a,T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b)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{</a:t>
            </a:r>
          </a:p>
          <a:p>
            <a:pPr lvl="1"/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</a:t>
            </a:r>
            <a:r>
              <a:rPr lang="zh-CN" altLang="en-US" sz="1600" dirty="0">
                <a:solidFill>
                  <a:srgbClr val="A31515"/>
                </a:solidFill>
                <a:latin typeface="Consolas" pitchFamily="49" charset="0"/>
              </a:rPr>
              <a:t>调用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T 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tmin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(T 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a,T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 b)</a:t>
            </a:r>
            <a:r>
              <a:rPr lang="zh-CN" altLang="en-US" sz="1600" dirty="0">
                <a:solidFill>
                  <a:srgbClr val="A31515"/>
                </a:solidFill>
                <a:latin typeface="Consolas" pitchFamily="49" charset="0"/>
              </a:rPr>
              <a:t>函数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pPr lvl="1"/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(a&lt;b)?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a:b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  <a:p>
            <a:endParaRPr lang="zh-CN" altLang="en-US" sz="16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template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&lt;&gt; </a:t>
            </a:r>
            <a:r>
              <a:rPr lang="en-US" altLang="zh-CN" sz="1600" dirty="0">
                <a:solidFill>
                  <a:srgbClr val="008000"/>
                </a:solidFill>
                <a:latin typeface="Consolas" pitchFamily="49" charset="0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latin typeface="Consolas" pitchFamily="49" charset="0"/>
              </a:rPr>
              <a:t>特化</a:t>
            </a:r>
            <a:endParaRPr lang="en-US" altLang="zh-CN" sz="1600" dirty="0">
              <a:solidFill>
                <a:srgbClr val="008000"/>
              </a:solidFill>
              <a:latin typeface="Consolas" pitchFamily="49" charset="0"/>
            </a:endParaRPr>
          </a:p>
          <a:p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</a:rPr>
              <a:t>const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char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* 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tmin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</a:rPr>
              <a:t>const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char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*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a,</a:t>
            </a:r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</a:rPr>
              <a:t>const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char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*b)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{                         </a:t>
            </a:r>
          </a:p>
          <a:p>
            <a:pPr lvl="1"/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</a:t>
            </a:r>
            <a:r>
              <a:rPr lang="zh-CN" altLang="en-US" sz="1600" dirty="0">
                <a:solidFill>
                  <a:srgbClr val="A31515"/>
                </a:solidFill>
                <a:latin typeface="Consolas" pitchFamily="49" charset="0"/>
              </a:rPr>
              <a:t>调用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const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 char* 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tmin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&lt;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const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 char*&gt;(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const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 char *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a,const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 char *b) </a:t>
            </a:r>
            <a:r>
              <a:rPr lang="zh-CN" altLang="en-US" sz="1600" dirty="0">
                <a:solidFill>
                  <a:srgbClr val="A31515"/>
                </a:solidFill>
                <a:latin typeface="Consolas" pitchFamily="49" charset="0"/>
              </a:rPr>
              <a:t>函数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pPr lvl="1"/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(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strcmp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a,b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)&lt;=0)?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a:b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  <a:p>
            <a:endParaRPr lang="zh-CN" altLang="en-US" sz="16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1600" dirty="0" err="1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main()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{</a:t>
            </a:r>
          </a:p>
          <a:p>
            <a:pPr lvl="1"/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“3</a:t>
            </a:r>
            <a:r>
              <a:rPr lang="zh-CN" altLang="en-US" sz="1600" dirty="0">
                <a:solidFill>
                  <a:srgbClr val="A31515"/>
                </a:solidFill>
                <a:latin typeface="Consolas" pitchFamily="49" charset="0"/>
              </a:rPr>
              <a:t>，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2    </a:t>
            </a:r>
            <a:r>
              <a:rPr lang="zh-CN" altLang="en-US" sz="1600" dirty="0">
                <a:solidFill>
                  <a:srgbClr val="A31515"/>
                </a:solidFill>
                <a:latin typeface="Consolas" pitchFamily="49" charset="0"/>
              </a:rPr>
              <a:t>的较小值是：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tmin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(3,2)&lt;&lt;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; </a:t>
            </a:r>
          </a:p>
          <a:p>
            <a:pPr lvl="1"/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ys</a:t>
            </a:r>
            <a:r>
              <a:rPr lang="zh-CN" altLang="en-US" sz="1600" dirty="0">
                <a:solidFill>
                  <a:srgbClr val="A31515"/>
                </a:solidFill>
                <a:latin typeface="Consolas" pitchFamily="49" charset="0"/>
              </a:rPr>
              <a:t>，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cs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  </a:t>
            </a:r>
            <a:r>
              <a:rPr lang="zh-CN" altLang="en-US" sz="1600" dirty="0">
                <a:solidFill>
                  <a:srgbClr val="A31515"/>
                </a:solidFill>
                <a:latin typeface="Consolas" pitchFamily="49" charset="0"/>
              </a:rPr>
              <a:t>的较小值是：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tmin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ys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,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</a:t>
            </a:r>
            <a:r>
              <a:rPr lang="en-US" altLang="zh-CN" sz="1600" dirty="0" err="1">
                <a:solidFill>
                  <a:srgbClr val="A31515"/>
                </a:solidFill>
                <a:latin typeface="Consolas" pitchFamily="49" charset="0"/>
              </a:rPr>
              <a:t>cs</a:t>
            </a:r>
            <a:r>
              <a:rPr lang="en-US" altLang="zh-CN" sz="1600" dirty="0">
                <a:solidFill>
                  <a:srgbClr val="A31515"/>
                </a:solidFill>
                <a:latin typeface="Consolas" pitchFamily="49" charset="0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)&lt;&lt;</a:t>
            </a:r>
            <a:r>
              <a:rPr lang="en-US" altLang="zh-CN" sz="1600" dirty="0" err="1">
                <a:solidFill>
                  <a:srgbClr val="000000"/>
                </a:solidFill>
                <a:latin typeface="Consolas" pitchFamily="49" charset="0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pPr lvl="1"/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 0;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5771878"/>
            <a:ext cx="561657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719138" y="2636912"/>
            <a:ext cx="8029277" cy="1800200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6.2  </a:t>
            </a:r>
            <a:r>
              <a:rPr lang="zh-CN" altLang="en-US" dirty="0"/>
              <a:t>函数模板重载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4274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539552" y="1052736"/>
            <a:ext cx="7772400" cy="4319587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CN" altLang="en-US" sz="2800" dirty="0"/>
              <a:t>模板的</a:t>
            </a:r>
            <a:r>
              <a:rPr lang="zh-CN" altLang="en-US" sz="2800" dirty="0">
                <a:solidFill>
                  <a:srgbClr val="C00000"/>
                </a:solidFill>
              </a:rPr>
              <a:t>说明：</a:t>
            </a:r>
          </a:p>
          <a:p>
            <a:pPr marL="457200" indent="-4572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AutoNum type="arabicPeriod"/>
            </a:pPr>
            <a:r>
              <a:rPr lang="zh-CN" altLang="en-US" sz="2400" dirty="0"/>
              <a:t>函数模板可</a:t>
            </a:r>
            <a:r>
              <a:rPr lang="zh-CN" altLang="en-US" sz="2400" dirty="0">
                <a:solidFill>
                  <a:srgbClr val="FF0000"/>
                </a:solidFill>
              </a:rPr>
              <a:t>重载， 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400" dirty="0"/>
              <a:t>    ~</a:t>
            </a:r>
            <a:r>
              <a:rPr lang="zh-CN" altLang="en-US" sz="2400" dirty="0"/>
              <a:t>若能匹配多个模板时，</a:t>
            </a:r>
            <a:r>
              <a:rPr lang="zh-CN" altLang="en-US" sz="2400" dirty="0">
                <a:solidFill>
                  <a:srgbClr val="FF0000"/>
                </a:solidFill>
              </a:rPr>
              <a:t>选择最匹配函数模板。</a:t>
            </a:r>
            <a:endParaRPr lang="zh-CN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539552" y="2826127"/>
            <a:ext cx="8496944" cy="3785652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AF00DB"/>
                </a:solidFill>
                <a:latin typeface="Consolas" panose="020B0609020204030204"/>
              </a:rPr>
              <a:t>#include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&lt;</a:t>
            </a:r>
            <a:r>
              <a:rPr lang="en-US" altLang="zh-CN" sz="1600" dirty="0" err="1">
                <a:solidFill>
                  <a:srgbClr val="A31515"/>
                </a:solidFill>
                <a:latin typeface="Consolas" panose="020B0609020204030204"/>
              </a:rPr>
              <a:t>iostream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600" dirty="0">
                <a:solidFill>
                  <a:srgbClr val="AF00DB"/>
                </a:solidFill>
                <a:latin typeface="Consolas" panose="020B0609020204030204"/>
              </a:rPr>
              <a:t>using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namespace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 err="1">
                <a:solidFill>
                  <a:srgbClr val="267F99"/>
                </a:solidFill>
                <a:latin typeface="Consolas" panose="020B0609020204030204"/>
              </a:rPr>
              <a:t>std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</a:t>
            </a:r>
          </a:p>
          <a:p>
            <a:b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</a:br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template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&lt;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/>
              </a:rPr>
              <a:t>typename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T&gt;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(T){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&lt;&lt;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"template f(T)"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&lt;&lt;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;} 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/>
              </a:rPr>
              <a:t>//(a): 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/>
              </a:rPr>
              <a:t>基础模板</a:t>
            </a:r>
            <a:endParaRPr lang="zh-CN" altLang="en-US" sz="1600" dirty="0">
              <a:solidFill>
                <a:srgbClr val="000000"/>
              </a:solidFill>
              <a:latin typeface="Consolas" panose="020B0609020204030204"/>
            </a:endParaRPr>
          </a:p>
          <a:p>
            <a:br>
              <a:rPr lang="zh-CN" altLang="en-US" sz="1600" dirty="0">
                <a:solidFill>
                  <a:srgbClr val="000000"/>
                </a:solidFill>
                <a:latin typeface="Consolas" panose="020B0609020204030204"/>
              </a:rPr>
            </a:br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template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&lt;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/>
              </a:rPr>
              <a:t>typename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T&gt;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(T*){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&lt;&lt;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"template f(T *)"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&lt;&lt;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 } 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/>
              </a:rPr>
              <a:t>//(b):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/>
              </a:rPr>
              <a:t>基础模板，重载</a:t>
            </a:r>
            <a:endParaRPr lang="zh-CN" altLang="en-US" sz="1600" dirty="0">
              <a:solidFill>
                <a:srgbClr val="000000"/>
              </a:solidFill>
              <a:latin typeface="Consolas" panose="020B0609020204030204"/>
            </a:endParaRPr>
          </a:p>
          <a:p>
            <a:endParaRPr lang="en-US" altLang="zh-CN" sz="16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main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{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  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a = 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/>
              </a:rPr>
              <a:t>10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   </a:t>
            </a:r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(a); 	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/>
              </a:rPr>
              <a:t>// 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/>
              </a:rPr>
              <a:t>匹配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/>
              </a:rPr>
              <a:t>(a)</a:t>
            </a:r>
            <a:endParaRPr lang="en-US" altLang="zh-CN" sz="16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    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(&amp;a); 	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/>
              </a:rPr>
              <a:t>// 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/>
              </a:rPr>
              <a:t>匹配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/>
              </a:rPr>
              <a:t>(b)</a:t>
            </a:r>
          </a:p>
          <a:p>
            <a:r>
              <a:rPr lang="en-US" altLang="zh-CN" sz="1600" dirty="0">
                <a:solidFill>
                  <a:srgbClr val="008000"/>
                </a:solidFill>
                <a:latin typeface="Consolas" panose="020B0609020204030204"/>
              </a:rPr>
              <a:t>   </a:t>
            </a:r>
            <a:r>
              <a:rPr lang="en-US" altLang="zh-CN" sz="1600" dirty="0">
                <a:solidFill>
                  <a:srgbClr val="AF00DB"/>
                </a:solidFill>
                <a:latin typeface="Consolas" panose="020B0609020204030204"/>
              </a:rPr>
              <a:t> return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/>
              </a:rPr>
              <a:t>0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}</a:t>
            </a:r>
            <a:endParaRPr lang="en-US" altLang="zh-CN" sz="1600" b="0" dirty="0">
              <a:solidFill>
                <a:srgbClr val="000000"/>
              </a:solidFill>
              <a:effectLst/>
              <a:latin typeface="Consolas" panose="020B0609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157434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6.2  </a:t>
            </a:r>
            <a:r>
              <a:rPr lang="zh-CN" altLang="en-US" dirty="0"/>
              <a:t>函数模板重载与匹配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4274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467544" y="1124744"/>
            <a:ext cx="7772400" cy="4319588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CN" altLang="en-US" sz="2800" dirty="0"/>
              <a:t>模板的</a:t>
            </a:r>
            <a:r>
              <a:rPr lang="zh-CN" altLang="en-US" sz="2800" dirty="0">
                <a:solidFill>
                  <a:srgbClr val="C00000"/>
                </a:solidFill>
              </a:rPr>
              <a:t>说明：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2</a:t>
            </a:r>
            <a:r>
              <a:rPr lang="en-US" altLang="zh-CN" sz="2400" dirty="0"/>
              <a:t>. </a:t>
            </a:r>
            <a:r>
              <a:rPr lang="zh-CN" altLang="en-US" sz="2400" dirty="0"/>
              <a:t>当程序中具有</a:t>
            </a:r>
            <a:r>
              <a:rPr lang="zh-CN" altLang="en-US" sz="2400" dirty="0">
                <a:solidFill>
                  <a:srgbClr val="FF0000"/>
                </a:solidFill>
              </a:rPr>
              <a:t>普通函数、函数模板</a:t>
            </a:r>
            <a:r>
              <a:rPr lang="zh-CN" altLang="en-US" sz="2400" dirty="0"/>
              <a:t>及</a:t>
            </a:r>
            <a:r>
              <a:rPr lang="zh-CN" altLang="en-US" sz="2400" dirty="0">
                <a:solidFill>
                  <a:srgbClr val="FF0000"/>
                </a:solidFill>
              </a:rPr>
              <a:t>其特化</a:t>
            </a:r>
            <a:r>
              <a:rPr lang="zh-CN" altLang="en-US" sz="2400" dirty="0"/>
              <a:t>时，其匹配</a:t>
            </a:r>
            <a:r>
              <a:rPr lang="zh-CN" altLang="en-US" sz="2400" dirty="0">
                <a:solidFill>
                  <a:srgbClr val="FF0000"/>
                </a:solidFill>
              </a:rPr>
              <a:t>过程</a:t>
            </a:r>
            <a:r>
              <a:rPr lang="zh-CN" altLang="en-US" sz="2400" dirty="0"/>
              <a:t>如下：</a:t>
            </a:r>
          </a:p>
        </p:txBody>
      </p:sp>
      <p:sp>
        <p:nvSpPr>
          <p:cNvPr id="3" name="矩形 2"/>
          <p:cNvSpPr/>
          <p:nvPr/>
        </p:nvSpPr>
        <p:spPr>
          <a:xfrm>
            <a:off x="467544" y="3140968"/>
            <a:ext cx="8424936" cy="2554545"/>
          </a:xfrm>
          <a:prstGeom prst="rect">
            <a:avLst/>
          </a:prstGeom>
          <a:ln w="5715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marL="180000" lvl="1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/>
              <a:t>1. </a:t>
            </a:r>
            <a:r>
              <a:rPr lang="zh-CN" altLang="en-US" sz="2000" dirty="0"/>
              <a:t>若有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普通函数</a:t>
            </a:r>
            <a:r>
              <a:rPr lang="zh-CN" altLang="en-US" sz="2000" dirty="0"/>
              <a:t>匹配成功，则选中；</a:t>
            </a:r>
          </a:p>
          <a:p>
            <a:pPr marL="180000"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/>
              <a:t>2. </a:t>
            </a:r>
            <a:r>
              <a:rPr lang="zh-CN" altLang="en-US" sz="2000" dirty="0"/>
              <a:t>否则，查找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函数模板</a:t>
            </a:r>
            <a:r>
              <a:rPr lang="zh-CN" altLang="en-US" sz="2000" dirty="0"/>
              <a:t>，若找匹配模板（</a:t>
            </a:r>
            <a:r>
              <a:rPr lang="zh-CN" altLang="en-US" sz="2000" dirty="0">
                <a:solidFill>
                  <a:srgbClr val="FF0000"/>
                </a:solidFill>
              </a:rPr>
              <a:t>多态时查找最匹配模板</a:t>
            </a:r>
            <a:r>
              <a:rPr lang="zh-CN" altLang="en-US" sz="2000" dirty="0"/>
              <a:t>）则</a:t>
            </a:r>
            <a:endParaRPr lang="en-US" altLang="zh-CN" sz="2000" dirty="0"/>
          </a:p>
          <a:p>
            <a:pPr marL="180000"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/>
              <a:t>	2.1 </a:t>
            </a:r>
            <a:r>
              <a:rPr lang="zh-CN" altLang="en-US" sz="2000" dirty="0"/>
              <a:t> 若在</a:t>
            </a:r>
            <a:r>
              <a:rPr lang="zh-CN" altLang="en-US" sz="2000" b="1" dirty="0"/>
              <a:t>匹配模板</a:t>
            </a:r>
            <a:r>
              <a:rPr lang="zh-CN" altLang="en-US" sz="2000" dirty="0"/>
              <a:t>中找到对应的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特化</a:t>
            </a:r>
            <a:r>
              <a:rPr lang="zh-CN" altLang="en-US" sz="2000" dirty="0"/>
              <a:t>，则选择特化；</a:t>
            </a:r>
            <a:endParaRPr lang="en-US" altLang="zh-CN" sz="2000" dirty="0"/>
          </a:p>
          <a:p>
            <a:pPr marL="180000"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/>
              <a:t>	2.2 </a:t>
            </a:r>
            <a:r>
              <a:rPr lang="zh-CN" altLang="en-US" sz="2000" dirty="0"/>
              <a:t>否则（无特化），按</a:t>
            </a:r>
            <a:r>
              <a:rPr lang="zh-CN" altLang="en-US" sz="2000" b="1" dirty="0"/>
              <a:t>匹配模板</a:t>
            </a:r>
            <a:r>
              <a:rPr lang="zh-CN" altLang="en-US" sz="2000" dirty="0"/>
              <a:t>生成</a:t>
            </a:r>
            <a:r>
              <a:rPr lang="zh-CN" altLang="en-US" sz="2000" dirty="0">
                <a:solidFill>
                  <a:srgbClr val="FF0000"/>
                </a:solidFill>
              </a:rPr>
              <a:t>模板函数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180000"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/>
              <a:t>3. </a:t>
            </a:r>
            <a:r>
              <a:rPr lang="zh-CN" altLang="en-US" sz="2000" dirty="0"/>
              <a:t>否则，匹配</a:t>
            </a:r>
            <a:r>
              <a:rPr lang="zh-CN" altLang="en-US" sz="2000" dirty="0">
                <a:solidFill>
                  <a:srgbClr val="FF0000"/>
                </a:solidFill>
              </a:rPr>
              <a:t>失败</a:t>
            </a:r>
            <a:r>
              <a:rPr lang="zh-CN" altLang="en-US" sz="2000" dirty="0"/>
              <a:t>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894886" y="173831"/>
            <a:ext cx="44935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普通函数与模板函数的调用示例</a:t>
            </a:r>
          </a:p>
        </p:txBody>
      </p:sp>
      <p:sp>
        <p:nvSpPr>
          <p:cNvPr id="3" name="矩形 2"/>
          <p:cNvSpPr/>
          <p:nvPr/>
        </p:nvSpPr>
        <p:spPr>
          <a:xfrm>
            <a:off x="395536" y="260648"/>
            <a:ext cx="8568952" cy="6740307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AF00DB"/>
                </a:solidFill>
                <a:latin typeface="Consolas" panose="020B0609020204030204"/>
              </a:rPr>
              <a:t>#include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&lt;</a:t>
            </a:r>
            <a:r>
              <a:rPr lang="en-US" altLang="zh-CN" sz="1600" dirty="0" err="1">
                <a:solidFill>
                  <a:srgbClr val="A31515"/>
                </a:solidFill>
                <a:latin typeface="Consolas" panose="020B0609020204030204"/>
              </a:rPr>
              <a:t>iostream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&gt;</a:t>
            </a:r>
            <a:endParaRPr lang="en-US" altLang="zh-CN" sz="16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600" dirty="0">
                <a:solidFill>
                  <a:srgbClr val="AF00DB"/>
                </a:solidFill>
                <a:latin typeface="Consolas" panose="020B0609020204030204"/>
              </a:rPr>
              <a:t>using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namespace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 err="1">
                <a:solidFill>
                  <a:srgbClr val="267F99"/>
                </a:solidFill>
                <a:latin typeface="Consolas" panose="020B0609020204030204"/>
              </a:rPr>
              <a:t>std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</a:t>
            </a:r>
          </a:p>
          <a:p>
            <a:endParaRPr lang="en-US" altLang="zh-CN" sz="16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/>
            </a:endParaRPr>
          </a:p>
          <a:p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template 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&lt;</a:t>
            </a:r>
            <a:r>
              <a:rPr lang="en-US" altLang="zh-CN" sz="16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typename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 T&gt;  </a:t>
            </a:r>
            <a:r>
              <a:rPr lang="en-US" altLang="zh-CN" sz="1600" dirty="0">
                <a:solidFill>
                  <a:srgbClr val="006600"/>
                </a:solidFill>
                <a:latin typeface="Consolas" panose="020B0609020204030204"/>
              </a:rPr>
              <a:t>//</a:t>
            </a:r>
            <a:r>
              <a:rPr lang="en-US" altLang="zh-CN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(a)</a:t>
            </a:r>
            <a:r>
              <a:rPr lang="en-US" altLang="zh-CN" sz="1600" dirty="0">
                <a:solidFill>
                  <a:srgbClr val="006600"/>
                </a:solidFill>
                <a:latin typeface="Consolas" panose="020B0609020204030204"/>
              </a:rPr>
              <a:t> </a:t>
            </a:r>
            <a:r>
              <a:rPr lang="zh-CN" altLang="en-US" sz="1600" dirty="0">
                <a:solidFill>
                  <a:srgbClr val="006600"/>
                </a:solidFill>
                <a:latin typeface="Consolas" panose="020B0609020204030204"/>
              </a:rPr>
              <a:t>模板函数</a:t>
            </a:r>
            <a:r>
              <a:rPr lang="en-US" altLang="zh-CN" sz="1600" dirty="0">
                <a:solidFill>
                  <a:srgbClr val="006600"/>
                </a:solidFill>
                <a:latin typeface="Consolas" panose="020B0609020204030204"/>
              </a:rPr>
              <a:t>f(T) : </a:t>
            </a:r>
            <a:r>
              <a:rPr lang="zh-CN" altLang="en-US" sz="1600" dirty="0">
                <a:solidFill>
                  <a:srgbClr val="006600"/>
                </a:solidFill>
                <a:latin typeface="Consolas" panose="020B0609020204030204"/>
              </a:rPr>
              <a:t>基础模板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(T){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&lt;&lt;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“template f(T)”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&lt;&lt;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;} 	</a:t>
            </a:r>
            <a:br>
              <a:rPr lang="zh-CN" altLang="en-US" sz="1600" dirty="0">
                <a:solidFill>
                  <a:srgbClr val="000000"/>
                </a:solidFill>
                <a:latin typeface="Consolas" panose="020B0609020204030204"/>
              </a:rPr>
            </a:br>
            <a:endParaRPr lang="en-US" altLang="zh-CN" sz="16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template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&lt;&gt;             </a:t>
            </a:r>
            <a:r>
              <a:rPr lang="en-US" altLang="zh-CN" sz="1600" dirty="0">
                <a:solidFill>
                  <a:srgbClr val="006600"/>
                </a:solidFill>
                <a:latin typeface="Consolas" panose="020B0609020204030204"/>
              </a:rPr>
              <a:t>//</a:t>
            </a:r>
            <a:r>
              <a:rPr lang="en-US" altLang="zh-CN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(b)</a:t>
            </a:r>
            <a:r>
              <a:rPr lang="zh-CN" altLang="en-US" sz="1600" dirty="0">
                <a:solidFill>
                  <a:srgbClr val="006600"/>
                </a:solidFill>
                <a:latin typeface="Consolas" panose="020B0609020204030204"/>
              </a:rPr>
              <a:t>模板函数</a:t>
            </a:r>
            <a:r>
              <a:rPr lang="en-US" altLang="zh-CN" sz="1600" dirty="0">
                <a:solidFill>
                  <a:srgbClr val="006600"/>
                </a:solidFill>
                <a:latin typeface="Consolas" panose="020B0609020204030204"/>
              </a:rPr>
              <a:t>f(T)</a:t>
            </a:r>
            <a:r>
              <a:rPr lang="zh-CN" altLang="en-US" sz="1600" dirty="0">
                <a:solidFill>
                  <a:srgbClr val="006600"/>
                </a:solidFill>
                <a:latin typeface="Consolas" panose="020B0609020204030204"/>
              </a:rPr>
              <a:t>特化，即</a:t>
            </a:r>
            <a:r>
              <a:rPr lang="en-US" altLang="zh-CN" sz="1600" dirty="0">
                <a:solidFill>
                  <a:srgbClr val="006600"/>
                </a:solidFill>
                <a:latin typeface="Consolas" panose="020B0609020204030204"/>
              </a:rPr>
              <a:t>(a)</a:t>
            </a:r>
            <a:r>
              <a:rPr lang="zh-CN" altLang="en-US" sz="1600" dirty="0">
                <a:solidFill>
                  <a:srgbClr val="006600"/>
                </a:solidFill>
                <a:latin typeface="Consolas" panose="020B0609020204030204"/>
              </a:rPr>
              <a:t>的</a:t>
            </a:r>
            <a:r>
              <a:rPr lang="zh-CN" alt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特化</a:t>
            </a:r>
            <a:endParaRPr lang="en-US" altLang="zh-CN" sz="1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*){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&lt;&lt;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“specialization template f(T)”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&lt;&lt;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;}</a:t>
            </a:r>
          </a:p>
          <a:p>
            <a:br>
              <a:rPr lang="zh-CN" altLang="en-US" sz="1600" dirty="0">
                <a:solidFill>
                  <a:srgbClr val="000000"/>
                </a:solidFill>
                <a:latin typeface="Consolas" panose="020B0609020204030204"/>
              </a:rPr>
            </a:br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template 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&lt;</a:t>
            </a:r>
            <a:r>
              <a:rPr lang="en-US" altLang="zh-CN" sz="16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typename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 T&gt;  </a:t>
            </a:r>
            <a:r>
              <a:rPr lang="en-US" altLang="zh-CN" sz="1600" dirty="0">
                <a:solidFill>
                  <a:srgbClr val="006600"/>
                </a:solidFill>
                <a:latin typeface="Consolas" panose="020B0609020204030204"/>
              </a:rPr>
              <a:t>//</a:t>
            </a:r>
            <a:r>
              <a:rPr lang="en-US" altLang="zh-CN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(c)</a:t>
            </a:r>
            <a:r>
              <a:rPr lang="en-US" altLang="zh-CN" sz="1600" dirty="0">
                <a:solidFill>
                  <a:srgbClr val="006600"/>
                </a:solidFill>
                <a:latin typeface="Consolas" panose="020B0609020204030204"/>
              </a:rPr>
              <a:t> </a:t>
            </a:r>
            <a:r>
              <a:rPr lang="zh-CN" altLang="en-US" sz="1600" dirty="0">
                <a:solidFill>
                  <a:srgbClr val="006600"/>
                </a:solidFill>
                <a:latin typeface="Consolas" panose="020B0609020204030204"/>
              </a:rPr>
              <a:t>模板函数</a:t>
            </a:r>
            <a:r>
              <a:rPr lang="en-US" altLang="zh-CN" sz="1600" dirty="0">
                <a:solidFill>
                  <a:srgbClr val="006600"/>
                </a:solidFill>
                <a:latin typeface="Consolas" panose="020B0609020204030204"/>
              </a:rPr>
              <a:t>f(T)</a:t>
            </a:r>
            <a:r>
              <a:rPr lang="zh-CN" altLang="en-US" sz="1600" dirty="0">
                <a:solidFill>
                  <a:srgbClr val="006600"/>
                </a:solidFill>
                <a:latin typeface="Consolas" panose="020B0609020204030204"/>
              </a:rPr>
              <a:t>的</a:t>
            </a:r>
            <a:r>
              <a:rPr lang="zh-CN" alt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重载</a:t>
            </a:r>
            <a:endParaRPr lang="en-US" altLang="zh-CN" sz="1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(T*){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&lt;&lt;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"template f(T *)"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&lt;&lt;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 } 	</a:t>
            </a:r>
            <a:endParaRPr lang="zh-CN" altLang="en-US" sz="1600" dirty="0">
              <a:solidFill>
                <a:srgbClr val="000000"/>
              </a:solidFill>
              <a:latin typeface="Consolas" panose="020B0609020204030204"/>
            </a:endParaRPr>
          </a:p>
          <a:p>
            <a:br>
              <a:rPr lang="zh-CN" altLang="en-US" sz="1600" dirty="0">
                <a:solidFill>
                  <a:srgbClr val="000000"/>
                </a:solidFill>
                <a:latin typeface="Consolas" panose="020B0609020204030204"/>
              </a:rPr>
            </a:br>
            <a:r>
              <a:rPr lang="en-US" altLang="zh-CN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void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 </a:t>
            </a:r>
            <a:r>
              <a:rPr lang="en-US" altLang="zh-CN" sz="1600" b="1" dirty="0">
                <a:solidFill>
                  <a:srgbClr val="795E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f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(</a:t>
            </a:r>
            <a:r>
              <a:rPr lang="en-US" altLang="zh-CN" sz="16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int</a:t>
            </a:r>
            <a:r>
              <a:rPr lang="en-US" altLang="zh-CN" sz="1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 x)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{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&lt;&lt; 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"function f(</a:t>
            </a:r>
            <a:r>
              <a:rPr lang="en-US" altLang="zh-CN" sz="1600" dirty="0" err="1">
                <a:solidFill>
                  <a:srgbClr val="A31515"/>
                </a:solidFill>
                <a:latin typeface="Consolas" panose="020B0609020204030204"/>
              </a:rPr>
              <a:t>int</a:t>
            </a:r>
            <a:r>
              <a:rPr lang="en-US" altLang="zh-CN" sz="1600" dirty="0">
                <a:solidFill>
                  <a:srgbClr val="A31515"/>
                </a:solidFill>
                <a:latin typeface="Consolas" panose="020B0609020204030204"/>
              </a:rPr>
              <a:t>)"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&lt;&lt;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/>
              </a:rPr>
              <a:t>endl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;} 	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/>
              </a:rPr>
              <a:t>// </a:t>
            </a:r>
            <a:r>
              <a:rPr lang="en-US" altLang="zh-CN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/>
              </a:rPr>
              <a:t>(d)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/>
              </a:rPr>
              <a:t>: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/>
              </a:rPr>
              <a:t>函数</a:t>
            </a:r>
          </a:p>
          <a:p>
            <a:br>
              <a:rPr lang="zh-CN" altLang="en-US" sz="1600" dirty="0">
                <a:solidFill>
                  <a:srgbClr val="000000"/>
                </a:solidFill>
                <a:latin typeface="Consolas" panose="020B0609020204030204"/>
              </a:rPr>
            </a:br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main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{</a:t>
            </a:r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   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x = 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/>
              </a:rPr>
              <a:t>10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    float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y=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/>
              </a:rPr>
              <a:t>10.0f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</a:t>
            </a:r>
          </a:p>
          <a:p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    </a:t>
            </a:r>
          </a:p>
          <a:p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    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(x); 	</a:t>
            </a:r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    </a:t>
            </a:r>
          </a:p>
          <a:p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    </a:t>
            </a:r>
          </a:p>
          <a:p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    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(y); </a:t>
            </a:r>
            <a:endParaRPr lang="en-US" altLang="zh-CN" sz="1600" dirty="0">
              <a:solidFill>
                <a:srgbClr val="795E26"/>
              </a:solidFill>
              <a:latin typeface="Consolas" panose="020B0609020204030204"/>
            </a:endParaRPr>
          </a:p>
          <a:p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    </a:t>
            </a:r>
          </a:p>
          <a:p>
            <a:r>
              <a:rPr lang="en-US" altLang="zh-CN" sz="1600" dirty="0">
                <a:solidFill>
                  <a:srgbClr val="795E26"/>
                </a:solidFill>
                <a:latin typeface="Consolas" panose="020B0609020204030204"/>
              </a:rPr>
              <a:t>    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(&amp;x); 	</a:t>
            </a:r>
          </a:p>
          <a:p>
            <a:r>
              <a:rPr lang="en-US" altLang="zh-CN" sz="1600" dirty="0">
                <a:solidFill>
                  <a:srgbClr val="AF00DB"/>
                </a:solidFill>
                <a:latin typeface="Consolas" panose="020B0609020204030204"/>
              </a:rPr>
              <a:t>    </a:t>
            </a:r>
          </a:p>
          <a:p>
            <a:r>
              <a:rPr lang="en-US" altLang="zh-CN" sz="1600" dirty="0">
                <a:solidFill>
                  <a:srgbClr val="AF00DB"/>
                </a:solidFill>
                <a:latin typeface="Consolas" panose="020B0609020204030204"/>
              </a:rPr>
              <a:t>    return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/>
              </a:rPr>
              <a:t>0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}</a:t>
            </a:r>
            <a:endParaRPr lang="en-US" altLang="zh-CN" sz="1600" b="0" dirty="0">
              <a:solidFill>
                <a:srgbClr val="000000"/>
              </a:solidFill>
              <a:effectLst/>
              <a:latin typeface="Consolas" panose="020B0609020204030204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3870479"/>
            <a:ext cx="2880320" cy="116882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707424" y="4598262"/>
            <a:ext cx="1473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dirty="0">
                <a:solidFill>
                  <a:srgbClr val="008000"/>
                </a:solidFill>
                <a:latin typeface="Consolas" panose="020B0609020204030204"/>
              </a:rPr>
              <a:t>// </a:t>
            </a:r>
            <a:r>
              <a:rPr lang="zh-CN" altLang="en-US" sz="1800" dirty="0">
                <a:solidFill>
                  <a:srgbClr val="008000"/>
                </a:solidFill>
                <a:latin typeface="Consolas" panose="020B0609020204030204"/>
              </a:rPr>
              <a:t>匹配</a:t>
            </a:r>
            <a:r>
              <a:rPr lang="en-US" altLang="zh-CN" sz="1800" dirty="0">
                <a:solidFill>
                  <a:srgbClr val="008000"/>
                </a:solidFill>
                <a:latin typeface="Consolas" panose="020B0609020204030204"/>
              </a:rPr>
              <a:t>(d)</a:t>
            </a:r>
          </a:p>
        </p:txBody>
      </p:sp>
      <p:sp>
        <p:nvSpPr>
          <p:cNvPr id="6" name="矩形 5"/>
          <p:cNvSpPr/>
          <p:nvPr/>
        </p:nvSpPr>
        <p:spPr>
          <a:xfrm>
            <a:off x="1707424" y="5137180"/>
            <a:ext cx="1473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dirty="0">
                <a:solidFill>
                  <a:srgbClr val="008000"/>
                </a:solidFill>
                <a:latin typeface="Consolas" panose="020B0609020204030204"/>
              </a:rPr>
              <a:t>// </a:t>
            </a:r>
            <a:r>
              <a:rPr lang="zh-CN" altLang="en-US" sz="1800" dirty="0">
                <a:solidFill>
                  <a:srgbClr val="008000"/>
                </a:solidFill>
                <a:latin typeface="Consolas" panose="020B0609020204030204"/>
              </a:rPr>
              <a:t>匹配</a:t>
            </a:r>
            <a:r>
              <a:rPr lang="en-US" altLang="zh-CN" sz="1800" dirty="0">
                <a:solidFill>
                  <a:srgbClr val="008000"/>
                </a:solidFill>
                <a:latin typeface="Consolas" panose="020B0609020204030204"/>
              </a:rPr>
              <a:t>(a)</a:t>
            </a:r>
          </a:p>
        </p:txBody>
      </p:sp>
      <p:sp>
        <p:nvSpPr>
          <p:cNvPr id="7" name="矩形 6"/>
          <p:cNvSpPr/>
          <p:nvPr/>
        </p:nvSpPr>
        <p:spPr>
          <a:xfrm>
            <a:off x="1697178" y="5557052"/>
            <a:ext cx="72592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8000"/>
                </a:solidFill>
                <a:latin typeface="Consolas" panose="020B0609020204030204"/>
              </a:rPr>
              <a:t>// </a:t>
            </a:r>
            <a:r>
              <a:rPr lang="zh-CN" altLang="en-US" sz="1800" dirty="0">
                <a:solidFill>
                  <a:srgbClr val="008000"/>
                </a:solidFill>
                <a:latin typeface="Consolas" panose="020B0609020204030204"/>
              </a:rPr>
              <a:t>匹配</a:t>
            </a:r>
            <a:r>
              <a:rPr lang="en-US" altLang="zh-CN" sz="1800" dirty="0">
                <a:solidFill>
                  <a:srgbClr val="008000"/>
                </a:solidFill>
                <a:latin typeface="Consolas" panose="020B0609020204030204"/>
              </a:rPr>
              <a:t>(c),</a:t>
            </a:r>
            <a:r>
              <a:rPr lang="zh-CN" altLang="en-US" sz="1800" dirty="0">
                <a:solidFill>
                  <a:srgbClr val="008000"/>
                </a:solidFill>
                <a:latin typeface="Consolas" panose="020B0609020204030204"/>
              </a:rPr>
              <a:t>注意，在匹配函数模板时找到最匹配的函数模板</a:t>
            </a:r>
            <a:r>
              <a:rPr lang="en-US" altLang="zh-CN" sz="1800" dirty="0">
                <a:solidFill>
                  <a:srgbClr val="008000"/>
                </a:solidFill>
                <a:latin typeface="Consolas" panose="020B0609020204030204"/>
              </a:rPr>
              <a:t>(c)</a:t>
            </a:r>
            <a:r>
              <a:rPr lang="zh-CN" altLang="en-US" sz="1800" dirty="0">
                <a:solidFill>
                  <a:srgbClr val="008000"/>
                </a:solidFill>
                <a:latin typeface="Consolas" panose="020B0609020204030204"/>
              </a:rPr>
              <a:t>，</a:t>
            </a:r>
            <a:endParaRPr lang="en-US" altLang="zh-CN" sz="18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800" dirty="0">
                <a:solidFill>
                  <a:srgbClr val="008000"/>
                </a:solidFill>
                <a:latin typeface="Consolas" panose="020B0609020204030204"/>
              </a:rPr>
              <a:t>// </a:t>
            </a:r>
            <a:r>
              <a:rPr lang="zh-CN" altLang="en-US" sz="1800" dirty="0">
                <a:solidFill>
                  <a:srgbClr val="008000"/>
                </a:solidFill>
                <a:latin typeface="Consolas" panose="020B0609020204030204"/>
              </a:rPr>
              <a:t>所以就放弃了函数模板</a:t>
            </a:r>
            <a:r>
              <a:rPr lang="en-US" altLang="zh-CN" sz="1800" dirty="0">
                <a:solidFill>
                  <a:srgbClr val="008000"/>
                </a:solidFill>
                <a:latin typeface="Consolas" panose="020B0609020204030204"/>
              </a:rPr>
              <a:t>(a)</a:t>
            </a:r>
            <a:r>
              <a:rPr lang="zh-CN" altLang="en-US" sz="1800" dirty="0">
                <a:solidFill>
                  <a:srgbClr val="008000"/>
                </a:solidFill>
                <a:latin typeface="Consolas" panose="020B0609020204030204"/>
              </a:rPr>
              <a:t>中的特化</a:t>
            </a:r>
            <a:r>
              <a:rPr lang="en-US" altLang="zh-CN" sz="1800" dirty="0">
                <a:solidFill>
                  <a:srgbClr val="008000"/>
                </a:solidFill>
                <a:latin typeface="Consolas" panose="020B0609020204030204"/>
              </a:rPr>
              <a:t>(b) </a:t>
            </a:r>
            <a:r>
              <a:rPr lang="zh-CN" altLang="en-US" sz="1800" dirty="0">
                <a:solidFill>
                  <a:srgbClr val="008000"/>
                </a:solidFill>
                <a:latin typeface="Consolas" panose="020B0609020204030204"/>
              </a:rPr>
              <a:t>！！！</a:t>
            </a: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大纲</a:t>
            </a:r>
          </a:p>
        </p:txBody>
      </p:sp>
      <p:grpSp>
        <p:nvGrpSpPr>
          <p:cNvPr id="58370" name="Group 117"/>
          <p:cNvGrpSpPr>
            <a:grpSpLocks/>
          </p:cNvGrpSpPr>
          <p:nvPr/>
        </p:nvGrpSpPr>
        <p:grpSpPr bwMode="auto">
          <a:xfrm>
            <a:off x="2124075" y="2890838"/>
            <a:ext cx="5310188" cy="609600"/>
            <a:chOff x="1263" y="1881"/>
            <a:chExt cx="3345" cy="384"/>
          </a:xfrm>
        </p:grpSpPr>
        <p:grpSp>
          <p:nvGrpSpPr>
            <p:cNvPr id="58403" name="Group 118"/>
            <p:cNvGrpSpPr>
              <a:grpSpLocks/>
            </p:cNvGrpSpPr>
            <p:nvPr/>
          </p:nvGrpSpPr>
          <p:grpSpPr bwMode="auto">
            <a:xfrm>
              <a:off x="1263" y="1881"/>
              <a:ext cx="384" cy="384"/>
              <a:chOff x="816" y="1872"/>
              <a:chExt cx="384" cy="384"/>
            </a:xfrm>
          </p:grpSpPr>
          <p:sp>
            <p:nvSpPr>
              <p:cNvPr id="56" name="Oval 119"/>
              <p:cNvSpPr>
                <a:spLocks noChangeArrowheads="1"/>
              </p:cNvSpPr>
              <p:nvPr/>
            </p:nvSpPr>
            <p:spPr bwMode="gray">
              <a:xfrm>
                <a:off x="816" y="1872"/>
                <a:ext cx="384" cy="38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tint val="0"/>
                      <a:invGamma/>
                    </a:schemeClr>
                  </a:gs>
                  <a:gs pos="5000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57" name="Oval 120"/>
              <p:cNvSpPr>
                <a:spLocks noChangeArrowheads="1"/>
              </p:cNvSpPr>
              <p:nvPr/>
            </p:nvSpPr>
            <p:spPr bwMode="gray">
              <a:xfrm>
                <a:off x="816" y="1872"/>
                <a:ext cx="384" cy="38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alpha val="32001"/>
                    </a:schemeClr>
                  </a:gs>
                  <a:gs pos="100000">
                    <a:schemeClr val="accent2">
                      <a:gamma/>
                      <a:shade val="0"/>
                      <a:invGamma/>
                      <a:alpha val="89999"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wrap="none" anchor="ctr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58" name="Oval 121"/>
              <p:cNvSpPr>
                <a:spLocks noChangeArrowheads="1"/>
              </p:cNvSpPr>
              <p:nvPr/>
            </p:nvSpPr>
            <p:spPr bwMode="gray">
              <a:xfrm>
                <a:off x="841" y="1897"/>
                <a:ext cx="334" cy="33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54118"/>
                      <a:invGamma/>
                    </a:schemeClr>
                  </a:gs>
                  <a:gs pos="50000">
                    <a:schemeClr val="accent2"/>
                  </a:gs>
                  <a:gs pos="100000">
                    <a:schemeClr val="accent2">
                      <a:gamma/>
                      <a:shade val="54118"/>
                      <a:invGamma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59" name="Oval 122"/>
              <p:cNvSpPr>
                <a:spLocks noChangeArrowheads="1"/>
              </p:cNvSpPr>
              <p:nvPr/>
            </p:nvSpPr>
            <p:spPr bwMode="gray">
              <a:xfrm>
                <a:off x="866" y="1922"/>
                <a:ext cx="334" cy="33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63529"/>
                      <a:invGamma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</p:spPr>
            <p:txBody>
              <a:bodyPr anchor="ctr">
                <a:spAutoFit/>
              </a:bodyPr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>
                  <a:defRPr/>
                </a:pPr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58411" name="Oval 123"/>
              <p:cNvSpPr>
                <a:spLocks noChangeArrowheads="1"/>
              </p:cNvSpPr>
              <p:nvPr/>
            </p:nvSpPr>
            <p:spPr bwMode="gray">
              <a:xfrm>
                <a:off x="859" y="1914"/>
                <a:ext cx="300" cy="30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12" name="Oval 124"/>
              <p:cNvSpPr>
                <a:spLocks noChangeArrowheads="1"/>
              </p:cNvSpPr>
              <p:nvPr/>
            </p:nvSpPr>
            <p:spPr bwMode="gray">
              <a:xfrm>
                <a:off x="864" y="1919"/>
                <a:ext cx="291" cy="291"/>
              </a:xfrm>
              <a:prstGeom prst="ellipse">
                <a:avLst/>
              </a:prstGeom>
              <a:gradFill rotWithShape="1">
                <a:gsLst>
                  <a:gs pos="0">
                    <a:srgbClr val="595959"/>
                  </a:gs>
                  <a:gs pos="100000">
                    <a:srgbClr val="C0C0C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13" name="Oval 125"/>
              <p:cNvSpPr>
                <a:spLocks noChangeArrowheads="1"/>
              </p:cNvSpPr>
              <p:nvPr/>
            </p:nvSpPr>
            <p:spPr bwMode="gray">
              <a:xfrm>
                <a:off x="868" y="1921"/>
                <a:ext cx="283" cy="283"/>
              </a:xfrm>
              <a:prstGeom prst="ellipse">
                <a:avLst/>
              </a:prstGeom>
              <a:gradFill rotWithShape="1">
                <a:gsLst>
                  <a:gs pos="0">
                    <a:srgbClr val="C0C0C0">
                      <a:alpha val="0"/>
                    </a:srgbClr>
                  </a:gs>
                  <a:gs pos="100000">
                    <a:srgbClr val="E9E9E9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14" name="Oval 126"/>
              <p:cNvSpPr>
                <a:spLocks noChangeArrowheads="1"/>
              </p:cNvSpPr>
              <p:nvPr/>
            </p:nvSpPr>
            <p:spPr bwMode="gray">
              <a:xfrm>
                <a:off x="871" y="1923"/>
                <a:ext cx="270" cy="265"/>
              </a:xfrm>
              <a:prstGeom prst="ellipse">
                <a:avLst/>
              </a:prstGeom>
              <a:gradFill rotWithShape="1">
                <a:gsLst>
                  <a:gs pos="0">
                    <a:srgbClr val="989898"/>
                  </a:gs>
                  <a:gs pos="100000">
                    <a:srgbClr val="C0C0C0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8415" name="Oval 127"/>
              <p:cNvSpPr>
                <a:spLocks noChangeArrowheads="1"/>
              </p:cNvSpPr>
              <p:nvPr/>
            </p:nvSpPr>
            <p:spPr bwMode="gray">
              <a:xfrm>
                <a:off x="886" y="1931"/>
                <a:ext cx="240" cy="215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C0C0C0">
                      <a:alpha val="37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8404" name="Line 128"/>
            <p:cNvSpPr>
              <a:spLocks noChangeShapeType="1"/>
            </p:cNvSpPr>
            <p:nvPr/>
          </p:nvSpPr>
          <p:spPr bwMode="auto">
            <a:xfrm>
              <a:off x="1584" y="2235"/>
              <a:ext cx="3024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05" name="Text Box 129"/>
            <p:cNvSpPr txBox="1">
              <a:spLocks noChangeArrowheads="1"/>
            </p:cNvSpPr>
            <p:nvPr/>
          </p:nvSpPr>
          <p:spPr bwMode="auto">
            <a:xfrm>
              <a:off x="1728" y="1899"/>
              <a:ext cx="27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547688" indent="-22860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822325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096963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13716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1828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286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2743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2004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 2" panose="05020102010507070707" pitchFamily="18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函数模板</a:t>
              </a:r>
            </a:p>
          </p:txBody>
        </p:sp>
        <p:sp>
          <p:nvSpPr>
            <p:cNvPr id="58406" name="Text Box 130"/>
            <p:cNvSpPr txBox="1">
              <a:spLocks noChangeArrowheads="1"/>
            </p:cNvSpPr>
            <p:nvPr/>
          </p:nvSpPr>
          <p:spPr bwMode="gray">
            <a:xfrm>
              <a:off x="1344" y="1934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547688" indent="-22860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822325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096963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13716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1828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286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2743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2004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58371" name="Group 145"/>
          <p:cNvGrpSpPr>
            <a:grpSpLocks/>
          </p:cNvGrpSpPr>
          <p:nvPr/>
        </p:nvGrpSpPr>
        <p:grpSpPr bwMode="auto">
          <a:xfrm>
            <a:off x="2124075" y="2243138"/>
            <a:ext cx="5334000" cy="628650"/>
            <a:chOff x="1248" y="1188"/>
            <a:chExt cx="3360" cy="396"/>
          </a:xfrm>
        </p:grpSpPr>
        <p:sp>
          <p:nvSpPr>
            <p:cNvPr id="58388" name="Line 146"/>
            <p:cNvSpPr>
              <a:spLocks noChangeShapeType="1"/>
            </p:cNvSpPr>
            <p:nvPr/>
          </p:nvSpPr>
          <p:spPr bwMode="auto">
            <a:xfrm>
              <a:off x="1584" y="1524"/>
              <a:ext cx="3024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389" name="Text Box 147"/>
            <p:cNvSpPr txBox="1">
              <a:spLocks noChangeArrowheads="1"/>
            </p:cNvSpPr>
            <p:nvPr/>
          </p:nvSpPr>
          <p:spPr bwMode="auto">
            <a:xfrm>
              <a:off x="1728" y="1188"/>
              <a:ext cx="27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547688" indent="-22860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822325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096963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13716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1828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286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2743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2004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模板的概念</a:t>
              </a:r>
            </a:p>
          </p:txBody>
        </p:sp>
        <p:grpSp>
          <p:nvGrpSpPr>
            <p:cNvPr id="58390" name="Group 148"/>
            <p:cNvGrpSpPr>
              <a:grpSpLocks/>
            </p:cNvGrpSpPr>
            <p:nvPr/>
          </p:nvGrpSpPr>
          <p:grpSpPr bwMode="auto">
            <a:xfrm>
              <a:off x="1248" y="1200"/>
              <a:ext cx="384" cy="384"/>
              <a:chOff x="1248" y="1200"/>
              <a:chExt cx="384" cy="384"/>
            </a:xfrm>
          </p:grpSpPr>
          <p:grpSp>
            <p:nvGrpSpPr>
              <p:cNvPr id="58391" name="Group 149"/>
              <p:cNvGrpSpPr>
                <a:grpSpLocks/>
              </p:cNvGrpSpPr>
              <p:nvPr/>
            </p:nvGrpSpPr>
            <p:grpSpPr bwMode="auto">
              <a:xfrm>
                <a:off x="1248" y="1200"/>
                <a:ext cx="384" cy="384"/>
                <a:chOff x="2016" y="912"/>
                <a:chExt cx="384" cy="384"/>
              </a:xfrm>
            </p:grpSpPr>
            <p:sp>
              <p:nvSpPr>
                <p:cNvPr id="58393" name="Text Box 150"/>
                <p:cNvSpPr txBox="1">
                  <a:spLocks noChangeArrowheads="1"/>
                </p:cNvSpPr>
                <p:nvPr/>
              </p:nvSpPr>
              <p:spPr bwMode="gray">
                <a:xfrm>
                  <a:off x="2094" y="960"/>
                  <a:ext cx="22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30" name="Oval 151"/>
                <p:cNvSpPr>
                  <a:spLocks noChangeArrowheads="1"/>
                </p:cNvSpPr>
                <p:nvPr/>
              </p:nvSpPr>
              <p:spPr bwMode="gray">
                <a:xfrm>
                  <a:off x="2016" y="912"/>
                  <a:ext cx="384" cy="38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hlink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/>
              </p:spPr>
              <p:txBody>
                <a:bodyPr wrap="none"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31" name="Oval 152"/>
                <p:cNvSpPr>
                  <a:spLocks noChangeArrowheads="1"/>
                </p:cNvSpPr>
                <p:nvPr/>
              </p:nvSpPr>
              <p:spPr bwMode="gray">
                <a:xfrm>
                  <a:off x="2016" y="912"/>
                  <a:ext cx="384" cy="38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alpha val="32001"/>
                      </a:schemeClr>
                    </a:gs>
                    <a:gs pos="100000">
                      <a:schemeClr val="hlink">
                        <a:gamma/>
                        <a:shade val="0"/>
                        <a:invGamma/>
                        <a:alpha val="89999"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32" name="Oval 153"/>
                <p:cNvSpPr>
                  <a:spLocks noChangeArrowheads="1"/>
                </p:cNvSpPr>
                <p:nvPr/>
              </p:nvSpPr>
              <p:spPr bwMode="gray">
                <a:xfrm>
                  <a:off x="2034" y="918"/>
                  <a:ext cx="334" cy="33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33" name="Oval 154"/>
                <p:cNvSpPr>
                  <a:spLocks noChangeArrowheads="1"/>
                </p:cNvSpPr>
                <p:nvPr/>
              </p:nvSpPr>
              <p:spPr bwMode="gray">
                <a:xfrm>
                  <a:off x="2040" y="936"/>
                  <a:ext cx="334" cy="33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63529"/>
                        <a:invGamma/>
                      </a:schemeClr>
                    </a:gs>
                    <a:gs pos="100000">
                      <a:schemeClr val="hlink">
                        <a:alpha val="0"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58398" name="Oval 155"/>
                <p:cNvSpPr>
                  <a:spLocks noChangeArrowheads="1"/>
                </p:cNvSpPr>
                <p:nvPr/>
              </p:nvSpPr>
              <p:spPr bwMode="gray">
                <a:xfrm>
                  <a:off x="2052" y="948"/>
                  <a:ext cx="300" cy="300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399" name="Oval 156"/>
                <p:cNvSpPr>
                  <a:spLocks noChangeArrowheads="1"/>
                </p:cNvSpPr>
                <p:nvPr/>
              </p:nvSpPr>
              <p:spPr bwMode="gray">
                <a:xfrm>
                  <a:off x="2064" y="959"/>
                  <a:ext cx="291" cy="29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95959"/>
                    </a:gs>
                    <a:gs pos="100000">
                      <a:srgbClr val="C0C0C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00" name="Oval 157"/>
                <p:cNvSpPr>
                  <a:spLocks noChangeArrowheads="1"/>
                </p:cNvSpPr>
                <p:nvPr/>
              </p:nvSpPr>
              <p:spPr bwMode="gray">
                <a:xfrm>
                  <a:off x="2068" y="961"/>
                  <a:ext cx="283" cy="28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0C0C0">
                        <a:alpha val="0"/>
                      </a:srgbClr>
                    </a:gs>
                    <a:gs pos="100000">
                      <a:srgbClr val="E9E9E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01" name="Oval 158"/>
                <p:cNvSpPr>
                  <a:spLocks noChangeArrowheads="1"/>
                </p:cNvSpPr>
                <p:nvPr/>
              </p:nvSpPr>
              <p:spPr bwMode="gray">
                <a:xfrm>
                  <a:off x="2071" y="963"/>
                  <a:ext cx="270" cy="26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89898"/>
                    </a:gs>
                    <a:gs pos="100000">
                      <a:srgbClr val="C0C0C0">
                        <a:alpha val="48000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402" name="Oval 159"/>
                <p:cNvSpPr>
                  <a:spLocks noChangeArrowheads="1"/>
                </p:cNvSpPr>
                <p:nvPr/>
              </p:nvSpPr>
              <p:spPr bwMode="gray">
                <a:xfrm>
                  <a:off x="2086" y="971"/>
                  <a:ext cx="240" cy="2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>
                        <a:alpha val="37999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8392" name="Text Box 160"/>
              <p:cNvSpPr txBox="1">
                <a:spLocks noChangeArrowheads="1"/>
              </p:cNvSpPr>
              <p:nvPr/>
            </p:nvSpPr>
            <p:spPr bwMode="gray">
              <a:xfrm>
                <a:off x="1326" y="1248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</p:grpSp>
      </p:grpSp>
      <p:grpSp>
        <p:nvGrpSpPr>
          <p:cNvPr id="58372" name="Group 161"/>
          <p:cNvGrpSpPr>
            <a:grpSpLocks/>
          </p:cNvGrpSpPr>
          <p:nvPr/>
        </p:nvGrpSpPr>
        <p:grpSpPr bwMode="auto">
          <a:xfrm>
            <a:off x="2124075" y="3538538"/>
            <a:ext cx="5334000" cy="633412"/>
            <a:chOff x="1248" y="2326"/>
            <a:chExt cx="3360" cy="398"/>
          </a:xfrm>
        </p:grpSpPr>
        <p:sp>
          <p:nvSpPr>
            <p:cNvPr id="58373" name="Line 162"/>
            <p:cNvSpPr>
              <a:spLocks noChangeShapeType="1"/>
            </p:cNvSpPr>
            <p:nvPr/>
          </p:nvSpPr>
          <p:spPr bwMode="auto">
            <a:xfrm>
              <a:off x="1584" y="2662"/>
              <a:ext cx="3024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374" name="Text Box 163"/>
            <p:cNvSpPr txBox="1">
              <a:spLocks noChangeArrowheads="1"/>
            </p:cNvSpPr>
            <p:nvPr/>
          </p:nvSpPr>
          <p:spPr bwMode="auto">
            <a:xfrm>
              <a:off x="1728" y="2326"/>
              <a:ext cx="27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547688" indent="-22860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822325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096963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13716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1828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286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2743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2004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类模板</a:t>
              </a:r>
            </a:p>
          </p:txBody>
        </p:sp>
        <p:grpSp>
          <p:nvGrpSpPr>
            <p:cNvPr id="58375" name="Group 164"/>
            <p:cNvGrpSpPr>
              <a:grpSpLocks/>
            </p:cNvGrpSpPr>
            <p:nvPr/>
          </p:nvGrpSpPr>
          <p:grpSpPr bwMode="auto">
            <a:xfrm>
              <a:off x="1248" y="2340"/>
              <a:ext cx="384" cy="384"/>
              <a:chOff x="1248" y="1200"/>
              <a:chExt cx="384" cy="384"/>
            </a:xfrm>
          </p:grpSpPr>
          <p:grpSp>
            <p:nvGrpSpPr>
              <p:cNvPr id="58376" name="Group 165"/>
              <p:cNvGrpSpPr>
                <a:grpSpLocks/>
              </p:cNvGrpSpPr>
              <p:nvPr/>
            </p:nvGrpSpPr>
            <p:grpSpPr bwMode="auto">
              <a:xfrm>
                <a:off x="1248" y="1200"/>
                <a:ext cx="384" cy="384"/>
                <a:chOff x="2016" y="912"/>
                <a:chExt cx="384" cy="384"/>
              </a:xfrm>
            </p:grpSpPr>
            <p:sp>
              <p:nvSpPr>
                <p:cNvPr id="58378" name="Text Box 166"/>
                <p:cNvSpPr txBox="1">
                  <a:spLocks noChangeArrowheads="1"/>
                </p:cNvSpPr>
                <p:nvPr/>
              </p:nvSpPr>
              <p:spPr bwMode="gray">
                <a:xfrm>
                  <a:off x="2094" y="960"/>
                  <a:ext cx="22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15" name="Oval 167"/>
                <p:cNvSpPr>
                  <a:spLocks noChangeArrowheads="1"/>
                </p:cNvSpPr>
                <p:nvPr/>
              </p:nvSpPr>
              <p:spPr bwMode="gray">
                <a:xfrm>
                  <a:off x="2016" y="912"/>
                  <a:ext cx="384" cy="38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hlink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/>
              </p:spPr>
              <p:txBody>
                <a:bodyPr wrap="none"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16" name="Oval 168"/>
                <p:cNvSpPr>
                  <a:spLocks noChangeArrowheads="1"/>
                </p:cNvSpPr>
                <p:nvPr/>
              </p:nvSpPr>
              <p:spPr bwMode="gray">
                <a:xfrm>
                  <a:off x="2016" y="912"/>
                  <a:ext cx="384" cy="38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alpha val="32001"/>
                      </a:schemeClr>
                    </a:gs>
                    <a:gs pos="100000">
                      <a:schemeClr val="hlink">
                        <a:gamma/>
                        <a:shade val="0"/>
                        <a:invGamma/>
                        <a:alpha val="89999"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wrap="none"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17" name="Oval 169"/>
                <p:cNvSpPr>
                  <a:spLocks noChangeArrowheads="1"/>
                </p:cNvSpPr>
                <p:nvPr/>
              </p:nvSpPr>
              <p:spPr bwMode="gray">
                <a:xfrm>
                  <a:off x="2034" y="918"/>
                  <a:ext cx="334" cy="33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54118"/>
                        <a:invGamma/>
                      </a:schemeClr>
                    </a:gs>
                    <a:gs pos="50000">
                      <a:schemeClr val="hlink"/>
                    </a:gs>
                    <a:gs pos="100000">
                      <a:schemeClr val="hlink">
                        <a:gamma/>
                        <a:shade val="54118"/>
                        <a:invGamma/>
                      </a:schemeClr>
                    </a:gs>
                  </a:gsLst>
                  <a:lin ang="18900000" scaled="1"/>
                </a:gradFill>
                <a:ln>
                  <a:noFill/>
                </a:ln>
                <a:effectLst/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18" name="Oval 170"/>
                <p:cNvSpPr>
                  <a:spLocks noChangeArrowheads="1"/>
                </p:cNvSpPr>
                <p:nvPr/>
              </p:nvSpPr>
              <p:spPr bwMode="gray">
                <a:xfrm>
                  <a:off x="2040" y="936"/>
                  <a:ext cx="334" cy="33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shade val="63529"/>
                        <a:invGamma/>
                      </a:schemeClr>
                    </a:gs>
                    <a:gs pos="100000">
                      <a:schemeClr val="hlink">
                        <a:alpha val="0"/>
                      </a:schemeClr>
                    </a:gs>
                  </a:gsLst>
                  <a:lin ang="2700000" scaled="1"/>
                </a:gradFill>
                <a:ln>
                  <a:noFill/>
                </a:ln>
                <a:effectLst/>
              </p:spPr>
              <p:txBody>
                <a:bodyPr anchor="ctr">
                  <a:spAutoFit/>
                </a:bodyPr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sz="2400" b="1" kern="1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pPr eaLnBrk="1" hangingPunct="1">
                    <a:defRPr/>
                  </a:pPr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58383" name="Oval 171"/>
                <p:cNvSpPr>
                  <a:spLocks noChangeArrowheads="1"/>
                </p:cNvSpPr>
                <p:nvPr/>
              </p:nvSpPr>
              <p:spPr bwMode="gray">
                <a:xfrm>
                  <a:off x="2052" y="948"/>
                  <a:ext cx="300" cy="300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384" name="Oval 172"/>
                <p:cNvSpPr>
                  <a:spLocks noChangeArrowheads="1"/>
                </p:cNvSpPr>
                <p:nvPr/>
              </p:nvSpPr>
              <p:spPr bwMode="gray">
                <a:xfrm>
                  <a:off x="2064" y="959"/>
                  <a:ext cx="291" cy="29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595959"/>
                    </a:gs>
                    <a:gs pos="100000">
                      <a:srgbClr val="C0C0C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385" name="Oval 173"/>
                <p:cNvSpPr>
                  <a:spLocks noChangeArrowheads="1"/>
                </p:cNvSpPr>
                <p:nvPr/>
              </p:nvSpPr>
              <p:spPr bwMode="gray">
                <a:xfrm>
                  <a:off x="2068" y="961"/>
                  <a:ext cx="283" cy="283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C0C0C0">
                        <a:alpha val="0"/>
                      </a:srgbClr>
                    </a:gs>
                    <a:gs pos="100000">
                      <a:srgbClr val="E9E9E9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386" name="Oval 174"/>
                <p:cNvSpPr>
                  <a:spLocks noChangeArrowheads="1"/>
                </p:cNvSpPr>
                <p:nvPr/>
              </p:nvSpPr>
              <p:spPr bwMode="gray">
                <a:xfrm>
                  <a:off x="2071" y="963"/>
                  <a:ext cx="270" cy="26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89898"/>
                    </a:gs>
                    <a:gs pos="100000">
                      <a:srgbClr val="C0C0C0">
                        <a:alpha val="48000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58387" name="Oval 175"/>
                <p:cNvSpPr>
                  <a:spLocks noChangeArrowheads="1"/>
                </p:cNvSpPr>
                <p:nvPr/>
              </p:nvSpPr>
              <p:spPr bwMode="gray">
                <a:xfrm>
                  <a:off x="2086" y="971"/>
                  <a:ext cx="240" cy="21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C0C0C0">
                        <a:alpha val="37999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>
                    <a:spcBef>
                      <a:spcPts val="575"/>
                    </a:spcBef>
                    <a:buClr>
                      <a:schemeClr val="accent1"/>
                    </a:buClr>
                    <a:buSzPct val="85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547688" indent="-228600">
                    <a:spcBef>
                      <a:spcPts val="375"/>
                    </a:spcBef>
                    <a:buClr>
                      <a:schemeClr val="accent2"/>
                    </a:buClr>
                    <a:buSzPct val="85000"/>
                    <a:buFont typeface="Wingdings 2" panose="05020102010507070707" pitchFamily="18" charset="2"/>
                    <a:buChar char="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822325" indent="-228600">
                    <a:spcBef>
                      <a:spcPts val="375"/>
                    </a:spcBef>
                    <a:buClr>
                      <a:srgbClr val="E6B1AB"/>
                    </a:buClr>
                    <a:buSzPct val="85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096963" indent="-228600">
                    <a:spcBef>
                      <a:spcPts val="375"/>
                    </a:spcBef>
                    <a:buClr>
                      <a:srgbClr val="A28E6A"/>
                    </a:buClr>
                    <a:buSzPct val="8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1371600" indent="-228600">
                    <a:spcBef>
                      <a:spcPts val="375"/>
                    </a:spcBef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18288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2860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27432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200400" indent="-228600" eaLnBrk="0" fontAlgn="base" hangingPunct="0">
                    <a:spcBef>
                      <a:spcPts val="375"/>
                    </a:spcBef>
                    <a:spcAft>
                      <a:spcPct val="0"/>
                    </a:spcAft>
                    <a:buClr>
                      <a:srgbClr val="A28E6A"/>
                    </a:buClr>
                    <a:buChar char="o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8377" name="Text Box 176"/>
              <p:cNvSpPr txBox="1">
                <a:spLocks noChangeArrowheads="1"/>
              </p:cNvSpPr>
              <p:nvPr/>
            </p:nvSpPr>
            <p:spPr bwMode="gray">
              <a:xfrm>
                <a:off x="1326" y="1248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575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547688" indent="-228600">
                  <a:spcBef>
                    <a:spcPts val="375"/>
                  </a:spcBef>
                  <a:buClr>
                    <a:schemeClr val="accent2"/>
                  </a:buClr>
                  <a:buSzPct val="85000"/>
                  <a:buFont typeface="Wingdings 2" panose="05020102010507070707" pitchFamily="18" charset="2"/>
                  <a:buChar char="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822325" indent="-228600">
                  <a:spcBef>
                    <a:spcPts val="375"/>
                  </a:spcBef>
                  <a:buClr>
                    <a:srgbClr val="E6B1AB"/>
                  </a:buClr>
                  <a:buSzPct val="85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096963" indent="-228600">
                  <a:spcBef>
                    <a:spcPts val="375"/>
                  </a:spcBef>
                  <a:buClr>
                    <a:srgbClr val="A28E6A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1371600" indent="-228600">
                  <a:spcBef>
                    <a:spcPts val="375"/>
                  </a:spcBef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18288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2860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27432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200400" indent="-228600" eaLnBrk="0" fontAlgn="base" hangingPunct="0">
                  <a:spcBef>
                    <a:spcPts val="375"/>
                  </a:spcBef>
                  <a:spcAft>
                    <a:spcPct val="0"/>
                  </a:spcAft>
                  <a:buClr>
                    <a:srgbClr val="A28E6A"/>
                  </a:buClr>
                  <a:buChar char="o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</p:grp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7772400" cy="836613"/>
          </a:xfrm>
        </p:spPr>
        <p:txBody>
          <a:bodyPr/>
          <a:lstStyle/>
          <a:p>
            <a:pPr eaLnBrk="1" hangingPunct="1"/>
            <a:r>
              <a:rPr lang="en-US" altLang="zh-CN" dirty="0"/>
              <a:t>6.3.1  </a:t>
            </a:r>
            <a:r>
              <a:rPr lang="zh-CN" altLang="en-US" dirty="0"/>
              <a:t>类模板的概念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60038" y="1052736"/>
            <a:ext cx="8260433" cy="5665043"/>
          </a:xfrm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marL="609600" indent="-609600" algn="just" eaLnBrk="1" hangingPunct="1">
              <a:buFontTx/>
              <a:buNone/>
              <a:defRPr/>
            </a:pPr>
            <a:r>
              <a:rPr lang="en-US" altLang="zh-CN" sz="2800" dirty="0"/>
              <a:t>1</a:t>
            </a:r>
            <a:r>
              <a:rPr lang="zh-CN" altLang="en-US" sz="2800" dirty="0"/>
              <a:t>、</a:t>
            </a:r>
            <a:r>
              <a:rPr lang="en-US" altLang="zh-CN" sz="2800" dirty="0"/>
              <a:t> </a:t>
            </a:r>
            <a:r>
              <a:rPr lang="zh-CN" altLang="en-US" sz="2800" dirty="0"/>
              <a:t>类模板 </a:t>
            </a:r>
            <a:r>
              <a:rPr lang="en-US" altLang="zh-CN" sz="2800" dirty="0"/>
              <a:t>~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不是类！！！</a:t>
            </a:r>
          </a:p>
          <a:p>
            <a:pPr marL="457200" lvl="1" indent="-457200" eaLnBrk="1" hangingPunct="1">
              <a:defRPr/>
            </a:pPr>
            <a:r>
              <a:rPr lang="zh-CN" altLang="en-US" dirty="0">
                <a:solidFill>
                  <a:srgbClr val="FF0000"/>
                </a:solidFill>
              </a:rPr>
              <a:t>结构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成员</a:t>
            </a:r>
            <a:r>
              <a:rPr lang="zh-CN" altLang="en-US" dirty="0"/>
              <a:t>相同，但所处理的</a:t>
            </a:r>
            <a:r>
              <a:rPr lang="zh-CN" altLang="en-US" b="1" dirty="0">
                <a:solidFill>
                  <a:srgbClr val="FF0000"/>
                </a:solidFill>
              </a:rPr>
              <a:t>数据类型不同</a:t>
            </a:r>
            <a:r>
              <a:rPr lang="zh-CN" altLang="en-US" dirty="0"/>
              <a:t>的类的抽象。</a:t>
            </a:r>
            <a:endParaRPr lang="en-US" altLang="zh-CN" dirty="0"/>
          </a:p>
          <a:p>
            <a:pPr marL="457200" lvl="1" indent="-457200" eaLnBrk="1" hangingPunct="1">
              <a:defRPr/>
            </a:pPr>
            <a:endParaRPr lang="zh-CN" altLang="en-US" dirty="0"/>
          </a:p>
          <a:p>
            <a:pPr marL="447675" indent="-447675"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zh-CN" altLang="en-US" sz="2400" dirty="0"/>
              <a:t>声明</a:t>
            </a:r>
            <a:endParaRPr lang="en-US" altLang="zh-CN" sz="2400" dirty="0"/>
          </a:p>
          <a:p>
            <a:pPr marL="0" lvl="1" indent="-533400" eaLnBrk="1" hangingPunct="1">
              <a:buFontTx/>
              <a:buNone/>
              <a:defRPr/>
            </a:pPr>
            <a:endParaRPr lang="zh-CN" altLang="en-US" sz="2000" dirty="0"/>
          </a:p>
        </p:txBody>
      </p:sp>
      <p:sp>
        <p:nvSpPr>
          <p:cNvPr id="2" name="矩形 1"/>
          <p:cNvSpPr/>
          <p:nvPr/>
        </p:nvSpPr>
        <p:spPr>
          <a:xfrm>
            <a:off x="1619672" y="3284984"/>
            <a:ext cx="6410299" cy="2800767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marL="0" lvl="4" indent="0">
              <a:buFontTx/>
              <a:buNone/>
              <a:defRPr/>
            </a:pPr>
            <a:r>
              <a:rPr lang="en-US" altLang="zh-C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template</a:t>
            </a:r>
            <a:r>
              <a:rPr lang="en-US" altLang="zh-C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altLang="zh-C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altLang="zh-C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2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T1</a:t>
            </a:r>
            <a:r>
              <a:rPr lang="en-US" altLang="zh-C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altLang="zh-C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altLang="zh-C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2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T2</a:t>
            </a:r>
            <a:r>
              <a:rPr lang="en-US" altLang="zh-C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…&gt;</a:t>
            </a:r>
          </a:p>
          <a:p>
            <a:pPr marL="0" lvl="4" indent="0">
              <a:buFontTx/>
              <a:buNone/>
              <a:defRPr/>
            </a:pPr>
            <a:r>
              <a:rPr lang="en-US" altLang="zh-C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altLang="zh-C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zh-CN" altLang="en-US" sz="2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类名</a:t>
            </a:r>
            <a:r>
              <a:rPr lang="zh-CN" alt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endParaRPr lang="en-US" altLang="zh-CN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lvl="4" indent="0">
              <a:buFontTx/>
              <a:buNone/>
              <a:defRPr/>
            </a:pPr>
            <a:r>
              <a:rPr lang="en-US" altLang="zh-C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zh-CN" alt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访问权限：（</a:t>
            </a:r>
            <a:r>
              <a:rPr lang="en-US" altLang="zh-C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private/public/protected</a:t>
            </a:r>
            <a:r>
              <a:rPr lang="zh-CN" alt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）</a:t>
            </a:r>
            <a:endParaRPr lang="en-US" altLang="zh-CN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lvl="4" indent="0">
              <a:buFontTx/>
              <a:buNone/>
              <a:defRPr/>
            </a:pPr>
            <a:r>
              <a:rPr lang="en-US" altLang="zh-C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zh-CN" alt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成员变量</a:t>
            </a:r>
            <a:r>
              <a:rPr lang="en-US" altLang="zh-C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lvl="4" indent="0">
              <a:buFontTx/>
              <a:buNone/>
              <a:defRPr/>
            </a:pPr>
            <a:r>
              <a:rPr lang="zh-CN" alt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访问权限：（</a:t>
            </a:r>
            <a:r>
              <a:rPr lang="en-US" altLang="zh-C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private/public/protected</a:t>
            </a:r>
            <a:r>
              <a:rPr lang="zh-CN" alt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）</a:t>
            </a:r>
            <a:endParaRPr lang="en-US" altLang="zh-CN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lvl="4" indent="0">
              <a:buFontTx/>
              <a:buNone/>
              <a:defRPr/>
            </a:pPr>
            <a:r>
              <a:rPr lang="en-US" altLang="zh-C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zh-CN" alt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成员函数</a:t>
            </a:r>
            <a:r>
              <a:rPr lang="en-US" altLang="zh-C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lvl="4" indent="0">
              <a:buFontTx/>
              <a:buNone/>
              <a:defRPr/>
            </a:pPr>
            <a:r>
              <a:rPr lang="en-US" altLang="zh-C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……</a:t>
            </a:r>
          </a:p>
          <a:p>
            <a:pPr marL="0" lvl="4" indent="0">
              <a:buFontTx/>
              <a:buNone/>
              <a:defRPr/>
            </a:pPr>
            <a:r>
              <a:rPr lang="en-US" altLang="zh-C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};</a:t>
            </a:r>
            <a:endParaRPr lang="zh-CN" altLang="en-US" sz="5400" dirty="0"/>
          </a:p>
        </p:txBody>
      </p:sp>
      <p:sp>
        <p:nvSpPr>
          <p:cNvPr id="4" name="矩形 3"/>
          <p:cNvSpPr/>
          <p:nvPr/>
        </p:nvSpPr>
        <p:spPr>
          <a:xfrm>
            <a:off x="2627784" y="1052736"/>
            <a:ext cx="2304256" cy="504056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5714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 dirty="0"/>
              <a:t>6.3.1  </a:t>
            </a:r>
            <a:r>
              <a:rPr lang="zh-CN" altLang="en-US" dirty="0"/>
              <a:t>类模板的概念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990600" y="1619328"/>
            <a:ext cx="6408712" cy="3785652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template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&lt;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T&gt;    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Node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{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private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: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  T item; 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public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: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  T </a:t>
            </a:r>
            <a:r>
              <a:rPr lang="en-US" altLang="zh-CN" sz="2000" dirty="0" err="1">
                <a:solidFill>
                  <a:srgbClr val="000000"/>
                </a:solidFill>
                <a:latin typeface="Consolas" pitchFamily="49" charset="0"/>
              </a:rPr>
              <a:t>GetElem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();  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};</a:t>
            </a:r>
          </a:p>
          <a:p>
            <a:endParaRPr lang="zh-CN" altLang="en-US" sz="20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template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&lt;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T&gt;      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T Node&lt;T&gt;::</a:t>
            </a:r>
            <a:r>
              <a:rPr lang="en-US" altLang="zh-CN" sz="2000" dirty="0" err="1">
                <a:solidFill>
                  <a:srgbClr val="000000"/>
                </a:solidFill>
                <a:latin typeface="Consolas" pitchFamily="49" charset="0"/>
              </a:rPr>
              <a:t>GetElem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()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{  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item;    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</p:txBody>
      </p:sp>
      <p:sp>
        <p:nvSpPr>
          <p:cNvPr id="8" name="矩形 7"/>
          <p:cNvSpPr/>
          <p:nvPr/>
        </p:nvSpPr>
        <p:spPr>
          <a:xfrm>
            <a:off x="914400" y="1061385"/>
            <a:ext cx="4728134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eaLnBrk="1" hangingPunct="1">
              <a:lnSpc>
                <a:spcPct val="90000"/>
              </a:lnSpc>
              <a:spcBef>
                <a:spcPts val="600"/>
              </a:spcBef>
              <a:defRPr/>
            </a:pPr>
            <a:r>
              <a:rPr lang="zh-CN" altLang="en-US" sz="3200" dirty="0"/>
              <a:t>示例</a:t>
            </a:r>
            <a:r>
              <a:rPr lang="en-US" altLang="zh-CN" sz="3200" dirty="0"/>
              <a:t>: </a:t>
            </a:r>
            <a:r>
              <a:rPr lang="zh-CN" altLang="en-US" sz="3200" dirty="0"/>
              <a:t>类模板的定义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8073E71-2B93-FE8A-864E-39C7A20F0ABE}"/>
              </a:ext>
            </a:extLst>
          </p:cNvPr>
          <p:cNvSpPr txBox="1"/>
          <p:nvPr/>
        </p:nvSpPr>
        <p:spPr>
          <a:xfrm>
            <a:off x="918882" y="5638800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dirty="0">
                <a:latin typeface="+mn-ea"/>
                <a:ea typeface="+mn-ea"/>
              </a:rPr>
              <a:t>模板要写在</a:t>
            </a:r>
            <a:r>
              <a:rPr lang="en-US" altLang="zh-CN" sz="2000" dirty="0">
                <a:latin typeface="+mn-ea"/>
                <a:ea typeface="+mn-ea"/>
              </a:rPr>
              <a:t>h</a:t>
            </a:r>
            <a:r>
              <a:rPr lang="zh-CN" altLang="en-US" sz="2000" dirty="0">
                <a:latin typeface="+mn-ea"/>
                <a:ea typeface="+mn-ea"/>
              </a:rPr>
              <a:t>文件中</a:t>
            </a:r>
            <a:endParaRPr lang="en-US" altLang="zh-CN" sz="2000" dirty="0">
              <a:latin typeface="+mn-ea"/>
              <a:ea typeface="+mn-ea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dirty="0">
                <a:latin typeface="+mn-ea"/>
                <a:ea typeface="+mn-ea"/>
              </a:rPr>
              <a:t>模板的实现部分要写在</a:t>
            </a:r>
            <a:r>
              <a:rPr lang="en-US" altLang="zh-CN" sz="2000" dirty="0">
                <a:latin typeface="+mn-ea"/>
                <a:ea typeface="+mn-ea"/>
              </a:rPr>
              <a:t>h</a:t>
            </a:r>
            <a:r>
              <a:rPr lang="zh-CN" altLang="en-US" sz="2000" dirty="0">
                <a:latin typeface="+mn-ea"/>
                <a:ea typeface="+mn-ea"/>
              </a:rPr>
              <a:t>文件中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44463"/>
            <a:ext cx="7772400" cy="836612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/>
              <a:t>6.3.2</a:t>
            </a:r>
            <a:r>
              <a:rPr lang="zh-CN" altLang="en-US" dirty="0"/>
              <a:t>类模板的</a:t>
            </a:r>
            <a:r>
              <a:rPr lang="zh-CN" altLang="en-US" dirty="0">
                <a:solidFill>
                  <a:srgbClr val="FF0000"/>
                </a:solidFill>
              </a:rPr>
              <a:t>实例化</a:t>
            </a:r>
          </a:p>
        </p:txBody>
      </p:sp>
      <p:sp>
        <p:nvSpPr>
          <p:cNvPr id="6246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77932" y="1051633"/>
            <a:ext cx="7772400" cy="1727200"/>
          </a:xfrm>
        </p:spPr>
        <p:txBody>
          <a:bodyPr/>
          <a:lstStyle/>
          <a:p>
            <a:pPr lvl="1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solidFill>
                  <a:srgbClr val="FF0000"/>
                </a:solidFill>
              </a:rPr>
              <a:t>类模板</a:t>
            </a:r>
            <a:r>
              <a:rPr lang="zh-CN" altLang="en-US" dirty="0"/>
              <a:t>定义</a:t>
            </a:r>
            <a:r>
              <a:rPr lang="zh-CN" altLang="en-US" dirty="0">
                <a:solidFill>
                  <a:srgbClr val="FF0000"/>
                </a:solidFill>
              </a:rPr>
              <a:t>对象</a:t>
            </a:r>
            <a:endParaRPr lang="en-US" altLang="zh-CN" dirty="0"/>
          </a:p>
        </p:txBody>
      </p:sp>
      <p:sp>
        <p:nvSpPr>
          <p:cNvPr id="62467" name="Rectangle 3"/>
          <p:cNvSpPr txBox="1">
            <a:spLocks noChangeArrowheads="1"/>
          </p:cNvSpPr>
          <p:nvPr/>
        </p:nvSpPr>
        <p:spPr bwMode="auto">
          <a:xfrm>
            <a:off x="1711793" y="2756757"/>
            <a:ext cx="5376248" cy="776287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447675" indent="-447675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990600" indent="-53340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822325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341438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3716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1828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286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743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004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marL="0" lvl="3" indent="0"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类模板名</a:t>
            </a:r>
            <a:r>
              <a:rPr lang="en-US" altLang="zh-CN" sz="2400" dirty="0"/>
              <a:t>&lt;</a:t>
            </a:r>
            <a:r>
              <a:rPr lang="zh-CN" altLang="en-US" sz="2400" dirty="0">
                <a:solidFill>
                  <a:srgbClr val="FF0000"/>
                </a:solidFill>
              </a:rPr>
              <a:t>模板参数名表</a:t>
            </a:r>
            <a:r>
              <a:rPr lang="en-US" altLang="zh-CN" sz="2400" dirty="0"/>
              <a:t>&gt;  </a:t>
            </a:r>
            <a:r>
              <a:rPr lang="zh-CN" altLang="en-US" sz="2400" dirty="0"/>
              <a:t>类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对象</a:t>
            </a:r>
            <a:r>
              <a:rPr lang="zh-CN" altLang="en-US" sz="2400" dirty="0"/>
              <a:t>名称</a:t>
            </a:r>
            <a:r>
              <a:rPr lang="en-US" altLang="zh-CN" sz="2400" dirty="0"/>
              <a:t>;</a:t>
            </a:r>
          </a:p>
          <a:p>
            <a:pPr marL="0" lvl="1" indent="0" eaLnBrk="1" hangingPunct="1">
              <a:buFontTx/>
              <a:buNone/>
            </a:pPr>
            <a:endParaRPr lang="zh-CN" altLang="en-US" sz="2000" dirty="0"/>
          </a:p>
        </p:txBody>
      </p:sp>
      <p:sp>
        <p:nvSpPr>
          <p:cNvPr id="2" name="矩形 1"/>
          <p:cNvSpPr/>
          <p:nvPr/>
        </p:nvSpPr>
        <p:spPr>
          <a:xfrm>
            <a:off x="5484683" y="2164455"/>
            <a:ext cx="2811988" cy="4985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必须显式实例化</a:t>
            </a:r>
            <a:endParaRPr lang="en-US" altLang="zh-CN" dirty="0"/>
          </a:p>
        </p:txBody>
      </p:sp>
      <p:sp>
        <p:nvSpPr>
          <p:cNvPr id="3" name="矩形 2"/>
          <p:cNvSpPr/>
          <p:nvPr/>
        </p:nvSpPr>
        <p:spPr>
          <a:xfrm>
            <a:off x="2924264" y="1692094"/>
            <a:ext cx="3801041" cy="4985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dirty="0"/>
              <a:t>引起类模板的实例化 。</a:t>
            </a:r>
            <a:endParaRPr lang="en-US" altLang="zh-CN" dirty="0"/>
          </a:p>
        </p:txBody>
      </p:sp>
      <p:cxnSp>
        <p:nvCxnSpPr>
          <p:cNvPr id="5" name="直接箭头连接符 4"/>
          <p:cNvCxnSpPr/>
          <p:nvPr/>
        </p:nvCxnSpPr>
        <p:spPr>
          <a:xfrm flipH="1">
            <a:off x="5004048" y="2413754"/>
            <a:ext cx="936104" cy="3790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577932" y="4596404"/>
            <a:ext cx="802907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547688" indent="-22860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822325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096963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13716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1828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286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2743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2004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lvl="1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dirty="0"/>
              <a:t>在不定义任何对象的时候，可进行</a:t>
            </a:r>
            <a:r>
              <a:rPr lang="zh-CN" altLang="en-US" dirty="0">
                <a:solidFill>
                  <a:srgbClr val="FF0000"/>
                </a:solidFill>
              </a:rPr>
              <a:t>显式</a:t>
            </a:r>
            <a:r>
              <a:rPr lang="zh-CN" altLang="en-US" dirty="0"/>
              <a:t>实例化声明：</a:t>
            </a:r>
            <a:endParaRPr lang="en-US" altLang="zh-CN" dirty="0"/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zh-CN" altLang="en-US" sz="1600" dirty="0">
              <a:solidFill>
                <a:srgbClr val="0000FF"/>
              </a:solidFill>
              <a:latin typeface="Consolas" pitchFamily="49" charset="0"/>
            </a:endParaRPr>
          </a:p>
        </p:txBody>
      </p:sp>
      <p:sp>
        <p:nvSpPr>
          <p:cNvPr id="13" name="矩形 3"/>
          <p:cNvSpPr>
            <a:spLocks noChangeArrowheads="1"/>
          </p:cNvSpPr>
          <p:nvPr/>
        </p:nvSpPr>
        <p:spPr bwMode="auto">
          <a:xfrm>
            <a:off x="1219200" y="5215689"/>
            <a:ext cx="60131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</a:rPr>
              <a:t>template class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</a:rPr>
              <a:t> Node&lt;Employee&gt;;</a:t>
            </a:r>
            <a:endParaRPr lang="zh-CN" altLang="en-US" sz="2800" dirty="0"/>
          </a:p>
        </p:txBody>
      </p:sp>
      <p:sp>
        <p:nvSpPr>
          <p:cNvPr id="4" name="矩形 3"/>
          <p:cNvSpPr/>
          <p:nvPr/>
        </p:nvSpPr>
        <p:spPr>
          <a:xfrm>
            <a:off x="5484682" y="3773303"/>
            <a:ext cx="326378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/>
              <a:t>定义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指针</a:t>
            </a:r>
            <a:r>
              <a:rPr lang="zh-CN" altLang="en-US" sz="2000" dirty="0"/>
              <a:t>时</a:t>
            </a:r>
            <a:r>
              <a:rPr lang="zh-CN" altLang="en-US" sz="2000" dirty="0">
                <a:solidFill>
                  <a:srgbClr val="FF0000"/>
                </a:solidFill>
              </a:rPr>
              <a:t>不会</a:t>
            </a:r>
            <a:r>
              <a:rPr lang="zh-CN" altLang="en-US" sz="2000" dirty="0"/>
              <a:t>引起实例化</a:t>
            </a:r>
            <a:endParaRPr lang="en-US" altLang="zh-CN" sz="2000" dirty="0"/>
          </a:p>
        </p:txBody>
      </p:sp>
      <p:cxnSp>
        <p:nvCxnSpPr>
          <p:cNvPr id="8" name="直接箭头连接符 7"/>
          <p:cNvCxnSpPr/>
          <p:nvPr/>
        </p:nvCxnSpPr>
        <p:spPr>
          <a:xfrm flipH="1" flipV="1">
            <a:off x="5940152" y="3190803"/>
            <a:ext cx="216024" cy="585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6.3.2</a:t>
            </a:r>
            <a:r>
              <a:rPr lang="zh-CN" altLang="en-US" dirty="0"/>
              <a:t>类模板的</a:t>
            </a:r>
            <a:r>
              <a:rPr lang="zh-CN" altLang="en-US" dirty="0">
                <a:solidFill>
                  <a:srgbClr val="FF0000"/>
                </a:solidFill>
              </a:rPr>
              <a:t>实例化</a:t>
            </a:r>
            <a:endParaRPr lang="zh-CN" altLang="en-US" dirty="0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447800" y="1752600"/>
            <a:ext cx="6408712" cy="4401205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template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&lt;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T&gt;    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Node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{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private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: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  T item; 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public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: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  T </a:t>
            </a:r>
            <a:r>
              <a:rPr lang="en-US" altLang="zh-CN" sz="2000" dirty="0" err="1">
                <a:solidFill>
                  <a:srgbClr val="000000"/>
                </a:solidFill>
                <a:latin typeface="Consolas" pitchFamily="49" charset="0"/>
              </a:rPr>
              <a:t>GetElem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();  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};</a:t>
            </a:r>
          </a:p>
          <a:p>
            <a:endParaRPr lang="zh-CN" altLang="en-US" sz="20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template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&lt;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T&gt;      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T Node&lt;T&gt;::</a:t>
            </a:r>
            <a:r>
              <a:rPr lang="en-US" altLang="zh-CN" sz="2000" dirty="0" err="1">
                <a:solidFill>
                  <a:srgbClr val="000000"/>
                </a:solidFill>
                <a:latin typeface="Consolas" pitchFamily="49" charset="0"/>
              </a:rPr>
              <a:t>GetElem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() 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{  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item;    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  <a:p>
            <a:endParaRPr lang="en-US" altLang="zh-CN" sz="20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Node&lt;</a:t>
            </a:r>
            <a:r>
              <a:rPr lang="en-US" altLang="zh-CN" sz="20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&gt; </a:t>
            </a:r>
            <a:r>
              <a:rPr lang="en-US" altLang="zh-CN" sz="20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oneNode</a:t>
            </a:r>
            <a:r>
              <a:rPr lang="en-US" altLang="zh-CN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;</a:t>
            </a:r>
          </a:p>
        </p:txBody>
      </p:sp>
      <p:sp>
        <p:nvSpPr>
          <p:cNvPr id="8" name="矩形 7"/>
          <p:cNvSpPr/>
          <p:nvPr/>
        </p:nvSpPr>
        <p:spPr>
          <a:xfrm>
            <a:off x="1066800" y="1219200"/>
            <a:ext cx="4728134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eaLnBrk="1" hangingPunct="1">
              <a:lnSpc>
                <a:spcPct val="90000"/>
              </a:lnSpc>
              <a:spcBef>
                <a:spcPts val="600"/>
              </a:spcBef>
              <a:defRPr/>
            </a:pPr>
            <a:r>
              <a:rPr lang="zh-CN" altLang="en-US" sz="2400" dirty="0">
                <a:latin typeface="+mn-ea"/>
                <a:ea typeface="+mn-ea"/>
              </a:rPr>
              <a:t>示例</a:t>
            </a:r>
            <a:r>
              <a:rPr lang="en-US" altLang="zh-CN" sz="2400" dirty="0">
                <a:latin typeface="+mn-ea"/>
                <a:ea typeface="+mn-ea"/>
              </a:rPr>
              <a:t>: </a:t>
            </a:r>
            <a:r>
              <a:rPr lang="zh-CN" altLang="en-US" sz="2400" dirty="0">
                <a:latin typeface="+mn-ea"/>
                <a:ea typeface="+mn-ea"/>
              </a:rPr>
              <a:t>用模板类定义对象</a:t>
            </a:r>
          </a:p>
        </p:txBody>
      </p:sp>
    </p:spTree>
    <p:extLst>
      <p:ext uri="{BB962C8B-B14F-4D97-AF65-F5344CB8AC3E}">
        <p14:creationId xmlns:p14="http://schemas.microsoft.com/office/powerpoint/2010/main" val="29767318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44463"/>
            <a:ext cx="7772400" cy="836612"/>
          </a:xfrm>
        </p:spPr>
        <p:txBody>
          <a:bodyPr/>
          <a:lstStyle/>
          <a:p>
            <a:r>
              <a:rPr lang="en-US" altLang="zh-CN" dirty="0"/>
              <a:t>6.3.2</a:t>
            </a:r>
            <a:r>
              <a:rPr lang="zh-CN" altLang="en-US" dirty="0"/>
              <a:t>类模板的</a:t>
            </a:r>
            <a:r>
              <a:rPr lang="zh-CN" altLang="en-US" dirty="0">
                <a:solidFill>
                  <a:schemeClr val="tx1"/>
                </a:solidFill>
              </a:rPr>
              <a:t>实例化</a:t>
            </a:r>
          </a:p>
        </p:txBody>
      </p:sp>
      <p:sp>
        <p:nvSpPr>
          <p:cNvPr id="6144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724229" y="3414628"/>
            <a:ext cx="3735230" cy="1626446"/>
          </a:xfrm>
        </p:spPr>
        <p:txBody>
          <a:bodyPr/>
          <a:lstStyle/>
          <a:p>
            <a:pPr algn="ctr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 2" panose="05020102010507070707" pitchFamily="18" charset="2"/>
              <a:buNone/>
            </a:pPr>
            <a:r>
              <a:rPr lang="zh-CN" altLang="en-US" sz="2800" dirty="0"/>
              <a:t>类模板的</a:t>
            </a:r>
            <a:r>
              <a:rPr lang="zh-CN" altLang="en-US" sz="2800" dirty="0">
                <a:solidFill>
                  <a:srgbClr val="FF0000"/>
                </a:solidFill>
              </a:rPr>
              <a:t>实例化（</a:t>
            </a:r>
            <a:r>
              <a:rPr lang="en-US" altLang="zh-CN" sz="2800" dirty="0" err="1">
                <a:solidFill>
                  <a:srgbClr val="FF0000"/>
                </a:solidFill>
              </a:rPr>
              <a:t>instancialization</a:t>
            </a:r>
            <a:r>
              <a:rPr lang="zh-CN" altLang="en-US" sz="2800" dirty="0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61443" name="Text Box 3"/>
          <p:cNvSpPr txBox="1">
            <a:spLocks noChangeArrowheads="1"/>
          </p:cNvSpPr>
          <p:nvPr/>
        </p:nvSpPr>
        <p:spPr bwMode="auto">
          <a:xfrm>
            <a:off x="2483372" y="2492375"/>
            <a:ext cx="1800795" cy="462307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类模板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2555380" y="3991794"/>
            <a:ext cx="1728787" cy="460375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类</a:t>
            </a: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2556888" y="5501020"/>
            <a:ext cx="1728787" cy="460375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</a:rPr>
              <a:t>对象</a:t>
            </a:r>
            <a:endParaRPr kumimoji="1" lang="zh-CN" altLang="en-US" sz="2400" b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1403648" y="3246526"/>
            <a:ext cx="2016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实例化</a:t>
            </a:r>
            <a:endParaRPr kumimoji="1" lang="zh-CN" altLang="en-US" sz="2400" b="1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1434295" y="4740237"/>
            <a:ext cx="2016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实例化</a:t>
            </a:r>
            <a:endParaRPr kumimoji="1" lang="zh-CN" altLang="en-US" sz="2400" b="1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Line 11"/>
          <p:cNvSpPr>
            <a:spLocks noChangeShapeType="1"/>
          </p:cNvSpPr>
          <p:nvPr/>
        </p:nvSpPr>
        <p:spPr bwMode="auto">
          <a:xfrm flipH="1">
            <a:off x="3417062" y="2964953"/>
            <a:ext cx="2414" cy="103677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/>
          </a:p>
        </p:txBody>
      </p:sp>
      <p:sp>
        <p:nvSpPr>
          <p:cNvPr id="16" name="Line 12"/>
          <p:cNvSpPr>
            <a:spLocks noChangeShapeType="1"/>
          </p:cNvSpPr>
          <p:nvPr/>
        </p:nvSpPr>
        <p:spPr bwMode="auto">
          <a:xfrm>
            <a:off x="3417063" y="4455856"/>
            <a:ext cx="0" cy="104516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92075" tIns="46038" rIns="92075" bIns="46038" anchor="ctr">
            <a:spAutoFit/>
          </a:bodyPr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284167" y="3990504"/>
            <a:ext cx="1869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（模板类）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1547268" y="2204864"/>
            <a:ext cx="4392488" cy="2376264"/>
          </a:xfrm>
          <a:prstGeom prst="roundRect">
            <a:avLst>
              <a:gd name="adj" fmla="val 9474"/>
            </a:avLst>
          </a:prstGeom>
          <a:solidFill>
            <a:srgbClr val="FF000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 bwMode="auto">
          <a:xfrm>
            <a:off x="971600" y="1297186"/>
            <a:ext cx="734597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1" fontAlgn="base" hangingPunct="1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kumimoji="1" sz="2600" kern="1200">
                <a:solidFill>
                  <a:schemeClr val="tx1"/>
                </a:solidFill>
                <a:latin typeface="+mn-lt"/>
                <a:ea typeface="宋体" charset="0"/>
                <a:cs typeface="宋体" charset="0"/>
              </a:defRPr>
            </a:lvl1pPr>
            <a:lvl2pPr marL="547688" indent="-22860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kumimoji="1" sz="2400" kern="12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2pPr>
            <a:lvl3pPr marL="822325" indent="-22860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kumimoji="1" sz="2000" kern="12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3pPr>
            <a:lvl4pPr marL="1096963" indent="-22860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kumimoji="1" sz="2000" kern="12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4pPr>
            <a:lvl5pPr marL="1371600" indent="-228600" algn="l" rtl="0" eaLnBrk="1" fontAlgn="base" hangingPunct="1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kumimoji="1" sz="2000" kern="1200">
                <a:solidFill>
                  <a:schemeClr val="tx1"/>
                </a:solidFill>
                <a:latin typeface="+mn-lt"/>
                <a:ea typeface="宋体" charset="0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 2" panose="05020102010507070707" pitchFamily="18" charset="2"/>
              <a:buNone/>
            </a:pPr>
            <a:r>
              <a:rPr lang="zh-CN" altLang="en-US" sz="2400" dirty="0"/>
              <a:t>用类模板定义对象时，编译器生成对象的过程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5486400" y="3831395"/>
            <a:ext cx="792088" cy="219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1" grpId="0" build="p"/>
      <p:bldP spid="9" grpId="0" animBg="1"/>
      <p:bldP spid="10" grpId="0" animBg="1"/>
      <p:bldP spid="12" grpId="0"/>
      <p:bldP spid="13" grpId="0"/>
      <p:bldP spid="2" grpId="0"/>
      <p:bldP spid="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A2E8F510-4F07-5B1B-70D8-2B0EA0D806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类模板例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F614A267-1423-93B4-B854-37FD326B85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可以存放多种数据的通用类 </a:t>
            </a:r>
          </a:p>
        </p:txBody>
      </p:sp>
      <p:sp>
        <p:nvSpPr>
          <p:cNvPr id="24580" name="Text Box 4">
            <a:extLst>
              <a:ext uri="{FF2B5EF4-FFF2-40B4-BE49-F238E27FC236}">
                <a16:creationId xmlns:a16="http://schemas.microsoft.com/office/drawing/2014/main" id="{F04A6514-52D9-DD82-D8E1-16771C6536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5715000"/>
            <a:ext cx="45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hlinkClick r:id="rId2" action="ppaction://hlinksldjump"/>
              </a:rPr>
              <a:t>&lt;&lt;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898343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EFD7C35-0950-656A-C984-50D7A0FC34EE}"/>
              </a:ext>
            </a:extLst>
          </p:cNvPr>
          <p:cNvSpPr/>
          <p:nvPr/>
        </p:nvSpPr>
        <p:spPr>
          <a:xfrm>
            <a:off x="152400" y="152400"/>
            <a:ext cx="3429000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#include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iostream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&gt;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using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namespace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std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>
              <a:defRPr/>
            </a:pP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struct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Student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id;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 float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gpa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template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&lt;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typename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Store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item;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haveValue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175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public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447675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Store();</a:t>
            </a:r>
          </a:p>
          <a:p>
            <a:pPr marL="447675"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GetElem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();</a:t>
            </a:r>
          </a:p>
          <a:p>
            <a:pPr marL="447675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PutElem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x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};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A619772-AC99-E715-7FB9-9AD909531159}"/>
              </a:ext>
            </a:extLst>
          </p:cNvPr>
          <p:cNvSpPr/>
          <p:nvPr/>
        </p:nvSpPr>
        <p:spPr>
          <a:xfrm>
            <a:off x="152400" y="3001275"/>
            <a:ext cx="3429000" cy="32316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template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&lt;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typename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Store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&gt;::Store():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haveValue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(0)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{}</a:t>
            </a:r>
          </a:p>
          <a:p>
            <a:pPr>
              <a:defRPr/>
            </a:pPr>
            <a:endParaRPr lang="en-US" altLang="zh-CN" sz="1200" dirty="0">
              <a:solidFill>
                <a:srgbClr val="0000FF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template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&lt;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typename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Store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&gt;::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GetElem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()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(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haveValue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== 0)</a:t>
            </a:r>
          </a:p>
          <a:p>
            <a:pPr marL="447675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</a:t>
            </a:r>
            <a:r>
              <a:rPr lang="pt-BR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pt-BR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pt-BR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"No item present!\n"</a:t>
            </a:r>
            <a:r>
              <a:rPr lang="pt-BR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904875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exit(1);</a:t>
            </a:r>
          </a:p>
          <a:p>
            <a:pPr marL="447675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447675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item;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template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&lt;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typename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Store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&gt;::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PutElem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x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haveValue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++;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item = </a:t>
            </a: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x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CCABD09-187A-191D-E3B3-A0F53251AD26}"/>
              </a:ext>
            </a:extLst>
          </p:cNvPr>
          <p:cNvSpPr/>
          <p:nvPr/>
        </p:nvSpPr>
        <p:spPr>
          <a:xfrm>
            <a:off x="3657600" y="244733"/>
            <a:ext cx="5410200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main()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 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Student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g = { 1000,23 };</a:t>
            </a:r>
          </a:p>
          <a:p>
            <a:pPr marL="441325"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Store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 S1, S2;</a:t>
            </a:r>
          </a:p>
          <a:p>
            <a:pPr marL="441325"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Store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Student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 S3;</a:t>
            </a:r>
          </a:p>
          <a:p>
            <a:pPr marL="441325"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Store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double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 D;</a:t>
            </a:r>
          </a:p>
          <a:p>
            <a:pPr marL="441325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S1.PutElem(3);</a:t>
            </a:r>
          </a:p>
          <a:p>
            <a:pPr marL="441325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S2.PutElem(-7);</a:t>
            </a:r>
          </a:p>
          <a:p>
            <a:pPr marL="441325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S1.GetElem()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 "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S2.GetElem()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1325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S3.PutElem(g);</a:t>
            </a:r>
          </a:p>
          <a:p>
            <a:pPr marL="441325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"The student id is "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S3.GetElem().id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1325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"Retrieving object D: 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1325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D.GetElem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()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441325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0;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  <a:endParaRPr lang="zh-CN" altLang="en-US" sz="1200" dirty="0">
              <a:latin typeface="Consolas" panose="020B0609020204030204" pitchFamily="49" charset="0"/>
            </a:endParaRPr>
          </a:p>
        </p:txBody>
      </p:sp>
      <p:sp>
        <p:nvSpPr>
          <p:cNvPr id="26627" name="矩形 4">
            <a:extLst>
              <a:ext uri="{FF2B5EF4-FFF2-40B4-BE49-F238E27FC236}">
                <a16:creationId xmlns:a16="http://schemas.microsoft.com/office/drawing/2014/main" id="{B5B23F8E-5494-40EA-B106-0F0706A32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617102"/>
            <a:ext cx="3733800" cy="738664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3 -7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The student id is 1000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Retrieving object D: No item present!</a:t>
            </a:r>
          </a:p>
        </p:txBody>
      </p:sp>
    </p:spTree>
    <p:extLst>
      <p:ext uri="{BB962C8B-B14F-4D97-AF65-F5344CB8AC3E}">
        <p14:creationId xmlns:p14="http://schemas.microsoft.com/office/powerpoint/2010/main" val="23694547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9A6714EE-A9F9-4F09-C63B-BB1ED592AD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类模板例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FA2DCF92-F11E-E633-EEDC-7CA43D2318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通用数组模板类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问题</a:t>
            </a:r>
          </a:p>
          <a:p>
            <a:pPr lvl="1"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拷贝构造函数：浅拷贝与深拷贝</a:t>
            </a:r>
          </a:p>
          <a:p>
            <a:pPr lvl="1"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值得关注的运算符重载</a:t>
            </a:r>
          </a:p>
          <a:p>
            <a:pPr lvl="2"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重载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”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”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，返回引用</a:t>
            </a:r>
          </a:p>
          <a:p>
            <a:pPr lvl="2"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重载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“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[]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”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，返回引用</a:t>
            </a:r>
          </a:p>
          <a:p>
            <a:pPr lvl="2"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重载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“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T *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”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652" name="Text Box 4">
            <a:extLst>
              <a:ext uri="{FF2B5EF4-FFF2-40B4-BE49-F238E27FC236}">
                <a16:creationId xmlns:a16="http://schemas.microsoft.com/office/drawing/2014/main" id="{3E200BB5-027C-91F8-8306-AD02F91335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5715000"/>
            <a:ext cx="450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hlinkClick r:id="rId2" action="ppaction://hlinksldjump"/>
              </a:rPr>
              <a:t>&lt;&lt;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16100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组合 8">
            <a:extLst>
              <a:ext uri="{FF2B5EF4-FFF2-40B4-BE49-F238E27FC236}">
                <a16:creationId xmlns:a16="http://schemas.microsoft.com/office/drawing/2014/main" id="{54F20C15-2231-08F5-112C-57C334270DE3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0"/>
            <a:ext cx="8610600" cy="3025710"/>
            <a:chOff x="76200" y="240268"/>
            <a:chExt cx="8610600" cy="3025416"/>
          </a:xfrm>
        </p:grpSpPr>
        <p:sp>
          <p:nvSpPr>
            <p:cNvPr id="28676" name="矩形 3">
              <a:extLst>
                <a:ext uri="{FF2B5EF4-FFF2-40B4-BE49-F238E27FC236}">
                  <a16:creationId xmlns:a16="http://schemas.microsoft.com/office/drawing/2014/main" id="{3B7E1BAC-4D01-425A-7B0E-57A0E16D50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" y="588288"/>
              <a:ext cx="8610600" cy="267739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anose="05020102010507070707" pitchFamily="18" charset="2"/>
                <a:buChar char=""/>
                <a:defRPr sz="32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anose="05020102010507070707" pitchFamily="18" charset="2"/>
                <a:buChar char="³"/>
                <a:defRPr sz="28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anose="05020102010507070707" pitchFamily="18" charset="2"/>
                <a:buChar char="®"/>
                <a:defRPr sz="24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anose="05020102010507070707" pitchFamily="18" charset="2"/>
                <a:buChar char="¯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80808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#ifndef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ARRAY_CLASS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80808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#define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</a:t>
              </a:r>
              <a:r>
                <a:rPr lang="en-US" altLang="zh-CN" sz="1200" dirty="0">
                  <a:solidFill>
                    <a:srgbClr val="6F008A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ARRAY_CLASS</a:t>
              </a:r>
              <a:endPara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80808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#include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</a:t>
              </a:r>
              <a:r>
                <a:rPr lang="en-US" altLang="zh-CN" sz="1200" dirty="0">
                  <a:solidFill>
                    <a:srgbClr val="A31515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&lt;iostream&gt;</a:t>
              </a:r>
              <a:endPara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80808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#include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</a:t>
              </a:r>
              <a:r>
                <a:rPr lang="en-US" altLang="zh-CN" sz="1200" dirty="0">
                  <a:solidFill>
                    <a:srgbClr val="A31515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&lt;string&gt;</a:t>
              </a:r>
              <a:endPara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80808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#include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</a:t>
              </a:r>
              <a:r>
                <a:rPr lang="en-US" altLang="zh-CN" sz="1200" dirty="0">
                  <a:solidFill>
                    <a:srgbClr val="A31515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&lt;</a:t>
              </a:r>
              <a:r>
                <a:rPr lang="en-US" altLang="zh-CN" sz="1200" dirty="0" err="1">
                  <a:solidFill>
                    <a:srgbClr val="A31515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iomanip</a:t>
              </a:r>
              <a:r>
                <a:rPr lang="en-US" altLang="zh-CN" sz="1200" dirty="0">
                  <a:solidFill>
                    <a:srgbClr val="A31515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&gt;</a:t>
              </a:r>
              <a:endPara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0000FF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using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</a:t>
              </a:r>
              <a:r>
                <a:rPr lang="en-US" altLang="zh-CN" sz="1200" dirty="0">
                  <a:solidFill>
                    <a:srgbClr val="0000FF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namespace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std;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80808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#ifndef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</a:t>
              </a:r>
              <a:r>
                <a:rPr lang="en-US" altLang="zh-CN" sz="1200" dirty="0">
                  <a:solidFill>
                    <a:srgbClr val="6F008A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NULL</a:t>
              </a:r>
              <a:endPara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0000FF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const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</a:t>
              </a:r>
              <a:r>
                <a:rPr lang="en-US" altLang="zh-CN" sz="1200" dirty="0">
                  <a:solidFill>
                    <a:srgbClr val="0000FF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int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NULL = 0;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80808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#endif</a:t>
              </a:r>
              <a:endPara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008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//</a:t>
              </a:r>
              <a:r>
                <a:rPr lang="zh-CN" altLang="en-US" sz="1200" dirty="0">
                  <a:solidFill>
                    <a:srgbClr val="008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错误类型集合</a:t>
              </a:r>
              <a:endPara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 err="1">
                  <a:solidFill>
                    <a:srgbClr val="0000FF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enum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</a:t>
              </a:r>
              <a:r>
                <a:rPr lang="en-US" altLang="zh-CN" sz="1200" dirty="0" err="1">
                  <a:solidFill>
                    <a:srgbClr val="2B91AF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ErrorType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{</a:t>
              </a:r>
              <a:r>
                <a:rPr lang="en-US" altLang="zh-CN" sz="1200" dirty="0" err="1">
                  <a:solidFill>
                    <a:srgbClr val="2F4F4F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invalidArraySize</a:t>
              </a:r>
              <a:r>
                <a:rPr lang="en-US" altLang="zh-CN" sz="12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,</a:t>
              </a:r>
              <a:r>
                <a:rPr lang="en-US" altLang="zh-CN" sz="1200" dirty="0" err="1">
                  <a:solidFill>
                    <a:srgbClr val="2F4F4F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memoryAllocationError</a:t>
              </a:r>
              <a:r>
                <a:rPr lang="en-US" altLang="zh-CN" sz="12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,</a:t>
              </a:r>
              <a:r>
                <a:rPr lang="en-US" altLang="zh-CN" sz="1200" dirty="0" err="1">
                  <a:solidFill>
                    <a:srgbClr val="2F4F4F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indexOutOfRange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};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008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//</a:t>
              </a:r>
              <a:r>
                <a:rPr lang="zh-CN" altLang="en-US" sz="1200" dirty="0">
                  <a:solidFill>
                    <a:srgbClr val="008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错误信息</a:t>
              </a:r>
              <a:endPara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0000FF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const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</a:t>
              </a:r>
              <a:r>
                <a:rPr lang="en-US" altLang="zh-CN" sz="1200" dirty="0">
                  <a:solidFill>
                    <a:srgbClr val="0000FF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char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* </a:t>
              </a:r>
              <a:r>
                <a:rPr lang="en-US" altLang="zh-CN" sz="12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errorMsg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[] ={</a:t>
              </a:r>
              <a:r>
                <a:rPr lang="en-US" altLang="zh-CN" sz="1200" dirty="0">
                  <a:solidFill>
                    <a:srgbClr val="A31515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"invalid Array </a:t>
              </a:r>
              <a:r>
                <a:rPr lang="en-US" altLang="zh-CN" sz="1200" dirty="0" err="1">
                  <a:solidFill>
                    <a:srgbClr val="A31515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Size"</a:t>
              </a:r>
              <a:r>
                <a:rPr lang="en-US" altLang="zh-CN" sz="12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,</a:t>
              </a:r>
              <a:r>
                <a:rPr lang="en-US" altLang="zh-CN" sz="1200" dirty="0" err="1">
                  <a:solidFill>
                    <a:srgbClr val="A31515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"memory</a:t>
              </a:r>
              <a:r>
                <a:rPr lang="en-US" altLang="zh-CN" sz="1200" dirty="0">
                  <a:solidFill>
                    <a:srgbClr val="A31515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Allocation </a:t>
              </a:r>
              <a:r>
                <a:rPr lang="en-US" altLang="zh-CN" sz="1200" dirty="0" err="1">
                  <a:solidFill>
                    <a:srgbClr val="A31515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Error"</a:t>
              </a:r>
              <a:r>
                <a:rPr lang="en-US" altLang="zh-CN" sz="1200" dirty="0" err="1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,</a:t>
              </a:r>
              <a:r>
                <a:rPr lang="en-US" altLang="zh-CN" sz="1200" dirty="0" err="1">
                  <a:solidFill>
                    <a:srgbClr val="A31515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"index</a:t>
              </a:r>
              <a:r>
                <a:rPr lang="en-US" altLang="zh-CN" sz="1200" dirty="0">
                  <a:solidFill>
                    <a:srgbClr val="A31515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 Out Of Range"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新宋体" panose="02010609030101010101" pitchFamily="49" charset="-122"/>
                </a:rPr>
                <a:t>};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endParaRPr>
            </a:p>
          </p:txBody>
        </p:sp>
        <p:sp>
          <p:nvSpPr>
            <p:cNvPr id="28677" name="矩形 7">
              <a:extLst>
                <a:ext uri="{FF2B5EF4-FFF2-40B4-BE49-F238E27FC236}">
                  <a16:creationId xmlns:a16="http://schemas.microsoft.com/office/drawing/2014/main" id="{E7607F95-996A-7D03-F60C-CDADD1FDC3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240268"/>
              <a:ext cx="1915909" cy="369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 2" panose="05020102010507070707" pitchFamily="18" charset="2"/>
                <a:buChar char=""/>
                <a:defRPr sz="32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50000"/>
                <a:buFont typeface="Wingdings 2" panose="05020102010507070707" pitchFamily="18" charset="2"/>
                <a:buChar char="³"/>
                <a:defRPr sz="28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7B9B57"/>
                </a:buClr>
                <a:buSzPct val="60000"/>
                <a:buFont typeface="Wingdings 2" panose="05020102010507070707" pitchFamily="18" charset="2"/>
                <a:buChar char="®"/>
                <a:defRPr sz="24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8B7396"/>
                </a:buClr>
                <a:buSzPct val="45000"/>
                <a:buFont typeface="Wingdings 2" panose="05020102010507070707" pitchFamily="18" charset="2"/>
                <a:buChar char="¯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E89A53"/>
                </a:buClr>
                <a:buFont typeface="Wingdings 2" panose="05020102010507070707" pitchFamily="18" charset="2"/>
                <a:buChar char=""/>
                <a:defRPr sz="2000">
                  <a:solidFill>
                    <a:schemeClr val="tx1"/>
                  </a:solidFill>
                  <a:latin typeface="Cambria" panose="02040503050406030204" pitchFamily="18" charset="0"/>
                  <a:ea typeface="华文楷体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 err="1">
                  <a:solidFill>
                    <a:srgbClr val="A31515"/>
                  </a:solidFill>
                  <a:latin typeface="新宋体" panose="02010609030101010101" pitchFamily="49" charset="-122"/>
                  <a:ea typeface="新宋体" panose="02010609030101010101" pitchFamily="49" charset="-122"/>
                </a:rPr>
                <a:t>templatearray.h</a:t>
              </a:r>
              <a:endParaRPr lang="en-US" altLang="zh-CN" sz="1800" dirty="0">
                <a:solidFill>
                  <a:srgbClr val="000000"/>
                </a:solidFill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8F297851-2434-DEF8-E5EE-7011D0B0FE7F}"/>
              </a:ext>
            </a:extLst>
          </p:cNvPr>
          <p:cNvSpPr/>
          <p:nvPr/>
        </p:nvSpPr>
        <p:spPr>
          <a:xfrm>
            <a:off x="85165" y="3025710"/>
            <a:ext cx="6096000" cy="36009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数组类模板声明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template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&lt;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typename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class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Array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* _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_size;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Error(</a:t>
            </a:r>
            <a:r>
              <a:rPr lang="en-US" altLang="zh-CN" sz="1200" dirty="0" err="1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ErrorType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error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badIndex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=0) 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 public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: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Array(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sz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=50);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Array(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 &amp; </a:t>
            </a: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A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~Array(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重载“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=”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，数组对象可以整体赋值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 marL="274638"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&gt;&amp;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operator=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(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&gt;&amp; 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rhs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重载“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[]”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 marL="274638"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operator[]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重载“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T *”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 marL="274638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operator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* (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 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74638">
              <a:defRPr/>
            </a:pP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ListSize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 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Resize(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sz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60252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F1686B0-188B-8587-3F1C-BB0F5C672639}"/>
              </a:ext>
            </a:extLst>
          </p:cNvPr>
          <p:cNvSpPr/>
          <p:nvPr/>
        </p:nvSpPr>
        <p:spPr>
          <a:xfrm>
            <a:off x="76200" y="165080"/>
            <a:ext cx="5029200" cy="54476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以下为类成员函数的定义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模板函数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Error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输出错误信息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template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&lt;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typename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&gt;::Error(</a:t>
            </a:r>
            <a:r>
              <a:rPr lang="en-US" altLang="zh-CN" sz="1200" dirty="0" err="1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ErrorType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error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badIndex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 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const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errorMsg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error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];</a:t>
            </a:r>
          </a:p>
          <a:p>
            <a:pPr marL="365125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error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==</a:t>
            </a:r>
            <a:r>
              <a:rPr lang="en-US" altLang="zh-CN" sz="1200" dirty="0" err="1">
                <a:solidFill>
                  <a:srgbClr val="2F4F4F"/>
                </a:solidFill>
                <a:latin typeface="Consolas" panose="020B0609020204030204" pitchFamily="49" charset="0"/>
                <a:ea typeface="新宋体"/>
              </a:rPr>
              <a:t>indexOutOfRange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365125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 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badIndex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exit(1);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构造函数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template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&lt;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typename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&gt;::Array(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sz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sz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&lt;=0)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      Error(</a:t>
            </a:r>
            <a:r>
              <a:rPr lang="en-US" altLang="zh-CN" sz="1200" dirty="0" err="1">
                <a:solidFill>
                  <a:srgbClr val="2F4F4F"/>
                </a:solidFill>
                <a:latin typeface="Consolas" panose="020B0609020204030204" pitchFamily="49" charset="0"/>
                <a:ea typeface="新宋体"/>
              </a:rPr>
              <a:t>invalidArraySize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365125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_size=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sz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_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=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new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[_size];</a:t>
            </a:r>
          </a:p>
          <a:p>
            <a:pPr marL="365125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(_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==</a:t>
            </a:r>
            <a:r>
              <a:rPr lang="en-US" altLang="zh-CN" sz="1200" dirty="0">
                <a:solidFill>
                  <a:srgbClr val="6F008A"/>
                </a:solidFill>
                <a:latin typeface="Consolas" panose="020B0609020204030204" pitchFamily="49" charset="0"/>
                <a:ea typeface="新宋体"/>
              </a:rPr>
              <a:t>NULL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 </a:t>
            </a:r>
          </a:p>
          <a:p>
            <a:pPr marL="365125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 Error(</a:t>
            </a:r>
            <a:r>
              <a:rPr lang="en-US" altLang="zh-CN" sz="1200" dirty="0" err="1">
                <a:solidFill>
                  <a:srgbClr val="2F4F4F"/>
                </a:solidFill>
                <a:latin typeface="Consolas" panose="020B0609020204030204" pitchFamily="49" charset="0"/>
                <a:ea typeface="新宋体"/>
              </a:rPr>
              <a:t>memoryAllocationError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析构函数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template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&lt;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typename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&gt;::~Array()</a:t>
            </a: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(_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alist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)</a:t>
            </a: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  { 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delete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[] _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alist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;</a:t>
            </a: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     _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alist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= </a:t>
            </a:r>
            <a:r>
              <a:rPr lang="en-US" altLang="zh-CN" sz="1200" dirty="0">
                <a:solidFill>
                  <a:srgbClr val="6F008A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NULL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;</a:t>
            </a: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  }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14EBC1B-2AA6-E6AB-2045-AD31333DE6BC}"/>
              </a:ext>
            </a:extLst>
          </p:cNvPr>
          <p:cNvSpPr/>
          <p:nvPr/>
        </p:nvSpPr>
        <p:spPr>
          <a:xfrm>
            <a:off x="5257800" y="165080"/>
            <a:ext cx="3810000" cy="24929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拷贝构造函数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template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&lt;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typename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&gt;::Array(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 &amp; </a:t>
            </a: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X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n = 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X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._size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_size = n;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_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new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[n];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(_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==</a:t>
            </a:r>
            <a:r>
              <a:rPr lang="en-US" altLang="zh-CN" sz="1200" dirty="0">
                <a:solidFill>
                  <a:srgbClr val="6F008A"/>
                </a:solidFill>
                <a:latin typeface="Consolas" panose="020B0609020204030204" pitchFamily="49" charset="0"/>
                <a:ea typeface="新宋体"/>
              </a:rPr>
              <a:t>NULL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 Error(</a:t>
            </a:r>
            <a:r>
              <a:rPr lang="en-US" altLang="zh-CN" sz="1200" dirty="0" err="1">
                <a:solidFill>
                  <a:srgbClr val="2F4F4F"/>
                </a:solidFill>
                <a:latin typeface="Consolas" panose="020B0609020204030204" pitchFamily="49" charset="0"/>
                <a:ea typeface="新宋体"/>
              </a:rPr>
              <a:t>memoryAllocationError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*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srcptr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 </a:t>
            </a: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X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._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*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desptr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=_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while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(n--)</a:t>
            </a:r>
          </a:p>
          <a:p>
            <a:pPr marL="274638">
              <a:defRPr/>
            </a:pP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 *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desptr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++ = *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srcptr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++;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DB1C734-43B8-2F51-143F-9269334107A0}"/>
              </a:ext>
            </a:extLst>
          </p:cNvPr>
          <p:cNvSpPr/>
          <p:nvPr/>
        </p:nvSpPr>
        <p:spPr>
          <a:xfrm>
            <a:off x="3962400" y="3091934"/>
            <a:ext cx="4876800" cy="36009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重载“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=”,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实现对象间的整体赋值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template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&lt;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typename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&gt;&amp;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&gt;::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operator =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(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const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&gt;&amp; 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rhs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this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==&amp;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rhs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363538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  return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*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this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3538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n = 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rhs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._size;</a:t>
            </a:r>
          </a:p>
          <a:p>
            <a:pPr marL="363538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(_size!=n)</a:t>
            </a:r>
          </a:p>
          <a:p>
            <a:pPr marL="363538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delete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[] _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714375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_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new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[n];</a:t>
            </a:r>
          </a:p>
          <a:p>
            <a:pPr marL="714375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(_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==</a:t>
            </a:r>
            <a:r>
              <a:rPr lang="en-US" altLang="zh-CN" sz="1200" dirty="0">
                <a:solidFill>
                  <a:srgbClr val="6F008A"/>
                </a:solidFill>
                <a:latin typeface="Consolas" panose="020B0609020204030204" pitchFamily="49" charset="0"/>
                <a:ea typeface="新宋体"/>
              </a:rPr>
              <a:t>NULL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 </a:t>
            </a:r>
          </a:p>
          <a:p>
            <a:pPr marL="714375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 Error(</a:t>
            </a:r>
            <a:r>
              <a:rPr lang="en-US" altLang="zh-CN" sz="1200" dirty="0" err="1">
                <a:solidFill>
                  <a:srgbClr val="2F4F4F"/>
                </a:solidFill>
                <a:latin typeface="Consolas" panose="020B0609020204030204" pitchFamily="49" charset="0"/>
                <a:ea typeface="新宋体"/>
              </a:rPr>
              <a:t>memoryAllocationError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714375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_size = n;</a:t>
            </a:r>
          </a:p>
          <a:p>
            <a:pPr marL="365125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365125"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*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srcptr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 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rhs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._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*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desptr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=_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65125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while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(n--)</a:t>
            </a:r>
          </a:p>
          <a:p>
            <a:pPr marL="365125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 *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desptr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++ = *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srcptr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++;</a:t>
            </a:r>
          </a:p>
          <a:p>
            <a:pPr marL="365125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*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this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458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C3243EE3-A051-710C-A577-D9C638075D28}"/>
              </a:ext>
            </a:extLst>
          </p:cNvPr>
          <p:cNvSpPr/>
          <p:nvPr/>
        </p:nvSpPr>
        <p:spPr>
          <a:xfrm>
            <a:off x="304800" y="228600"/>
            <a:ext cx="3886200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重载下标运算符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template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&lt;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typename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&amp;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&gt;::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operator[]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(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&lt;0||</a:t>
            </a: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&gt;_size-1)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 Error(</a:t>
            </a:r>
            <a:r>
              <a:rPr lang="en-US" altLang="zh-CN" sz="1200" dirty="0" err="1">
                <a:solidFill>
                  <a:srgbClr val="2F4F4F"/>
                </a:solidFill>
                <a:latin typeface="Consolas" panose="020B0609020204030204" pitchFamily="49" charset="0"/>
                <a:ea typeface="新宋体"/>
              </a:rPr>
              <a:t>indexOutOfRange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_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];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  <a:p>
            <a:pPr>
              <a:defRPr/>
            </a:pP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重载指针转换运算符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这个函数没有返回值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template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&lt;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typename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&gt;::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operator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* () 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const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_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  <a:p>
            <a:pPr>
              <a:defRPr/>
            </a:pP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取当前数组大小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template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&lt;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typename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</a:t>
            </a:r>
          </a:p>
          <a:p>
            <a:pPr>
              <a:defRPr/>
            </a:pP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&gt;::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ListSize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() 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const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_size;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  <a:p>
            <a:pPr>
              <a:defRPr/>
            </a:pP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BF09F1-DBD0-09C2-0B33-0550F0219E3B}"/>
              </a:ext>
            </a:extLst>
          </p:cNvPr>
          <p:cNvSpPr/>
          <p:nvPr/>
        </p:nvSpPr>
        <p:spPr>
          <a:xfrm>
            <a:off x="4419600" y="2743200"/>
            <a:ext cx="4065494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将数组大小修改为</a:t>
            </a:r>
            <a:r>
              <a:rPr lang="en-US" altLang="zh-CN" sz="1200" dirty="0" err="1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sz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template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&lt;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typename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void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&gt;::Resize(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sz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sz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&lt;=0) 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 Error(</a:t>
            </a:r>
            <a:r>
              <a:rPr lang="en-US" altLang="zh-CN" sz="1200" dirty="0" err="1">
                <a:solidFill>
                  <a:srgbClr val="2F4F4F"/>
                </a:solidFill>
                <a:latin typeface="Consolas" panose="020B0609020204030204" pitchFamily="49" charset="0"/>
                <a:ea typeface="新宋体"/>
              </a:rPr>
              <a:t>invalidArraySize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sz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==_size) 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  return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*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newlist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new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sz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];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newlist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==</a:t>
            </a:r>
            <a:r>
              <a:rPr lang="en-US" altLang="zh-CN" sz="1200" dirty="0">
                <a:solidFill>
                  <a:srgbClr val="6F008A"/>
                </a:solidFill>
                <a:latin typeface="Consolas" panose="020B0609020204030204" pitchFamily="49" charset="0"/>
                <a:ea typeface="新宋体"/>
              </a:rPr>
              <a:t>NULL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 Error(</a:t>
            </a:r>
            <a:r>
              <a:rPr lang="en-US" altLang="zh-CN" sz="1200" dirty="0" err="1">
                <a:solidFill>
                  <a:srgbClr val="2F4F4F"/>
                </a:solidFill>
                <a:latin typeface="Consolas" panose="020B0609020204030204" pitchFamily="49" charset="0"/>
                <a:ea typeface="新宋体"/>
              </a:rPr>
              <a:t>memoryAllocationError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n=(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sz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&lt;=_size)?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sz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:_size;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*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srcptr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 _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*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desptr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newlist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while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(n--)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 *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desptr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++ = *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srcptr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++;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delete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[] _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_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newlist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_size = 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sz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  <a:p>
            <a:pPr>
              <a:defRPr/>
            </a:pP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#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endif</a:t>
            </a:r>
            <a:endParaRPr lang="zh-CN" altLang="en-US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347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34ED43F-BEDA-DEC2-16CA-6D9F5B49D8DA}"/>
              </a:ext>
            </a:extLst>
          </p:cNvPr>
          <p:cNvSpPr/>
          <p:nvPr/>
        </p:nvSpPr>
        <p:spPr>
          <a:xfrm>
            <a:off x="152400" y="134938"/>
            <a:ext cx="7086600" cy="489364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#include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“</a:t>
            </a:r>
            <a:r>
              <a:rPr lang="en-US" altLang="zh-CN" sz="1200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templatearray.h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main()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 A(10);</a:t>
            </a:r>
          </a:p>
          <a:p>
            <a:pPr marL="274638">
              <a:defRPr/>
            </a:pP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n;</a:t>
            </a:r>
          </a:p>
          <a:p>
            <a:pPr marL="274638">
              <a:defRPr/>
            </a:pP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primecount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 0,i,j;</a:t>
            </a:r>
          </a:p>
          <a:p>
            <a:pPr marL="274638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"Enter a value &gt;=2 as upper limit for prime numbers:"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74638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cin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&gt;&gt;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n;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primecount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++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]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 2;</a:t>
            </a:r>
          </a:p>
          <a:p>
            <a:pPr marL="274638">
              <a:defRPr/>
            </a:pPr>
            <a:r>
              <a:rPr lang="nn-NO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for</a:t>
            </a:r>
            <a:r>
              <a:rPr lang="nn-NO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(i = 3; i &lt; n; i++)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(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primecount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==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A.ListSize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())</a:t>
            </a:r>
          </a:p>
          <a:p>
            <a:pPr marL="625475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A.Resize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(primecount+10);</a:t>
            </a:r>
          </a:p>
          <a:p>
            <a:pPr marL="625475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(i%2 == 0)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continue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625475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j = 3;</a:t>
            </a:r>
          </a:p>
          <a:p>
            <a:pPr marL="625475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while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(j &lt;=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/2 &amp;&amp;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i%j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!= 0)</a:t>
            </a:r>
          </a:p>
          <a:p>
            <a:pPr marL="625475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 j += 2;</a:t>
            </a:r>
          </a:p>
          <a:p>
            <a:pPr marL="625475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(j&gt;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/2)</a:t>
            </a:r>
          </a:p>
          <a:p>
            <a:pPr marL="625475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 A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primecount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++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]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for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(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= 0;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&lt;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primecount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++)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setw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(6)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A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]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625475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((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+ 1) % 10 == 0)</a:t>
            </a:r>
          </a:p>
          <a:p>
            <a:pPr marL="625475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  <a:p>
            <a:pPr marL="274638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74638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0;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  <a:endParaRPr lang="zh-CN" altLang="en-US" sz="1200" dirty="0">
              <a:latin typeface="Consolas" panose="020B060902020403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3FF62C-56AC-FBF1-1660-23BC27B44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038600"/>
            <a:ext cx="5410200" cy="2462213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 2" panose="05020102010507070707" pitchFamily="18" charset="2"/>
              <a:buChar char=""/>
              <a:defRPr sz="32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50000"/>
              <a:buFont typeface="Wingdings 2" panose="05020102010507070707" pitchFamily="18" charset="2"/>
              <a:buChar char="³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7B9B57"/>
              </a:buClr>
              <a:buSzPct val="60000"/>
              <a:buFont typeface="Wingdings 2" panose="05020102010507070707" pitchFamily="18" charset="2"/>
              <a:buChar char="®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8B7396"/>
              </a:buClr>
              <a:buSzPct val="45000"/>
              <a:buFont typeface="Wingdings 2" panose="05020102010507070707" pitchFamily="18" charset="2"/>
              <a:buChar char="¯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89A53"/>
              </a:buClr>
              <a:buFont typeface="Wingdings 2" panose="05020102010507070707" pitchFamily="18" charset="2"/>
              <a:buChar char="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Enter a value &gt;=2 as upper limit for prime numbers:500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2      3       5       7     11     13     17     19     23     29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31    37     41      43     47     53     59     61     67     71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73    79     83      89     97   101   103   107   109   113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127   131   137   139   149   151   157   163   167   173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179   181   191   193   197   199   211   223   227   229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233   239   241   251   257   263   269   271   277   281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283   293   307   311   313   317   331   337   347   349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353   359   367   373   379   383   389   397   401   409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419   421   431   433   439   443   449   457   461   463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467   479   487   491   499</a:t>
            </a:r>
          </a:p>
        </p:txBody>
      </p:sp>
    </p:spTree>
    <p:extLst>
      <p:ext uri="{BB962C8B-B14F-4D97-AF65-F5344CB8AC3E}">
        <p14:creationId xmlns:p14="http://schemas.microsoft.com/office/powerpoint/2010/main" val="2296437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34ED43F-BEDA-DEC2-16CA-6D9F5B49D8DA}"/>
              </a:ext>
            </a:extLst>
          </p:cNvPr>
          <p:cNvSpPr/>
          <p:nvPr/>
        </p:nvSpPr>
        <p:spPr>
          <a:xfrm>
            <a:off x="457200" y="609600"/>
            <a:ext cx="5029200" cy="489364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#include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“</a:t>
            </a:r>
            <a:r>
              <a:rPr lang="en-US" altLang="zh-CN" sz="1200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templatearray.h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以下代码试验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operator T *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新宋体" panose="02010609030101010101" pitchFamily="49" charset="-122"/>
            </a:endParaRPr>
          </a:p>
          <a:p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void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inputArray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(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* 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myarray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,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)</a:t>
            </a: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{  </a:t>
            </a:r>
            <a:r>
              <a:rPr lang="nn-NO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for</a:t>
            </a:r>
            <a:r>
              <a:rPr lang="nn-NO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(</a:t>
            </a:r>
            <a:r>
              <a:rPr lang="nn-NO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int</a:t>
            </a:r>
            <a:r>
              <a:rPr lang="nn-NO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i = 0; i &lt; </a:t>
            </a:r>
            <a:r>
              <a:rPr lang="nn-NO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n</a:t>
            </a:r>
            <a:r>
              <a:rPr lang="nn-NO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; i++)</a:t>
            </a:r>
          </a:p>
          <a:p>
            <a:r>
              <a:rPr lang="nn-NO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   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cin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&gt;&gt;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myarray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[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];</a:t>
            </a: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}</a:t>
            </a:r>
          </a:p>
          <a:p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 panose="02010609030101010101" pitchFamily="49" charset="-122"/>
            </a:endParaRPr>
          </a:p>
          <a:p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void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inputArray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(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double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* 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myarray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,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)</a:t>
            </a: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{  </a:t>
            </a:r>
            <a:r>
              <a:rPr lang="nn-NO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for</a:t>
            </a:r>
            <a:r>
              <a:rPr lang="nn-NO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(</a:t>
            </a:r>
            <a:r>
              <a:rPr lang="nn-NO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int</a:t>
            </a:r>
            <a:r>
              <a:rPr lang="nn-NO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i = 0; i &lt; </a:t>
            </a:r>
            <a:r>
              <a:rPr lang="nn-NO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n</a:t>
            </a:r>
            <a:r>
              <a:rPr lang="nn-NO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; i++)</a:t>
            </a: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   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cin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&gt;&gt;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myarray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[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];</a:t>
            </a: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}</a:t>
            </a:r>
          </a:p>
          <a:p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 panose="02010609030101010101" pitchFamily="49" charset="-122"/>
            </a:endParaRPr>
          </a:p>
          <a:p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void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inputArray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(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string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* 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myarray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,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)</a:t>
            </a: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{  </a:t>
            </a:r>
            <a:r>
              <a:rPr lang="nn-NO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for</a:t>
            </a:r>
            <a:r>
              <a:rPr lang="nn-NO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(</a:t>
            </a:r>
            <a:r>
              <a:rPr lang="nn-NO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int</a:t>
            </a:r>
            <a:r>
              <a:rPr lang="nn-NO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i = 0; i &lt; </a:t>
            </a:r>
            <a:r>
              <a:rPr lang="nn-NO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n</a:t>
            </a:r>
            <a:r>
              <a:rPr lang="nn-NO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; i++)</a:t>
            </a: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   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cin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&gt;&gt;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</a:t>
            </a:r>
            <a:r>
              <a:rPr lang="en-US" altLang="zh-CN" sz="1200" dirty="0" err="1">
                <a:solidFill>
                  <a:srgbClr val="80808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myarray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[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];</a:t>
            </a: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}</a:t>
            </a:r>
          </a:p>
          <a:p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 panose="02010609030101010101" pitchFamily="49" charset="-122"/>
            </a:endParaRPr>
          </a:p>
          <a:p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main()</a:t>
            </a: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{ 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&lt;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&gt;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intArray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(10);</a:t>
            </a:r>
          </a:p>
          <a:p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  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&lt;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double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&gt;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doubleArray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(5);</a:t>
            </a:r>
          </a:p>
          <a:p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  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string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&gt;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strArray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(5);</a:t>
            </a: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 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inputArray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intArray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, 10);</a:t>
            </a: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 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inputArray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doubleArray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, 5);</a:t>
            </a: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 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inputArray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strArray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, 5);</a:t>
            </a:r>
          </a:p>
          <a:p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  return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 0;</a:t>
            </a: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 panose="02010609030101010101" pitchFamily="49" charset="-122"/>
              </a:rPr>
              <a:t>}</a:t>
            </a:r>
            <a:endParaRPr lang="zh-CN" altLang="en-US" sz="1200" dirty="0">
              <a:latin typeface="Consolas" panose="020B0609020204030204" pitchFamily="49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6AA62C-26D8-054F-C176-1CD00707083B}"/>
              </a:ext>
            </a:extLst>
          </p:cNvPr>
          <p:cNvSpPr txBox="1"/>
          <p:nvPr/>
        </p:nvSpPr>
        <p:spPr>
          <a:xfrm>
            <a:off x="3657600" y="4495800"/>
            <a:ext cx="4572000" cy="83099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dirty="0">
                <a:latin typeface="Consolas" panose="020B0609020204030204" pitchFamily="49" charset="0"/>
                <a:ea typeface="新宋体"/>
              </a:rPr>
              <a:t>因为在类模板</a:t>
            </a:r>
            <a:r>
              <a:rPr lang="en-US" altLang="zh-CN" dirty="0">
                <a:latin typeface="Consolas" panose="020B0609020204030204" pitchFamily="49" charset="0"/>
                <a:ea typeface="新宋体"/>
              </a:rPr>
              <a:t>Array&lt;T&gt;</a:t>
            </a:r>
            <a:r>
              <a:rPr lang="zh-CN" altLang="en-US" dirty="0">
                <a:latin typeface="Consolas" panose="020B0609020204030204" pitchFamily="49" charset="0"/>
                <a:ea typeface="新宋体"/>
              </a:rPr>
              <a:t>重载了中</a:t>
            </a:r>
            <a:r>
              <a:rPr lang="en-US" altLang="zh-CN" sz="1600" dirty="0">
                <a:latin typeface="Consolas" panose="020B0609020204030204" pitchFamily="49" charset="0"/>
                <a:ea typeface="新宋体" panose="02010609030101010101" pitchFamily="49" charset="-122"/>
              </a:rPr>
              <a:t>operator T*</a:t>
            </a:r>
            <a:r>
              <a:rPr lang="en-US" altLang="zh-CN" dirty="0">
                <a:latin typeface="Consolas" panose="020B0609020204030204" pitchFamily="49" charset="0"/>
                <a:ea typeface="新宋体" panose="02010609030101010101" pitchFamily="49" charset="-122"/>
              </a:rPr>
              <a:t>()</a:t>
            </a:r>
          </a:p>
          <a:p>
            <a:pPr>
              <a:defRPr/>
            </a:pPr>
            <a:endParaRPr lang="en-US" altLang="zh-CN" dirty="0">
              <a:latin typeface="Consolas" panose="020B0609020204030204" pitchFamily="49" charset="0"/>
              <a:ea typeface="新宋体" panose="02010609030101010101" pitchFamily="49" charset="-122"/>
            </a:endParaRPr>
          </a:p>
          <a:p>
            <a:pPr>
              <a:defRPr/>
            </a:pPr>
            <a:r>
              <a:rPr lang="zh-CN" altLang="en-US" dirty="0">
                <a:latin typeface="Consolas" panose="020B0609020204030204" pitchFamily="49" charset="0"/>
                <a:ea typeface="新宋体" panose="02010609030101010101" pitchFamily="49" charset="-122"/>
              </a:rPr>
              <a:t>所以</a:t>
            </a:r>
            <a:r>
              <a:rPr lang="en-US" altLang="zh-CN" dirty="0">
                <a:latin typeface="Consolas" panose="020B0609020204030204" pitchFamily="49" charset="0"/>
                <a:ea typeface="新宋体" panose="02010609030101010101" pitchFamily="49" charset="-122"/>
              </a:rPr>
              <a:t>main()</a:t>
            </a:r>
            <a:r>
              <a:rPr lang="zh-CN" altLang="en-US" dirty="0">
                <a:latin typeface="Consolas" panose="020B0609020204030204" pitchFamily="49" charset="0"/>
                <a:ea typeface="新宋体" panose="02010609030101010101" pitchFamily="49" charset="-122"/>
              </a:rPr>
              <a:t>中的三条</a:t>
            </a:r>
            <a:r>
              <a:rPr lang="en-US" altLang="zh-CN" dirty="0" err="1">
                <a:latin typeface="Consolas" panose="020B0609020204030204" pitchFamily="49" charset="0"/>
                <a:ea typeface="新宋体" panose="02010609030101010101" pitchFamily="49" charset="-122"/>
              </a:rPr>
              <a:t>inputArray</a:t>
            </a:r>
            <a:r>
              <a:rPr lang="zh-CN" altLang="en-US" dirty="0">
                <a:latin typeface="Consolas" panose="020B0609020204030204" pitchFamily="49" charset="0"/>
                <a:ea typeface="新宋体" panose="02010609030101010101" pitchFamily="49" charset="-122"/>
              </a:rPr>
              <a:t>语句可以执行。</a:t>
            </a:r>
            <a:endParaRPr lang="en-US" altLang="zh-CN" sz="1600" dirty="0">
              <a:latin typeface="Consolas" panose="020B0609020204030204" pitchFamily="49" charset="0"/>
              <a:ea typeface="新宋体" panose="0201060903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61180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title"/>
          </p:nvPr>
        </p:nvSpPr>
        <p:spPr>
          <a:xfrm>
            <a:off x="773113" y="168275"/>
            <a:ext cx="7772400" cy="863600"/>
          </a:xfrm>
        </p:spPr>
        <p:txBody>
          <a:bodyPr/>
          <a:lstStyle/>
          <a:p>
            <a:pPr eaLnBrk="1" hangingPunct="1"/>
            <a:r>
              <a:rPr lang="en-US" altLang="zh-CN" dirty="0"/>
              <a:t>6.3.3  </a:t>
            </a:r>
            <a:r>
              <a:rPr lang="zh-CN" altLang="en-US" dirty="0"/>
              <a:t>类模板的</a:t>
            </a:r>
            <a:r>
              <a:rPr lang="zh-CN" altLang="en-US" dirty="0">
                <a:solidFill>
                  <a:schemeClr val="tx1"/>
                </a:solidFill>
              </a:rPr>
              <a:t>特化</a:t>
            </a:r>
          </a:p>
        </p:txBody>
      </p:sp>
      <p:sp>
        <p:nvSpPr>
          <p:cNvPr id="73730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820738" y="969630"/>
            <a:ext cx="7772400" cy="1708901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 2" panose="05020102010507070707" pitchFamily="18" charset="2"/>
              <a:buNone/>
            </a:pPr>
            <a:r>
              <a:rPr lang="zh-CN" altLang="en-US" sz="2800" dirty="0"/>
              <a:t>类模板</a:t>
            </a:r>
            <a:r>
              <a:rPr lang="zh-CN" altLang="en-US" sz="2800" dirty="0">
                <a:solidFill>
                  <a:srgbClr val="FF0000"/>
                </a:solidFill>
              </a:rPr>
              <a:t>特化包括：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 2" panose="05020102010507070707" pitchFamily="18" charset="2"/>
              <a:buNone/>
            </a:pPr>
            <a:endParaRPr lang="en-US" altLang="zh-CN" sz="2000" dirty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特化</a:t>
            </a:r>
            <a:r>
              <a:rPr lang="zh-CN" altLang="en-US" dirty="0">
                <a:solidFill>
                  <a:srgbClr val="FF0000"/>
                </a:solidFill>
              </a:rPr>
              <a:t>整个类模板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</a:pPr>
            <a:endParaRPr lang="en-US" altLang="zh-CN" dirty="0"/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FF0000"/>
                </a:solidFill>
              </a:rPr>
              <a:t>偏特化：</a:t>
            </a:r>
            <a:r>
              <a:rPr lang="zh-CN" altLang="en-US" dirty="0"/>
              <a:t>特化类模板的</a:t>
            </a:r>
            <a:r>
              <a:rPr lang="zh-CN" altLang="en-US" dirty="0">
                <a:solidFill>
                  <a:srgbClr val="FF0000"/>
                </a:solidFill>
              </a:rPr>
              <a:t>一部分</a:t>
            </a:r>
            <a:r>
              <a:rPr lang="zh-CN" altLang="en-US" dirty="0"/>
              <a:t>参数或成员函数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title"/>
          </p:nvPr>
        </p:nvSpPr>
        <p:spPr>
          <a:xfrm>
            <a:off x="773113" y="168275"/>
            <a:ext cx="7772400" cy="863600"/>
          </a:xfrm>
        </p:spPr>
        <p:txBody>
          <a:bodyPr/>
          <a:lstStyle/>
          <a:p>
            <a:r>
              <a:rPr lang="en-US" altLang="zh-CN" dirty="0"/>
              <a:t>6.3.3  </a:t>
            </a:r>
            <a:r>
              <a:rPr lang="zh-CN" altLang="en-US" dirty="0"/>
              <a:t>类模板的</a:t>
            </a:r>
            <a:r>
              <a:rPr lang="zh-CN" altLang="en-US" dirty="0">
                <a:solidFill>
                  <a:schemeClr val="tx1"/>
                </a:solidFill>
              </a:rPr>
              <a:t>特化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534415" y="2879922"/>
            <a:ext cx="5477745" cy="2677656"/>
          </a:xfrm>
          <a:prstGeom prst="rect">
            <a:avLst/>
          </a:prstGeom>
          <a:noFill/>
          <a:ln w="38100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400" dirty="0">
                <a:solidFill>
                  <a:srgbClr val="0000FF"/>
                </a:solidFill>
                <a:latin typeface="Consolas" pitchFamily="49" charset="0"/>
              </a:rPr>
              <a:t>template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 &lt;</a:t>
            </a:r>
            <a:r>
              <a:rPr lang="en-US" altLang="zh-CN" sz="14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 T &gt;</a:t>
            </a:r>
          </a:p>
          <a:p>
            <a:r>
              <a:rPr lang="en-US" altLang="zh-CN" sz="14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TCode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{</a:t>
            </a:r>
            <a:r>
              <a:rPr lang="en-US" altLang="zh-CN" sz="1400" dirty="0">
                <a:solidFill>
                  <a:srgbClr val="0000FF"/>
                </a:solidFill>
                <a:latin typeface="Consolas" pitchFamily="49" charset="0"/>
              </a:rPr>
              <a:t>public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: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 pitchFamily="49" charset="0"/>
              </a:rPr>
              <a:t>TCode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altLang="zh-CN" sz="1400" dirty="0">
                <a:solidFill>
                  <a:srgbClr val="0000FF"/>
                </a:solidFill>
                <a:latin typeface="Consolas" pitchFamily="49" charset="0"/>
              </a:rPr>
              <a:t>const 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T&amp; v) : value(v)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    {}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    </a:t>
            </a:r>
            <a:r>
              <a:rPr lang="en-US" altLang="zh-CN" sz="1400" dirty="0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createCode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()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    {  </a:t>
            </a:r>
            <a:r>
              <a:rPr lang="en-US" altLang="zh-CN" sz="1400" dirty="0">
                <a:solidFill>
                  <a:srgbClr val="0000FF"/>
                </a:solidFill>
                <a:latin typeface="Consolas" pitchFamily="49" charset="0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 (</a:t>
            </a:r>
            <a:r>
              <a:rPr lang="en-US" altLang="zh-CN" sz="1400" dirty="0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)value;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FF"/>
                </a:solidFill>
                <a:latin typeface="Consolas" pitchFamily="49" charset="0"/>
              </a:rPr>
              <a:t>private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: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    T value;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};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itchFamily="49" charset="0"/>
              </a:rPr>
              <a:t>  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3740740" y="3749457"/>
            <a:ext cx="5256584" cy="310854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400" dirty="0">
                <a:solidFill>
                  <a:srgbClr val="0000FF"/>
                </a:solidFill>
                <a:latin typeface="Consolas" pitchFamily="49" charset="0"/>
              </a:rPr>
              <a:t>template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&lt;&gt;</a:t>
            </a:r>
          </a:p>
          <a:p>
            <a:r>
              <a:rPr lang="en-US" altLang="zh-CN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class</a:t>
            </a:r>
            <a:r>
              <a:rPr lang="en-US" altLang="zh-CN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TCode</a:t>
            </a:r>
            <a:r>
              <a:rPr lang="en-US" altLang="zh-CN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&lt;</a:t>
            </a:r>
            <a:r>
              <a:rPr lang="en-US" altLang="zh-CN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string</a:t>
            </a:r>
            <a:r>
              <a:rPr lang="en-US" altLang="zh-CN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&gt;</a:t>
            </a:r>
          </a:p>
          <a:p>
            <a:r>
              <a:rPr lang="en-US" altLang="zh-CN" sz="1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{</a:t>
            </a:r>
            <a:r>
              <a:rPr lang="en-US" altLang="zh-CN" sz="1400" dirty="0">
                <a:solidFill>
                  <a:srgbClr val="0000FF"/>
                </a:solidFill>
                <a:latin typeface="Consolas" pitchFamily="49" charset="0"/>
              </a:rPr>
              <a:t>public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:</a:t>
            </a:r>
          </a:p>
          <a:p>
            <a:pPr lvl="1"/>
            <a:r>
              <a:rPr lang="en-US" altLang="zh-CN" sz="1400" dirty="0" err="1">
                <a:solidFill>
                  <a:srgbClr val="000000"/>
                </a:solidFill>
                <a:latin typeface="Consolas" pitchFamily="49" charset="0"/>
              </a:rPr>
              <a:t>TCode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altLang="zh-CN" sz="1400" dirty="0">
                <a:solidFill>
                  <a:srgbClr val="0000FF"/>
                </a:solidFill>
                <a:latin typeface="Consolas" pitchFamily="49" charset="0"/>
              </a:rPr>
              <a:t>const 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string&amp; s) : value(s)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{}</a:t>
            </a:r>
          </a:p>
          <a:p>
            <a:pPr lvl="1"/>
            <a:r>
              <a:rPr lang="en-US" altLang="zh-CN" sz="1400" dirty="0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createCode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()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{   </a:t>
            </a:r>
            <a:r>
              <a:rPr lang="en-US" altLang="zh-CN" sz="1400" dirty="0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 code = 0;</a:t>
            </a:r>
          </a:p>
          <a:p>
            <a:pPr lvl="2"/>
            <a:r>
              <a:rPr lang="en-US" altLang="zh-CN" sz="1400" dirty="0">
                <a:solidFill>
                  <a:srgbClr val="0000FF"/>
                </a:solidFill>
                <a:latin typeface="Consolas" pitchFamily="49" charset="0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altLang="zh-CN" sz="1400" dirty="0" err="1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itchFamily="49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 = 0; </a:t>
            </a:r>
            <a:r>
              <a:rPr lang="en-US" altLang="zh-CN" sz="1400" dirty="0" err="1">
                <a:solidFill>
                  <a:srgbClr val="000000"/>
                </a:solidFill>
                <a:latin typeface="Consolas" pitchFamily="49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&lt; </a:t>
            </a:r>
            <a:r>
              <a:rPr lang="en-US" altLang="zh-CN" sz="1400" dirty="0" err="1">
                <a:solidFill>
                  <a:srgbClr val="000000"/>
                </a:solidFill>
                <a:latin typeface="Consolas" pitchFamily="49" charset="0"/>
              </a:rPr>
              <a:t>value.length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();</a:t>
            </a:r>
            <a:r>
              <a:rPr lang="en-US" altLang="zh-CN" sz="1400" dirty="0" err="1">
                <a:solidFill>
                  <a:srgbClr val="000000"/>
                </a:solidFill>
                <a:latin typeface="Consolas" pitchFamily="49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++)</a:t>
            </a:r>
          </a:p>
          <a:p>
            <a:pPr lvl="3"/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code += (</a:t>
            </a:r>
            <a:r>
              <a:rPr lang="en-US" altLang="zh-CN" sz="1400" dirty="0" err="1">
                <a:solidFill>
                  <a:srgbClr val="0000FF"/>
                </a:solidFill>
                <a:latin typeface="Consolas" pitchFamily="49" charset="0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)value[</a:t>
            </a:r>
            <a:r>
              <a:rPr lang="en-US" altLang="zh-CN" sz="1400" dirty="0" err="1">
                <a:solidFill>
                  <a:srgbClr val="000000"/>
                </a:solidFill>
                <a:latin typeface="Consolas" pitchFamily="49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];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        	</a:t>
            </a:r>
            <a:r>
              <a:rPr lang="en-US" altLang="zh-CN" sz="1400" dirty="0">
                <a:solidFill>
                  <a:srgbClr val="0000FF"/>
                </a:solidFill>
                <a:latin typeface="Consolas" pitchFamily="49" charset="0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 code;</a:t>
            </a:r>
            <a:r>
              <a:rPr lang="zh-CN" altLang="en-US" sz="1400" dirty="0">
                <a:solidFill>
                  <a:srgbClr val="000000"/>
                </a:solidFill>
                <a:latin typeface="Consolas" pitchFamily="49" charset="0"/>
              </a:rPr>
              <a:t>   </a:t>
            </a:r>
            <a:endParaRPr lang="en-US" altLang="zh-CN" sz="1400" dirty="0">
              <a:solidFill>
                <a:srgbClr val="000000"/>
              </a:solidFill>
              <a:latin typeface="Consolas" pitchFamily="49" charset="0"/>
            </a:endParaRP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FF"/>
                </a:solidFill>
                <a:latin typeface="Consolas" pitchFamily="49" charset="0"/>
              </a:rPr>
              <a:t>private</a:t>
            </a:r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: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    string value;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itchFamily="49" charset="0"/>
              </a:rPr>
              <a:t>};</a:t>
            </a: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251520" y="1103035"/>
            <a:ext cx="6781800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76288" indent="-45720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096963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lvl="1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FontTx/>
              <a:buAutoNum type="circleNumDbPlain"/>
            </a:pPr>
            <a:r>
              <a:rPr lang="zh-CN" altLang="en-US" dirty="0">
                <a:solidFill>
                  <a:srgbClr val="FF0000"/>
                </a:solidFill>
              </a:rPr>
              <a:t>特化整个类模板</a:t>
            </a:r>
            <a:r>
              <a:rPr lang="zh-CN" altLang="en-US" dirty="0">
                <a:solidFill>
                  <a:srgbClr val="000000"/>
                </a:solidFill>
              </a:rPr>
              <a:t>的方法：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4427984" y="1123022"/>
            <a:ext cx="4268166" cy="1631216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marL="0" lvl="3" eaLnBrk="1" hangingPunct="1"/>
            <a:r>
              <a:rPr lang="en-US" altLang="zh-CN" sz="2000" dirty="0">
                <a:solidFill>
                  <a:srgbClr val="000000"/>
                </a:solidFill>
              </a:rPr>
              <a:t>template &lt; &gt; </a:t>
            </a:r>
          </a:p>
          <a:p>
            <a:pPr marL="0" lvl="3" eaLnBrk="1" hangingPunct="1"/>
            <a:r>
              <a:rPr lang="en-US" altLang="zh-CN" sz="2000" dirty="0">
                <a:solidFill>
                  <a:srgbClr val="000000"/>
                </a:solidFill>
              </a:rPr>
              <a:t>class</a:t>
            </a:r>
            <a:r>
              <a:rPr lang="zh-CN" altLang="en-US" sz="2000" dirty="0">
                <a:solidFill>
                  <a:srgbClr val="000000"/>
                </a:solidFill>
              </a:rPr>
              <a:t> 类模板名</a:t>
            </a:r>
            <a:r>
              <a:rPr lang="en-US" altLang="zh-CN" sz="2000" dirty="0">
                <a:solidFill>
                  <a:srgbClr val="000000"/>
                </a:solidFill>
              </a:rPr>
              <a:t>&lt;</a:t>
            </a:r>
            <a:r>
              <a:rPr lang="zh-CN" altLang="en-US" sz="2000" dirty="0">
                <a:solidFill>
                  <a:srgbClr val="000000"/>
                </a:solidFill>
              </a:rPr>
              <a:t>特化数据类型</a:t>
            </a:r>
            <a:r>
              <a:rPr lang="en-US" altLang="zh-CN" sz="2000" dirty="0">
                <a:solidFill>
                  <a:srgbClr val="000000"/>
                </a:solidFill>
              </a:rPr>
              <a:t>&gt; </a:t>
            </a:r>
          </a:p>
          <a:p>
            <a:pPr marL="0" lvl="3" eaLnBrk="1" hangingPunct="1"/>
            <a:r>
              <a:rPr lang="en-US" altLang="zh-CN" sz="2000" dirty="0">
                <a:solidFill>
                  <a:srgbClr val="000000"/>
                </a:solidFill>
              </a:rPr>
              <a:t>{</a:t>
            </a:r>
          </a:p>
          <a:p>
            <a:pPr marL="0" lvl="3" eaLnBrk="1" hangingPunct="1"/>
            <a:r>
              <a:rPr lang="en-US" altLang="zh-CN" sz="2000" dirty="0">
                <a:solidFill>
                  <a:srgbClr val="000000"/>
                </a:solidFill>
              </a:rPr>
              <a:t>   </a:t>
            </a:r>
            <a:r>
              <a:rPr lang="en-US" altLang="zh-CN" sz="2000" dirty="0">
                <a:solidFill>
                  <a:srgbClr val="000000"/>
                </a:solidFill>
                <a:latin typeface="Arial" panose="020B0604020202020204" pitchFamily="34" charset="0"/>
              </a:rPr>
              <a:t>……</a:t>
            </a:r>
          </a:p>
          <a:p>
            <a:pPr marL="0" lvl="3" eaLnBrk="1" hangingPunct="1"/>
            <a:r>
              <a:rPr lang="en-US" altLang="zh-CN" sz="2000" dirty="0">
                <a:solidFill>
                  <a:srgbClr val="000000"/>
                </a:solidFill>
              </a:rPr>
              <a:t>};</a:t>
            </a:r>
            <a:endParaRPr lang="zh-CN" altLang="en-US" sz="2000" dirty="0">
              <a:solidFill>
                <a:srgbClr val="000000"/>
              </a:solidFill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2153265" y="5329084"/>
            <a:ext cx="1582993" cy="580103"/>
          </a:xfrm>
          <a:custGeom>
            <a:avLst/>
            <a:gdLst>
              <a:gd name="connsiteX0" fmla="*/ 1582993 w 1582993"/>
              <a:gd name="connsiteY0" fmla="*/ 580103 h 580103"/>
              <a:gd name="connsiteX1" fmla="*/ 344129 w 1582993"/>
              <a:gd name="connsiteY1" fmla="*/ 393290 h 580103"/>
              <a:gd name="connsiteX2" fmla="*/ 0 w 1582993"/>
              <a:gd name="connsiteY2" fmla="*/ 0 h 580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82993" h="580103">
                <a:moveTo>
                  <a:pt x="1582993" y="580103"/>
                </a:moveTo>
                <a:cubicBezTo>
                  <a:pt x="1095477" y="535038"/>
                  <a:pt x="607961" y="489974"/>
                  <a:pt x="344129" y="393290"/>
                </a:cubicBezTo>
                <a:cubicBezTo>
                  <a:pt x="80297" y="296606"/>
                  <a:pt x="40148" y="148303"/>
                  <a:pt x="0" y="0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475656" y="5909187"/>
            <a:ext cx="201622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特化整个类模板</a:t>
            </a:r>
          </a:p>
        </p:txBody>
      </p:sp>
    </p:spTree>
    <p:extLst>
      <p:ext uri="{BB962C8B-B14F-4D97-AF65-F5344CB8AC3E}">
        <p14:creationId xmlns:p14="http://schemas.microsoft.com/office/powerpoint/2010/main" val="37823549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8" grpId="0" animBg="1"/>
      <p:bldP spid="1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title"/>
          </p:nvPr>
        </p:nvSpPr>
        <p:spPr>
          <a:xfrm>
            <a:off x="773113" y="168275"/>
            <a:ext cx="7772400" cy="863600"/>
          </a:xfrm>
        </p:spPr>
        <p:txBody>
          <a:bodyPr/>
          <a:lstStyle/>
          <a:p>
            <a:r>
              <a:rPr lang="en-US" altLang="zh-CN" dirty="0"/>
              <a:t>6.3.3  </a:t>
            </a:r>
            <a:r>
              <a:rPr lang="zh-CN" altLang="en-US" dirty="0"/>
              <a:t>类模板的</a:t>
            </a:r>
            <a:r>
              <a:rPr lang="zh-CN" altLang="en-US" dirty="0">
                <a:solidFill>
                  <a:schemeClr val="tx1"/>
                </a:solidFill>
              </a:rPr>
              <a:t>特化</a:t>
            </a:r>
          </a:p>
        </p:txBody>
      </p:sp>
      <p:sp>
        <p:nvSpPr>
          <p:cNvPr id="75778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70949" y="1323968"/>
            <a:ext cx="7772400" cy="1151333"/>
          </a:xfrm>
        </p:spPr>
        <p:txBody>
          <a:bodyPr/>
          <a:lstStyle/>
          <a:p>
            <a:pPr marL="776288" lvl="1" indent="-45720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Tx/>
              <a:buAutoNum type="circleNumDbPlain" startAt="2"/>
            </a:pPr>
            <a:r>
              <a:rPr lang="zh-CN" altLang="en-US" dirty="0"/>
              <a:t>类模板的</a:t>
            </a:r>
            <a:r>
              <a:rPr lang="zh-CN" altLang="en-US" dirty="0">
                <a:solidFill>
                  <a:srgbClr val="FF0000"/>
                </a:solidFill>
              </a:rPr>
              <a:t>偏特化</a:t>
            </a:r>
            <a:r>
              <a:rPr lang="zh-CN" altLang="en-US" dirty="0"/>
              <a:t>：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246958" y="2389248"/>
            <a:ext cx="6220642" cy="1323439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marL="0" lvl="3" eaLnBrk="1" hangingPunct="1"/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template &lt;class T2&gt; </a:t>
            </a:r>
          </a:p>
          <a:p>
            <a:pPr marL="0" lvl="3" eaLnBrk="1" hangingPunct="1"/>
            <a:r>
              <a:rPr lang="en-US" altLang="zh-CN" sz="2000" dirty="0"/>
              <a:t>class</a:t>
            </a:r>
            <a:r>
              <a:rPr lang="zh-CN" altLang="en-US" sz="2000" dirty="0"/>
              <a:t> 类模板名</a:t>
            </a:r>
            <a:r>
              <a:rPr lang="en-US" altLang="zh-CN" sz="2000" dirty="0"/>
              <a:t>&lt;</a:t>
            </a:r>
            <a:r>
              <a:rPr lang="zh-CN" altLang="en-US" sz="2000" dirty="0"/>
              <a:t>特化部分数据类型</a:t>
            </a:r>
            <a:r>
              <a:rPr lang="en-US" altLang="zh-CN" sz="2000" dirty="0"/>
              <a:t>T1, T2&gt;</a:t>
            </a:r>
          </a:p>
          <a:p>
            <a:pPr marL="0" lvl="3" eaLnBrk="1" hangingPunct="1"/>
            <a:r>
              <a:rPr lang="en-US" altLang="zh-CN" sz="2000" dirty="0"/>
              <a:t>{   </a:t>
            </a:r>
            <a:r>
              <a:rPr lang="en-US" altLang="zh-CN" sz="2000" dirty="0">
                <a:latin typeface="Arial" panose="020B0604020202020204" pitchFamily="34" charset="0"/>
              </a:rPr>
              <a:t>……</a:t>
            </a:r>
            <a:r>
              <a:rPr lang="en-US" altLang="zh-CN" sz="2000" dirty="0"/>
              <a:t>//</a:t>
            </a:r>
            <a:r>
              <a:rPr lang="zh-CN" altLang="en-US" sz="2000" dirty="0"/>
              <a:t>类成员定义</a:t>
            </a:r>
          </a:p>
          <a:p>
            <a:pPr marL="0" lvl="3" eaLnBrk="1" hangingPunct="1"/>
            <a:r>
              <a:rPr lang="en-US" altLang="zh-CN" sz="2000" dirty="0"/>
              <a:t>};</a:t>
            </a:r>
            <a:endParaRPr lang="zh-CN" altLang="en-US" sz="2000" dirty="0"/>
          </a:p>
        </p:txBody>
      </p:sp>
      <p:sp>
        <p:nvSpPr>
          <p:cNvPr id="3" name="矩形 2"/>
          <p:cNvSpPr/>
          <p:nvPr/>
        </p:nvSpPr>
        <p:spPr>
          <a:xfrm>
            <a:off x="1143000" y="4382700"/>
            <a:ext cx="7500325" cy="1200329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marL="0" lvl="4"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template &lt;&gt; </a:t>
            </a:r>
          </a:p>
          <a:p>
            <a:pPr marL="0" lvl="4" eaLnBrk="1" hangingPunct="1">
              <a:lnSpc>
                <a:spcPct val="90000"/>
              </a:lnSpc>
              <a:buFontTx/>
              <a:buNone/>
            </a:pPr>
            <a:r>
              <a:rPr lang="zh-CN" altLang="en-US" sz="2000" dirty="0"/>
              <a:t>返回类型 类模板名</a:t>
            </a:r>
            <a:r>
              <a:rPr lang="en-US" altLang="zh-CN" sz="2000" dirty="0"/>
              <a:t>&lt;</a:t>
            </a:r>
            <a:r>
              <a:rPr lang="zh-CN" altLang="en-US" sz="2000" dirty="0">
                <a:solidFill>
                  <a:srgbClr val="FF0000"/>
                </a:solidFill>
              </a:rPr>
              <a:t>特化的数据类型</a:t>
            </a:r>
            <a:r>
              <a:rPr lang="en-US" altLang="zh-CN" sz="2000" dirty="0"/>
              <a:t>&gt;::</a:t>
            </a:r>
            <a:r>
              <a:rPr lang="zh-CN" altLang="en-US" sz="2000" dirty="0">
                <a:solidFill>
                  <a:srgbClr val="FF0000"/>
                </a:solidFill>
              </a:rPr>
              <a:t>特化成员函数名</a:t>
            </a:r>
            <a:r>
              <a:rPr lang="en-US" altLang="zh-CN" sz="2000" dirty="0"/>
              <a:t>(</a:t>
            </a:r>
            <a:r>
              <a:rPr lang="zh-CN" altLang="en-US" sz="2000" dirty="0"/>
              <a:t>参数表</a:t>
            </a:r>
            <a:r>
              <a:rPr lang="en-US" altLang="zh-CN" sz="2000" dirty="0"/>
              <a:t>)</a:t>
            </a:r>
          </a:p>
          <a:p>
            <a:pPr marL="0" lvl="4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/>
              <a:t>{   </a:t>
            </a:r>
            <a:r>
              <a:rPr lang="en-US" altLang="zh-CN" sz="2000" dirty="0">
                <a:latin typeface="Arial" panose="020B0604020202020204" pitchFamily="34" charset="0"/>
              </a:rPr>
              <a:t>……</a:t>
            </a:r>
            <a:r>
              <a:rPr lang="en-US" altLang="zh-CN" sz="2000" dirty="0"/>
              <a:t>  //</a:t>
            </a:r>
            <a:r>
              <a:rPr lang="zh-CN" altLang="en-US" sz="2000" dirty="0"/>
              <a:t>函数定义体</a:t>
            </a:r>
          </a:p>
          <a:p>
            <a:pPr marL="0" lvl="4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/>
              <a:t>};</a:t>
            </a:r>
          </a:p>
        </p:txBody>
      </p:sp>
      <p:sp>
        <p:nvSpPr>
          <p:cNvPr id="4" name="矩形 3"/>
          <p:cNvSpPr/>
          <p:nvPr/>
        </p:nvSpPr>
        <p:spPr>
          <a:xfrm>
            <a:off x="646231" y="3957968"/>
            <a:ext cx="5247432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 eaLnBrk="1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zh-CN" dirty="0">
                <a:solidFill>
                  <a:srgbClr val="FF0000"/>
                </a:solidFill>
              </a:rPr>
              <a:t>• </a:t>
            </a:r>
            <a:r>
              <a:rPr lang="zh-CN" altLang="en-US" dirty="0">
                <a:solidFill>
                  <a:srgbClr val="FF0000"/>
                </a:solidFill>
              </a:rPr>
              <a:t>特化</a:t>
            </a:r>
            <a:r>
              <a:rPr lang="zh-CN" altLang="en-US" dirty="0"/>
              <a:t>类模板的</a:t>
            </a:r>
            <a:r>
              <a:rPr lang="zh-CN" altLang="en-US" dirty="0">
                <a:solidFill>
                  <a:srgbClr val="FF0000"/>
                </a:solidFill>
              </a:rPr>
              <a:t>部分成员函数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10372" y="1899635"/>
            <a:ext cx="3446777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2" indent="0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altLang="zh-CN" dirty="0">
                <a:solidFill>
                  <a:srgbClr val="FF0000"/>
                </a:solidFill>
              </a:rPr>
              <a:t>• </a:t>
            </a:r>
            <a:r>
              <a:rPr lang="zh-CN" altLang="en-US" dirty="0">
                <a:solidFill>
                  <a:srgbClr val="FF0000"/>
                </a:solidFill>
              </a:rPr>
              <a:t>特化</a:t>
            </a:r>
            <a:r>
              <a:rPr lang="zh-CN" altLang="en-US" dirty="0"/>
              <a:t>类模板的</a:t>
            </a:r>
            <a:r>
              <a:rPr lang="zh-CN" altLang="en-US" dirty="0">
                <a:solidFill>
                  <a:srgbClr val="FF0000"/>
                </a:solidFill>
              </a:rPr>
              <a:t>部分类型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/>
          <p:cNvSpPr>
            <a:spLocks noGrp="1" noChangeArrowheads="1"/>
          </p:cNvSpPr>
          <p:nvPr>
            <p:ph type="title"/>
          </p:nvPr>
        </p:nvSpPr>
        <p:spPr>
          <a:xfrm>
            <a:off x="773113" y="44450"/>
            <a:ext cx="7772400" cy="8636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dirty="0"/>
              <a:t>6.3.4 </a:t>
            </a:r>
            <a:r>
              <a:rPr lang="zh-CN" altLang="en-US" dirty="0"/>
              <a:t>类模板与</a:t>
            </a:r>
            <a:r>
              <a:rPr lang="zh-CN" altLang="en-US" dirty="0">
                <a:solidFill>
                  <a:schemeClr val="tx1"/>
                </a:solidFill>
              </a:rPr>
              <a:t>友元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84994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88963" y="1044960"/>
            <a:ext cx="7772400" cy="574675"/>
          </a:xfrm>
        </p:spPr>
        <p:txBody>
          <a:bodyPr/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 2" panose="05020102010507070707" pitchFamily="18" charset="2"/>
              <a:buNone/>
            </a:pPr>
            <a:r>
              <a:rPr lang="zh-CN" altLang="en-US" sz="2800" dirty="0"/>
              <a:t>类模板与</a:t>
            </a:r>
            <a:r>
              <a:rPr lang="zh-CN" altLang="en-US" sz="2800" dirty="0">
                <a:solidFill>
                  <a:srgbClr val="FF0000"/>
                </a:solidFill>
              </a:rPr>
              <a:t>友元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400" dirty="0"/>
              <a:t>在类模板的定义中可以声明友元，这些友元可分为</a:t>
            </a:r>
            <a:r>
              <a:rPr lang="en-US" altLang="zh-CN" sz="2400" dirty="0"/>
              <a:t>3</a:t>
            </a:r>
            <a:r>
              <a:rPr lang="zh-CN" altLang="en-US" sz="2400" dirty="0"/>
              <a:t>种：</a:t>
            </a:r>
          </a:p>
        </p:txBody>
      </p:sp>
      <p:sp>
        <p:nvSpPr>
          <p:cNvPr id="2" name="矩形 1"/>
          <p:cNvSpPr/>
          <p:nvPr/>
        </p:nvSpPr>
        <p:spPr>
          <a:xfrm>
            <a:off x="4818414" y="5945797"/>
            <a:ext cx="40800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eaLnBrk="1" hangingPunct="1"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  <a:buFontTx/>
              <a:buAutoNum type="circleNumDbPlain" startAt="3"/>
            </a:pP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 模板特例友元</a:t>
            </a:r>
            <a:endParaRPr lang="en-US" altLang="zh-CN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8" name="矩形 10"/>
          <p:cNvSpPr>
            <a:spLocks noChangeArrowheads="1"/>
          </p:cNvSpPr>
          <p:nvPr/>
        </p:nvSpPr>
        <p:spPr bwMode="auto">
          <a:xfrm>
            <a:off x="5230203" y="3934789"/>
            <a:ext cx="37342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76288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1" eaLnBrk="1" hangingPunct="1"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  <a:buFontTx/>
              <a:buAutoNum type="circleNumDbPlain" startAt="2"/>
            </a:pP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模板友元</a:t>
            </a:r>
            <a:endParaRPr lang="en-US" altLang="zh-CN" dirty="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10" name="矩形 8"/>
          <p:cNvSpPr>
            <a:spLocks noChangeArrowheads="1"/>
          </p:cNvSpPr>
          <p:nvPr/>
        </p:nvSpPr>
        <p:spPr bwMode="auto">
          <a:xfrm>
            <a:off x="4909925" y="2050682"/>
            <a:ext cx="34711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76288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  <a:buFontTx/>
              <a:buAutoNum type="circleNumDbPlain"/>
            </a:pP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普通友元</a:t>
            </a:r>
          </a:p>
        </p:txBody>
      </p:sp>
      <p:cxnSp>
        <p:nvCxnSpPr>
          <p:cNvPr id="6" name="直接箭头连接符 5"/>
          <p:cNvCxnSpPr>
            <a:stCxn id="14" idx="3"/>
          </p:cNvCxnSpPr>
          <p:nvPr/>
        </p:nvCxnSpPr>
        <p:spPr>
          <a:xfrm flipV="1">
            <a:off x="2123728" y="2276873"/>
            <a:ext cx="3188831" cy="1543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8"/>
          <p:cNvSpPr>
            <a:spLocks noChangeArrowheads="1"/>
          </p:cNvSpPr>
          <p:nvPr/>
        </p:nvSpPr>
        <p:spPr bwMode="auto">
          <a:xfrm>
            <a:off x="503548" y="3405060"/>
            <a:ext cx="1620180" cy="830997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76288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1" indent="0" eaLnBrk="1" hangingPunct="1"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</a:pPr>
            <a:r>
              <a:rPr lang="zh-CN" alt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友元是否为模板？</a:t>
            </a:r>
            <a:endParaRPr lang="zh-CN" altLang="en-US" sz="2000" dirty="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771800" y="4252920"/>
            <a:ext cx="1584176" cy="1200329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marL="0" lvl="1" indent="0" eaLnBrk="1" hangingPunct="1"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</a:pPr>
            <a:r>
              <a:rPr lang="zh-CN" alt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友元是否为模板的特例？</a:t>
            </a:r>
            <a:endParaRPr lang="en-US" altLang="zh-CN" dirty="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cxnSp>
        <p:nvCxnSpPr>
          <p:cNvPr id="16" name="直接箭头连接符 15"/>
          <p:cNvCxnSpPr>
            <a:stCxn id="14" idx="3"/>
            <a:endCxn id="7" idx="1"/>
          </p:cNvCxnSpPr>
          <p:nvPr/>
        </p:nvCxnSpPr>
        <p:spPr>
          <a:xfrm>
            <a:off x="2123728" y="3820559"/>
            <a:ext cx="648072" cy="1032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7" idx="3"/>
          </p:cNvCxnSpPr>
          <p:nvPr/>
        </p:nvCxnSpPr>
        <p:spPr>
          <a:xfrm flipV="1">
            <a:off x="4355976" y="4266825"/>
            <a:ext cx="874336" cy="5862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7" idx="3"/>
          </p:cNvCxnSpPr>
          <p:nvPr/>
        </p:nvCxnSpPr>
        <p:spPr>
          <a:xfrm>
            <a:off x="4355976" y="4853085"/>
            <a:ext cx="956583" cy="1323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8"/>
          <p:cNvSpPr>
            <a:spLocks noChangeArrowheads="1"/>
          </p:cNvSpPr>
          <p:nvPr/>
        </p:nvSpPr>
        <p:spPr bwMode="auto">
          <a:xfrm>
            <a:off x="3275856" y="2697212"/>
            <a:ext cx="9245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76288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1" indent="0" eaLnBrk="1" hangingPunct="1"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</a:pP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否</a:t>
            </a:r>
            <a:endParaRPr lang="zh-CN" altLang="en-US" sz="20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" name="矩形 8"/>
          <p:cNvSpPr>
            <a:spLocks noChangeArrowheads="1"/>
          </p:cNvSpPr>
          <p:nvPr/>
        </p:nvSpPr>
        <p:spPr bwMode="auto">
          <a:xfrm>
            <a:off x="2040211" y="4683214"/>
            <a:ext cx="6170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76288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1" indent="0" eaLnBrk="1" hangingPunct="1"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</a:pP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是</a:t>
            </a:r>
            <a:endParaRPr lang="zh-CN" altLang="en-US" sz="20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" name="矩形 8"/>
          <p:cNvSpPr>
            <a:spLocks noChangeArrowheads="1"/>
          </p:cNvSpPr>
          <p:nvPr/>
        </p:nvSpPr>
        <p:spPr bwMode="auto">
          <a:xfrm>
            <a:off x="4547606" y="5785689"/>
            <a:ext cx="6170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76288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1" indent="0" eaLnBrk="1" hangingPunct="1"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</a:pP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是</a:t>
            </a:r>
            <a:endParaRPr lang="zh-CN" altLang="en-US" sz="20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8" name="矩形 8"/>
          <p:cNvSpPr>
            <a:spLocks noChangeArrowheads="1"/>
          </p:cNvSpPr>
          <p:nvPr/>
        </p:nvSpPr>
        <p:spPr bwMode="auto">
          <a:xfrm>
            <a:off x="4630361" y="4005224"/>
            <a:ext cx="6170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76288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1" indent="0" eaLnBrk="1" hangingPunct="1"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</a:pP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否</a:t>
            </a:r>
            <a:endParaRPr lang="zh-CN" altLang="en-US" sz="20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0784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6.3.4 </a:t>
            </a:r>
            <a:r>
              <a:rPr lang="zh-CN" altLang="en-US" dirty="0"/>
              <a:t>类模板与</a:t>
            </a:r>
            <a:r>
              <a:rPr lang="zh-CN" altLang="en-US" dirty="0">
                <a:solidFill>
                  <a:schemeClr val="tx1"/>
                </a:solidFill>
              </a:rPr>
              <a:t>友元</a:t>
            </a:r>
          </a:p>
        </p:txBody>
      </p:sp>
      <p:sp>
        <p:nvSpPr>
          <p:cNvPr id="84995" name="矩形 8"/>
          <p:cNvSpPr>
            <a:spLocks noChangeArrowheads="1"/>
          </p:cNvSpPr>
          <p:nvPr/>
        </p:nvSpPr>
        <p:spPr bwMode="auto">
          <a:xfrm>
            <a:off x="579948" y="1707356"/>
            <a:ext cx="8054975" cy="911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76288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  <a:buFontTx/>
              <a:buAutoNum type="circleNumDbPlain"/>
            </a:pP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普通友元</a:t>
            </a:r>
          </a:p>
          <a:p>
            <a:pPr marL="319088" lvl="1" indent="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</a:pPr>
            <a:r>
              <a:rPr lang="zh-CN" alt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非模板（类、函数）作为模板类的友元</a:t>
            </a:r>
            <a:endParaRPr lang="zh-CN" altLang="en-US" sz="2000" dirty="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84996" name="矩形 3"/>
          <p:cNvSpPr>
            <a:spLocks noChangeArrowheads="1"/>
          </p:cNvSpPr>
          <p:nvPr/>
        </p:nvSpPr>
        <p:spPr bwMode="auto">
          <a:xfrm>
            <a:off x="1691680" y="4194954"/>
            <a:ext cx="6242844" cy="1754326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</a:rPr>
              <a:t>template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</a:rPr>
              <a:t>&lt;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</a:rPr>
              <a:t> T&gt;</a:t>
            </a:r>
          </a:p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</a:rPr>
              <a:t> A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</a:rPr>
              <a:t>{  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</a:rPr>
              <a:t>friend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</a:rPr>
              <a:t> class </a:t>
            </a: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c1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zh-CN" altLang="en-US" sz="1800" dirty="0">
                <a:solidFill>
                  <a:srgbClr val="000000"/>
                </a:solidFill>
                <a:latin typeface="Consolas" pitchFamily="49" charset="0"/>
              </a:rPr>
              <a:t>　　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</a:rPr>
              <a:t>friend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</a:rPr>
              <a:t>void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func1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</a:rPr>
              <a:t>();</a:t>
            </a:r>
          </a:p>
          <a:p>
            <a:r>
              <a:rPr lang="zh-CN" altLang="en-US" sz="1800" dirty="0">
                <a:solidFill>
                  <a:srgbClr val="000000"/>
                </a:solidFill>
                <a:latin typeface="Consolas" pitchFamily="49" charset="0"/>
              </a:rPr>
              <a:t>　　</a:t>
            </a:r>
            <a:r>
              <a:rPr lang="en-US" altLang="zh-CN" sz="1800" dirty="0">
                <a:solidFill>
                  <a:srgbClr val="008000"/>
                </a:solidFill>
                <a:latin typeface="Consolas" pitchFamily="49" charset="0"/>
              </a:rPr>
              <a:t>//...</a:t>
            </a:r>
            <a:endParaRPr lang="zh-CN" altLang="en-US" sz="18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</a:rPr>
              <a:t>};</a:t>
            </a:r>
          </a:p>
        </p:txBody>
      </p:sp>
      <p:sp>
        <p:nvSpPr>
          <p:cNvPr id="6" name="矩形 8"/>
          <p:cNvSpPr>
            <a:spLocks noChangeArrowheads="1"/>
          </p:cNvSpPr>
          <p:nvPr/>
        </p:nvSpPr>
        <p:spPr bwMode="auto">
          <a:xfrm>
            <a:off x="1331640" y="3284984"/>
            <a:ext cx="6336704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76288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19088" lvl="1" indent="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</a:pPr>
            <a:r>
              <a:rPr lang="zh-CN" altLang="en-US" sz="20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例：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若</a:t>
            </a:r>
            <a:r>
              <a:rPr lang="en-US" altLang="zh-CN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c1 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为普通类， </a:t>
            </a:r>
            <a:r>
              <a:rPr lang="en-US" altLang="zh-CN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func1 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为普通函数，</a:t>
            </a:r>
            <a:endParaRPr lang="en-US" altLang="zh-CN" sz="20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19088" lvl="1" indent="0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</a:pP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则类模板中可以声明他们为友元</a:t>
            </a:r>
            <a:endParaRPr lang="zh-CN" altLang="en-US" sz="18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63058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6.3.4 </a:t>
            </a:r>
            <a:r>
              <a:rPr lang="zh-CN" altLang="en-US" dirty="0"/>
              <a:t>类模板与</a:t>
            </a:r>
            <a:r>
              <a:rPr lang="zh-CN" altLang="en-US" dirty="0">
                <a:solidFill>
                  <a:schemeClr val="tx1"/>
                </a:solidFill>
              </a:rPr>
              <a:t>友元</a:t>
            </a:r>
          </a:p>
        </p:txBody>
      </p:sp>
      <p:sp>
        <p:nvSpPr>
          <p:cNvPr id="84997" name="矩形 10"/>
          <p:cNvSpPr>
            <a:spLocks noChangeArrowheads="1"/>
          </p:cNvSpPr>
          <p:nvPr/>
        </p:nvSpPr>
        <p:spPr bwMode="auto">
          <a:xfrm>
            <a:off x="387837" y="969115"/>
            <a:ext cx="8145463" cy="984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76288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  <a:buFontTx/>
              <a:buAutoNum type="circleNumDbPlain" startAt="2"/>
            </a:pP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模板友元</a:t>
            </a:r>
            <a:endParaRPr lang="en-US" altLang="zh-CN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 marL="319088" lvl="1" indent="0" eaLnBrk="1" hangingPunct="1"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</a:pPr>
            <a:r>
              <a:rPr lang="zh-CN" altLang="en-US" dirty="0">
                <a:solidFill>
                  <a:srgbClr val="000000"/>
                </a:solidFill>
                <a:latin typeface="Comic Sans MS" panose="030F0702030302020204" pitchFamily="66" charset="0"/>
              </a:rPr>
              <a:t>作为友元的模板生成的所有实例都是类模板的友元</a:t>
            </a:r>
            <a:endParaRPr lang="en-US" altLang="zh-CN" dirty="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84998" name="矩形 6"/>
          <p:cNvSpPr>
            <a:spLocks noChangeArrowheads="1"/>
          </p:cNvSpPr>
          <p:nvPr/>
        </p:nvSpPr>
        <p:spPr bwMode="auto">
          <a:xfrm>
            <a:off x="1763688" y="3753039"/>
            <a:ext cx="6769612" cy="2031325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</a:rPr>
              <a:t>template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</a:rPr>
              <a:t>&lt;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type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</a:rPr>
              <a:t>&gt;</a:t>
            </a:r>
          </a:p>
          <a:p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</a:rPr>
              <a:t> A</a:t>
            </a:r>
          </a:p>
          <a:p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</a:rPr>
              <a:t>{  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template</a:t>
            </a: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&lt;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class</a:t>
            </a: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T&gt;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</a:rPr>
              <a:t>friend</a:t>
            </a: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</a:rPr>
              <a:t>class c2;</a:t>
            </a:r>
          </a:p>
          <a:p>
            <a:endParaRPr lang="en-US" altLang="zh-CN" sz="18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zh-CN" altLang="en-US" sz="1800" dirty="0">
                <a:solidFill>
                  <a:srgbClr val="000000"/>
                </a:solidFill>
                <a:latin typeface="Consolas" pitchFamily="49" charset="0"/>
              </a:rPr>
              <a:t>　　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template</a:t>
            </a: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&lt;</a:t>
            </a:r>
            <a:r>
              <a:rPr lang="en-US" altLang="zh-CN" sz="1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class</a:t>
            </a: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T&gt;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</a:rPr>
              <a:t>friend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</a:rPr>
              <a:t>void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</a:rPr>
              <a:t> fun(</a:t>
            </a: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T</a:t>
            </a:r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</a:rPr>
              <a:t> u);</a:t>
            </a:r>
          </a:p>
          <a:p>
            <a:r>
              <a:rPr lang="zh-CN" altLang="en-US" sz="1800" dirty="0">
                <a:solidFill>
                  <a:srgbClr val="000000"/>
                </a:solidFill>
                <a:latin typeface="Consolas" pitchFamily="49" charset="0"/>
              </a:rPr>
              <a:t>　　</a:t>
            </a:r>
            <a:r>
              <a:rPr lang="en-US" altLang="zh-CN" sz="1800" dirty="0">
                <a:solidFill>
                  <a:srgbClr val="008000"/>
                </a:solidFill>
                <a:latin typeface="Consolas" pitchFamily="49" charset="0"/>
              </a:rPr>
              <a:t>//...</a:t>
            </a:r>
            <a:endParaRPr lang="zh-CN" altLang="en-US" sz="18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latin typeface="Consolas" pitchFamily="49" charset="0"/>
              </a:rPr>
              <a:t>};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526560" y="5883713"/>
            <a:ext cx="216024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类型参数不同</a:t>
            </a:r>
          </a:p>
        </p:txBody>
      </p:sp>
      <p:cxnSp>
        <p:nvCxnSpPr>
          <p:cNvPr id="5" name="直接箭头连接符 4"/>
          <p:cNvCxnSpPr>
            <a:cxnSpLocks/>
            <a:stCxn id="3" idx="1"/>
          </p:cNvCxnSpPr>
          <p:nvPr/>
        </p:nvCxnSpPr>
        <p:spPr>
          <a:xfrm flipH="1" flipV="1">
            <a:off x="4460568" y="5193693"/>
            <a:ext cx="2065992" cy="9208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任意多边形 6"/>
          <p:cNvSpPr/>
          <p:nvPr/>
        </p:nvSpPr>
        <p:spPr>
          <a:xfrm>
            <a:off x="4644008" y="3902987"/>
            <a:ext cx="2975992" cy="1980725"/>
          </a:xfrm>
          <a:custGeom>
            <a:avLst/>
            <a:gdLst>
              <a:gd name="connsiteX0" fmla="*/ 1871529 w 1871529"/>
              <a:gd name="connsiteY0" fmla="*/ 2298818 h 2298818"/>
              <a:gd name="connsiteX1" fmla="*/ 1281870 w 1871529"/>
              <a:gd name="connsiteY1" fmla="*/ 401652 h 2298818"/>
              <a:gd name="connsiteX2" fmla="*/ 0 w 1871529"/>
              <a:gd name="connsiteY2" fmla="*/ 0 h 2298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71529" h="2298818">
                <a:moveTo>
                  <a:pt x="1871529" y="2298818"/>
                </a:moveTo>
                <a:cubicBezTo>
                  <a:pt x="1732660" y="1541803"/>
                  <a:pt x="1593791" y="784788"/>
                  <a:pt x="1281870" y="401652"/>
                </a:cubicBezTo>
                <a:cubicBezTo>
                  <a:pt x="969949" y="18516"/>
                  <a:pt x="484974" y="9258"/>
                  <a:pt x="0" y="0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8"/>
          <p:cNvSpPr>
            <a:spLocks noChangeArrowheads="1"/>
          </p:cNvSpPr>
          <p:nvPr/>
        </p:nvSpPr>
        <p:spPr bwMode="auto">
          <a:xfrm>
            <a:off x="1403648" y="2945804"/>
            <a:ext cx="633174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76288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19088" lvl="1" indent="0" eaLnBrk="1" hangingPunct="1">
              <a:spcBef>
                <a:spcPts val="0"/>
              </a:spcBef>
              <a:spcAft>
                <a:spcPts val="0"/>
              </a:spcAft>
              <a:buClr>
                <a:srgbClr val="9B2D1F"/>
              </a:buClr>
              <a:buSzPct val="85000"/>
            </a:pPr>
            <a:r>
              <a:rPr lang="zh-CN" altLang="en-US" sz="20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例：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若</a:t>
            </a:r>
            <a:r>
              <a:rPr lang="en-US" altLang="zh-CN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c2 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为类模板， </a:t>
            </a:r>
            <a:r>
              <a:rPr lang="en-US" altLang="zh-CN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func2 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为函数模板，</a:t>
            </a:r>
            <a:endParaRPr lang="en-US" altLang="zh-CN" sz="20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19088" lvl="1" indent="0" eaLnBrk="1" hangingPunct="1">
              <a:spcBef>
                <a:spcPts val="0"/>
              </a:spcBef>
              <a:spcAft>
                <a:spcPts val="0"/>
              </a:spcAft>
              <a:buClr>
                <a:srgbClr val="9B2D1F"/>
              </a:buClr>
              <a:buSzPct val="85000"/>
            </a:pP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则类模板中可以声明它们为友元</a:t>
            </a:r>
            <a:endParaRPr lang="zh-CN" altLang="en-US" sz="18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99592" y="1998044"/>
            <a:ext cx="6120680" cy="703457"/>
            <a:chOff x="899592" y="1998044"/>
            <a:chExt cx="6120680" cy="703457"/>
          </a:xfrm>
        </p:grpSpPr>
        <p:sp>
          <p:nvSpPr>
            <p:cNvPr id="18" name="矩形 17"/>
            <p:cNvSpPr/>
            <p:nvPr/>
          </p:nvSpPr>
          <p:spPr>
            <a:xfrm>
              <a:off x="1043608" y="1998044"/>
              <a:ext cx="5852680" cy="703457"/>
            </a:xfrm>
            <a:prstGeom prst="rect">
              <a:avLst/>
            </a:prstGeom>
            <a:solidFill>
              <a:srgbClr val="FF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899592" y="1998044"/>
              <a:ext cx="6120680" cy="703457"/>
              <a:chOff x="395536" y="2055760"/>
              <a:chExt cx="6120680" cy="703457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395536" y="2112886"/>
                <a:ext cx="612068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19088" lvl="1" indent="0" eaLnBrk="1" hangingPunct="1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rgbClr val="9B2D1F"/>
                  </a:buClr>
                  <a:buSzPct val="85000"/>
                </a:pPr>
                <a:r>
                  <a:rPr lang="zh-CN" altLang="en-US" dirty="0">
                    <a:solidFill>
                      <a:srgbClr val="000000"/>
                    </a:solidFill>
                    <a:latin typeface="Comic Sans MS" panose="030F0702030302020204" pitchFamily="66" charset="0"/>
                  </a:rPr>
                  <a:t>特点：</a:t>
                </a:r>
                <a:endParaRPr lang="zh-CN" altLang="en-US" sz="2000" dirty="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2339752" y="2221916"/>
                <a:ext cx="204094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b="1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mic Sans MS" panose="030F0702030302020204" pitchFamily="66" charset="0"/>
                  </a:rPr>
                  <a:t>类模板的实例</a:t>
                </a:r>
                <a:endParaRPr lang="zh-CN" altLang="en-US" dirty="0"/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5121729" y="2112886"/>
                <a:ext cx="1125949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19088" lvl="1" indent="0" eaLnBrk="1" hangingPunct="1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rgbClr val="9B2D1F"/>
                  </a:buClr>
                  <a:buSzPct val="85000"/>
                </a:pPr>
                <a:r>
                  <a:rPr lang="zh-CN" altLang="en-US" b="1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mic Sans MS" panose="030F0702030302020204" pitchFamily="66" charset="0"/>
                  </a:rPr>
                  <a:t>友元</a:t>
                </a:r>
                <a:endParaRPr lang="zh-CN" altLang="en-US" sz="2000" dirty="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cxnSp>
            <p:nvCxnSpPr>
              <p:cNvPr id="14" name="直接箭头连接符 13"/>
              <p:cNvCxnSpPr/>
              <p:nvPr/>
            </p:nvCxnSpPr>
            <p:spPr>
              <a:xfrm>
                <a:off x="4380695" y="2481390"/>
                <a:ext cx="983393" cy="1390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文本框 14"/>
              <p:cNvSpPr txBox="1"/>
              <p:nvPr/>
            </p:nvSpPr>
            <p:spPr>
              <a:xfrm>
                <a:off x="4382394" y="2055760"/>
                <a:ext cx="15322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/>
                  <a:t>一对多</a:t>
                </a:r>
              </a:p>
            </p:txBody>
          </p:sp>
        </p:grp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6.3.4 </a:t>
            </a:r>
            <a:r>
              <a:rPr lang="zh-CN" altLang="en-US" dirty="0"/>
              <a:t>类模板与</a:t>
            </a:r>
            <a:r>
              <a:rPr lang="zh-CN" altLang="en-US" dirty="0">
                <a:solidFill>
                  <a:schemeClr val="tx1"/>
                </a:solidFill>
              </a:rPr>
              <a:t>友元函数</a:t>
            </a:r>
          </a:p>
        </p:txBody>
      </p:sp>
      <p:sp>
        <p:nvSpPr>
          <p:cNvPr id="87042" name="矩形 12"/>
          <p:cNvSpPr>
            <a:spLocks noChangeArrowheads="1"/>
          </p:cNvSpPr>
          <p:nvPr/>
        </p:nvSpPr>
        <p:spPr bwMode="auto">
          <a:xfrm>
            <a:off x="323528" y="982120"/>
            <a:ext cx="8568952" cy="1000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76288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  <a:buFontTx/>
              <a:buAutoNum type="circleNumDbPlain" startAt="3"/>
            </a:pP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模板特例友元</a:t>
            </a:r>
          </a:p>
          <a:p>
            <a:pPr marL="319088" lvl="1" indent="0" eaLnBrk="1" hangingPunct="1"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</a:pPr>
            <a:endParaRPr lang="en-US" altLang="zh-CN" sz="2000" dirty="0">
              <a:solidFill>
                <a:srgbClr val="C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87043" name="矩形 7"/>
          <p:cNvSpPr>
            <a:spLocks noChangeArrowheads="1"/>
          </p:cNvSpPr>
          <p:nvPr/>
        </p:nvSpPr>
        <p:spPr bwMode="auto">
          <a:xfrm>
            <a:off x="971600" y="3225144"/>
            <a:ext cx="7776864" cy="2862322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template </a:t>
            </a:r>
            <a:r>
              <a:rPr lang="en-US" altLang="zh-CN" sz="2000" dirty="0">
                <a:latin typeface="Consolas" pitchFamily="49" charset="0"/>
              </a:rPr>
              <a:t>&lt;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class T</a:t>
            </a:r>
            <a:r>
              <a:rPr lang="en-US" altLang="zh-CN" sz="2000" dirty="0">
                <a:latin typeface="Consolas" pitchFamily="49" charset="0"/>
              </a:rPr>
              <a:t>&gt;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 class </a:t>
            </a:r>
            <a:r>
              <a:rPr lang="en-US" altLang="zh-CN" sz="2000" dirty="0">
                <a:latin typeface="Consolas" pitchFamily="49" charset="0"/>
              </a:rPr>
              <a:t>c3;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        </a:t>
            </a:r>
            <a:r>
              <a:rPr lang="en-US" altLang="zh-CN" sz="2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//</a:t>
            </a:r>
            <a:r>
              <a:rPr lang="zh-CN" altLang="en-US" sz="2000" dirty="0">
                <a:solidFill>
                  <a:srgbClr val="006600"/>
                </a:solidFill>
                <a:latin typeface="Consolas" pitchFamily="49" charset="0"/>
              </a:rPr>
              <a:t>声明类模板</a:t>
            </a:r>
            <a:endParaRPr lang="en-US" altLang="zh-CN" sz="2000" dirty="0">
              <a:solidFill>
                <a:srgbClr val="006600"/>
              </a:solidFill>
              <a:latin typeface="Consolas" pitchFamily="49" charset="0"/>
            </a:endParaRPr>
          </a:p>
          <a:p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template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&lt;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T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&gt; 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void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fun3(T u);  </a:t>
            </a:r>
            <a:r>
              <a:rPr lang="en-US" altLang="zh-CN" sz="2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//</a:t>
            </a:r>
            <a:r>
              <a:rPr lang="zh-CN" altLang="en-US" sz="2000" dirty="0">
                <a:solidFill>
                  <a:srgbClr val="006600"/>
                </a:solidFill>
                <a:latin typeface="Consolas" pitchFamily="49" charset="0"/>
              </a:rPr>
              <a:t>声明函数模板</a:t>
            </a:r>
            <a:endParaRPr lang="en-US" altLang="zh-CN" sz="2000" dirty="0">
              <a:solidFill>
                <a:srgbClr val="006600"/>
              </a:solidFill>
              <a:latin typeface="Consolas" pitchFamily="49" charset="0"/>
            </a:endParaRPr>
          </a:p>
          <a:p>
            <a:endParaRPr lang="zh-CN" altLang="en-US" sz="20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template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&lt;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T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&gt;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A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{   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friend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class </a:t>
            </a:r>
            <a:r>
              <a:rPr lang="en-US" altLang="zh-CN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c3&lt;int&gt;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;          </a:t>
            </a:r>
            <a:r>
              <a:rPr lang="en-US" altLang="zh-CN" sz="2000" dirty="0">
                <a:solidFill>
                  <a:srgbClr val="006600"/>
                </a:solidFill>
                <a:latin typeface="Consolas" pitchFamily="49" charset="0"/>
              </a:rPr>
              <a:t>//</a:t>
            </a:r>
            <a:r>
              <a:rPr lang="zh-CN" altLang="en-US" sz="2000" dirty="0">
                <a:solidFill>
                  <a:srgbClr val="006600"/>
                </a:solidFill>
                <a:latin typeface="Consolas" pitchFamily="49" charset="0"/>
              </a:rPr>
              <a:t>类模板的特例</a:t>
            </a:r>
            <a:endParaRPr lang="en-US" altLang="zh-CN" sz="2000" dirty="0">
              <a:solidFill>
                <a:srgbClr val="006600"/>
              </a:solidFill>
              <a:latin typeface="Consolas" pitchFamily="49" charset="0"/>
            </a:endParaRPr>
          </a:p>
          <a:p>
            <a:r>
              <a:rPr lang="zh-CN" altLang="en-US" sz="2000" dirty="0">
                <a:solidFill>
                  <a:srgbClr val="000000"/>
                </a:solidFill>
                <a:latin typeface="Consolas" pitchFamily="49" charset="0"/>
              </a:rPr>
              <a:t>    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friend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void </a:t>
            </a:r>
            <a:r>
              <a:rPr lang="en-US" altLang="zh-CN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fun3&lt;</a:t>
            </a:r>
            <a:r>
              <a:rPr lang="en-US" altLang="zh-CN" sz="20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int</a:t>
            </a:r>
            <a:r>
              <a:rPr lang="en-US" altLang="zh-CN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&gt;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latin typeface="Consolas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u);  </a:t>
            </a:r>
            <a:r>
              <a:rPr lang="en-US" altLang="zh-CN" sz="2000" dirty="0">
                <a:solidFill>
                  <a:srgbClr val="006600"/>
                </a:solidFill>
                <a:latin typeface="Consolas" pitchFamily="49" charset="0"/>
              </a:rPr>
              <a:t>//</a:t>
            </a:r>
            <a:r>
              <a:rPr lang="zh-CN" altLang="en-US" sz="2000" dirty="0">
                <a:solidFill>
                  <a:srgbClr val="006600"/>
                </a:solidFill>
                <a:latin typeface="Consolas" pitchFamily="49" charset="0"/>
              </a:rPr>
              <a:t>函数模板特例</a:t>
            </a:r>
            <a:endParaRPr lang="en-US" altLang="zh-CN" sz="2000" dirty="0">
              <a:solidFill>
                <a:srgbClr val="006600"/>
              </a:solidFill>
              <a:latin typeface="Consolas" pitchFamily="49" charset="0"/>
            </a:endParaRPr>
          </a:p>
          <a:p>
            <a:r>
              <a:rPr lang="zh-CN" altLang="en-US" sz="2000" dirty="0">
                <a:solidFill>
                  <a:srgbClr val="000000"/>
                </a:solidFill>
                <a:latin typeface="Consolas" pitchFamily="49" charset="0"/>
              </a:rPr>
              <a:t>　　</a:t>
            </a:r>
            <a:r>
              <a:rPr lang="en-US" altLang="zh-CN" sz="2000" dirty="0">
                <a:solidFill>
                  <a:srgbClr val="008000"/>
                </a:solidFill>
                <a:latin typeface="Consolas" pitchFamily="49" charset="0"/>
              </a:rPr>
              <a:t>//...</a:t>
            </a:r>
            <a:endParaRPr lang="zh-CN" altLang="en-US" sz="20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};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228184" y="6155652"/>
            <a:ext cx="2664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指定具体类型参数</a:t>
            </a:r>
          </a:p>
        </p:txBody>
      </p:sp>
      <p:cxnSp>
        <p:nvCxnSpPr>
          <p:cNvPr id="3" name="直接箭头连接符 2"/>
          <p:cNvCxnSpPr>
            <a:stCxn id="7" idx="1"/>
          </p:cNvCxnSpPr>
          <p:nvPr/>
        </p:nvCxnSpPr>
        <p:spPr>
          <a:xfrm flipH="1" flipV="1">
            <a:off x="4644924" y="5454373"/>
            <a:ext cx="1583260" cy="932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8"/>
          <p:cNvSpPr>
            <a:spLocks noChangeArrowheads="1"/>
          </p:cNvSpPr>
          <p:nvPr/>
        </p:nvSpPr>
        <p:spPr bwMode="auto">
          <a:xfrm>
            <a:off x="516448" y="2483165"/>
            <a:ext cx="633174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76288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19088" lvl="1" indent="0" eaLnBrk="1" hangingPunct="1">
              <a:spcBef>
                <a:spcPts val="0"/>
              </a:spcBef>
              <a:spcAft>
                <a:spcPts val="0"/>
              </a:spcAft>
              <a:buClr>
                <a:srgbClr val="9B2D1F"/>
              </a:buClr>
              <a:buSzPct val="85000"/>
            </a:pPr>
            <a:r>
              <a:rPr lang="zh-CN" altLang="en-US" sz="20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例：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若</a:t>
            </a:r>
            <a:r>
              <a:rPr lang="en-US" altLang="zh-CN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c3 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为类模板， </a:t>
            </a:r>
            <a:r>
              <a:rPr lang="en-US" altLang="zh-CN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func3 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为函数模板，</a:t>
            </a:r>
            <a:endParaRPr lang="en-US" altLang="zh-CN" sz="20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19088" lvl="1" indent="0" eaLnBrk="1" hangingPunct="1">
              <a:spcBef>
                <a:spcPts val="0"/>
              </a:spcBef>
              <a:spcAft>
                <a:spcPts val="0"/>
              </a:spcAft>
              <a:buClr>
                <a:srgbClr val="9B2D1F"/>
              </a:buClr>
              <a:buSzPct val="85000"/>
            </a:pP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则类模板中可以声明它们的特例为友元</a:t>
            </a:r>
            <a:endParaRPr lang="zh-CN" altLang="en-US" sz="18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3059324" y="1074427"/>
            <a:ext cx="6120680" cy="703457"/>
            <a:chOff x="899592" y="1998044"/>
            <a:chExt cx="6120680" cy="703457"/>
          </a:xfrm>
        </p:grpSpPr>
        <p:sp>
          <p:nvSpPr>
            <p:cNvPr id="14" name="矩形 13"/>
            <p:cNvSpPr/>
            <p:nvPr/>
          </p:nvSpPr>
          <p:spPr>
            <a:xfrm>
              <a:off x="1043608" y="1998044"/>
              <a:ext cx="5852680" cy="703457"/>
            </a:xfrm>
            <a:prstGeom prst="rect">
              <a:avLst/>
            </a:prstGeom>
            <a:solidFill>
              <a:srgbClr val="FF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899592" y="1998044"/>
              <a:ext cx="6120680" cy="703457"/>
              <a:chOff x="395536" y="2055760"/>
              <a:chExt cx="6120680" cy="703457"/>
            </a:xfrm>
          </p:grpSpPr>
          <p:sp>
            <p:nvSpPr>
              <p:cNvPr id="16" name="矩形 15"/>
              <p:cNvSpPr/>
              <p:nvPr/>
            </p:nvSpPr>
            <p:spPr>
              <a:xfrm>
                <a:off x="395536" y="2112886"/>
                <a:ext cx="612068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19088" lvl="1" indent="0" eaLnBrk="1" hangingPunct="1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rgbClr val="9B2D1F"/>
                  </a:buClr>
                  <a:buSzPct val="85000"/>
                </a:pPr>
                <a:r>
                  <a:rPr lang="zh-CN" altLang="en-US" dirty="0">
                    <a:solidFill>
                      <a:srgbClr val="000000"/>
                    </a:solidFill>
                    <a:latin typeface="Comic Sans MS" panose="030F0702030302020204" pitchFamily="66" charset="0"/>
                  </a:rPr>
                  <a:t>特点：</a:t>
                </a:r>
                <a:endParaRPr lang="zh-CN" altLang="en-US" sz="2000" dirty="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2339752" y="2221916"/>
                <a:ext cx="204094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b="1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mic Sans MS" panose="030F0702030302020204" pitchFamily="66" charset="0"/>
                  </a:rPr>
                  <a:t>类模板的实例</a:t>
                </a:r>
                <a:endParaRPr lang="zh-CN" altLang="en-US" dirty="0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5121729" y="2112886"/>
                <a:ext cx="1125949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19088" lvl="1" indent="0" eaLnBrk="1" hangingPunct="1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rgbClr val="9B2D1F"/>
                  </a:buClr>
                  <a:buSzPct val="85000"/>
                </a:pPr>
                <a:r>
                  <a:rPr lang="zh-CN" altLang="en-US" b="1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mic Sans MS" panose="030F0702030302020204" pitchFamily="66" charset="0"/>
                  </a:rPr>
                  <a:t>友元</a:t>
                </a:r>
                <a:endParaRPr lang="zh-CN" altLang="en-US" sz="2000" dirty="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cxnSp>
            <p:nvCxnSpPr>
              <p:cNvPr id="19" name="直接箭头连接符 18"/>
              <p:cNvCxnSpPr/>
              <p:nvPr/>
            </p:nvCxnSpPr>
            <p:spPr>
              <a:xfrm>
                <a:off x="4380695" y="2481390"/>
                <a:ext cx="983393" cy="1390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文本框 19"/>
              <p:cNvSpPr txBox="1"/>
              <p:nvPr/>
            </p:nvSpPr>
            <p:spPr>
              <a:xfrm>
                <a:off x="4382394" y="2055760"/>
                <a:ext cx="15322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/>
                  <a:t>一对一</a:t>
                </a:r>
              </a:p>
            </p:txBody>
          </p:sp>
        </p:grpSp>
      </p:grpSp>
      <p:sp>
        <p:nvSpPr>
          <p:cNvPr id="8" name="矩形 7"/>
          <p:cNvSpPr/>
          <p:nvPr/>
        </p:nvSpPr>
        <p:spPr>
          <a:xfrm>
            <a:off x="510087" y="1892018"/>
            <a:ext cx="35849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19088" lvl="1" indent="0" eaLnBrk="1" hangingPunct="1"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</a:pPr>
            <a:r>
              <a:rPr lang="zh-CN" altLang="en-US" sz="2000" dirty="0">
                <a:solidFill>
                  <a:srgbClr val="C00000"/>
                </a:solidFill>
                <a:latin typeface="Comic Sans MS" panose="030F0702030302020204" pitchFamily="66" charset="0"/>
              </a:rPr>
              <a:t>情况一</a:t>
            </a:r>
            <a:r>
              <a:rPr lang="zh-CN" altLang="en-US" sz="2000" dirty="0">
                <a:solidFill>
                  <a:srgbClr val="000000"/>
                </a:solidFill>
                <a:latin typeface="Comic Sans MS" panose="030F0702030302020204" pitchFamily="66" charset="0"/>
              </a:rPr>
              <a:t>：指定为具体类型。</a:t>
            </a:r>
          </a:p>
        </p:txBody>
      </p:sp>
    </p:spTree>
    <p:extLst>
      <p:ext uri="{BB962C8B-B14F-4D97-AF65-F5344CB8AC3E}">
        <p14:creationId xmlns:p14="http://schemas.microsoft.com/office/powerpoint/2010/main" val="17007983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07273"/>
            <a:ext cx="8229600" cy="1143000"/>
          </a:xfrm>
        </p:spPr>
        <p:txBody>
          <a:bodyPr/>
          <a:lstStyle/>
          <a:p>
            <a:r>
              <a:rPr lang="en-US" altLang="zh-CN" dirty="0"/>
              <a:t>6.3.4 </a:t>
            </a:r>
            <a:r>
              <a:rPr lang="zh-CN" altLang="en-US" dirty="0"/>
              <a:t>类模板与</a:t>
            </a:r>
            <a:r>
              <a:rPr lang="zh-CN" altLang="en-US" dirty="0">
                <a:solidFill>
                  <a:schemeClr val="tx1"/>
                </a:solidFill>
              </a:rPr>
              <a:t>友元函数</a:t>
            </a:r>
          </a:p>
        </p:txBody>
      </p:sp>
      <p:sp>
        <p:nvSpPr>
          <p:cNvPr id="87043" name="矩形 7"/>
          <p:cNvSpPr>
            <a:spLocks noChangeArrowheads="1"/>
          </p:cNvSpPr>
          <p:nvPr/>
        </p:nvSpPr>
        <p:spPr bwMode="auto">
          <a:xfrm>
            <a:off x="899592" y="3346834"/>
            <a:ext cx="7776864" cy="2862322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template </a:t>
            </a:r>
            <a:r>
              <a:rPr lang="en-US" altLang="zh-CN" sz="2000" dirty="0">
                <a:latin typeface="Consolas" pitchFamily="49" charset="0"/>
              </a:rPr>
              <a:t>&lt;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class T</a:t>
            </a:r>
            <a:r>
              <a:rPr lang="en-US" altLang="zh-CN" sz="2000" dirty="0">
                <a:latin typeface="Consolas" pitchFamily="49" charset="0"/>
              </a:rPr>
              <a:t>&gt;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 class c3;        </a:t>
            </a:r>
            <a:r>
              <a:rPr lang="en-US" altLang="zh-CN" sz="2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//</a:t>
            </a:r>
            <a:r>
              <a: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声明</a:t>
            </a:r>
            <a:r>
              <a:rPr lang="zh-CN" altLang="en-US" sz="2000" dirty="0">
                <a:solidFill>
                  <a:srgbClr val="006600"/>
                </a:solidFill>
                <a:latin typeface="Consolas" pitchFamily="49" charset="0"/>
              </a:rPr>
              <a:t>类模板</a:t>
            </a:r>
            <a:endParaRPr lang="en-US" altLang="zh-CN" sz="2000" dirty="0">
              <a:solidFill>
                <a:srgbClr val="006600"/>
              </a:solidFill>
              <a:latin typeface="Consolas" pitchFamily="49" charset="0"/>
            </a:endParaRPr>
          </a:p>
          <a:p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template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&lt;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T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&gt; 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void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fun3(T u);  </a:t>
            </a:r>
            <a:r>
              <a:rPr lang="en-US" altLang="zh-CN" sz="2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//</a:t>
            </a:r>
            <a:r>
              <a: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声明</a:t>
            </a:r>
            <a:r>
              <a:rPr lang="zh-CN" altLang="en-US" sz="2000" dirty="0">
                <a:solidFill>
                  <a:srgbClr val="006600"/>
                </a:solidFill>
                <a:latin typeface="Consolas" pitchFamily="49" charset="0"/>
              </a:rPr>
              <a:t>函数模板</a:t>
            </a:r>
            <a:endParaRPr lang="en-US" altLang="zh-CN" sz="2000" dirty="0">
              <a:solidFill>
                <a:srgbClr val="006600"/>
              </a:solidFill>
              <a:latin typeface="Consolas" pitchFamily="49" charset="0"/>
            </a:endParaRPr>
          </a:p>
          <a:p>
            <a:endParaRPr lang="zh-CN" altLang="en-US" sz="20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template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&lt;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 T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&gt;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class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A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{   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friend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class </a:t>
            </a:r>
            <a:r>
              <a:rPr lang="en-US" altLang="zh-CN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c3&lt;T&gt;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;  //</a:t>
            </a:r>
            <a:r>
              <a:rPr lang="zh-CN" altLang="en-US" sz="2000" dirty="0">
                <a:solidFill>
                  <a:srgbClr val="000000"/>
                </a:solidFill>
                <a:latin typeface="Consolas" pitchFamily="49" charset="0"/>
              </a:rPr>
              <a:t>类模板的特例</a:t>
            </a:r>
            <a:endParaRPr lang="en-US" altLang="zh-CN" sz="20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zh-CN" altLang="en-US" sz="2000" dirty="0">
                <a:solidFill>
                  <a:srgbClr val="000000"/>
                </a:solidFill>
                <a:latin typeface="Consolas" pitchFamily="49" charset="0"/>
              </a:rPr>
              <a:t>    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</a:rPr>
              <a:t>friend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 void </a:t>
            </a:r>
            <a:r>
              <a:rPr lang="en-US" altLang="zh-CN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fun3&lt;T&gt;</a:t>
            </a:r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(T u);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Consolas" pitchFamily="49" charset="0"/>
              </a:rPr>
              <a:t>　　</a:t>
            </a:r>
            <a:r>
              <a:rPr lang="en-US" altLang="zh-CN" sz="2000" dirty="0">
                <a:solidFill>
                  <a:srgbClr val="008000"/>
                </a:solidFill>
                <a:latin typeface="Consolas" pitchFamily="49" charset="0"/>
              </a:rPr>
              <a:t>//...</a:t>
            </a:r>
            <a:endParaRPr lang="zh-CN" altLang="en-US" sz="20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Consolas" pitchFamily="49" charset="0"/>
              </a:rPr>
              <a:t>};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786648" y="6313792"/>
            <a:ext cx="3259346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与类模板的类型参数相同</a:t>
            </a:r>
          </a:p>
        </p:txBody>
      </p:sp>
      <p:cxnSp>
        <p:nvCxnSpPr>
          <p:cNvPr id="3" name="直接箭头连接符 2"/>
          <p:cNvCxnSpPr>
            <a:stCxn id="7" idx="1"/>
          </p:cNvCxnSpPr>
          <p:nvPr/>
        </p:nvCxnSpPr>
        <p:spPr>
          <a:xfrm flipH="1" flipV="1">
            <a:off x="4644924" y="5454372"/>
            <a:ext cx="1583260" cy="9321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任意多边形 8"/>
          <p:cNvSpPr/>
          <p:nvPr/>
        </p:nvSpPr>
        <p:spPr>
          <a:xfrm>
            <a:off x="3563888" y="4485295"/>
            <a:ext cx="4680520" cy="1773469"/>
          </a:xfrm>
          <a:custGeom>
            <a:avLst/>
            <a:gdLst>
              <a:gd name="connsiteX0" fmla="*/ 1871529 w 1871529"/>
              <a:gd name="connsiteY0" fmla="*/ 2298818 h 2298818"/>
              <a:gd name="connsiteX1" fmla="*/ 1281870 w 1871529"/>
              <a:gd name="connsiteY1" fmla="*/ 401652 h 2298818"/>
              <a:gd name="connsiteX2" fmla="*/ 0 w 1871529"/>
              <a:gd name="connsiteY2" fmla="*/ 0 h 2298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71529" h="2298818">
                <a:moveTo>
                  <a:pt x="1871529" y="2298818"/>
                </a:moveTo>
                <a:cubicBezTo>
                  <a:pt x="1732660" y="1541803"/>
                  <a:pt x="1593791" y="784788"/>
                  <a:pt x="1281870" y="401652"/>
                </a:cubicBezTo>
                <a:cubicBezTo>
                  <a:pt x="969949" y="18516"/>
                  <a:pt x="484974" y="9258"/>
                  <a:pt x="0" y="0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8"/>
          <p:cNvSpPr>
            <a:spLocks noChangeArrowheads="1"/>
          </p:cNvSpPr>
          <p:nvPr/>
        </p:nvSpPr>
        <p:spPr bwMode="auto">
          <a:xfrm>
            <a:off x="539552" y="2563312"/>
            <a:ext cx="633174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76288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19088" lvl="1" indent="0" eaLnBrk="1" hangingPunct="1">
              <a:spcBef>
                <a:spcPts val="0"/>
              </a:spcBef>
              <a:spcAft>
                <a:spcPts val="0"/>
              </a:spcAft>
              <a:buClr>
                <a:srgbClr val="9B2D1F"/>
              </a:buClr>
              <a:buSzPct val="85000"/>
            </a:pPr>
            <a:r>
              <a:rPr lang="zh-CN" altLang="en-US" sz="20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例：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若</a:t>
            </a:r>
            <a:r>
              <a:rPr lang="en-US" altLang="zh-CN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c3 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为类模板， </a:t>
            </a:r>
            <a:r>
              <a:rPr lang="en-US" altLang="zh-CN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func3 </a:t>
            </a: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为函数模板，</a:t>
            </a:r>
            <a:endParaRPr lang="en-US" altLang="zh-CN" sz="20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19088" lvl="1" indent="0" eaLnBrk="1" hangingPunct="1">
              <a:spcBef>
                <a:spcPts val="0"/>
              </a:spcBef>
              <a:spcAft>
                <a:spcPts val="0"/>
              </a:spcAft>
              <a:buClr>
                <a:srgbClr val="9B2D1F"/>
              </a:buClr>
              <a:buSzPct val="85000"/>
            </a:pPr>
            <a:r>
              <a:rPr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则类模板中可以声明他们的特例为友元</a:t>
            </a:r>
            <a:endParaRPr lang="zh-CN" altLang="en-US" sz="18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矩形 12"/>
          <p:cNvSpPr>
            <a:spLocks noChangeArrowheads="1"/>
          </p:cNvSpPr>
          <p:nvPr/>
        </p:nvSpPr>
        <p:spPr bwMode="auto">
          <a:xfrm>
            <a:off x="323528" y="982120"/>
            <a:ext cx="85689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76288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  <a:buFontTx/>
              <a:buAutoNum type="circleNumDbPlain" startAt="3"/>
            </a:pP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模板特例友元</a:t>
            </a:r>
          </a:p>
        </p:txBody>
      </p:sp>
      <p:sp>
        <p:nvSpPr>
          <p:cNvPr id="2" name="矩形 1"/>
          <p:cNvSpPr/>
          <p:nvPr/>
        </p:nvSpPr>
        <p:spPr>
          <a:xfrm>
            <a:off x="611560" y="1972007"/>
            <a:ext cx="43543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19088" lvl="1" indent="0" eaLnBrk="1" hangingPunct="1">
              <a:spcBef>
                <a:spcPts val="600"/>
              </a:spcBef>
              <a:spcAft>
                <a:spcPts val="600"/>
              </a:spcAft>
              <a:buClr>
                <a:srgbClr val="9B2D1F"/>
              </a:buClr>
              <a:buSzPct val="85000"/>
            </a:pPr>
            <a:r>
              <a:rPr lang="zh-CN" altLang="en-US" sz="2000" dirty="0">
                <a:solidFill>
                  <a:srgbClr val="C00000"/>
                </a:solidFill>
                <a:latin typeface="Comic Sans MS" panose="030F0702030302020204" pitchFamily="66" charset="0"/>
              </a:rPr>
              <a:t>情况二</a:t>
            </a:r>
            <a:r>
              <a:rPr lang="zh-CN" altLang="en-US" sz="2000" dirty="0">
                <a:solidFill>
                  <a:srgbClr val="000000"/>
                </a:solidFill>
                <a:latin typeface="Comic Sans MS" panose="030F0702030302020204" pitchFamily="66" charset="0"/>
              </a:rPr>
              <a:t>：指定为类模板的类型参数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3059324" y="1074427"/>
            <a:ext cx="6120680" cy="703457"/>
            <a:chOff x="899592" y="1998044"/>
            <a:chExt cx="6120680" cy="703457"/>
          </a:xfrm>
        </p:grpSpPr>
        <p:sp>
          <p:nvSpPr>
            <p:cNvPr id="13" name="矩形 12"/>
            <p:cNvSpPr/>
            <p:nvPr/>
          </p:nvSpPr>
          <p:spPr>
            <a:xfrm>
              <a:off x="1043608" y="1998044"/>
              <a:ext cx="5852680" cy="703457"/>
            </a:xfrm>
            <a:prstGeom prst="rect">
              <a:avLst/>
            </a:prstGeom>
            <a:solidFill>
              <a:srgbClr val="FFFF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899592" y="1998044"/>
              <a:ext cx="6120680" cy="703457"/>
              <a:chOff x="395536" y="2055760"/>
              <a:chExt cx="6120680" cy="703457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395536" y="2112886"/>
                <a:ext cx="612068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19088" lvl="1" indent="0" eaLnBrk="1" hangingPunct="1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rgbClr val="9B2D1F"/>
                  </a:buClr>
                  <a:buSzPct val="85000"/>
                </a:pPr>
                <a:r>
                  <a:rPr lang="zh-CN" altLang="en-US" dirty="0">
                    <a:solidFill>
                      <a:srgbClr val="000000"/>
                    </a:solidFill>
                    <a:latin typeface="Comic Sans MS" panose="030F0702030302020204" pitchFamily="66" charset="0"/>
                  </a:rPr>
                  <a:t>特点：</a:t>
                </a:r>
                <a:endParaRPr lang="zh-CN" altLang="en-US" sz="2000" dirty="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2339752" y="2221916"/>
                <a:ext cx="204094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b="1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mic Sans MS" panose="030F0702030302020204" pitchFamily="66" charset="0"/>
                  </a:rPr>
                  <a:t>类模板的实例</a:t>
                </a:r>
                <a:endParaRPr lang="zh-CN" altLang="en-US" dirty="0"/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5121729" y="2112886"/>
                <a:ext cx="1125949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19088" lvl="1" indent="0" eaLnBrk="1" hangingPunct="1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rgbClr val="9B2D1F"/>
                  </a:buClr>
                  <a:buSzPct val="85000"/>
                </a:pPr>
                <a:r>
                  <a:rPr lang="zh-CN" altLang="en-US" b="1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mic Sans MS" panose="030F0702030302020204" pitchFamily="66" charset="0"/>
                  </a:rPr>
                  <a:t>友元</a:t>
                </a:r>
                <a:endParaRPr lang="zh-CN" altLang="en-US" sz="2000" dirty="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cxnSp>
            <p:nvCxnSpPr>
              <p:cNvPr id="18" name="直接箭头连接符 17"/>
              <p:cNvCxnSpPr/>
              <p:nvPr/>
            </p:nvCxnSpPr>
            <p:spPr>
              <a:xfrm>
                <a:off x="4380695" y="2481390"/>
                <a:ext cx="983393" cy="1390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文本框 18"/>
              <p:cNvSpPr txBox="1"/>
              <p:nvPr/>
            </p:nvSpPr>
            <p:spPr>
              <a:xfrm>
                <a:off x="4382394" y="2055760"/>
                <a:ext cx="15322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/>
                  <a:t>一对一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59749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55576" y="476672"/>
            <a:ext cx="8064896" cy="5693866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#include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&lt;</a:t>
            </a:r>
            <a:r>
              <a:rPr lang="en-US" altLang="zh-CN" sz="1400" dirty="0" err="1">
                <a:solidFill>
                  <a:srgbClr val="A31515"/>
                </a:solidFill>
                <a:latin typeface="Consolas"/>
              </a:rPr>
              <a:t>iostream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&gt;</a:t>
            </a:r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namespace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267F99"/>
                </a:solidFill>
                <a:latin typeface="Consolas"/>
              </a:rPr>
              <a:t>std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altLang="zh-CN" sz="1400" dirty="0">
              <a:solidFill>
                <a:srgbClr val="0000FF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template 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267F99"/>
                </a:solidFill>
                <a:latin typeface="Consolas"/>
              </a:rPr>
              <a:t>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fun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(T x);</a:t>
            </a:r>
          </a:p>
          <a:p>
            <a:br>
              <a:rPr lang="en-US" altLang="zh-CN" sz="1400" dirty="0">
                <a:solidFill>
                  <a:srgbClr val="000000"/>
                </a:solidFill>
                <a:latin typeface="Consolas"/>
              </a:rPr>
            </a:b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267F99"/>
                </a:solidFill>
                <a:latin typeface="Consolas"/>
              </a:rPr>
              <a:t>C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public:</a:t>
            </a:r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    friend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fun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(C);</a:t>
            </a:r>
          </a:p>
          <a:p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private:</a:t>
            </a:r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() {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&lt;&lt; 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"class C"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&lt;&lt;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endl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 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br>
              <a:rPr lang="en-US" altLang="zh-CN" sz="1400" dirty="0">
                <a:solidFill>
                  <a:srgbClr val="000000"/>
                </a:solidFill>
                <a:latin typeface="Consolas"/>
              </a:rPr>
            </a:b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template 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267F99"/>
                </a:solidFill>
                <a:latin typeface="Consolas"/>
              </a:rPr>
              <a:t>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&gt; </a:t>
            </a:r>
          </a:p>
          <a:p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fun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(T x)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{   C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c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&lt;&lt; 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"template: "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c.</a:t>
            </a:r>
            <a:r>
              <a:rPr lang="en-US" altLang="zh-CN" sz="1400" dirty="0" err="1">
                <a:solidFill>
                  <a:srgbClr val="795E26"/>
                </a:solidFill>
                <a:latin typeface="Consolas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br>
              <a:rPr lang="en-US" altLang="zh-CN" sz="1400" dirty="0">
                <a:solidFill>
                  <a:srgbClr val="000000"/>
                </a:solidFill>
                <a:latin typeface="Consolas"/>
              </a:rPr>
            </a:b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main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)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{   C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objC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    fun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objC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br>
              <a:rPr lang="en-US" altLang="zh-CN" sz="1400" dirty="0">
                <a:solidFill>
                  <a:srgbClr val="000000"/>
                </a:solidFill>
                <a:latin typeface="Consolas"/>
              </a:rPr>
            </a:b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09885A"/>
                </a:solidFill>
                <a:latin typeface="Consolas"/>
              </a:rPr>
              <a:t>0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}</a:t>
            </a:r>
            <a:endParaRPr lang="en-US" altLang="zh-CN" sz="14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43808" y="4804037"/>
            <a:ext cx="554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错误，编译时提示未定义 </a:t>
            </a:r>
            <a:r>
              <a:rPr lang="en-US" altLang="zh-CN" dirty="0">
                <a:solidFill>
                  <a:srgbClr val="FF0000"/>
                </a:solidFill>
              </a:rPr>
              <a:t>fun(C)</a:t>
            </a:r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2411760" y="5034869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572000" y="3222092"/>
            <a:ext cx="2760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// </a:t>
            </a:r>
            <a:r>
              <a:rPr lang="zh-CN" altLang="en-US" dirty="0">
                <a:solidFill>
                  <a:srgbClr val="FF0000"/>
                </a:solidFill>
              </a:rPr>
              <a:t>定义模板</a:t>
            </a:r>
            <a:r>
              <a:rPr lang="en-US" altLang="zh-CN" dirty="0">
                <a:solidFill>
                  <a:srgbClr val="FF0000"/>
                </a:solidFill>
              </a:rPr>
              <a:t>fun( 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699792" y="5835876"/>
            <a:ext cx="55446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为什么没有从模板生产需要的函数呢？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084168" y="548680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一个错误的例子</a:t>
            </a:r>
          </a:p>
        </p:txBody>
      </p:sp>
    </p:spTree>
    <p:extLst>
      <p:ext uri="{BB962C8B-B14F-4D97-AF65-F5344CB8AC3E}">
        <p14:creationId xmlns:p14="http://schemas.microsoft.com/office/powerpoint/2010/main" val="2228097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0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55576" y="476672"/>
            <a:ext cx="8064896" cy="5693866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#include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&lt;</a:t>
            </a:r>
            <a:r>
              <a:rPr lang="en-US" altLang="zh-CN" sz="1400" dirty="0" err="1">
                <a:solidFill>
                  <a:srgbClr val="A31515"/>
                </a:solidFill>
                <a:latin typeface="Consolas"/>
              </a:rPr>
              <a:t>iostream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&gt;</a:t>
            </a:r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namespace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267F99"/>
                </a:solidFill>
                <a:latin typeface="Consolas"/>
              </a:rPr>
              <a:t>std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altLang="zh-CN" sz="1400" dirty="0">
              <a:solidFill>
                <a:srgbClr val="0000FF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template 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267F99"/>
                </a:solidFill>
                <a:latin typeface="Consolas"/>
              </a:rPr>
              <a:t>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&gt; 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fun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(T x);</a:t>
            </a:r>
          </a:p>
          <a:p>
            <a:br>
              <a:rPr lang="en-US" altLang="zh-CN" sz="1400" dirty="0">
                <a:solidFill>
                  <a:srgbClr val="000000"/>
                </a:solidFill>
                <a:latin typeface="Consolas"/>
              </a:rPr>
            </a:b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267F99"/>
                </a:solidFill>
                <a:latin typeface="Consolas"/>
              </a:rPr>
              <a:t>C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{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public:</a:t>
            </a:r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    friend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fun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(C);</a:t>
            </a:r>
          </a:p>
          <a:p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private:</a:t>
            </a:r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() {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&lt;&lt; 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"class C"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&lt;&lt;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endl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 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br>
              <a:rPr lang="en-US" altLang="zh-CN" sz="1400" dirty="0">
                <a:solidFill>
                  <a:srgbClr val="000000"/>
                </a:solidFill>
                <a:latin typeface="Consolas"/>
              </a:rPr>
            </a:b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template 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267F99"/>
                </a:solidFill>
                <a:latin typeface="Consolas"/>
              </a:rPr>
              <a:t>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fun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(T x)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   C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c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&lt;&lt; 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"template: "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c.</a:t>
            </a:r>
            <a:r>
              <a:rPr lang="en-US" altLang="zh-CN" sz="1400" dirty="0" err="1">
                <a:solidFill>
                  <a:srgbClr val="795E26"/>
                </a:solidFill>
                <a:latin typeface="Consolas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br>
              <a:rPr lang="en-US" altLang="zh-CN" sz="1400" dirty="0">
                <a:solidFill>
                  <a:srgbClr val="000000"/>
                </a:solidFill>
                <a:latin typeface="Consolas"/>
              </a:rPr>
            </a:b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main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{   C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objC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    fun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objC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br>
              <a:rPr lang="en-US" altLang="zh-CN" sz="1400" dirty="0">
                <a:solidFill>
                  <a:srgbClr val="000000"/>
                </a:solidFill>
                <a:latin typeface="Consolas"/>
              </a:rPr>
            </a:b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09885A"/>
                </a:solidFill>
                <a:latin typeface="Consolas"/>
              </a:rPr>
              <a:t>0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}</a:t>
            </a:r>
            <a:endParaRPr lang="en-US" altLang="zh-CN" sz="14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2438400" y="4876800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870448" y="4669685"/>
            <a:ext cx="59500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这里匹配到了普通函数 </a:t>
            </a:r>
            <a:r>
              <a:rPr lang="en-US" altLang="zh-CN" sz="2000" dirty="0">
                <a:solidFill>
                  <a:srgbClr val="FF0000"/>
                </a:solidFill>
              </a:rPr>
              <a:t>fun(C)</a:t>
            </a:r>
          </a:p>
          <a:p>
            <a:r>
              <a:rPr lang="zh-CN" altLang="en-US" sz="2000" dirty="0">
                <a:solidFill>
                  <a:srgbClr val="FF0000"/>
                </a:solidFill>
              </a:rPr>
              <a:t>而不是匹配到模板</a:t>
            </a:r>
            <a:r>
              <a:rPr lang="en-US" altLang="zh-CN" sz="1600" dirty="0">
                <a:solidFill>
                  <a:srgbClr val="0000FF"/>
                </a:solidFill>
                <a:latin typeface="Consolas"/>
              </a:rPr>
              <a:t>template 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altLang="zh-CN" sz="16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600" dirty="0">
                <a:solidFill>
                  <a:srgbClr val="267F99"/>
                </a:solidFill>
                <a:latin typeface="Consolas"/>
              </a:rPr>
              <a:t>T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&gt; </a:t>
            </a:r>
            <a:r>
              <a:rPr lang="en-US" altLang="zh-CN" sz="16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600" dirty="0">
                <a:solidFill>
                  <a:srgbClr val="795E26"/>
                </a:solidFill>
                <a:latin typeface="Consolas"/>
              </a:rPr>
              <a:t>fun</a:t>
            </a:r>
            <a:r>
              <a:rPr lang="en-US" altLang="zh-CN" sz="1600" dirty="0">
                <a:solidFill>
                  <a:srgbClr val="000000"/>
                </a:solidFill>
                <a:latin typeface="Consolas"/>
              </a:rPr>
              <a:t>(T x)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77008" y="1772816"/>
            <a:ext cx="4960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声明普通函数 </a:t>
            </a:r>
            <a:r>
              <a:rPr lang="en-US" altLang="zh-CN" sz="2000" dirty="0">
                <a:solidFill>
                  <a:srgbClr val="FF0000"/>
                </a:solidFill>
              </a:rPr>
              <a:t>fun(C) </a:t>
            </a:r>
            <a:r>
              <a:rPr lang="zh-CN" altLang="en-US" sz="2000" dirty="0">
                <a:solidFill>
                  <a:srgbClr val="FF0000"/>
                </a:solidFill>
              </a:rPr>
              <a:t>为友元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zh-CN" altLang="en-US" sz="2000" dirty="0">
                <a:solidFill>
                  <a:srgbClr val="FF0000"/>
                </a:solidFill>
              </a:rPr>
              <a:t>编译器也知道应该存在 普通函数 </a:t>
            </a:r>
            <a:r>
              <a:rPr lang="en-US" altLang="zh-CN" sz="2000" dirty="0">
                <a:solidFill>
                  <a:srgbClr val="FF0000"/>
                </a:solidFill>
              </a:rPr>
              <a:t>fun(C)</a:t>
            </a:r>
          </a:p>
        </p:txBody>
      </p:sp>
      <p:cxnSp>
        <p:nvCxnSpPr>
          <p:cNvPr id="3" name="直接箭头连接符 2"/>
          <p:cNvCxnSpPr>
            <a:stCxn id="10" idx="1"/>
          </p:cNvCxnSpPr>
          <p:nvPr/>
        </p:nvCxnSpPr>
        <p:spPr>
          <a:xfrm flipH="1">
            <a:off x="3347864" y="2126759"/>
            <a:ext cx="329144" cy="222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6084168" y="548680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一个错误的例子</a:t>
            </a:r>
          </a:p>
        </p:txBody>
      </p:sp>
    </p:spTree>
    <p:extLst>
      <p:ext uri="{BB962C8B-B14F-4D97-AF65-F5344CB8AC3E}">
        <p14:creationId xmlns:p14="http://schemas.microsoft.com/office/powerpoint/2010/main" val="2829038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43000" y="1970696"/>
            <a:ext cx="6192688" cy="533673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55576" y="476672"/>
            <a:ext cx="7397824" cy="5693866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#include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&lt;</a:t>
            </a:r>
            <a:r>
              <a:rPr lang="en-US" altLang="zh-CN" sz="1400" dirty="0" err="1">
                <a:solidFill>
                  <a:srgbClr val="A31515"/>
                </a:solidFill>
                <a:latin typeface="Consolas"/>
              </a:rPr>
              <a:t>iostream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&gt;</a:t>
            </a:r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namespace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267F99"/>
                </a:solidFill>
                <a:latin typeface="Consolas"/>
              </a:rPr>
              <a:t>std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altLang="zh-CN" sz="1400" dirty="0">
              <a:solidFill>
                <a:srgbClr val="0000FF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template 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267F99"/>
                </a:solidFill>
                <a:latin typeface="Consolas"/>
              </a:rPr>
              <a:t>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&gt; 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fun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(T x);</a:t>
            </a:r>
          </a:p>
          <a:p>
            <a:br>
              <a:rPr lang="en-US" altLang="zh-CN" sz="1400" dirty="0">
                <a:solidFill>
                  <a:srgbClr val="000000"/>
                </a:solidFill>
                <a:latin typeface="Consolas"/>
              </a:rPr>
            </a:b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267F99"/>
                </a:solidFill>
                <a:latin typeface="Consolas"/>
              </a:rPr>
              <a:t>C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public:</a:t>
            </a:r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    // friend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fun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(C);</a:t>
            </a:r>
            <a:endParaRPr lang="zh-CN" altLang="en-US" sz="1400" dirty="0">
              <a:solidFill>
                <a:srgbClr val="FF0000"/>
              </a:solidFill>
            </a:endParaRPr>
          </a:p>
          <a:p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    friend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fun&lt;C&gt;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(C);</a:t>
            </a:r>
          </a:p>
          <a:p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private:</a:t>
            </a:r>
            <a:endParaRPr lang="en-US" altLang="zh-CN" sz="1400" dirty="0">
              <a:solidFill>
                <a:srgbClr val="000000"/>
              </a:solidFill>
              <a:latin typeface="Consolas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() {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&lt;&lt; 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"class C"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&lt;&lt;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endl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 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br>
              <a:rPr lang="en-US" altLang="zh-CN" sz="1400" dirty="0">
                <a:solidFill>
                  <a:srgbClr val="000000"/>
                </a:solidFill>
                <a:latin typeface="Consolas"/>
              </a:rPr>
            </a:b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template 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267F99"/>
                </a:solidFill>
                <a:latin typeface="Consolas"/>
              </a:rPr>
              <a:t>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fun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(T x)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{   C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c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&lt;&lt; </a:t>
            </a:r>
            <a:r>
              <a:rPr lang="en-US" altLang="zh-CN" sz="1400" dirty="0">
                <a:solidFill>
                  <a:srgbClr val="A31515"/>
                </a:solidFill>
                <a:latin typeface="Consolas"/>
              </a:rPr>
              <a:t>"template: "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c.</a:t>
            </a:r>
            <a:r>
              <a:rPr lang="en-US" altLang="zh-CN" sz="1400" dirty="0" err="1">
                <a:solidFill>
                  <a:srgbClr val="795E26"/>
                </a:solidFill>
                <a:latin typeface="Consolas"/>
              </a:rPr>
              <a:t>print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br>
              <a:rPr lang="en-US" altLang="zh-CN" sz="1400" dirty="0">
                <a:solidFill>
                  <a:srgbClr val="000000"/>
                </a:solidFill>
                <a:latin typeface="Consolas"/>
              </a:rPr>
            </a:b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main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en-US" altLang="zh-CN" sz="14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{   C 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objC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altLang="zh-CN" sz="1400" dirty="0">
                <a:solidFill>
                  <a:srgbClr val="795E26"/>
                </a:solidFill>
                <a:latin typeface="Consolas"/>
              </a:rPr>
              <a:t>    fun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latin typeface="Consolas"/>
              </a:rPr>
              <a:t>objC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    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altLang="zh-CN" sz="1400" dirty="0">
                <a:solidFill>
                  <a:srgbClr val="AF00DB"/>
                </a:solidFill>
                <a:latin typeface="Consolas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altLang="zh-CN" sz="1400" dirty="0">
                <a:solidFill>
                  <a:srgbClr val="09885A"/>
                </a:solidFill>
                <a:latin typeface="Consolas"/>
              </a:rPr>
              <a:t>0</a:t>
            </a:r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/>
              </a:rPr>
              <a:t>}</a:t>
            </a:r>
            <a:endParaRPr lang="en-US" altLang="zh-CN" sz="1400" b="0" dirty="0">
              <a:solidFill>
                <a:srgbClr val="000000"/>
              </a:solidFill>
              <a:effectLst/>
              <a:latin typeface="Consola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76315" y="1898979"/>
            <a:ext cx="31683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// </a:t>
            </a:r>
            <a:r>
              <a:rPr lang="zh-CN" altLang="en-US" sz="1600" dirty="0">
                <a:solidFill>
                  <a:srgbClr val="FF0000"/>
                </a:solidFill>
              </a:rPr>
              <a:t>原来的错误语句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084168" y="548680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一个错误的例子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100910" y="1086393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修正后的程序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042515" y="2125938"/>
            <a:ext cx="31683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// </a:t>
            </a:r>
            <a:r>
              <a:rPr lang="zh-CN" altLang="en-US" sz="1600" dirty="0">
                <a:solidFill>
                  <a:srgbClr val="FF0000"/>
                </a:solidFill>
              </a:rPr>
              <a:t>修正后的语句，其他</a:t>
            </a:r>
            <a:r>
              <a:rPr lang="zh-CN" altLang="en-US" dirty="0">
                <a:solidFill>
                  <a:srgbClr val="FF0000"/>
                </a:solidFill>
              </a:rPr>
              <a:t>的</a:t>
            </a:r>
            <a:r>
              <a:rPr lang="zh-CN" altLang="en-US" sz="1600" dirty="0">
                <a:solidFill>
                  <a:srgbClr val="FF0000"/>
                </a:solidFill>
              </a:rPr>
              <a:t>不</a:t>
            </a:r>
            <a:r>
              <a:rPr lang="zh-CN" altLang="en-US" dirty="0">
                <a:solidFill>
                  <a:srgbClr val="FF0000"/>
                </a:solidFill>
              </a:rPr>
              <a:t>改变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3888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123728" y="2564904"/>
            <a:ext cx="482453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深度探索</a:t>
            </a:r>
            <a:endParaRPr lang="en-US" altLang="zh-CN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endParaRPr lang="en-US" altLang="zh-CN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元编程</a:t>
            </a:r>
            <a:r>
              <a:rPr lang="en-US" altLang="zh-CN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(metaprogramming)</a:t>
            </a:r>
            <a:endParaRPr lang="zh-CN" altLang="en-US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85743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深度探索</a:t>
            </a:r>
            <a:r>
              <a:rPr lang="en-US" altLang="zh-CN" dirty="0"/>
              <a:t>——</a:t>
            </a:r>
            <a:r>
              <a:rPr lang="zh-CN" altLang="en-US" dirty="0"/>
              <a:t>元编程</a:t>
            </a:r>
          </a:p>
        </p:txBody>
      </p:sp>
      <p:sp>
        <p:nvSpPr>
          <p:cNvPr id="3" name="矩形 2"/>
          <p:cNvSpPr/>
          <p:nvPr/>
        </p:nvSpPr>
        <p:spPr>
          <a:xfrm>
            <a:off x="539552" y="1516902"/>
            <a:ext cx="806489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元编程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(metaprogramming): </a:t>
            </a:r>
            <a:r>
              <a:rPr lang="zh-CN" altLang="zh-CN" sz="2400" dirty="0">
                <a:solidFill>
                  <a:srgbClr val="333333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编写可以一类特殊的程序，这类程序可以修改别的程序或者</a:t>
            </a:r>
            <a:r>
              <a:rPr lang="zh-CN" altLang="en-US" sz="2400" dirty="0">
                <a:solidFill>
                  <a:srgbClr val="333333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其</a:t>
            </a:r>
            <a:r>
              <a:rPr lang="zh-CN" altLang="zh-CN" sz="2400" dirty="0">
                <a:solidFill>
                  <a:srgbClr val="333333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自身。</a:t>
            </a:r>
            <a:endParaRPr lang="en-US" altLang="zh-CN" sz="2400" dirty="0">
              <a:solidFill>
                <a:srgbClr val="333333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/>
            <a:endParaRPr lang="en-US" altLang="zh-CN" sz="2400" dirty="0">
              <a:solidFill>
                <a:srgbClr val="333333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/>
            <a:r>
              <a:rPr lang="zh-CN" altLang="zh-CN" sz="2400" dirty="0">
                <a:solidFill>
                  <a:srgbClr val="333333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修改可以是在运行时或者编译时是完成。</a:t>
            </a:r>
            <a:endParaRPr lang="en-US" altLang="zh-CN" sz="2400" dirty="0">
              <a:solidFill>
                <a:srgbClr val="333333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685800" y="3993178"/>
            <a:ext cx="8208911" cy="56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zh-CN" altLang="zh-CN" sz="2000" b="1" dirty="0">
                <a:solidFill>
                  <a:srgbClr val="333333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优点</a:t>
            </a:r>
            <a:r>
              <a:rPr lang="zh-CN" altLang="zh-CN" sz="2000" dirty="0">
                <a:solidFill>
                  <a:srgbClr val="333333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2000" dirty="0">
                <a:solidFill>
                  <a:srgbClr val="333333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提升代码抽象度。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616555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深度探索</a:t>
            </a:r>
            <a:r>
              <a:rPr lang="en-US" altLang="zh-CN" dirty="0"/>
              <a:t>——</a:t>
            </a:r>
            <a:r>
              <a:rPr lang="zh-CN" altLang="en-US" dirty="0"/>
              <a:t>元编程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683569" y="1156103"/>
            <a:ext cx="8208911" cy="2841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2800" dirty="0">
              <a:solidFill>
                <a:srgbClr val="333333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c++通过模板</a:t>
            </a: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template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实现元编程。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2800" dirty="0">
              <a:solidFill>
                <a:srgbClr val="333333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0"/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目的</a:t>
            </a:r>
            <a:r>
              <a:rPr lang="zh-CN" altLang="en-US" sz="2800" dirty="0">
                <a:solidFill>
                  <a:srgbClr val="333333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把本来在运行期实现部分功能可以移到编译期实现，从而节省运行时开销。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2800" dirty="0">
              <a:solidFill>
                <a:srgbClr val="333333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0" y="-92333"/>
            <a:ext cx="205505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2719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-35749"/>
            <a:ext cx="8229600" cy="1143000"/>
          </a:xfrm>
        </p:spPr>
        <p:txBody>
          <a:bodyPr/>
          <a:lstStyle/>
          <a:p>
            <a:r>
              <a:rPr lang="zh-CN" altLang="en-US" dirty="0"/>
              <a:t>深度探索</a:t>
            </a:r>
            <a:r>
              <a:rPr lang="en-US" altLang="zh-CN" dirty="0"/>
              <a:t>——</a:t>
            </a:r>
            <a:r>
              <a:rPr lang="zh-CN" altLang="en-US" dirty="0"/>
              <a:t>元编程</a:t>
            </a:r>
          </a:p>
        </p:txBody>
      </p:sp>
      <p:sp>
        <p:nvSpPr>
          <p:cNvPr id="3" name="矩形 2"/>
          <p:cNvSpPr/>
          <p:nvPr/>
        </p:nvSpPr>
        <p:spPr>
          <a:xfrm>
            <a:off x="585900" y="990600"/>
            <a:ext cx="11521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示例</a:t>
            </a:r>
          </a:p>
        </p:txBody>
      </p:sp>
      <p:sp>
        <p:nvSpPr>
          <p:cNvPr id="5" name="矩形 4"/>
          <p:cNvSpPr/>
          <p:nvPr/>
        </p:nvSpPr>
        <p:spPr>
          <a:xfrm>
            <a:off x="1764325" y="990600"/>
            <a:ext cx="6948772" cy="3293209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6600"/>
                </a:solidFill>
                <a:latin typeface="Consolas" panose="020B0609020204030204"/>
              </a:rPr>
              <a:t>/</a:t>
            </a:r>
            <a:r>
              <a:rPr lang="zh-CN" altLang="en-US" sz="1600" dirty="0">
                <a:solidFill>
                  <a:srgbClr val="006600"/>
                </a:solidFill>
                <a:latin typeface="Consolas" panose="020B0609020204030204"/>
              </a:rPr>
              <a:t>*</a:t>
            </a:r>
            <a:r>
              <a:rPr lang="en-US" altLang="zh-CN" sz="1600" dirty="0" err="1">
                <a:solidFill>
                  <a:srgbClr val="006600"/>
                </a:solidFill>
                <a:latin typeface="Consolas" panose="020B0609020204030204"/>
              </a:rPr>
              <a:t>c++</a:t>
            </a:r>
            <a:r>
              <a:rPr lang="zh-CN" altLang="en-US" sz="1600" dirty="0">
                <a:solidFill>
                  <a:srgbClr val="006600"/>
                </a:solidFill>
                <a:latin typeface="Consolas" panose="020B0609020204030204"/>
              </a:rPr>
              <a:t>代码*</a:t>
            </a:r>
            <a:r>
              <a:rPr lang="en-US" altLang="zh-CN" sz="1600" dirty="0">
                <a:solidFill>
                  <a:srgbClr val="006600"/>
                </a:solidFill>
                <a:latin typeface="Consolas" panose="020B0609020204030204"/>
              </a:rPr>
              <a:t>/</a:t>
            </a:r>
          </a:p>
          <a:p>
            <a:endParaRPr lang="en-US" altLang="zh-CN" sz="1600" dirty="0">
              <a:solidFill>
                <a:srgbClr val="006600"/>
              </a:solidFill>
              <a:latin typeface="Consolas" panose="020B0609020204030204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template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&lt;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n&gt;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struct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267F99"/>
                </a:solidFill>
                <a:latin typeface="Consolas" panose="020B0609020204030204"/>
              </a:rPr>
              <a:t>Fact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{   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/>
              </a:rPr>
              <a:t>enum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{ RET = n * Fact&lt;n-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/>
              </a:rPr>
              <a:t>1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&gt;::RET }; 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/>
              </a:rPr>
              <a:t>递归的模板定义</a:t>
            </a:r>
            <a:endParaRPr lang="zh-CN" altLang="en-US" sz="16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};</a:t>
            </a:r>
          </a:p>
          <a:p>
            <a:endParaRPr lang="en-US" altLang="zh-CN" sz="16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template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&lt;&gt;</a:t>
            </a:r>
          </a:p>
          <a:p>
            <a:r>
              <a:rPr lang="en-US" altLang="zh-CN" sz="1600" dirty="0">
                <a:solidFill>
                  <a:srgbClr val="0000FF"/>
                </a:solidFill>
                <a:latin typeface="Consolas" panose="020B0609020204030204"/>
              </a:rPr>
              <a:t>struct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</a:t>
            </a:r>
            <a:r>
              <a:rPr lang="en-US" altLang="zh-CN" sz="1600" dirty="0">
                <a:solidFill>
                  <a:srgbClr val="267F99"/>
                </a:solidFill>
                <a:latin typeface="Consolas" panose="020B0609020204030204"/>
              </a:rPr>
              <a:t>Fact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&lt;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/>
              </a:rPr>
              <a:t>1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&gt; 		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/>
              </a:rPr>
              <a:t>！！！对递归的出口一定要进行模板特化</a:t>
            </a:r>
            <a:endParaRPr lang="en-US" altLang="zh-CN" sz="16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{ 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/>
              </a:rPr>
              <a:t>  </a:t>
            </a:r>
            <a:r>
              <a:rPr lang="en-US" altLang="zh-CN" sz="1600" dirty="0" err="1">
                <a:solidFill>
                  <a:srgbClr val="0000FF"/>
                </a:solidFill>
                <a:latin typeface="Consolas" panose="020B0609020204030204"/>
              </a:rPr>
              <a:t>enum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{ RET = 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/>
              </a:rPr>
              <a:t>1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};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};</a:t>
            </a:r>
          </a:p>
          <a:p>
            <a:endParaRPr lang="en-US" altLang="zh-CN" sz="1600" dirty="0">
              <a:solidFill>
                <a:srgbClr val="000000"/>
              </a:solidFill>
              <a:latin typeface="Consolas" panose="020B0609020204030204"/>
            </a:endParaRPr>
          </a:p>
          <a:p>
            <a:r>
              <a:rPr lang="en-US" altLang="zh-CN" sz="1600" dirty="0" err="1">
                <a:solidFill>
                  <a:srgbClr val="0000FF"/>
                </a:solidFill>
                <a:latin typeface="Consolas" panose="020B0609020204030204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 b = Fact&lt;</a:t>
            </a:r>
            <a:r>
              <a:rPr lang="en-US" altLang="zh-CN" sz="1600" dirty="0">
                <a:solidFill>
                  <a:srgbClr val="09885A"/>
                </a:solidFill>
                <a:latin typeface="Consolas" panose="020B0609020204030204"/>
              </a:rPr>
              <a:t>5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/>
              </a:rPr>
              <a:t>&gt;::RET; 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/>
              </a:rPr>
              <a:t>// == 120</a:t>
            </a:r>
            <a:endParaRPr lang="en-US" altLang="zh-CN" sz="1600" b="0" dirty="0">
              <a:solidFill>
                <a:srgbClr val="000000"/>
              </a:solidFill>
              <a:effectLst/>
              <a:latin typeface="Consolas" panose="020B0609020204030204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738028" y="4419600"/>
            <a:ext cx="6948135" cy="2031325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800" dirty="0"/>
              <a:t>enum { RET = 5 * Fact&lt;4&gt;::RET };</a:t>
            </a:r>
          </a:p>
          <a:p>
            <a:r>
              <a:rPr lang="zh-CN" altLang="en-US" sz="1800" dirty="0"/>
              <a:t>enum { RET = 5 * 4 * Fact&lt;3&gt;::RET };</a:t>
            </a:r>
          </a:p>
          <a:p>
            <a:r>
              <a:rPr lang="zh-CN" altLang="en-US" sz="1800" dirty="0"/>
              <a:t>enum { RET = 5 * 4 * 3 * Fact&lt;2&gt;::RET };</a:t>
            </a:r>
          </a:p>
          <a:p>
            <a:r>
              <a:rPr lang="zh-CN" altLang="en-US" sz="1800" dirty="0"/>
              <a:t>enum { RET = 5 * 4 * 3 * 2 * Fact&lt;1&gt;::RET };</a:t>
            </a:r>
          </a:p>
          <a:p>
            <a:r>
              <a:rPr lang="zh-CN" altLang="en-US" sz="1800" dirty="0"/>
              <a:t>enum { RET = 5 * 4 * 3 * 2 * 1 };</a:t>
            </a:r>
          </a:p>
          <a:p>
            <a:r>
              <a:rPr lang="zh-CN" altLang="en-US" sz="1800" dirty="0"/>
              <a:t>enum { RET = 120 };</a:t>
            </a:r>
          </a:p>
          <a:p>
            <a:r>
              <a:rPr lang="zh-CN" altLang="en-US" sz="1800" dirty="0"/>
              <a:t>b = 120; //Fact&lt;5&gt;::RET;</a:t>
            </a:r>
          </a:p>
        </p:txBody>
      </p:sp>
      <p:sp>
        <p:nvSpPr>
          <p:cNvPr id="6" name="矩形 5"/>
          <p:cNvSpPr/>
          <p:nvPr/>
        </p:nvSpPr>
        <p:spPr>
          <a:xfrm>
            <a:off x="470647" y="4419600"/>
            <a:ext cx="115212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编译中的递归代码生成过程</a:t>
            </a:r>
          </a:p>
        </p:txBody>
      </p:sp>
    </p:spTree>
    <p:extLst>
      <p:ext uri="{BB962C8B-B14F-4D97-AF65-F5344CB8AC3E}">
        <p14:creationId xmlns:p14="http://schemas.microsoft.com/office/powerpoint/2010/main" val="2356700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龙腾四海">
  <a:themeElements>
    <a:clrScheme name="龙腾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龙腾四海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龙腾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15460</TotalTime>
  <Words>6641</Words>
  <Application>Microsoft Macintosh PowerPoint</Application>
  <PresentationFormat>全屏显示(4:3)</PresentationFormat>
  <Paragraphs>1092</Paragraphs>
  <Slides>61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79" baseType="lpstr">
      <vt:lpstr>-apple-system</vt:lpstr>
      <vt:lpstr>黑体</vt:lpstr>
      <vt:lpstr>华文楷体</vt:lpstr>
      <vt:lpstr>楷体</vt:lpstr>
      <vt:lpstr>隶书</vt:lpstr>
      <vt:lpstr>宋体</vt:lpstr>
      <vt:lpstr>新宋体</vt:lpstr>
      <vt:lpstr>Arial</vt:lpstr>
      <vt:lpstr>Calibri</vt:lpstr>
      <vt:lpstr>Cambria</vt:lpstr>
      <vt:lpstr>Comic Sans MS</vt:lpstr>
      <vt:lpstr>Consolas</vt:lpstr>
      <vt:lpstr>Maiandra GD</vt:lpstr>
      <vt:lpstr>Tahoma</vt:lpstr>
      <vt:lpstr>Times New Roman</vt:lpstr>
      <vt:lpstr>Wingdings</vt:lpstr>
      <vt:lpstr>Wingdings 2</vt:lpstr>
      <vt:lpstr>龙腾四海</vt:lpstr>
      <vt:lpstr>第6讲 模板</vt:lpstr>
      <vt:lpstr>大纲</vt:lpstr>
      <vt:lpstr>模板</vt:lpstr>
      <vt:lpstr>模板</vt:lpstr>
      <vt:lpstr>模板</vt:lpstr>
      <vt:lpstr>6.1 模板的概念</vt:lpstr>
      <vt:lpstr>6.1 模板的概念</vt:lpstr>
      <vt:lpstr>大纲</vt:lpstr>
      <vt:lpstr>6.2  函数模板</vt:lpstr>
      <vt:lpstr>6.2  函数模板</vt:lpstr>
      <vt:lpstr>6.2.1  函数模板的定义和使用</vt:lpstr>
      <vt:lpstr>6.2.1  函数模板的定义和使用</vt:lpstr>
      <vt:lpstr>6.2.1  函数模板的定义和使用</vt:lpstr>
      <vt:lpstr>6.2.1  函数模板的定义和使用</vt:lpstr>
      <vt:lpstr>PowerPoint 演示文稿</vt:lpstr>
      <vt:lpstr>6.2.2  函数模板的实例化</vt:lpstr>
      <vt:lpstr>6.2.2  函数模板的实例化</vt:lpstr>
      <vt:lpstr>6.2.2  函数模板的实例化</vt:lpstr>
      <vt:lpstr>6.2.2  函数模板的实例化</vt:lpstr>
      <vt:lpstr>6.2.2  函数模板的实例化</vt:lpstr>
      <vt:lpstr>6.2  函数模板</vt:lpstr>
      <vt:lpstr>PowerPoint 演示文稿</vt:lpstr>
      <vt:lpstr>函数模板例</vt:lpstr>
      <vt:lpstr>PowerPoint 演示文稿</vt:lpstr>
      <vt:lpstr>PowerPoint 演示文稿</vt:lpstr>
      <vt:lpstr>6.2.3  函数模板的特化</vt:lpstr>
      <vt:lpstr>6.2.3  函数模板的特化</vt:lpstr>
      <vt:lpstr>6.2.3  函数模板的特化</vt:lpstr>
      <vt:lpstr>PowerPoint 演示文稿</vt:lpstr>
      <vt:lpstr>6.2  函数模板重载</vt:lpstr>
      <vt:lpstr>6.2  函数模板重载与匹配</vt:lpstr>
      <vt:lpstr>PowerPoint 演示文稿</vt:lpstr>
      <vt:lpstr>大纲</vt:lpstr>
      <vt:lpstr>6.3.1  类模板的概念</vt:lpstr>
      <vt:lpstr>6.3.1  类模板的概念</vt:lpstr>
      <vt:lpstr>6.3.2类模板的实例化</vt:lpstr>
      <vt:lpstr>6.3.2类模板的实例化</vt:lpstr>
      <vt:lpstr>6.3.2类模板的实例化</vt:lpstr>
      <vt:lpstr>类模板例1</vt:lpstr>
      <vt:lpstr>PowerPoint 演示文稿</vt:lpstr>
      <vt:lpstr>类模板例2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6.3.3  类模板的特化</vt:lpstr>
      <vt:lpstr>6.3.3  类模板的特化</vt:lpstr>
      <vt:lpstr>6.3.3  类模板的特化</vt:lpstr>
      <vt:lpstr>6.3.4 类模板与友元</vt:lpstr>
      <vt:lpstr>6.3.4 类模板与友元</vt:lpstr>
      <vt:lpstr>6.3.4 类模板与友元</vt:lpstr>
      <vt:lpstr>6.3.4 类模板与友元函数</vt:lpstr>
      <vt:lpstr>6.3.4 类模板与友元函数</vt:lpstr>
      <vt:lpstr>PowerPoint 演示文稿</vt:lpstr>
      <vt:lpstr>PowerPoint 演示文稿</vt:lpstr>
      <vt:lpstr>PowerPoint 演示文稿</vt:lpstr>
      <vt:lpstr>PowerPoint 演示文稿</vt:lpstr>
      <vt:lpstr>深度探索——元编程</vt:lpstr>
      <vt:lpstr>深度探索——元编程</vt:lpstr>
      <vt:lpstr>深度探索——元编程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sjl</dc:creator>
  <cp:lastModifiedBy>Microsoft Office User</cp:lastModifiedBy>
  <cp:revision>160</cp:revision>
  <cp:lastPrinted>1601-01-01T00:00:00Z</cp:lastPrinted>
  <dcterms:created xsi:type="dcterms:W3CDTF">1601-01-01T00:00:00Z</dcterms:created>
  <dcterms:modified xsi:type="dcterms:W3CDTF">2024-05-29T11:46:30Z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