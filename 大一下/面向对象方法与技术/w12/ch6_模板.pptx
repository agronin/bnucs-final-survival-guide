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1"/>
  </p:notesMasterIdLst>
  <p:sldIdLst>
    <p:sldId id="375" r:id="rId2"/>
    <p:sldId id="376" r:id="rId3"/>
    <p:sldId id="260" r:id="rId4"/>
    <p:sldId id="478" r:id="rId5"/>
    <p:sldId id="466" r:id="rId6"/>
    <p:sldId id="377" r:id="rId7"/>
    <p:sldId id="410" r:id="rId8"/>
    <p:sldId id="380" r:id="rId9"/>
    <p:sldId id="383" r:id="rId10"/>
    <p:sldId id="454" r:id="rId11"/>
    <p:sldId id="470" r:id="rId12"/>
    <p:sldId id="386" r:id="rId13"/>
    <p:sldId id="429" r:id="rId14"/>
    <p:sldId id="431" r:id="rId15"/>
    <p:sldId id="453" r:id="rId16"/>
    <p:sldId id="432" r:id="rId17"/>
    <p:sldId id="389" r:id="rId18"/>
    <p:sldId id="390" r:id="rId19"/>
    <p:sldId id="391" r:id="rId20"/>
    <p:sldId id="392" r:id="rId21"/>
    <p:sldId id="436" r:id="rId22"/>
    <p:sldId id="265" r:id="rId23"/>
    <p:sldId id="281" r:id="rId24"/>
    <p:sldId id="283" r:id="rId25"/>
    <p:sldId id="393" r:id="rId26"/>
    <p:sldId id="463" r:id="rId27"/>
    <p:sldId id="394" r:id="rId28"/>
    <p:sldId id="437" r:id="rId29"/>
    <p:sldId id="468" r:id="rId30"/>
    <p:sldId id="395" r:id="rId31"/>
    <p:sldId id="438" r:id="rId32"/>
    <p:sldId id="426" r:id="rId33"/>
    <p:sldId id="396" r:id="rId34"/>
    <p:sldId id="441" r:id="rId35"/>
    <p:sldId id="413" r:id="rId36"/>
    <p:sldId id="472" r:id="rId37"/>
    <p:sldId id="440" r:id="rId38"/>
    <p:sldId id="275" r:id="rId39"/>
    <p:sldId id="284" r:id="rId40"/>
    <p:sldId id="274" r:id="rId41"/>
    <p:sldId id="286" r:id="rId42"/>
    <p:sldId id="287" r:id="rId43"/>
    <p:sldId id="486" r:id="rId44"/>
    <p:sldId id="288" r:id="rId45"/>
    <p:sldId id="398" r:id="rId46"/>
    <p:sldId id="464" r:id="rId47"/>
    <p:sldId id="411" r:id="rId48"/>
    <p:sldId id="469" r:id="rId49"/>
    <p:sldId id="465" r:id="rId50"/>
    <p:sldId id="414" r:id="rId51"/>
    <p:sldId id="480" r:id="rId52"/>
    <p:sldId id="481" r:id="rId53"/>
    <p:sldId id="482" r:id="rId54"/>
    <p:sldId id="483" r:id="rId55"/>
    <p:sldId id="484" r:id="rId56"/>
    <p:sldId id="479" r:id="rId57"/>
    <p:sldId id="476" r:id="rId58"/>
    <p:sldId id="473" r:id="rId59"/>
    <p:sldId id="475" r:id="rId6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558" autoAdjust="0"/>
  </p:normalViewPr>
  <p:slideViewPr>
    <p:cSldViewPr>
      <p:cViewPr varScale="1">
        <p:scale>
          <a:sx n="121" d="100"/>
          <a:sy n="121" d="100"/>
        </p:scale>
        <p:origin x="17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444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8.xml"/><Relationship Id="rId2" Type="http://schemas.openxmlformats.org/officeDocument/2006/relationships/slide" Target="slides/slide22.xml"/><Relationship Id="rId1" Type="http://schemas.openxmlformats.org/officeDocument/2006/relationships/slide" Target="slides/slide3.xml"/><Relationship Id="rId4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D1C927-A4F9-6112-B578-274479452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D7D4ED-C467-DE4F-7B10-B664B7F7B6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BDEB172-6833-4076-B5A9-E91C9591048A}" type="datetimeFigureOut">
              <a:rPr lang="zh-CN" altLang="en-US"/>
              <a:pPr>
                <a:defRPr/>
              </a:pPr>
              <a:t>2024/5/15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908F3A-AFC2-0FD1-7258-BD3B99862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87BDB99-AFEF-C79B-08F3-09D0581A5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AD7CF-4116-868A-0BB3-9E2F716A4D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20FB42-6EB1-841A-9E19-3709F9B00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3F94B9-0302-4646-91D1-8D25495BDCF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泛型：与</a:t>
            </a:r>
            <a:r>
              <a:rPr lang="zh-CN" altLang="en-US">
                <a:solidFill>
                  <a:srgbClr val="FF0000"/>
                </a:solidFill>
              </a:rPr>
              <a:t>数据类型无关</a:t>
            </a:r>
            <a:r>
              <a:rPr lang="zh-CN" altLang="en-US"/>
              <a:t>的通用程序设计技术</a:t>
            </a: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9DD11F-30D8-461A-A823-EA79A15CB30D}" type="slidenum">
              <a:rPr lang="zh-CN" altLang="en-US" sz="1200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77403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泛型：与</a:t>
            </a:r>
            <a:r>
              <a:rPr lang="zh-CN" altLang="en-US">
                <a:solidFill>
                  <a:srgbClr val="FF0000"/>
                </a:solidFill>
              </a:rPr>
              <a:t>数据类型无关</a:t>
            </a:r>
            <a:r>
              <a:rPr lang="zh-CN" altLang="en-US"/>
              <a:t>的通用程序设计技术</a:t>
            </a: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9DD11F-30D8-461A-A823-EA79A15CB30D}" type="slidenum">
              <a:rPr lang="zh-CN" altLang="en-US" sz="1200" smtClean="0"/>
              <a:pPr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能不能用通用函数去处理？</a:t>
            </a: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C96F016-4457-455B-BFED-0EE5FD604E07}" type="slidenum">
              <a:rPr lang="zh-CN" altLang="en-US" sz="1200" smtClean="0"/>
              <a:pPr/>
              <a:t>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B8CB33A-27C2-498D-94FB-8DD8D8753A01}" type="slidenum">
              <a:rPr lang="zh-CN" altLang="en-US" sz="1200" smtClean="0"/>
              <a:pPr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64C6334-DCF1-4801-9B0F-C2F8DAB1319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85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64C6334-DCF1-4801-9B0F-C2F8DAB1319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BAF9DE7-F54A-4099-A4F2-B0A50379FAF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7E5922-3E62-46C5-ADC5-FA8836E9034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tmin&lt;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a,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b);</a:t>
            </a:r>
            <a:r>
              <a:rPr lang="zh-CN" altLang="en-US"/>
              <a:t>也可实例化时加入类型参数</a:t>
            </a:r>
            <a:endParaRPr lang="en-US" altLang="zh-CN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F2C99E-5627-4F51-91C3-44D535F999F9}" type="slidenum">
              <a:rPr lang="zh-CN" altLang="en-US" sz="1200" smtClean="0"/>
              <a:pPr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08038" lvl="1" indent="-53340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200"/>
              <a:t>在普通函数的调用过程中，</a:t>
            </a:r>
            <a:r>
              <a:rPr lang="en-US" altLang="zh-CN" sz="2200"/>
              <a:t>C++</a:t>
            </a:r>
            <a:r>
              <a:rPr lang="zh-CN" altLang="en-US" sz="2200"/>
              <a:t>会对类型不匹配的参数进行</a:t>
            </a:r>
            <a:r>
              <a:rPr lang="zh-CN" altLang="en-US" sz="2200">
                <a:solidFill>
                  <a:srgbClr val="FF0000"/>
                </a:solidFill>
              </a:rPr>
              <a:t>隐式的类型转换</a:t>
            </a:r>
            <a:r>
              <a:rPr lang="zh-CN" altLang="en-US" sz="2200"/>
              <a:t> 。</a:t>
            </a:r>
            <a:endParaRPr lang="en-US" altLang="zh-CN" sz="2200"/>
          </a:p>
          <a:p>
            <a:pPr marL="808038" lvl="1" indent="-53340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200">
                <a:solidFill>
                  <a:srgbClr val="FF0000"/>
                </a:solidFill>
              </a:rPr>
              <a:t>模板实例化</a:t>
            </a:r>
            <a:r>
              <a:rPr lang="zh-CN" altLang="en-US" sz="2200"/>
              <a:t>过程中</a:t>
            </a:r>
            <a:r>
              <a:rPr lang="zh-CN" altLang="en-US" sz="2200">
                <a:solidFill>
                  <a:srgbClr val="FF0000"/>
                </a:solidFill>
              </a:rPr>
              <a:t>不会</a:t>
            </a:r>
            <a:r>
              <a:rPr lang="zh-CN" altLang="en-US" sz="2200"/>
              <a:t>进行任何形式的参数</a:t>
            </a:r>
            <a:r>
              <a:rPr lang="zh-CN" altLang="en-US" sz="2200">
                <a:solidFill>
                  <a:srgbClr val="FF0000"/>
                </a:solidFill>
              </a:rPr>
              <a:t>类型转换，</a:t>
            </a:r>
            <a:r>
              <a:rPr lang="zh-CN" altLang="en-US" sz="2200"/>
              <a:t>从而导致模板函数的参数类型不匹配，产生编译错误。</a:t>
            </a:r>
            <a:endParaRPr lang="en-US" altLang="zh-CN" sz="2200"/>
          </a:p>
          <a:p>
            <a:endParaRPr lang="zh-CN" altLang="en-US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CF9A1BB-4A63-4879-BDA2-AEA38769693F}" type="slidenum">
              <a:rPr lang="zh-CN" altLang="en-US" sz="1200" smtClean="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7E5922-3E62-46C5-ADC5-FA8836E9034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38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用函数模板实现数组的选择法排序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3A1EC5-5913-435F-B0A2-DE33A1BAEE2C}" type="slidenum">
              <a:rPr lang="zh-CN" altLang="en-US" sz="1200" smtClean="0"/>
              <a:pPr/>
              <a:t>20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/>
              <a:t>tmin(string(“ys”),string(“cs”));</a:t>
            </a:r>
            <a:endParaRPr kumimoji="1" lang="zh-CN" altLang="en-US"/>
          </a:p>
        </p:txBody>
      </p:sp>
      <p:sp>
        <p:nvSpPr>
          <p:cNvPr id="53251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3A147C0-D564-4D81-88E4-45A0F72605D5}" type="slidenum">
              <a:rPr lang="zh-CN" altLang="en-US" sz="1200" smtClean="0"/>
              <a:pPr/>
              <a:t>28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625134-AF11-499A-98CF-052FEB6F66B5}" type="slidenum">
              <a:rPr lang="zh-CN" altLang="en-US" sz="1200" smtClean="0"/>
              <a:pPr/>
              <a:t>29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547177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在同一个程序中，除了函数模板和它的特化外，还可以有</a:t>
            </a:r>
            <a:r>
              <a:rPr lang="zh-CN" altLang="en-US" dirty="0">
                <a:solidFill>
                  <a:srgbClr val="FF0000"/>
                </a:solidFill>
              </a:rPr>
              <a:t>同名的普通函数</a:t>
            </a:r>
            <a:r>
              <a:rPr lang="zh-CN" altLang="en-US" dirty="0"/>
              <a:t>。其区别在于</a:t>
            </a:r>
            <a:r>
              <a:rPr lang="en-US" altLang="zh-CN" dirty="0"/>
              <a:t>C++</a:t>
            </a:r>
            <a:r>
              <a:rPr lang="zh-CN" altLang="en-US" dirty="0"/>
              <a:t>会对普通函数的</a:t>
            </a:r>
            <a:r>
              <a:rPr lang="zh-CN" altLang="en-US" dirty="0">
                <a:solidFill>
                  <a:srgbClr val="FF0000"/>
                </a:solidFill>
              </a:rPr>
              <a:t>调用实参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FF0000"/>
                </a:solidFill>
              </a:rPr>
              <a:t>隐式的类型转换</a:t>
            </a:r>
            <a:r>
              <a:rPr lang="zh-CN" altLang="en-US" dirty="0"/>
              <a:t>，但不会对</a:t>
            </a:r>
            <a:r>
              <a:rPr lang="zh-CN" altLang="en-US" dirty="0">
                <a:solidFill>
                  <a:srgbClr val="FF0000"/>
                </a:solidFill>
              </a:rPr>
              <a:t>模板函数</a:t>
            </a:r>
            <a:r>
              <a:rPr lang="zh-CN" altLang="en-US" dirty="0"/>
              <a:t>及</a:t>
            </a:r>
            <a:r>
              <a:rPr lang="zh-CN" altLang="en-US" dirty="0">
                <a:solidFill>
                  <a:srgbClr val="FF0000"/>
                </a:solidFill>
              </a:rPr>
              <a:t>特化函数</a:t>
            </a:r>
            <a:r>
              <a:rPr lang="zh-CN" altLang="en-US" dirty="0"/>
              <a:t>的</a:t>
            </a:r>
            <a:r>
              <a:rPr lang="zh-CN" altLang="en-US" b="1" dirty="0"/>
              <a:t>参数</a:t>
            </a:r>
            <a:r>
              <a:rPr lang="zh-CN" altLang="en-US" dirty="0"/>
              <a:t>进行任何形式的类型转换。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625134-AF11-499A-98CF-052FEB6F66B5}" type="slidenum">
              <a:rPr lang="zh-CN" altLang="en-US" sz="1200" smtClean="0"/>
              <a:pPr/>
              <a:t>30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5FC69EBC-DE58-1B87-7C68-ECA0163BF8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7A1236FA-E134-1EC1-325A-0EBDBAAFC1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6D72A504-1B47-6B53-F8A5-34465C4DF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C8E40A0-B82D-4624-96B3-A99394F2F287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41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12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36CE153-E12D-70CD-6278-45E970F13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9018BAE4-E2C9-ED48-F310-EABD19BC97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7CF29EA-F212-E4F7-B47A-D2C0CFC7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5F90B2F-70D7-4B36-94DA-E536F117B4E3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161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36CE153-E12D-70CD-6278-45E970F13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9018BAE4-E2C9-ED48-F310-EABD19BC97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7CF29EA-F212-E4F7-B47A-D2C0CFC7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5F90B2F-70D7-4B36-94DA-E536F117B4E3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009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全特化与偏特化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7D9173-8C62-4825-AC59-92BBB45293FF}" type="slidenum">
              <a:rPr lang="zh-CN" altLang="en-US" sz="1200" smtClean="0"/>
              <a:pPr/>
              <a:t>45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全特化与偏特化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7D9173-8C62-4825-AC59-92BBB45293FF}" type="slidenum">
              <a:rPr lang="zh-CN" altLang="en-US" sz="1200" smtClean="0"/>
              <a:pPr/>
              <a:t>46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44383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EC0B837-B48B-4508-B993-DAB18F4D45BF}" type="slidenum">
              <a:rPr lang="zh-CN" altLang="en-US" sz="1200" smtClean="0"/>
              <a:pPr/>
              <a:t>47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48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16467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49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45900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50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E8DA2C-C577-4DF1-8471-B3A0800903C9}" type="slidenum">
              <a:rPr lang="zh-CN" altLang="en-US" sz="1200" smtClean="0"/>
              <a:pPr/>
              <a:t>51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85591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E8DA2C-C577-4DF1-8471-B3A0800903C9}" type="slidenum">
              <a:rPr lang="zh-CN" altLang="en-US" sz="1200" smtClean="0"/>
              <a:pPr/>
              <a:t>52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5109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F29B5-86F2-CA6D-FCC8-6CF2DC4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5E186-E52B-D63F-DAE4-F2A07306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5FFCB-032E-D9D8-D99A-BEFFCDFB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FF345-8D30-4AFF-917C-7650D724A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243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80F1D-1E8C-6FD1-43D6-D32A2AB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EC30E-58AD-8ACF-9940-0DC525CD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2595-6C15-5AEC-1E16-7A46D0F5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515DB-B772-4D8C-89CC-577B471E07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54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EE2F8-7638-B0A7-DE63-CE5D52DC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F5CB2-4871-5F89-07BC-2684A415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9BAE3-7514-1770-2AE1-A2FBC982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3D0C1-FC0F-47F6-BAFE-CE643FB117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26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1E758B9-C693-CC18-6DAD-D6E8C5B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8DC94A-F8DD-BDB8-0920-6E151835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1FDA33-B90C-F665-7867-8B73ACEE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58202-66A6-4EC0-A14E-89F58641DF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7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26510EB-E486-F736-2694-A2CA8852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945FAF4-E4A5-5340-2DB4-06ED0EE4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F5B2532-455C-9326-DFF8-51AAB855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35A6D-571E-4157-9C0C-D37FBCB7FA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28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AD87036-2008-13C7-E462-D9821D5A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5CF416A-5A01-E634-487F-1D3C02FD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C7026C-BE82-C990-3AE5-FC436687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47DB2-FDC1-4501-BC7F-F4F3F95DF1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69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EAE9E02-E779-18E5-4A53-CCFB06DD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AF8E14C-5D26-2ADB-14B1-07480271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656D7F-FA9E-92D6-F302-D104FAAE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9E34F-31F4-4B98-99E3-BB78C1848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5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9B74D5C-5AFA-05F1-557C-9B0399A4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0F8D3D6-A36F-F0E8-F549-90595DC1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509AC2F-64BC-F0CA-9A4D-BE63B0AD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EBDC7-7D3D-4FD1-9EFC-4F503A6716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28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FA580D0-DED6-94CC-662D-3B39709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CD8F934-C625-1202-D281-2CB7305D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3D21BBA-B8C4-1BD8-6020-8A29E399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D2FAF-2AA2-4D29-BB9B-69833A5D32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7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005AB-11F7-AB3E-21BA-31D5C46F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4441C-4A0D-011E-339A-C1E6B49A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C85EF-8D34-320D-5EE6-66EBD95E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CECB-4D5A-4C8B-9EE5-9CB434F53A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6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88D34-EF49-AEB1-0903-109C9EAE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2E228-6BBE-A533-8448-A2B3B966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12238-9753-8004-3966-2F6E8CAE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58DA4-118E-4300-8E2D-E8116506BC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61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>
            <a:extLst>
              <a:ext uri="{FF2B5EF4-FFF2-40B4-BE49-F238E27FC236}">
                <a16:creationId xmlns:a16="http://schemas.microsoft.com/office/drawing/2014/main" id="{99F00930-7114-BD27-C96F-F98EF97DF1CD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12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138F966-60F5-860F-52FA-EB2FF3C6E48B}"/>
              </a:ext>
            </a:extLst>
          </p:cNvPr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F57286-4334-949A-8A02-64C4B9B7BE5B}"/>
              </a:ext>
            </a:extLst>
          </p:cNvPr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033" name="图片 8">
            <a:extLst>
              <a:ext uri="{FF2B5EF4-FFF2-40B4-BE49-F238E27FC236}">
                <a16:creationId xmlns:a16="http://schemas.microsoft.com/office/drawing/2014/main" id="{C9D0CBD9-35D3-900D-118B-3FF2EA347C7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标题占位符 1">
            <a:extLst>
              <a:ext uri="{FF2B5EF4-FFF2-40B4-BE49-F238E27FC236}">
                <a16:creationId xmlns:a16="http://schemas.microsoft.com/office/drawing/2014/main" id="{39C4DE4D-979C-7D4E-2D02-C6763CDD05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文本占位符 2">
            <a:extLst>
              <a:ext uri="{FF2B5EF4-FFF2-40B4-BE49-F238E27FC236}">
                <a16:creationId xmlns:a16="http://schemas.microsoft.com/office/drawing/2014/main" id="{D0D9CA5C-DEBE-7949-D2C4-941DC54476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7BAB1-DCED-3FF4-BA75-5A5295765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A6134-8863-779F-A443-612A4DB3C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78371-1994-A12C-D744-8C926739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9C57374-ACF2-41C6-BB04-24962DFFE1B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8" r:id="rId2"/>
    <p:sldLayoutId id="214748374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  <a:noFill/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</a:rPr>
              <a:t>第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讲 模板</a:t>
            </a:r>
            <a:endParaRPr altLang="zh-CN" b="1" dirty="0">
              <a:solidFill>
                <a:schemeClr val="tx1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4544F22-3A38-BAFB-D2D0-C3F319CF8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46425"/>
            <a:ext cx="82296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教材 第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9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17410" name="Group 117"/>
          <p:cNvGrpSpPr>
            <a:grpSpLocks/>
          </p:cNvGrpSpPr>
          <p:nvPr/>
        </p:nvGrpSpPr>
        <p:grpSpPr bwMode="auto">
          <a:xfrm>
            <a:off x="2124075" y="2890838"/>
            <a:ext cx="5310188" cy="609600"/>
            <a:chOff x="1263" y="1881"/>
            <a:chExt cx="3345" cy="384"/>
          </a:xfrm>
        </p:grpSpPr>
        <p:grpSp>
          <p:nvGrpSpPr>
            <p:cNvPr id="17443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451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2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3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4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5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44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5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17446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7411" name="Group 145"/>
          <p:cNvGrpSpPr>
            <a:grpSpLocks/>
          </p:cNvGrpSpPr>
          <p:nvPr/>
        </p:nvGrpSpPr>
        <p:grpSpPr bwMode="auto">
          <a:xfrm>
            <a:off x="2124075" y="2243138"/>
            <a:ext cx="5334000" cy="628650"/>
            <a:chOff x="1248" y="1188"/>
            <a:chExt cx="3360" cy="396"/>
          </a:xfrm>
        </p:grpSpPr>
        <p:sp>
          <p:nvSpPr>
            <p:cNvPr id="17428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17430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17431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17433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438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39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0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1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2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32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7412" name="Group 161"/>
          <p:cNvGrpSpPr>
            <a:grpSpLocks/>
          </p:cNvGrpSpPr>
          <p:nvPr/>
        </p:nvGrpSpPr>
        <p:grpSpPr bwMode="auto">
          <a:xfrm>
            <a:off x="2124075" y="3538538"/>
            <a:ext cx="5334000" cy="633412"/>
            <a:chOff x="1248" y="2326"/>
            <a:chExt cx="3360" cy="398"/>
          </a:xfrm>
        </p:grpSpPr>
        <p:sp>
          <p:nvSpPr>
            <p:cNvPr id="17413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17415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17416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17418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423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4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5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6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7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17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54F506-D204-593E-72CC-01593AB02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latin typeface="+mj-ea"/>
              </a:rPr>
              <a:t>模板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1B95887-CF80-0B69-DC1A-1A8B93B9A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参数多态性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将程序所处理的对象的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类型参数化</a:t>
            </a:r>
            <a:r>
              <a:rPr lang="zh-CN" altLang="en-US">
                <a:latin typeface="华文楷体" panose="02010600040101010101" pitchFamily="2" charset="-122"/>
              </a:rPr>
              <a:t>，使得一段程序可以用于处理多种不同类型的对象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静态联编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9272DE76-5F9B-5C5E-0BAD-EA9FD526B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96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</a:t>
            </a:r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2"/>
          <a:stretch/>
        </p:blipFill>
        <p:spPr bwMode="auto">
          <a:xfrm>
            <a:off x="2667000" y="1524000"/>
            <a:ext cx="4762500" cy="104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07" b="43168"/>
          <a:stretch/>
        </p:blipFill>
        <p:spPr>
          <a:xfrm>
            <a:off x="2633272" y="1382558"/>
            <a:ext cx="1699884" cy="1385777"/>
          </a:xfrm>
        </p:spPr>
      </p:pic>
      <p:sp>
        <p:nvSpPr>
          <p:cNvPr id="3" name="矩形 2"/>
          <p:cNvSpPr/>
          <p:nvPr/>
        </p:nvSpPr>
        <p:spPr>
          <a:xfrm>
            <a:off x="2676972" y="2880255"/>
            <a:ext cx="27542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程序编译</a:t>
            </a:r>
          </a:p>
        </p:txBody>
      </p:sp>
      <p:sp>
        <p:nvSpPr>
          <p:cNvPr id="7" name="矩形 6"/>
          <p:cNvSpPr/>
          <p:nvPr/>
        </p:nvSpPr>
        <p:spPr>
          <a:xfrm>
            <a:off x="1017617" y="876269"/>
            <a:ext cx="12121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endParaRPr lang="en-US" altLang="zh-CN" sz="2000" dirty="0">
              <a:solidFill>
                <a:srgbClr val="C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源码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2263749" y="1160680"/>
            <a:ext cx="465597" cy="42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5E7B7E2B-ACB3-9246-A084-0BFA133CED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68"/>
          <a:stretch/>
        </p:blipFill>
        <p:spPr bwMode="auto">
          <a:xfrm>
            <a:off x="2504938" y="3493761"/>
            <a:ext cx="4762500" cy="138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内容占位符 4">
            <a:extLst>
              <a:ext uri="{FF2B5EF4-FFF2-40B4-BE49-F238E27FC236}">
                <a16:creationId xmlns:a16="http://schemas.microsoft.com/office/drawing/2014/main" id="{2449B295-1825-234E-822C-EDA098C0D4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2"/>
          <a:stretch/>
        </p:blipFill>
        <p:spPr bwMode="auto">
          <a:xfrm>
            <a:off x="2514600" y="4879538"/>
            <a:ext cx="4762500" cy="104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F0FEAD6-CE03-9140-9CF8-0F5CD1DA3C0C}"/>
              </a:ext>
            </a:extLst>
          </p:cNvPr>
          <p:cNvSpPr/>
          <p:nvPr/>
        </p:nvSpPr>
        <p:spPr>
          <a:xfrm>
            <a:off x="2524572" y="6235793"/>
            <a:ext cx="26965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程序编译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6420B1-B279-6944-8383-CE0F90C587E9}"/>
              </a:ext>
            </a:extLst>
          </p:cNvPr>
          <p:cNvSpPr/>
          <p:nvPr/>
        </p:nvSpPr>
        <p:spPr>
          <a:xfrm>
            <a:off x="865217" y="4231807"/>
            <a:ext cx="12121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endParaRPr lang="en-US" altLang="zh-CN" sz="2000" dirty="0">
              <a:solidFill>
                <a:srgbClr val="C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源码</a:t>
            </a:r>
          </a:p>
        </p:txBody>
      </p:sp>
      <p:cxnSp>
        <p:nvCxnSpPr>
          <p:cNvPr id="13" name="直接箭头连接符 9">
            <a:extLst>
              <a:ext uri="{FF2B5EF4-FFF2-40B4-BE49-F238E27FC236}">
                <a16:creationId xmlns:a16="http://schemas.microsoft.com/office/drawing/2014/main" id="{26391033-EEAA-AF4C-8C00-6D511D2531C1}"/>
              </a:ext>
            </a:extLst>
          </p:cNvPr>
          <p:cNvCxnSpPr/>
          <p:nvPr/>
        </p:nvCxnSpPr>
        <p:spPr>
          <a:xfrm flipV="1">
            <a:off x="2111349" y="4069825"/>
            <a:ext cx="465597" cy="44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9C0A1F5-2773-6549-806A-F715C4DC65A6}"/>
              </a:ext>
            </a:extLst>
          </p:cNvPr>
          <p:cNvSpPr/>
          <p:nvPr/>
        </p:nvSpPr>
        <p:spPr>
          <a:xfrm>
            <a:off x="3892724" y="3277737"/>
            <a:ext cx="1872208" cy="280831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45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6.1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j-ea"/>
              </a:rPr>
              <a:t>模板的概念</a:t>
            </a:r>
            <a:endParaRPr lang="en-US" altLang="zh-CN" dirty="0">
              <a:latin typeface="+mj-ea"/>
            </a:endParaRPr>
          </a:p>
        </p:txBody>
      </p:sp>
      <p:sp>
        <p:nvSpPr>
          <p:cNvPr id="9222" name="内容占位符 2"/>
          <p:cNvSpPr txBox="1">
            <a:spLocks/>
          </p:cNvSpPr>
          <p:nvPr/>
        </p:nvSpPr>
        <p:spPr bwMode="auto">
          <a:xfrm>
            <a:off x="753005" y="1412776"/>
            <a:ext cx="77724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800" b="1" dirty="0"/>
              <a:t>模板</a:t>
            </a:r>
            <a:r>
              <a:rPr lang="en-US" altLang="zh-CN" sz="2800" b="1" dirty="0"/>
              <a:t>: </a:t>
            </a:r>
            <a:r>
              <a:rPr lang="zh-CN" altLang="en-US" sz="2800" b="1" dirty="0">
                <a:solidFill>
                  <a:srgbClr val="FF0000"/>
                </a:solidFill>
              </a:rPr>
              <a:t>类型参数化 </a:t>
            </a:r>
            <a:endParaRPr lang="en-US" altLang="zh-CN" sz="2800" b="1" dirty="0"/>
          </a:p>
        </p:txBody>
      </p:sp>
      <p:sp>
        <p:nvSpPr>
          <p:cNvPr id="2" name="矩形 1"/>
          <p:cNvSpPr/>
          <p:nvPr/>
        </p:nvSpPr>
        <p:spPr>
          <a:xfrm>
            <a:off x="3124200" y="2092226"/>
            <a:ext cx="4564361" cy="86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dirty="0"/>
              <a:t>使得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一段源代码</a:t>
            </a:r>
            <a:r>
              <a:rPr lang="zh-CN" altLang="en-US" sz="1800" dirty="0"/>
              <a:t>可用于多种不类型的对象</a:t>
            </a:r>
            <a:r>
              <a:rPr lang="en-US" altLang="zh-CN" sz="1800" dirty="0"/>
              <a:t>~ </a:t>
            </a:r>
            <a:r>
              <a:rPr lang="zh-CN" altLang="en-US" sz="1800" b="1" dirty="0">
                <a:solidFill>
                  <a:srgbClr val="FF0000"/>
                </a:solidFill>
              </a:rPr>
              <a:t>参数化多态</a:t>
            </a:r>
            <a:endParaRPr lang="en-US" altLang="zh-CN" sz="1800" b="1" dirty="0"/>
          </a:p>
        </p:txBody>
      </p:sp>
      <p:sp>
        <p:nvSpPr>
          <p:cNvPr id="3" name="任意多边形 2"/>
          <p:cNvSpPr/>
          <p:nvPr/>
        </p:nvSpPr>
        <p:spPr>
          <a:xfrm>
            <a:off x="2555776" y="1898592"/>
            <a:ext cx="457955" cy="570271"/>
          </a:xfrm>
          <a:custGeom>
            <a:avLst/>
            <a:gdLst>
              <a:gd name="connsiteX0" fmla="*/ 457955 w 457955"/>
              <a:gd name="connsiteY0" fmla="*/ 570271 h 570271"/>
              <a:gd name="connsiteX1" fmla="*/ 15503 w 457955"/>
              <a:gd name="connsiteY1" fmla="*/ 265471 h 570271"/>
              <a:gd name="connsiteX2" fmla="*/ 143322 w 457955"/>
              <a:gd name="connsiteY2" fmla="*/ 0 h 57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955" h="570271">
                <a:moveTo>
                  <a:pt x="457955" y="570271"/>
                </a:moveTo>
                <a:cubicBezTo>
                  <a:pt x="262948" y="465393"/>
                  <a:pt x="67942" y="360516"/>
                  <a:pt x="15503" y="265471"/>
                </a:cubicBezTo>
                <a:cubicBezTo>
                  <a:pt x="-36936" y="170426"/>
                  <a:pt x="53193" y="85213"/>
                  <a:pt x="143322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27584" y="5157192"/>
            <a:ext cx="76546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• </a:t>
            </a:r>
            <a:r>
              <a:rPr lang="zh-CN" altLang="en-US" sz="2800" b="1" dirty="0"/>
              <a:t>模板是</a:t>
            </a:r>
            <a:r>
              <a:rPr lang="zh-CN" altLang="en-US" sz="2800" b="1" dirty="0">
                <a:solidFill>
                  <a:srgbClr val="FF0000"/>
                </a:solidFill>
              </a:rPr>
              <a:t>泛型</a:t>
            </a:r>
            <a:r>
              <a:rPr lang="zh-CN" altLang="en-US" sz="2800" b="1" dirty="0"/>
              <a:t>技术的基础 </a:t>
            </a:r>
            <a:r>
              <a:rPr lang="en-US" altLang="zh-CN" sz="3200" b="1" dirty="0">
                <a:solidFill>
                  <a:srgbClr val="006600"/>
                </a:solidFill>
              </a:rPr>
              <a:t>~ </a:t>
            </a:r>
            <a:r>
              <a:rPr lang="zh-CN" altLang="en-US" sz="3200" b="1" dirty="0">
                <a:solidFill>
                  <a:srgbClr val="006600"/>
                </a:solidFill>
              </a:rPr>
              <a:t>第</a:t>
            </a:r>
            <a:r>
              <a:rPr lang="en-US" altLang="zh-CN" sz="3200" b="1" dirty="0">
                <a:solidFill>
                  <a:srgbClr val="006600"/>
                </a:solidFill>
              </a:rPr>
              <a:t>7</a:t>
            </a:r>
            <a:r>
              <a:rPr lang="zh-CN" altLang="en-US" sz="3200" b="1" dirty="0">
                <a:solidFill>
                  <a:srgbClr val="006600"/>
                </a:solidFill>
              </a:rPr>
              <a:t>讲（</a:t>
            </a:r>
            <a:r>
              <a:rPr lang="zh-CN" altLang="en-US" sz="2800" dirty="0">
                <a:solidFill>
                  <a:srgbClr val="006600"/>
                </a:solidFill>
              </a:rPr>
              <a:t>第</a:t>
            </a:r>
            <a:r>
              <a:rPr lang="en-US" altLang="zh-CN" sz="2800" dirty="0">
                <a:solidFill>
                  <a:srgbClr val="006600"/>
                </a:solidFill>
              </a:rPr>
              <a:t>10</a:t>
            </a:r>
            <a:r>
              <a:rPr lang="zh-CN" altLang="en-US" sz="2800" dirty="0">
                <a:solidFill>
                  <a:srgbClr val="006600"/>
                </a:solidFill>
              </a:rPr>
              <a:t>章）</a:t>
            </a:r>
          </a:p>
        </p:txBody>
      </p:sp>
      <p:sp>
        <p:nvSpPr>
          <p:cNvPr id="13" name="矩形 12"/>
          <p:cNvSpPr/>
          <p:nvPr/>
        </p:nvSpPr>
        <p:spPr>
          <a:xfrm>
            <a:off x="1050613" y="3729571"/>
            <a:ext cx="5277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目的</a:t>
            </a:r>
            <a:r>
              <a:rPr lang="zh-CN" altLang="en-US" sz="2000" dirty="0">
                <a:latin typeface="-apple-system"/>
              </a:rPr>
              <a:t>：就是为了减少重复代码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4725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6.1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j-ea"/>
              </a:rPr>
              <a:t>模板的概念</a:t>
            </a:r>
            <a:endParaRPr lang="en-US" altLang="zh-CN" dirty="0">
              <a:latin typeface="+mj-ea"/>
            </a:endParaRPr>
          </a:p>
        </p:txBody>
      </p:sp>
      <p:sp>
        <p:nvSpPr>
          <p:cNvPr id="18436" name="矩形 2"/>
          <p:cNvSpPr>
            <a:spLocks noChangeArrowheads="1"/>
          </p:cNvSpPr>
          <p:nvPr/>
        </p:nvSpPr>
        <p:spPr bwMode="auto">
          <a:xfrm>
            <a:off x="395536" y="1772816"/>
            <a:ext cx="8352928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4318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8890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88900" lvl="2" indent="0" eaLnBrk="1" hangingPunct="1">
              <a:spcBef>
                <a:spcPts val="600"/>
              </a:spcBef>
              <a:buClr>
                <a:schemeClr val="accent1"/>
              </a:buClr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模板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 sz="2800" b="1" dirty="0">
                <a:latin typeface="Comic Sans MS" panose="030F0702030302020204" pitchFamily="66" charset="0"/>
              </a:rPr>
              <a:t>概念</a:t>
            </a:r>
            <a:endParaRPr lang="en-US" altLang="zh-CN" sz="2800" b="1" dirty="0">
              <a:latin typeface="Comic Sans MS" panose="030F0702030302020204" pitchFamily="66" charset="0"/>
            </a:endParaRPr>
          </a:p>
          <a:p>
            <a:pPr marL="88900" lvl="2" indent="0" eaLnBrk="1" hangingPunct="1">
              <a:spcBef>
                <a:spcPts val="600"/>
              </a:spcBef>
              <a:buClr>
                <a:schemeClr val="accent1"/>
              </a:buClr>
            </a:pPr>
            <a:endParaRPr lang="en-US" altLang="zh-CN" sz="2800" b="1" dirty="0">
              <a:latin typeface="Comic Sans MS" panose="030F0702030302020204" pitchFamily="66" charset="0"/>
            </a:endParaRPr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函数模板</a:t>
            </a:r>
            <a:r>
              <a:rPr lang="zh-CN" altLang="en-US" sz="2800" dirty="0">
                <a:latin typeface="宋体" panose="02010600030101010101" pitchFamily="2" charset="-122"/>
              </a:rPr>
              <a:t>：对具有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相同特性</a:t>
            </a:r>
            <a:r>
              <a:rPr lang="zh-CN" altLang="en-US" sz="2800" dirty="0">
                <a:latin typeface="宋体" panose="02010600030101010101" pitchFamily="2" charset="-122"/>
              </a:rPr>
              <a:t>的函数描述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再抽象。</a:t>
            </a:r>
            <a:endParaRPr lang="zh-CN" altLang="en-US" sz="2800" dirty="0"/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类模板</a:t>
            </a:r>
            <a:r>
              <a:rPr lang="zh-CN" altLang="en-US" sz="2800" dirty="0">
                <a:latin typeface="宋体" panose="02010600030101010101" pitchFamily="2" charset="-122"/>
              </a:rPr>
              <a:t>：对具有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相同特性</a:t>
            </a:r>
            <a:r>
              <a:rPr lang="zh-CN" altLang="en-US" sz="2800" dirty="0">
                <a:latin typeface="宋体" panose="02010600030101010101" pitchFamily="2" charset="-122"/>
              </a:rPr>
              <a:t>的类的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再抽象。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67744" y="3484964"/>
            <a:ext cx="2880320" cy="477709"/>
            <a:chOff x="2267744" y="3484964"/>
            <a:chExt cx="2880320" cy="477709"/>
          </a:xfrm>
        </p:grpSpPr>
        <p:sp>
          <p:nvSpPr>
            <p:cNvPr id="7" name="矩形 6"/>
            <p:cNvSpPr/>
            <p:nvPr/>
          </p:nvSpPr>
          <p:spPr>
            <a:xfrm>
              <a:off x="2699792" y="3501008"/>
              <a:ext cx="2448272" cy="461665"/>
            </a:xfrm>
            <a:prstGeom prst="rect">
              <a:avLst/>
            </a:prstGeom>
            <a:solidFill>
              <a:srgbClr val="FF0000">
                <a:alpha val="15000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不是函数！！！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7" idx="1"/>
            </p:cNvCxnSpPr>
            <p:nvPr/>
          </p:nvCxnSpPr>
          <p:spPr>
            <a:xfrm flipH="1" flipV="1">
              <a:off x="2267744" y="3484964"/>
              <a:ext cx="432048" cy="246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267744" y="4967515"/>
            <a:ext cx="2880320" cy="477709"/>
            <a:chOff x="2267744" y="4967515"/>
            <a:chExt cx="2880320" cy="477709"/>
          </a:xfrm>
        </p:grpSpPr>
        <p:sp>
          <p:nvSpPr>
            <p:cNvPr id="15" name="矩形 14"/>
            <p:cNvSpPr/>
            <p:nvPr/>
          </p:nvSpPr>
          <p:spPr>
            <a:xfrm>
              <a:off x="2699792" y="4983559"/>
              <a:ext cx="2448272" cy="461665"/>
            </a:xfrm>
            <a:prstGeom prst="rect">
              <a:avLst/>
            </a:prstGeom>
            <a:solidFill>
              <a:srgbClr val="FF0000">
                <a:alpha val="15000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不是类！！！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箭头连接符 15"/>
            <p:cNvCxnSpPr>
              <a:stCxn id="15" idx="1"/>
            </p:cNvCxnSpPr>
            <p:nvPr/>
          </p:nvCxnSpPr>
          <p:spPr>
            <a:xfrm flipH="1" flipV="1">
              <a:off x="2267744" y="4967515"/>
              <a:ext cx="432048" cy="246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20482" name="Group 117"/>
          <p:cNvGrpSpPr>
            <a:grpSpLocks/>
          </p:cNvGrpSpPr>
          <p:nvPr/>
        </p:nvGrpSpPr>
        <p:grpSpPr bwMode="auto">
          <a:xfrm>
            <a:off x="2124075" y="2901950"/>
            <a:ext cx="5310188" cy="609600"/>
            <a:chOff x="1263" y="1881"/>
            <a:chExt cx="3345" cy="384"/>
          </a:xfrm>
        </p:grpSpPr>
        <p:grpSp>
          <p:nvGrpSpPr>
            <p:cNvPr id="20515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523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4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5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6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7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16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20518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0483" name="Group 145"/>
          <p:cNvGrpSpPr>
            <a:grpSpLocks/>
          </p:cNvGrpSpPr>
          <p:nvPr/>
        </p:nvGrpSpPr>
        <p:grpSpPr bwMode="auto">
          <a:xfrm>
            <a:off x="2124075" y="1989138"/>
            <a:ext cx="5334000" cy="628650"/>
            <a:chOff x="1248" y="1188"/>
            <a:chExt cx="3360" cy="396"/>
          </a:xfrm>
        </p:grpSpPr>
        <p:sp>
          <p:nvSpPr>
            <p:cNvPr id="20500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20502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20503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20505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0510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1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2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3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4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504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20484" name="Group 161"/>
          <p:cNvGrpSpPr>
            <a:grpSpLocks/>
          </p:cNvGrpSpPr>
          <p:nvPr/>
        </p:nvGrpSpPr>
        <p:grpSpPr bwMode="auto">
          <a:xfrm>
            <a:off x="2124075" y="3910013"/>
            <a:ext cx="5334000" cy="633412"/>
            <a:chOff x="1248" y="2326"/>
            <a:chExt cx="3360" cy="398"/>
          </a:xfrm>
        </p:grpSpPr>
        <p:sp>
          <p:nvSpPr>
            <p:cNvPr id="20485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6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20487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20488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20490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0495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6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7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8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9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489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-100013"/>
            <a:ext cx="4176713" cy="936626"/>
          </a:xfrm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173741" y="1659916"/>
            <a:ext cx="2559864" cy="431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dirty="0"/>
              <a:t>利用函数</a:t>
            </a:r>
            <a:r>
              <a:rPr lang="zh-CN" altLang="en-US" sz="2400" dirty="0">
                <a:solidFill>
                  <a:srgbClr val="FF0000"/>
                </a:solidFill>
              </a:rPr>
              <a:t>重载</a:t>
            </a:r>
            <a:r>
              <a:rPr lang="zh-CN" altLang="en-US" sz="2400" dirty="0"/>
              <a:t>：</a:t>
            </a:r>
          </a:p>
        </p:txBody>
      </p:sp>
      <p:sp>
        <p:nvSpPr>
          <p:cNvPr id="21506" name="矩形 1"/>
          <p:cNvSpPr>
            <a:spLocks noChangeArrowheads="1"/>
          </p:cNvSpPr>
          <p:nvPr/>
        </p:nvSpPr>
        <p:spPr bwMode="auto">
          <a:xfrm>
            <a:off x="611560" y="1045123"/>
            <a:ext cx="7777163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D34817"/>
              </a:buClr>
            </a:pPr>
            <a:r>
              <a:rPr lang="zh-CN" altLang="en-US" sz="2400" dirty="0">
                <a:solidFill>
                  <a:srgbClr val="9B2D1F"/>
                </a:solidFill>
              </a:rPr>
              <a:t>引例：对</a:t>
            </a:r>
            <a:r>
              <a:rPr lang="zh-CN" altLang="en-US" sz="2400" dirty="0">
                <a:solidFill>
                  <a:srgbClr val="FF0000"/>
                </a:solidFill>
              </a:rPr>
              <a:t>不同类型</a:t>
            </a:r>
            <a:r>
              <a:rPr lang="zh-CN" altLang="en-US" sz="2400" dirty="0">
                <a:solidFill>
                  <a:srgbClr val="9B2D1F"/>
                </a:solidFill>
              </a:rPr>
              <a:t>数据的最小数</a:t>
            </a:r>
            <a:r>
              <a:rPr lang="en-US" altLang="zh-CN" sz="2400" dirty="0" err="1">
                <a:solidFill>
                  <a:srgbClr val="9B2D1F"/>
                </a:solidFill>
              </a:rPr>
              <a:t>tmin</a:t>
            </a:r>
            <a:r>
              <a:rPr lang="zh-CN" altLang="en-US" sz="2400" dirty="0">
                <a:solidFill>
                  <a:srgbClr val="9B2D1F"/>
                </a:solidFill>
              </a:rPr>
              <a:t>函数方法</a:t>
            </a:r>
            <a:r>
              <a:rPr lang="en-US" altLang="zh-CN" sz="2400" dirty="0">
                <a:solidFill>
                  <a:srgbClr val="9B2D1F"/>
                </a:solidFill>
              </a:rPr>
              <a:t>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66996" y="1678050"/>
            <a:ext cx="4752528" cy="480131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(3, 4);</a:t>
            </a:r>
          </a:p>
          <a:p>
            <a:pPr>
              <a:defRPr/>
            </a:pPr>
            <a:r>
              <a:rPr lang="sv-SE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ch = tmin(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dirty="0">
                <a:highlight>
                  <a:srgbClr val="FFFFFF"/>
                </a:highlight>
              </a:rPr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 =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(5.0, 1.0);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87738" y="2996952"/>
            <a:ext cx="338437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缺点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marL="0" lvl="2" indent="0" eaLnBrk="1" hangingPunct="1">
              <a:lnSpc>
                <a:spcPct val="150000"/>
              </a:lnSpc>
            </a:pPr>
            <a:r>
              <a:rPr lang="zh-CN" altLang="en-US" sz="2800" b="1" dirty="0"/>
              <a:t>相同逻辑</a:t>
            </a:r>
            <a:r>
              <a:rPr lang="zh-CN" altLang="en-US" sz="2800" b="1" dirty="0">
                <a:solidFill>
                  <a:srgbClr val="FF0000"/>
                </a:solidFill>
              </a:rPr>
              <a:t>重复</a:t>
            </a:r>
            <a:r>
              <a:rPr lang="zh-CN" altLang="en-US" sz="2800" b="1" dirty="0"/>
              <a:t>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用模板 </a:t>
            </a:r>
            <a:r>
              <a:rPr lang="en-US" altLang="zh-CN" dirty="0">
                <a:solidFill>
                  <a:srgbClr val="FF0000"/>
                </a:solidFill>
              </a:rPr>
              <a:t>Template</a:t>
            </a:r>
            <a:r>
              <a:rPr lang="en-US" altLang="zh-CN" dirty="0"/>
              <a:t> </a:t>
            </a:r>
            <a:r>
              <a:rPr lang="zh-CN" altLang="en-US" dirty="0"/>
              <a:t>实现的</a:t>
            </a:r>
            <a:r>
              <a:rPr lang="en-US" altLang="zh-CN" dirty="0" err="1"/>
              <a:t>tmin</a:t>
            </a:r>
            <a:r>
              <a:rPr lang="zh-CN" altLang="en-US" dirty="0"/>
              <a:t>函数</a:t>
            </a: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endParaRPr lang="zh-CN" altLang="en-US" sz="2400" b="1" dirty="0"/>
          </a:p>
        </p:txBody>
      </p:sp>
      <p:sp>
        <p:nvSpPr>
          <p:cNvPr id="23555" name="矩形 1"/>
          <p:cNvSpPr>
            <a:spLocks noChangeArrowheads="1"/>
          </p:cNvSpPr>
          <p:nvPr/>
        </p:nvSpPr>
        <p:spPr bwMode="auto">
          <a:xfrm>
            <a:off x="5390357" y="2225535"/>
            <a:ext cx="357438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2001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16573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1145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5717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相同逻辑只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描述一次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编译器自动生成针对不同类型的函数代码。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65821" y="2476079"/>
            <a:ext cx="4654251" cy="3785652"/>
            <a:chOff x="1007604" y="2987695"/>
            <a:chExt cx="4654251" cy="3785652"/>
          </a:xfrm>
        </p:grpSpPr>
        <p:sp>
          <p:nvSpPr>
            <p:cNvPr id="3" name="矩形 2"/>
            <p:cNvSpPr/>
            <p:nvPr/>
          </p:nvSpPr>
          <p:spPr>
            <a:xfrm>
              <a:off x="1007604" y="2987695"/>
              <a:ext cx="4654251" cy="3785652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定义函数模板</a:t>
              </a:r>
              <a:endPara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template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&lt;</a:t>
              </a: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class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&gt;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?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 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……</a:t>
              </a:r>
            </a:p>
            <a:p>
              <a:pPr>
                <a:defRPr/>
              </a:pPr>
              <a:endPara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//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使用函数模板</a:t>
              </a:r>
              <a:endPara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(3, 4);</a:t>
              </a:r>
            </a:p>
            <a:p>
              <a:pPr>
                <a:defRPr/>
              </a:pPr>
              <a:r>
                <a:rPr lang="sv-SE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ch = tmin(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float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f =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(5.0, 1.0);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……</a:t>
              </a:r>
              <a:endParaRPr lang="zh-CN" altLang="en-US" sz="6000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10363" y="3360328"/>
              <a:ext cx="3996444" cy="1296144"/>
            </a:xfrm>
            <a:prstGeom prst="rect">
              <a:avLst/>
            </a:prstGeom>
            <a:solidFill>
              <a:srgbClr val="FFFF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箭头连接符 5"/>
          <p:cNvCxnSpPr/>
          <p:nvPr/>
        </p:nvCxnSpPr>
        <p:spPr>
          <a:xfrm flipH="1">
            <a:off x="4562265" y="4437112"/>
            <a:ext cx="828092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2" idx="3"/>
          </p:cNvCxnSpPr>
          <p:nvPr/>
        </p:nvCxnSpPr>
        <p:spPr>
          <a:xfrm flipH="1">
            <a:off x="4665024" y="3493137"/>
            <a:ext cx="729815" cy="3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>
              <a:lnSpc>
                <a:spcPct val="150000"/>
              </a:lnSpc>
              <a:spcAft>
                <a:spcPts val="600"/>
              </a:spcAft>
              <a:buFontTx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函数模板</a:t>
            </a:r>
            <a:r>
              <a:rPr lang="zh-CN" altLang="en-US" sz="2800" dirty="0"/>
              <a:t>的定义</a:t>
            </a:r>
          </a:p>
          <a:p>
            <a:pPr lvl="4" eaLnBrk="1" hangingPunct="1"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lvl="4" eaLnBrk="1" hangingPunct="1"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lvl="4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template</a:t>
            </a:r>
            <a:r>
              <a:rPr lang="en-US" altLang="zh-CN" sz="2400" dirty="0"/>
              <a:t> &lt;</a:t>
            </a:r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/>
              <a:t> </a:t>
            </a:r>
            <a:r>
              <a:rPr lang="en-US" altLang="zh-CN" sz="2400" b="1" dirty="0"/>
              <a:t>T1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/>
              <a:t> </a:t>
            </a:r>
            <a:r>
              <a:rPr lang="en-US" altLang="zh-CN" sz="2400" b="1" dirty="0"/>
              <a:t>T2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Arial" panose="020B0604020202020204" pitchFamily="34" charset="0"/>
              </a:rPr>
              <a:t>…</a:t>
            </a:r>
            <a:r>
              <a:rPr lang="en-US" altLang="zh-CN" sz="2400" dirty="0"/>
              <a:t>&gt; </a:t>
            </a:r>
          </a:p>
          <a:p>
            <a:pPr lvl="4" eaLnBrk="1" hangingPunct="1">
              <a:buFontTx/>
              <a:buNone/>
            </a:pPr>
            <a:r>
              <a:rPr lang="zh-CN" altLang="en-US" sz="2400" dirty="0"/>
              <a:t>返回类型 函数名</a:t>
            </a:r>
            <a:r>
              <a:rPr lang="en-US" altLang="zh-CN" sz="2400" dirty="0"/>
              <a:t>(</a:t>
            </a:r>
            <a:r>
              <a:rPr lang="zh-CN" altLang="en-US" sz="2400" dirty="0"/>
              <a:t>参数表</a:t>
            </a:r>
            <a:r>
              <a:rPr lang="en-US" altLang="zh-CN" sz="2400" dirty="0"/>
              <a:t>)</a:t>
            </a:r>
          </a:p>
          <a:p>
            <a:pPr lvl="4" eaLnBrk="1" hangingPunct="1">
              <a:buFontTx/>
              <a:buNone/>
            </a:pPr>
            <a:r>
              <a:rPr lang="en-US" altLang="zh-CN" sz="2400" dirty="0"/>
              <a:t>{			</a:t>
            </a:r>
            <a:r>
              <a:rPr lang="mr-IN" altLang="zh-CN" sz="2400" dirty="0"/>
              <a:t>……</a:t>
            </a:r>
            <a:r>
              <a:rPr lang="en-US" altLang="zh-CN" sz="2400" dirty="0"/>
              <a:t> //</a:t>
            </a:r>
            <a:r>
              <a:rPr lang="zh-CN" altLang="en-US" sz="2400" dirty="0"/>
              <a:t>函数模板定义体</a:t>
            </a:r>
          </a:p>
          <a:p>
            <a:pPr lvl="4" eaLnBrk="1" hangingPunct="1">
              <a:buFontTx/>
              <a:buNone/>
            </a:pPr>
            <a:r>
              <a:rPr lang="en-US" altLang="zh-CN" sz="2400" dirty="0"/>
              <a:t>}</a:t>
            </a:r>
            <a:endParaRPr lang="en-US" altLang="zh-CN" sz="2800" dirty="0"/>
          </a:p>
          <a:p>
            <a:pPr lvl="4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400" b="1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347863" y="1997673"/>
            <a:ext cx="5338929" cy="49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sz="2000" b="1" dirty="0">
                <a:latin typeface="Comic Sans MS" panose="030F0702030302020204" pitchFamily="66" charset="0"/>
              </a:rPr>
              <a:t>和</a:t>
            </a:r>
            <a:r>
              <a:rPr lang="en-US" altLang="zh-CN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typename</a:t>
            </a:r>
            <a:r>
              <a:rPr lang="zh-CN" altLang="en-US" sz="2000" b="1" dirty="0">
                <a:latin typeface="Comic Sans MS" panose="030F0702030302020204" pitchFamily="66" charset="0"/>
              </a:rPr>
              <a:t>具有同等意义，模版形参</a:t>
            </a:r>
          </a:p>
        </p:txBody>
      </p:sp>
      <p:sp>
        <p:nvSpPr>
          <p:cNvPr id="2" name="矩形 1"/>
          <p:cNvSpPr/>
          <p:nvPr/>
        </p:nvSpPr>
        <p:spPr>
          <a:xfrm>
            <a:off x="2182906" y="3063958"/>
            <a:ext cx="5184576" cy="173981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>
            <a:off x="4319973" y="2415267"/>
            <a:ext cx="0" cy="62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209800" y="5201248"/>
            <a:ext cx="4104456" cy="13234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b)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87624" y="4505842"/>
            <a:ext cx="4176464" cy="49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示例</a:t>
            </a:r>
            <a:endParaRPr lang="zh-CN" altLang="en-US" sz="2000" b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/>
              <a:t>函数模板的使用</a:t>
            </a:r>
            <a:r>
              <a:rPr lang="zh-CN" altLang="en-US" sz="2400" dirty="0">
                <a:solidFill>
                  <a:srgbClr val="C00000"/>
                </a:solidFill>
              </a:rPr>
              <a:t>说明：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457200" lvl="1" indent="-457200" eaLnBrk="1" hangingPunct="1">
              <a:spcBef>
                <a:spcPts val="600"/>
              </a:spcBef>
              <a:spcAft>
                <a:spcPts val="600"/>
              </a:spcAft>
              <a:buFontTx/>
              <a:buAutoNum type="circleNumDbPlain"/>
            </a:pPr>
            <a:r>
              <a:rPr lang="zh-CN" altLang="en-US" dirty="0"/>
              <a:t>定义模板时，</a:t>
            </a:r>
            <a:r>
              <a:rPr lang="zh-CN" altLang="en-US" dirty="0">
                <a:solidFill>
                  <a:srgbClr val="FF0000"/>
                </a:solidFill>
              </a:rPr>
              <a:t>不</a:t>
            </a:r>
            <a:r>
              <a:rPr lang="zh-CN" altLang="en-US" dirty="0"/>
              <a:t>允许</a:t>
            </a:r>
            <a:r>
              <a:rPr lang="en-US" altLang="zh-CN" dirty="0"/>
              <a:t>template</a:t>
            </a:r>
            <a:r>
              <a:rPr lang="zh-CN" altLang="en-US" dirty="0"/>
              <a:t>语句与函数模板定义</a:t>
            </a:r>
            <a:r>
              <a:rPr lang="zh-CN" altLang="en-US" dirty="0">
                <a:solidFill>
                  <a:srgbClr val="FF0000"/>
                </a:solidFill>
              </a:rPr>
              <a:t>之间</a:t>
            </a:r>
            <a:r>
              <a:rPr lang="zh-CN" altLang="en-US" dirty="0"/>
              <a:t>有任何其他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r>
              <a:rPr lang="zh-CN" altLang="en-US" dirty="0"/>
              <a:t>。</a:t>
            </a:r>
          </a:p>
          <a:p>
            <a:pPr lvl="3" eaLnBrk="1" hangingPunct="1">
              <a:spcBef>
                <a:spcPct val="0"/>
              </a:spcBef>
            </a:pPr>
            <a:endParaRPr lang="en-US" altLang="zh-CN" sz="1600" dirty="0"/>
          </a:p>
          <a:p>
            <a:pPr lvl="3" eaLnBrk="1" hangingPunct="1"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63688" y="2986907"/>
            <a:ext cx="5397500" cy="120032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80000" lvl="3" eaLnBrk="1" hangingPunct="1"/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dirty="0">
                <a:latin typeface="Consolas" pitchFamily="49" charset="0"/>
              </a:rPr>
              <a:t> T&gt;</a:t>
            </a:r>
          </a:p>
          <a:p>
            <a:pPr marL="180000" lvl="3" eaLnBrk="1" hangingPunct="1"/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x;</a:t>
            </a:r>
            <a:r>
              <a:rPr lang="en-US" altLang="zh-CN" dirty="0">
                <a:latin typeface="Consolas" pitchFamily="49" charset="0"/>
              </a:rPr>
              <a:t> </a:t>
            </a:r>
          </a:p>
          <a:p>
            <a:pPr marL="180000" lvl="3" eaLnBrk="1" hangingPunct="1"/>
            <a:r>
              <a:rPr lang="en-US" altLang="zh-CN" dirty="0">
                <a:latin typeface="Consolas" pitchFamily="49" charset="0"/>
              </a:rPr>
              <a:t>T </a:t>
            </a:r>
            <a:r>
              <a:rPr lang="en-US" altLang="zh-CN" dirty="0" err="1">
                <a:latin typeface="Consolas" pitchFamily="49" charset="0"/>
              </a:rPr>
              <a:t>tmin</a:t>
            </a:r>
            <a:r>
              <a:rPr lang="en-US" altLang="zh-CN" dirty="0">
                <a:latin typeface="Consolas" pitchFamily="49" charset="0"/>
              </a:rPr>
              <a:t>(T </a:t>
            </a:r>
            <a:r>
              <a:rPr lang="en-US" altLang="zh-CN" dirty="0" err="1">
                <a:latin typeface="Consolas" pitchFamily="49" charset="0"/>
              </a:rPr>
              <a:t>a,T</a:t>
            </a:r>
            <a:r>
              <a:rPr lang="en-US" altLang="zh-CN" dirty="0">
                <a:latin typeface="Consolas" pitchFamily="49" charset="0"/>
              </a:rPr>
              <a:t> b){…}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283050" y="3501008"/>
            <a:ext cx="358775" cy="288925"/>
            <a:chOff x="2699792" y="6309296"/>
            <a:chExt cx="360040" cy="28805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118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/>
              <a:t>函数模板的使用</a:t>
            </a:r>
            <a:r>
              <a:rPr lang="zh-CN" altLang="en-US" sz="2400" dirty="0">
                <a:solidFill>
                  <a:srgbClr val="C00000"/>
                </a:solidFill>
              </a:rPr>
              <a:t>说明：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3" eaLnBrk="1" hangingPunct="1">
              <a:spcBef>
                <a:spcPct val="0"/>
              </a:spcBef>
            </a:pPr>
            <a:endParaRPr lang="en-US" altLang="zh-CN" sz="1600" dirty="0"/>
          </a:p>
          <a:p>
            <a:pPr lvl="3" eaLnBrk="1" hangingPunct="1"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228600" y="2217466"/>
            <a:ext cx="78819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34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函数模板可以有多个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类型参数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，但每个类型参数都必须用关键字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或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typename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限定。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09936" y="3665728"/>
            <a:ext cx="7776864" cy="156966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T1,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T2,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typename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T3&gt;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T3 tmin(</a:t>
            </a:r>
            <a:r>
              <a:rPr lang="fr-FR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T1&amp; a, </a:t>
            </a:r>
            <a:r>
              <a:rPr lang="fr-FR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T2&amp; b)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a &lt; b? b : a;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AutoNum type="circleNumDbPlain" startAt="3"/>
            </a:pPr>
            <a:r>
              <a:rPr lang="zh-CN" altLang="en-US" dirty="0"/>
              <a:t>模板参数中还可以出现</a:t>
            </a:r>
            <a:r>
              <a:rPr lang="zh-CN" altLang="en-US" dirty="0">
                <a:solidFill>
                  <a:srgbClr val="FF0000"/>
                </a:solidFill>
              </a:rPr>
              <a:t>非类型参数</a:t>
            </a:r>
            <a:r>
              <a:rPr lang="zh-CN" altLang="en-US" dirty="0"/>
              <a:t>（即确定类型参数）。</a:t>
            </a:r>
            <a:endParaRPr lang="en-US" altLang="zh-CN" dirty="0"/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sz="2400" dirty="0"/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sz="2400" dirty="0"/>
          </a:p>
          <a:p>
            <a:pPr lvl="3" eaLnBrk="1" hangingPunct="1">
              <a:lnSpc>
                <a:spcPct val="150000"/>
              </a:lnSpc>
              <a:spcBef>
                <a:spcPts val="1200"/>
              </a:spcBef>
            </a:pPr>
            <a:endParaRPr lang="en-US" altLang="zh-CN" sz="24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017768" y="3062273"/>
            <a:ext cx="6065466" cy="193899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T1,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T1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func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(T1 a)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{  int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= C;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	……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1308456" y="5275498"/>
            <a:ext cx="68061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3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在传递实参时，非类型参数只能使用</a:t>
            </a:r>
            <a:r>
              <a:rPr lang="zh-CN" altLang="en-US" dirty="0">
                <a:solidFill>
                  <a:srgbClr val="FF0000"/>
                </a:solidFill>
              </a:rPr>
              <a:t>常量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lvl="3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非类型参数</a:t>
            </a:r>
            <a:r>
              <a:rPr lang="zh-CN" altLang="en-US" b="1" dirty="0">
                <a:solidFill>
                  <a:srgbClr val="FF0000"/>
                </a:solidFill>
              </a:rPr>
              <a:t>不允许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浮点型（或双精度型）</a:t>
            </a:r>
            <a:endParaRPr lang="en-US" altLang="zh-CN" sz="1800" dirty="0"/>
          </a:p>
        </p:txBody>
      </p:sp>
      <p:sp>
        <p:nvSpPr>
          <p:cNvPr id="7" name="矩形 6"/>
          <p:cNvSpPr/>
          <p:nvPr/>
        </p:nvSpPr>
        <p:spPr>
          <a:xfrm>
            <a:off x="1051801" y="2892532"/>
            <a:ext cx="94704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eaLnBrk="1" hangingPunct="1">
              <a:lnSpc>
                <a:spcPct val="150000"/>
              </a:lnSpc>
            </a:pPr>
            <a:r>
              <a:rPr lang="zh-CN" altLang="en-US" dirty="0"/>
              <a:t>如：</a:t>
            </a:r>
            <a:endParaRPr lang="en-US" altLang="zh-CN" sz="1800" dirty="0"/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>
            <a:off x="5486400" y="2187221"/>
            <a:ext cx="304800" cy="993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cxnSpLocks/>
          </p:cNvCxnSpPr>
          <p:nvPr/>
        </p:nvCxnSpPr>
        <p:spPr>
          <a:xfrm flipV="1">
            <a:off x="5410200" y="3429000"/>
            <a:ext cx="609600" cy="1846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矩形 3"/>
          <p:cNvSpPr>
            <a:spLocks noChangeArrowheads="1"/>
          </p:cNvSpPr>
          <p:nvPr/>
        </p:nvSpPr>
        <p:spPr bwMode="auto">
          <a:xfrm>
            <a:off x="539751" y="188913"/>
            <a:ext cx="8352730" cy="5632311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&gt;</a:t>
            </a:r>
          </a:p>
          <a:p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整型模板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N,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unsigned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M&gt;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bool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compare (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(&amp;p1)[N],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(&amp;p2)[M])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传的是指针的引用</a:t>
            </a:r>
            <a:endParaRPr lang="en-US" altLang="zh-CN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</a:t>
            </a:r>
          </a:p>
          <a:p>
            <a:pPr lvl="1"/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"size : 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N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 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M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N&gt;M;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  <a:p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main(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(compare(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"Caroline"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,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"Wendy"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))</a:t>
            </a: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 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"Caroline is long."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 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"Wendy is long."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endParaRPr lang="en-US" altLang="zh-CN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0;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82" y="5661248"/>
            <a:ext cx="42529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39751" y="1648585"/>
            <a:ext cx="8064698" cy="1584176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3200" b="1" dirty="0"/>
              <a:t>模板的</a:t>
            </a:r>
            <a:r>
              <a:rPr lang="zh-CN" altLang="en-US" sz="3200" b="1" dirty="0">
                <a:solidFill>
                  <a:srgbClr val="FF0000"/>
                </a:solidFill>
              </a:rPr>
              <a:t>实例化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61938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</a:rPr>
              <a:t>函数模板</a:t>
            </a:r>
            <a:r>
              <a:rPr lang="zh-CN" altLang="en-US" dirty="0"/>
              <a:t>是一个通用功能的函数，编译器根据调用类型</a:t>
            </a:r>
            <a:r>
              <a:rPr lang="zh-CN" altLang="en-US" dirty="0">
                <a:solidFill>
                  <a:srgbClr val="FF0000"/>
                </a:solidFill>
              </a:rPr>
              <a:t>自动</a:t>
            </a:r>
            <a:r>
              <a:rPr lang="zh-CN" altLang="en-US" dirty="0"/>
              <a:t>将它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61938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模版</a:t>
            </a:r>
            <a:r>
              <a:rPr lang="en-US" altLang="zh-CN" dirty="0"/>
              <a:t>-&gt;</a:t>
            </a:r>
            <a:r>
              <a:rPr lang="zh-CN" altLang="en-US" dirty="0"/>
              <a:t>具体函数（模版函数）</a:t>
            </a:r>
            <a:endParaRPr lang="en-US" altLang="zh-CN" dirty="0"/>
          </a:p>
          <a:p>
            <a:pPr marL="53657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0600" y="4953000"/>
            <a:ext cx="7632848" cy="9848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2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 编译器确定模板的参数类型，并生成对应函数代码。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342900" lvl="2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每种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不同数据类型</a:t>
            </a:r>
            <a:r>
              <a:rPr lang="zh-CN" altLang="en-US" dirty="0">
                <a:latin typeface="宋体" panose="02010600030101010101" pitchFamily="2" charset="-122"/>
              </a:rPr>
              <a:t>将生成一份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不同的代码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H="1" flipV="1">
            <a:off x="3810000" y="3764684"/>
            <a:ext cx="457200" cy="1188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4450"/>
            <a:ext cx="7772400" cy="936625"/>
          </a:xfrm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1"/>
          <p:cNvSpPr txBox="1">
            <a:spLocks noChangeArrowheads="1"/>
          </p:cNvSpPr>
          <p:nvPr/>
        </p:nvSpPr>
        <p:spPr bwMode="auto">
          <a:xfrm>
            <a:off x="434590" y="3148531"/>
            <a:ext cx="3245602" cy="95410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>
              <a:defRPr/>
            </a:pP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tmin(</a:t>
            </a: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?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zh-CN" sz="1400" dirty="0"/>
          </a:p>
        </p:txBody>
      </p:sp>
      <p:sp>
        <p:nvSpPr>
          <p:cNvPr id="15" name="文本框 19"/>
          <p:cNvSpPr txBox="1">
            <a:spLocks noChangeArrowheads="1"/>
          </p:cNvSpPr>
          <p:nvPr/>
        </p:nvSpPr>
        <p:spPr bwMode="auto">
          <a:xfrm>
            <a:off x="611560" y="1137697"/>
            <a:ext cx="2592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模板实例化示例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502616" y="1595520"/>
            <a:ext cx="5511643" cy="1515452"/>
            <a:chOff x="3502616" y="1595520"/>
            <a:chExt cx="5511643" cy="1515452"/>
          </a:xfrm>
        </p:grpSpPr>
        <p:sp>
          <p:nvSpPr>
            <p:cNvPr id="4" name="文本框 8"/>
            <p:cNvSpPr txBox="1">
              <a:spLocks noChangeArrowheads="1"/>
            </p:cNvSpPr>
            <p:nvPr/>
          </p:nvSpPr>
          <p:spPr bwMode="auto">
            <a:xfrm>
              <a:off x="5150169" y="1595520"/>
              <a:ext cx="3864090" cy="73866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)?</a:t>
              </a:r>
              <a:r>
                <a:rPr lang="en-US" altLang="zh-CN" sz="1400" dirty="0" err="1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:</a:t>
              </a:r>
              <a:r>
                <a:rPr lang="en-US" altLang="zh-CN" sz="1400" dirty="0" err="1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3680192" y="1988840"/>
              <a:ext cx="1395864" cy="1122132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502616" y="2029582"/>
              <a:ext cx="114326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 err="1">
                  <a:solidFill>
                    <a:srgbClr val="0070C0"/>
                  </a:solidFill>
                </a:rPr>
                <a:t>tmin</a:t>
              </a:r>
              <a:r>
                <a:rPr lang="en-US" altLang="zh-CN" sz="2000" dirty="0">
                  <a:solidFill>
                    <a:srgbClr val="0070C0"/>
                  </a:solidFill>
                </a:rPr>
                <a:t>(2,3)</a:t>
              </a:r>
              <a:endParaRPr lang="zh-CN" altLang="en-US" sz="20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80192" y="3217981"/>
            <a:ext cx="5346967" cy="738664"/>
            <a:chOff x="3172025" y="3171618"/>
            <a:chExt cx="5919358" cy="738664"/>
          </a:xfrm>
        </p:grpSpPr>
        <p:sp>
          <p:nvSpPr>
            <p:cNvPr id="5" name="文本框 9"/>
            <p:cNvSpPr txBox="1">
              <a:spLocks noChangeArrowheads="1"/>
            </p:cNvSpPr>
            <p:nvPr/>
          </p:nvSpPr>
          <p:spPr bwMode="auto">
            <a:xfrm>
              <a:off x="4820147" y="3171618"/>
              <a:ext cx="4271236" cy="73866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tmin(</a:t>
              </a: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?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254072" y="3680679"/>
              <a:ext cx="1484029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3172025" y="3187978"/>
              <a:ext cx="13965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800" dirty="0" err="1">
                  <a:solidFill>
                    <a:srgbClr val="C00000"/>
                  </a:solidFill>
                </a:rPr>
                <a:t>tmin</a:t>
              </a:r>
              <a:r>
                <a:rPr lang="en-US" altLang="zh-CN" sz="1800" dirty="0">
                  <a:solidFill>
                    <a:srgbClr val="C00000"/>
                  </a:solidFill>
                </a:rPr>
                <a:t>(2.3,3.4)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173178" y="4219743"/>
            <a:ext cx="5841081" cy="1622572"/>
            <a:chOff x="3173178" y="4219743"/>
            <a:chExt cx="5841081" cy="1622572"/>
          </a:xfrm>
        </p:grpSpPr>
        <p:sp>
          <p:nvSpPr>
            <p:cNvPr id="6" name="文本框 10"/>
            <p:cNvSpPr txBox="1">
              <a:spLocks noChangeArrowheads="1"/>
            </p:cNvSpPr>
            <p:nvPr/>
          </p:nvSpPr>
          <p:spPr bwMode="auto">
            <a:xfrm>
              <a:off x="5150169" y="5103651"/>
              <a:ext cx="3864090" cy="738664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?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3680192" y="4219743"/>
              <a:ext cx="1395864" cy="1225481"/>
            </a:xfrm>
            <a:prstGeom prst="straightConnector1">
              <a:avLst/>
            </a:prstGeom>
            <a:ln w="7620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3173178" y="5121519"/>
              <a:ext cx="146867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 err="1">
                  <a:solidFill>
                    <a:srgbClr val="006600"/>
                  </a:solidFill>
                </a:rPr>
                <a:t>tmin</a:t>
              </a:r>
              <a:r>
                <a:rPr lang="en-US" altLang="zh-CN" sz="2000" dirty="0">
                  <a:solidFill>
                    <a:srgbClr val="006600"/>
                  </a:solidFill>
                </a:rPr>
                <a:t>(‘</a:t>
              </a:r>
              <a:r>
                <a:rPr lang="en-US" altLang="zh-CN" sz="2000" dirty="0" err="1">
                  <a:solidFill>
                    <a:srgbClr val="006600"/>
                  </a:solidFill>
                </a:rPr>
                <a:t>a’,’b</a:t>
              </a:r>
              <a:r>
                <a:rPr lang="en-US" altLang="zh-CN" sz="2000" dirty="0">
                  <a:solidFill>
                    <a:srgbClr val="006600"/>
                  </a:solidFill>
                </a:rPr>
                <a:t>’)</a:t>
              </a:r>
              <a:endParaRPr lang="zh-CN" altLang="en-US" sz="2000" dirty="0">
                <a:solidFill>
                  <a:srgbClr val="0066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/>
          <p:cNvSpPr>
            <a:spLocks noGrp="1" noChangeArrowheads="1"/>
          </p:cNvSpPr>
          <p:nvPr>
            <p:ph type="title"/>
          </p:nvPr>
        </p:nvSpPr>
        <p:spPr>
          <a:xfrm>
            <a:off x="423522" y="131580"/>
            <a:ext cx="8229600" cy="1143000"/>
          </a:xfrm>
          <a:noFill/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23522" y="10668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实例化的</a:t>
            </a:r>
            <a:r>
              <a:rPr lang="zh-CN" altLang="en-US" sz="2400" dirty="0">
                <a:solidFill>
                  <a:srgbClr val="C00000"/>
                </a:solidFill>
              </a:rPr>
              <a:t>方式：</a:t>
            </a:r>
          </a:p>
          <a:p>
            <a:pPr marL="776288" lvl="1" indent="-457200" eaLnBrk="1" hangingPunct="1">
              <a:buFontTx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</a:rPr>
              <a:t>隐式</a:t>
            </a:r>
            <a:r>
              <a:rPr lang="zh-CN" altLang="en-US" sz="2000" b="1" dirty="0"/>
              <a:t>实例化</a:t>
            </a:r>
            <a:endParaRPr lang="en-US" altLang="zh-CN" sz="2000" b="1" dirty="0"/>
          </a:p>
          <a:p>
            <a:pPr lvl="2" eaLnBrk="1" hangingPunct="1"/>
            <a:r>
              <a:rPr lang="zh-CN" altLang="en-US" dirty="0"/>
              <a:t>编译器判断</a:t>
            </a:r>
            <a:r>
              <a:rPr lang="zh-CN" altLang="en-US" dirty="0">
                <a:solidFill>
                  <a:srgbClr val="FF0000"/>
                </a:solidFill>
              </a:rPr>
              <a:t>模板参数类型</a:t>
            </a:r>
            <a:r>
              <a:rPr lang="zh-CN" altLang="en-US" dirty="0"/>
              <a:t>时，自动实例化</a:t>
            </a:r>
            <a:r>
              <a:rPr lang="zh-CN" altLang="en-US" dirty="0">
                <a:solidFill>
                  <a:srgbClr val="FF0000"/>
                </a:solidFill>
              </a:rPr>
              <a:t>函数模板。</a:t>
            </a:r>
            <a:endParaRPr lang="en-US" altLang="zh-CN" sz="1800" dirty="0">
              <a:latin typeface="Consolas" pitchFamily="49" charset="0"/>
            </a:endParaRPr>
          </a:p>
          <a:p>
            <a:pPr marL="776288" lvl="1" indent="-457200" eaLnBrk="1" hangingPunct="1">
              <a:buFontTx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</a:rPr>
              <a:t>显式</a:t>
            </a:r>
            <a:r>
              <a:rPr lang="zh-CN" altLang="en-US" sz="2000" b="1" dirty="0"/>
              <a:t>实例化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		 	 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 marL="2157413" lvl="4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Consolas" pitchFamily="49" charset="0"/>
            </a:endParaRPr>
          </a:p>
          <a:p>
            <a:pPr marL="2157413" lvl="4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Consolas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118985" y="3733800"/>
            <a:ext cx="115212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显式实例化有什么作用？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1405974" y="2701259"/>
            <a:ext cx="5375826" cy="369331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&gt; </a:t>
            </a:r>
          </a:p>
          <a:p>
            <a:pPr>
              <a:defRPr/>
            </a:pP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tmin(</a:t>
            </a: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fr-FR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, </a:t>
            </a: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fr-FR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) </a:t>
            </a:r>
          </a:p>
          <a:p>
            <a:pPr>
              <a:defRPr/>
            </a:pP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(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)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}</a:t>
            </a:r>
          </a:p>
          <a:p>
            <a:pPr>
              <a:defRPr/>
            </a:pPr>
            <a:r>
              <a:rPr lang="en-US" altLang="zh-CN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/*</a:t>
            </a:r>
            <a:r>
              <a:rPr lang="zh-CN" altLang="en-US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隐式实例化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*/</a:t>
            </a:r>
            <a:endParaRPr lang="en-US" altLang="zh-CN" sz="18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0" lvl="4" eaLnBrk="1" hangingPunct="1"/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(1, 2); </a:t>
            </a:r>
          </a:p>
          <a:p>
            <a:pPr marL="0" lvl="4" eaLnBrk="1" hangingPunct="1"/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cs typeface="Times New Roman" panose="02020603050405020304" pitchFamily="18" charset="0"/>
              </a:rPr>
              <a:t> f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(1.0, 2.0);</a:t>
            </a:r>
          </a:p>
          <a:p>
            <a:pPr marL="0" lvl="4" eaLnBrk="1" hangingPunct="1"/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ch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(‘a’, ‘A’);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*显示实例化*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/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(1, 2);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cs typeface="Times New Roman" panose="02020603050405020304" pitchFamily="18" charset="0"/>
              </a:rPr>
              <a:t> f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(1.0, 2.0);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ch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(‘a’, ‘A’);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string str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&lt;string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(“xx”, “</a:t>
            </a:r>
            <a:r>
              <a:rPr lang="en-US" altLang="zh-CN" sz="1800" dirty="0" err="1">
                <a:cs typeface="Times New Roman" panose="02020603050405020304" pitchFamily="18" charset="0"/>
              </a:rPr>
              <a:t>yy</a:t>
            </a:r>
            <a:r>
              <a:rPr lang="en-US" altLang="zh-CN" sz="1800" dirty="0">
                <a:cs typeface="Times New Roman" panose="02020603050405020304" pitchFamily="18" charset="0"/>
              </a:rPr>
              <a:t>”);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721741" y="-69301"/>
            <a:ext cx="7772400" cy="936625"/>
          </a:xfrm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76535" y="4956292"/>
            <a:ext cx="6264695" cy="14398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dirty="0"/>
              <a:t>隐式实例化中找不到与实参列表匹配的模板</a:t>
            </a:r>
            <a:r>
              <a:rPr lang="en-US" altLang="zh-CN" sz="2000" dirty="0" err="1"/>
              <a:t>tmin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1987" name="矩形 1"/>
          <p:cNvSpPr>
            <a:spLocks noChangeArrowheads="1"/>
          </p:cNvSpPr>
          <p:nvPr/>
        </p:nvSpPr>
        <p:spPr bwMode="auto">
          <a:xfrm>
            <a:off x="898947" y="836826"/>
            <a:ext cx="7704583" cy="403187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(a&gt;b)?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a=2,b=3.4;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c=5.1,d=3.2;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"2, 3.2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(2,3.2)&lt;&lt;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"a c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a,c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"'a', 3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'a'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,3)&lt;&lt;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221909" y="3657600"/>
            <a:ext cx="720725" cy="576262"/>
            <a:chOff x="2699792" y="6309296"/>
            <a:chExt cx="360040" cy="288056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98947" y="5713979"/>
            <a:ext cx="17442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怎么解决？</a:t>
            </a:r>
          </a:p>
        </p:txBody>
      </p:sp>
      <p:sp>
        <p:nvSpPr>
          <p:cNvPr id="3" name="矩形 2"/>
          <p:cNvSpPr/>
          <p:nvPr/>
        </p:nvSpPr>
        <p:spPr>
          <a:xfrm>
            <a:off x="2362199" y="5440853"/>
            <a:ext cx="5220072" cy="955326"/>
          </a:xfrm>
          <a:prstGeom prst="rect">
            <a:avLst/>
          </a:prstGeom>
          <a:solidFill>
            <a:srgbClr val="FF0000">
              <a:alpha val="15000"/>
            </a:srgbClr>
          </a:solidFill>
        </p:spPr>
        <p:txBody>
          <a:bodyPr wrap="square">
            <a:spAutoFit/>
          </a:bodyPr>
          <a:lstStyle/>
          <a:p>
            <a:pPr marL="273050" lvl="1" indent="-27305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</a:pPr>
            <a:r>
              <a:rPr lang="zh-CN" altLang="en-US" sz="1800" dirty="0"/>
              <a:t>实例化过程中</a:t>
            </a:r>
            <a:r>
              <a:rPr lang="zh-CN" altLang="en-US" sz="1800" dirty="0">
                <a:solidFill>
                  <a:srgbClr val="FF0000"/>
                </a:solidFill>
              </a:rPr>
              <a:t>不会自动</a:t>
            </a:r>
            <a:r>
              <a:rPr lang="zh-CN" altLang="en-US" sz="1800" dirty="0"/>
              <a:t>进行参数</a:t>
            </a:r>
            <a:r>
              <a:rPr lang="zh-CN" altLang="en-US" sz="1800" dirty="0">
                <a:solidFill>
                  <a:srgbClr val="FF0000"/>
                </a:solidFill>
              </a:rPr>
              <a:t>类型</a:t>
            </a:r>
            <a:r>
              <a:rPr lang="zh-CN" altLang="en-US" sz="1800" dirty="0"/>
              <a:t>的任何</a:t>
            </a:r>
            <a:r>
              <a:rPr lang="zh-CN" altLang="en-US" sz="1800" dirty="0">
                <a:solidFill>
                  <a:srgbClr val="FF0000"/>
                </a:solidFill>
              </a:rPr>
              <a:t>转换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273050" lvl="1" indent="-27305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</a:pPr>
            <a:r>
              <a:rPr lang="zh-CN" altLang="en-US" sz="1800" dirty="0">
                <a:latin typeface="华文楷体" panose="02010600040101010101" pitchFamily="2" charset="-122"/>
              </a:rPr>
              <a:t>模板不支持隐式的类型转换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400" b="1" dirty="0"/>
              <a:t>解决方法：</a:t>
            </a:r>
            <a:endParaRPr lang="en-US" altLang="zh-CN" sz="2400" b="1" dirty="0"/>
          </a:p>
          <a:p>
            <a:pPr marL="808038" lvl="1" indent="-53340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</a:t>
            </a:r>
            <a:r>
              <a:rPr lang="zh-CN" altLang="en-US" sz="2200" dirty="0">
                <a:solidFill>
                  <a:srgbClr val="FF0000"/>
                </a:solidFill>
              </a:rPr>
              <a:t>显式实例化。</a:t>
            </a:r>
          </a:p>
          <a:p>
            <a:pPr marL="1187450" lvl="2" indent="-45720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	</a:t>
            </a:r>
            <a:endParaRPr lang="zh-CN" altLang="en-US" sz="24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3528" y="5335473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808038" indent="-5334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87450" indent="-4572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）对实参的</a:t>
            </a:r>
            <a:r>
              <a:rPr lang="zh-CN" altLang="en-US" sz="2200" dirty="0">
                <a:solidFill>
                  <a:srgbClr val="FF0000"/>
                </a:solidFill>
              </a:rPr>
              <a:t>强制类型转换。</a:t>
            </a: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18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&lt;&lt;</a:t>
            </a:r>
            <a:r>
              <a:rPr lang="en-US" altLang="zh-CN" sz="1800" dirty="0" err="1">
                <a:latin typeface="Consolas" pitchFamily="49" charset="0"/>
                <a:cs typeface="Consolas" pitchFamily="49" charset="0"/>
              </a:rPr>
              <a:t>tmin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double</a:t>
            </a:r>
            <a:r>
              <a:rPr lang="en-US" altLang="zh-CN" sz="1800" dirty="0">
                <a:latin typeface="Consolas" pitchFamily="49" charset="0"/>
              </a:rPr>
              <a:t>(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</a:rPr>
              <a:t>2</a:t>
            </a:r>
            <a:r>
              <a:rPr lang="en-US" altLang="zh-CN" sz="1800" dirty="0">
                <a:latin typeface="Consolas" pitchFamily="49" charset="0"/>
              </a:rPr>
              <a:t>),3.2)&lt;&lt;</a:t>
            </a:r>
            <a:r>
              <a:rPr lang="en-US" altLang="zh-CN" sz="1800" dirty="0" err="1">
                <a:latin typeface="Consolas" pitchFamily="49" charset="0"/>
              </a:rPr>
              <a:t>endl</a:t>
            </a:r>
            <a:r>
              <a:rPr lang="en-US" altLang="zh-CN" sz="1800" dirty="0">
                <a:latin typeface="Consolas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/>
          </a:p>
        </p:txBody>
      </p:sp>
      <p:sp>
        <p:nvSpPr>
          <p:cNvPr id="44036" name="矩形 5"/>
          <p:cNvSpPr>
            <a:spLocks noChangeArrowheads="1"/>
          </p:cNvSpPr>
          <p:nvPr/>
        </p:nvSpPr>
        <p:spPr bwMode="auto">
          <a:xfrm>
            <a:off x="881063" y="2566990"/>
            <a:ext cx="6967537" cy="230832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main(){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a=2,b=3.4;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c=5.1,d=3.2;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"2, 3.2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&gt;(2,3.2)&lt;&lt;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“a c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a,c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"'a', 3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'a'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,3)&lt;&lt;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4953000" y="3581400"/>
            <a:ext cx="864096" cy="792088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71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6082" name="矩形 2"/>
          <p:cNvSpPr>
            <a:spLocks noChangeArrowheads="1"/>
          </p:cNvSpPr>
          <p:nvPr/>
        </p:nvSpPr>
        <p:spPr bwMode="auto">
          <a:xfrm>
            <a:off x="703049" y="914400"/>
            <a:ext cx="8064896" cy="149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/>
              <a:t>编程实例</a:t>
            </a:r>
            <a:r>
              <a:rPr lang="zh-CN" altLang="en-US" dirty="0"/>
              <a:t>：用函数模板实现数组的选择法排序。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选择排序的基本思想： 每次从待排序序列中选择一个关键字最小的元素，顺序排在已排序列的最后，直至全部排完。</a:t>
            </a:r>
          </a:p>
        </p:txBody>
      </p:sp>
      <p:pic>
        <p:nvPicPr>
          <p:cNvPr id="4608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19"/>
          <a:stretch>
            <a:fillRect/>
          </a:stretch>
        </p:blipFill>
        <p:spPr bwMode="auto">
          <a:xfrm>
            <a:off x="703049" y="2590800"/>
            <a:ext cx="7897863" cy="321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矩形 3"/>
          <p:cNvSpPr>
            <a:spLocks noChangeArrowheads="1"/>
          </p:cNvSpPr>
          <p:nvPr/>
        </p:nvSpPr>
        <p:spPr bwMode="auto">
          <a:xfrm>
            <a:off x="395536" y="253318"/>
            <a:ext cx="439261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fr-FR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fr-FR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fr-FR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myswap</a:t>
            </a:r>
            <a:r>
              <a:rPr lang="fr-FR" altLang="zh-CN" sz="1600" dirty="0">
                <a:solidFill>
                  <a:srgbClr val="000000"/>
                </a:solidFill>
                <a:latin typeface="Consolas" pitchFamily="49" charset="0"/>
              </a:rPr>
              <a:t>(T &amp;x, T &amp;y)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temp = x;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x = y;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y = temp;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n)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=0;i&lt;n-1;i++)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2"/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2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j=i+1;j&lt;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n;j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3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(a[j] &lt; 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])</a:t>
            </a:r>
          </a:p>
          <a:p>
            <a:pPr lvl="4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= j;</a:t>
            </a:r>
          </a:p>
          <a:p>
            <a:pPr lvl="2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myswap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],a[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]);</a:t>
            </a:r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1" name="矩形 6"/>
          <p:cNvSpPr>
            <a:spLocks noChangeArrowheads="1"/>
          </p:cNvSpPr>
          <p:nvPr/>
        </p:nvSpPr>
        <p:spPr bwMode="auto">
          <a:xfrm>
            <a:off x="4643438" y="476250"/>
            <a:ext cx="4392612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display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n)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=0;i&lt;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a[]={1,41,2,5,8,21,23};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b[]={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'x'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'y'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'e'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'q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g'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'o'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'u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(a,7);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(b,8);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display(a,7);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display(b,8);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877272"/>
            <a:ext cx="7086319" cy="753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40F6D43-0E8F-9151-EFA8-9C7818F01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函数模板例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937E3BE-E9E6-EB9F-AC39-09EAB0A41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dirty="0">
                <a:latin typeface="+mn-ea"/>
              </a:rPr>
              <a:t>插入排序函数模板</a:t>
            </a:r>
          </a:p>
          <a:p>
            <a:pPr marL="0" indent="0" eaLnBrk="1" hangingPunct="1">
              <a:buNone/>
              <a:defRPr/>
            </a:pPr>
            <a:r>
              <a:rPr lang="zh-CN" altLang="en-US" dirty="0">
                <a:latin typeface="+mn-ea"/>
              </a:rPr>
              <a:t>主测试函数也使用函数模板，所以是模板的嵌套使用</a:t>
            </a:r>
          </a:p>
          <a:p>
            <a:pPr marL="0" indent="0" eaLnBrk="1" hangingPunct="1">
              <a:buNone/>
              <a:defRPr/>
            </a:pPr>
            <a:endParaRPr lang="en-US" altLang="zh-CN" dirty="0">
              <a:latin typeface="+mn-ea"/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49F82BDF-0978-BBEE-4A6F-7BA7BC567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479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6">
            <a:extLst>
              <a:ext uri="{FF2B5EF4-FFF2-40B4-BE49-F238E27FC236}">
                <a16:creationId xmlns:a16="http://schemas.microsoft.com/office/drawing/2014/main" id="{E97D1929-6180-BCD3-7A25-CC0982EE9AB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76200"/>
            <a:ext cx="5257800" cy="3934718"/>
            <a:chOff x="1066800" y="285690"/>
            <a:chExt cx="5257800" cy="393464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5AF882-A62D-9930-8B79-981FEF2D6D7E}"/>
                </a:ext>
              </a:extLst>
            </p:cNvPr>
            <p:cNvSpPr/>
            <p:nvPr/>
          </p:nvSpPr>
          <p:spPr>
            <a:xfrm>
              <a:off x="1066800" y="680971"/>
              <a:ext cx="5257800" cy="3539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</a:t>
              </a:r>
              <a:r>
                <a:rPr lang="en-US" altLang="zh-CN" sz="14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ifndef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ARRAY_BASED_SORTING_FUNCTIONS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#define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ARRAY_BASED_SORTING_FUNCTIONS</a:t>
              </a:r>
              <a:endPara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template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&lt;</a:t>
              </a: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typename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&gt;</a:t>
              </a:r>
            </a:p>
            <a:p>
              <a:pPr>
                <a:defRPr/>
              </a:pPr>
              <a:r>
                <a:rPr lang="fr-FR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void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InsertionSort(</a:t>
              </a:r>
              <a:r>
                <a:rPr lang="fr-FR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[], </a:t>
              </a:r>
              <a:r>
                <a:rPr lang="fr-FR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n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 </a:t>
              </a: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i,j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temp;</a:t>
              </a:r>
            </a:p>
            <a:p>
              <a:pPr marL="365125">
                <a:defRPr/>
              </a:pPr>
              <a:r>
                <a:rPr lang="nn-NO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for</a:t>
              </a:r>
              <a:r>
                <a:rPr lang="nn-NO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(i=1;i&lt;</a:t>
              </a:r>
              <a:r>
                <a:rPr lang="nn-NO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n</a:t>
              </a:r>
              <a:r>
                <a:rPr lang="nn-NO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;i++)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j=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temp=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];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while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(j&gt;0&amp;&amp;temp&lt;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[j-1])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[j] = 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[j-1];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  j--;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[j]=temp;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  <a:endParaRPr lang="zh-CN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18437" name="矩形 5">
              <a:extLst>
                <a:ext uri="{FF2B5EF4-FFF2-40B4-BE49-F238E27FC236}">
                  <a16:creationId xmlns:a16="http://schemas.microsoft.com/office/drawing/2014/main" id="{2B93EADD-F413-F06C-8DA0-CC553229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285690"/>
              <a:ext cx="1723549" cy="400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err="1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insertsort.h</a:t>
              </a:r>
              <a:endPara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BDF3565-A711-5C30-F565-3D5C5EFA862D}"/>
              </a:ext>
            </a:extLst>
          </p:cNvPr>
          <p:cNvSpPr/>
          <p:nvPr/>
        </p:nvSpPr>
        <p:spPr>
          <a:xfrm>
            <a:off x="3352800" y="2514600"/>
            <a:ext cx="5486400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testfunction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*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(0);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"Please input 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:"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"Please input the elements of array:\n"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(i=0;i&lt;arraylength;i++)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&gt;&gt;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InsertionSort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"Here is the sort result:\n"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&lt;&lt;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++]&lt;&lt;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ea typeface="新宋体"/>
              </a:rPr>
              <a:t>= NULL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endif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6">
            <a:extLst>
              <a:ext uri="{FF2B5EF4-FFF2-40B4-BE49-F238E27FC236}">
                <a16:creationId xmlns:a16="http://schemas.microsoft.com/office/drawing/2014/main" id="{35D65BCC-4543-E761-AF07-71759BAF5398}"/>
              </a:ext>
            </a:extLst>
          </p:cNvPr>
          <p:cNvGrpSpPr>
            <a:grpSpLocks/>
          </p:cNvGrpSpPr>
          <p:nvPr/>
        </p:nvGrpSpPr>
        <p:grpSpPr bwMode="auto">
          <a:xfrm>
            <a:off x="0" y="180975"/>
            <a:ext cx="5715000" cy="4325918"/>
            <a:chOff x="304800" y="181481"/>
            <a:chExt cx="5715000" cy="432557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F1777C5-E0CA-804C-17B8-E93952D411F0}"/>
                </a:ext>
              </a:extLst>
            </p:cNvPr>
            <p:cNvSpPr/>
            <p:nvPr/>
          </p:nvSpPr>
          <p:spPr>
            <a:xfrm>
              <a:off x="304800" y="537052"/>
              <a:ext cx="5715000" cy="3969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#include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&lt;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iostream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&gt;</a:t>
              </a:r>
              <a:endPara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using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namespace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std;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#include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insertionsort.h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</a:t>
              </a:r>
              <a:endPara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main()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"First, type of int:\n"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nSecond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float:\n"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nThird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double:\n"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nForth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string:\n"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0;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  <a:endParaRPr lang="zh-CN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19461" name="矩形 4">
              <a:extLst>
                <a:ext uri="{FF2B5EF4-FFF2-40B4-BE49-F238E27FC236}">
                  <a16:creationId xmlns:a16="http://schemas.microsoft.com/office/drawing/2014/main" id="{91EAC7F1-FA30-1D70-15D7-CE9956D70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81481"/>
              <a:ext cx="1620957" cy="33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insertsort.cpp</a:t>
              </a:r>
              <a:endPara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B6C6473-8DE7-0F9D-13B6-C2C1D9AD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762000"/>
            <a:ext cx="3886200" cy="590931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First, type of int: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9 8 0 1 2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0 1 2 8 9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Second, type of float: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0.5 100 -90.9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-90.9 0.5 100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Third, type of double: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33.5 -2.3 90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-2.3 33.5 90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Forth, type of string: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bnu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ok love number </a:t>
            </a: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bnu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love number ok</a:t>
            </a:r>
          </a:p>
        </p:txBody>
      </p:sp>
    </p:spTree>
    <p:extLst>
      <p:ext uri="{BB962C8B-B14F-4D97-AF65-F5344CB8AC3E}">
        <p14:creationId xmlns:p14="http://schemas.microsoft.com/office/powerpoint/2010/main" val="75288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特化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800" dirty="0"/>
              <a:t>为什么需要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模板特化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lvl="2" eaLnBrk="1" hangingPunct="1">
              <a:lnSpc>
                <a:spcPct val="150000"/>
              </a:lnSpc>
            </a:pPr>
            <a:endParaRPr lang="en-US" altLang="zh-CN" sz="2400" b="1" dirty="0"/>
          </a:p>
          <a:p>
            <a:pPr lvl="2" eaLnBrk="1" hangingPunct="1"/>
            <a:endParaRPr lang="en-US" altLang="zh-CN" b="1" dirty="0"/>
          </a:p>
          <a:p>
            <a:pPr lvl="2" eaLnBrk="1" hangingPunct="1"/>
            <a:endParaRPr lang="zh-CN" altLang="en-US" b="1" dirty="0"/>
          </a:p>
          <a:p>
            <a:pPr lvl="2"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endParaRPr lang="zh-CN" altLang="en-US" dirty="0"/>
          </a:p>
        </p:txBody>
      </p:sp>
      <p:sp>
        <p:nvSpPr>
          <p:cNvPr id="49155" name="矩形 2"/>
          <p:cNvSpPr>
            <a:spLocks noChangeArrowheads="1"/>
          </p:cNvSpPr>
          <p:nvPr/>
        </p:nvSpPr>
        <p:spPr bwMode="auto">
          <a:xfrm>
            <a:off x="2270212" y="3144109"/>
            <a:ext cx="5760640" cy="13234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b)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152406" y="4813035"/>
            <a:ext cx="2822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fr-FR" altLang="zh-CN" sz="2000" dirty="0">
                <a:latin typeface="Consolas" pitchFamily="49" charset="0"/>
              </a:rPr>
              <a:t>tmin(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A31515"/>
                </a:solidFill>
                <a:latin typeface="Consolas" pitchFamily="49" charset="0"/>
              </a:rPr>
              <a:t>xx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"</a:t>
            </a:r>
            <a:r>
              <a:rPr lang="fr-FR" altLang="zh-CN" sz="2000" dirty="0">
                <a:solidFill>
                  <a:srgbClr val="A31515"/>
                </a:solidFill>
                <a:latin typeface="Consolas" pitchFamily="49" charset="0"/>
              </a:rPr>
              <a:t>xb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4448365" y="4813035"/>
            <a:ext cx="4444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Consolas" pitchFamily="49" charset="0"/>
              </a:rPr>
              <a:t> </a:t>
            </a:r>
            <a:r>
              <a:rPr lang="zh-CN" altLang="en-US" b="1" dirty="0">
                <a:latin typeface="Consolas" pitchFamily="49" charset="0"/>
              </a:rPr>
              <a:t>能正确比较字符串的内容吗？</a:t>
            </a:r>
            <a:endParaRPr lang="fr-FR" altLang="zh-CN" b="1" dirty="0">
              <a:latin typeface="Consolas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4937" y="2543246"/>
            <a:ext cx="3158951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150000"/>
              </a:lnSpc>
            </a:pPr>
            <a:r>
              <a:rPr lang="zh-CN" altLang="en-US" b="1" dirty="0"/>
              <a:t>引例：</a:t>
            </a:r>
            <a:endParaRPr lang="en-US" altLang="zh-CN" b="1" dirty="0"/>
          </a:p>
          <a:p>
            <a:pPr marL="0" lvl="2" eaLnBrk="1" hangingPunct="1">
              <a:lnSpc>
                <a:spcPct val="150000"/>
              </a:lnSpc>
            </a:pPr>
            <a:r>
              <a:rPr lang="zh-CN" altLang="en-US" b="1" dirty="0"/>
              <a:t>若定义模板</a:t>
            </a:r>
            <a:endParaRPr lang="en-US" altLang="zh-CN" b="1" dirty="0"/>
          </a:p>
        </p:txBody>
      </p:sp>
      <p:sp>
        <p:nvSpPr>
          <p:cNvPr id="10" name="矩形 9"/>
          <p:cNvSpPr/>
          <p:nvPr/>
        </p:nvSpPr>
        <p:spPr>
          <a:xfrm>
            <a:off x="810117" y="4751480"/>
            <a:ext cx="989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Consolas" pitchFamily="49" charset="0"/>
              </a:rPr>
              <a:t> </a:t>
            </a:r>
            <a:r>
              <a:rPr lang="zh-CN" altLang="en-US" b="1" dirty="0">
                <a:latin typeface="Consolas" pitchFamily="49" charset="0"/>
              </a:rPr>
              <a:t>那么</a:t>
            </a:r>
            <a:endParaRPr lang="fr-FR" altLang="zh-CN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551955" y="3833446"/>
            <a:ext cx="8363236" cy="1662807"/>
            <a:chOff x="463360" y="3847132"/>
            <a:chExt cx="8363236" cy="1662807"/>
          </a:xfrm>
        </p:grpSpPr>
        <p:sp>
          <p:nvSpPr>
            <p:cNvPr id="16" name="圆角矩形 15"/>
            <p:cNvSpPr/>
            <p:nvPr/>
          </p:nvSpPr>
          <p:spPr>
            <a:xfrm>
              <a:off x="463360" y="4308797"/>
              <a:ext cx="8363236" cy="1201142"/>
            </a:xfrm>
            <a:prstGeom prst="roundRect">
              <a:avLst>
                <a:gd name="adj" fmla="val 9159"/>
              </a:avLst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81" name="矩形 2"/>
            <p:cNvSpPr>
              <a:spLocks noChangeArrowheads="1"/>
            </p:cNvSpPr>
            <p:nvPr/>
          </p:nvSpPr>
          <p:spPr bwMode="auto">
            <a:xfrm>
              <a:off x="629308" y="4448285"/>
              <a:ext cx="8029400" cy="923330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const char * </a:t>
              </a:r>
              <a:r>
                <a:rPr lang="en-US" altLang="zh-CN" sz="1800" dirty="0" err="1">
                  <a:latin typeface="Consolas" pitchFamily="49" charset="0"/>
                </a:rPr>
                <a:t>tmin</a:t>
              </a:r>
              <a:r>
                <a:rPr lang="en-US" altLang="zh-CN" sz="1800" dirty="0">
                  <a:latin typeface="Consolas" pitchFamily="49" charset="0"/>
                </a:rPr>
                <a:t>(const char * a, const char * b)</a:t>
              </a:r>
            </a:p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{   return a &lt; b ? a : b;  //</a:t>
              </a:r>
              <a:r>
                <a:rPr lang="zh-CN" altLang="en-US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比较了两个指针（地址）的大小</a:t>
              </a:r>
              <a:endPara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}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656792" y="3847132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6000" lvl="2" eaLnBrk="1" hangingPunct="1"/>
              <a:r>
                <a:rPr lang="zh-CN" altLang="en-US" dirty="0">
                  <a:latin typeface="Consolas" pitchFamily="49" charset="0"/>
                </a:rPr>
                <a:t>编译器</a:t>
              </a:r>
              <a:r>
                <a:rPr lang="zh-CN" altLang="en-US" b="1" dirty="0"/>
                <a:t>实例化为：</a:t>
              </a:r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5345" y="1758384"/>
            <a:ext cx="8363236" cy="1833944"/>
            <a:chOff x="506452" y="1795414"/>
            <a:chExt cx="8363236" cy="1833944"/>
          </a:xfrm>
        </p:grpSpPr>
        <p:sp>
          <p:nvSpPr>
            <p:cNvPr id="2" name="矩形 1"/>
            <p:cNvSpPr>
              <a:spLocks noChangeArrowheads="1"/>
            </p:cNvSpPr>
            <p:nvPr/>
          </p:nvSpPr>
          <p:spPr bwMode="auto">
            <a:xfrm>
              <a:off x="646221" y="2423177"/>
              <a:ext cx="8029400" cy="1154162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2"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const char * </a:t>
              </a:r>
              <a:r>
                <a:rPr lang="en-US" altLang="zh-CN" sz="1800" dirty="0" err="1">
                  <a:solidFill>
                    <a:srgbClr val="006600"/>
                  </a:solidFill>
                  <a:latin typeface="Consolas" pitchFamily="49" charset="0"/>
                </a:rPr>
                <a:t>tmin</a:t>
              </a: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(const char * a, const char * b)</a:t>
              </a:r>
            </a:p>
            <a:p>
              <a:pPr marL="0" lvl="2"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{    return </a:t>
              </a:r>
              <a:r>
                <a:rPr lang="en-US" altLang="zh-CN" sz="1800" dirty="0" err="1">
                  <a:solidFill>
                    <a:srgbClr val="006600"/>
                  </a:solidFill>
                  <a:latin typeface="Consolas" pitchFamily="49" charset="0"/>
                </a:rPr>
                <a:t>strcmp</a:t>
              </a: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(a, b)&lt;=0 ? a : b;   </a:t>
              </a:r>
            </a:p>
            <a:p>
              <a:pPr marL="0" lvl="2" eaLnBrk="1" hangingPunct="1"/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}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734961" y="1795414"/>
              <a:ext cx="48253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期望的正确字符串内容比较方法：</a:t>
              </a:r>
              <a:endParaRPr lang="zh-CN" altLang="en-US" dirty="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06452" y="2310316"/>
              <a:ext cx="8363236" cy="1319042"/>
            </a:xfrm>
            <a:prstGeom prst="roundRect">
              <a:avLst>
                <a:gd name="adj" fmla="val 9159"/>
              </a:avLst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98378" y="5457508"/>
            <a:ext cx="3384376" cy="75737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解决办法</a:t>
            </a:r>
            <a:r>
              <a:rPr lang="en-US" altLang="zh-CN" sz="2800" b="1" dirty="0"/>
              <a:t>~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模板特化</a:t>
            </a:r>
            <a:endParaRPr lang="zh-CN" altLang="en-US" sz="2800" b="1" dirty="0"/>
          </a:p>
        </p:txBody>
      </p:sp>
      <p:sp>
        <p:nvSpPr>
          <p:cNvPr id="4" name="矩形 3"/>
          <p:cNvSpPr/>
          <p:nvPr/>
        </p:nvSpPr>
        <p:spPr>
          <a:xfrm>
            <a:off x="534026" y="1089296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tmin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xy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, 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xb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); 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42990" y="5336357"/>
            <a:ext cx="8188604" cy="905806"/>
            <a:chOff x="542990" y="5336357"/>
            <a:chExt cx="8188604" cy="905806"/>
          </a:xfrm>
        </p:grpSpPr>
        <p:grpSp>
          <p:nvGrpSpPr>
            <p:cNvPr id="5" name="组合 4"/>
            <p:cNvGrpSpPr>
              <a:grpSpLocks/>
            </p:cNvGrpSpPr>
            <p:nvPr/>
          </p:nvGrpSpPr>
          <p:grpSpPr bwMode="auto">
            <a:xfrm>
              <a:off x="3563888" y="5336357"/>
              <a:ext cx="360362" cy="288925"/>
              <a:chOff x="2699792" y="6309296"/>
              <a:chExt cx="360040" cy="288056"/>
            </a:xfrm>
          </p:grpSpPr>
          <p:cxnSp>
            <p:nvCxnSpPr>
              <p:cNvPr id="6" name="直接连接符 5"/>
              <p:cNvCxnSpPr/>
              <p:nvPr/>
            </p:nvCxnSpPr>
            <p:spPr>
              <a:xfrm flipH="1">
                <a:off x="2699792" y="6309296"/>
                <a:ext cx="360040" cy="288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2699792" y="6309296"/>
                <a:ext cx="360040" cy="288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542990" y="5595832"/>
              <a:ext cx="818860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6000" lvl="2" eaLnBrk="1" hangingPunct="1"/>
              <a:r>
                <a:rPr lang="en-US" altLang="zh-CN" sz="1800" dirty="0">
                  <a:solidFill>
                    <a:srgbClr val="FF0000"/>
                  </a:solidFill>
                  <a:latin typeface="Consolas" pitchFamily="49" charset="0"/>
                </a:rPr>
                <a:t>~ NO</a:t>
              </a:r>
              <a:r>
                <a:rPr lang="zh-CN" altLang="en-US" sz="1800" dirty="0">
                  <a:solidFill>
                    <a:srgbClr val="FF0000"/>
                  </a:solidFill>
                  <a:latin typeface="Consolas" pitchFamily="49" charset="0"/>
                </a:rPr>
                <a:t>。 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</a:endParaRPr>
            </a:p>
            <a:p>
              <a:pPr marL="36000" lvl="2" eaLnBrk="1" hangingPunct="1"/>
              <a:r>
                <a:rPr lang="zh-CN" altLang="en-US" sz="1800" dirty="0">
                  <a:solidFill>
                    <a:srgbClr val="FF0000"/>
                  </a:solidFill>
                  <a:latin typeface="Consolas" pitchFamily="49" charset="0"/>
                </a:rPr>
                <a:t>虽然编译能通过，但是语义上不能实现字符串内容的比较！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dirty="0"/>
              <a:t>模板特化的定义形式：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&lt;&gt;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返回类型 函数名</a:t>
            </a:r>
            <a:r>
              <a:rPr lang="en-US" altLang="zh-CN" sz="2800" dirty="0">
                <a:solidFill>
                  <a:srgbClr val="FF0000"/>
                </a:solidFill>
              </a:rPr>
              <a:t>&lt;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特化的数据类型</a:t>
            </a:r>
            <a:r>
              <a:rPr lang="en-US" altLang="zh-CN" sz="2800" dirty="0">
                <a:solidFill>
                  <a:srgbClr val="FF0000"/>
                </a:solidFill>
              </a:rPr>
              <a:t>&gt;(</a:t>
            </a:r>
            <a:r>
              <a:rPr lang="zh-CN" altLang="en-US" sz="2800" dirty="0">
                <a:solidFill>
                  <a:srgbClr val="FF0000"/>
                </a:solidFill>
              </a:rPr>
              <a:t>参数表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{}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4118" y="2215973"/>
            <a:ext cx="7911228" cy="141572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4540624" y="1397159"/>
            <a:ext cx="3169964" cy="366524"/>
          </a:xfrm>
          <a:prstGeom prst="wedgeRoundRectCallout">
            <a:avLst>
              <a:gd name="adj1" fmla="val -19410"/>
              <a:gd name="adj2" fmla="val 36737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2" eaLnBrk="1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000" dirty="0">
                <a:solidFill>
                  <a:srgbClr val="FF0000"/>
                </a:solidFill>
              </a:rPr>
              <a:t>&lt; &gt;</a:t>
            </a:r>
            <a:r>
              <a:rPr lang="zh-CN" altLang="en-US" sz="2000" dirty="0">
                <a:solidFill>
                  <a:srgbClr val="FF0000"/>
                </a:solidFill>
              </a:rPr>
              <a:t>中不需要任何内容；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3886200" y="3054705"/>
            <a:ext cx="4350852" cy="488992"/>
          </a:xfrm>
          <a:prstGeom prst="wedgeRoundRectCallout">
            <a:avLst>
              <a:gd name="adj1" fmla="val -22209"/>
              <a:gd name="adj2" fmla="val -46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特化处理的数据类型 可省略。</a:t>
            </a: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H="1">
            <a:off x="4191000" y="1785739"/>
            <a:ext cx="533400" cy="366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5715000" y="2923836"/>
            <a:ext cx="144016" cy="29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03773" y="4169757"/>
            <a:ext cx="8215844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&lt;&gt;  </a:t>
            </a:r>
            <a:r>
              <a:rPr lang="en-US" altLang="zh-CN" sz="1600" dirty="0">
                <a:solidFill>
                  <a:srgbClr val="008000"/>
                </a:solidFill>
                <a:latin typeface="Consolas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itchFamily="49" charset="0"/>
              </a:rPr>
              <a:t>特化</a:t>
            </a:r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*&gt;(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*b) 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	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strcmp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)&lt;=0)?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467544" y="3716063"/>
            <a:ext cx="1240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0000" lvl="2">
              <a:buFont typeface="Wingdings 2" panose="05020102010507070707" pitchFamily="18" charset="2"/>
              <a:buNone/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</a:rPr>
              <a:t>例如：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矩形 3"/>
          <p:cNvSpPr>
            <a:spLocks noChangeArrowheads="1"/>
          </p:cNvSpPr>
          <p:nvPr/>
        </p:nvSpPr>
        <p:spPr bwMode="auto">
          <a:xfrm>
            <a:off x="719138" y="188913"/>
            <a:ext cx="8173342" cy="60016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调用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b)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函数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&lt;&gt; </a:t>
            </a:r>
            <a:r>
              <a:rPr lang="en-US" altLang="zh-CN" sz="1600" dirty="0">
                <a:solidFill>
                  <a:srgbClr val="008000"/>
                </a:solidFill>
                <a:latin typeface="Consolas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itchFamily="49" charset="0"/>
              </a:rPr>
              <a:t>特化</a:t>
            </a:r>
            <a:endParaRPr lang="en-US" altLang="zh-CN" sz="1600" dirty="0">
              <a:solidFill>
                <a:srgbClr val="008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*b)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                         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调用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char*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char*&gt;(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 *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a,const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 *b)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函数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strcmp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)&lt;=0)?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“3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，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2   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的较小值是：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(3,2)&lt;&lt;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 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ys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，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的较小值是：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ys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771878"/>
            <a:ext cx="56165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19138" y="2636912"/>
            <a:ext cx="8029277" cy="18002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函数模板重载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9552" y="1052736"/>
            <a:ext cx="7772400" cy="43195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dirty="0"/>
              <a:t>模板的</a:t>
            </a:r>
            <a:r>
              <a:rPr lang="zh-CN" altLang="en-US" sz="2800" dirty="0">
                <a:solidFill>
                  <a:srgbClr val="C00000"/>
                </a:solidFill>
              </a:rPr>
              <a:t>说明：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sz="2400" dirty="0"/>
              <a:t>函数模板可</a:t>
            </a:r>
            <a:r>
              <a:rPr lang="zh-CN" altLang="en-US" sz="2400" dirty="0">
                <a:solidFill>
                  <a:srgbClr val="FF0000"/>
                </a:solidFill>
              </a:rPr>
              <a:t>重载，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/>
              <a:t>    ~</a:t>
            </a:r>
            <a:r>
              <a:rPr lang="zh-CN" altLang="en-US" sz="2400" dirty="0"/>
              <a:t>若能匹配多个模板时，</a:t>
            </a:r>
            <a:r>
              <a:rPr lang="zh-CN" altLang="en-US" sz="2400" dirty="0">
                <a:solidFill>
                  <a:srgbClr val="FF0000"/>
                </a:solidFill>
              </a:rPr>
              <a:t>选择最匹配函数模板。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39552" y="2826127"/>
            <a:ext cx="8496944" cy="378565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typename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//(a):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基础模板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typename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 *)"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}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//(b):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基础模板，重载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a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(a);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(a)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(&amp;a);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(b)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  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5743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52400" y="15766"/>
            <a:ext cx="8424936" cy="43195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/>
              <a:t>模板的</a:t>
            </a:r>
            <a:r>
              <a:rPr lang="zh-CN" altLang="en-US" sz="2400" dirty="0">
                <a:solidFill>
                  <a:srgbClr val="C00000"/>
                </a:solidFill>
              </a:rPr>
              <a:t>说明：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r>
              <a:rPr lang="en-US" altLang="zh-CN" sz="2000" dirty="0"/>
              <a:t>. </a:t>
            </a:r>
            <a:r>
              <a:rPr lang="zh-CN" altLang="en-US" sz="2000" dirty="0"/>
              <a:t>当程序中具有</a:t>
            </a:r>
            <a:r>
              <a:rPr lang="zh-CN" altLang="en-US" sz="2000" dirty="0">
                <a:solidFill>
                  <a:srgbClr val="FF0000"/>
                </a:solidFill>
              </a:rPr>
              <a:t>普通函数、函数模板</a:t>
            </a:r>
            <a:r>
              <a:rPr lang="zh-CN" altLang="en-US" sz="2000" dirty="0"/>
              <a:t>及</a:t>
            </a:r>
            <a:r>
              <a:rPr lang="zh-CN" altLang="en-US" sz="2000" dirty="0">
                <a:solidFill>
                  <a:srgbClr val="FF0000"/>
                </a:solidFill>
              </a:rPr>
              <a:t>其特化</a:t>
            </a:r>
            <a:r>
              <a:rPr lang="zh-CN" altLang="en-US" sz="2000" dirty="0"/>
              <a:t>时，其匹配</a:t>
            </a:r>
            <a:r>
              <a:rPr lang="zh-CN" altLang="en-US" sz="2000" dirty="0">
                <a:solidFill>
                  <a:srgbClr val="FF0000"/>
                </a:solidFill>
              </a:rPr>
              <a:t>过程</a:t>
            </a:r>
            <a:r>
              <a:rPr lang="zh-CN" altLang="en-US" sz="2000" dirty="0"/>
              <a:t>如下：</a:t>
            </a:r>
          </a:p>
        </p:txBody>
      </p:sp>
      <p:sp>
        <p:nvSpPr>
          <p:cNvPr id="3" name="矩形 2"/>
          <p:cNvSpPr/>
          <p:nvPr/>
        </p:nvSpPr>
        <p:spPr>
          <a:xfrm>
            <a:off x="152400" y="1066800"/>
            <a:ext cx="8424936" cy="3775201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180000"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1. </a:t>
            </a:r>
            <a:r>
              <a:rPr lang="zh-CN" altLang="en-US" sz="2000" dirty="0"/>
              <a:t>若有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普通函数</a:t>
            </a:r>
            <a:r>
              <a:rPr lang="zh-CN" altLang="en-US" sz="2000" dirty="0"/>
              <a:t>匹配成功，则选中；</a:t>
            </a:r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2. </a:t>
            </a:r>
            <a:r>
              <a:rPr lang="zh-CN" altLang="en-US" sz="2000" dirty="0"/>
              <a:t>否则，查找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函数模板</a:t>
            </a:r>
            <a:r>
              <a:rPr lang="zh-CN" altLang="en-US" sz="2000" dirty="0"/>
              <a:t>，若找匹配模板（</a:t>
            </a:r>
            <a:r>
              <a:rPr lang="zh-CN" altLang="en-US" sz="2000" dirty="0">
                <a:solidFill>
                  <a:srgbClr val="FF0000"/>
                </a:solidFill>
              </a:rPr>
              <a:t>多态时查找最匹配模板</a:t>
            </a:r>
            <a:r>
              <a:rPr lang="zh-CN" altLang="en-US" sz="2000" dirty="0"/>
              <a:t>）则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	2.1 </a:t>
            </a:r>
            <a:r>
              <a:rPr lang="zh-CN" altLang="en-US" sz="2000" dirty="0"/>
              <a:t> 若在</a:t>
            </a:r>
            <a:r>
              <a:rPr lang="zh-CN" altLang="en-US" sz="2000" b="1" dirty="0"/>
              <a:t>匹配模板</a:t>
            </a:r>
            <a:r>
              <a:rPr lang="zh-CN" altLang="en-US" sz="2000" dirty="0"/>
              <a:t>中找到对应的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特化</a:t>
            </a:r>
            <a:r>
              <a:rPr lang="zh-CN" altLang="en-US" sz="2000" dirty="0"/>
              <a:t>，则选择特化；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	2.2 </a:t>
            </a:r>
            <a:r>
              <a:rPr lang="zh-CN" altLang="en-US" sz="2000" dirty="0"/>
              <a:t>否则（无特化），按</a:t>
            </a:r>
            <a:r>
              <a:rPr lang="zh-CN" altLang="en-US" sz="2000" b="1" dirty="0"/>
              <a:t>匹配模板</a:t>
            </a:r>
            <a:r>
              <a:rPr lang="zh-CN" altLang="en-US" sz="2000" dirty="0"/>
              <a:t>生成</a:t>
            </a:r>
            <a:r>
              <a:rPr lang="zh-CN" altLang="en-US" sz="2000" dirty="0">
                <a:solidFill>
                  <a:srgbClr val="FF0000"/>
                </a:solidFill>
              </a:rPr>
              <a:t>模板函数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3. </a:t>
            </a:r>
            <a:r>
              <a:rPr lang="zh-CN" altLang="en-US" sz="2000" dirty="0"/>
              <a:t>否则，匹配</a:t>
            </a:r>
            <a:r>
              <a:rPr lang="zh-CN" altLang="en-US" sz="2000" dirty="0">
                <a:solidFill>
                  <a:srgbClr val="FF0000"/>
                </a:solidFill>
              </a:rPr>
              <a:t>失败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在同一个程序中，除了函数模板和它的特化外，还可以有同名的普通函数。其区别在于</a:t>
            </a:r>
            <a:r>
              <a:rPr lang="en-US" altLang="zh-CN" sz="2000" dirty="0"/>
              <a:t>C++</a:t>
            </a:r>
            <a:r>
              <a:rPr lang="zh-CN" altLang="en-US" sz="2000" dirty="0"/>
              <a:t>会对普通函数的调用实参进行隐式的类型转换，但不会对模板函数及特化函数的参数进行任何形式的类型转换。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94886" y="173831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普通函数与模板函数的调用示例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260648"/>
            <a:ext cx="8568952" cy="674030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endParaRPr lang="en-US" altLang="zh-CN" sz="1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typename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T&gt;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(a)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 :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基础模板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“template f(T)”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	</a:t>
            </a:r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&lt;&gt;           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(b)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特化，即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(a)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特化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“specialization template f(T)”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</a:t>
            </a: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typename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T&gt;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(c)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重载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 *)"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} 	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</a:t>
            </a:r>
            <a:r>
              <a:rPr lang="en-US" altLang="zh-CN" sz="1600" b="1" dirty="0">
                <a:solidFill>
                  <a:srgbClr val="795E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f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x)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"function f(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(d)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: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/>
              </a:rPr>
              <a:t>函数</a:t>
            </a: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x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y=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10.0f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(x); 	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(y); </a:t>
            </a:r>
            <a:endParaRPr lang="en-US" altLang="zh-CN" sz="1600" dirty="0">
              <a:solidFill>
                <a:srgbClr val="795E26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(&amp;x); 	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870479"/>
            <a:ext cx="2880320" cy="11688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07424" y="4598262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(d)</a:t>
            </a:r>
          </a:p>
        </p:txBody>
      </p:sp>
      <p:sp>
        <p:nvSpPr>
          <p:cNvPr id="6" name="矩形 5"/>
          <p:cNvSpPr/>
          <p:nvPr/>
        </p:nvSpPr>
        <p:spPr>
          <a:xfrm>
            <a:off x="1707424" y="5137180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(a)</a:t>
            </a:r>
          </a:p>
        </p:txBody>
      </p:sp>
      <p:sp>
        <p:nvSpPr>
          <p:cNvPr id="7" name="矩形 6"/>
          <p:cNvSpPr/>
          <p:nvPr/>
        </p:nvSpPr>
        <p:spPr>
          <a:xfrm>
            <a:off x="1697178" y="5557052"/>
            <a:ext cx="72592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(c),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注意，在匹配函数模板时找到最匹配的函数模板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(c)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，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所以就放弃了函数模板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(a)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中的特化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(b)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！！！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58370" name="Group 117"/>
          <p:cNvGrpSpPr>
            <a:grpSpLocks/>
          </p:cNvGrpSpPr>
          <p:nvPr/>
        </p:nvGrpSpPr>
        <p:grpSpPr bwMode="auto">
          <a:xfrm>
            <a:off x="2124075" y="2890838"/>
            <a:ext cx="5310188" cy="609600"/>
            <a:chOff x="1263" y="1881"/>
            <a:chExt cx="3345" cy="384"/>
          </a:xfrm>
        </p:grpSpPr>
        <p:grpSp>
          <p:nvGrpSpPr>
            <p:cNvPr id="58403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411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2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3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4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5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04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5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58406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58371" name="Group 145"/>
          <p:cNvGrpSpPr>
            <a:grpSpLocks/>
          </p:cNvGrpSpPr>
          <p:nvPr/>
        </p:nvGrpSpPr>
        <p:grpSpPr bwMode="auto">
          <a:xfrm>
            <a:off x="2124075" y="2243138"/>
            <a:ext cx="5334000" cy="628650"/>
            <a:chOff x="1248" y="1188"/>
            <a:chExt cx="3360" cy="396"/>
          </a:xfrm>
        </p:grpSpPr>
        <p:sp>
          <p:nvSpPr>
            <p:cNvPr id="58388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9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58390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58391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58393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58398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99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0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1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2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392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58372" name="Group 161"/>
          <p:cNvGrpSpPr>
            <a:grpSpLocks/>
          </p:cNvGrpSpPr>
          <p:nvPr/>
        </p:nvGrpSpPr>
        <p:grpSpPr bwMode="auto">
          <a:xfrm>
            <a:off x="2124075" y="3538538"/>
            <a:ext cx="5334000" cy="633412"/>
            <a:chOff x="1248" y="2326"/>
            <a:chExt cx="3360" cy="398"/>
          </a:xfrm>
        </p:grpSpPr>
        <p:sp>
          <p:nvSpPr>
            <p:cNvPr id="58373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4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58375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58376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58378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58383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4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5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6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7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377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36613"/>
          </a:xfrm>
        </p:spPr>
        <p:txBody>
          <a:bodyPr/>
          <a:lstStyle/>
          <a:p>
            <a:pPr eaLnBrk="1" hangingPunct="1"/>
            <a:r>
              <a:rPr lang="en-US" altLang="zh-CN" dirty="0"/>
              <a:t>6.3.1  </a:t>
            </a:r>
            <a:r>
              <a:rPr lang="zh-CN" altLang="en-US" dirty="0"/>
              <a:t>类模板的概念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0038" y="1052736"/>
            <a:ext cx="8260433" cy="5665043"/>
          </a:xfrm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609600" indent="-609600" algn="just" eaLnBrk="1" hangingPunct="1">
              <a:buFontTx/>
              <a:buNone/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 </a:t>
            </a:r>
            <a:r>
              <a:rPr lang="zh-CN" altLang="en-US" sz="2800" dirty="0"/>
              <a:t>类模板 </a:t>
            </a:r>
            <a:r>
              <a:rPr lang="en-US" altLang="zh-CN" sz="2800" dirty="0"/>
              <a:t>~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不是类！！！</a:t>
            </a:r>
          </a:p>
          <a:p>
            <a:pPr marL="457200" lvl="1" indent="-457200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结构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成员</a:t>
            </a:r>
            <a:r>
              <a:rPr lang="zh-CN" altLang="en-US" dirty="0"/>
              <a:t>相同，但所处理的</a:t>
            </a:r>
            <a:r>
              <a:rPr lang="zh-CN" altLang="en-US" b="1" dirty="0">
                <a:solidFill>
                  <a:srgbClr val="FF0000"/>
                </a:solidFill>
              </a:rPr>
              <a:t>数据类型不同</a:t>
            </a:r>
            <a:r>
              <a:rPr lang="zh-CN" altLang="en-US" dirty="0"/>
              <a:t>的类的抽象。</a:t>
            </a:r>
            <a:endParaRPr lang="en-US" altLang="zh-CN" dirty="0"/>
          </a:p>
          <a:p>
            <a:pPr marL="457200" lvl="1" indent="-457200" eaLnBrk="1" hangingPunct="1">
              <a:defRPr/>
            </a:pPr>
            <a:endParaRPr lang="zh-CN" altLang="en-US" dirty="0"/>
          </a:p>
          <a:p>
            <a:pPr marL="447675" indent="-447675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zh-CN" altLang="en-US" sz="2400" dirty="0"/>
              <a:t>声明</a:t>
            </a:r>
            <a:endParaRPr lang="en-US" altLang="zh-CN" sz="2400" dirty="0"/>
          </a:p>
          <a:p>
            <a:pPr marL="0" lvl="1" indent="-533400" eaLnBrk="1" hangingPunct="1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619672" y="3284984"/>
            <a:ext cx="6410299" cy="280076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T1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T2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…&gt;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类名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访问权限：（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private/public/protected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）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成员变量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lvl="4" indent="0">
              <a:buFontTx/>
              <a:buNone/>
              <a:defRPr/>
            </a:pP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访问权限：（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private/public/protected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）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成员函数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zh-CN" altLang="en-US" sz="5400" dirty="0"/>
          </a:p>
        </p:txBody>
      </p:sp>
      <p:sp>
        <p:nvSpPr>
          <p:cNvPr id="4" name="矩形 3"/>
          <p:cNvSpPr/>
          <p:nvPr/>
        </p:nvSpPr>
        <p:spPr>
          <a:xfrm>
            <a:off x="2627784" y="1052736"/>
            <a:ext cx="2304256" cy="50405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571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6.3.1  </a:t>
            </a:r>
            <a:r>
              <a:rPr lang="zh-CN" altLang="en-US" dirty="0"/>
              <a:t>类模板的概念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90600" y="1619328"/>
            <a:ext cx="6408712" cy="378565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Node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item;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();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Node&lt;T&gt;::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item;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914400" y="1061385"/>
            <a:ext cx="472813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3200" dirty="0"/>
              <a:t>示例</a:t>
            </a:r>
            <a:r>
              <a:rPr lang="en-US" altLang="zh-CN" sz="3200" dirty="0"/>
              <a:t>: </a:t>
            </a:r>
            <a:r>
              <a:rPr lang="zh-CN" altLang="en-US" sz="3200" dirty="0"/>
              <a:t>类模板的定义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073E71-2B93-FE8A-864E-39C7A20F0ABE}"/>
              </a:ext>
            </a:extLst>
          </p:cNvPr>
          <p:cNvSpPr txBox="1"/>
          <p:nvPr/>
        </p:nvSpPr>
        <p:spPr>
          <a:xfrm>
            <a:off x="918882" y="563880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模板要写在</a:t>
            </a:r>
            <a:r>
              <a:rPr lang="en-US" altLang="zh-CN" sz="2000" dirty="0">
                <a:latin typeface="+mn-ea"/>
                <a:ea typeface="+mn-ea"/>
              </a:rPr>
              <a:t>h</a:t>
            </a:r>
            <a:r>
              <a:rPr lang="zh-CN" altLang="en-US" sz="2000" dirty="0">
                <a:latin typeface="+mn-ea"/>
                <a:ea typeface="+mn-ea"/>
              </a:rPr>
              <a:t>文件中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模板的实现部分要写在</a:t>
            </a:r>
            <a:r>
              <a:rPr lang="en-US" altLang="zh-CN" sz="2000" dirty="0">
                <a:latin typeface="+mn-ea"/>
                <a:ea typeface="+mn-ea"/>
              </a:rPr>
              <a:t>h</a:t>
            </a:r>
            <a:r>
              <a:rPr lang="zh-CN" altLang="en-US" sz="2000" dirty="0">
                <a:latin typeface="+mn-ea"/>
                <a:ea typeface="+mn-ea"/>
              </a:rPr>
              <a:t>文件中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44463"/>
            <a:ext cx="7772400" cy="83661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</a:p>
        </p:txBody>
      </p:sp>
      <p:sp>
        <p:nvSpPr>
          <p:cNvPr id="6246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7932" y="1051633"/>
            <a:ext cx="7772400" cy="17272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FF0000"/>
                </a:solidFill>
              </a:rPr>
              <a:t>类模板</a:t>
            </a:r>
            <a:r>
              <a:rPr lang="zh-CN" altLang="en-US" dirty="0"/>
              <a:t>定义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endParaRPr lang="en-US" altLang="zh-CN" dirty="0"/>
          </a:p>
        </p:txBody>
      </p:sp>
      <p:sp>
        <p:nvSpPr>
          <p:cNvPr id="62467" name="Rectangle 3"/>
          <p:cNvSpPr txBox="1">
            <a:spLocks noChangeArrowheads="1"/>
          </p:cNvSpPr>
          <p:nvPr/>
        </p:nvSpPr>
        <p:spPr bwMode="auto">
          <a:xfrm>
            <a:off x="1711793" y="2756757"/>
            <a:ext cx="5376248" cy="776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47675" indent="-447675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990600" indent="-5334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41438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lvl="3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类模板名</a:t>
            </a:r>
            <a:r>
              <a:rPr lang="en-US" altLang="zh-CN" sz="2400" dirty="0"/>
              <a:t>&lt;</a:t>
            </a:r>
            <a:r>
              <a:rPr lang="zh-CN" altLang="en-US" sz="2400" dirty="0">
                <a:solidFill>
                  <a:srgbClr val="FF0000"/>
                </a:solidFill>
              </a:rPr>
              <a:t>模板参数名表</a:t>
            </a:r>
            <a:r>
              <a:rPr lang="en-US" altLang="zh-CN" sz="2400" dirty="0"/>
              <a:t>&gt;  </a:t>
            </a:r>
            <a:r>
              <a:rPr lang="zh-CN" altLang="en-US" sz="2400" dirty="0"/>
              <a:t>类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r>
              <a:rPr lang="zh-CN" altLang="en-US" sz="2400" dirty="0"/>
              <a:t>名称</a:t>
            </a:r>
            <a:r>
              <a:rPr lang="en-US" altLang="zh-CN" sz="2400" dirty="0"/>
              <a:t>;</a:t>
            </a:r>
          </a:p>
          <a:p>
            <a:pPr marL="0" lvl="1" indent="0" eaLnBrk="1" hangingPunct="1">
              <a:buFontTx/>
              <a:buNone/>
            </a:pP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5484683" y="2164455"/>
            <a:ext cx="2811988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必须显式实例化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2924264" y="1692094"/>
            <a:ext cx="3801041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引起类模板的实例化 。</a:t>
            </a:r>
            <a:endParaRPr lang="en-US" altLang="zh-CN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004048" y="2413754"/>
            <a:ext cx="936104" cy="379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77932" y="4596404"/>
            <a:ext cx="802907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在不定义任何对象的时候，可进行</a:t>
            </a:r>
            <a:r>
              <a:rPr lang="zh-CN" altLang="en-US" dirty="0">
                <a:solidFill>
                  <a:srgbClr val="FF0000"/>
                </a:solidFill>
              </a:rPr>
              <a:t>显式</a:t>
            </a:r>
            <a:r>
              <a:rPr lang="zh-CN" altLang="en-US" dirty="0"/>
              <a:t>实例化声明：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600" dirty="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219200" y="5215689"/>
            <a:ext cx="60131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 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Node&lt;Employee&gt;;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484682" y="3773303"/>
            <a:ext cx="32637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定义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</a:t>
            </a:r>
            <a:r>
              <a:rPr lang="zh-CN" altLang="en-US" sz="2000" dirty="0"/>
              <a:t>时</a:t>
            </a:r>
            <a:r>
              <a:rPr lang="zh-CN" altLang="en-US" sz="2000" dirty="0">
                <a:solidFill>
                  <a:srgbClr val="FF0000"/>
                </a:solidFill>
              </a:rPr>
              <a:t>不会</a:t>
            </a:r>
            <a:r>
              <a:rPr lang="zh-CN" altLang="en-US" sz="2000" dirty="0"/>
              <a:t>引起实例化</a:t>
            </a:r>
            <a:endParaRPr lang="en-US" altLang="zh-CN" sz="2000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5940152" y="3190803"/>
            <a:ext cx="216024" cy="58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47800" y="1752600"/>
            <a:ext cx="6408712" cy="440120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Node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item;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();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Node&lt;T&gt;::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item;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en-US" altLang="zh-CN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Node&lt;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 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oneNode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" y="1219200"/>
            <a:ext cx="472813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示例</a:t>
            </a:r>
            <a:r>
              <a:rPr lang="en-US" altLang="zh-CN" sz="2400" dirty="0">
                <a:latin typeface="+mn-ea"/>
                <a:ea typeface="+mn-ea"/>
              </a:rPr>
              <a:t>: </a:t>
            </a:r>
            <a:r>
              <a:rPr lang="zh-CN" altLang="en-US" sz="2400" dirty="0">
                <a:latin typeface="+mn-ea"/>
                <a:ea typeface="+mn-ea"/>
              </a:rPr>
              <a:t>用模板类定义对象</a:t>
            </a:r>
          </a:p>
        </p:txBody>
      </p:sp>
    </p:spTree>
    <p:extLst>
      <p:ext uri="{BB962C8B-B14F-4D97-AF65-F5344CB8AC3E}">
        <p14:creationId xmlns:p14="http://schemas.microsoft.com/office/powerpoint/2010/main" val="2976731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44463"/>
            <a:ext cx="7772400" cy="836612"/>
          </a:xfrm>
        </p:spPr>
        <p:txBody>
          <a:bodyPr/>
          <a:lstStyle/>
          <a:p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614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24229" y="3414628"/>
            <a:ext cx="3735230" cy="1626446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800" dirty="0"/>
              <a:t>类模板的</a:t>
            </a:r>
            <a:r>
              <a:rPr lang="zh-CN" altLang="en-US" sz="2800" dirty="0">
                <a:solidFill>
                  <a:srgbClr val="FF0000"/>
                </a:solidFill>
              </a:rPr>
              <a:t>实例化（</a:t>
            </a:r>
            <a:r>
              <a:rPr lang="en-US" altLang="zh-CN" sz="2800" dirty="0" err="1">
                <a:solidFill>
                  <a:srgbClr val="FF0000"/>
                </a:solidFill>
              </a:rPr>
              <a:t>instancialization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2483372" y="2492375"/>
            <a:ext cx="1800795" cy="46230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类模板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555380" y="3991794"/>
            <a:ext cx="1728787" cy="4603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类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556888" y="5501020"/>
            <a:ext cx="1728787" cy="4603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对象</a:t>
            </a:r>
            <a:endParaRPr kumimoji="1" lang="zh-CN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403648" y="3246526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实例化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434295" y="4740237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实例化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3417062" y="2964953"/>
            <a:ext cx="2414" cy="10367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417063" y="4455856"/>
            <a:ext cx="0" cy="10451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84167" y="3990504"/>
            <a:ext cx="186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（模板类）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268" y="2204864"/>
            <a:ext cx="4392488" cy="2376264"/>
          </a:xfrm>
          <a:prstGeom prst="roundRect">
            <a:avLst>
              <a:gd name="adj" fmla="val 9474"/>
            </a:avLst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971600" y="1297186"/>
            <a:ext cx="734597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400" dirty="0"/>
              <a:t>用类模板定义对象时，编译器生成对象的过程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486400" y="3831395"/>
            <a:ext cx="792088" cy="21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1" grpId="0" build="p"/>
      <p:bldP spid="9" grpId="0" animBg="1"/>
      <p:bldP spid="10" grpId="0" animBg="1"/>
      <p:bldP spid="12" grpId="0"/>
      <p:bldP spid="13" grpId="0"/>
      <p:bldP spid="2" grpId="0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2E8F510-4F07-5B1B-70D8-2B0EA0D80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类模板例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614A267-1423-93B4-B854-37FD326B8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可以存放多种数据的通用类 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F04A6514-52D9-DD82-D8E1-16771C653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9834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FD7C35-0950-656A-C984-50D7A0FC34EE}"/>
              </a:ext>
            </a:extLst>
          </p:cNvPr>
          <p:cNvSpPr/>
          <p:nvPr/>
        </p:nvSpPr>
        <p:spPr>
          <a:xfrm>
            <a:off x="152400" y="152400"/>
            <a:ext cx="342900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struct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id;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float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gpa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1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Store();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PutElem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619772-AC99-E715-7FB9-9AD909531159}"/>
              </a:ext>
            </a:extLst>
          </p:cNvPr>
          <p:cNvSpPr/>
          <p:nvPr/>
        </p:nvSpPr>
        <p:spPr>
          <a:xfrm>
            <a:off x="152400" y="3001275"/>
            <a:ext cx="3429000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&gt;::Store():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(0)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{}</a:t>
            </a:r>
          </a:p>
          <a:p>
            <a:pPr>
              <a:defRPr/>
            </a:pPr>
            <a:endParaRPr lang="en-US" altLang="zh-CN" sz="1200" dirty="0">
              <a:solidFill>
                <a:srgbClr val="0000FF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== 0)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pt-BR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pt-BR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pt-BR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"No item present!\n"</a:t>
            </a:r>
            <a:r>
              <a:rPr lang="pt-BR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9048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exit(1);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PutElem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 =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CABD09-187A-191D-E3B3-A0F53251AD26}"/>
              </a:ext>
            </a:extLst>
          </p:cNvPr>
          <p:cNvSpPr/>
          <p:nvPr/>
        </p:nvSpPr>
        <p:spPr>
          <a:xfrm>
            <a:off x="3657600" y="244733"/>
            <a:ext cx="54102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g = { 1000,23 };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S1, S2;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S3;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D;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S1.PutElem(3);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S2.PutElem(-7);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S1.GetElem()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S2.GetElem()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S3.PutElem(g);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"The student id is "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S3.GetElem().id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"Retrieving object D: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D.GetElem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26627" name="矩形 4">
            <a:extLst>
              <a:ext uri="{FF2B5EF4-FFF2-40B4-BE49-F238E27FC236}">
                <a16:creationId xmlns:a16="http://schemas.microsoft.com/office/drawing/2014/main" id="{B5B23F8E-5494-40EA-B106-0F0706A32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617102"/>
            <a:ext cx="3733800" cy="73866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3 -7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student id is 1000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Retrieving object D: No item present!</a:t>
            </a:r>
          </a:p>
        </p:txBody>
      </p:sp>
    </p:spTree>
    <p:extLst>
      <p:ext uri="{BB962C8B-B14F-4D97-AF65-F5344CB8AC3E}">
        <p14:creationId xmlns:p14="http://schemas.microsoft.com/office/powerpoint/2010/main" val="2369454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A6714EE-A9F9-4F09-C63B-BB1ED592A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类模板例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A2DCF92-F11E-E633-EEDC-7CA43D231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通用数组模板类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  <a:p>
            <a:pPr lvl="1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拷贝构造函数：浅拷贝与深拷贝</a:t>
            </a:r>
          </a:p>
          <a:p>
            <a:pPr lvl="1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值得关注的运算符重载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，返回引用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，返回引用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 *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3E200BB5-027C-91F8-8306-AD02F9133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610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8">
            <a:extLst>
              <a:ext uri="{FF2B5EF4-FFF2-40B4-BE49-F238E27FC236}">
                <a16:creationId xmlns:a16="http://schemas.microsoft.com/office/drawing/2014/main" id="{54F20C15-2231-08F5-112C-57C334270DE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0"/>
            <a:ext cx="8610600" cy="3025710"/>
            <a:chOff x="76200" y="240268"/>
            <a:chExt cx="8610600" cy="3025416"/>
          </a:xfrm>
        </p:grpSpPr>
        <p:sp>
          <p:nvSpPr>
            <p:cNvPr id="28676" name="矩形 3">
              <a:extLst>
                <a:ext uri="{FF2B5EF4-FFF2-40B4-BE49-F238E27FC236}">
                  <a16:creationId xmlns:a16="http://schemas.microsoft.com/office/drawing/2014/main" id="{3B7E1BAC-4D01-425A-7B0E-57A0E16D5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588288"/>
              <a:ext cx="8610600" cy="26773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ARRAY_CLASS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#define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ARRAY_CLASS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&lt;iostream&gt;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&lt;string&gt;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iomanip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using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namespace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std;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NULL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const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NULL = 0;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#endif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//</a:t>
              </a:r>
              <a:r>
                <a:rPr lang="zh-CN" altLang="en-US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错误类型集合</a:t>
              </a: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enum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ErrorType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{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invalidArraySize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memoryAllocationError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indexOutOfRange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//</a:t>
              </a:r>
              <a:r>
                <a:rPr lang="zh-CN" altLang="en-US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错误信息</a:t>
              </a: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const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char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*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errorMsg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[] ={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"invalid Array 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Size"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"memory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Allocation 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Error"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"index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Out Of Range"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</p:txBody>
        </p:sp>
        <p:sp>
          <p:nvSpPr>
            <p:cNvPr id="28677" name="矩形 7">
              <a:extLst>
                <a:ext uri="{FF2B5EF4-FFF2-40B4-BE49-F238E27FC236}">
                  <a16:creationId xmlns:a16="http://schemas.microsoft.com/office/drawing/2014/main" id="{E7607F95-996A-7D03-F60C-CDADD1FDC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40268"/>
              <a:ext cx="1915909" cy="369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templatearray.h</a:t>
              </a:r>
              <a:endPara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F297851-2434-DEF8-E5EE-7011D0B0FE7F}"/>
              </a:ext>
            </a:extLst>
          </p:cNvPr>
          <p:cNvSpPr/>
          <p:nvPr/>
        </p:nvSpPr>
        <p:spPr>
          <a:xfrm>
            <a:off x="85165" y="3025710"/>
            <a:ext cx="6096000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数组类模板声明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size;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Error(</a:t>
            </a: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ErrorType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=0)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=50);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&amp;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~Array(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=”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，数组对象可以整体赋值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[]”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T *”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operator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Resize(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6025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F1686B0-188B-8587-3F1C-BB0F5C672639}"/>
              </a:ext>
            </a:extLst>
          </p:cNvPr>
          <p:cNvSpPr/>
          <p:nvPr/>
        </p:nvSpPr>
        <p:spPr>
          <a:xfrm>
            <a:off x="76200" y="165080"/>
            <a:ext cx="5029200" cy="43396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以下为类成员函数的定义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模板函数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输出错误信息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&gt;::Error(</a:t>
            </a: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ErrorType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errorMsg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indexOutOfRange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exit(1);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构造函数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&lt;=0)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invalidArraySize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size=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[size];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析构函数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&gt;::~Array()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4EBC1B-2AA6-E6AB-2045-AD31333DE6BC}"/>
              </a:ext>
            </a:extLst>
          </p:cNvPr>
          <p:cNvSpPr/>
          <p:nvPr/>
        </p:nvSpPr>
        <p:spPr>
          <a:xfrm>
            <a:off x="5257800" y="165080"/>
            <a:ext cx="3810000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拷贝构造函数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&amp;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size = n;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[n];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274638">
              <a:defRPr/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B1C734-43B8-2F51-143F-9269334107A0}"/>
              </a:ext>
            </a:extLst>
          </p:cNvPr>
          <p:cNvSpPr/>
          <p:nvPr/>
        </p:nvSpPr>
        <p:spPr>
          <a:xfrm>
            <a:off x="3962400" y="3365480"/>
            <a:ext cx="487680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=”,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实现对象间的整体赋值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 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==&amp;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(size!=n)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71437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[n];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size = n;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5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3243EE3-A051-710C-A577-D9C638075D28}"/>
              </a:ext>
            </a:extLst>
          </p:cNvPr>
          <p:cNvSpPr/>
          <p:nvPr/>
        </p:nvSpPr>
        <p:spPr>
          <a:xfrm>
            <a:off x="304800" y="228600"/>
            <a:ext cx="3886200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重载下标运算符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&lt;0||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&gt;size-1)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indexOutOfRange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重载指针转换运算符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这个函数没有返回值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operator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()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取当前数组大小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size;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BF09F1-DBD0-09C2-0B33-0550F0219E3B}"/>
              </a:ext>
            </a:extLst>
          </p:cNvPr>
          <p:cNvSpPr/>
          <p:nvPr/>
        </p:nvSpPr>
        <p:spPr>
          <a:xfrm>
            <a:off x="4419600" y="2743200"/>
            <a:ext cx="406549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将数组大小修改为</a:t>
            </a:r>
            <a:r>
              <a:rPr lang="en-US" altLang="zh-CN" sz="12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sz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&gt;::Resize(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&lt;=0) 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invalidArraySize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==size) 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 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n=(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&lt;=size)?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size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endif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4ED43F-BEDA-DEC2-16CA-6D9F5B49D8DA}"/>
              </a:ext>
            </a:extLst>
          </p:cNvPr>
          <p:cNvSpPr/>
          <p:nvPr/>
        </p:nvSpPr>
        <p:spPr>
          <a:xfrm>
            <a:off x="152400" y="134938"/>
            <a:ext cx="7086600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“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templatearray.h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A(10);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0,i,j;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"Enter a value &gt;=2 as upper limit for prime numbers:"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2;</a:t>
            </a:r>
          </a:p>
          <a:p>
            <a:pPr marL="274638">
              <a:defRPr/>
            </a:pP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(i = 3; i &lt; n; i++)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A.ListSize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A.Resize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(primecount+10);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(i%2 == 0)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continue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j = 3;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(j &lt;=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/2 &amp;&amp;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i%j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!= 0)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j += 2;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(j&gt;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/2)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(6)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+ 1) % 10 == 0)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3FF62C-56AC-FBF1-1660-23BC27B44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5410200" cy="24622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a value &gt;=2 as upper limit for prime numbers:500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2      3       5       7     11     13     17     19     23     29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31    37     41      43     47     53     59     61     67     71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73    79     83      89     97   101   103   107   109   113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127   131   137   139   149   151   157   163   167   173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179   181   191   193   197   199   211   223   227   229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233   239   241   251   257   263   269   271   277   281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283   293   307   311   313   317   331   337   347   349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353   359   367   373   379   383   389   397   401   409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419   421   431   433   439   443   449   457   461   463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467   479   487   491   499</a:t>
            </a:r>
          </a:p>
        </p:txBody>
      </p:sp>
    </p:spTree>
    <p:extLst>
      <p:ext uri="{BB962C8B-B14F-4D97-AF65-F5344CB8AC3E}">
        <p14:creationId xmlns:p14="http://schemas.microsoft.com/office/powerpoint/2010/main" val="229643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168275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20738" y="969630"/>
            <a:ext cx="7772400" cy="170890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800" dirty="0"/>
              <a:t>类模板</a:t>
            </a:r>
            <a:r>
              <a:rPr lang="zh-CN" altLang="en-US" sz="2800" dirty="0">
                <a:solidFill>
                  <a:srgbClr val="FF0000"/>
                </a:solidFill>
              </a:rPr>
              <a:t>特化包括：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n-US" altLang="zh-CN" sz="2000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特化</a:t>
            </a:r>
            <a:r>
              <a:rPr lang="zh-CN" altLang="en-US" dirty="0">
                <a:solidFill>
                  <a:srgbClr val="FF0000"/>
                </a:solidFill>
              </a:rPr>
              <a:t>整个类模板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偏特化：</a:t>
            </a:r>
            <a:r>
              <a:rPr lang="zh-CN" altLang="en-US" dirty="0"/>
              <a:t>特化类模板的</a:t>
            </a:r>
            <a:r>
              <a:rPr lang="zh-CN" altLang="en-US" dirty="0">
                <a:solidFill>
                  <a:srgbClr val="FF0000"/>
                </a:solidFill>
              </a:rPr>
              <a:t>一部分</a:t>
            </a:r>
            <a:r>
              <a:rPr lang="zh-CN" altLang="en-US" dirty="0"/>
              <a:t>参数或成员函数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168275"/>
            <a:ext cx="7772400" cy="863600"/>
          </a:xfrm>
        </p:spPr>
        <p:txBody>
          <a:bodyPr/>
          <a:lstStyle/>
          <a:p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34415" y="2879922"/>
            <a:ext cx="5477745" cy="2677656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T 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const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T&amp; v) : value(v)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{}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createCode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{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)value;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T value;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40740" y="3749457"/>
            <a:ext cx="5256584" cy="310854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&lt;&gt;</a:t>
            </a:r>
          </a:p>
          <a:p>
            <a:r>
              <a:rPr lang="en-US" altLang="zh-CN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TCode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string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</a:t>
            </a:r>
          </a:p>
          <a:p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pPr lvl="1"/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const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string&amp; s) : value(s)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{}</a:t>
            </a:r>
          </a:p>
          <a:p>
            <a:pPr lvl="1"/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createCode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code = 0;</a:t>
            </a:r>
          </a:p>
          <a:p>
            <a:pPr lvl="2"/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= 0;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&lt;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value.length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();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code += (</a:t>
            </a:r>
            <a:r>
              <a:rPr lang="en-US" altLang="zh-CN" sz="14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)value[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];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    	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code;</a:t>
            </a:r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 </a:t>
            </a:r>
            <a:endParaRPr lang="en-US" altLang="zh-CN" sz="1400" dirty="0">
              <a:solidFill>
                <a:srgbClr val="000000"/>
              </a:solidFill>
              <a:latin typeface="Consolas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string value;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51520" y="1103035"/>
            <a:ext cx="67818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76288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</a:rPr>
              <a:t>特化整个类模板</a:t>
            </a:r>
            <a:r>
              <a:rPr lang="zh-CN" altLang="en-US" dirty="0">
                <a:solidFill>
                  <a:srgbClr val="000000"/>
                </a:solidFill>
              </a:rPr>
              <a:t>的方法：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27984" y="1123022"/>
            <a:ext cx="4268166" cy="163121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template &lt; &gt; 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class</a:t>
            </a:r>
            <a:r>
              <a:rPr lang="zh-CN" altLang="en-US" sz="2000" dirty="0">
                <a:solidFill>
                  <a:srgbClr val="000000"/>
                </a:solidFill>
              </a:rPr>
              <a:t> 类模板名</a:t>
            </a:r>
            <a:r>
              <a:rPr lang="en-US" altLang="zh-CN" sz="2000" dirty="0">
                <a:solidFill>
                  <a:srgbClr val="000000"/>
                </a:solidFill>
              </a:rPr>
              <a:t>&lt;</a:t>
            </a:r>
            <a:r>
              <a:rPr lang="zh-CN" altLang="en-US" sz="2000" dirty="0">
                <a:solidFill>
                  <a:srgbClr val="000000"/>
                </a:solidFill>
              </a:rPr>
              <a:t>特化数据类型</a:t>
            </a:r>
            <a:r>
              <a:rPr lang="en-US" altLang="zh-CN" sz="2000" dirty="0">
                <a:solidFill>
                  <a:srgbClr val="000000"/>
                </a:solidFill>
              </a:rPr>
              <a:t>&gt; 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……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};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153265" y="5329084"/>
            <a:ext cx="1582993" cy="580103"/>
          </a:xfrm>
          <a:custGeom>
            <a:avLst/>
            <a:gdLst>
              <a:gd name="connsiteX0" fmla="*/ 1582993 w 1582993"/>
              <a:gd name="connsiteY0" fmla="*/ 580103 h 580103"/>
              <a:gd name="connsiteX1" fmla="*/ 344129 w 1582993"/>
              <a:gd name="connsiteY1" fmla="*/ 393290 h 580103"/>
              <a:gd name="connsiteX2" fmla="*/ 0 w 1582993"/>
              <a:gd name="connsiteY2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2993" h="580103">
                <a:moveTo>
                  <a:pt x="1582993" y="580103"/>
                </a:moveTo>
                <a:cubicBezTo>
                  <a:pt x="1095477" y="535038"/>
                  <a:pt x="607961" y="489974"/>
                  <a:pt x="344129" y="393290"/>
                </a:cubicBezTo>
                <a:cubicBezTo>
                  <a:pt x="80297" y="296606"/>
                  <a:pt x="40148" y="148303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75656" y="5909187"/>
            <a:ext cx="20162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特化整个类模板</a:t>
            </a:r>
          </a:p>
        </p:txBody>
      </p:sp>
    </p:spTree>
    <p:extLst>
      <p:ext uri="{BB962C8B-B14F-4D97-AF65-F5344CB8AC3E}">
        <p14:creationId xmlns:p14="http://schemas.microsoft.com/office/powerpoint/2010/main" val="3782354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9434"/>
            <a:ext cx="7772400" cy="863600"/>
          </a:xfrm>
        </p:spPr>
        <p:txBody>
          <a:bodyPr/>
          <a:lstStyle/>
          <a:p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0949" y="1323968"/>
            <a:ext cx="7772400" cy="1151333"/>
          </a:xfrm>
        </p:spPr>
        <p:txBody>
          <a:bodyPr/>
          <a:lstStyle/>
          <a:p>
            <a:pPr marL="776288" lvl="1" indent="-4572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AutoNum type="circleNumDbPlain" startAt="2"/>
            </a:pP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偏特化</a:t>
            </a:r>
            <a:r>
              <a:rPr lang="zh-CN" altLang="en-US" dirty="0"/>
              <a:t>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6958" y="2389248"/>
            <a:ext cx="6220642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3" eaLnBrk="1" hangingPunct="1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&lt;class T2&gt; </a:t>
            </a:r>
          </a:p>
          <a:p>
            <a:pPr marL="0" lvl="3" eaLnBrk="1" hangingPunct="1"/>
            <a:r>
              <a:rPr lang="en-US" altLang="zh-CN" sz="2000" dirty="0"/>
              <a:t>class</a:t>
            </a:r>
            <a:r>
              <a:rPr lang="zh-CN" altLang="en-US" sz="2000" dirty="0"/>
              <a:t> 类模板名</a:t>
            </a:r>
            <a:r>
              <a:rPr lang="en-US" altLang="zh-CN" sz="2000" dirty="0"/>
              <a:t>&lt;</a:t>
            </a:r>
            <a:r>
              <a:rPr lang="zh-CN" altLang="en-US" sz="2000" dirty="0"/>
              <a:t>特化部分数据类型</a:t>
            </a:r>
            <a:r>
              <a:rPr lang="en-US" altLang="zh-CN" sz="2000" dirty="0"/>
              <a:t>T1, T2&gt;</a:t>
            </a:r>
          </a:p>
          <a:p>
            <a:pPr marL="0" lvl="3" eaLnBrk="1" hangingPunct="1"/>
            <a:r>
              <a:rPr lang="en-US" altLang="zh-CN" sz="2000" dirty="0"/>
              <a:t>{   </a:t>
            </a:r>
            <a:r>
              <a:rPr lang="en-US" altLang="zh-CN" sz="2000" dirty="0">
                <a:latin typeface="Arial" panose="020B0604020202020204" pitchFamily="34" charset="0"/>
              </a:rPr>
              <a:t>……</a:t>
            </a:r>
            <a:r>
              <a:rPr lang="en-US" altLang="zh-CN" sz="2000" dirty="0"/>
              <a:t>//</a:t>
            </a:r>
            <a:r>
              <a:rPr lang="zh-CN" altLang="en-US" sz="2000" dirty="0"/>
              <a:t>类成员定义</a:t>
            </a:r>
          </a:p>
          <a:p>
            <a:pPr marL="0" lvl="3" eaLnBrk="1" hangingPunct="1"/>
            <a:r>
              <a:rPr lang="en-US" altLang="zh-CN" sz="2000" dirty="0"/>
              <a:t>};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1143000" y="4382700"/>
            <a:ext cx="7500325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&lt;&gt; 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/>
              <a:t>返回类型 类模板名</a:t>
            </a:r>
            <a:r>
              <a:rPr lang="en-US" altLang="zh-CN" sz="2000" dirty="0"/>
              <a:t>&lt;</a:t>
            </a:r>
            <a:r>
              <a:rPr lang="zh-CN" altLang="en-US" sz="2000" dirty="0">
                <a:solidFill>
                  <a:srgbClr val="FF0000"/>
                </a:solidFill>
              </a:rPr>
              <a:t>特化的数据类型</a:t>
            </a:r>
            <a:r>
              <a:rPr lang="en-US" altLang="zh-CN" sz="2000" dirty="0"/>
              <a:t>&gt;::</a:t>
            </a:r>
            <a:r>
              <a:rPr lang="zh-CN" altLang="en-US" sz="2000" dirty="0">
                <a:solidFill>
                  <a:srgbClr val="FF0000"/>
                </a:solidFill>
              </a:rPr>
              <a:t>特化成员函数名</a:t>
            </a:r>
            <a:r>
              <a:rPr lang="en-US" altLang="zh-CN" sz="2000" dirty="0"/>
              <a:t>(</a:t>
            </a:r>
            <a:r>
              <a:rPr lang="zh-CN" altLang="en-US" sz="2000" dirty="0"/>
              <a:t>参数表</a:t>
            </a:r>
            <a:r>
              <a:rPr lang="en-US" altLang="zh-CN" sz="2000" dirty="0"/>
              <a:t>)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{   </a:t>
            </a:r>
            <a:r>
              <a:rPr lang="en-US" altLang="zh-CN" sz="2000" dirty="0">
                <a:latin typeface="Arial" panose="020B0604020202020204" pitchFamily="34" charset="0"/>
              </a:rPr>
              <a:t>……</a:t>
            </a:r>
            <a:r>
              <a:rPr lang="en-US" altLang="zh-CN" sz="2000" dirty="0"/>
              <a:t>  //</a:t>
            </a:r>
            <a:r>
              <a:rPr lang="zh-CN" altLang="en-US" sz="2000" dirty="0"/>
              <a:t>函数定义体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646231" y="3957968"/>
            <a:ext cx="524743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特化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部分成员函数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0372" y="1899635"/>
            <a:ext cx="344677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特化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部分类型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CDCFC6-674A-644F-A1E9-380FD2783A55}"/>
              </a:ext>
            </a:extLst>
          </p:cNvPr>
          <p:cNvSpPr txBox="1"/>
          <p:nvPr/>
        </p:nvSpPr>
        <p:spPr>
          <a:xfrm>
            <a:off x="4057149" y="1600915"/>
            <a:ext cx="49857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template&lt;</a:t>
            </a:r>
            <a:r>
              <a:rPr kumimoji="1" lang="en-US" altLang="zh-CN" dirty="0" err="1">
                <a:solidFill>
                  <a:srgbClr val="0070C0"/>
                </a:solidFill>
              </a:rPr>
              <a:t>typename</a:t>
            </a:r>
            <a:r>
              <a:rPr kumimoji="1" lang="en-US" altLang="zh-CN" dirty="0">
                <a:solidFill>
                  <a:srgbClr val="0070C0"/>
                </a:solidFill>
              </a:rPr>
              <a:t> T1, </a:t>
            </a:r>
            <a:r>
              <a:rPr kumimoji="1" lang="en-US" altLang="zh-CN" dirty="0" err="1">
                <a:solidFill>
                  <a:srgbClr val="0070C0"/>
                </a:solidFill>
              </a:rPr>
              <a:t>typename</a:t>
            </a:r>
            <a:r>
              <a:rPr kumimoji="1" lang="en-US" altLang="zh-CN" dirty="0">
                <a:solidFill>
                  <a:srgbClr val="0070C0"/>
                </a:solidFill>
              </a:rPr>
              <a:t> T2&gt;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class </a:t>
            </a:r>
            <a:r>
              <a:rPr kumimoji="1" lang="en-US" altLang="zh-CN" dirty="0" err="1">
                <a:solidFill>
                  <a:srgbClr val="0070C0"/>
                </a:solidFill>
              </a:rPr>
              <a:t>MyClass</a:t>
            </a:r>
            <a:r>
              <a:rPr kumimoji="1" lang="en-US" altLang="zh-CN" dirty="0">
                <a:solidFill>
                  <a:srgbClr val="0070C0"/>
                </a:solidFill>
              </a:rPr>
              <a:t> {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    // </a:t>
            </a:r>
            <a:r>
              <a:rPr kumimoji="1" lang="zh-CN" altLang="en-US" dirty="0">
                <a:solidFill>
                  <a:srgbClr val="0070C0"/>
                </a:solidFill>
              </a:rPr>
              <a:t>通用定义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};  </a:t>
            </a:r>
          </a:p>
          <a:p>
            <a:endParaRPr kumimoji="1" lang="en-US" altLang="zh-CN" dirty="0">
              <a:solidFill>
                <a:srgbClr val="0070C0"/>
              </a:solidFill>
            </a:endParaRPr>
          </a:p>
          <a:p>
            <a:r>
              <a:rPr kumimoji="1" lang="en-US" altLang="zh-CN" dirty="0">
                <a:solidFill>
                  <a:srgbClr val="0070C0"/>
                </a:solidFill>
              </a:rPr>
              <a:t>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// </a:t>
            </a:r>
            <a:r>
              <a:rPr kumimoji="1" lang="zh-CN" altLang="en-US" dirty="0">
                <a:solidFill>
                  <a:srgbClr val="0070C0"/>
                </a:solidFill>
              </a:rPr>
              <a:t>偏特化，针对</a:t>
            </a:r>
            <a:r>
              <a:rPr kumimoji="1" lang="en-US" altLang="zh-CN" dirty="0">
                <a:solidFill>
                  <a:srgbClr val="0070C0"/>
                </a:solidFill>
              </a:rPr>
              <a:t>T1</a:t>
            </a:r>
            <a:r>
              <a:rPr kumimoji="1" lang="zh-CN" altLang="en-US" dirty="0">
                <a:solidFill>
                  <a:srgbClr val="0070C0"/>
                </a:solidFill>
              </a:rPr>
              <a:t>为指针类型的情况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template&lt;</a:t>
            </a:r>
            <a:r>
              <a:rPr kumimoji="1" lang="en-US" altLang="zh-CN" dirty="0" err="1">
                <a:solidFill>
                  <a:srgbClr val="0070C0"/>
                </a:solidFill>
              </a:rPr>
              <a:t>typename</a:t>
            </a:r>
            <a:r>
              <a:rPr kumimoji="1" lang="en-US" altLang="zh-CN" dirty="0">
                <a:solidFill>
                  <a:srgbClr val="0070C0"/>
                </a:solidFill>
              </a:rPr>
              <a:t> T2&gt;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class </a:t>
            </a:r>
            <a:r>
              <a:rPr kumimoji="1" lang="en-US" altLang="zh-CN" dirty="0" err="1">
                <a:solidFill>
                  <a:srgbClr val="0070C0"/>
                </a:solidFill>
              </a:rPr>
              <a:t>MyClass</a:t>
            </a:r>
            <a:r>
              <a:rPr kumimoji="1" lang="en-US" altLang="zh-CN" dirty="0">
                <a:solidFill>
                  <a:srgbClr val="0070C0"/>
                </a:solidFill>
              </a:rPr>
              <a:t>&lt;T1*, T2&gt; {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    // </a:t>
            </a:r>
            <a:r>
              <a:rPr kumimoji="1" lang="zh-CN" altLang="en-US" dirty="0">
                <a:solidFill>
                  <a:srgbClr val="0070C0"/>
                </a:solidFill>
              </a:rPr>
              <a:t>为</a:t>
            </a:r>
            <a:r>
              <a:rPr kumimoji="1" lang="en-US" altLang="zh-CN" dirty="0">
                <a:solidFill>
                  <a:srgbClr val="0070C0"/>
                </a:solidFill>
              </a:rPr>
              <a:t>T1</a:t>
            </a:r>
            <a:r>
              <a:rPr kumimoji="1" lang="zh-CN" altLang="en-US" dirty="0">
                <a:solidFill>
                  <a:srgbClr val="0070C0"/>
                </a:solidFill>
              </a:rPr>
              <a:t>为指针类型时定制的定义  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};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44450"/>
            <a:ext cx="7772400" cy="8636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499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88963" y="1044960"/>
            <a:ext cx="7772400" cy="5746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800" dirty="0"/>
              <a:t>类模板与</a:t>
            </a:r>
            <a:r>
              <a:rPr lang="zh-CN" altLang="en-US" sz="2800" dirty="0">
                <a:solidFill>
                  <a:srgbClr val="FF0000"/>
                </a:solidFill>
              </a:rPr>
              <a:t>友元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/>
              <a:t>在类模板的定义中可以声明友元，这些友元可分为</a:t>
            </a:r>
            <a:r>
              <a:rPr lang="en-US" altLang="zh-CN" sz="2400" dirty="0"/>
              <a:t>3</a:t>
            </a:r>
            <a:r>
              <a:rPr lang="zh-CN" altLang="en-US" sz="2400" dirty="0"/>
              <a:t>种：</a:t>
            </a:r>
          </a:p>
        </p:txBody>
      </p:sp>
      <p:sp>
        <p:nvSpPr>
          <p:cNvPr id="2" name="矩形 1"/>
          <p:cNvSpPr/>
          <p:nvPr/>
        </p:nvSpPr>
        <p:spPr>
          <a:xfrm>
            <a:off x="4818414" y="5945797"/>
            <a:ext cx="4080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模板特例友元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5230203" y="3934789"/>
            <a:ext cx="37342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4909925" y="2050682"/>
            <a:ext cx="3471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普通友元</a:t>
            </a:r>
          </a:p>
        </p:txBody>
      </p:sp>
      <p:cxnSp>
        <p:nvCxnSpPr>
          <p:cNvPr id="6" name="直接箭头连接符 5"/>
          <p:cNvCxnSpPr>
            <a:stCxn id="14" idx="3"/>
          </p:cNvCxnSpPr>
          <p:nvPr/>
        </p:nvCxnSpPr>
        <p:spPr>
          <a:xfrm flipV="1">
            <a:off x="2123728" y="2276873"/>
            <a:ext cx="3188831" cy="154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8"/>
          <p:cNvSpPr>
            <a:spLocks noChangeArrowheads="1"/>
          </p:cNvSpPr>
          <p:nvPr/>
        </p:nvSpPr>
        <p:spPr bwMode="auto">
          <a:xfrm>
            <a:off x="503548" y="3405060"/>
            <a:ext cx="1620180" cy="83099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友元是否为模板？</a:t>
            </a:r>
            <a:endParaRPr lang="zh-CN" altLang="en-US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71800" y="4252920"/>
            <a:ext cx="1584176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友元是否为模板的特例？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6" name="直接箭头连接符 15"/>
          <p:cNvCxnSpPr>
            <a:stCxn id="14" idx="3"/>
            <a:endCxn id="7" idx="1"/>
          </p:cNvCxnSpPr>
          <p:nvPr/>
        </p:nvCxnSpPr>
        <p:spPr>
          <a:xfrm>
            <a:off x="2123728" y="3820559"/>
            <a:ext cx="648072" cy="103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3"/>
          </p:cNvCxnSpPr>
          <p:nvPr/>
        </p:nvCxnSpPr>
        <p:spPr>
          <a:xfrm flipV="1">
            <a:off x="4355976" y="4266825"/>
            <a:ext cx="874336" cy="586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3"/>
          </p:cNvCxnSpPr>
          <p:nvPr/>
        </p:nvCxnSpPr>
        <p:spPr>
          <a:xfrm>
            <a:off x="4355976" y="4853085"/>
            <a:ext cx="956583" cy="132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8"/>
          <p:cNvSpPr>
            <a:spLocks noChangeArrowheads="1"/>
          </p:cNvSpPr>
          <p:nvPr/>
        </p:nvSpPr>
        <p:spPr bwMode="auto">
          <a:xfrm>
            <a:off x="3275856" y="2697212"/>
            <a:ext cx="924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否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" name="矩形 8"/>
          <p:cNvSpPr>
            <a:spLocks noChangeArrowheads="1"/>
          </p:cNvSpPr>
          <p:nvPr/>
        </p:nvSpPr>
        <p:spPr bwMode="auto">
          <a:xfrm>
            <a:off x="2040211" y="4683214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是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" name="矩形 8"/>
          <p:cNvSpPr>
            <a:spLocks noChangeArrowheads="1"/>
          </p:cNvSpPr>
          <p:nvPr/>
        </p:nvSpPr>
        <p:spPr bwMode="auto">
          <a:xfrm>
            <a:off x="4547606" y="5785689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是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8" name="矩形 8"/>
          <p:cNvSpPr>
            <a:spLocks noChangeArrowheads="1"/>
          </p:cNvSpPr>
          <p:nvPr/>
        </p:nvSpPr>
        <p:spPr bwMode="auto">
          <a:xfrm>
            <a:off x="4630361" y="4005224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否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0784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</a:t>
            </a:r>
          </a:p>
        </p:txBody>
      </p:sp>
      <p:sp>
        <p:nvSpPr>
          <p:cNvPr id="84995" name="矩形 8"/>
          <p:cNvSpPr>
            <a:spLocks noChangeArrowheads="1"/>
          </p:cNvSpPr>
          <p:nvPr/>
        </p:nvSpPr>
        <p:spPr bwMode="auto">
          <a:xfrm>
            <a:off x="579948" y="1707356"/>
            <a:ext cx="8054975" cy="91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普通友元</a:t>
            </a:r>
          </a:p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非模板（类、函数）作为模板类的友元</a:t>
            </a:r>
            <a:endParaRPr lang="zh-CN" altLang="en-US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4996" name="矩形 3"/>
          <p:cNvSpPr>
            <a:spLocks noChangeArrowheads="1"/>
          </p:cNvSpPr>
          <p:nvPr/>
        </p:nvSpPr>
        <p:spPr bwMode="auto">
          <a:xfrm>
            <a:off x="939988" y="3538751"/>
            <a:ext cx="6242844" cy="1754326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func1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();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579948" y="2628781"/>
            <a:ext cx="633670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c1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为普通类，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func1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为普通函数，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则类模板中可以声明他们为友元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305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矩形 10"/>
          <p:cNvSpPr>
            <a:spLocks noChangeArrowheads="1"/>
          </p:cNvSpPr>
          <p:nvPr/>
        </p:nvSpPr>
        <p:spPr bwMode="auto">
          <a:xfrm>
            <a:off x="0" y="304800"/>
            <a:ext cx="814546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作为友元的模板生成的所有实例都是类模板的友元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4998" name="矩形 6"/>
          <p:cNvSpPr>
            <a:spLocks noChangeArrowheads="1"/>
          </p:cNvSpPr>
          <p:nvPr/>
        </p:nvSpPr>
        <p:spPr bwMode="auto">
          <a:xfrm>
            <a:off x="429403" y="2626706"/>
            <a:ext cx="6769612" cy="20313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type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class c2;</a:t>
            </a:r>
          </a:p>
          <a:p>
            <a:endParaRPr lang="en-US" altLang="zh-CN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fun(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u);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92275" y="4757380"/>
            <a:ext cx="216024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类型参数不同</a:t>
            </a:r>
          </a:p>
        </p:txBody>
      </p:sp>
      <p:cxnSp>
        <p:nvCxnSpPr>
          <p:cNvPr id="5" name="直接箭头连接符 4"/>
          <p:cNvCxnSpPr>
            <a:cxnSpLocks/>
            <a:stCxn id="3" idx="1"/>
          </p:cNvCxnSpPr>
          <p:nvPr/>
        </p:nvCxnSpPr>
        <p:spPr>
          <a:xfrm flipH="1" flipV="1">
            <a:off x="3126283" y="4067360"/>
            <a:ext cx="2065992" cy="9208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 6"/>
          <p:cNvSpPr/>
          <p:nvPr/>
        </p:nvSpPr>
        <p:spPr>
          <a:xfrm>
            <a:off x="3309723" y="2776654"/>
            <a:ext cx="2975992" cy="1980725"/>
          </a:xfrm>
          <a:custGeom>
            <a:avLst/>
            <a:gdLst>
              <a:gd name="connsiteX0" fmla="*/ 1871529 w 1871529"/>
              <a:gd name="connsiteY0" fmla="*/ 2298818 h 2298818"/>
              <a:gd name="connsiteX1" fmla="*/ 1281870 w 1871529"/>
              <a:gd name="connsiteY1" fmla="*/ 401652 h 2298818"/>
              <a:gd name="connsiteX2" fmla="*/ 0 w 1871529"/>
              <a:gd name="connsiteY2" fmla="*/ 0 h 229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1529" h="2298818">
                <a:moveTo>
                  <a:pt x="1871529" y="2298818"/>
                </a:moveTo>
                <a:cubicBezTo>
                  <a:pt x="1732660" y="1541803"/>
                  <a:pt x="1593791" y="784788"/>
                  <a:pt x="1281870" y="401652"/>
                </a:cubicBezTo>
                <a:cubicBezTo>
                  <a:pt x="969949" y="18516"/>
                  <a:pt x="484974" y="9258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69363" y="1819471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c2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func2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则类模板中可以声明它们为友元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26563" y="1191650"/>
            <a:ext cx="6120680" cy="703457"/>
            <a:chOff x="899592" y="1998044"/>
            <a:chExt cx="6120680" cy="703457"/>
          </a:xfrm>
        </p:grpSpPr>
        <p:sp>
          <p:nvSpPr>
            <p:cNvPr id="18" name="矩形 17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4" name="直接箭头连接符 13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一对多</a:t>
                </a:r>
              </a:p>
            </p:txBody>
          </p: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矩形 12"/>
          <p:cNvSpPr>
            <a:spLocks noChangeArrowheads="1"/>
          </p:cNvSpPr>
          <p:nvPr/>
        </p:nvSpPr>
        <p:spPr bwMode="auto">
          <a:xfrm>
            <a:off x="-152400" y="76200"/>
            <a:ext cx="8568952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模板特例友元</a:t>
            </a:r>
          </a:p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endParaRPr lang="en-US" altLang="zh-CN" sz="20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7043" name="矩形 7"/>
          <p:cNvSpPr>
            <a:spLocks noChangeArrowheads="1"/>
          </p:cNvSpPr>
          <p:nvPr/>
        </p:nvSpPr>
        <p:spPr bwMode="auto">
          <a:xfrm>
            <a:off x="495672" y="2319224"/>
            <a:ext cx="7776864" cy="28623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 </a:t>
            </a:r>
            <a:r>
              <a:rPr lang="en-US" altLang="zh-CN" sz="2000" dirty="0"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 T</a:t>
            </a:r>
            <a:r>
              <a:rPr lang="en-US" altLang="zh-CN" sz="2000" dirty="0"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class </a:t>
            </a:r>
            <a:r>
              <a:rPr lang="en-US" altLang="zh-CN" sz="2000" dirty="0">
                <a:latin typeface="Consolas" pitchFamily="49" charset="0"/>
              </a:rPr>
              <a:t>c3;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     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声明类模板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fun3(T u);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声明函数模板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c3&lt;int&gt;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          </a:t>
            </a:r>
            <a:r>
              <a:rPr lang="en-US" altLang="zh-CN" sz="2000" dirty="0">
                <a:solidFill>
                  <a:srgbClr val="006600"/>
                </a:solidFill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类模板的特例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void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fun3&lt;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u);  </a:t>
            </a:r>
            <a:r>
              <a:rPr lang="en-US" altLang="zh-CN" sz="2000" dirty="0">
                <a:solidFill>
                  <a:srgbClr val="006600"/>
                </a:solidFill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函数模板特例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20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886200" y="5215639"/>
            <a:ext cx="198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指定具体类型参数</a:t>
            </a:r>
          </a:p>
        </p:txBody>
      </p:sp>
      <p:cxnSp>
        <p:nvCxnSpPr>
          <p:cNvPr id="3" name="直接箭头连接符 2"/>
          <p:cNvCxnSpPr>
            <a:cxnSpLocks/>
            <a:stCxn id="7" idx="1"/>
          </p:cNvCxnSpPr>
          <p:nvPr/>
        </p:nvCxnSpPr>
        <p:spPr>
          <a:xfrm flipH="1" flipV="1">
            <a:off x="3750740" y="4514360"/>
            <a:ext cx="135460" cy="87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40520" y="1577245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则类模板中可以声明它们的特例为友元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583396" y="168507"/>
            <a:ext cx="6120680" cy="703457"/>
            <a:chOff x="899592" y="1998044"/>
            <a:chExt cx="6120680" cy="703457"/>
          </a:xfrm>
        </p:grpSpPr>
        <p:sp>
          <p:nvSpPr>
            <p:cNvPr id="14" name="矩形 13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一对一</a:t>
                </a:r>
              </a:p>
            </p:txBody>
          </p:sp>
        </p:grpSp>
      </p:grpSp>
      <p:sp>
        <p:nvSpPr>
          <p:cNvPr id="8" name="矩形 7"/>
          <p:cNvSpPr/>
          <p:nvPr/>
        </p:nvSpPr>
        <p:spPr>
          <a:xfrm>
            <a:off x="34159" y="986098"/>
            <a:ext cx="3584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情况一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：指定为具体类型。</a:t>
            </a:r>
          </a:p>
        </p:txBody>
      </p:sp>
    </p:spTree>
    <p:extLst>
      <p:ext uri="{BB962C8B-B14F-4D97-AF65-F5344CB8AC3E}">
        <p14:creationId xmlns:p14="http://schemas.microsoft.com/office/powerpoint/2010/main" val="1700798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矩形 7"/>
          <p:cNvSpPr>
            <a:spLocks noChangeArrowheads="1"/>
          </p:cNvSpPr>
          <p:nvPr/>
        </p:nvSpPr>
        <p:spPr bwMode="auto">
          <a:xfrm>
            <a:off x="278668" y="2501007"/>
            <a:ext cx="7776864" cy="28623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 </a:t>
            </a:r>
            <a:r>
              <a:rPr lang="en-US" altLang="zh-CN" sz="2000" dirty="0"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 T</a:t>
            </a:r>
            <a:r>
              <a:rPr lang="en-US" altLang="zh-CN" sz="2000" dirty="0"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class c3;      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声明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类模板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fun3(T u);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声明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函数模板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c3&lt;T&gt;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  //</a:t>
            </a:r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类模板的特例</a:t>
            </a:r>
            <a:endParaRPr lang="en-US" altLang="zh-CN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void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fun3&lt;T&gt;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u);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20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49410" y="5559713"/>
            <a:ext cx="325934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与类模板的类型参数相同</a:t>
            </a:r>
          </a:p>
        </p:txBody>
      </p:sp>
      <p:cxnSp>
        <p:nvCxnSpPr>
          <p:cNvPr id="3" name="直接箭头连接符 2"/>
          <p:cNvCxnSpPr>
            <a:cxnSpLocks/>
          </p:cNvCxnSpPr>
          <p:nvPr/>
        </p:nvCxnSpPr>
        <p:spPr>
          <a:xfrm flipV="1">
            <a:off x="3430276" y="4710934"/>
            <a:ext cx="0" cy="85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/>
        </p:nvSpPr>
        <p:spPr>
          <a:xfrm>
            <a:off x="2942964" y="3639468"/>
            <a:ext cx="1933836" cy="1799497"/>
          </a:xfrm>
          <a:custGeom>
            <a:avLst/>
            <a:gdLst>
              <a:gd name="connsiteX0" fmla="*/ 1871529 w 1871529"/>
              <a:gd name="connsiteY0" fmla="*/ 2298818 h 2298818"/>
              <a:gd name="connsiteX1" fmla="*/ 1281870 w 1871529"/>
              <a:gd name="connsiteY1" fmla="*/ 401652 h 2298818"/>
              <a:gd name="connsiteX2" fmla="*/ 0 w 1871529"/>
              <a:gd name="connsiteY2" fmla="*/ 0 h 229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1529" h="2298818">
                <a:moveTo>
                  <a:pt x="1871529" y="2298818"/>
                </a:moveTo>
                <a:cubicBezTo>
                  <a:pt x="1732660" y="1541803"/>
                  <a:pt x="1593791" y="784788"/>
                  <a:pt x="1281870" y="401652"/>
                </a:cubicBezTo>
                <a:cubicBezTo>
                  <a:pt x="969949" y="18516"/>
                  <a:pt x="484974" y="9258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-81372" y="1717485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则类模板中可以声明他们的特例为友元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2"/>
          <p:cNvSpPr>
            <a:spLocks noChangeArrowheads="1"/>
          </p:cNvSpPr>
          <p:nvPr/>
        </p:nvSpPr>
        <p:spPr bwMode="auto">
          <a:xfrm>
            <a:off x="-297396" y="136293"/>
            <a:ext cx="85689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模板特例友元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-9364" y="1126180"/>
            <a:ext cx="43543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情况二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：指定为类模板的类型参数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38400" y="228600"/>
            <a:ext cx="6120680" cy="703457"/>
            <a:chOff x="899592" y="1998044"/>
            <a:chExt cx="6120680" cy="703457"/>
          </a:xfrm>
        </p:grpSpPr>
        <p:sp>
          <p:nvSpPr>
            <p:cNvPr id="13" name="矩形 12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8" name="直接箭头连接符 17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一对一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9749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76672"/>
            <a:ext cx="8064896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43808" y="4804037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错误，编译时提示未定义 </a:t>
            </a:r>
            <a:r>
              <a:rPr lang="en-US" altLang="zh-CN" dirty="0">
                <a:solidFill>
                  <a:srgbClr val="FF0000"/>
                </a:solidFill>
              </a:rPr>
              <a:t>fun(C)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411760" y="5034869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72000" y="3222092"/>
            <a:ext cx="2760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定义模板</a:t>
            </a:r>
            <a:r>
              <a:rPr lang="en-US" altLang="zh-CN" dirty="0">
                <a:solidFill>
                  <a:srgbClr val="FF0000"/>
                </a:solidFill>
              </a:rPr>
              <a:t>fun( 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99792" y="5835876"/>
            <a:ext cx="5544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为什么没有从模板生产需要的函数呢？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</p:spTree>
    <p:extLst>
      <p:ext uri="{BB962C8B-B14F-4D97-AF65-F5344CB8AC3E}">
        <p14:creationId xmlns:p14="http://schemas.microsoft.com/office/powerpoint/2010/main" val="222809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76672"/>
            <a:ext cx="8064896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438400" y="487680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870448" y="4669685"/>
            <a:ext cx="5950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这里匹配到了普通函数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而不是匹配到模板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(T x)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77008" y="1772816"/>
            <a:ext cx="496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声明普通函数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 </a:t>
            </a:r>
            <a:r>
              <a:rPr lang="zh-CN" altLang="en-US" sz="2000" dirty="0">
                <a:solidFill>
                  <a:srgbClr val="FF0000"/>
                </a:solidFill>
              </a:rPr>
              <a:t>为友元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编译器也知道应该存在 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</a:t>
            </a:r>
          </a:p>
        </p:txBody>
      </p:sp>
      <p:cxnSp>
        <p:nvCxnSpPr>
          <p:cNvPr id="3" name="直接箭头连接符 2"/>
          <p:cNvCxnSpPr>
            <a:stCxn id="10" idx="1"/>
          </p:cNvCxnSpPr>
          <p:nvPr/>
        </p:nvCxnSpPr>
        <p:spPr>
          <a:xfrm flipH="1">
            <a:off x="3347864" y="2126759"/>
            <a:ext cx="329144" cy="222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</p:spTree>
    <p:extLst>
      <p:ext uri="{BB962C8B-B14F-4D97-AF65-F5344CB8AC3E}">
        <p14:creationId xmlns:p14="http://schemas.microsoft.com/office/powerpoint/2010/main" val="282903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000" y="1970696"/>
            <a:ext cx="6192688" cy="533673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576" y="476672"/>
            <a:ext cx="7397824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//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  <a:endParaRPr lang="zh-CN" altLang="en-US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fun&lt;C&gt;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76315" y="1898979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</a:rPr>
              <a:t>原来的错误语句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00910" y="1086393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修正后的程序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42515" y="2125938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</a:rPr>
              <a:t>修正后的语句，其他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</a:rPr>
              <a:t>不</a:t>
            </a:r>
            <a:r>
              <a:rPr lang="zh-CN" altLang="en-US" dirty="0">
                <a:solidFill>
                  <a:srgbClr val="FF0000"/>
                </a:solidFill>
              </a:rPr>
              <a:t>改变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88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23728" y="2564904"/>
            <a:ext cx="48245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深度探索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元编程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(metaprogramming)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5743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1516902"/>
            <a:ext cx="8064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元编程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(metaprogramming): </a:t>
            </a:r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编写可以一类特殊的程序，这类程序可以修改别的程序或者</a:t>
            </a:r>
            <a:r>
              <a:rPr lang="zh-CN" altLang="en-US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</a:t>
            </a:r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自身。</a:t>
            </a:r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修改可以是在运行时或者编译时是完成。</a:t>
            </a:r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85800" y="3993178"/>
            <a:ext cx="8208911" cy="56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zh-CN" altLang="zh-CN" sz="20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优点</a:t>
            </a:r>
            <a:r>
              <a:rPr lang="zh-CN" altLang="zh-CN" sz="20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0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提升代码抽象度。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65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83569" y="1156103"/>
            <a:ext cx="8208911" cy="284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c++通过模板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template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实现元编程。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把本来在运行期实现部分功能可以移到编译期实现，从而节省运行时开销。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71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49"/>
            <a:ext cx="8229600" cy="1143000"/>
          </a:xfrm>
        </p:spPr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3" name="矩形 2"/>
          <p:cNvSpPr/>
          <p:nvPr/>
        </p:nvSpPr>
        <p:spPr>
          <a:xfrm>
            <a:off x="585900" y="990600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示例</a:t>
            </a:r>
          </a:p>
        </p:txBody>
      </p:sp>
      <p:sp>
        <p:nvSpPr>
          <p:cNvPr id="5" name="矩形 4"/>
          <p:cNvSpPr/>
          <p:nvPr/>
        </p:nvSpPr>
        <p:spPr>
          <a:xfrm>
            <a:off x="1764325" y="990600"/>
            <a:ext cx="6948772" cy="3293209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*</a:t>
            </a:r>
            <a:r>
              <a:rPr lang="en-US" altLang="zh-CN" sz="1600" dirty="0" err="1">
                <a:solidFill>
                  <a:srgbClr val="006600"/>
                </a:solidFill>
                <a:latin typeface="Consolas" panose="020B0609020204030204"/>
              </a:rPr>
              <a:t>c++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代码*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</a:t>
            </a:r>
          </a:p>
          <a:p>
            <a:endParaRPr lang="en-US" altLang="zh-CN" sz="1600" dirty="0">
              <a:solidFill>
                <a:srgbClr val="0066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n&gt;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 panose="020B0609020204030204"/>
              </a:rPr>
              <a:t>Fact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   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enum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{ RET = n * Fact&lt;n-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&gt;::RET };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递归的模板定义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 panose="020B0609020204030204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 	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！！！对递归的出口一定要进行模板特化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  <a:t>  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enum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{ RET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};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b = Fact&lt;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&gt;::RET;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== 120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8028" y="4419600"/>
            <a:ext cx="6948135" cy="203132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/>
              <a:t>enum { RET = 5 * Fact&lt;4&gt;::RET };</a:t>
            </a:r>
          </a:p>
          <a:p>
            <a:r>
              <a:rPr lang="zh-CN" altLang="en-US" sz="1800" dirty="0"/>
              <a:t>enum { RET = 5 * 4 * Fact&lt;3&gt;::RET };</a:t>
            </a:r>
          </a:p>
          <a:p>
            <a:r>
              <a:rPr lang="zh-CN" altLang="en-US" sz="1800" dirty="0"/>
              <a:t>enum { RET = 5 * 4 * 3 * Fact&lt;2&gt;::RET };</a:t>
            </a:r>
          </a:p>
          <a:p>
            <a:r>
              <a:rPr lang="zh-CN" altLang="en-US" sz="1800" dirty="0"/>
              <a:t>enum { RET = 5 * 4 * 3 * 2 * Fact&lt;1&gt;::RET };</a:t>
            </a:r>
          </a:p>
          <a:p>
            <a:r>
              <a:rPr lang="zh-CN" altLang="en-US" sz="1800" dirty="0"/>
              <a:t>enum { RET = 5 * 4 * 3 * 2 * 1 };</a:t>
            </a:r>
          </a:p>
          <a:p>
            <a:r>
              <a:rPr lang="zh-CN" altLang="en-US" sz="1800" dirty="0"/>
              <a:t>enum { RET = 120 };</a:t>
            </a:r>
          </a:p>
          <a:p>
            <a:r>
              <a:rPr lang="zh-CN" altLang="en-US" sz="1800" dirty="0"/>
              <a:t>b = 120; //Fact&lt;5&gt;::RET;</a:t>
            </a:r>
          </a:p>
        </p:txBody>
      </p:sp>
      <p:sp>
        <p:nvSpPr>
          <p:cNvPr id="6" name="矩形 5"/>
          <p:cNvSpPr/>
          <p:nvPr/>
        </p:nvSpPr>
        <p:spPr>
          <a:xfrm>
            <a:off x="470647" y="4419600"/>
            <a:ext cx="1152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编译中的递归代码生成过程</a:t>
            </a:r>
          </a:p>
        </p:txBody>
      </p:sp>
    </p:spTree>
    <p:extLst>
      <p:ext uri="{BB962C8B-B14F-4D97-AF65-F5344CB8AC3E}">
        <p14:creationId xmlns:p14="http://schemas.microsoft.com/office/powerpoint/2010/main" val="235670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18816</TotalTime>
  <Words>6517</Words>
  <Application>Microsoft Macintosh PowerPoint</Application>
  <PresentationFormat>全屏显示(4:3)</PresentationFormat>
  <Paragraphs>1066</Paragraphs>
  <Slides>59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7" baseType="lpstr">
      <vt:lpstr>-apple-system</vt:lpstr>
      <vt:lpstr>黑体</vt:lpstr>
      <vt:lpstr>华文楷体</vt:lpstr>
      <vt:lpstr>楷体</vt:lpstr>
      <vt:lpstr>隶书</vt:lpstr>
      <vt:lpstr>宋体</vt:lpstr>
      <vt:lpstr>新宋体</vt:lpstr>
      <vt:lpstr>Arial</vt:lpstr>
      <vt:lpstr>Calibri</vt:lpstr>
      <vt:lpstr>Cambria</vt:lpstr>
      <vt:lpstr>Comic Sans MS</vt:lpstr>
      <vt:lpstr>Consolas</vt:lpstr>
      <vt:lpstr>Maiandra GD</vt:lpstr>
      <vt:lpstr>Tahoma</vt:lpstr>
      <vt:lpstr>Times New Roman</vt:lpstr>
      <vt:lpstr>Wingdings</vt:lpstr>
      <vt:lpstr>Wingdings 2</vt:lpstr>
      <vt:lpstr>龙腾四海</vt:lpstr>
      <vt:lpstr>第6讲 模板</vt:lpstr>
      <vt:lpstr>大纲</vt:lpstr>
      <vt:lpstr>模板</vt:lpstr>
      <vt:lpstr>模板</vt:lpstr>
      <vt:lpstr>6.1 模板的概念</vt:lpstr>
      <vt:lpstr>6.1 模板的概念</vt:lpstr>
      <vt:lpstr>大纲</vt:lpstr>
      <vt:lpstr>6.2  函数模板</vt:lpstr>
      <vt:lpstr>6.2  函数模板</vt:lpstr>
      <vt:lpstr>6.2.1  函数模板的定义和使用</vt:lpstr>
      <vt:lpstr>6.2.1  函数模板的定义和使用</vt:lpstr>
      <vt:lpstr>6.2.1  函数模板的定义和使用</vt:lpstr>
      <vt:lpstr>6.2.1  函数模板的定义和使用</vt:lpstr>
      <vt:lpstr>PowerPoint 演示文稿</vt:lpstr>
      <vt:lpstr>6.2.2  函数模板的实例化</vt:lpstr>
      <vt:lpstr>6.2.2  函数模板的实例化</vt:lpstr>
      <vt:lpstr>6.2.2  函数模板的实例化</vt:lpstr>
      <vt:lpstr>6.2.2  函数模板的实例化</vt:lpstr>
      <vt:lpstr>6.2.2  函数模板的实例化</vt:lpstr>
      <vt:lpstr>6.2  函数模板</vt:lpstr>
      <vt:lpstr>PowerPoint 演示文稿</vt:lpstr>
      <vt:lpstr>函数模板例</vt:lpstr>
      <vt:lpstr>PowerPoint 演示文稿</vt:lpstr>
      <vt:lpstr>PowerPoint 演示文稿</vt:lpstr>
      <vt:lpstr>6.2.3  函数模板的特化</vt:lpstr>
      <vt:lpstr>6.2.3  函数模板的特化</vt:lpstr>
      <vt:lpstr>6.2.3  函数模板的特化</vt:lpstr>
      <vt:lpstr>PowerPoint 演示文稿</vt:lpstr>
      <vt:lpstr>6.2  函数模板重载</vt:lpstr>
      <vt:lpstr>PowerPoint 演示文稿</vt:lpstr>
      <vt:lpstr>PowerPoint 演示文稿</vt:lpstr>
      <vt:lpstr>大纲</vt:lpstr>
      <vt:lpstr>6.3.1  类模板的概念</vt:lpstr>
      <vt:lpstr>6.3.1  类模板的概念</vt:lpstr>
      <vt:lpstr>6.3.2类模板的实例化</vt:lpstr>
      <vt:lpstr>6.3.2类模板的实例化</vt:lpstr>
      <vt:lpstr>6.3.2类模板的实例化</vt:lpstr>
      <vt:lpstr>类模板例1</vt:lpstr>
      <vt:lpstr>PowerPoint 演示文稿</vt:lpstr>
      <vt:lpstr>类模板例2</vt:lpstr>
      <vt:lpstr>PowerPoint 演示文稿</vt:lpstr>
      <vt:lpstr>PowerPoint 演示文稿</vt:lpstr>
      <vt:lpstr>PowerPoint 演示文稿</vt:lpstr>
      <vt:lpstr>PowerPoint 演示文稿</vt:lpstr>
      <vt:lpstr>6.3.3  类模板的特化</vt:lpstr>
      <vt:lpstr>6.3.3  类模板的特化</vt:lpstr>
      <vt:lpstr>6.3.3  类模板的特化</vt:lpstr>
      <vt:lpstr>6.3.4 类模板与友元</vt:lpstr>
      <vt:lpstr>6.3.4 类模板与友元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深度探索——元编程</vt:lpstr>
      <vt:lpstr>深度探索——元编程</vt:lpstr>
      <vt:lpstr>深度探索——元编程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sjl</dc:creator>
  <cp:lastModifiedBy>Microsoft Office User</cp:lastModifiedBy>
  <cp:revision>154</cp:revision>
  <cp:lastPrinted>1601-01-01T00:00:00Z</cp:lastPrinted>
  <dcterms:created xsi:type="dcterms:W3CDTF">1601-01-01T00:00:00Z</dcterms:created>
  <dcterms:modified xsi:type="dcterms:W3CDTF">2024-05-18T14:45:01Z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