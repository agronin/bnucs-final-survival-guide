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0"/>
  </p:notesMasterIdLst>
  <p:sldIdLst>
    <p:sldId id="573" r:id="rId2"/>
    <p:sldId id="570" r:id="rId3"/>
    <p:sldId id="571" r:id="rId4"/>
    <p:sldId id="572" r:id="rId5"/>
    <p:sldId id="576" r:id="rId6"/>
    <p:sldId id="577" r:id="rId7"/>
    <p:sldId id="578" r:id="rId8"/>
    <p:sldId id="579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558" autoAdjust="0"/>
    <p:restoredTop sz="94505" autoAdjust="0"/>
  </p:normalViewPr>
  <p:slideViewPr>
    <p:cSldViewPr>
      <p:cViewPr varScale="1">
        <p:scale>
          <a:sx n="105" d="100"/>
          <a:sy n="105" d="100"/>
        </p:scale>
        <p:origin x="6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8D1C927-A4F9-6112-B578-274479452B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D7D4ED-C467-DE4F-7B10-B664B7F7B65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BDEB172-6833-4076-B5A9-E91C9591048A}" type="datetimeFigureOut">
              <a:rPr lang="zh-CN" altLang="en-US"/>
              <a:pPr>
                <a:defRPr/>
              </a:pPr>
              <a:t>2024/5/29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0C908F3A-AFC2-0FD1-7258-BD3B99862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87BDB99-AFEF-C79B-08F3-09D0581A5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AD7CF-4116-868A-0BB3-9E2F716A4D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20FB42-6EB1-841A-9E19-3709F9B00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3F94B9-0302-4646-91D1-8D25495BDCF5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5F29B5-86F2-CA6D-FCC8-6CF2DC4A8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35E186-E52B-D63F-DAE4-F2A07306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65FFCB-032E-D9D8-D99A-BEFFCDFB9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3FF345-8D30-4AFF-917C-7650D724AE5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243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80F1D-1E8C-6FD1-43D6-D32A2ABA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EC30E-58AD-8ACF-9940-0DC525CDC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E32595-6C15-5AEC-1E16-7A46D0F5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515DB-B772-4D8C-89CC-577B471E076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4549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EE2F8-7638-B0A7-DE63-CE5D52DC1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7F5CB2-4871-5F89-07BC-2684A415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9BAE3-7514-1770-2AE1-A2FBC982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3D0C1-FC0F-47F6-BAFE-CE643FB117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264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1E758B9-C693-CC18-6DAD-D6E8C5B1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8DC94A-F8DD-BDB8-0920-6E151835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11FDA33-B90C-F665-7867-8B73ACEE7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58202-66A6-4EC0-A14E-89F58641DF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79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26510EB-E486-F736-2694-A2CA8852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945FAF4-E4A5-5340-2DB4-06ED0EE4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F5B2532-455C-9326-DFF8-51AAB855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35A6D-571E-4157-9C0C-D37FBCB7FA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428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9AD87036-2008-13C7-E462-D9821D5A6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5CF416A-5A01-E634-487F-1D3C02FD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DC7026C-BE82-C990-3AE5-FC436687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A47DB2-FDC1-4501-BC7F-F4F3F95DF1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69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9EAE9E02-E779-18E5-4A53-CCFB06DD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AF8E14C-5D26-2ADB-14B1-07480271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0656D7F-FA9E-92D6-F302-D104FAAE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E9E34F-31F4-4B98-99E3-BB78C1848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531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9B74D5C-5AFA-05F1-557C-9B0399A4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10F8D3D6-A36F-F0E8-F549-90595DC13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509AC2F-64BC-F0CA-9A4D-BE63B0AD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EEBDC7-7D3D-4FD1-9EFC-4F503A6716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28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FA580D0-DED6-94CC-662D-3B397095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CD8F934-C625-1202-D281-2CB7305D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3D21BBA-B8C4-1BD8-6020-8A29E399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CD2FAF-2AA2-4D29-BB9B-69833A5D32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270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005AB-11F7-AB3E-21BA-31D5C46F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4441C-4A0D-011E-339A-C1E6B49A9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CC85EF-8D34-320D-5EE6-66EBD95E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CECB-4D5A-4C8B-9EE5-9CB434F53A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463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F88D34-EF49-AEB1-0903-109C9EAE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82E228-6BBE-A533-8448-A2B3B966D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B12238-9753-8004-3966-2F6E8CAE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58DA4-118E-4300-8E2D-E8116506BC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61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>
            <a:normAutofit/>
          </a:bodyPr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728219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55000">
              <a:srgbClr val="F3F3F3"/>
            </a:gs>
            <a:gs pos="100000">
              <a:srgbClr val="D2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7">
            <a:extLst>
              <a:ext uri="{FF2B5EF4-FFF2-40B4-BE49-F238E27FC236}">
                <a16:creationId xmlns:a16="http://schemas.microsoft.com/office/drawing/2014/main" id="{99F00930-7114-BD27-C96F-F98EF97DF1CD}"/>
              </a:ext>
            </a:extLst>
          </p:cNvPr>
          <p:cNvPicPr>
            <a:picLocks noChangeAspect="1"/>
          </p:cNvPicPr>
          <p:nvPr/>
        </p:nvPicPr>
        <p:blipFill>
          <a:blip r:embed="rId14">
            <a:lum bright="12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4914900"/>
            <a:ext cx="24765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138F966-60F5-860F-52FA-EB2FF3C6E48B}"/>
              </a:ext>
            </a:extLst>
          </p:cNvPr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F57286-4334-949A-8A02-64C4B9B7BE5B}"/>
              </a:ext>
            </a:extLst>
          </p:cNvPr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033" name="图片 8">
            <a:extLst>
              <a:ext uri="{FF2B5EF4-FFF2-40B4-BE49-F238E27FC236}">
                <a16:creationId xmlns:a16="http://schemas.microsoft.com/office/drawing/2014/main" id="{C9D0CBD9-35D3-900D-118B-3FF2EA347C77}"/>
              </a:ext>
            </a:extLst>
          </p:cNvPr>
          <p:cNvPicPr>
            <a:picLocks noChangeAspect="1"/>
          </p:cNvPicPr>
          <p:nvPr/>
        </p:nvPicPr>
        <p:blipFill>
          <a:blip r:embed="rId15">
            <a:lum bright="34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9850"/>
            <a:ext cx="91440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标题占位符 1">
            <a:extLst>
              <a:ext uri="{FF2B5EF4-FFF2-40B4-BE49-F238E27FC236}">
                <a16:creationId xmlns:a16="http://schemas.microsoft.com/office/drawing/2014/main" id="{39C4DE4D-979C-7D4E-2D02-C6763CDD05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35" name="文本占位符 2">
            <a:extLst>
              <a:ext uri="{FF2B5EF4-FFF2-40B4-BE49-F238E27FC236}">
                <a16:creationId xmlns:a16="http://schemas.microsoft.com/office/drawing/2014/main" id="{D0D9CA5C-DEBE-7949-D2C4-941DC54476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7BAB1-DCED-3FF4-BA75-5A5295765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9A6134-8863-779F-A443-612A4DB3C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78371-1994-A12C-D744-8C926739A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29C57374-ACF2-41C6-BB04-24962DFFE1B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8" r:id="rId2"/>
    <p:sldLayoutId id="214748374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aiandra GD"/>
          <a:ea typeface="隶书" pitchFamily="49" charset="-122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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0000"/>
        <a:buFont typeface="Wingdings 2" panose="05020102010507070707" pitchFamily="18" charset="2"/>
        <a:buChar char="³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7B9B57"/>
        </a:buClr>
        <a:buSzPct val="60000"/>
        <a:buFont typeface="Wingdings 2" panose="05020102010507070707" pitchFamily="18" charset="2"/>
        <a:buChar char="®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B7396"/>
        </a:buClr>
        <a:buSzPct val="45000"/>
        <a:buFont typeface="Wingdings 2" panose="05020102010507070707" pitchFamily="18" charset="2"/>
        <a:buChar char="¯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E89A53"/>
        </a:buClr>
        <a:buFont typeface="Wingdings 2" panose="05020102010507070707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2400" y="609600"/>
            <a:ext cx="6705600" cy="563231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&lt;string&gt;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&lt;map&gt;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err="1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multimap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	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en-US" altLang="zh-CN" sz="12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dict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是用于存放字典的</a:t>
            </a:r>
            <a:r>
              <a:rPr lang="en-US" altLang="zh-CN" sz="12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multimap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3050">
              <a:defRPr/>
            </a:pPr>
            <a:r>
              <a:rPr lang="en-US" altLang="zh-CN" sz="1200" dirty="0" err="1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multimap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iterator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p;</a:t>
            </a:r>
          </a:p>
          <a:p>
            <a:pPr marL="27305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= {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polt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gorge"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"cliff"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"berg"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"precipice"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"tract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};</a:t>
            </a:r>
          </a:p>
          <a:p>
            <a:pPr marL="27305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che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[] = {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小块地，地点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峡谷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悬崖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冰山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悬崖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一片，区域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};</a:t>
            </a:r>
          </a:p>
          <a:p>
            <a:pPr marL="273050">
              <a:defRPr/>
            </a:pP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 = 0; i &lt; 6; i++)</a:t>
            </a:r>
          </a:p>
          <a:p>
            <a:pPr marL="53498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dict.insert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make_pair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],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che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]));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dict.insert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make_pair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"tract"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地带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)));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dict.insert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make_pair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"precipice"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危险的处境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)));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dict.insert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make_pair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"day"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一天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));</a:t>
            </a:r>
          </a:p>
          <a:p>
            <a:pPr marL="273050">
              <a:defRPr/>
            </a:pP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en-US" altLang="zh-CN" sz="1200" dirty="0" err="1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dict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["precipice"]="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悬崖，峭壁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";        		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错误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305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(p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dict.begin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 p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dict.end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53498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-&gt;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first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"\t"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-&gt;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second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 smtClean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27305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word;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请输入要查找的英文单词：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word;</a:t>
            </a:r>
          </a:p>
          <a:p>
            <a:pPr marL="27305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(p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dict.begin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 p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dict.end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53498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-&gt;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first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word)</a:t>
            </a:r>
          </a:p>
          <a:p>
            <a:pPr marL="8080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-&gt;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second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请输入要查找的中文单词：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30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word;</a:t>
            </a:r>
          </a:p>
          <a:p>
            <a:pPr marL="27305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(p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dict.begin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 p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dict.end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();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534988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-&gt;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second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word)</a:t>
            </a:r>
          </a:p>
          <a:p>
            <a:pPr marL="808038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p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-&gt;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first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27305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en-US" altLang="zh-CN" sz="1200" dirty="0" smtClean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029200" y="3962400"/>
            <a:ext cx="3048000" cy="286232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berg 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冰山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cliff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悬崖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 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一天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gorge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峡谷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polt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小块地，地点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precipice    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悬崖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precipice    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危险的处境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tract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一片，区域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tract   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请输入要查找的英文单词：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一片，区域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地带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请输入要查找的中文单词：悬崖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cliff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precipice</a:t>
            </a:r>
          </a:p>
        </p:txBody>
      </p:sp>
      <p:sp>
        <p:nvSpPr>
          <p:cNvPr id="6" name="矩形 5"/>
          <p:cNvSpPr/>
          <p:nvPr/>
        </p:nvSpPr>
        <p:spPr>
          <a:xfrm>
            <a:off x="304800" y="152400"/>
            <a:ext cx="21739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+mn-ea"/>
                <a:ea typeface="+mn-ea"/>
              </a:rPr>
              <a:t>容器</a:t>
            </a:r>
            <a:r>
              <a:rPr lang="en-US" altLang="zh-CN" dirty="0" err="1" smtClean="0">
                <a:latin typeface="+mn-ea"/>
                <a:ea typeface="+mn-ea"/>
              </a:rPr>
              <a:t>multimap</a:t>
            </a:r>
            <a:r>
              <a:rPr lang="zh-CN" altLang="en-US" dirty="0" smtClean="0">
                <a:latin typeface="+mn-ea"/>
                <a:ea typeface="+mn-ea"/>
              </a:rPr>
              <a:t>的使用：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57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4213" y="1196975"/>
            <a:ext cx="7772400" cy="4683125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zh-CN" altLang="en-US" dirty="0" smtClean="0"/>
              <a:t>容器</a:t>
            </a:r>
            <a:r>
              <a:rPr lang="en-US" altLang="zh-CN" dirty="0" smtClean="0"/>
              <a:t>string</a:t>
            </a:r>
            <a:endParaRPr lang="en-US" altLang="zh-CN" dirty="0" smtClean="0"/>
          </a:p>
          <a:p>
            <a:pPr algn="just" eaLnBrk="1" hangingPunct="1"/>
            <a:r>
              <a:rPr lang="en-US" altLang="zh-CN" sz="2400" dirty="0" smtClean="0"/>
              <a:t>string</a:t>
            </a:r>
            <a:r>
              <a:rPr lang="zh-CN" altLang="en-US" sz="2400" dirty="0" smtClean="0"/>
              <a:t>可以被看成是以字符（</a:t>
            </a:r>
            <a:r>
              <a:rPr lang="en-US" altLang="zh-CN" sz="2400" dirty="0" smtClean="0"/>
              <a:t>characters</a:t>
            </a:r>
            <a:r>
              <a:rPr lang="zh-CN" altLang="en-US" sz="2400" dirty="0" smtClean="0"/>
              <a:t>）为元素的一种容器，字符构成序列（字符串），有时需要在字符序列中进行遍历，标准</a:t>
            </a:r>
            <a:r>
              <a:rPr lang="en-US" altLang="zh-CN" sz="2400" dirty="0" smtClean="0"/>
              <a:t>string</a:t>
            </a:r>
            <a:r>
              <a:rPr lang="zh-CN" altLang="en-US" sz="2400" dirty="0" smtClean="0"/>
              <a:t>类提供了</a:t>
            </a:r>
            <a:r>
              <a:rPr lang="en-US" altLang="zh-CN" sz="2400" dirty="0" smtClean="0"/>
              <a:t>STL</a:t>
            </a:r>
            <a:r>
              <a:rPr lang="zh-CN" altLang="en-US" sz="2400" dirty="0" smtClean="0"/>
              <a:t>容器接口，具有成员函数</a:t>
            </a:r>
            <a:r>
              <a:rPr lang="en-US" altLang="zh-CN" sz="2400" dirty="0" smtClean="0"/>
              <a:t>begin()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end()</a:t>
            </a:r>
            <a:r>
              <a:rPr lang="zh-CN" altLang="en-US" sz="2400" dirty="0" smtClean="0"/>
              <a:t>，迭代器可以用这两个函数进行定位。</a:t>
            </a:r>
          </a:p>
          <a:p>
            <a:pPr algn="just" eaLnBrk="1" hangingPunct="1"/>
            <a:r>
              <a:rPr lang="en-US" altLang="zh-CN" sz="2400" dirty="0" smtClean="0">
                <a:solidFill>
                  <a:schemeClr val="accent2"/>
                </a:solidFill>
              </a:rPr>
              <a:t>STL</a:t>
            </a:r>
            <a:r>
              <a:rPr lang="zh-CN" altLang="en-US" sz="2400" dirty="0" smtClean="0">
                <a:solidFill>
                  <a:schemeClr val="accent2"/>
                </a:solidFill>
              </a:rPr>
              <a:t>中的</a:t>
            </a:r>
            <a:r>
              <a:rPr lang="en-US" altLang="zh-CN" sz="2400" dirty="0" smtClean="0">
                <a:solidFill>
                  <a:schemeClr val="accent2"/>
                </a:solidFill>
              </a:rPr>
              <a:t>string</a:t>
            </a:r>
            <a:r>
              <a:rPr lang="zh-CN" altLang="en-US" sz="2400" dirty="0" smtClean="0">
                <a:solidFill>
                  <a:schemeClr val="accent2"/>
                </a:solidFill>
              </a:rPr>
              <a:t>是一种特殊类型的容器，原因是它除了可作为字符类型的容器外，更多的是作为一种数据类型</a:t>
            </a:r>
            <a:r>
              <a:rPr lang="en-US" altLang="zh-CN" sz="2400" dirty="0" smtClean="0">
                <a:solidFill>
                  <a:schemeClr val="accent2"/>
                </a:solidFill>
                <a:latin typeface="Arial" panose="020B0604020202020204" pitchFamily="34" charset="0"/>
              </a:rPr>
              <a:t>——</a:t>
            </a:r>
            <a:r>
              <a:rPr lang="zh-CN" altLang="en-US" sz="2400" dirty="0" smtClean="0">
                <a:solidFill>
                  <a:schemeClr val="accent2"/>
                </a:solidFill>
              </a:rPr>
              <a:t>字符串，可以像</a:t>
            </a:r>
            <a:r>
              <a:rPr lang="en-US" altLang="zh-CN" sz="2400" dirty="0" err="1" smtClean="0">
                <a:solidFill>
                  <a:schemeClr val="accent2"/>
                </a:solidFill>
              </a:rPr>
              <a:t>int</a:t>
            </a:r>
            <a:r>
              <a:rPr lang="zh-CN" altLang="en-US" sz="2400" dirty="0" smtClean="0">
                <a:solidFill>
                  <a:schemeClr val="accent2"/>
                </a:solidFill>
              </a:rPr>
              <a:t>、</a:t>
            </a:r>
            <a:r>
              <a:rPr lang="en-US" altLang="zh-CN" sz="2400" dirty="0" smtClean="0">
                <a:solidFill>
                  <a:schemeClr val="accent2"/>
                </a:solidFill>
              </a:rPr>
              <a:t>double</a:t>
            </a:r>
            <a:r>
              <a:rPr lang="zh-CN" altLang="en-US" sz="2400" dirty="0" smtClean="0">
                <a:solidFill>
                  <a:schemeClr val="accent2"/>
                </a:solidFill>
              </a:rPr>
              <a:t>之类的基本数据类型那样定义</a:t>
            </a:r>
            <a:r>
              <a:rPr lang="en-US" altLang="zh-CN" sz="2400" dirty="0" smtClean="0">
                <a:solidFill>
                  <a:schemeClr val="accent2"/>
                </a:solidFill>
              </a:rPr>
              <a:t>string</a:t>
            </a:r>
            <a:r>
              <a:rPr lang="zh-CN" altLang="en-US" sz="2400" dirty="0" smtClean="0">
                <a:solidFill>
                  <a:schemeClr val="accent2"/>
                </a:solidFill>
              </a:rPr>
              <a:t>类型的数据，并进行各种运算。 </a:t>
            </a:r>
            <a:endParaRPr lang="en-US" altLang="zh-CN" sz="2400" dirty="0" smtClean="0">
              <a:solidFill>
                <a:schemeClr val="accent2"/>
              </a:solidFill>
            </a:endParaRPr>
          </a:p>
          <a:p>
            <a:pPr eaLnBrk="1" hangingPunct="1"/>
            <a:endParaRPr lang="zh-CN" altLang="en-US" sz="2400" dirty="0" smtClean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06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zh-CN" sz="3200" dirty="0" smtClean="0"/>
              <a:t>     string</a:t>
            </a:r>
            <a:r>
              <a:rPr lang="zh-CN" altLang="en-US" sz="3200" dirty="0" smtClean="0"/>
              <a:t>的重载运算符</a:t>
            </a:r>
          </a:p>
        </p:txBody>
      </p:sp>
      <p:graphicFrame>
        <p:nvGraphicFramePr>
          <p:cNvPr id="79046" name="Group 1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037002"/>
              </p:ext>
            </p:extLst>
          </p:nvPr>
        </p:nvGraphicFramePr>
        <p:xfrm>
          <a:off x="76200" y="609600"/>
          <a:ext cx="9067800" cy="5317405"/>
        </p:xfrm>
        <a:graphic>
          <a:graphicData uri="http://schemas.openxmlformats.org/drawingml/2006/table">
            <a:tbl>
              <a:tblPr/>
              <a:tblGrid>
                <a:gridCol w="110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82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运算符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举例（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是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string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类型）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说    明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315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s2=s1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赋值运算，将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赋值给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59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&gt;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s1&gt;s2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大于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，结果为真，否则为假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193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==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s1==s2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等于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，结果为真，否则为假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2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&gt;=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s1&gt;=s2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大于或等于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，结果为真，否则为假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59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&lt;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s1&lt;s2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小于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，结果为真，否则为假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82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&lt;=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s1&lt;=s2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小于或等于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，结果为真，否则为假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6670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!=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s1!=s2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若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不等于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，结果为真，否则为假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8193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+=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s1+=s2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将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连接在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后面，并赋值给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28"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[]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s[1]='a'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eaLnBrk="0" hangingPunct="0">
                        <a:spcBef>
                          <a:spcPts val="575"/>
                        </a:spcBef>
                        <a:buClr>
                          <a:schemeClr val="accent1"/>
                        </a:buClr>
                        <a:buSzPct val="85000"/>
                        <a:buFont typeface="Wingdings 2" pitchFamily="18" charset="2"/>
                        <a:defRPr sz="22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1pPr>
                      <a:lvl2pPr marL="742950" indent="-285750" eaLnBrk="0" hangingPunct="0">
                        <a:spcBef>
                          <a:spcPts val="375"/>
                        </a:spcBef>
                        <a:buClr>
                          <a:schemeClr val="accent2"/>
                        </a:buClr>
                        <a:buSzPct val="85000"/>
                        <a:buFont typeface="Wingdings 2" pitchFamily="18" charset="2"/>
                        <a:defRPr sz="2000"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2pPr>
                      <a:lvl3pPr marL="1143000" indent="-228600" eaLnBrk="0" hangingPunct="0">
                        <a:spcBef>
                          <a:spcPts val="375"/>
                        </a:spcBef>
                        <a:buClr>
                          <a:srgbClr val="E6B1AB"/>
                        </a:buClr>
                        <a:buSzPct val="85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3pPr>
                      <a:lvl4pPr marL="16002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buSzPct val="80000"/>
                        <a:buFont typeface="Wingdings 2" pitchFamily="18" charset="2"/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4pPr>
                      <a:lvl5pPr marL="2057400" indent="-228600" eaLnBrk="0" hangingPunct="0">
                        <a:spcBef>
                          <a:spcPts val="375"/>
                        </a:spcBef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ts val="375"/>
                        </a:spcBef>
                        <a:spcAft>
                          <a:spcPct val="0"/>
                        </a:spcAft>
                        <a:buClr>
                          <a:srgbClr val="A28E6A"/>
                        </a:buClr>
                        <a:defRPr>
                          <a:solidFill>
                            <a:schemeClr val="tx1"/>
                          </a:solidFill>
                          <a:latin typeface="Perpetua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string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可用数组方式访问元素，起始下标为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66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6200" y="152400"/>
            <a:ext cx="5616575" cy="544764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&lt;string&gt;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 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smtClean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smtClean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 smtClean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s1 =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中华人民共和国成立了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s2 =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中国人民从此站起来了！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s3, s4, s5;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s1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，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s2;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n = s1.find_first_of(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人民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(n != 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string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::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npos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6286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人民在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s1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中的位置：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n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else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6286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在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s1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中没有该子串！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s4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s1.substr(4, 10);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"s1=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s1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"s2=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s2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"s3=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s3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"s4=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s4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 smtClean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if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(s1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s2)</a:t>
            </a:r>
          </a:p>
          <a:p>
            <a:pPr marL="6286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"s1&gt;s2= true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else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6286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"s1&gt;s2= false"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s3.replace(s3.find(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从此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 4,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从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1949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年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"s3 after replace=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s3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s3.insert(s3.find(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站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),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"10</a:t>
            </a:r>
            <a:r>
              <a:rPr lang="zh-CN" altLang="en-US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月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"s3 after insert= 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s3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新宋体"/>
                <a:ea typeface="新宋体"/>
              </a:rPr>
              <a:t>}</a:t>
            </a:r>
            <a:endParaRPr lang="zh-CN" altLang="en-US" sz="1200" dirty="0">
              <a:ea typeface="宋体" charset="-122"/>
            </a:endParaRPr>
          </a:p>
          <a:p>
            <a:pPr marL="355600">
              <a:defRPr/>
            </a:pP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883350" y="4953000"/>
            <a:ext cx="6067425" cy="18161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人民在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s1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中的位置：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s1= 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中华人民共和国成立了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s2= 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中国人民从此站起来了！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s3= 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中华人民共和国成立了，中国人民从此站起来了！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s4= 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人民共和国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s1&gt;s2= true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s3 after replace= 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中华人民共和国成立了，中国人民从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1949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年站起来了！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s3 after insert=  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中华人民共和国成立了，中国人民从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1949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年</a:t>
            </a:r>
            <a:r>
              <a:rPr lang="en-US" altLang="zh-CN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</a:rPr>
              <a:t>月站起来了！</a:t>
            </a:r>
          </a:p>
        </p:txBody>
      </p:sp>
    </p:spTree>
    <p:extLst>
      <p:ext uri="{BB962C8B-B14F-4D97-AF65-F5344CB8AC3E}">
        <p14:creationId xmlns:p14="http://schemas.microsoft.com/office/powerpoint/2010/main" val="262439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685800"/>
            <a:ext cx="83820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算法</a:t>
            </a:r>
            <a:r>
              <a:rPr lang="en-US" altLang="zh-CN" sz="2800" dirty="0" smtClean="0"/>
              <a:t>merge</a:t>
            </a:r>
            <a:endParaRPr lang="en-US" altLang="zh-CN" sz="2800" dirty="0" smtClean="0"/>
          </a:p>
          <a:p>
            <a:pPr lvl="1" eaLnBrk="1" hangingPunct="1">
              <a:buFontTx/>
              <a:buNone/>
            </a:pPr>
            <a:r>
              <a:rPr lang="en-US" altLang="zh-CN" dirty="0" smtClean="0"/>
              <a:t>merge</a:t>
            </a:r>
            <a:r>
              <a:rPr lang="zh-CN" altLang="en-US" dirty="0" smtClean="0"/>
              <a:t>可对两容器进行合并，将结果存放在第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个容器中，</a:t>
            </a:r>
          </a:p>
          <a:p>
            <a:pPr eaLnBrk="1" hangingPunct="1"/>
            <a:r>
              <a:rPr lang="zh-CN" altLang="en-US" sz="2800" dirty="0" smtClean="0"/>
              <a:t>其用法如下：</a:t>
            </a:r>
          </a:p>
          <a:p>
            <a:pPr lvl="1" eaLnBrk="1" hangingPunct="1">
              <a:buFontTx/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merge(beg1,end1,beg2,end2,dest)</a:t>
            </a:r>
          </a:p>
          <a:p>
            <a:pPr eaLnBrk="1" hangingPunct="1"/>
            <a:endParaRPr lang="en-US" altLang="zh-CN" sz="2800" dirty="0" smtClean="0"/>
          </a:p>
          <a:p>
            <a:pPr lvl="1" eaLnBrk="1" hangingPunct="1"/>
            <a:r>
              <a:rPr lang="en-US" altLang="zh-CN" dirty="0" smtClean="0"/>
              <a:t>merge</a:t>
            </a:r>
            <a:r>
              <a:rPr lang="zh-CN" altLang="en-US" dirty="0" smtClean="0"/>
              <a:t>将</a:t>
            </a:r>
            <a:r>
              <a:rPr lang="en-US" altLang="zh-CN" dirty="0" smtClean="0"/>
              <a:t>[beg1, end1)</a:t>
            </a:r>
            <a:r>
              <a:rPr lang="zh-CN" altLang="en-US" dirty="0" smtClean="0"/>
              <a:t>与</a:t>
            </a:r>
            <a:r>
              <a:rPr lang="en-US" altLang="zh-CN" dirty="0" smtClean="0"/>
              <a:t>[beg2, end2)</a:t>
            </a:r>
            <a:r>
              <a:rPr lang="zh-CN" altLang="en-US" dirty="0" smtClean="0"/>
              <a:t>区间合并，把结果存放在</a:t>
            </a:r>
            <a:r>
              <a:rPr lang="en-US" altLang="zh-CN" dirty="0" err="1" smtClean="0"/>
              <a:t>dest</a:t>
            </a:r>
            <a:r>
              <a:rPr lang="zh-CN" altLang="en-US" dirty="0" smtClean="0"/>
              <a:t>容器中。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合并的两个容器中的元素要求是有序的，合并的结果也是有序的。 </a:t>
            </a:r>
          </a:p>
        </p:txBody>
      </p:sp>
    </p:spTree>
    <p:extLst>
      <p:ext uri="{BB962C8B-B14F-4D97-AF65-F5344CB8AC3E}">
        <p14:creationId xmlns:p14="http://schemas.microsoft.com/office/powerpoint/2010/main" val="411902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37331" y="304800"/>
            <a:ext cx="8821737" cy="2873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600" dirty="0" smtClean="0"/>
              <a:t>merge</a:t>
            </a:r>
            <a:r>
              <a:rPr lang="zh-CN" altLang="en-US" sz="1600" dirty="0" smtClean="0"/>
              <a:t>算法与</a:t>
            </a:r>
            <a:r>
              <a:rPr lang="en-US" altLang="zh-CN" sz="1600" dirty="0" smtClean="0"/>
              <a:t>list</a:t>
            </a:r>
            <a:r>
              <a:rPr lang="zh-CN" altLang="en-US" sz="1600" dirty="0" smtClean="0"/>
              <a:t>的</a:t>
            </a:r>
            <a:r>
              <a:rPr lang="en-US" altLang="zh-CN" sz="1600" dirty="0" smtClean="0"/>
              <a:t>merge</a:t>
            </a:r>
            <a:r>
              <a:rPr lang="zh-CN" altLang="en-US" sz="1600" dirty="0" smtClean="0"/>
              <a:t>成员函数的应用。</a:t>
            </a:r>
          </a:p>
        </p:txBody>
      </p:sp>
      <p:sp>
        <p:nvSpPr>
          <p:cNvPr id="3" name="矩形 2"/>
          <p:cNvSpPr/>
          <p:nvPr/>
        </p:nvSpPr>
        <p:spPr>
          <a:xfrm>
            <a:off x="304800" y="692150"/>
            <a:ext cx="6934200" cy="452431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&lt;list&gt;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&lt;algorithm&gt;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 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200" dirty="0" smtClean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 smtClean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 smtClean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a1[] = { 10,20,30,40,50,60,70 };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a2[] = { 40,50,60 };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a[10];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merge(a1, a1 + 7, a2, a2 + 3, a);	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将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a1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、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a2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合并，结果放在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a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数组中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355600">
              <a:defRPr/>
            </a:pP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 = 0; i &lt; 10; i++)</a:t>
            </a:r>
          </a:p>
          <a:p>
            <a:pPr marL="6286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L1, L2;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list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2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iterator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355600">
              <a:defRPr/>
            </a:pP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 = 0; i &lt; 7; i++)</a:t>
            </a:r>
          </a:p>
          <a:p>
            <a:pPr marL="62865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L1.push_back(a1[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]); 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j = 0; j &lt; 3;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j++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62865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L2.push_back(a2[j]); 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L1.merge(L2);			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用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list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的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merge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成员合并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L1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、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L2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L1.begin();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L1.end();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 </a:t>
            </a:r>
          </a:p>
          <a:p>
            <a:pPr marL="62865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*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  <a:endParaRPr lang="zh-CN" altLang="en-US" sz="1200" dirty="0">
              <a:latin typeface="Consolas" panose="020B0609020204030204" pitchFamily="49" charset="0"/>
              <a:ea typeface="宋体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4648200" y="4868802"/>
            <a:ext cx="3768725" cy="7080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10 20 30 40 40 50 50 60 60 70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10 20 30 40 40 50 50 60 60 70</a:t>
            </a:r>
          </a:p>
        </p:txBody>
      </p:sp>
    </p:spTree>
    <p:extLst>
      <p:ext uri="{BB962C8B-B14F-4D97-AF65-F5344CB8AC3E}">
        <p14:creationId xmlns:p14="http://schemas.microsoft.com/office/powerpoint/2010/main" val="390598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9906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 smtClean="0"/>
              <a:t>算法  </a:t>
            </a:r>
            <a:r>
              <a:rPr lang="en-US" altLang="zh-CN" dirty="0" smtClean="0"/>
              <a:t>sort</a:t>
            </a:r>
            <a:endParaRPr lang="en-US" altLang="zh-CN" dirty="0" smtClean="0"/>
          </a:p>
          <a:p>
            <a:pPr lvl="1" eaLnBrk="1" hangingPunct="1">
              <a:buFontTx/>
              <a:buNone/>
            </a:pPr>
            <a:r>
              <a:rPr lang="en-US" altLang="zh-CN" dirty="0" smtClean="0"/>
              <a:t>sort</a:t>
            </a:r>
            <a:r>
              <a:rPr lang="zh-CN" altLang="en-US" dirty="0" smtClean="0"/>
              <a:t>可对指定容器区间内的元素进行排序，默认的排序方式是从小到大</a:t>
            </a:r>
          </a:p>
          <a:p>
            <a:pPr eaLnBrk="1" hangingPunct="1"/>
            <a:r>
              <a:rPr lang="zh-CN" altLang="en-US" dirty="0" smtClean="0"/>
              <a:t>其用法如下：</a:t>
            </a:r>
          </a:p>
          <a:p>
            <a:pPr lvl="2" eaLnBrk="1" hangingPunct="1">
              <a:buFontTx/>
              <a:buNone/>
            </a:pPr>
            <a:r>
              <a:rPr lang="en-US" altLang="zh-CN" dirty="0" smtClean="0"/>
              <a:t>sort(</a:t>
            </a:r>
            <a:r>
              <a:rPr lang="en-US" altLang="zh-CN" dirty="0" err="1" smtClean="0"/>
              <a:t>beg,end</a:t>
            </a:r>
            <a:r>
              <a:rPr lang="en-US" altLang="zh-CN" dirty="0" smtClean="0"/>
              <a:t>)</a:t>
            </a:r>
          </a:p>
          <a:p>
            <a:pPr lvl="2" eaLnBrk="1" hangingPunct="1">
              <a:buFontTx/>
              <a:buNone/>
            </a:pPr>
            <a:endParaRPr lang="en-US" altLang="zh-CN" dirty="0" smtClean="0"/>
          </a:p>
          <a:p>
            <a:pPr lvl="2" eaLnBrk="1" hangingPunct="1">
              <a:buFontTx/>
              <a:buNone/>
            </a:pPr>
            <a:r>
              <a:rPr lang="en-US" altLang="zh-CN" dirty="0" smtClean="0"/>
              <a:t>[beg, end)</a:t>
            </a:r>
            <a:r>
              <a:rPr lang="zh-CN" altLang="en-US" dirty="0" smtClean="0"/>
              <a:t>是要排序的区间，</a:t>
            </a:r>
            <a:r>
              <a:rPr lang="en-US" altLang="zh-CN" dirty="0" smtClean="0"/>
              <a:t>sort</a:t>
            </a:r>
            <a:r>
              <a:rPr lang="zh-CN" altLang="en-US" dirty="0" smtClean="0"/>
              <a:t>将按从小到大的顺序对该区间的元素进行排序。</a:t>
            </a:r>
          </a:p>
        </p:txBody>
      </p:sp>
    </p:spTree>
    <p:extLst>
      <p:ext uri="{BB962C8B-B14F-4D97-AF65-F5344CB8AC3E}">
        <p14:creationId xmlns:p14="http://schemas.microsoft.com/office/powerpoint/2010/main" val="2775183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4025" y="434717"/>
            <a:ext cx="8351838" cy="2159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1800" b="1" dirty="0" smtClean="0"/>
              <a:t> </a:t>
            </a:r>
            <a:r>
              <a:rPr lang="zh-CN" altLang="en-US" sz="1800" b="1" dirty="0" smtClean="0"/>
              <a:t>利用</a:t>
            </a:r>
            <a:r>
              <a:rPr lang="en-US" altLang="zh-CN" sz="1800" b="1" dirty="0" smtClean="0"/>
              <a:t>sort</a:t>
            </a:r>
            <a:r>
              <a:rPr lang="zh-CN" altLang="en-US" sz="1800" b="1" dirty="0" smtClean="0"/>
              <a:t>算法对数组和向量进行排序。</a:t>
            </a:r>
          </a:p>
        </p:txBody>
      </p:sp>
      <p:sp>
        <p:nvSpPr>
          <p:cNvPr id="2" name="矩形 1"/>
          <p:cNvSpPr/>
          <p:nvPr/>
        </p:nvSpPr>
        <p:spPr>
          <a:xfrm>
            <a:off x="381000" y="990600"/>
            <a:ext cx="8424863" cy="483209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iostream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&lt;vector&gt;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808080"/>
                </a:solidFill>
                <a:latin typeface="Consolas" panose="020B0609020204030204" pitchFamily="49" charset="0"/>
                <a:ea typeface="新宋体"/>
              </a:rPr>
              <a:t>#include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&lt;algorithm&gt;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using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namespace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std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main() 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{  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a1[] = { 10,-20,30,4,50,13,7 };</a:t>
            </a:r>
          </a:p>
          <a:p>
            <a:pPr marL="355600">
              <a:defRPr/>
            </a:pP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a2[] = { -2,0,30,12,6,7,-9,56,32,78 };</a:t>
            </a:r>
          </a:p>
          <a:p>
            <a:pPr marL="355600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sort(a1, a1 + 7);                         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排序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a1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数组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355600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"a1[]: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nn-NO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 = 0; i &lt; 7; i++)</a:t>
            </a:r>
          </a:p>
          <a:p>
            <a:pPr marL="627063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a1[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endl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 L1;</a:t>
            </a:r>
          </a:p>
          <a:p>
            <a:pPr marL="355600">
              <a:defRPr/>
            </a:pP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vector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&lt;</a:t>
            </a:r>
            <a:r>
              <a:rPr lang="en-US" altLang="zh-CN" sz="1400" dirty="0" err="1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&gt;::</a:t>
            </a:r>
            <a:r>
              <a:rPr lang="en-US" altLang="zh-CN" sz="1400" dirty="0">
                <a:solidFill>
                  <a:srgbClr val="2B91AF"/>
                </a:solidFill>
                <a:latin typeface="Consolas" panose="020B0609020204030204" pitchFamily="49" charset="0"/>
                <a:ea typeface="新宋体"/>
              </a:rPr>
              <a:t>iterator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nn-NO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nn-NO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int</a:t>
            </a:r>
            <a:r>
              <a:rPr lang="nn-NO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i = 0; i &lt; 10; i++)</a:t>
            </a:r>
          </a:p>
          <a:p>
            <a:pPr marL="627063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L1.push_back(a2[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]);</a:t>
            </a:r>
            <a:endParaRPr lang="en-US" altLang="zh-CN" sz="1400" dirty="0">
              <a:solidFill>
                <a:srgbClr val="008000"/>
              </a:solidFill>
              <a:latin typeface="Consolas" panose="020B0609020204030204" pitchFamily="49" charset="0"/>
              <a:ea typeface="新宋体"/>
            </a:endParaRPr>
          </a:p>
          <a:p>
            <a:pPr marL="355600"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sort(L1.begin(), L1.end());		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排序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L1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355600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"L1: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</a:t>
            </a:r>
          </a:p>
          <a:p>
            <a:pPr marL="355600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L1.begin();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!=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L1.end();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++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)</a:t>
            </a:r>
          </a:p>
          <a:p>
            <a:pPr marL="627063">
              <a:defRPr/>
            </a:pP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*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pos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008080"/>
                </a:solidFill>
                <a:latin typeface="Consolas" panose="020B0609020204030204" pitchFamily="49" charset="0"/>
                <a:ea typeface="新宋体"/>
              </a:rPr>
              <a:t>&lt;&lt;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  <a:ea typeface="新宋体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;                     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//</a:t>
            </a:r>
            <a:r>
              <a:rPr lang="zh-CN" altLang="en-US" sz="1400" dirty="0" smtClean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输出</a:t>
            </a:r>
            <a:r>
              <a:rPr lang="en-US" altLang="zh-CN" sz="1400" dirty="0" smtClean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vector L1</a:t>
            </a:r>
            <a:r>
              <a:rPr lang="zh-CN" altLang="en-US" sz="1400" dirty="0" smtClean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中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新宋体"/>
              </a:rPr>
              <a:t>的值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  <a:ea typeface="新宋体"/>
            </a:endParaRPr>
          </a:p>
          <a:p>
            <a:pPr marL="355600">
              <a:defRPr/>
            </a:pP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ea typeface="新宋体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 0;</a:t>
            </a:r>
          </a:p>
          <a:p>
            <a:pPr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新宋体"/>
              </a:rPr>
              <a:t>}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029200" y="5562600"/>
            <a:ext cx="3727450" cy="7080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>
                <a:solidFill>
                  <a:schemeClr val="bg1"/>
                </a:solidFill>
                <a:latin typeface="Times New Roman" panose="02020603050405020304" pitchFamily="18" charset="0"/>
              </a:rPr>
              <a:t>a1[]: -20 4 7 10 13 30 50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sz="2000">
                <a:solidFill>
                  <a:schemeClr val="bg1"/>
                </a:solidFill>
                <a:latin typeface="Times New Roman" panose="02020603050405020304" pitchFamily="18" charset="0"/>
              </a:rPr>
              <a:t>L1: -9 -2 0 6 7 12 30 32 56 78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84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14345</TotalTime>
  <Words>993</Words>
  <Application>Microsoft Office PowerPoint</Application>
  <PresentationFormat>全屏显示(4:3)</PresentationFormat>
  <Paragraphs>181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华文楷体</vt:lpstr>
      <vt:lpstr>隶书</vt:lpstr>
      <vt:lpstr>宋体</vt:lpstr>
      <vt:lpstr>新宋体</vt:lpstr>
      <vt:lpstr>Arial</vt:lpstr>
      <vt:lpstr>Calibri</vt:lpstr>
      <vt:lpstr>Cambria</vt:lpstr>
      <vt:lpstr>Consolas</vt:lpstr>
      <vt:lpstr>Maiandra GD</vt:lpstr>
      <vt:lpstr>Tahoma</vt:lpstr>
      <vt:lpstr>Times New Roman</vt:lpstr>
      <vt:lpstr>Wingdings 2</vt:lpstr>
      <vt:lpstr>龙腾四海</vt:lpstr>
      <vt:lpstr>PowerPoint 演示文稿</vt:lpstr>
      <vt:lpstr>PowerPoint 演示文稿</vt:lpstr>
      <vt:lpstr>     string的重载运算符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sjl</dc:creator>
  <cp:lastModifiedBy>li min</cp:lastModifiedBy>
  <cp:revision>288</cp:revision>
  <cp:lastPrinted>1601-01-01T00:00:00Z</cp:lastPrinted>
  <dcterms:created xsi:type="dcterms:W3CDTF">1601-01-01T00:00:00Z</dcterms:created>
  <dcterms:modified xsi:type="dcterms:W3CDTF">2024-05-29T05:59:04Z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