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77"/>
  </p:notesMasterIdLst>
  <p:sldIdLst>
    <p:sldId id="488" r:id="rId2"/>
    <p:sldId id="489" r:id="rId3"/>
    <p:sldId id="490" r:id="rId4"/>
    <p:sldId id="491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500" r:id="rId13"/>
    <p:sldId id="501" r:id="rId14"/>
    <p:sldId id="502" r:id="rId15"/>
    <p:sldId id="503" r:id="rId16"/>
    <p:sldId id="504" r:id="rId17"/>
    <p:sldId id="505" r:id="rId18"/>
    <p:sldId id="506" r:id="rId19"/>
    <p:sldId id="507" r:id="rId20"/>
    <p:sldId id="508" r:id="rId21"/>
    <p:sldId id="514" r:id="rId22"/>
    <p:sldId id="515" r:id="rId23"/>
    <p:sldId id="516" r:id="rId24"/>
    <p:sldId id="517" r:id="rId25"/>
    <p:sldId id="518" r:id="rId26"/>
    <p:sldId id="519" r:id="rId27"/>
    <p:sldId id="520" r:id="rId28"/>
    <p:sldId id="521" r:id="rId29"/>
    <p:sldId id="522" r:id="rId30"/>
    <p:sldId id="523" r:id="rId31"/>
    <p:sldId id="524" r:id="rId32"/>
    <p:sldId id="525" r:id="rId33"/>
    <p:sldId id="526" r:id="rId34"/>
    <p:sldId id="527" r:id="rId35"/>
    <p:sldId id="528" r:id="rId36"/>
    <p:sldId id="529" r:id="rId37"/>
    <p:sldId id="530" r:id="rId38"/>
    <p:sldId id="531" r:id="rId39"/>
    <p:sldId id="532" r:id="rId40"/>
    <p:sldId id="533" r:id="rId41"/>
    <p:sldId id="534" r:id="rId42"/>
    <p:sldId id="535" r:id="rId43"/>
    <p:sldId id="536" r:id="rId44"/>
    <p:sldId id="537" r:id="rId45"/>
    <p:sldId id="538" r:id="rId46"/>
    <p:sldId id="539" r:id="rId47"/>
    <p:sldId id="540" r:id="rId48"/>
    <p:sldId id="541" r:id="rId49"/>
    <p:sldId id="542" r:id="rId50"/>
    <p:sldId id="543" r:id="rId51"/>
    <p:sldId id="544" r:id="rId52"/>
    <p:sldId id="545" r:id="rId53"/>
    <p:sldId id="546" r:id="rId54"/>
    <p:sldId id="547" r:id="rId55"/>
    <p:sldId id="548" r:id="rId56"/>
    <p:sldId id="549" r:id="rId57"/>
    <p:sldId id="550" r:id="rId58"/>
    <p:sldId id="551" r:id="rId59"/>
    <p:sldId id="552" r:id="rId60"/>
    <p:sldId id="553" r:id="rId61"/>
    <p:sldId id="554" r:id="rId62"/>
    <p:sldId id="555" r:id="rId63"/>
    <p:sldId id="556" r:id="rId64"/>
    <p:sldId id="557" r:id="rId65"/>
    <p:sldId id="558" r:id="rId66"/>
    <p:sldId id="559" r:id="rId67"/>
    <p:sldId id="560" r:id="rId68"/>
    <p:sldId id="561" r:id="rId69"/>
    <p:sldId id="562" r:id="rId70"/>
    <p:sldId id="563" r:id="rId71"/>
    <p:sldId id="564" r:id="rId72"/>
    <p:sldId id="565" r:id="rId73"/>
    <p:sldId id="566" r:id="rId74"/>
    <p:sldId id="567" r:id="rId75"/>
    <p:sldId id="568" r:id="rId7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490" autoAdjust="0"/>
  </p:normalViewPr>
  <p:slideViewPr>
    <p:cSldViewPr>
      <p:cViewPr varScale="1">
        <p:scale>
          <a:sx n="121" d="100"/>
          <a:sy n="121" d="100"/>
        </p:scale>
        <p:origin x="17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275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8D1C927-A4F9-6112-B578-274479452B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D7D4ED-C467-DE4F-7B10-B664B7F7B6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BDEB172-6833-4076-B5A9-E91C9591048A}" type="datetimeFigureOut">
              <a:rPr lang="zh-CN" altLang="en-US"/>
              <a:pPr>
                <a:defRPr/>
              </a:pPr>
              <a:t>2024/5/28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908F3A-AFC2-0FD1-7258-BD3B99862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87BDB99-AFEF-C79B-08F3-09D0581A5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AD7CF-4116-868A-0BB3-9E2F716A4D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20FB42-6EB1-841A-9E19-3709F9B00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3F94B9-0302-4646-91D1-8D25495BDCF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1E0D79F-4DB2-4E9E-BA05-167C5411AD85}" type="slidenum">
              <a:rPr lang="zh-CN" altLang="en-US" sz="1200" smtClean="0"/>
              <a:pPr/>
              <a:t>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0562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4546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20882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9646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99252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4963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280001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63CC8B-3B74-41E3-86B4-8D0C752CBCB5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81061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7D392B-1DB9-4631-BF50-5439975A4508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75821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27721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88FF4C-427B-4B29-8E32-9779A925953A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120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58624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387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77682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25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07B24-C194-4F33-AF20-7AD581E26320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448320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55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37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117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304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480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181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FA16BE-5F7F-463D-9B84-C4A7F32F8B2B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854301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9029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058CB3-D8BD-44C9-A5D2-1BD7BF6216B5}" type="slidenum">
              <a:rPr lang="zh-CN" altLang="en-US" smtClean="0"/>
              <a:pPr>
                <a:defRPr/>
              </a:pPr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281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F29B5-86F2-CA6D-FCC8-6CF2DC4A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5E186-E52B-D63F-DAE4-F2A07306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5FFCB-032E-D9D8-D99A-BEFFCDFB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FF345-8D30-4AFF-917C-7650D724AE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243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80F1D-1E8C-6FD1-43D6-D32A2ABA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EC30E-58AD-8ACF-9940-0DC525CD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2595-6C15-5AEC-1E16-7A46D0F5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515DB-B772-4D8C-89CC-577B471E07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54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EE2F8-7638-B0A7-DE63-CE5D52DC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F5CB2-4871-5F89-07BC-2684A415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9BAE3-7514-1770-2AE1-A2FBC982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3D0C1-FC0F-47F6-BAFE-CE643FB117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264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1E758B9-C693-CC18-6DAD-D6E8C5B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8DC94A-F8DD-BDB8-0920-6E151835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1FDA33-B90C-F665-7867-8B73ACEE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58202-66A6-4EC0-A14E-89F58641DF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79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26510EB-E486-F736-2694-A2CA8852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945FAF4-E4A5-5340-2DB4-06ED0EE4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F5B2532-455C-9326-DFF8-51AAB855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35A6D-571E-4157-9C0C-D37FBCB7FA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28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AD87036-2008-13C7-E462-D9821D5A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5CF416A-5A01-E634-487F-1D3C02FD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C7026C-BE82-C990-3AE5-FC436687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47DB2-FDC1-4501-BC7F-F4F3F95DF1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69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EAE9E02-E779-18E5-4A53-CCFB06DD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AF8E14C-5D26-2ADB-14B1-07480271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656D7F-FA9E-92D6-F302-D104FAAE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9E34F-31F4-4B98-99E3-BB78C1848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53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9B74D5C-5AFA-05F1-557C-9B0399A4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0F8D3D6-A36F-F0E8-F549-90595DC1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509AC2F-64BC-F0CA-9A4D-BE63B0AD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EBDC7-7D3D-4FD1-9EFC-4F503A6716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28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FA580D0-DED6-94CC-662D-3B397095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CD8F934-C625-1202-D281-2CB7305D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3D21BBA-B8C4-1BD8-6020-8A29E399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D2FAF-2AA2-4D29-BB9B-69833A5D32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7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005AB-11F7-AB3E-21BA-31D5C46F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4441C-4A0D-011E-339A-C1E6B49A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C85EF-8D34-320D-5EE6-66EBD95E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CECB-4D5A-4C8B-9EE5-9CB434F53A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6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F88D34-EF49-AEB1-0903-109C9EAE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2E228-6BBE-A533-8448-A2B3B966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12238-9753-8004-3966-2F6E8CAE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58DA4-118E-4300-8E2D-E8116506BC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61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3F3F3"/>
            </a:gs>
            <a:gs pos="100000">
              <a:srgbClr val="D2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7">
            <a:extLst>
              <a:ext uri="{FF2B5EF4-FFF2-40B4-BE49-F238E27FC236}">
                <a16:creationId xmlns:a16="http://schemas.microsoft.com/office/drawing/2014/main" id="{99F00930-7114-BD27-C96F-F98EF97DF1CD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12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4914900"/>
            <a:ext cx="24765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138F966-60F5-860F-52FA-EB2FF3C6E48B}"/>
              </a:ext>
            </a:extLst>
          </p:cNvPr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F57286-4334-949A-8A02-64C4B9B7BE5B}"/>
              </a:ext>
            </a:extLst>
          </p:cNvPr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033" name="图片 8">
            <a:extLst>
              <a:ext uri="{FF2B5EF4-FFF2-40B4-BE49-F238E27FC236}">
                <a16:creationId xmlns:a16="http://schemas.microsoft.com/office/drawing/2014/main" id="{C9D0CBD9-35D3-900D-118B-3FF2EA347C7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3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9850"/>
            <a:ext cx="9144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标题占位符 1">
            <a:extLst>
              <a:ext uri="{FF2B5EF4-FFF2-40B4-BE49-F238E27FC236}">
                <a16:creationId xmlns:a16="http://schemas.microsoft.com/office/drawing/2014/main" id="{39C4DE4D-979C-7D4E-2D02-C6763CDD05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文本占位符 2">
            <a:extLst>
              <a:ext uri="{FF2B5EF4-FFF2-40B4-BE49-F238E27FC236}">
                <a16:creationId xmlns:a16="http://schemas.microsoft.com/office/drawing/2014/main" id="{D0D9CA5C-DEBE-7949-D2C4-941DC54476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7BAB1-DCED-3FF4-BA75-5A5295765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A6134-8863-779F-A443-612A4DB3C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78371-1994-A12C-D744-8C926739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9C57374-ACF2-41C6-BB04-24962DFFE1B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8" r:id="rId2"/>
    <p:sldLayoutId id="214748374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副标题 3"/>
          <p:cNvSpPr>
            <a:spLocks noGrp="1"/>
          </p:cNvSpPr>
          <p:nvPr>
            <p:ph type="subTitle" idx="1"/>
          </p:nvPr>
        </p:nvSpPr>
        <p:spPr>
          <a:xfrm>
            <a:off x="762000" y="3200400"/>
            <a:ext cx="6670366" cy="17526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zh-CN" altLang="en-US" dirty="0">
                <a:ea typeface="宋体" panose="02010600030101010101" pitchFamily="2" charset="-122"/>
              </a:rPr>
              <a:t>章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+mj-ea"/>
              </a:rPr>
              <a:t>第</a:t>
            </a:r>
            <a:r>
              <a:rPr lang="en-US" altLang="zh-CN" b="1" dirty="0">
                <a:solidFill>
                  <a:schemeClr val="tx1"/>
                </a:solidFill>
                <a:latin typeface="+mj-ea"/>
              </a:rPr>
              <a:t>7</a:t>
            </a:r>
            <a:r>
              <a:rPr lang="zh-CN" altLang="en-US" b="1" dirty="0">
                <a:solidFill>
                  <a:schemeClr val="tx1"/>
                </a:solidFill>
                <a:latin typeface="+mj-ea"/>
              </a:rPr>
              <a:t>讲 泛型程序设计与</a:t>
            </a:r>
            <a:r>
              <a:rPr altLang="zh-CN" b="1" dirty="0">
                <a:solidFill>
                  <a:schemeClr val="tx1"/>
                </a:solidFill>
                <a:latin typeface="+mj-ea"/>
              </a:rPr>
              <a:t>STL</a:t>
            </a:r>
          </a:p>
        </p:txBody>
      </p:sp>
    </p:spTree>
    <p:extLst>
      <p:ext uri="{BB962C8B-B14F-4D97-AF65-F5344CB8AC3E}">
        <p14:creationId xmlns:p14="http://schemas.microsoft.com/office/powerpoint/2010/main" val="196013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大纲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39652" y="1340768"/>
            <a:ext cx="6408712" cy="4265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rgbClr val="C00000"/>
              </a:buClr>
              <a:buAutoNum type="arabicPeriod"/>
            </a:pPr>
            <a:r>
              <a:rPr lang="zh-CN" altLang="en-US" sz="2800" b="1" dirty="0"/>
              <a:t>泛型程序设计和</a:t>
            </a:r>
            <a:r>
              <a:rPr lang="en-US" altLang="zh-CN" sz="2800" b="1" dirty="0"/>
              <a:t>STL</a:t>
            </a:r>
            <a:r>
              <a:rPr lang="zh-CN" altLang="en-US" sz="2800" b="1" dirty="0"/>
              <a:t>概念</a:t>
            </a:r>
            <a:endParaRPr lang="en-US" altLang="zh-CN" sz="2800" b="1" dirty="0"/>
          </a:p>
          <a:p>
            <a:pPr marL="457200" indent="-457200">
              <a:lnSpc>
                <a:spcPct val="200000"/>
              </a:lnSpc>
              <a:buClr>
                <a:srgbClr val="C00000"/>
              </a:buClr>
              <a:buAutoNum type="arabicPeriod"/>
            </a:pPr>
            <a:r>
              <a:rPr lang="zh-CN" altLang="en-US" sz="2800" b="1" dirty="0"/>
              <a:t>迭代器</a:t>
            </a:r>
            <a:endParaRPr lang="en-US" altLang="zh-CN" sz="2800" b="1" dirty="0"/>
          </a:p>
          <a:p>
            <a:pPr marL="457200" indent="-457200">
              <a:lnSpc>
                <a:spcPct val="200000"/>
              </a:lnSpc>
              <a:buClr>
                <a:srgbClr val="C00000"/>
              </a:buClr>
              <a:buAutoNum type="arabicPeriod"/>
            </a:pPr>
            <a:r>
              <a:rPr lang="zh-CN" altLang="en-US" sz="2800" b="1" dirty="0"/>
              <a:t>容器</a:t>
            </a:r>
            <a:endParaRPr lang="en-US" altLang="zh-CN" sz="2800" b="1" dirty="0"/>
          </a:p>
          <a:p>
            <a:pPr marL="457200" indent="-457200">
              <a:lnSpc>
                <a:spcPct val="200000"/>
              </a:lnSpc>
              <a:buClr>
                <a:srgbClr val="C00000"/>
              </a:buClr>
              <a:buAutoNum type="arabicPeriod"/>
            </a:pPr>
            <a:r>
              <a:rPr lang="zh-CN" altLang="en-US" sz="2800" b="1" dirty="0"/>
              <a:t>函数</a:t>
            </a:r>
            <a:endParaRPr lang="en-US" altLang="zh-CN" sz="2800" b="1" dirty="0"/>
          </a:p>
          <a:p>
            <a:pPr marL="457200" indent="-457200">
              <a:lnSpc>
                <a:spcPct val="200000"/>
              </a:lnSpc>
              <a:buClr>
                <a:srgbClr val="C00000"/>
              </a:buClr>
              <a:buAutoNum type="arabicPeriod"/>
            </a:pPr>
            <a:r>
              <a:rPr lang="zh-CN" altLang="en-US" sz="2800" b="1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403476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07704" y="2780928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 </a:t>
            </a:r>
            <a:r>
              <a:rPr lang="en-US" altLang="zh-CN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数据结构 </a:t>
            </a:r>
            <a:r>
              <a:rPr lang="en-US" altLang="zh-CN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 </a:t>
            </a:r>
            <a:r>
              <a:rPr lang="zh-CN" altLang="en-US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342693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-100623"/>
            <a:ext cx="8686800" cy="1143000"/>
          </a:xfrm>
        </p:spPr>
        <p:txBody>
          <a:bodyPr/>
          <a:lstStyle/>
          <a:p>
            <a:r>
              <a:rPr lang="zh-CN" altLang="en-US" dirty="0"/>
              <a:t>问题：如何在数据结构上增加算法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658892" y="1237016"/>
            <a:ext cx="2389108" cy="667984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数组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array</a:t>
            </a:r>
            <a:endParaRPr lang="en-US" altLang="zh-CN" sz="2400" dirty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zh-CN" altLang="en-US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3191389"/>
            <a:ext cx="2660848" cy="397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zh-CN" altLang="en-US" sz="32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双向链表</a:t>
            </a:r>
            <a:r>
              <a:rPr lang="en-US" altLang="zh-CN" sz="3200" dirty="0">
                <a:solidFill>
                  <a:srgbClr val="0070C0"/>
                </a:solidFill>
                <a:ea typeface="宋体" panose="02010600030101010101" pitchFamily="2" charset="-122"/>
                <a:cs typeface="+mn-cs"/>
              </a:rPr>
              <a:t>list</a:t>
            </a:r>
            <a:endParaRPr lang="zh-CN" altLang="en-US" sz="3200" dirty="0">
              <a:solidFill>
                <a:srgbClr val="0070C0"/>
              </a:solidFill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8200" y="5105400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如何为它们添加打印</a:t>
            </a: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  <a:r>
              <a:rPr lang="zh-CN" altLang="en-US" sz="2400" dirty="0"/>
              <a:t>算法？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311344" y="2200851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t="70771" r="24148"/>
          <a:stretch/>
        </p:blipFill>
        <p:spPr>
          <a:xfrm>
            <a:off x="1219200" y="3964101"/>
            <a:ext cx="5634234" cy="58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591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-152400"/>
            <a:ext cx="8763000" cy="1143000"/>
          </a:xfrm>
        </p:spPr>
        <p:txBody>
          <a:bodyPr/>
          <a:lstStyle/>
          <a:p>
            <a:r>
              <a:rPr lang="zh-CN" altLang="en-US" dirty="0"/>
              <a:t>问题：如何在数据结构上增加算法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42900" y="1418190"/>
            <a:ext cx="2160508" cy="63921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dirty="0">
                <a:solidFill>
                  <a:srgbClr val="0070C0"/>
                </a:solidFill>
                <a:ea typeface="宋体" panose="02010600030101010101" pitchFamily="2" charset="-122"/>
              </a:rPr>
              <a:t>数组</a:t>
            </a:r>
            <a:r>
              <a:rPr lang="en-US" altLang="zh-CN" dirty="0">
                <a:solidFill>
                  <a:srgbClr val="0070C0"/>
                </a:solidFill>
                <a:ea typeface="宋体" panose="02010600030101010101" pitchFamily="2" charset="-122"/>
              </a:rPr>
              <a:t>array</a:t>
            </a:r>
            <a:endParaRPr lang="en-US" altLang="zh-CN" sz="2400" dirty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zh-CN" altLang="en-US" dirty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600" y="3221733"/>
            <a:ext cx="2705100" cy="397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eaLnBrk="1" hangingPunct="1">
              <a:spcBef>
                <a:spcPct val="20000"/>
              </a:spcBef>
              <a:buClr>
                <a:schemeClr val="accent1"/>
              </a:buClr>
              <a:buSzPct val="50000"/>
              <a:buFontTx/>
              <a:buNone/>
              <a:defRPr sz="3200">
                <a:solidFill>
                  <a:srgbClr val="0070C0"/>
                </a:solidFill>
                <a:latin typeface="+mn-lt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kumimoji="0"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/>
              <a:buChar char="•"/>
              <a:defRPr kumimoji="0"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/>
              <a:buChar char="•"/>
              <a:defRPr kumimoji="0"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/>
              <a:buChar char="•"/>
              <a:defRPr kumimoji="0" sz="2000">
                <a:latin typeface="+mn-lt"/>
                <a:ea typeface="+mn-ea"/>
              </a:defRPr>
            </a:lvl9pPr>
          </a:lstStyle>
          <a:p>
            <a:r>
              <a:rPr lang="zh-CN" altLang="en-US" dirty="0"/>
              <a:t>双向链表</a:t>
            </a:r>
            <a:r>
              <a:rPr lang="en-US" altLang="zh-CN" dirty="0"/>
              <a:t>list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682297" y="1218767"/>
            <a:ext cx="2105727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class array</a:t>
            </a:r>
          </a:p>
          <a:p>
            <a:r>
              <a:rPr lang="en-US" altLang="zh-CN" dirty="0"/>
              <a:t>{public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print();</a:t>
            </a:r>
          </a:p>
          <a:p>
            <a:r>
              <a:rPr lang="en-US" altLang="zh-CN" dirty="0"/>
              <a:t>…</a:t>
            </a:r>
          </a:p>
          <a:p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82297" y="3276600"/>
            <a:ext cx="2105727" cy="132343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class list</a:t>
            </a:r>
          </a:p>
          <a:p>
            <a:r>
              <a:rPr lang="en-US" altLang="zh-CN" dirty="0"/>
              <a:t>{public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print();</a:t>
            </a:r>
          </a:p>
          <a:p>
            <a:r>
              <a:rPr lang="en-US" altLang="zh-CN" dirty="0"/>
              <a:t>…</a:t>
            </a:r>
          </a:p>
          <a:p>
            <a:r>
              <a:rPr lang="en-US" altLang="zh-CN" dirty="0"/>
              <a:t>}</a:t>
            </a:r>
            <a:r>
              <a:rPr lang="zh-CN" altLang="en-US" dirty="0"/>
              <a:t>；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2000" y="4918934"/>
            <a:ext cx="6377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OOP</a:t>
            </a:r>
            <a:r>
              <a:rPr lang="zh-CN" altLang="en-US" sz="2000" dirty="0"/>
              <a:t>程序设计时的缺点：</a:t>
            </a:r>
            <a:r>
              <a:rPr lang="zh-CN" altLang="en-US" sz="2000" dirty="0">
                <a:solidFill>
                  <a:srgbClr val="FF0000"/>
                </a:solidFill>
              </a:rPr>
              <a:t>相同算法重复编写。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81600" y="2206070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能否写一个通用算法，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能应用于不同数据结构？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1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7.1.1  </a:t>
            </a:r>
            <a:r>
              <a:rPr lang="zh-CN" altLang="en-US" dirty="0">
                <a:ea typeface="宋体" panose="02010600030101010101" pitchFamily="2" charset="-122"/>
              </a:rPr>
              <a:t>泛型程序设计概念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837486" y="1811986"/>
            <a:ext cx="7723584" cy="1944439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思想：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将算法从特定的数据结构中抽象为通用的模板</a:t>
            </a:r>
            <a:r>
              <a:rPr lang="zh-CN" altLang="en-US" sz="2600" dirty="0"/>
              <a:t>，</a:t>
            </a:r>
            <a:r>
              <a:rPr lang="zh-CN" altLang="en-US" dirty="0"/>
              <a:t>即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对类型的抽象接口进行编程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400" dirty="0"/>
              <a:t>	</a:t>
            </a:r>
            <a:endParaRPr lang="zh-CN" altLang="en-US" sz="2200" dirty="0"/>
          </a:p>
        </p:txBody>
      </p:sp>
      <p:sp>
        <p:nvSpPr>
          <p:cNvPr id="2" name="矩形 1"/>
          <p:cNvSpPr/>
          <p:nvPr/>
        </p:nvSpPr>
        <p:spPr>
          <a:xfrm>
            <a:off x="1475656" y="4075084"/>
            <a:ext cx="6624736" cy="559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泛型程序设计（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programming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1757603"/>
            <a:ext cx="7776864" cy="205320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523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-189398"/>
            <a:ext cx="8229600" cy="114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7.1.1  </a:t>
            </a:r>
            <a:r>
              <a:rPr lang="zh-CN" altLang="en-US" dirty="0">
                <a:ea typeface="宋体" panose="02010600030101010101" pitchFamily="2" charset="-122"/>
              </a:rPr>
              <a:t>泛型程序设计概念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90500" y="901209"/>
            <a:ext cx="8610600" cy="5181600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OOP (object-oriented programming )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子类型多态</a:t>
            </a:r>
            <a:r>
              <a:rPr lang="en-US" altLang="zh-CN" b="1" dirty="0">
                <a:solidFill>
                  <a:srgbClr val="FF0000"/>
                </a:solidFill>
              </a:rPr>
              <a:t>(subtype polymorphism)</a:t>
            </a:r>
          </a:p>
          <a:p>
            <a:pPr lvl="2"/>
            <a:r>
              <a:rPr lang="zh-CN" altLang="en-US" dirty="0"/>
              <a:t>通过虚函数和继承实现多态</a:t>
            </a:r>
            <a:endParaRPr lang="en-US" altLang="zh-CN" dirty="0"/>
          </a:p>
          <a:p>
            <a:pPr lvl="2"/>
            <a:r>
              <a:rPr lang="zh-CN" altLang="en-US" dirty="0"/>
              <a:t>面向实例</a:t>
            </a:r>
            <a:r>
              <a:rPr lang="en-US" altLang="zh-CN" dirty="0"/>
              <a:t>(instance, </a:t>
            </a:r>
            <a:r>
              <a:rPr lang="zh-CN" altLang="en-US" dirty="0"/>
              <a:t>即 </a:t>
            </a:r>
            <a:r>
              <a:rPr lang="en-US" altLang="zh-CN" dirty="0"/>
              <a:t>object)</a:t>
            </a:r>
            <a:r>
              <a:rPr lang="zh-CN" altLang="en-US" dirty="0"/>
              <a:t>编程</a:t>
            </a:r>
            <a:endParaRPr lang="en-US" altLang="zh-CN" dirty="0"/>
          </a:p>
          <a:p>
            <a:pPr lvl="2"/>
            <a:r>
              <a:rPr lang="zh-CN" altLang="en-US" dirty="0"/>
              <a:t>虚函数采用动态绑定，运行时速度较慢</a:t>
            </a:r>
            <a:endParaRPr lang="en-US" altLang="zh-CN" dirty="0"/>
          </a:p>
          <a:p>
            <a:r>
              <a:rPr lang="zh-CN" altLang="en-US" dirty="0"/>
              <a:t>泛型程序设计</a:t>
            </a:r>
            <a:r>
              <a:rPr lang="en-US" altLang="zh-CN" dirty="0"/>
              <a:t>(generic programming) </a:t>
            </a: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模板多态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函数模板</a:t>
            </a:r>
            <a:r>
              <a:rPr lang="zh-CN" altLang="en-US" dirty="0"/>
              <a:t>和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类模板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zh-CN" altLang="en-US" dirty="0"/>
              <a:t>面向模板编程</a:t>
            </a:r>
            <a:endParaRPr lang="en-US" altLang="zh-CN" dirty="0"/>
          </a:p>
          <a:p>
            <a:pPr lvl="2"/>
            <a:r>
              <a:rPr lang="zh-CN" altLang="en-US" dirty="0"/>
              <a:t>模板是静态绑定（由编译完成），运行时较快</a:t>
            </a:r>
          </a:p>
          <a:p>
            <a:pPr lvl="2"/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052048" y="1447800"/>
            <a:ext cx="838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泛型程序设计与面向对象程序设计的比较</a:t>
            </a:r>
          </a:p>
        </p:txBody>
      </p:sp>
      <p:sp>
        <p:nvSpPr>
          <p:cNvPr id="9" name="右大括号 8"/>
          <p:cNvSpPr/>
          <p:nvPr/>
        </p:nvSpPr>
        <p:spPr>
          <a:xfrm>
            <a:off x="7620000" y="1143000"/>
            <a:ext cx="432048" cy="4419600"/>
          </a:xfrm>
          <a:prstGeom prst="rightBrace">
            <a:avLst>
              <a:gd name="adj1" fmla="val 482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79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114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7.1.1  </a:t>
            </a:r>
            <a:r>
              <a:rPr lang="zh-CN" altLang="en-US" dirty="0">
                <a:ea typeface="宋体" panose="02010600030101010101" pitchFamily="2" charset="-122"/>
              </a:rPr>
              <a:t>泛型程序设计概念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33400" y="1600200"/>
            <a:ext cx="8424936" cy="566180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确认有效的一组算法；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进行泛型表示；（对每个算法参数化，确认算法对操作数据的最小需求）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确定这组算法运行需要的一组最小的需求；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根据需求类型构建框架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4495800" y="4572000"/>
            <a:ext cx="4355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以保障算法可以独立表示，</a:t>
            </a:r>
            <a:endParaRPr lang="en-US" altLang="zh-CN" sz="2000" dirty="0"/>
          </a:p>
          <a:p>
            <a:r>
              <a:rPr lang="zh-CN" altLang="en-US" sz="2000" dirty="0"/>
              <a:t>不依赖于于任何具体数据类型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4389240" y="3127450"/>
            <a:ext cx="1020960" cy="152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5940152" y="2862188"/>
            <a:ext cx="460648" cy="1786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4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7.1.1  </a:t>
            </a:r>
            <a:r>
              <a:rPr lang="zh-CN" altLang="en-US" dirty="0">
                <a:ea typeface="宋体" panose="02010600030101010101" pitchFamily="2" charset="-122"/>
              </a:rPr>
              <a:t>泛型程序设计概念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在泛型程序设计中：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程序用于描述一组要求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模板参数必须满足这组要求</a:t>
            </a:r>
          </a:p>
        </p:txBody>
      </p:sp>
    </p:spTree>
    <p:extLst>
      <p:ext uri="{BB962C8B-B14F-4D97-AF65-F5344CB8AC3E}">
        <p14:creationId xmlns:p14="http://schemas.microsoft.com/office/powerpoint/2010/main" val="428213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15262"/>
            <a:ext cx="8229600" cy="1143000"/>
          </a:xfrm>
          <a:noFill/>
          <a:ln/>
        </p:spPr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vector </a:t>
            </a:r>
            <a:r>
              <a:rPr lang="zh-CN" altLang="en-US" dirty="0"/>
              <a:t>和 </a:t>
            </a:r>
            <a:r>
              <a:rPr lang="en-US" altLang="zh-CN" dirty="0"/>
              <a:t>list </a:t>
            </a:r>
            <a:r>
              <a:rPr lang="zh-CN" altLang="en-US" dirty="0"/>
              <a:t>添加</a:t>
            </a:r>
            <a:r>
              <a:rPr lang="en-US" altLang="zh-CN" dirty="0"/>
              <a:t>print</a:t>
            </a:r>
            <a:r>
              <a:rPr lang="zh-CN" altLang="en-US" dirty="0"/>
              <a:t>算法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646113" y="1101725"/>
            <a:ext cx="8497887" cy="666631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vector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006600"/>
                </a:solidFill>
                <a:latin typeface="宋体" panose="02010600030101010101" pitchFamily="2" charset="-122"/>
              </a:rPr>
              <a:t>动态数组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sz="2800" dirty="0">
                <a:latin typeface="宋体" panose="02010600030101010101" pitchFamily="2" charset="-122"/>
              </a:rPr>
              <a:t>连续内存中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存储一组元素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SzPct val="75000"/>
              <a:buNone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11344" y="2200851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/>
          <a:srcRect t="70771" r="24148"/>
          <a:stretch/>
        </p:blipFill>
        <p:spPr>
          <a:xfrm>
            <a:off x="1711356" y="4575392"/>
            <a:ext cx="5634234" cy="530007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59632" y="2672976"/>
            <a:ext cx="6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元素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01446" y="4961747"/>
            <a:ext cx="6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元素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646113" y="3687795"/>
            <a:ext cx="7718978" cy="518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list</a:t>
            </a:r>
            <a:r>
              <a:rPr lang="zh-CN" altLang="en-US" dirty="0">
                <a:latin typeface="宋体" panose="02010600030101010101" pitchFamily="2" charset="-122"/>
              </a:rPr>
              <a:t>：双向链表，</a:t>
            </a:r>
            <a:r>
              <a:rPr lang="zh-CN" altLang="en-US" sz="2800" dirty="0">
                <a:latin typeface="宋体" panose="02010600030101010101" pitchFamily="2" charset="-122"/>
              </a:rPr>
              <a:t>连续内存中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存储一组元素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SzPct val="75000"/>
              <a:buFont typeface="Wingdings 2" panose="05020102010507070707" pitchFamily="18" charset="2"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07887" y="1594981"/>
            <a:ext cx="847782" cy="2138819"/>
            <a:chOff x="8045399" y="1516009"/>
            <a:chExt cx="847782" cy="2138819"/>
          </a:xfrm>
        </p:grpSpPr>
        <p:sp>
          <p:nvSpPr>
            <p:cNvPr id="2" name="矩形 1"/>
            <p:cNvSpPr/>
            <p:nvPr/>
          </p:nvSpPr>
          <p:spPr>
            <a:xfrm>
              <a:off x="8045399" y="2791532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容器</a:t>
              </a:r>
              <a:endParaRPr lang="zh-CN" altLang="en-US" dirty="0"/>
            </a:p>
          </p:txBody>
        </p:sp>
        <p:cxnSp>
          <p:nvCxnSpPr>
            <p:cNvPr id="4" name="直接箭头连接符 3"/>
            <p:cNvCxnSpPr>
              <a:endCxn id="2" idx="0"/>
            </p:cNvCxnSpPr>
            <p:nvPr/>
          </p:nvCxnSpPr>
          <p:spPr>
            <a:xfrm flipH="1">
              <a:off x="8447112" y="1516009"/>
              <a:ext cx="446069" cy="1275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flipH="1" flipV="1">
              <a:off x="8478863" y="3183688"/>
              <a:ext cx="273049" cy="471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711356" y="1555364"/>
            <a:ext cx="2932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6600"/>
                </a:solidFill>
              </a:rPr>
              <a:t>( Dynamic array </a:t>
            </a:r>
            <a:r>
              <a:rPr lang="en-US" altLang="zh-CN" dirty="0">
                <a:solidFill>
                  <a:srgbClr val="006600"/>
                </a:solidFill>
              </a:rPr>
              <a:t>)</a:t>
            </a:r>
            <a:endParaRPr lang="zh-CN" altLang="en-US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6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82320"/>
            <a:ext cx="8229600" cy="1143000"/>
          </a:xfrm>
          <a:noFill/>
          <a:ln/>
        </p:spPr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vector </a:t>
            </a:r>
            <a:r>
              <a:rPr lang="zh-CN" altLang="en-US" dirty="0"/>
              <a:t>和 </a:t>
            </a:r>
            <a:r>
              <a:rPr lang="en-US" altLang="zh-CN" dirty="0"/>
              <a:t>list </a:t>
            </a:r>
            <a:r>
              <a:rPr lang="zh-CN" altLang="en-US" dirty="0"/>
              <a:t>添加</a:t>
            </a:r>
            <a:r>
              <a:rPr lang="en-US" altLang="zh-CN" dirty="0"/>
              <a:t>print</a:t>
            </a:r>
            <a:r>
              <a:rPr lang="zh-CN" altLang="en-US" dirty="0"/>
              <a:t>算法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762000" y="905798"/>
            <a:ext cx="5280578" cy="518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打印容器内所有元素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print </a:t>
            </a:r>
            <a:r>
              <a:rPr lang="zh-CN" altLang="en-US" sz="2000" dirty="0">
                <a:latin typeface="宋体" panose="02010600030101010101" pitchFamily="2" charset="-122"/>
              </a:rPr>
              <a:t>算法伪代码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SzPct val="75000"/>
              <a:buFont typeface="Wingdings 2" panose="05020102010507070707" pitchFamily="18" charset="2"/>
              <a:buNone/>
            </a:pPr>
            <a:endParaRPr lang="en-US" altLang="zh-CN" sz="1800" dirty="0">
              <a:latin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59992" y="1671170"/>
            <a:ext cx="6876766" cy="286232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返回值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print</a:t>
            </a:r>
            <a:r>
              <a:rPr lang="en-US" altLang="zh-CN" sz="2000" dirty="0">
                <a:latin typeface="宋体" panose="02010600030101010101" pitchFamily="2" charset="-122"/>
              </a:rPr>
              <a:t>( </a:t>
            </a:r>
            <a:r>
              <a:rPr lang="zh-CN" altLang="en-US" sz="2000" dirty="0">
                <a:latin typeface="宋体" panose="02010600030101010101" pitchFamily="2" charset="-122"/>
              </a:rPr>
              <a:t>起始元素的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指针</a:t>
            </a:r>
            <a:r>
              <a:rPr lang="zh-CN" altLang="en-US" sz="2000" dirty="0">
                <a:latin typeface="宋体" panose="02010600030101010101" pitchFamily="2" charset="-122"/>
              </a:rPr>
              <a:t>，结束元素的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指针</a:t>
            </a:r>
            <a:r>
              <a:rPr lang="en-US" altLang="zh-CN" sz="2000" dirty="0">
                <a:latin typeface="宋体" panose="02010600030101010101" pitchFamily="2" charset="-122"/>
              </a:rPr>
              <a:t>)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{   for ( </a:t>
            </a:r>
            <a:r>
              <a:rPr lang="zh-CN" altLang="en-US" sz="2000" dirty="0">
                <a:latin typeface="宋体" panose="02010600030101010101" pitchFamily="2" charset="-122"/>
              </a:rPr>
              <a:t>当前元素的指针 </a:t>
            </a:r>
            <a:r>
              <a:rPr lang="en-US" altLang="zh-CN" sz="2000" dirty="0">
                <a:latin typeface="宋体" panose="02010600030101010101" pitchFamily="2" charset="-122"/>
              </a:rPr>
              <a:t>= </a:t>
            </a:r>
            <a:r>
              <a:rPr lang="zh-CN" altLang="en-US" sz="2000" dirty="0">
                <a:latin typeface="宋体" panose="02010600030101010101" pitchFamily="2" charset="-122"/>
              </a:rPr>
              <a:t>起始元素的指针；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        当前元素的指针 </a:t>
            </a:r>
            <a:r>
              <a:rPr lang="en-US" altLang="zh-CN" sz="2000" dirty="0">
                <a:latin typeface="宋体" panose="02010600030101010101" pitchFamily="2" charset="-122"/>
              </a:rPr>
              <a:t>!= </a:t>
            </a:r>
            <a:r>
              <a:rPr lang="zh-CN" altLang="en-US" sz="2000" dirty="0">
                <a:latin typeface="宋体" panose="02010600030101010101" pitchFamily="2" charset="-122"/>
              </a:rPr>
              <a:t>结束元素的指针</a:t>
            </a:r>
            <a:r>
              <a:rPr lang="en-US" altLang="zh-CN" sz="2000" dirty="0">
                <a:latin typeface="宋体" panose="02010600030101010101" pitchFamily="2" charset="-122"/>
              </a:rPr>
              <a:t>;</a:t>
            </a:r>
          </a:p>
          <a:p>
            <a:r>
              <a:rPr lang="en-US" altLang="zh-CN" sz="2000" dirty="0">
                <a:latin typeface="宋体" panose="02010600030101010101" pitchFamily="2" charset="-122"/>
              </a:rPr>
              <a:t>          </a:t>
            </a:r>
            <a:r>
              <a:rPr lang="zh-CN" altLang="en-US" sz="2000" dirty="0">
                <a:latin typeface="宋体" panose="02010600030101010101" pitchFamily="2" charset="-122"/>
              </a:rPr>
              <a:t>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指针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</a:rPr>
              <a:t>= </a:t>
            </a:r>
            <a:r>
              <a:rPr lang="zh-CN" altLang="en-US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下一个元素的指针</a:t>
            </a:r>
            <a:endParaRPr lang="en-US" altLang="zh-CN" sz="2000" b="1" dirty="0">
              <a:solidFill>
                <a:srgbClr val="7030A0"/>
              </a:solidFill>
              <a:latin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</a:rPr>
              <a:t>{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        </a:t>
            </a:r>
            <a:r>
              <a:rPr lang="en-US" altLang="zh-CN" sz="2000" dirty="0" err="1">
                <a:latin typeface="宋体" panose="02010600030101010101" pitchFamily="2" charset="-122"/>
              </a:rPr>
              <a:t>cout</a:t>
            </a:r>
            <a:r>
              <a:rPr lang="en-US" altLang="zh-CN" sz="2000" dirty="0">
                <a:latin typeface="宋体" panose="02010600030101010101" pitchFamily="2" charset="-122"/>
              </a:rPr>
              <a:t> &lt;&lt; (* </a:t>
            </a:r>
            <a:r>
              <a:rPr lang="zh-CN" altLang="en-US" sz="2000" dirty="0">
                <a:latin typeface="宋体" panose="02010600030101010101" pitchFamily="2" charset="-122"/>
              </a:rPr>
              <a:t>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指针</a:t>
            </a:r>
            <a:r>
              <a:rPr lang="en-US" altLang="zh-CN" sz="2000" dirty="0">
                <a:latin typeface="宋体" panose="02010600030101010101" pitchFamily="2" charset="-122"/>
              </a:rPr>
              <a:t>) &lt;&lt; “ ”;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   }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return</a:t>
            </a:r>
            <a:r>
              <a:rPr lang="en-US" altLang="zh-CN" sz="2000" dirty="0">
                <a:latin typeface="宋体" panose="02010600030101010101" pitchFamily="2" charset="-122"/>
              </a:rPr>
              <a:t> NULL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381000" y="4703923"/>
            <a:ext cx="6876766" cy="1544477"/>
          </a:xfrm>
          <a:prstGeom prst="rect">
            <a:avLst/>
          </a:prstGeom>
          <a:noFill/>
          <a:ln/>
        </p:spPr>
        <p:txBody>
          <a:bodyPr/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9088" lvl="1" indent="0"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遍历范围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[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zh-CN" altLang="en-US" dirty="0">
                <a:latin typeface="宋体" panose="02010600030101010101" pitchFamily="2" charset="-122"/>
              </a:rPr>
              <a:t>：指向迭代的开始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zh-CN" altLang="en-US" dirty="0">
                <a:latin typeface="宋体" panose="02010600030101010101" pitchFamily="2" charset="-122"/>
              </a:rPr>
              <a:t>：指向迭代的结束（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不含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68206" y="1721492"/>
            <a:ext cx="3816424" cy="288383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79035" y="1268451"/>
            <a:ext cx="9621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71218" y="1268451"/>
            <a:ext cx="651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14089" y="4736156"/>
            <a:ext cx="21082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</a:rPr>
              <a:t>~ 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</a:rPr>
              <a:t>左闭右开区间 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819383" y="1581027"/>
            <a:ext cx="216024" cy="13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008566" y="1569869"/>
            <a:ext cx="288032" cy="179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18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vector </a:t>
            </a:r>
            <a:r>
              <a:rPr lang="zh-CN" altLang="en-US" dirty="0"/>
              <a:t>和 </a:t>
            </a:r>
            <a:r>
              <a:rPr lang="en-US" altLang="zh-CN" dirty="0"/>
              <a:t>list </a:t>
            </a:r>
            <a:r>
              <a:rPr lang="zh-CN" altLang="en-US" dirty="0"/>
              <a:t>添加</a:t>
            </a:r>
            <a:r>
              <a:rPr lang="en-US" altLang="zh-CN" dirty="0"/>
              <a:t>print</a:t>
            </a:r>
            <a:r>
              <a:rPr lang="zh-CN" altLang="en-US" dirty="0"/>
              <a:t>算法</a:t>
            </a:r>
          </a:p>
        </p:txBody>
      </p:sp>
      <p:sp>
        <p:nvSpPr>
          <p:cNvPr id="2" name="矩形 1"/>
          <p:cNvSpPr/>
          <p:nvPr/>
        </p:nvSpPr>
        <p:spPr>
          <a:xfrm>
            <a:off x="762000" y="4201618"/>
            <a:ext cx="52180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迭代器，</a:t>
            </a:r>
            <a:r>
              <a:rPr lang="zh-CN" altLang="en-US" sz="2800" dirty="0">
                <a:latin typeface="宋体" panose="02010600030101010101" pitchFamily="2" charset="-122"/>
              </a:rPr>
              <a:t>相当于指向元素的指针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1622" y="3632231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如何让 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print </a:t>
            </a:r>
            <a:r>
              <a:rPr lang="zh-CN" altLang="en-US" dirty="0">
                <a:latin typeface="宋体" panose="02010600030101010101" pitchFamily="2" charset="-122"/>
              </a:rPr>
              <a:t>算法遍历 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vector </a:t>
            </a:r>
            <a:r>
              <a:rPr lang="zh-CN" altLang="en-US" dirty="0">
                <a:latin typeface="宋体" panose="02010600030101010101" pitchFamily="2" charset="-122"/>
              </a:rPr>
              <a:t>和 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list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</a:rPr>
              <a:t>两种数据结构内的元素呢？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538E52-5A20-2145-92D8-CC0228F24F76}"/>
              </a:ext>
            </a:extLst>
          </p:cNvPr>
          <p:cNvSpPr txBox="1">
            <a:spLocks noChangeArrowheads="1"/>
          </p:cNvSpPr>
          <p:nvPr/>
        </p:nvSpPr>
        <p:spPr>
          <a:xfrm>
            <a:off x="891622" y="1691563"/>
            <a:ext cx="6876766" cy="547140"/>
          </a:xfrm>
          <a:prstGeom prst="rect">
            <a:avLst/>
          </a:prstGeom>
          <a:noFill/>
          <a:ln/>
        </p:spPr>
        <p:txBody>
          <a:bodyPr/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通过指针可以 </a:t>
            </a:r>
            <a:r>
              <a:rPr lang="en-US" altLang="zh-CN" sz="2800" dirty="0">
                <a:solidFill>
                  <a:srgbClr val="C00000"/>
                </a:solidFill>
                <a:latin typeface="宋体" panose="02010600030101010101" pitchFamily="2" charset="-122"/>
              </a:rPr>
              <a:t>++ </a:t>
            </a:r>
            <a:r>
              <a:rPr lang="zh-CN" altLang="en-US" sz="2800" dirty="0">
                <a:latin typeface="宋体" panose="02010600030101010101" pitchFamily="2" charset="-122"/>
              </a:rPr>
              <a:t>指向下一个元素</a:t>
            </a:r>
            <a:endParaRPr lang="en-US" altLang="zh-CN" sz="28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92A279C-7C40-C54F-8F03-83070FBE3F34}"/>
              </a:ext>
            </a:extLst>
          </p:cNvPr>
          <p:cNvSpPr txBox="1">
            <a:spLocks noChangeArrowheads="1"/>
          </p:cNvSpPr>
          <p:nvPr/>
        </p:nvSpPr>
        <p:spPr>
          <a:xfrm>
            <a:off x="891622" y="2485670"/>
            <a:ext cx="2195991" cy="1094497"/>
          </a:xfrm>
          <a:prstGeom prst="rect">
            <a:avLst/>
          </a:prstGeom>
          <a:noFill/>
          <a:ln/>
        </p:spPr>
        <p:txBody>
          <a:bodyPr/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vector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list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A2269E-E152-8845-BEC7-0D7C2C607BAC}"/>
              </a:ext>
            </a:extLst>
          </p:cNvPr>
          <p:cNvGrpSpPr/>
          <p:nvPr/>
        </p:nvGrpSpPr>
        <p:grpSpPr>
          <a:xfrm>
            <a:off x="2324100" y="3061058"/>
            <a:ext cx="471974" cy="370189"/>
            <a:chOff x="6480212" y="5443733"/>
            <a:chExt cx="450304" cy="422123"/>
          </a:xfrm>
        </p:grpSpPr>
        <p:cxnSp>
          <p:nvCxnSpPr>
            <p:cNvPr id="11" name="直接连接符 2">
              <a:extLst>
                <a:ext uri="{FF2B5EF4-FFF2-40B4-BE49-F238E27FC236}">
                  <a16:creationId xmlns:a16="http://schemas.microsoft.com/office/drawing/2014/main" id="{C57410F7-AB4D-B04C-A0B0-2677B72FB9EA}"/>
                </a:ext>
              </a:extLst>
            </p:cNvPr>
            <p:cNvCxnSpPr/>
            <p:nvPr/>
          </p:nvCxnSpPr>
          <p:spPr>
            <a:xfrm>
              <a:off x="6480212" y="5443733"/>
              <a:ext cx="450304" cy="36927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6">
              <a:extLst>
                <a:ext uri="{FF2B5EF4-FFF2-40B4-BE49-F238E27FC236}">
                  <a16:creationId xmlns:a16="http://schemas.microsoft.com/office/drawing/2014/main" id="{08DBDF81-7674-5A44-A146-A5F54949F35C}"/>
                </a:ext>
              </a:extLst>
            </p:cNvPr>
            <p:cNvCxnSpPr/>
            <p:nvPr/>
          </p:nvCxnSpPr>
          <p:spPr>
            <a:xfrm flipH="1">
              <a:off x="6498468" y="5453657"/>
              <a:ext cx="432048" cy="4121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E150883-CEDD-3845-81CC-9641A96AAB8E}"/>
              </a:ext>
            </a:extLst>
          </p:cNvPr>
          <p:cNvGrpSpPr/>
          <p:nvPr/>
        </p:nvGrpSpPr>
        <p:grpSpPr>
          <a:xfrm>
            <a:off x="2286000" y="2634590"/>
            <a:ext cx="510074" cy="337619"/>
            <a:chOff x="2964294" y="5430847"/>
            <a:chExt cx="599594" cy="518433"/>
          </a:xfrm>
        </p:grpSpPr>
        <p:cxnSp>
          <p:nvCxnSpPr>
            <p:cNvPr id="14" name="直接连接符 20">
              <a:extLst>
                <a:ext uri="{FF2B5EF4-FFF2-40B4-BE49-F238E27FC236}">
                  <a16:creationId xmlns:a16="http://schemas.microsoft.com/office/drawing/2014/main" id="{B0E40765-1B7E-BE47-AC9F-3329DDF5AFD9}"/>
                </a:ext>
              </a:extLst>
            </p:cNvPr>
            <p:cNvCxnSpPr/>
            <p:nvPr/>
          </p:nvCxnSpPr>
          <p:spPr>
            <a:xfrm>
              <a:off x="2964294" y="5661935"/>
              <a:ext cx="239554" cy="2873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21">
              <a:extLst>
                <a:ext uri="{FF2B5EF4-FFF2-40B4-BE49-F238E27FC236}">
                  <a16:creationId xmlns:a16="http://schemas.microsoft.com/office/drawing/2014/main" id="{CF9BA728-4B15-9E4C-AF9E-581F53C5D0CE}"/>
                </a:ext>
              </a:extLst>
            </p:cNvPr>
            <p:cNvCxnSpPr/>
            <p:nvPr/>
          </p:nvCxnSpPr>
          <p:spPr>
            <a:xfrm flipH="1">
              <a:off x="3200806" y="5430847"/>
              <a:ext cx="363082" cy="51843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909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0160" y="-120272"/>
            <a:ext cx="8229600" cy="11430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70C0"/>
                </a:solidFill>
              </a:rPr>
              <a:t>泛化的指针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10244" name="Rectangle 3"/>
          <p:cNvSpPr txBox="1">
            <a:spLocks noChangeArrowheads="1"/>
          </p:cNvSpPr>
          <p:nvPr/>
        </p:nvSpPr>
        <p:spPr bwMode="auto">
          <a:xfrm>
            <a:off x="395288" y="1125538"/>
            <a:ext cx="84978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r>
              <a:rPr kumimoji="0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迭代器</a:t>
            </a:r>
            <a:r>
              <a:rPr kumimoji="0" lang="zh-CN" altLang="en-US" dirty="0"/>
              <a:t>（</a:t>
            </a:r>
            <a:r>
              <a:rPr kumimoji="0" lang="en-US" altLang="zh-CN" dirty="0">
                <a:solidFill>
                  <a:srgbClr val="FF0000"/>
                </a:solidFill>
              </a:rPr>
              <a:t>iterator</a:t>
            </a:r>
            <a:r>
              <a:rPr kumimoji="0" lang="zh-CN" altLang="en-US" dirty="0"/>
              <a:t>），</a:t>
            </a:r>
          </a:p>
        </p:txBody>
      </p:sp>
      <p:sp>
        <p:nvSpPr>
          <p:cNvPr id="18436" name="矩形 4"/>
          <p:cNvSpPr>
            <a:spLocks noChangeArrowheads="1"/>
          </p:cNvSpPr>
          <p:nvPr/>
        </p:nvSpPr>
        <p:spPr bwMode="auto">
          <a:xfrm>
            <a:off x="3319606" y="1139192"/>
            <a:ext cx="2520950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70C0"/>
                </a:solidFill>
              </a:rPr>
              <a:t>泛化的指针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66800" y="2362200"/>
            <a:ext cx="6109359" cy="232371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6600"/>
                </a:solidFill>
              </a:rPr>
              <a:t>++it</a:t>
            </a:r>
            <a:r>
              <a:rPr lang="en-US" altLang="zh-CN" sz="2000" dirty="0">
                <a:solidFill>
                  <a:srgbClr val="0070C0"/>
                </a:solidFill>
              </a:rPr>
              <a:t>   </a:t>
            </a:r>
            <a:r>
              <a:rPr lang="zh-CN" altLang="en-US" sz="2000" dirty="0">
                <a:solidFill>
                  <a:srgbClr val="0070C0"/>
                </a:solidFill>
              </a:rPr>
              <a:t>指向下一个元素的迭代器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6600"/>
                </a:solidFill>
              </a:rPr>
              <a:t>it++</a:t>
            </a:r>
          </a:p>
          <a:p>
            <a:pPr eaLnBrk="1" hangingPunct="1">
              <a:spcBef>
                <a:spcPts val="600"/>
              </a:spcBef>
              <a:defRPr/>
            </a:pPr>
            <a:endParaRPr lang="en-US" altLang="zh-CN" sz="2000" dirty="0">
              <a:solidFill>
                <a:srgbClr val="00660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>
                <a:solidFill>
                  <a:srgbClr val="006600"/>
                </a:solidFill>
              </a:rPr>
              <a:t>*</a:t>
            </a:r>
            <a:r>
              <a:rPr lang="en-US" altLang="zh-CN" sz="2000" dirty="0">
                <a:solidFill>
                  <a:srgbClr val="006600"/>
                </a:solidFill>
              </a:rPr>
              <a:t>it     </a:t>
            </a:r>
            <a:r>
              <a:rPr lang="zh-CN" altLang="en-US" sz="2000" dirty="0">
                <a:solidFill>
                  <a:srgbClr val="0070C0"/>
                </a:solidFill>
              </a:rPr>
              <a:t>获取迭代器所指向的元素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6600"/>
                </a:solidFill>
              </a:rPr>
              <a:t>it-&gt;mem</a:t>
            </a:r>
            <a:r>
              <a:rPr lang="en-US" altLang="zh-CN" sz="2000" dirty="0">
                <a:solidFill>
                  <a:srgbClr val="0070C0"/>
                </a:solidFill>
              </a:rPr>
              <a:t>   </a:t>
            </a:r>
            <a:r>
              <a:rPr lang="zh-CN" altLang="en-US" sz="2000" dirty="0">
                <a:solidFill>
                  <a:srgbClr val="0070C0"/>
                </a:solidFill>
              </a:rPr>
              <a:t>获取迭代器指向元素的成员</a:t>
            </a:r>
            <a:r>
              <a:rPr lang="en-US" altLang="zh-CN" sz="2000" dirty="0">
                <a:solidFill>
                  <a:srgbClr val="0070C0"/>
                </a:solidFill>
              </a:rPr>
              <a:t>mem</a:t>
            </a:r>
          </a:p>
        </p:txBody>
      </p:sp>
      <p:sp>
        <p:nvSpPr>
          <p:cNvPr id="2" name="矩形 1"/>
          <p:cNvSpPr/>
          <p:nvPr/>
        </p:nvSpPr>
        <p:spPr>
          <a:xfrm>
            <a:off x="1143000" y="1710300"/>
            <a:ext cx="314701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r>
              <a:rPr lang="zh-CN" altLang="en-US" sz="2000" dirty="0"/>
              <a:t>若</a:t>
            </a:r>
            <a:r>
              <a:rPr lang="en-US" altLang="zh-CN" sz="2000" dirty="0"/>
              <a:t>it</a:t>
            </a:r>
            <a:r>
              <a:rPr lang="zh-CN" altLang="en-US" sz="2000" dirty="0"/>
              <a:t>为迭代器，常用操作：</a:t>
            </a:r>
          </a:p>
        </p:txBody>
      </p:sp>
      <p:sp>
        <p:nvSpPr>
          <p:cNvPr id="7" name="矩形 6"/>
          <p:cNvSpPr/>
          <p:nvPr/>
        </p:nvSpPr>
        <p:spPr>
          <a:xfrm>
            <a:off x="400050" y="4876800"/>
            <a:ext cx="80581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算法通过迭代器访问元素，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只需要容器提供迭代器，算法不直接对容器操作。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2866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  <a:noFill/>
          <a:ln/>
        </p:spPr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vector </a:t>
            </a:r>
            <a:r>
              <a:rPr lang="zh-CN" altLang="en-US" dirty="0"/>
              <a:t>和 </a:t>
            </a:r>
            <a:r>
              <a:rPr lang="en-US" altLang="zh-CN" dirty="0"/>
              <a:t>list </a:t>
            </a:r>
            <a:r>
              <a:rPr lang="zh-CN" altLang="en-US" dirty="0"/>
              <a:t>添加</a:t>
            </a:r>
            <a:r>
              <a:rPr lang="en-US" altLang="zh-CN" dirty="0"/>
              <a:t>print</a:t>
            </a:r>
            <a:r>
              <a:rPr lang="zh-CN" altLang="en-US" dirty="0"/>
              <a:t>算法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611560" y="1091281"/>
            <a:ext cx="7718978" cy="518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print </a:t>
            </a:r>
            <a:r>
              <a:rPr lang="zh-CN" altLang="en-US" sz="2800" dirty="0">
                <a:latin typeface="宋体" panose="02010600030101010101" pitchFamily="2" charset="-122"/>
              </a:rPr>
              <a:t>算法伪代码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marL="0" indent="0">
              <a:buSzPct val="75000"/>
              <a:buFont typeface="Wingdings 2" panose="05020102010507070707" pitchFamily="18" charset="2"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200" y="4847181"/>
            <a:ext cx="77768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print </a:t>
            </a:r>
            <a:r>
              <a:rPr lang="zh-CN" altLang="en-US" sz="2000" dirty="0">
                <a:latin typeface="宋体" panose="02010600030101010101" pitchFamily="2" charset="-122"/>
              </a:rPr>
              <a:t>算法通过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vector </a:t>
            </a:r>
            <a:r>
              <a:rPr lang="zh-CN" altLang="en-US" sz="2000" dirty="0">
                <a:latin typeface="宋体" panose="02010600030101010101" pitchFamily="2" charset="-122"/>
              </a:rPr>
              <a:t>和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list</a:t>
            </a: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</a:rPr>
              <a:t>两种数据结构内的元素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8200" y="1797203"/>
            <a:ext cx="6876766" cy="286232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返回值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print</a:t>
            </a:r>
            <a:r>
              <a:rPr lang="en-US" altLang="zh-CN" sz="2000" dirty="0">
                <a:latin typeface="宋体" panose="02010600030101010101" pitchFamily="2" charset="-122"/>
              </a:rPr>
              <a:t>( </a:t>
            </a:r>
            <a:r>
              <a:rPr lang="zh-CN" altLang="en-US" sz="2000" dirty="0">
                <a:latin typeface="宋体" panose="02010600030101010101" pitchFamily="2" charset="-122"/>
              </a:rPr>
              <a:t>起始元素的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zh-CN" altLang="en-US" sz="2000" dirty="0">
                <a:latin typeface="宋体" panose="02010600030101010101" pitchFamily="2" charset="-122"/>
              </a:rPr>
              <a:t>，结束元素的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dirty="0">
                <a:latin typeface="宋体" panose="02010600030101010101" pitchFamily="2" charset="-122"/>
              </a:rPr>
              <a:t>)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{   for ( </a:t>
            </a:r>
            <a:r>
              <a:rPr lang="zh-CN" altLang="en-US" sz="2000" dirty="0">
                <a:latin typeface="宋体" panose="02010600030101010101" pitchFamily="2" charset="-122"/>
              </a:rPr>
              <a:t>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dirty="0">
                <a:latin typeface="宋体" panose="02010600030101010101" pitchFamily="2" charset="-122"/>
              </a:rPr>
              <a:t>= </a:t>
            </a:r>
            <a:r>
              <a:rPr lang="zh-CN" altLang="en-US" sz="2000" dirty="0">
                <a:latin typeface="宋体" panose="02010600030101010101" pitchFamily="2" charset="-122"/>
              </a:rPr>
              <a:t>起始元素的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        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dirty="0">
                <a:latin typeface="宋体" panose="02010600030101010101" pitchFamily="2" charset="-122"/>
              </a:rPr>
              <a:t>!= </a:t>
            </a:r>
            <a:r>
              <a:rPr lang="zh-CN" altLang="en-US" sz="2000" dirty="0">
                <a:latin typeface="宋体" panose="02010600030101010101" pitchFamily="2" charset="-122"/>
              </a:rPr>
              <a:t>结束元素的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dirty="0">
                <a:latin typeface="宋体" panose="02010600030101010101" pitchFamily="2" charset="-122"/>
              </a:rPr>
              <a:t>;</a:t>
            </a:r>
          </a:p>
          <a:p>
            <a:r>
              <a:rPr lang="en-US" altLang="zh-CN" sz="2000" dirty="0">
                <a:latin typeface="宋体" panose="02010600030101010101" pitchFamily="2" charset="-122"/>
              </a:rPr>
              <a:t>          </a:t>
            </a:r>
            <a:r>
              <a:rPr lang="zh-CN" altLang="en-US" sz="2000" dirty="0">
                <a:latin typeface="宋体" panose="02010600030101010101" pitchFamily="2" charset="-122"/>
              </a:rPr>
              <a:t>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dirty="0">
                <a:latin typeface="宋体" panose="02010600030101010101" pitchFamily="2" charset="-122"/>
              </a:rPr>
              <a:t>=</a:t>
            </a:r>
            <a:r>
              <a:rPr lang="zh-CN" altLang="en-US" sz="2000" dirty="0">
                <a:latin typeface="宋体" panose="02010600030101010101" pitchFamily="2" charset="-122"/>
              </a:rPr>
              <a:t>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++</a:t>
            </a:r>
          </a:p>
          <a:p>
            <a:r>
              <a:rPr lang="en-US" altLang="zh-CN" sz="2000" b="1" dirty="0">
                <a:solidFill>
                  <a:srgbClr val="7030A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</a:rPr>
              <a:t>{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        </a:t>
            </a:r>
            <a:r>
              <a:rPr lang="en-US" altLang="zh-CN" sz="2000" dirty="0" err="1">
                <a:latin typeface="宋体" panose="02010600030101010101" pitchFamily="2" charset="-122"/>
              </a:rPr>
              <a:t>cout</a:t>
            </a:r>
            <a:r>
              <a:rPr lang="en-US" altLang="zh-CN" sz="2000" dirty="0">
                <a:latin typeface="宋体" panose="02010600030101010101" pitchFamily="2" charset="-122"/>
              </a:rPr>
              <a:t> &lt;&lt; (* </a:t>
            </a:r>
            <a:r>
              <a:rPr lang="zh-CN" altLang="en-US" sz="2000" dirty="0">
                <a:latin typeface="宋体" panose="02010600030101010101" pitchFamily="2" charset="-122"/>
              </a:rPr>
              <a:t>当前元素的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迭代器</a:t>
            </a:r>
            <a:r>
              <a:rPr lang="en-US" altLang="zh-CN" sz="2000" dirty="0">
                <a:latin typeface="宋体" panose="02010600030101010101" pitchFamily="2" charset="-122"/>
              </a:rPr>
              <a:t>) &lt;&lt; “ ”;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   }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return</a:t>
            </a:r>
            <a:r>
              <a:rPr lang="en-US" altLang="zh-CN" sz="2000" dirty="0">
                <a:latin typeface="宋体" panose="02010600030101010101" pitchFamily="2" charset="-122"/>
              </a:rPr>
              <a:t> NULL</a:t>
            </a:r>
            <a:r>
              <a:rPr lang="zh-CN" altLang="en-US" sz="2000" dirty="0">
                <a:latin typeface="宋体" panose="02010600030101010101" pitchFamily="2" charset="-122"/>
              </a:rPr>
              <a:t>；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372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54707"/>
            <a:ext cx="8229600" cy="1143000"/>
          </a:xfrm>
          <a:noFill/>
          <a:ln/>
        </p:spPr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中的迭代器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78835" y="847116"/>
            <a:ext cx="8688965" cy="1679575"/>
          </a:xfrm>
          <a:noFill/>
          <a:ln/>
        </p:spPr>
        <p:txBody>
          <a:bodyPr/>
          <a:lstStyle/>
          <a:p>
            <a:pPr marL="0" indent="0">
              <a:buSzPct val="75000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vector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中定义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buSzPct val="75000"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迭代器类 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vector&lt;T&gt;::iterator   </a:t>
            </a:r>
            <a:r>
              <a:rPr lang="en-US" altLang="zh-CN" sz="2400" dirty="0">
                <a:latin typeface="宋体" panose="02010600030101010101" pitchFamily="2" charset="-122"/>
              </a:rPr>
              <a:t>//</a:t>
            </a:r>
            <a:r>
              <a:rPr lang="zh-CN" altLang="en-US" sz="2400" dirty="0">
                <a:latin typeface="宋体" panose="02010600030101010101" pitchFamily="2" charset="-122"/>
              </a:rPr>
              <a:t>其重载</a:t>
            </a:r>
            <a:r>
              <a:rPr lang="en-US" altLang="zh-CN" sz="2400" dirty="0">
                <a:solidFill>
                  <a:srgbClr val="7030A0"/>
                </a:solidFill>
                <a:latin typeface="宋体" panose="02010600030101010101" pitchFamily="2" charset="-122"/>
              </a:rPr>
              <a:t>++</a:t>
            </a:r>
            <a:r>
              <a:rPr lang="zh-CN" altLang="en-US" sz="2400" dirty="0">
                <a:latin typeface="宋体" panose="02010600030101010101" pitchFamily="2" charset="-122"/>
              </a:rPr>
              <a:t>指向下个元素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buSzPct val="75000"/>
            </a:pP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begin</a:t>
            </a:r>
            <a:r>
              <a:rPr lang="en-US" altLang="zh-CN" sz="2400" dirty="0">
                <a:latin typeface="宋体" panose="02010600030101010101" pitchFamily="2" charset="-122"/>
              </a:rPr>
              <a:t>() </a:t>
            </a:r>
            <a:r>
              <a:rPr lang="zh-CN" altLang="en-US" sz="2400" dirty="0">
                <a:latin typeface="宋体" panose="02010600030101010101" pitchFamily="2" charset="-122"/>
              </a:rPr>
              <a:t>返回第一个元素的迭代器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buSzPct val="75000"/>
            </a:pP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end</a:t>
            </a:r>
            <a:r>
              <a:rPr lang="en-US" altLang="zh-CN" sz="2400" dirty="0">
                <a:latin typeface="宋体" panose="02010600030101010101" pitchFamily="2" charset="-122"/>
              </a:rPr>
              <a:t>()  </a:t>
            </a:r>
            <a:r>
              <a:rPr lang="zh-CN" altLang="en-US" sz="2400" dirty="0">
                <a:latin typeface="宋体" panose="02010600030101010101" pitchFamily="2" charset="-122"/>
              </a:rPr>
              <a:t>返回最后一个元素的下一个元素的迭代器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82629" y="2743200"/>
            <a:ext cx="8280920" cy="2881884"/>
            <a:chOff x="593950" y="3717033"/>
            <a:chExt cx="8280920" cy="2881884"/>
          </a:xfrm>
        </p:grpSpPr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例如：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2804680" y="3491113"/>
            <a:ext cx="904272" cy="4340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162246" y="3491113"/>
            <a:ext cx="904272" cy="4340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37507" y="3141407"/>
            <a:ext cx="12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1390425" y="3925175"/>
            <a:ext cx="1885433" cy="474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044477" y="3517782"/>
            <a:ext cx="91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begin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27779" y="3496817"/>
            <a:ext cx="74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end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5" name="直接箭头连接符 4"/>
          <p:cNvCxnSpPr>
            <a:stCxn id="10" idx="2"/>
          </p:cNvCxnSpPr>
          <p:nvPr/>
        </p:nvCxnSpPr>
        <p:spPr>
          <a:xfrm flipH="1">
            <a:off x="5555771" y="3925175"/>
            <a:ext cx="58611" cy="464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270511"/>
              </p:ext>
            </p:extLst>
          </p:nvPr>
        </p:nvGraphicFramePr>
        <p:xfrm>
          <a:off x="1390425" y="4399384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3779912" y="4823962"/>
            <a:ext cx="6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元素</a:t>
            </a:r>
          </a:p>
        </p:txBody>
      </p:sp>
      <p:grpSp>
        <p:nvGrpSpPr>
          <p:cNvPr id="17415" name="组合 17414"/>
          <p:cNvGrpSpPr/>
          <p:nvPr/>
        </p:nvGrpSpPr>
        <p:grpSpPr>
          <a:xfrm>
            <a:off x="693865" y="4854487"/>
            <a:ext cx="5025150" cy="1200224"/>
            <a:chOff x="693865" y="5514247"/>
            <a:chExt cx="5025150" cy="1200224"/>
          </a:xfrm>
        </p:grpSpPr>
        <p:sp>
          <p:nvSpPr>
            <p:cNvPr id="38" name="矩形 37"/>
            <p:cNvSpPr/>
            <p:nvPr/>
          </p:nvSpPr>
          <p:spPr>
            <a:xfrm>
              <a:off x="693865" y="6345139"/>
              <a:ext cx="38779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vector&lt;T&gt;::iterator </a:t>
              </a:r>
              <a:r>
                <a:rPr lang="zh-CN" altLang="en-US" sz="18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迭代器变量</a:t>
              </a:r>
              <a:r>
                <a:rPr lang="en-US" altLang="zh-CN" sz="1800" dirty="0">
                  <a:solidFill>
                    <a:srgbClr val="C00000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1800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5157662" y="6445991"/>
              <a:ext cx="561353" cy="24700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414" name="直接箭头连接符 17413"/>
            <p:cNvCxnSpPr/>
            <p:nvPr/>
          </p:nvCxnSpPr>
          <p:spPr>
            <a:xfrm flipH="1" flipV="1">
              <a:off x="4355976" y="5514247"/>
              <a:ext cx="985315" cy="830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5555771" y="4407549"/>
            <a:ext cx="412957" cy="466044"/>
            <a:chOff x="5555771" y="5067309"/>
            <a:chExt cx="412957" cy="466044"/>
          </a:xfrm>
        </p:grpSpPr>
        <p:sp>
          <p:nvSpPr>
            <p:cNvPr id="18" name="矩形 17"/>
            <p:cNvSpPr/>
            <p:nvPr/>
          </p:nvSpPr>
          <p:spPr>
            <a:xfrm>
              <a:off x="5555771" y="5067309"/>
              <a:ext cx="412957" cy="448307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5555771" y="5089669"/>
              <a:ext cx="412957" cy="44368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5637507" y="5111568"/>
              <a:ext cx="279848" cy="36201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246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29600" y="-133822"/>
            <a:ext cx="8229600" cy="1143000"/>
          </a:xfrm>
          <a:noFill/>
          <a:ln/>
        </p:spPr>
        <p:txBody>
          <a:bodyPr/>
          <a:lstStyle/>
          <a:p>
            <a:r>
              <a:rPr lang="en-US" altLang="zh-CN" dirty="0"/>
              <a:t>list</a:t>
            </a:r>
            <a:r>
              <a:rPr lang="zh-CN" altLang="en-US" dirty="0"/>
              <a:t>中的迭代器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33400" y="2667000"/>
            <a:ext cx="8280920" cy="2881884"/>
            <a:chOff x="593950" y="3717033"/>
            <a:chExt cx="8280920" cy="2881884"/>
          </a:xfrm>
        </p:grpSpPr>
        <p:grpSp>
          <p:nvGrpSpPr>
            <p:cNvPr id="5" name="组合 4"/>
            <p:cNvGrpSpPr/>
            <p:nvPr/>
          </p:nvGrpSpPr>
          <p:grpSpPr>
            <a:xfrm>
              <a:off x="881982" y="4307264"/>
              <a:ext cx="7524836" cy="2014944"/>
              <a:chOff x="503548" y="3789040"/>
              <a:chExt cx="8388932" cy="2339863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3548" y="3789040"/>
                <a:ext cx="8280920" cy="2339863"/>
              </a:xfrm>
              <a:prstGeom prst="rect">
                <a:avLst/>
              </a:prstGeom>
            </p:spPr>
          </p:pic>
          <p:sp>
            <p:nvSpPr>
              <p:cNvPr id="3" name="矩形 2"/>
              <p:cNvSpPr/>
              <p:nvPr/>
            </p:nvSpPr>
            <p:spPr>
              <a:xfrm>
                <a:off x="2647034" y="3972148"/>
                <a:ext cx="1008112" cy="50405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5275326" y="3972148"/>
                <a:ext cx="1008112" cy="504056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03548" y="5296355"/>
                <a:ext cx="8388932" cy="724986"/>
              </a:xfrm>
              <a:prstGeom prst="rect">
                <a:avLst/>
              </a:prstGeom>
              <a:solidFill>
                <a:srgbClr val="FFFF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例如：整个列表作为迭代范围：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42903" y="6229584"/>
              <a:ext cx="147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solidFill>
                    <a:srgbClr val="C00000"/>
                  </a:solidFill>
                </a:rPr>
                <a:t>列表中元素</a:t>
              </a:r>
            </a:p>
          </p:txBody>
        </p:sp>
      </p:grp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395456" y="802998"/>
            <a:ext cx="8497887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75000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list</a:t>
            </a: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中定义</a:t>
            </a:r>
            <a:endParaRPr lang="en-US" altLang="zh-CN" sz="2000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SzPct val="75000"/>
            </a:pP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迭代器类 </a:t>
            </a:r>
            <a:r>
              <a:rPr lang="en-US" altLang="zh-CN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list&lt;T&gt;::iterator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//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其重载</a:t>
            </a:r>
            <a:r>
              <a:rPr lang="en-US" altLang="zh-CN" sz="2000" dirty="0">
                <a:solidFill>
                  <a:srgbClr val="7030A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++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指向下个元素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SzPct val="75000"/>
            </a:pPr>
            <a:r>
              <a:rPr lang="en-US" altLang="zh-CN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begin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返回第一个元素的迭代器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SzPct val="75000"/>
            </a:pPr>
            <a:r>
              <a:rPr lang="en-US" altLang="zh-CN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end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返回最后一个元素的下一个位置的迭代器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SzPct val="75000"/>
            </a:pP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4842" y="5599310"/>
            <a:ext cx="46474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list&lt;T&gt;::iterator 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</a:rPr>
              <a:t>迭代器变量</a:t>
            </a:r>
            <a:r>
              <a:rPr lang="en-US" altLang="zh-CN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zh-CN" altLang="en-US" dirty="0"/>
          </a:p>
        </p:txBody>
      </p:sp>
      <p:cxnSp>
        <p:nvCxnSpPr>
          <p:cNvPr id="18" name="直接箭头连接符 17"/>
          <p:cNvCxnSpPr>
            <a:stCxn id="23" idx="0"/>
          </p:cNvCxnSpPr>
          <p:nvPr/>
        </p:nvCxnSpPr>
        <p:spPr>
          <a:xfrm flipV="1">
            <a:off x="5359316" y="5113206"/>
            <a:ext cx="126802" cy="586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078639" y="5700162"/>
            <a:ext cx="561353" cy="247007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034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39552" y="1143000"/>
            <a:ext cx="4788532" cy="526297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&lt;vector&gt;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&lt;list&gt;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&lt;iterator&gt;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&lt;algorithm&gt;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&lt;functional&gt;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/</a:t>
            </a:r>
            <a:r>
              <a:rPr lang="zh-CN" altLang="en-US" sz="1400" dirty="0">
                <a:solidFill>
                  <a:srgbClr val="000000"/>
                </a:solidFill>
                <a:latin typeface="Consolas"/>
              </a:rPr>
              <a:t>* 泛型程序算法 *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/</a:t>
            </a:r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IT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(IT begin, IT end)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   for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(IT it=begin; it!=end; it++)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{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*it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list&lt;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myV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10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>
                <a:solidFill>
                  <a:srgbClr val="008000"/>
                </a:solidFill>
                <a:latin typeface="Consolas"/>
              </a:rPr>
              <a:t>/*</a:t>
            </a:r>
            <a:r>
              <a:rPr lang="zh-CN" altLang="en-US" sz="1400" dirty="0">
                <a:solidFill>
                  <a:srgbClr val="008000"/>
                </a:solidFill>
                <a:latin typeface="Consolas"/>
              </a:rPr>
              <a:t>打印*</a:t>
            </a:r>
            <a:r>
              <a:rPr lang="en-US" altLang="zh-CN" sz="1400" dirty="0">
                <a:solidFill>
                  <a:srgbClr val="008000"/>
                </a:solidFill>
                <a:latin typeface="Consolas"/>
              </a:rPr>
              <a:t>/</a:t>
            </a:r>
            <a:endParaRPr lang="zh-CN" altLang="en-US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myV.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myV.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    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vector </a:t>
            </a:r>
            <a:r>
              <a:rPr lang="zh-CN" altLang="en-US" dirty="0"/>
              <a:t>和 </a:t>
            </a:r>
            <a:r>
              <a:rPr lang="en-US" altLang="zh-CN" dirty="0"/>
              <a:t>list </a:t>
            </a:r>
            <a:r>
              <a:rPr lang="zh-CN" altLang="en-US" dirty="0"/>
              <a:t>添加</a:t>
            </a:r>
            <a:r>
              <a:rPr lang="en-US" altLang="zh-CN" dirty="0"/>
              <a:t>print</a:t>
            </a:r>
            <a:r>
              <a:rPr lang="zh-CN" altLang="en-US" dirty="0"/>
              <a:t>算法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2894802"/>
            <a:ext cx="3636404" cy="1690573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76800" y="5106583"/>
            <a:ext cx="3191256" cy="83099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print </a:t>
            </a:r>
            <a:r>
              <a:rPr lang="zh-CN" altLang="en-US" dirty="0"/>
              <a:t>是 泛型程序，</a:t>
            </a:r>
            <a:endParaRPr lang="en-US" altLang="zh-CN" dirty="0"/>
          </a:p>
          <a:p>
            <a:r>
              <a:rPr lang="zh-CN" altLang="en-US" dirty="0"/>
              <a:t>它还可以用于其他的容器</a:t>
            </a:r>
            <a:endParaRPr lang="en-US" altLang="zh-CN" dirty="0"/>
          </a:p>
          <a:p>
            <a:r>
              <a:rPr lang="zh-CN" altLang="en-US" dirty="0"/>
              <a:t>（只要这些容器提供了迭代器）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1188720" y="5686182"/>
            <a:ext cx="3688080" cy="257418"/>
          </a:xfrm>
          <a:custGeom>
            <a:avLst/>
            <a:gdLst>
              <a:gd name="connsiteX0" fmla="*/ 2935224 w 2935224"/>
              <a:gd name="connsiteY0" fmla="*/ 64008 h 257418"/>
              <a:gd name="connsiteX1" fmla="*/ 2313432 w 2935224"/>
              <a:gd name="connsiteY1" fmla="*/ 100584 h 257418"/>
              <a:gd name="connsiteX2" fmla="*/ 950976 w 2935224"/>
              <a:gd name="connsiteY2" fmla="*/ 256032 h 257418"/>
              <a:gd name="connsiteX3" fmla="*/ 0 w 2935224"/>
              <a:gd name="connsiteY3" fmla="*/ 0 h 25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5224" h="257418">
                <a:moveTo>
                  <a:pt x="2935224" y="64008"/>
                </a:moveTo>
                <a:cubicBezTo>
                  <a:pt x="2789682" y="66294"/>
                  <a:pt x="2644140" y="68580"/>
                  <a:pt x="2313432" y="100584"/>
                </a:cubicBezTo>
                <a:cubicBezTo>
                  <a:pt x="1982724" y="132588"/>
                  <a:pt x="1336548" y="272796"/>
                  <a:pt x="950976" y="256032"/>
                </a:cubicBezTo>
                <a:cubicBezTo>
                  <a:pt x="565404" y="239268"/>
                  <a:pt x="282702" y="11963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38800" y="3886200"/>
            <a:ext cx="1883849" cy="338554"/>
          </a:xfrm>
          <a:prstGeom prst="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1 1 1 1 1 1 1 1 1 1</a:t>
            </a:r>
          </a:p>
        </p:txBody>
      </p:sp>
    </p:spTree>
    <p:extLst>
      <p:ext uri="{BB962C8B-B14F-4D97-AF65-F5344CB8AC3E}">
        <p14:creationId xmlns:p14="http://schemas.microsoft.com/office/powerpoint/2010/main" val="156882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7.1.2  STL</a:t>
            </a:r>
            <a:r>
              <a:rPr lang="zh-CN" altLang="en-US" dirty="0">
                <a:ea typeface="宋体" panose="02010600030101010101" pitchFamily="2" charset="-122"/>
              </a:rPr>
              <a:t>概念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60428" y="1052736"/>
            <a:ext cx="5535572" cy="56626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STL </a:t>
            </a:r>
            <a:r>
              <a:rPr lang="zh-CN" altLang="en-US" sz="2400" dirty="0"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Standard Template Library</a:t>
            </a:r>
            <a:r>
              <a:rPr lang="en-US" altLang="zh-CN" sz="2400" dirty="0"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ea typeface="宋体" panose="02010600030101010101" pitchFamily="2" charset="-122"/>
              </a:rPr>
              <a:t>提供了模板化的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通用类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通用函数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dirty="0">
                <a:ea typeface="宋体" panose="02010600030101010101" pitchFamily="2" charset="-122"/>
              </a:rPr>
              <a:t>C</a:t>
            </a:r>
            <a:r>
              <a:rPr lang="en-US" altLang="zh-CN" sz="2400" dirty="0"/>
              <a:t>++ </a:t>
            </a:r>
            <a:r>
              <a:rPr lang="zh-CN" altLang="en-US" sz="2400" dirty="0"/>
              <a:t>标准库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29400" y="4246463"/>
            <a:ext cx="2304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1200" dirty="0">
              <a:solidFill>
                <a:srgbClr val="000000"/>
              </a:solidFill>
            </a:endParaRPr>
          </a:p>
          <a:p>
            <a:r>
              <a:rPr lang="en-US" altLang="zh-CN" dirty="0">
                <a:solidFill>
                  <a:srgbClr val="004385"/>
                </a:solidFill>
              </a:rPr>
              <a:t>Alex </a:t>
            </a:r>
            <a:r>
              <a:rPr lang="en-US" altLang="zh-CN" dirty="0" err="1">
                <a:solidFill>
                  <a:srgbClr val="004385"/>
                </a:solidFill>
              </a:rPr>
              <a:t>Stepanov</a:t>
            </a:r>
            <a:endParaRPr lang="zh-CN" altLang="en-US" dirty="0">
              <a:solidFill>
                <a:srgbClr val="004385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676400"/>
            <a:ext cx="1961043" cy="25700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84400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406569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7.1.2 STL</a:t>
            </a:r>
            <a:r>
              <a:rPr lang="zh-CN" altLang="en-US" dirty="0">
                <a:ea typeface="宋体" panose="02010600030101010101" pitchFamily="2" charset="-122"/>
              </a:rPr>
              <a:t>概念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43000"/>
            <a:ext cx="7963634" cy="313974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09600" y="789875"/>
            <a:ext cx="22701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STL</a:t>
            </a:r>
            <a:r>
              <a:rPr lang="zh-CN" altLang="en-US" dirty="0"/>
              <a:t>的基本组件</a:t>
            </a:r>
          </a:p>
        </p:txBody>
      </p:sp>
      <p:sp>
        <p:nvSpPr>
          <p:cNvPr id="4" name="矩形 3"/>
          <p:cNvSpPr/>
          <p:nvPr/>
        </p:nvSpPr>
        <p:spPr>
          <a:xfrm>
            <a:off x="1371600" y="4495800"/>
            <a:ext cx="58619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算法操作数据，但不知道容器</a:t>
            </a:r>
            <a:endParaRPr lang="en-US" altLang="zh-CN" sz="2000" dirty="0"/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容器存储数据，但不知道算法</a:t>
            </a:r>
            <a:endParaRPr lang="en-US" altLang="zh-CN" sz="2000" dirty="0"/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算法和容器通过迭代器进行交互 </a:t>
            </a:r>
            <a:endParaRPr lang="en-US" altLang="zh-CN" sz="2000" dirty="0"/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每个容器都有自己 的迭代器类型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7BDF72-6B2D-9348-A330-B639DA3CE547}"/>
              </a:ext>
            </a:extLst>
          </p:cNvPr>
          <p:cNvSpPr txBox="1"/>
          <p:nvPr/>
        </p:nvSpPr>
        <p:spPr>
          <a:xfrm>
            <a:off x="2514600" y="11430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读出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7E0D78-A079-7549-BD30-85DA6F0B3B57}"/>
              </a:ext>
            </a:extLst>
          </p:cNvPr>
          <p:cNvSpPr txBox="1"/>
          <p:nvPr/>
        </p:nvSpPr>
        <p:spPr>
          <a:xfrm>
            <a:off x="5791200" y="11430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写入</a:t>
            </a:r>
          </a:p>
        </p:txBody>
      </p:sp>
    </p:spTree>
    <p:extLst>
      <p:ext uri="{BB962C8B-B14F-4D97-AF65-F5344CB8AC3E}">
        <p14:creationId xmlns:p14="http://schemas.microsoft.com/office/powerpoint/2010/main" val="3106955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19881"/>
            <a:ext cx="8229600" cy="114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7.1.2  STL</a:t>
            </a:r>
            <a:r>
              <a:rPr lang="zh-CN" altLang="en-US" dirty="0">
                <a:ea typeface="宋体" panose="02010600030101010101" pitchFamily="2" charset="-122"/>
              </a:rPr>
              <a:t>概念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9552" y="1023119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例： </a:t>
            </a:r>
            <a:r>
              <a:rPr lang="en-US" altLang="zh-CN" dirty="0"/>
              <a:t>STL</a:t>
            </a:r>
            <a:r>
              <a:rPr lang="zh-CN" altLang="en-US" dirty="0"/>
              <a:t>程序示例：输入</a:t>
            </a:r>
            <a:r>
              <a:rPr lang="en-US" altLang="zh-CN" dirty="0"/>
              <a:t>5</a:t>
            </a:r>
            <a:r>
              <a:rPr lang="zh-CN" altLang="en-US" dirty="0"/>
              <a:t>个整数，并输出它们的相反数</a:t>
            </a:r>
          </a:p>
        </p:txBody>
      </p:sp>
      <p:sp>
        <p:nvSpPr>
          <p:cNvPr id="9" name="矩形 8"/>
          <p:cNvSpPr/>
          <p:nvPr/>
        </p:nvSpPr>
        <p:spPr>
          <a:xfrm>
            <a:off x="647760" y="1484784"/>
            <a:ext cx="6819840" cy="483209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&lt;vector&gt;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&lt;iterator&gt;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&lt;algorithm&gt;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&lt;functional&gt;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N =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vector&lt;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(N);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    for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&lt;N;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&gt;&gt; s[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transform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s.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(),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s.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(),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ostream_iterator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),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      negate&lt;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&gt;() 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43855" y="2562002"/>
            <a:ext cx="2286000" cy="58477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1 2 3 4 5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-1 -2 -3 -4 -5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CF052B-5254-B24A-B854-5755EEBBD2E1}"/>
              </a:ext>
            </a:extLst>
          </p:cNvPr>
          <p:cNvSpPr txBox="1"/>
          <p:nvPr/>
        </p:nvSpPr>
        <p:spPr>
          <a:xfrm>
            <a:off x="4314722" y="5063700"/>
            <a:ext cx="1278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函数对象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276F22-ABC7-B948-82BB-600734C7B523}"/>
              </a:ext>
            </a:extLst>
          </p:cNvPr>
          <p:cNvSpPr txBox="1"/>
          <p:nvPr/>
        </p:nvSpPr>
        <p:spPr>
          <a:xfrm>
            <a:off x="2859088" y="3418194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// </a:t>
            </a:r>
            <a:r>
              <a:rPr lang="zh-CN" altLang="en-US" sz="1800" dirty="0">
                <a:solidFill>
                  <a:srgbClr val="FF0000"/>
                </a:solidFill>
              </a:rPr>
              <a:t>容器：向量，</a:t>
            </a:r>
            <a:r>
              <a:rPr lang="zh-CN" altLang="en-US" sz="1800" dirty="0"/>
              <a:t>容纳</a:t>
            </a:r>
            <a:r>
              <a:rPr lang="zh-CN" altLang="en-US" sz="1800" dirty="0">
                <a:solidFill>
                  <a:srgbClr val="FF0000"/>
                </a:solidFill>
              </a:rPr>
              <a:t>一组元素</a:t>
            </a:r>
            <a:r>
              <a:rPr lang="zh-CN" altLang="en-US" sz="1800" dirty="0"/>
              <a:t>的对象。</a:t>
            </a:r>
          </a:p>
          <a:p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D5E354-7A27-BE42-B156-C011A7F06FE0}"/>
              </a:ext>
            </a:extLst>
          </p:cNvPr>
          <p:cNvSpPr txBox="1"/>
          <p:nvPr/>
        </p:nvSpPr>
        <p:spPr>
          <a:xfrm>
            <a:off x="228600" y="4464959"/>
            <a:ext cx="1705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算法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0F17C7-CE97-5441-9190-4A4BDCF344DF}"/>
              </a:ext>
            </a:extLst>
          </p:cNvPr>
          <p:cNvSpPr txBox="1"/>
          <p:nvPr/>
        </p:nvSpPr>
        <p:spPr>
          <a:xfrm>
            <a:off x="3705476" y="4511340"/>
            <a:ext cx="387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// </a:t>
            </a:r>
            <a:r>
              <a:rPr lang="zh-CN" altLang="en-US" sz="1800" dirty="0">
                <a:solidFill>
                  <a:srgbClr val="FF0000"/>
                </a:solidFill>
              </a:rPr>
              <a:t>迭代器</a:t>
            </a:r>
            <a:r>
              <a:rPr lang="en-US" altLang="zh-CN" sz="1800" dirty="0">
                <a:solidFill>
                  <a:srgbClr val="FF0000"/>
                </a:solidFill>
              </a:rPr>
              <a:t>:</a:t>
            </a:r>
            <a:r>
              <a:rPr lang="zh-CN" altLang="en-US" sz="1800" dirty="0"/>
              <a:t>是</a:t>
            </a:r>
            <a:r>
              <a:rPr lang="zh-CN" altLang="en-US" sz="1800" dirty="0">
                <a:solidFill>
                  <a:srgbClr val="FF0000"/>
                </a:solidFill>
              </a:rPr>
              <a:t>指示</a:t>
            </a:r>
            <a:r>
              <a:rPr lang="zh-CN" altLang="en-US" sz="1800" dirty="0"/>
              <a:t>容器中的</a:t>
            </a:r>
            <a:r>
              <a:rPr lang="zh-CN" altLang="en-US" sz="1800" dirty="0">
                <a:solidFill>
                  <a:srgbClr val="FF0000"/>
                </a:solidFill>
              </a:rPr>
              <a:t>元素位置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5A80E2-2C8A-8845-A78F-22CB24E4E089}"/>
              </a:ext>
            </a:extLst>
          </p:cNvPr>
          <p:cNvSpPr txBox="1"/>
          <p:nvPr/>
        </p:nvSpPr>
        <p:spPr>
          <a:xfrm>
            <a:off x="5451178" y="4821368"/>
            <a:ext cx="205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</a:rPr>
              <a:t>// </a:t>
            </a:r>
            <a:r>
              <a:rPr lang="zh-CN" altLang="en-US" sz="1800" dirty="0">
                <a:solidFill>
                  <a:srgbClr val="FF0000"/>
                </a:solidFill>
              </a:rPr>
              <a:t>迭代器</a:t>
            </a:r>
            <a:r>
              <a:rPr lang="en-US" altLang="zh-CN" sz="1800" dirty="0">
                <a:solidFill>
                  <a:srgbClr val="FF0000"/>
                </a:solidFill>
              </a:rPr>
              <a:t>:</a:t>
            </a:r>
            <a:r>
              <a:rPr lang="zh-CN" altLang="en-US" sz="1800" dirty="0"/>
              <a:t>输出流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892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</a:t>
            </a:r>
            <a:r>
              <a:rPr lang="zh-CN" altLang="en-US" dirty="0">
                <a:ea typeface="宋体" panose="02010600030101010101" pitchFamily="2" charset="-122"/>
              </a:rPr>
              <a:t>迭代器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4978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r>
              <a:rPr kumimoji="0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迭代器</a:t>
            </a:r>
            <a:r>
              <a:rPr kumimoji="0" lang="zh-CN" altLang="en-US" dirty="0"/>
              <a:t>（</a:t>
            </a:r>
            <a:r>
              <a:rPr kumimoji="0" lang="en-US" altLang="zh-CN" dirty="0">
                <a:solidFill>
                  <a:srgbClr val="FF0000"/>
                </a:solidFill>
              </a:rPr>
              <a:t>iterator</a:t>
            </a:r>
            <a:r>
              <a:rPr kumimoji="0" lang="zh-CN" altLang="en-US" dirty="0"/>
              <a:t>）</a:t>
            </a:r>
            <a:r>
              <a:rPr kumimoji="0" lang="zh-CN" altLang="en-US" dirty="0">
                <a:solidFill>
                  <a:srgbClr val="C00000"/>
                </a:solidFill>
              </a:rPr>
              <a:t>：</a:t>
            </a:r>
            <a:r>
              <a:rPr kumimoji="0" lang="zh-CN" altLang="en-US" sz="2400" dirty="0">
                <a:solidFill>
                  <a:srgbClr val="C00000"/>
                </a:solidFill>
              </a:rPr>
              <a:t>提供了顺序访问</a:t>
            </a:r>
            <a:r>
              <a:rPr kumimoji="0" lang="zh-CN" altLang="en-US" sz="2400" dirty="0"/>
              <a:t>容器中每个元素的方法。</a:t>
            </a:r>
            <a:endParaRPr kumimoji="0" lang="en-US" altLang="zh-CN" sz="240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endParaRPr kumimoji="0" lang="en-US" altLang="zh-CN" sz="2400" dirty="0"/>
          </a:p>
          <a:p>
            <a:r>
              <a:rPr lang="en-US" altLang="zh-CN" dirty="0"/>
              <a:t>STL</a:t>
            </a:r>
            <a:r>
              <a:rPr lang="zh-CN" altLang="en-US" dirty="0"/>
              <a:t>的每一个容器都定义了嵌套的迭代器。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6600"/>
                </a:solidFill>
              </a:rPr>
              <a:t>container&lt;T&gt;::iterator</a:t>
            </a:r>
          </a:p>
          <a:p>
            <a:pPr marL="0" indent="0">
              <a:buNone/>
            </a:pPr>
            <a:r>
              <a:rPr lang="zh-CN" altLang="en-US" dirty="0"/>
              <a:t>例如：类</a:t>
            </a:r>
            <a:r>
              <a:rPr lang="en-US" altLang="zh-CN" dirty="0">
                <a:solidFill>
                  <a:srgbClr val="006600"/>
                </a:solidFill>
              </a:rPr>
              <a:t>vector&lt;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&gt;</a:t>
            </a:r>
            <a:r>
              <a:rPr lang="zh-CN" altLang="en-US" dirty="0"/>
              <a:t>中定义了迭代器： </a:t>
            </a:r>
            <a:r>
              <a:rPr lang="en-US" altLang="zh-CN" dirty="0">
                <a:solidFill>
                  <a:srgbClr val="006600"/>
                </a:solidFill>
              </a:rPr>
              <a:t>vector&lt;</a:t>
            </a:r>
            <a:r>
              <a:rPr lang="en-US" altLang="zh-CN" dirty="0" err="1">
                <a:solidFill>
                  <a:srgbClr val="006600"/>
                </a:solidFill>
              </a:rPr>
              <a:t>int</a:t>
            </a:r>
            <a:r>
              <a:rPr lang="en-US" altLang="zh-CN" dirty="0">
                <a:solidFill>
                  <a:srgbClr val="006600"/>
                </a:solidFill>
              </a:rPr>
              <a:t>&gt;::iterator</a:t>
            </a:r>
          </a:p>
          <a:p>
            <a:endParaRPr lang="en-US" altLang="zh-CN" dirty="0"/>
          </a:p>
          <a:p>
            <a:r>
              <a:rPr lang="zh-CN" altLang="en-US" dirty="0"/>
              <a:t>函数使用迭代器访问容器中指定的元素，无需关心元素的具体类型。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endParaRPr kumimoji="0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889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迭代器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447800"/>
            <a:ext cx="50482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46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7.2.3 </a:t>
            </a:r>
            <a:r>
              <a:rPr lang="zh-CN" altLang="en-US" dirty="0"/>
              <a:t>迭代器的类型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7239000" cy="4495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输入迭代器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可以用来从序列中读取数据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输出迭代器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允许向序列中写入数据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前向迭代器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可以对序列进行单向的遍历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双向迭代器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可在两个方向上对数据遍历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随机访问迭代器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/>
              <a:t>也是双向迭代器，可在序列中的任意两个位置间跳转</a:t>
            </a:r>
          </a:p>
        </p:txBody>
      </p:sp>
    </p:spTree>
    <p:extLst>
      <p:ext uri="{BB962C8B-B14F-4D97-AF65-F5344CB8AC3E}">
        <p14:creationId xmlns:p14="http://schemas.microsoft.com/office/powerpoint/2010/main" val="3524040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5281" y="12575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7.2 </a:t>
            </a:r>
            <a:r>
              <a:rPr lang="zh-CN" altLang="en-US" dirty="0">
                <a:ea typeface="宋体" panose="02010600030101010101" pitchFamily="2" charset="-122"/>
              </a:rPr>
              <a:t>迭代器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 txBox="1">
            <a:spLocks noChangeArrowheads="1"/>
          </p:cNvSpPr>
          <p:nvPr/>
        </p:nvSpPr>
        <p:spPr bwMode="auto">
          <a:xfrm>
            <a:off x="457200" y="1125445"/>
            <a:ext cx="8497887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fontAlgn="base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r>
              <a:rPr kumimoji="0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迭代器</a:t>
            </a:r>
            <a:r>
              <a:rPr kumimoji="0" lang="zh-CN" altLang="en-US" dirty="0"/>
              <a:t>（</a:t>
            </a:r>
            <a:r>
              <a:rPr kumimoji="0" lang="en-US" altLang="zh-CN" dirty="0">
                <a:solidFill>
                  <a:srgbClr val="FF0000"/>
                </a:solidFill>
              </a:rPr>
              <a:t>iterator</a:t>
            </a:r>
            <a:r>
              <a:rPr kumimoji="0" lang="zh-CN" altLang="en-US" dirty="0"/>
              <a:t>），</a:t>
            </a:r>
          </a:p>
        </p:txBody>
      </p:sp>
      <p:sp>
        <p:nvSpPr>
          <p:cNvPr id="18436" name="矩形 4"/>
          <p:cNvSpPr>
            <a:spLocks noChangeArrowheads="1"/>
          </p:cNvSpPr>
          <p:nvPr/>
        </p:nvSpPr>
        <p:spPr bwMode="auto">
          <a:xfrm>
            <a:off x="3319606" y="1139192"/>
            <a:ext cx="2520950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70C0"/>
                </a:solidFill>
              </a:rPr>
              <a:t>泛化的指针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66801" y="3156354"/>
            <a:ext cx="5867399" cy="232371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6600"/>
                </a:solidFill>
              </a:rPr>
              <a:t>++it</a:t>
            </a:r>
            <a:r>
              <a:rPr lang="en-US" altLang="zh-CN" sz="2000" dirty="0">
                <a:solidFill>
                  <a:srgbClr val="0070C0"/>
                </a:solidFill>
              </a:rPr>
              <a:t>   </a:t>
            </a:r>
            <a:r>
              <a:rPr lang="zh-CN" altLang="en-US" sz="2000" dirty="0">
                <a:solidFill>
                  <a:srgbClr val="0070C0"/>
                </a:solidFill>
              </a:rPr>
              <a:t>指向下一个元素的迭代器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6600"/>
                </a:solidFill>
              </a:rPr>
              <a:t>it++</a:t>
            </a:r>
          </a:p>
          <a:p>
            <a:pPr eaLnBrk="1" hangingPunct="1">
              <a:spcBef>
                <a:spcPts val="600"/>
              </a:spcBef>
              <a:defRPr/>
            </a:pPr>
            <a:endParaRPr lang="en-US" altLang="zh-CN" sz="2000" dirty="0">
              <a:solidFill>
                <a:srgbClr val="00660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000" dirty="0">
                <a:solidFill>
                  <a:srgbClr val="006600"/>
                </a:solidFill>
              </a:rPr>
              <a:t>*</a:t>
            </a:r>
            <a:r>
              <a:rPr lang="en-US" altLang="zh-CN" sz="2000" dirty="0">
                <a:solidFill>
                  <a:srgbClr val="006600"/>
                </a:solidFill>
              </a:rPr>
              <a:t>it   </a:t>
            </a:r>
            <a:r>
              <a:rPr lang="zh-CN" altLang="en-US" sz="2000" dirty="0">
                <a:solidFill>
                  <a:srgbClr val="0070C0"/>
                </a:solidFill>
              </a:rPr>
              <a:t>获取迭代器所指向元素的引用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2000" dirty="0">
                <a:solidFill>
                  <a:srgbClr val="006600"/>
                </a:solidFill>
              </a:rPr>
              <a:t>it-&gt;mem</a:t>
            </a:r>
            <a:r>
              <a:rPr lang="en-US" altLang="zh-CN" sz="2000" dirty="0">
                <a:solidFill>
                  <a:srgbClr val="0070C0"/>
                </a:solidFill>
              </a:rPr>
              <a:t>   </a:t>
            </a:r>
            <a:r>
              <a:rPr lang="zh-CN" altLang="en-US" sz="2000" dirty="0">
                <a:solidFill>
                  <a:srgbClr val="0070C0"/>
                </a:solidFill>
              </a:rPr>
              <a:t>获取迭代器指向元素的成员</a:t>
            </a:r>
            <a:r>
              <a:rPr lang="en-US" altLang="zh-CN" sz="2000" dirty="0">
                <a:solidFill>
                  <a:srgbClr val="0070C0"/>
                </a:solidFill>
              </a:rPr>
              <a:t>mem</a:t>
            </a:r>
          </a:p>
        </p:txBody>
      </p:sp>
      <p:sp>
        <p:nvSpPr>
          <p:cNvPr id="2" name="矩形 1"/>
          <p:cNvSpPr/>
          <p:nvPr/>
        </p:nvSpPr>
        <p:spPr>
          <a:xfrm>
            <a:off x="1143000" y="2414404"/>
            <a:ext cx="314701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buFontTx/>
              <a:buNone/>
              <a:defRPr/>
            </a:pPr>
            <a:r>
              <a:rPr lang="zh-CN" altLang="en-US" sz="2000" dirty="0"/>
              <a:t>若</a:t>
            </a:r>
            <a:r>
              <a:rPr lang="en-US" altLang="zh-CN" sz="2000" dirty="0"/>
              <a:t>it</a:t>
            </a:r>
            <a:r>
              <a:rPr lang="zh-CN" altLang="en-US" sz="2000" dirty="0"/>
              <a:t>为迭代器，常用操作：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411760" y="1826342"/>
            <a:ext cx="4968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但迭代器是类，所以不能赋值为</a:t>
            </a:r>
            <a:r>
              <a:rPr lang="en-US" altLang="zh-CN" sz="2000" dirty="0">
                <a:solidFill>
                  <a:srgbClr val="FF0000"/>
                </a:solidFill>
              </a:rPr>
              <a:t>NULL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631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7.2 </a:t>
            </a:r>
            <a:r>
              <a:rPr lang="zh-CN" altLang="en-US" dirty="0">
                <a:ea typeface="宋体" panose="02010600030101010101" pitchFamily="2" charset="-122"/>
              </a:rPr>
              <a:t>迭代器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77126" y="2253970"/>
            <a:ext cx="298671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Input</a:t>
            </a:r>
            <a:r>
              <a:rPr lang="zh-CN" altLang="en-US" dirty="0">
                <a:solidFill>
                  <a:srgbClr val="C00000"/>
                </a:solidFill>
              </a:rPr>
              <a:t>迭代器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操作符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: </a:t>
            </a:r>
          </a:p>
          <a:p>
            <a:r>
              <a:rPr lang="en-US" altLang="zh-CN" dirty="0"/>
              <a:t>=, *, ++ ,      ==, </a:t>
            </a:r>
            <a:r>
              <a:rPr lang="en-US" altLang="zh-CN" dirty="0">
                <a:ea typeface="宋体" panose="02010600030101010101" pitchFamily="2" charset="-122"/>
              </a:rPr>
              <a:t>!=, -&gt;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401008" y="1099653"/>
            <a:ext cx="3124573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Output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迭代器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操作符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: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=, *, ++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99112" y="3250422"/>
            <a:ext cx="3236784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Forward</a:t>
            </a:r>
            <a:r>
              <a:rPr lang="zh-CN" altLang="en-US" dirty="0">
                <a:solidFill>
                  <a:srgbClr val="C00000"/>
                </a:solidFill>
              </a:rPr>
              <a:t>迭代器操作符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: </a:t>
            </a:r>
          </a:p>
          <a:p>
            <a:r>
              <a:rPr lang="en-US" altLang="zh-CN" dirty="0"/>
              <a:t>=, *,  ++        ==, !=, </a:t>
            </a:r>
            <a:r>
              <a:rPr lang="en-US" altLang="zh-CN" dirty="0">
                <a:ea typeface="宋体" panose="02010600030101010101" pitchFamily="2" charset="-122"/>
              </a:rPr>
              <a:t>-&gt;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354188" y="4370099"/>
            <a:ext cx="3884397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Bidirectional</a:t>
            </a:r>
            <a:r>
              <a:rPr lang="zh-CN" altLang="en-US" dirty="0">
                <a:solidFill>
                  <a:srgbClr val="C00000"/>
                </a:solidFill>
              </a:rPr>
              <a:t>迭代器操作符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: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=, *, ++,        ==, !=, -&gt;,       --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77126" y="5518975"/>
            <a:ext cx="848445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Random</a:t>
            </a:r>
            <a:r>
              <a:rPr lang="zh-CN" altLang="en-US" dirty="0">
                <a:solidFill>
                  <a:srgbClr val="C00000"/>
                </a:solidFill>
              </a:rPr>
              <a:t>迭代器操作符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: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=, *, ++,        ==, !=, -&gt;,       -- ,      +=, -=, -&gt;, +, -,  [n], &lt;, &lt;=, &gt;, &gt;=</a:t>
            </a:r>
          </a:p>
        </p:txBody>
      </p:sp>
    </p:spTree>
    <p:extLst>
      <p:ext uri="{BB962C8B-B14F-4D97-AF65-F5344CB8AC3E}">
        <p14:creationId xmlns:p14="http://schemas.microsoft.com/office/powerpoint/2010/main" val="208146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93087" y="-169342"/>
            <a:ext cx="8229600" cy="1143000"/>
          </a:xfrm>
          <a:noFill/>
          <a:ln/>
        </p:spPr>
        <p:txBody>
          <a:bodyPr/>
          <a:lstStyle/>
          <a:p>
            <a:r>
              <a:rPr lang="en-US" altLang="zh-CN" dirty="0"/>
              <a:t>7.2 </a:t>
            </a:r>
            <a:r>
              <a:rPr lang="zh-CN" altLang="en-US" dirty="0"/>
              <a:t>迭代器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908872"/>
            <a:ext cx="8229600" cy="4525963"/>
          </a:xfrm>
          <a:noFill/>
          <a:ln/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迭代器范围</a:t>
            </a:r>
            <a:r>
              <a:rPr lang="en-US" altLang="zh-CN" dirty="0">
                <a:latin typeface="宋体" panose="02010600030101010101" pitchFamily="2" charset="-122"/>
              </a:rPr>
              <a:t>(iterator range)</a:t>
            </a:r>
          </a:p>
          <a:p>
            <a:pPr marL="319088" lvl="1" indent="0"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左闭右开区间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[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 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zh-CN" altLang="en-US" dirty="0">
                <a:latin typeface="宋体" panose="02010600030101010101" pitchFamily="2" charset="-122"/>
              </a:rPr>
              <a:t>：指向迭代的开始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zh-CN" altLang="en-US" dirty="0">
                <a:latin typeface="宋体" panose="02010600030101010101" pitchFamily="2" charset="-122"/>
              </a:rPr>
              <a:t>：指向迭代的结束（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不含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05880" y="3429000"/>
            <a:ext cx="8280920" cy="2881884"/>
            <a:chOff x="593950" y="3717033"/>
            <a:chExt cx="8280920" cy="2881884"/>
          </a:xfrm>
        </p:grpSpPr>
        <p:grpSp>
          <p:nvGrpSpPr>
            <p:cNvPr id="5" name="组合 4"/>
            <p:cNvGrpSpPr/>
            <p:nvPr/>
          </p:nvGrpSpPr>
          <p:grpSpPr>
            <a:xfrm>
              <a:off x="881982" y="4307264"/>
              <a:ext cx="7524836" cy="2014944"/>
              <a:chOff x="503548" y="3789040"/>
              <a:chExt cx="8388932" cy="2339863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3548" y="3789040"/>
                <a:ext cx="8280920" cy="2339863"/>
              </a:xfrm>
              <a:prstGeom prst="rect">
                <a:avLst/>
              </a:prstGeom>
            </p:spPr>
          </p:pic>
          <p:sp>
            <p:nvSpPr>
              <p:cNvPr id="3" name="矩形 2"/>
              <p:cNvSpPr/>
              <p:nvPr/>
            </p:nvSpPr>
            <p:spPr>
              <a:xfrm>
                <a:off x="2647034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5275326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03548" y="5296354"/>
                <a:ext cx="8388932" cy="724986"/>
              </a:xfrm>
              <a:prstGeom prst="rect">
                <a:avLst/>
              </a:prstGeom>
              <a:solidFill>
                <a:srgbClr val="FFFF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例如：整个列表作为迭代范围：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42903" y="6229584"/>
              <a:ext cx="147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solidFill>
                    <a:srgbClr val="C00000"/>
                  </a:solidFill>
                </a:rPr>
                <a:t>列表中元素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37507" y="4115239"/>
              <a:ext cx="1207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solidFill>
                    <a:srgbClr val="C00000"/>
                  </a:solidFill>
                </a:rPr>
                <a:t>迭代器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7700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7.2.3</a:t>
            </a:r>
            <a:r>
              <a:rPr lang="zh-CN" altLang="en-US" dirty="0"/>
              <a:t>迭代器相关的辅助函数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advance() </a:t>
            </a:r>
            <a:r>
              <a:rPr lang="zh-CN" altLang="en-US" sz="2800" dirty="0"/>
              <a:t>函数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将迭代器的位置增加，增加的幅度由参数决定</a:t>
            </a:r>
            <a:endParaRPr lang="en-US" altLang="zh-CN" sz="2400" dirty="0"/>
          </a:p>
          <a:p>
            <a:pPr lvl="1">
              <a:lnSpc>
                <a:spcPct val="90000"/>
              </a:lnSpc>
            </a:pP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distance()</a:t>
            </a:r>
            <a:r>
              <a:rPr lang="zh-CN" altLang="en-US" sz="2800" dirty="0"/>
              <a:t>函数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返回迭代器之间的距离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70852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7.3 </a:t>
            </a:r>
            <a:r>
              <a:rPr lang="zh-CN" altLang="en-US" dirty="0"/>
              <a:t>容器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容器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dirty="0">
                <a:ea typeface="宋体" panose="02010600030101010101" pitchFamily="2" charset="-122"/>
              </a:rPr>
              <a:t>容纳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一组元素或元素集合</a:t>
            </a:r>
            <a:r>
              <a:rPr lang="zh-CN" altLang="en-US" dirty="0">
                <a:ea typeface="宋体" panose="02010600030101010101" pitchFamily="2" charset="-122"/>
              </a:rPr>
              <a:t>的对象。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480749" y="2514765"/>
            <a:ext cx="6258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顺序容器 </a:t>
            </a:r>
            <a:r>
              <a:rPr lang="zh-CN" altLang="en-US" sz="2400" dirty="0"/>
              <a:t>（</a:t>
            </a:r>
            <a:r>
              <a:rPr lang="en-US" altLang="zh-CN" sz="2400" dirty="0"/>
              <a:t>Sequence container</a:t>
            </a:r>
            <a:r>
              <a:rPr lang="zh-CN" altLang="en-US" sz="2400" dirty="0"/>
              <a:t>）  </a:t>
            </a:r>
            <a:r>
              <a:rPr lang="en-US" altLang="zh-CN" sz="2400" dirty="0"/>
              <a:t>~</a:t>
            </a:r>
            <a:r>
              <a:rPr lang="zh-CN" altLang="en-US" sz="2400" dirty="0"/>
              <a:t>线性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480749" y="3255232"/>
            <a:ext cx="6905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关联容器 </a:t>
            </a:r>
            <a:r>
              <a:rPr lang="zh-CN" altLang="en-US" sz="2400" dirty="0"/>
              <a:t>（</a:t>
            </a:r>
            <a:r>
              <a:rPr lang="en-US" altLang="zh-CN" sz="2400" dirty="0"/>
              <a:t>Associative container</a:t>
            </a:r>
            <a:r>
              <a:rPr lang="zh-CN" altLang="en-US" sz="2400" dirty="0"/>
              <a:t>）</a:t>
            </a:r>
            <a:r>
              <a:rPr lang="en-US" altLang="zh-CN" sz="2400" dirty="0"/>
              <a:t> ~ </a:t>
            </a:r>
            <a:r>
              <a:rPr lang="zh-CN" altLang="en-US" sz="2400" dirty="0"/>
              <a:t>有</a:t>
            </a:r>
            <a:r>
              <a:rPr lang="zh-CN" altLang="en-US" sz="2400" dirty="0">
                <a:solidFill>
                  <a:srgbClr val="FF0000"/>
                </a:solidFill>
              </a:rPr>
              <a:t>索引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5029200" y="4236114"/>
            <a:ext cx="3822367" cy="400110"/>
          </a:xfrm>
          <a:prstGeom prst="rect">
            <a:avLst/>
          </a:prstGeom>
          <a:solidFill>
            <a:srgbClr val="FFFF00">
              <a:alpha val="15000"/>
            </a:srgb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通过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键（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 sz="2000" dirty="0">
                <a:solidFill>
                  <a:srgbClr val="C00000"/>
                </a:solidFill>
              </a:rPr>
              <a:t>访问容器的元素</a:t>
            </a: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7010400" y="3698309"/>
            <a:ext cx="47830" cy="594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96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7.3 </a:t>
            </a:r>
            <a:r>
              <a:rPr lang="zh-CN" altLang="en-US" dirty="0">
                <a:ea typeface="宋体" panose="02010600030101010101" pitchFamily="2" charset="-122"/>
              </a:rPr>
              <a:t>容器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3704" name="Group 216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744170241"/>
              </p:ext>
            </p:extLst>
          </p:nvPr>
        </p:nvGraphicFramePr>
        <p:xfrm>
          <a:off x="381000" y="1905000"/>
          <a:ext cx="8135939" cy="3409077"/>
        </p:xfrm>
        <a:graphic>
          <a:graphicData uri="http://schemas.openxmlformats.org/drawingml/2006/table">
            <a:tbl>
              <a:tblPr/>
              <a:tblGrid>
                <a:gridCol w="2159984">
                  <a:extLst>
                    <a:ext uri="{9D8B030D-6E8A-4147-A177-3AD203B41FA5}">
                      <a16:colId xmlns:a16="http://schemas.microsoft.com/office/drawing/2014/main" val="4264128927"/>
                    </a:ext>
                  </a:extLst>
                </a:gridCol>
                <a:gridCol w="2015985">
                  <a:extLst>
                    <a:ext uri="{9D8B030D-6E8A-4147-A177-3AD203B41FA5}">
                      <a16:colId xmlns:a16="http://schemas.microsoft.com/office/drawing/2014/main" val="323533533"/>
                    </a:ext>
                  </a:extLst>
                </a:gridCol>
                <a:gridCol w="3959970">
                  <a:extLst>
                    <a:ext uri="{9D8B030D-6E8A-4147-A177-3AD203B41FA5}">
                      <a16:colId xmlns:a16="http://schemas.microsoft.com/office/drawing/2014/main" val="3327242279"/>
                    </a:ext>
                  </a:extLst>
                </a:gridCol>
              </a:tblGrid>
              <a:tr h="36580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容器名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头文件名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    明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92834"/>
                  </a:ext>
                </a:extLst>
              </a:tr>
              <a:tr h="392159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vector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&lt;vector&gt;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向量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，直接访问任何元素，动态数组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712039"/>
                  </a:ext>
                </a:extLst>
              </a:tr>
              <a:tr h="37628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array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&lt;array&gt;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静态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数组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，元素个数固定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017784"/>
                  </a:ext>
                </a:extLst>
              </a:tr>
              <a:tr h="37628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list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&lt;list&gt;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双向链表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502885"/>
                  </a:ext>
                </a:extLst>
              </a:tr>
              <a:tr h="40009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forward_list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&lt;forward_list&gt;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单向链表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774047"/>
                  </a:ext>
                </a:extLst>
              </a:tr>
              <a:tr h="40009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deque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deque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双端队列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276829"/>
                  </a:ext>
                </a:extLst>
              </a:tr>
              <a:tr h="36580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stack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&lt;stack&gt;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堆栈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，后进先出（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LIFO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936277"/>
                  </a:ext>
                </a:extLst>
              </a:tr>
              <a:tr h="36580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queue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&lt;queue&gt;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队列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，先进先出（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FIFO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970256"/>
                  </a:ext>
                </a:extLst>
              </a:tr>
              <a:tr h="36675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priority_queue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&lt;queue&gt;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优先级队列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34589"/>
                  </a:ext>
                </a:extLst>
              </a:tr>
            </a:tbl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81000" y="1184275"/>
            <a:ext cx="83534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</a:rPr>
              <a:t>STL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中的</a:t>
            </a:r>
            <a:r>
              <a:rPr kumimoji="0"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顺序容器</a:t>
            </a:r>
            <a:r>
              <a:rPr kumimoji="0" lang="zh-CN" altLang="en-US" sz="2400" b="1" dirty="0">
                <a:solidFill>
                  <a:schemeClr val="accent2"/>
                </a:solidFill>
              </a:rPr>
              <a:t>及头文件名</a:t>
            </a:r>
          </a:p>
        </p:txBody>
      </p:sp>
    </p:spTree>
    <p:extLst>
      <p:ext uri="{BB962C8B-B14F-4D97-AF65-F5344CB8AC3E}">
        <p14:creationId xmlns:p14="http://schemas.microsoft.com/office/powerpoint/2010/main" val="1031223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819" y="-191124"/>
            <a:ext cx="8229600" cy="11430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7.3 </a:t>
            </a:r>
            <a:r>
              <a:rPr lang="zh-CN" altLang="en-US" dirty="0">
                <a:ea typeface="宋体" panose="02010600030101010101" pitchFamily="2" charset="-122"/>
              </a:rPr>
              <a:t>容器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91244" y="914400"/>
            <a:ext cx="8229600" cy="5883559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关联容器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键查找</a:t>
            </a:r>
            <a:endParaRPr lang="en-US" altLang="zh-CN" dirty="0"/>
          </a:p>
          <a:p>
            <a:pPr lvl="1"/>
            <a:r>
              <a:rPr lang="zh-CN" altLang="en-US" dirty="0"/>
              <a:t>对元素快速访问</a:t>
            </a:r>
            <a:endParaRPr lang="en-US" altLang="zh-CN" dirty="0"/>
          </a:p>
          <a:p>
            <a:pPr lvl="1"/>
            <a:r>
              <a:rPr lang="zh-CN" altLang="en-US" dirty="0"/>
              <a:t>允许插入，但不能指定位置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树</a:t>
            </a:r>
            <a:r>
              <a:rPr lang="zh-CN" altLang="en-US" dirty="0"/>
              <a:t>实现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种关联容器：</a:t>
            </a:r>
            <a:endParaRPr lang="en-US" altLang="zh-CN" dirty="0"/>
          </a:p>
          <a:p>
            <a:pPr lvl="2"/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</a:t>
            </a:r>
            <a:r>
              <a:rPr lang="zh-CN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endParaRPr lang="en-US" altLang="zh-CN" sz="24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multiset</a:t>
            </a:r>
          </a:p>
          <a:p>
            <a:pPr lvl="2"/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</a:t>
            </a:r>
          </a:p>
          <a:p>
            <a:pPr lvl="2"/>
            <a:r>
              <a:rPr lang="en-US" altLang="zh-CN" sz="24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multimap</a:t>
            </a:r>
            <a:endParaRPr lang="zh-CN" altLang="en-US" sz="24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600" y="6093296"/>
            <a:ext cx="4725080" cy="400110"/>
          </a:xfrm>
          <a:prstGeom prst="rect">
            <a:avLst/>
          </a:prstGeom>
          <a:solidFill>
            <a:srgbClr val="FFFF00">
              <a:alpha val="1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</a:rPr>
              <a:t>multi </a:t>
            </a:r>
            <a:r>
              <a:rPr lang="zh-CN" altLang="en-US" sz="2000" dirty="0">
                <a:solidFill>
                  <a:srgbClr val="C00000"/>
                </a:solidFill>
              </a:rPr>
              <a:t>指一个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键（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 sz="2000" dirty="0">
                <a:solidFill>
                  <a:srgbClr val="C00000"/>
                </a:solidFill>
              </a:rPr>
              <a:t>可以出现多次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1691680" y="5805264"/>
            <a:ext cx="216024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5076056" y="1102155"/>
            <a:ext cx="3672408" cy="2398853"/>
            <a:chOff x="5076056" y="1102155"/>
            <a:chExt cx="3672408" cy="2398853"/>
          </a:xfrm>
        </p:grpSpPr>
        <p:grpSp>
          <p:nvGrpSpPr>
            <p:cNvPr id="7" name="组合 6"/>
            <p:cNvGrpSpPr/>
            <p:nvPr/>
          </p:nvGrpSpPr>
          <p:grpSpPr>
            <a:xfrm>
              <a:off x="5364088" y="1300115"/>
              <a:ext cx="3158480" cy="1868398"/>
              <a:chOff x="304800" y="685800"/>
              <a:chExt cx="2438400" cy="1600200"/>
            </a:xfrm>
          </p:grpSpPr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2133600" y="16002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304800" y="19812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0" name="Rectangle 12"/>
              <p:cNvSpPr>
                <a:spLocks noChangeArrowheads="1"/>
              </p:cNvSpPr>
              <p:nvPr/>
            </p:nvSpPr>
            <p:spPr bwMode="auto">
              <a:xfrm>
                <a:off x="1524000" y="10668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914400" y="15240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2" name="Line 14"/>
              <p:cNvSpPr>
                <a:spLocks noChangeShapeType="1"/>
              </p:cNvSpPr>
              <p:nvPr/>
            </p:nvSpPr>
            <p:spPr bwMode="auto">
              <a:xfrm>
                <a:off x="1828800" y="12954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 flipH="1">
                <a:off x="1219200" y="1295400"/>
                <a:ext cx="3048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Text Box 16"/>
              <p:cNvSpPr txBox="1">
                <a:spLocks noChangeArrowheads="1"/>
              </p:cNvSpPr>
              <p:nvPr/>
            </p:nvSpPr>
            <p:spPr bwMode="auto">
              <a:xfrm>
                <a:off x="685800" y="700088"/>
                <a:ext cx="8382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set</a:t>
                </a: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 flipH="1">
                <a:off x="609600" y="1752600"/>
                <a:ext cx="3048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Rectangle 18"/>
              <p:cNvSpPr>
                <a:spLocks noChangeArrowheads="1"/>
              </p:cNvSpPr>
              <p:nvPr/>
            </p:nvSpPr>
            <p:spPr bwMode="auto">
              <a:xfrm>
                <a:off x="1524000" y="20574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7" name="Line 19"/>
              <p:cNvSpPr>
                <a:spLocks noChangeShapeType="1"/>
              </p:cNvSpPr>
              <p:nvPr/>
            </p:nvSpPr>
            <p:spPr bwMode="auto">
              <a:xfrm>
                <a:off x="1219200" y="17526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Text Box 38"/>
              <p:cNvSpPr txBox="1">
                <a:spLocks noChangeArrowheads="1"/>
              </p:cNvSpPr>
              <p:nvPr/>
            </p:nvSpPr>
            <p:spPr bwMode="auto">
              <a:xfrm>
                <a:off x="1295400" y="685800"/>
                <a:ext cx="14478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multiset</a:t>
                </a:r>
              </a:p>
            </p:txBody>
          </p:sp>
        </p:grpSp>
        <p:sp>
          <p:nvSpPr>
            <p:cNvPr id="36" name="圆角矩形 35"/>
            <p:cNvSpPr/>
            <p:nvPr/>
          </p:nvSpPr>
          <p:spPr>
            <a:xfrm>
              <a:off x="5076056" y="1102155"/>
              <a:ext cx="3672408" cy="2398853"/>
            </a:xfrm>
            <a:prstGeom prst="roundRect">
              <a:avLst>
                <a:gd name="adj" fmla="val 5613"/>
              </a:avLst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086876" y="3904280"/>
            <a:ext cx="3672408" cy="2398853"/>
            <a:chOff x="5086876" y="3904280"/>
            <a:chExt cx="3672408" cy="2398853"/>
          </a:xfrm>
        </p:grpSpPr>
        <p:grpSp>
          <p:nvGrpSpPr>
            <p:cNvPr id="19" name="组合 18"/>
            <p:cNvGrpSpPr/>
            <p:nvPr/>
          </p:nvGrpSpPr>
          <p:grpSpPr>
            <a:xfrm>
              <a:off x="5534133" y="4151641"/>
              <a:ext cx="2962100" cy="1892013"/>
              <a:chOff x="2971800" y="685800"/>
              <a:chExt cx="2286000" cy="1676400"/>
            </a:xfrm>
          </p:grpSpPr>
          <p:sp>
            <p:nvSpPr>
              <p:cNvPr id="20" name="Rectangle 22"/>
              <p:cNvSpPr>
                <a:spLocks noChangeArrowheads="1"/>
              </p:cNvSpPr>
              <p:nvPr/>
            </p:nvSpPr>
            <p:spPr bwMode="auto">
              <a:xfrm>
                <a:off x="4343400" y="11430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1" name="Line 24"/>
              <p:cNvSpPr>
                <a:spLocks noChangeShapeType="1"/>
              </p:cNvSpPr>
              <p:nvPr/>
            </p:nvSpPr>
            <p:spPr bwMode="auto">
              <a:xfrm>
                <a:off x="4495800" y="13716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H="1">
                <a:off x="3886200" y="1371600"/>
                <a:ext cx="3048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 flipH="1">
                <a:off x="3276600" y="1828800"/>
                <a:ext cx="3048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28"/>
              <p:cNvSpPr>
                <a:spLocks noChangeShapeType="1"/>
              </p:cNvSpPr>
              <p:nvPr/>
            </p:nvSpPr>
            <p:spPr bwMode="auto">
              <a:xfrm>
                <a:off x="3886200" y="1828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9"/>
              <p:cNvSpPr>
                <a:spLocks noChangeArrowheads="1"/>
              </p:cNvSpPr>
              <p:nvPr/>
            </p:nvSpPr>
            <p:spPr bwMode="auto">
              <a:xfrm>
                <a:off x="4191000" y="11430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6" name="Rectangle 30"/>
              <p:cNvSpPr>
                <a:spLocks noChangeArrowheads="1"/>
              </p:cNvSpPr>
              <p:nvPr/>
            </p:nvSpPr>
            <p:spPr bwMode="auto">
              <a:xfrm>
                <a:off x="4953000" y="1676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7" name="Rectangle 31"/>
              <p:cNvSpPr>
                <a:spLocks noChangeArrowheads="1"/>
              </p:cNvSpPr>
              <p:nvPr/>
            </p:nvSpPr>
            <p:spPr bwMode="auto">
              <a:xfrm>
                <a:off x="4800600" y="1676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8" name="Rectangle 32"/>
              <p:cNvSpPr>
                <a:spLocks noChangeArrowheads="1"/>
              </p:cNvSpPr>
              <p:nvPr/>
            </p:nvSpPr>
            <p:spPr bwMode="auto">
              <a:xfrm>
                <a:off x="3733800" y="16002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9" name="Rectangle 33"/>
              <p:cNvSpPr>
                <a:spLocks noChangeArrowheads="1"/>
              </p:cNvSpPr>
              <p:nvPr/>
            </p:nvSpPr>
            <p:spPr bwMode="auto">
              <a:xfrm>
                <a:off x="3581400" y="16002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0" name="Rectangle 34"/>
              <p:cNvSpPr>
                <a:spLocks noChangeArrowheads="1"/>
              </p:cNvSpPr>
              <p:nvPr/>
            </p:nvSpPr>
            <p:spPr bwMode="auto">
              <a:xfrm>
                <a:off x="4343400" y="21336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1" name="Rectangle 35"/>
              <p:cNvSpPr>
                <a:spLocks noChangeArrowheads="1"/>
              </p:cNvSpPr>
              <p:nvPr/>
            </p:nvSpPr>
            <p:spPr bwMode="auto">
              <a:xfrm>
                <a:off x="4191000" y="21336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2" name="Rectangle 36"/>
              <p:cNvSpPr>
                <a:spLocks noChangeArrowheads="1"/>
              </p:cNvSpPr>
              <p:nvPr/>
            </p:nvSpPr>
            <p:spPr bwMode="auto">
              <a:xfrm>
                <a:off x="3124200" y="2057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3" name="Rectangle 37"/>
              <p:cNvSpPr>
                <a:spLocks noChangeArrowheads="1"/>
              </p:cNvSpPr>
              <p:nvPr/>
            </p:nvSpPr>
            <p:spPr bwMode="auto">
              <a:xfrm>
                <a:off x="2971800" y="2057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4" name="Text Box 39"/>
              <p:cNvSpPr txBox="1">
                <a:spLocks noChangeArrowheads="1"/>
              </p:cNvSpPr>
              <p:nvPr/>
            </p:nvSpPr>
            <p:spPr bwMode="auto">
              <a:xfrm>
                <a:off x="3200400" y="700088"/>
                <a:ext cx="8382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map</a:t>
                </a:r>
              </a:p>
            </p:txBody>
          </p:sp>
          <p:sp>
            <p:nvSpPr>
              <p:cNvPr id="35" name="Text Box 40"/>
              <p:cNvSpPr txBox="1">
                <a:spLocks noChangeArrowheads="1"/>
              </p:cNvSpPr>
              <p:nvPr/>
            </p:nvSpPr>
            <p:spPr bwMode="auto">
              <a:xfrm>
                <a:off x="3810000" y="685800"/>
                <a:ext cx="14478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multimap</a:t>
                </a:r>
                <a:endParaRPr lang="en-US" altLang="zh-CN" sz="1800" dirty="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" name="圆角矩形 36"/>
            <p:cNvSpPr/>
            <p:nvPr/>
          </p:nvSpPr>
          <p:spPr>
            <a:xfrm>
              <a:off x="5086876" y="3904280"/>
              <a:ext cx="3672408" cy="2398853"/>
            </a:xfrm>
            <a:prstGeom prst="roundRect">
              <a:avLst>
                <a:gd name="adj" fmla="val 5613"/>
              </a:avLst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箭头连接符 39"/>
          <p:cNvCxnSpPr/>
          <p:nvPr/>
        </p:nvCxnSpPr>
        <p:spPr>
          <a:xfrm flipH="1" flipV="1">
            <a:off x="1866291" y="4925646"/>
            <a:ext cx="69731" cy="1167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731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-231713"/>
            <a:ext cx="8229600" cy="1143000"/>
          </a:xfrm>
        </p:spPr>
        <p:txBody>
          <a:bodyPr/>
          <a:lstStyle/>
          <a:p>
            <a:r>
              <a:rPr lang="en-US" altLang="zh-CN" dirty="0"/>
              <a:t>7.3 </a:t>
            </a:r>
            <a:r>
              <a:rPr lang="zh-CN" altLang="en-US" dirty="0"/>
              <a:t>容器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4294967295"/>
          </p:nvPr>
        </p:nvSpPr>
        <p:spPr>
          <a:xfrm>
            <a:off x="646113" y="1101725"/>
            <a:ext cx="8497887" cy="5662613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grpSp>
        <p:nvGrpSpPr>
          <p:cNvPr id="39" name="组合 38"/>
          <p:cNvGrpSpPr/>
          <p:nvPr/>
        </p:nvGrpSpPr>
        <p:grpSpPr>
          <a:xfrm>
            <a:off x="3923928" y="3939246"/>
            <a:ext cx="5328620" cy="2088232"/>
            <a:chOff x="3923900" y="4437112"/>
            <a:chExt cx="5328620" cy="2088232"/>
          </a:xfrm>
        </p:grpSpPr>
        <p:sp>
          <p:nvSpPr>
            <p:cNvPr id="37" name="圆角矩形 36"/>
            <p:cNvSpPr/>
            <p:nvPr/>
          </p:nvSpPr>
          <p:spPr>
            <a:xfrm>
              <a:off x="3923900" y="4437112"/>
              <a:ext cx="4968580" cy="2088232"/>
            </a:xfrm>
            <a:prstGeom prst="roundRect">
              <a:avLst>
                <a:gd name="adj" fmla="val 5922"/>
              </a:avLst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349370" y="4524308"/>
              <a:ext cx="4903150" cy="1857020"/>
              <a:chOff x="5486400" y="1600200"/>
              <a:chExt cx="3429000" cy="1143000"/>
            </a:xfrm>
          </p:grpSpPr>
          <p:sp>
            <p:nvSpPr>
              <p:cNvPr id="20" name="Text Box 57"/>
              <p:cNvSpPr txBox="1">
                <a:spLocks noChangeArrowheads="1"/>
              </p:cNvSpPr>
              <p:nvPr/>
            </p:nvSpPr>
            <p:spPr bwMode="auto">
              <a:xfrm>
                <a:off x="5486400" y="1600200"/>
                <a:ext cx="1524000" cy="246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unordered_map</a:t>
                </a: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1" name="Text Box 58"/>
              <p:cNvSpPr txBox="1">
                <a:spLocks noChangeArrowheads="1"/>
              </p:cNvSpPr>
              <p:nvPr/>
            </p:nvSpPr>
            <p:spPr bwMode="auto">
              <a:xfrm>
                <a:off x="6934200" y="1600200"/>
                <a:ext cx="1981200" cy="2464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unordered_multimap</a:t>
                </a: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22" name="Rectangle 60"/>
              <p:cNvSpPr>
                <a:spLocks noChangeArrowheads="1"/>
              </p:cNvSpPr>
              <p:nvPr/>
            </p:nvSpPr>
            <p:spPr bwMode="auto">
              <a:xfrm>
                <a:off x="6629400" y="2514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3" name="Rectangle 61"/>
              <p:cNvSpPr>
                <a:spLocks noChangeArrowheads="1"/>
              </p:cNvSpPr>
              <p:nvPr/>
            </p:nvSpPr>
            <p:spPr bwMode="auto">
              <a:xfrm>
                <a:off x="6477000" y="2514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4" name="Rectangle 62"/>
              <p:cNvSpPr>
                <a:spLocks noChangeArrowheads="1"/>
              </p:cNvSpPr>
              <p:nvPr/>
            </p:nvSpPr>
            <p:spPr bwMode="auto">
              <a:xfrm>
                <a:off x="6934200" y="2514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5" name="Rectangle 63"/>
              <p:cNvSpPr>
                <a:spLocks noChangeArrowheads="1"/>
              </p:cNvSpPr>
              <p:nvPr/>
            </p:nvSpPr>
            <p:spPr bwMode="auto">
              <a:xfrm>
                <a:off x="6781800" y="2514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6" name="Rectangle 64"/>
              <p:cNvSpPr>
                <a:spLocks noChangeArrowheads="1"/>
              </p:cNvSpPr>
              <p:nvPr/>
            </p:nvSpPr>
            <p:spPr bwMode="auto">
              <a:xfrm>
                <a:off x="7239000" y="2514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7" name="Rectangle 65"/>
              <p:cNvSpPr>
                <a:spLocks noChangeArrowheads="1"/>
              </p:cNvSpPr>
              <p:nvPr/>
            </p:nvSpPr>
            <p:spPr bwMode="auto">
              <a:xfrm>
                <a:off x="7086600" y="2514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8" name="Line 66"/>
              <p:cNvSpPr>
                <a:spLocks noChangeShapeType="1"/>
              </p:cNvSpPr>
              <p:nvPr/>
            </p:nvSpPr>
            <p:spPr bwMode="auto">
              <a:xfrm flipH="1" flipV="1">
                <a:off x="6400800" y="2286000"/>
                <a:ext cx="152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67"/>
              <p:cNvSpPr>
                <a:spLocks noChangeShapeType="1"/>
              </p:cNvSpPr>
              <p:nvPr/>
            </p:nvSpPr>
            <p:spPr bwMode="auto">
              <a:xfrm flipV="1">
                <a:off x="6705600" y="2286000"/>
                <a:ext cx="152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68"/>
              <p:cNvSpPr>
                <a:spLocks noChangeShapeType="1"/>
              </p:cNvSpPr>
              <p:nvPr/>
            </p:nvSpPr>
            <p:spPr bwMode="auto">
              <a:xfrm flipV="1">
                <a:off x="7162800" y="2286000"/>
                <a:ext cx="152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Rectangle 69"/>
              <p:cNvSpPr>
                <a:spLocks noChangeArrowheads="1"/>
              </p:cNvSpPr>
              <p:nvPr/>
            </p:nvSpPr>
            <p:spPr bwMode="auto">
              <a:xfrm>
                <a:off x="6477000" y="2057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2" name="Rectangle 70"/>
              <p:cNvSpPr>
                <a:spLocks noChangeArrowheads="1"/>
              </p:cNvSpPr>
              <p:nvPr/>
            </p:nvSpPr>
            <p:spPr bwMode="auto">
              <a:xfrm>
                <a:off x="6324600" y="2057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3" name="Rectangle 71"/>
              <p:cNvSpPr>
                <a:spLocks noChangeArrowheads="1"/>
              </p:cNvSpPr>
              <p:nvPr/>
            </p:nvSpPr>
            <p:spPr bwMode="auto">
              <a:xfrm>
                <a:off x="6934200" y="2057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4" name="Rectangle 72"/>
              <p:cNvSpPr>
                <a:spLocks noChangeArrowheads="1"/>
              </p:cNvSpPr>
              <p:nvPr/>
            </p:nvSpPr>
            <p:spPr bwMode="auto">
              <a:xfrm>
                <a:off x="6781800" y="2057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5" name="Rectangle 73"/>
              <p:cNvSpPr>
                <a:spLocks noChangeArrowheads="1"/>
              </p:cNvSpPr>
              <p:nvPr/>
            </p:nvSpPr>
            <p:spPr bwMode="auto">
              <a:xfrm>
                <a:off x="7391400" y="2057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6" name="Rectangle 74"/>
              <p:cNvSpPr>
                <a:spLocks noChangeArrowheads="1"/>
              </p:cNvSpPr>
              <p:nvPr/>
            </p:nvSpPr>
            <p:spPr bwMode="auto">
              <a:xfrm>
                <a:off x="7239000" y="2057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3967240" y="1218632"/>
            <a:ext cx="4881900" cy="2165055"/>
            <a:chOff x="3923900" y="1956185"/>
            <a:chExt cx="4881900" cy="2165055"/>
          </a:xfrm>
        </p:grpSpPr>
        <p:grpSp>
          <p:nvGrpSpPr>
            <p:cNvPr id="4" name="组合 3"/>
            <p:cNvGrpSpPr/>
            <p:nvPr/>
          </p:nvGrpSpPr>
          <p:grpSpPr>
            <a:xfrm>
              <a:off x="3923900" y="2055243"/>
              <a:ext cx="4881900" cy="1843533"/>
              <a:chOff x="5092370" y="457200"/>
              <a:chExt cx="3746830" cy="1143000"/>
            </a:xfrm>
          </p:grpSpPr>
          <p:sp>
            <p:nvSpPr>
              <p:cNvPr id="5" name="Rectangle 41"/>
              <p:cNvSpPr>
                <a:spLocks noChangeArrowheads="1"/>
              </p:cNvSpPr>
              <p:nvPr/>
            </p:nvSpPr>
            <p:spPr bwMode="auto">
              <a:xfrm>
                <a:off x="6400800" y="9144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6" name="Rectangle 42"/>
              <p:cNvSpPr>
                <a:spLocks noChangeArrowheads="1"/>
              </p:cNvSpPr>
              <p:nvPr/>
            </p:nvSpPr>
            <p:spPr bwMode="auto">
              <a:xfrm>
                <a:off x="6934200" y="9144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7" name="Text Box 43"/>
              <p:cNvSpPr txBox="1">
                <a:spLocks noChangeArrowheads="1"/>
              </p:cNvSpPr>
              <p:nvPr/>
            </p:nvSpPr>
            <p:spPr bwMode="auto">
              <a:xfrm>
                <a:off x="5092370" y="457200"/>
                <a:ext cx="207043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</a:rPr>
                  <a:t>unordered</a:t>
                </a: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_set</a:t>
                </a: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8" name="Text Box 44"/>
              <p:cNvSpPr txBox="1">
                <a:spLocks noChangeArrowheads="1"/>
              </p:cNvSpPr>
              <p:nvPr/>
            </p:nvSpPr>
            <p:spPr bwMode="auto">
              <a:xfrm>
                <a:off x="6858000" y="457200"/>
                <a:ext cx="1981200" cy="228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 (</a:t>
                </a: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unordered_multiset</a:t>
                </a:r>
                <a:r>
                  <a:rPr lang="en-US" altLang="zh-CN" sz="1800" dirty="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9" name="Rectangle 45"/>
              <p:cNvSpPr>
                <a:spLocks noChangeArrowheads="1"/>
              </p:cNvSpPr>
              <p:nvPr/>
            </p:nvSpPr>
            <p:spPr bwMode="auto">
              <a:xfrm>
                <a:off x="7467600" y="914400"/>
                <a:ext cx="3048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0" name="Rectangle 46"/>
              <p:cNvSpPr>
                <a:spLocks noChangeArrowheads="1"/>
              </p:cNvSpPr>
              <p:nvPr/>
            </p:nvSpPr>
            <p:spPr bwMode="auto">
              <a:xfrm>
                <a:off x="6781800" y="1371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1" name="Rectangle 47"/>
              <p:cNvSpPr>
                <a:spLocks noChangeArrowheads="1"/>
              </p:cNvSpPr>
              <p:nvPr/>
            </p:nvSpPr>
            <p:spPr bwMode="auto">
              <a:xfrm>
                <a:off x="6629400" y="1371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2" name="Rectangle 48"/>
              <p:cNvSpPr>
                <a:spLocks noChangeArrowheads="1"/>
              </p:cNvSpPr>
              <p:nvPr/>
            </p:nvSpPr>
            <p:spPr bwMode="auto">
              <a:xfrm>
                <a:off x="7086600" y="1371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3" name="Rectangle 49"/>
              <p:cNvSpPr>
                <a:spLocks noChangeArrowheads="1"/>
              </p:cNvSpPr>
              <p:nvPr/>
            </p:nvSpPr>
            <p:spPr bwMode="auto">
              <a:xfrm>
                <a:off x="6934200" y="1371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4" name="Rectangle 50"/>
              <p:cNvSpPr>
                <a:spLocks noChangeArrowheads="1"/>
              </p:cNvSpPr>
              <p:nvPr/>
            </p:nvSpPr>
            <p:spPr bwMode="auto">
              <a:xfrm>
                <a:off x="7391400" y="1371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5" name="Rectangle 51"/>
              <p:cNvSpPr>
                <a:spLocks noChangeArrowheads="1"/>
              </p:cNvSpPr>
              <p:nvPr/>
            </p:nvSpPr>
            <p:spPr bwMode="auto">
              <a:xfrm>
                <a:off x="7239000" y="1371600"/>
                <a:ext cx="152400" cy="228600"/>
              </a:xfrm>
              <a:prstGeom prst="rect">
                <a:avLst/>
              </a:prstGeom>
              <a:solidFill>
                <a:srgbClr val="3366FF">
                  <a:alpha val="7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16" name="Line 52"/>
              <p:cNvSpPr>
                <a:spLocks noChangeShapeType="1"/>
              </p:cNvSpPr>
              <p:nvPr/>
            </p:nvSpPr>
            <p:spPr bwMode="auto">
              <a:xfrm flipH="1" flipV="1">
                <a:off x="6553200" y="1143000"/>
                <a:ext cx="152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53"/>
              <p:cNvSpPr>
                <a:spLocks noChangeShapeType="1"/>
              </p:cNvSpPr>
              <p:nvPr/>
            </p:nvSpPr>
            <p:spPr bwMode="auto">
              <a:xfrm flipV="1">
                <a:off x="6858000" y="1143000"/>
                <a:ext cx="152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54"/>
              <p:cNvSpPr>
                <a:spLocks noChangeShapeType="1"/>
              </p:cNvSpPr>
              <p:nvPr/>
            </p:nvSpPr>
            <p:spPr bwMode="auto">
              <a:xfrm flipV="1">
                <a:off x="7315200" y="1143000"/>
                <a:ext cx="152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圆角矩形 37"/>
            <p:cNvSpPr/>
            <p:nvPr/>
          </p:nvSpPr>
          <p:spPr>
            <a:xfrm>
              <a:off x="3923900" y="1956185"/>
              <a:ext cx="4881900" cy="2165055"/>
            </a:xfrm>
            <a:prstGeom prst="roundRect">
              <a:avLst>
                <a:gd name="adj" fmla="val 5922"/>
              </a:avLst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矩形 40"/>
          <p:cNvSpPr/>
          <p:nvPr/>
        </p:nvSpPr>
        <p:spPr>
          <a:xfrm>
            <a:off x="228600" y="1102155"/>
            <a:ext cx="2895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无序关联容器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sz="2000" dirty="0"/>
              <a:t>基于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哈希表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sz="2000" dirty="0"/>
              <a:t>（提高添加、删除</a:t>
            </a:r>
            <a:endParaRPr lang="en-US" altLang="zh-CN" sz="2000" dirty="0"/>
          </a:p>
          <a:p>
            <a:pPr lvl="1"/>
            <a:r>
              <a:rPr lang="zh-CN" altLang="en-US" sz="2000" dirty="0"/>
              <a:t>和查找效率） </a:t>
            </a:r>
            <a:endParaRPr lang="en-US" altLang="zh-CN" sz="2000" dirty="0"/>
          </a:p>
        </p:txBody>
      </p:sp>
      <p:sp>
        <p:nvSpPr>
          <p:cNvPr id="42" name="矩形 41"/>
          <p:cNvSpPr/>
          <p:nvPr/>
        </p:nvSpPr>
        <p:spPr>
          <a:xfrm>
            <a:off x="84488" y="2568079"/>
            <a:ext cx="387277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000" dirty="0"/>
              <a:t>4</a:t>
            </a:r>
            <a:r>
              <a:rPr lang="zh-CN" altLang="en-US" sz="2000" dirty="0"/>
              <a:t>种无序关联容器：</a:t>
            </a:r>
            <a:endParaRPr lang="en-US" altLang="zh-CN" sz="2000" dirty="0"/>
          </a:p>
          <a:p>
            <a:pPr lvl="1"/>
            <a:r>
              <a:rPr lang="en-US" altLang="zh-CN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unordered_set</a:t>
            </a:r>
            <a:endParaRPr lang="en-US" altLang="zh-CN" sz="20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zh-CN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unordered_multiset</a:t>
            </a:r>
            <a:endParaRPr lang="en-US" altLang="zh-CN" sz="20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zh-CN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unordered_map</a:t>
            </a:r>
            <a:endParaRPr lang="en-US" altLang="zh-CN" sz="20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zh-CN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unordered_multimap</a:t>
            </a:r>
            <a:endParaRPr lang="zh-CN" altLang="en-US" sz="20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5340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088" y="-344487"/>
            <a:ext cx="8229600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7.3 </a:t>
            </a:r>
            <a:r>
              <a:rPr lang="zh-CN" altLang="en-US" dirty="0"/>
              <a:t>容器</a:t>
            </a:r>
          </a:p>
        </p:txBody>
      </p:sp>
      <p:graphicFrame>
        <p:nvGraphicFramePr>
          <p:cNvPr id="63704" name="Group 216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849514164"/>
              </p:ext>
            </p:extLst>
          </p:nvPr>
        </p:nvGraphicFramePr>
        <p:xfrm>
          <a:off x="423862" y="1984375"/>
          <a:ext cx="8135939" cy="3474802"/>
        </p:xfrm>
        <a:graphic>
          <a:graphicData uri="http://schemas.openxmlformats.org/drawingml/2006/table">
            <a:tbl>
              <a:tblPr/>
              <a:tblGrid>
                <a:gridCol w="2159984">
                  <a:extLst>
                    <a:ext uri="{9D8B030D-6E8A-4147-A177-3AD203B41FA5}">
                      <a16:colId xmlns:a16="http://schemas.microsoft.com/office/drawing/2014/main" val="4264128927"/>
                    </a:ext>
                  </a:extLst>
                </a:gridCol>
                <a:gridCol w="2015985">
                  <a:extLst>
                    <a:ext uri="{9D8B030D-6E8A-4147-A177-3AD203B41FA5}">
                      <a16:colId xmlns:a16="http://schemas.microsoft.com/office/drawing/2014/main" val="323533533"/>
                    </a:ext>
                  </a:extLst>
                </a:gridCol>
                <a:gridCol w="3959970">
                  <a:extLst>
                    <a:ext uri="{9D8B030D-6E8A-4147-A177-3AD203B41FA5}">
                      <a16:colId xmlns:a16="http://schemas.microsoft.com/office/drawing/2014/main" val="3327242279"/>
                    </a:ext>
                  </a:extLst>
                </a:gridCol>
              </a:tblGrid>
              <a:tr h="36580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容器名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头文件名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    明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92834"/>
                  </a:ext>
                </a:extLst>
              </a:tr>
              <a:tr h="37628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set,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multiset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&lt;set&gt;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集合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，元素不重复；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元素可重复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731642"/>
                  </a:ext>
                </a:extLst>
              </a:tr>
              <a:tr h="640154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unordered_set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unordered_multiset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&lt;unordered_set&gt;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无排序，访问速度更快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集合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，元素不重复；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元素可重复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22265"/>
                  </a:ext>
                </a:extLst>
              </a:tr>
              <a:tr h="376282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map,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multimap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&lt;map&gt;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映射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，一对一；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一对多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266673"/>
                  </a:ext>
                </a:extLst>
              </a:tr>
              <a:tr h="640154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unordered_map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unordered_multimap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&lt;unordered_map&gt;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无排序，访问速度更快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映射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，一对一；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一对多</a:t>
                      </a:r>
                    </a:p>
                  </a:txBody>
                  <a:tcPr marL="91429" marR="91429"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8162"/>
                  </a:ext>
                </a:extLst>
              </a:tr>
            </a:tbl>
          </a:graphicData>
        </a:graphic>
      </p:graphicFrame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6376" y="1219200"/>
            <a:ext cx="83534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zh-CN" sz="2400" b="1" dirty="0"/>
              <a:t>  STL</a:t>
            </a:r>
            <a:r>
              <a:rPr kumimoji="0" lang="zh-CN" altLang="en-US" sz="2400" b="1" dirty="0"/>
              <a:t>中的</a:t>
            </a:r>
            <a:r>
              <a:rPr kumimoji="0"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关联容器</a:t>
            </a:r>
            <a:r>
              <a:rPr kumimoji="0" lang="zh-CN" altLang="en-US" sz="2400" b="1" dirty="0"/>
              <a:t>及头文件名</a:t>
            </a:r>
          </a:p>
        </p:txBody>
      </p:sp>
    </p:spTree>
    <p:extLst>
      <p:ext uri="{BB962C8B-B14F-4D97-AF65-F5344CB8AC3E}">
        <p14:creationId xmlns:p14="http://schemas.microsoft.com/office/powerpoint/2010/main" val="683547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74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7.3  </a:t>
            </a:r>
            <a:r>
              <a:rPr lang="zh-CN" altLang="en-US" dirty="0">
                <a:ea typeface="宋体" panose="02010600030101010101" pitchFamily="2" charset="-122"/>
              </a:rPr>
              <a:t>容器</a:t>
            </a:r>
          </a:p>
        </p:txBody>
      </p:sp>
      <p:graphicFrame>
        <p:nvGraphicFramePr>
          <p:cNvPr id="64686" name="Group 174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031411956"/>
              </p:ext>
            </p:extLst>
          </p:nvPr>
        </p:nvGraphicFramePr>
        <p:xfrm>
          <a:off x="304800" y="1143000"/>
          <a:ext cx="8353425" cy="5111750"/>
        </p:xfrm>
        <a:graphic>
          <a:graphicData uri="http://schemas.openxmlformats.org/drawingml/2006/table">
            <a:tbl>
              <a:tblPr/>
              <a:tblGrid>
                <a:gridCol w="1621185">
                  <a:extLst>
                    <a:ext uri="{9D8B030D-6E8A-4147-A177-3AD203B41FA5}">
                      <a16:colId xmlns:a16="http://schemas.microsoft.com/office/drawing/2014/main" val="2201684528"/>
                    </a:ext>
                  </a:extLst>
                </a:gridCol>
                <a:gridCol w="6732240">
                  <a:extLst>
                    <a:ext uri="{9D8B030D-6E8A-4147-A177-3AD203B41FA5}">
                      <a16:colId xmlns:a16="http://schemas.microsoft.com/office/drawing/2014/main" val="921191468"/>
                    </a:ext>
                  </a:extLst>
                </a:gridCol>
              </a:tblGrid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成员函数名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    明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106025"/>
                  </a:ext>
                </a:extLst>
              </a:tr>
              <a:tr h="640158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构造函数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对容器进行默认初始化的构造函数，常有多个，用于提供不同的容器初始化方法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323806"/>
                  </a:ext>
                </a:extLst>
              </a:tr>
              <a:tr h="44772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拷贝构造函数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用于将容器初始化为同类型的现有容器的副本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687692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析构函数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执行容器销毁时的清理工作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153300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empty()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判断容器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是否为空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，若为空返回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563592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max_size()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返回容器最大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容量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，即容器能够保存的最多元素个数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262498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size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返回容器中当前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元素个数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140814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operator=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将一个容器赋给另一个同类容器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049839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operator&lt;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个容器小于第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个容器，则返回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53455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operator&lt;=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个容器小于等于第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个容器，则返回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09622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operator&gt;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个容器大于第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个容器，则返回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75815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operator&gt;=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如果第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个容器大于等于第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个容器，则返回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，否则返回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5054"/>
                  </a:ext>
                </a:extLst>
              </a:tr>
              <a:tr h="365806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swap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交换容器中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的两个元素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898483"/>
                  </a:ext>
                </a:extLst>
              </a:tr>
            </a:tbl>
          </a:graphicData>
        </a:graphic>
      </p:graphicFrame>
      <p:sp>
        <p:nvSpPr>
          <p:cNvPr id="24623" name="Rectangle 2"/>
          <p:cNvSpPr txBox="1">
            <a:spLocks noChangeArrowheads="1"/>
          </p:cNvSpPr>
          <p:nvPr/>
        </p:nvSpPr>
        <p:spPr bwMode="auto">
          <a:xfrm>
            <a:off x="304799" y="422275"/>
            <a:ext cx="83534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800" b="1" dirty="0">
                <a:solidFill>
                  <a:schemeClr val="accent2"/>
                </a:solidFill>
              </a:rPr>
              <a:t>所有容器都具有的成员函数</a:t>
            </a:r>
            <a:endParaRPr kumimoji="0" lang="zh-CN" altLang="en-US" sz="1800" dirty="0">
              <a:solidFill>
                <a:schemeClr val="tx2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007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7.3  </a:t>
            </a:r>
            <a:r>
              <a:rPr lang="zh-CN" altLang="en-US" dirty="0">
                <a:ea typeface="宋体" panose="02010600030101010101" pitchFamily="2" charset="-122"/>
              </a:rPr>
              <a:t>容器</a:t>
            </a:r>
          </a:p>
        </p:txBody>
      </p:sp>
      <p:graphicFrame>
        <p:nvGraphicFramePr>
          <p:cNvPr id="65626" name="Group 90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76660791"/>
              </p:ext>
            </p:extLst>
          </p:nvPr>
        </p:nvGraphicFramePr>
        <p:xfrm>
          <a:off x="614363" y="1676400"/>
          <a:ext cx="7920037" cy="4114801"/>
        </p:xfrm>
        <a:graphic>
          <a:graphicData uri="http://schemas.openxmlformats.org/drawingml/2006/table">
            <a:tbl>
              <a:tblPr/>
              <a:tblGrid>
                <a:gridCol w="2103437">
                  <a:extLst>
                    <a:ext uri="{9D8B030D-6E8A-4147-A177-3AD203B41FA5}">
                      <a16:colId xmlns:a16="http://schemas.microsoft.com/office/drawing/2014/main" val="1557439614"/>
                    </a:ext>
                  </a:extLst>
                </a:gridCol>
                <a:gridCol w="5816600">
                  <a:extLst>
                    <a:ext uri="{9D8B030D-6E8A-4147-A177-3AD203B41FA5}">
                      <a16:colId xmlns:a16="http://schemas.microsoft.com/office/drawing/2014/main" val="1564535079"/>
                    </a:ext>
                  </a:extLst>
                </a:gridCol>
              </a:tblGrid>
              <a:tr h="835025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成员函数名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    明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98177"/>
                  </a:ext>
                </a:extLst>
              </a:tr>
              <a:tr h="546100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begin()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指向第一个元素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929126"/>
                  </a:ext>
                </a:extLst>
              </a:tr>
              <a:tr h="547688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end()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指向最后一个元素的下一个位置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632382"/>
                  </a:ext>
                </a:extLst>
              </a:tr>
              <a:tr h="546100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rbegin()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按反顺序的第一个元素，指向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最后一个元素位置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470008"/>
                  </a:ext>
                </a:extLst>
              </a:tr>
              <a:tr h="546100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rend()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按反顺序的末端位置，指向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第一个元素前面的位置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433122"/>
                  </a:ext>
                </a:extLst>
              </a:tr>
              <a:tr h="547688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erase()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容器中的一个或多个元素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170840"/>
                  </a:ext>
                </a:extLst>
              </a:tr>
              <a:tr h="546100"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clear()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1pPr>
                      <a:lvl2pPr marL="742950" indent="-28575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2pPr>
                      <a:lvl3pPr marL="1143000" indent="-22860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3pPr>
                      <a:lvl4pPr marL="16002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4pPr>
                      <a:lvl5pPr marL="2057400" indent="-22860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anose="02020502060401020303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删除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容器中的所有元素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420961"/>
                  </a:ext>
                </a:extLst>
              </a:tr>
            </a:tbl>
          </a:graphicData>
        </a:graphic>
      </p:graphicFrame>
      <p:sp>
        <p:nvSpPr>
          <p:cNvPr id="27677" name="Rectangle 2"/>
          <p:cNvSpPr txBox="1">
            <a:spLocks noChangeArrowheads="1"/>
          </p:cNvSpPr>
          <p:nvPr/>
        </p:nvSpPr>
        <p:spPr bwMode="auto">
          <a:xfrm>
            <a:off x="533400" y="990600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chemeClr val="accent2"/>
                </a:solidFill>
              </a:rPr>
              <a:t> </a:t>
            </a:r>
            <a:r>
              <a:rPr kumimoji="0" lang="zh-CN" altLang="en-US" sz="2000" b="1" dirty="0">
                <a:solidFill>
                  <a:schemeClr val="accent2"/>
                </a:solidFill>
              </a:rPr>
              <a:t>顺序和关联容器共同支持的成员函数</a:t>
            </a:r>
            <a:endParaRPr kumimoji="0" lang="zh-CN" altLang="en-US" sz="2000" dirty="0">
              <a:solidFill>
                <a:schemeClr val="tx2"/>
              </a:solidFill>
              <a:latin typeface="Franklin Gothic Book" panose="020B05030201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307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43608" y="620688"/>
            <a:ext cx="266429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常用容器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</a:t>
            </a:r>
            <a:r>
              <a:rPr lang="zh-CN" altLang="en-US" sz="2000" dirty="0">
                <a:solidFill>
                  <a:srgbClr val="C00000"/>
                </a:solidFill>
              </a:rPr>
              <a:t>线性容器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     •</a:t>
            </a:r>
            <a:r>
              <a:rPr lang="en-US" altLang="zh-CN" sz="2000" dirty="0"/>
              <a:t> vector</a:t>
            </a:r>
          </a:p>
          <a:p>
            <a:r>
              <a:rPr lang="en-US" altLang="zh-CN" sz="2000" dirty="0">
                <a:solidFill>
                  <a:srgbClr val="C00000"/>
                </a:solidFill>
              </a:rPr>
              <a:t>      • </a:t>
            </a:r>
            <a:r>
              <a:rPr lang="en-US" altLang="zh-CN" sz="2000" dirty="0"/>
              <a:t>list</a:t>
            </a:r>
          </a:p>
          <a:p>
            <a:r>
              <a:rPr lang="en-US" altLang="zh-CN" sz="2000" dirty="0">
                <a:solidFill>
                  <a:srgbClr val="C00000"/>
                </a:solidFill>
              </a:rPr>
              <a:t>      • </a:t>
            </a:r>
            <a:r>
              <a:rPr lang="en-US" altLang="zh-CN" sz="2000" dirty="0" err="1"/>
              <a:t>deque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C00000"/>
                </a:solidFill>
              </a:rPr>
              <a:t>  关联容器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   • </a:t>
            </a:r>
            <a:r>
              <a:rPr lang="en-US" altLang="zh-CN" sz="2000" dirty="0"/>
              <a:t>set</a:t>
            </a:r>
          </a:p>
          <a:p>
            <a:r>
              <a:rPr lang="en-US" altLang="zh-CN" sz="2000" dirty="0">
                <a:solidFill>
                  <a:srgbClr val="C00000"/>
                </a:solidFill>
              </a:rPr>
              <a:t>    • </a:t>
            </a:r>
            <a:r>
              <a:rPr lang="en-US" altLang="zh-CN" sz="2000" dirty="0"/>
              <a:t>multiset</a:t>
            </a:r>
          </a:p>
          <a:p>
            <a:r>
              <a:rPr lang="en-US" altLang="zh-CN" sz="2000" dirty="0">
                <a:solidFill>
                  <a:srgbClr val="C00000"/>
                </a:solidFill>
              </a:rPr>
              <a:t>    • </a:t>
            </a:r>
            <a:r>
              <a:rPr lang="en-US" altLang="zh-CN" sz="2000" dirty="0"/>
              <a:t>map</a:t>
            </a:r>
          </a:p>
          <a:p>
            <a:r>
              <a:rPr lang="en-US" altLang="zh-CN" sz="2000" dirty="0">
                <a:solidFill>
                  <a:srgbClr val="C00000"/>
                </a:solidFill>
              </a:rPr>
              <a:t>    • </a:t>
            </a:r>
            <a:r>
              <a:rPr lang="en-US" altLang="zh-CN" sz="2000" dirty="0" err="1"/>
              <a:t>multimap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3962400" y="1778896"/>
            <a:ext cx="34563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</a:t>
            </a:r>
            <a:r>
              <a:rPr lang="zh-CN" altLang="en-US" sz="2000" dirty="0">
                <a:solidFill>
                  <a:srgbClr val="C00000"/>
                </a:solidFill>
              </a:rPr>
              <a:t>容器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适配器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      •</a:t>
            </a:r>
            <a:r>
              <a:rPr lang="en-US" altLang="zh-CN" sz="2000" dirty="0"/>
              <a:t> stack  </a:t>
            </a:r>
            <a:r>
              <a:rPr lang="zh-CN" altLang="en-US" sz="2000" dirty="0"/>
              <a:t>（</a:t>
            </a:r>
            <a:r>
              <a:rPr lang="en-US" altLang="zh-CN" sz="2000" dirty="0"/>
              <a:t>LIFO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      • </a:t>
            </a:r>
            <a:r>
              <a:rPr lang="en-US" altLang="zh-CN" sz="2000" dirty="0"/>
              <a:t>queue </a:t>
            </a:r>
            <a:r>
              <a:rPr lang="zh-CN" altLang="en-US" sz="2000" dirty="0"/>
              <a:t>（</a:t>
            </a:r>
            <a:r>
              <a:rPr lang="en-US" altLang="zh-CN" sz="2000" dirty="0"/>
              <a:t>FIFO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      • </a:t>
            </a:r>
            <a:r>
              <a:rPr lang="en-US" altLang="zh-CN" sz="2000" dirty="0" err="1"/>
              <a:t>priority_queue</a:t>
            </a:r>
            <a:endParaRPr lang="en-US" alt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4572000" y="779175"/>
            <a:ext cx="3547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通过对已有容器再次封装，</a:t>
            </a:r>
            <a:endParaRPr lang="en-US" altLang="zh-CN" dirty="0"/>
          </a:p>
          <a:p>
            <a:r>
              <a:rPr lang="zh-CN" altLang="en-US" dirty="0"/>
              <a:t>限制已有接口和提供不同的接口。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5397624" y="1295400"/>
            <a:ext cx="317376" cy="538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279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2860" y="-86026"/>
            <a:ext cx="8229600" cy="1143000"/>
          </a:xfrm>
          <a:noFill/>
          <a:ln/>
        </p:spPr>
        <p:txBody>
          <a:bodyPr/>
          <a:lstStyle/>
          <a:p>
            <a:r>
              <a:rPr lang="zh-CN" altLang="en-US" dirty="0"/>
              <a:t>容器</a:t>
            </a:r>
            <a:r>
              <a:rPr lang="en-US" altLang="zh-CN" dirty="0"/>
              <a:t>vector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847253"/>
            <a:ext cx="8229600" cy="1819747"/>
          </a:xfrm>
          <a:noFill/>
          <a:ln/>
        </p:spPr>
        <p:txBody>
          <a:bodyPr/>
          <a:lstStyle/>
          <a:p>
            <a:pPr algn="just"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vector</a:t>
            </a:r>
            <a:r>
              <a:rPr lang="zh-CN" altLang="en-US" dirty="0">
                <a:ea typeface="宋体" panose="02010600030101010101" pitchFamily="2" charset="-122"/>
              </a:rPr>
              <a:t>： </a:t>
            </a:r>
            <a:r>
              <a:rPr lang="zh-CN" altLang="en-US" sz="2800" dirty="0">
                <a:ea typeface="宋体" panose="02010600030101010101" pitchFamily="2" charset="-122"/>
              </a:rPr>
              <a:t>向量容器，</a:t>
            </a:r>
            <a:r>
              <a:rPr lang="zh-CN" altLang="en-US" sz="2800" dirty="0">
                <a:solidFill>
                  <a:srgbClr val="FF0000"/>
                </a:solidFill>
                <a:ea typeface="宋体" panose="02010600030101010101" pitchFamily="2" charset="-122"/>
              </a:rPr>
              <a:t>动态数组</a:t>
            </a:r>
            <a:r>
              <a:rPr lang="zh-CN" altLang="en-US" sz="2800" dirty="0">
                <a:ea typeface="宋体" panose="02010600030101010101" pitchFamily="2" charset="-122"/>
              </a:rPr>
              <a:t>（可变大小）。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</a:rPr>
              <a:t>向量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类模板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lvl="1">
              <a:buSzPct val="75000"/>
            </a:pPr>
            <a:r>
              <a:rPr lang="zh-CN" altLang="en-US" dirty="0">
                <a:latin typeface="宋体" panose="02010600030101010101" pitchFamily="2" charset="-122"/>
              </a:rPr>
              <a:t>动态数组，连续内存中存储多个元素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buSzPct val="75000"/>
              <a:buNone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57200" y="2514600"/>
            <a:ext cx="8280920" cy="3276600"/>
            <a:chOff x="593950" y="3717033"/>
            <a:chExt cx="8280920" cy="2881884"/>
          </a:xfrm>
        </p:grpSpPr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例如：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317295" y="4748797"/>
            <a:ext cx="6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元素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398917" y="2992905"/>
            <a:ext cx="288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容量：</a:t>
            </a:r>
            <a:r>
              <a:rPr lang="en-US" altLang="zh-CN" sz="2000" dirty="0">
                <a:solidFill>
                  <a:srgbClr val="006600"/>
                </a:solidFill>
              </a:rPr>
              <a:t>capacity</a:t>
            </a:r>
            <a:r>
              <a:rPr lang="en-US" altLang="zh-CN" sz="2000" dirty="0"/>
              <a:t>=16</a:t>
            </a:r>
            <a:endParaRPr lang="zh-CN" altLang="en-US" sz="2000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966848"/>
              </p:ext>
            </p:extLst>
          </p:nvPr>
        </p:nvGraphicFramePr>
        <p:xfrm>
          <a:off x="1390425" y="4133412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341531" y="3034891"/>
            <a:ext cx="0" cy="109852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1341532" y="3197308"/>
            <a:ext cx="2057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570637" y="3555432"/>
            <a:ext cx="1782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大小：</a:t>
            </a:r>
            <a:r>
              <a:rPr lang="en-US" altLang="zh-CN" sz="2000" dirty="0">
                <a:solidFill>
                  <a:srgbClr val="006600"/>
                </a:solidFill>
              </a:rPr>
              <a:t>size</a:t>
            </a:r>
            <a:r>
              <a:rPr lang="en-US" altLang="zh-CN" sz="2000" dirty="0"/>
              <a:t>=10</a:t>
            </a:r>
            <a:endParaRPr lang="zh-CN" altLang="en-US" sz="2000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8068017" y="2981284"/>
            <a:ext cx="0" cy="109852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1"/>
          </p:cNvCxnSpPr>
          <p:nvPr/>
        </p:nvCxnSpPr>
        <p:spPr>
          <a:xfrm flipH="1">
            <a:off x="1341531" y="3755487"/>
            <a:ext cx="12291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7" idx="3"/>
          </p:cNvCxnSpPr>
          <p:nvPr/>
        </p:nvCxnSpPr>
        <p:spPr>
          <a:xfrm flipV="1">
            <a:off x="4353350" y="3754542"/>
            <a:ext cx="967191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554711" y="3530544"/>
            <a:ext cx="0" cy="6028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5710713" y="3193905"/>
            <a:ext cx="23573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410200" y="4678757"/>
            <a:ext cx="2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已分配内存但无元素值</a:t>
            </a:r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zh-CN" altLang="en-US" sz="1800" dirty="0">
                <a:solidFill>
                  <a:srgbClr val="C00000"/>
                </a:solidFill>
              </a:rPr>
              <a:t>（预备差值新元素）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7668344" y="4572994"/>
            <a:ext cx="216024" cy="19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648465" y="4588515"/>
            <a:ext cx="0" cy="184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12FA617-B28A-F043-91B3-DB5C491A460B}"/>
              </a:ext>
            </a:extLst>
          </p:cNvPr>
          <p:cNvSpPr txBox="1"/>
          <p:nvPr/>
        </p:nvSpPr>
        <p:spPr>
          <a:xfrm>
            <a:off x="4048567" y="2706370"/>
            <a:ext cx="1900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即</a:t>
            </a:r>
            <a:r>
              <a:rPr kumimoji="1" lang="en-US" altLang="zh-CN" dirty="0" err="1"/>
              <a:t>maxsize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456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4145" y="-17647"/>
            <a:ext cx="8229600" cy="1143000"/>
          </a:xfrm>
          <a:noFill/>
          <a:ln/>
        </p:spPr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中的迭代器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474145" y="1196752"/>
            <a:ext cx="8497887" cy="2157781"/>
          </a:xfrm>
          <a:noFill/>
          <a:ln/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vector</a:t>
            </a:r>
            <a:r>
              <a:rPr lang="zh-CN" altLang="en-US" sz="2400" dirty="0">
                <a:ea typeface="宋体" panose="02010600030101010101" pitchFamily="2" charset="-122"/>
              </a:rPr>
              <a:t>的访问方法：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algn="just"/>
            <a:r>
              <a:rPr lang="zh-CN" altLang="en-US" sz="2400" dirty="0">
                <a:ea typeface="宋体" panose="02010600030101010101" pitchFamily="2" charset="-122"/>
              </a:rPr>
              <a:t>通过运算符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[ ] 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直接访问</a:t>
            </a:r>
            <a:r>
              <a:rPr lang="zh-CN" altLang="en-US" sz="2400" dirty="0">
                <a:ea typeface="宋体" panose="02010600030101010101" pitchFamily="2" charset="-122"/>
              </a:rPr>
              <a:t>其元素。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algn="just"/>
            <a:r>
              <a:rPr lang="zh-CN" altLang="en-US" sz="2400" dirty="0">
                <a:ea typeface="宋体" panose="02010600030101010101" pitchFamily="2" charset="-122"/>
              </a:rPr>
              <a:t>通过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迭代器</a:t>
            </a:r>
            <a:r>
              <a:rPr lang="zh-CN" altLang="en-US" sz="2400" dirty="0">
                <a:ea typeface="宋体" panose="02010600030101010101" pitchFamily="2" charset="-122"/>
              </a:rPr>
              <a:t>访问元素。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algn="just"/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begin</a:t>
            </a:r>
            <a:r>
              <a:rPr lang="en-US" altLang="zh-CN" sz="2000" dirty="0">
                <a:latin typeface="宋体" panose="02010600030101010101" pitchFamily="2" charset="-122"/>
              </a:rPr>
              <a:t>() / </a:t>
            </a: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</a:rPr>
              <a:t>end</a:t>
            </a:r>
            <a:r>
              <a:rPr lang="en-US" altLang="zh-CN" sz="2000" dirty="0">
                <a:latin typeface="宋体" panose="02010600030101010101" pitchFamily="2" charset="-122"/>
              </a:rPr>
              <a:t>()  </a:t>
            </a:r>
          </a:p>
          <a:p>
            <a:pPr lvl="2" algn="just"/>
            <a:r>
              <a:rPr lang="en-US" altLang="zh-CN" sz="20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rbegin</a:t>
            </a:r>
            <a:r>
              <a:rPr lang="en-US" altLang="zh-CN" sz="2000" b="0" dirty="0">
                <a:latin typeface="宋体" panose="02010600030101010101" pitchFamily="2" charset="-122"/>
              </a:rPr>
              <a:t>() /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rend</a:t>
            </a:r>
            <a:r>
              <a:rPr lang="en-US" altLang="zh-CN" sz="2000" b="0" dirty="0">
                <a:latin typeface="宋体" panose="02010600030101010101" pitchFamily="2" charset="-122"/>
              </a:rPr>
              <a:t>()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82629" y="3571452"/>
            <a:ext cx="8280920" cy="2881884"/>
            <a:chOff x="593950" y="3717033"/>
            <a:chExt cx="8280920" cy="2881884"/>
          </a:xfrm>
        </p:grpSpPr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例如：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2804680" y="4319365"/>
            <a:ext cx="904272" cy="4340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162246" y="4319365"/>
            <a:ext cx="904272" cy="4340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37507" y="3969659"/>
            <a:ext cx="12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1390425" y="4753427"/>
            <a:ext cx="1885433" cy="474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044477" y="4346034"/>
            <a:ext cx="91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begin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27779" y="4325069"/>
            <a:ext cx="74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end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5" name="直接箭头连接符 4"/>
          <p:cNvCxnSpPr>
            <a:stCxn id="10" idx="2"/>
          </p:cNvCxnSpPr>
          <p:nvPr/>
        </p:nvCxnSpPr>
        <p:spPr>
          <a:xfrm flipH="1">
            <a:off x="5591865" y="4753427"/>
            <a:ext cx="22517" cy="467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390425" y="5227636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2763847" y="5971742"/>
            <a:ext cx="904272" cy="4340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162792" y="5971742"/>
            <a:ext cx="904272" cy="43406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96674" y="5622036"/>
            <a:ext cx="12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011247" y="5991368"/>
            <a:ext cx="91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rend</a:t>
            </a:r>
            <a:endParaRPr lang="zh-CN" altLang="en-US" sz="18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42850" y="5978063"/>
            <a:ext cx="96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 err="1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rbegin</a:t>
            </a:r>
            <a:endParaRPr lang="zh-CN" altLang="en-US" sz="18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75087" y="5226658"/>
            <a:ext cx="412957" cy="448307"/>
          </a:xfrm>
          <a:prstGeom prst="rect">
            <a:avLst/>
          </a:prstGeom>
          <a:noFill/>
          <a:ln w="19050">
            <a:solidFill>
              <a:srgbClr val="00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975087" y="5226658"/>
            <a:ext cx="412957" cy="456081"/>
          </a:xfrm>
          <a:prstGeom prst="lin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979511" y="5226658"/>
            <a:ext cx="408533" cy="448307"/>
          </a:xfrm>
          <a:prstGeom prst="lin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5550968" y="5220840"/>
            <a:ext cx="420295" cy="456081"/>
            <a:chOff x="8053710" y="5052348"/>
            <a:chExt cx="420295" cy="456081"/>
          </a:xfrm>
        </p:grpSpPr>
        <p:sp>
          <p:nvSpPr>
            <p:cNvPr id="18" name="矩形 17"/>
            <p:cNvSpPr/>
            <p:nvPr/>
          </p:nvSpPr>
          <p:spPr>
            <a:xfrm>
              <a:off x="8053710" y="5059144"/>
              <a:ext cx="412957" cy="448307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8061048" y="5052348"/>
              <a:ext cx="412957" cy="45608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8065472" y="5052348"/>
              <a:ext cx="408533" cy="448307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直接箭头连接符 18"/>
          <p:cNvCxnSpPr>
            <a:stCxn id="21" idx="0"/>
          </p:cNvCxnSpPr>
          <p:nvPr/>
        </p:nvCxnSpPr>
        <p:spPr>
          <a:xfrm flipH="1" flipV="1">
            <a:off x="975087" y="5682740"/>
            <a:ext cx="2240896" cy="289002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2" idx="0"/>
          </p:cNvCxnSpPr>
          <p:nvPr/>
        </p:nvCxnSpPr>
        <p:spPr>
          <a:xfrm flipH="1" flipV="1">
            <a:off x="5162246" y="5682739"/>
            <a:ext cx="452682" cy="289003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096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9759" y="0"/>
            <a:ext cx="8229600" cy="1143000"/>
          </a:xfrm>
          <a:noFill/>
          <a:ln/>
        </p:spPr>
        <p:txBody>
          <a:bodyPr/>
          <a:lstStyle/>
          <a:p>
            <a:r>
              <a:rPr lang="en-US" altLang="zh-CN" dirty="0"/>
              <a:t>vector</a:t>
            </a:r>
            <a:r>
              <a:rPr lang="zh-CN" altLang="en-US" dirty="0"/>
              <a:t>中的迭代器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75187" y="1200640"/>
            <a:ext cx="8497887" cy="1173396"/>
          </a:xfrm>
          <a:noFill/>
          <a:ln/>
        </p:spPr>
        <p:txBody>
          <a:bodyPr/>
          <a:lstStyle/>
          <a:p>
            <a:pPr marL="0" indent="0" algn="just">
              <a:buNone/>
            </a:pP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vector</a:t>
            </a:r>
            <a:r>
              <a:rPr lang="zh-CN" altLang="en-US" sz="2000" dirty="0">
                <a:ea typeface="宋体" panose="02010600030101010101" pitchFamily="2" charset="-122"/>
              </a:rPr>
              <a:t>的插入（或删除）一个元素时，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被插入（或删除）节点之后的迭代器或者指针都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失效</a:t>
            </a:r>
            <a:r>
              <a:rPr lang="zh-CN" altLang="en-US" sz="2000" dirty="0">
                <a:ea typeface="宋体" panose="02010600030101010101" pitchFamily="2" charset="-122"/>
              </a:rPr>
              <a:t>。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被插入（或删除）节点之前的迭代器或者指针</a:t>
            </a: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不受影响</a:t>
            </a:r>
            <a:r>
              <a:rPr lang="zh-CN" altLang="en-US" sz="2000" dirty="0">
                <a:ea typeface="宋体" panose="02010600030101010101" pitchFamily="2" charset="-122"/>
              </a:rPr>
              <a:t>。</a:t>
            </a:r>
            <a:endParaRPr lang="en-US" altLang="zh-CN" sz="18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83670" y="2667000"/>
            <a:ext cx="8280920" cy="3168352"/>
            <a:chOff x="593950" y="3717033"/>
            <a:chExt cx="8280920" cy="2881884"/>
          </a:xfrm>
        </p:grpSpPr>
        <p:sp>
          <p:nvSpPr>
            <p:cNvPr id="7" name="文本框 6"/>
            <p:cNvSpPr txBox="1"/>
            <p:nvPr/>
          </p:nvSpPr>
          <p:spPr>
            <a:xfrm>
              <a:off x="838905" y="3772987"/>
              <a:ext cx="1440160" cy="4199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例如：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5549082" y="2901300"/>
            <a:ext cx="904272" cy="21148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71627" y="2823592"/>
            <a:ext cx="148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迭代器变量</a:t>
            </a:r>
            <a:r>
              <a:rPr lang="en-US" altLang="zh-CN" sz="1800" dirty="0">
                <a:solidFill>
                  <a:srgbClr val="C00000"/>
                </a:solidFill>
              </a:rPr>
              <a:t>2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5" name="直接箭头连接符 4"/>
          <p:cNvCxnSpPr>
            <a:stCxn id="10" idx="2"/>
            <a:endCxn id="29" idx="0"/>
          </p:cNvCxnSpPr>
          <p:nvPr/>
        </p:nvCxnSpPr>
        <p:spPr>
          <a:xfrm flipH="1">
            <a:off x="5127768" y="3112786"/>
            <a:ext cx="873450" cy="296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255912"/>
              </p:ext>
            </p:extLst>
          </p:nvPr>
        </p:nvGraphicFramePr>
        <p:xfrm>
          <a:off x="1795104" y="3408948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911430"/>
              </p:ext>
            </p:extLst>
          </p:nvPr>
        </p:nvGraphicFramePr>
        <p:xfrm>
          <a:off x="1763688" y="5107934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>
                  <a:extLst>
                    <a:ext uri="{9D8B030D-6E8A-4147-A177-3AD203B41FA5}">
                      <a16:colId xmlns:a16="http://schemas.microsoft.com/office/drawing/2014/main" val="137098835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607549579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0441146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99069348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67650340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52874312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2427201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030641592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327908738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6450111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144380441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379640849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219808356"/>
                    </a:ext>
                  </a:extLst>
                </a:gridCol>
                <a:gridCol w="416583">
                  <a:extLst>
                    <a:ext uri="{9D8B030D-6E8A-4147-A177-3AD203B41FA5}">
                      <a16:colId xmlns:a16="http://schemas.microsoft.com/office/drawing/2014/main" val="807763887"/>
                    </a:ext>
                  </a:extLst>
                </a:gridCol>
                <a:gridCol w="401119">
                  <a:extLst>
                    <a:ext uri="{9D8B030D-6E8A-4147-A177-3AD203B41FA5}">
                      <a16:colId xmlns:a16="http://schemas.microsoft.com/office/drawing/2014/main" val="1874273736"/>
                    </a:ext>
                  </a:extLst>
                </a:gridCol>
                <a:gridCol w="432047">
                  <a:extLst>
                    <a:ext uri="{9D8B030D-6E8A-4147-A177-3AD203B41FA5}">
                      <a16:colId xmlns:a16="http://schemas.microsoft.com/office/drawing/2014/main" val="3031895438"/>
                    </a:ext>
                  </a:extLst>
                </a:gridCol>
              </a:tblGrid>
              <a:tr h="455103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48679"/>
                  </a:ext>
                </a:extLst>
              </a:tr>
            </a:tbl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576987" y="3417042"/>
            <a:ext cx="1249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 </a:t>
            </a:r>
            <a:r>
              <a:rPr lang="zh-CN" altLang="en-US" sz="2000" dirty="0"/>
              <a:t>删除前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76987" y="5135430"/>
            <a:ext cx="1393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 </a:t>
            </a:r>
            <a:r>
              <a:rPr lang="zh-CN" altLang="en-US" sz="2000" dirty="0"/>
              <a:t>删除</a:t>
            </a:r>
            <a:r>
              <a:rPr lang="en-US" altLang="zh-CN" sz="2000" dirty="0"/>
              <a:t>3</a:t>
            </a:r>
            <a:r>
              <a:rPr lang="zh-CN" altLang="en-US" sz="2000" dirty="0"/>
              <a:t>后</a:t>
            </a:r>
          </a:p>
        </p:txBody>
      </p:sp>
      <p:sp>
        <p:nvSpPr>
          <p:cNvPr id="36" name="矩形 35"/>
          <p:cNvSpPr/>
          <p:nvPr/>
        </p:nvSpPr>
        <p:spPr>
          <a:xfrm>
            <a:off x="2124532" y="2895755"/>
            <a:ext cx="904272" cy="217031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064734" y="2830314"/>
            <a:ext cx="148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迭代器变量</a:t>
            </a:r>
            <a:r>
              <a:rPr lang="en-US" altLang="zh-CN" sz="1800" dirty="0">
                <a:solidFill>
                  <a:srgbClr val="C00000"/>
                </a:solidFill>
              </a:rPr>
              <a:t>1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39" name="直接箭头连接符 38"/>
          <p:cNvCxnSpPr>
            <a:stCxn id="36" idx="2"/>
          </p:cNvCxnSpPr>
          <p:nvPr/>
        </p:nvCxnSpPr>
        <p:spPr>
          <a:xfrm flipH="1">
            <a:off x="2187554" y="3112786"/>
            <a:ext cx="389114" cy="30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549082" y="4608767"/>
            <a:ext cx="904272" cy="211486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471627" y="4531059"/>
            <a:ext cx="148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迭代器变量</a:t>
            </a:r>
            <a:r>
              <a:rPr lang="en-US" altLang="zh-CN" sz="1800" dirty="0">
                <a:solidFill>
                  <a:srgbClr val="C00000"/>
                </a:solidFill>
              </a:rPr>
              <a:t>2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42" name="直接箭头连接符 41"/>
          <p:cNvCxnSpPr>
            <a:stCxn id="40" idx="2"/>
            <a:endCxn id="31" idx="0"/>
          </p:cNvCxnSpPr>
          <p:nvPr/>
        </p:nvCxnSpPr>
        <p:spPr>
          <a:xfrm flipH="1">
            <a:off x="5096352" y="4820253"/>
            <a:ext cx="904866" cy="28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2124532" y="4603222"/>
            <a:ext cx="904272" cy="217031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080881" y="4614500"/>
            <a:ext cx="148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迭代器变量</a:t>
            </a:r>
            <a:r>
              <a:rPr lang="en-US" altLang="zh-CN" sz="1800" dirty="0">
                <a:solidFill>
                  <a:srgbClr val="C00000"/>
                </a:solidFill>
              </a:rPr>
              <a:t>1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45" name="直接箭头连接符 44"/>
          <p:cNvCxnSpPr>
            <a:stCxn id="43" idx="2"/>
          </p:cNvCxnSpPr>
          <p:nvPr/>
        </p:nvCxnSpPr>
        <p:spPr>
          <a:xfrm flipH="1">
            <a:off x="2187554" y="4820253"/>
            <a:ext cx="389114" cy="26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79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9813" y="115888"/>
            <a:ext cx="3024187" cy="6477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Vector</a:t>
            </a: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使用例程</a:t>
            </a:r>
          </a:p>
        </p:txBody>
      </p:sp>
      <p:sp>
        <p:nvSpPr>
          <p:cNvPr id="22533" name="矩形 4"/>
          <p:cNvSpPr>
            <a:spLocks noChangeArrowheads="1"/>
          </p:cNvSpPr>
          <p:nvPr/>
        </p:nvSpPr>
        <p:spPr bwMode="auto">
          <a:xfrm>
            <a:off x="539552" y="260648"/>
            <a:ext cx="8352928" cy="600164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display_pop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(vector&lt;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&amp;v)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	//</a:t>
            </a: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逆序显示并删除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empty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pop_back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          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   vector&lt;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v1; 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=0;i&lt;10;i++) 		</a:t>
            </a:r>
            <a:r>
              <a:rPr lang="en-US" altLang="zh-CN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通过</a:t>
            </a:r>
            <a:r>
              <a:rPr lang="en-US" altLang="zh-CN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[] </a:t>
            </a:r>
            <a:r>
              <a:rPr lang="zh-CN" altLang="en-US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访问</a:t>
            </a:r>
            <a:r>
              <a:rPr lang="en-US" altLang="zh-CN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vector</a:t>
            </a:r>
            <a:r>
              <a:rPr lang="zh-CN" altLang="en-US" sz="16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内元素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v1.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push_back</a:t>
            </a:r>
            <a:r>
              <a:rPr lang="en-US" altLang="zh-CN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v1.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insert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(v1.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begin()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,30); </a:t>
            </a:r>
          </a:p>
          <a:p>
            <a:pPr lvl="1"/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“v1:”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		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顺序显示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=0;i&lt;v1.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size()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&lt;&lt;v1[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]&lt;&lt;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"\nv1: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display_pop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(v1); 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990600" y="6019800"/>
            <a:ext cx="67818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v1:     30      0       1       2       3       4       5       6       7       8       9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v1:     9        8       7       6       5       4       3       2       1       0       30</a:t>
            </a:r>
          </a:p>
        </p:txBody>
      </p:sp>
    </p:spTree>
    <p:extLst>
      <p:ext uri="{BB962C8B-B14F-4D97-AF65-F5344CB8AC3E}">
        <p14:creationId xmlns:p14="http://schemas.microsoft.com/office/powerpoint/2010/main" val="29724689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矩形 4"/>
          <p:cNvSpPr>
            <a:spLocks noChangeArrowheads="1"/>
          </p:cNvSpPr>
          <p:nvPr/>
        </p:nvSpPr>
        <p:spPr bwMode="auto">
          <a:xfrm>
            <a:off x="539552" y="260648"/>
            <a:ext cx="8352928" cy="452431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{   vector&lt;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v2; </a:t>
            </a:r>
          </a:p>
          <a:p>
            <a:pPr lvl="1"/>
            <a:endParaRPr lang="en-US" altLang="zh-CN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v2.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assign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(3,10);    </a:t>
            </a:r>
            <a:endParaRPr lang="zh-CN" alt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v2.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resize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(15); </a:t>
            </a:r>
          </a:p>
          <a:p>
            <a:pPr lvl="1"/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 pitchFamily="49" charset="0"/>
              </a:rPr>
              <a:t>"v2:\t 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800" dirty="0">
                <a:latin typeface="Consolas" panose="020B0609020204030204" pitchFamily="49" charset="0"/>
              </a:rPr>
              <a:t>vector&lt;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&gt;::iterator it;  </a:t>
            </a:r>
            <a:r>
              <a:rPr lang="en-US" altLang="zh-CN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通过迭代器访问</a:t>
            </a:r>
            <a:r>
              <a:rPr lang="en-US" altLang="zh-CN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vector</a:t>
            </a:r>
            <a:r>
              <a:rPr lang="zh-CN" altLang="en-U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内元素</a:t>
            </a:r>
            <a:endParaRPr lang="en-US" altLang="zh-CN" sz="18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/>
            <a:endParaRPr lang="en-US" altLang="zh-CN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/* end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为最后一个有效元素的下一个空位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  <a:endParaRPr lang="en-US" altLang="zh-CN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(it=v2.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begin()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;it!=v2.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end()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;it++) </a:t>
            </a: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&lt;&lt;(*it)&lt;&lt;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44208" y="404664"/>
            <a:ext cx="2412627" cy="6477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  <a:t>Vector</a:t>
            </a: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使用例程</a:t>
            </a:r>
            <a:br>
              <a:rPr lang="en-US" altLang="zh-CN" sz="2000" dirty="0">
                <a:solidFill>
                  <a:srgbClr val="C00000"/>
                </a:solidFill>
                <a:ea typeface="宋体" panose="02010600030101010101" pitchFamily="2" charset="-122"/>
              </a:rPr>
            </a:b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</a:rPr>
              <a:t>使用迭代器访问</a:t>
            </a:r>
          </a:p>
        </p:txBody>
      </p:sp>
      <p:sp>
        <p:nvSpPr>
          <p:cNvPr id="3" name="矩形 2"/>
          <p:cNvSpPr/>
          <p:nvPr/>
        </p:nvSpPr>
        <p:spPr>
          <a:xfrm>
            <a:off x="380999" y="5181600"/>
            <a:ext cx="847583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v2:      10     10      10      0       0       0       0       0       0       0       0       0       0     0   </a:t>
            </a:r>
            <a:r>
              <a:rPr lang="en-US" altLang="zh-CN" dirty="0">
                <a:solidFill>
                  <a:schemeClr val="bg1"/>
                </a:solidFill>
              </a:rPr>
              <a:t>0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833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容器：</a:t>
            </a:r>
            <a:r>
              <a:rPr lang="en-US" altLang="zh-CN" dirty="0">
                <a:ea typeface="宋体" panose="02010600030101010101" pitchFamily="2" charset="-122"/>
              </a:rPr>
              <a:t> List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STL</a:t>
            </a:r>
            <a:r>
              <a:rPr lang="zh-CN" altLang="en-US" sz="2400" dirty="0">
                <a:ea typeface="宋体" panose="02010600030101010101" pitchFamily="2" charset="-122"/>
              </a:rPr>
              <a:t>中的</a:t>
            </a: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list</a:t>
            </a:r>
            <a:r>
              <a:rPr lang="zh-CN" altLang="en-US" sz="2400" dirty="0">
                <a:ea typeface="宋体" panose="02010600030101010101" pitchFamily="2" charset="-122"/>
              </a:rPr>
              <a:t>是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双向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链表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通过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迭代器</a:t>
            </a:r>
            <a:r>
              <a:rPr lang="zh-CN" altLang="en-US" sz="2400" dirty="0">
                <a:ea typeface="宋体" panose="02010600030101010101" pitchFamily="2" charset="-122"/>
              </a:rPr>
              <a:t>访问节点。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91580" y="3221570"/>
            <a:ext cx="7524836" cy="2014944"/>
            <a:chOff x="503548" y="3789040"/>
            <a:chExt cx="8388932" cy="2339863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548" y="3789040"/>
              <a:ext cx="8280920" cy="2339863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2647034" y="3972148"/>
              <a:ext cx="1008112" cy="50405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5275326" y="3972148"/>
              <a:ext cx="1008112" cy="50405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03548" y="5296354"/>
              <a:ext cx="8388932" cy="724986"/>
            </a:xfrm>
            <a:prstGeom prst="rect">
              <a:avLst/>
            </a:prstGeom>
            <a:solidFill>
              <a:srgbClr val="FFFF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503548" y="3069468"/>
            <a:ext cx="8280920" cy="240725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55776" y="4229042"/>
            <a:ext cx="147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列表中元素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8230" y="5645453"/>
            <a:ext cx="1457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front( )</a:t>
            </a:r>
            <a:r>
              <a:rPr lang="zh-CN" altLang="en-US" sz="1800" dirty="0">
                <a:solidFill>
                  <a:srgbClr val="C00000"/>
                </a:solidFill>
              </a:rPr>
              <a:t>返回首元素引用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364088" y="5662989"/>
            <a:ext cx="1476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back( )</a:t>
            </a:r>
            <a:r>
              <a:rPr lang="zh-CN" altLang="en-US" sz="1800" dirty="0">
                <a:solidFill>
                  <a:srgbClr val="C00000"/>
                </a:solidFill>
              </a:rPr>
              <a:t>返回尾元素引用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1187624" y="5223499"/>
            <a:ext cx="72008" cy="435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5993022" y="5201843"/>
            <a:ext cx="0" cy="491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010829" y="2519197"/>
            <a:ext cx="231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begin( )</a:t>
            </a:r>
            <a:r>
              <a:rPr lang="zh-CN" altLang="en-US" sz="1800" dirty="0">
                <a:solidFill>
                  <a:srgbClr val="C00000"/>
                </a:solidFill>
              </a:rPr>
              <a:t>返回迭代器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781707" y="2531412"/>
            <a:ext cx="231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end( )</a:t>
            </a:r>
            <a:r>
              <a:rPr lang="zh-CN" altLang="en-US" sz="1800" dirty="0">
                <a:solidFill>
                  <a:srgbClr val="C00000"/>
                </a:solidFill>
              </a:rPr>
              <a:t>返回迭代器</a:t>
            </a:r>
          </a:p>
        </p:txBody>
      </p:sp>
      <p:cxnSp>
        <p:nvCxnSpPr>
          <p:cNvPr id="22" name="直接箭头连接符 21"/>
          <p:cNvCxnSpPr>
            <a:stCxn id="23" idx="2"/>
          </p:cNvCxnSpPr>
          <p:nvPr/>
        </p:nvCxnSpPr>
        <p:spPr>
          <a:xfrm flipH="1">
            <a:off x="3131840" y="2888529"/>
            <a:ext cx="34574" cy="396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724128" y="2900742"/>
            <a:ext cx="0" cy="38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7346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3568" y="188640"/>
            <a:ext cx="7992888" cy="575542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&lt;list&gt;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  list&lt;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 v1;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list&lt;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&gt;::iterator iter1;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list&lt;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&gt;::iterator iter2;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push_back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'm'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push_back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'n'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push_back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'o'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push_back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'p'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);</a:t>
            </a:r>
          </a:p>
          <a:p>
            <a:pPr lvl="1"/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"v1.front() =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front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"v1.back() =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pPr lvl="1"/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iter1 = 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();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*iter1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pPr lvl="1"/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iter2 = v1.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();           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/>
              </a:rPr>
              <a:t>注意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/>
              </a:rPr>
              <a:t>v1.end()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/>
              </a:rPr>
              <a:t>指向最后一个元素的下一个位置，</a:t>
            </a:r>
            <a:endParaRPr lang="zh-CN" altLang="en-US" sz="1400" dirty="0">
              <a:solidFill>
                <a:srgbClr val="000000"/>
              </a:solidFill>
              <a:latin typeface="Consolas" panose="020B0609020204030204"/>
            </a:endParaRP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*(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--iter2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/>
              </a:rPr>
              <a:t>所以访问最后一个元素的正确操作为 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/>
              </a:rPr>
              <a:t>*(--iter2)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pPr lvl="1"/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1200" y="5334000"/>
            <a:ext cx="2667000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v1.front() = m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v1.back() = p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m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431042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矩形 3"/>
          <p:cNvSpPr>
            <a:spLocks noChangeArrowheads="1"/>
          </p:cNvSpPr>
          <p:nvPr/>
        </p:nvSpPr>
        <p:spPr bwMode="auto">
          <a:xfrm>
            <a:off x="467544" y="260648"/>
            <a:ext cx="6619056" cy="6093976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5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5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5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500" dirty="0">
                <a:solidFill>
                  <a:srgbClr val="A31515"/>
                </a:solidFill>
                <a:latin typeface="Consolas" panose="020B0609020204030204" pitchFamily="49" charset="0"/>
              </a:rPr>
              <a:t>&lt;list&gt;</a:t>
            </a:r>
            <a:endParaRPr lang="en-US" altLang="zh-CN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{   </a:t>
            </a:r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a1[]={10,20,30,40,50,60,70};</a:t>
            </a:r>
          </a:p>
          <a:p>
            <a:pPr lvl="1"/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a2[]={40,50,60};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&gt; L1,L2;                    </a:t>
            </a:r>
          </a:p>
          <a:p>
            <a:pPr lvl="1"/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=0;i&lt;7;i++)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	L1.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push_back(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a1[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  </a:t>
            </a:r>
          </a:p>
          <a:p>
            <a:pPr lvl="1"/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j=0;j&lt;3;j++)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	L2.</a:t>
            </a:r>
            <a:r>
              <a:rPr lang="en-US" altLang="zh-CN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push_back(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a2[j]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</a:p>
          <a:p>
            <a:pPr lvl="1"/>
            <a:endParaRPr lang="en-US" altLang="zh-CN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en-US" altLang="zh-CN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&gt;::iterator 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en-US" altLang="zh-CN" sz="15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</a:t>
            </a:r>
            <a:r>
              <a:rPr lang="zh-CN" altLang="en-US" sz="15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通过迭代器访问</a:t>
            </a:r>
            <a:r>
              <a:rPr lang="en-US" altLang="zh-CN" sz="15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List</a:t>
            </a:r>
            <a:r>
              <a:rPr lang="zh-CN" altLang="en-US" sz="15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中元素</a:t>
            </a:r>
            <a:endParaRPr lang="en-US" altLang="zh-CN" sz="15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/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=L1.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begin()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!=L1.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end()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++)   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5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=L2.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begin()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!=L2.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end()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++)   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5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L1.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merge(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L2</a:t>
            </a:r>
            <a:r>
              <a:rPr lang="en-US" altLang="zh-CN" sz="15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=L1.begin();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!=L1.end();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++)   </a:t>
            </a:r>
          </a:p>
          <a:p>
            <a:pPr lvl="1"/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5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5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0" y="260648"/>
            <a:ext cx="2376487" cy="6477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List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使用例程</a:t>
            </a:r>
          </a:p>
        </p:txBody>
      </p:sp>
      <p:sp>
        <p:nvSpPr>
          <p:cNvPr id="2" name="矩形 1"/>
          <p:cNvSpPr/>
          <p:nvPr/>
        </p:nvSpPr>
        <p:spPr>
          <a:xfrm>
            <a:off x="2590800" y="5514102"/>
            <a:ext cx="6096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10      20      30      40      50      60      70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40      50      60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10      20      30      40      40      50      50      60      60      70</a:t>
            </a:r>
          </a:p>
        </p:txBody>
      </p:sp>
    </p:spTree>
    <p:extLst>
      <p:ext uri="{BB962C8B-B14F-4D97-AF65-F5344CB8AC3E}">
        <p14:creationId xmlns:p14="http://schemas.microsoft.com/office/powerpoint/2010/main" val="183192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容器：</a:t>
            </a:r>
            <a:r>
              <a:rPr lang="en-US" altLang="zh-CN" dirty="0">
                <a:ea typeface="宋体" panose="02010600030101010101" pitchFamily="2" charset="-122"/>
              </a:rPr>
              <a:t>stack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Stack</a:t>
            </a:r>
            <a:r>
              <a:rPr lang="zh-CN" altLang="en-US" sz="2400" dirty="0">
                <a:ea typeface="宋体" panose="02010600030101010101" pitchFamily="2" charset="-122"/>
              </a:rPr>
              <a:t>：后进先出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LIFO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last in first out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0724" name="Picture 4" descr="B7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36788"/>
            <a:ext cx="273136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061298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291138" y="5805488"/>
            <a:ext cx="3025775" cy="4619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30      50      100     10</a:t>
            </a:r>
          </a:p>
        </p:txBody>
      </p:sp>
      <p:sp>
        <p:nvSpPr>
          <p:cNvPr id="31747" name="矩形 3"/>
          <p:cNvSpPr>
            <a:spLocks noChangeArrowheads="1"/>
          </p:cNvSpPr>
          <p:nvPr/>
        </p:nvSpPr>
        <p:spPr bwMode="auto">
          <a:xfrm>
            <a:off x="612968" y="332656"/>
            <a:ext cx="8279511" cy="526297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&lt;stack&gt;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	stack&lt;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s;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push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(10);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s.push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(20);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s.push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(30);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top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s.top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()=100;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s.push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(50);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s.push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(60);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s.pop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	while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empty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{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s.top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s.pop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567488" y="334963"/>
            <a:ext cx="2576512" cy="6477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stack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的使用例程</a:t>
            </a:r>
          </a:p>
        </p:txBody>
      </p:sp>
    </p:spTree>
    <p:extLst>
      <p:ext uri="{BB962C8B-B14F-4D97-AF65-F5344CB8AC3E}">
        <p14:creationId xmlns:p14="http://schemas.microsoft.com/office/powerpoint/2010/main" val="2409160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30" y="-138508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容器：</a:t>
            </a:r>
            <a:r>
              <a:rPr lang="en-US" altLang="zh-CN" dirty="0">
                <a:ea typeface="宋体" panose="02010600030101010101" pitchFamily="2" charset="-122"/>
              </a:rPr>
              <a:t>set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>
                <a:ea typeface="宋体" panose="02010600030101010101" pitchFamily="2" charset="-122"/>
              </a:rPr>
              <a:t>multiset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84130" y="1169438"/>
            <a:ext cx="8229600" cy="4525963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集合，其中元素为关键字</a:t>
            </a:r>
            <a:r>
              <a:rPr lang="zh-CN" altLang="en-US" sz="2400" dirty="0">
                <a:ea typeface="宋体" panose="02010600030101010101" pitchFamily="2" charset="-122"/>
              </a:rPr>
              <a:t>（如数字、字符及串），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ea typeface="宋体" panose="02010600030101010101" pitchFamily="2" charset="-122"/>
              </a:rPr>
              <a:t>set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ea typeface="宋体" panose="02010600030101010101" pitchFamily="2" charset="-122"/>
              </a:rPr>
              <a:t>multiset</a:t>
            </a:r>
            <a:r>
              <a:rPr lang="zh-CN" altLang="en-US" sz="2400" dirty="0">
                <a:ea typeface="宋体" panose="02010600030101010101" pitchFamily="2" charset="-122"/>
              </a:rPr>
              <a:t>会将元素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自动排序</a:t>
            </a:r>
            <a:r>
              <a:rPr lang="zh-CN" altLang="en-US" sz="2400" dirty="0">
                <a:ea typeface="宋体" panose="02010600030101010101" pitchFamily="2" charset="-122"/>
              </a:rPr>
              <a:t>，按有序树进行存储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algn="just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504" y="2040137"/>
            <a:ext cx="45675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</a:rPr>
              <a:t>multiset</a:t>
            </a:r>
            <a:r>
              <a:rPr lang="zh-CN" altLang="en-US" dirty="0">
                <a:solidFill>
                  <a:srgbClr val="FF0000"/>
                </a:solidFill>
              </a:rPr>
              <a:t>可有重复元素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7504" y="1716258"/>
            <a:ext cx="28105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</a:rPr>
              <a:t>set</a:t>
            </a:r>
            <a:r>
              <a:rPr lang="zh-CN" altLang="en-US" dirty="0">
                <a:solidFill>
                  <a:srgbClr val="FF0000"/>
                </a:solidFill>
              </a:rPr>
              <a:t>无重复元素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2632622" y="3861991"/>
            <a:ext cx="3932617" cy="2260993"/>
            <a:chOff x="304800" y="685800"/>
            <a:chExt cx="2438400" cy="1600200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2133600" y="1600200"/>
              <a:ext cx="3048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304800" y="1981200"/>
              <a:ext cx="3048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524000" y="1066800"/>
              <a:ext cx="3048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914400" y="1524000"/>
              <a:ext cx="3048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828800" y="12954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H="1">
              <a:off x="1219200" y="1295400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685800" y="700088"/>
              <a:ext cx="8382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set</a:t>
              </a: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609600" y="1752600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524000" y="2057400"/>
              <a:ext cx="304800" cy="228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219200" y="17526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38"/>
            <p:cNvSpPr txBox="1">
              <a:spLocks noChangeArrowheads="1"/>
            </p:cNvSpPr>
            <p:nvPr/>
          </p:nvSpPr>
          <p:spPr bwMode="auto">
            <a:xfrm>
              <a:off x="1295400" y="685800"/>
              <a:ext cx="1447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multiset</a:t>
              </a:r>
            </a:p>
          </p:txBody>
        </p:sp>
      </p:grpSp>
      <p:sp>
        <p:nvSpPr>
          <p:cNvPr id="9" name="圆角矩形 8"/>
          <p:cNvSpPr/>
          <p:nvPr/>
        </p:nvSpPr>
        <p:spPr>
          <a:xfrm>
            <a:off x="1187624" y="3622435"/>
            <a:ext cx="6955022" cy="2902909"/>
          </a:xfrm>
          <a:prstGeom prst="roundRect">
            <a:avLst>
              <a:gd name="adj" fmla="val 5613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773" name="组合 32772"/>
          <p:cNvGrpSpPr/>
          <p:nvPr/>
        </p:nvGrpSpPr>
        <p:grpSpPr>
          <a:xfrm>
            <a:off x="1187624" y="5073889"/>
            <a:ext cx="1647886" cy="779930"/>
            <a:chOff x="1721434" y="5073889"/>
            <a:chExt cx="1647886" cy="779930"/>
          </a:xfrm>
        </p:grpSpPr>
        <p:sp>
          <p:nvSpPr>
            <p:cNvPr id="5" name="椭圆 4"/>
            <p:cNvSpPr/>
            <p:nvPr/>
          </p:nvSpPr>
          <p:spPr>
            <a:xfrm>
              <a:off x="2411760" y="5476986"/>
              <a:ext cx="576064" cy="322999"/>
            </a:xfrm>
            <a:prstGeom prst="ellipse">
              <a:avLst/>
            </a:prstGeom>
            <a:solidFill>
              <a:srgbClr val="92D050">
                <a:alpha val="25000"/>
              </a:srgbClr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721434" y="5073889"/>
              <a:ext cx="16478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006600"/>
                  </a:solidFill>
                </a:rPr>
                <a:t>迭代器 </a:t>
              </a:r>
              <a:r>
                <a:rPr lang="en-US" altLang="zh-CN" sz="2000" dirty="0">
                  <a:solidFill>
                    <a:srgbClr val="006600"/>
                  </a:solidFill>
                </a:rPr>
                <a:t>begin</a:t>
              </a:r>
              <a:endParaRPr lang="zh-CN" altLang="en-US" sz="2000" dirty="0">
                <a:solidFill>
                  <a:srgbClr val="006600"/>
                </a:solidFill>
              </a:endParaRPr>
            </a:p>
          </p:txBody>
        </p:sp>
        <p:cxnSp>
          <p:nvCxnSpPr>
            <p:cNvPr id="22" name="直接箭头连接符 21"/>
            <p:cNvCxnSpPr>
              <a:stCxn id="5" idx="5"/>
              <a:endCxn id="11" idx="1"/>
            </p:cNvCxnSpPr>
            <p:nvPr/>
          </p:nvCxnSpPr>
          <p:spPr>
            <a:xfrm>
              <a:off x="2903461" y="5752683"/>
              <a:ext cx="190963" cy="101136"/>
            </a:xfrm>
            <a:prstGeom prst="straightConnector1">
              <a:avLst/>
            </a:prstGeom>
            <a:ln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772" name="组合 32771"/>
          <p:cNvGrpSpPr/>
          <p:nvPr/>
        </p:nvGrpSpPr>
        <p:grpSpPr>
          <a:xfrm>
            <a:off x="6073662" y="4900852"/>
            <a:ext cx="2096725" cy="1207972"/>
            <a:chOff x="6607472" y="4900852"/>
            <a:chExt cx="2096725" cy="1207972"/>
          </a:xfrm>
        </p:grpSpPr>
        <p:sp>
          <p:nvSpPr>
            <p:cNvPr id="25" name="椭圆 24"/>
            <p:cNvSpPr/>
            <p:nvPr/>
          </p:nvSpPr>
          <p:spPr>
            <a:xfrm>
              <a:off x="7557348" y="5345182"/>
              <a:ext cx="576064" cy="322999"/>
            </a:xfrm>
            <a:prstGeom prst="ellipse">
              <a:avLst/>
            </a:prstGeom>
            <a:solidFill>
              <a:srgbClr val="92D050">
                <a:alpha val="25000"/>
              </a:srgbClr>
            </a:solidFill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125934" y="4900852"/>
              <a:ext cx="1578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006600"/>
                  </a:solidFill>
                </a:rPr>
                <a:t>迭代器 </a:t>
              </a:r>
              <a:r>
                <a:rPr lang="en-US" altLang="zh-CN" sz="2000" dirty="0">
                  <a:solidFill>
                    <a:srgbClr val="006600"/>
                  </a:solidFill>
                </a:rPr>
                <a:t>end</a:t>
              </a:r>
              <a:endParaRPr lang="zh-CN" altLang="en-US" sz="2000" dirty="0">
                <a:solidFill>
                  <a:srgbClr val="006600"/>
                </a:solidFill>
              </a:endParaRPr>
            </a:p>
          </p:txBody>
        </p:sp>
        <p:cxnSp>
          <p:nvCxnSpPr>
            <p:cNvPr id="27" name="直接箭头连接符 26"/>
            <p:cNvCxnSpPr>
              <a:stCxn id="25" idx="3"/>
              <a:endCxn id="28" idx="3"/>
            </p:cNvCxnSpPr>
            <p:nvPr/>
          </p:nvCxnSpPr>
          <p:spPr>
            <a:xfrm flipH="1">
              <a:off x="7404613" y="5620879"/>
              <a:ext cx="237098" cy="326446"/>
            </a:xfrm>
            <a:prstGeom prst="straightConnector1">
              <a:avLst/>
            </a:prstGeom>
            <a:ln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6913036" y="5785825"/>
              <a:ext cx="491577" cy="3229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6607472" y="5473999"/>
              <a:ext cx="324572" cy="31182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74" name="矩形 32773"/>
          <p:cNvSpPr/>
          <p:nvPr/>
        </p:nvSpPr>
        <p:spPr>
          <a:xfrm>
            <a:off x="629816" y="3117469"/>
            <a:ext cx="7830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想一想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zh-CN" altLang="en-US" dirty="0"/>
              <a:t>迭代器 </a:t>
            </a:r>
            <a:r>
              <a:rPr lang="en-US" altLang="zh-CN" dirty="0">
                <a:solidFill>
                  <a:srgbClr val="006600"/>
                </a:solidFill>
              </a:rPr>
              <a:t>begin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>
                <a:solidFill>
                  <a:srgbClr val="006600"/>
                </a:solidFill>
              </a:rPr>
              <a:t>end</a:t>
            </a:r>
            <a:r>
              <a:rPr lang="zh-CN" altLang="en-US" dirty="0">
                <a:solidFill>
                  <a:srgbClr val="006600"/>
                </a:solidFill>
              </a:rPr>
              <a:t> </a:t>
            </a:r>
            <a:r>
              <a:rPr lang="zh-CN" altLang="en-US" dirty="0"/>
              <a:t>分别指向哪里？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3928309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矩形 3"/>
          <p:cNvSpPr>
            <a:spLocks noChangeArrowheads="1"/>
          </p:cNvSpPr>
          <p:nvPr/>
        </p:nvSpPr>
        <p:spPr bwMode="auto">
          <a:xfrm>
            <a:off x="461963" y="152400"/>
            <a:ext cx="7386637" cy="692497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endParaRPr lang="en-US" altLang="zh-CN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    </a:t>
            </a:r>
            <a:r>
              <a:rPr lang="en-US" altLang="zh-CN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lang="zh-CN" altLang="en-US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*初始化名单</a:t>
            </a:r>
            <a:r>
              <a:rPr lang="en-US" altLang="zh-CN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set </a:t>
            </a:r>
            <a:r>
              <a:rPr lang="zh-CN" altLang="en-US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altLang="zh-CN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string a[]={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杜明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王为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张清山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李海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黄明浩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defRPr/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刘一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张三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林浦海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王小二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张清山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1">
              <a:defRPr/>
            </a:pPr>
            <a:r>
              <a:rPr lang="en-US" altLang="zh-CN" sz="1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multiset&lt;string&gt;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(a,a+10); </a:t>
            </a:r>
          </a:p>
          <a:p>
            <a:pPr lvl="1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nameset.insert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杜明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nameset.insert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李则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multiset&lt;string&gt;::iterator it;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(it=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nameset.begin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();it!=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nameset.end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();it++)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&lt;&lt;*it&lt;&lt;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 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</a:t>
            </a:r>
          </a:p>
          <a:p>
            <a:pPr lvl="1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lang="zh-CN" altLang="en-US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*输入名字并在名单</a:t>
            </a:r>
            <a:r>
              <a:rPr lang="en-US" altLang="zh-CN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set</a:t>
            </a:r>
            <a:r>
              <a:rPr lang="zh-CN" altLang="en-US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中查找*</a:t>
            </a:r>
            <a:r>
              <a:rPr lang="en-US" altLang="zh-CN" sz="12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    </a:t>
            </a:r>
          </a:p>
          <a:p>
            <a:pPr lvl="1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输入要查找的姓名：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&gt;&gt;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      </a:t>
            </a:r>
          </a:p>
          <a:p>
            <a:pPr lvl="1">
              <a:defRPr/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it=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nameset.begin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s=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     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(it!=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nameset.end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 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==*it) 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{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&lt;&lt;*it&lt;&lt;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3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s=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it++;</a:t>
            </a:r>
          </a:p>
          <a:p>
            <a:pPr lvl="1">
              <a:defRPr/>
            </a:pPr>
            <a:r>
              <a:rPr lang="en-US" altLang="zh-CN" sz="1200" dirty="0">
                <a:latin typeface="Consolas" panose="020B0609020204030204" pitchFamily="49" charset="0"/>
              </a:rPr>
              <a:t>}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(!s)</a:t>
            </a:r>
          </a:p>
          <a:p>
            <a:pPr lvl="1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不在集合中！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18932" y="332656"/>
            <a:ext cx="345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set </a:t>
            </a:r>
            <a:r>
              <a:rPr lang="zh-CN" altLang="en-US" dirty="0">
                <a:solidFill>
                  <a:srgbClr val="C00000"/>
                </a:solidFill>
              </a:rPr>
              <a:t>和 </a:t>
            </a:r>
            <a:r>
              <a:rPr lang="en-US" altLang="zh-CN" dirty="0">
                <a:solidFill>
                  <a:srgbClr val="C00000"/>
                </a:solidFill>
              </a:rPr>
              <a:t>multiset </a:t>
            </a:r>
            <a:r>
              <a:rPr lang="zh-CN" altLang="en-US" dirty="0">
                <a:solidFill>
                  <a:srgbClr val="C00000"/>
                </a:solidFill>
              </a:rPr>
              <a:t>应用例程</a:t>
            </a:r>
          </a:p>
        </p:txBody>
      </p:sp>
      <p:sp>
        <p:nvSpPr>
          <p:cNvPr id="4" name="矩形 3"/>
          <p:cNvSpPr/>
          <p:nvPr/>
        </p:nvSpPr>
        <p:spPr>
          <a:xfrm>
            <a:off x="3276600" y="4800600"/>
            <a:ext cx="5715000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杜明  杜明  黄明浩  李海  李则  林浦海  刘一  王为  王小二  张清山  张清山  张三</a:t>
            </a:r>
          </a:p>
          <a:p>
            <a:r>
              <a:rPr lang="zh-CN" altLang="en-US" sz="1200" dirty="0">
                <a:solidFill>
                  <a:schemeClr val="bg1"/>
                </a:solidFill>
              </a:rPr>
              <a:t>输入要查找的姓名：杜明</a:t>
            </a:r>
          </a:p>
          <a:p>
            <a:r>
              <a:rPr lang="zh-CN" altLang="en-US" sz="1200" dirty="0">
                <a:solidFill>
                  <a:schemeClr val="bg1"/>
                </a:solidFill>
              </a:rPr>
              <a:t>杜明</a:t>
            </a:r>
          </a:p>
          <a:p>
            <a:r>
              <a:rPr lang="zh-CN" altLang="en-US" sz="1200" dirty="0">
                <a:solidFill>
                  <a:schemeClr val="bg1"/>
                </a:solidFill>
              </a:rPr>
              <a:t>杜明</a:t>
            </a:r>
          </a:p>
        </p:txBody>
      </p:sp>
    </p:spTree>
    <p:extLst>
      <p:ext uri="{BB962C8B-B14F-4D97-AF65-F5344CB8AC3E}">
        <p14:creationId xmlns:p14="http://schemas.microsoft.com/office/powerpoint/2010/main" val="2693259513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11206" y="67316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容器：</a:t>
            </a:r>
            <a:r>
              <a:rPr lang="en-US" altLang="zh-CN" dirty="0">
                <a:ea typeface="宋体" panose="02010600030101010101" pitchFamily="2" charset="-122"/>
              </a:rPr>
              <a:t>map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 err="1">
                <a:ea typeface="宋体" panose="02010600030101010101" pitchFamily="2" charset="-122"/>
              </a:rPr>
              <a:t>multimap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1176" y="1162499"/>
            <a:ext cx="8229600" cy="3577705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altLang="zh-CN" sz="2400" dirty="0">
                <a:solidFill>
                  <a:srgbClr val="006600"/>
                </a:solidFill>
              </a:rPr>
              <a:t>map</a:t>
            </a:r>
            <a:r>
              <a:rPr lang="en-US" altLang="zh-CN" sz="2400" dirty="0"/>
              <a:t> 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6600"/>
                </a:solidFill>
              </a:rPr>
              <a:t> </a:t>
            </a:r>
            <a:r>
              <a:rPr lang="en-US" altLang="zh-CN" sz="2400" dirty="0" err="1">
                <a:solidFill>
                  <a:srgbClr val="006600"/>
                </a:solidFill>
              </a:rPr>
              <a:t>multimap</a:t>
            </a:r>
            <a:r>
              <a:rPr lang="en-US" altLang="zh-CN" sz="2400" dirty="0">
                <a:solidFill>
                  <a:srgbClr val="006600"/>
                </a:solidFill>
              </a:rPr>
              <a:t> </a:t>
            </a:r>
            <a:r>
              <a:rPr lang="zh-CN" altLang="en-US" sz="2400" dirty="0"/>
              <a:t>中元素为 类</a:t>
            </a:r>
            <a:r>
              <a:rPr lang="zh-CN" altLang="en-US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pair </a:t>
            </a:r>
            <a:r>
              <a:rPr lang="zh-CN" altLang="en-US" sz="2400" dirty="0"/>
              <a:t>对象：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4821" name="矩形 1"/>
          <p:cNvSpPr>
            <a:spLocks noChangeArrowheads="1"/>
          </p:cNvSpPr>
          <p:nvPr/>
        </p:nvSpPr>
        <p:spPr bwMode="auto">
          <a:xfrm>
            <a:off x="1115616" y="3179789"/>
            <a:ext cx="4608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63650" indent="-5334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/>
            <a:r>
              <a:rPr lang="en-US" altLang="zh-CN" dirty="0">
                <a:solidFill>
                  <a:srgbClr val="0070C0"/>
                </a:solidFill>
              </a:rPr>
              <a:t>first</a:t>
            </a:r>
            <a:r>
              <a:rPr lang="zh-CN" altLang="en-US" dirty="0"/>
              <a:t>，即键</a:t>
            </a:r>
            <a:r>
              <a:rPr lang="en-US" altLang="zh-CN" dirty="0"/>
              <a:t>, </a:t>
            </a:r>
            <a:r>
              <a:rPr lang="zh-CN" altLang="en-US" dirty="0"/>
              <a:t>用于</a:t>
            </a:r>
            <a:r>
              <a:rPr lang="zh-CN" altLang="en-US" dirty="0">
                <a:solidFill>
                  <a:srgbClr val="FF0000"/>
                </a:solidFill>
              </a:rPr>
              <a:t>查找</a:t>
            </a:r>
            <a:r>
              <a:rPr lang="zh-CN" altLang="en-US" dirty="0"/>
              <a:t>过程中的键</a:t>
            </a:r>
            <a:endParaRPr lang="en-US" altLang="zh-CN" dirty="0"/>
          </a:p>
          <a:p>
            <a:pPr marL="0" lvl="2" indent="0" eaLnBrk="1" hangingPunct="1"/>
            <a:r>
              <a:rPr lang="en-US" altLang="zh-CN" dirty="0">
                <a:solidFill>
                  <a:srgbClr val="FF0000"/>
                </a:solidFill>
              </a:rPr>
              <a:t>second</a:t>
            </a:r>
            <a:r>
              <a:rPr lang="zh-CN" altLang="en-US" dirty="0"/>
              <a:t>，即访问值 。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4191000"/>
            <a:ext cx="7416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dirty="0"/>
              <a:t>创建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pair</a:t>
            </a:r>
            <a:r>
              <a:rPr lang="zh-CN" altLang="en-US" dirty="0"/>
              <a:t>对象</a:t>
            </a:r>
            <a:r>
              <a:rPr lang="zh-CN" altLang="en-US" dirty="0">
                <a:solidFill>
                  <a:srgbClr val="FF0000"/>
                </a:solidFill>
              </a:rPr>
              <a:t>： </a:t>
            </a:r>
            <a:r>
              <a:rPr lang="en-US" altLang="zh-CN" dirty="0" err="1">
                <a:solidFill>
                  <a:srgbClr val="FF0000"/>
                </a:solidFill>
              </a:rPr>
              <a:t>make_pair</a:t>
            </a:r>
            <a:r>
              <a:rPr lang="en-US" altLang="zh-CN" dirty="0">
                <a:solidFill>
                  <a:srgbClr val="FF0000"/>
                </a:solidFill>
              </a:rPr>
              <a:t>(e1,e2)</a:t>
            </a:r>
          </a:p>
        </p:txBody>
      </p:sp>
      <p:sp>
        <p:nvSpPr>
          <p:cNvPr id="11" name="矩形 10"/>
          <p:cNvSpPr/>
          <p:nvPr/>
        </p:nvSpPr>
        <p:spPr>
          <a:xfrm>
            <a:off x="5852018" y="3364454"/>
            <a:ext cx="3040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dirty="0"/>
              <a:t>具有</a:t>
            </a: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zh-CN" altLang="en-US" dirty="0"/>
              <a:t>访问属性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5616116" y="3239574"/>
            <a:ext cx="216024" cy="833481"/>
          </a:xfrm>
          <a:prstGeom prst="rightBrace">
            <a:avLst>
              <a:gd name="adj1" fmla="val 39401"/>
              <a:gd name="adj2" fmla="val 4597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55576" y="4876800"/>
            <a:ext cx="59379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 eaLnBrk="1" hangingPunct="1"/>
            <a:r>
              <a:rPr lang="en-US" altLang="zh-CN" dirty="0"/>
              <a:t>map</a:t>
            </a:r>
            <a:r>
              <a:rPr lang="zh-CN" altLang="en-US" dirty="0"/>
              <a:t>元素</a:t>
            </a:r>
            <a:r>
              <a:rPr lang="zh-CN" altLang="en-US" dirty="0">
                <a:solidFill>
                  <a:srgbClr val="FF0000"/>
                </a:solidFill>
              </a:rPr>
              <a:t>不</a:t>
            </a:r>
            <a:r>
              <a:rPr lang="zh-CN" altLang="en-US" dirty="0"/>
              <a:t>允许</a:t>
            </a:r>
            <a:r>
              <a:rPr lang="zh-CN" altLang="en-US" dirty="0">
                <a:solidFill>
                  <a:srgbClr val="FF0000"/>
                </a:solidFill>
              </a:rPr>
              <a:t>重复</a:t>
            </a:r>
            <a:endParaRPr lang="en-US" altLang="zh-CN" b="1" dirty="0"/>
          </a:p>
        </p:txBody>
      </p:sp>
      <p:sp>
        <p:nvSpPr>
          <p:cNvPr id="7" name="矩形 6"/>
          <p:cNvSpPr/>
          <p:nvPr/>
        </p:nvSpPr>
        <p:spPr>
          <a:xfrm>
            <a:off x="760338" y="5302537"/>
            <a:ext cx="45143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1" hangingPunct="1"/>
            <a:r>
              <a:rPr lang="en-US" altLang="zh-CN" dirty="0" err="1"/>
              <a:t>multimap</a:t>
            </a:r>
            <a:r>
              <a:rPr lang="zh-CN" altLang="en-US" dirty="0"/>
              <a:t>元素</a:t>
            </a:r>
            <a:r>
              <a:rPr lang="zh-CN" altLang="en-US" dirty="0">
                <a:solidFill>
                  <a:srgbClr val="FF0000"/>
                </a:solidFill>
              </a:rPr>
              <a:t>可以重复</a:t>
            </a:r>
            <a:r>
              <a:rPr lang="zh-CN" altLang="en-US" dirty="0"/>
              <a:t>  </a:t>
            </a:r>
            <a:endParaRPr lang="en-US" altLang="zh-CN" dirty="0"/>
          </a:p>
        </p:txBody>
      </p:sp>
      <p:grpSp>
        <p:nvGrpSpPr>
          <p:cNvPr id="13" name="组合 12"/>
          <p:cNvGrpSpPr/>
          <p:nvPr/>
        </p:nvGrpSpPr>
        <p:grpSpPr>
          <a:xfrm>
            <a:off x="3815916" y="2226391"/>
            <a:ext cx="1080120" cy="582674"/>
            <a:chOff x="3650972" y="1739733"/>
            <a:chExt cx="394946" cy="258002"/>
          </a:xfrm>
          <a:solidFill>
            <a:schemeClr val="tx1"/>
          </a:solidFill>
        </p:grpSpPr>
        <p:sp>
          <p:nvSpPr>
            <p:cNvPr id="35" name="Rectangle 30"/>
            <p:cNvSpPr>
              <a:spLocks noChangeArrowheads="1"/>
            </p:cNvSpPr>
            <p:nvPr/>
          </p:nvSpPr>
          <p:spPr bwMode="auto">
            <a:xfrm>
              <a:off x="3848445" y="1739733"/>
              <a:ext cx="197473" cy="25800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3650972" y="1739733"/>
              <a:ext cx="197473" cy="25800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9525">
              <a:solidFill>
                <a:srgbClr val="007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</p:grpSp>
      <p:sp>
        <p:nvSpPr>
          <p:cNvPr id="14" name="矩形 13"/>
          <p:cNvSpPr/>
          <p:nvPr/>
        </p:nvSpPr>
        <p:spPr>
          <a:xfrm>
            <a:off x="3505200" y="1764726"/>
            <a:ext cx="2034531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indent="0" algn="just"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en-US" altLang="zh-CN" dirty="0">
                <a:solidFill>
                  <a:srgbClr val="0070C0"/>
                </a:solidFill>
              </a:rPr>
              <a:t>first</a:t>
            </a:r>
            <a:r>
              <a:rPr lang="en-US" altLang="zh-CN" dirty="0">
                <a:solidFill>
                  <a:srgbClr val="FF0000"/>
                </a:solidFill>
              </a:rPr>
              <a:t>, second&gt;</a:t>
            </a:r>
            <a:endParaRPr lang="en-US" altLang="zh-CN" dirty="0"/>
          </a:p>
        </p:txBody>
      </p:sp>
      <p:sp>
        <p:nvSpPr>
          <p:cNvPr id="15" name="矩形 14"/>
          <p:cNvSpPr/>
          <p:nvPr/>
        </p:nvSpPr>
        <p:spPr>
          <a:xfrm>
            <a:off x="355467" y="319464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just" eaLnBrk="1" hangingPunct="1">
              <a:buNone/>
            </a:pPr>
            <a:r>
              <a:rPr lang="zh-CN" altLang="en-US" dirty="0"/>
              <a:t>其中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5584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容器：</a:t>
            </a:r>
            <a:r>
              <a:rPr lang="en-US" altLang="zh-CN" dirty="0">
                <a:ea typeface="宋体" panose="02010600030101010101" pitchFamily="2" charset="-122"/>
              </a:rPr>
              <a:t>map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 err="1">
                <a:ea typeface="宋体" panose="02010600030101010101" pitchFamily="2" charset="-122"/>
              </a:rPr>
              <a:t>multimap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algn="just" eaLnBrk="1" hangingPunct="1">
              <a:buNone/>
            </a:pPr>
            <a:r>
              <a:rPr lang="en-US" altLang="zh-CN" sz="2400" dirty="0"/>
              <a:t>map </a:t>
            </a:r>
            <a:r>
              <a:rPr lang="zh-CN" altLang="en-US" sz="2400" dirty="0"/>
              <a:t>和 </a:t>
            </a:r>
            <a:r>
              <a:rPr lang="en-US" altLang="zh-CN" sz="2400" dirty="0" err="1"/>
              <a:t>multimap</a:t>
            </a:r>
            <a:r>
              <a:rPr lang="en-US" altLang="zh-CN" sz="2400" dirty="0"/>
              <a:t> </a:t>
            </a:r>
            <a:r>
              <a:rPr lang="zh-CN" altLang="en-US" sz="2400" dirty="0"/>
              <a:t>在</a:t>
            </a:r>
            <a:r>
              <a:rPr lang="en-US" altLang="zh-CN" sz="2400" dirty="0"/>
              <a:t>STL</a:t>
            </a:r>
            <a:r>
              <a:rPr lang="zh-CN" altLang="en-US" sz="2400" dirty="0"/>
              <a:t>中元素自动排序，按</a:t>
            </a:r>
            <a:r>
              <a:rPr lang="zh-CN" altLang="en-US" sz="2400" b="1" dirty="0">
                <a:solidFill>
                  <a:srgbClr val="C00000"/>
                </a:solidFill>
              </a:rPr>
              <a:t>有序树</a:t>
            </a:r>
            <a:r>
              <a:rPr lang="zh-CN" altLang="en-US" sz="2400" dirty="0"/>
              <a:t>存储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123728" y="2366646"/>
            <a:ext cx="5112568" cy="3150586"/>
            <a:chOff x="5086876" y="3904280"/>
            <a:chExt cx="3672408" cy="2398853"/>
          </a:xfrm>
        </p:grpSpPr>
        <p:grpSp>
          <p:nvGrpSpPr>
            <p:cNvPr id="17" name="组合 16"/>
            <p:cNvGrpSpPr/>
            <p:nvPr/>
          </p:nvGrpSpPr>
          <p:grpSpPr>
            <a:xfrm>
              <a:off x="5534133" y="4151641"/>
              <a:ext cx="2962100" cy="1892013"/>
              <a:chOff x="2971800" y="685800"/>
              <a:chExt cx="2286000" cy="1676400"/>
            </a:xfrm>
          </p:grpSpPr>
          <p:sp>
            <p:nvSpPr>
              <p:cNvPr id="19" name="Rectangle 22"/>
              <p:cNvSpPr>
                <a:spLocks noChangeArrowheads="1"/>
              </p:cNvSpPr>
              <p:nvPr/>
            </p:nvSpPr>
            <p:spPr bwMode="auto">
              <a:xfrm>
                <a:off x="4343400" y="11430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0" name="Line 24"/>
              <p:cNvSpPr>
                <a:spLocks noChangeShapeType="1"/>
              </p:cNvSpPr>
              <p:nvPr/>
            </p:nvSpPr>
            <p:spPr bwMode="auto">
              <a:xfrm>
                <a:off x="4495800" y="13716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25"/>
              <p:cNvSpPr>
                <a:spLocks noChangeShapeType="1"/>
              </p:cNvSpPr>
              <p:nvPr/>
            </p:nvSpPr>
            <p:spPr bwMode="auto">
              <a:xfrm flipH="1">
                <a:off x="3886200" y="1371600"/>
                <a:ext cx="3048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6"/>
              <p:cNvSpPr>
                <a:spLocks noChangeShapeType="1"/>
              </p:cNvSpPr>
              <p:nvPr/>
            </p:nvSpPr>
            <p:spPr bwMode="auto">
              <a:xfrm flipH="1">
                <a:off x="3276600" y="1828800"/>
                <a:ext cx="3048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8"/>
              <p:cNvSpPr>
                <a:spLocks noChangeShapeType="1"/>
              </p:cNvSpPr>
              <p:nvPr/>
            </p:nvSpPr>
            <p:spPr bwMode="auto">
              <a:xfrm>
                <a:off x="3886200" y="1828800"/>
                <a:ext cx="304800" cy="304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29"/>
              <p:cNvSpPr>
                <a:spLocks noChangeArrowheads="1"/>
              </p:cNvSpPr>
              <p:nvPr/>
            </p:nvSpPr>
            <p:spPr bwMode="auto">
              <a:xfrm>
                <a:off x="4191000" y="11430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5" name="Rectangle 30"/>
              <p:cNvSpPr>
                <a:spLocks noChangeArrowheads="1"/>
              </p:cNvSpPr>
              <p:nvPr/>
            </p:nvSpPr>
            <p:spPr bwMode="auto">
              <a:xfrm>
                <a:off x="4953000" y="1676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6" name="Rectangle 31"/>
              <p:cNvSpPr>
                <a:spLocks noChangeArrowheads="1"/>
              </p:cNvSpPr>
              <p:nvPr/>
            </p:nvSpPr>
            <p:spPr bwMode="auto">
              <a:xfrm>
                <a:off x="4800600" y="1676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7" name="Rectangle 32"/>
              <p:cNvSpPr>
                <a:spLocks noChangeArrowheads="1"/>
              </p:cNvSpPr>
              <p:nvPr/>
            </p:nvSpPr>
            <p:spPr bwMode="auto">
              <a:xfrm>
                <a:off x="3733800" y="16002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8" name="Rectangle 33"/>
              <p:cNvSpPr>
                <a:spLocks noChangeArrowheads="1"/>
              </p:cNvSpPr>
              <p:nvPr/>
            </p:nvSpPr>
            <p:spPr bwMode="auto">
              <a:xfrm>
                <a:off x="3581400" y="16002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29" name="Rectangle 34"/>
              <p:cNvSpPr>
                <a:spLocks noChangeArrowheads="1"/>
              </p:cNvSpPr>
              <p:nvPr/>
            </p:nvSpPr>
            <p:spPr bwMode="auto">
              <a:xfrm>
                <a:off x="4343400" y="21336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0" name="Rectangle 35"/>
              <p:cNvSpPr>
                <a:spLocks noChangeArrowheads="1"/>
              </p:cNvSpPr>
              <p:nvPr/>
            </p:nvSpPr>
            <p:spPr bwMode="auto">
              <a:xfrm>
                <a:off x="4191000" y="21336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1" name="Rectangle 36"/>
              <p:cNvSpPr>
                <a:spLocks noChangeArrowheads="1"/>
              </p:cNvSpPr>
              <p:nvPr/>
            </p:nvSpPr>
            <p:spPr bwMode="auto">
              <a:xfrm>
                <a:off x="3124200" y="2057400"/>
                <a:ext cx="152400" cy="2286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2" name="Rectangle 37"/>
              <p:cNvSpPr>
                <a:spLocks noChangeArrowheads="1"/>
              </p:cNvSpPr>
              <p:nvPr/>
            </p:nvSpPr>
            <p:spPr bwMode="auto">
              <a:xfrm>
                <a:off x="2971800" y="2057400"/>
                <a:ext cx="152400" cy="2286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zh-CN" altLang="zh-CN"/>
              </a:p>
            </p:txBody>
          </p:sp>
          <p:sp>
            <p:nvSpPr>
              <p:cNvPr id="33" name="Text Box 39"/>
              <p:cNvSpPr txBox="1">
                <a:spLocks noChangeArrowheads="1"/>
              </p:cNvSpPr>
              <p:nvPr/>
            </p:nvSpPr>
            <p:spPr bwMode="auto">
              <a:xfrm>
                <a:off x="3200400" y="700088"/>
                <a:ext cx="8382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map</a:t>
                </a:r>
              </a:p>
            </p:txBody>
          </p:sp>
          <p:sp>
            <p:nvSpPr>
              <p:cNvPr id="34" name="Text Box 40"/>
              <p:cNvSpPr txBox="1">
                <a:spLocks noChangeArrowheads="1"/>
              </p:cNvSpPr>
              <p:nvPr/>
            </p:nvSpPr>
            <p:spPr bwMode="auto">
              <a:xfrm>
                <a:off x="3810000" y="685800"/>
                <a:ext cx="14478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dirty="0" err="1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multimap</a:t>
                </a:r>
                <a:endParaRPr lang="en-US" altLang="zh-CN" sz="1800" dirty="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8" name="圆角矩形 17"/>
            <p:cNvSpPr/>
            <p:nvPr/>
          </p:nvSpPr>
          <p:spPr>
            <a:xfrm>
              <a:off x="5086876" y="3904280"/>
              <a:ext cx="3672408" cy="2398853"/>
            </a:xfrm>
            <a:prstGeom prst="roundRect">
              <a:avLst>
                <a:gd name="adj" fmla="val 5613"/>
              </a:avLst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01608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868144" y="4267200"/>
            <a:ext cx="2770538" cy="18158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bob     2000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tom     3400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李煜    </a:t>
            </a: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1450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刘明海  </a:t>
            </a: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2000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张大年  </a:t>
            </a: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1200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输入查找人员的姓名：</a:t>
            </a: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tom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</a:rPr>
              <a:t>3400</a:t>
            </a:r>
          </a:p>
        </p:txBody>
      </p:sp>
      <p:sp>
        <p:nvSpPr>
          <p:cNvPr id="25603" name="矩形 4"/>
          <p:cNvSpPr>
            <a:spLocks noChangeArrowheads="1"/>
          </p:cNvSpPr>
          <p:nvPr/>
        </p:nvSpPr>
        <p:spPr bwMode="auto">
          <a:xfrm>
            <a:off x="467544" y="260648"/>
            <a:ext cx="8280400" cy="590931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   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 初始化名单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name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*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name[]={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张大年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刘明海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李煜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};  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salary[]={1200,2000,1450};</a:t>
            </a:r>
          </a:p>
          <a:p>
            <a:pPr lvl="1">
              <a:defRPr/>
            </a:pP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map&lt;string, </a:t>
            </a:r>
            <a:r>
              <a:rPr lang="en-US" altLang="zh-CN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       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=0;i&lt;3;i++)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sa.insert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make_pair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(name[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],salary[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]));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"tom"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]=3400;                            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]=2000;</a:t>
            </a:r>
          </a:p>
          <a:p>
            <a:pPr lvl="1"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/* 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输入名字并在 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name 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检索 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*/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map&lt;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string,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&gt;::iterator p;   </a:t>
            </a:r>
            <a:r>
              <a:rPr lang="en-US" altLang="zh-CN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</a:t>
            </a:r>
            <a:r>
              <a:rPr lang="zh-CN" alt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通过迭代器访问</a:t>
            </a:r>
            <a:r>
              <a:rPr lang="en-US" altLang="zh-CN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map</a:t>
            </a:r>
            <a:r>
              <a:rPr lang="zh-CN" alt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元素</a:t>
            </a:r>
            <a:endParaRPr lang="en-US" altLang="zh-CN" sz="1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(p=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sa.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begin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;p!=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sa.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end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;p++)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&lt;&lt;p-&gt;first&lt;&lt;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&lt;&lt;p-&gt;second&lt;&lt;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person;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输入查找人员的姓名：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&gt;&gt;person;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(p=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sa.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begin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;p!=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sa.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end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;p++)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(p-&gt;first==person)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&lt;&lt;p-&gt;second&lt;&lt;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68144" y="332656"/>
            <a:ext cx="2175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map </a:t>
            </a:r>
            <a:r>
              <a:rPr lang="zh-CN" altLang="en-US" dirty="0">
                <a:solidFill>
                  <a:srgbClr val="C00000"/>
                </a:solidFill>
              </a:rPr>
              <a:t>应用例程</a:t>
            </a:r>
            <a:r>
              <a:rPr lang="en-US" altLang="zh-CN" dirty="0">
                <a:solidFill>
                  <a:srgbClr val="C00000"/>
                </a:solidFill>
              </a:rPr>
              <a:t>  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51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6531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容器：</a:t>
            </a:r>
            <a:r>
              <a:rPr lang="en-US" altLang="zh-CN" dirty="0">
                <a:ea typeface="宋体" panose="02010600030101010101" pitchFamily="2" charset="-122"/>
              </a:rPr>
              <a:t>set </a:t>
            </a:r>
            <a:r>
              <a:rPr lang="zh-CN" altLang="en-US" dirty="0">
                <a:ea typeface="宋体" panose="02010600030101010101" pitchFamily="2" charset="-122"/>
              </a:rPr>
              <a:t>和 </a:t>
            </a:r>
            <a:r>
              <a:rPr lang="en-US" altLang="zh-CN" dirty="0">
                <a:ea typeface="宋体" panose="02010600030101010101" pitchFamily="2" charset="-122"/>
              </a:rPr>
              <a:t>map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96929" y="1300711"/>
            <a:ext cx="7772400" cy="1223963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set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map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accent2"/>
                </a:solidFill>
                <a:ea typeface="宋体" panose="02010600030101010101" pitchFamily="2" charset="-122"/>
              </a:rPr>
              <a:t>说明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9" name="矩形 3"/>
          <p:cNvSpPr>
            <a:spLocks noChangeArrowheads="1"/>
          </p:cNvSpPr>
          <p:nvPr/>
        </p:nvSpPr>
        <p:spPr bwMode="auto">
          <a:xfrm>
            <a:off x="896929" y="2189217"/>
            <a:ext cx="81010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Franklin Gothic Book" panose="020B0503020102020204" pitchFamily="34" charset="0"/>
              <a:buAutoNum type="arabicPeriod"/>
            </a:pPr>
            <a:r>
              <a:rPr lang="en-US" altLang="zh-CN" dirty="0"/>
              <a:t>set</a:t>
            </a:r>
            <a:r>
              <a:rPr lang="zh-CN" altLang="en-US" dirty="0"/>
              <a:t>和</a:t>
            </a:r>
            <a:r>
              <a:rPr lang="en-US" altLang="zh-CN" dirty="0"/>
              <a:t>map</a:t>
            </a:r>
            <a:r>
              <a:rPr lang="zh-CN" altLang="en-US" dirty="0"/>
              <a:t>在</a:t>
            </a:r>
            <a:r>
              <a:rPr lang="en-US" altLang="zh-CN" dirty="0"/>
              <a:t>STL</a:t>
            </a:r>
            <a:r>
              <a:rPr lang="zh-CN" altLang="en-US" dirty="0"/>
              <a:t>中的组织形式为高效的平衡</a:t>
            </a:r>
            <a:r>
              <a:rPr lang="zh-CN" altLang="en-US" dirty="0">
                <a:solidFill>
                  <a:srgbClr val="FF0000"/>
                </a:solidFill>
              </a:rPr>
              <a:t>二叉树</a:t>
            </a:r>
            <a:r>
              <a:rPr lang="zh-CN" altLang="en-US" dirty="0"/>
              <a:t>结构。</a:t>
            </a:r>
          </a:p>
        </p:txBody>
      </p:sp>
      <p:sp>
        <p:nvSpPr>
          <p:cNvPr id="36870" name="矩形 7"/>
          <p:cNvSpPr>
            <a:spLocks noChangeArrowheads="1"/>
          </p:cNvSpPr>
          <p:nvPr/>
        </p:nvSpPr>
        <p:spPr bwMode="auto">
          <a:xfrm>
            <a:off x="860913" y="3192812"/>
            <a:ext cx="7993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Franklin Gothic Book" panose="020B0503020102020204" pitchFamily="34" charset="0"/>
              <a:buAutoNum type="arabicPeriod" startAt="2"/>
            </a:pPr>
            <a:r>
              <a:rPr lang="en-US" altLang="zh-CN" dirty="0"/>
              <a:t>set</a:t>
            </a:r>
            <a:r>
              <a:rPr lang="zh-CN" altLang="en-US" dirty="0"/>
              <a:t>和</a:t>
            </a:r>
            <a:r>
              <a:rPr lang="en-US" altLang="zh-CN" dirty="0"/>
              <a:t>map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FF0000"/>
                </a:solidFill>
              </a:rPr>
              <a:t>插入删除</a:t>
            </a:r>
            <a:r>
              <a:rPr lang="zh-CN" altLang="zh-CN" dirty="0"/>
              <a:t>比其他容器</a:t>
            </a:r>
            <a:r>
              <a:rPr lang="zh-CN" altLang="zh-CN" dirty="0">
                <a:solidFill>
                  <a:srgbClr val="FF0000"/>
                </a:solidFill>
              </a:rPr>
              <a:t>效率高</a:t>
            </a:r>
            <a:r>
              <a:rPr lang="zh-CN" altLang="en-US" dirty="0"/>
              <a:t>。</a:t>
            </a:r>
            <a:r>
              <a:rPr lang="zh-CN" altLang="zh-CN" dirty="0"/>
              <a:t>插入删除时仅修改指针指向即可，没有内存的移动</a:t>
            </a:r>
            <a:r>
              <a:rPr lang="zh-CN" altLang="en-US" dirty="0"/>
              <a:t>。</a:t>
            </a:r>
          </a:p>
        </p:txBody>
      </p:sp>
      <p:sp>
        <p:nvSpPr>
          <p:cNvPr id="36871" name="矩形 8"/>
          <p:cNvSpPr>
            <a:spLocks noChangeArrowheads="1"/>
          </p:cNvSpPr>
          <p:nvPr/>
        </p:nvSpPr>
        <p:spPr bwMode="auto">
          <a:xfrm>
            <a:off x="827576" y="4491037"/>
            <a:ext cx="7993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Franklin Gothic Book" panose="020B0503020102020204" pitchFamily="34" charset="0"/>
              <a:buAutoNum type="arabicPeriod" startAt="3"/>
            </a:pPr>
            <a:r>
              <a:rPr lang="en-US" altLang="zh-CN" dirty="0"/>
              <a:t>set</a:t>
            </a:r>
            <a:r>
              <a:rPr lang="zh-CN" altLang="en-US" dirty="0"/>
              <a:t>和</a:t>
            </a:r>
            <a:r>
              <a:rPr lang="en-US" altLang="zh-CN" dirty="0"/>
              <a:t>map</a:t>
            </a:r>
            <a:r>
              <a:rPr lang="zh-CN" altLang="zh-CN" dirty="0"/>
              <a:t>的插入删除</a:t>
            </a:r>
            <a:r>
              <a:rPr lang="zh-CN" altLang="en-US" dirty="0"/>
              <a:t>后元素的</a:t>
            </a:r>
            <a:r>
              <a:rPr lang="en-US" altLang="zh-CN" dirty="0">
                <a:solidFill>
                  <a:srgbClr val="FF0000"/>
                </a:solidFill>
              </a:rPr>
              <a:t>iterator</a:t>
            </a:r>
            <a:r>
              <a:rPr lang="zh-CN" altLang="en-US" dirty="0">
                <a:solidFill>
                  <a:srgbClr val="FF0000"/>
                </a:solidFill>
              </a:rPr>
              <a:t>不变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75048199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10.4  </a:t>
            </a:r>
            <a:r>
              <a:rPr lang="zh-CN" altLang="en-US" dirty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泛型程序设计中，算法（</a:t>
            </a: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algorithm</a:t>
            </a:r>
            <a:r>
              <a:rPr lang="zh-CN" altLang="en-US" sz="2400" dirty="0">
                <a:ea typeface="宋体" panose="02010600030101010101" pitchFamily="2" charset="-122"/>
              </a:rPr>
              <a:t>）编写为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函数模板</a:t>
            </a:r>
            <a:r>
              <a:rPr lang="zh-CN" altLang="en-US" sz="2400" dirty="0">
                <a:ea typeface="宋体" panose="02010600030101010101" pitchFamily="2" charset="-122"/>
              </a:rPr>
              <a:t>，可适用于各种容器。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STL</a:t>
            </a:r>
            <a:r>
              <a:rPr lang="zh-CN" altLang="en-US" sz="2400" dirty="0">
                <a:ea typeface="宋体" panose="02010600030101010101" pitchFamily="2" charset="-122"/>
              </a:rPr>
              <a:t>大约提供了</a:t>
            </a:r>
            <a:r>
              <a:rPr lang="en-US" altLang="zh-CN" sz="2400" dirty="0">
                <a:ea typeface="宋体" panose="02010600030101010101" pitchFamily="2" charset="-122"/>
              </a:rPr>
              <a:t>70</a:t>
            </a:r>
            <a:r>
              <a:rPr lang="zh-CN" altLang="en-US" sz="2400" dirty="0">
                <a:ea typeface="宋体" panose="02010600030101010101" pitchFamily="2" charset="-122"/>
              </a:rPr>
              <a:t>个算法，可分为</a:t>
            </a:r>
            <a:r>
              <a:rPr lang="en-US" altLang="zh-CN" sz="2400" dirty="0"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ea typeface="宋体" panose="02010600030101010101" pitchFamily="2" charset="-122"/>
              </a:rPr>
              <a:t>类：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不可变序列算法（</a:t>
            </a:r>
            <a:r>
              <a:rPr lang="en-US" altLang="zh-CN" dirty="0">
                <a:latin typeface="宋体" panose="02010600030101010101" pitchFamily="2" charset="-122"/>
              </a:rPr>
              <a:t>Non-mutating algorithms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可变序列算法（</a:t>
            </a:r>
            <a:r>
              <a:rPr lang="en-US" altLang="zh-CN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latin typeface="宋体" panose="02010600030101010101" pitchFamily="2" charset="-122"/>
              </a:rPr>
              <a:t>utating algorithms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排序和搜索算法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数值算法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 marL="319088" lvl="1" indent="0">
              <a:lnSpc>
                <a:spcPct val="120000"/>
              </a:lnSpc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以上函数调用方法参见课本和查阅网络资料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01782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10.4  </a:t>
            </a:r>
            <a:r>
              <a:rPr lang="zh-CN" altLang="en-US" dirty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5536" y="1508257"/>
            <a:ext cx="8496944" cy="59865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不可变序列算法（</a:t>
            </a:r>
            <a:r>
              <a:rPr lang="en-US" altLang="zh-CN" sz="2800" dirty="0">
                <a:latin typeface="宋体" panose="02010600030101010101" pitchFamily="2" charset="-122"/>
              </a:rPr>
              <a:t>Non-mutating algorithms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2000" y="2106910"/>
            <a:ext cx="7239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常用算法：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•</a:t>
            </a:r>
            <a:r>
              <a:rPr lang="en-US" altLang="zh-CN" sz="2400" dirty="0"/>
              <a:t>  find  </a:t>
            </a:r>
            <a:r>
              <a:rPr lang="en-US" altLang="zh-CN" sz="2400" dirty="0">
                <a:solidFill>
                  <a:srgbClr val="C00000"/>
                </a:solidFill>
              </a:rPr>
              <a:t>•  </a:t>
            </a:r>
            <a:r>
              <a:rPr lang="en-US" altLang="zh-CN" sz="2400" dirty="0"/>
              <a:t>count  </a:t>
            </a:r>
            <a:r>
              <a:rPr lang="en-US" altLang="zh-CN" sz="2400" dirty="0">
                <a:solidFill>
                  <a:srgbClr val="C00000"/>
                </a:solidFill>
              </a:rPr>
              <a:t>•  </a:t>
            </a:r>
            <a:r>
              <a:rPr lang="en-US" altLang="zh-CN" sz="2400" dirty="0"/>
              <a:t>search  </a:t>
            </a:r>
            <a:r>
              <a:rPr lang="en-US" altLang="zh-CN" sz="2400" dirty="0">
                <a:solidFill>
                  <a:srgbClr val="C00000"/>
                </a:solidFill>
              </a:rPr>
              <a:t>•  </a:t>
            </a:r>
            <a:r>
              <a:rPr lang="en-US" altLang="zh-CN" sz="24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975319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算法：</a:t>
            </a:r>
            <a:r>
              <a:rPr lang="en-US" altLang="zh-CN" dirty="0">
                <a:ea typeface="宋体" panose="02010600030101010101" pitchFamily="2" charset="-122"/>
              </a:rPr>
              <a:t>find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find</a:t>
            </a:r>
            <a:r>
              <a:rPr lang="en-US" altLang="zh-CN" sz="2400" dirty="0">
                <a:ea typeface="宋体" panose="02010600030101010101" pitchFamily="2" charset="-122"/>
              </a:rPr>
              <a:t>: </a:t>
            </a:r>
            <a:r>
              <a:rPr lang="zh-CN" altLang="en-US" sz="2400" dirty="0">
                <a:ea typeface="宋体" panose="02010600030101010101" pitchFamily="2" charset="-122"/>
              </a:rPr>
              <a:t>查找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指定数据</a:t>
            </a:r>
            <a:r>
              <a:rPr lang="zh-CN" altLang="en-US" sz="2400" dirty="0">
                <a:ea typeface="宋体" panose="02010600030101010101" pitchFamily="2" charset="-122"/>
              </a:rPr>
              <a:t>在某个区间中是否存在，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200" dirty="0">
                <a:ea typeface="宋体" panose="02010600030101010101" pitchFamily="2" charset="-122"/>
              </a:rPr>
              <a:t>若找到则返回指定值的</a:t>
            </a:r>
            <a:r>
              <a:rPr lang="zh-CN" altLang="en-US" sz="2200" dirty="0">
                <a:solidFill>
                  <a:srgbClr val="FF0000"/>
                </a:solidFill>
                <a:ea typeface="宋体" panose="02010600030101010101" pitchFamily="2" charset="-122"/>
              </a:rPr>
              <a:t>第一个</a:t>
            </a:r>
            <a:r>
              <a:rPr lang="zh-CN" altLang="en-US" sz="2200" dirty="0">
                <a:ea typeface="宋体" panose="02010600030101010101" pitchFamily="2" charset="-122"/>
              </a:rPr>
              <a:t>元素位置，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200" dirty="0">
                <a:ea typeface="宋体" panose="02010600030101010101" pitchFamily="2" charset="-122"/>
              </a:rPr>
              <a:t>若未找到就返回</a:t>
            </a:r>
            <a:r>
              <a:rPr lang="en-US" altLang="zh-CN" sz="2200" dirty="0">
                <a:solidFill>
                  <a:srgbClr val="006600"/>
                </a:solidFill>
                <a:ea typeface="宋体" panose="02010600030101010101" pitchFamily="2" charset="-122"/>
              </a:rPr>
              <a:t>last</a:t>
            </a:r>
            <a:r>
              <a:rPr lang="zh-CN" altLang="en-US" sz="2200" dirty="0">
                <a:ea typeface="宋体" panose="02010600030101010101" pitchFamily="2" charset="-122"/>
              </a:rPr>
              <a:t>。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FontTx/>
              <a:buNone/>
            </a:pPr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1640" y="3645024"/>
            <a:ext cx="6408712" cy="156966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549275" lvl="2" eaLnBrk="1" hangingPunct="1"/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template &lt;class </a:t>
            </a:r>
            <a:r>
              <a:rPr lang="en-US" altLang="zh-CN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, class T&gt;</a:t>
            </a:r>
          </a:p>
          <a:p>
            <a:pPr marL="549275" lvl="2" eaLnBrk="1" hangingPunct="1"/>
            <a:r>
              <a:rPr lang="en-US" altLang="zh-CN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Arial Unicode MS" panose="020B0604020202020204" pitchFamily="34" charset="-122"/>
              </a:rPr>
              <a:t>find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( </a:t>
            </a:r>
            <a:r>
              <a:rPr lang="en-US" altLang="zh-CN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first, </a:t>
            </a:r>
          </a:p>
          <a:p>
            <a:pPr marL="549275" lvl="2" eaLnBrk="1" hangingPunct="1"/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</a:t>
            </a:r>
            <a:r>
              <a:rPr lang="en-US" altLang="zh-CN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last, </a:t>
            </a:r>
          </a:p>
          <a:p>
            <a:pPr marL="549275" lvl="2" eaLnBrk="1" hangingPunct="1"/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</a:t>
            </a:r>
            <a:r>
              <a:rPr lang="en-US" altLang="zh-CN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const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 T&amp; </a:t>
            </a:r>
            <a:r>
              <a:rPr lang="en-US" altLang="zh-CN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val</a:t>
            </a:r>
            <a:r>
              <a:rPr lang="en-US" altLang="zh-CN" dirty="0">
                <a:solidFill>
                  <a:srgbClr val="008000"/>
                </a:solidFill>
                <a:latin typeface="Arial Unicode MS" panose="020B0604020202020204" pitchFamily="34" charset="-122"/>
              </a:rPr>
              <a:t>);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2094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算法：</a:t>
            </a:r>
            <a:r>
              <a:rPr lang="en-US" altLang="zh-CN" dirty="0">
                <a:ea typeface="宋体" panose="02010600030101010101" pitchFamily="2" charset="-122"/>
              </a:rPr>
              <a:t>count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count</a:t>
            </a:r>
            <a:r>
              <a:rPr lang="zh-CN" altLang="en-US" sz="2400" dirty="0">
                <a:ea typeface="宋体" panose="02010600030101010101" pitchFamily="2" charset="-122"/>
              </a:rPr>
              <a:t>：统计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某个值</a:t>
            </a:r>
            <a:r>
              <a:rPr lang="zh-CN" altLang="en-US" sz="2400" dirty="0">
                <a:ea typeface="宋体" panose="02010600030101010101" pitchFamily="2" charset="-122"/>
              </a:rPr>
              <a:t>在</a:t>
            </a:r>
            <a:r>
              <a:rPr lang="zh-CN" altLang="en-US" sz="2400" b="1" dirty="0">
                <a:ea typeface="宋体" panose="02010600030101010101" pitchFamily="2" charset="-122"/>
              </a:rPr>
              <a:t>指定区间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出现的次数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FontTx/>
              <a:buNone/>
            </a:pPr>
            <a:endParaRPr lang="zh-CN" altLang="en-US" sz="2800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2488644"/>
            <a:ext cx="7632749" cy="2092881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template &lt;class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, class T&gt;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typename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iterator_traits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&lt;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&gt;::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difference_type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Arial Unicode MS" panose="020B0604020202020204" pitchFamily="34" charset="-122"/>
              </a:rPr>
              <a:t>count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(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first,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last,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const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T&amp;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val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);</a:t>
            </a:r>
            <a:r>
              <a:rPr lang="en-US" altLang="zh-CN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49546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7832" y="476672"/>
            <a:ext cx="828129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例题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：有一个数组存入了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个整数，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用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find 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查找数组中为值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的元素并输出结果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用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count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统计数组中值为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的元素并输出结果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67090" y="2847901"/>
          <a:ext cx="69131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95">
                  <a:extLst>
                    <a:ext uri="{9D8B030D-6E8A-4147-A177-3AD203B41FA5}">
                      <a16:colId xmlns:a16="http://schemas.microsoft.com/office/drawing/2014/main" val="2738815051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4281689661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2475541034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4233797714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1430680656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3199725772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1183130002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1203401120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3084342225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2717345238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4058682654"/>
                    </a:ext>
                  </a:extLst>
                </a:gridCol>
                <a:gridCol w="576095">
                  <a:extLst>
                    <a:ext uri="{9D8B030D-6E8A-4147-A177-3AD203B41FA5}">
                      <a16:colId xmlns:a16="http://schemas.microsoft.com/office/drawing/2014/main" val="1208942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0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6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7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8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9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4163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485878"/>
              </p:ext>
            </p:extLst>
          </p:nvPr>
        </p:nvGraphicFramePr>
        <p:xfrm>
          <a:off x="990598" y="3305101"/>
          <a:ext cx="708660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49">
                  <a:extLst>
                    <a:ext uri="{9D8B030D-6E8A-4147-A177-3AD203B41FA5}">
                      <a16:colId xmlns:a16="http://schemas.microsoft.com/office/drawing/2014/main" val="2738815051"/>
                    </a:ext>
                  </a:extLst>
                </a:gridCol>
                <a:gridCol w="590549">
                  <a:extLst>
                    <a:ext uri="{9D8B030D-6E8A-4147-A177-3AD203B41FA5}">
                      <a16:colId xmlns:a16="http://schemas.microsoft.com/office/drawing/2014/main" val="4281689661"/>
                    </a:ext>
                  </a:extLst>
                </a:gridCol>
                <a:gridCol w="534603">
                  <a:extLst>
                    <a:ext uri="{9D8B030D-6E8A-4147-A177-3AD203B41FA5}">
                      <a16:colId xmlns:a16="http://schemas.microsoft.com/office/drawing/2014/main" val="2475541034"/>
                    </a:ext>
                  </a:extLst>
                </a:gridCol>
                <a:gridCol w="596766">
                  <a:extLst>
                    <a:ext uri="{9D8B030D-6E8A-4147-A177-3AD203B41FA5}">
                      <a16:colId xmlns:a16="http://schemas.microsoft.com/office/drawing/2014/main" val="4233797714"/>
                    </a:ext>
                  </a:extLst>
                </a:gridCol>
                <a:gridCol w="522170">
                  <a:extLst>
                    <a:ext uri="{9D8B030D-6E8A-4147-A177-3AD203B41FA5}">
                      <a16:colId xmlns:a16="http://schemas.microsoft.com/office/drawing/2014/main" val="1430680656"/>
                    </a:ext>
                  </a:extLst>
                </a:gridCol>
                <a:gridCol w="596766">
                  <a:extLst>
                    <a:ext uri="{9D8B030D-6E8A-4147-A177-3AD203B41FA5}">
                      <a16:colId xmlns:a16="http://schemas.microsoft.com/office/drawing/2014/main" val="3199725772"/>
                    </a:ext>
                  </a:extLst>
                </a:gridCol>
                <a:gridCol w="596766">
                  <a:extLst>
                    <a:ext uri="{9D8B030D-6E8A-4147-A177-3AD203B41FA5}">
                      <a16:colId xmlns:a16="http://schemas.microsoft.com/office/drawing/2014/main" val="1183130002"/>
                    </a:ext>
                  </a:extLst>
                </a:gridCol>
                <a:gridCol w="522170">
                  <a:extLst>
                    <a:ext uri="{9D8B030D-6E8A-4147-A177-3AD203B41FA5}">
                      <a16:colId xmlns:a16="http://schemas.microsoft.com/office/drawing/2014/main" val="1203401120"/>
                    </a:ext>
                  </a:extLst>
                </a:gridCol>
                <a:gridCol w="596766">
                  <a:extLst>
                    <a:ext uri="{9D8B030D-6E8A-4147-A177-3AD203B41FA5}">
                      <a16:colId xmlns:a16="http://schemas.microsoft.com/office/drawing/2014/main" val="3084342225"/>
                    </a:ext>
                  </a:extLst>
                </a:gridCol>
                <a:gridCol w="644097">
                  <a:extLst>
                    <a:ext uri="{9D8B030D-6E8A-4147-A177-3AD203B41FA5}">
                      <a16:colId xmlns:a16="http://schemas.microsoft.com/office/drawing/2014/main" val="2717345238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4058682654"/>
                    </a:ext>
                  </a:extLst>
                </a:gridCol>
                <a:gridCol w="685799">
                  <a:extLst>
                    <a:ext uri="{9D8B030D-6E8A-4147-A177-3AD203B41FA5}">
                      <a16:colId xmlns:a16="http://schemas.microsoft.com/office/drawing/2014/main" val="1208942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a[0]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a[1]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a[2]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a[3]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a[4]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a[5]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a[6]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a[7]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a[8]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a[9]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a[10]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a[11]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4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2930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452859"/>
            <a:ext cx="8100456" cy="646330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&lt;list&gt;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&lt;algorithm&gt;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endParaRPr lang="en-US" altLang="zh-CN" sz="1800" dirty="0">
              <a:solidFill>
                <a:srgbClr val="0000FF"/>
              </a:solidFill>
              <a:latin typeface="Consolas" panose="020B0609020204030204"/>
            </a:endParaRPr>
          </a:p>
          <a:p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{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a[]={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6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7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8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s=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 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查找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5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/*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查找 *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* begin = &amp;a[0];      </a:t>
            </a:r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第</a:t>
            </a:r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1</a:t>
            </a:r>
            <a:r>
              <a:rPr lang="zh-CN" altLang="en-US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个元素位置</a:t>
            </a:r>
            <a:endParaRPr lang="en-US" altLang="zh-CN" sz="18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* end   = &amp;a[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11]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     </a:t>
            </a:r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最后一个元素位置</a:t>
            </a:r>
            <a:endParaRPr lang="en-US" altLang="zh-CN" sz="18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*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=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find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(begin, end, s);</a:t>
            </a: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    if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!=end)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"L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链表中存在数据元素：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&lt;&lt;*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",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它是链表中的第：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   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- begin + 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个节点！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/*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计数 *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n =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count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(begin, end, s);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"L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链表中有：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 n 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个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&lt;&lt;s&lt;&lt;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</a:t>
            </a:r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 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116632"/>
            <a:ext cx="5690044" cy="72008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3635896" y="440668"/>
            <a:ext cx="5112568" cy="1007821"/>
            <a:chOff x="3635896" y="440668"/>
            <a:chExt cx="5112568" cy="1007821"/>
          </a:xfrm>
        </p:grpSpPr>
        <p:sp>
          <p:nvSpPr>
            <p:cNvPr id="5" name="文本框 4"/>
            <p:cNvSpPr txBox="1"/>
            <p:nvPr/>
          </p:nvSpPr>
          <p:spPr>
            <a:xfrm>
              <a:off x="3635896" y="1109935"/>
              <a:ext cx="5112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572000" y="440668"/>
              <a:ext cx="720080" cy="288032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H="1" flipV="1">
              <a:off x="5076056" y="764704"/>
              <a:ext cx="144016" cy="34523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乘号 3"/>
          <p:cNvSpPr/>
          <p:nvPr/>
        </p:nvSpPr>
        <p:spPr>
          <a:xfrm flipH="1">
            <a:off x="5063480" y="1047973"/>
            <a:ext cx="457200" cy="427261"/>
          </a:xfrm>
          <a:prstGeom prst="mathMultiply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962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000" y="4114800"/>
            <a:ext cx="8010636" cy="1015663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006600"/>
                </a:solidFill>
              </a:rPr>
              <a:t>find</a:t>
            </a:r>
            <a:r>
              <a:rPr lang="zh-CN" altLang="en-US" sz="2000" dirty="0"/>
              <a:t>的 </a:t>
            </a:r>
            <a:r>
              <a:rPr lang="en-US" altLang="zh-CN" sz="2000" dirty="0">
                <a:solidFill>
                  <a:srgbClr val="006600"/>
                </a:solidFill>
              </a:rPr>
              <a:t>count</a:t>
            </a:r>
            <a:r>
              <a:rPr lang="en-US" altLang="zh-CN" sz="2000" dirty="0"/>
              <a:t> </a:t>
            </a:r>
            <a:r>
              <a:rPr lang="zh-CN" altLang="en-US" sz="2000" dirty="0"/>
              <a:t>查找空间为 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6600"/>
                </a:solidFill>
              </a:rPr>
              <a:t>first, last</a:t>
            </a:r>
            <a:r>
              <a:rPr lang="en-US" altLang="zh-CN" sz="2000" dirty="0"/>
              <a:t>)</a:t>
            </a:r>
          </a:p>
          <a:p>
            <a:r>
              <a:rPr lang="zh-CN" altLang="en-US" sz="2000" dirty="0"/>
              <a:t>特别是当对指定的一部分区间查找时，</a:t>
            </a:r>
            <a:r>
              <a:rPr lang="zh-CN" altLang="en-US" sz="2000" dirty="0">
                <a:solidFill>
                  <a:srgbClr val="FF0000"/>
                </a:solidFill>
              </a:rPr>
              <a:t>千万不要误以为会对</a:t>
            </a:r>
            <a:r>
              <a:rPr lang="en-US" altLang="zh-CN" sz="2000" dirty="0">
                <a:solidFill>
                  <a:srgbClr val="006600"/>
                </a:solidFill>
              </a:rPr>
              <a:t>last</a:t>
            </a:r>
            <a:r>
              <a:rPr lang="zh-CN" altLang="en-US" sz="2000" dirty="0">
                <a:solidFill>
                  <a:srgbClr val="FF0000"/>
                </a:solidFill>
              </a:rPr>
              <a:t>查找</a:t>
            </a:r>
            <a:r>
              <a:rPr lang="zh-CN" altLang="en-US" sz="2000" dirty="0"/>
              <a:t>。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899591" y="404664"/>
            <a:ext cx="7632749" cy="1323439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549275" lvl="2" eaLnBrk="1" hangingPunct="1"/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template &lt;class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, class T&gt;</a:t>
            </a:r>
          </a:p>
          <a:p>
            <a:pPr marL="549275" lvl="2" eaLnBrk="1" hangingPunct="1"/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Arial Unicode MS" panose="020B0604020202020204" pitchFamily="34" charset="-122"/>
              </a:rPr>
              <a:t>find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(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first, </a:t>
            </a:r>
          </a:p>
          <a:p>
            <a:pPr marL="549275" lvl="2" eaLnBrk="1" hangingPunct="1"/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last, </a:t>
            </a:r>
          </a:p>
          <a:p>
            <a:pPr marL="549275" lvl="2" eaLnBrk="1" hangingPunct="1"/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const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T&amp;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val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);</a:t>
            </a:r>
            <a:r>
              <a:rPr lang="en-US" altLang="zh-CN" sz="2000" dirty="0"/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884719" y="1916832"/>
            <a:ext cx="7632749" cy="2092881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template &lt;class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, class T&gt;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typename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iterator_traits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&lt;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&gt;::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difference_type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70C0"/>
                </a:solidFill>
                <a:latin typeface="Arial Unicode MS" panose="020B0604020202020204" pitchFamily="34" charset="-122"/>
              </a:rPr>
              <a:t>count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(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first,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InputIterator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last, </a:t>
            </a:r>
          </a:p>
          <a:p>
            <a:pPr marL="549275" lvl="2" indent="0" eaLnBrk="1" hangingPunct="1">
              <a:lnSpc>
                <a:spcPct val="11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const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T&amp; </a:t>
            </a:r>
            <a:r>
              <a:rPr lang="en-US" altLang="zh-CN" sz="2000" dirty="0" err="1">
                <a:solidFill>
                  <a:srgbClr val="008000"/>
                </a:solidFill>
                <a:latin typeface="Arial Unicode MS" panose="020B0604020202020204" pitchFamily="34" charset="-122"/>
              </a:rPr>
              <a:t>val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);</a:t>
            </a:r>
            <a:r>
              <a:rPr lang="en-US" altLang="zh-CN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58251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1984" y="116632"/>
            <a:ext cx="8100456" cy="646330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&lt;list&gt;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&lt;algorithm&gt;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endParaRPr lang="en-US" altLang="zh-CN" sz="1800" dirty="0">
              <a:solidFill>
                <a:srgbClr val="0000FF"/>
              </a:solidFill>
              <a:latin typeface="Consolas" panose="020B0609020204030204"/>
            </a:endParaRPr>
          </a:p>
          <a:p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{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a[]={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3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6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7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8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9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s=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 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查找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5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/*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查找 *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* begin = &amp;a[0];      </a:t>
            </a:r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第</a:t>
            </a:r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1</a:t>
            </a:r>
            <a:r>
              <a:rPr lang="zh-CN" altLang="en-US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个元素</a:t>
            </a:r>
            <a:endParaRPr lang="en-US" altLang="zh-CN" sz="18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* end   = &amp;a[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12]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     </a:t>
            </a:r>
            <a:r>
              <a:rPr lang="en-US" altLang="zh-CN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最后一个元素的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下一个元素位置</a:t>
            </a:r>
            <a:endParaRPr lang="en-US" altLang="zh-CN" sz="1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*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=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find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(begin, end, s);</a:t>
            </a:r>
          </a:p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    if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!=end)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"L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链表中存在数据元素：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&lt;&lt;*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",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它是链表中的第：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   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- begin + 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个节点！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    /*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计数 *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</a:t>
            </a:r>
            <a:endParaRPr lang="zh-CN" altLang="en-US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n =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count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(begin, end, s);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"L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链表中有：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 n &lt;&lt;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zh-CN" altLang="en-US" sz="1800" dirty="0">
                <a:solidFill>
                  <a:srgbClr val="A31515"/>
                </a:solidFill>
                <a:latin typeface="Consolas" panose="020B0609020204030204"/>
              </a:rPr>
              <a:t>个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&lt;&lt;s&lt;&lt;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</a:t>
            </a:r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 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43562" y="476672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正确代码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15258" y="3204270"/>
            <a:ext cx="1042342" cy="28803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39315" y="3193852"/>
            <a:ext cx="1700845" cy="28803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810000" y="5867400"/>
            <a:ext cx="51054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L</a:t>
            </a:r>
            <a:r>
              <a:rPr lang="zh-CN" altLang="en-US" dirty="0">
                <a:solidFill>
                  <a:schemeClr val="bg1"/>
                </a:solidFill>
              </a:rPr>
              <a:t>链表中存在数据元素：</a:t>
            </a:r>
            <a:r>
              <a:rPr lang="en-US" altLang="zh-CN" dirty="0">
                <a:solidFill>
                  <a:schemeClr val="bg1"/>
                </a:solidFill>
              </a:rPr>
              <a:t>5,</a:t>
            </a:r>
            <a:r>
              <a:rPr lang="zh-CN" altLang="en-US" dirty="0">
                <a:solidFill>
                  <a:schemeClr val="bg1"/>
                </a:solidFill>
              </a:rPr>
              <a:t>它是链表中的第：</a:t>
            </a:r>
            <a:r>
              <a:rPr lang="en-US" altLang="zh-CN" dirty="0">
                <a:solidFill>
                  <a:schemeClr val="bg1"/>
                </a:solidFill>
              </a:rPr>
              <a:t>6</a:t>
            </a:r>
            <a:r>
              <a:rPr lang="zh-CN" altLang="en-US" dirty="0">
                <a:solidFill>
                  <a:schemeClr val="bg1"/>
                </a:solidFill>
              </a:rPr>
              <a:t>个节点！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L</a:t>
            </a:r>
            <a:r>
              <a:rPr lang="zh-CN" altLang="en-US" dirty="0">
                <a:solidFill>
                  <a:schemeClr val="bg1"/>
                </a:solidFill>
              </a:rPr>
              <a:t>链表中有：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r>
              <a:rPr lang="zh-CN" altLang="en-US" dirty="0">
                <a:solidFill>
                  <a:schemeClr val="bg1"/>
                </a:solidFill>
              </a:rPr>
              <a:t>个</a:t>
            </a:r>
            <a:r>
              <a:rPr lang="en-US" altLang="zh-CN" dirty="0">
                <a:solidFill>
                  <a:schemeClr val="bg1"/>
                </a:solidFill>
              </a:rPr>
              <a:t>5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267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119992"/>
            <a:ext cx="8281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例程：在整个链表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list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中查找和统计值为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的元素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544" y="565512"/>
            <a:ext cx="8064896" cy="6001643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&lt;list&gt;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&lt;algorithm&gt;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  <a:endParaRPr lang="en-US" altLang="zh-CN" sz="1600" dirty="0">
              <a:solidFill>
                <a:srgbClr val="0000FF"/>
              </a:solidFill>
              <a:latin typeface="Consolas" panose="020B0609020204030204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  list&lt;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 L;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a1[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]={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4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6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7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8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9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</a:rPr>
              <a:t>,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   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;i&lt;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len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++) 	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向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L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中加入数据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push_back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(a1[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]);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s=5;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/* 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查找 *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list&lt;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&gt;::iterator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= </a:t>
            </a:r>
            <a:r>
              <a:rPr lang="en-US" altLang="zh-CN" sz="1600" b="1" dirty="0">
                <a:solidFill>
                  <a:srgbClr val="795E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find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(), </a:t>
            </a:r>
            <a:r>
              <a:rPr lang="en-US" altLang="zh-CN" sz="1600" dirty="0">
                <a:latin typeface="Consolas" panose="020B0609020204030204"/>
              </a:rPr>
              <a:t>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!=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    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"L</a:t>
            </a:r>
            <a:r>
              <a:rPr lang="zh-CN" altLang="en-US" sz="1600" dirty="0">
                <a:solidFill>
                  <a:srgbClr val="A31515"/>
                </a:solidFill>
                <a:latin typeface="Consolas" panose="020B0609020204030204"/>
              </a:rPr>
              <a:t>链表中存在数据元素：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",</a:t>
            </a:r>
            <a:r>
              <a:rPr lang="zh-CN" altLang="en-US" sz="1600" dirty="0">
                <a:solidFill>
                  <a:srgbClr val="A31515"/>
                </a:solidFill>
                <a:latin typeface="Consolas" panose="020B0609020204030204"/>
              </a:rPr>
              <a:t>它是链表中的第：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  <a:t>        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distance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(),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pos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)+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Consolas" panose="020B0609020204030204"/>
              </a:rPr>
              <a:t>个节点！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/* 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计数 *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</a:t>
            </a:r>
            <a:endParaRPr lang="zh-CN" altLang="en-US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n = </a:t>
            </a:r>
            <a:r>
              <a:rPr lang="en-US" altLang="zh-CN" sz="1600" b="1" dirty="0">
                <a:solidFill>
                  <a:srgbClr val="795E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count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L.</a:t>
            </a:r>
            <a:r>
              <a:rPr lang="en-US" altLang="zh-CN" sz="1600" dirty="0" err="1">
                <a:solidFill>
                  <a:srgbClr val="795E26"/>
                </a:solidFill>
                <a:latin typeface="Consolas" panose="020B0609020204030204"/>
              </a:rPr>
              <a:t>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(),</a:t>
            </a:r>
            <a:r>
              <a:rPr lang="en-US" altLang="zh-CN" sz="1600" dirty="0">
                <a:latin typeface="Consolas" panose="020B0609020204030204"/>
              </a:rPr>
              <a:t>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"L1</a:t>
            </a:r>
            <a:r>
              <a:rPr lang="zh-CN" altLang="en-US" sz="1600" dirty="0">
                <a:solidFill>
                  <a:srgbClr val="A31515"/>
                </a:solidFill>
                <a:latin typeface="Consolas" panose="020B0609020204030204"/>
              </a:rPr>
              <a:t>链表中有：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 n &lt;&lt;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Consolas" panose="020B0609020204030204"/>
              </a:rPr>
              <a:t>个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 </a:t>
            </a:r>
            <a:r>
              <a:rPr lang="en-US" altLang="zh-CN" sz="1600" dirty="0">
                <a:latin typeface="Consolas" panose="020B0609020204030204"/>
              </a:rPr>
              <a:t>s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165" y="6021288"/>
            <a:ext cx="568863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763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3813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算法：</a:t>
            </a:r>
            <a:r>
              <a:rPr lang="en-US" altLang="zh-CN" dirty="0">
                <a:ea typeface="宋体" panose="02010600030101010101" pitchFamily="2" charset="-122"/>
              </a:rPr>
              <a:t>search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14300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search</a:t>
            </a:r>
            <a:r>
              <a:rPr lang="zh-CN" altLang="en-US" sz="2400" dirty="0">
                <a:ea typeface="宋体" panose="02010600030101010101" pitchFamily="2" charset="-122"/>
              </a:rPr>
              <a:t>：从一个容器查找由另一个容器所指定的顺序值。</a:t>
            </a:r>
          </a:p>
          <a:p>
            <a:pPr marL="895350" lvl="3" indent="-26988" eaLnBrk="1" hangingPunct="1">
              <a:lnSpc>
                <a:spcPct val="13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8000"/>
              </a:solidFill>
              <a:latin typeface="Arial Unicode MS" panose="020B0604020202020204" pitchFamily="34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30000"/>
              </a:lnSpc>
              <a:spcBef>
                <a:spcPts val="600"/>
              </a:spcBef>
              <a:buFontTx/>
              <a:buNone/>
            </a:pP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44450"/>
            <a:ext cx="0" cy="368300"/>
          </a:xfrm>
          <a:prstGeom prst="rect">
            <a:avLst/>
          </a:prstGeom>
          <a:solidFill>
            <a:srgbClr val="FAFF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115616" y="1844824"/>
            <a:ext cx="6985000" cy="2000548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895350" lvl="3" indent="-26988" eaLnBrk="1" hangingPunct="1">
              <a:lnSpc>
                <a:spcPct val="13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8000"/>
                </a:solidFill>
                <a:latin typeface="Arial Unicode MS" panose="020B0604020202020204" pitchFamily="34" charset="-122"/>
              </a:rPr>
              <a:t>template &lt;class ForwardIterator1, class ForwardIterator2&gt;</a:t>
            </a:r>
          </a:p>
          <a:p>
            <a:pPr marL="895350" lvl="3" indent="-26988" eaLnBrk="1" hangingPunct="1">
              <a:lnSpc>
                <a:spcPct val="13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8000"/>
                </a:solidFill>
                <a:latin typeface="Arial Unicode MS" panose="020B0604020202020204" pitchFamily="34" charset="-122"/>
              </a:rPr>
              <a:t>ForwardIterator1 </a:t>
            </a:r>
            <a:r>
              <a:rPr lang="en-US" altLang="zh-CN" sz="1600" dirty="0">
                <a:solidFill>
                  <a:srgbClr val="0070C0"/>
                </a:solidFill>
                <a:latin typeface="Arial Unicode MS" panose="020B0604020202020204" pitchFamily="34" charset="-122"/>
              </a:rPr>
              <a:t>search </a:t>
            </a:r>
            <a:r>
              <a:rPr lang="en-US" altLang="zh-CN" sz="1600" dirty="0">
                <a:solidFill>
                  <a:srgbClr val="008000"/>
                </a:solidFill>
                <a:latin typeface="Arial Unicode MS" panose="020B0604020202020204" pitchFamily="34" charset="-122"/>
              </a:rPr>
              <a:t>( ForwardIterator1 first1, </a:t>
            </a:r>
          </a:p>
          <a:p>
            <a:pPr marL="895350" lvl="3" indent="-26988" eaLnBrk="1" hangingPunct="1">
              <a:lnSpc>
                <a:spcPct val="13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            ForwardIterator1 last1, </a:t>
            </a:r>
          </a:p>
          <a:p>
            <a:pPr marL="895350" lvl="3" indent="-26988" eaLnBrk="1" hangingPunct="1">
              <a:lnSpc>
                <a:spcPct val="13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            ForwardIterator2 first2, </a:t>
            </a:r>
          </a:p>
          <a:p>
            <a:pPr marL="895350" lvl="3" indent="-26988" eaLnBrk="1" hangingPunct="1">
              <a:lnSpc>
                <a:spcPct val="130000"/>
              </a:lnSpc>
              <a:spcBef>
                <a:spcPts val="60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8000"/>
                </a:solidFill>
                <a:latin typeface="Arial Unicode MS" panose="020B0604020202020204" pitchFamily="34" charset="-122"/>
              </a:rPr>
              <a:t>                                         ForwardIterator2 last2   );</a:t>
            </a:r>
            <a:r>
              <a:rPr lang="en-US" altLang="zh-CN" sz="400" dirty="0"/>
              <a:t> </a:t>
            </a:r>
            <a:endParaRPr lang="en-US" altLang="zh-CN" sz="5600" dirty="0"/>
          </a:p>
        </p:txBody>
      </p:sp>
      <p:sp>
        <p:nvSpPr>
          <p:cNvPr id="4" name="矩形 3"/>
          <p:cNvSpPr/>
          <p:nvPr/>
        </p:nvSpPr>
        <p:spPr>
          <a:xfrm>
            <a:off x="971600" y="4437112"/>
            <a:ext cx="7344816" cy="144655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lvl="1" eaLnBrk="1" hangingPunct="1">
              <a:lnSpc>
                <a:spcPct val="130000"/>
              </a:lnSpc>
              <a:spcBef>
                <a:spcPts val="600"/>
              </a:spcBef>
              <a:buClr>
                <a:schemeClr val="accent1"/>
              </a:buClr>
              <a:buFont typeface="Wingdings 2" panose="05020102010507070707" pitchFamily="18" charset="2"/>
              <a:buNone/>
            </a:pPr>
            <a:r>
              <a:rPr lang="zh-CN" altLang="en-US" sz="2000" dirty="0"/>
              <a:t>在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first1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last1</a:t>
            </a:r>
            <a:r>
              <a:rPr lang="zh-CN" altLang="en-US" sz="2000" dirty="0"/>
              <a:t>）区间内查找与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first2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last2</a:t>
            </a:r>
            <a:r>
              <a:rPr lang="zh-CN" altLang="en-US" sz="2000" dirty="0"/>
              <a:t>）相同的子区间，</a:t>
            </a:r>
            <a:endParaRPr lang="en-US" altLang="zh-CN" sz="2000" dirty="0"/>
          </a:p>
          <a:p>
            <a:pPr marL="8001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如果找到，则返回</a:t>
            </a:r>
            <a:r>
              <a:rPr lang="en-US" altLang="zh-CN" sz="2000" dirty="0"/>
              <a:t>[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first1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last1</a:t>
            </a:r>
            <a:r>
              <a:rPr lang="zh-CN" altLang="en-US" sz="2000" dirty="0"/>
              <a:t>）内</a:t>
            </a:r>
            <a:r>
              <a:rPr lang="zh-CN" altLang="en-US" sz="2000" dirty="0">
                <a:solidFill>
                  <a:srgbClr val="FF0000"/>
                </a:solidFill>
              </a:rPr>
              <a:t>第一次匹配的位置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800100" lvl="1" indent="-342900" eaLnBrk="1" hangingPunct="1">
              <a:lnSpc>
                <a:spcPct val="13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sz="2000" dirty="0"/>
              <a:t>如果未找到，返回 </a:t>
            </a:r>
            <a:r>
              <a:rPr lang="en-US" altLang="zh-CN" sz="2000" dirty="0">
                <a:solidFill>
                  <a:srgbClr val="008000"/>
                </a:solidFill>
                <a:latin typeface="Arial Unicode MS" panose="020B0604020202020204" pitchFamily="34" charset="-122"/>
              </a:rPr>
              <a:t>last1</a:t>
            </a:r>
            <a:r>
              <a:rPr lang="en-US" altLang="zh-CN" sz="2000" dirty="0"/>
              <a:t>;  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8275493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2"/>
          <p:cNvSpPr>
            <a:spLocks noChangeArrowheads="1"/>
          </p:cNvSpPr>
          <p:nvPr/>
        </p:nvSpPr>
        <p:spPr bwMode="auto">
          <a:xfrm>
            <a:off x="395288" y="188913"/>
            <a:ext cx="8569325" cy="6555641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&lt;list&gt;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   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a1[]={10,20,30,40,50,60,70,80};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a2[]={40,50,60};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 数组中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search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示例 *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search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(a1,a1+8,a2,a2+3);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==(a1+8))  </a:t>
            </a:r>
            <a:r>
              <a:rPr lang="en-US" altLang="zh-CN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</a:t>
            </a:r>
            <a:r>
              <a:rPr lang="zh-CN" alt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注意，如果未搜索到返回</a:t>
            </a:r>
            <a:r>
              <a:rPr lang="en-US" altLang="zh-CN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last1</a:t>
            </a:r>
            <a:r>
              <a:rPr lang="zh-CN" alt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，</a:t>
            </a:r>
            <a:endParaRPr lang="en-US" altLang="zh-CN" sz="1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"no match found\n"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"a2 match a1 at: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&lt;&lt;(ptr-a1)&lt;&lt;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>
              <a:defRPr/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/* 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列表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list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中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search</a:t>
            </a:r>
            <a:r>
              <a:rPr lang="zh-CN" altLang="en-US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示例</a:t>
            </a:r>
            <a:r>
              <a:rPr lang="en-US" altLang="zh-CN" sz="14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*/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v;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list&lt;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L;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=0;i&lt;8;i++)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v.</a:t>
            </a:r>
            <a:r>
              <a:rPr lang="en-US" altLang="zh-CN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push_back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(a1[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]);       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j=0;j&lt;3;j++)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L.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push_back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(a2[j]);      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vector&lt;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&gt;::iterator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</a:t>
            </a:r>
            <a:r>
              <a:rPr lang="zh-CN" alt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注意，若未搜索到，返回结果为指向最优一个元素的迭代器</a:t>
            </a:r>
            <a:endParaRPr lang="en-US" altLang="zh-CN" sz="1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search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v.begin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v.end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L.begin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L.end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()); </a:t>
            </a:r>
          </a:p>
          <a:p>
            <a:pPr lvl="1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"a2 match a1 at: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&lt;&lt;distance(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v.begin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364088" y="4077072"/>
            <a:ext cx="2806700" cy="8318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>
                <a:solidFill>
                  <a:schemeClr val="tx1"/>
                </a:solidFill>
                <a:latin typeface="Perpetua" panose="02020502060401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a2 match a1 at: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a2 match a1 at: 3</a:t>
            </a:r>
          </a:p>
        </p:txBody>
      </p:sp>
    </p:spTree>
    <p:extLst>
      <p:ext uri="{BB962C8B-B14F-4D97-AF65-F5344CB8AC3E}">
        <p14:creationId xmlns:p14="http://schemas.microsoft.com/office/powerpoint/2010/main" val="126092023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算法：</a:t>
            </a:r>
            <a:r>
              <a:rPr lang="en-US" altLang="zh-CN" dirty="0">
                <a:ea typeface="宋体" panose="02010600030101010101" pitchFamily="2" charset="-122"/>
              </a:rPr>
              <a:t>sort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8915400" cy="4525963"/>
          </a:xfrm>
        </p:spPr>
        <p:txBody>
          <a:bodyPr/>
          <a:lstStyle/>
          <a:p>
            <a:pPr marL="0" lvl="1" indent="0" eaLnBrk="1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sort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zh-CN" altLang="en-US" sz="2400" dirty="0">
                <a:ea typeface="宋体" panose="02010600030101010101" pitchFamily="2" charset="-122"/>
              </a:rPr>
              <a:t>对指定容器区间内的元素进行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排序</a:t>
            </a:r>
            <a:r>
              <a:rPr lang="zh-CN" altLang="en-US" sz="2400" dirty="0">
                <a:ea typeface="宋体" panose="02010600030101010101" pitchFamily="2" charset="-122"/>
              </a:rPr>
              <a:t>，默认是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从小到大</a:t>
            </a:r>
            <a:r>
              <a:rPr lang="zh-CN" altLang="en-US" sz="2400" dirty="0">
                <a:ea typeface="宋体" panose="02010600030101010101" pitchFamily="2" charset="-122"/>
              </a:rPr>
              <a:t>排序。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23628" y="2362200"/>
            <a:ext cx="6840760" cy="1152128"/>
            <a:chOff x="1727883" y="2708920"/>
            <a:chExt cx="6840760" cy="1152128"/>
          </a:xfrm>
        </p:grpSpPr>
        <p:sp>
          <p:nvSpPr>
            <p:cNvPr id="35844" name="Rectangle 4"/>
            <p:cNvSpPr>
              <a:spLocks noChangeArrowheads="1"/>
            </p:cNvSpPr>
            <p:nvPr/>
          </p:nvSpPr>
          <p:spPr bwMode="auto">
            <a:xfrm>
              <a:off x="1979613" y="2852738"/>
              <a:ext cx="4154487" cy="8318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template &lt;class </a:t>
              </a:r>
              <a:r>
                <a:rPr lang="en-US" altLang="zh-CN" sz="1800" dirty="0" err="1">
                  <a:solidFill>
                    <a:srgbClr val="008000"/>
                  </a:solidFill>
                  <a:latin typeface="Arial Unicode MS" charset="0"/>
                </a:rPr>
                <a:t>RandomAccessIterator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&gt;</a:t>
              </a:r>
            </a:p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void </a:t>
              </a:r>
              <a:r>
                <a:rPr lang="en-US" altLang="zh-CN" sz="1800" dirty="0">
                  <a:solidFill>
                    <a:srgbClr val="0070C0"/>
                  </a:solidFill>
                  <a:latin typeface="Arial Unicode MS" charset="0"/>
                </a:rPr>
                <a:t>sort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( </a:t>
              </a:r>
              <a:r>
                <a:rPr lang="en-US" altLang="zh-CN" sz="1800" dirty="0" err="1">
                  <a:solidFill>
                    <a:srgbClr val="008000"/>
                  </a:solidFill>
                  <a:latin typeface="Arial Unicode MS" charset="0"/>
                </a:rPr>
                <a:t>RandomAccessIterator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first, </a:t>
              </a:r>
            </a:p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                 </a:t>
              </a:r>
              <a:r>
                <a:rPr lang="en-US" altLang="zh-CN" sz="1800" dirty="0" err="1">
                  <a:solidFill>
                    <a:srgbClr val="008000"/>
                  </a:solidFill>
                  <a:latin typeface="Arial Unicode MS" charset="0"/>
                </a:rPr>
                <a:t>RandomAccessIterator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last)</a:t>
              </a:r>
              <a:r>
                <a:rPr lang="en-US" altLang="zh-CN" sz="1200" dirty="0"/>
                <a:t> </a:t>
              </a:r>
              <a:endParaRPr lang="en-US" altLang="zh-CN" sz="5400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727883" y="2708920"/>
              <a:ext cx="6840760" cy="1152128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23628" y="3874368"/>
            <a:ext cx="6840760" cy="1341177"/>
            <a:chOff x="1727883" y="4391948"/>
            <a:chExt cx="6840760" cy="1341177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1979613" y="4508500"/>
              <a:ext cx="6337300" cy="11080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template &lt;class </a:t>
              </a:r>
              <a:r>
                <a:rPr lang="en-US" altLang="zh-CN" sz="1800" dirty="0" err="1">
                  <a:solidFill>
                    <a:srgbClr val="008000"/>
                  </a:solidFill>
                  <a:latin typeface="Arial Unicode MS" charset="0"/>
                </a:rPr>
                <a:t>RandomAccessIterator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, class Compare&gt;</a:t>
              </a:r>
            </a:p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void </a:t>
              </a:r>
              <a:r>
                <a:rPr lang="en-US" altLang="zh-CN" sz="1800" dirty="0">
                  <a:solidFill>
                    <a:srgbClr val="0070C0"/>
                  </a:solidFill>
                  <a:latin typeface="Arial Unicode MS" charset="0"/>
                </a:rPr>
                <a:t>sort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( </a:t>
              </a:r>
              <a:r>
                <a:rPr lang="en-US" altLang="zh-CN" sz="1800" dirty="0" err="1">
                  <a:solidFill>
                    <a:srgbClr val="008000"/>
                  </a:solidFill>
                  <a:latin typeface="Arial Unicode MS" charset="0"/>
                </a:rPr>
                <a:t>RandomAccessIterator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first, </a:t>
              </a:r>
            </a:p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                 </a:t>
              </a:r>
              <a:r>
                <a:rPr lang="en-US" altLang="zh-CN" sz="1800" dirty="0" err="1">
                  <a:solidFill>
                    <a:srgbClr val="008000"/>
                  </a:solidFill>
                  <a:latin typeface="Arial Unicode MS" charset="0"/>
                </a:rPr>
                <a:t>RandomAccessIterator</a:t>
              </a: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last, </a:t>
              </a:r>
            </a:p>
            <a:p>
              <a:pPr>
                <a:defRPr/>
              </a:pPr>
              <a:r>
                <a:rPr lang="en-US" altLang="zh-CN" sz="1800" dirty="0">
                  <a:solidFill>
                    <a:srgbClr val="008000"/>
                  </a:solidFill>
                  <a:latin typeface="Arial Unicode MS" charset="0"/>
                </a:rPr>
                <a:t>                  Compare comp);</a:t>
              </a:r>
              <a:r>
                <a:rPr lang="en-US" altLang="zh-CN" sz="1200" dirty="0"/>
                <a:t> </a:t>
              </a:r>
              <a:endParaRPr lang="en-US" altLang="zh-CN" sz="54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1727883" y="4391948"/>
              <a:ext cx="6840760" cy="1341177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371600" y="5382756"/>
            <a:ext cx="475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 </a:t>
            </a:r>
            <a:r>
              <a:rPr lang="en-US" altLang="zh-CN" dirty="0">
                <a:solidFill>
                  <a:srgbClr val="006600"/>
                </a:solidFill>
              </a:rPr>
              <a:t>[first, last) </a:t>
            </a:r>
            <a:r>
              <a:rPr lang="zh-CN" altLang="en-US" dirty="0"/>
              <a:t>间元素排序</a:t>
            </a:r>
          </a:p>
        </p:txBody>
      </p:sp>
    </p:spTree>
    <p:extLst>
      <p:ext uri="{BB962C8B-B14F-4D97-AF65-F5344CB8AC3E}">
        <p14:creationId xmlns:p14="http://schemas.microsoft.com/office/powerpoint/2010/main" val="37086502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矩形 1"/>
          <p:cNvSpPr>
            <a:spLocks noChangeArrowheads="1"/>
          </p:cNvSpPr>
          <p:nvPr/>
        </p:nvSpPr>
        <p:spPr bwMode="auto">
          <a:xfrm>
            <a:off x="467544" y="476672"/>
            <a:ext cx="8352928" cy="526297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pPr>
              <a:defRPr/>
            </a:pP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i,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j) {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&lt;j); }</a:t>
            </a:r>
          </a:p>
          <a:p>
            <a:pPr>
              <a:defRPr/>
            </a:pP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 ()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myints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[] = {32,71,12,45,26,80,53,33};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::vector&lt;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myints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, myints+8);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对 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[0,4)</a:t>
            </a: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内的元素排序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sort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myvector.begin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myvector.begin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()+4            );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// </a:t>
            </a: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对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[4,8)</a:t>
            </a: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内的元素排序</a:t>
            </a: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    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sort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myvector.begin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()+4,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myvector.end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   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myvector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 contains:"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::vector&lt;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&gt;::iterator it;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(it=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myvector.begin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();it!=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myvector.end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 ++it)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*it;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>
              <a:defRPr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44208" y="476672"/>
            <a:ext cx="2232248" cy="6477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sort 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应用例程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949280"/>
            <a:ext cx="7867657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266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函数对象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552" y="1484784"/>
            <a:ext cx="8496944" cy="5184576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函数对象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zh-CN" altLang="en-US" sz="2600" dirty="0"/>
              <a:t>行为类似函数的</a:t>
            </a:r>
            <a:r>
              <a:rPr lang="zh-CN" alt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zh-CN" altLang="en-US" sz="2600" dirty="0"/>
              <a:t>可以有或者没有参数，</a:t>
            </a:r>
            <a:endParaRPr lang="en-US" altLang="zh-CN" sz="2600" dirty="0"/>
          </a:p>
          <a:p>
            <a:pPr lvl="1">
              <a:lnSpc>
                <a:spcPct val="90000"/>
              </a:lnSpc>
            </a:pPr>
            <a:r>
              <a:rPr lang="zh-CN" altLang="en-US" sz="2600" dirty="0"/>
              <a:t>其功能是获取一个值，或者改变操作的状态。</a:t>
            </a:r>
            <a:endParaRPr lang="en-US" altLang="zh-CN" sz="2600" dirty="0"/>
          </a:p>
          <a:p>
            <a:pPr lvl="1">
              <a:lnSpc>
                <a:spcPct val="90000"/>
              </a:lnSpc>
            </a:pPr>
            <a:r>
              <a:rPr lang="zh-CN" altLang="en-US" sz="2800" dirty="0"/>
              <a:t>任何</a:t>
            </a:r>
            <a:r>
              <a:rPr lang="zh-CN" altLang="en-US" sz="2800" dirty="0">
                <a:solidFill>
                  <a:srgbClr val="C00000"/>
                </a:solidFill>
              </a:rPr>
              <a:t>普通函数</a:t>
            </a:r>
            <a:r>
              <a:rPr lang="zh-CN" altLang="en-US" sz="2800" dirty="0"/>
              <a:t>和任何</a:t>
            </a:r>
            <a:r>
              <a:rPr lang="zh-CN" altLang="en-US" sz="2800" dirty="0">
                <a:solidFill>
                  <a:srgbClr val="C00000"/>
                </a:solidFill>
              </a:rPr>
              <a:t>重载了运算符</a:t>
            </a:r>
            <a:r>
              <a:rPr lang="en-US" altLang="zh-CN" sz="2800" dirty="0">
                <a:solidFill>
                  <a:srgbClr val="C00000"/>
                </a:solidFill>
              </a:rPr>
              <a:t>operator()</a:t>
            </a:r>
            <a:r>
              <a:rPr lang="zh-CN" altLang="en-US" sz="2800" dirty="0">
                <a:solidFill>
                  <a:srgbClr val="C00000"/>
                </a:solidFill>
              </a:rPr>
              <a:t>的类的对象</a:t>
            </a:r>
            <a:r>
              <a:rPr lang="zh-CN" altLang="en-US" sz="2800" dirty="0"/>
              <a:t>都满足函数对象的特征。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endParaRPr lang="en-US" altLang="zh-CN" sz="2600" dirty="0"/>
          </a:p>
          <a:p>
            <a:pPr>
              <a:lnSpc>
                <a:spcPct val="9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778732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4294967295"/>
          </p:nvPr>
        </p:nvSpPr>
        <p:spPr>
          <a:xfrm>
            <a:off x="646113" y="1101725"/>
            <a:ext cx="8497887" cy="5662613"/>
          </a:xfrm>
        </p:spPr>
        <p:txBody>
          <a:bodyPr/>
          <a:lstStyle/>
          <a:p>
            <a:pPr eaLnBrk="1" hangingPunct="1">
              <a:defRPr/>
            </a:pPr>
            <a:endParaRPr lang="en-US" altLang="zh-CN" dirty="0"/>
          </a:p>
          <a:p>
            <a:pPr marL="457200" lvl="1" indent="0" eaLnBrk="1" hangingPunct="1">
              <a:buNone/>
              <a:defRPr/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46113" y="620688"/>
            <a:ext cx="8246367" cy="535531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b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struct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 err="1">
                <a:solidFill>
                  <a:srgbClr val="267F99"/>
                </a:solidFill>
                <a:latin typeface="Consolas" panose="020B0609020204030204"/>
              </a:rPr>
              <a:t>absValue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{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operator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()(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f)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   {    </a:t>
            </a:r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f &gt; 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? f : -f;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}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b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8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 )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{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b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f = -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123.45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absValue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aObj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           </a:t>
            </a:r>
            <a:r>
              <a:rPr lang="en-US" altLang="zh-CN" sz="1800" dirty="0">
                <a:solidFill>
                  <a:srgbClr val="0066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6600"/>
                </a:solidFill>
                <a:latin typeface="Consolas" panose="020B0609020204030204"/>
              </a:rPr>
              <a:t>定义对象</a:t>
            </a:r>
            <a:r>
              <a:rPr lang="en-US" altLang="zh-CN" sz="1800" dirty="0" err="1">
                <a:solidFill>
                  <a:srgbClr val="006600"/>
                </a:solidFill>
                <a:latin typeface="Consolas" panose="020B0609020204030204"/>
              </a:rPr>
              <a:t>aObj</a:t>
            </a:r>
            <a:r>
              <a:rPr lang="en-US" altLang="zh-CN" sz="1800" dirty="0">
                <a:solidFill>
                  <a:srgbClr val="006600"/>
                </a:solidFill>
                <a:latin typeface="Consolas" panose="020B0609020204030204"/>
              </a:rPr>
              <a:t>           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abs_f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= </a:t>
            </a:r>
            <a:r>
              <a:rPr lang="en-US" altLang="zh-CN" sz="1800" dirty="0" err="1">
                <a:solidFill>
                  <a:srgbClr val="795E26"/>
                </a:solidFill>
                <a:latin typeface="Consolas" panose="020B0609020204030204"/>
              </a:rPr>
              <a:t>aObj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(f);   </a:t>
            </a:r>
            <a:r>
              <a:rPr lang="en-US" altLang="zh-CN" sz="1800" dirty="0">
                <a:solidFill>
                  <a:srgbClr val="0066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6600"/>
                </a:solidFill>
                <a:latin typeface="Consolas" panose="020B0609020204030204"/>
              </a:rPr>
              <a:t>调用对象的</a:t>
            </a:r>
            <a:r>
              <a:rPr lang="en-US" altLang="zh-CN" sz="1800" dirty="0">
                <a:solidFill>
                  <a:srgbClr val="006600"/>
                </a:solidFill>
                <a:latin typeface="Consolas" panose="020B0609020204030204"/>
              </a:rPr>
              <a:t>()</a:t>
            </a:r>
            <a:r>
              <a:rPr lang="zh-CN" altLang="en-US" sz="1800" dirty="0">
                <a:solidFill>
                  <a:srgbClr val="006600"/>
                </a:solidFill>
                <a:latin typeface="Consolas" panose="020B0609020204030204"/>
              </a:rPr>
              <a:t>运算</a:t>
            </a:r>
            <a:r>
              <a:rPr lang="en-US" altLang="zh-CN" sz="1800" dirty="0">
                <a:solidFill>
                  <a:srgbClr val="006600"/>
                </a:solidFill>
                <a:latin typeface="Consolas" panose="020B0609020204030204"/>
              </a:rPr>
              <a:t>——</a:t>
            </a:r>
            <a:r>
              <a:rPr lang="zh-CN" altLang="en-US" sz="1800" dirty="0">
                <a:solidFill>
                  <a:srgbClr val="006600"/>
                </a:solidFill>
                <a:latin typeface="Consolas" panose="020B0609020204030204"/>
              </a:rPr>
              <a:t>相当于函数</a:t>
            </a:r>
            <a:endParaRPr lang="en-US" altLang="zh-CN" sz="1800" dirty="0">
              <a:solidFill>
                <a:srgbClr val="0066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"f = 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&lt;&lt; f &lt;&lt; 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" </a:t>
            </a:r>
            <a:r>
              <a:rPr lang="en-US" altLang="zh-CN" sz="1800" dirty="0" err="1">
                <a:solidFill>
                  <a:srgbClr val="A31515"/>
                </a:solidFill>
                <a:latin typeface="Consolas" panose="020B0609020204030204"/>
              </a:rPr>
              <a:t>abs_f</a:t>
            </a:r>
            <a:r>
              <a:rPr lang="en-US" altLang="zh-CN" sz="1800" dirty="0">
                <a:solidFill>
                  <a:srgbClr val="A31515"/>
                </a:solidFill>
                <a:latin typeface="Consolas" panose="020B0609020204030204"/>
              </a:rPr>
              <a:t> = "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abs_f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    </a:t>
            </a:r>
            <a:r>
              <a:rPr lang="en-US" altLang="zh-CN" sz="1800" dirty="0">
                <a:solidFill>
                  <a:srgbClr val="AF00DB"/>
                </a:solidFill>
                <a:latin typeface="Consolas" panose="020B0609020204030204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8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; 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8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16216" y="666827"/>
            <a:ext cx="20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函数对象示例</a:t>
            </a:r>
          </a:p>
        </p:txBody>
      </p:sp>
      <p:sp>
        <p:nvSpPr>
          <p:cNvPr id="7" name="矩形 6"/>
          <p:cNvSpPr/>
          <p:nvPr/>
        </p:nvSpPr>
        <p:spPr>
          <a:xfrm>
            <a:off x="699395" y="1128492"/>
            <a:ext cx="4329806" cy="1872208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80112" y="2046039"/>
            <a:ext cx="2070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定义类</a:t>
            </a:r>
          </a:p>
        </p:txBody>
      </p:sp>
      <p:sp>
        <p:nvSpPr>
          <p:cNvPr id="2" name="矩形 1"/>
          <p:cNvSpPr/>
          <p:nvPr/>
        </p:nvSpPr>
        <p:spPr>
          <a:xfrm>
            <a:off x="1187624" y="4509120"/>
            <a:ext cx="3312368" cy="504056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05400" y="5806723"/>
            <a:ext cx="2682145" cy="338554"/>
          </a:xfrm>
          <a:prstGeom prst="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f = -123.45 abs_f = 123.45</a:t>
            </a:r>
          </a:p>
        </p:txBody>
      </p:sp>
    </p:spTree>
    <p:extLst>
      <p:ext uri="{BB962C8B-B14F-4D97-AF65-F5344CB8AC3E}">
        <p14:creationId xmlns:p14="http://schemas.microsoft.com/office/powerpoint/2010/main" val="36603676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函数对象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4294967295"/>
          </p:nvPr>
        </p:nvSpPr>
        <p:spPr>
          <a:xfrm>
            <a:off x="467544" y="2204864"/>
            <a:ext cx="8497887" cy="42165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函数对象</a:t>
            </a:r>
            <a:r>
              <a:rPr lang="zh-CN" alt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的典型应用：</a:t>
            </a:r>
            <a:endParaRPr lang="en-US" altLang="zh-CN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US" altLang="zh-CN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zh-CN" altLang="en-US" sz="3600" dirty="0">
                <a:solidFill>
                  <a:srgbClr val="C00000"/>
                </a:solidFill>
                <a:latin typeface="Arial" panose="020B0604020202020204" pitchFamily="34" charset="0"/>
              </a:rPr>
              <a:t>回调函数</a:t>
            </a:r>
            <a:endParaRPr lang="en-US" altLang="zh-CN" sz="3600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zh-CN" sz="36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600" dirty="0">
                <a:solidFill>
                  <a:srgbClr val="C00000"/>
                </a:solidFill>
                <a:latin typeface="Arial" panose="020B0604020202020204" pitchFamily="34" charset="0"/>
              </a:rPr>
              <a:t>callback functions</a:t>
            </a:r>
            <a:r>
              <a:rPr lang="en-US" altLang="zh-CN" sz="36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endParaRPr lang="en-US" altLang="zh-CN" sz="3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zh-CN" alt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被作为参数的函数</a:t>
            </a:r>
            <a:endParaRPr lang="en-US" altLang="zh-CN" sz="28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4763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回调函数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348880"/>
            <a:ext cx="8505827" cy="2952328"/>
          </a:xfrm>
        </p:spPr>
      </p:pic>
      <p:sp>
        <p:nvSpPr>
          <p:cNvPr id="8" name="文本框 7"/>
          <p:cNvSpPr txBox="1"/>
          <p:nvPr/>
        </p:nvSpPr>
        <p:spPr>
          <a:xfrm>
            <a:off x="1835696" y="3892406"/>
            <a:ext cx="158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指定回调函数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380312" y="370774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回调函数</a:t>
            </a:r>
          </a:p>
        </p:txBody>
      </p:sp>
      <p:sp>
        <p:nvSpPr>
          <p:cNvPr id="13" name="椭圆 12"/>
          <p:cNvSpPr/>
          <p:nvPr/>
        </p:nvSpPr>
        <p:spPr>
          <a:xfrm>
            <a:off x="6660231" y="2924944"/>
            <a:ext cx="2186989" cy="720080"/>
          </a:xfrm>
          <a:prstGeom prst="ellipse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7958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9552" y="19266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例： </a:t>
            </a:r>
            <a:r>
              <a:rPr lang="en-US" altLang="zh-CN" dirty="0"/>
              <a:t>STL</a:t>
            </a:r>
            <a:r>
              <a:rPr lang="zh-CN" altLang="en-US" dirty="0"/>
              <a:t>程序示例：输入</a:t>
            </a:r>
            <a:r>
              <a:rPr lang="en-US" altLang="zh-CN" dirty="0"/>
              <a:t>5</a:t>
            </a:r>
            <a:r>
              <a:rPr lang="zh-CN" altLang="en-US" dirty="0"/>
              <a:t>个整数，并输出它们的相反数</a:t>
            </a:r>
          </a:p>
        </p:txBody>
      </p:sp>
      <p:sp>
        <p:nvSpPr>
          <p:cNvPr id="9" name="矩形 8"/>
          <p:cNvSpPr/>
          <p:nvPr/>
        </p:nvSpPr>
        <p:spPr>
          <a:xfrm>
            <a:off x="763739" y="654325"/>
            <a:ext cx="6948968" cy="483209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&lt;vector&gt;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&lt;iterator&gt;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&lt;algorithm&gt;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&lt;functional&gt;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N =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vector&lt;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(N);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    for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&lt;N;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&gt;&gt; s[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transform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s.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begin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(),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s.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(),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ostream_iterator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),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          negate&lt;</a:t>
            </a:r>
            <a:r>
              <a:rPr lang="en-US" altLang="zh-CN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&gt;() 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09800" y="4339806"/>
            <a:ext cx="1334239" cy="259224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706868" y="1537089"/>
            <a:ext cx="1341132" cy="259224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864932" y="1325959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函数对象作为回调函数</a:t>
            </a:r>
          </a:p>
        </p:txBody>
      </p:sp>
      <p:sp>
        <p:nvSpPr>
          <p:cNvPr id="8" name="矩形 7"/>
          <p:cNvSpPr/>
          <p:nvPr/>
        </p:nvSpPr>
        <p:spPr>
          <a:xfrm>
            <a:off x="1226432" y="3657600"/>
            <a:ext cx="907168" cy="259224"/>
          </a:xfrm>
          <a:prstGeom prst="rect">
            <a:avLst/>
          </a:prstGeom>
          <a:solidFill>
            <a:srgbClr val="00B05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00550" y="3556575"/>
            <a:ext cx="725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6600"/>
                </a:solidFill>
              </a:rPr>
              <a:t>算法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590800" y="4884944"/>
            <a:ext cx="503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C00000"/>
                </a:solidFill>
              </a:rPr>
              <a:t>negate</a:t>
            </a:r>
            <a:r>
              <a:rPr lang="zh-CN" altLang="en-US" sz="1800" dirty="0">
                <a:solidFill>
                  <a:srgbClr val="C00000"/>
                </a:solidFill>
              </a:rPr>
              <a:t>是类模板</a:t>
            </a:r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1800" dirty="0">
                <a:solidFill>
                  <a:srgbClr val="C00000"/>
                </a:solidFill>
              </a:rPr>
              <a:t>negate&lt;</a:t>
            </a:r>
            <a:r>
              <a:rPr lang="en-US" altLang="zh-CN" sz="1800" dirty="0" err="1">
                <a:solidFill>
                  <a:srgbClr val="C00000"/>
                </a:solidFill>
              </a:rPr>
              <a:t>int</a:t>
            </a:r>
            <a:r>
              <a:rPr lang="en-US" altLang="zh-CN" sz="1800" dirty="0">
                <a:solidFill>
                  <a:srgbClr val="C00000"/>
                </a:solidFill>
              </a:rPr>
              <a:t>&gt;</a:t>
            </a:r>
            <a:r>
              <a:rPr lang="zh-CN" altLang="en-US" sz="1800" dirty="0">
                <a:solidFill>
                  <a:srgbClr val="C00000"/>
                </a:solidFill>
              </a:rPr>
              <a:t>是类</a:t>
            </a:r>
            <a:endParaRPr lang="en-US" altLang="zh-CN" sz="1800" dirty="0">
              <a:solidFill>
                <a:srgbClr val="C00000"/>
              </a:solidFill>
            </a:endParaRPr>
          </a:p>
          <a:p>
            <a:r>
              <a:rPr lang="en-US" altLang="zh-CN" sz="1800" dirty="0">
                <a:solidFill>
                  <a:srgbClr val="C00000"/>
                </a:solidFill>
              </a:rPr>
              <a:t>negate&lt;</a:t>
            </a:r>
            <a:r>
              <a:rPr lang="en-US" altLang="zh-CN" sz="1800" dirty="0" err="1">
                <a:solidFill>
                  <a:srgbClr val="C00000"/>
                </a:solidFill>
              </a:rPr>
              <a:t>int</a:t>
            </a:r>
            <a:r>
              <a:rPr lang="en-US" altLang="zh-CN" sz="1800" dirty="0">
                <a:solidFill>
                  <a:srgbClr val="C00000"/>
                </a:solidFill>
              </a:rPr>
              <a:t>&gt;( ) </a:t>
            </a:r>
            <a:r>
              <a:rPr lang="zh-CN" altLang="en-US" sz="1800" dirty="0">
                <a:solidFill>
                  <a:srgbClr val="C00000"/>
                </a:solidFill>
              </a:rPr>
              <a:t>调用构造函数生成一个对象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710766" y="3733800"/>
            <a:ext cx="431036" cy="0"/>
          </a:xfrm>
          <a:prstGeom prst="straightConnector1">
            <a:avLst/>
          </a:prstGeom>
          <a:ln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2958165" y="4522147"/>
            <a:ext cx="288032" cy="362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6577712" y="3864825"/>
            <a:ext cx="16002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1 2 3 4 5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-1 -2 -3 -4 -5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882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21305" y="-151510"/>
            <a:ext cx="8229600" cy="1143000"/>
          </a:xfrm>
        </p:spPr>
        <p:txBody>
          <a:bodyPr/>
          <a:lstStyle/>
          <a:p>
            <a:r>
              <a:rPr lang="en-US" altLang="zh-CN" dirty="0"/>
              <a:t>7.5 </a:t>
            </a:r>
            <a:r>
              <a:rPr lang="zh-CN" altLang="en-US" dirty="0"/>
              <a:t>函数对象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"/>
          </p:nvPr>
        </p:nvSpPr>
        <p:spPr>
          <a:xfrm>
            <a:off x="152400" y="1108879"/>
            <a:ext cx="8496944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</a:rPr>
              <a:t>回调函数</a:t>
            </a:r>
            <a:r>
              <a:rPr lang="en-US" altLang="zh-CN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</a:rPr>
              <a:t>callback functions</a:t>
            </a:r>
            <a:r>
              <a:rPr lang="en-US" altLang="zh-CN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r>
              <a:rPr lang="zh-CN" altLang="en-US" dirty="0">
                <a:solidFill>
                  <a:srgbClr val="222222"/>
                </a:solidFill>
                <a:latin typeface="Arial" panose="020B0604020202020204" pitchFamily="34" charset="0"/>
              </a:rPr>
              <a:t>的实现方法</a:t>
            </a:r>
            <a:endParaRPr lang="en-US" altLang="zh-CN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14391" y="3647537"/>
            <a:ext cx="7796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函数指针</a:t>
            </a:r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function pointer</a:t>
            </a:r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） 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~ </a:t>
            </a:r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面向过程程序设计，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C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762000" y="2104574"/>
            <a:ext cx="77894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函数对象</a:t>
            </a:r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function object</a:t>
            </a:r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） </a:t>
            </a:r>
            <a:r>
              <a:rPr lang="en-US" altLang="zh-CN" sz="2400" dirty="0">
                <a:solidFill>
                  <a:srgbClr val="222222"/>
                </a:solidFill>
                <a:latin typeface="Arial" panose="020B0604020202020204" pitchFamily="34" charset="0"/>
              </a:rPr>
              <a:t>~ </a:t>
            </a:r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面向对象程序设计，</a:t>
            </a:r>
            <a:r>
              <a:rPr lang="en-US" altLang="zh-CN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c++</a:t>
            </a:r>
            <a:endParaRPr lang="zh-CN" altLang="en-US" sz="2400" dirty="0"/>
          </a:p>
        </p:txBody>
      </p:sp>
      <p:sp>
        <p:nvSpPr>
          <p:cNvPr id="8" name="左大括号 7"/>
          <p:cNvSpPr/>
          <p:nvPr/>
        </p:nvSpPr>
        <p:spPr>
          <a:xfrm>
            <a:off x="421305" y="2306228"/>
            <a:ext cx="340695" cy="1676400"/>
          </a:xfrm>
          <a:prstGeom prst="leftBrace">
            <a:avLst>
              <a:gd name="adj1" fmla="val 3618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286000" y="268276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优点：通过封装提简洁的接口。</a:t>
            </a:r>
            <a:endParaRPr lang="en-US" altLang="zh-CN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87942" y="4198203"/>
            <a:ext cx="48748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缺点：需要传入或者传出状态信息</a:t>
            </a:r>
            <a:endParaRPr lang="en-US" altLang="zh-CN" sz="2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4798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函数指针可以指向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普通函数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类的成员函数</a:t>
            </a:r>
          </a:p>
        </p:txBody>
      </p:sp>
    </p:spTree>
    <p:extLst>
      <p:ext uri="{BB962C8B-B14F-4D97-AF65-F5344CB8AC3E}">
        <p14:creationId xmlns:p14="http://schemas.microsoft.com/office/powerpoint/2010/main" val="9582759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7200" y="623981"/>
            <a:ext cx="8064896" cy="575542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/******************************************************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*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打印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x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值 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******************************************************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 err="1">
                <a:solidFill>
                  <a:srgbClr val="795E26"/>
                </a:solidFill>
                <a:latin typeface="Consolas"/>
              </a:rPr>
              <a:t>printx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x)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{    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/>
              </a:rPr>
              <a:t>printx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(</a:t>
            </a:r>
            <a:r>
              <a:rPr lang="en-US" altLang="zh-CN" sz="1600" dirty="0" err="1">
                <a:solidFill>
                  <a:srgbClr val="A31515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 x): x = "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&lt;&lt; x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/******************************************************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*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打印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2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倍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x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的值 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******************************************************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print2x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x)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{    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"print2x(</a:t>
            </a:r>
            <a:r>
              <a:rPr lang="en-US" altLang="zh-CN" sz="1600" dirty="0" err="1">
                <a:solidFill>
                  <a:srgbClr val="A31515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A31515"/>
                </a:solidFill>
                <a:latin typeface="Consolas"/>
              </a:rPr>
              <a:t> x): x = "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*x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/******************************************************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 *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为使用方便，定义 </a:t>
            </a:r>
            <a:r>
              <a:rPr lang="en-US" altLang="zh-CN" sz="1600" dirty="0" err="1">
                <a:solidFill>
                  <a:srgbClr val="008000"/>
                </a:solidFill>
                <a:latin typeface="Consolas"/>
              </a:rPr>
              <a:t>void_fun_int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为函数指针类型，</a:t>
            </a:r>
            <a:endParaRPr lang="en-US" altLang="zh-CN" sz="1600" dirty="0">
              <a:solidFill>
                <a:srgbClr val="008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* 指向形如 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void fun (</a:t>
            </a:r>
            <a:r>
              <a:rPr lang="en-US" altLang="zh-CN" sz="1600" dirty="0" err="1">
                <a:solidFill>
                  <a:srgbClr val="008000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)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的函数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. 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 ******************************************************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typedef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( </a:t>
            </a:r>
            <a:r>
              <a:rPr lang="zh-CN" altLang="en-US" sz="16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void_fun_int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)(</a:t>
            </a: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x);</a:t>
            </a:r>
          </a:p>
          <a:p>
            <a:endParaRPr lang="en-US" altLang="zh-CN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4255" y="260648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函数指针的定义和使用示例</a:t>
            </a:r>
          </a:p>
        </p:txBody>
      </p:sp>
      <p:sp>
        <p:nvSpPr>
          <p:cNvPr id="7" name="矩形 6"/>
          <p:cNvSpPr/>
          <p:nvPr/>
        </p:nvSpPr>
        <p:spPr>
          <a:xfrm>
            <a:off x="2627784" y="5877272"/>
            <a:ext cx="1224136" cy="288032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32040" y="602128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定义函数指针类型</a:t>
            </a:r>
          </a:p>
        </p:txBody>
      </p:sp>
    </p:spTree>
    <p:extLst>
      <p:ext uri="{BB962C8B-B14F-4D97-AF65-F5344CB8AC3E}">
        <p14:creationId xmlns:p14="http://schemas.microsoft.com/office/powerpoint/2010/main" val="26716630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3400" y="457200"/>
            <a:ext cx="7560840" cy="427809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void_fun_int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 pf;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定义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pf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为函数指针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pPr lvl="1"/>
            <a:br>
              <a:rPr lang="zh-CN" alt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pf = &amp;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printx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让函数指针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pf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指向函数 </a:t>
            </a:r>
            <a:r>
              <a:rPr lang="en-US" altLang="zh-CN" sz="1600" dirty="0" err="1">
                <a:solidFill>
                  <a:srgbClr val="008000"/>
                </a:solidFill>
                <a:latin typeface="Consolas"/>
              </a:rPr>
              <a:t>printx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pf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);    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函数指针使用方法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1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(*pf)(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); 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函数指针使用方法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2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pPr lvl="1"/>
            <a:br>
              <a:rPr lang="zh-CN" alt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pf = &amp;print2x;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让函数指针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pf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指向函数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print2x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pf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);   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函数指针使用方法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1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(*pf)(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);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函数指针使用方法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2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pPr lvl="1"/>
            <a:br>
              <a:rPr lang="zh-CN" alt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endParaRPr lang="en-US" altLang="zh-CN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19600" y="4953000"/>
            <a:ext cx="3429000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fr-FR" altLang="zh-CN" dirty="0">
                <a:solidFill>
                  <a:schemeClr val="bg1"/>
                </a:solidFill>
              </a:rPr>
              <a:t>printx(int x): x = 2</a:t>
            </a:r>
          </a:p>
          <a:p>
            <a:r>
              <a:rPr lang="fr-FR" altLang="zh-CN" dirty="0">
                <a:solidFill>
                  <a:schemeClr val="bg1"/>
                </a:solidFill>
              </a:rPr>
              <a:t>printx(int x): x = 2</a:t>
            </a:r>
          </a:p>
          <a:p>
            <a:r>
              <a:rPr lang="fr-FR" altLang="zh-CN" dirty="0">
                <a:solidFill>
                  <a:schemeClr val="bg1"/>
                </a:solidFill>
              </a:rPr>
              <a:t>print2x(int x): x = 4</a:t>
            </a:r>
          </a:p>
          <a:p>
            <a:r>
              <a:rPr lang="fr-FR" altLang="zh-CN" dirty="0">
                <a:solidFill>
                  <a:schemeClr val="bg1"/>
                </a:solidFill>
              </a:rPr>
              <a:t>print2x(int x): x = 4</a:t>
            </a:r>
          </a:p>
        </p:txBody>
      </p:sp>
    </p:spTree>
    <p:extLst>
      <p:ext uri="{BB962C8B-B14F-4D97-AF65-F5344CB8AC3E}">
        <p14:creationId xmlns:p14="http://schemas.microsoft.com/office/powerpoint/2010/main" val="8308269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1844824"/>
            <a:ext cx="6800800" cy="329320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x, 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void_fun_int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pf)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   (*pf)(x);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{</a:t>
            </a:r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, &amp;</a:t>
            </a:r>
            <a:r>
              <a:rPr lang="en-US" altLang="zh-CN" sz="1600" dirty="0" err="1">
                <a:solidFill>
                  <a:srgbClr val="000000"/>
                </a:solidFill>
                <a:latin typeface="Consolas"/>
              </a:rPr>
              <a:t>printx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);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函数指针使用方法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1</a:t>
            </a:r>
            <a:endParaRPr lang="zh-CN" alt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    print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, &amp;print2x);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让函数指针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pf </a:t>
            </a:r>
            <a:r>
              <a:rPr lang="zh-CN" altLang="en-US" sz="1600" dirty="0">
                <a:solidFill>
                  <a:srgbClr val="008000"/>
                </a:solidFill>
                <a:latin typeface="Consolas"/>
              </a:rPr>
              <a:t>指向函数 </a:t>
            </a:r>
            <a:r>
              <a:rPr lang="en-US" altLang="zh-CN" sz="1600" dirty="0">
                <a:solidFill>
                  <a:srgbClr val="008000"/>
                </a:solidFill>
                <a:latin typeface="Consolas"/>
              </a:rPr>
              <a:t>print2x</a:t>
            </a:r>
            <a:endParaRPr lang="en-US" altLang="zh-CN" sz="1600" dirty="0">
              <a:solidFill>
                <a:srgbClr val="000000"/>
              </a:solidFill>
              <a:latin typeface="Consolas"/>
            </a:endParaRPr>
          </a:p>
          <a:p>
            <a:br>
              <a:rPr lang="en-US" altLang="zh-CN" sz="16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6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23828" y="2276872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函数指针用于回调函数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2987824" y="1844824"/>
            <a:ext cx="1872208" cy="360040"/>
          </a:xfrm>
          <a:prstGeom prst="rect">
            <a:avLst/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71600" y="990600"/>
            <a:ext cx="619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函数指针作为函数参数</a:t>
            </a:r>
            <a:r>
              <a:rPr lang="en-US" altLang="zh-CN" sz="2400" dirty="0"/>
              <a:t>——</a:t>
            </a:r>
            <a:r>
              <a:rPr lang="zh-CN" altLang="en-US" sz="2400" dirty="0"/>
              <a:t>回调函数</a:t>
            </a:r>
          </a:p>
        </p:txBody>
      </p:sp>
      <p:sp>
        <p:nvSpPr>
          <p:cNvPr id="2" name="矩形 1"/>
          <p:cNvSpPr/>
          <p:nvPr/>
        </p:nvSpPr>
        <p:spPr>
          <a:xfrm>
            <a:off x="4495800" y="5410200"/>
            <a:ext cx="2590800" cy="58477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printx(int x): x = 2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print2x(int x): x = 4</a:t>
            </a:r>
          </a:p>
        </p:txBody>
      </p:sp>
    </p:spTree>
    <p:extLst>
      <p:ext uri="{BB962C8B-B14F-4D97-AF65-F5344CB8AC3E}">
        <p14:creationId xmlns:p14="http://schemas.microsoft.com/office/powerpoint/2010/main" val="35526233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7200" y="228600"/>
            <a:ext cx="8064896" cy="624786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 panose="020B0609020204030204"/>
              </a:rPr>
              <a:t>A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private: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	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a;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public: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pPr lvl="1"/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(){ a=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print1x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"A::print1x()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a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   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print2x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"A::print2x() 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2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*a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 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endParaRPr lang="en-US" altLang="zh-CN" sz="1600" dirty="0">
              <a:solidFill>
                <a:srgbClr val="008000"/>
              </a:solidFill>
              <a:latin typeface="Consolas" panose="020B0609020204030204"/>
            </a:endParaRPr>
          </a:p>
          <a:p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 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定义</a:t>
            </a:r>
            <a:r>
              <a:rPr lang="en-US" altLang="zh-CN" sz="16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p_m_fun_A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为指向类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A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的成员函数指针类型​</a:t>
            </a:r>
            <a:endParaRPr lang="zh-CN" altLang="en-US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typedef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(A::*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p_m_fun_A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)(); </a:t>
            </a:r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  A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objA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p_m_fun_A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func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= &amp;A::print1x; 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 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令</a:t>
            </a:r>
            <a:r>
              <a:rPr lang="en-US" altLang="zh-CN" sz="1600" b="1" dirty="0" err="1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func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指向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A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的成员函数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A::print1x()</a:t>
            </a:r>
            <a:endParaRPr lang="en-US" altLang="zh-CN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objA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.*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func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)(); </a:t>
            </a:r>
            <a:r>
              <a:rPr lang="en-US" altLang="zh-CN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//</a:t>
            </a:r>
            <a:r>
              <a:rPr lang="zh-CN" altLang="en-US" sz="16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调用成员函数指针​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  </a:t>
            </a:r>
            <a:endParaRPr lang="en-US" altLang="zh-CN" sz="1600" dirty="0">
              <a:solidFill>
                <a:srgbClr val="008000"/>
              </a:solidFill>
              <a:latin typeface="Consolas" panose="020B0609020204030204"/>
            </a:endParaRPr>
          </a:p>
          <a:p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 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func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= &amp;A::print2x;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令函数指针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/>
              </a:rPr>
              <a:t>func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()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指向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A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的成员函数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A::print2x()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objA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.*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func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)();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调用成员函数指针​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83968" y="548680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指向类的成员函数的函数指针应用示例</a:t>
            </a:r>
          </a:p>
        </p:txBody>
      </p:sp>
      <p:sp>
        <p:nvSpPr>
          <p:cNvPr id="2" name="矩形 1"/>
          <p:cNvSpPr/>
          <p:nvPr/>
        </p:nvSpPr>
        <p:spPr>
          <a:xfrm>
            <a:off x="6682135" y="5715000"/>
            <a:ext cx="1822376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A::print1x() 1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A::print2x() 2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05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16108</TotalTime>
  <Words>7005</Words>
  <Application>Microsoft Macintosh PowerPoint</Application>
  <PresentationFormat>全屏显示(4:3)</PresentationFormat>
  <Paragraphs>1109</Paragraphs>
  <Slides>75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92" baseType="lpstr">
      <vt:lpstr>华文楷体</vt:lpstr>
      <vt:lpstr>华文新魏</vt:lpstr>
      <vt:lpstr>楷体</vt:lpstr>
      <vt:lpstr>隶书</vt:lpstr>
      <vt:lpstr>宋体</vt:lpstr>
      <vt:lpstr>Arial Unicode MS</vt:lpstr>
      <vt:lpstr>Arial</vt:lpstr>
      <vt:lpstr>Calibri</vt:lpstr>
      <vt:lpstr>Cambria</vt:lpstr>
      <vt:lpstr>Consolas</vt:lpstr>
      <vt:lpstr>Franklin Gothic Book</vt:lpstr>
      <vt:lpstr>Maiandra GD</vt:lpstr>
      <vt:lpstr>Perpetua</vt:lpstr>
      <vt:lpstr>Tahoma</vt:lpstr>
      <vt:lpstr>Times New Roman</vt:lpstr>
      <vt:lpstr>Wingdings 2</vt:lpstr>
      <vt:lpstr>龙腾四海</vt:lpstr>
      <vt:lpstr>第7讲 泛型程序设计与STL</vt:lpstr>
      <vt:lpstr>大纲</vt:lpstr>
      <vt:lpstr>PowerPoint 演示文稿</vt:lpstr>
      <vt:lpstr>问题：如何在数据结构上增加算法</vt:lpstr>
      <vt:lpstr>问题：如何在数据结构上增加算法</vt:lpstr>
      <vt:lpstr>7.1.1  泛型程序设计概念 </vt:lpstr>
      <vt:lpstr>7.1.1  泛型程序设计概念</vt:lpstr>
      <vt:lpstr>7.1.1  泛型程序设计概念</vt:lpstr>
      <vt:lpstr>7.1.1  泛型程序设计概念</vt:lpstr>
      <vt:lpstr>为vector 和 list 添加print算法</vt:lpstr>
      <vt:lpstr>为vector 和 list 添加print算法</vt:lpstr>
      <vt:lpstr>为vector 和 list 添加print算法</vt:lpstr>
      <vt:lpstr>泛化的指针</vt:lpstr>
      <vt:lpstr>为vector 和 list 添加print算法</vt:lpstr>
      <vt:lpstr>vector中的迭代器</vt:lpstr>
      <vt:lpstr>list中的迭代器</vt:lpstr>
      <vt:lpstr>为vector 和 list 添加print算法</vt:lpstr>
      <vt:lpstr>7.1.2  STL概念 </vt:lpstr>
      <vt:lpstr>7.1.2 STL概念</vt:lpstr>
      <vt:lpstr>7.1.2  STL概念 </vt:lpstr>
      <vt:lpstr>7.2 迭代器</vt:lpstr>
      <vt:lpstr>7.2 迭代器</vt:lpstr>
      <vt:lpstr>7.2.3 迭代器的类型</vt:lpstr>
      <vt:lpstr>7.2 迭代器</vt:lpstr>
      <vt:lpstr>7.2 迭代器</vt:lpstr>
      <vt:lpstr>7.2 迭代器</vt:lpstr>
      <vt:lpstr>7.2.3迭代器相关的辅助函数</vt:lpstr>
      <vt:lpstr>7.3 容器</vt:lpstr>
      <vt:lpstr>7.3 容器</vt:lpstr>
      <vt:lpstr>7.3 容器</vt:lpstr>
      <vt:lpstr>7.3 容器</vt:lpstr>
      <vt:lpstr>7.3 容器</vt:lpstr>
      <vt:lpstr>7.3  容器</vt:lpstr>
      <vt:lpstr>7.3  容器</vt:lpstr>
      <vt:lpstr>PowerPoint 演示文稿</vt:lpstr>
      <vt:lpstr>容器vector</vt:lpstr>
      <vt:lpstr>vector中的迭代器</vt:lpstr>
      <vt:lpstr>vector中的迭代器</vt:lpstr>
      <vt:lpstr>Vector使用例程</vt:lpstr>
      <vt:lpstr>Vector使用例程 使用迭代器访问</vt:lpstr>
      <vt:lpstr>容器： List</vt:lpstr>
      <vt:lpstr>PowerPoint 演示文稿</vt:lpstr>
      <vt:lpstr>List使用例程</vt:lpstr>
      <vt:lpstr>容器：stack</vt:lpstr>
      <vt:lpstr>stack的使用例程</vt:lpstr>
      <vt:lpstr>容器：set 和 multiset</vt:lpstr>
      <vt:lpstr>PowerPoint 演示文稿</vt:lpstr>
      <vt:lpstr>容器：map 和 multimap</vt:lpstr>
      <vt:lpstr>容器：map 和 multimap</vt:lpstr>
      <vt:lpstr>PowerPoint 演示文稿</vt:lpstr>
      <vt:lpstr>容器：set 和 map</vt:lpstr>
      <vt:lpstr>10.4  算法</vt:lpstr>
      <vt:lpstr>10.4  算法</vt:lpstr>
      <vt:lpstr>算法：find</vt:lpstr>
      <vt:lpstr>算法：count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算法：search</vt:lpstr>
      <vt:lpstr>PowerPoint 演示文稿</vt:lpstr>
      <vt:lpstr>算法：sort</vt:lpstr>
      <vt:lpstr>sort 应用例程</vt:lpstr>
      <vt:lpstr>7.5 函数对象</vt:lpstr>
      <vt:lpstr>PowerPoint 演示文稿</vt:lpstr>
      <vt:lpstr>7.5 函数对象</vt:lpstr>
      <vt:lpstr>回调函数</vt:lpstr>
      <vt:lpstr>PowerPoint 演示文稿</vt:lpstr>
      <vt:lpstr>7.5 函数对象</vt:lpstr>
      <vt:lpstr>函数指针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sjl</dc:creator>
  <cp:lastModifiedBy>Microsoft Office User</cp:lastModifiedBy>
  <cp:revision>280</cp:revision>
  <cp:lastPrinted>1601-01-01T00:00:00Z</cp:lastPrinted>
  <dcterms:created xsi:type="dcterms:W3CDTF">1601-01-01T00:00:00Z</dcterms:created>
  <dcterms:modified xsi:type="dcterms:W3CDTF">2024-05-29T12:45:10Z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