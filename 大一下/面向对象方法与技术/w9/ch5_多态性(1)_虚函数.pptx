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62"/>
  </p:notesMasterIdLst>
  <p:sldIdLst>
    <p:sldId id="256" r:id="rId2"/>
    <p:sldId id="401" r:id="rId3"/>
    <p:sldId id="266" r:id="rId4"/>
    <p:sldId id="269" r:id="rId5"/>
    <p:sldId id="268" r:id="rId6"/>
    <p:sldId id="260" r:id="rId7"/>
    <p:sldId id="375" r:id="rId8"/>
    <p:sldId id="270" r:id="rId9"/>
    <p:sldId id="271" r:id="rId10"/>
    <p:sldId id="264" r:id="rId11"/>
    <p:sldId id="302" r:id="rId12"/>
    <p:sldId id="361" r:id="rId13"/>
    <p:sldId id="305" r:id="rId14"/>
    <p:sldId id="364" r:id="rId15"/>
    <p:sldId id="287" r:id="rId16"/>
    <p:sldId id="288" r:id="rId17"/>
    <p:sldId id="366" r:id="rId18"/>
    <p:sldId id="289" r:id="rId19"/>
    <p:sldId id="367" r:id="rId20"/>
    <p:sldId id="291" r:id="rId21"/>
    <p:sldId id="292" r:id="rId22"/>
    <p:sldId id="306" r:id="rId23"/>
    <p:sldId id="294" r:id="rId24"/>
    <p:sldId id="371" r:id="rId25"/>
    <p:sldId id="372" r:id="rId26"/>
    <p:sldId id="295" r:id="rId27"/>
    <p:sldId id="370" r:id="rId28"/>
    <p:sldId id="373" r:id="rId29"/>
    <p:sldId id="374" r:id="rId30"/>
    <p:sldId id="376" r:id="rId31"/>
    <p:sldId id="377" r:id="rId32"/>
    <p:sldId id="378" r:id="rId33"/>
    <p:sldId id="379" r:id="rId34"/>
    <p:sldId id="380" r:id="rId35"/>
    <p:sldId id="381" r:id="rId36"/>
    <p:sldId id="382" r:id="rId37"/>
    <p:sldId id="383" r:id="rId38"/>
    <p:sldId id="384" r:id="rId39"/>
    <p:sldId id="385" r:id="rId40"/>
    <p:sldId id="386" r:id="rId41"/>
    <p:sldId id="387" r:id="rId42"/>
    <p:sldId id="296" r:id="rId43"/>
    <p:sldId id="297" r:id="rId44"/>
    <p:sldId id="298" r:id="rId45"/>
    <p:sldId id="368" r:id="rId46"/>
    <p:sldId id="369" r:id="rId47"/>
    <p:sldId id="402" r:id="rId48"/>
    <p:sldId id="388" r:id="rId49"/>
    <p:sldId id="389" r:id="rId50"/>
    <p:sldId id="390" r:id="rId51"/>
    <p:sldId id="391" r:id="rId52"/>
    <p:sldId id="392" r:id="rId53"/>
    <p:sldId id="393" r:id="rId54"/>
    <p:sldId id="394" r:id="rId55"/>
    <p:sldId id="395" r:id="rId56"/>
    <p:sldId id="396" r:id="rId57"/>
    <p:sldId id="397" r:id="rId58"/>
    <p:sldId id="398" r:id="rId59"/>
    <p:sldId id="399" r:id="rId60"/>
    <p:sldId id="400" r:id="rId6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7" autoAdjust="0"/>
    <p:restoredTop sz="86395" autoAdjust="0"/>
  </p:normalViewPr>
  <p:slideViewPr>
    <p:cSldViewPr>
      <p:cViewPr varScale="1">
        <p:scale>
          <a:sx n="110" d="100"/>
          <a:sy n="110" d="100"/>
        </p:scale>
        <p:origin x="220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62C8816-E43A-44F8-5CF9-925DD78EF4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39F489-5CDE-16CD-BDB7-4BCB4B82417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B614CF4-4497-4A22-BCB3-C8D7C421D1C0}" type="datetimeFigureOut">
              <a:rPr lang="zh-CN" altLang="en-US"/>
              <a:pPr>
                <a:defRPr/>
              </a:pPr>
              <a:t>2024/4/24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B617330-1D0B-7073-6D48-737DECBC9B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0AB083F1-5792-4D2B-06F2-FE186AB0B7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29FA1F-21B6-2D9A-13F3-1A85D42C57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C02E4E-80B0-A547-13BC-7DFBD26DF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55E696A-2CB3-4915-AF78-C6873094E1F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E696A-2CB3-4915-AF78-C6873094E1F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273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E696A-2CB3-4915-AF78-C6873094E1FE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644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E696A-2CB3-4915-AF78-C6873094E1FE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847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737663F4-D79C-1E67-BFC8-B12933B3B8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784A5AEA-9F36-970B-AC86-BABAB9C5A6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typeid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sizeof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一样是一个操作符而不是函数</a:t>
            </a:r>
            <a:endParaRPr lang="en-US" altLang="zh-CN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Rtti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的重要用途，异常处理，动态类型判断及转换</a:t>
            </a:r>
            <a:endParaRPr lang="zh-CN" altLang="en-US" dirty="0"/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3EAEAD4B-EC06-ED95-DA60-D15990127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B0F7010-9A37-4ED4-A3DD-5537C41D4D47}" type="slidenum">
              <a:rPr lang="zh-CN" altLang="en-US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50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id="{85F00419-2A9D-FD91-313F-797ED9267B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id="{3FCB1628-5EA1-0BEC-3CD7-E7183677F8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8612" name="灯片编号占位符 3">
            <a:extLst>
              <a:ext uri="{FF2B5EF4-FFF2-40B4-BE49-F238E27FC236}">
                <a16:creationId xmlns:a16="http://schemas.microsoft.com/office/drawing/2014/main" id="{FE878219-2503-3040-2946-55CF51A1D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F15C7F2-3D08-4E76-955E-63245AE78BC6}" type="slidenum">
              <a:rPr lang="zh-CN" altLang="en-US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51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>
            <a:extLst>
              <a:ext uri="{FF2B5EF4-FFF2-40B4-BE49-F238E27FC236}">
                <a16:creationId xmlns:a16="http://schemas.microsoft.com/office/drawing/2014/main" id="{757AD92A-0A86-A1A7-03D4-3A8F19384B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备注占位符 2">
            <a:extLst>
              <a:ext uri="{FF2B5EF4-FFF2-40B4-BE49-F238E27FC236}">
                <a16:creationId xmlns:a16="http://schemas.microsoft.com/office/drawing/2014/main" id="{47A0C6FC-412E-1D85-DB11-A9E7252315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9636" name="灯片编号占位符 3">
            <a:extLst>
              <a:ext uri="{FF2B5EF4-FFF2-40B4-BE49-F238E27FC236}">
                <a16:creationId xmlns:a16="http://schemas.microsoft.com/office/drawing/2014/main" id="{39068557-146B-8054-89DB-99C282D4E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7054ED6-4A10-452F-9530-F1BED79D2F10}" type="slidenum">
              <a:rPr lang="zh-CN" altLang="en-US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54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9821AA31-A208-D0E3-F90A-7B9EF52B2C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7C14A586-2951-EF56-FC5D-E6F8B39980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0660" name="灯片编号占位符 3">
            <a:extLst>
              <a:ext uri="{FF2B5EF4-FFF2-40B4-BE49-F238E27FC236}">
                <a16:creationId xmlns:a16="http://schemas.microsoft.com/office/drawing/2014/main" id="{77FC47B5-FA0E-1B73-3F21-EA28BA6AE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AE18686-831E-45B8-B658-3F5A705F4A20}" type="slidenum">
              <a:rPr lang="zh-CN" altLang="en-US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55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0D8F0107-C058-B67B-2442-C3B666F284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EA46A67E-C3F2-81CB-CA32-82E55BF22E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D15E2583-D246-0A8C-41B9-03A3A9FB4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EE69BB5-8A2F-41D5-9363-AE313FB8D736}" type="slidenum">
              <a:rPr lang="zh-CN" altLang="en-US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57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>
            <a:extLst>
              <a:ext uri="{FF2B5EF4-FFF2-40B4-BE49-F238E27FC236}">
                <a16:creationId xmlns:a16="http://schemas.microsoft.com/office/drawing/2014/main" id="{1E4F1D27-28FA-CCBC-451C-DA00D883DF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备注占位符 2">
            <a:extLst>
              <a:ext uri="{FF2B5EF4-FFF2-40B4-BE49-F238E27FC236}">
                <a16:creationId xmlns:a16="http://schemas.microsoft.com/office/drawing/2014/main" id="{FFA45A57-3034-43BE-BEE4-D3BD67DB3A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2708" name="灯片编号占位符 3">
            <a:extLst>
              <a:ext uri="{FF2B5EF4-FFF2-40B4-BE49-F238E27FC236}">
                <a16:creationId xmlns:a16="http://schemas.microsoft.com/office/drawing/2014/main" id="{B237FEEC-382C-079A-943E-E81EC00BF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E1843F3-A36C-4E62-BEA1-8B2B4E11FD61}" type="slidenum">
              <a:rPr lang="zh-CN" altLang="en-US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58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227958-F7E8-2A8C-CE04-1E2358AF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6946B8-21FE-CC98-9527-08F15762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8B3623-D639-F554-A77A-44C99783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B73A05-E21C-4C40-8677-C6B984DA4DE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51034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52167-C28C-47DC-FA7E-70FE36DA8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B10D4C-93B6-450F-47D3-A65CAA74A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4F4F76-7112-7602-FAEF-D6E4398F4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C0D765-082D-4F3B-A919-227BFCC4F02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1840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96ECFA-14DD-41AD-1B43-DCDD18F8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544C80-3A27-AF62-C803-CB52E773C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9559A-84FD-753D-7E91-666D8A35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211A2-1C0B-4F62-A13E-031A52E492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5251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B53EF74-F7CA-1242-09BF-621160FD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BE9467CD-7A87-0B28-9AF9-0DBF68D25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95AD9CF-5A46-D296-8440-8BDD201D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F39CC5-886C-4FF4-AF12-F09A67972C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134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AAFB8A4F-851E-86A6-9390-27BDF261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967B1B3-6B80-F7E8-D374-4F2D49D9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6D90427-91F7-9000-5143-27588986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3EF2E5-D68F-444A-B37D-8F60CD28EF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8910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7FED836-3CF9-20FF-9F5F-5265F820C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4DA6898D-2B92-5830-D533-CB6646E1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192BC3D2-6FB3-E7BE-90AF-31E64C85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498C41-1A92-4F9F-97DD-22A66175B43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8675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6F032E49-D0D9-C72C-8A61-379C1001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E1205038-68F6-AE89-DD6F-735D3F8B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34077D3-93D0-B2C0-F1E0-AEC4B98B2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1D5E0-999C-4134-867A-D30BA51A8C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0658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489AF4C-B149-F772-BC5F-64E0E84A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1CC2910-869D-2F0A-DF42-344F32A85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8F2E2E5-D59E-28B7-E1AE-C14E7B0C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35E9F0-C90B-4888-9659-A238DC527B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494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83BB740-C842-45A4-381D-CABB0C9E1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A345650-EBAB-2F46-02E3-5075755DC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9DD6D39-AEE0-03F7-DDC7-22E3D635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9B84B0-53EE-4D8E-A078-22A9709A7F9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1568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0B6D54-0230-1BD7-2AB0-6A00B7E1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C98F7C-F658-FF65-423F-D041FA728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859B9C-6944-C761-065B-09159DD9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EF7DAD-B563-4946-8B5C-BD3EDCDF4F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3175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9F5E39-0642-6ECA-610A-5FA8D9B35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F2A92E-7D07-2B9B-785B-A6E230E6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6FBBAA-03F5-75C9-D291-8A20EA877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8C96A1-F45C-4750-94E3-2FEB82F13F3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4197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55000">
              <a:srgbClr val="F3F3F3"/>
            </a:gs>
            <a:gs pos="100000">
              <a:srgbClr val="D2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7">
            <a:extLst>
              <a:ext uri="{FF2B5EF4-FFF2-40B4-BE49-F238E27FC236}">
                <a16:creationId xmlns:a16="http://schemas.microsoft.com/office/drawing/2014/main" id="{698865FA-7C78-9117-8D96-37035601CE0F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 bright="12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0" y="4914900"/>
            <a:ext cx="24765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484481B-8E43-2094-5CAB-6E0D22851625}"/>
              </a:ext>
            </a:extLst>
          </p:cNvPr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E448D2-49DD-122E-7A37-BF8FA3E2E7E3}"/>
              </a:ext>
            </a:extLst>
          </p:cNvPr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033" name="图片 8">
            <a:extLst>
              <a:ext uri="{FF2B5EF4-FFF2-40B4-BE49-F238E27FC236}">
                <a16:creationId xmlns:a16="http://schemas.microsoft.com/office/drawing/2014/main" id="{FAF6CDAB-CA30-238E-1B9B-7074CBE94D80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34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19850"/>
            <a:ext cx="91440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标题占位符 1">
            <a:extLst>
              <a:ext uri="{FF2B5EF4-FFF2-40B4-BE49-F238E27FC236}">
                <a16:creationId xmlns:a16="http://schemas.microsoft.com/office/drawing/2014/main" id="{3BF12517-1D14-901F-11D5-2790A483558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5" name="文本占位符 2">
            <a:extLst>
              <a:ext uri="{FF2B5EF4-FFF2-40B4-BE49-F238E27FC236}">
                <a16:creationId xmlns:a16="http://schemas.microsoft.com/office/drawing/2014/main" id="{A64F12A2-E0A9-592A-A6F2-E269DEAEBB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8FE62C-554C-6C1C-1131-A0B3EA9E8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C655D-1CE9-0B59-ED45-768EA7EC56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4D5489-BB5B-C61E-AEED-1F24883331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F98FA7E-988F-4012-AA87-9EB93B26A31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89" r:id="rId2"/>
    <p:sldLayoutId id="214748389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 2" panose="05020102010507070707" pitchFamily="18" charset="2"/>
        <a:buChar char="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 2" panose="05020102010507070707" pitchFamily="18" charset="2"/>
        <a:buChar char="³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7B9B57"/>
        </a:buClr>
        <a:buSzPct val="60000"/>
        <a:buFont typeface="Wingdings 2" panose="05020102010507070707" pitchFamily="18" charset="2"/>
        <a:buChar char="®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B7396"/>
        </a:buClr>
        <a:buSzPct val="45000"/>
        <a:buFont typeface="Wingdings 2" panose="05020102010507070707" pitchFamily="18" charset="2"/>
        <a:buChar char="¯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E89A53"/>
        </a:buClr>
        <a:buFont typeface="Wingdings 2" panose="05020102010507070707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en.cppreference.com/w/cpp/types/type_inf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BBD1CAA-DACB-2B21-9D95-5AAE382E5C7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" y="1143000"/>
            <a:ext cx="8610600" cy="143192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隶书" panose="02010509060101010101" pitchFamily="49" charset="-122"/>
              </a:rPr>
              <a:t>第</a:t>
            </a:r>
            <a:r>
              <a:rPr lang="en-US" altLang="zh-CN" dirty="0">
                <a:latin typeface="隶书" panose="02010509060101010101" pitchFamily="49" charset="-122"/>
              </a:rPr>
              <a:t>5</a:t>
            </a:r>
            <a:r>
              <a:rPr lang="zh-CN" altLang="en-US" dirty="0">
                <a:latin typeface="隶书" panose="02010509060101010101" pitchFamily="49" charset="-122"/>
              </a:rPr>
              <a:t>讲 多态性（</a:t>
            </a:r>
            <a:r>
              <a:rPr lang="en-US" altLang="zh-CN" dirty="0">
                <a:latin typeface="Consolas" panose="020B0609020204030204" pitchFamily="49" charset="0"/>
              </a:rPr>
              <a:t>polymorphism</a:t>
            </a:r>
            <a:r>
              <a:rPr lang="zh-CN" altLang="en-US" dirty="0">
                <a:latin typeface="隶书" panose="02010509060101010101" pitchFamily="49" charset="-122"/>
              </a:rPr>
              <a:t>）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452BF53-86C8-D19A-E7FE-1B1E3FDA016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048000" y="3147639"/>
            <a:ext cx="4572000" cy="1752600"/>
          </a:xfrm>
        </p:spPr>
        <p:txBody>
          <a:bodyPr/>
          <a:lstStyle/>
          <a:p>
            <a:pPr algn="r" eaLnBrk="1" hangingPunct="1"/>
            <a:r>
              <a:rPr lang="zh-CN" altLang="en-US" sz="40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虚函数</a:t>
            </a:r>
            <a:endParaRPr lang="en-US" altLang="zh-CN" sz="4000" dirty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r" eaLnBrk="1" hangingPunct="1"/>
            <a:r>
              <a:rPr lang="zh-CN" altLang="en-US" sz="40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运算符重载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8BDE025-EF3A-9A98-1824-E7D890027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59" y="5499847"/>
            <a:ext cx="2362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 2" panose="05020102010507070707" pitchFamily="18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0000"/>
              <a:buFont typeface="Wingdings 2" panose="05020102010507070707" pitchFamily="18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B9B57"/>
              </a:buClr>
              <a:buSzPct val="60000"/>
              <a:buFont typeface="Wingdings 2" panose="05020102010507070707" pitchFamily="18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B7396"/>
              </a:buClr>
              <a:buSzPct val="45000"/>
              <a:buFont typeface="Wingdings 2" panose="05020102010507070707" pitchFamily="18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Font typeface="Arial"/>
              <a:buNone/>
              <a:defRPr kumimoji="0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Font typeface="Arial"/>
              <a:buNone/>
              <a:defRPr kumimoji="0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Font typeface="Arial"/>
              <a:buNone/>
              <a:defRPr kumimoji="0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Font typeface="Arial"/>
              <a:buNone/>
              <a:defRPr kumimoji="0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r>
              <a:rPr lang="zh-CN" altLang="en-US" sz="3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（第</a:t>
            </a:r>
            <a:r>
              <a:rPr lang="en-US" altLang="zh-CN" sz="3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8</a:t>
            </a:r>
            <a:r>
              <a:rPr lang="zh-CN" altLang="en-US" sz="3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章）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707AB342-D00B-ACCB-7274-0A4D9F31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E14717F2-C878-E296-3ADD-AEBC29C8F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多态性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虚函数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运行时类型信息</a:t>
            </a:r>
            <a:r>
              <a:rPr lang="en-US" altLang="zh-CN" dirty="0" err="1"/>
              <a:t>RTTI</a:t>
            </a:r>
            <a:endParaRPr lang="en-US" altLang="zh-CN" dirty="0"/>
          </a:p>
          <a:p>
            <a:pPr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运算符重载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4B543B2-6247-026B-46E9-C54320757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隶书" panose="02010509060101010101" pitchFamily="49" charset="-122"/>
              </a:rPr>
              <a:t>多态性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6AF50B3-3CBF-595A-1E90-5038753984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2"/>
                </a:solidFill>
                <a:latin typeface="华文楷体" panose="02010600040101010101" pitchFamily="2" charset="-122"/>
              </a:rPr>
              <a:t>什么是多态性</a:t>
            </a:r>
          </a:p>
          <a:p>
            <a:pPr eaLnBrk="1" hangingPunct="1"/>
            <a:r>
              <a:rPr lang="zh-CN" altLang="en-US">
                <a:solidFill>
                  <a:schemeClr val="tx2"/>
                </a:solidFill>
                <a:latin typeface="华文楷体" panose="02010600040101010101" pitchFamily="2" charset="-122"/>
              </a:rPr>
              <a:t>多态性的类型</a:t>
            </a:r>
          </a:p>
          <a:p>
            <a:pPr eaLnBrk="1" hangingPunct="1"/>
            <a:r>
              <a:rPr lang="zh-CN" altLang="en-US">
                <a:solidFill>
                  <a:schemeClr val="tx2"/>
                </a:solidFill>
                <a:latin typeface="华文楷体" panose="02010600040101010101" pitchFamily="2" charset="-122"/>
              </a:rPr>
              <a:t>多态性的实现</a:t>
            </a:r>
          </a:p>
          <a:p>
            <a:pPr lvl="1" eaLnBrk="1" hangingPunct="1"/>
            <a:r>
              <a:rPr lang="zh-CN" altLang="en-US">
                <a:solidFill>
                  <a:schemeClr val="tx2"/>
                </a:solidFill>
                <a:latin typeface="华文楷体" panose="02010600040101010101" pitchFamily="2" charset="-122"/>
              </a:rPr>
              <a:t>联编</a:t>
            </a:r>
            <a:r>
              <a:rPr lang="en-US" altLang="zh-CN">
                <a:solidFill>
                  <a:schemeClr val="tx2"/>
                </a:solidFill>
                <a:latin typeface="华文楷体" panose="02010600040101010101" pitchFamily="2" charset="-122"/>
              </a:rPr>
              <a:t>(</a:t>
            </a:r>
            <a:r>
              <a:rPr lang="zh-CN" altLang="en-US">
                <a:solidFill>
                  <a:schemeClr val="tx2"/>
                </a:solidFill>
                <a:latin typeface="华文楷体" panose="02010600040101010101" pitchFamily="2" charset="-122"/>
              </a:rPr>
              <a:t>绑定</a:t>
            </a:r>
            <a:r>
              <a:rPr lang="en-US" altLang="zh-CN">
                <a:solidFill>
                  <a:schemeClr val="tx2"/>
                </a:solidFill>
                <a:latin typeface="华文楷体" panose="02010600040101010101" pitchFamily="2" charset="-122"/>
              </a:rPr>
              <a:t>)</a:t>
            </a:r>
            <a:endParaRPr lang="zh-CN" altLang="en-US">
              <a:solidFill>
                <a:schemeClr val="tx2"/>
              </a:solidFill>
              <a:latin typeface="华文楷体" panose="02010600040101010101" pitchFamily="2" charset="-122"/>
            </a:endParaRPr>
          </a:p>
          <a:p>
            <a:pPr lvl="2" eaLnBrk="1" hangingPunct="1"/>
            <a:r>
              <a:rPr lang="zh-CN" altLang="en-US">
                <a:solidFill>
                  <a:schemeClr val="tx2"/>
                </a:solidFill>
                <a:latin typeface="华文楷体" panose="02010600040101010101" pitchFamily="2" charset="-122"/>
              </a:rPr>
              <a:t>静态联编（静态绑定）</a:t>
            </a:r>
          </a:p>
          <a:p>
            <a:pPr lvl="2" eaLnBrk="1" hangingPunct="1"/>
            <a:r>
              <a:rPr lang="zh-CN" altLang="en-US">
                <a:solidFill>
                  <a:schemeClr val="tx2"/>
                </a:solidFill>
                <a:latin typeface="华文楷体" panose="02010600040101010101" pitchFamily="2" charset="-122"/>
              </a:rPr>
              <a:t>动态联编（动态绑定）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B096E8E-34D2-39D1-25E1-283690DB9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+mj-ea"/>
              </a:rPr>
              <a:t>什么是多态性</a:t>
            </a:r>
          </a:p>
        </p:txBody>
      </p:sp>
      <p:sp>
        <p:nvSpPr>
          <p:cNvPr id="7171" name="Text Box 4">
            <a:extLst>
              <a:ext uri="{FF2B5EF4-FFF2-40B4-BE49-F238E27FC236}">
                <a16:creationId xmlns:a16="http://schemas.microsoft.com/office/drawing/2014/main" id="{1539DD84-68EA-877D-5E05-0FA894145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912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内容占位符 2">
            <a:extLst>
              <a:ext uri="{FF2B5EF4-FFF2-40B4-BE49-F238E27FC236}">
                <a16:creationId xmlns:a16="http://schemas.microsoft.com/office/drawing/2014/main" id="{E7239D2C-5964-53D2-A87C-F59191BD0B40}"/>
              </a:ext>
            </a:extLst>
          </p:cNvPr>
          <p:cNvSpPr txBox="1">
            <a:spLocks/>
          </p:cNvSpPr>
          <p:nvPr/>
        </p:nvSpPr>
        <p:spPr bwMode="auto">
          <a:xfrm>
            <a:off x="533400" y="5137150"/>
            <a:ext cx="6713538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多态的目的是为了接口重用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45CD177-0BA7-2814-0B33-AEA17A22DFDC}"/>
              </a:ext>
            </a:extLst>
          </p:cNvPr>
          <p:cNvSpPr txBox="1">
            <a:spLocks/>
          </p:cNvSpPr>
          <p:nvPr/>
        </p:nvSpPr>
        <p:spPr bwMode="auto">
          <a:xfrm>
            <a:off x="457200" y="1219200"/>
            <a:ext cx="8686800" cy="368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B9B57"/>
              </a:buClr>
              <a:buSzPct val="60000"/>
              <a:buFont typeface="Wingdings 2" pitchFamily="18" charset="2"/>
              <a:buChar char="®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B7396"/>
              </a:buClr>
              <a:buSzPct val="45000"/>
              <a:buFont typeface="Wingdings 2" pitchFamily="18" charset="2"/>
              <a:buChar char="¯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dirty="0"/>
              <a:t>多态性是</a:t>
            </a:r>
            <a:r>
              <a:rPr lang="zh-CN" altLang="en-US" dirty="0">
                <a:solidFill>
                  <a:srgbClr val="FF0000"/>
                </a:solidFill>
              </a:rPr>
              <a:t>面向对象思想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核心特征</a:t>
            </a:r>
            <a:r>
              <a:rPr lang="zh-CN" altLang="en-US" dirty="0"/>
              <a:t>之一。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dirty="0"/>
              <a:t>多态性是指发出</a:t>
            </a:r>
            <a:r>
              <a:rPr lang="zh-CN" altLang="en-US" dirty="0">
                <a:solidFill>
                  <a:srgbClr val="FF0000"/>
                </a:solidFill>
              </a:rPr>
              <a:t>相同的消息</a:t>
            </a:r>
            <a:r>
              <a:rPr lang="zh-CN" altLang="en-US" dirty="0"/>
              <a:t>被不同类型的对象接收时有可能导致完全</a:t>
            </a:r>
            <a:r>
              <a:rPr lang="zh-CN" altLang="en-US" dirty="0">
                <a:solidFill>
                  <a:srgbClr val="FF0000"/>
                </a:solidFill>
              </a:rPr>
              <a:t>不同的响应</a:t>
            </a:r>
            <a:r>
              <a:rPr lang="zh-CN" altLang="en-US" dirty="0"/>
              <a:t>。</a:t>
            </a:r>
            <a:endParaRPr lang="en-US" altLang="zh-CN" dirty="0"/>
          </a:p>
          <a:p>
            <a:pPr marL="696913"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2800" dirty="0"/>
              <a:t>相同的消息：同名的成员函数</a:t>
            </a:r>
          </a:p>
          <a:p>
            <a:pPr marL="696913"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2800" dirty="0"/>
              <a:t>不同的响应：函数功能不同，即不同的函数实现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9B3B973-FB1B-ECD0-1638-ADD074D334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隶书" panose="02010509060101010101" pitchFamily="49" charset="-122"/>
              </a:rPr>
              <a:t>多态性的类型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2CA81D9-435C-95F8-3EB0-93B377BBE7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24000"/>
            <a:ext cx="8001000" cy="46482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重载多态</a:t>
            </a:r>
          </a:p>
          <a:p>
            <a:pPr lvl="1" eaLnBrk="1" hangingPunct="1"/>
            <a:r>
              <a:rPr lang="zh-CN" altLang="en-US" dirty="0">
                <a:latin typeface="华文楷体" panose="02010600040101010101" pitchFamily="2" charset="-122"/>
              </a:rPr>
              <a:t>函数重载、运算符重载</a:t>
            </a:r>
          </a:p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强制多态</a:t>
            </a:r>
          </a:p>
          <a:p>
            <a:pPr lvl="1" eaLnBrk="1" hangingPunct="1"/>
            <a:r>
              <a:rPr lang="zh-CN" altLang="en-US" dirty="0">
                <a:latin typeface="华文楷体" panose="02010600040101010101" pitchFamily="2" charset="-122"/>
              </a:rPr>
              <a:t>隐式类型转换</a:t>
            </a:r>
          </a:p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参数多态（模版参数 数据类型）</a:t>
            </a:r>
          </a:p>
          <a:p>
            <a:pPr lvl="1" eaLnBrk="1" hangingPunct="1"/>
            <a:r>
              <a:rPr lang="zh-CN" altLang="en-US" dirty="0">
                <a:latin typeface="华文楷体" panose="02010600040101010101" pitchFamily="2" charset="-122"/>
              </a:rPr>
              <a:t>模板</a:t>
            </a:r>
          </a:p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包含多态（虚函数）</a:t>
            </a:r>
          </a:p>
          <a:p>
            <a:pPr lvl="1" eaLnBrk="1" hangingPunct="1"/>
            <a:r>
              <a:rPr lang="zh-CN" altLang="en-US" dirty="0">
                <a:latin typeface="华文楷体" panose="02010600040101010101" pitchFamily="2" charset="-122"/>
              </a:rPr>
              <a:t>类族中的不同类中同名成员函数的多态行为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5E5B9AB6-D069-4B41-E17E-5BC5AE7BE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61722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4841CDF-DE8C-7D2B-ACD0-D31A73F4F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533400"/>
            <a:ext cx="4800600" cy="1190625"/>
          </a:xfrm>
        </p:spPr>
        <p:txBody>
          <a:bodyPr/>
          <a:lstStyle/>
          <a:p>
            <a:pPr algn="l" eaLnBrk="1" hangingPunct="1"/>
            <a:r>
              <a:rPr lang="zh-CN" altLang="en-US">
                <a:latin typeface="隶书" panose="02010509060101010101" pitchFamily="49" charset="-122"/>
              </a:rPr>
              <a:t>多态的实现</a:t>
            </a:r>
            <a:endParaRPr lang="en-US" altLang="zh-CN">
              <a:latin typeface="隶书" panose="02010509060101010101" pitchFamily="49" charset="-122"/>
            </a:endParaRPr>
          </a:p>
        </p:txBody>
      </p:sp>
      <p:sp>
        <p:nvSpPr>
          <p:cNvPr id="9219" name="Text Box 4">
            <a:extLst>
              <a:ext uri="{FF2B5EF4-FFF2-40B4-BE49-F238E27FC236}">
                <a16:creationId xmlns:a16="http://schemas.microsoft.com/office/drawing/2014/main" id="{64229BDE-D023-98BF-3E6E-086FF5E63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912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8A8A37-481D-FC4E-9EDC-5FA701E9B1F9}"/>
              </a:ext>
            </a:extLst>
          </p:cNvPr>
          <p:cNvSpPr/>
          <p:nvPr/>
        </p:nvSpPr>
        <p:spPr>
          <a:xfrm>
            <a:off x="381000" y="2743200"/>
            <a:ext cx="8610600" cy="10779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dirty="0">
                <a:latin typeface="华文楷体" pitchFamily="2" charset="-122"/>
                <a:ea typeface="+mn-ea"/>
              </a:rPr>
              <a:t>联编（绑定</a:t>
            </a:r>
            <a:r>
              <a:rPr lang="en-US" altLang="zh-CN" sz="3200" dirty="0">
                <a:latin typeface="华文楷体" pitchFamily="2" charset="-122"/>
                <a:ea typeface="+mn-ea"/>
              </a:rPr>
              <a:t>binding</a:t>
            </a:r>
            <a:r>
              <a:rPr lang="zh-CN" altLang="en-US" sz="3200" dirty="0">
                <a:latin typeface="华文楷体" pitchFamily="2" charset="-122"/>
                <a:ea typeface="+mn-ea"/>
              </a:rPr>
              <a:t>）：把一个标志符（函数名）和一个存储地址联系在一起的过程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">
            <a:extLst>
              <a:ext uri="{FF2B5EF4-FFF2-40B4-BE49-F238E27FC236}">
                <a16:creationId xmlns:a16="http://schemas.microsoft.com/office/drawing/2014/main" id="{7431CDCB-EC07-A69C-9D0E-CD34AAFFD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912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1E29BD67-52B8-E9A0-8623-0A9DB51EE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23900"/>
            <a:ext cx="8839200" cy="509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55600" lvl="1" indent="-3556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3200" b="0" dirty="0">
                <a:latin typeface="+mn-ea"/>
                <a:ea typeface="+mn-ea"/>
              </a:rPr>
              <a:t>静态绑定：是指在</a:t>
            </a:r>
            <a:r>
              <a:rPr lang="zh-CN" altLang="en-US" sz="3200" dirty="0">
                <a:latin typeface="+mn-ea"/>
                <a:ea typeface="+mn-ea"/>
              </a:rPr>
              <a:t>编译</a:t>
            </a:r>
            <a:r>
              <a:rPr lang="zh-CN" altLang="en-US" sz="3200" b="0" dirty="0">
                <a:latin typeface="+mn-ea"/>
                <a:ea typeface="+mn-ea"/>
              </a:rPr>
              <a:t>时就把函数名与具体函数绑定在一起。 </a:t>
            </a:r>
            <a:endParaRPr lang="en-US" altLang="zh-CN" sz="3200" b="0" dirty="0">
              <a:latin typeface="+mn-ea"/>
              <a:ea typeface="+mn-ea"/>
            </a:endParaRPr>
          </a:p>
          <a:p>
            <a:pPr marL="808038" lvl="1" indent="-3556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800" b="0" dirty="0">
                <a:latin typeface="+mn-ea"/>
                <a:ea typeface="+mn-ea"/>
              </a:rPr>
              <a:t>优点：执行速度快</a:t>
            </a:r>
            <a:endParaRPr lang="en-US" altLang="zh-CN" sz="2800" b="0" dirty="0">
              <a:latin typeface="+mn-ea"/>
              <a:ea typeface="+mn-ea"/>
            </a:endParaRPr>
          </a:p>
          <a:p>
            <a:pPr marL="808038" lvl="1" indent="-3556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800" b="0" dirty="0">
                <a:latin typeface="+mn-ea"/>
                <a:ea typeface="+mn-ea"/>
              </a:rPr>
              <a:t>C++</a:t>
            </a:r>
            <a:r>
              <a:rPr lang="zh-CN" altLang="en-US" sz="2800" b="0" dirty="0">
                <a:latin typeface="+mn-ea"/>
                <a:ea typeface="+mn-ea"/>
              </a:rPr>
              <a:t>中的编译时多态性</a:t>
            </a:r>
          </a:p>
          <a:p>
            <a:pPr marL="355600" lvl="1" indent="-3556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3200" b="0" dirty="0">
                <a:latin typeface="+mn-ea"/>
                <a:ea typeface="+mn-ea"/>
              </a:rPr>
              <a:t>动态绑定：是指在程序</a:t>
            </a:r>
            <a:r>
              <a:rPr lang="zh-CN" altLang="en-US" sz="3200" dirty="0">
                <a:latin typeface="+mn-ea"/>
                <a:ea typeface="+mn-ea"/>
              </a:rPr>
              <a:t>运行</a:t>
            </a:r>
            <a:r>
              <a:rPr lang="zh-CN" altLang="en-US" sz="3200" b="0" dirty="0">
                <a:latin typeface="+mn-ea"/>
                <a:ea typeface="+mn-ea"/>
              </a:rPr>
              <a:t>时才把函数名与具体函数绑定在一起。</a:t>
            </a:r>
            <a:endParaRPr lang="en-US" altLang="zh-CN" sz="3200" b="0" dirty="0">
              <a:latin typeface="+mn-ea"/>
              <a:ea typeface="+mn-ea"/>
            </a:endParaRPr>
          </a:p>
          <a:p>
            <a:pPr marL="808038" lvl="1" indent="-3556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800" b="0" dirty="0">
                <a:latin typeface="+mn-ea"/>
                <a:ea typeface="+mn-ea"/>
              </a:rPr>
              <a:t>优点：处理问题灵活</a:t>
            </a:r>
            <a:endParaRPr lang="en-US" altLang="zh-CN" sz="2800" dirty="0">
              <a:latin typeface="+mn-ea"/>
              <a:ea typeface="+mn-ea"/>
            </a:endParaRPr>
          </a:p>
          <a:p>
            <a:pPr marL="808038" lvl="1" indent="-3556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800" b="0" dirty="0">
                <a:latin typeface="+mn-ea"/>
                <a:ea typeface="+mn-ea"/>
              </a:rPr>
              <a:t>C++</a:t>
            </a:r>
            <a:r>
              <a:rPr lang="zh-CN" altLang="en-US" sz="2800" b="0" dirty="0">
                <a:latin typeface="+mn-ea"/>
                <a:ea typeface="+mn-ea"/>
              </a:rPr>
              <a:t>中的运行时多态性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FA7C06C-7A28-0636-13E3-68326C67E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隶书" panose="02010509060101010101" pitchFamily="49" charset="-122"/>
              </a:rPr>
              <a:t>静态联编（绑定）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6C02315-AB86-50CE-F8DC-151653FBC6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重载多态</a:t>
            </a:r>
            <a:r>
              <a:rPr lang="en-US" altLang="zh-CN">
                <a:latin typeface="华文楷体" panose="02010600040101010101" pitchFamily="2" charset="-122"/>
              </a:rPr>
              <a:t>(</a:t>
            </a:r>
            <a:r>
              <a:rPr lang="zh-CN" altLang="en-US">
                <a:latin typeface="华文楷体" panose="02010600040101010101" pitchFamily="2" charset="-122"/>
              </a:rPr>
              <a:t>函数和运算符的重载</a:t>
            </a:r>
            <a:r>
              <a:rPr lang="en-US" altLang="zh-CN">
                <a:latin typeface="华文楷体" panose="02010600040101010101" pitchFamily="2" charset="-122"/>
              </a:rPr>
              <a:t>)</a:t>
            </a:r>
          </a:p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强制多态</a:t>
            </a:r>
            <a:r>
              <a:rPr lang="en-US" altLang="zh-CN">
                <a:latin typeface="华文楷体" panose="02010600040101010101" pitchFamily="2" charset="-122"/>
              </a:rPr>
              <a:t>(</a:t>
            </a:r>
            <a:r>
              <a:rPr lang="zh-CN" altLang="en-US">
                <a:latin typeface="华文楷体" panose="02010600040101010101" pitchFamily="2" charset="-122"/>
              </a:rPr>
              <a:t>隐式类型转换</a:t>
            </a:r>
            <a:r>
              <a:rPr lang="en-US" altLang="zh-CN">
                <a:latin typeface="华文楷体" panose="02010600040101010101" pitchFamily="2" charset="-122"/>
              </a:rPr>
              <a:t>)</a:t>
            </a:r>
          </a:p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参数多态</a:t>
            </a:r>
            <a:r>
              <a:rPr lang="en-US" altLang="zh-CN">
                <a:latin typeface="华文楷体" panose="02010600040101010101" pitchFamily="2" charset="-122"/>
              </a:rPr>
              <a:t>(</a:t>
            </a:r>
            <a:r>
              <a:rPr lang="zh-CN" altLang="en-US">
                <a:latin typeface="华文楷体" panose="02010600040101010101" pitchFamily="2" charset="-122"/>
              </a:rPr>
              <a:t>模板</a:t>
            </a:r>
            <a:r>
              <a:rPr lang="en-US" altLang="zh-CN">
                <a:latin typeface="华文楷体" panose="02010600040101010101" pitchFamily="2" charset="-122"/>
              </a:rPr>
              <a:t>)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FA10D973-29F9-1CA7-1012-A07D798B3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912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1B13F60-9030-9BBB-37AE-152F70A4F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隶书" panose="02010509060101010101" pitchFamily="49" charset="-122"/>
              </a:rPr>
              <a:t>动态联编（绑定）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752C1AB-9691-8386-3D83-7B8432F0DF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包含多态</a:t>
            </a:r>
            <a:r>
              <a:rPr lang="en-US" altLang="zh-CN">
                <a:latin typeface="华文楷体" panose="02010600040101010101" pitchFamily="2" charset="-122"/>
              </a:rPr>
              <a:t>(</a:t>
            </a:r>
            <a:r>
              <a:rPr lang="zh-CN" altLang="en-US">
                <a:latin typeface="华文楷体" panose="02010600040101010101" pitchFamily="2" charset="-122"/>
              </a:rPr>
              <a:t>继承和虚函数</a:t>
            </a:r>
            <a:r>
              <a:rPr lang="en-US" altLang="zh-CN">
                <a:latin typeface="华文楷体" panose="02010600040101010101" pitchFamily="2" charset="-122"/>
              </a:rPr>
              <a:t>)</a:t>
            </a: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CB7071BD-CADD-2A05-FDC0-54F9C6AFC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912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C4BE968-DE04-7E18-B541-39C4B43F89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隶书" panose="02010509060101010101" pitchFamily="49" charset="-122"/>
              </a:rPr>
              <a:t>虚函数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85D7329-DBBC-74D6-51E7-268A053A1C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类型兼容</a:t>
            </a:r>
            <a:endParaRPr lang="en-US" altLang="zh-CN" dirty="0">
              <a:latin typeface="华文楷体" panose="02010600040101010101" pitchFamily="2" charset="-122"/>
              <a:hlinkClick r:id="rId2" action="ppaction://hlinksldjump"/>
            </a:endParaRPr>
          </a:p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虚函数</a:t>
            </a:r>
          </a:p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纯虚函数和抽象类</a:t>
            </a: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830C11A7-1CC3-F133-3726-790C1C5AD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25" y="5370513"/>
            <a:ext cx="450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3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A8DC6DF-738D-2F1D-F528-79625480B8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隶书" panose="02010509060101010101" pitchFamily="49" charset="-122"/>
              </a:rPr>
              <a:t>虚函数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5CFC473-73E8-16F8-E9B0-0BEBB5C763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265238"/>
            <a:ext cx="8229600" cy="5364162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latin typeface="华文楷体" panose="02010600040101010101" pitchFamily="2" charset="-122"/>
              </a:rPr>
              <a:t>C++</a:t>
            </a:r>
            <a:r>
              <a:rPr lang="zh-CN" altLang="en-US" sz="2800" dirty="0">
                <a:latin typeface="华文楷体" panose="02010600040101010101" pitchFamily="2" charset="-122"/>
              </a:rPr>
              <a:t>实现运行时多态性的关键途径</a:t>
            </a:r>
          </a:p>
          <a:p>
            <a:pPr lvl="1" eaLnBrk="1" hangingPunct="1"/>
            <a:r>
              <a:rPr lang="zh-CN" altLang="en-US" dirty="0">
                <a:latin typeface="华文楷体" panose="02010600040101010101" pitchFamily="2" charset="-122"/>
              </a:rPr>
              <a:t>类型兼容＋虚函数</a:t>
            </a:r>
          </a:p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虚函数定义格式</a:t>
            </a:r>
          </a:p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使用限制</a:t>
            </a:r>
          </a:p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区分虚函数与函数重载</a:t>
            </a:r>
          </a:p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虚析构函数</a:t>
            </a:r>
            <a:endParaRPr lang="en-US" altLang="zh-CN" dirty="0">
              <a:latin typeface="华文楷体" panose="02010600040101010101" pitchFamily="2" charset="-122"/>
            </a:endParaRPr>
          </a:p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虚函数的形参默认值</a:t>
            </a:r>
            <a:endParaRPr lang="en-US" altLang="zh-CN" dirty="0">
              <a:latin typeface="华文楷体" panose="02010600040101010101" pitchFamily="2" charset="-122"/>
            </a:endParaRPr>
          </a:p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虚函数的特性</a:t>
            </a:r>
            <a:endParaRPr lang="en-US" altLang="zh-CN" dirty="0">
              <a:latin typeface="华文楷体" panose="02010600040101010101" pitchFamily="2" charset="-122"/>
            </a:endParaRPr>
          </a:p>
          <a:p>
            <a:pPr eaLnBrk="1" hangingPunct="1"/>
            <a:r>
              <a:rPr lang="zh-CN" altLang="en-US" dirty="0">
                <a:latin typeface="华文楷体" panose="02010600040101010101" pitchFamily="2" charset="-122"/>
              </a:rPr>
              <a:t>虚函数的实现：虚表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BAA529FD-E698-4AC1-5753-4AE57F414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912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490640B-AF1A-0F74-BDAA-5FB885263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638175"/>
            <a:ext cx="7543800" cy="765175"/>
          </a:xfrm>
        </p:spPr>
        <p:txBody>
          <a:bodyPr/>
          <a:lstStyle/>
          <a:p>
            <a:pPr eaLnBrk="1" hangingPunct="1"/>
            <a:r>
              <a:rPr lang="zh-CN" altLang="en-US">
                <a:latin typeface="隶书" panose="02010509060101010101" pitchFamily="49" charset="-122"/>
              </a:rPr>
              <a:t>虚函数的定义前提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0A85553-1A79-92F4-EEA2-4411E7E747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华文楷体" panose="02010600040101010101" pitchFamily="2" charset="-122"/>
              </a:rPr>
              <a:t>虚函数重定义时，</a:t>
            </a:r>
            <a:r>
              <a:rPr lang="zh-CN" altLang="en-US">
                <a:solidFill>
                  <a:srgbClr val="C00000"/>
                </a:solidFill>
                <a:latin typeface="华文楷体" panose="02010600040101010101" pitchFamily="2" charset="-122"/>
              </a:rPr>
              <a:t>函数原型</a:t>
            </a:r>
            <a:r>
              <a:rPr lang="zh-CN" altLang="en-US">
                <a:latin typeface="华文楷体" panose="02010600040101010101" pitchFamily="2" charset="-122"/>
              </a:rPr>
              <a:t>要完全一致，包括：</a:t>
            </a:r>
            <a:r>
              <a:rPr lang="zh-CN" altLang="en-US">
                <a:solidFill>
                  <a:srgbClr val="C00000"/>
                </a:solidFill>
                <a:latin typeface="华文楷体" panose="02010600040101010101" pitchFamily="2" charset="-122"/>
              </a:rPr>
              <a:t>返回类型，函数名、参数个数、参数类型、顺序</a:t>
            </a:r>
            <a:r>
              <a:rPr lang="zh-CN" altLang="en-US">
                <a:latin typeface="华文楷体" panose="02010600040101010101" pitchFamily="2" charset="-122"/>
              </a:rPr>
              <a:t>必须与原函数完全一致</a:t>
            </a:r>
          </a:p>
          <a:p>
            <a:pPr eaLnBrk="1" hangingPunct="1">
              <a:lnSpc>
                <a:spcPct val="90000"/>
              </a:lnSpc>
            </a:pPr>
            <a:endParaRPr lang="zh-CN" altLang="en-US">
              <a:latin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华文楷体" panose="02010600040101010101" pitchFamily="2" charset="-122"/>
              </a:rPr>
              <a:t>即：基类和公有派生类中都拥有的用</a:t>
            </a:r>
            <a:r>
              <a:rPr lang="en-US" altLang="zh-CN">
                <a:latin typeface="华文楷体" panose="02010600040101010101" pitchFamily="2" charset="-122"/>
              </a:rPr>
              <a:t>virtual</a:t>
            </a:r>
            <a:r>
              <a:rPr lang="zh-CN" altLang="en-US">
                <a:latin typeface="华文楷体" panose="02010600040101010101" pitchFamily="2" charset="-122"/>
              </a:rPr>
              <a:t>修饰的</a:t>
            </a:r>
            <a:r>
              <a:rPr lang="zh-CN" altLang="en-US">
                <a:solidFill>
                  <a:srgbClr val="C00000"/>
                </a:solidFill>
                <a:latin typeface="华文楷体" panose="02010600040101010101" pitchFamily="2" charset="-122"/>
              </a:rPr>
              <a:t>原型一样</a:t>
            </a:r>
            <a:r>
              <a:rPr lang="zh-CN" altLang="en-US">
                <a:latin typeface="华文楷体" panose="02010600040101010101" pitchFamily="2" charset="-122"/>
              </a:rPr>
              <a:t>的函数，是虚函数。</a:t>
            </a:r>
            <a:endParaRPr lang="en-US" altLang="zh-CN">
              <a:latin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>
              <a:latin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华文楷体" panose="02010600040101010101" pitchFamily="2" charset="-122"/>
              </a:rPr>
              <a:t>接口重用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AA281C4-D8F3-A902-155B-D5E7BD3D9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7543800" cy="76517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隶书" panose="02010509060101010101" pitchFamily="49" charset="-122"/>
              </a:rPr>
              <a:t>虚函数的定义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2A79006-B8F6-AC61-ED1E-7AA06E7573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00200"/>
            <a:ext cx="7543800" cy="3886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华文楷体" panose="02010600040101010101" pitchFamily="2" charset="-122"/>
              </a:rPr>
              <a:t>virtual</a:t>
            </a:r>
            <a:r>
              <a:rPr lang="zh-CN" altLang="en-US" dirty="0">
                <a:latin typeface="华文楷体" panose="02010600040101010101" pitchFamily="2" charset="-122"/>
              </a:rPr>
              <a:t>可以只修饰基类的函数，而子类中的同型函数前可以省略</a:t>
            </a:r>
            <a:r>
              <a:rPr lang="en-US" altLang="zh-CN" dirty="0">
                <a:latin typeface="华文楷体" panose="02010600040101010101" pitchFamily="2" charset="-122"/>
              </a:rPr>
              <a:t>virtual</a:t>
            </a:r>
            <a:r>
              <a:rPr lang="zh-CN" altLang="en-US" dirty="0">
                <a:latin typeface="华文楷体" panose="02010600040101010101" pitchFamily="2" charset="-122"/>
              </a:rPr>
              <a:t>关键字。这样的函数族依然是虚函数</a:t>
            </a:r>
          </a:p>
          <a:p>
            <a:pPr eaLnBrk="1" hangingPunct="1">
              <a:lnSpc>
                <a:spcPct val="90000"/>
              </a:lnSpc>
            </a:pPr>
            <a:endParaRPr lang="zh-CN" altLang="en-US" dirty="0">
              <a:latin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华文楷体" panose="02010600040101010101" pitchFamily="2" charset="-122"/>
              </a:rPr>
              <a:t>即：当派生类重定义虚函数时，无论是否使用了</a:t>
            </a:r>
            <a:r>
              <a:rPr lang="en-US" altLang="zh-CN" dirty="0">
                <a:latin typeface="华文楷体" panose="02010600040101010101" pitchFamily="2" charset="-122"/>
              </a:rPr>
              <a:t>virtual </a:t>
            </a:r>
            <a:r>
              <a:rPr lang="zh-CN" altLang="en-US" dirty="0">
                <a:latin typeface="华文楷体" panose="02010600040101010101" pitchFamily="2" charset="-122"/>
              </a:rPr>
              <a:t>关键字，该成员函数都将是虚函数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334E61F-27D9-F861-EF64-97A6ACB3C67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8839200" cy="765175"/>
          </a:xfrm>
        </p:spPr>
        <p:txBody>
          <a:bodyPr/>
          <a:lstStyle/>
          <a:p>
            <a:pPr eaLnBrk="1" hangingPunct="1"/>
            <a:r>
              <a:rPr lang="zh-CN" altLang="en-US">
                <a:latin typeface="隶书" panose="02010509060101010101" pitchFamily="49" charset="-122"/>
              </a:rPr>
              <a:t>虚函数类族的构造函数、析构函数</a:t>
            </a:r>
            <a:endParaRPr lang="en-US" altLang="zh-CN">
              <a:latin typeface="隶书" panose="02010509060101010101" pitchFamily="49" charset="-122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8FAC571-9D05-3590-D1A4-A93B7691189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905000"/>
            <a:ext cx="8001000" cy="3886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>
                <a:latin typeface="华文楷体" pitchFamily="2" charset="-122"/>
              </a:rPr>
              <a:t>没有虚构造函数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>
                <a:latin typeface="华文楷体" pitchFamily="2" charset="-122"/>
              </a:rPr>
              <a:t>没有虚拷贝构造函数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>
                <a:latin typeface="华文楷体" pitchFamily="2" charset="-122"/>
              </a:rPr>
              <a:t>有虚析构函数</a:t>
            </a:r>
          </a:p>
          <a:p>
            <a:pPr marL="0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altLang="zh-CN" dirty="0">
                <a:latin typeface="华文楷体" pitchFamily="2" charset="-122"/>
              </a:rPr>
              <a:t>    </a:t>
            </a:r>
            <a:r>
              <a:rPr lang="zh-CN" altLang="en-US" sz="2800" dirty="0">
                <a:solidFill>
                  <a:srgbClr val="FF0000"/>
                </a:solidFill>
                <a:latin typeface="华文楷体" pitchFamily="2" charset="-122"/>
              </a:rPr>
              <a:t>有虚函数的类族的析构函数 一定是 虚析构函数</a:t>
            </a:r>
          </a:p>
        </p:txBody>
      </p:sp>
      <p:sp>
        <p:nvSpPr>
          <p:cNvPr id="17412" name="Text Box 5">
            <a:extLst>
              <a:ext uri="{FF2B5EF4-FFF2-40B4-BE49-F238E27FC236}">
                <a16:creationId xmlns:a16="http://schemas.microsoft.com/office/drawing/2014/main" id="{2F4EDA19-4859-B42B-FDEB-52302B58F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912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041E5F3-CBCD-70AA-BF3E-0DE230684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638175"/>
            <a:ext cx="7543800" cy="765175"/>
          </a:xfrm>
        </p:spPr>
        <p:txBody>
          <a:bodyPr/>
          <a:lstStyle/>
          <a:p>
            <a:pPr eaLnBrk="1" hangingPunct="1"/>
            <a:r>
              <a:rPr lang="zh-CN" altLang="en-US">
                <a:latin typeface="隶书" panose="02010509060101010101" pitchFamily="49" charset="-122"/>
              </a:rPr>
              <a:t>虚函数定义格式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2F81A5B-020F-E844-174A-3016E7F26D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4005" y="1403350"/>
            <a:ext cx="7543800" cy="106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华文楷体" panose="02010600040101010101" pitchFamily="2" charset="-122"/>
              </a:rPr>
              <a:t>在基类中，申明虚函数的语法：</a:t>
            </a: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B8C17E38-0DB9-0A41-75EF-ABD3E8A03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744" y="2057400"/>
            <a:ext cx="7010400" cy="106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lvl="1"/>
            <a:r>
              <a:rPr lang="en-US" altLang="zh-CN" dirty="0"/>
              <a:t>virtual &lt;</a:t>
            </a:r>
            <a:r>
              <a:rPr lang="zh-CN" altLang="en-US" dirty="0"/>
              <a:t>类型</a:t>
            </a:r>
            <a:r>
              <a:rPr lang="en-US" altLang="zh-CN" dirty="0"/>
              <a:t>&gt; </a:t>
            </a:r>
            <a:r>
              <a:rPr lang="zh-CN" altLang="en-US" dirty="0"/>
              <a:t>函数名</a:t>
            </a:r>
            <a:r>
              <a:rPr lang="en-US" altLang="zh-CN" dirty="0"/>
              <a:t>(</a:t>
            </a:r>
            <a:r>
              <a:rPr lang="zh-CN" altLang="en-US" dirty="0"/>
              <a:t>参数表</a:t>
            </a:r>
            <a:r>
              <a:rPr lang="en-US" altLang="zh-CN" dirty="0"/>
              <a:t>);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F5098A9-C236-EE46-A73E-5F71CA474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352" y="2743200"/>
            <a:ext cx="7543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华文楷体" panose="02010600040101010101" pitchFamily="2" charset="-122"/>
              </a:rPr>
              <a:t>virtual</a:t>
            </a:r>
            <a:r>
              <a:rPr lang="zh-CN" altLang="en-US">
                <a:latin typeface="华文楷体" panose="02010600040101010101" pitchFamily="2" charset="-122"/>
              </a:rPr>
              <a:t>只写在类的成员函数声明时，不能写在函数实现时；</a:t>
            </a: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AF46FDB-391C-3E40-AA44-22DC7A370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152" y="4252913"/>
            <a:ext cx="7543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华文楷体" panose="02010600040101010101" pitchFamily="2" charset="-122"/>
              </a:rPr>
              <a:t>虚函数的形参默认值写在基类中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BCCEDFD-E54D-DB22-052F-030DD3EB3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638175"/>
            <a:ext cx="7543800" cy="765175"/>
          </a:xfrm>
        </p:spPr>
        <p:txBody>
          <a:bodyPr/>
          <a:lstStyle/>
          <a:p>
            <a:pPr eaLnBrk="1" hangingPunct="1"/>
            <a:r>
              <a:rPr lang="zh-CN" altLang="en-US">
                <a:latin typeface="隶书" panose="02010509060101010101" pitchFamily="49" charset="-122"/>
              </a:rPr>
              <a:t>虚函数举例</a:t>
            </a:r>
            <a:r>
              <a:rPr lang="en-US" altLang="zh-CN">
                <a:latin typeface="隶书" panose="02010509060101010101" pitchFamily="49" charset="-122"/>
              </a:rPr>
              <a:t>1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7FDDBE4-B972-7442-CB7F-B241761CA1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9625" y="1479550"/>
            <a:ext cx="7543800" cy="11874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+mn-ea"/>
              </a:rPr>
              <a:t>Pet</a:t>
            </a:r>
            <a:r>
              <a:rPr lang="zh-CN" altLang="en-US" dirty="0">
                <a:latin typeface="+mn-ea"/>
              </a:rPr>
              <a:t>类的</a:t>
            </a:r>
            <a:r>
              <a:rPr lang="en-US" altLang="zh-CN" dirty="0">
                <a:latin typeface="+mn-ea"/>
              </a:rPr>
              <a:t>speak()</a:t>
            </a:r>
            <a:r>
              <a:rPr lang="zh-CN" altLang="en-US" dirty="0">
                <a:latin typeface="+mn-ea"/>
              </a:rPr>
              <a:t>函数</a:t>
            </a:r>
          </a:p>
        </p:txBody>
      </p:sp>
      <p:sp>
        <p:nvSpPr>
          <p:cNvPr id="20484" name="Text Box 5">
            <a:extLst>
              <a:ext uri="{FF2B5EF4-FFF2-40B4-BE49-F238E27FC236}">
                <a16:creationId xmlns:a16="http://schemas.microsoft.com/office/drawing/2014/main" id="{61231329-B736-5CDD-7FAB-229D8C066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950" y="6262688"/>
            <a:ext cx="450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5" name="Rectangle 21">
            <a:extLst>
              <a:ext uri="{FF2B5EF4-FFF2-40B4-BE49-F238E27FC236}">
                <a16:creationId xmlns:a16="http://schemas.microsoft.com/office/drawing/2014/main" id="{3CAEE4CE-62B1-6896-D0F3-07FDD51E0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029200"/>
            <a:ext cx="4114800" cy="1066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6" name="Rectangle 17">
            <a:extLst>
              <a:ext uri="{FF2B5EF4-FFF2-40B4-BE49-F238E27FC236}">
                <a16:creationId xmlns:a16="http://schemas.microsoft.com/office/drawing/2014/main" id="{2EE9891E-816F-ECBE-0EBF-F88F14DD6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029200"/>
            <a:ext cx="3970338" cy="1066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7" name="Rectangle 13">
            <a:extLst>
              <a:ext uri="{FF2B5EF4-FFF2-40B4-BE49-F238E27FC236}">
                <a16:creationId xmlns:a16="http://schemas.microsoft.com/office/drawing/2014/main" id="{063BBC2D-495B-1813-3DDC-6DF2EA8FA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743200"/>
            <a:ext cx="3962400" cy="1295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8" name="Rectangle 7">
            <a:extLst>
              <a:ext uri="{FF2B5EF4-FFF2-40B4-BE49-F238E27FC236}">
                <a16:creationId xmlns:a16="http://schemas.microsoft.com/office/drawing/2014/main" id="{5861C4FC-9C17-F955-FEF9-063D1531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648200"/>
            <a:ext cx="30067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class Cat </a:t>
            </a:r>
            <a:r>
              <a:rPr lang="zh-CN" altLang="en-US" sz="2000" b="1"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public Pet </a:t>
            </a:r>
            <a:endParaRPr lang="zh-CN" altLang="en-US" sz="20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2709B7FF-7D37-B996-87CA-6C3F102AD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755900"/>
            <a:ext cx="13906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class Pet </a:t>
            </a:r>
            <a:endParaRPr lang="zh-CN" altLang="en-US" sz="20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90" name="Text Box 11">
            <a:extLst>
              <a:ext uri="{FF2B5EF4-FFF2-40B4-BE49-F238E27FC236}">
                <a16:creationId xmlns:a16="http://schemas.microsoft.com/office/drawing/2014/main" id="{413C8218-AF56-8605-3DE6-688F4745B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0575" y="2882900"/>
            <a:ext cx="2897188" cy="10160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virtual void Speak()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{ cout&lt;&lt;“How does a pet speak?/n”;  }</a:t>
            </a:r>
            <a:endParaRPr kumimoji="1" lang="zh-CN" altLang="en-US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91" name="Rectangle 12">
            <a:extLst>
              <a:ext uri="{FF2B5EF4-FFF2-40B4-BE49-F238E27FC236}">
                <a16:creationId xmlns:a16="http://schemas.microsoft.com/office/drawing/2014/main" id="{77CCA1DB-07E5-D30D-9DB2-FBC5671E2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8088" y="2803525"/>
            <a:ext cx="950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Tahoma" panose="020B0604030504040204" pitchFamily="34" charset="0"/>
                <a:ea typeface="宋体" panose="02010600030101010101" pitchFamily="2" charset="-122"/>
              </a:rPr>
              <a:t>行为：</a:t>
            </a:r>
          </a:p>
        </p:txBody>
      </p:sp>
      <p:sp>
        <p:nvSpPr>
          <p:cNvPr id="20492" name="Text Box 15">
            <a:extLst>
              <a:ext uri="{FF2B5EF4-FFF2-40B4-BE49-F238E27FC236}">
                <a16:creationId xmlns:a16="http://schemas.microsoft.com/office/drawing/2014/main" id="{03C962E2-2B59-2C95-1502-0FDB9DF0E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146675"/>
            <a:ext cx="3124200" cy="708025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virtual</a:t>
            </a:r>
            <a:r>
              <a:rPr kumimoji="1" lang="en-US" altLang="zh-CN" sz="20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void Speak()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{ cout&lt;&lt;“miaomiao!/n”;  }</a:t>
            </a:r>
            <a:endParaRPr kumimoji="1" lang="zh-CN" altLang="en-US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93" name="Rectangle 16">
            <a:extLst>
              <a:ext uri="{FF2B5EF4-FFF2-40B4-BE49-F238E27FC236}">
                <a16:creationId xmlns:a16="http://schemas.microsoft.com/office/drawing/2014/main" id="{9195202C-3348-4F2B-CEC3-90E5564F3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110163"/>
            <a:ext cx="950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Tahoma" panose="020B0604030504040204" pitchFamily="34" charset="0"/>
                <a:ea typeface="宋体" panose="02010600030101010101" pitchFamily="2" charset="-122"/>
              </a:rPr>
              <a:t>行为：</a:t>
            </a:r>
          </a:p>
        </p:txBody>
      </p:sp>
      <p:sp>
        <p:nvSpPr>
          <p:cNvPr id="20494" name="Text Box 19">
            <a:extLst>
              <a:ext uri="{FF2B5EF4-FFF2-40B4-BE49-F238E27FC236}">
                <a16:creationId xmlns:a16="http://schemas.microsoft.com/office/drawing/2014/main" id="{4CF1F9E9-73C3-CF39-62F8-373C0A385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168900"/>
            <a:ext cx="3124200" cy="708025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virtual</a:t>
            </a:r>
            <a:r>
              <a:rPr kumimoji="1" lang="en-US" altLang="zh-CN" sz="20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void Speak()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{ cout&lt;&lt;“wangwang!/n”;  }</a:t>
            </a:r>
            <a:endParaRPr kumimoji="1" lang="zh-CN" altLang="en-US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95" name="Rectangle 20">
            <a:extLst>
              <a:ext uri="{FF2B5EF4-FFF2-40B4-BE49-F238E27FC236}">
                <a16:creationId xmlns:a16="http://schemas.microsoft.com/office/drawing/2014/main" id="{EAF9E12A-822D-FD3C-FC72-A1CE2D7C3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7888" y="5105400"/>
            <a:ext cx="950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Tahoma" panose="020B0604030504040204" pitchFamily="34" charset="0"/>
                <a:ea typeface="宋体" panose="02010600030101010101" pitchFamily="2" charset="-122"/>
              </a:rPr>
              <a:t>行为：</a:t>
            </a:r>
          </a:p>
        </p:txBody>
      </p:sp>
      <p:sp>
        <p:nvSpPr>
          <p:cNvPr id="20496" name="Line 22">
            <a:extLst>
              <a:ext uri="{FF2B5EF4-FFF2-40B4-BE49-F238E27FC236}">
                <a16:creationId xmlns:a16="http://schemas.microsoft.com/office/drawing/2014/main" id="{3C356077-F664-1710-A905-B5286F58DF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4114800"/>
            <a:ext cx="76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7" name="Line 23">
            <a:extLst>
              <a:ext uri="{FF2B5EF4-FFF2-40B4-BE49-F238E27FC236}">
                <a16:creationId xmlns:a16="http://schemas.microsoft.com/office/drawing/2014/main" id="{69F79422-91B9-3118-B3BA-CACC77957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114800"/>
            <a:ext cx="3349625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8" name="Rectangle 7">
            <a:extLst>
              <a:ext uri="{FF2B5EF4-FFF2-40B4-BE49-F238E27FC236}">
                <a16:creationId xmlns:a16="http://schemas.microsoft.com/office/drawing/2014/main" id="{9F79C922-1FBD-779F-CBD1-6FFF23211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648200"/>
            <a:ext cx="30892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class Dog </a:t>
            </a:r>
            <a:r>
              <a:rPr lang="zh-CN" altLang="en-US" sz="2000" b="1"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public Pet </a:t>
            </a:r>
            <a:endParaRPr lang="zh-CN" altLang="en-US" sz="20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0B1CADC-31BB-8619-210D-F9E874CAE68A}"/>
              </a:ext>
            </a:extLst>
          </p:cNvPr>
          <p:cNvSpPr/>
          <p:nvPr/>
        </p:nvSpPr>
        <p:spPr>
          <a:xfrm>
            <a:off x="0" y="0"/>
            <a:ext cx="518160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speak()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"How does a pet speak ?"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~Pet()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03839A-7CEF-E4CF-CBDC-40CF35BF52B2}"/>
              </a:ext>
            </a:extLst>
          </p:cNvPr>
          <p:cNvSpPr/>
          <p:nvPr/>
        </p:nvSpPr>
        <p:spPr>
          <a:xfrm>
            <a:off x="17929" y="2323439"/>
            <a:ext cx="373380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speak()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miao!miao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!"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~Cat()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D3D6CB-2A88-5AB7-FC9A-BC6903C06054}"/>
              </a:ext>
            </a:extLst>
          </p:cNvPr>
          <p:cNvSpPr/>
          <p:nvPr/>
        </p:nvSpPr>
        <p:spPr>
          <a:xfrm>
            <a:off x="421939" y="4477544"/>
            <a:ext cx="3921461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Dog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speak()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Wang!Wang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!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~Dog()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  <a:ea typeface="宋体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1C2E51-0C07-072F-67A3-D10F3BC87366}"/>
              </a:ext>
            </a:extLst>
          </p:cNvPr>
          <p:cNvSpPr/>
          <p:nvPr/>
        </p:nvSpPr>
        <p:spPr>
          <a:xfrm>
            <a:off x="5257800" y="0"/>
            <a:ext cx="2895600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*p1,*p2,*p3,obj;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Dog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Benben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Huahua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0363">
              <a:defRPr/>
            </a:pP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0363">
              <a:defRPr/>
            </a:pP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obj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Benben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0363">
              <a:defRPr/>
            </a:pP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obj.speak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60363">
              <a:defRPr/>
            </a:pP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p1=&amp;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Huahua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p1-&gt;speak();</a:t>
            </a:r>
          </a:p>
          <a:p>
            <a:pPr marL="360363">
              <a:defRPr/>
            </a:pP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p1=&amp;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Benben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p1-&gt;speak();</a:t>
            </a:r>
          </a:p>
          <a:p>
            <a:pPr marL="360363">
              <a:defRPr/>
            </a:pP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p2=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p2-&gt;speak();</a:t>
            </a:r>
          </a:p>
          <a:p>
            <a:pPr marL="360363">
              <a:defRPr/>
            </a:pP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p3=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Dog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p3-&gt;speak();</a:t>
            </a:r>
          </a:p>
          <a:p>
            <a:pPr marL="360363">
              <a:defRPr/>
            </a:pP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0363">
              <a:defRPr/>
            </a:pP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&amp;p4=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Huahua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p4.speak();</a:t>
            </a:r>
          </a:p>
          <a:p>
            <a:pPr marL="360363">
              <a:defRPr/>
            </a:pP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0363">
              <a:defRPr/>
            </a:pP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p2;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p3;</a:t>
            </a:r>
          </a:p>
          <a:p>
            <a:pPr marL="360363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600" dirty="0">
              <a:latin typeface="Consolas" panose="020B0609020204030204" pitchFamily="49" charset="0"/>
              <a:ea typeface="宋体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53AF2D-9747-1C27-D6A0-F92FA309AC15}"/>
              </a:ext>
            </a:extLst>
          </p:cNvPr>
          <p:cNvSpPr/>
          <p:nvPr/>
        </p:nvSpPr>
        <p:spPr>
          <a:xfrm>
            <a:off x="7086600" y="1981200"/>
            <a:ext cx="2122488" cy="6461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+mn-ea"/>
                <a:ea typeface="+mn-ea"/>
              </a:rPr>
              <a:t>基类</a:t>
            </a:r>
            <a:r>
              <a:rPr lang="zh-CN" altLang="en-US" sz="1600">
                <a:latin typeface="+mn-ea"/>
                <a:ea typeface="+mn-ea"/>
              </a:rPr>
              <a:t>指针指向</a:t>
            </a:r>
            <a:endParaRPr lang="en-US" altLang="zh-CN" sz="1600" dirty="0">
              <a:latin typeface="+mn-ea"/>
              <a:ea typeface="+mn-ea"/>
            </a:endParaRPr>
          </a:p>
          <a:p>
            <a:r>
              <a:rPr lang="zh-CN" altLang="en-US" sz="1600" dirty="0">
                <a:latin typeface="+mn-ea"/>
                <a:ea typeface="+mn-ea"/>
              </a:rPr>
              <a:t>派生</a:t>
            </a:r>
            <a:r>
              <a:rPr lang="zh-CN" altLang="en-US" sz="1600">
                <a:latin typeface="+mn-ea"/>
                <a:ea typeface="+mn-ea"/>
              </a:rPr>
              <a:t>类对象</a:t>
            </a:r>
            <a:r>
              <a:rPr lang="en-US" altLang="zh-CN" sz="1600" dirty="0" err="1">
                <a:latin typeface="+mn-ea"/>
                <a:ea typeface="+mn-ea"/>
              </a:rPr>
              <a:t>Huahua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CFAB79-60B0-4937-D840-10D56DDBE61D}"/>
              </a:ext>
            </a:extLst>
          </p:cNvPr>
          <p:cNvSpPr/>
          <p:nvPr/>
        </p:nvSpPr>
        <p:spPr>
          <a:xfrm>
            <a:off x="7467600" y="4876800"/>
            <a:ext cx="1254462" cy="86177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  <a:ea typeface="+mn-ea"/>
              </a:rPr>
              <a:t>基类引用  </a:t>
            </a:r>
            <a:endParaRPr lang="en-US" altLang="zh-CN" sz="1600" dirty="0">
              <a:latin typeface="+mn-ea"/>
              <a:ea typeface="+mn-ea"/>
            </a:endParaRPr>
          </a:p>
          <a:p>
            <a:r>
              <a:rPr lang="zh-CN" altLang="en-US" sz="1600" dirty="0">
                <a:latin typeface="+mn-ea"/>
                <a:ea typeface="+mn-ea"/>
              </a:rPr>
              <a:t>派生类对象</a:t>
            </a:r>
            <a:endParaRPr lang="en-US" altLang="zh-CN" sz="1600" dirty="0">
              <a:latin typeface="+mn-ea"/>
              <a:ea typeface="+mn-ea"/>
            </a:endParaRPr>
          </a:p>
          <a:p>
            <a:r>
              <a:rPr lang="en-US" altLang="zh-CN" sz="1600" dirty="0" err="1">
                <a:latin typeface="+mn-ea"/>
                <a:ea typeface="+mn-ea"/>
              </a:rPr>
              <a:t>Huahua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6D16373-8629-8CBC-FF5A-F6D76DAF5E04}"/>
              </a:ext>
            </a:extLst>
          </p:cNvPr>
          <p:cNvSpPr/>
          <p:nvPr/>
        </p:nvSpPr>
        <p:spPr>
          <a:xfrm>
            <a:off x="7086600" y="1258888"/>
            <a:ext cx="1620957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dirty="0">
                <a:latin typeface="+mn-ea"/>
                <a:ea typeface="+mn-ea"/>
              </a:rPr>
              <a:t>公有派生类对象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sz="1600" dirty="0">
                <a:latin typeface="+mn-ea"/>
                <a:ea typeface="+mn-ea"/>
              </a:rPr>
              <a:t>替换基类对象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1E6C31C-26ED-B033-03FD-C286322B45D1}"/>
              </a:ext>
            </a:extLst>
          </p:cNvPr>
          <p:cNvSpPr/>
          <p:nvPr/>
        </p:nvSpPr>
        <p:spPr>
          <a:xfrm>
            <a:off x="7086600" y="2743200"/>
            <a:ext cx="2114550" cy="6461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+mn-ea"/>
                <a:ea typeface="+mn-ea"/>
              </a:rPr>
              <a:t>基类指针指向</a:t>
            </a:r>
            <a:endParaRPr lang="en-US" altLang="zh-CN" sz="1600" dirty="0">
              <a:latin typeface="+mn-ea"/>
              <a:ea typeface="+mn-ea"/>
            </a:endParaRPr>
          </a:p>
          <a:p>
            <a:r>
              <a:rPr lang="zh-CN" altLang="en-US" sz="1600" dirty="0">
                <a:latin typeface="+mn-ea"/>
                <a:ea typeface="+mn-ea"/>
              </a:rPr>
              <a:t>派生类对象</a:t>
            </a:r>
            <a:r>
              <a:rPr lang="en-US" altLang="zh-CN" sz="1600" dirty="0" err="1">
                <a:latin typeface="+mn-ea"/>
                <a:ea typeface="+mn-ea"/>
              </a:rPr>
              <a:t>BenBen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E3D914-3EBC-C528-3A0A-DCEA87EDF1B1}"/>
              </a:ext>
            </a:extLst>
          </p:cNvPr>
          <p:cNvSpPr/>
          <p:nvPr/>
        </p:nvSpPr>
        <p:spPr>
          <a:xfrm>
            <a:off x="7086600" y="3429000"/>
            <a:ext cx="1589088" cy="6461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+mn-ea"/>
                <a:ea typeface="+mn-ea"/>
              </a:rPr>
              <a:t>基类指针指向</a:t>
            </a:r>
            <a:endParaRPr lang="en-US" altLang="zh-CN" sz="1600" dirty="0">
              <a:latin typeface="+mn-ea"/>
              <a:ea typeface="+mn-ea"/>
            </a:endParaRPr>
          </a:p>
          <a:p>
            <a:r>
              <a:rPr lang="zh-CN" altLang="en-US" sz="1600" dirty="0">
                <a:latin typeface="+mn-ea"/>
                <a:ea typeface="+mn-ea"/>
              </a:rPr>
              <a:t>派生类对象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FB1FB4-77CE-AFE4-CA89-B8644BAEDA48}"/>
              </a:ext>
            </a:extLst>
          </p:cNvPr>
          <p:cNvSpPr/>
          <p:nvPr/>
        </p:nvSpPr>
        <p:spPr>
          <a:xfrm>
            <a:off x="7086600" y="4154488"/>
            <a:ext cx="1415772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+mn-ea"/>
                <a:ea typeface="+mn-ea"/>
              </a:rPr>
              <a:t>基类指针指向</a:t>
            </a:r>
            <a:endParaRPr lang="en-US" altLang="zh-CN" sz="1600" dirty="0">
              <a:latin typeface="+mn-ea"/>
              <a:ea typeface="+mn-ea"/>
            </a:endParaRPr>
          </a:p>
          <a:p>
            <a:r>
              <a:rPr lang="zh-CN" altLang="en-US" sz="1600" dirty="0">
                <a:latin typeface="+mn-ea"/>
                <a:ea typeface="+mn-ea"/>
              </a:rPr>
              <a:t>派生类对象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E145DE-F063-57DA-2CEB-45D16A21930C}"/>
              </a:ext>
            </a:extLst>
          </p:cNvPr>
          <p:cNvSpPr/>
          <p:nvPr/>
        </p:nvSpPr>
        <p:spPr>
          <a:xfrm>
            <a:off x="304800" y="487740"/>
            <a:ext cx="24288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virtual 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speak()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E5B6B7B-AF1A-4816-5CC9-733716EFAD1E}"/>
              </a:ext>
            </a:extLst>
          </p:cNvPr>
          <p:cNvSpPr/>
          <p:nvPr/>
        </p:nvSpPr>
        <p:spPr>
          <a:xfrm>
            <a:off x="304800" y="1219200"/>
            <a:ext cx="17556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virtual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~Pet()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444C5E1-DF70-D38B-BA51-2FC3B97B4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471" y="1439436"/>
            <a:ext cx="2227729" cy="156966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How does a pet speak 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How does a pet speak 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How does a pet speak 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How does a pet speak 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How does a pet speak 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How does a pet speak ?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137E36-2A35-11C0-9B75-F3A396383B4B}"/>
              </a:ext>
            </a:extLst>
          </p:cNvPr>
          <p:cNvSpPr/>
          <p:nvPr/>
        </p:nvSpPr>
        <p:spPr>
          <a:xfrm>
            <a:off x="3200399" y="1447800"/>
            <a:ext cx="2209801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How does a pet speak ?</a:t>
            </a:r>
          </a:p>
          <a:p>
            <a:pPr>
              <a:defRPr/>
            </a:pPr>
            <a:r>
              <a:rPr lang="en-US" altLang="zh-CN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miao!miao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!</a:t>
            </a:r>
          </a:p>
          <a:p>
            <a:pPr>
              <a:defRPr/>
            </a:pPr>
            <a:r>
              <a:rPr lang="en-US" altLang="zh-CN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Wang!Wang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!</a:t>
            </a:r>
          </a:p>
          <a:p>
            <a:pPr>
              <a:defRPr/>
            </a:pPr>
            <a:r>
              <a:rPr lang="en-US" altLang="zh-CN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miao!miao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!</a:t>
            </a:r>
          </a:p>
          <a:p>
            <a:pPr>
              <a:defRPr/>
            </a:pPr>
            <a:r>
              <a:rPr lang="en-US" altLang="zh-CN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Wang!Wang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!</a:t>
            </a:r>
          </a:p>
          <a:p>
            <a:pPr>
              <a:defRPr/>
            </a:pPr>
            <a:r>
              <a:rPr lang="en-US" altLang="zh-CN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miao!miao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!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159DA47-F6C5-59F5-5B57-6EC31F7E6F27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017461"/>
            <a:ext cx="2913063" cy="2849938"/>
            <a:chOff x="1219216" y="3016761"/>
            <a:chExt cx="2913363" cy="2850656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1E7F2AF-C47B-871F-153B-B7424E0168CC}"/>
                </a:ext>
              </a:extLst>
            </p:cNvPr>
            <p:cNvSpPr/>
            <p:nvPr/>
          </p:nvSpPr>
          <p:spPr>
            <a:xfrm>
              <a:off x="3316520" y="3485569"/>
              <a:ext cx="816059" cy="36998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dirty="0">
                  <a:ea typeface="宋体" charset="-122"/>
                </a:rPr>
                <a:t>virtual</a:t>
              </a:r>
              <a:endParaRPr lang="zh-CN" altLang="en-US" dirty="0">
                <a:ea typeface="宋体" charset="-122"/>
              </a:endParaRP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6BA2C15D-0263-E740-6B50-D50FA11E7C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28879" y="3016761"/>
              <a:ext cx="1487641" cy="653005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C83707B9-C969-9FD8-8433-EE09EFD56A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6116" y="3855550"/>
              <a:ext cx="1680405" cy="2011867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F2EBD210-DDC8-BA5A-2EE5-507F2A2C2C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87" y="3855550"/>
              <a:ext cx="1411433" cy="1282644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D6433E25-F4AD-5BEA-2557-E59400483C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19216" y="3722167"/>
              <a:ext cx="2076664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2DD09B4-718E-2FC3-A66A-6F60F3A92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638175"/>
            <a:ext cx="7543800" cy="765175"/>
          </a:xfrm>
        </p:spPr>
        <p:txBody>
          <a:bodyPr/>
          <a:lstStyle/>
          <a:p>
            <a:pPr eaLnBrk="1" hangingPunct="1"/>
            <a:r>
              <a:rPr lang="zh-CN" altLang="en-US">
                <a:latin typeface="隶书" panose="02010509060101010101" pitchFamily="49" charset="-122"/>
              </a:rPr>
              <a:t>虚函数举例</a:t>
            </a:r>
            <a:r>
              <a:rPr lang="en-US" altLang="zh-CN">
                <a:latin typeface="隶书" panose="02010509060101010101" pitchFamily="49" charset="-122"/>
              </a:rPr>
              <a:t>2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0FADB7E-0A62-9E64-FBB0-2B66E23B91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华文楷体" panose="02010600040101010101" pitchFamily="2" charset="-122"/>
              </a:rPr>
              <a:t>两个不同版本的“公主与青蛙王子”</a:t>
            </a:r>
          </a:p>
        </p:txBody>
      </p:sp>
      <p:sp>
        <p:nvSpPr>
          <p:cNvPr id="22532" name="Text Box 5">
            <a:extLst>
              <a:ext uri="{FF2B5EF4-FFF2-40B4-BE49-F238E27FC236}">
                <a16:creationId xmlns:a16="http://schemas.microsoft.com/office/drawing/2014/main" id="{0FE6B7AB-94DC-5E4D-1A0D-3FF7D6D8A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912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358D902-11FE-ACA9-8DCA-14AC9B1896F2}"/>
              </a:ext>
            </a:extLst>
          </p:cNvPr>
          <p:cNvSpPr/>
          <p:nvPr/>
        </p:nvSpPr>
        <p:spPr>
          <a:xfrm>
            <a:off x="0" y="76200"/>
            <a:ext cx="4572000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FairyTale</a:t>
            </a:r>
            <a:endParaRPr lang="en-US" altLang="zh-C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act1()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"Princess meets Frog" 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act2();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act2()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"Princess kisses Frog"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act3();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virtual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act3()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"Frog turns into Prince"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act4();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act4() //</a:t>
            </a:r>
            <a:r>
              <a:rPr lang="zh-CN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这里不需要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virtual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"They lives happily ever after" 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act5();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act5()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 End"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virtual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~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FairyTale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{}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3953F3-913D-C810-233F-38B6FCB5235F}"/>
              </a:ext>
            </a:extLst>
          </p:cNvPr>
          <p:cNvSpPr/>
          <p:nvPr/>
        </p:nvSpPr>
        <p:spPr>
          <a:xfrm>
            <a:off x="4572000" y="76200"/>
            <a:ext cx="4495800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UnhappyTale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FairyTale</a:t>
            </a:r>
            <a:endParaRPr lang="en-US" altLang="zh-C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act3()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"Frog stays a frog"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act4();//</a:t>
            </a:r>
            <a:r>
              <a:rPr lang="zh-CN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由于作用域，直接调用下面的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act4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act4()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"Princess runs away in disgust"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act5();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act5()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"not so happy end"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virtual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~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UnhappyTale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{}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0C3AD6-953B-7B47-B1CF-D602B5D172C4}"/>
              </a:ext>
            </a:extLst>
          </p:cNvPr>
          <p:cNvSpPr/>
          <p:nvPr/>
        </p:nvSpPr>
        <p:spPr>
          <a:xfrm>
            <a:off x="457201" y="4365010"/>
            <a:ext cx="4648200" cy="249299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FairyTale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 tale;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c;</a:t>
            </a:r>
          </a:p>
          <a:p>
            <a:pPr marL="266700">
              <a:defRPr/>
            </a:pP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"Which tale would you like to hear(f/u?)"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cin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(c==</a:t>
            </a:r>
            <a:r>
              <a:rPr lang="en-US" altLang="zh-C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'f’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531813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tale = 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FairyTale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else</a:t>
            </a:r>
            <a:endParaRPr lang="en-US" altLang="zh-C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531813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tale = 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UnhappyTale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tale-&gt;act1();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tale;</a:t>
            </a:r>
          </a:p>
          <a:p>
            <a:pPr marL="266700">
              <a:defRPr/>
            </a:pP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08FEFE-6848-CDA7-3155-B42CFAABD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276600"/>
            <a:ext cx="3657600" cy="156966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Which tale would you like to hear(f/u?)f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Princess meets Frog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Princess kisses Frog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Frog turns into Prince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They lives happily ever after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End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3CB481-D158-7363-EAC8-D993D5E52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675" y="4942522"/>
            <a:ext cx="3657600" cy="156966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Which tale would you like to hear(f/u?)u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Princess meets Frog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Princess kisses Frog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Frog stays a frog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Princess runs away in disgust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not so happy end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3D7503A-83CD-2292-01D1-B1D4B20A9641}"/>
              </a:ext>
            </a:extLst>
          </p:cNvPr>
          <p:cNvSpPr/>
          <p:nvPr/>
        </p:nvSpPr>
        <p:spPr>
          <a:xfrm>
            <a:off x="304800" y="1951007"/>
            <a:ext cx="685800" cy="182593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A040398-7EA4-5CCA-5F00-E5F80411B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638175"/>
            <a:ext cx="7543800" cy="765175"/>
          </a:xfrm>
        </p:spPr>
        <p:txBody>
          <a:bodyPr/>
          <a:lstStyle/>
          <a:p>
            <a:pPr eaLnBrk="1" hangingPunct="1"/>
            <a:r>
              <a:rPr lang="zh-CN" altLang="en-US">
                <a:latin typeface="隶书" panose="02010509060101010101" pitchFamily="49" charset="-122"/>
              </a:rPr>
              <a:t>虚函数的使用限制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2A95372-61E9-C858-9B9E-C11186550C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676400"/>
            <a:ext cx="7543800" cy="1752600"/>
          </a:xfrm>
        </p:spPr>
        <p:txBody>
          <a:bodyPr/>
          <a:lstStyle/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通过</a:t>
            </a:r>
            <a:r>
              <a:rPr lang="zh-CN" altLang="en-US">
                <a:solidFill>
                  <a:srgbClr val="C00000"/>
                </a:solidFill>
                <a:latin typeface="华文楷体" panose="02010600040101010101" pitchFamily="2" charset="-122"/>
              </a:rPr>
              <a:t>基类的指针、引用</a:t>
            </a:r>
            <a:r>
              <a:rPr lang="zh-CN" altLang="en-US">
                <a:latin typeface="华文楷体" panose="02010600040101010101" pitchFamily="2" charset="-122"/>
              </a:rPr>
              <a:t>调用子类虚函数；</a:t>
            </a:r>
          </a:p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通过</a:t>
            </a:r>
            <a:r>
              <a:rPr lang="zh-CN" altLang="en-US">
                <a:solidFill>
                  <a:srgbClr val="C00000"/>
                </a:solidFill>
                <a:latin typeface="华文楷体" panose="02010600040101010101" pitchFamily="2" charset="-122"/>
              </a:rPr>
              <a:t>基类对象名</a:t>
            </a:r>
            <a:r>
              <a:rPr lang="zh-CN" altLang="en-US" b="1">
                <a:solidFill>
                  <a:srgbClr val="FF0000"/>
                </a:solidFill>
                <a:latin typeface="华文楷体" panose="02010600040101010101" pitchFamily="2" charset="-122"/>
              </a:rPr>
              <a:t>不能</a:t>
            </a:r>
            <a:r>
              <a:rPr lang="zh-CN" altLang="en-US">
                <a:latin typeface="华文楷体" panose="02010600040101010101" pitchFamily="2" charset="-122"/>
              </a:rPr>
              <a:t>调用到子类虚函数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AB898A02-23D0-1B69-5F59-AB07F1CFE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200400"/>
            <a:ext cx="5257800" cy="17907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 Pet 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obj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;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 Dog 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Benben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;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obj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= 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Benben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;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obj.speak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();       //</a:t>
            </a:r>
            <a:r>
              <a:rPr kumimoji="1" lang="zh-CN" altLang="en-US" sz="2400" dirty="0">
                <a:solidFill>
                  <a:schemeClr val="tx2"/>
                </a:solidFill>
                <a:latin typeface="Arial" charset="0"/>
              </a:rPr>
              <a:t>调用基类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speak()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9FA1DB-2E02-1BEC-A7EF-FCF6E5193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5140325"/>
            <a:ext cx="3048000" cy="36988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How does a pet speak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2D69F75-E66D-E6FD-28FB-18AA26E229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638175"/>
            <a:ext cx="7543800" cy="765175"/>
          </a:xfrm>
        </p:spPr>
        <p:txBody>
          <a:bodyPr/>
          <a:lstStyle/>
          <a:p>
            <a:pPr eaLnBrk="1" hangingPunct="1"/>
            <a:r>
              <a:rPr lang="zh-CN" altLang="en-US">
                <a:latin typeface="隶书" panose="02010509060101010101" pitchFamily="49" charset="-122"/>
              </a:rPr>
              <a:t>虚函数的使用限制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A870C46-281F-427E-2DA8-081E9F8418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3000" y="1495425"/>
            <a:ext cx="7124700" cy="1247775"/>
          </a:xfrm>
        </p:spPr>
        <p:txBody>
          <a:bodyPr/>
          <a:lstStyle/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通过变量的引用调用虚函数有缺陷</a:t>
            </a:r>
            <a:r>
              <a:rPr lang="en-US" altLang="zh-CN">
                <a:latin typeface="华文楷体" panose="02010600040101010101" pitchFamily="2" charset="-122"/>
              </a:rPr>
              <a:t>:</a:t>
            </a:r>
          </a:p>
          <a:p>
            <a:pPr lvl="1"/>
            <a:r>
              <a:rPr lang="zh-CN" altLang="en-US"/>
              <a:t>引用一旦初始化后，就无法重新赋值</a:t>
            </a: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8D6B2E0E-E280-3BDF-3A9D-433E8DC0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895600"/>
            <a:ext cx="7086600" cy="31083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 Dog </a:t>
            </a:r>
            <a:r>
              <a:rPr kumimoji="1" lang="en-US" altLang="zh-CN" sz="2800" dirty="0" err="1">
                <a:solidFill>
                  <a:schemeClr val="tx2"/>
                </a:solidFill>
                <a:latin typeface="Arial" charset="0"/>
              </a:rPr>
              <a:t>Benben</a:t>
            </a: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;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 Cat </a:t>
            </a:r>
            <a:r>
              <a:rPr kumimoji="1" lang="en-US" altLang="zh-CN" sz="2800" dirty="0" err="1">
                <a:solidFill>
                  <a:schemeClr val="tx2"/>
                </a:solidFill>
                <a:latin typeface="Arial" charset="0"/>
              </a:rPr>
              <a:t>Huahua</a:t>
            </a: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;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 Pet &amp;r=</a:t>
            </a:r>
            <a:r>
              <a:rPr kumimoji="1" lang="en-US" altLang="zh-CN" sz="2800" dirty="0" err="1">
                <a:solidFill>
                  <a:schemeClr val="tx2"/>
                </a:solidFill>
                <a:latin typeface="Arial" charset="0"/>
              </a:rPr>
              <a:t>Benben</a:t>
            </a: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;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kumimoji="1" lang="en-US" altLang="zh-CN" sz="2800" dirty="0" err="1">
                <a:solidFill>
                  <a:schemeClr val="tx2"/>
                </a:solidFill>
                <a:latin typeface="Arial" charset="0"/>
              </a:rPr>
              <a:t>r.speak</a:t>
            </a: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();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 r=</a:t>
            </a:r>
            <a:r>
              <a:rPr kumimoji="1" lang="en-US" altLang="zh-CN" sz="2800" dirty="0" err="1">
                <a:solidFill>
                  <a:schemeClr val="tx2"/>
                </a:solidFill>
                <a:latin typeface="Arial" charset="0"/>
              </a:rPr>
              <a:t>Huahua</a:t>
            </a: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;         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//error, </a:t>
            </a:r>
            <a:r>
              <a:rPr kumimoji="1" lang="zh-CN" altLang="en-US" sz="2000" dirty="0">
                <a:solidFill>
                  <a:srgbClr val="FF0000"/>
                </a:solidFill>
                <a:latin typeface="Arial" charset="0"/>
              </a:rPr>
              <a:t>引用一旦初始化，不可改变</a:t>
            </a:r>
            <a:endParaRPr kumimoji="1" lang="en-US" altLang="zh-CN" sz="2000" dirty="0">
              <a:solidFill>
                <a:srgbClr val="FF0000"/>
              </a:solidFill>
              <a:latin typeface="Arial" charset="0"/>
            </a:endParaRP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kumimoji="1" lang="en-US" altLang="zh-CN" sz="2800" dirty="0" err="1">
                <a:solidFill>
                  <a:schemeClr val="tx2"/>
                </a:solidFill>
                <a:latin typeface="Arial" charset="0"/>
              </a:rPr>
              <a:t>r.speak</a:t>
            </a: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();</a:t>
            </a:r>
            <a:endParaRPr kumimoji="1" lang="en-US" altLang="zh-CN" sz="24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2" name="乘号 1">
            <a:extLst>
              <a:ext uri="{FF2B5EF4-FFF2-40B4-BE49-F238E27FC236}">
                <a16:creationId xmlns:a16="http://schemas.microsoft.com/office/drawing/2014/main" id="{C3CFE00B-5F74-7D9A-DC77-63FD4273084E}"/>
              </a:ext>
            </a:extLst>
          </p:cNvPr>
          <p:cNvSpPr/>
          <p:nvPr/>
        </p:nvSpPr>
        <p:spPr>
          <a:xfrm>
            <a:off x="2971800" y="4953000"/>
            <a:ext cx="533400" cy="762000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1D3D2C3-8E29-F308-FA23-AA55A14043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305800" cy="765175"/>
          </a:xfrm>
        </p:spPr>
        <p:txBody>
          <a:bodyPr/>
          <a:lstStyle/>
          <a:p>
            <a:pPr eaLnBrk="1" hangingPunct="1"/>
            <a:r>
              <a:rPr lang="zh-CN" altLang="en-US">
                <a:latin typeface="隶书" panose="02010509060101010101" pitchFamily="49" charset="-122"/>
              </a:rPr>
              <a:t>通过引用调用虚函数的一般方法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B63F067-86E4-8CF9-5580-DBED9CC2CA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052513"/>
            <a:ext cx="7124700" cy="776287"/>
          </a:xfrm>
        </p:spPr>
        <p:txBody>
          <a:bodyPr/>
          <a:lstStyle/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通过函数调用，函数形参是引用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DA9A1FEC-986F-6ED5-9249-1FFD19813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905000"/>
            <a:ext cx="6858000" cy="444976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void  fun(Pet&amp; 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pe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)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{	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pe.speak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();      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}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int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 main()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{	Dog 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Benben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;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	 fun(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Benben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);	//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itchFamily="18" charset="0"/>
              </a:rPr>
              <a:t>”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wang!wang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!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itchFamily="18" charset="0"/>
              </a:rPr>
              <a:t>”</a:t>
            </a:r>
            <a:endParaRPr kumimoji="1" lang="en-US" altLang="zh-CN" sz="2400" dirty="0">
              <a:solidFill>
                <a:schemeClr val="tx2"/>
              </a:solidFill>
              <a:latin typeface="Arial" charset="0"/>
            </a:endParaRP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	Cat 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Huahua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;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	fun(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Huahua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);	       	//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itchFamily="18" charset="0"/>
              </a:rPr>
              <a:t>”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charset="0"/>
              </a:rPr>
              <a:t>miao!miao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!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itchFamily="18" charset="0"/>
              </a:rPr>
              <a:t>”</a:t>
            </a:r>
            <a:endParaRPr kumimoji="1" lang="en-US" altLang="zh-CN" sz="2400" dirty="0">
              <a:solidFill>
                <a:schemeClr val="tx2"/>
              </a:solidFill>
              <a:latin typeface="Arial" charset="0"/>
            </a:endParaRP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	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itchFamily="18" charset="0"/>
              </a:rPr>
              <a:t>……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   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 }</a:t>
            </a:r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id="{9961E52B-4E1D-D199-88B3-EACDEEF27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56388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DBF4C14-E44E-A918-9361-AF96B3817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543800" cy="698500"/>
          </a:xfrm>
        </p:spPr>
        <p:txBody>
          <a:bodyPr/>
          <a:lstStyle/>
          <a:p>
            <a:pPr eaLnBrk="1" hangingPunct="1"/>
            <a:r>
              <a:rPr lang="zh-CN" altLang="en-US">
                <a:latin typeface="隶书" panose="02010509060101010101" pitchFamily="49" charset="-122"/>
              </a:rPr>
              <a:t>区分虚函数与函数重载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4718B13-4E93-6AB4-695E-7CC0090151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1150" y="914400"/>
            <a:ext cx="5784850" cy="685800"/>
          </a:xfrm>
        </p:spPr>
        <p:txBody>
          <a:bodyPr/>
          <a:lstStyle/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虚函数比函数重载严格</a:t>
            </a:r>
            <a:endParaRPr lang="en-US" altLang="zh-CN">
              <a:latin typeface="华文楷体" panose="02010600040101010101" pitchFamily="2" charset="-122"/>
            </a:endParaRP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3D455519-F9EE-885F-E9C9-4B14DBE54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50" y="3946525"/>
            <a:ext cx="6775450" cy="195103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marL="7938" lvl="1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 Cat</a:t>
            </a:r>
            <a:r>
              <a:rPr kumimoji="1" lang="zh-CN" altLang="en-US" sz="2000" dirty="0">
                <a:solidFill>
                  <a:schemeClr val="tx2"/>
                </a:solidFill>
                <a:latin typeface="Arial" charset="0"/>
              </a:rPr>
              <a:t>类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speak()</a:t>
            </a:r>
            <a:r>
              <a:rPr kumimoji="1" lang="zh-CN" altLang="en-US" sz="2000" dirty="0">
                <a:solidFill>
                  <a:schemeClr val="tx2"/>
                </a:solidFill>
                <a:latin typeface="Arial" charset="0"/>
              </a:rPr>
              <a:t>更改为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speak(</a:t>
            </a:r>
            <a:r>
              <a:rPr kumimoji="1" lang="en-US" altLang="zh-CN" sz="2000" dirty="0" err="1">
                <a:solidFill>
                  <a:schemeClr val="tx2"/>
                </a:solidFill>
                <a:latin typeface="Arial" charset="0"/>
              </a:rPr>
              <a:t>int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kumimoji="1" lang="en-US" altLang="zh-CN" sz="2000" dirty="0" err="1">
                <a:solidFill>
                  <a:schemeClr val="tx2"/>
                </a:solidFill>
                <a:latin typeface="Arial" charset="0"/>
              </a:rPr>
              <a:t>i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)</a:t>
            </a:r>
            <a:r>
              <a:rPr kumimoji="1" lang="en-US" altLang="zh-CN" sz="2000" dirty="0">
                <a:solidFill>
                  <a:schemeClr val="tx2"/>
                </a:solidFill>
                <a:latin typeface="Times New Roman" pitchFamily="18" charset="0"/>
              </a:rPr>
              <a:t>……</a:t>
            </a:r>
            <a:endParaRPr kumimoji="1" lang="en-US" altLang="zh-CN" sz="2000" dirty="0">
              <a:solidFill>
                <a:schemeClr val="tx2"/>
              </a:solidFill>
              <a:latin typeface="Arial" charset="0"/>
            </a:endParaRPr>
          </a:p>
          <a:p>
            <a:pPr marL="7938" lvl="1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 Cat cc;</a:t>
            </a:r>
          </a:p>
          <a:p>
            <a:pPr marL="7938" lvl="1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 Pet * </a:t>
            </a:r>
            <a:r>
              <a:rPr kumimoji="1" lang="en-US" altLang="zh-CN" sz="2000" dirty="0" err="1">
                <a:solidFill>
                  <a:schemeClr val="tx2"/>
                </a:solidFill>
                <a:latin typeface="Arial" charset="0"/>
              </a:rPr>
              <a:t>ptr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;</a:t>
            </a:r>
          </a:p>
          <a:p>
            <a:pPr marL="7938" lvl="1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kumimoji="1" lang="en-US" altLang="zh-CN" sz="2000" dirty="0" err="1">
                <a:solidFill>
                  <a:schemeClr val="tx2"/>
                </a:solidFill>
                <a:latin typeface="Arial" charset="0"/>
              </a:rPr>
              <a:t>ptr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=&amp;cc;</a:t>
            </a:r>
          </a:p>
          <a:p>
            <a:pPr marL="7938" lvl="1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kumimoji="1" lang="en-US" altLang="zh-CN" sz="2000" dirty="0" err="1">
                <a:solidFill>
                  <a:schemeClr val="tx2"/>
                </a:solidFill>
                <a:latin typeface="Arial" charset="0"/>
              </a:rPr>
              <a:t>ptr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-&gt;speak();        </a:t>
            </a:r>
            <a:r>
              <a:rPr kumimoji="1" lang="en-US" altLang="zh-CN" sz="1600" dirty="0">
                <a:solidFill>
                  <a:schemeClr val="tx2"/>
                </a:solidFill>
                <a:latin typeface="Arial" charset="0"/>
              </a:rPr>
              <a:t>//</a:t>
            </a:r>
            <a:r>
              <a:rPr kumimoji="1" lang="zh-CN" altLang="en-US" sz="1600" dirty="0">
                <a:solidFill>
                  <a:schemeClr val="tx2"/>
                </a:solidFill>
                <a:latin typeface="Arial" charset="0"/>
              </a:rPr>
              <a:t>调用</a:t>
            </a:r>
            <a:r>
              <a:rPr kumimoji="1" lang="en-US" altLang="zh-CN" sz="1600" dirty="0">
                <a:solidFill>
                  <a:schemeClr val="tx2"/>
                </a:solidFill>
                <a:latin typeface="Arial" charset="0"/>
              </a:rPr>
              <a:t>Pet</a:t>
            </a:r>
            <a:r>
              <a:rPr kumimoji="1" lang="zh-CN" altLang="en-US" sz="1600" dirty="0">
                <a:solidFill>
                  <a:schemeClr val="tx2"/>
                </a:solidFill>
                <a:latin typeface="Arial" charset="0"/>
              </a:rPr>
              <a:t>类</a:t>
            </a:r>
            <a:r>
              <a:rPr kumimoji="1" lang="en-US" altLang="zh-CN" sz="1600" dirty="0">
                <a:solidFill>
                  <a:schemeClr val="tx2"/>
                </a:solidFill>
                <a:latin typeface="Arial" charset="0"/>
              </a:rPr>
              <a:t>speak()</a:t>
            </a:r>
            <a:r>
              <a:rPr kumimoji="1" lang="zh-CN" altLang="en-US" sz="1600" dirty="0">
                <a:solidFill>
                  <a:schemeClr val="tx2"/>
                </a:solidFill>
                <a:latin typeface="Arial" charset="0"/>
              </a:rPr>
              <a:t>函数</a:t>
            </a:r>
            <a:r>
              <a:rPr kumimoji="1" lang="en-US" altLang="zh-CN" sz="1600" dirty="0">
                <a:solidFill>
                  <a:schemeClr val="tx2"/>
                </a:solidFill>
                <a:latin typeface="Arial" charset="0"/>
              </a:rPr>
              <a:t>:  “How des a pet speak?”</a:t>
            </a:r>
            <a:endParaRPr kumimoji="1" lang="en-US" altLang="zh-CN" sz="20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27653" name="矩形 1">
            <a:extLst>
              <a:ext uri="{FF2B5EF4-FFF2-40B4-BE49-F238E27FC236}">
                <a16:creationId xmlns:a16="http://schemas.microsoft.com/office/drawing/2014/main" id="{054D6CBB-9341-2A75-F826-312C8DB52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352800"/>
            <a:ext cx="55356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buClr>
                <a:srgbClr val="477AB1"/>
              </a:buClr>
            </a:pPr>
            <a:r>
              <a:rPr lang="zh-CN" altLang="en-US">
                <a:solidFill>
                  <a:srgbClr val="000000"/>
                </a:solidFill>
                <a:latin typeface="华文楷体" panose="02010600040101010101" pitchFamily="2" charset="-122"/>
              </a:rPr>
              <a:t>考察如下代码：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48BDD18-3A18-03D1-1B35-361CB43DB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250623"/>
              </p:ext>
            </p:extLst>
          </p:nvPr>
        </p:nvGraphicFramePr>
        <p:xfrm>
          <a:off x="609600" y="1606550"/>
          <a:ext cx="6096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返回值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函数名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形参表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虚函数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相同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相同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相同</a:t>
                      </a:r>
                      <a:endParaRPr lang="en-US" altLang="zh-CN" sz="24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函数重载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相同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不同</a:t>
                      </a:r>
                      <a:endParaRPr lang="en-US" altLang="zh-CN" sz="24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函数重写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相同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相同</a:t>
                      </a:r>
                      <a:endParaRPr lang="en-US" altLang="zh-CN" sz="24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285845"/>
                  </a:ext>
                </a:extLst>
              </a:tr>
            </a:tbl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D57E8EE-43A1-7819-EF0A-7D0F3B28BF84}"/>
              </a:ext>
            </a:extLst>
          </p:cNvPr>
          <p:cNvCxnSpPr>
            <a:cxnSpLocks/>
          </p:cNvCxnSpPr>
          <p:nvPr/>
        </p:nvCxnSpPr>
        <p:spPr>
          <a:xfrm>
            <a:off x="2168525" y="2514600"/>
            <a:ext cx="1489075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77" name="矩形 7">
            <a:extLst>
              <a:ext uri="{FF2B5EF4-FFF2-40B4-BE49-F238E27FC236}">
                <a16:creationId xmlns:a16="http://schemas.microsoft.com/office/drawing/2014/main" id="{E637CA11-6ADB-CC54-1C58-B8EED9840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098675"/>
            <a:ext cx="2236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华文楷体" panose="02010600040101010101" pitchFamily="2" charset="-122"/>
              </a:rPr>
              <a:t>函数原型完全一致</a:t>
            </a:r>
            <a:endParaRPr lang="zh-CN" altLang="en-US" sz="1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78" name="矩形 13">
            <a:extLst>
              <a:ext uri="{FF2B5EF4-FFF2-40B4-BE49-F238E27FC236}">
                <a16:creationId xmlns:a16="http://schemas.microsoft.com/office/drawing/2014/main" id="{A8E07D3E-D27C-CDDC-EDEF-2B40D4A9F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571750"/>
            <a:ext cx="1979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华文楷体" panose="02010600040101010101" pitchFamily="2" charset="-122"/>
              </a:rPr>
              <a:t>函数原型不一致</a:t>
            </a:r>
            <a:endParaRPr lang="zh-CN" altLang="en-US" sz="1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" name="直接连接符 4">
            <a:extLst>
              <a:ext uri="{FF2B5EF4-FFF2-40B4-BE49-F238E27FC236}">
                <a16:creationId xmlns:a16="http://schemas.microsoft.com/office/drawing/2014/main" id="{AD008F61-3E2C-3F49-83F5-EB4F514A435D}"/>
              </a:ext>
            </a:extLst>
          </p:cNvPr>
          <p:cNvCxnSpPr>
            <a:cxnSpLocks/>
          </p:cNvCxnSpPr>
          <p:nvPr/>
        </p:nvCxnSpPr>
        <p:spPr>
          <a:xfrm>
            <a:off x="2168524" y="2994025"/>
            <a:ext cx="1489075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13A7C01-CBED-A29D-37EF-BFD408FA58A1}"/>
              </a:ext>
            </a:extLst>
          </p:cNvPr>
          <p:cNvSpPr/>
          <p:nvPr/>
        </p:nvSpPr>
        <p:spPr>
          <a:xfrm>
            <a:off x="316849" y="838200"/>
            <a:ext cx="5779151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virtual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speak()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"How does a pet speak?"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virtual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~Pet() { }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A95706-3DA1-96AD-9025-4E897D52DDD3}"/>
              </a:ext>
            </a:extLst>
          </p:cNvPr>
          <p:cNvSpPr/>
          <p:nvPr/>
        </p:nvSpPr>
        <p:spPr>
          <a:xfrm>
            <a:off x="316849" y="2972813"/>
            <a:ext cx="4483751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speak()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miao!miao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!"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~Cat() { }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B78E5E-0051-665E-6D36-82EE893CE0BE}"/>
              </a:ext>
            </a:extLst>
          </p:cNvPr>
          <p:cNvSpPr/>
          <p:nvPr/>
        </p:nvSpPr>
        <p:spPr>
          <a:xfrm>
            <a:off x="914400" y="4749462"/>
            <a:ext cx="441960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speak()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Wang!Wang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!"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~Dog() { }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F26335-DB3A-1E67-E04E-96B9E52ADFBD}"/>
              </a:ext>
            </a:extLst>
          </p:cNvPr>
          <p:cNvSpPr/>
          <p:nvPr/>
        </p:nvSpPr>
        <p:spPr>
          <a:xfrm>
            <a:off x="5029200" y="2995376"/>
            <a:ext cx="4483752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Bird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speak()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JiJiZhaZha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!"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9263"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~Bird() { }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28678" name="标题 1">
            <a:extLst>
              <a:ext uri="{FF2B5EF4-FFF2-40B4-BE49-F238E27FC236}">
                <a16:creationId xmlns:a16="http://schemas.microsoft.com/office/drawing/2014/main" id="{4BF9FC44-27FA-4375-CC9C-8C42A1C2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" y="-152400"/>
            <a:ext cx="8991600" cy="1143000"/>
          </a:xfrm>
        </p:spPr>
        <p:txBody>
          <a:bodyPr/>
          <a:lstStyle/>
          <a:p>
            <a:r>
              <a:rPr lang="zh-CN" altLang="en-US" sz="3600" dirty="0"/>
              <a:t>指针调用虚函数的一般用法举例：</a:t>
            </a:r>
            <a:br>
              <a:rPr lang="en-US" altLang="zh-CN" sz="3600" dirty="0"/>
            </a:br>
            <a:r>
              <a:rPr lang="zh-CN" altLang="en-US" sz="3600" dirty="0"/>
              <a:t>宠物类异构数组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BE5ECA9-ACCD-A27B-9367-82B7AD875974}"/>
              </a:ext>
            </a:extLst>
          </p:cNvPr>
          <p:cNvSpPr/>
          <p:nvPr/>
        </p:nvSpPr>
        <p:spPr>
          <a:xfrm>
            <a:off x="76200" y="76200"/>
            <a:ext cx="6400800" cy="677108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MyPets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[3];	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华文楷体" panose="02010600040101010101" pitchFamily="2" charset="-122"/>
              </a:rPr>
              <a:t>//</a:t>
            </a:r>
            <a:r>
              <a:rPr lang="zh-CN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华文楷体" panose="02010600040101010101" pitchFamily="2" charset="-122"/>
              </a:rPr>
              <a:t>宠物类指针数组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华文楷体" panose="02010600040101010101" pitchFamily="2" charset="-122"/>
            </a:endParaRPr>
          </a:p>
          <a:p>
            <a:pPr marL="444500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c;</a:t>
            </a:r>
          </a:p>
          <a:p>
            <a:pPr marL="444500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=0;i&lt;3;i++)</a:t>
            </a:r>
          </a:p>
          <a:p>
            <a:pPr marL="444500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"which pet do you 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have?C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(Cat),D(Dog),B(Bird):"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901700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cin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c;</a:t>
            </a:r>
          </a:p>
          <a:p>
            <a:pPr marL="901700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switch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(c)</a:t>
            </a:r>
          </a:p>
          <a:p>
            <a:pPr marL="901700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 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'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C'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'c'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 </a:t>
            </a:r>
          </a:p>
          <a:p>
            <a:pPr marL="1612900" defTabSz="1346200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MyPets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]=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1612900" defTabSz="1346200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Creat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 Cat !\n"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1612900" defTabSz="1346200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break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1346200" defTabSz="1346200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'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D'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'd'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 </a:t>
            </a:r>
          </a:p>
          <a:p>
            <a:pPr marL="1612900" defTabSz="1346200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MyPets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]=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Dog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1612900" defTabSz="1346200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Creat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 Dog !\n"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1612900" defTabSz="1346200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break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1346200" defTabSz="1346200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'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B'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'b'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 </a:t>
            </a:r>
          </a:p>
          <a:p>
            <a:pPr marL="1612900" defTabSz="1346200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MyPets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]=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Bird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1612900" defTabSz="1346200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Creat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 Bird !\n"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1612900" defTabSz="1346200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break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1346200" defTabSz="1346200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1612900" defTabSz="1346200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MyPets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]=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1612900" defTabSz="1346200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Creat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 Pet !\n"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1612900" defTabSz="1346200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break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901700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4500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4500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=0;i&lt;3;i++)</a:t>
            </a:r>
          </a:p>
          <a:p>
            <a:pPr marL="723900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MyPets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]-&gt;speak();</a:t>
            </a:r>
          </a:p>
          <a:p>
            <a:pPr marL="444500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=0;i&lt;3;i++) </a:t>
            </a:r>
          </a:p>
          <a:p>
            <a:pPr marL="723900">
              <a:defRPr/>
            </a:pP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MyPets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];</a:t>
            </a:r>
          </a:p>
          <a:p>
            <a:pPr marL="444500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025872-F511-3640-8510-B49F17431BC3}"/>
              </a:ext>
            </a:extLst>
          </p:cNvPr>
          <p:cNvSpPr txBox="1"/>
          <p:nvPr/>
        </p:nvSpPr>
        <p:spPr>
          <a:xfrm>
            <a:off x="6781800" y="762000"/>
            <a:ext cx="18796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MyPets</a:t>
            </a:r>
            <a:r>
              <a:rPr kumimoji="1" lang="en-US" altLang="zh-CN" dirty="0"/>
              <a:t> </a:t>
            </a:r>
            <a:r>
              <a:rPr kumimoji="1" lang="zh-CN" altLang="en-US" dirty="0"/>
              <a:t>是</a:t>
            </a:r>
            <a:r>
              <a:rPr kumimoji="1" lang="en-US" altLang="zh-CN" dirty="0"/>
              <a:t>Pet**</a:t>
            </a:r>
          </a:p>
          <a:p>
            <a:endParaRPr kumimoji="1" lang="en-US" altLang="zh-CN" dirty="0"/>
          </a:p>
          <a:p>
            <a:r>
              <a:rPr kumimoji="1" lang="en-US" altLang="zh-CN" dirty="0" err="1"/>
              <a:t>MyPets</a:t>
            </a:r>
            <a:r>
              <a:rPr kumimoji="1" lang="en-US" altLang="zh-CN" dirty="0"/>
              <a:t>[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] </a:t>
            </a:r>
            <a:r>
              <a:rPr kumimoji="1" lang="zh-CN" altLang="en-US" dirty="0"/>
              <a:t>是</a:t>
            </a:r>
            <a:r>
              <a:rPr kumimoji="1" lang="en-US" altLang="zh-CN" dirty="0"/>
              <a:t>Pet*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F49D2A5-3FC9-F892-4968-A20E13FA1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543800" cy="765175"/>
          </a:xfrm>
        </p:spPr>
        <p:txBody>
          <a:bodyPr/>
          <a:lstStyle/>
          <a:p>
            <a:pPr eaLnBrk="1" hangingPunct="1"/>
            <a:r>
              <a:rPr lang="zh-CN" altLang="en-US">
                <a:latin typeface="隶书" panose="02010509060101010101" pitchFamily="49" charset="-122"/>
              </a:rPr>
              <a:t>虚析构函数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F24047A-F615-6ACC-EE29-8358F97063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610600" cy="5029200"/>
          </a:xfrm>
        </p:spPr>
        <p:txBody>
          <a:bodyPr/>
          <a:lstStyle/>
          <a:p>
            <a:pPr eaLnBrk="1" hangingPunct="1"/>
            <a:r>
              <a:rPr lang="zh-CN" altLang="en-US" sz="2800">
                <a:latin typeface="华文楷体" panose="02010600040101010101" pitchFamily="2" charset="-122"/>
              </a:rPr>
              <a:t>不能定义虚构造函数</a:t>
            </a:r>
          </a:p>
          <a:p>
            <a:pPr lvl="1"/>
            <a:r>
              <a:rPr lang="zh-CN" altLang="en-US" sz="2400"/>
              <a:t>构造函数在对象产生之前调用，而多态性在对象产生前和消亡后都没有意义</a:t>
            </a:r>
          </a:p>
          <a:p>
            <a:pPr eaLnBrk="1" hangingPunct="1"/>
            <a:r>
              <a:rPr lang="zh-CN" altLang="en-US" sz="2800">
                <a:latin typeface="华文楷体" panose="02010600040101010101" pitchFamily="2" charset="-122"/>
              </a:rPr>
              <a:t>可以定义虚析构函数</a:t>
            </a:r>
          </a:p>
          <a:p>
            <a:pPr lvl="1"/>
            <a:r>
              <a:rPr lang="zh-CN" altLang="en-US" sz="2400"/>
              <a:t>基类指针能调用适当的析构函数对不同的对象进行善后工作</a:t>
            </a:r>
          </a:p>
          <a:p>
            <a:pPr lvl="1"/>
            <a:r>
              <a:rPr lang="zh-CN" altLang="en-US" sz="2400"/>
              <a:t>一般地将，若某类中定义有虚函数，则其析构函数也应当说明为虚函数。特别是在析构函数需要完成一些有意义的操作</a:t>
            </a:r>
            <a:r>
              <a:rPr lang="en-US" altLang="zh-CN" sz="2400"/>
              <a:t>——</a:t>
            </a:r>
            <a:r>
              <a:rPr lang="zh-CN" altLang="en-US" sz="2400"/>
              <a:t>比如释放内存时，尤其应当如此</a:t>
            </a:r>
          </a:p>
          <a:p>
            <a:pPr lvl="1"/>
            <a:r>
              <a:rPr lang="zh-CN" altLang="en-US" sz="2400"/>
              <a:t>若基类的析构函数是虚函数，则其派生类的析构函数也是虚函数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0E15AFD-5083-104B-CA29-6A61CBBCAB51}"/>
              </a:ext>
            </a:extLst>
          </p:cNvPr>
          <p:cNvSpPr/>
          <p:nvPr/>
        </p:nvSpPr>
        <p:spPr>
          <a:xfrm>
            <a:off x="5542" y="0"/>
            <a:ext cx="4577542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Base()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"Base constructor\n"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pt-BR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virtual</a:t>
            </a:r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~Base() </a:t>
            </a:r>
          </a:p>
          <a:p>
            <a:pPr marL="266700">
              <a:defRPr/>
            </a:pPr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cout </a:t>
            </a:r>
            <a:r>
              <a:rPr lang="pt-BR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pt-BR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"Base destructor\n"</a:t>
            </a:r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266700">
              <a:defRPr/>
            </a:pPr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0772B5-E90E-3524-7093-DBEFFEEC3027}"/>
              </a:ext>
            </a:extLst>
          </p:cNvPr>
          <p:cNvSpPr/>
          <p:nvPr/>
        </p:nvSpPr>
        <p:spPr>
          <a:xfrm>
            <a:off x="5542" y="2380595"/>
            <a:ext cx="5741806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i_pointer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Derived();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~Derived();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::Derived()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i_pointer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(0);</a:t>
            </a:r>
          </a:p>
          <a:p>
            <a:pPr marL="365125">
              <a:defRPr/>
            </a:pP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"Derived constructor, new a point\n"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::~Derived()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"Derived destructor\n"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delete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i_pointer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811F3C-CA46-5294-D316-1C7C617FE0F3}"/>
              </a:ext>
            </a:extLst>
          </p:cNvPr>
          <p:cNvSpPr/>
          <p:nvPr/>
        </p:nvSpPr>
        <p:spPr>
          <a:xfrm>
            <a:off x="4946650" y="95250"/>
            <a:ext cx="3429000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*b =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b;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151093-5A30-560A-6B7C-377FB840B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3457" y="1589425"/>
            <a:ext cx="3352800" cy="1200329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Base constructor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Derived constructor, new a point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Derived destructor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Base destructor</a:t>
            </a:r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C41A72-4E00-2EA0-0908-454EEF1A0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7394" y="2867918"/>
            <a:ext cx="3343574" cy="1200329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Base constructor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Derived constructor, new a point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Base destructor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乘号 9">
            <a:extLst>
              <a:ext uri="{FF2B5EF4-FFF2-40B4-BE49-F238E27FC236}">
                <a16:creationId xmlns:a16="http://schemas.microsoft.com/office/drawing/2014/main" id="{0EDBF874-7F72-C673-8904-6252D6DBD978}"/>
              </a:ext>
            </a:extLst>
          </p:cNvPr>
          <p:cNvSpPr/>
          <p:nvPr/>
        </p:nvSpPr>
        <p:spPr>
          <a:xfrm>
            <a:off x="8423275" y="3472086"/>
            <a:ext cx="533400" cy="685800"/>
          </a:xfrm>
          <a:prstGeom prst="mathMultiply">
            <a:avLst>
              <a:gd name="adj1" fmla="val 3909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4DAAA23-043E-DC72-434E-98796F8D129C}"/>
              </a:ext>
            </a:extLst>
          </p:cNvPr>
          <p:cNvGrpSpPr>
            <a:grpSpLocks/>
          </p:cNvGrpSpPr>
          <p:nvPr/>
        </p:nvGrpSpPr>
        <p:grpSpPr bwMode="auto">
          <a:xfrm>
            <a:off x="8489535" y="2384787"/>
            <a:ext cx="533400" cy="490537"/>
            <a:chOff x="10134600" y="2862322"/>
            <a:chExt cx="533400" cy="490478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17FCB9E-000D-CC50-F310-249EBC691C8C}"/>
                </a:ext>
              </a:extLst>
            </p:cNvPr>
            <p:cNvCxnSpPr/>
            <p:nvPr/>
          </p:nvCxnSpPr>
          <p:spPr>
            <a:xfrm>
              <a:off x="10134600" y="3108354"/>
              <a:ext cx="228600" cy="24444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E5AEE17-7A0C-38D4-3EE5-2AF0A6EC6079}"/>
                </a:ext>
              </a:extLst>
            </p:cNvPr>
            <p:cNvCxnSpPr/>
            <p:nvPr/>
          </p:nvCxnSpPr>
          <p:spPr>
            <a:xfrm flipV="1">
              <a:off x="10363200" y="2862322"/>
              <a:ext cx="304800" cy="49047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FB65D2AA-E8EA-893F-8446-E138F9A69859}"/>
              </a:ext>
            </a:extLst>
          </p:cNvPr>
          <p:cNvSpPr/>
          <p:nvPr/>
        </p:nvSpPr>
        <p:spPr>
          <a:xfrm>
            <a:off x="304799" y="1295400"/>
            <a:ext cx="877195" cy="21723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E17F6D6-CC2C-A74E-2E4D-1ED8B2194FCD}"/>
              </a:ext>
            </a:extLst>
          </p:cNvPr>
          <p:cNvGrpSpPr>
            <a:grpSpLocks/>
          </p:cNvGrpSpPr>
          <p:nvPr/>
        </p:nvGrpSpPr>
        <p:grpSpPr bwMode="auto">
          <a:xfrm>
            <a:off x="6781799" y="1046163"/>
            <a:ext cx="2105369" cy="1464190"/>
            <a:chOff x="6781800" y="1045696"/>
            <a:chExt cx="2104758" cy="2166543"/>
          </a:xfrm>
        </p:grpSpPr>
        <p:sp>
          <p:nvSpPr>
            <p:cNvPr id="2" name="右弧形箭头 1">
              <a:extLst>
                <a:ext uri="{FF2B5EF4-FFF2-40B4-BE49-F238E27FC236}">
                  <a16:creationId xmlns:a16="http://schemas.microsoft.com/office/drawing/2014/main" id="{489063AB-06AB-DCF8-1E16-9215023B5E4C}"/>
                </a:ext>
              </a:extLst>
            </p:cNvPr>
            <p:cNvSpPr/>
            <p:nvPr/>
          </p:nvSpPr>
          <p:spPr>
            <a:xfrm>
              <a:off x="6781800" y="1045696"/>
              <a:ext cx="871285" cy="2120712"/>
            </a:xfrm>
            <a:prstGeom prst="curvedLeftArrow">
              <a:avLst>
                <a:gd name="adj1" fmla="val 5108"/>
                <a:gd name="adj2" fmla="val 22342"/>
                <a:gd name="adj3" fmla="val 1272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759" name="矩形 10">
              <a:extLst>
                <a:ext uri="{FF2B5EF4-FFF2-40B4-BE49-F238E27FC236}">
                  <a16:creationId xmlns:a16="http://schemas.microsoft.com/office/drawing/2014/main" id="{C298D025-03D9-D4C3-1557-134CD799B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3818" y="2711285"/>
              <a:ext cx="1022740" cy="5009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~Derived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1483619-A7A7-57C9-782C-0ACC0C6EA64D}"/>
              </a:ext>
            </a:extLst>
          </p:cNvPr>
          <p:cNvGrpSpPr/>
          <p:nvPr/>
        </p:nvGrpSpPr>
        <p:grpSpPr>
          <a:xfrm>
            <a:off x="6780810" y="1045696"/>
            <a:ext cx="1975425" cy="2688104"/>
            <a:chOff x="6781800" y="1045696"/>
            <a:chExt cx="1975425" cy="2120712"/>
          </a:xfrm>
          <a:solidFill>
            <a:schemeClr val="accent1"/>
          </a:solidFill>
        </p:grpSpPr>
        <p:sp>
          <p:nvSpPr>
            <p:cNvPr id="19" name="右弧形箭头 18">
              <a:extLst>
                <a:ext uri="{FF2B5EF4-FFF2-40B4-BE49-F238E27FC236}">
                  <a16:creationId xmlns:a16="http://schemas.microsoft.com/office/drawing/2014/main" id="{D0790D75-0F4C-B3F2-89E3-5E0F8CE8CA64}"/>
                </a:ext>
              </a:extLst>
            </p:cNvPr>
            <p:cNvSpPr/>
            <p:nvPr/>
          </p:nvSpPr>
          <p:spPr>
            <a:xfrm>
              <a:off x="6781800" y="1045696"/>
              <a:ext cx="870744" cy="2120712"/>
            </a:xfrm>
            <a:prstGeom prst="curvedLeftArrow">
              <a:avLst>
                <a:gd name="adj1" fmla="val 5108"/>
                <a:gd name="adj2" fmla="val 22342"/>
                <a:gd name="adj3" fmla="val 12721"/>
              </a:avLst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EB279DB-7B2A-8DEC-5DA5-0B35A3AB02A9}"/>
                </a:ext>
              </a:extLst>
            </p:cNvPr>
            <p:cNvSpPr/>
            <p:nvPr/>
          </p:nvSpPr>
          <p:spPr>
            <a:xfrm>
              <a:off x="7996055" y="2766096"/>
              <a:ext cx="761170" cy="267094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600" dirty="0"/>
                <a:t>~Base</a:t>
              </a:r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DFC70EE9-9BCC-F29D-D960-F77275077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317" y="3660385"/>
            <a:ext cx="1108075" cy="369888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Tahoma" panose="020B0604030504040204" pitchFamily="34" charset="0"/>
                <a:ea typeface="宋体" panose="02010600030101010101" pitchFamily="2" charset="-122"/>
              </a:rPr>
              <a:t>内存泄漏</a:t>
            </a:r>
            <a:endParaRPr lang="en-US" altLang="zh-CN" sz="1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68F592-E920-6A10-2B69-8BB5F8F4F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1" y="1247001"/>
            <a:ext cx="1116013" cy="2769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            </a:t>
            </a:r>
            <a:endParaRPr lang="zh-CN" altLang="en-US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2BE5F3-5514-CA43-9F68-9CF0E9397765}"/>
              </a:ext>
            </a:extLst>
          </p:cNvPr>
          <p:cNvSpPr txBox="1"/>
          <p:nvPr/>
        </p:nvSpPr>
        <p:spPr>
          <a:xfrm>
            <a:off x="8105614" y="1536383"/>
            <a:ext cx="1158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有</a:t>
            </a:r>
            <a:r>
              <a:rPr kumimoji="1" lang="en-US" altLang="zh-CN" dirty="0"/>
              <a:t>virtual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0F4145-31AD-DF45-9428-C83D626723E3}"/>
              </a:ext>
            </a:extLst>
          </p:cNvPr>
          <p:cNvSpPr txBox="1"/>
          <p:nvPr/>
        </p:nvSpPr>
        <p:spPr>
          <a:xfrm>
            <a:off x="7072152" y="4165882"/>
            <a:ext cx="1158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无</a:t>
            </a:r>
            <a:r>
              <a:rPr kumimoji="1" lang="en-US" altLang="zh-CN" dirty="0"/>
              <a:t>virtual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22" grpId="0" animBg="1"/>
      <p:bldP spid="21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9BC4923D-7CD4-6093-DEE9-AE19896D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虚函数的形参默认值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397283F-0E03-979A-D9BC-96BAB307A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1981200"/>
            <a:ext cx="7543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zh-CN" altLang="en-US" dirty="0">
                <a:latin typeface="华文楷体" panose="02010600040101010101" pitchFamily="2" charset="-122"/>
              </a:rPr>
              <a:t>	虚函数的形参默认值要写在基类中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30A7528-799C-1D33-AE31-E95B02A8C0BE}"/>
              </a:ext>
            </a:extLst>
          </p:cNvPr>
          <p:cNvSpPr/>
          <p:nvPr/>
        </p:nvSpPr>
        <p:spPr>
          <a:xfrm>
            <a:off x="38100" y="152400"/>
            <a:ext cx="6619875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>
              <a:defRPr/>
            </a:pP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Base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pPr indent="355600"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virtual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oper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x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= 0,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y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= -10);</a:t>
            </a:r>
          </a:p>
          <a:p>
            <a:pPr indent="355600"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virtual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~Base() {}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};</a:t>
            </a:r>
          </a:p>
          <a:p>
            <a:pPr>
              <a:defRPr/>
            </a:pP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Base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oper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 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"In Base class :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indent="355600"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+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Derived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: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Base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</a:t>
            </a:r>
          </a:p>
          <a:p>
            <a:pPr indent="355600">
              <a:defRPr/>
            </a:pP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oper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100, 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= 10);</a:t>
            </a:r>
          </a:p>
          <a:p>
            <a:pPr indent="355600"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~Derived() {}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};</a:t>
            </a:r>
          </a:p>
          <a:p>
            <a:pPr>
              <a:defRPr/>
            </a:pP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Derived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oper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, 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"In Derived class :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"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 indent="355600"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 - </a:t>
            </a: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//B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在调用的时候使用了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Base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的声明和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Derived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rPr>
              <a:t>中的实现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/>
              <a:cs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E29F63-2AE4-B92E-3FEA-80DB407C3A15}"/>
              </a:ext>
            </a:extLst>
          </p:cNvPr>
          <p:cNvSpPr/>
          <p:nvPr/>
        </p:nvSpPr>
        <p:spPr>
          <a:xfrm>
            <a:off x="5476875" y="287555"/>
            <a:ext cx="3429000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 main()</a:t>
            </a:r>
          </a:p>
          <a:p>
            <a:pPr eaLnBrk="1" hangingPunct="1"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{  </a:t>
            </a:r>
            <a:r>
              <a:rPr lang="en-US" altLang="zh-CN" sz="1600" dirty="0">
                <a:solidFill>
                  <a:srgbClr val="2B91AF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Derived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 d;</a:t>
            </a:r>
          </a:p>
          <a:p>
            <a:pPr eaLnBrk="1" hangingPunct="1">
              <a:defRPr/>
            </a:pPr>
            <a:r>
              <a:rPr lang="en-US" altLang="zh-CN" sz="1600" dirty="0">
                <a:solidFill>
                  <a:srgbClr val="2B91AF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   Base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&amp; b = d;</a:t>
            </a:r>
          </a:p>
          <a:p>
            <a:pPr eaLnBrk="1" hangingPunct="1"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b.oper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() </a:t>
            </a:r>
            <a:r>
              <a:rPr lang="en-US" altLang="zh-CN" sz="1600" dirty="0">
                <a:solidFill>
                  <a:srgbClr val="00808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;</a:t>
            </a:r>
          </a:p>
          <a:p>
            <a:pPr eaLnBrk="1" hangingPunct="1"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d.oper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() </a:t>
            </a:r>
            <a:r>
              <a:rPr lang="en-US" altLang="zh-CN" sz="1600" dirty="0">
                <a:solidFill>
                  <a:srgbClr val="00808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;</a:t>
            </a:r>
          </a:p>
          <a:p>
            <a:pPr eaLnBrk="1" hangingPunct="1"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   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 0;</a:t>
            </a:r>
          </a:p>
          <a:p>
            <a:pPr eaLnBrk="1" hangingPunct="1"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rPr>
              <a:t>}</a:t>
            </a:r>
            <a:endParaRPr lang="zh-CN" altLang="en-US" sz="1600" dirty="0">
              <a:latin typeface="Consolas" pitchFamily="49" charset="0"/>
              <a:ea typeface="新宋体" pitchFamily="49" charset="-122"/>
              <a:cs typeface="Consolas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0B8549-9DEA-BA05-C6CE-91C72228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971800"/>
            <a:ext cx="2819400" cy="12001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 Derived class : 0 -10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 Derived class : 100 10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90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8703BC6-C977-85E4-6E01-297C7B8241D9}"/>
              </a:ext>
            </a:extLst>
          </p:cNvPr>
          <p:cNvSpPr/>
          <p:nvPr/>
        </p:nvSpPr>
        <p:spPr>
          <a:xfrm>
            <a:off x="2286000" y="1439049"/>
            <a:ext cx="2667000" cy="258763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9F9C5FF-DF7F-EE9C-122B-3D6335814348}"/>
              </a:ext>
            </a:extLst>
          </p:cNvPr>
          <p:cNvSpPr/>
          <p:nvPr/>
        </p:nvSpPr>
        <p:spPr>
          <a:xfrm>
            <a:off x="1371600" y="3627437"/>
            <a:ext cx="3048000" cy="258763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ECAABD4-9827-054B-ACF5-F351310FA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85800" y="5734129"/>
            <a:ext cx="7543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zh-CN" altLang="en-US" dirty="0">
                <a:latin typeface="华文楷体" panose="02010600040101010101" pitchFamily="2" charset="-122"/>
              </a:rPr>
              <a:t>	虚函数的形参默认值要写在基类中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0B58B1-B128-1AFF-1780-3E0C29C99B63}"/>
              </a:ext>
            </a:extLst>
          </p:cNvPr>
          <p:cNvSpPr txBox="1"/>
          <p:nvPr/>
        </p:nvSpPr>
        <p:spPr>
          <a:xfrm>
            <a:off x="1219200" y="1580892"/>
            <a:ext cx="5715000" cy="452431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Shape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新宋体" panose="02010609030101010101" pitchFamily="49" charset="-122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</a:t>
            </a:r>
          </a:p>
          <a:p>
            <a:pPr indent="457200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Shape(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newx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newy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);</a:t>
            </a:r>
          </a:p>
          <a:p>
            <a:pPr indent="457200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getX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();</a:t>
            </a:r>
          </a:p>
          <a:p>
            <a:pPr indent="457200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getY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();</a:t>
            </a:r>
          </a:p>
          <a:p>
            <a:pPr indent="457200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setX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newx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);</a:t>
            </a:r>
          </a:p>
          <a:p>
            <a:pPr indent="457200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setY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newy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);</a:t>
            </a:r>
          </a:p>
          <a:p>
            <a:pPr indent="457200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moveTo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newx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newy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);</a:t>
            </a:r>
          </a:p>
          <a:p>
            <a:pPr indent="457200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rMoveTo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deltax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deltay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);</a:t>
            </a:r>
          </a:p>
          <a:p>
            <a:pPr indent="457200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virtual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draw();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private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</a:t>
            </a:r>
          </a:p>
          <a:p>
            <a:pPr indent="457200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x;</a:t>
            </a:r>
          </a:p>
          <a:p>
            <a:pPr indent="457200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y;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};</a:t>
            </a:r>
          </a:p>
          <a:p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  <a:ea typeface="新宋体" panose="02010609030101010101" pitchFamily="49" charset="-122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virtual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Shape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::draw()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"Shape::draw()"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</a:t>
            </a: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E8663859-81FC-11E9-C65E-E9EAA208C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3977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虚函数的特性 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7CD00BE-4C78-E849-8948-2D1D539A8B8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04800" y="1000125"/>
            <a:ext cx="8442325" cy="773113"/>
          </a:xfrm>
        </p:spPr>
        <p:txBody>
          <a:bodyPr/>
          <a:lstStyle/>
          <a:p>
            <a:pPr marL="457200" indent="-457200" eaLnBrk="1" hangingPunct="1">
              <a:lnSpc>
                <a:spcPct val="150000"/>
              </a:lnSpc>
              <a:buFontTx/>
              <a:buAutoNum type="circleNumDbPlain"/>
            </a:pPr>
            <a:r>
              <a:rPr lang="en-US" altLang="zh-CN" sz="2400" b="1">
                <a:solidFill>
                  <a:srgbClr val="FF0000"/>
                </a:solidFill>
              </a:rPr>
              <a:t>virtual</a:t>
            </a:r>
            <a:r>
              <a:rPr lang="en-US" altLang="zh-CN" sz="2400" b="1"/>
              <a:t> </a:t>
            </a:r>
            <a:r>
              <a:rPr lang="zh-CN" altLang="en-US" sz="2400" b="1"/>
              <a:t>只用于类中成员函数的</a:t>
            </a:r>
            <a:r>
              <a:rPr lang="zh-CN" altLang="en-US" sz="2400" b="1">
                <a:solidFill>
                  <a:srgbClr val="FF0000"/>
                </a:solidFill>
              </a:rPr>
              <a:t>声明</a:t>
            </a:r>
            <a:r>
              <a:rPr lang="zh-CN" altLang="en-US" sz="2400" b="1"/>
              <a:t>，</a:t>
            </a:r>
            <a:r>
              <a:rPr lang="zh-CN" altLang="en-US" sz="2400" b="1">
                <a:solidFill>
                  <a:srgbClr val="FF0000"/>
                </a:solidFill>
              </a:rPr>
              <a:t>不</a:t>
            </a:r>
            <a:r>
              <a:rPr lang="zh-CN" altLang="en-US" sz="2400" b="1"/>
              <a:t>能用在函数实现时。</a:t>
            </a:r>
            <a:endParaRPr lang="zh-CN" altLang="en-US" sz="180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F2A07D5-18E0-7438-FC55-4DCB3E68D137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277108"/>
            <a:ext cx="360362" cy="288925"/>
            <a:chOff x="2699792" y="6309296"/>
            <a:chExt cx="360040" cy="288056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BDF0644-3379-9A48-357E-579A45401432}"/>
                </a:ext>
              </a:extLst>
            </p:cNvPr>
            <p:cNvCxnSpPr/>
            <p:nvPr/>
          </p:nvCxnSpPr>
          <p:spPr>
            <a:xfrm flipH="1">
              <a:off x="2699792" y="6309296"/>
              <a:ext cx="360040" cy="28805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9AE34C02-654D-DED5-E4AA-7A2EB3188334}"/>
                </a:ext>
              </a:extLst>
            </p:cNvPr>
            <p:cNvCxnSpPr/>
            <p:nvPr/>
          </p:nvCxnSpPr>
          <p:spPr>
            <a:xfrm>
              <a:off x="2699792" y="6309296"/>
              <a:ext cx="360040" cy="28805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0196CF44-5881-AD08-A9CE-28237442619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7037" y="439737"/>
            <a:ext cx="8289925" cy="1160463"/>
          </a:xfrm>
        </p:spPr>
        <p:txBody>
          <a:bodyPr/>
          <a:lstStyle/>
          <a:p>
            <a:pPr marL="457200" indent="-457200" eaLnBrk="1" hangingPunct="1">
              <a:lnSpc>
                <a:spcPct val="150000"/>
              </a:lnSpc>
              <a:buFontTx/>
              <a:buAutoNum type="circleNumDbPlain" startAt="2"/>
            </a:pPr>
            <a:r>
              <a:rPr lang="zh-CN" altLang="en-US" sz="2400" b="1" dirty="0"/>
              <a:t>一旦将某个成员函数</a:t>
            </a:r>
            <a:r>
              <a:rPr lang="zh-CN" altLang="en-US" sz="2400" b="1" dirty="0">
                <a:solidFill>
                  <a:srgbClr val="FF0000"/>
                </a:solidFill>
              </a:rPr>
              <a:t>声明为虚函数</a:t>
            </a:r>
            <a:r>
              <a:rPr lang="zh-CN" altLang="en-US" sz="2400" b="1" dirty="0"/>
              <a:t>后，它在继承体系中就</a:t>
            </a:r>
            <a:r>
              <a:rPr lang="zh-CN" altLang="en-US" sz="2400" b="1" dirty="0">
                <a:solidFill>
                  <a:srgbClr val="FF0000"/>
                </a:solidFill>
              </a:rPr>
              <a:t>永远为虚函数</a:t>
            </a:r>
            <a:r>
              <a:rPr lang="zh-CN" altLang="en-US" sz="2400" b="1" dirty="0"/>
              <a:t>了</a:t>
            </a:r>
            <a:r>
              <a:rPr lang="zh-CN" altLang="en-US" sz="1800" dirty="0"/>
              <a:t> 。</a:t>
            </a:r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E7857757-8EE6-C0CE-3475-97E36089D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411" y="1676400"/>
            <a:ext cx="3813175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右箭头 4">
            <a:extLst>
              <a:ext uri="{FF2B5EF4-FFF2-40B4-BE49-F238E27FC236}">
                <a16:creationId xmlns:a16="http://schemas.microsoft.com/office/drawing/2014/main" id="{1DDA3E61-349F-6F52-CC96-752BB4043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6237288"/>
            <a:ext cx="392112" cy="180975"/>
          </a:xfrm>
          <a:prstGeom prst="rightArrow">
            <a:avLst>
              <a:gd name="adj1" fmla="val 50000"/>
              <a:gd name="adj2" fmla="val 50114"/>
            </a:avLst>
          </a:prstGeom>
          <a:solidFill>
            <a:srgbClr val="008000"/>
          </a:solidFill>
          <a:ln w="9525">
            <a:solidFill>
              <a:srgbClr val="AF3408"/>
            </a:solidFill>
            <a:miter lim="800000"/>
            <a:headEnd/>
            <a:tailEnd/>
          </a:ln>
          <a:effectLst>
            <a:outerShdw blurRad="38100" dist="25400" dir="5400000" algn="t" rotWithShape="0">
              <a:srgbClr val="808080">
                <a:alpha val="5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kumimoji="1" lang="zh-CN" altLang="en-US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3C6989D5-CBAE-F39B-CD1A-5E6CA0B5B424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"/>
            <a:ext cx="7772400" cy="647700"/>
          </a:xfrm>
        </p:spPr>
        <p:txBody>
          <a:bodyPr/>
          <a:lstStyle/>
          <a:p>
            <a:pPr marL="457200" indent="-457200" eaLnBrk="1" hangingPunct="1">
              <a:lnSpc>
                <a:spcPct val="125000"/>
              </a:lnSpc>
              <a:buFont typeface="+mj-ea"/>
              <a:buAutoNum type="circleNumDbPlain" startAt="3"/>
              <a:defRPr/>
            </a:pPr>
            <a:r>
              <a:rPr lang="zh-CN" altLang="en-US" sz="2400" dirty="0"/>
              <a:t>只有通过指向派生类对象的基类</a:t>
            </a:r>
            <a:r>
              <a:rPr lang="zh-CN" altLang="en-US" sz="2400" b="1" dirty="0">
                <a:solidFill>
                  <a:srgbClr val="FF0000"/>
                </a:solidFill>
              </a:rPr>
              <a:t>指针和引用</a:t>
            </a:r>
            <a:r>
              <a:rPr lang="zh-CN" altLang="en-US" sz="2400" dirty="0"/>
              <a:t>访问派生类对象的虚函数时，才能体现虚函数的特性。</a:t>
            </a:r>
          </a:p>
          <a:p>
            <a:pPr eaLnBrk="1" hangingPunct="1">
              <a:lnSpc>
                <a:spcPct val="125000"/>
              </a:lnSpc>
              <a:buFontTx/>
              <a:buNone/>
              <a:defRPr/>
            </a:pP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36867" name="矩形 1">
            <a:extLst>
              <a:ext uri="{FF2B5EF4-FFF2-40B4-BE49-F238E27FC236}">
                <a16:creationId xmlns:a16="http://schemas.microsoft.com/office/drawing/2014/main" id="{F5A699EE-A973-1C61-727F-40C189270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1" y="1177350"/>
            <a:ext cx="4495800" cy="5509200"/>
          </a:xfrm>
          <a:prstGeom prst="rect">
            <a:avLst/>
          </a:prstGeom>
          <a:noFill/>
          <a:ln w="952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virtual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 ()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"Base::f"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Derived :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 ()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"Derived::f"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Derived 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Base b = 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Base *pb = &amp;d;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Base &amp;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rb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= d;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b.f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pb-&gt;f();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rb.f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69AB7B-A237-8152-0995-3CB5ADA88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724400"/>
            <a:ext cx="1296987" cy="922338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Base::f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Derived::f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Derived::f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>
            <a:extLst>
              <a:ext uri="{FF2B5EF4-FFF2-40B4-BE49-F238E27FC236}">
                <a16:creationId xmlns:a16="http://schemas.microsoft.com/office/drawing/2014/main" id="{BEBE3476-2001-F413-DDB8-2F17206C902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57200" y="356394"/>
            <a:ext cx="7772400" cy="792162"/>
          </a:xfrm>
        </p:spPr>
        <p:txBody>
          <a:bodyPr/>
          <a:lstStyle/>
          <a:p>
            <a:pPr marL="457200" indent="-457200" eaLnBrk="1" hangingPunct="1">
              <a:lnSpc>
                <a:spcPct val="125000"/>
              </a:lnSpc>
              <a:buFont typeface="+mj-ea"/>
              <a:buAutoNum type="circleNumDbPlain" startAt="4"/>
              <a:defRPr/>
            </a:pPr>
            <a:r>
              <a:rPr lang="zh-CN" altLang="en-US" sz="2400" dirty="0">
                <a:latin typeface="+mn-ea"/>
              </a:rPr>
              <a:t>派生类中的虚函数要保持其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虚特性</a:t>
            </a:r>
            <a:r>
              <a:rPr lang="zh-CN" altLang="en-US" sz="2400" dirty="0">
                <a:latin typeface="+mn-ea"/>
              </a:rPr>
              <a:t>，必须与基类虚函数的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函数原型</a:t>
            </a:r>
            <a:r>
              <a:rPr lang="zh-CN" altLang="en-US" sz="2400" dirty="0">
                <a:latin typeface="+mn-ea"/>
              </a:rPr>
              <a:t>完全相同，否则与基类的虚函数无关。</a:t>
            </a:r>
            <a:endParaRPr lang="en-US" altLang="zh-CN" sz="2400" dirty="0">
              <a:latin typeface="+mn-ea"/>
            </a:endParaRPr>
          </a:p>
          <a:p>
            <a:pPr eaLnBrk="1" hangingPunct="1">
              <a:lnSpc>
                <a:spcPct val="125000"/>
              </a:lnSpc>
              <a:buFontTx/>
              <a:buNone/>
              <a:defRPr/>
            </a:pPr>
            <a:endParaRPr lang="zh-CN" altLang="en-US" sz="28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37891" name="矩形 3">
            <a:extLst>
              <a:ext uri="{FF2B5EF4-FFF2-40B4-BE49-F238E27FC236}">
                <a16:creationId xmlns:a16="http://schemas.microsoft.com/office/drawing/2014/main" id="{492B9DAD-99BE-68C6-9814-085E0D83B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775" y="1412875"/>
            <a:ext cx="5759450" cy="47705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virtual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 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"Base::f"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Derived :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 (int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"Derived::f"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Derived 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Base *pb = &amp;d;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pb-&gt;f();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pb-&gt;f(7);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9580E2-61DF-74D6-FBC8-F7FFAA104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072062"/>
            <a:ext cx="1193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//Base::f</a:t>
            </a:r>
            <a:endParaRPr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306BF4-88C4-4A1E-83F8-2742690CE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300662"/>
            <a:ext cx="34099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//error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在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base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类中就没有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）</a:t>
            </a:r>
            <a:endParaRPr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A20F9F-DE2B-5C4A-A53F-3E634045EC6F}"/>
              </a:ext>
            </a:extLst>
          </p:cNvPr>
          <p:cNvSpPr txBox="1"/>
          <p:nvPr/>
        </p:nvSpPr>
        <p:spPr>
          <a:xfrm>
            <a:off x="6753225" y="324433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这个是函数重载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5">
            <a:extLst>
              <a:ext uri="{FF2B5EF4-FFF2-40B4-BE49-F238E27FC236}">
                <a16:creationId xmlns:a16="http://schemas.microsoft.com/office/drawing/2014/main" id="{C77F8BBC-5E5A-3215-819D-22A5C4E5E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81000"/>
            <a:ext cx="4752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课堂思考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8-2: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下面的代码的输出是什么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38915" name="矩形 5">
            <a:extLst>
              <a:ext uri="{FF2B5EF4-FFF2-40B4-BE49-F238E27FC236}">
                <a16:creationId xmlns:a16="http://schemas.microsoft.com/office/drawing/2014/main" id="{E52A985D-021B-B74A-B24D-A7FC84BC0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5472112" cy="47705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virtual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 (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=0)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"Base::f"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Derived :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 ()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"Derived::f"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Derived 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Base *pb = &amp;d;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pb-&gt;f();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3AC7CF-2D69-B86F-074F-6C5059FF9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157788"/>
            <a:ext cx="1296988" cy="3683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Base::f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B74E3058-7D07-DC01-530D-9A40993B651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33400" y="413545"/>
            <a:ext cx="7772400" cy="630237"/>
          </a:xfrm>
        </p:spPr>
        <p:txBody>
          <a:bodyPr/>
          <a:lstStyle/>
          <a:p>
            <a:pPr marL="457200" indent="-457200" eaLnBrk="1" hangingPunct="1">
              <a:lnSpc>
                <a:spcPct val="125000"/>
              </a:lnSpc>
              <a:buFontTx/>
              <a:buAutoNum type="circleNumDbPlain" startAt="5"/>
            </a:pPr>
            <a:r>
              <a:rPr lang="zh-CN" altLang="en-US" sz="2400" dirty="0"/>
              <a:t>派生类通过</a:t>
            </a:r>
            <a:r>
              <a:rPr lang="zh-CN" altLang="en-US" sz="2400" dirty="0">
                <a:solidFill>
                  <a:srgbClr val="FF0000"/>
                </a:solidFill>
              </a:rPr>
              <a:t>基类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FF0000"/>
                </a:solidFill>
              </a:rPr>
              <a:t>成员函数</a:t>
            </a:r>
            <a:r>
              <a:rPr lang="zh-CN" altLang="en-US" sz="2400" dirty="0"/>
              <a:t>调用虚函数时，将访问到派生类中的版本。</a:t>
            </a:r>
          </a:p>
        </p:txBody>
      </p:sp>
      <p:sp>
        <p:nvSpPr>
          <p:cNvPr id="39939" name="矩形 2">
            <a:extLst>
              <a:ext uri="{FF2B5EF4-FFF2-40B4-BE49-F238E27FC236}">
                <a16:creationId xmlns:a16="http://schemas.microsoft.com/office/drawing/2014/main" id="{ED06E04B-3E12-677B-4CAD-47E33CAC8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1" y="1524000"/>
            <a:ext cx="4648200" cy="50167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virtual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 ()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"Base::f"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g ()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f();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Derived :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 ()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"Derived::f"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Derived 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Base *pb = &amp;d;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pb-&gt;g();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459CA6-B26D-5C63-741F-9E07BEFDC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157788"/>
            <a:ext cx="1296988" cy="3683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Derived::f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矩形 5">
            <a:extLst>
              <a:ext uri="{FF2B5EF4-FFF2-40B4-BE49-F238E27FC236}">
                <a16:creationId xmlns:a16="http://schemas.microsoft.com/office/drawing/2014/main" id="{10F245E4-0A5C-C71D-644C-F00C3B962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455" y="0"/>
            <a:ext cx="42835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课堂思考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3: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下面代码的输出是什么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40963" name="矩形 2">
            <a:extLst>
              <a:ext uri="{FF2B5EF4-FFF2-40B4-BE49-F238E27FC236}">
                <a16:creationId xmlns:a16="http://schemas.microsoft.com/office/drawing/2014/main" id="{69E730FF-0DCC-FC92-39A1-954AC88CF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84554"/>
            <a:ext cx="4343400" cy="649408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"Base::f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virtual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"Base::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vf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ff()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f();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Derived: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"Derived::f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"Derived::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vf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ff()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{  f();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E6036C-2F24-212D-B4C3-F90D18ADE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001928"/>
            <a:ext cx="2017713" cy="64611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Derived::vf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Base::f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F2B3A9-C0DC-0825-1470-8B7F4538D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699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virtual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2">
            <a:extLst>
              <a:ext uri="{FF2B5EF4-FFF2-40B4-BE49-F238E27FC236}">
                <a16:creationId xmlns:a16="http://schemas.microsoft.com/office/drawing/2014/main" id="{457C43E3-EFE3-5728-FCA7-85ADC9A65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84554"/>
            <a:ext cx="2667000" cy="181588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Derived d;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Base *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pB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= &amp;d;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pB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-&gt;ff();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>
            <a:extLst>
              <a:ext uri="{FF2B5EF4-FFF2-40B4-BE49-F238E27FC236}">
                <a16:creationId xmlns:a16="http://schemas.microsoft.com/office/drawing/2014/main" id="{3225BD59-1E2B-E34E-A412-4BD13DF500D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33400" y="762000"/>
            <a:ext cx="8153400" cy="4292600"/>
          </a:xfrm>
        </p:spPr>
        <p:txBody>
          <a:bodyPr/>
          <a:lstStyle/>
          <a:p>
            <a:pPr marL="457200" indent="-457200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 startAt="6"/>
              <a:defRPr/>
            </a:pPr>
            <a:r>
              <a:rPr lang="zh-CN" altLang="en-US" sz="2400" dirty="0"/>
              <a:t>虚函数不是</a:t>
            </a:r>
            <a:r>
              <a:rPr lang="zh-CN" altLang="en-US" sz="2400" dirty="0">
                <a:solidFill>
                  <a:srgbClr val="FF0000"/>
                </a:solidFill>
              </a:rPr>
              <a:t>内联函数</a:t>
            </a:r>
            <a:r>
              <a:rPr lang="zh-CN" altLang="en-US" sz="2400" dirty="0"/>
              <a:t>。因为内联函数采用的是静态绑定的方式，而虚函数是在程序运行时才与具体函数动态绑定的，采用的是动态绑定的方式。即使虚函数被声明为内联函数，</a:t>
            </a:r>
            <a:r>
              <a:rPr lang="en-US" altLang="zh-CN" sz="2400" dirty="0"/>
              <a:t>C++</a:t>
            </a:r>
            <a:r>
              <a:rPr lang="zh-CN" altLang="en-US" sz="2400" dirty="0"/>
              <a:t>编译器也将它视为非内联函数。</a:t>
            </a:r>
            <a:endParaRPr lang="en-US" altLang="zh-CN" sz="2400" dirty="0"/>
          </a:p>
          <a:p>
            <a:pPr marL="457200" indent="-457200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 startAt="6"/>
              <a:defRPr/>
            </a:pPr>
            <a:r>
              <a:rPr lang="zh-CN" altLang="en-US" sz="2400" dirty="0"/>
              <a:t>类的</a:t>
            </a:r>
            <a:r>
              <a:rPr lang="zh-CN" altLang="en-US" sz="2400" dirty="0">
                <a:solidFill>
                  <a:srgbClr val="FF0000"/>
                </a:solidFill>
              </a:rPr>
              <a:t>构造函数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静态成员函数</a:t>
            </a:r>
            <a:r>
              <a:rPr lang="zh-CN" altLang="en-US" sz="2400" dirty="0"/>
              <a:t>不能定义为虚函数。原因是虚函数在继承层次结构中才能够发生作用，而构造函数、静态成员是不能够被继承的。</a:t>
            </a:r>
          </a:p>
          <a:p>
            <a:pPr eaLnBrk="1" hangingPunct="1">
              <a:buFontTx/>
              <a:buNone/>
              <a:defRPr/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>
            <a:extLst>
              <a:ext uri="{FF2B5EF4-FFF2-40B4-BE49-F238E27FC236}">
                <a16:creationId xmlns:a16="http://schemas.microsoft.com/office/drawing/2014/main" id="{467E976B-1F6F-6FE7-7736-CCFB394BB6D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687388" y="1958975"/>
            <a:ext cx="7772400" cy="1727200"/>
          </a:xfrm>
        </p:spPr>
        <p:txBody>
          <a:bodyPr/>
          <a:lstStyle/>
          <a:p>
            <a:pPr indent="-7938" eaLnBrk="1" hangingPunct="1">
              <a:buFontTx/>
              <a:buNone/>
            </a:pPr>
            <a:r>
              <a:rPr lang="zh-CN" altLang="en-US"/>
              <a:t>某销售部门有</a:t>
            </a:r>
            <a:r>
              <a:rPr lang="en-US" altLang="zh-CN"/>
              <a:t>3</a:t>
            </a:r>
            <a:r>
              <a:rPr lang="zh-CN" altLang="en-US"/>
              <a:t>名经理和</a:t>
            </a:r>
            <a:r>
              <a:rPr lang="en-US" altLang="zh-CN"/>
              <a:t>8</a:t>
            </a:r>
            <a:r>
              <a:rPr lang="zh-CN" altLang="en-US"/>
              <a:t>名销售人员。经理按周计算薪金；销售员每月底薪</a:t>
            </a:r>
            <a:r>
              <a:rPr lang="en-US" altLang="zh-CN"/>
              <a:t>800</a:t>
            </a:r>
            <a:r>
              <a:rPr lang="zh-CN" altLang="en-US"/>
              <a:t>元，销售提成为销售额的</a:t>
            </a:r>
            <a:r>
              <a:rPr lang="en-US" altLang="zh-CN"/>
              <a:t>5%</a:t>
            </a:r>
            <a:r>
              <a:rPr lang="zh-CN" altLang="en-US"/>
              <a:t>，每类人员都有姓名和员工号等数据。请完成此部门人员当月工资报表打印。</a:t>
            </a:r>
          </a:p>
        </p:txBody>
      </p:sp>
      <p:sp>
        <p:nvSpPr>
          <p:cNvPr id="43011" name="矩形 3">
            <a:extLst>
              <a:ext uri="{FF2B5EF4-FFF2-40B4-BE49-F238E27FC236}">
                <a16:creationId xmlns:a16="http://schemas.microsoft.com/office/drawing/2014/main" id="{6D9C2549-DDFF-6D00-3098-9AFF74403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301750"/>
            <a:ext cx="176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编程实例</a:t>
            </a:r>
            <a:endParaRPr lang="en-US" altLang="zh-CN" sz="2400" b="1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F69BE44-573D-8B15-58EA-B3416FF0BDA1}"/>
              </a:ext>
            </a:extLst>
          </p:cNvPr>
          <p:cNvSpPr/>
          <p:nvPr/>
        </p:nvSpPr>
        <p:spPr>
          <a:xfrm>
            <a:off x="822325" y="4592638"/>
            <a:ext cx="2957513" cy="136366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276712-055B-D04C-2A8D-A9FD5ECBA77B}"/>
              </a:ext>
            </a:extLst>
          </p:cNvPr>
          <p:cNvSpPr/>
          <p:nvPr/>
        </p:nvSpPr>
        <p:spPr>
          <a:xfrm>
            <a:off x="827088" y="3146425"/>
            <a:ext cx="2952750" cy="136842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D5076D0-8DF0-B92B-A89A-F9001C7D85C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615950" y="939800"/>
            <a:ext cx="7772400" cy="1655762"/>
          </a:xfrm>
        </p:spPr>
        <p:txBody>
          <a:bodyPr/>
          <a:lstStyle/>
          <a:p>
            <a:pPr marL="457200" lvl="1" indent="-457200" eaLnBrk="1" hangingPunct="1">
              <a:buFont typeface="+mj-lt"/>
              <a:buAutoNum type="arabicPeriod"/>
              <a:defRPr/>
            </a:pPr>
            <a:r>
              <a:rPr lang="en-US" altLang="zh-CN" dirty="0"/>
              <a:t>C++</a:t>
            </a:r>
            <a:r>
              <a:rPr lang="zh-CN" altLang="en-US" dirty="0"/>
              <a:t>通过</a:t>
            </a:r>
            <a:r>
              <a:rPr lang="zh-CN" altLang="en-US" dirty="0">
                <a:solidFill>
                  <a:srgbClr val="FF0000"/>
                </a:solidFill>
              </a:rPr>
              <a:t>虚函数表</a:t>
            </a:r>
            <a:r>
              <a:rPr lang="zh-CN" altLang="en-US" dirty="0"/>
              <a:t>来实现虚函数的动态绑定。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sz="2000" dirty="0"/>
              <a:t>在编译带有虚函数的类时，</a:t>
            </a:r>
            <a:r>
              <a:rPr lang="en-US" altLang="zh-CN" sz="2000" dirty="0"/>
              <a:t>C++</a:t>
            </a:r>
            <a:r>
              <a:rPr lang="zh-CN" altLang="en-US" sz="2000" dirty="0"/>
              <a:t>将为该类建立一个虚函数表（</a:t>
            </a:r>
            <a:r>
              <a:rPr lang="en-US" altLang="zh-CN" sz="2000" dirty="0" err="1">
                <a:solidFill>
                  <a:srgbClr val="FF0000"/>
                </a:solidFill>
              </a:rPr>
              <a:t>vtable</a:t>
            </a:r>
            <a:r>
              <a:rPr lang="zh-CN" altLang="en-US" sz="2000" dirty="0"/>
              <a:t>），在虚函数表中存放指向本类虚函数的指针，这些指针指向本类的虚函数地址。 </a:t>
            </a:r>
          </a:p>
        </p:txBody>
      </p:sp>
      <p:sp>
        <p:nvSpPr>
          <p:cNvPr id="44037" name="Rectangle 2">
            <a:extLst>
              <a:ext uri="{FF2B5EF4-FFF2-40B4-BE49-F238E27FC236}">
                <a16:creationId xmlns:a16="http://schemas.microsoft.com/office/drawing/2014/main" id="{1010B68B-B571-E800-124B-E67DC8A2A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54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/>
              <a:t>虚函数的实现技术</a:t>
            </a:r>
            <a:endParaRPr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123A0B-2340-7107-C487-EE966C5DD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50" y="3130550"/>
            <a:ext cx="361315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private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200" b="1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m_ib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virtual void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 () 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virtual void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g () {}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b="1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Derived : </a:t>
            </a: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private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200" b="1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m_id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endParaRPr lang="en-US" altLang="zh-CN" sz="1200" b="1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virtual void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k () 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virtual void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h () 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b="1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748E1D0-4747-CEEC-1AE8-7C623AE3643F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3146425"/>
            <a:ext cx="1620838" cy="1081088"/>
            <a:chOff x="5291297" y="2453147"/>
            <a:chExt cx="1620534" cy="1080612"/>
          </a:xfrm>
        </p:grpSpPr>
        <p:sp>
          <p:nvSpPr>
            <p:cNvPr id="44048" name="Text Box 87">
              <a:extLst>
                <a:ext uri="{FF2B5EF4-FFF2-40B4-BE49-F238E27FC236}">
                  <a16:creationId xmlns:a16="http://schemas.microsoft.com/office/drawing/2014/main" id="{D04EB230-BF86-2B1C-23C0-412E3FD77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2080" y="2821211"/>
              <a:ext cx="1619751" cy="3595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Base::f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9" name="Text Box 88">
              <a:extLst>
                <a:ext uri="{FF2B5EF4-FFF2-40B4-BE49-F238E27FC236}">
                  <a16:creationId xmlns:a16="http://schemas.microsoft.com/office/drawing/2014/main" id="{B18EF15C-1DF4-3826-5462-150CD5B4AC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1298" y="3174232"/>
              <a:ext cx="1619751" cy="3595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Base::g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50" name="Text Box 87">
              <a:extLst>
                <a:ext uri="{FF2B5EF4-FFF2-40B4-BE49-F238E27FC236}">
                  <a16:creationId xmlns:a16="http://schemas.microsoft.com/office/drawing/2014/main" id="{D8FBC880-EE6A-701F-9CAE-2F091E139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1297" y="2453147"/>
              <a:ext cx="1619751" cy="359527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Vtable Base</a:t>
              </a:r>
            </a:p>
          </p:txBody>
        </p:sp>
      </p:grpSp>
      <p:sp>
        <p:nvSpPr>
          <p:cNvPr id="17" name="任意多边形 16">
            <a:extLst>
              <a:ext uri="{FF2B5EF4-FFF2-40B4-BE49-F238E27FC236}">
                <a16:creationId xmlns:a16="http://schemas.microsoft.com/office/drawing/2014/main" id="{09E09DE4-ADF9-D425-D0EF-66ADA2F930D8}"/>
              </a:ext>
            </a:extLst>
          </p:cNvPr>
          <p:cNvSpPr/>
          <p:nvPr/>
        </p:nvSpPr>
        <p:spPr>
          <a:xfrm>
            <a:off x="3795713" y="3503613"/>
            <a:ext cx="2101850" cy="434975"/>
          </a:xfrm>
          <a:custGeom>
            <a:avLst/>
            <a:gdLst>
              <a:gd name="connsiteX0" fmla="*/ 2084438 w 2102225"/>
              <a:gd name="connsiteY0" fmla="*/ 327054 h 435209"/>
              <a:gd name="connsiteX1" fmla="*/ 1986116 w 2102225"/>
              <a:gd name="connsiteY1" fmla="*/ 258228 h 435209"/>
              <a:gd name="connsiteX2" fmla="*/ 1209367 w 2102225"/>
              <a:gd name="connsiteY2" fmla="*/ 2590 h 435209"/>
              <a:gd name="connsiteX3" fmla="*/ 0 w 2102225"/>
              <a:gd name="connsiteY3" fmla="*/ 435209 h 435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2225" h="435209">
                <a:moveTo>
                  <a:pt x="2084438" y="327054"/>
                </a:moveTo>
                <a:cubicBezTo>
                  <a:pt x="2108199" y="319679"/>
                  <a:pt x="2131961" y="312305"/>
                  <a:pt x="1986116" y="258228"/>
                </a:cubicBezTo>
                <a:cubicBezTo>
                  <a:pt x="1840271" y="204151"/>
                  <a:pt x="1540386" y="-26907"/>
                  <a:pt x="1209367" y="2590"/>
                </a:cubicBezTo>
                <a:cubicBezTo>
                  <a:pt x="878348" y="32087"/>
                  <a:pt x="439174" y="233648"/>
                  <a:pt x="0" y="435209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AD5B9B4E-4F6F-79C9-505F-93DF5948F60A}"/>
              </a:ext>
            </a:extLst>
          </p:cNvPr>
          <p:cNvSpPr/>
          <p:nvPr/>
        </p:nvSpPr>
        <p:spPr>
          <a:xfrm>
            <a:off x="3833813" y="5157788"/>
            <a:ext cx="2055812" cy="600075"/>
          </a:xfrm>
          <a:custGeom>
            <a:avLst/>
            <a:gdLst>
              <a:gd name="connsiteX0" fmla="*/ 2054942 w 2054942"/>
              <a:gd name="connsiteY0" fmla="*/ 98322 h 600506"/>
              <a:gd name="connsiteX1" fmla="*/ 884903 w 2054942"/>
              <a:gd name="connsiteY1" fmla="*/ 599768 h 600506"/>
              <a:gd name="connsiteX2" fmla="*/ 0 w 2054942"/>
              <a:gd name="connsiteY2" fmla="*/ 0 h 60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4942" h="600506">
                <a:moveTo>
                  <a:pt x="2054942" y="98322"/>
                </a:moveTo>
                <a:cubicBezTo>
                  <a:pt x="1641167" y="357238"/>
                  <a:pt x="1227393" y="616155"/>
                  <a:pt x="884903" y="599768"/>
                </a:cubicBezTo>
                <a:cubicBezTo>
                  <a:pt x="542413" y="583381"/>
                  <a:pt x="271206" y="291690"/>
                  <a:pt x="0" y="0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CB1F82C-C75A-C337-5F42-4D3FDC640F0D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4514850"/>
            <a:ext cx="1620838" cy="1793875"/>
            <a:chOff x="5940152" y="4077072"/>
            <a:chExt cx="1620534" cy="1793160"/>
          </a:xfrm>
        </p:grpSpPr>
        <p:sp>
          <p:nvSpPr>
            <p:cNvPr id="44043" name="Text Box 87">
              <a:extLst>
                <a:ext uri="{FF2B5EF4-FFF2-40B4-BE49-F238E27FC236}">
                  <a16:creationId xmlns:a16="http://schemas.microsoft.com/office/drawing/2014/main" id="{0DB32BDB-9BEA-B3A4-622A-71FFF6391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935" y="4445136"/>
              <a:ext cx="1619751" cy="3595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Base::f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4" name="Text Box 88">
              <a:extLst>
                <a:ext uri="{FF2B5EF4-FFF2-40B4-BE49-F238E27FC236}">
                  <a16:creationId xmlns:a16="http://schemas.microsoft.com/office/drawing/2014/main" id="{7469FA8F-DC9E-84B4-1FF4-95E6B50ED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3" y="4798157"/>
              <a:ext cx="1619751" cy="3595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Base::g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5" name="Text Box 87">
              <a:extLst>
                <a:ext uri="{FF2B5EF4-FFF2-40B4-BE49-F238E27FC236}">
                  <a16:creationId xmlns:a16="http://schemas.microsoft.com/office/drawing/2014/main" id="{0E122FCB-3321-929B-CEA1-EAAB60086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2" y="4077072"/>
              <a:ext cx="1619751" cy="359527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Vtable Derived</a:t>
              </a:r>
            </a:p>
          </p:txBody>
        </p:sp>
        <p:sp>
          <p:nvSpPr>
            <p:cNvPr id="44046" name="Text Box 87">
              <a:extLst>
                <a:ext uri="{FF2B5EF4-FFF2-40B4-BE49-F238E27FC236}">
                  <a16:creationId xmlns:a16="http://schemas.microsoft.com/office/drawing/2014/main" id="{2F93867D-E871-CB42-9476-669D3C91B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934" y="5157684"/>
              <a:ext cx="1619751" cy="3595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Derived::k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7" name="Text Box 88">
              <a:extLst>
                <a:ext uri="{FF2B5EF4-FFF2-40B4-BE49-F238E27FC236}">
                  <a16:creationId xmlns:a16="http://schemas.microsoft.com/office/drawing/2014/main" id="{5D3DE422-279B-E00B-DD53-EE4EA4D370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2" y="5510705"/>
              <a:ext cx="1619751" cy="3595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Derived::h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>
            <a:extLst>
              <a:ext uri="{FF2B5EF4-FFF2-40B4-BE49-F238E27FC236}">
                <a16:creationId xmlns:a16="http://schemas.microsoft.com/office/drawing/2014/main" id="{6A275F2A-89B9-D091-2BEA-0BC850F77A3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609600" y="597715"/>
            <a:ext cx="8229600" cy="1150938"/>
          </a:xfrm>
        </p:spPr>
        <p:txBody>
          <a:bodyPr/>
          <a:lstStyle/>
          <a:p>
            <a:pPr marL="457200" lvl="1" indent="-457200" eaLnBrk="1" hangingPunct="1">
              <a:buFont typeface="Franklin Gothic Book" panose="020B0503020102020204" pitchFamily="34" charset="0"/>
              <a:buAutoNum type="arabicPeriod" startAt="2"/>
            </a:pPr>
            <a:r>
              <a:rPr lang="zh-CN" altLang="en-US" dirty="0"/>
              <a:t>在有虚函数的</a:t>
            </a:r>
            <a:r>
              <a:rPr lang="zh-CN" altLang="en-US" dirty="0">
                <a:solidFill>
                  <a:srgbClr val="FF0000"/>
                </a:solidFill>
              </a:rPr>
              <a:t>类对象</a:t>
            </a:r>
            <a:r>
              <a:rPr lang="zh-CN" altLang="en-US" dirty="0"/>
              <a:t>中，</a:t>
            </a:r>
            <a:r>
              <a:rPr lang="en-US" altLang="zh-CN" dirty="0"/>
              <a:t>C++</a:t>
            </a:r>
            <a:r>
              <a:rPr lang="zh-CN" altLang="en-US" dirty="0"/>
              <a:t>除了为它保存每个成员变量外，还保存了一个指向本类</a:t>
            </a:r>
            <a:r>
              <a:rPr lang="zh-CN" altLang="en-US" dirty="0">
                <a:solidFill>
                  <a:srgbClr val="FF0000"/>
                </a:solidFill>
              </a:rPr>
              <a:t>虚函数表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指针</a:t>
            </a:r>
            <a:r>
              <a:rPr lang="zh-CN" altLang="en-US" dirty="0"/>
              <a:t>（</a:t>
            </a:r>
            <a:r>
              <a:rPr lang="en-US" altLang="zh-CN" dirty="0" err="1">
                <a:solidFill>
                  <a:srgbClr val="FF0000"/>
                </a:solidFill>
              </a:rPr>
              <a:t>vfptr</a:t>
            </a:r>
            <a:r>
              <a:rPr lang="zh-CN" altLang="en-US" dirty="0"/>
              <a:t>）。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80F2A3-3421-36FD-B2BF-8217F1603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2441575"/>
            <a:ext cx="3613150" cy="397031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private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200" b="1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m_ib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virtual void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 () 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virtual void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g () {}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Derived : </a:t>
            </a: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private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200" b="1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m_id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virtual void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k () 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virtual void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h () 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Derived 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Base * pb = </a:t>
            </a:r>
            <a:r>
              <a:rPr lang="en-US" altLang="zh-CN" sz="1200" b="1" dirty="0">
                <a:latin typeface="Consolas" panose="020B0609020204030204" pitchFamily="49" charset="0"/>
                <a:ea typeface="宋体" panose="02010600030101010101" pitchFamily="2" charset="-122"/>
              </a:rPr>
              <a:t>&amp;d;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pb-&gt;f();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2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return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2B24814-6065-2949-8B1C-21FCBA6714D6}"/>
              </a:ext>
            </a:extLst>
          </p:cNvPr>
          <p:cNvGrpSpPr>
            <a:grpSpLocks/>
          </p:cNvGrpSpPr>
          <p:nvPr/>
        </p:nvGrpSpPr>
        <p:grpSpPr bwMode="auto">
          <a:xfrm>
            <a:off x="4818063" y="4578350"/>
            <a:ext cx="1620837" cy="1439863"/>
            <a:chOff x="5940152" y="4077072"/>
            <a:chExt cx="1620534" cy="1440139"/>
          </a:xfrm>
        </p:grpSpPr>
        <p:sp>
          <p:nvSpPr>
            <p:cNvPr id="45072" name="Text Box 87">
              <a:extLst>
                <a:ext uri="{FF2B5EF4-FFF2-40B4-BE49-F238E27FC236}">
                  <a16:creationId xmlns:a16="http://schemas.microsoft.com/office/drawing/2014/main" id="{5C6C9D1C-9469-B98D-B928-1E895AE60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935" y="4445136"/>
              <a:ext cx="1619751" cy="3595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vfptr</a:t>
              </a:r>
            </a:p>
          </p:txBody>
        </p:sp>
        <p:sp>
          <p:nvSpPr>
            <p:cNvPr id="45073" name="Text Box 88">
              <a:extLst>
                <a:ext uri="{FF2B5EF4-FFF2-40B4-BE49-F238E27FC236}">
                  <a16:creationId xmlns:a16="http://schemas.microsoft.com/office/drawing/2014/main" id="{EFE0C23E-D0D8-368C-4ED8-3226C800E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3" y="4798157"/>
              <a:ext cx="1619751" cy="3595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m_ib</a:t>
              </a:r>
            </a:p>
          </p:txBody>
        </p:sp>
        <p:sp>
          <p:nvSpPr>
            <p:cNvPr id="45074" name="Text Box 87">
              <a:extLst>
                <a:ext uri="{FF2B5EF4-FFF2-40B4-BE49-F238E27FC236}">
                  <a16:creationId xmlns:a16="http://schemas.microsoft.com/office/drawing/2014/main" id="{E551694E-B56E-1E99-5FCF-182CA7D36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2" y="4077072"/>
              <a:ext cx="1619751" cy="35952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Derived::d</a:t>
              </a:r>
            </a:p>
          </p:txBody>
        </p:sp>
        <p:sp>
          <p:nvSpPr>
            <p:cNvPr id="45075" name="Text Box 87">
              <a:extLst>
                <a:ext uri="{FF2B5EF4-FFF2-40B4-BE49-F238E27FC236}">
                  <a16:creationId xmlns:a16="http://schemas.microsoft.com/office/drawing/2014/main" id="{9FD8F66E-109A-4945-A205-FCC7C786B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934" y="5157684"/>
              <a:ext cx="1619751" cy="3595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m_id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E8B2CEE-2C15-0614-E2B2-A191828550B4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4371975"/>
            <a:ext cx="1619250" cy="1793875"/>
            <a:chOff x="5940152" y="4077072"/>
            <a:chExt cx="1620534" cy="1793160"/>
          </a:xfrm>
        </p:grpSpPr>
        <p:sp>
          <p:nvSpPr>
            <p:cNvPr id="45067" name="Text Box 87">
              <a:extLst>
                <a:ext uri="{FF2B5EF4-FFF2-40B4-BE49-F238E27FC236}">
                  <a16:creationId xmlns:a16="http://schemas.microsoft.com/office/drawing/2014/main" id="{8BF3C86F-B50B-60B7-44BC-29242354C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935" y="4445136"/>
              <a:ext cx="1619751" cy="3595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Base::f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68" name="Text Box 88">
              <a:extLst>
                <a:ext uri="{FF2B5EF4-FFF2-40B4-BE49-F238E27FC236}">
                  <a16:creationId xmlns:a16="http://schemas.microsoft.com/office/drawing/2014/main" id="{3CF56B59-F6D6-3030-C0E9-EF2DD12A8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3" y="4798157"/>
              <a:ext cx="1619751" cy="3595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Base::g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69" name="Text Box 87">
              <a:extLst>
                <a:ext uri="{FF2B5EF4-FFF2-40B4-BE49-F238E27FC236}">
                  <a16:creationId xmlns:a16="http://schemas.microsoft.com/office/drawing/2014/main" id="{B8E000CD-298C-466A-55DB-83538AD4F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2" y="4077072"/>
              <a:ext cx="1619751" cy="359527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Vtable Derived</a:t>
              </a:r>
            </a:p>
          </p:txBody>
        </p:sp>
        <p:sp>
          <p:nvSpPr>
            <p:cNvPr id="45070" name="Text Box 87">
              <a:extLst>
                <a:ext uri="{FF2B5EF4-FFF2-40B4-BE49-F238E27FC236}">
                  <a16:creationId xmlns:a16="http://schemas.microsoft.com/office/drawing/2014/main" id="{D85A12A9-2AE6-4EE2-2AA1-B8CA8F9C8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934" y="5157684"/>
              <a:ext cx="1619751" cy="3595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Derived::k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71" name="Text Box 88">
              <a:extLst>
                <a:ext uri="{FF2B5EF4-FFF2-40B4-BE49-F238E27FC236}">
                  <a16:creationId xmlns:a16="http://schemas.microsoft.com/office/drawing/2014/main" id="{B4957329-9254-C04B-D07C-193DCC7F0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2" y="5510705"/>
              <a:ext cx="1619751" cy="3595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Derived::h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06C7045-C16F-95B4-5450-16782989F0BD}"/>
              </a:ext>
            </a:extLst>
          </p:cNvPr>
          <p:cNvCxnSpPr>
            <a:stCxn id="45072" idx="3"/>
            <a:endCxn id="45067" idx="1"/>
          </p:cNvCxnSpPr>
          <p:nvPr/>
        </p:nvCxnSpPr>
        <p:spPr>
          <a:xfrm flipV="1">
            <a:off x="6438900" y="4919663"/>
            <a:ext cx="654050" cy="206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左大括号 45">
            <a:extLst>
              <a:ext uri="{FF2B5EF4-FFF2-40B4-BE49-F238E27FC236}">
                <a16:creationId xmlns:a16="http://schemas.microsoft.com/office/drawing/2014/main" id="{36409157-DD23-AC97-912A-1359DE2A98F4}"/>
              </a:ext>
            </a:extLst>
          </p:cNvPr>
          <p:cNvSpPr/>
          <p:nvPr/>
        </p:nvSpPr>
        <p:spPr>
          <a:xfrm>
            <a:off x="4641850" y="4946650"/>
            <a:ext cx="176213" cy="712788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7" name="任意多边形 46">
            <a:extLst>
              <a:ext uri="{FF2B5EF4-FFF2-40B4-BE49-F238E27FC236}">
                <a16:creationId xmlns:a16="http://schemas.microsoft.com/office/drawing/2014/main" id="{057CA214-3107-2204-08F8-37DAAE378867}"/>
              </a:ext>
            </a:extLst>
          </p:cNvPr>
          <p:cNvSpPr/>
          <p:nvPr/>
        </p:nvSpPr>
        <p:spPr>
          <a:xfrm>
            <a:off x="2006600" y="5605463"/>
            <a:ext cx="2633663" cy="273050"/>
          </a:xfrm>
          <a:custGeom>
            <a:avLst/>
            <a:gdLst>
              <a:gd name="connsiteX0" fmla="*/ 2723535 w 2723535"/>
              <a:gd name="connsiteY0" fmla="*/ 0 h 2882667"/>
              <a:gd name="connsiteX1" fmla="*/ 1150374 w 2723535"/>
              <a:gd name="connsiteY1" fmla="*/ 2743200 h 2882667"/>
              <a:gd name="connsiteX2" fmla="*/ 0 w 2723535"/>
              <a:gd name="connsiteY2" fmla="*/ 2231923 h 288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3535" h="2882667">
                <a:moveTo>
                  <a:pt x="2723535" y="0"/>
                </a:moveTo>
                <a:cubicBezTo>
                  <a:pt x="2163915" y="1185606"/>
                  <a:pt x="1604296" y="2371213"/>
                  <a:pt x="1150374" y="2743200"/>
                </a:cubicBezTo>
                <a:cubicBezTo>
                  <a:pt x="696451" y="3115187"/>
                  <a:pt x="348225" y="2673555"/>
                  <a:pt x="0" y="2231923"/>
                </a:cubicBezTo>
              </a:path>
            </a:pathLst>
          </a:custGeom>
          <a:noFill/>
          <a:ln w="19050"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Text Box 87">
            <a:extLst>
              <a:ext uri="{FF2B5EF4-FFF2-40B4-BE49-F238E27FC236}">
                <a16:creationId xmlns:a16="http://schemas.microsoft.com/office/drawing/2014/main" id="{32E6B38B-8907-0DE5-A17E-8214CC527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763" y="5153025"/>
            <a:ext cx="1079500" cy="358775"/>
          </a:xfrm>
          <a:prstGeom prst="rect">
            <a:avLst/>
          </a:prstGeom>
          <a:solidFill>
            <a:srgbClr val="92D05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Base::b</a:t>
            </a:r>
          </a:p>
        </p:txBody>
      </p:sp>
      <p:sp>
        <p:nvSpPr>
          <p:cNvPr id="48" name="任意多边形 47">
            <a:extLst>
              <a:ext uri="{FF2B5EF4-FFF2-40B4-BE49-F238E27FC236}">
                <a16:creationId xmlns:a16="http://schemas.microsoft.com/office/drawing/2014/main" id="{ACC9A577-D3D8-A809-3AC5-B7EB5238134B}"/>
              </a:ext>
            </a:extLst>
          </p:cNvPr>
          <p:cNvSpPr/>
          <p:nvPr/>
        </p:nvSpPr>
        <p:spPr>
          <a:xfrm>
            <a:off x="2006600" y="4400550"/>
            <a:ext cx="2997200" cy="1052513"/>
          </a:xfrm>
          <a:custGeom>
            <a:avLst/>
            <a:gdLst>
              <a:gd name="connsiteX0" fmla="*/ 0 w 3077497"/>
              <a:gd name="connsiteY0" fmla="*/ 3063315 h 3063315"/>
              <a:gd name="connsiteX1" fmla="*/ 285135 w 3077497"/>
              <a:gd name="connsiteY1" fmla="*/ 2630696 h 3063315"/>
              <a:gd name="connsiteX2" fmla="*/ 1297858 w 3077497"/>
              <a:gd name="connsiteY2" fmla="*/ 644580 h 3063315"/>
              <a:gd name="connsiteX3" fmla="*/ 2477729 w 3077497"/>
              <a:gd name="connsiteY3" fmla="*/ 5483 h 3063315"/>
              <a:gd name="connsiteX4" fmla="*/ 3077497 w 3077497"/>
              <a:gd name="connsiteY4" fmla="*/ 388941 h 3063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7497" h="3063315">
                <a:moveTo>
                  <a:pt x="0" y="3063315"/>
                </a:moveTo>
                <a:cubicBezTo>
                  <a:pt x="34412" y="3048567"/>
                  <a:pt x="68825" y="3033819"/>
                  <a:pt x="285135" y="2630696"/>
                </a:cubicBezTo>
                <a:cubicBezTo>
                  <a:pt x="501445" y="2227573"/>
                  <a:pt x="932426" y="1082115"/>
                  <a:pt x="1297858" y="644580"/>
                </a:cubicBezTo>
                <a:cubicBezTo>
                  <a:pt x="1663290" y="207045"/>
                  <a:pt x="2181123" y="48089"/>
                  <a:pt x="2477729" y="5483"/>
                </a:cubicBezTo>
                <a:cubicBezTo>
                  <a:pt x="2774335" y="-37123"/>
                  <a:pt x="2925916" y="175909"/>
                  <a:pt x="3077497" y="388941"/>
                </a:cubicBezTo>
              </a:path>
            </a:pathLst>
          </a:custGeom>
          <a:noFill/>
          <a:ln w="190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6" grpId="0" animBg="1"/>
      <p:bldP spid="4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D935F125-D704-C755-29D0-ED83459F6CAC}"/>
              </a:ext>
            </a:extLst>
          </p:cNvPr>
          <p:cNvSpPr/>
          <p:nvPr/>
        </p:nvSpPr>
        <p:spPr>
          <a:xfrm>
            <a:off x="755650" y="2997200"/>
            <a:ext cx="3736975" cy="177006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6083" name="矩形 11">
            <a:extLst>
              <a:ext uri="{FF2B5EF4-FFF2-40B4-BE49-F238E27FC236}">
                <a16:creationId xmlns:a16="http://schemas.microsoft.com/office/drawing/2014/main" id="{ACA9A9A0-B56F-EEA3-CEF2-66FE0DB44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274763"/>
            <a:ext cx="3736975" cy="526297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private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m_ib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virtual</a:t>
            </a: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 () 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virtual 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g () {}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Derived : </a:t>
            </a: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{private: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int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m_id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virtual 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k () 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void f () 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Derived 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Base * pb = </a:t>
            </a:r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&amp;d;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pb-&gt;f();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return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</a:p>
        </p:txBody>
      </p:sp>
      <p:grpSp>
        <p:nvGrpSpPr>
          <p:cNvPr id="5" name="组合 18">
            <a:extLst>
              <a:ext uri="{FF2B5EF4-FFF2-40B4-BE49-F238E27FC236}">
                <a16:creationId xmlns:a16="http://schemas.microsoft.com/office/drawing/2014/main" id="{F74C242F-B36C-8E9F-E72C-C8D30332DA56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4497388"/>
            <a:ext cx="1620837" cy="1441450"/>
            <a:chOff x="5940152" y="4077072"/>
            <a:chExt cx="1620534" cy="1440139"/>
          </a:xfrm>
        </p:grpSpPr>
        <p:sp>
          <p:nvSpPr>
            <p:cNvPr id="46096" name="Text Box 87">
              <a:extLst>
                <a:ext uri="{FF2B5EF4-FFF2-40B4-BE49-F238E27FC236}">
                  <a16:creationId xmlns:a16="http://schemas.microsoft.com/office/drawing/2014/main" id="{2BE3B52C-B7EE-0EED-6D22-470EAF0714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935" y="4445136"/>
              <a:ext cx="1619751" cy="3595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vfptr</a:t>
              </a:r>
            </a:p>
          </p:txBody>
        </p:sp>
        <p:sp>
          <p:nvSpPr>
            <p:cNvPr id="46097" name="Text Box 88">
              <a:extLst>
                <a:ext uri="{FF2B5EF4-FFF2-40B4-BE49-F238E27FC236}">
                  <a16:creationId xmlns:a16="http://schemas.microsoft.com/office/drawing/2014/main" id="{D519B1DC-32D8-FDFA-457A-AEEFE281A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3" y="4798157"/>
              <a:ext cx="1619751" cy="3595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m_ib</a:t>
              </a:r>
            </a:p>
          </p:txBody>
        </p:sp>
        <p:sp>
          <p:nvSpPr>
            <p:cNvPr id="46098" name="Text Box 87">
              <a:extLst>
                <a:ext uri="{FF2B5EF4-FFF2-40B4-BE49-F238E27FC236}">
                  <a16:creationId xmlns:a16="http://schemas.microsoft.com/office/drawing/2014/main" id="{8F14AF54-82A7-63A5-2172-793965BA4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2" y="4077072"/>
              <a:ext cx="1619751" cy="35952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Derived::d</a:t>
              </a:r>
            </a:p>
          </p:txBody>
        </p:sp>
        <p:sp>
          <p:nvSpPr>
            <p:cNvPr id="46099" name="Text Box 87">
              <a:extLst>
                <a:ext uri="{FF2B5EF4-FFF2-40B4-BE49-F238E27FC236}">
                  <a16:creationId xmlns:a16="http://schemas.microsoft.com/office/drawing/2014/main" id="{3F6C9CA2-79CE-955C-B514-4C2DFA4A7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934" y="5157684"/>
              <a:ext cx="1619751" cy="3595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m_id</a:t>
              </a:r>
            </a:p>
          </p:txBody>
        </p:sp>
      </p:grpSp>
      <p:grpSp>
        <p:nvGrpSpPr>
          <p:cNvPr id="25605" name="组合 34">
            <a:extLst>
              <a:ext uri="{FF2B5EF4-FFF2-40B4-BE49-F238E27FC236}">
                <a16:creationId xmlns:a16="http://schemas.microsoft.com/office/drawing/2014/main" id="{00D496CB-D432-E417-FE6F-B87BC0112DEB}"/>
              </a:ext>
            </a:extLst>
          </p:cNvPr>
          <p:cNvGrpSpPr>
            <a:grpSpLocks/>
          </p:cNvGrpSpPr>
          <p:nvPr/>
        </p:nvGrpSpPr>
        <p:grpSpPr bwMode="auto">
          <a:xfrm>
            <a:off x="7423150" y="4291013"/>
            <a:ext cx="1619250" cy="1439862"/>
            <a:chOff x="5940152" y="4077072"/>
            <a:chExt cx="1620534" cy="1440139"/>
          </a:xfrm>
        </p:grpSpPr>
        <p:sp>
          <p:nvSpPr>
            <p:cNvPr id="46092" name="Text Box 87">
              <a:extLst>
                <a:ext uri="{FF2B5EF4-FFF2-40B4-BE49-F238E27FC236}">
                  <a16:creationId xmlns:a16="http://schemas.microsoft.com/office/drawing/2014/main" id="{CAE8EA25-D02F-9CF8-0A6C-01658EACA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935" y="4445136"/>
              <a:ext cx="1619751" cy="3595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Derived::f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3" name="Text Box 88">
              <a:extLst>
                <a:ext uri="{FF2B5EF4-FFF2-40B4-BE49-F238E27FC236}">
                  <a16:creationId xmlns:a16="http://schemas.microsoft.com/office/drawing/2014/main" id="{31DE3DD1-3EDE-61CE-AC39-2E462D9FCB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3" y="4798157"/>
              <a:ext cx="1619751" cy="3595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Base::g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4" name="Text Box 87">
              <a:extLst>
                <a:ext uri="{FF2B5EF4-FFF2-40B4-BE49-F238E27FC236}">
                  <a16:creationId xmlns:a16="http://schemas.microsoft.com/office/drawing/2014/main" id="{D154E89F-D600-62C5-3869-AB69579B3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2" y="4077072"/>
              <a:ext cx="1619751" cy="359527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Vtable Derived</a:t>
              </a:r>
            </a:p>
          </p:txBody>
        </p:sp>
        <p:sp>
          <p:nvSpPr>
            <p:cNvPr id="46095" name="Text Box 87">
              <a:extLst>
                <a:ext uri="{FF2B5EF4-FFF2-40B4-BE49-F238E27FC236}">
                  <a16:creationId xmlns:a16="http://schemas.microsoft.com/office/drawing/2014/main" id="{38960FE8-777B-15AC-B46A-6F336EEB39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934" y="5157684"/>
              <a:ext cx="1619751" cy="3595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Derived::k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en-US" altLang="zh-CN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05C25B7-333F-FB57-29C1-C975A2D0C4ED}"/>
              </a:ext>
            </a:extLst>
          </p:cNvPr>
          <p:cNvCxnSpPr>
            <a:stCxn id="46096" idx="3"/>
            <a:endCxn id="46092" idx="1"/>
          </p:cNvCxnSpPr>
          <p:nvPr/>
        </p:nvCxnSpPr>
        <p:spPr>
          <a:xfrm flipV="1">
            <a:off x="6769100" y="4838700"/>
            <a:ext cx="654050" cy="207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左大括号 28">
            <a:extLst>
              <a:ext uri="{FF2B5EF4-FFF2-40B4-BE49-F238E27FC236}">
                <a16:creationId xmlns:a16="http://schemas.microsoft.com/office/drawing/2014/main" id="{7F884970-DE46-CB4F-DE3D-0F324EC8774C}"/>
              </a:ext>
            </a:extLst>
          </p:cNvPr>
          <p:cNvSpPr/>
          <p:nvPr/>
        </p:nvSpPr>
        <p:spPr>
          <a:xfrm>
            <a:off x="4972050" y="4865688"/>
            <a:ext cx="176213" cy="712787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584" name="Text Box 87">
            <a:extLst>
              <a:ext uri="{FF2B5EF4-FFF2-40B4-BE49-F238E27FC236}">
                <a16:creationId xmlns:a16="http://schemas.microsoft.com/office/drawing/2014/main" id="{AD38E5EE-1A3B-565F-33D1-46A234163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75" y="4960938"/>
            <a:ext cx="1079500" cy="360362"/>
          </a:xfrm>
          <a:prstGeom prst="rect">
            <a:avLst/>
          </a:prstGeom>
          <a:solidFill>
            <a:srgbClr val="92D05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Base::b</a:t>
            </a:r>
          </a:p>
        </p:txBody>
      </p:sp>
      <p:sp>
        <p:nvSpPr>
          <p:cNvPr id="4" name="任意多边形 3">
            <a:extLst>
              <a:ext uri="{FF2B5EF4-FFF2-40B4-BE49-F238E27FC236}">
                <a16:creationId xmlns:a16="http://schemas.microsoft.com/office/drawing/2014/main" id="{4C2E6327-50D3-C75A-82FB-4530FF0D8CD5}"/>
              </a:ext>
            </a:extLst>
          </p:cNvPr>
          <p:cNvSpPr/>
          <p:nvPr/>
        </p:nvSpPr>
        <p:spPr>
          <a:xfrm>
            <a:off x="1979613" y="5329238"/>
            <a:ext cx="3052762" cy="344487"/>
          </a:xfrm>
          <a:custGeom>
            <a:avLst/>
            <a:gdLst>
              <a:gd name="connsiteX0" fmla="*/ 0 w 2310581"/>
              <a:gd name="connsiteY0" fmla="*/ 1877962 h 1877962"/>
              <a:gd name="connsiteX1" fmla="*/ 1651820 w 2310581"/>
              <a:gd name="connsiteY1" fmla="*/ 1091381 h 1877962"/>
              <a:gd name="connsiteX2" fmla="*/ 2310581 w 2310581"/>
              <a:gd name="connsiteY2" fmla="*/ 0 h 1877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10581" h="1877962">
                <a:moveTo>
                  <a:pt x="0" y="1877962"/>
                </a:moveTo>
                <a:cubicBezTo>
                  <a:pt x="633361" y="1641168"/>
                  <a:pt x="1266723" y="1404375"/>
                  <a:pt x="1651820" y="1091381"/>
                </a:cubicBezTo>
                <a:cubicBezTo>
                  <a:pt x="2036917" y="778387"/>
                  <a:pt x="2173749" y="389193"/>
                  <a:pt x="2310581" y="0"/>
                </a:cubicBezTo>
              </a:path>
            </a:pathLst>
          </a:custGeom>
          <a:noFill/>
          <a:ln w="190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任意多边形 1">
            <a:extLst>
              <a:ext uri="{FF2B5EF4-FFF2-40B4-BE49-F238E27FC236}">
                <a16:creationId xmlns:a16="http://schemas.microsoft.com/office/drawing/2014/main" id="{6B8D4964-1CAE-DBC9-7E5B-1180800DB24F}"/>
              </a:ext>
            </a:extLst>
          </p:cNvPr>
          <p:cNvSpPr/>
          <p:nvPr/>
        </p:nvSpPr>
        <p:spPr>
          <a:xfrm>
            <a:off x="2035175" y="4364038"/>
            <a:ext cx="3116263" cy="896937"/>
          </a:xfrm>
          <a:custGeom>
            <a:avLst/>
            <a:gdLst>
              <a:gd name="connsiteX0" fmla="*/ 0 w 3116826"/>
              <a:gd name="connsiteY0" fmla="*/ 896186 h 896186"/>
              <a:gd name="connsiteX1" fmla="*/ 2172929 w 3116826"/>
              <a:gd name="connsiteY1" fmla="*/ 50612 h 896186"/>
              <a:gd name="connsiteX2" fmla="*/ 3116826 w 3116826"/>
              <a:gd name="connsiteY2" fmla="*/ 168599 h 89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16826" h="896186">
                <a:moveTo>
                  <a:pt x="0" y="896186"/>
                </a:moveTo>
                <a:cubicBezTo>
                  <a:pt x="826729" y="534031"/>
                  <a:pt x="1653458" y="171876"/>
                  <a:pt x="2172929" y="50612"/>
                </a:cubicBezTo>
                <a:cubicBezTo>
                  <a:pt x="2692400" y="-70652"/>
                  <a:pt x="2904613" y="48973"/>
                  <a:pt x="3116826" y="168599"/>
                </a:cubicBezTo>
              </a:path>
            </a:pathLst>
          </a:custGeom>
          <a:noFill/>
          <a:ln w="190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任意多边形 2">
            <a:extLst>
              <a:ext uri="{FF2B5EF4-FFF2-40B4-BE49-F238E27FC236}">
                <a16:creationId xmlns:a16="http://schemas.microsoft.com/office/drawing/2014/main" id="{F63BC35E-9F5E-2C9A-D1F5-AA6F3640A9E5}"/>
              </a:ext>
            </a:extLst>
          </p:cNvPr>
          <p:cNvSpPr/>
          <p:nvPr/>
        </p:nvSpPr>
        <p:spPr>
          <a:xfrm>
            <a:off x="4479925" y="2963863"/>
            <a:ext cx="3409950" cy="1320800"/>
          </a:xfrm>
          <a:custGeom>
            <a:avLst/>
            <a:gdLst>
              <a:gd name="connsiteX0" fmla="*/ 3409406 w 3409406"/>
              <a:gd name="connsiteY0" fmla="*/ 1321003 h 1321003"/>
              <a:gd name="connsiteX1" fmla="*/ 2743200 w 3409406"/>
              <a:gd name="connsiteY1" fmla="*/ 14717 h 1321003"/>
              <a:gd name="connsiteX2" fmla="*/ 0 w 3409406"/>
              <a:gd name="connsiteY2" fmla="*/ 733175 h 132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09406" h="1321003">
                <a:moveTo>
                  <a:pt x="3409406" y="1321003"/>
                </a:moveTo>
                <a:cubicBezTo>
                  <a:pt x="3360420" y="716845"/>
                  <a:pt x="3311434" y="112688"/>
                  <a:pt x="2743200" y="14717"/>
                </a:cubicBezTo>
                <a:cubicBezTo>
                  <a:pt x="2174966" y="-83254"/>
                  <a:pt x="1087483" y="324960"/>
                  <a:pt x="0" y="733175"/>
                </a:cubicBezTo>
              </a:path>
            </a:pathLst>
          </a:custGeom>
          <a:noFill/>
          <a:ln w="190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9" grpId="0" animBg="1"/>
      <p:bldP spid="2458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4D7860B-D501-E612-9B83-7EB593C55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638175"/>
            <a:ext cx="7543800" cy="76517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隶书" panose="02010509060101010101" pitchFamily="49" charset="-122"/>
              </a:rPr>
              <a:t>纯虚函数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D7EE9B4F-91D3-313A-2513-21CE7DC8B4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6800" y="1981200"/>
            <a:ext cx="7543800" cy="762000"/>
          </a:xfrm>
        </p:spPr>
        <p:txBody>
          <a:bodyPr/>
          <a:lstStyle/>
          <a:p>
            <a:pPr algn="just" eaLnBrk="1" hangingPunct="1"/>
            <a:r>
              <a:rPr lang="zh-CN" altLang="en-US" sz="2800" dirty="0">
                <a:latin typeface="华文楷体" panose="02010600040101010101" pitchFamily="2" charset="-122"/>
              </a:rPr>
              <a:t>定义纯虚函数的形式为：</a:t>
            </a: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0906AE8C-70AE-BBB9-5787-484DFC793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656" y="2895600"/>
            <a:ext cx="7278688" cy="293528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class </a:t>
            </a:r>
            <a:r>
              <a:rPr kumimoji="1" lang="zh-CN" altLang="en-US" sz="2800" dirty="0">
                <a:solidFill>
                  <a:schemeClr val="tx2"/>
                </a:solidFill>
                <a:latin typeface="Arial" charset="0"/>
              </a:rPr>
              <a:t>类名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{</a:t>
            </a:r>
            <a:r>
              <a:rPr kumimoji="1" lang="en-US" altLang="zh-CN" sz="2800" dirty="0">
                <a:solidFill>
                  <a:schemeClr val="tx2"/>
                </a:solidFill>
                <a:latin typeface="Times New Roman" pitchFamily="18" charset="0"/>
              </a:rPr>
              <a:t>…</a:t>
            </a:r>
            <a:endParaRPr kumimoji="1" lang="en-US" altLang="zh-CN" sz="2800" dirty="0">
              <a:solidFill>
                <a:schemeClr val="tx2"/>
              </a:solidFill>
              <a:latin typeface="Arial" charset="0"/>
            </a:endParaRP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Times New Roman" pitchFamily="18" charset="0"/>
              </a:rPr>
              <a:t>       </a:t>
            </a: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 virtual </a:t>
            </a:r>
            <a:r>
              <a:rPr kumimoji="1" lang="zh-CN" altLang="en-US" sz="2800" dirty="0">
                <a:solidFill>
                  <a:schemeClr val="tx2"/>
                </a:solidFill>
                <a:latin typeface="Arial" charset="0"/>
              </a:rPr>
              <a:t>返回值类型 函数名</a:t>
            </a: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(</a:t>
            </a:r>
            <a:r>
              <a:rPr kumimoji="1" lang="zh-CN" altLang="en-US" sz="2800" dirty="0">
                <a:solidFill>
                  <a:schemeClr val="tx2"/>
                </a:solidFill>
                <a:latin typeface="Arial" charset="0"/>
              </a:rPr>
              <a:t>参数表</a:t>
            </a: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) = 0</a:t>
            </a:r>
            <a:r>
              <a:rPr kumimoji="1" lang="zh-CN" altLang="en-US" sz="2800" dirty="0">
                <a:solidFill>
                  <a:schemeClr val="tx2"/>
                </a:solidFill>
                <a:latin typeface="Arial" charset="0"/>
              </a:rPr>
              <a:t>；</a:t>
            </a: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Times New Roman" pitchFamily="18" charset="0"/>
              </a:rPr>
              <a:t>…</a:t>
            </a:r>
            <a:endParaRPr kumimoji="1" lang="en-US" altLang="zh-CN" sz="2800" dirty="0">
              <a:solidFill>
                <a:schemeClr val="tx2"/>
              </a:solidFill>
              <a:latin typeface="Arial" charset="0"/>
            </a:endParaRP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 }</a:t>
            </a:r>
            <a:r>
              <a:rPr kumimoji="1" lang="zh-CN" altLang="en-US" sz="2800" dirty="0">
                <a:solidFill>
                  <a:schemeClr val="tx2"/>
                </a:solidFill>
                <a:latin typeface="Arial" charset="0"/>
              </a:rPr>
              <a:t>；</a:t>
            </a:r>
          </a:p>
          <a:p>
            <a:pPr eaLnBrk="1" hangingPunct="1">
              <a:defRPr/>
            </a:pPr>
            <a:endParaRPr kumimoji="1" lang="en-US" altLang="zh-CN" sz="2400" dirty="0">
              <a:solidFill>
                <a:schemeClr val="tx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>
            <a:extLst>
              <a:ext uri="{FF2B5EF4-FFF2-40B4-BE49-F238E27FC236}">
                <a16:creationId xmlns:a16="http://schemas.microsoft.com/office/drawing/2014/main" id="{B23B4BE2-FC80-A1CA-17A0-8B86C02C46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27660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华文楷体" panose="02010600040101010101" pitchFamily="2" charset="-122"/>
              </a:rPr>
              <a:t>纯虚函数在基类中声明后，不能在基类中定义函数体，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</a:rPr>
              <a:t>即，没有实现</a:t>
            </a:r>
          </a:p>
          <a:p>
            <a:pPr eaLnBrk="1" hangingPunct="1"/>
            <a:r>
              <a:rPr lang="zh-CN" altLang="en-US" sz="2800" dirty="0">
                <a:latin typeface="华文楷体" panose="02010600040101010101" pitchFamily="2" charset="-122"/>
              </a:rPr>
              <a:t>纯虚函数的具体实现只能在派生类中完成</a:t>
            </a:r>
          </a:p>
          <a:p>
            <a:pPr eaLnBrk="1" hangingPunct="1"/>
            <a:r>
              <a:rPr lang="zh-CN" altLang="en-US" sz="2800" dirty="0">
                <a:latin typeface="华文楷体" panose="02010600040101010101" pitchFamily="2" charset="-122"/>
              </a:rPr>
              <a:t>纯虚函数是为了实现多态性而存在的</a:t>
            </a:r>
            <a:endParaRPr lang="en-US" altLang="zh-CN" sz="2800" dirty="0">
              <a:latin typeface="华文楷体" panose="02010600040101010101" pitchFamily="2" charset="-122"/>
            </a:endParaRPr>
          </a:p>
          <a:p>
            <a:pPr eaLnBrk="1" hangingPunct="1"/>
            <a:endParaRPr lang="en-US" altLang="zh-CN" sz="2800" dirty="0">
              <a:latin typeface="华文楷体" panose="02010600040101010101" pitchFamily="2" charset="-122"/>
            </a:endParaRPr>
          </a:p>
          <a:p>
            <a:pPr eaLnBrk="1" hangingPunct="1"/>
            <a:r>
              <a:rPr lang="zh-CN" altLang="en-US" sz="2800" dirty="0">
                <a:latin typeface="华文楷体" panose="02010600040101010101" pitchFamily="2" charset="-122"/>
              </a:rPr>
              <a:t>在基类中，只声明接口，不实现</a:t>
            </a: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id="{1ECA6866-DB18-C54C-02CC-B80B37E9F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912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BE192CF2-6EAF-B645-9945-FA0B20E9A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030" y="1741712"/>
            <a:ext cx="7588937" cy="15573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class </a:t>
            </a:r>
            <a:r>
              <a:rPr kumimoji="1" lang="zh-CN" altLang="en-US" sz="2800" dirty="0">
                <a:solidFill>
                  <a:schemeClr val="tx2"/>
                </a:solidFill>
                <a:latin typeface="Arial" charset="0"/>
              </a:rPr>
              <a:t>类名</a:t>
            </a: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{</a:t>
            </a:r>
            <a:r>
              <a:rPr kumimoji="1" lang="en-US" altLang="zh-CN" sz="2800" dirty="0">
                <a:solidFill>
                  <a:schemeClr val="tx2"/>
                </a:solidFill>
                <a:latin typeface="Times New Roman" pitchFamily="18" charset="0"/>
              </a:rPr>
              <a:t>…</a:t>
            </a:r>
            <a:endParaRPr kumimoji="1" lang="en-US" altLang="zh-CN" sz="2800" dirty="0">
              <a:solidFill>
                <a:schemeClr val="tx2"/>
              </a:solidFill>
              <a:latin typeface="Arial" charset="0"/>
            </a:endParaRP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Times New Roman" pitchFamily="18" charset="0"/>
              </a:rPr>
              <a:t>       </a:t>
            </a: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 virtual </a:t>
            </a:r>
            <a:r>
              <a:rPr kumimoji="1" lang="zh-CN" altLang="en-US" sz="2800" dirty="0">
                <a:solidFill>
                  <a:schemeClr val="tx2"/>
                </a:solidFill>
                <a:latin typeface="Arial" charset="0"/>
              </a:rPr>
              <a:t>返回值类型 函数名</a:t>
            </a: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(</a:t>
            </a:r>
            <a:r>
              <a:rPr kumimoji="1" lang="zh-CN" altLang="en-US" sz="2800" dirty="0">
                <a:solidFill>
                  <a:schemeClr val="tx2"/>
                </a:solidFill>
                <a:latin typeface="Arial" charset="0"/>
              </a:rPr>
              <a:t>参数表</a:t>
            </a: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) = 0</a:t>
            </a:r>
            <a:r>
              <a:rPr kumimoji="1" lang="zh-CN" altLang="en-US" sz="2800" dirty="0">
                <a:solidFill>
                  <a:schemeClr val="tx2"/>
                </a:solidFill>
                <a:latin typeface="Arial" charset="0"/>
              </a:rPr>
              <a:t>；</a:t>
            </a:r>
            <a:r>
              <a:rPr kumimoji="1" lang="en-US" altLang="zh-CN" sz="2800" dirty="0">
                <a:solidFill>
                  <a:schemeClr val="tx2"/>
                </a:solidFill>
                <a:latin typeface="Times New Roman" pitchFamily="18" charset="0"/>
              </a:rPr>
              <a:t>…</a:t>
            </a:r>
            <a:endParaRPr kumimoji="1" lang="en-US" altLang="zh-CN" sz="2800" dirty="0">
              <a:solidFill>
                <a:schemeClr val="tx2"/>
              </a:solidFill>
              <a:latin typeface="Arial" charset="0"/>
            </a:endParaRPr>
          </a:p>
          <a:p>
            <a:pPr eaLnBrk="1" hangingPunct="1">
              <a:spcBef>
                <a:spcPct val="20000"/>
              </a:spcBef>
              <a:buSzPct val="85000"/>
              <a:defRPr/>
            </a:pPr>
            <a:r>
              <a:rPr kumimoji="1" lang="en-US" altLang="zh-CN" sz="2800" dirty="0">
                <a:solidFill>
                  <a:schemeClr val="tx2"/>
                </a:solidFill>
                <a:latin typeface="Arial" charset="0"/>
              </a:rPr>
              <a:t> }</a:t>
            </a:r>
            <a:r>
              <a:rPr kumimoji="1" lang="zh-CN" altLang="en-US" sz="2800" dirty="0">
                <a:solidFill>
                  <a:schemeClr val="tx2"/>
                </a:solidFill>
                <a:latin typeface="Arial" charset="0"/>
              </a:rPr>
              <a:t>；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B8F171D-A4A9-2046-BA25-D5E9825A5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00" y="1143000"/>
            <a:ext cx="7543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/>
            <a:r>
              <a:rPr lang="zh-CN" altLang="en-US" sz="2800" dirty="0">
                <a:latin typeface="华文楷体" panose="02010600040101010101" pitchFamily="2" charset="-122"/>
              </a:rPr>
              <a:t>定义纯虚函数的形式为：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2ACBC36-76A3-B34A-8A90-FE89D766E0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382290"/>
            <a:ext cx="7543800" cy="76517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隶书" panose="02010509060101010101" pitchFamily="49" charset="-122"/>
              </a:rPr>
              <a:t>纯虚函数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C38FB667-63C2-0B4E-E22D-E90244C1E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638175"/>
            <a:ext cx="7543800" cy="765175"/>
          </a:xfrm>
        </p:spPr>
        <p:txBody>
          <a:bodyPr/>
          <a:lstStyle/>
          <a:p>
            <a:pPr eaLnBrk="1" hangingPunct="1"/>
            <a:r>
              <a:rPr lang="zh-CN" altLang="en-US">
                <a:latin typeface="隶书" panose="02010509060101010101" pitchFamily="49" charset="-122"/>
              </a:rPr>
              <a:t>抽象类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263ABE2C-F452-839D-0BF8-AC53D895A3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latin typeface="华文楷体" panose="02010600040101010101" pitchFamily="2" charset="-122"/>
              </a:rPr>
              <a:t>如果一个类中至少有一个纯虚函数，那么这个类成为抽象类（</a:t>
            </a:r>
            <a:r>
              <a:rPr lang="en-US" altLang="zh-CN" sz="2800" dirty="0">
                <a:latin typeface="华文楷体" panose="02010600040101010101" pitchFamily="2" charset="-122"/>
              </a:rPr>
              <a:t>abstract class</a:t>
            </a:r>
            <a:r>
              <a:rPr lang="zh-CN" altLang="en-US" sz="2800" dirty="0">
                <a:latin typeface="华文楷体" panose="02010600040101010101" pitchFamily="2" charset="-122"/>
              </a:rPr>
              <a:t>）</a:t>
            </a:r>
            <a:endParaRPr lang="en-US" altLang="zh-CN" sz="2800" dirty="0">
              <a:latin typeface="华文楷体" panose="02010600040101010101" pitchFamily="2" charset="-122"/>
            </a:endParaRPr>
          </a:p>
          <a:p>
            <a:pPr eaLnBrk="1" hangingPunct="1"/>
            <a:endParaRPr lang="en-US" altLang="zh-CN" sz="2800" dirty="0">
              <a:latin typeface="华文楷体" panose="02010600040101010101" pitchFamily="2" charset="-122"/>
            </a:endParaRPr>
          </a:p>
          <a:p>
            <a:pPr eaLnBrk="1" hangingPunct="1"/>
            <a:r>
              <a:rPr lang="zh-CN" altLang="en-US" sz="2800" dirty="0">
                <a:latin typeface="华文楷体" panose="02010600040101010101" pitchFamily="2" charset="-122"/>
              </a:rPr>
              <a:t>不能声明抽象类对象</a:t>
            </a:r>
          </a:p>
          <a:p>
            <a:pPr eaLnBrk="1" hangingPunct="1"/>
            <a:r>
              <a:rPr lang="zh-CN" altLang="en-US" sz="2800" dirty="0">
                <a:latin typeface="华文楷体" panose="02010600040101010101" pitchFamily="2" charset="-122"/>
              </a:rPr>
              <a:t>只作为基类被继承，无派生类的抽象类毫无意义</a:t>
            </a:r>
          </a:p>
          <a:p>
            <a:pPr eaLnBrk="1" hangingPunct="1"/>
            <a:r>
              <a:rPr lang="zh-CN" altLang="en-US" sz="2800" dirty="0">
                <a:latin typeface="华文楷体" panose="02010600040101010101" pitchFamily="2" charset="-122"/>
              </a:rPr>
              <a:t>可以定义指向抽象类的指针和引用，它们必然指向或引用派生类对象</a:t>
            </a:r>
          </a:p>
          <a:p>
            <a:pPr eaLnBrk="1" hangingPunct="1"/>
            <a:endParaRPr lang="zh-CN" altLang="en-US" sz="2800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1A2CA14-9A5A-A454-39EA-B56A0F46DC41}"/>
              </a:ext>
            </a:extLst>
          </p:cNvPr>
          <p:cNvSpPr/>
          <p:nvPr/>
        </p:nvSpPr>
        <p:spPr>
          <a:xfrm>
            <a:off x="1" y="76200"/>
            <a:ext cx="3276600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m_strName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[20];</a:t>
            </a:r>
          </a:p>
          <a:p>
            <a:pPr marL="365125">
              <a:defRPr/>
            </a:pP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m_nAge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m_strColor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[12];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protected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m_strType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[10];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*,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*);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GetName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m_strName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GetAge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m_nAge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 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GetColor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m_strColor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GetType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m_strType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virtual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Speak() = 0;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ShowInfo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virtual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~Pet()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"A pet be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     deconstructed!\n"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214758-02AF-393C-27A8-79A4022C1E30}"/>
              </a:ext>
            </a:extLst>
          </p:cNvPr>
          <p:cNvSpPr/>
          <p:nvPr/>
        </p:nvSpPr>
        <p:spPr>
          <a:xfrm>
            <a:off x="3362325" y="76200"/>
            <a:ext cx="5324475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::Pet(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age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color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strcpy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m_strName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1950">
              <a:defRPr/>
            </a:pP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m_nAge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age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1950">
              <a:defRPr/>
            </a:pP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strcpy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m_strColor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color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1950">
              <a:defRPr/>
            </a:pP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strcpy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m_strType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"Pet"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1950">
              <a:defRPr/>
            </a:pP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"A pet be constructed!\n"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ShowInfo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 pet's type: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m_strType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3538">
              <a:defRPr/>
            </a:pP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m_strType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"\'s name:" </a:t>
            </a:r>
          </a:p>
          <a:p>
            <a:pPr marL="363538">
              <a:defRPr/>
            </a:pP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m_strName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3538">
              <a:defRPr/>
            </a:pP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m_strType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"\'s age:" </a:t>
            </a:r>
          </a:p>
          <a:p>
            <a:pPr marL="363538">
              <a:defRPr/>
            </a:pP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m_nAge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3538">
              <a:defRPr/>
            </a:pP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m_strType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"\'s color:"</a:t>
            </a:r>
          </a:p>
          <a:p>
            <a:pPr marL="363538">
              <a:defRPr/>
            </a:pP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m_strColor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3538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Speak();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25D2E4-C58F-C747-A457-2ED9C90140ED}"/>
              </a:ext>
            </a:extLst>
          </p:cNvPr>
          <p:cNvSpPr/>
          <p:nvPr/>
        </p:nvSpPr>
        <p:spPr>
          <a:xfrm>
            <a:off x="3435350" y="4981575"/>
            <a:ext cx="1108075" cy="369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>
                <a:ea typeface="宋体" charset="-122"/>
              </a:rPr>
              <a:t>纯虚函数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4D5AC8-3485-D53D-4A7D-6EEF911D0A66}"/>
              </a:ext>
            </a:extLst>
          </p:cNvPr>
          <p:cNvSpPr/>
          <p:nvPr/>
        </p:nvSpPr>
        <p:spPr>
          <a:xfrm>
            <a:off x="5334000" y="3886200"/>
            <a:ext cx="3170237" cy="646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 err="1">
                <a:ea typeface="宋体" charset="-122"/>
              </a:rPr>
              <a:t>ShowInfo</a:t>
            </a:r>
            <a:r>
              <a:rPr lang="en-US" altLang="zh-CN" dirty="0">
                <a:ea typeface="宋体" charset="-122"/>
              </a:rPr>
              <a:t>()</a:t>
            </a:r>
            <a:r>
              <a:rPr lang="zh-CN" altLang="en-US" dirty="0">
                <a:ea typeface="宋体" charset="-122"/>
              </a:rPr>
              <a:t>在抽象类中定义，</a:t>
            </a:r>
            <a:endParaRPr lang="en-US" altLang="zh-CN" dirty="0">
              <a:ea typeface="宋体" charset="-122"/>
            </a:endParaRPr>
          </a:p>
          <a:p>
            <a:pPr>
              <a:defRPr/>
            </a:pPr>
            <a:r>
              <a:rPr lang="zh-CN" altLang="en-US" dirty="0">
                <a:ea typeface="宋体" charset="-122"/>
              </a:rPr>
              <a:t>但一直到子类中才能使用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B0E120C7-B0B3-596C-7D15-4EF9AE43E47D}"/>
              </a:ext>
            </a:extLst>
          </p:cNvPr>
          <p:cNvSpPr/>
          <p:nvPr/>
        </p:nvSpPr>
        <p:spPr>
          <a:xfrm>
            <a:off x="304800" y="5029200"/>
            <a:ext cx="2835275" cy="228600"/>
          </a:xfrm>
          <a:prstGeom prst="round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62E3575-D7C4-556D-DF35-6DB44CEBECA0}"/>
              </a:ext>
            </a:extLst>
          </p:cNvPr>
          <p:cNvSpPr/>
          <p:nvPr/>
        </p:nvSpPr>
        <p:spPr>
          <a:xfrm>
            <a:off x="80356" y="76200"/>
            <a:ext cx="7658794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Cat(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age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color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 :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age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color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strcpy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m_strType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"Cat"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"A cat be constructed!\n"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Speak()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"Sound of 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speak:miao!miao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!"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~Cat()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"A Cat be deconstructed!\n"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sz="1600" dirty="0">
              <a:latin typeface="Consolas" panose="020B0609020204030204" pitchFamily="49" charset="0"/>
              <a:ea typeface="宋体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8D858A-5437-0EEE-70FA-026D2F9F6FA0}"/>
              </a:ext>
            </a:extLst>
          </p:cNvPr>
          <p:cNvSpPr/>
          <p:nvPr/>
        </p:nvSpPr>
        <p:spPr>
          <a:xfrm>
            <a:off x="76200" y="3387420"/>
            <a:ext cx="7620000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Dog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Dog(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age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color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 :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age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color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strcpy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m_strType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"Dog"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"A dog be constructed!\n"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Speak()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"Sound of 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speak:wang!wang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!"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~Dog()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"A Dog be deconstructed!\n"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sz="1600" dirty="0">
              <a:latin typeface="Consolas" panose="020B0609020204030204" pitchFamily="49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6FB54BD-849C-8B78-9B70-CB0FB942C351}"/>
              </a:ext>
            </a:extLst>
          </p:cNvPr>
          <p:cNvSpPr/>
          <p:nvPr/>
        </p:nvSpPr>
        <p:spPr>
          <a:xfrm>
            <a:off x="152400" y="628233"/>
            <a:ext cx="5257800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*p1;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p1 =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Micky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1,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"Blue"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p1-&gt;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ShowInfo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p1;</a:t>
            </a:r>
          </a:p>
          <a:p>
            <a:pPr marL="266700">
              <a:defRPr/>
            </a:pP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"***************************\n"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p1 =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Dog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BenBen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1,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"Black"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p1-&gt;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ShowInfo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p1;</a:t>
            </a:r>
          </a:p>
          <a:p>
            <a:pPr marL="266700"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3ED079-2573-29F6-4306-1EE469A3B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628233"/>
            <a:ext cx="3276600" cy="49244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 pet be constructed!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 cat be constructed!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The pet's type: Cat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The Cat's </a:t>
            </a:r>
            <a:r>
              <a:rPr lang="en-US" altLang="zh-CN" sz="1600" dirty="0" err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name:Micky</a:t>
            </a:r>
            <a:endParaRPr lang="en-US" altLang="zh-CN" sz="1600" dirty="0">
              <a:solidFill>
                <a:schemeClr val="bg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The Cat's age:1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The Cat's </a:t>
            </a:r>
            <a:r>
              <a:rPr lang="en-US" altLang="zh-CN" sz="1600" dirty="0" err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color:Blue</a:t>
            </a:r>
            <a:endParaRPr lang="en-US" altLang="zh-CN" sz="1600" dirty="0">
              <a:solidFill>
                <a:schemeClr val="bg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Sound of </a:t>
            </a:r>
            <a:r>
              <a:rPr lang="en-US" altLang="zh-CN" sz="1600" dirty="0" err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speak:miao!miao</a:t>
            </a: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!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 Cat be deconstructed!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 pet be deconstructed!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**************************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 pet be constructed!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 dog be constructed!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The pet's type: Dog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The Dog's </a:t>
            </a:r>
            <a:r>
              <a:rPr lang="en-US" altLang="zh-CN" sz="1600" dirty="0" err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name:BenBen</a:t>
            </a:r>
            <a:endParaRPr lang="en-US" altLang="zh-CN" sz="1600" dirty="0">
              <a:solidFill>
                <a:schemeClr val="bg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The Dog's age:1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The Dog's </a:t>
            </a:r>
            <a:r>
              <a:rPr lang="en-US" altLang="zh-CN" sz="1600" dirty="0" err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color:Black</a:t>
            </a:r>
            <a:endParaRPr lang="en-US" altLang="zh-CN" sz="1600" dirty="0">
              <a:solidFill>
                <a:schemeClr val="bg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Sound of </a:t>
            </a:r>
            <a:r>
              <a:rPr lang="en-US" altLang="zh-CN" sz="1600" dirty="0" err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speak:wang!wang</a:t>
            </a: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!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 Dog be deconstructed!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 pet be deconstructed!</a:t>
            </a:r>
            <a:endParaRPr lang="zh-CN" altLang="en-US" sz="1600" dirty="0">
              <a:solidFill>
                <a:schemeClr val="bg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428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>
            <a:extLst>
              <a:ext uri="{FF2B5EF4-FFF2-40B4-BE49-F238E27FC236}">
                <a16:creationId xmlns:a16="http://schemas.microsoft.com/office/drawing/2014/main" id="{9FC43EC3-7B55-F906-6174-B7F89945E95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1981200"/>
            <a:ext cx="8610600" cy="2808288"/>
          </a:xfrm>
        </p:spPr>
        <p:txBody>
          <a:bodyPr/>
          <a:lstStyle/>
          <a:p>
            <a:pPr lvl="1" eaLnBrk="1" hangingPunct="1"/>
            <a:r>
              <a:rPr lang="zh-CN" altLang="en-US"/>
              <a:t>运行时类型信息（</a:t>
            </a:r>
            <a:r>
              <a:rPr lang="en-US" altLang="zh-CN"/>
              <a:t>Run-time Type Information</a:t>
            </a:r>
            <a:r>
              <a:rPr lang="zh-CN" altLang="en-US"/>
              <a:t>，</a:t>
            </a:r>
            <a:r>
              <a:rPr lang="en-US" altLang="zh-CN"/>
              <a:t>RTTI</a:t>
            </a:r>
            <a:r>
              <a:rPr lang="zh-CN" altLang="en-US"/>
              <a:t>） </a:t>
            </a:r>
          </a:p>
          <a:p>
            <a:pPr lvl="1" eaLnBrk="1" hangingPunct="1"/>
            <a:endParaRPr lang="zh-CN" altLang="en-US"/>
          </a:p>
          <a:p>
            <a:pPr lvl="1" eaLnBrk="1" hangingPunct="1"/>
            <a:r>
              <a:rPr lang="en-US" altLang="zh-CN"/>
              <a:t>C++</a:t>
            </a:r>
            <a:r>
              <a:rPr lang="zh-CN" altLang="en-US"/>
              <a:t>强制类型转换符</a:t>
            </a:r>
            <a:endParaRPr lang="en-US" altLang="zh-CN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8E4558E6-E0B4-8F6A-2271-539203A851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620713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/>
              <a:t>运行时类型信息</a:t>
            </a:r>
            <a:r>
              <a:rPr lang="en-US" altLang="zh-CN"/>
              <a:t>RTTI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id="{37740495-A613-4275-8DDF-079EFECF41E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228600" y="1341438"/>
            <a:ext cx="8610600" cy="4754562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altLang="zh-CN" dirty="0">
                <a:solidFill>
                  <a:srgbClr val="C00000"/>
                </a:solidFill>
              </a:rPr>
              <a:t>RTTI</a:t>
            </a:r>
          </a:p>
          <a:p>
            <a:pPr lvl="1" eaLnBrk="1" hangingPunct="1">
              <a:defRPr/>
            </a:pPr>
            <a:r>
              <a:rPr lang="en-US" altLang="zh-CN" dirty="0"/>
              <a:t>RTTI</a:t>
            </a:r>
            <a:r>
              <a:rPr lang="zh-CN" altLang="en-US" dirty="0"/>
              <a:t>提供了在</a:t>
            </a:r>
            <a:r>
              <a:rPr lang="zh-CN" altLang="en-US" dirty="0">
                <a:solidFill>
                  <a:srgbClr val="FF0000"/>
                </a:solidFill>
              </a:rPr>
              <a:t>程序运行时</a:t>
            </a:r>
            <a:r>
              <a:rPr lang="zh-CN" altLang="en-US" dirty="0"/>
              <a:t>确定</a:t>
            </a:r>
            <a:r>
              <a:rPr lang="zh-CN" altLang="en-US" dirty="0">
                <a:solidFill>
                  <a:srgbClr val="FF0000"/>
                </a:solidFill>
              </a:rPr>
              <a:t>对象类型</a:t>
            </a:r>
            <a:r>
              <a:rPr lang="zh-CN" altLang="en-US" dirty="0"/>
              <a:t>的方法，是面向对象程序语言为</a:t>
            </a:r>
            <a:r>
              <a:rPr lang="zh-CN" altLang="en-US" dirty="0">
                <a:solidFill>
                  <a:srgbClr val="FF0000"/>
                </a:solidFill>
              </a:rPr>
              <a:t>解决多态问题</a:t>
            </a:r>
            <a:r>
              <a:rPr lang="zh-CN" altLang="en-US" dirty="0"/>
              <a:t>而引入的一种语言特性。 </a:t>
            </a:r>
          </a:p>
          <a:p>
            <a:pPr lvl="1" eaLnBrk="1" hangingPunct="1">
              <a:defRPr/>
            </a:pP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在</a:t>
            </a:r>
            <a:r>
              <a:rPr lang="en-US" altLang="zh-CN" dirty="0"/>
              <a:t>C++</a:t>
            </a:r>
            <a:r>
              <a:rPr lang="zh-CN" altLang="en-US" dirty="0"/>
              <a:t>中，用于支持</a:t>
            </a:r>
            <a:r>
              <a:rPr lang="en-US" altLang="zh-CN" dirty="0"/>
              <a:t>RTTI</a:t>
            </a:r>
            <a:r>
              <a:rPr lang="zh-CN" altLang="en-US" dirty="0"/>
              <a:t>的操作符有：</a:t>
            </a:r>
            <a:endParaRPr lang="en-US" altLang="zh-CN" dirty="0"/>
          </a:p>
          <a:p>
            <a:pPr marL="319088" lvl="1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typeid</a:t>
            </a:r>
            <a:r>
              <a:rPr lang="zh-CN" altLang="en-US" dirty="0"/>
              <a:t>，</a:t>
            </a:r>
            <a:r>
              <a:rPr lang="en-US" altLang="zh-CN" dirty="0" err="1"/>
              <a:t>type_info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dirty="0" err="1"/>
              <a:t>dynamic_cast</a:t>
            </a:r>
            <a:endParaRPr lang="en-US" altLang="zh-C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矩形 3">
            <a:extLst>
              <a:ext uri="{FF2B5EF4-FFF2-40B4-BE49-F238E27FC236}">
                <a16:creationId xmlns:a16="http://schemas.microsoft.com/office/drawing/2014/main" id="{199CDD9B-C49D-36E6-0E62-ED2C95184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24" y="152400"/>
            <a:ext cx="7988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typeid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在程序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运行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时判定一个表达式的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真实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数据类型。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299" name="矩形 3">
            <a:extLst>
              <a:ext uri="{FF2B5EF4-FFF2-40B4-BE49-F238E27FC236}">
                <a16:creationId xmlns:a16="http://schemas.microsoft.com/office/drawing/2014/main" id="{696A83CD-1777-288F-13A2-109BD26DA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766758"/>
            <a:ext cx="8991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typeid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返回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type_info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类型的引用，定义于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typeinfo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文件中。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300" name="Rectangle 5">
            <a:extLst>
              <a:ext uri="{FF2B5EF4-FFF2-40B4-BE49-F238E27FC236}">
                <a16:creationId xmlns:a16="http://schemas.microsoft.com/office/drawing/2014/main" id="{C4F0FF7C-A5BE-5291-33AA-9CA30E1FA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2771645"/>
            <a:ext cx="5100638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fontAlgn="t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#include &lt;</a:t>
            </a:r>
            <a:r>
              <a:rPr lang="en-US" altLang="zh-CN" sz="1800" b="1" dirty="0" err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typeinfo</a:t>
            </a:r>
            <a:r>
              <a:rPr lang="en-US" altLang="zh-CN" sz="18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</a:p>
          <a:p>
            <a:pPr eaLnBrk="1" fontAlgn="t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……</a:t>
            </a:r>
          </a:p>
          <a:p>
            <a:pPr eaLnBrk="1" fontAlgn="t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const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00308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hlinkClick r:id="rId3"/>
              </a:rPr>
              <a:t>std::type_info</a:t>
            </a:r>
            <a:r>
              <a:rPr lang="en-US" altLang="zh-CN" sz="1800" b="1" dirty="0">
                <a:solidFill>
                  <a:srgbClr val="00004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&amp;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t1 </a:t>
            </a:r>
            <a:r>
              <a:rPr lang="en-US" altLang="zh-CN" sz="1800" b="1" dirty="0">
                <a:solidFill>
                  <a:srgbClr val="00008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=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800" b="1" dirty="0" err="1">
                <a:solidFill>
                  <a:srgbClr val="0000DD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typeid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  <a:r>
              <a:rPr lang="en-US" altLang="zh-CN" sz="1800" b="1" dirty="0">
                <a:solidFill>
                  <a:srgbClr val="00808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  <a:endParaRPr lang="en-US" altLang="zh-CN" sz="5400" b="1" dirty="0">
              <a:latin typeface="Times New Roman" panose="02020603050405020304" pitchFamily="18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55301" name="矩形 1">
            <a:extLst>
              <a:ext uri="{FF2B5EF4-FFF2-40B4-BE49-F238E27FC236}">
                <a16:creationId xmlns:a16="http://schemas.microsoft.com/office/drawing/2014/main" id="{F5FC4AD2-59FD-3B9A-AF0E-CF9231D91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67740"/>
            <a:ext cx="2757488" cy="8302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typeid(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表达式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typeid(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类型说明符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2" name="矩形 1">
            <a:extLst>
              <a:ext uri="{FF2B5EF4-FFF2-40B4-BE49-F238E27FC236}">
                <a16:creationId xmlns:a16="http://schemas.microsoft.com/office/drawing/2014/main" id="{5FB986CF-54A1-3872-69A1-27B9696C2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013802"/>
            <a:ext cx="19256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typeid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(5+3);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typeid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);</a:t>
            </a: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EA178454-DA36-5A4E-B6F9-CAA78F174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724488"/>
            <a:ext cx="8991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typeid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sizeof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一样是一个操作符而不是函数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Rtti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的重要用途，异常处理，动态类型判断及转换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endParaRPr lang="zh-CN" altLang="en-US" sz="2400" dirty="0" err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矩形 3">
            <a:extLst>
              <a:ext uri="{FF2B5EF4-FFF2-40B4-BE49-F238E27FC236}">
                <a16:creationId xmlns:a16="http://schemas.microsoft.com/office/drawing/2014/main" id="{78C4F3CF-989C-C81A-1616-BC6E3DE02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81000"/>
            <a:ext cx="62134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type_info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类型的三种常用操作：</a:t>
            </a:r>
            <a:endParaRPr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E282FDF-B1A5-3277-9711-D1CC075D2022}"/>
              </a:ext>
            </a:extLst>
          </p:cNvPr>
          <p:cNvGraphicFramePr>
            <a:graphicFrameLocks noGrp="1"/>
          </p:cNvGraphicFramePr>
          <p:nvPr/>
        </p:nvGraphicFramePr>
        <p:xfrm>
          <a:off x="696913" y="1066800"/>
          <a:ext cx="7921625" cy="1485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0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2139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操作</a:t>
                      </a:r>
                    </a:p>
                  </a:txBody>
                  <a:tcPr marL="91449" marR="91449" marT="29630" marB="2963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意义</a:t>
                      </a:r>
                    </a:p>
                  </a:txBody>
                  <a:tcPr marL="91449" marR="91449" marT="29630" marB="296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587">
                <a:tc>
                  <a:txBody>
                    <a:bodyPr/>
                    <a:lstStyle/>
                    <a:p>
                      <a:r>
                        <a:rPr kumimoji="0"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t1 == t2</a:t>
                      </a:r>
                      <a:endParaRPr lang="zh-CN" altLang="en-US" sz="1200" dirty="0"/>
                    </a:p>
                  </a:txBody>
                  <a:tcPr marL="91449" marR="91449" marT="29630" marB="29630"/>
                </a:tc>
                <a:tc>
                  <a:txBody>
                    <a:bodyPr/>
                    <a:lstStyle/>
                    <a:p>
                      <a:r>
                        <a:rPr kumimoji="0"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如果两个对象</a:t>
                      </a:r>
                      <a:r>
                        <a:rPr kumimoji="0"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t1</a:t>
                      </a:r>
                      <a:r>
                        <a:rPr kumimoji="0"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</a:t>
                      </a:r>
                      <a:r>
                        <a:rPr kumimoji="0"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t2</a:t>
                      </a:r>
                      <a:r>
                        <a:rPr kumimoji="0"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类型相同，则返回</a:t>
                      </a:r>
                      <a:r>
                        <a:rPr kumimoji="0"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kumimoji="0"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；否则返回</a:t>
                      </a:r>
                      <a:r>
                        <a:rPr kumimoji="0"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zh-CN" altLang="en-US" sz="1200" dirty="0"/>
                    </a:p>
                  </a:txBody>
                  <a:tcPr marL="91449" marR="91449" marT="29630" marB="296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587">
                <a:tc>
                  <a:txBody>
                    <a:bodyPr/>
                    <a:lstStyle/>
                    <a:p>
                      <a:r>
                        <a:rPr kumimoji="0"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t1 != t2</a:t>
                      </a:r>
                      <a:endParaRPr lang="zh-CN" altLang="en-US" sz="1200" dirty="0"/>
                    </a:p>
                  </a:txBody>
                  <a:tcPr marL="91449" marR="91449" marT="29630" marB="29630"/>
                </a:tc>
                <a:tc>
                  <a:txBody>
                    <a:bodyPr/>
                    <a:lstStyle/>
                    <a:p>
                      <a:r>
                        <a:rPr kumimoji="0"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如果两个对象</a:t>
                      </a:r>
                      <a:r>
                        <a:rPr kumimoji="0"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t1</a:t>
                      </a:r>
                      <a:r>
                        <a:rPr kumimoji="0"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</a:t>
                      </a:r>
                      <a:r>
                        <a:rPr kumimoji="0"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t2</a:t>
                      </a:r>
                      <a:r>
                        <a:rPr kumimoji="0"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类型不同，则返回</a:t>
                      </a:r>
                      <a:r>
                        <a:rPr kumimoji="0"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kumimoji="0"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；否则返回</a:t>
                      </a:r>
                      <a:r>
                        <a:rPr kumimoji="0"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zh-CN" altLang="en-US" sz="1200" dirty="0"/>
                    </a:p>
                  </a:txBody>
                  <a:tcPr marL="91449" marR="91449" marT="29630" marB="296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587">
                <a:tc>
                  <a:txBody>
                    <a:bodyPr/>
                    <a:lstStyle/>
                    <a:p>
                      <a:r>
                        <a:rPr kumimoji="0"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t.name()</a:t>
                      </a:r>
                      <a:endParaRPr lang="zh-CN" altLang="en-US" sz="1200" dirty="0"/>
                    </a:p>
                  </a:txBody>
                  <a:tcPr marL="91449" marR="91449" marT="29630" marB="29630"/>
                </a:tc>
                <a:tc>
                  <a:txBody>
                    <a:bodyPr/>
                    <a:lstStyle/>
                    <a:p>
                      <a:r>
                        <a:rPr kumimoji="0"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返回类型的</a:t>
                      </a:r>
                      <a:r>
                        <a:rPr kumimoji="0"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C-style</a:t>
                      </a:r>
                      <a:r>
                        <a:rPr kumimoji="0"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字符串，类型名字用系统相关的方法产生</a:t>
                      </a:r>
                      <a:endParaRPr lang="zh-CN" altLang="en-US" sz="1200" dirty="0"/>
                    </a:p>
                  </a:txBody>
                  <a:tcPr marL="91449" marR="91449" marT="29630" marB="296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矩形 2">
            <a:extLst>
              <a:ext uri="{FF2B5EF4-FFF2-40B4-BE49-F238E27FC236}">
                <a16:creationId xmlns:a16="http://schemas.microsoft.com/office/drawing/2014/main" id="{AB8D107E-9D0F-9DC5-76D9-73FD3B326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3" y="2743200"/>
            <a:ext cx="6630987" cy="37861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itchFamily="49" charset="0"/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A{};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{   A a,*p;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"1: 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(a).name()&lt;&lt;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"2: 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(*p).name()&lt;&lt;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    if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(a)==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(*p))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"They have the same type."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"3: 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(p).name()&lt;&lt;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"4: 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(3).name()&lt;&lt;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"5: 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"this is string"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"6: 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(4+9.8).name()&lt;&lt;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;</a:t>
            </a:r>
          </a:p>
          <a:p>
            <a:pPr indent="450850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00A12F-4A76-9FD1-6B1F-8984275F7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3200400"/>
            <a:ext cx="2571750" cy="20320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1: class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2: class A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They have the same type.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3: class A * __ptr64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4: int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5: char const [15]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6: double</a:t>
            </a:r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>
            <a:extLst>
              <a:ext uri="{FF2B5EF4-FFF2-40B4-BE49-F238E27FC236}">
                <a16:creationId xmlns:a16="http://schemas.microsoft.com/office/drawing/2014/main" id="{55A1383D-203B-CE9D-C959-67A4E7DE8E9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47663" y="609600"/>
            <a:ext cx="8339137" cy="915988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无虚函数</a:t>
            </a:r>
            <a:r>
              <a:rPr lang="zh-CN" altLang="en-US" sz="2400"/>
              <a:t>时，</a:t>
            </a:r>
            <a:r>
              <a:rPr lang="zh-CN" altLang="en-US" sz="2400">
                <a:solidFill>
                  <a:srgbClr val="FF0000"/>
                </a:solidFill>
              </a:rPr>
              <a:t>基类引用</a:t>
            </a:r>
            <a:r>
              <a:rPr lang="zh-CN" altLang="en-US" sz="2400"/>
              <a:t>或</a:t>
            </a:r>
            <a:r>
              <a:rPr lang="zh-CN" altLang="en-US" sz="2400">
                <a:solidFill>
                  <a:srgbClr val="FF0000"/>
                </a:solidFill>
              </a:rPr>
              <a:t>指针</a:t>
            </a:r>
            <a:r>
              <a:rPr lang="zh-CN" altLang="en-US" sz="2400"/>
              <a:t>指向派生类对象或其地址，则</a:t>
            </a:r>
            <a:r>
              <a:rPr lang="en-US" altLang="zh-CN" sz="2400"/>
              <a:t>typeid</a:t>
            </a:r>
            <a:r>
              <a:rPr lang="zh-CN" altLang="en-US" sz="2400"/>
              <a:t>识别基类引用和指针的类型</a:t>
            </a:r>
            <a:r>
              <a:rPr lang="zh-CN" altLang="en-US" sz="2400">
                <a:solidFill>
                  <a:srgbClr val="FF0000"/>
                </a:solidFill>
              </a:rPr>
              <a:t>仍然</a:t>
            </a:r>
            <a:r>
              <a:rPr lang="zh-CN" altLang="en-US" sz="2400"/>
              <a:t>是</a:t>
            </a:r>
            <a:r>
              <a:rPr lang="zh-CN" altLang="en-US" sz="2400">
                <a:solidFill>
                  <a:srgbClr val="FF0000"/>
                </a:solidFill>
              </a:rPr>
              <a:t>基类的类型</a:t>
            </a:r>
            <a:r>
              <a:rPr lang="zh-CN" altLang="en-US" sz="2400"/>
              <a:t>。</a:t>
            </a:r>
          </a:p>
        </p:txBody>
      </p:sp>
      <p:sp>
        <p:nvSpPr>
          <p:cNvPr id="57347" name="矩形 2">
            <a:extLst>
              <a:ext uri="{FF2B5EF4-FFF2-40B4-BE49-F238E27FC236}">
                <a16:creationId xmlns:a16="http://schemas.microsoft.com/office/drawing/2014/main" id="{EBC70DB8-0304-A357-9575-42507FC8E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354263"/>
            <a:ext cx="2735263" cy="30469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&lt;iostream&gt;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std;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f(){}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B: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f(){}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</p:txBody>
      </p:sp>
      <p:sp>
        <p:nvSpPr>
          <p:cNvPr id="57349" name="矩形 1">
            <a:extLst>
              <a:ext uri="{FF2B5EF4-FFF2-40B4-BE49-F238E27FC236}">
                <a16:creationId xmlns:a16="http://schemas.microsoft.com/office/drawing/2014/main" id="{91D718C4-D4EA-667C-0820-3302E9E02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354263"/>
            <a:ext cx="5473700" cy="30469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 A a,*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B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a=b;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=&amp;b;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A &amp;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=b;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"1: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(a).name()&lt;&lt;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"2: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"3: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"4: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13D089-6211-645A-10D3-E04AEAB3C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981200"/>
            <a:ext cx="2276475" cy="1323439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1: class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2: class A *  --ptr64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3: class A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4: class 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>
            <a:extLst>
              <a:ext uri="{FF2B5EF4-FFF2-40B4-BE49-F238E27FC236}">
                <a16:creationId xmlns:a16="http://schemas.microsoft.com/office/drawing/2014/main" id="{1B296C88-FF2B-C0F0-D327-CD0F0891DA9C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52400" y="533400"/>
            <a:ext cx="8793163" cy="915988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有虚函数</a:t>
            </a:r>
            <a:r>
              <a:rPr lang="zh-CN" altLang="en-US" sz="2400"/>
              <a:t>时，</a:t>
            </a:r>
            <a:r>
              <a:rPr lang="zh-CN" altLang="en-US" sz="2400">
                <a:solidFill>
                  <a:srgbClr val="FF0000"/>
                </a:solidFill>
              </a:rPr>
              <a:t>基类引用或指针</a:t>
            </a:r>
            <a:r>
              <a:rPr lang="zh-CN" altLang="en-US" sz="2400"/>
              <a:t>指向派生类对象或其地址，则</a:t>
            </a:r>
            <a:r>
              <a:rPr lang="en-US" altLang="zh-CN" sz="2400"/>
              <a:t>typeid</a:t>
            </a:r>
            <a:r>
              <a:rPr lang="zh-CN" altLang="en-US" sz="2400"/>
              <a:t>识别基类引用和指针值类型是</a:t>
            </a:r>
            <a:r>
              <a:rPr lang="zh-CN" altLang="en-US" sz="2400">
                <a:solidFill>
                  <a:srgbClr val="FF0000"/>
                </a:solidFill>
              </a:rPr>
              <a:t>派生类的类型</a:t>
            </a:r>
            <a:r>
              <a:rPr lang="zh-CN" altLang="en-US" sz="2400"/>
              <a:t>。</a:t>
            </a:r>
          </a:p>
        </p:txBody>
      </p:sp>
      <p:sp>
        <p:nvSpPr>
          <p:cNvPr id="58371" name="矩形 2">
            <a:extLst>
              <a:ext uri="{FF2B5EF4-FFF2-40B4-BE49-F238E27FC236}">
                <a16:creationId xmlns:a16="http://schemas.microsoft.com/office/drawing/2014/main" id="{0152A83A-0A27-19F4-6C64-73099DC13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500" y="2449513"/>
            <a:ext cx="4895850" cy="30469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 A a,*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B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a=b;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=&amp;b;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A &amp;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=b;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"1: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(a).name()&lt;&lt;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"2: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"3: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"4: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typeid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).name()&lt;&lt;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4B2972-734A-E76F-389D-B1F28BB5F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981200"/>
            <a:ext cx="2362200" cy="1323439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1: class A</a:t>
            </a:r>
          </a:p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2: class A *  --ptr64</a:t>
            </a:r>
          </a:p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3: class B</a:t>
            </a:r>
          </a:p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4: class B</a:t>
            </a:r>
          </a:p>
        </p:txBody>
      </p:sp>
      <p:sp>
        <p:nvSpPr>
          <p:cNvPr id="58373" name="矩形 1">
            <a:extLst>
              <a:ext uri="{FF2B5EF4-FFF2-40B4-BE49-F238E27FC236}">
                <a16:creationId xmlns:a16="http://schemas.microsoft.com/office/drawing/2014/main" id="{C317BA88-64E5-C157-E822-5AAE94450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449513"/>
            <a:ext cx="2970212" cy="30469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&lt;iostream&gt;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std;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virtual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f(){}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B: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f(){}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>
            <a:extLst>
              <a:ext uri="{FF2B5EF4-FFF2-40B4-BE49-F238E27FC236}">
                <a16:creationId xmlns:a16="http://schemas.microsoft.com/office/drawing/2014/main" id="{C91B01E4-BDDF-5498-2258-7019469C55DB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457200"/>
            <a:ext cx="8458200" cy="5943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r>
              <a:rPr lang="zh-CN" altLang="en-US" sz="2800" dirty="0">
                <a:solidFill>
                  <a:srgbClr val="C00000"/>
                </a:solidFill>
              </a:rPr>
              <a:t>类型转换</a:t>
            </a:r>
            <a:endParaRPr lang="en-US" altLang="zh-CN" sz="2800" dirty="0">
              <a:solidFill>
                <a:srgbClr val="C0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/>
              <a:t>隐式类型转换</a:t>
            </a:r>
            <a:endParaRPr lang="en-US" altLang="zh-CN" dirty="0"/>
          </a:p>
          <a:p>
            <a:pPr marL="454025" lvl="2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/>
              <a:t>可以直接在整数、浮点数等数值类型之间转换。</a:t>
            </a:r>
            <a:endParaRPr lang="en-US" altLang="zh-CN" dirty="0"/>
          </a:p>
          <a:p>
            <a:pPr marL="454025" lvl="2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/>
              <a:t>可以直接将派生类的对象赋值给基类的对象。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/>
              <a:t>显式强制类型转换</a:t>
            </a:r>
            <a:endParaRPr lang="en-US" altLang="zh-CN" dirty="0"/>
          </a:p>
          <a:p>
            <a:pPr marL="454025" lvl="2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dirty="0"/>
              <a:t>C</a:t>
            </a:r>
            <a:r>
              <a:rPr lang="zh-CN" altLang="en-US" dirty="0"/>
              <a:t>语言中，</a:t>
            </a:r>
            <a:r>
              <a:rPr lang="en-US" altLang="zh-CN" dirty="0"/>
              <a:t>TYPE b = (TYPE) a</a:t>
            </a:r>
          </a:p>
          <a:p>
            <a:pPr marL="225425" lvl="2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dirty="0"/>
              <a:t>   C++</a:t>
            </a:r>
            <a:r>
              <a:rPr lang="zh-CN" altLang="en-US" dirty="0"/>
              <a:t>中扩展使用</a:t>
            </a:r>
            <a:r>
              <a:rPr lang="en-US" altLang="zh-CN" dirty="0"/>
              <a:t>TYPE b = TYPE(a)</a:t>
            </a:r>
          </a:p>
          <a:p>
            <a:pPr marL="454025" lvl="2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dirty="0"/>
              <a:t>C++</a:t>
            </a:r>
            <a:r>
              <a:rPr lang="zh-CN" altLang="en-US" dirty="0"/>
              <a:t>中提供四种类型转换操作符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>
            <a:extLst>
              <a:ext uri="{FF2B5EF4-FFF2-40B4-BE49-F238E27FC236}">
                <a16:creationId xmlns:a16="http://schemas.microsoft.com/office/drawing/2014/main" id="{A7CF57A3-BBEA-770B-8FCC-A39EF26D47C4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0" y="457200"/>
            <a:ext cx="89916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2800">
                <a:solidFill>
                  <a:srgbClr val="C00000"/>
                </a:solidFill>
              </a:rPr>
              <a:t>C++</a:t>
            </a:r>
            <a:r>
              <a:rPr lang="zh-CN" altLang="en-US" sz="2800">
                <a:solidFill>
                  <a:srgbClr val="C00000"/>
                </a:solidFill>
              </a:rPr>
              <a:t>的四种强制类型转换操作符</a:t>
            </a: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/>
              <a:t>dynamic_cast</a:t>
            </a:r>
            <a:r>
              <a:rPr lang="zh-CN" altLang="en-US"/>
              <a:t>主要用于多态中</a:t>
            </a:r>
            <a:r>
              <a:rPr lang="zh-CN" altLang="en-US">
                <a:solidFill>
                  <a:srgbClr val="FF0000"/>
                </a:solidFill>
              </a:rPr>
              <a:t>基类</a:t>
            </a:r>
            <a:r>
              <a:rPr lang="zh-CN" altLang="en-US"/>
              <a:t>的指针或引用与</a:t>
            </a:r>
            <a:r>
              <a:rPr lang="zh-CN" altLang="en-US">
                <a:solidFill>
                  <a:srgbClr val="FF0000"/>
                </a:solidFill>
              </a:rPr>
              <a:t>派生类</a:t>
            </a:r>
            <a:r>
              <a:rPr lang="zh-CN" altLang="en-US"/>
              <a:t>指针或引用之间的</a:t>
            </a:r>
            <a:r>
              <a:rPr lang="zh-CN" altLang="en-US">
                <a:solidFill>
                  <a:srgbClr val="FF0000"/>
                </a:solidFill>
              </a:rPr>
              <a:t>转换</a:t>
            </a:r>
            <a:r>
              <a:rPr lang="zh-CN" altLang="en-US"/>
              <a:t>，它是在程序</a:t>
            </a:r>
            <a:r>
              <a:rPr lang="zh-CN" altLang="en-US">
                <a:solidFill>
                  <a:srgbClr val="FF0000"/>
                </a:solidFill>
              </a:rPr>
              <a:t>运行</a:t>
            </a:r>
            <a:r>
              <a:rPr lang="zh-CN" altLang="en-US"/>
              <a:t>时刻执行的，是一种支持</a:t>
            </a:r>
            <a:r>
              <a:rPr lang="en-US" altLang="zh-CN"/>
              <a:t>RTTI</a:t>
            </a:r>
            <a:r>
              <a:rPr lang="zh-CN" altLang="en-US"/>
              <a:t>的操作符。</a:t>
            </a: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/>
              <a:t>const_cast</a:t>
            </a:r>
            <a:r>
              <a:rPr lang="zh-CN" altLang="en-US"/>
              <a:t>、</a:t>
            </a:r>
            <a:r>
              <a:rPr lang="en-US" altLang="zh-CN"/>
              <a:t>static_cast</a:t>
            </a:r>
            <a:r>
              <a:rPr lang="zh-CN" altLang="en-US"/>
              <a:t>和</a:t>
            </a:r>
            <a:r>
              <a:rPr lang="en-US" altLang="zh-CN"/>
              <a:t>reinterpret_cast</a:t>
            </a:r>
            <a:r>
              <a:rPr lang="zh-CN" altLang="en-US"/>
              <a:t>强制类型转换则是在</a:t>
            </a:r>
            <a:r>
              <a:rPr lang="zh-CN" altLang="en-US">
                <a:solidFill>
                  <a:srgbClr val="FF0000"/>
                </a:solidFill>
              </a:rPr>
              <a:t>编译</a:t>
            </a:r>
            <a:r>
              <a:rPr lang="zh-CN" altLang="en-US"/>
              <a:t>时期完成的。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D79F442D-690B-3480-AD71-53CC747FB86B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96888" y="1905000"/>
            <a:ext cx="7772400" cy="866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800" dirty="0" err="1">
                <a:solidFill>
                  <a:srgbClr val="C00000"/>
                </a:solidFill>
              </a:rPr>
              <a:t>dynamic_cast</a:t>
            </a:r>
            <a:r>
              <a:rPr lang="zh-CN" altLang="en-US" sz="2800" dirty="0">
                <a:solidFill>
                  <a:srgbClr val="C00000"/>
                </a:solidFill>
              </a:rPr>
              <a:t>的用法</a:t>
            </a:r>
            <a:r>
              <a:rPr lang="zh-CN" altLang="en-US" sz="2800" dirty="0"/>
              <a:t>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		</a:t>
            </a:r>
            <a:r>
              <a:rPr lang="en-US" altLang="zh-CN" b="1" dirty="0" err="1">
                <a:solidFill>
                  <a:srgbClr val="FF0000"/>
                </a:solidFill>
              </a:rPr>
              <a:t>dynamic_cast</a:t>
            </a:r>
            <a:r>
              <a:rPr lang="en-US" altLang="zh-CN" b="1" dirty="0">
                <a:solidFill>
                  <a:srgbClr val="FF0000"/>
                </a:solidFill>
              </a:rPr>
              <a:t>&lt;</a:t>
            </a:r>
            <a:r>
              <a:rPr lang="zh-CN" altLang="en-US" b="1" dirty="0">
                <a:solidFill>
                  <a:srgbClr val="FF0000"/>
                </a:solidFill>
              </a:rPr>
              <a:t>目标类型</a:t>
            </a:r>
            <a:r>
              <a:rPr lang="en-US" altLang="zh-CN" b="1" dirty="0">
                <a:solidFill>
                  <a:srgbClr val="FF0000"/>
                </a:solidFill>
              </a:rPr>
              <a:t>&gt;(</a:t>
            </a:r>
            <a:r>
              <a:rPr lang="zh-CN" altLang="en-US" b="1" dirty="0">
                <a:solidFill>
                  <a:srgbClr val="FF0000"/>
                </a:solidFill>
              </a:rPr>
              <a:t>表达式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endParaRPr lang="en-US" altLang="zh-CN" dirty="0"/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AAE2CC-A7C1-C1E5-1C33-A82D0E0CEDD7}"/>
              </a:ext>
            </a:extLst>
          </p:cNvPr>
          <p:cNvSpPr/>
          <p:nvPr/>
        </p:nvSpPr>
        <p:spPr>
          <a:xfrm>
            <a:off x="561975" y="4648200"/>
            <a:ext cx="4572000" cy="12922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800" dirty="0" err="1">
                <a:solidFill>
                  <a:srgbClr val="C00000"/>
                </a:solidFill>
                <a:latin typeface="Comic Sans MS" pitchFamily="66" charset="0"/>
                <a:ea typeface="+mn-ea"/>
              </a:rPr>
              <a:t>dynamic_cast</a:t>
            </a:r>
            <a:r>
              <a:rPr lang="zh-CN" altLang="en-US" sz="2800" dirty="0">
                <a:solidFill>
                  <a:srgbClr val="C00000"/>
                </a:solidFill>
                <a:latin typeface="Comic Sans MS" pitchFamily="66" charset="0"/>
                <a:ea typeface="+mn-ea"/>
              </a:rPr>
              <a:t>强制类型</a:t>
            </a:r>
            <a:r>
              <a:rPr lang="zh-CN" altLang="en-US" sz="2800" dirty="0">
                <a:latin typeface="Comic Sans MS" pitchFamily="66" charset="0"/>
                <a:ea typeface="+mn-ea"/>
              </a:rPr>
              <a:t>：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dirty="0"/>
              <a:t>向上强制转换</a:t>
            </a:r>
            <a:endParaRPr lang="en-US" altLang="zh-CN" sz="2000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dirty="0"/>
              <a:t>向下强制转换</a:t>
            </a:r>
          </a:p>
        </p:txBody>
      </p:sp>
      <p:sp>
        <p:nvSpPr>
          <p:cNvPr id="61444" name="矩形 3">
            <a:extLst>
              <a:ext uri="{FF2B5EF4-FFF2-40B4-BE49-F238E27FC236}">
                <a16:creationId xmlns:a16="http://schemas.microsoft.com/office/drawing/2014/main" id="{48135E0D-81E4-4881-2009-CA0FEC69A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124200"/>
            <a:ext cx="6389688" cy="13239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latin typeface="Consolas" panose="020B0609020204030204" pitchFamily="49" charset="0"/>
                <a:ea typeface="宋体" panose="02010600030101010101" pitchFamily="2" charset="-122"/>
              </a:rPr>
              <a:t>Base *pb;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latin typeface="Consolas" panose="020B0609020204030204" pitchFamily="49" charset="0"/>
                <a:ea typeface="宋体" panose="02010600030101010101" pitchFamily="2" charset="-122"/>
              </a:rPr>
              <a:t>Derived 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latin typeface="Consolas" panose="020B0609020204030204" pitchFamily="49" charset="0"/>
                <a:ea typeface="宋体" panose="02010600030101010101" pitchFamily="2" charset="-122"/>
              </a:rPr>
              <a:t>pb = &amp;d;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latin typeface="Consolas" panose="020B0609020204030204" pitchFamily="49" charset="0"/>
                <a:ea typeface="宋体" panose="02010600030101010101" pitchFamily="2" charset="-122"/>
              </a:rPr>
              <a:t>Derived *pd = </a:t>
            </a:r>
            <a:r>
              <a:rPr lang="en-US" altLang="zh-CN" sz="2000" b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dynamic_cast</a:t>
            </a:r>
            <a:r>
              <a:rPr lang="en-US" altLang="zh-CN" sz="2000" b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&lt;Derived *&gt; (pb);</a:t>
            </a:r>
          </a:p>
        </p:txBody>
      </p:sp>
      <p:sp>
        <p:nvSpPr>
          <p:cNvPr id="61445" name="矩形 1">
            <a:extLst>
              <a:ext uri="{FF2B5EF4-FFF2-40B4-BE49-F238E27FC236}">
                <a16:creationId xmlns:a16="http://schemas.microsoft.com/office/drawing/2014/main" id="{07E5212D-80C9-4927-3772-5C74C7E4E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58813"/>
            <a:ext cx="77628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C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dynamic_cast</a:t>
            </a:r>
            <a:r>
              <a:rPr lang="zh-CN" altLang="en-US" sz="2800">
                <a:solidFill>
                  <a:srgbClr val="C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强制类型转换操作符：</a:t>
            </a:r>
            <a:endParaRPr lang="en-US" altLang="zh-CN" sz="2800">
              <a:solidFill>
                <a:srgbClr val="C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latin typeface="Comic Sans MS" panose="030F0702030302020204" pitchFamily="66" charset="0"/>
                <a:ea typeface="宋体" panose="02010600030101010101" pitchFamily="2" charset="-122"/>
              </a:rPr>
              <a:t>实现动态类型转换，是一种</a:t>
            </a:r>
            <a:r>
              <a:rPr lang="zh-CN" altLang="en-US" sz="240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安全</a:t>
            </a:r>
            <a:r>
              <a:rPr lang="zh-CN" altLang="en-US" sz="2400">
                <a:latin typeface="Comic Sans MS" panose="030F0702030302020204" pitchFamily="66" charset="0"/>
                <a:ea typeface="宋体" panose="02010600030101010101" pitchFamily="2" charset="-122"/>
              </a:rPr>
              <a:t>的类型转换方式</a:t>
            </a:r>
            <a:r>
              <a:rPr lang="zh-CN" altLang="en-US" sz="2400">
                <a:solidFill>
                  <a:srgbClr val="C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。</a:t>
            </a: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矩形 1">
            <a:extLst>
              <a:ext uri="{FF2B5EF4-FFF2-40B4-BE49-F238E27FC236}">
                <a16:creationId xmlns:a16="http://schemas.microsoft.com/office/drawing/2014/main" id="{C1BE708B-7F6F-61F6-F0FE-012802E60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33400"/>
            <a:ext cx="8666163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742950" indent="-3429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向上强制转换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从派生类向基类方向的转换。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向上转换是指在类的继承层次结构中，从派生类向基类方向的转换，这种转换也常用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C++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的隐式转换完成。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467" name="矩形 2">
            <a:extLst>
              <a:ext uri="{FF2B5EF4-FFF2-40B4-BE49-F238E27FC236}">
                <a16:creationId xmlns:a16="http://schemas.microsoft.com/office/drawing/2014/main" id="{D2957B64-BED6-93A8-B7CF-8C608D2A9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286000"/>
            <a:ext cx="8285163" cy="341630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#include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&lt;</a:t>
            </a:r>
            <a:r>
              <a:rPr lang="en-US" altLang="zh-CN" sz="1800" dirty="0" err="1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iostream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&gt;</a:t>
            </a:r>
            <a:endParaRPr lang="en-US" altLang="zh-CN" sz="1800" dirty="0">
              <a:solidFill>
                <a:srgbClr val="000000"/>
              </a:solidFill>
              <a:latin typeface="Consolas" pitchFamily="49" charset="0"/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using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namespace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std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Base{};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Derived: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public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Base{};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{   Derived 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Derived *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pd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=&amp;d;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Base *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pb1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=&amp;d; 		</a:t>
            </a:r>
            <a:r>
              <a:rPr lang="en-US" altLang="zh-CN" sz="1800" dirty="0">
                <a:solidFill>
                  <a:srgbClr val="008000"/>
                </a:solidFill>
                <a:latin typeface="Consolas" pitchFamily="49" charset="0"/>
                <a:ea typeface="宋体" pitchFamily="2" charset="-122"/>
              </a:rPr>
              <a:t>//</a:t>
            </a:r>
            <a:r>
              <a:rPr lang="zh-CN" altLang="en-US" sz="1800" dirty="0">
                <a:solidFill>
                  <a:srgbClr val="008000"/>
                </a:solidFill>
                <a:latin typeface="Consolas" pitchFamily="49" charset="0"/>
                <a:ea typeface="宋体" pitchFamily="2" charset="-122"/>
              </a:rPr>
              <a:t>隐式转换，编译时完成，是常用方式    </a:t>
            </a:r>
            <a:endParaRPr lang="zh-CN" altLang="en-US" sz="1800" dirty="0">
              <a:solidFill>
                <a:srgbClr val="000000"/>
              </a:solidFill>
              <a:latin typeface="Consolas" pitchFamily="49" charset="0"/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Base *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pb2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dynamic_cast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&lt;Base *&gt;(&amp;d);	</a:t>
            </a:r>
            <a:r>
              <a:rPr lang="en-US" altLang="zh-CN" sz="1800" dirty="0">
                <a:solidFill>
                  <a:srgbClr val="008000"/>
                </a:solidFill>
                <a:latin typeface="Consolas" pitchFamily="49" charset="0"/>
                <a:ea typeface="宋体" pitchFamily="2" charset="-122"/>
              </a:rPr>
              <a:t>//</a:t>
            </a:r>
            <a:r>
              <a:rPr lang="zh-CN" altLang="en-US" sz="1800" dirty="0">
                <a:solidFill>
                  <a:srgbClr val="008000"/>
                </a:solidFill>
                <a:latin typeface="Consolas" pitchFamily="49" charset="0"/>
                <a:ea typeface="宋体" pitchFamily="2" charset="-122"/>
              </a:rPr>
              <a:t>向上转换，运行时完成</a:t>
            </a:r>
            <a:endParaRPr lang="zh-CN" altLang="en-US" sz="1800" dirty="0">
              <a:solidFill>
                <a:srgbClr val="000000"/>
              </a:solidFill>
              <a:latin typeface="Consolas" pitchFamily="49" charset="0"/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Base *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pb3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dynamic_cast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&lt;Base *&gt;(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pd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);	</a:t>
            </a:r>
            <a:r>
              <a:rPr lang="en-US" altLang="zh-CN" sz="1800" dirty="0">
                <a:solidFill>
                  <a:srgbClr val="008000"/>
                </a:solidFill>
                <a:latin typeface="Consolas" pitchFamily="49" charset="0"/>
                <a:ea typeface="宋体" pitchFamily="2" charset="-122"/>
              </a:rPr>
              <a:t>//</a:t>
            </a:r>
            <a:r>
              <a:rPr lang="zh-CN" altLang="en-US" sz="1800" dirty="0">
                <a:solidFill>
                  <a:srgbClr val="008000"/>
                </a:solidFill>
                <a:latin typeface="Consolas" pitchFamily="49" charset="0"/>
                <a:ea typeface="宋体" pitchFamily="2" charset="-122"/>
              </a:rPr>
              <a:t>向上转换，运行时完成</a:t>
            </a:r>
            <a:endParaRPr lang="zh-CN" altLang="en-US" sz="1800" dirty="0">
              <a:solidFill>
                <a:srgbClr val="000000"/>
              </a:solidFill>
              <a:latin typeface="Consolas" pitchFamily="49" charset="0"/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}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矩形 5">
            <a:extLst>
              <a:ext uri="{FF2B5EF4-FFF2-40B4-BE49-F238E27FC236}">
                <a16:creationId xmlns:a16="http://schemas.microsoft.com/office/drawing/2014/main" id="{11BEDFAA-A9D1-602C-FDF5-D0B639312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04800"/>
            <a:ext cx="8593138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向下强制转换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从基类向派生类方向的转换</a:t>
            </a: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eaLnBrk="1" hangingPunct="1"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向下转换是指在类的继承层次结构中，从基类向派生类方向的转换，即把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基类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的指针或引用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转换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成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派生类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的指针或引用。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zh-CN" altLang="en-US" sz="240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1" name="矩形 2">
            <a:extLst>
              <a:ext uri="{FF2B5EF4-FFF2-40B4-BE49-F238E27FC236}">
                <a16:creationId xmlns:a16="http://schemas.microsoft.com/office/drawing/2014/main" id="{4397F7F7-0D6E-FA1F-047B-B7B7A79CE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00200"/>
            <a:ext cx="8555038" cy="45243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#include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&lt;</a:t>
            </a:r>
            <a:r>
              <a:rPr lang="en-US" altLang="zh-CN" sz="1800" dirty="0" err="1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iostream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宋体" pitchFamily="2" charset="-122"/>
              </a:rPr>
              <a:t>&gt;</a:t>
            </a:r>
            <a:endParaRPr lang="en-US" altLang="zh-CN" sz="1800" dirty="0">
              <a:solidFill>
                <a:srgbClr val="000000"/>
              </a:solidFill>
              <a:latin typeface="Consolas" pitchFamily="49" charset="0"/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using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namespace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std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{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public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    virtual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f(){}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    virtual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~Base(){}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Derived: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public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Base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{ 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g();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};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{   Derived 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Base * 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pb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=&amp;d;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Derived *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pd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dynamic_cast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&lt;Derived *&gt;(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pb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);</a:t>
            </a:r>
            <a:r>
              <a:rPr lang="en-US" altLang="zh-CN" sz="1800" dirty="0">
                <a:solidFill>
                  <a:srgbClr val="008000"/>
                </a:solidFill>
                <a:latin typeface="Consolas" pitchFamily="49" charset="0"/>
                <a:ea typeface="宋体" pitchFamily="2" charset="-122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Consolas" pitchFamily="49" charset="0"/>
                <a:ea typeface="宋体" pitchFamily="2" charset="-122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itchFamily="49" charset="0"/>
                <a:ea typeface="宋体" pitchFamily="2" charset="-122"/>
              </a:rPr>
              <a:t>向下强制转换，运行时完成</a:t>
            </a:r>
            <a:endParaRPr lang="en-US" altLang="zh-CN" sz="1600" dirty="0">
              <a:solidFill>
                <a:srgbClr val="000000"/>
              </a:solidFill>
              <a:latin typeface="Consolas" pitchFamily="49" charset="0"/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}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>
            <a:extLst>
              <a:ext uri="{FF2B5EF4-FFF2-40B4-BE49-F238E27FC236}">
                <a16:creationId xmlns:a16="http://schemas.microsoft.com/office/drawing/2014/main" id="{463C5ACC-214F-CE0E-9D3B-69C7375C6A1B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762000"/>
            <a:ext cx="8305800" cy="49530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dirty="0" err="1">
                <a:solidFill>
                  <a:srgbClr val="C00000"/>
                </a:solidFill>
              </a:rPr>
              <a:t>dynamic_cast</a:t>
            </a:r>
            <a:r>
              <a:rPr lang="zh-CN" altLang="en-US" dirty="0">
                <a:solidFill>
                  <a:srgbClr val="C00000"/>
                </a:solidFill>
              </a:rPr>
              <a:t>向下强制转换说明：</a:t>
            </a:r>
          </a:p>
          <a:p>
            <a:pPr marL="514350" indent="-514350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  <a:defRPr/>
            </a:pPr>
            <a:r>
              <a:rPr lang="zh-CN" altLang="en-US" sz="2400" dirty="0"/>
              <a:t>在用</a:t>
            </a:r>
            <a:r>
              <a:rPr lang="en-US" altLang="zh-CN" sz="2400" dirty="0" err="1"/>
              <a:t>dynamic_cast</a:t>
            </a:r>
            <a:r>
              <a:rPr lang="zh-CN" altLang="en-US" sz="2400" dirty="0"/>
              <a:t>进行</a:t>
            </a:r>
            <a:r>
              <a:rPr lang="zh-CN" altLang="en-US" sz="2400" dirty="0">
                <a:solidFill>
                  <a:srgbClr val="FF0000"/>
                </a:solidFill>
              </a:rPr>
              <a:t>向下</a:t>
            </a:r>
            <a:r>
              <a:rPr lang="zh-CN" altLang="en-US" sz="2400" dirty="0"/>
              <a:t>强制转换时，基类</a:t>
            </a:r>
            <a:r>
              <a:rPr lang="zh-CN" altLang="en-US" sz="2400" dirty="0">
                <a:solidFill>
                  <a:srgbClr val="FF0000"/>
                </a:solidFill>
              </a:rPr>
              <a:t>必须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FF0000"/>
                </a:solidFill>
              </a:rPr>
              <a:t>多态</a:t>
            </a:r>
            <a:r>
              <a:rPr lang="zh-CN" altLang="en-US" sz="2400" dirty="0"/>
              <a:t>的，即基类必须至少有一个</a:t>
            </a:r>
            <a:r>
              <a:rPr lang="zh-CN" altLang="en-US" sz="2400" dirty="0">
                <a:solidFill>
                  <a:srgbClr val="FF0000"/>
                </a:solidFill>
              </a:rPr>
              <a:t>虚函数</a:t>
            </a:r>
            <a:r>
              <a:rPr lang="zh-CN" altLang="en-US" sz="2400" dirty="0"/>
              <a:t>。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marL="514350" indent="-514350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  <a:defRPr/>
            </a:pPr>
            <a:r>
              <a:rPr lang="zh-CN" altLang="en-US" sz="2400" dirty="0"/>
              <a:t>在用</a:t>
            </a:r>
            <a:r>
              <a:rPr lang="en-US" altLang="zh-CN" sz="2400" dirty="0" err="1"/>
              <a:t>dynamic_cast</a:t>
            </a:r>
            <a:r>
              <a:rPr lang="zh-CN" altLang="en-US" sz="2400" dirty="0"/>
              <a:t>进行</a:t>
            </a:r>
            <a:r>
              <a:rPr lang="zh-CN" altLang="en-US" sz="2400" dirty="0">
                <a:solidFill>
                  <a:srgbClr val="FF0000"/>
                </a:solidFill>
              </a:rPr>
              <a:t>向下</a:t>
            </a:r>
            <a:r>
              <a:rPr lang="zh-CN" altLang="en-US" sz="2400" dirty="0"/>
              <a:t>强制类型转换时，只有当基类指针或引用</a:t>
            </a:r>
            <a:r>
              <a:rPr lang="zh-CN" altLang="en-US" sz="2400" dirty="0">
                <a:solidFill>
                  <a:srgbClr val="FF0000"/>
                </a:solidFill>
              </a:rPr>
              <a:t>实际指向</a:t>
            </a:r>
            <a:r>
              <a:rPr lang="zh-CN" altLang="en-US" sz="2400" dirty="0"/>
              <a:t>了一个</a:t>
            </a:r>
            <a:r>
              <a:rPr lang="zh-CN" altLang="en-US" sz="2400" dirty="0">
                <a:solidFill>
                  <a:srgbClr val="FF0000"/>
                </a:solidFill>
              </a:rPr>
              <a:t>派生类对象</a:t>
            </a:r>
            <a:r>
              <a:rPr lang="zh-CN" altLang="en-US" sz="2400" dirty="0"/>
              <a:t>时，</a:t>
            </a:r>
            <a:r>
              <a:rPr lang="en-US" altLang="zh-CN" sz="2400" dirty="0" err="1"/>
              <a:t>dynamic_cast</a:t>
            </a:r>
            <a:r>
              <a:rPr lang="zh-CN" altLang="en-US" sz="2400" dirty="0"/>
              <a:t>才能将它们转换成派生类象的指针或引用，否则转换将不会成功。</a:t>
            </a:r>
            <a:endParaRPr lang="en-US" altLang="zh-CN" sz="2400" dirty="0"/>
          </a:p>
          <a:p>
            <a:pPr marL="514350" indent="-514350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  <a:defRPr/>
            </a:pPr>
            <a:r>
              <a:rPr lang="zh-CN" altLang="en-US" sz="2400" dirty="0"/>
              <a:t>当基类对象为</a:t>
            </a:r>
            <a:r>
              <a:rPr lang="zh-CN" altLang="en-US" sz="2400" dirty="0">
                <a:solidFill>
                  <a:srgbClr val="FF0000"/>
                </a:solidFill>
              </a:rPr>
              <a:t>指针</a:t>
            </a:r>
            <a:r>
              <a:rPr lang="zh-CN" altLang="en-US" sz="2400" dirty="0"/>
              <a:t>类型时，转换失败返回</a:t>
            </a:r>
            <a:r>
              <a:rPr lang="en-US" altLang="zh-CN" sz="2400" dirty="0">
                <a:solidFill>
                  <a:srgbClr val="FF0000"/>
                </a:solidFill>
              </a:rPr>
              <a:t>NULL</a:t>
            </a:r>
            <a:r>
              <a:rPr lang="zh-CN" altLang="en-US" sz="2400" dirty="0"/>
              <a:t>；当基类对象为</a:t>
            </a:r>
            <a:r>
              <a:rPr lang="zh-CN" altLang="en-US" sz="2400" dirty="0">
                <a:solidFill>
                  <a:srgbClr val="FF0000"/>
                </a:solidFill>
              </a:rPr>
              <a:t>引用</a:t>
            </a:r>
            <a:r>
              <a:rPr lang="zh-CN" altLang="en-US" sz="2400" dirty="0"/>
              <a:t>类型时，转换失败时返回</a:t>
            </a:r>
            <a:r>
              <a:rPr lang="en-US" altLang="zh-CN" sz="2400" dirty="0" err="1">
                <a:solidFill>
                  <a:srgbClr val="FF0000"/>
                </a:solidFill>
              </a:rPr>
              <a:t>std</a:t>
            </a:r>
            <a:r>
              <a:rPr lang="en-US" altLang="zh-CN" sz="2400" dirty="0">
                <a:solidFill>
                  <a:srgbClr val="FF0000"/>
                </a:solidFill>
              </a:rPr>
              <a:t>::</a:t>
            </a:r>
            <a:r>
              <a:rPr lang="en-US" altLang="zh-CN" sz="2400" dirty="0" err="1">
                <a:solidFill>
                  <a:srgbClr val="FF0000"/>
                </a:solidFill>
              </a:rPr>
              <a:t>bad_cast</a:t>
            </a:r>
            <a:r>
              <a:rPr lang="zh-CN" altLang="en-US" sz="2400" dirty="0"/>
              <a:t>异常。 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>
            <a:extLst>
              <a:ext uri="{FF2B5EF4-FFF2-40B4-BE49-F238E27FC236}">
                <a16:creationId xmlns:a16="http://schemas.microsoft.com/office/drawing/2014/main" id="{B8910F73-4110-05FF-38FA-D23BBE62D8A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04800" y="685800"/>
            <a:ext cx="8458200" cy="507682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C00000"/>
                </a:solidFill>
              </a:rPr>
              <a:t>编译期强制类型转换</a:t>
            </a:r>
            <a:r>
              <a:rPr lang="zh-CN" altLang="en-US" sz="2800" dirty="0">
                <a:solidFill>
                  <a:srgbClr val="C00000"/>
                </a:solidFill>
              </a:rPr>
              <a:t>：</a:t>
            </a:r>
          </a:p>
          <a:p>
            <a:pPr marL="514350" indent="-514350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2800" dirty="0" err="1"/>
              <a:t>const_cast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const</a:t>
            </a:r>
            <a:r>
              <a:rPr lang="zh-CN" altLang="en-US" sz="2800" dirty="0"/>
              <a:t>类型和非</a:t>
            </a:r>
            <a:r>
              <a:rPr lang="en-US" altLang="zh-CN" sz="2800" dirty="0" err="1"/>
              <a:t>const</a:t>
            </a:r>
            <a:r>
              <a:rPr lang="zh-CN" altLang="en-US" sz="2800" dirty="0"/>
              <a:t>类型之间转换：</a:t>
            </a:r>
            <a:endParaRPr lang="en-US" altLang="zh-CN" sz="2800" dirty="0"/>
          </a:p>
          <a:p>
            <a:pPr marL="908050" indent="-457200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zh-CN" altLang="en-US" sz="2400" dirty="0"/>
              <a:t>将非</a:t>
            </a:r>
            <a:r>
              <a:rPr lang="en-US" altLang="zh-CN" sz="2400" dirty="0" err="1"/>
              <a:t>const</a:t>
            </a:r>
            <a:r>
              <a:rPr lang="zh-CN" altLang="en-US" sz="2400" dirty="0"/>
              <a:t>类型数据转换成</a:t>
            </a:r>
            <a:r>
              <a:rPr lang="en-US" altLang="zh-CN" sz="2400" dirty="0" err="1"/>
              <a:t>const</a:t>
            </a:r>
            <a:r>
              <a:rPr lang="zh-CN" altLang="en-US" sz="2400" dirty="0"/>
              <a:t>类型数据，或者</a:t>
            </a:r>
            <a:r>
              <a:rPr lang="en-US" altLang="zh-CN" sz="2400" dirty="0" err="1"/>
              <a:t>const</a:t>
            </a:r>
            <a:r>
              <a:rPr lang="zh-CN" altLang="en-US" sz="2400" dirty="0"/>
              <a:t>类型数据转换为非</a:t>
            </a:r>
            <a:r>
              <a:rPr lang="en-US" altLang="zh-CN" sz="2400" dirty="0" err="1"/>
              <a:t>const</a:t>
            </a:r>
            <a:r>
              <a:rPr lang="zh-CN" altLang="en-US" sz="2400" dirty="0"/>
              <a:t>类型数据。 </a:t>
            </a:r>
            <a:endParaRPr lang="en-US" altLang="zh-CN" sz="2400" dirty="0"/>
          </a:p>
          <a:p>
            <a:pPr marL="514350" indent="-514350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+mj-ea"/>
              <a:buAutoNum type="circleNumDbPlain" startAt="2"/>
              <a:defRPr/>
            </a:pPr>
            <a:r>
              <a:rPr lang="en-US" altLang="zh-CN" sz="2800" dirty="0" err="1"/>
              <a:t>static_cast</a:t>
            </a:r>
            <a:r>
              <a:rPr lang="zh-CN" altLang="en-US" sz="2800" dirty="0"/>
              <a:t>，有关联类型间转换： </a:t>
            </a:r>
            <a:endParaRPr lang="en-US" altLang="zh-CN" sz="2800" dirty="0"/>
          </a:p>
          <a:p>
            <a:pPr marL="908050" indent="-457200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accent2"/>
                </a:solidFill>
              </a:rPr>
              <a:t>不安全的转换，</a:t>
            </a:r>
            <a:r>
              <a:rPr lang="zh-CN" altLang="en-US" sz="2400" dirty="0"/>
              <a:t>不进行类型检查来确保转换的安全性。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marL="514350" indent="-514350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+mj-ea"/>
              <a:buAutoNum type="circleNumDbPlain" startAt="3"/>
              <a:defRPr/>
            </a:pPr>
            <a:r>
              <a:rPr lang="en-US" altLang="zh-CN" sz="2800" dirty="0" err="1"/>
              <a:t>reinterpret_cast</a:t>
            </a:r>
            <a:r>
              <a:rPr lang="zh-CN" altLang="en-US" sz="2800" dirty="0"/>
              <a:t>，没有任何关联之间的转换</a:t>
            </a:r>
            <a:r>
              <a:rPr lang="en-US" altLang="zh-CN" sz="2800" dirty="0"/>
              <a:t>:</a:t>
            </a:r>
          </a:p>
          <a:p>
            <a:pPr marL="908050" indent="-457200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C00000"/>
                </a:solidFill>
              </a:rPr>
              <a:t>不安全的转换</a:t>
            </a:r>
            <a:r>
              <a:rPr lang="zh-CN" altLang="en-US" sz="2400" dirty="0"/>
              <a:t>，仅在其它转换不能满足要求时使用。任何指针都可以转换成其它类型的指针。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6811</TotalTime>
  <Words>6037</Words>
  <Application>Microsoft Macintosh PowerPoint</Application>
  <PresentationFormat>全屏显示(4:3)</PresentationFormat>
  <Paragraphs>1007</Paragraphs>
  <Slides>60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6" baseType="lpstr">
      <vt:lpstr>黑体</vt:lpstr>
      <vt:lpstr>华文楷体</vt:lpstr>
      <vt:lpstr>隶书</vt:lpstr>
      <vt:lpstr>Arial</vt:lpstr>
      <vt:lpstr>Calibri</vt:lpstr>
      <vt:lpstr>Cambria</vt:lpstr>
      <vt:lpstr>Comic Sans MS</vt:lpstr>
      <vt:lpstr>Consolas</vt:lpstr>
      <vt:lpstr>Courier New</vt:lpstr>
      <vt:lpstr>Franklin Gothic Book</vt:lpstr>
      <vt:lpstr>Maiandra GD</vt:lpstr>
      <vt:lpstr>Tahoma</vt:lpstr>
      <vt:lpstr>Times New Roman</vt:lpstr>
      <vt:lpstr>Wingdings</vt:lpstr>
      <vt:lpstr>Wingdings 2</vt:lpstr>
      <vt:lpstr>龙腾四海</vt:lpstr>
      <vt:lpstr>第5讲 多态性（polymorphism）</vt:lpstr>
      <vt:lpstr>内容</vt:lpstr>
      <vt:lpstr>多态性</vt:lpstr>
      <vt:lpstr>什么是多态性</vt:lpstr>
      <vt:lpstr>多态性的类型</vt:lpstr>
      <vt:lpstr>多态的实现</vt:lpstr>
      <vt:lpstr>PowerPoint 演示文稿</vt:lpstr>
      <vt:lpstr>静态联编（绑定）</vt:lpstr>
      <vt:lpstr>动态联编（绑定）</vt:lpstr>
      <vt:lpstr>虚函数</vt:lpstr>
      <vt:lpstr>虚函数</vt:lpstr>
      <vt:lpstr>虚函数的定义前提</vt:lpstr>
      <vt:lpstr>虚函数的定义</vt:lpstr>
      <vt:lpstr>虚函数类族的构造函数、析构函数</vt:lpstr>
      <vt:lpstr>虚函数定义格式</vt:lpstr>
      <vt:lpstr>虚函数举例1</vt:lpstr>
      <vt:lpstr>PowerPoint 演示文稿</vt:lpstr>
      <vt:lpstr>虚函数举例2</vt:lpstr>
      <vt:lpstr>PowerPoint 演示文稿</vt:lpstr>
      <vt:lpstr>虚函数的使用限制</vt:lpstr>
      <vt:lpstr>虚函数的使用限制</vt:lpstr>
      <vt:lpstr>通过引用调用虚函数的一般方法</vt:lpstr>
      <vt:lpstr>区分虚函数与函数重载</vt:lpstr>
      <vt:lpstr>指针调用虚函数的一般用法举例： 宠物类异构数组</vt:lpstr>
      <vt:lpstr>PowerPoint 演示文稿</vt:lpstr>
      <vt:lpstr>虚析构函数</vt:lpstr>
      <vt:lpstr>PowerPoint 演示文稿</vt:lpstr>
      <vt:lpstr>虚函数的形参默认值</vt:lpstr>
      <vt:lpstr>PowerPoint 演示文稿</vt:lpstr>
      <vt:lpstr>虚函数的特性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虚函数的实现技术</vt:lpstr>
      <vt:lpstr>PowerPoint 演示文稿</vt:lpstr>
      <vt:lpstr>PowerPoint 演示文稿</vt:lpstr>
      <vt:lpstr>纯虚函数</vt:lpstr>
      <vt:lpstr>纯虚函数</vt:lpstr>
      <vt:lpstr>抽象类</vt:lpstr>
      <vt:lpstr>PowerPoint 演示文稿</vt:lpstr>
      <vt:lpstr>PowerPoint 演示文稿</vt:lpstr>
      <vt:lpstr>PowerPoint 演示文稿</vt:lpstr>
      <vt:lpstr>运行时类型信息RTTI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sjl</dc:creator>
  <cp:lastModifiedBy>Microsoft Office User</cp:lastModifiedBy>
  <cp:revision>246</cp:revision>
  <cp:lastPrinted>1601-01-01T00:00:00Z</cp:lastPrinted>
  <dcterms:created xsi:type="dcterms:W3CDTF">1601-01-01T00:00:00Z</dcterms:created>
  <dcterms:modified xsi:type="dcterms:W3CDTF">2024-04-24T07:30:07Z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