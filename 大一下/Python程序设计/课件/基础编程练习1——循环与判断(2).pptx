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1308" r:id="rId4"/>
    <p:sldId id="1307" r:id="rId5"/>
    <p:sldId id="1302" r:id="rId6"/>
    <p:sldId id="1310" r:id="rId7"/>
    <p:sldId id="1313" r:id="rId8"/>
    <p:sldId id="1315" r:id="rId9"/>
    <p:sldId id="1300" r:id="rId10"/>
    <p:sldId id="1317" r:id="rId11"/>
    <p:sldId id="1316" r:id="rId12"/>
    <p:sldId id="1303" r:id="rId13"/>
    <p:sldId id="785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672BA"/>
    <a:srgbClr val="1581DB"/>
    <a:srgbClr val="008080"/>
    <a:srgbClr val="C2AF24"/>
    <a:srgbClr val="A74E05"/>
    <a:srgbClr val="7A3E32"/>
    <a:srgbClr val="006600"/>
    <a:srgbClr val="800000"/>
    <a:srgbClr val="808080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2" autoAdjust="0"/>
    <p:restoredTop sz="82032" autoAdjust="0"/>
  </p:normalViewPr>
  <p:slideViewPr>
    <p:cSldViewPr>
      <p:cViewPr varScale="1">
        <p:scale>
          <a:sx n="93" d="100"/>
          <a:sy n="93" d="100"/>
        </p:scale>
        <p:origin x="195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-1915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hi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bye</a:t>
            </a: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E2B571F6-0F46-43D6-BF59-2C8F4E923902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76986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hi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03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r>
              <a:rPr lang="en-US" altLang="zh-CN"/>
              <a:t>bye</a:t>
            </a: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spcBef>
                <a:spcPct val="0"/>
              </a:spcBef>
              <a:buClrTx/>
              <a:buSzTx/>
              <a:buFontTx/>
              <a:buNone/>
              <a:defRPr sz="12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46CE8C4E-4E2B-4FAA-924F-F78D103AAC5D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69222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1pPr>
            <a:lvl2pPr marL="742950" indent="-28575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2pPr>
            <a:lvl3pPr marL="11430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3pPr>
            <a:lvl4pPr marL="16002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4pPr>
            <a:lvl5pPr marL="2057400" indent="-228600" eaLnBrk="0" hangingPunct="0">
              <a:spcBef>
                <a:spcPts val="500"/>
              </a:spcBef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cs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fld id="{8AFE70DC-C7E3-4C03-93E4-B49EBC9D86EE}" type="slidenum">
              <a:rPr lang="en-US" altLang="zh-CN" sz="1200" smtClean="0">
                <a:latin typeface="Times New Roman" panose="02020603050405020304" pitchFamily="18" charset="0"/>
              </a:rPr>
              <a:t>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" name="备注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>
              <a:spcBef>
                <a:spcPct val="50000"/>
              </a:spcBef>
            </a:pPr>
            <a:endParaRPr lang="en-US" altLang="zh-CN">
              <a:latin typeface="楷体_GB2312"/>
            </a:endParaRPr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18168E2-0BBE-4769-898B-876363162942}" type="slidenum">
              <a:rPr lang="en-US" altLang="zh-CN" smtClean="0"/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386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>
              <a:spcBef>
                <a:spcPct val="50000"/>
              </a:spcBef>
            </a:pPr>
            <a:endParaRPr lang="en-US" altLang="zh-CN">
              <a:latin typeface="楷体_GB2312"/>
            </a:endParaRPr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18168E2-0BBE-4769-898B-876363162942}" type="slidenum">
              <a:rPr lang="en-US" altLang="zh-CN" smtClean="0"/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6852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>
              <a:spcBef>
                <a:spcPct val="50000"/>
              </a:spcBef>
            </a:pPr>
            <a:endParaRPr lang="en-US" altLang="zh-CN" dirty="0">
              <a:latin typeface="楷体_GB2312"/>
            </a:endParaRPr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18168E2-0BBE-4769-898B-876363162942}" type="slidenum">
              <a:rPr lang="en-US" altLang="zh-CN" smtClean="0"/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81228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>
              <a:spcBef>
                <a:spcPct val="50000"/>
              </a:spcBef>
            </a:pPr>
            <a:endParaRPr lang="en-US" altLang="zh-CN" dirty="0">
              <a:latin typeface="楷体_GB2312"/>
            </a:endParaRPr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18168E2-0BBE-4769-898B-876363162942}" type="slidenum">
              <a:rPr lang="en-US" altLang="zh-CN" smtClean="0"/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35066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>
              <a:spcBef>
                <a:spcPct val="50000"/>
              </a:spcBef>
            </a:pPr>
            <a:endParaRPr lang="en-US" altLang="zh-CN" dirty="0">
              <a:latin typeface="楷体_GB2312"/>
            </a:endParaRPr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18168E2-0BBE-4769-898B-876363162942}" type="slidenum">
              <a:rPr lang="en-US" altLang="zh-CN" smtClean="0"/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12580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>
              <a:spcBef>
                <a:spcPct val="50000"/>
              </a:spcBef>
            </a:pPr>
            <a:endParaRPr lang="en-US" altLang="zh-CN">
              <a:latin typeface="楷体_GB2312"/>
            </a:endParaRPr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18168E2-0BBE-4769-898B-876363162942}" type="slidenum">
              <a:rPr lang="en-US" altLang="zh-CN" smtClean="0"/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4220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>
              <a:spcBef>
                <a:spcPct val="50000"/>
              </a:spcBef>
            </a:pPr>
            <a:endParaRPr lang="en-US" altLang="zh-CN">
              <a:latin typeface="楷体_GB2312"/>
            </a:endParaRPr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18168E2-0BBE-4769-898B-876363162942}" type="slidenum">
              <a:rPr lang="en-US" altLang="zh-CN" smtClean="0"/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90823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>
              <a:spcBef>
                <a:spcPct val="50000"/>
              </a:spcBef>
            </a:pPr>
            <a:endParaRPr lang="en-US" altLang="zh-CN">
              <a:latin typeface="楷体_GB2312"/>
            </a:endParaRPr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18168E2-0BBE-4769-898B-876363162942}" type="slidenum">
              <a:rPr lang="en-US" altLang="zh-CN" smtClean="0"/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636571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>
              <a:spcBef>
                <a:spcPct val="50000"/>
              </a:spcBef>
            </a:pPr>
            <a:endParaRPr lang="en-US" altLang="zh-CN" b="1">
              <a:latin typeface="楷体_GB2312"/>
            </a:endParaRPr>
          </a:p>
          <a:p>
            <a:pPr eaLnBrk="1" hangingPunct="1">
              <a:spcBef>
                <a:spcPct val="50000"/>
              </a:spcBef>
            </a:pPr>
            <a:endParaRPr lang="en-US" altLang="zh-CN">
              <a:latin typeface="楷体_GB2312"/>
            </a:endParaRPr>
          </a:p>
        </p:txBody>
      </p:sp>
      <p:sp>
        <p:nvSpPr>
          <p:cNvPr id="839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26D6CC5-D7C5-43FA-AFF1-EA87749B794C}" type="slidenum">
              <a:rPr lang="en-US" altLang="zh-CN"/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7093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pPr eaLnBrk="1" hangingPunct="1">
              <a:spcBef>
                <a:spcPct val="50000"/>
              </a:spcBef>
            </a:pPr>
            <a:endParaRPr lang="en-US" altLang="zh-CN">
              <a:latin typeface="楷体_GB2312"/>
            </a:endParaRPr>
          </a:p>
        </p:txBody>
      </p:sp>
      <p:sp>
        <p:nvSpPr>
          <p:cNvPr id="5939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F18168E2-0BBE-4769-898B-876363162942}" type="slidenum">
              <a:rPr lang="en-US" altLang="zh-CN" smtClean="0"/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830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5" descr="snake-on-tree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30016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6" descr="2006-10-28_Python_in_60_Minutes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04" t="68115" r="19565" b="1450"/>
          <a:stretch>
            <a:fillRect/>
          </a:stretch>
        </p:blipFill>
        <p:spPr bwMode="auto">
          <a:xfrm>
            <a:off x="1600200" y="741363"/>
            <a:ext cx="5410200" cy="1925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7"/>
          <p:cNvSpPr>
            <a:spLocks noChangeArrowheads="1"/>
          </p:cNvSpPr>
          <p:nvPr userDrawn="1"/>
        </p:nvSpPr>
        <p:spPr bwMode="auto">
          <a:xfrm>
            <a:off x="1981200" y="4191000"/>
            <a:ext cx="5562600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87655" indent="-287655">
              <a:lnSpc>
                <a:spcPct val="102000"/>
              </a:lnSpc>
              <a:spcBef>
                <a:spcPct val="20000"/>
              </a:spcBef>
              <a:buClr>
                <a:srgbClr val="808080"/>
              </a:buClr>
              <a:buSzPct val="60000"/>
              <a:buFont typeface="Wingdings" panose="05000000000000000000" pitchFamily="2" charset="2"/>
              <a:buChar char="n"/>
            </a:pPr>
            <a:endParaRPr lang="en-GB" altLang="zh-CN" sz="1600"/>
          </a:p>
        </p:txBody>
      </p:sp>
      <p:sp>
        <p:nvSpPr>
          <p:cNvPr id="1946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0" y="2743200"/>
            <a:ext cx="9144000" cy="1600200"/>
          </a:xfrm>
        </p:spPr>
        <p:txBody>
          <a:bodyPr anchor="ctr"/>
          <a:lstStyle>
            <a:lvl1pPr>
              <a:defRPr sz="44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686800" y="6486525"/>
            <a:ext cx="457200" cy="381000"/>
          </a:xfrm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41BCACC2-EB2E-41B5-88CE-73A61AB12F5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F4B451-ED34-44AC-A294-F69DDAD52F2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6CA548-88A0-4B76-ACB8-541D0487956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0" y="1066800"/>
            <a:ext cx="44958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4958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528CAA-8BE4-46E1-93AA-6E4772B53CB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215D8D-A7E5-4C44-8276-4D9C4CFAE00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491312-4604-4E58-8319-6E38FD6FBB5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EDC48A-AC36-4DC7-9F8C-4BFF4C0342F9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AD5092-F570-4E83-87BB-25B42F38CCC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8160E3-5837-415F-9BBB-C137EFF1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DD35B4-CD61-434F-B263-5E6E207B21CF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152400"/>
            <a:ext cx="2286000" cy="6477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6705600" cy="6477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E8452F-4105-48B6-93DB-6861893DE9B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28" b="36090"/>
          <a:stretch>
            <a:fillRect/>
          </a:stretch>
        </p:blipFill>
        <p:spPr bwMode="auto">
          <a:xfrm>
            <a:off x="0" y="6048375"/>
            <a:ext cx="1295400" cy="809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853488" cy="838200"/>
          </a:xfrm>
          <a:prstGeom prst="rect">
            <a:avLst/>
          </a:prstGeom>
          <a:solidFill>
            <a:srgbClr val="9933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066800"/>
            <a:ext cx="9144000" cy="556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72400" y="64008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40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3C3F5D21-47BA-43E3-9A7C-87A4E15DF74F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anose="020B0604030504040204" pitchFamily="34" charset="0"/>
          <a:cs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anose="020B0604030504040204" pitchFamily="34" charset="0"/>
          <a:cs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anose="020B0604030504040204" pitchFamily="34" charset="0"/>
          <a:cs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anose="020B0604030504040204" pitchFamily="34" charset="0"/>
          <a:cs typeface="Times New Roman" panose="02020603050405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anose="020B0604030504040204" pitchFamily="34" charset="0"/>
          <a:cs typeface="Times New Roman" panose="02020603050405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anose="020B0604030504040204" pitchFamily="34" charset="0"/>
          <a:cs typeface="Times New Roman" panose="02020603050405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anose="020B0604030504040204" pitchFamily="34" charset="0"/>
          <a:cs typeface="Times New Roman" panose="02020603050405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Verdana" panose="020B0604030504040204" pitchFamily="34" charset="0"/>
          <a:cs typeface="Times New Roman" panose="02020603050405020304" pitchFamily="18" charset="0"/>
        </a:defRPr>
      </a:lvl9pPr>
    </p:titleStyle>
    <p:bodyStyle>
      <a:lvl1pPr marL="233680" indent="-233680" algn="l" rtl="0" eaLnBrk="0" fontAlgn="base" hangingPunct="0">
        <a:spcBef>
          <a:spcPct val="20000"/>
        </a:spcBef>
        <a:spcAft>
          <a:spcPct val="0"/>
        </a:spcAft>
        <a:buClr>
          <a:srgbClr val="808080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90880" indent="-233680" algn="l" rtl="0" eaLnBrk="0" fontAlgn="base" hangingPunct="0">
        <a:spcBef>
          <a:spcPct val="20000"/>
        </a:spcBef>
        <a:spcAft>
          <a:spcPct val="0"/>
        </a:spcAft>
        <a:buClr>
          <a:srgbClr val="800000"/>
        </a:buClr>
        <a:buSzPct val="55000"/>
        <a:buFont typeface="Wingdings" panose="05000000000000000000" pitchFamily="2" charset="2"/>
        <a:buChar char="n"/>
        <a:defRPr>
          <a:solidFill>
            <a:schemeClr val="tx1"/>
          </a:solidFill>
          <a:latin typeface="+mn-lt"/>
          <a:cs typeface="+mn-cs"/>
        </a:defRPr>
      </a:lvl2pPr>
      <a:lvl3pPr marL="1084580" indent="-17018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3pPr>
      <a:lvl4pPr marL="1541780" indent="-17018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55000"/>
        <a:buFont typeface="Wingdings" panose="05000000000000000000" pitchFamily="2" charset="2"/>
        <a:buChar char="n"/>
        <a:defRPr sz="14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0C0C0"/>
        </a:buClr>
        <a:buSzPct val="50000"/>
        <a:buFont typeface="Wingdings" panose="05000000000000000000" pitchFamily="2" charset="2"/>
        <a:buChar char="n"/>
        <a:defRPr sz="16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78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ea typeface="宋体" panose="02010600030101010101" pitchFamily="2" charset="-122"/>
              </a:rPr>
              <a:t>基础编程练习</a:t>
            </a:r>
            <a:r>
              <a:rPr lang="en-US" altLang="zh-CN" dirty="0">
                <a:ea typeface="宋体" panose="02010600030101010101" pitchFamily="2" charset="-122"/>
              </a:rPr>
              <a:t>1——</a:t>
            </a:r>
            <a:r>
              <a:rPr lang="zh-CN" altLang="en-US" dirty="0">
                <a:ea typeface="宋体" panose="02010600030101010101" pitchFamily="2" charset="-122"/>
              </a:rPr>
              <a:t>循环与判断</a:t>
            </a:r>
            <a:r>
              <a:rPr lang="en-US" altLang="zh-CN" dirty="0">
                <a:ea typeface="宋体" panose="02010600030101010101" pitchFamily="2" charset="-122"/>
              </a:rPr>
              <a:t>(2)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upload_post_object_v2_8800762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07" y="857250"/>
            <a:ext cx="8270186" cy="51435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循环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条件（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语句）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51226" y="1287488"/>
            <a:ext cx="85689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A.</a:t>
            </a:r>
            <a:r>
              <a:rPr lang="zh-CN" altLang="en-US" sz="2400" b="1" dirty="0">
                <a:solidFill>
                  <a:srgbClr val="C00000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输入</a:t>
            </a:r>
            <a:r>
              <a:rPr lang="en-US" altLang="zh-CN" sz="2400" b="1" dirty="0">
                <a:solidFill>
                  <a:srgbClr val="C00000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n,</a:t>
            </a:r>
            <a:r>
              <a:rPr lang="zh-CN" altLang="en-US" sz="2400" b="1" dirty="0">
                <a:solidFill>
                  <a:srgbClr val="C00000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计算</a:t>
            </a:r>
            <a:r>
              <a:rPr lang="en-US" altLang="zh-CN" sz="2400" b="1" dirty="0">
                <a:solidFill>
                  <a:srgbClr val="C00000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S=1-1/2+1/3-1/4+1/5-1/6+…… 1/n</a:t>
            </a:r>
            <a:r>
              <a:rPr lang="zh-CN" altLang="en-US" sz="2400" b="1" dirty="0">
                <a:solidFill>
                  <a:srgbClr val="C00000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的值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003754" y="3065310"/>
            <a:ext cx="3816424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sum1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for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range(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101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if </a:t>
            </a:r>
            <a:r>
              <a:rPr kumimoji="0" lang="en-US" altLang="zh-CN" sz="24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%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2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!=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sum1 +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/i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else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sum1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-=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/i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print(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sum1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9738" y="1897597"/>
            <a:ext cx="3960440" cy="1017871"/>
          </a:xfrm>
          <a:prstGeom prst="rect">
            <a:avLst/>
          </a:prstGeom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68784" y="2695978"/>
            <a:ext cx="4110360" cy="3046988"/>
          </a:xfrm>
          <a:prstGeom prst="rect">
            <a:avLst/>
          </a:prstGeom>
          <a:solidFill>
            <a:srgbClr val="DEFF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n = int(input())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sum1 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n+1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%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    sum1 +=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/i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    sum1 -=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1.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/i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(sum1)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1253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while</a:t>
            </a:r>
            <a:r>
              <a:rPr lang="zh-CN" altLang="en-US" dirty="0"/>
              <a:t>循环</a:t>
            </a:r>
          </a:p>
        </p:txBody>
      </p:sp>
      <p:sp>
        <p:nvSpPr>
          <p:cNvPr id="9" name="矩形 8"/>
          <p:cNvSpPr/>
          <p:nvPr/>
        </p:nvSpPr>
        <p:spPr>
          <a:xfrm>
            <a:off x="152400" y="1109935"/>
            <a:ext cx="437331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</a:rPr>
              <a:t>B. S=1+2+4+7+11……n</a:t>
            </a:r>
          </a:p>
          <a:p>
            <a:r>
              <a:rPr lang="en-US" altLang="zh-CN" sz="2400" b="1" dirty="0">
                <a:solidFill>
                  <a:srgbClr val="C00000"/>
                </a:solidFill>
              </a:rPr>
              <a:t> (n&lt;=k</a:t>
            </a:r>
            <a:r>
              <a:rPr lang="en-US" altLang="zh-CN" sz="2400" b="1" dirty="0">
                <a:solidFill>
                  <a:srgbClr val="C00000"/>
                </a:solidFill>
                <a:latin typeface="SimSun" panose="02010600030101010101" pitchFamily="2" charset="-122"/>
                <a:ea typeface="SimSun" panose="02010600030101010101" pitchFamily="2" charset="-122"/>
              </a:rPr>
              <a:t>)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23528" y="1983030"/>
            <a:ext cx="3816424" cy="3416320"/>
          </a:xfrm>
          <a:prstGeom prst="rect">
            <a:avLst/>
          </a:prstGeom>
          <a:solidFill>
            <a:srgbClr val="DEFF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k 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())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sum1 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n 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while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n&lt;= k: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sum1 += n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n += i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i +=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(sum1)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5311865" y="3236507"/>
            <a:ext cx="2232248" cy="954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宋体" panose="02010600030101010101" pitchFamily="2" charset="-122"/>
              </a:rPr>
              <a:t>while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i&lt;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宋体" panose="02010600030101010101" pitchFamily="2" charset="-122"/>
              </a:rPr>
              <a:t>101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:</a:t>
            </a:r>
            <a:b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</a:rPr>
            </a:b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</a:rPr>
              <a:t>  </a:t>
            </a: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</a:rPr>
              <a:t>i = i +</a:t>
            </a:r>
            <a:r>
              <a:rPr lang="zh-CN" altLang="zh-CN" sz="2800" dirty="0">
                <a:solidFill>
                  <a:srgbClr val="0000FF"/>
                </a:solidFill>
                <a:latin typeface="宋体" panose="02010600030101010101" pitchFamily="2" charset="-122"/>
              </a:rPr>
              <a:t>1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221596" y="2420888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</a:rPr>
              <a:t>sum1</a:t>
            </a:r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</a:rPr>
              <a:t> = </a:t>
            </a:r>
            <a:r>
              <a:rPr lang="zh-CN" altLang="zh-CN" sz="2800" dirty="0">
                <a:solidFill>
                  <a:srgbClr val="0000FF"/>
                </a:solidFill>
                <a:latin typeface="宋体" panose="02010600030101010101" pitchFamily="2" charset="-122"/>
              </a:rPr>
              <a:t>0</a:t>
            </a:r>
            <a:endParaRPr lang="zh-CN" altLang="en-US" sz="2800" dirty="0"/>
          </a:p>
        </p:txBody>
      </p:sp>
      <p:sp>
        <p:nvSpPr>
          <p:cNvPr id="12" name="矩形 11"/>
          <p:cNvSpPr/>
          <p:nvPr/>
        </p:nvSpPr>
        <p:spPr>
          <a:xfrm>
            <a:off x="5643159" y="4057908"/>
            <a:ext cx="18004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zh-CN" sz="2800" dirty="0">
                <a:solidFill>
                  <a:srgbClr val="000000"/>
                </a:solidFill>
                <a:latin typeface="宋体" pitchFamily="2" charset="-122"/>
                <a:cs typeface="宋体" pitchFamily="2" charset="-122"/>
              </a:rPr>
              <a:t>sum1 += i</a:t>
            </a:r>
            <a:endParaRPr lang="zh-CN" altLang="zh-CN" sz="2800" dirty="0">
              <a:latin typeface="Arial" pitchFamily="34" charset="0"/>
              <a:cs typeface="宋体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279204" y="2882553"/>
            <a:ext cx="108234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dirty="0">
                <a:solidFill>
                  <a:srgbClr val="000000"/>
                </a:solidFill>
                <a:latin typeface="宋体" panose="02010600030101010101" pitchFamily="2" charset="-122"/>
              </a:rPr>
              <a:t>i = </a:t>
            </a:r>
            <a:r>
              <a:rPr lang="en-US" altLang="zh-CN" sz="2800" dirty="0">
                <a:solidFill>
                  <a:srgbClr val="0000FF"/>
                </a:solidFill>
                <a:latin typeface="宋体" panose="02010600030101010101" pitchFamily="2" charset="-122"/>
              </a:rPr>
              <a:t>0</a:t>
            </a:r>
            <a:endParaRPr lang="zh-CN" altLang="en-US" sz="2800" dirty="0"/>
          </a:p>
        </p:txBody>
      </p:sp>
      <p:sp>
        <p:nvSpPr>
          <p:cNvPr id="14" name="矩形 13"/>
          <p:cNvSpPr/>
          <p:nvPr/>
        </p:nvSpPr>
        <p:spPr>
          <a:xfrm>
            <a:off x="5192101" y="1409103"/>
            <a:ext cx="28905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求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1+2+3+…+100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和</a:t>
            </a:r>
            <a:endParaRPr lang="en-US" altLang="zh-CN" sz="2400" dirty="0">
              <a:ea typeface="宋体" panose="02010600030101010101" pitchFamily="2" charset="-122"/>
            </a:endParaRPr>
          </a:p>
        </p:txBody>
      </p:sp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430844" y="2060267"/>
            <a:ext cx="3816424" cy="3416320"/>
          </a:xfrm>
          <a:prstGeom prst="rect">
            <a:avLst/>
          </a:prstGeom>
          <a:solidFill>
            <a:srgbClr val="DEFF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k 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())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sum1 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n 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while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n&lt;= k: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sum1 += n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n += i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i +=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(sum1)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30192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0" grpId="0" animBg="1"/>
      <p:bldP spid="11" grpId="0"/>
      <p:bldP spid="12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循环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判断条件（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语句）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314051" y="1122612"/>
            <a:ext cx="499566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</a:rPr>
              <a:t>C: </a:t>
            </a:r>
            <a:r>
              <a:rPr lang="zh-CN" altLang="en-US" sz="2400" b="1" dirty="0">
                <a:solidFill>
                  <a:srgbClr val="C00000"/>
                </a:solidFill>
              </a:rPr>
              <a:t>乐乐的幸运数</a:t>
            </a:r>
            <a:r>
              <a:rPr lang="en-US" altLang="zh-CN" sz="2400" b="1" dirty="0">
                <a:solidFill>
                  <a:srgbClr val="C00000"/>
                </a:solidFill>
              </a:rPr>
              <a:t>:6</a:t>
            </a:r>
            <a:r>
              <a:rPr lang="zh-CN" altLang="en-US" sz="2400" b="1" dirty="0">
                <a:solidFill>
                  <a:srgbClr val="C00000"/>
                </a:solidFill>
              </a:rPr>
              <a:t>或</a:t>
            </a:r>
            <a:r>
              <a:rPr lang="en-US" altLang="zh-CN" sz="2400" b="1" dirty="0">
                <a:solidFill>
                  <a:srgbClr val="C00000"/>
                </a:solidFill>
              </a:rPr>
              <a:t>8</a:t>
            </a:r>
            <a:r>
              <a:rPr lang="zh-CN" altLang="en-US" sz="2400" b="1" dirty="0">
                <a:solidFill>
                  <a:srgbClr val="C00000"/>
                </a:solidFill>
              </a:rPr>
              <a:t>的倍数</a:t>
            </a:r>
          </a:p>
        </p:txBody>
      </p:sp>
      <p:sp>
        <p:nvSpPr>
          <p:cNvPr id="3" name="矩形 2"/>
          <p:cNvSpPr/>
          <p:nvPr/>
        </p:nvSpPr>
        <p:spPr>
          <a:xfrm>
            <a:off x="152400" y="1700808"/>
            <a:ext cx="86680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求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1~100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之间，能被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5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整除，但不能被</a:t>
            </a:r>
            <a:r>
              <a:rPr lang="en-US" altLang="zh-CN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2800" dirty="0">
                <a:latin typeface="华文新魏" panose="02010800040101010101" pitchFamily="2" charset="-122"/>
                <a:ea typeface="华文新魏" panose="02010800040101010101" pitchFamily="2" charset="-122"/>
              </a:rPr>
              <a:t>整除的数</a:t>
            </a:r>
            <a:endParaRPr lang="zh-CN" altLang="en-US" sz="28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14051" y="2267256"/>
            <a:ext cx="7498309" cy="1384995"/>
          </a:xfrm>
          <a:prstGeom prst="rect">
            <a:avLst/>
          </a:prstGeom>
          <a:solidFill>
            <a:srgbClr val="DEFF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101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%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 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and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%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(i)</a:t>
            </a: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14051" y="3775680"/>
            <a:ext cx="7498309" cy="2677656"/>
          </a:xfrm>
          <a:prstGeom prst="rect">
            <a:avLst/>
          </a:prstGeom>
          <a:solidFill>
            <a:srgbClr val="DEFF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hangingPunct="0"/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m,n = map(int,input()</a:t>
            </a:r>
            <a:r>
              <a:rPr kumimoji="0" lang="en-US" altLang="zh-CN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split())</a:t>
            </a:r>
            <a:b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(m,n+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%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==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 </a:t>
            </a: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or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%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8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==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en-US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+= 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800" dirty="0">
                <a:solidFill>
                  <a:srgbClr val="030303"/>
                </a:solidFill>
                <a:latin typeface="Consolas" panose="020B0609020204030204" pitchFamily="49" charset="0"/>
              </a:rPr>
              <a:t>count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8901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9512" y="404664"/>
            <a:ext cx="8574783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</a:rPr>
              <a:t>D: </a:t>
            </a:r>
            <a:r>
              <a:rPr lang="zh-CN" altLang="en-US" sz="2400" b="1" dirty="0">
                <a:solidFill>
                  <a:srgbClr val="C00000"/>
                </a:solidFill>
              </a:rPr>
              <a:t>依据</a:t>
            </a:r>
            <a:r>
              <a:rPr lang="en-US" altLang="zh-CN" sz="2400" b="1" dirty="0">
                <a:solidFill>
                  <a:srgbClr val="C00000"/>
                </a:solidFill>
              </a:rPr>
              <a:t>π/4 = 1 - 1/3 + 1/5 - 1/7 +……</a:t>
            </a:r>
            <a:r>
              <a:rPr lang="zh-CN" altLang="en-US" sz="2400" b="1" dirty="0">
                <a:solidFill>
                  <a:srgbClr val="C00000"/>
                </a:solidFill>
              </a:rPr>
              <a:t>计算</a:t>
            </a:r>
            <a:r>
              <a:rPr lang="en-US" altLang="zh-CN" sz="2400" b="1" dirty="0">
                <a:solidFill>
                  <a:srgbClr val="C00000"/>
                </a:solidFill>
              </a:rPr>
              <a:t>π</a:t>
            </a:r>
            <a:r>
              <a:rPr lang="zh-CN" altLang="en-US" sz="2400" b="1" dirty="0">
                <a:solidFill>
                  <a:srgbClr val="C00000"/>
                </a:solidFill>
              </a:rPr>
              <a:t>的值，</a:t>
            </a:r>
            <a:endParaRPr lang="en-US" altLang="zh-CN" sz="2400" b="1" dirty="0">
              <a:solidFill>
                <a:srgbClr val="C00000"/>
              </a:solidFill>
            </a:endParaRPr>
          </a:p>
          <a:p>
            <a:r>
              <a:rPr lang="zh-CN" altLang="en-US" sz="2400" b="1" dirty="0">
                <a:solidFill>
                  <a:srgbClr val="C00000"/>
                </a:solidFill>
              </a:rPr>
              <a:t>直到最后一项小于</a:t>
            </a:r>
            <a:r>
              <a:rPr lang="en-US" altLang="zh-CN" sz="2400" b="1" dirty="0">
                <a:solidFill>
                  <a:srgbClr val="C00000"/>
                </a:solidFill>
              </a:rPr>
              <a:t>10</a:t>
            </a:r>
            <a:r>
              <a:rPr lang="en-US" altLang="zh-CN" sz="2400" b="1" baseline="30000" dirty="0">
                <a:solidFill>
                  <a:srgbClr val="C00000"/>
                </a:solidFill>
              </a:rPr>
              <a:t>-7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79512" y="1862935"/>
            <a:ext cx="4320480" cy="4154984"/>
          </a:xfrm>
          <a:prstGeom prst="rect">
            <a:avLst/>
          </a:prstGeom>
          <a:solidFill>
            <a:srgbClr val="DEFF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sum1 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n 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while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/n &gt;=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** -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%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    sum1 +=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/n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    sum1 -=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/ n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n +=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+=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round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*sum1,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))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129" y="845064"/>
            <a:ext cx="3960440" cy="1017871"/>
          </a:xfrm>
          <a:prstGeom prst="rect">
            <a:avLst/>
          </a:prstGeom>
        </p:spPr>
      </p:pic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4850001" y="2232267"/>
            <a:ext cx="4067944" cy="3416320"/>
          </a:xfrm>
          <a:prstGeom prst="rect">
            <a:avLst/>
          </a:prstGeom>
          <a:solidFill>
            <a:srgbClr val="DEFF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sum1 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n 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while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n &lt;=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n %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!=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    sum1 +=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/n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    sum1 -=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/ n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n +=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(sum1)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0526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</a:t>
            </a:r>
            <a:r>
              <a:rPr lang="zh-CN" altLang="en-US" dirty="0"/>
              <a:t>循环</a:t>
            </a:r>
          </a:p>
        </p:txBody>
      </p:sp>
      <p:sp>
        <p:nvSpPr>
          <p:cNvPr id="5" name="矩形 4"/>
          <p:cNvSpPr/>
          <p:nvPr/>
        </p:nvSpPr>
        <p:spPr>
          <a:xfrm>
            <a:off x="170993" y="1279325"/>
            <a:ext cx="45336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Helvetica Neue"/>
              </a:rPr>
              <a:t>E: </a:t>
            </a:r>
            <a:r>
              <a:rPr lang="zh-CN" altLang="en-US" sz="2400" b="1" dirty="0">
                <a:solidFill>
                  <a:srgbClr val="C00000"/>
                </a:solidFill>
                <a:latin typeface="Helvetica Neue"/>
              </a:rPr>
              <a:t>求和 </a:t>
            </a:r>
            <a:r>
              <a:rPr lang="en-US" altLang="zh-CN" sz="2400" b="1" dirty="0">
                <a:solidFill>
                  <a:srgbClr val="C00000"/>
                </a:solidFill>
                <a:latin typeface="Helvetica Neue"/>
              </a:rPr>
              <a:t>2/1+3/2+5/3+8/5+…  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7069" y="1127364"/>
            <a:ext cx="3437791" cy="10127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5327576" y="2276869"/>
            <a:ext cx="3816424" cy="15696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hangingPunct="0"/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sum1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for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in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range(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101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sum1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 +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zh-CN" altLang="zh-CN" sz="2400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zh-CN" sz="24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/i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print(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sum1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51520" y="2115134"/>
            <a:ext cx="4895549" cy="3416320"/>
          </a:xfrm>
          <a:prstGeom prst="rect">
            <a:avLst/>
          </a:prstGeom>
          <a:solidFill>
            <a:srgbClr val="DEFF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n 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())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sum1 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a = 1</a:t>
            </a:r>
            <a:b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b = 2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,n+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sum1 += b/a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   b = b + a</a:t>
            </a:r>
            <a:b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    a = b - a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round(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sum1</a:t>
            </a: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,2)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5919491" y="5054407"/>
            <a:ext cx="2828973" cy="461665"/>
          </a:xfrm>
          <a:prstGeom prst="rect">
            <a:avLst/>
          </a:prstGeom>
          <a:solidFill>
            <a:srgbClr val="DEFF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a, b = b, a + b</a:t>
            </a:r>
            <a:endParaRPr kumimoji="0" lang="zh-CN" altLang="zh-CN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 bwMode="auto">
          <a:xfrm>
            <a:off x="755576" y="4354500"/>
            <a:ext cx="2016224" cy="730684"/>
          </a:xfrm>
          <a:prstGeom prst="rect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1196975" marR="0" indent="-282575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</a:pPr>
            <a:endParaRPr kumimoji="0" lang="zh-CN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" name="直接箭头连接符 14"/>
          <p:cNvCxnSpPr>
            <a:endCxn id="13" idx="1"/>
          </p:cNvCxnSpPr>
          <p:nvPr/>
        </p:nvCxnSpPr>
        <p:spPr bwMode="auto">
          <a:xfrm>
            <a:off x="2771800" y="4679933"/>
            <a:ext cx="3147691" cy="605307"/>
          </a:xfrm>
          <a:prstGeom prst="straightConnector1">
            <a:avLst/>
          </a:prstGeom>
          <a:noFill/>
          <a:ln w="15875">
            <a:solidFill>
              <a:srgbClr val="FF0000"/>
            </a:solidFill>
            <a:tailEnd type="arrow"/>
          </a:ln>
        </p:spPr>
      </p:cxnSp>
    </p:spTree>
    <p:extLst>
      <p:ext uri="{BB962C8B-B14F-4D97-AF65-F5344CB8AC3E}">
        <p14:creationId xmlns:p14="http://schemas.microsoft.com/office/powerpoint/2010/main" val="21341899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82903" y="217483"/>
            <a:ext cx="42162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Helvetica Neue"/>
              </a:rPr>
              <a:t>F: </a:t>
            </a:r>
            <a:r>
              <a:rPr lang="zh-CN" altLang="en-US" sz="2400" b="1" dirty="0">
                <a:solidFill>
                  <a:srgbClr val="C00000"/>
                </a:solidFill>
                <a:latin typeface="Helvetica Neue"/>
              </a:rPr>
              <a:t>韩信点兵</a:t>
            </a:r>
            <a:r>
              <a:rPr lang="en-US" altLang="zh-CN" sz="2400" b="1" dirty="0">
                <a:solidFill>
                  <a:srgbClr val="C00000"/>
                </a:solidFill>
                <a:latin typeface="Helvetica Neue"/>
              </a:rPr>
              <a:t>:3,5,7</a:t>
            </a:r>
            <a:r>
              <a:rPr lang="zh-CN" altLang="en-US" sz="2400" b="1" dirty="0">
                <a:solidFill>
                  <a:srgbClr val="C00000"/>
                </a:solidFill>
                <a:latin typeface="Helvetica Neue"/>
              </a:rPr>
              <a:t>的倍数类</a:t>
            </a:r>
            <a:endParaRPr lang="zh-CN" altLang="en-US" sz="2400" b="1" i="0" dirty="0">
              <a:solidFill>
                <a:srgbClr val="C00000"/>
              </a:solidFill>
              <a:effectLst/>
              <a:latin typeface="Helvetica Neue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246148" y="869811"/>
            <a:ext cx="8496944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zh-CN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《射雕英雄传》中，黄蓉见瑛姑时，出过一道题：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今</a:t>
            </a:r>
            <a:r>
              <a:rPr lang="zh-CN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有物不知其数，三三数之剩二，五五数之剩三，七七数之剩二，问几何？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09273" y="1980558"/>
            <a:ext cx="8723119" cy="1569660"/>
          </a:xfrm>
          <a:prstGeom prst="rect">
            <a:avLst/>
          </a:prstGeom>
          <a:solidFill>
            <a:srgbClr val="DEFF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%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==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and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%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==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and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%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7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==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(i)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30303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400" dirty="0">
                <a:solidFill>
                  <a:srgbClr val="030303"/>
                </a:solidFill>
                <a:latin typeface="Consolas" panose="020B0609020204030204" pitchFamily="49" charset="0"/>
              </a:rPr>
              <a:t>	   </a:t>
            </a:r>
            <a:r>
              <a:rPr lang="en-US" altLang="zh-CN" sz="2400" b="1" dirty="0">
                <a:solidFill>
                  <a:srgbClr val="000080"/>
                </a:solidFill>
                <a:latin typeface="Consolas" panose="020B0609020204030204" pitchFamily="49" charset="0"/>
              </a:rPr>
              <a:t>break</a:t>
            </a:r>
            <a:endParaRPr lang="zh-CN" altLang="zh-CN" sz="2400" b="1" dirty="0">
              <a:solidFill>
                <a:srgbClr val="00008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304472" y="3938280"/>
            <a:ext cx="8723119" cy="1938992"/>
          </a:xfrm>
          <a:prstGeom prst="rect">
            <a:avLst/>
          </a:prstGeom>
          <a:solidFill>
            <a:srgbClr val="DEFF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m,n,t = map(int,input().split())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%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== m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and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%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== n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and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%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7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== t: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(i)</a:t>
            </a:r>
            <a:b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break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6168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39709" y="1052736"/>
            <a:ext cx="30620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G. 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上三角形状的图案</a:t>
            </a:r>
          </a:p>
        </p:txBody>
      </p:sp>
      <p:sp>
        <p:nvSpPr>
          <p:cNvPr id="9" name="矩形 8"/>
          <p:cNvSpPr/>
          <p:nvPr/>
        </p:nvSpPr>
        <p:spPr>
          <a:xfrm>
            <a:off x="539552" y="2459504"/>
            <a:ext cx="19259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1 </a:t>
            </a:r>
            <a:br>
              <a:rPr lang="zh-CN" altLang="en-US" dirty="0"/>
            </a:b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1 2 </a:t>
            </a:r>
            <a:br>
              <a:rPr lang="zh-CN" altLang="en-US" dirty="0"/>
            </a:b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1 2 3 </a:t>
            </a:r>
            <a:br>
              <a:rPr lang="zh-CN" altLang="en-US" dirty="0"/>
            </a:b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1 2 3 4 </a:t>
            </a:r>
            <a:br>
              <a:rPr lang="zh-CN" altLang="en-US" dirty="0"/>
            </a:b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1 2 3 4 5 </a:t>
            </a:r>
            <a:br>
              <a:rPr lang="zh-CN" altLang="en-US" dirty="0"/>
            </a:b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1 2 3 4 5 6 </a:t>
            </a:r>
            <a:endParaRPr lang="zh-CN" altLang="en-US" dirty="0"/>
          </a:p>
        </p:txBody>
      </p:sp>
      <p:sp>
        <p:nvSpPr>
          <p:cNvPr id="11" name="Rectangle 1"/>
          <p:cNvSpPr>
            <a:spLocks noChangeArrowheads="1"/>
          </p:cNvSpPr>
          <p:nvPr/>
        </p:nvSpPr>
        <p:spPr bwMode="auto">
          <a:xfrm>
            <a:off x="2699792" y="2767280"/>
            <a:ext cx="6090072" cy="1323439"/>
          </a:xfrm>
          <a:prstGeom prst="rect">
            <a:avLst/>
          </a:prstGeom>
          <a:solidFill>
            <a:srgbClr val="DEFF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j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 i +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"{}"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(j), end=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双重循环</a:t>
            </a:r>
          </a:p>
        </p:txBody>
      </p:sp>
    </p:spTree>
    <p:extLst>
      <p:ext uri="{BB962C8B-B14F-4D97-AF65-F5344CB8AC3E}">
        <p14:creationId xmlns:p14="http://schemas.microsoft.com/office/powerpoint/2010/main" val="30431274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323528" y="2463279"/>
            <a:ext cx="246413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H. </a:t>
            </a:r>
            <a:r>
              <a:rPr lang="zh-CN" altLang="en-US" sz="2400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正倒三角形状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56612" y="2979803"/>
            <a:ext cx="199796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6 5 4 3 2 1 </a:t>
            </a:r>
            <a:br>
              <a:rPr lang="zh-CN" altLang="en-US" dirty="0"/>
            </a:br>
            <a:r>
              <a:rPr lang="en-US" altLang="zh-CN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5 4 3 2 1 </a:t>
            </a:r>
            <a:br>
              <a:rPr lang="zh-CN" altLang="en-US" dirty="0"/>
            </a:br>
            <a:r>
              <a:rPr lang="en-US" altLang="zh-CN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4 3 2 1 </a:t>
            </a:r>
            <a:br>
              <a:rPr lang="zh-CN" altLang="en-US" dirty="0"/>
            </a:br>
            <a:r>
              <a:rPr lang="en-US" altLang="zh-CN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3 2 1 </a:t>
            </a:r>
            <a:br>
              <a:rPr lang="zh-CN" altLang="en-US" dirty="0"/>
            </a:br>
            <a:r>
              <a:rPr lang="en-US" altLang="zh-CN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2 1 </a:t>
            </a:r>
            <a:br>
              <a:rPr lang="zh-CN" altLang="en-US" dirty="0"/>
            </a:br>
            <a:r>
              <a:rPr lang="en-US" altLang="zh-CN" dirty="0">
                <a:solidFill>
                  <a:srgbClr val="333333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1 </a:t>
            </a:r>
            <a:endParaRPr lang="zh-CN" altLang="en-US" dirty="0"/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2987824" y="2924944"/>
            <a:ext cx="5832647" cy="1323439"/>
          </a:xfrm>
          <a:prstGeom prst="rect">
            <a:avLst/>
          </a:prstGeom>
          <a:solidFill>
            <a:srgbClr val="DEFF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j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(i,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,-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"{}"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(j), end=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zh-CN" altLang="zh-CN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双重循环</a:t>
            </a:r>
          </a:p>
        </p:txBody>
      </p:sp>
    </p:spTree>
    <p:extLst>
      <p:ext uri="{BB962C8B-B14F-4D97-AF65-F5344CB8AC3E}">
        <p14:creationId xmlns:p14="http://schemas.microsoft.com/office/powerpoint/2010/main" val="2183391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0580" y="3796005"/>
            <a:ext cx="889248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Tx/>
              <a:buAutoNum type="arabicPeriod"/>
            </a:pPr>
            <a:r>
              <a:rPr lang="en-US" altLang="zh-CN" sz="1800" dirty="0">
                <a:latin typeface="Courier New" panose="02070309020205020404" pitchFamily="49" charset="0"/>
              </a:rPr>
              <a:t>1*1=1 </a:t>
            </a:r>
          </a:p>
          <a:p>
            <a:pPr eaLnBrk="1" hangingPunct="1">
              <a:buFontTx/>
              <a:buAutoNum type="arabicPeriod"/>
            </a:pPr>
            <a:r>
              <a:rPr lang="en-US" altLang="zh-CN" sz="1800" dirty="0">
                <a:latin typeface="Courier New" panose="02070309020205020404" pitchFamily="49" charset="0"/>
              </a:rPr>
              <a:t>2*1=2 2*2=4 </a:t>
            </a:r>
          </a:p>
          <a:p>
            <a:pPr eaLnBrk="1" hangingPunct="1">
              <a:buFontTx/>
              <a:buAutoNum type="arabicPeriod"/>
            </a:pPr>
            <a:r>
              <a:rPr lang="en-US" altLang="zh-CN" sz="1800" dirty="0">
                <a:latin typeface="Courier New" panose="02070309020205020404" pitchFamily="49" charset="0"/>
              </a:rPr>
              <a:t>3*1=3 3*2=6 3*3=9 </a:t>
            </a:r>
          </a:p>
          <a:p>
            <a:pPr eaLnBrk="1" hangingPunct="1">
              <a:buFontTx/>
              <a:buAutoNum type="arabicPeriod"/>
            </a:pPr>
            <a:r>
              <a:rPr lang="en-US" altLang="zh-CN" sz="1800" dirty="0">
                <a:latin typeface="Courier New" panose="02070309020205020404" pitchFamily="49" charset="0"/>
              </a:rPr>
              <a:t>4*1=4 4*2=8 4*3=12 4*4=16 </a:t>
            </a:r>
          </a:p>
          <a:p>
            <a:pPr eaLnBrk="1" hangingPunct="1">
              <a:buFontTx/>
              <a:buAutoNum type="arabicPeriod"/>
            </a:pPr>
            <a:r>
              <a:rPr lang="en-US" altLang="zh-CN" sz="1800" dirty="0">
                <a:latin typeface="Courier New" panose="02070309020205020404" pitchFamily="49" charset="0"/>
              </a:rPr>
              <a:t>5*1=5 5*2=10 5*3=15 5*4=20 5*5=25 </a:t>
            </a:r>
          </a:p>
          <a:p>
            <a:pPr eaLnBrk="1" hangingPunct="1">
              <a:buFontTx/>
              <a:buAutoNum type="arabicPeriod"/>
            </a:pPr>
            <a:r>
              <a:rPr lang="en-US" altLang="zh-CN" sz="1800" dirty="0">
                <a:latin typeface="Courier New" panose="02070309020205020404" pitchFamily="49" charset="0"/>
              </a:rPr>
              <a:t>6*1=6 6*2=12 6*3=18 6*4=24 6*5=30 6*6=36 </a:t>
            </a:r>
          </a:p>
          <a:p>
            <a:pPr eaLnBrk="1" hangingPunct="1">
              <a:buFontTx/>
              <a:buAutoNum type="arabicPeriod"/>
            </a:pPr>
            <a:r>
              <a:rPr lang="en-US" altLang="zh-CN" sz="1800" dirty="0">
                <a:latin typeface="Courier New" panose="02070309020205020404" pitchFamily="49" charset="0"/>
              </a:rPr>
              <a:t>7*1=7 7*2=14 7*3=21 7*4=28 7*5=35 7*6=42 7*7=49 </a:t>
            </a:r>
          </a:p>
          <a:p>
            <a:pPr eaLnBrk="1" hangingPunct="1">
              <a:buFontTx/>
              <a:buAutoNum type="arabicPeriod"/>
            </a:pPr>
            <a:r>
              <a:rPr lang="en-US" altLang="zh-CN" sz="1800" dirty="0">
                <a:latin typeface="Courier New" panose="02070309020205020404" pitchFamily="49" charset="0"/>
              </a:rPr>
              <a:t>8*1=8 8*2=16 8*3=24 8*4=32 8*5=40 8*6=48 8*7=56 8*8=64 </a:t>
            </a:r>
          </a:p>
          <a:p>
            <a:pPr eaLnBrk="1" hangingPunct="1">
              <a:buFontTx/>
              <a:buAutoNum type="arabicPeriod"/>
            </a:pPr>
            <a:r>
              <a:rPr lang="en-US" altLang="zh-CN" sz="1800" dirty="0">
                <a:latin typeface="Courier New" panose="02070309020205020404" pitchFamily="49" charset="0"/>
              </a:rPr>
              <a:t>9*1=9 9*2=18 9*3=27 9*4=36 9*5=45 9*6=54 9*7=63 9*8=72 9*9=81 </a:t>
            </a:r>
            <a:endParaRPr lang="zh-CN" altLang="en-US" sz="1800" dirty="0"/>
          </a:p>
        </p:txBody>
      </p:sp>
      <p:sp>
        <p:nvSpPr>
          <p:cNvPr id="7" name="矩形 6"/>
          <p:cNvSpPr/>
          <p:nvPr/>
        </p:nvSpPr>
        <p:spPr>
          <a:xfrm>
            <a:off x="184713" y="1161748"/>
            <a:ext cx="24481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 eaLnBrk="1" hangingPunct="1">
              <a:buNone/>
            </a:pPr>
            <a:r>
              <a:rPr lang="en-US" altLang="zh-CN" sz="2400" dirty="0"/>
              <a:t> </a:t>
            </a:r>
            <a:r>
              <a:rPr lang="zh-CN" altLang="en-US" sz="2400" dirty="0"/>
              <a:t>打印乘法口诀表</a:t>
            </a:r>
            <a:endParaRPr lang="en-US" altLang="zh-CN" sz="2400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11560" y="1757834"/>
            <a:ext cx="4176464" cy="400110"/>
          </a:xfrm>
          <a:prstGeom prst="rect">
            <a:avLst/>
          </a:prstGeom>
          <a:solidFill>
            <a:srgbClr val="DEFF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):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043608" y="2196732"/>
            <a:ext cx="4176464" cy="400110"/>
          </a:xfrm>
          <a:prstGeom prst="rect">
            <a:avLst/>
          </a:prstGeom>
          <a:solidFill>
            <a:srgbClr val="DEFF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j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,i+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):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1619672" y="2702387"/>
            <a:ext cx="6552728" cy="400110"/>
          </a:xfrm>
          <a:prstGeom prst="rect">
            <a:avLst/>
          </a:prstGeom>
          <a:solidFill>
            <a:srgbClr val="DEFF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"{}*{}={}"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(i,j,i*j),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zh-CN" altLang="zh-CN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 '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187624" y="3244914"/>
            <a:ext cx="1617392" cy="400110"/>
          </a:xfrm>
          <a:prstGeom prst="rect">
            <a:avLst/>
          </a:prstGeom>
          <a:solidFill>
            <a:srgbClr val="DEFF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853488" cy="838200"/>
          </a:xfrm>
        </p:spPr>
        <p:txBody>
          <a:bodyPr/>
          <a:lstStyle/>
          <a:p>
            <a:r>
              <a:rPr lang="zh-CN" altLang="en-US" dirty="0"/>
              <a:t>双重循环</a:t>
            </a:r>
          </a:p>
        </p:txBody>
      </p:sp>
    </p:spTree>
    <p:extLst>
      <p:ext uri="{BB962C8B-B14F-4D97-AF65-F5344CB8AC3E}">
        <p14:creationId xmlns:p14="http://schemas.microsoft.com/office/powerpoint/2010/main" val="1404501089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7504" y="260648"/>
            <a:ext cx="81369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 </a:t>
            </a:r>
            <a:r>
              <a:rPr lang="en-US" altLang="zh-CN" sz="2400" b="1" dirty="0">
                <a:solidFill>
                  <a:srgbClr val="C00000"/>
                </a:solidFill>
              </a:rPr>
              <a:t>I: </a:t>
            </a:r>
            <a:r>
              <a:rPr lang="zh-CN" altLang="en-US" sz="2400" b="1" dirty="0">
                <a:solidFill>
                  <a:srgbClr val="C00000"/>
                </a:solidFill>
              </a:rPr>
              <a:t>阶乘的和，如：</a:t>
            </a:r>
            <a:r>
              <a:rPr lang="en-US" altLang="zh-CN" sz="2400" b="1" dirty="0">
                <a:solidFill>
                  <a:srgbClr val="C00000"/>
                </a:solidFill>
              </a:rPr>
              <a:t>9=1</a:t>
            </a:r>
            <a:r>
              <a:rPr lang="zh-CN" altLang="en-US" sz="2400" b="1" dirty="0">
                <a:solidFill>
                  <a:srgbClr val="C00000"/>
                </a:solidFill>
              </a:rPr>
              <a:t>！</a:t>
            </a:r>
            <a:r>
              <a:rPr lang="en-US" altLang="zh-CN" sz="2400" b="1" dirty="0">
                <a:solidFill>
                  <a:srgbClr val="C00000"/>
                </a:solidFill>
              </a:rPr>
              <a:t>+2</a:t>
            </a:r>
            <a:r>
              <a:rPr lang="zh-CN" altLang="en-US" sz="2400" b="1" dirty="0">
                <a:solidFill>
                  <a:srgbClr val="C00000"/>
                </a:solidFill>
              </a:rPr>
              <a:t>！</a:t>
            </a:r>
            <a:r>
              <a:rPr lang="en-US" altLang="zh-CN" sz="2400" b="1" dirty="0">
                <a:solidFill>
                  <a:srgbClr val="C00000"/>
                </a:solidFill>
              </a:rPr>
              <a:t>+3</a:t>
            </a:r>
            <a:r>
              <a:rPr lang="zh-CN" altLang="en-US" dirty="0"/>
              <a:t>！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23528" y="1124744"/>
            <a:ext cx="8496944" cy="4493538"/>
          </a:xfrm>
          <a:prstGeom prst="rect">
            <a:avLst/>
          </a:prstGeom>
          <a:solidFill>
            <a:srgbClr val="DEFFD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lst = [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120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720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5040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40320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362880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b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while 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n = 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())</a:t>
            </a:r>
            <a:b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(n &lt; 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break</a:t>
            </a:r>
            <a:b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   for 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(n &gt;= lst[i]):</a:t>
            </a:r>
            <a:b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        n -= lst[i]</a:t>
            </a:r>
            <a:b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 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(n == 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"YES"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2200" b="1" i="0" u="none" strike="noStrike" cap="none" normalizeH="0" baseline="0" dirty="0">
                <a:ln>
                  <a:noFill/>
                </a:ln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"NO"</a:t>
            </a:r>
            <a:r>
              <a:rPr kumimoji="0" lang="zh-CN" altLang="zh-CN" sz="22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zh-CN" altLang="zh-CN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292080" y="2492896"/>
            <a:ext cx="3347864" cy="1477328"/>
          </a:xfrm>
          <a:prstGeom prst="rect">
            <a:avLst/>
          </a:prstGeom>
          <a:solidFill>
            <a:srgbClr val="DEFFDE"/>
          </a:solidFill>
          <a:ln w="25400">
            <a:solidFill>
              <a:srgbClr val="C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lst = [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tem = lst[i-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] * i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    lst.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(tem)</a:t>
            </a:r>
            <a:b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</a:b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rgbClr val="030303"/>
                </a:solidFill>
                <a:effectLst/>
                <a:latin typeface="Consolas" panose="020B0609020204030204" pitchFamily="49" charset="0"/>
              </a:rPr>
              <a:t>(lst)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321180" y="1018017"/>
            <a:ext cx="8318764" cy="682791"/>
          </a:xfrm>
          <a:prstGeom prst="rect">
            <a:avLst/>
          </a:prstGeom>
          <a:noFill/>
          <a:ln w="25400">
            <a:solidFill>
              <a:srgbClr val="FF0000"/>
            </a:solidFill>
            <a:prstDash val="solid"/>
          </a:ln>
        </p:spPr>
        <p:txBody>
          <a:bodyPr vert="horz" wrap="square" lIns="91440" tIns="45720" rIns="91440" bIns="45720" numCol="1" rtlCol="0" anchor="t" anchorCtr="0" compatLnSpc="1">
            <a:spAutoFit/>
          </a:bodyPr>
          <a:lstStyle/>
          <a:p>
            <a:pPr marL="1196975" marR="0" indent="-282575" algn="l" defTabSz="914400" rtl="0" eaLnBrk="1" fontAlgn="base" latinLnBrk="0" hangingPunct="1">
              <a:lnSpc>
                <a:spcPct val="100000"/>
              </a:lnSpc>
              <a:spcBef>
                <a:spcPts val="500"/>
              </a:spcBef>
              <a:spcAft>
                <a:spcPct val="0"/>
              </a:spcAft>
              <a:buClr>
                <a:srgbClr val="800080"/>
              </a:buClr>
              <a:buSzPct val="55000"/>
              <a:buFont typeface="Wingdings" panose="05000000000000000000" pitchFamily="2" charset="2"/>
              <a:buChar char="n"/>
            </a:pPr>
            <a:endParaRPr kumimoji="0" lang="zh-CN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anose="020B060403050404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6" name="直接箭头连接符 5"/>
          <p:cNvCxnSpPr/>
          <p:nvPr/>
        </p:nvCxnSpPr>
        <p:spPr bwMode="auto">
          <a:xfrm flipV="1">
            <a:off x="6732240" y="1700808"/>
            <a:ext cx="0" cy="831011"/>
          </a:xfrm>
          <a:prstGeom prst="straightConnector1">
            <a:avLst/>
          </a:prstGeom>
          <a:noFill/>
          <a:ln w="25400">
            <a:solidFill>
              <a:srgbClr val="FF0000"/>
            </a:solidFill>
            <a:tailEnd type="arrow"/>
          </a:ln>
        </p:spPr>
      </p:cxnSp>
    </p:spTree>
    <p:extLst>
      <p:ext uri="{BB962C8B-B14F-4D97-AF65-F5344CB8AC3E}">
        <p14:creationId xmlns:p14="http://schemas.microsoft.com/office/powerpoint/2010/main" val="15708408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End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3918BB4-D321-4424-A622-B27A36F7E38E}" type="slidenum">
              <a:rPr lang="en-US" altLang="zh-CN" smtClean="0"/>
              <a:t>13</a:t>
            </a:fld>
            <a:endParaRPr lang="en-US" altLang="zh-CN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Blends">
  <a:themeElements>
    <a:clrScheme name="Blends 8">
      <a:dk1>
        <a:srgbClr val="000000"/>
      </a:dk1>
      <a:lt1>
        <a:srgbClr val="FFFFFF"/>
      </a:lt1>
      <a:dk2>
        <a:srgbClr val="800080"/>
      </a:dk2>
      <a:lt2>
        <a:srgbClr val="1C1C1C"/>
      </a:lt2>
      <a:accent1>
        <a:srgbClr val="777777"/>
      </a:accent1>
      <a:accent2>
        <a:srgbClr val="FFCF01"/>
      </a:accent2>
      <a:accent3>
        <a:srgbClr val="FFFFFF"/>
      </a:accent3>
      <a:accent4>
        <a:srgbClr val="000000"/>
      </a:accent4>
      <a:accent5>
        <a:srgbClr val="BDBDBD"/>
      </a:accent5>
      <a:accent6>
        <a:srgbClr val="E7BB01"/>
      </a:accent6>
      <a:hlink>
        <a:srgbClr val="800080"/>
      </a:hlink>
      <a:folHlink>
        <a:srgbClr val="800080"/>
      </a:folHlink>
    </a:clrScheme>
    <a:fontScheme name="Blends">
      <a:majorFont>
        <a:latin typeface="Verdana"/>
        <a:ea typeface=""/>
        <a:cs typeface="Times New Roman"/>
      </a:majorFont>
      <a:minorFont>
        <a:latin typeface="Verdana"/>
        <a:ea typeface="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1196975" marR="0" indent="-282575" algn="l" defTabSz="914400" rtl="0" eaLnBrk="1" fontAlgn="base" latinLnBrk="0" hangingPunct="1">
          <a:lnSpc>
            <a:spcPct val="100000"/>
          </a:lnSpc>
          <a:spcBef>
            <a:spcPts val="500"/>
          </a:spcBef>
          <a:spcAft>
            <a:spcPct val="0"/>
          </a:spcAft>
          <a:buClr>
            <a:srgbClr val="800080"/>
          </a:buClr>
          <a:buSzPct val="55000"/>
          <a:buFont typeface="Wingdings" panose="05000000000000000000" pitchFamily="2" charset="2"/>
          <a:buChar char="n"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cs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>
        <a:spAutoFit/>
      </a:bodyPr>
      <a:lstStyle>
        <a:defPPr marL="1196975" marR="0" indent="-282575" algn="l" defTabSz="914400" rtl="0" eaLnBrk="1" fontAlgn="base" latinLnBrk="0" hangingPunct="1">
          <a:lnSpc>
            <a:spcPct val="100000"/>
          </a:lnSpc>
          <a:spcBef>
            <a:spcPts val="500"/>
          </a:spcBef>
          <a:spcAft>
            <a:spcPct val="0"/>
          </a:spcAft>
          <a:buClr>
            <a:srgbClr val="800080"/>
          </a:buClr>
          <a:buSzPct val="55000"/>
          <a:buFont typeface="Wingdings" panose="05000000000000000000" pitchFamily="2" charset="2"/>
          <a:buChar char="n"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  <a:cs typeface="Times New Roman" panose="02020603050405020304" pitchFamily="18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8">
        <a:dk1>
          <a:srgbClr val="000000"/>
        </a:dk1>
        <a:lt1>
          <a:srgbClr val="FFFFFF"/>
        </a:lt1>
        <a:dk2>
          <a:srgbClr val="800080"/>
        </a:dk2>
        <a:lt2>
          <a:srgbClr val="1C1C1C"/>
        </a:lt2>
        <a:accent1>
          <a:srgbClr val="777777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BDBDBD"/>
        </a:accent5>
        <a:accent6>
          <a:srgbClr val="E7BB01"/>
        </a:accent6>
        <a:hlink>
          <a:srgbClr val="800080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C:\Programs\MsOffice\Templates\Presentation Designs\Straight Edge.pot</Template>
  <TotalTime>42389</TotalTime>
  <Words>1239</Words>
  <Application>Microsoft Office PowerPoint</Application>
  <PresentationFormat>全屏显示(4:3)</PresentationFormat>
  <Paragraphs>73</Paragraphs>
  <Slides>13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8" baseType="lpstr">
      <vt:lpstr>Helvetica Neue</vt:lpstr>
      <vt:lpstr>华文新魏</vt:lpstr>
      <vt:lpstr>楷体_GB2312</vt:lpstr>
      <vt:lpstr>宋体</vt:lpstr>
      <vt:lpstr>宋体</vt:lpstr>
      <vt:lpstr>Microsoft Yahei</vt:lpstr>
      <vt:lpstr>NSimSun</vt:lpstr>
      <vt:lpstr>Arial</vt:lpstr>
      <vt:lpstr>Consolas</vt:lpstr>
      <vt:lpstr>Courier New</vt:lpstr>
      <vt:lpstr>Tahoma</vt:lpstr>
      <vt:lpstr>Times New Roman</vt:lpstr>
      <vt:lpstr>Verdana</vt:lpstr>
      <vt:lpstr>Wingdings</vt:lpstr>
      <vt:lpstr>Blends</vt:lpstr>
      <vt:lpstr>基础编程练习1——循环与判断(2)</vt:lpstr>
      <vt:lpstr>PowerPoint 演示文稿</vt:lpstr>
      <vt:lpstr>for循环+条件（if语句）</vt:lpstr>
      <vt:lpstr>while循环</vt:lpstr>
      <vt:lpstr>for循环+判断条件（if语句）</vt:lpstr>
      <vt:lpstr>PowerPoint 演示文稿</vt:lpstr>
      <vt:lpstr>for循环</vt:lpstr>
      <vt:lpstr>PowerPoint 演示文稿</vt:lpstr>
      <vt:lpstr>双重循环</vt:lpstr>
      <vt:lpstr>双重循环</vt:lpstr>
      <vt:lpstr>双重循环</vt:lpstr>
      <vt:lpstr>PowerPoint 演示文稿</vt:lpstr>
      <vt:lpstr>The End</vt:lpstr>
    </vt:vector>
  </TitlesOfParts>
  <Company>University of Washington, CS 4 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Programming with Python</dc:title>
  <dc:creator>Marty Stepp</dc:creator>
  <cp:lastModifiedBy>le wong</cp:lastModifiedBy>
  <cp:revision>2213</cp:revision>
  <cp:lastPrinted>2009-04-22T19:24:00Z</cp:lastPrinted>
  <dcterms:created xsi:type="dcterms:W3CDTF">2009-04-22T19:24:00Z</dcterms:created>
  <dcterms:modified xsi:type="dcterms:W3CDTF">2024-06-18T23:32:56Z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2052-10.1.0.6749</vt:lpwstr>
  </property>
</Properties>
</file>