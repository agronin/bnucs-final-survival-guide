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0"/>
  </p:notesMasterIdLst>
  <p:handoutMasterIdLst>
    <p:handoutMasterId r:id="rId11"/>
  </p:handoutMasterIdLst>
  <p:sldIdLst>
    <p:sldId id="256" r:id="rId2"/>
    <p:sldId id="1202" r:id="rId3"/>
    <p:sldId id="1203" r:id="rId4"/>
    <p:sldId id="1204" r:id="rId5"/>
    <p:sldId id="1131" r:id="rId6"/>
    <p:sldId id="1200" r:id="rId7"/>
    <p:sldId id="1165" r:id="rId8"/>
    <p:sldId id="1171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00"/>
    <a:srgbClr val="800080"/>
    <a:srgbClr val="0000FF"/>
    <a:srgbClr val="008080"/>
    <a:srgbClr val="006600"/>
    <a:srgbClr val="808080"/>
    <a:srgbClr val="404040"/>
    <a:srgbClr val="003399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18" autoAdjust="0"/>
    <p:restoredTop sz="92918" autoAdjust="0"/>
  </p:normalViewPr>
  <p:slideViewPr>
    <p:cSldViewPr>
      <p:cViewPr varScale="1">
        <p:scale>
          <a:sx n="105" d="100"/>
          <a:sy n="105" d="100"/>
        </p:scale>
        <p:origin x="114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2820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E2B571F6-0F46-43D6-BF59-2C8F4E923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767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46CE8C4E-4E2B-4FAA-924F-F78D103AAC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2491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AFE70DC-C7E3-4C03-93E4-B49EBC9D86EE}" type="slidenum">
              <a:rPr lang="en-US" altLang="zh-CN" sz="1200" smtClean="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330039-C041-4DDA-AFD0-1C663E1F2AAA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330039-C041-4DDA-AFD0-1C663E1F2AAA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330039-C041-4DDA-AFD0-1C663E1F2AAA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935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330039-C041-4DDA-AFD0-1C663E1F2AAA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68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330039-C041-4DDA-AFD0-1C663E1F2AAA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endParaRPr lang="en-US" altLang="zh-CN" b="1">
              <a:latin typeface="楷体_GB231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6D6CC5-D7C5-43FA-AFF1-EA87749B794C}" type="slidenum">
              <a:rPr lang="en-US" altLang="zh-CN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5" descr="snake-on-tre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1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6" descr="2006-10-28_Python_in_60_Minutes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68115" r="19565" b="1450"/>
          <a:stretch>
            <a:fillRect/>
          </a:stretch>
        </p:blipFill>
        <p:spPr bwMode="auto">
          <a:xfrm>
            <a:off x="1600200" y="741363"/>
            <a:ext cx="54102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1981200" y="4191000"/>
            <a:ext cx="5562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338" indent="-287338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itchFamily="2" charset="2"/>
              <a:buChar char="n"/>
            </a:pPr>
            <a:endParaRPr lang="en-GB" altLang="zh-CN" sz="160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9144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86800" y="6486525"/>
            <a:ext cx="4572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1BCACC2-EB2E-41B5-88CE-73A61AB12F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8042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B451-ED34-44AC-A294-F69DDAD52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4706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CA548-88A0-4B76-ACB8-541D048795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7685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28CAA-8BE4-46E1-93AA-6E4772B53C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04182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15D8D-A7E5-4C44-8276-4D9C4CFAE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6211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91312-4604-4E58-8319-6E38FD6FB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61951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DC48A-AC36-4DC7-9F8C-4BFF4C034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0175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D5092-F570-4E83-87BB-25B42F38CC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1875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160E3-5837-415F-9BBB-C137EFF193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9286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D35B4-CD61-434F-B263-5E6E207B2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96323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8452F-4105-48B6-93DB-6861893DE9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7615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5"/>
            <a:ext cx="12954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53488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9144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itchFamily="34" charset="0"/>
                <a:ea typeface="宋体" charset="-122"/>
              </a:defRPr>
            </a:lvl1pPr>
          </a:lstStyle>
          <a:p>
            <a:pPr>
              <a:defRPr/>
            </a:pPr>
            <a:fld id="{3C3F5D21-47BA-43E3-9A7C-87A4E15DF7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2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4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fld id="{A9B3BC93-BFCE-4A50-885D-9D843207DEA4}" type="slidenum">
              <a:rPr lang="en-US" altLang="zh-CN" sz="1400" smtClean="0">
                <a:solidFill>
                  <a:schemeClr val="bg1"/>
                </a:solidFill>
                <a:latin typeface="Tahoma" pitchFamily="34" charset="0"/>
              </a:rPr>
              <a:pPr eaLnBrk="1" hangingPunct="1"/>
              <a:t>1</a:t>
            </a:fld>
            <a:endParaRPr lang="en-US" altLang="zh-CN" sz="140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charset="-122"/>
              </a:rPr>
              <a:t>组合数据类型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练习题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endParaRPr sz="4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4672" y="1052736"/>
            <a:ext cx="8627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zh-CN" sz="2400" dirty="0"/>
              <a:t>1. </a:t>
            </a:r>
            <a:r>
              <a:rPr lang="zh-CN" altLang="en-US" sz="2400" dirty="0"/>
              <a:t>求</a:t>
            </a:r>
            <a:r>
              <a:rPr lang="en-US" altLang="zh-CN" sz="2400" dirty="0"/>
              <a:t>s=</a:t>
            </a:r>
            <a:r>
              <a:rPr lang="en-US" altLang="zh-CN" sz="2400" dirty="0" err="1"/>
              <a:t>a+aa+aaa+aaaa+aa</a:t>
            </a:r>
            <a:r>
              <a:rPr lang="en-US" altLang="zh-CN" sz="2400" dirty="0"/>
              <a:t>...a</a:t>
            </a:r>
            <a:r>
              <a:rPr lang="zh-CN" altLang="en-US" sz="2400" dirty="0"/>
              <a:t>的值，其中</a:t>
            </a:r>
            <a:r>
              <a:rPr lang="en-US" altLang="zh-CN" sz="2400" dirty="0"/>
              <a:t>a</a:t>
            </a:r>
            <a:r>
              <a:rPr lang="zh-CN" altLang="en-US" sz="2400" dirty="0"/>
              <a:t>是一个数字。</a:t>
            </a:r>
            <a:endParaRPr lang="en-US" altLang="zh-CN" sz="2400" dirty="0"/>
          </a:p>
          <a:p>
            <a:pPr latinLnBrk="0"/>
            <a:r>
              <a:rPr lang="zh-CN" altLang="en-US" sz="2400" dirty="0"/>
              <a:t>例如</a:t>
            </a:r>
            <a:r>
              <a:rPr lang="en-US" altLang="zh-CN" sz="2400" dirty="0"/>
              <a:t>2+22+222+2222+22222(</a:t>
            </a:r>
            <a:r>
              <a:rPr lang="zh-CN" altLang="en-US" sz="2400" dirty="0"/>
              <a:t>此时共有</a:t>
            </a:r>
            <a:r>
              <a:rPr lang="en-US" altLang="zh-CN" sz="2400" dirty="0"/>
              <a:t>5</a:t>
            </a:r>
            <a:r>
              <a:rPr lang="zh-CN" altLang="en-US" sz="2400" dirty="0"/>
              <a:t>个数相加</a:t>
            </a:r>
            <a:r>
              <a:rPr lang="en-US" altLang="zh-CN" sz="2400" dirty="0"/>
              <a:t>)</a:t>
            </a:r>
            <a:r>
              <a:rPr lang="zh-CN" altLang="en-US" sz="2400" dirty="0"/>
              <a:t>，几个数相加有键盘控制。</a:t>
            </a:r>
          </a:p>
        </p:txBody>
      </p:sp>
      <p:sp>
        <p:nvSpPr>
          <p:cNvPr id="10" name="矩形 9"/>
          <p:cNvSpPr/>
          <p:nvPr/>
        </p:nvSpPr>
        <p:spPr>
          <a:xfrm>
            <a:off x="6978534" y="6053226"/>
            <a:ext cx="15725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14_stra</a:t>
            </a:r>
            <a:r>
              <a:rPr lang="zh-CN" altLang="en-US" dirty="0">
                <a:solidFill>
                  <a:srgbClr val="C00000"/>
                </a:solidFill>
              </a:rPr>
              <a:t>.py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24" y="2315201"/>
            <a:ext cx="4468790" cy="341805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81000" y="6021288"/>
            <a:ext cx="15914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14_cala</a:t>
            </a:r>
            <a:r>
              <a:rPr lang="zh-CN" altLang="en-US" dirty="0">
                <a:solidFill>
                  <a:srgbClr val="C00000"/>
                </a:solidFill>
              </a:rPr>
              <a:t>.py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3" y="3347746"/>
            <a:ext cx="4795401" cy="267354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练习题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1066800"/>
            <a:ext cx="5020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 求一个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3*3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矩阵对角线元素之和。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6519609" y="6173977"/>
            <a:ext cx="16385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_</a:t>
            </a:r>
            <a:r>
              <a:rPr lang="en-US" altLang="zh-CN" dirty="0">
                <a:solidFill>
                  <a:srgbClr val="C00000"/>
                </a:solidFill>
              </a:rPr>
              <a:t>inter</a:t>
            </a:r>
            <a:r>
              <a:rPr lang="zh-CN" altLang="en-US" dirty="0">
                <a:solidFill>
                  <a:srgbClr val="C00000"/>
                </a:solidFill>
              </a:rPr>
              <a:t>.py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4665"/>
            <a:ext cx="5761307" cy="4569312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练习题</a:t>
            </a:r>
            <a:r>
              <a:rPr lang="en-US" altLang="zh-CN" dirty="0">
                <a:ea typeface="宋体" panose="02010600030101010101" pitchFamily="2" charset="-122"/>
              </a:rPr>
              <a:t>3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10668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两个 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行 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列的矩阵，实现其对应位置的数据相加，并返回一个新矩阵。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6519609" y="6173977"/>
            <a:ext cx="23512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14_matriSum</a:t>
            </a:r>
            <a:r>
              <a:rPr lang="zh-CN" altLang="en-US" dirty="0">
                <a:solidFill>
                  <a:srgbClr val="C00000"/>
                </a:solidFill>
              </a:rPr>
              <a:t>.py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883941"/>
            <a:ext cx="4190543" cy="46901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466" y="2133600"/>
            <a:ext cx="2430235" cy="14478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作业题</a:t>
            </a:r>
            <a:r>
              <a:rPr lang="en-US" altLang="zh-CN" dirty="0">
                <a:ea typeface="宋体" panose="02010600030101010101" pitchFamily="2" charset="-122"/>
              </a:rPr>
              <a:t>4-</a:t>
            </a:r>
            <a:r>
              <a:rPr lang="zh-CN" altLang="en-US" dirty="0">
                <a:ea typeface="宋体" panose="02010600030101010101" pitchFamily="2" charset="-122"/>
              </a:rPr>
              <a:t>专业硕士</a:t>
            </a:r>
            <a:r>
              <a:rPr lang="en-US" altLang="zh-CN" dirty="0">
                <a:ea typeface="宋体" panose="02010600030101010101" pitchFamily="2" charset="-122"/>
              </a:rPr>
              <a:t>-</a:t>
            </a:r>
            <a:r>
              <a:rPr lang="zh-CN" altLang="en-US" dirty="0">
                <a:ea typeface="宋体" panose="02010600030101010101" pitchFamily="2" charset="-122"/>
              </a:rPr>
              <a:t>实习基地面试题</a:t>
            </a:r>
          </a:p>
        </p:txBody>
      </p:sp>
      <p:sp>
        <p:nvSpPr>
          <p:cNvPr id="2" name="矩形 1"/>
          <p:cNvSpPr/>
          <p:nvPr/>
        </p:nvSpPr>
        <p:spPr>
          <a:xfrm>
            <a:off x="460375" y="1628800"/>
            <a:ext cx="771144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200000"/>
              </a:lnSpc>
            </a:pP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面试题：给定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个不同的数（例如：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53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92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15……)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，提取这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个数里最大的</a:t>
            </a: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个数。</a:t>
            </a:r>
          </a:p>
          <a:p>
            <a:pPr eaLnBrk="1" latinLnBrk="0" hangingPunct="1">
              <a:lnSpc>
                <a:spcPct val="200000"/>
              </a:lnSpc>
            </a:pPr>
            <a:r>
              <a:rPr lang="zh-CN" altLang="en-US" sz="2400" dirty="0"/>
              <a:t>思路：（</a:t>
            </a:r>
            <a:r>
              <a:rPr lang="en-US" altLang="zh-CN" sz="2400" dirty="0"/>
              <a:t>1</a:t>
            </a:r>
            <a:r>
              <a:rPr lang="zh-CN" altLang="en-US" sz="2400" dirty="0"/>
              <a:t>）输入并转换为数值，形成列表；</a:t>
            </a:r>
          </a:p>
          <a:p>
            <a:pPr eaLnBrk="1" latinLnBrk="0" hangingPunct="1">
              <a:lnSpc>
                <a:spcPct val="200000"/>
              </a:lnSpc>
            </a:pPr>
            <a:r>
              <a:rPr lang="zh-CN" altLang="en-US" sz="2400" dirty="0"/>
              <a:t>         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N</a:t>
            </a:r>
            <a:r>
              <a:rPr lang="zh-CN" altLang="en-US" sz="2400" dirty="0"/>
              <a:t>个数排序；</a:t>
            </a:r>
          </a:p>
          <a:p>
            <a:pPr eaLnBrk="1" latinLnBrk="0" hangingPunct="1">
              <a:lnSpc>
                <a:spcPct val="200000"/>
              </a:lnSpc>
            </a:pPr>
            <a:r>
              <a:rPr lang="zh-CN" altLang="en-US" sz="2400" dirty="0"/>
              <a:t>         （</a:t>
            </a:r>
            <a:r>
              <a:rPr lang="en-US" altLang="zh-CN" sz="2400" dirty="0"/>
              <a:t>3</a:t>
            </a:r>
            <a:r>
              <a:rPr lang="zh-CN" altLang="en-US" sz="2400" dirty="0"/>
              <a:t>）从头输出前</a:t>
            </a:r>
            <a:r>
              <a:rPr lang="en-US" altLang="zh-CN" sz="2400" dirty="0"/>
              <a:t>M</a:t>
            </a:r>
            <a:r>
              <a:rPr lang="zh-CN" altLang="en-US" sz="2400" dirty="0"/>
              <a:t>个。</a:t>
            </a:r>
          </a:p>
        </p:txBody>
      </p:sp>
      <p:sp>
        <p:nvSpPr>
          <p:cNvPr id="9" name="矩形 8"/>
          <p:cNvSpPr/>
          <p:nvPr/>
        </p:nvSpPr>
        <p:spPr>
          <a:xfrm>
            <a:off x="6934200" y="6172200"/>
            <a:ext cx="19601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_</a:t>
            </a:r>
            <a:r>
              <a:rPr lang="en-US" altLang="zh-CN" dirty="0" err="1">
                <a:solidFill>
                  <a:srgbClr val="C00000"/>
                </a:solidFill>
              </a:rPr>
              <a:t>calMax</a:t>
            </a:r>
            <a:r>
              <a:rPr lang="zh-CN" altLang="en-US" dirty="0">
                <a:solidFill>
                  <a:srgbClr val="C00000"/>
                </a:solidFill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55046289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934200" y="6172200"/>
            <a:ext cx="19601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_</a:t>
            </a:r>
            <a:r>
              <a:rPr lang="en-US" altLang="zh-CN" dirty="0" err="1">
                <a:solidFill>
                  <a:srgbClr val="C00000"/>
                </a:solidFill>
              </a:rPr>
              <a:t>calMax</a:t>
            </a:r>
            <a:r>
              <a:rPr lang="zh-CN" altLang="en-US" dirty="0">
                <a:solidFill>
                  <a:srgbClr val="C00000"/>
                </a:solidFill>
              </a:rPr>
              <a:t>.py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11220"/>
            <a:ext cx="5457526" cy="381720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94970" y="990600"/>
            <a:ext cx="7711440" cy="721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200000"/>
              </a:lnSpc>
            </a:pPr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面试题：</a:t>
            </a:r>
            <a:r>
              <a:rPr 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解答</a:t>
            </a:r>
            <a:endParaRPr 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C8A485-479E-448C-A761-CC66DCED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CE50363-9748-4EA4-B1F0-30B60AAC3E9A}"/>
              </a:ext>
            </a:extLst>
          </p:cNvPr>
          <p:cNvSpPr txBox="1">
            <a:spLocks/>
          </p:cNvSpPr>
          <p:nvPr/>
        </p:nvSpPr>
        <p:spPr bwMode="auto">
          <a:xfrm>
            <a:off x="183008" y="142528"/>
            <a:ext cx="8853488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Verdana" pitchFamily="34" charset="0"/>
                <a:cs typeface="Times New Roman" pitchFamily="18" charset="0"/>
              </a:defRPr>
            </a:lvl9pPr>
          </a:lstStyle>
          <a:p>
            <a:r>
              <a:rPr lang="zh-CN" altLang="en-US" dirty="0">
                <a:ea typeface="宋体" panose="02010600030101010101" pitchFamily="2" charset="-122"/>
              </a:rPr>
              <a:t>练习题</a:t>
            </a:r>
            <a:r>
              <a:rPr lang="en-US" altLang="zh-CN" dirty="0">
                <a:ea typeface="宋体" panose="02010600030101010101" pitchFamily="2" charset="-122"/>
              </a:rPr>
              <a:t>4-</a:t>
            </a:r>
            <a:r>
              <a:rPr lang="zh-CN" altLang="en-US" kern="0" dirty="0">
                <a:ea typeface="宋体" panose="02010600030101010101" pitchFamily="2" charset="-122"/>
              </a:rPr>
              <a:t>专业硕士</a:t>
            </a:r>
            <a:r>
              <a:rPr lang="en-US" altLang="zh-CN" kern="0" dirty="0">
                <a:ea typeface="宋体" panose="02010600030101010101" pitchFamily="2" charset="-122"/>
              </a:rPr>
              <a:t>-</a:t>
            </a:r>
            <a:r>
              <a:rPr lang="zh-CN" altLang="en-US" kern="0" dirty="0">
                <a:ea typeface="宋体" panose="02010600030101010101" pitchFamily="2" charset="-122"/>
              </a:rPr>
              <a:t>实习基地面试题</a:t>
            </a:r>
          </a:p>
        </p:txBody>
      </p:sp>
    </p:spTree>
    <p:extLst>
      <p:ext uri="{BB962C8B-B14F-4D97-AF65-F5344CB8AC3E}">
        <p14:creationId xmlns:p14="http://schemas.microsoft.com/office/powerpoint/2010/main" val="23099563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练习题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1000" y="1143000"/>
            <a:ext cx="845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给定随机字符串（例如：‘</a:t>
            </a:r>
            <a:r>
              <a:rPr lang="en-US" altLang="zh-CN" sz="24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abaaaeeccddfbgaa</a:t>
            </a:r>
            <a:r>
              <a:rPr lang="zh-CN" alt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’），提取出现频率最高的字符。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09952"/>
            <a:ext cx="6265290" cy="2971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1" y="2104698"/>
            <a:ext cx="3648966" cy="38410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1736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6. </a:t>
            </a:r>
            <a:r>
              <a:rPr lang="zh-CN" altLang="en-US" sz="2400" dirty="0">
                <a:ea typeface="宋体" panose="02010600030101010101" pitchFamily="2" charset="-122"/>
              </a:rPr>
              <a:t>读取</a:t>
            </a:r>
            <a:r>
              <a:rPr lang="en-US" altLang="zh-CN" sz="2400" dirty="0">
                <a:ea typeface="宋体" panose="02010600030101010101" pitchFamily="2" charset="-122"/>
              </a:rPr>
              <a:t>textword.txt</a:t>
            </a:r>
            <a:r>
              <a:rPr lang="zh-CN" altLang="en-US" sz="2400" dirty="0">
                <a:ea typeface="宋体" panose="02010600030101010101" pitchFamily="2" charset="-122"/>
              </a:rPr>
              <a:t>文件，统计其中的单词出现的频率</a:t>
            </a:r>
            <a:r>
              <a:rPr lang="zh-CN" altLang="en-US" sz="2400" dirty="0"/>
              <a:t>。</a:t>
            </a:r>
            <a:endParaRPr lang="en-US" altLang="zh-CN" sz="2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练习题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endParaRPr sz="400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285" y="5943600"/>
            <a:ext cx="24747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14_wordCount.py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676400"/>
            <a:ext cx="8736066" cy="40386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7" grpId="0"/>
    </p:bldLst>
  </p:timing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itchFamily="2" charset="2"/>
          <a:buChar char="n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itchFamily="2" charset="2"/>
          <a:buChar char="n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73992</TotalTime>
  <Words>266</Words>
  <Application>Microsoft Office PowerPoint</Application>
  <PresentationFormat>全屏显示(4:3)</PresentationFormat>
  <Paragraphs>34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Microsoft JhengHei</vt:lpstr>
      <vt:lpstr>楷体_GB2312</vt:lpstr>
      <vt:lpstr>宋体</vt:lpstr>
      <vt:lpstr>Arial</vt:lpstr>
      <vt:lpstr>Calibri</vt:lpstr>
      <vt:lpstr>Courier New</vt:lpstr>
      <vt:lpstr>Tahoma</vt:lpstr>
      <vt:lpstr>Times New Roman</vt:lpstr>
      <vt:lpstr>Verdana</vt:lpstr>
      <vt:lpstr>Wingdings</vt:lpstr>
      <vt:lpstr>Blends</vt:lpstr>
      <vt:lpstr>组合数据类型</vt:lpstr>
      <vt:lpstr>练习题1</vt:lpstr>
      <vt:lpstr>练习题2</vt:lpstr>
      <vt:lpstr>练习题3</vt:lpstr>
      <vt:lpstr>作业题4-专业硕士-实习基地面试题</vt:lpstr>
      <vt:lpstr>PowerPoint 演示文稿</vt:lpstr>
      <vt:lpstr>练习题5</vt:lpstr>
      <vt:lpstr>练习题6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le wong</cp:lastModifiedBy>
  <cp:revision>2099</cp:revision>
  <cp:lastPrinted>2009-04-22T19:24:48Z</cp:lastPrinted>
  <dcterms:created xsi:type="dcterms:W3CDTF">2009-04-22T19:24:48Z</dcterms:created>
  <dcterms:modified xsi:type="dcterms:W3CDTF">2024-06-19T00:02:20Z</dcterms:modified>
</cp:coreProperties>
</file>