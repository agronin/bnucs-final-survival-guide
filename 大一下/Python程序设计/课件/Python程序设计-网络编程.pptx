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65" r:id="rId2"/>
    <p:sldId id="267" r:id="rId3"/>
    <p:sldId id="393" r:id="rId4"/>
    <p:sldId id="670" r:id="rId5"/>
    <p:sldId id="785" r:id="rId6"/>
    <p:sldId id="730" r:id="rId7"/>
    <p:sldId id="786" r:id="rId8"/>
    <p:sldId id="787" r:id="rId9"/>
    <p:sldId id="788" r:id="rId10"/>
    <p:sldId id="789" r:id="rId11"/>
    <p:sldId id="790" r:id="rId12"/>
    <p:sldId id="792" r:id="rId13"/>
    <p:sldId id="793" r:id="rId14"/>
    <p:sldId id="791" r:id="rId15"/>
    <p:sldId id="742" r:id="rId16"/>
    <p:sldId id="794" r:id="rId17"/>
    <p:sldId id="795" r:id="rId18"/>
    <p:sldId id="796" r:id="rId19"/>
    <p:sldId id="797" r:id="rId20"/>
    <p:sldId id="798" r:id="rId21"/>
    <p:sldId id="799" r:id="rId22"/>
    <p:sldId id="800" r:id="rId23"/>
    <p:sldId id="801" r:id="rId24"/>
    <p:sldId id="352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79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59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54" y="108"/>
      </p:cViewPr>
      <p:guideLst>
        <p:guide orient="horz" pos="2019"/>
        <p:guide pos="37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178F4-C18B-48EC-9055-35D023B3036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6E15A-D7A9-4169-A7C2-BCB1B8BA29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81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986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70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3" y="1825625"/>
            <a:ext cx="386715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3" y="1825625"/>
            <a:ext cx="386715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7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4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6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BCA0E-3945-47E9-A9AA-27ACE9347398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17210-6342-4CBD-AECC-FD7487F246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9"/>
          <p:cNvSpPr txBox="1"/>
          <p:nvPr/>
        </p:nvSpPr>
        <p:spPr>
          <a:xfrm>
            <a:off x="7539990" y="4104640"/>
            <a:ext cx="5628005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</a:rPr>
              <a:t>网络编程基础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</a:rPr>
              <a:t>TCP编程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</a:rPr>
              <a:t>多线程编程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84475" y="1828800"/>
            <a:ext cx="76441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讲</a:t>
            </a:r>
            <a:r>
              <a:rPr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网络和多任务编程</a:t>
            </a:r>
          </a:p>
        </p:txBody>
      </p:sp>
      <p:sp>
        <p:nvSpPr>
          <p:cNvPr id="10" name="矩形 9"/>
          <p:cNvSpPr/>
          <p:nvPr/>
        </p:nvSpPr>
        <p:spPr>
          <a:xfrm>
            <a:off x="199631" y="6210551"/>
            <a:ext cx="424342" cy="424342"/>
          </a:xfrm>
          <a:prstGeom prst="rect">
            <a:avLst/>
          </a:prstGeom>
          <a:solidFill>
            <a:srgbClr val="5C307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90"/>
          <p:cNvSpPr txBox="1"/>
          <p:nvPr/>
        </p:nvSpPr>
        <p:spPr>
          <a:xfrm>
            <a:off x="2941320" y="6195695"/>
            <a:ext cx="798004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参考书目《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程序设计》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199636" y="6627119"/>
            <a:ext cx="44082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524000" y="3770844"/>
            <a:ext cx="9144000" cy="56736"/>
            <a:chOff x="30834" y="1305568"/>
            <a:chExt cx="8816454" cy="66133"/>
          </a:xfrm>
        </p:grpSpPr>
        <p:sp>
          <p:nvSpPr>
            <p:cNvPr id="14" name="矩形 13"/>
            <p:cNvSpPr/>
            <p:nvPr/>
          </p:nvSpPr>
          <p:spPr>
            <a:xfrm>
              <a:off x="30834" y="1305568"/>
              <a:ext cx="5800300" cy="659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886861" y="1305712"/>
              <a:ext cx="2960427" cy="65989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173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0" y="4283710"/>
            <a:ext cx="4305300" cy="141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2290175" y="1391915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矩形 5"/>
          <p:cNvSpPr/>
          <p:nvPr/>
        </p:nvSpPr>
        <p:spPr>
          <a:xfrm rot="10800000">
            <a:off x="2002138" y="1571059"/>
            <a:ext cx="288032" cy="288032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0800000">
            <a:off x="4306394" y="1571059"/>
            <a:ext cx="648072" cy="288032"/>
            <a:chOff x="1483073" y="1052736"/>
            <a:chExt cx="648072" cy="288032"/>
          </a:xfrm>
        </p:grpSpPr>
        <p:sp>
          <p:nvSpPr>
            <p:cNvPr id="8" name="椭圆 7"/>
            <p:cNvSpPr/>
            <p:nvPr/>
          </p:nvSpPr>
          <p:spPr>
            <a:xfrm>
              <a:off x="1483073" y="1052736"/>
              <a:ext cx="28803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843113" y="1052736"/>
              <a:ext cx="28803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10" name="TextBox 6"/>
          <p:cNvSpPr txBox="1"/>
          <p:nvPr/>
        </p:nvSpPr>
        <p:spPr>
          <a:xfrm>
            <a:off x="2002155" y="2068195"/>
            <a:ext cx="7625080" cy="189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  <a:sym typeface="+mn-ea"/>
              </a:rPr>
              <a:t>网络编程基础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  <a:sym typeface="+mn-ea"/>
              </a:rPr>
              <a:t>TCP编程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  <a:sym typeface="+mn-ea"/>
              </a:rPr>
              <a:t>多线程编程</a:t>
            </a:r>
          </a:p>
        </p:txBody>
      </p:sp>
      <p:cxnSp>
        <p:nvCxnSpPr>
          <p:cNvPr id="32" name="直接连接符 31"/>
          <p:cNvCxnSpPr/>
          <p:nvPr/>
        </p:nvCxnSpPr>
        <p:spPr>
          <a:xfrm>
            <a:off x="10373203" y="1514906"/>
            <a:ext cx="0" cy="1522987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6520606" y="4258319"/>
            <a:ext cx="12817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a typeface="华文楷体" panose="02010600040101010101" pitchFamily="2" charset="-122"/>
              </a:rPr>
              <a:t>这里说明图片内容 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5"/>
            <a:ext cx="12192000" cy="1202643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0" y="1316461"/>
            <a:ext cx="7539791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597588" y="1316585"/>
            <a:ext cx="4594412" cy="4571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7494500" y="6627119"/>
            <a:ext cx="408725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16"/>
          <p:cNvSpPr/>
          <p:nvPr/>
        </p:nvSpPr>
        <p:spPr>
          <a:xfrm>
            <a:off x="11293716" y="6346632"/>
            <a:ext cx="288032" cy="288032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7" name="椭圆 17"/>
          <p:cNvSpPr/>
          <p:nvPr/>
        </p:nvSpPr>
        <p:spPr>
          <a:xfrm>
            <a:off x="11614690" y="6029540"/>
            <a:ext cx="288032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10800000">
            <a:off x="2002155" y="2137410"/>
            <a:ext cx="3826510" cy="511810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2002155" y="2037080"/>
            <a:ext cx="7625080" cy="189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1"/>
                </a:solidFill>
                <a:ea typeface="华文楷体" panose="02010600040101010101" pitchFamily="2" charset="-122"/>
                <a:sym typeface="+mn-ea"/>
              </a:rPr>
              <a:t>网络编程基础</a:t>
            </a:r>
            <a:endParaRPr lang="zh-CN" altLang="en-US" sz="2800" b="1" dirty="0">
              <a:solidFill>
                <a:schemeClr val="bg1"/>
              </a:solidFill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  <a:sym typeface="+mn-ea"/>
              </a:rPr>
              <a:t>TCP编程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  <a:sym typeface="+mn-ea"/>
              </a:rPr>
              <a:t>多线程编程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90175" y="1391915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矩形 5"/>
          <p:cNvSpPr/>
          <p:nvPr/>
        </p:nvSpPr>
        <p:spPr>
          <a:xfrm rot="10800000">
            <a:off x="2002138" y="1571059"/>
            <a:ext cx="288032" cy="288032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0800000">
            <a:off x="4306394" y="1571059"/>
            <a:ext cx="648072" cy="288032"/>
            <a:chOff x="1483073" y="1052736"/>
            <a:chExt cx="648072" cy="288032"/>
          </a:xfrm>
        </p:grpSpPr>
        <p:sp>
          <p:nvSpPr>
            <p:cNvPr id="8" name="椭圆 7"/>
            <p:cNvSpPr/>
            <p:nvPr/>
          </p:nvSpPr>
          <p:spPr>
            <a:xfrm>
              <a:off x="1483073" y="1052736"/>
              <a:ext cx="28803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843113" y="1052736"/>
              <a:ext cx="28803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10373203" y="1514906"/>
            <a:ext cx="0" cy="1522987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6520606" y="4258319"/>
            <a:ext cx="12817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a typeface="华文楷体" panose="02010600040101010101" pitchFamily="2" charset="-122"/>
              </a:rPr>
              <a:t>这里说明图片内容 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5"/>
            <a:ext cx="12192000" cy="1202643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0" y="1316461"/>
            <a:ext cx="7539791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597588" y="1316585"/>
            <a:ext cx="4594412" cy="4571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7494500" y="6627119"/>
            <a:ext cx="408725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16"/>
          <p:cNvSpPr/>
          <p:nvPr/>
        </p:nvSpPr>
        <p:spPr>
          <a:xfrm>
            <a:off x="11293716" y="6346632"/>
            <a:ext cx="288032" cy="288032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7" name="椭圆 17"/>
          <p:cNvSpPr/>
          <p:nvPr/>
        </p:nvSpPr>
        <p:spPr>
          <a:xfrm>
            <a:off x="11614690" y="6029540"/>
            <a:ext cx="288032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网络编程基础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18929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IP 地址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482090" y="1274445"/>
            <a:ext cx="909383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</a:pP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IP 地址就是标识网络中设备的一个地址，类比家庭地址。IP 地址分为两类： IPv4 和 IPv6。</a:t>
            </a:r>
          </a:p>
        </p:txBody>
      </p:sp>
      <p:sp>
        <p:nvSpPr>
          <p:cNvPr id="8" name="矩形 7"/>
          <p:cNvSpPr/>
          <p:nvPr/>
        </p:nvSpPr>
        <p:spPr>
          <a:xfrm>
            <a:off x="1652270" y="3183890"/>
            <a:ext cx="4015740" cy="186372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6"/>
          <p:cNvSpPr>
            <a:spLocks noChangeArrowheads="1"/>
          </p:cNvSpPr>
          <p:nvPr/>
        </p:nvSpPr>
        <p:spPr bwMode="auto">
          <a:xfrm>
            <a:off x="1652270" y="3183890"/>
            <a:ext cx="4124325" cy="130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目前使用的IP地址</a:t>
            </a:r>
          </a:p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由点分十进制组成（比如：192.168.247.1）</a:t>
            </a:r>
          </a:p>
        </p:txBody>
      </p:sp>
      <p:sp>
        <p:nvSpPr>
          <p:cNvPr id="11" name="文本框 7"/>
          <p:cNvSpPr txBox="1">
            <a:spLocks noChangeArrowheads="1"/>
          </p:cNvSpPr>
          <p:nvPr/>
        </p:nvSpPr>
        <p:spPr bwMode="auto">
          <a:xfrm>
            <a:off x="1651981" y="2537899"/>
            <a:ext cx="4015931" cy="521970"/>
          </a:xfrm>
          <a:prstGeom prst="rect">
            <a:avLst/>
          </a:prstGeom>
          <a:solidFill>
            <a:srgbClr val="135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IPv4</a:t>
            </a:r>
          </a:p>
        </p:txBody>
      </p:sp>
      <p:sp>
        <p:nvSpPr>
          <p:cNvPr id="13" name="矩形 12"/>
          <p:cNvSpPr/>
          <p:nvPr/>
        </p:nvSpPr>
        <p:spPr>
          <a:xfrm>
            <a:off x="6349365" y="3183890"/>
            <a:ext cx="4015740" cy="186372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6"/>
          <p:cNvSpPr>
            <a:spLocks noChangeArrowheads="1"/>
          </p:cNvSpPr>
          <p:nvPr/>
        </p:nvSpPr>
        <p:spPr bwMode="auto">
          <a:xfrm>
            <a:off x="6349365" y="3183890"/>
            <a:ext cx="413385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未来使用的IP地址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由冒号十六进制组成fe80::c0be:39:4cb4:3d21%30）</a:t>
            </a:r>
          </a:p>
        </p:txBody>
      </p:sp>
      <p:sp>
        <p:nvSpPr>
          <p:cNvPr id="24" name="文本框 7"/>
          <p:cNvSpPr txBox="1">
            <a:spLocks noChangeArrowheads="1"/>
          </p:cNvSpPr>
          <p:nvPr/>
        </p:nvSpPr>
        <p:spPr bwMode="auto">
          <a:xfrm>
            <a:off x="6349614" y="2537899"/>
            <a:ext cx="4015931" cy="521970"/>
          </a:xfrm>
          <a:prstGeom prst="rect">
            <a:avLst/>
          </a:prstGeom>
          <a:solidFill>
            <a:srgbClr val="135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IPv6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网络编程基础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18929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IP 地址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482090" y="1274445"/>
            <a:ext cx="909383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</a:pP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IP 地址的</a:t>
            </a:r>
            <a:r>
              <a:rPr 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是标识网络中唯一的一台设备的，也就是说通过IP地址能够找到网络中某台设备。查看 IP 地址方式：</a:t>
            </a:r>
          </a:p>
        </p:txBody>
      </p:sp>
      <p:sp>
        <p:nvSpPr>
          <p:cNvPr id="8" name="矩形 7"/>
          <p:cNvSpPr/>
          <p:nvPr/>
        </p:nvSpPr>
        <p:spPr>
          <a:xfrm>
            <a:off x="1633855" y="3548380"/>
            <a:ext cx="4015740" cy="62547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6"/>
          <p:cNvSpPr>
            <a:spLocks noChangeArrowheads="1"/>
          </p:cNvSpPr>
          <p:nvPr/>
        </p:nvSpPr>
        <p:spPr bwMode="auto">
          <a:xfrm>
            <a:off x="1633855" y="3548380"/>
            <a:ext cx="4124325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使用 ifconfig 命令</a:t>
            </a:r>
          </a:p>
        </p:txBody>
      </p:sp>
      <p:sp>
        <p:nvSpPr>
          <p:cNvPr id="11" name="文本框 7"/>
          <p:cNvSpPr txBox="1">
            <a:spLocks noChangeArrowheads="1"/>
          </p:cNvSpPr>
          <p:nvPr/>
        </p:nvSpPr>
        <p:spPr bwMode="auto">
          <a:xfrm>
            <a:off x="1633566" y="2902389"/>
            <a:ext cx="4015931" cy="521970"/>
          </a:xfrm>
          <a:prstGeom prst="rect">
            <a:avLst/>
          </a:prstGeom>
          <a:solidFill>
            <a:srgbClr val="135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 和 mac OS</a:t>
            </a:r>
          </a:p>
        </p:txBody>
      </p:sp>
      <p:sp>
        <p:nvSpPr>
          <p:cNvPr id="13" name="矩形 12"/>
          <p:cNvSpPr/>
          <p:nvPr/>
        </p:nvSpPr>
        <p:spPr>
          <a:xfrm>
            <a:off x="6330950" y="3548380"/>
            <a:ext cx="4015740" cy="62611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6"/>
          <p:cNvSpPr>
            <a:spLocks noChangeArrowheads="1"/>
          </p:cNvSpPr>
          <p:nvPr/>
        </p:nvSpPr>
        <p:spPr bwMode="auto">
          <a:xfrm>
            <a:off x="6330950" y="3548380"/>
            <a:ext cx="413385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使用 ipconfig 命令</a:t>
            </a:r>
          </a:p>
        </p:txBody>
      </p:sp>
      <p:sp>
        <p:nvSpPr>
          <p:cNvPr id="24" name="文本框 7"/>
          <p:cNvSpPr txBox="1">
            <a:spLocks noChangeArrowheads="1"/>
          </p:cNvSpPr>
          <p:nvPr/>
        </p:nvSpPr>
        <p:spPr bwMode="auto">
          <a:xfrm>
            <a:off x="6331199" y="2902389"/>
            <a:ext cx="4015931" cy="521970"/>
          </a:xfrm>
          <a:prstGeom prst="rect">
            <a:avLst/>
          </a:prstGeom>
          <a:solidFill>
            <a:srgbClr val="135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82090" y="4558665"/>
            <a:ext cx="916432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</a:pPr>
            <a:r>
              <a:rPr 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检查网络是否正常使用，通常是在命令提示符中下使用</a:t>
            </a:r>
            <a:r>
              <a:rPr 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ping </a:t>
            </a:r>
            <a:r>
              <a:rPr 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</a:t>
            </a:r>
            <a:r>
              <a:rPr 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。比如：</a:t>
            </a:r>
            <a:r>
              <a:rPr 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ping 61.135.169.121</a:t>
            </a:r>
            <a:r>
              <a:rPr 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或者</a:t>
            </a:r>
            <a:r>
              <a:rPr 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ping www.baidu.com</a:t>
            </a:r>
            <a:r>
              <a:rPr 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文件相关的基本概念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287210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2端口与端口号</a:t>
            </a:r>
          </a:p>
        </p:txBody>
      </p:sp>
      <p:sp>
        <p:nvSpPr>
          <p:cNvPr id="9" name="矩形 8"/>
          <p:cNvSpPr/>
          <p:nvPr/>
        </p:nvSpPr>
        <p:spPr>
          <a:xfrm>
            <a:off x="1284605" y="2282190"/>
            <a:ext cx="4015740" cy="275018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6"/>
          <p:cNvSpPr>
            <a:spLocks noChangeArrowheads="1"/>
          </p:cNvSpPr>
          <p:nvPr/>
        </p:nvSpPr>
        <p:spPr bwMode="auto">
          <a:xfrm>
            <a:off x="1284605" y="2282190"/>
            <a:ext cx="41243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传输数据的通道，好比教室的门</a:t>
            </a:r>
          </a:p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作用就是给运行的应用程序提供传输数据的通道。</a:t>
            </a:r>
          </a:p>
        </p:txBody>
      </p:sp>
      <p:sp>
        <p:nvSpPr>
          <p:cNvPr id="13" name="文本框 7"/>
          <p:cNvSpPr txBox="1">
            <a:spLocks noChangeArrowheads="1"/>
          </p:cNvSpPr>
          <p:nvPr/>
        </p:nvSpPr>
        <p:spPr bwMode="auto">
          <a:xfrm>
            <a:off x="1284316" y="1636199"/>
            <a:ext cx="4015931" cy="521970"/>
          </a:xfrm>
          <a:prstGeom prst="rect">
            <a:avLst/>
          </a:prstGeom>
          <a:solidFill>
            <a:srgbClr val="135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</a:t>
            </a:r>
          </a:p>
        </p:txBody>
      </p:sp>
      <p:sp>
        <p:nvSpPr>
          <p:cNvPr id="14" name="矩形 13"/>
          <p:cNvSpPr/>
          <p:nvPr/>
        </p:nvSpPr>
        <p:spPr>
          <a:xfrm>
            <a:off x="6757670" y="2282190"/>
            <a:ext cx="4015740" cy="274955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6"/>
          <p:cNvSpPr>
            <a:spLocks noChangeArrowheads="1"/>
          </p:cNvSpPr>
          <p:nvPr/>
        </p:nvSpPr>
        <p:spPr bwMode="auto">
          <a:xfrm>
            <a:off x="6927850" y="2282190"/>
            <a:ext cx="3733800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对端口进行了编号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,好比现实生活中的门牌号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作用是用来区分和管理不同端口的，通过端口号能找到唯一个的一个端口。</a:t>
            </a:r>
          </a:p>
        </p:txBody>
      </p:sp>
      <p:sp>
        <p:nvSpPr>
          <p:cNvPr id="24" name="文本框 7"/>
          <p:cNvSpPr txBox="1">
            <a:spLocks noChangeArrowheads="1"/>
          </p:cNvSpPr>
          <p:nvPr/>
        </p:nvSpPr>
        <p:spPr bwMode="auto">
          <a:xfrm>
            <a:off x="6757919" y="1636199"/>
            <a:ext cx="4015931" cy="521970"/>
          </a:xfrm>
          <a:prstGeom prst="rect">
            <a:avLst/>
          </a:prstGeom>
          <a:solidFill>
            <a:srgbClr val="135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端口号</a:t>
            </a:r>
          </a:p>
        </p:txBody>
      </p:sp>
      <p:cxnSp>
        <p:nvCxnSpPr>
          <p:cNvPr id="16" name="直接箭头连接符 15"/>
          <p:cNvCxnSpPr>
            <a:stCxn id="9" idx="3"/>
            <a:endCxn id="14" idx="1"/>
          </p:cNvCxnSpPr>
          <p:nvPr/>
        </p:nvCxnSpPr>
        <p:spPr>
          <a:xfrm flipV="1">
            <a:off x="5300345" y="3656965"/>
            <a:ext cx="1457325" cy="6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99"/>
          <p:cNvSpPr txBox="1">
            <a:spLocks noChangeArrowheads="1"/>
          </p:cNvSpPr>
          <p:nvPr/>
        </p:nvSpPr>
        <p:spPr bwMode="auto">
          <a:xfrm>
            <a:off x="2740025" y="5406390"/>
            <a:ext cx="757936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端口和端口号的关系：端口号可以标识唯一的一个端口。</a:t>
            </a:r>
            <a:endParaRPr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493010" y="5278755"/>
            <a:ext cx="8168640" cy="73850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rgbClr val="FFFF00"/>
              </a:solidFill>
            </a:endParaRPr>
          </a:p>
        </p:txBody>
      </p:sp>
      <p:pic>
        <p:nvPicPr>
          <p:cNvPr id="20" name="图片 5" descr="ti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02139">
            <a:off x="1674495" y="4725670"/>
            <a:ext cx="995680" cy="103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164590" y="117538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文件相关的基本概念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287210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2端口与端口号</a:t>
            </a:r>
          </a:p>
        </p:txBody>
      </p:sp>
      <p:sp>
        <p:nvSpPr>
          <p:cNvPr id="9" name="矩形 8"/>
          <p:cNvSpPr/>
          <p:nvPr/>
        </p:nvSpPr>
        <p:spPr>
          <a:xfrm>
            <a:off x="1266190" y="2974340"/>
            <a:ext cx="4015740" cy="293306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6"/>
          <p:cNvSpPr>
            <a:spLocks noChangeArrowheads="1"/>
          </p:cNvSpPr>
          <p:nvPr/>
        </p:nvSpPr>
        <p:spPr bwMode="auto">
          <a:xfrm>
            <a:off x="1266190" y="2974340"/>
            <a:ext cx="4124325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指众所周知的端口号，范围从0到1023</a:t>
            </a:r>
          </a:p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一般固定分配给一些服务，比如21端口分配给FTP(文件传输协议)服务</a:t>
            </a:r>
          </a:p>
        </p:txBody>
      </p:sp>
      <p:sp>
        <p:nvSpPr>
          <p:cNvPr id="13" name="文本框 7"/>
          <p:cNvSpPr txBox="1">
            <a:spLocks noChangeArrowheads="1"/>
          </p:cNvSpPr>
          <p:nvPr/>
        </p:nvSpPr>
        <p:spPr bwMode="auto">
          <a:xfrm>
            <a:off x="1265901" y="2328349"/>
            <a:ext cx="4015931" cy="521970"/>
          </a:xfrm>
          <a:prstGeom prst="rect">
            <a:avLst/>
          </a:prstGeom>
          <a:solidFill>
            <a:srgbClr val="135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知名端口号</a:t>
            </a:r>
          </a:p>
        </p:txBody>
      </p:sp>
      <p:sp>
        <p:nvSpPr>
          <p:cNvPr id="14" name="矩形 13"/>
          <p:cNvSpPr/>
          <p:nvPr/>
        </p:nvSpPr>
        <p:spPr>
          <a:xfrm>
            <a:off x="6311900" y="2974340"/>
            <a:ext cx="4443095" cy="293306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6"/>
          <p:cNvSpPr>
            <a:spLocks noChangeArrowheads="1"/>
          </p:cNvSpPr>
          <p:nvPr/>
        </p:nvSpPr>
        <p:spPr bwMode="auto">
          <a:xfrm>
            <a:off x="6360795" y="2974340"/>
            <a:ext cx="4562475" cy="2932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一般程序员开发应用程序使用端口号称为动态端口号, 范围是从1024到65535。</a:t>
            </a:r>
          </a:p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如果程序没有设置端口号，操作系统会在范围内随机生成。</a:t>
            </a:r>
          </a:p>
          <a:p>
            <a:pPr marL="342900" indent="-34290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当</a:t>
            </a:r>
            <a:r>
              <a:rPr lang="zh-CN"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运行的</a:t>
            </a:r>
            <a:r>
              <a:rPr sz="2400" dirty="0"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</a:rPr>
              <a:t>程序退出时，所占用的这个端口号就会被释放。</a:t>
            </a:r>
          </a:p>
        </p:txBody>
      </p:sp>
      <p:sp>
        <p:nvSpPr>
          <p:cNvPr id="24" name="文本框 7"/>
          <p:cNvSpPr txBox="1">
            <a:spLocks noChangeArrowheads="1"/>
          </p:cNvSpPr>
          <p:nvPr/>
        </p:nvSpPr>
        <p:spPr bwMode="auto">
          <a:xfrm>
            <a:off x="6311900" y="2328545"/>
            <a:ext cx="4443095" cy="521970"/>
          </a:xfrm>
          <a:prstGeom prst="rect">
            <a:avLst/>
          </a:prstGeom>
          <a:solidFill>
            <a:srgbClr val="135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动态端口号</a:t>
            </a:r>
          </a:p>
        </p:txBody>
      </p:sp>
      <p:sp>
        <p:nvSpPr>
          <p:cNvPr id="18" name="文本框 99"/>
          <p:cNvSpPr txBox="1">
            <a:spLocks noChangeArrowheads="1"/>
          </p:cNvSpPr>
          <p:nvPr/>
        </p:nvSpPr>
        <p:spPr bwMode="auto">
          <a:xfrm>
            <a:off x="1164590" y="1308735"/>
            <a:ext cx="757936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端口号的分类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164590" y="117538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文件相关的基本概念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13341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 TCP</a:t>
            </a:r>
          </a:p>
        </p:txBody>
      </p:sp>
      <p:sp>
        <p:nvSpPr>
          <p:cNvPr id="18" name="文本框 99"/>
          <p:cNvSpPr txBox="1">
            <a:spLocks noChangeArrowheads="1"/>
          </p:cNvSpPr>
          <p:nvPr/>
        </p:nvSpPr>
        <p:spPr bwMode="auto">
          <a:xfrm>
            <a:off x="1164590" y="1308735"/>
            <a:ext cx="9489440" cy="230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数据不能随便发送，在发送之前还需要选择一个对应的传输协议，保证程序之间按照指定的传输规则进行数据的通信</a:t>
            </a: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</a:t>
            </a:r>
            <a:r>
              <a:rPr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TCP。</a:t>
            </a:r>
          </a:p>
          <a:p>
            <a:pPr>
              <a:lnSpc>
                <a:spcPct val="120000"/>
              </a:lnSpc>
            </a:pPr>
            <a:r>
              <a:rPr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 的英文全拼(Transmission Control Protocol)简称</a:t>
            </a:r>
            <a:r>
              <a:rPr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传输控制协议</a:t>
            </a:r>
            <a:r>
              <a:rPr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，它是一种面向连接的、可靠的、基于字节流的传输层通信协议。比如: 文件下载，浏览器上网。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670685" y="3770313"/>
            <a:ext cx="5080000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TCP</a:t>
            </a:r>
            <a:r>
              <a:rPr lang="zh-CN" sz="24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通信步骤</a:t>
            </a:r>
            <a:r>
              <a:rPr lang="en-US" sz="24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:</a:t>
            </a:r>
          </a:p>
          <a:p>
            <a:pPr indent="266700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sz="24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）创建连接</a:t>
            </a:r>
            <a:endParaRPr lang="en-US" sz="2400" b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266700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sz="24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）传输数据</a:t>
            </a:r>
            <a:endParaRPr lang="en-US" sz="2400" b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266700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sz="24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）关闭连接</a:t>
            </a:r>
            <a:endParaRPr lang="zh-CN" altLang="en-US" sz="2400" b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76925" y="3957320"/>
            <a:ext cx="2278380" cy="1529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266700" algn="l">
              <a:lnSpc>
                <a:spcPct val="130000"/>
              </a:lnSpc>
            </a:pPr>
            <a:r>
              <a:rPr lang="zh-CN" sz="24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TCP 的特点：</a:t>
            </a:r>
          </a:p>
          <a:p>
            <a:pPr indent="266700" algn="l">
              <a:lnSpc>
                <a:spcPct val="130000"/>
              </a:lnSpc>
            </a:pPr>
            <a:r>
              <a:rPr lang="zh-CN" sz="24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1）面向连接</a:t>
            </a:r>
          </a:p>
          <a:p>
            <a:pPr indent="266700" algn="l">
              <a:lnSpc>
                <a:spcPct val="130000"/>
              </a:lnSpc>
            </a:pPr>
            <a:r>
              <a:rPr lang="zh-CN" sz="24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2）可靠传输</a:t>
            </a:r>
            <a:endParaRPr lang="zh-CN" altLang="en-US" sz="240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164590" y="117538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文件相关的基本概念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39503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 Socket（套接字）</a:t>
            </a:r>
          </a:p>
        </p:txBody>
      </p:sp>
      <p:sp>
        <p:nvSpPr>
          <p:cNvPr id="18" name="文本框 99"/>
          <p:cNvSpPr txBox="1">
            <a:spLocks noChangeArrowheads="1"/>
          </p:cNvSpPr>
          <p:nvPr/>
        </p:nvSpPr>
        <p:spPr bwMode="auto">
          <a:xfrm>
            <a:off x="1164590" y="1308735"/>
            <a:ext cx="9489440" cy="3486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socket (简称 套接字) 是进程之间通信一个工具，好比现实生活中的插座socket 的作用是负责进程之间的网络数据传输，好比数据的搬运工。</a:t>
            </a:r>
          </a:p>
          <a:p>
            <a:pPr marL="342900" indent="-342900">
              <a:lnSpc>
                <a:spcPct val="160000"/>
              </a:lnSpc>
              <a:buFont typeface="Wingdings" panose="05000000000000000000" charset="0"/>
              <a:buChar char="Ø"/>
            </a:pPr>
            <a:r>
              <a:rPr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socket 使用场景：只要跟网络相关的应用程序或者软件都使用到了socket。比如即时聊天工具：QQ、微信和浏览器。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164590" y="117538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文件相关的基本概念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39503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 Socket（套接字）</a:t>
            </a:r>
          </a:p>
        </p:txBody>
      </p:sp>
      <p:sp>
        <p:nvSpPr>
          <p:cNvPr id="18" name="文本框 99"/>
          <p:cNvSpPr txBox="1">
            <a:spLocks noChangeArrowheads="1"/>
          </p:cNvSpPr>
          <p:nvPr/>
        </p:nvSpPr>
        <p:spPr bwMode="auto">
          <a:xfrm>
            <a:off x="1164590" y="1308735"/>
            <a:ext cx="9489440" cy="452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send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recv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分别是指利用Socket在客户端与服务器端的数据</a:t>
            </a:r>
            <a:r>
              <a:rPr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，send和recv的底层工作原理：</a:t>
            </a:r>
          </a:p>
          <a:p>
            <a:pPr>
              <a:lnSpc>
                <a:spcPct val="120000"/>
              </a:lnSpc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TCP socket的发送和接收缓冲区</a:t>
            </a:r>
          </a:p>
          <a:p>
            <a:pPr>
              <a:lnSpc>
                <a:spcPct val="120000"/>
              </a:lnSpc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send原理剖析</a:t>
            </a: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应用程序把发送的数据先写入到发送缓冲区(内存中的一片空间)，再由操作系统控制网卡把发送缓冲区的数据发送给服务端网卡</a:t>
            </a:r>
          </a:p>
          <a:p>
            <a:pPr marL="342900" indent="-342900">
              <a:lnSpc>
                <a:spcPct val="120000"/>
              </a:lnSpc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 recv原理剖析</a:t>
            </a:r>
          </a:p>
          <a:p>
            <a:pPr marL="342900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调用操作系统接口，由操作系统通过网卡接收数据，把接收的数据写入到接收缓冲区(内存中的一片空间），应用程序再从接收缓存区获取客户端发送的数据。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10800000">
            <a:off x="1947545" y="2731135"/>
            <a:ext cx="3826510" cy="511810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2002155" y="2037080"/>
            <a:ext cx="7625080" cy="189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  <a:sym typeface="+mn-ea"/>
              </a:rPr>
              <a:t>网络编程基础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1"/>
                </a:solidFill>
                <a:ea typeface="华文楷体" panose="02010600040101010101" pitchFamily="2" charset="-122"/>
                <a:sym typeface="+mn-ea"/>
              </a:rPr>
              <a:t>TCP编程</a:t>
            </a:r>
            <a:endParaRPr lang="zh-CN" altLang="en-US" sz="2800" b="1" dirty="0">
              <a:solidFill>
                <a:schemeClr val="bg1"/>
              </a:solidFill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  <a:sym typeface="+mn-ea"/>
              </a:rPr>
              <a:t>多线程编程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90175" y="1391915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矩形 5"/>
          <p:cNvSpPr/>
          <p:nvPr/>
        </p:nvSpPr>
        <p:spPr>
          <a:xfrm rot="10800000">
            <a:off x="2002138" y="1571059"/>
            <a:ext cx="288032" cy="288032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0800000">
            <a:off x="4306394" y="1571059"/>
            <a:ext cx="648072" cy="288032"/>
            <a:chOff x="1483073" y="1052736"/>
            <a:chExt cx="648072" cy="288032"/>
          </a:xfrm>
        </p:grpSpPr>
        <p:sp>
          <p:nvSpPr>
            <p:cNvPr id="8" name="椭圆 7"/>
            <p:cNvSpPr/>
            <p:nvPr/>
          </p:nvSpPr>
          <p:spPr>
            <a:xfrm>
              <a:off x="1483073" y="1052736"/>
              <a:ext cx="28803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843113" y="1052736"/>
              <a:ext cx="28803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10373203" y="1514906"/>
            <a:ext cx="0" cy="1522987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6520606" y="4258319"/>
            <a:ext cx="12817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a typeface="华文楷体" panose="02010600040101010101" pitchFamily="2" charset="-122"/>
              </a:rPr>
              <a:t>这里说明图片内容 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5"/>
            <a:ext cx="12192000" cy="1202643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0" y="1316461"/>
            <a:ext cx="7539791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597588" y="1316585"/>
            <a:ext cx="4594412" cy="4571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7494500" y="6627119"/>
            <a:ext cx="408725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16"/>
          <p:cNvSpPr/>
          <p:nvPr/>
        </p:nvSpPr>
        <p:spPr>
          <a:xfrm>
            <a:off x="11293716" y="6346632"/>
            <a:ext cx="288032" cy="288032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7" name="椭圆 17"/>
          <p:cNvSpPr/>
          <p:nvPr/>
        </p:nvSpPr>
        <p:spPr>
          <a:xfrm>
            <a:off x="11614690" y="6029540"/>
            <a:ext cx="288032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164590" y="117538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47140" y="42545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8" name="文本框 99"/>
          <p:cNvSpPr txBox="1">
            <a:spLocks noChangeArrowheads="1"/>
          </p:cNvSpPr>
          <p:nvPr/>
        </p:nvSpPr>
        <p:spPr bwMode="auto">
          <a:xfrm>
            <a:off x="1164590" y="1308735"/>
            <a:ext cx="9489440" cy="230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Socket分为</a:t>
            </a:r>
            <a:r>
              <a:rPr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客户端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。客户端Socket用于建立与服务端Socket的连接，服务端Socket用于等待客户端Socket的连接。因此，在使用客户端Socket</a:t>
            </a:r>
            <a:r>
              <a:rPr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之前，必须建立服务端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Socket。</a:t>
            </a:r>
          </a:p>
          <a:p>
            <a:pPr>
              <a:lnSpc>
                <a:spcPct val="120000"/>
              </a:lnSpc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在Python语言中创建Socket服务端程序，需要使用Socket模块中的</a:t>
            </a:r>
            <a:r>
              <a:rPr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socket类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164590" y="117538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47140" y="42545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4" name="文本框 99"/>
          <p:cNvSpPr txBox="1">
            <a:spLocks noChangeArrowheads="1"/>
          </p:cNvSpPr>
          <p:nvPr/>
        </p:nvSpPr>
        <p:spPr bwMode="auto">
          <a:xfrm>
            <a:off x="1503680" y="1617345"/>
            <a:ext cx="9014460" cy="4448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TCP网络应用程序的注意以下2点：</a:t>
            </a:r>
          </a:p>
          <a:p>
            <a:pPr>
              <a:lnSpc>
                <a:spcPct val="120000"/>
              </a:lnSpc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1）进行通信的时候必须要先建立连接。</a:t>
            </a: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TCP客户端程序一般不需要绑定端口号，因为客户端是主动发起建立连接的。</a:t>
            </a: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TCP 服务端程序必须绑定端口号，否则客户端找不到这个 TCP 服务端程序。</a:t>
            </a: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listen后的套接字是被动套接字，只负责接收新的客户端的连接请求，不能收发消息。</a:t>
            </a:r>
          </a:p>
          <a:p>
            <a:pPr marL="342900" indent="-342900">
              <a:lnSpc>
                <a:spcPct val="120000"/>
              </a:lnSpc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2）连接成功后， TCP 服务器端程序会产生一个新的套接字，收发客户端消息使用该套接字。</a:t>
            </a: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关闭 accept 返回的套接字意味着和这个客户端已经通信完毕。</a:t>
            </a: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关闭 listen 后的套接字意味着服务端的套接字关闭了，会导致新的客户端不能连接服务端，但是之前已经接成功的客户端还能正常通信。</a:t>
            </a:r>
            <a:endParaRPr sz="20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56665" y="1489710"/>
            <a:ext cx="9479915" cy="468122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rgbClr val="FFFF00"/>
              </a:solidFill>
            </a:endParaRPr>
          </a:p>
        </p:txBody>
      </p:sp>
      <p:pic>
        <p:nvPicPr>
          <p:cNvPr id="20" name="图片 5" descr="ti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02139">
            <a:off x="433705" y="1266825"/>
            <a:ext cx="995680" cy="103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164590" y="117538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29597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TCP通信流程</a:t>
            </a:r>
          </a:p>
        </p:txBody>
      </p:sp>
      <p:graphicFrame>
        <p:nvGraphicFramePr>
          <p:cNvPr id="2" name="对象 -2147482624"/>
          <p:cNvGraphicFramePr>
            <a:graphicFrameLocks noChangeAspect="1"/>
          </p:cNvGraphicFramePr>
          <p:nvPr/>
        </p:nvGraphicFramePr>
        <p:xfrm>
          <a:off x="3718560" y="1200150"/>
          <a:ext cx="4380230" cy="5376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067300" imgH="6210300" progId="Visio.Drawing.15">
                  <p:embed/>
                </p:oleObj>
              </mc:Choice>
              <mc:Fallback>
                <p:oleObj r:id="rId2" imgW="5067300" imgH="6210300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18560" y="1200150"/>
                        <a:ext cx="4380230" cy="53765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41789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创建TCP客户端程序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5685" y="1207135"/>
            <a:ext cx="993394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主动发起建立连接请求的是客户端程序。编写TCP客户端程序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98320" y="2138680"/>
            <a:ext cx="7879715" cy="18637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首先要导入socket模块：</a:t>
            </a:r>
          </a:p>
          <a:p>
            <a:pPr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import socket</a:t>
            </a:r>
          </a:p>
          <a:p>
            <a:pPr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其次是创建客户端 socket 对象：socket.socket(AddressFamily, Type)</a:t>
            </a:r>
          </a:p>
        </p:txBody>
      </p:sp>
      <p:sp>
        <p:nvSpPr>
          <p:cNvPr id="8" name="矩形 7"/>
          <p:cNvSpPr/>
          <p:nvPr/>
        </p:nvSpPr>
        <p:spPr>
          <a:xfrm>
            <a:off x="1517650" y="2009775"/>
            <a:ext cx="9255760" cy="199263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FontTx/>
              <a:buNone/>
              <a:defRPr/>
            </a:pPr>
            <a:endParaRPr kumimoji="1" lang="zh-CN" altLang="zh-CN" dirty="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1388745" y="4072890"/>
            <a:ext cx="95135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ea typeface="楷体" panose="02010609060101010101" charset="-122"/>
                <a:sym typeface="+mn-ea"/>
              </a:rPr>
              <a:t>AddressFamily 表示IP地址类型, 分为IPv4和IPv6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ea typeface="楷体" panose="02010609060101010101" charset="-122"/>
                <a:sym typeface="+mn-ea"/>
              </a:rPr>
              <a:t>Type 表示传输协议类型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41789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创建TCP客户端程序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5685" y="1207135"/>
            <a:ext cx="993394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客户端创建方法：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98320" y="2138680"/>
            <a:ext cx="9171305" cy="26752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1.connect((host, port)) 表示和服务端套接字建立连接</a:t>
            </a:r>
          </a:p>
          <a:p>
            <a:pPr marL="800100" lvl="1" indent="-342900" algn="l">
              <a:lnSpc>
                <a:spcPct val="140000"/>
              </a:lnSpc>
              <a:buFont typeface="Wingdings" panose="05000000000000000000" charset="0"/>
              <a:buChar char="Ø"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host是服务器ip地址</a:t>
            </a:r>
          </a:p>
          <a:p>
            <a:pPr marL="800100" lvl="1" indent="-342900" algn="l">
              <a:lnSpc>
                <a:spcPct val="140000"/>
              </a:lnSpc>
              <a:buFont typeface="Wingdings" panose="05000000000000000000" charset="0"/>
              <a:buChar char="Ø"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port是应用程序的端口号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2.send(data) 表示发送数据，data是二进制数据</a:t>
            </a:r>
          </a:p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3.recv(buffersize) 表示接收数据, buffersize是每次接收数据的长度</a:t>
            </a:r>
          </a:p>
        </p:txBody>
      </p:sp>
      <p:sp>
        <p:nvSpPr>
          <p:cNvPr id="8" name="矩形 7"/>
          <p:cNvSpPr/>
          <p:nvPr/>
        </p:nvSpPr>
        <p:spPr>
          <a:xfrm>
            <a:off x="1517650" y="2009775"/>
            <a:ext cx="9255760" cy="303974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FontTx/>
              <a:buNone/>
              <a:defRPr/>
            </a:pPr>
            <a:endParaRPr kumimoji="1" lang="zh-CN" altLang="zh-CN" dirty="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41789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创建TCP客户端程序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5685" y="1207135"/>
            <a:ext cx="993394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本例实现了一个客户端Socket应用，该应用发送字符串，然后服务端返回数据，最后将这些数据输出到网络调试的终端上。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98320" y="2406015"/>
            <a:ext cx="9171305" cy="4250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import socket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endParaRPr sz="1600" b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if __name__ == '__main__':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创建tcp客户端套接字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1. AF_INET：表示ipv4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2. SOCK_STREAM: tcp传输协议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tcp_client_socket = socket.socket(socket.AF_INET, socket.SOCK_STREAM)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和服务端应用程序建立连接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tcp_client_socket.connect(("192.168.131.62", 8080))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代码执行到此，说明连接建立成功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准备发送的数据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send_data = "服务端，我是爱你的，请接受我吧!".encode("gbk")</a:t>
            </a: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</a:t>
            </a:r>
          </a:p>
        </p:txBody>
      </p:sp>
      <p:sp>
        <p:nvSpPr>
          <p:cNvPr id="8" name="矩形 7"/>
          <p:cNvSpPr/>
          <p:nvPr/>
        </p:nvSpPr>
        <p:spPr>
          <a:xfrm>
            <a:off x="1517650" y="2406015"/>
            <a:ext cx="9255760" cy="40436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FontTx/>
              <a:buNone/>
              <a:defRPr/>
            </a:pPr>
            <a:endParaRPr kumimoji="1" lang="zh-CN" altLang="zh-CN" dirty="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41789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创建TCP客户端程序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5685" y="1207135"/>
            <a:ext cx="993394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本例实现了一个客户端Socket应用，该应用发送字符串，然后服务端返回数据，最后将这些数据输出到网络调试的终端上。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98320" y="2406015"/>
            <a:ext cx="9171305" cy="3610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发送数据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tcp_client_socket.send(send_data)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接收数据, 这次接收的数据最大字节数是1024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recv_data = tcp_client_socket.recv(1024)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返回的直接是服务端程序发送的二进制数据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print(recv_data)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对数据进行解码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recv_content = recv_data.decode("gbk")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print("接收服务端的数据为:", recv_content)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关闭套接字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16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tcp_client_socket.close()</a:t>
            </a:r>
          </a:p>
        </p:txBody>
      </p:sp>
      <p:sp>
        <p:nvSpPr>
          <p:cNvPr id="8" name="矩形 7"/>
          <p:cNvSpPr/>
          <p:nvPr/>
        </p:nvSpPr>
        <p:spPr>
          <a:xfrm>
            <a:off x="1517650" y="2406015"/>
            <a:ext cx="9255760" cy="40436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FontTx/>
              <a:buNone/>
              <a:defRPr/>
            </a:pPr>
            <a:endParaRPr kumimoji="1" lang="zh-CN" altLang="zh-CN" dirty="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778500" y="5373687"/>
            <a:ext cx="5080000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运行结果</a:t>
            </a:r>
            <a:r>
              <a:rPr lang="en-US" sz="16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b'\xb0\xae\xc4\xe3\xd4\xda\xbf\xda\xa3\xac\xd7\xec\xc4\xd1\xbf\xaa\xa3\xa1'</a:t>
            </a:r>
            <a:endParaRPr lang="zh-CN" sz="1600" b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接收服务端的数据为</a:t>
            </a:r>
            <a:r>
              <a:rPr lang="en-US" sz="16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: </a:t>
            </a:r>
            <a:r>
              <a:rPr lang="zh-CN" sz="1600" b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爱你在口，嘴难开！</a:t>
            </a:r>
            <a:endParaRPr lang="zh-CN" altLang="en-US" sz="1600" b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45853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 创建TCP服务器端程序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5685" y="1207135"/>
            <a:ext cx="993394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等待接受连接请求的是服务端程序。编写TCP服务端程序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98650" y="2080895"/>
            <a:ext cx="7879715" cy="18637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首先要导入socket模块：</a:t>
            </a:r>
          </a:p>
          <a:p>
            <a:pPr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import socket</a:t>
            </a:r>
          </a:p>
          <a:p>
            <a:pPr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其次是创建服务端 socket 对象：socket.socket(AddressFamily, Type)</a:t>
            </a:r>
          </a:p>
        </p:txBody>
      </p:sp>
      <p:sp>
        <p:nvSpPr>
          <p:cNvPr id="8" name="矩形 7"/>
          <p:cNvSpPr/>
          <p:nvPr/>
        </p:nvSpPr>
        <p:spPr>
          <a:xfrm>
            <a:off x="1517650" y="2009775"/>
            <a:ext cx="9255760" cy="199263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FontTx/>
              <a:buNone/>
              <a:defRPr/>
            </a:pPr>
            <a:endParaRPr kumimoji="1" lang="zh-CN" altLang="zh-CN" dirty="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1388745" y="4072890"/>
            <a:ext cx="95135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ea typeface="楷体" panose="02010609060101010101" charset="-122"/>
                <a:sym typeface="+mn-ea"/>
              </a:rPr>
              <a:t>AddressFamily 表示IP地址类型, 分为IPv4和IPv6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>
                <a:ea typeface="楷体" panose="02010609060101010101" charset="-122"/>
                <a:sym typeface="+mn-ea"/>
              </a:rPr>
              <a:t>Type 表示传输协议类型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45853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 创建TCP服务器端程序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5685" y="1207135"/>
            <a:ext cx="993394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服务端创建过程：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98320" y="2138680"/>
            <a:ext cx="9171305" cy="37090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1.bind((host, port)) 表示绑定端口号, host 是 ip 地址，port 是端口号，ip 地址一般不指定，表示本机的任何一个ip地址都可以。</a:t>
            </a:r>
          </a:p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2.listen (backlog) 表示设置监听，backlog参数表示最大等待建立连接的个数。</a:t>
            </a:r>
          </a:p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3.accept() 表示等待接受客户端的连接请求</a:t>
            </a:r>
          </a:p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4.send(data) 表示发送数据，data 是二进制数据</a:t>
            </a:r>
          </a:p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sz="2400"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5.recv(buffersize) 表示接收数据, buffersize 是每次接收数据的长度</a:t>
            </a:r>
          </a:p>
        </p:txBody>
      </p:sp>
      <p:sp>
        <p:nvSpPr>
          <p:cNvPr id="8" name="矩形 7"/>
          <p:cNvSpPr/>
          <p:nvPr/>
        </p:nvSpPr>
        <p:spPr>
          <a:xfrm>
            <a:off x="1517650" y="2009775"/>
            <a:ext cx="9255760" cy="389509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FontTx/>
              <a:buNone/>
              <a:defRPr/>
            </a:pPr>
            <a:endParaRPr kumimoji="1" lang="zh-CN" altLang="zh-CN" dirty="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45853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 创建TCP服务器端程序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5685" y="1207135"/>
            <a:ext cx="993394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创建TCP服务端套接字，设置端口号为8989，设置监听，准备接受客户端发来的数据，并显示客户端的IP和端口号，演示TCP 服务端程序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54455" y="2406015"/>
            <a:ext cx="9171305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import socket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b="0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if __name__ == '__main__':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创建TCP服务器端套接字</a:t>
            </a:r>
            <a:endParaRPr b="0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tcp_server_socket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=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socket.socket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(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socket.AF_INET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,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socket.SOCK_STREAM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)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设置端口号复用，让程序退出端口号立即释放</a:t>
            </a:r>
            <a:endParaRPr b="0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tcp_server_socket.setsockopt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(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socket.SOL_SOCKET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,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socket.SO_REUSEADDR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, True) 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给程序绑定端口号</a:t>
            </a:r>
            <a:endParaRPr b="0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tcp_server_socket.bind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(("", 8989))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设置监听</a:t>
            </a:r>
            <a:endParaRPr b="0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128:最大等待建立连接的个数，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提示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：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目前是单任务的服务端，同一时刻只能服务于一个客户端，后续使用多任务能够让服务端同时服务于多个客户端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，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不需要让客户端等待建立连接</a:t>
            </a:r>
            <a:endParaRPr b="0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</a:t>
            </a:r>
            <a:r>
              <a:rPr b="0" dirty="0" err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tcp_server_socket.listen</a:t>
            </a:r>
            <a:r>
              <a:rPr b="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(128)</a:t>
            </a:r>
          </a:p>
        </p:txBody>
      </p:sp>
      <p:sp>
        <p:nvSpPr>
          <p:cNvPr id="8" name="矩形 7"/>
          <p:cNvSpPr/>
          <p:nvPr/>
        </p:nvSpPr>
        <p:spPr>
          <a:xfrm>
            <a:off x="1354455" y="2406015"/>
            <a:ext cx="9255760" cy="405892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FontTx/>
              <a:buNone/>
              <a:defRPr/>
            </a:pPr>
            <a:endParaRPr kumimoji="1" lang="zh-CN" altLang="zh-CN" dirty="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45853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 创建TCP服务器端程序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5685" y="1207135"/>
            <a:ext cx="993394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创建TCP服务端套接字，设置端口号为8989，设置监听，准备接受客户端发来的数据，并显示客户端的IP和端口号，演示TCP 服务端程序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54455" y="2406015"/>
            <a:ext cx="9171305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# 等待客户端建立连接的请求, 只有客户端和服务端建立连接成功代码才会解阻塞，代码才能继续往下执行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1. 专门和客户端通信的套接字： service_client_socket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2. 客户端的ip地址和端口号： ip_port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service_client_socket, ip_port = tcp_server_socket.accept()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代码执行到此说明连接建立成功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print("客户端的ip地址和端口号:", ip_port)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接收客户端发送的数据, 这次接收数据的最大字节数是1024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recv_data = service_client_socket.recv(1024)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获取数据的长度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recv_data_length = len(recv_data)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print("接收数据的长度为:", recv_data_length)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对二进制数据进行解码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recv_content = recv_data.decode("gbk")</a:t>
            </a: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print("接收客户端的数据为:", recv_content)</a:t>
            </a:r>
          </a:p>
        </p:txBody>
      </p:sp>
      <p:sp>
        <p:nvSpPr>
          <p:cNvPr id="8" name="矩形 7"/>
          <p:cNvSpPr/>
          <p:nvPr/>
        </p:nvSpPr>
        <p:spPr>
          <a:xfrm>
            <a:off x="1354455" y="2406015"/>
            <a:ext cx="9255760" cy="415861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FontTx/>
              <a:buNone/>
              <a:defRPr/>
            </a:pPr>
            <a:endParaRPr kumimoji="1" lang="zh-CN" altLang="zh-CN" dirty="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605" y="1110615"/>
            <a:ext cx="9488805" cy="247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39280" y="424180"/>
            <a:ext cx="524065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TCP编程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5685" y="362585"/>
            <a:ext cx="45853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 创建TCP服务器端程序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5685" y="1207135"/>
            <a:ext cx="993394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创建TCP服务端套接字，设置端口号为8989，设置监听，准备接受客户端发来的数据，并显示客户端的IP和端口号，演示TCP 服务端程序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54455" y="2406015"/>
            <a:ext cx="9171305" cy="40767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# 准备发送的数据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send_data = "ok, 问题正在处理中...".encode("gbk")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发送数据给客户端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service_client_socket.send(send_data)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关闭服务与客户端的套接字， 终止和客户端通信的服务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service_client_socket.close()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# 关闭服务端的套接字, 终止和客户端提供建立连接请求的服务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    tcp_server_socket.close()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运行结果：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客户端的ip地址和端口号: ('192.168.1.102', 53524)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接收数据的长度为: 18</a:t>
            </a: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b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接收客户端的数据为: 爱你在口，口难开！</a:t>
            </a:r>
          </a:p>
        </p:txBody>
      </p:sp>
      <p:sp>
        <p:nvSpPr>
          <p:cNvPr id="8" name="矩形 7"/>
          <p:cNvSpPr/>
          <p:nvPr/>
        </p:nvSpPr>
        <p:spPr>
          <a:xfrm>
            <a:off x="1354455" y="2406015"/>
            <a:ext cx="9255760" cy="415861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FontTx/>
              <a:buNone/>
              <a:defRPr/>
            </a:pPr>
            <a:endParaRPr kumimoji="1" lang="zh-CN" altLang="zh-CN" dirty="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"/>
            <a:ext cx="12192000" cy="46836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84292" y="1110833"/>
            <a:ext cx="914681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0" y="6640836"/>
            <a:ext cx="12192000" cy="217169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699770" y="425450"/>
            <a:ext cx="464820" cy="396875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84605" y="362585"/>
            <a:ext cx="3129915" cy="521970"/>
          </a:xfrm>
          <a:prstGeom prst="rect">
            <a:avLst/>
          </a:prstGeom>
          <a:solidFill>
            <a:srgbClr val="5C30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思考与练习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7494500" y="6627119"/>
            <a:ext cx="408725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16"/>
          <p:cNvSpPr/>
          <p:nvPr/>
        </p:nvSpPr>
        <p:spPr>
          <a:xfrm>
            <a:off x="11293716" y="6346632"/>
            <a:ext cx="288032" cy="288032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614690" y="6029540"/>
            <a:ext cx="288032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19" name="矩形 2"/>
          <p:cNvSpPr>
            <a:spLocks noChangeArrowheads="1"/>
          </p:cNvSpPr>
          <p:nvPr/>
        </p:nvSpPr>
        <p:spPr bwMode="auto">
          <a:xfrm>
            <a:off x="1164590" y="1381760"/>
            <a:ext cx="9923780" cy="1384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1．简述IP地址和网络端口的作用。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2．简述创建TCP客户端和服务端开发流程，编写一个客户端与服务器端通信程序。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</TotalTime>
  <Words>1496</Words>
  <Application>Microsoft Office PowerPoint</Application>
  <PresentationFormat>宽屏</PresentationFormat>
  <Paragraphs>210</Paragraphs>
  <Slides>24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黑体</vt:lpstr>
      <vt:lpstr>华文楷体</vt:lpstr>
      <vt:lpstr>楷体</vt:lpstr>
      <vt:lpstr>微软雅黑</vt:lpstr>
      <vt:lpstr>Arial</vt:lpstr>
      <vt:lpstr>Calibri</vt:lpstr>
      <vt:lpstr>Calibri Light</vt:lpstr>
      <vt:lpstr>Times New Roman</vt:lpstr>
      <vt:lpstr>Wingdings</vt:lpstr>
      <vt:lpstr>主题1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le wong</cp:lastModifiedBy>
  <cp:revision>556</cp:revision>
  <dcterms:created xsi:type="dcterms:W3CDTF">2014-08-08T13:32:00Z</dcterms:created>
  <dcterms:modified xsi:type="dcterms:W3CDTF">2024-06-28T01:01:00Z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