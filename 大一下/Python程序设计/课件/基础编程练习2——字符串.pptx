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1086" r:id="rId3"/>
    <p:sldId id="1087" r:id="rId4"/>
    <p:sldId id="1088" r:id="rId5"/>
    <p:sldId id="1089" r:id="rId6"/>
    <p:sldId id="1090" r:id="rId7"/>
    <p:sldId id="108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6">
          <p15:clr>
            <a:srgbClr val="A4A3A4"/>
          </p15:clr>
        </p15:guide>
        <p15:guide id="2" pos="28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4">
          <p15:clr>
            <a:srgbClr val="A4A3A4"/>
          </p15:clr>
        </p15:guide>
        <p15:guide id="2" pos="21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99"/>
    <a:srgbClr val="008080"/>
    <a:srgbClr val="006600"/>
    <a:srgbClr val="800000"/>
    <a:srgbClr val="808080"/>
    <a:srgbClr val="404040"/>
    <a:srgbClr val="003399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7467" autoAdjust="0"/>
  </p:normalViewPr>
  <p:slideViewPr>
    <p:cSldViewPr>
      <p:cViewPr varScale="1">
        <p:scale>
          <a:sx n="74" d="100"/>
          <a:sy n="74" d="100"/>
        </p:scale>
        <p:origin x="1452" y="72"/>
      </p:cViewPr>
      <p:guideLst>
        <p:guide orient="horz" pos="2006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348"/>
    </p:cViewPr>
  </p:sorterViewPr>
  <p:notesViewPr>
    <p:cSldViewPr>
      <p:cViewPr varScale="1">
        <p:scale>
          <a:sx n="63" d="100"/>
          <a:sy n="63" d="100"/>
        </p:scale>
        <p:origin x="-1915" y="-77"/>
      </p:cViewPr>
      <p:guideLst>
        <p:guide orient="horz" pos="2674"/>
        <p:guide pos="216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BB02C78E-0274-4A0C-A294-91A0C535B0FB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5755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8330039-C041-4DDA-AFD0-1C663E1F2AAA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6737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40413C7B-0EAF-487B-A984-5F7338AC4C83}" type="slidenum">
              <a:rPr lang="en-US" altLang="zh-CN" sz="1200" smtClean="0">
                <a:latin typeface="Times New Roman" panose="02020603050405020304" pitchFamily="18" charset="0"/>
              </a:rPr>
              <a:t>1</a:t>
            </a:fld>
            <a:endParaRPr lang="en-US" altLang="zh-CN" sz="12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330039-C041-4DDA-AFD0-1C663E1F2AAA}" type="slidenum">
              <a:rPr lang="en-US" altLang="zh-CN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2171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 b="1" smtClean="0">
              <a:latin typeface="楷体_GB231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mtClean="0">
              <a:latin typeface="楷体_GB2312"/>
            </a:endParaRP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26D6CC5-D7C5-43FA-AFF1-EA87749B794C}" type="slidenum">
              <a:rPr lang="en-US" altLang="zh-CN"/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086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 b="1" smtClean="0">
              <a:latin typeface="楷体_GB231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mtClean="0">
              <a:latin typeface="楷体_GB2312"/>
            </a:endParaRP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26D6CC5-D7C5-43FA-AFF1-EA87749B794C}" type="slidenum">
              <a:rPr lang="en-US" altLang="zh-CN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5037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 b="1" smtClean="0">
              <a:latin typeface="楷体_GB231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mtClean="0">
              <a:latin typeface="楷体_GB2312"/>
            </a:endParaRP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26D6CC5-D7C5-43FA-AFF1-EA87749B794C}" type="slidenum">
              <a:rPr lang="en-US" altLang="zh-CN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1375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 b="1" smtClean="0">
              <a:latin typeface="楷体_GB231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mtClean="0">
              <a:latin typeface="楷体_GB2312"/>
            </a:endParaRP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26D6CC5-D7C5-43FA-AFF1-EA87749B794C}" type="slidenum">
              <a:rPr lang="en-US" altLang="zh-CN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1436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5" descr="snake-on-tre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1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6" descr="2006-10-28_Python_in_60_Minutes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t="68115" r="19565" b="1450"/>
          <a:stretch>
            <a:fillRect/>
          </a:stretch>
        </p:blipFill>
        <p:spPr bwMode="auto">
          <a:xfrm>
            <a:off x="1600200" y="741363"/>
            <a:ext cx="541020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"/>
          <p:cNvSpPr>
            <a:spLocks noChangeArrowheads="1"/>
          </p:cNvSpPr>
          <p:nvPr userDrawn="1"/>
        </p:nvSpPr>
        <p:spPr bwMode="auto">
          <a:xfrm>
            <a:off x="1981200" y="4191000"/>
            <a:ext cx="5562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7655" indent="-287655">
              <a:lnSpc>
                <a:spcPct val="102000"/>
              </a:lnSpc>
              <a:spcBef>
                <a:spcPct val="20000"/>
              </a:spcBef>
              <a:buClr>
                <a:srgbClr val="808080"/>
              </a:buClr>
              <a:buSzPct val="60000"/>
              <a:buFont typeface="Wingdings" panose="05000000000000000000" pitchFamily="2" charset="2"/>
              <a:buChar char="n"/>
            </a:pPr>
            <a:endParaRPr lang="en-GB" altLang="zh-CN" sz="1600"/>
          </a:p>
        </p:txBody>
      </p:sp>
      <p:sp>
        <p:nvSpPr>
          <p:cNvPr id="1946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2743200"/>
            <a:ext cx="9144000" cy="1600200"/>
          </a:xfrm>
        </p:spPr>
        <p:txBody>
          <a:bodyPr anchor="ctr"/>
          <a:lstStyle>
            <a:lvl1pPr>
              <a:defRPr sz="44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86800" y="6486525"/>
            <a:ext cx="457200" cy="3810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3918BB4-D321-4424-A622-B27A36F7E38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309F6-2AF1-4E63-8445-75C2F9CD3C0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6C91B-8A2E-4DF2-9C18-E127D8444E7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066800"/>
            <a:ext cx="44958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4958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3F9A0-70B0-4791-B467-8E47A7F4770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40661-D891-4990-A192-6FDE239059C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34018-9196-49BC-87BF-0FCEC58AA8F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50D51-26C4-4C76-A245-B6BDADD0CFE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2DB58-0D7F-4789-941E-576CF38E305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1C427-30A2-45F2-8A1C-C067F59A104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BE19C-1C45-4567-8A8A-9406161F96F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CA9B4-CDCB-4566-88E2-BDA381D8545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7"/>
          <p:cNvSpPr/>
          <p:nvPr/>
        </p:nvSpPr>
        <p:spPr>
          <a:xfrm>
            <a:off x="304800" y="304800"/>
            <a:ext cx="8305800" cy="9144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" name="Line 8"/>
          <p:cNvSpPr/>
          <p:nvPr/>
        </p:nvSpPr>
        <p:spPr>
          <a:xfrm>
            <a:off x="381000" y="6400800"/>
            <a:ext cx="8229600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fontAlgn="base" hangingPunct="1"/>
            <a:fld id="{9A0DB2DC-4C9A-4742-B13C-FB6460FD3503}" type="slidenum">
              <a:rPr lang="en-US" altLang="zh-CN" sz="1200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200" noProof="1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8" b="36090"/>
          <a:stretch>
            <a:fillRect/>
          </a:stretch>
        </p:blipFill>
        <p:spPr bwMode="auto">
          <a:xfrm>
            <a:off x="0" y="6048375"/>
            <a:ext cx="129540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53488" cy="838200"/>
          </a:xfrm>
          <a:prstGeom prst="rect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066800"/>
            <a:ext cx="91440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F134754-8255-4B59-BF87-5324199B066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9pPr>
    </p:titleStyle>
    <p:bodyStyle>
      <a:lvl1pPr marL="233680" indent="-23368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90880" indent="-23368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55000"/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  <a:cs typeface="+mn-cs"/>
        </a:defRPr>
      </a:lvl2pPr>
      <a:lvl3pPr marL="1084580" indent="-17018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3pPr>
      <a:lvl4pPr marL="1541780" indent="-17018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Font typeface="Wingdings" panose="05000000000000000000" pitchFamily="2" charset="2"/>
        <a:buChar char="n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6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327C3F4-D18D-4ABD-9DAD-5682F3DA4882}" type="slidenum">
              <a:rPr lang="en-US" altLang="zh-CN" sz="1400" smtClean="0">
                <a:solidFill>
                  <a:schemeClr val="bg1"/>
                </a:solidFill>
                <a:latin typeface="Tahoma" panose="020B0604030504040204" pitchFamily="34" charset="0"/>
              </a:rPr>
              <a:t>1</a:t>
            </a:fld>
            <a:endParaRPr lang="en-US" altLang="zh-CN" sz="1400" smtClean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122778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宋体" charset="-122"/>
              </a:rPr>
              <a:t>习题</a:t>
            </a:r>
            <a:r>
              <a:rPr lang="zh-CN" altLang="en-US" dirty="0" smtClean="0">
                <a:ea typeface="宋体" charset="-122"/>
              </a:rPr>
              <a:t>课</a:t>
            </a:r>
            <a:r>
              <a:rPr lang="en-US" altLang="zh-CN" dirty="0" smtClean="0">
                <a:ea typeface="宋体" charset="-122"/>
              </a:rPr>
              <a:t>4</a:t>
            </a:r>
            <a:r>
              <a:rPr lang="zh-CN" altLang="en-US" dirty="0" smtClean="0">
                <a:ea typeface="宋体" charset="-122"/>
              </a:rPr>
              <a:t>：</a:t>
            </a:r>
            <a:r>
              <a:rPr lang="zh-CN" altLang="en-US" dirty="0">
                <a:ea typeface="宋体" charset="-122"/>
              </a:rPr>
              <a:t>基础编程练习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76" name="Text Box 10"/>
          <p:cNvSpPr txBox="1">
            <a:spLocks noChangeArrowheads="1"/>
          </p:cNvSpPr>
          <p:nvPr/>
        </p:nvSpPr>
        <p:spPr bwMode="auto">
          <a:xfrm>
            <a:off x="1297305" y="4724400"/>
            <a:ext cx="6017895" cy="1069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信息科学与技术学院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ctr" eaLnBrk="1" hangingPunct="1">
              <a:lnSpc>
                <a:spcPct val="150000"/>
              </a:lnSpc>
              <a:spcBef>
                <a:spcPts val="500"/>
              </a:spcBef>
              <a:buClr>
                <a:srgbClr val="800080"/>
              </a:buClr>
              <a:buSzPct val="55000"/>
              <a:buNone/>
            </a:pP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北京师范大学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2017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秋季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smtClean="0">
                <a:ea typeface="宋体" panose="02010600030101010101" pitchFamily="2" charset="-122"/>
              </a:rPr>
              <a:t> </a:t>
            </a:r>
            <a:r>
              <a:rPr lang="zh-CN" altLang="en-US" sz="3600" dirty="0" smtClean="0">
                <a:ea typeface="宋体" panose="02010600030101010101" pitchFamily="2" charset="-122"/>
              </a:rPr>
              <a:t>字符串操作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2400" y="1143000"/>
            <a:ext cx="88534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1.</a:t>
            </a:r>
            <a:r>
              <a:rPr lang="zh-CN" altLang="zh-CN" sz="2400" dirty="0"/>
              <a:t>给定一字符串，统计该字符串中字母、数字、空格和其他</a:t>
            </a:r>
            <a:r>
              <a:rPr lang="zh-CN" altLang="zh-CN" sz="2400" dirty="0" smtClean="0"/>
              <a:t>字符</a:t>
            </a:r>
            <a:r>
              <a:rPr lang="zh-CN" altLang="en-US" sz="2400" dirty="0" smtClean="0"/>
              <a:t>。</a:t>
            </a:r>
            <a:r>
              <a:rPr lang="zh-CN" altLang="zh-CN" sz="2400" dirty="0" smtClean="0"/>
              <a:t>出现</a:t>
            </a:r>
            <a:r>
              <a:rPr lang="zh-CN" altLang="zh-CN" sz="2400" dirty="0"/>
              <a:t>的</a:t>
            </a:r>
            <a:r>
              <a:rPr lang="zh-CN" altLang="zh-CN" sz="2400" dirty="0" smtClean="0"/>
              <a:t>字数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133600" y="1513636"/>
            <a:ext cx="6719589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str = </a:t>
            </a:r>
            <a:r>
              <a:rPr kumimoji="0" lang="zh-CN" altLang="zh-CN" sz="24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宋体" panose="02010600030101010101" pitchFamily="2" charset="-122"/>
              </a:rPr>
              <a:t>'this is  a test. 123  45678~ end!'</a:t>
            </a:r>
            <a:endParaRPr kumimoji="0" lang="zh-CN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46" y="2126397"/>
            <a:ext cx="6385963" cy="44268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585" y="2971800"/>
            <a:ext cx="4987303" cy="203815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096000" y="5448809"/>
            <a:ext cx="22999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11_str_count</a:t>
            </a:r>
            <a:r>
              <a:rPr lang="zh-CN" altLang="en-US" dirty="0" smtClean="0">
                <a:solidFill>
                  <a:srgbClr val="C00000"/>
                </a:solidFill>
              </a:rPr>
              <a:t>.</a:t>
            </a:r>
            <a:r>
              <a:rPr lang="zh-CN" altLang="en-US" dirty="0">
                <a:solidFill>
                  <a:srgbClr val="C00000"/>
                </a:solidFill>
              </a:rPr>
              <a:t>py</a:t>
            </a:r>
          </a:p>
        </p:txBody>
      </p:sp>
    </p:spTree>
    <p:extLst>
      <p:ext uri="{BB962C8B-B14F-4D97-AF65-F5344CB8AC3E}">
        <p14:creationId xmlns:p14="http://schemas.microsoft.com/office/powerpoint/2010/main" val="21982987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62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2. </a:t>
            </a:r>
            <a:r>
              <a:rPr lang="zh-CN" altLang="en-US" sz="2400" dirty="0" smtClean="0">
                <a:ea typeface="宋体" panose="02010600030101010101" pitchFamily="2" charset="-122"/>
              </a:rPr>
              <a:t>查找字符串子串出现的次数及</a:t>
            </a:r>
            <a:r>
              <a:rPr lang="zh-CN" altLang="en-US" sz="2400" dirty="0" smtClean="0">
                <a:ea typeface="宋体" panose="02010600030101010101" pitchFamily="2" charset="-122"/>
              </a:rPr>
              <a:t>位置。</a:t>
            </a:r>
            <a:endParaRPr lang="en-US" altLang="zh-CN" sz="1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1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1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488" cy="838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 smtClean="0">
                <a:latin typeface="Microsoft JhengHei"/>
                <a:cs typeface="Microsoft JhengHei"/>
              </a:rPr>
              <a:t>字符串操作</a:t>
            </a:r>
            <a:endParaRPr sz="4000" dirty="0">
              <a:latin typeface="Microsoft JhengHei"/>
              <a:cs typeface="Microsoft JhengHei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53200" y="6054123"/>
            <a:ext cx="21092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11</a:t>
            </a:r>
            <a:r>
              <a:rPr lang="zh-CN" altLang="en-US" dirty="0" smtClean="0">
                <a:solidFill>
                  <a:srgbClr val="C00000"/>
                </a:solidFill>
              </a:rPr>
              <a:t>_</a:t>
            </a:r>
            <a:r>
              <a:rPr lang="en-US" altLang="zh-CN" dirty="0" err="1" smtClean="0">
                <a:solidFill>
                  <a:srgbClr val="C00000"/>
                </a:solidFill>
              </a:rPr>
              <a:t>find_idx</a:t>
            </a:r>
            <a:r>
              <a:rPr lang="zh-CN" altLang="en-US" dirty="0" smtClean="0">
                <a:solidFill>
                  <a:srgbClr val="C00000"/>
                </a:solidFill>
              </a:rPr>
              <a:t>.</a:t>
            </a:r>
            <a:r>
              <a:rPr lang="zh-CN" altLang="en-US" dirty="0">
                <a:solidFill>
                  <a:srgbClr val="C00000"/>
                </a:solidFill>
              </a:rPr>
              <a:t>py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20769" y="1504945"/>
            <a:ext cx="8427695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string = </a:t>
            </a: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'this is  a test. 123  45678~ end! It is a good idea!'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05602"/>
            <a:ext cx="7162800" cy="395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415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  <p:bldP spid="7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838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3. </a:t>
            </a:r>
            <a:r>
              <a:rPr lang="zh-CN" altLang="zh-CN" sz="2400" dirty="0" smtClean="0"/>
              <a:t>加密算法，对</a:t>
            </a:r>
            <a:r>
              <a:rPr lang="zh-CN" altLang="zh-CN" sz="2400" dirty="0"/>
              <a:t>信息中的每个英文字母循环替换为字母表序列该</a:t>
            </a:r>
            <a:r>
              <a:rPr lang="zh-CN" altLang="zh-CN" sz="2400" dirty="0" smtClean="0"/>
              <a:t>字母后</a:t>
            </a:r>
            <a:r>
              <a:rPr lang="zh-CN" altLang="zh-CN" sz="2400" dirty="0"/>
              <a:t>面的第三个</a:t>
            </a:r>
            <a:r>
              <a:rPr lang="zh-CN" altLang="zh-CN" sz="2400" dirty="0" smtClean="0"/>
              <a:t>字母</a:t>
            </a:r>
            <a:r>
              <a:rPr lang="zh-CN" altLang="en-US" sz="2400" dirty="0" smtClean="0"/>
              <a:t>，数字除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取余，其他字符不变。</a:t>
            </a:r>
            <a:endParaRPr lang="en-US" altLang="zh-CN" sz="2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488" cy="838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 smtClean="0">
                <a:latin typeface="Microsoft JhengHei"/>
                <a:cs typeface="Microsoft JhengHei"/>
              </a:rPr>
              <a:t>字符串操作</a:t>
            </a:r>
            <a:endParaRPr sz="4000" dirty="0">
              <a:latin typeface="Microsoft JhengHei"/>
              <a:cs typeface="Microsoft JhengHei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15285" y="5943600"/>
            <a:ext cx="27680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11_change_code.py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04800" y="1813231"/>
            <a:ext cx="8427695" cy="800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string = </a:t>
            </a:r>
            <a:endParaRPr kumimoji="0" lang="en-US" altLang="zh-CN" sz="23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宋体" panose="02010600030101010101" pitchFamily="2" charset="-122"/>
              </a:rPr>
              <a:t>'</a:t>
            </a:r>
            <a:r>
              <a:rPr kumimoji="0" lang="zh-CN" altLang="zh-CN" sz="2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宋体" panose="02010600030101010101" pitchFamily="2" charset="-122"/>
              </a:rPr>
              <a:t>this is  a test. 123  45678~ end! It is a good idea!'</a:t>
            </a:r>
            <a:endParaRPr kumimoji="0" lang="zh-CN" altLang="zh-CN" sz="2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6190"/>
            <a:ext cx="8153400" cy="2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63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  <p:bldP spid="7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1736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4. </a:t>
            </a:r>
            <a:r>
              <a:rPr lang="zh-CN" altLang="en-US" sz="2400" dirty="0">
                <a:ea typeface="宋体" panose="02010600030101010101" pitchFamily="2" charset="-122"/>
              </a:rPr>
              <a:t>读取</a:t>
            </a:r>
            <a:r>
              <a:rPr lang="en-US" altLang="zh-CN" sz="2400" dirty="0" smtClean="0">
                <a:ea typeface="宋体" panose="02010600030101010101" pitchFamily="2" charset="-122"/>
              </a:rPr>
              <a:t>textword.txt</a:t>
            </a:r>
            <a:r>
              <a:rPr lang="zh-CN" altLang="en-US" sz="2400" dirty="0" smtClean="0">
                <a:ea typeface="宋体" panose="02010600030101010101" pitchFamily="2" charset="-122"/>
              </a:rPr>
              <a:t>文件，统计其中的单词出现的频率</a:t>
            </a:r>
            <a:r>
              <a:rPr lang="zh-CN" altLang="en-US" sz="2400" dirty="0" smtClean="0"/>
              <a:t>。</a:t>
            </a:r>
            <a:endParaRPr lang="en-US" altLang="zh-CN" sz="2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488" cy="838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 smtClean="0">
                <a:latin typeface="Microsoft JhengHei"/>
                <a:cs typeface="Microsoft JhengHei"/>
              </a:rPr>
              <a:t>字符串操作</a:t>
            </a:r>
            <a:endParaRPr sz="4000" dirty="0">
              <a:latin typeface="Microsoft JhengHei"/>
              <a:cs typeface="Microsoft JhengHei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15285" y="5943600"/>
            <a:ext cx="27552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11_word_count1.py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57" y="1676400"/>
            <a:ext cx="8736066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994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1736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5. </a:t>
            </a:r>
            <a:r>
              <a:rPr lang="zh-CN" altLang="en-US" sz="2400" dirty="0" smtClean="0">
                <a:ea typeface="宋体" panose="02010600030101010101" pitchFamily="2" charset="-122"/>
              </a:rPr>
              <a:t>将上述统计的词频，用词云方式展示</a:t>
            </a:r>
            <a:endParaRPr lang="en-US" altLang="zh-CN" sz="2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400" dirty="0" smtClean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488" cy="838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 smtClean="0">
                <a:latin typeface="Microsoft JhengHei"/>
                <a:cs typeface="Microsoft JhengHei"/>
              </a:rPr>
              <a:t>字符串操作</a:t>
            </a:r>
            <a:endParaRPr sz="4000" dirty="0">
              <a:latin typeface="Microsoft JhengHei"/>
              <a:cs typeface="Microsoft JhengHei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93" y="1557797"/>
            <a:ext cx="7574207" cy="174089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557798"/>
            <a:ext cx="6367802" cy="491920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160159" y="6070451"/>
            <a:ext cx="27552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11_word_count2.py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918" y="3926889"/>
            <a:ext cx="3424238" cy="17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948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solidFill>
            <a:srgbClr val="A50021"/>
          </a:solidFill>
        </p:spPr>
        <p:txBody>
          <a:bodyPr/>
          <a:lstStyle/>
          <a:p>
            <a:pPr algn="ctr">
              <a:defRPr/>
            </a:pPr>
            <a:r>
              <a:rPr lang="en-US" dirty="0" smtClean="0">
                <a:solidFill>
                  <a:schemeClr val="bg1"/>
                </a:solidFill>
              </a:rPr>
              <a:t>The End</a:t>
            </a:r>
          </a:p>
        </p:txBody>
      </p:sp>
      <p:sp>
        <p:nvSpPr>
          <p:cNvPr id="52227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145089F-65E1-413F-8807-596599D4B5FD}" type="slidenum">
              <a:rPr lang="en-US" altLang="zh-CN" sz="1200" smtClean="0">
                <a:solidFill>
                  <a:schemeClr val="bg1"/>
                </a:solidFill>
              </a:rPr>
              <a:t>7</a:t>
            </a:fld>
            <a:endParaRPr lang="en-US" altLang="zh-CN" sz="12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Blends">
      <a:majorFont>
        <a:latin typeface="Verdana"/>
        <a:ea typeface=""/>
        <a:cs typeface="Times New Roman"/>
      </a:majorFont>
      <a:minorFont>
        <a:latin typeface="Verdan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1196975" marR="0" indent="-282575" algn="l" defTabSz="914400" rtl="0" eaLnBrk="1" fontAlgn="base" latinLnBrk="0" hangingPunct="1">
          <a:lnSpc>
            <a:spcPct val="100000"/>
          </a:lnSpc>
          <a:spcBef>
            <a:spcPts val="500"/>
          </a:spcBef>
          <a:spcAft>
            <a:spcPct val="0"/>
          </a:spcAft>
          <a:buClr>
            <a:srgbClr val="800080"/>
          </a:buClr>
          <a:buSzPct val="55000"/>
          <a:buFont typeface="Wingdings" panose="05000000000000000000" pitchFamily="2" charset="2"/>
          <a:buChar char="n"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1196975" marR="0" indent="-282575" algn="l" defTabSz="914400" rtl="0" eaLnBrk="1" fontAlgn="base" latinLnBrk="0" hangingPunct="1">
          <a:lnSpc>
            <a:spcPct val="100000"/>
          </a:lnSpc>
          <a:spcBef>
            <a:spcPts val="500"/>
          </a:spcBef>
          <a:spcAft>
            <a:spcPct val="0"/>
          </a:spcAft>
          <a:buClr>
            <a:srgbClr val="800080"/>
          </a:buClr>
          <a:buSzPct val="55000"/>
          <a:buFont typeface="Wingdings" panose="05000000000000000000" pitchFamily="2" charset="2"/>
          <a:buChar char="n"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800080"/>
        </a:dk2>
        <a:lt2>
          <a:srgbClr val="1C1C1C"/>
        </a:lt2>
        <a:accent1>
          <a:srgbClr val="777777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BDBDBD"/>
        </a:accent5>
        <a:accent6>
          <a:srgbClr val="E7BB01"/>
        </a:accent6>
        <a:hlink>
          <a:srgbClr val="80008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C:\Programs\MsOffice\Templates\Presentation Designs\Straight Edge.pot</Template>
  <TotalTime>2652</TotalTime>
  <Words>197</Words>
  <Application>Microsoft Office PowerPoint</Application>
  <PresentationFormat>全屏显示(4:3)</PresentationFormat>
  <Paragraphs>31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Microsoft JhengHei</vt:lpstr>
      <vt:lpstr>黑体</vt:lpstr>
      <vt:lpstr>楷体_GB2312</vt:lpstr>
      <vt:lpstr>宋体</vt:lpstr>
      <vt:lpstr>Arial</vt:lpstr>
      <vt:lpstr>Courier New</vt:lpstr>
      <vt:lpstr>Tahoma</vt:lpstr>
      <vt:lpstr>Times New Roman</vt:lpstr>
      <vt:lpstr>Verdana</vt:lpstr>
      <vt:lpstr>Wingdings</vt:lpstr>
      <vt:lpstr>Blends</vt:lpstr>
      <vt:lpstr>习题课4：基础编程练习</vt:lpstr>
      <vt:lpstr> 字符串操作</vt:lpstr>
      <vt:lpstr>字符串操作</vt:lpstr>
      <vt:lpstr>字符串操作</vt:lpstr>
      <vt:lpstr>字符串操作</vt:lpstr>
      <vt:lpstr>字符串操作</vt:lpstr>
      <vt:lpstr>The End</vt:lpstr>
    </vt:vector>
  </TitlesOfParts>
  <Company>University of Washington, CS 4 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with Python</dc:title>
  <dc:creator>Marty Stepp</dc:creator>
  <cp:lastModifiedBy>admin</cp:lastModifiedBy>
  <cp:revision>2799</cp:revision>
  <cp:lastPrinted>2009-04-22T19:24:00Z</cp:lastPrinted>
  <dcterms:created xsi:type="dcterms:W3CDTF">2009-04-22T19:24:00Z</dcterms:created>
  <dcterms:modified xsi:type="dcterms:W3CDTF">2017-11-29T11:19:33Z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