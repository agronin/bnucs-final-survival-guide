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38"/>
  </p:handoutMasterIdLst>
  <p:sldIdLst>
    <p:sldId id="673" r:id="rId3"/>
    <p:sldId id="775" r:id="rId4"/>
    <p:sldId id="745" r:id="rId5"/>
    <p:sldId id="746" r:id="rId7"/>
    <p:sldId id="747" r:id="rId8"/>
    <p:sldId id="748" r:id="rId9"/>
    <p:sldId id="749" r:id="rId10"/>
    <p:sldId id="750" r:id="rId11"/>
    <p:sldId id="751" r:id="rId12"/>
    <p:sldId id="752" r:id="rId13"/>
    <p:sldId id="753" r:id="rId14"/>
    <p:sldId id="754" r:id="rId15"/>
    <p:sldId id="755" r:id="rId16"/>
    <p:sldId id="756" r:id="rId17"/>
    <p:sldId id="757" r:id="rId18"/>
    <p:sldId id="758" r:id="rId19"/>
    <p:sldId id="759" r:id="rId20"/>
    <p:sldId id="760" r:id="rId21"/>
    <p:sldId id="761" r:id="rId22"/>
    <p:sldId id="806" r:id="rId23"/>
    <p:sldId id="762" r:id="rId24"/>
    <p:sldId id="763" r:id="rId25"/>
    <p:sldId id="764" r:id="rId26"/>
    <p:sldId id="765" r:id="rId27"/>
    <p:sldId id="807" r:id="rId28"/>
    <p:sldId id="766" r:id="rId29"/>
    <p:sldId id="767" r:id="rId30"/>
    <p:sldId id="768" r:id="rId31"/>
    <p:sldId id="769" r:id="rId32"/>
    <p:sldId id="770" r:id="rId33"/>
    <p:sldId id="771" r:id="rId34"/>
    <p:sldId id="772" r:id="rId35"/>
    <p:sldId id="773" r:id="rId36"/>
    <p:sldId id="774" r:id="rId3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154"/>
        <p:guide pos="27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dirty="0">
                <a:latin typeface="Times New Roman" pitchFamily="18" charset="0"/>
              </a:rPr>
            </a:fld>
            <a:endParaRPr lang="zh-CN" altLang="en-US" sz="1200" b="0" dirty="0"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dirty="0">
                <a:latin typeface="Times New Roman" pitchFamily="18" charset="0"/>
              </a:rPr>
            </a:fld>
            <a:endParaRPr lang="zh-CN" altLang="en-US" sz="1200" b="0" dirty="0">
              <a:latin typeface="Times New Roman" pitchFamily="18" charset="0"/>
            </a:endParaRPr>
          </a:p>
        </p:txBody>
      </p:sp>
      <p:sp>
        <p:nvSpPr>
          <p:cNvPr id="133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dirty="0">
                <a:latin typeface="Times New Roman" pitchFamily="18" charset="0"/>
              </a:rPr>
            </a:fld>
            <a:endParaRPr lang="zh-CN" altLang="en-US" sz="1200" b="0" dirty="0">
              <a:latin typeface="Times New Roman" pitchFamily="18" charset="0"/>
            </a:endParaRPr>
          </a:p>
        </p:txBody>
      </p:sp>
      <p:sp>
        <p:nvSpPr>
          <p:cNvPr id="153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187450" y="333375"/>
            <a:ext cx="563086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Chap</a:t>
            </a:r>
            <a:r>
              <a:rPr lang="x-none" altLang="en-US" dirty="0">
                <a:latin typeface="宋体" pitchFamily="2" charset="-122"/>
              </a:rPr>
              <a:t>ter</a:t>
            </a:r>
            <a:r>
              <a:rPr lang="en-US" altLang="zh-CN" dirty="0">
                <a:latin typeface="宋体" pitchFamily="2" charset="-122"/>
              </a:rPr>
              <a:t> 5</a:t>
            </a:r>
            <a:r>
              <a:rPr lang="zh-CN" altLang="en-US" dirty="0">
                <a:latin typeface="宋体" pitchFamily="2" charset="-122"/>
              </a:rPr>
              <a:t>  函数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701165"/>
            <a:ext cx="6151245" cy="208153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计算圆柱体体积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使用函数编写程序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变量与函数</a:t>
            </a:r>
            <a:endParaRPr 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187450" y="333375"/>
            <a:ext cx="563086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Chap</a:t>
            </a:r>
            <a:r>
              <a:rPr lang="x-none" altLang="en-US" dirty="0">
                <a:latin typeface="宋体" pitchFamily="2" charset="-122"/>
              </a:rPr>
              <a:t>ter</a:t>
            </a:r>
            <a:r>
              <a:rPr lang="en-US" altLang="zh-CN" dirty="0">
                <a:latin typeface="宋体" pitchFamily="2" charset="-122"/>
              </a:rPr>
              <a:t> 5</a:t>
            </a:r>
            <a:r>
              <a:rPr lang="zh-CN" altLang="en-US" dirty="0">
                <a:latin typeface="宋体" pitchFamily="2" charset="-122"/>
              </a:rPr>
              <a:t>  函数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701165"/>
            <a:ext cx="6151245" cy="208153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计算圆柱体体积</a:t>
            </a:r>
            <a:endParaRPr lang="zh-CN" altLang="en-US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使用函数编写程序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变量与函数</a:t>
            </a:r>
            <a:endParaRPr 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5.1.1  </a:t>
            </a:r>
            <a:r>
              <a:rPr lang="zh-CN" altLang="en-US" dirty="0"/>
              <a:t>程序解析－计算圆柱体积</a:t>
            </a: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8195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/>
              <a:t>5-1  </a:t>
            </a:r>
            <a:r>
              <a:rPr lang="zh-CN" altLang="zh-CN" dirty="0"/>
              <a:t>输入圆柱</a:t>
            </a:r>
            <a:r>
              <a:rPr lang="zh-CN" altLang="en-US" dirty="0"/>
              <a:t>体</a:t>
            </a:r>
            <a:r>
              <a:rPr lang="zh-CN" altLang="zh-CN" dirty="0"/>
              <a:t>的高和半径，求圆柱体积</a:t>
            </a:r>
            <a:r>
              <a:rPr lang="zh-CN" altLang="en-US" dirty="0"/>
              <a:t>，</a:t>
            </a:r>
            <a:r>
              <a:rPr lang="en-US" altLang="zh-CN"/>
              <a:t>volume=</a:t>
            </a:r>
            <a:r>
              <a:rPr lang="el-GR" altLang="zh-CN" dirty="0"/>
              <a:t>π</a:t>
            </a:r>
            <a:r>
              <a:rPr lang="en-US" altLang="zh-CN"/>
              <a:t>*r</a:t>
            </a:r>
            <a:r>
              <a:rPr lang="en-US" altLang="zh-CN" baseline="30000"/>
              <a:t>2</a:t>
            </a:r>
            <a:r>
              <a:rPr lang="en-US" altLang="zh-CN"/>
              <a:t>*h</a:t>
            </a:r>
            <a:r>
              <a:rPr lang="zh-CN" altLang="zh-CN" dirty="0"/>
              <a:t>。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	</a:t>
            </a:r>
            <a:r>
              <a:rPr lang="zh-CN" altLang="zh-CN" dirty="0"/>
              <a:t>要求定义和调用函数</a:t>
            </a:r>
            <a:r>
              <a:rPr lang="en-US" altLang="zh-CN">
                <a:solidFill>
                  <a:srgbClr val="CC0066"/>
                </a:solidFill>
              </a:rPr>
              <a:t>cylinder (r, h )</a:t>
            </a:r>
            <a:r>
              <a:rPr lang="zh-CN" altLang="en-US" dirty="0"/>
              <a:t>计算圆柱体的体积。 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0242" name="Rectangle 17"/>
          <p:cNvSpPr>
            <a:spLocks noGrp="1"/>
          </p:cNvSpPr>
          <p:nvPr>
            <p:ph type="title"/>
          </p:nvPr>
        </p:nvSpPr>
        <p:spPr>
          <a:xfrm>
            <a:off x="4762500" y="260350"/>
            <a:ext cx="3924300" cy="6683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/>
              <a:t>5-1</a:t>
            </a:r>
            <a:r>
              <a:rPr lang="zh-CN" altLang="en-US" sz="4000" dirty="0"/>
              <a:t>源程序</a:t>
            </a:r>
            <a:endParaRPr lang="zh-CN" altLang="en-US" sz="4000" dirty="0"/>
          </a:p>
        </p:txBody>
      </p:sp>
      <p:sp>
        <p:nvSpPr>
          <p:cNvPr id="10243" name="Rectangle 18"/>
          <p:cNvSpPr>
            <a:spLocks noGrp="1"/>
          </p:cNvSpPr>
          <p:nvPr>
            <p:ph idx="1"/>
          </p:nvPr>
        </p:nvSpPr>
        <p:spPr>
          <a:xfrm>
            <a:off x="395288" y="620713"/>
            <a:ext cx="8497887" cy="58324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/* </a:t>
            </a:r>
            <a:r>
              <a:rPr lang="zh-CN" altLang="en-US" sz="2400" dirty="0"/>
              <a:t>计算圆柱体积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#include &lt;</a:t>
            </a:r>
            <a:r>
              <a:rPr lang="en-US" altLang="zh-CN" sz="2400" err="1"/>
              <a:t>stdio.h</a:t>
            </a:r>
            <a:r>
              <a:rPr lang="en-US" altLang="zh-CN" sz="2400"/>
              <a:t>&gt;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main( void )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double height, radius, volume;					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CC0066"/>
                </a:solidFill>
              </a:rPr>
              <a:t>double cylinder (double r, double h);    </a:t>
            </a:r>
            <a:r>
              <a:rPr lang="en-US" altLang="zh-CN" sz="2400"/>
              <a:t>/* </a:t>
            </a:r>
            <a:r>
              <a:rPr lang="zh-CN" altLang="en-US" sz="2400" dirty="0">
                <a:solidFill>
                  <a:schemeClr val="bg2"/>
                </a:solidFill>
              </a:rPr>
              <a:t>函数声明</a:t>
            </a:r>
            <a:r>
              <a:rPr lang="zh-CN" altLang="en-US" sz="2400" dirty="0"/>
              <a:t>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 err="1"/>
              <a:t>printf</a:t>
            </a:r>
            <a:r>
              <a:rPr lang="en-US" altLang="zh-CN" sz="2400"/>
              <a:t> ("Enter radius and height: ");	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 err="1"/>
              <a:t>scanf</a:t>
            </a:r>
            <a:r>
              <a:rPr lang="en-US" altLang="zh-CN" sz="2400"/>
              <a:t> ("%</a:t>
            </a:r>
            <a:r>
              <a:rPr lang="en-US" altLang="zh-CN" sz="2400" err="1"/>
              <a:t>lf%lf</a:t>
            </a:r>
            <a:r>
              <a:rPr lang="en-US" altLang="zh-CN" sz="2400"/>
              <a:t>", &amp;radius, &amp;height);	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 /* </a:t>
            </a:r>
            <a:r>
              <a:rPr lang="zh-CN" altLang="en-US" sz="2400" dirty="0">
                <a:solidFill>
                  <a:schemeClr val="bg2"/>
                </a:solidFill>
              </a:rPr>
              <a:t>调用函数</a:t>
            </a:r>
            <a:r>
              <a:rPr lang="zh-CN" altLang="en-US" sz="2400" dirty="0"/>
              <a:t>，返回值赋给</a:t>
            </a:r>
            <a:r>
              <a:rPr lang="en-US" altLang="zh-CN" sz="2400"/>
              <a:t>volume */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volume =</a:t>
            </a:r>
            <a:r>
              <a:rPr lang="en-US" altLang="zh-CN" sz="2400">
                <a:solidFill>
                  <a:srgbClr val="CC0066"/>
                </a:solidFill>
              </a:rPr>
              <a:t> cylinder (radius, height )</a:t>
            </a:r>
            <a:r>
              <a:rPr lang="en-US" altLang="zh-CN" sz="2400"/>
              <a:t>;	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 err="1"/>
              <a:t>printf</a:t>
            </a:r>
            <a:r>
              <a:rPr lang="en-US" altLang="zh-CN" sz="2400"/>
              <a:t> ("Volume = %.3f\n", volume);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return  0;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}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1266" name="Rectangle 12"/>
          <p:cNvSpPr>
            <a:spLocks noGrp="1"/>
          </p:cNvSpPr>
          <p:nvPr>
            <p:ph type="title"/>
          </p:nvPr>
        </p:nvSpPr>
        <p:spPr>
          <a:xfrm>
            <a:off x="755650" y="620713"/>
            <a:ext cx="3251200" cy="5953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/>
              <a:t>5-1</a:t>
            </a:r>
            <a:r>
              <a:rPr lang="zh-CN" altLang="en-US" sz="4000" dirty="0"/>
              <a:t>源程序</a:t>
            </a:r>
            <a:endParaRPr lang="zh-CN" altLang="en-US" sz="4000" dirty="0"/>
          </a:p>
        </p:txBody>
      </p:sp>
      <p:sp>
        <p:nvSpPr>
          <p:cNvPr id="11267" name="Rectangle 13"/>
          <p:cNvSpPr>
            <a:spLocks noGrp="1"/>
          </p:cNvSpPr>
          <p:nvPr>
            <p:ph idx="1"/>
          </p:nvPr>
        </p:nvSpPr>
        <p:spPr>
          <a:xfrm>
            <a:off x="468313" y="1844675"/>
            <a:ext cx="8064500" cy="4608513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/>
              <a:t>/*  </a:t>
            </a:r>
            <a:r>
              <a:rPr lang="zh-CN" altLang="en-US" sz="2400" dirty="0"/>
              <a:t>定义求圆柱体积的函数 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>
                <a:solidFill>
                  <a:srgbClr val="CC0066"/>
                </a:solidFill>
              </a:rPr>
              <a:t>double cylinder (double r, double h)</a:t>
            </a:r>
            <a:r>
              <a:rPr lang="en-US" altLang="zh-CN" sz="2400"/>
              <a:t>	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>
                <a:solidFill>
                  <a:srgbClr val="CC0066"/>
                </a:solidFill>
              </a:rPr>
              <a:t>{</a:t>
            </a:r>
            <a:endParaRPr lang="en-US" altLang="zh-CN" sz="2400">
              <a:solidFill>
                <a:srgbClr val="CC0066"/>
              </a:solidFill>
            </a:endParaRPr>
          </a:p>
          <a:p>
            <a:pPr eaLnBrk="1" hangingPunct="1">
              <a:buNone/>
            </a:pPr>
            <a:r>
              <a:rPr lang="en-US" altLang="zh-CN" sz="2400"/>
              <a:t>	double result;</a:t>
            </a:r>
            <a:endParaRPr lang="en-US" altLang="zh-CN" sz="2400"/>
          </a:p>
          <a:p>
            <a:pPr eaLnBrk="1" hangingPunct="1">
              <a:buNone/>
            </a:pP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result =3.1415926 * r * r * h;      /* </a:t>
            </a:r>
            <a:r>
              <a:rPr lang="zh-CN" altLang="en-US" sz="2400" dirty="0"/>
              <a:t>计算体积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buNone/>
            </a:pP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chemeClr val="bg2"/>
                </a:solidFill>
              </a:rPr>
              <a:t>return result;</a:t>
            </a:r>
            <a:r>
              <a:rPr lang="en-US" altLang="zh-CN" sz="2400"/>
              <a:t>			  /* </a:t>
            </a:r>
            <a:r>
              <a:rPr lang="zh-CN" altLang="en-US" sz="2400" dirty="0"/>
              <a:t>返回结果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>
                <a:solidFill>
                  <a:srgbClr val="CC0066"/>
                </a:solidFill>
              </a:rPr>
              <a:t>}</a:t>
            </a:r>
            <a:endParaRPr lang="zh-CN" altLang="en-US" sz="2400" i="1" dirty="0">
              <a:solidFill>
                <a:srgbClr val="CC0066"/>
              </a:solidFill>
            </a:endParaRPr>
          </a:p>
        </p:txBody>
      </p:sp>
      <p:sp>
        <p:nvSpPr>
          <p:cNvPr id="228366" name="Rectangle 14"/>
          <p:cNvSpPr/>
          <p:nvPr/>
        </p:nvSpPr>
        <p:spPr>
          <a:xfrm>
            <a:off x="4140200" y="446088"/>
            <a:ext cx="4826000" cy="1309687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>
                <a:latin typeface="Arial" panose="02080604020202020204" pitchFamily="34" charset="0"/>
              </a:rPr>
              <a:t>Enter radius and height: </a:t>
            </a:r>
            <a:r>
              <a:rPr lang="en-US" altLang="zh-CN">
                <a:solidFill>
                  <a:srgbClr val="CC0066"/>
                </a:solidFill>
                <a:latin typeface="Arial" panose="02080604020202020204" pitchFamily="34" charset="0"/>
              </a:rPr>
              <a:t>3.0  10</a:t>
            </a:r>
            <a:endParaRPr lang="en-US" altLang="zh-CN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>
                <a:latin typeface="Arial" panose="02080604020202020204" pitchFamily="34" charset="0"/>
              </a:rPr>
              <a:t>Volume = 282.743</a:t>
            </a:r>
            <a:endParaRPr lang="zh-CN" altLang="en-US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2290" name="Rectangle 10"/>
          <p:cNvSpPr>
            <a:spLocks noGrp="1"/>
          </p:cNvSpPr>
          <p:nvPr>
            <p:ph type="title"/>
          </p:nvPr>
        </p:nvSpPr>
        <p:spPr>
          <a:xfrm>
            <a:off x="539750" y="404813"/>
            <a:ext cx="5832475" cy="863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5.1.2  </a:t>
            </a:r>
            <a:r>
              <a:rPr lang="zh-CN" altLang="en-US" dirty="0"/>
              <a:t>函数的定义 </a:t>
            </a:r>
            <a:endParaRPr lang="zh-CN" altLang="en-US" dirty="0"/>
          </a:p>
        </p:txBody>
      </p:sp>
      <p:sp>
        <p:nvSpPr>
          <p:cNvPr id="226315" name="Rectangle 11"/>
          <p:cNvSpPr>
            <a:spLocks noGrp="1"/>
          </p:cNvSpPr>
          <p:nvPr>
            <p:ph idx="1"/>
          </p:nvPr>
        </p:nvSpPr>
        <p:spPr>
          <a:xfrm>
            <a:off x="250825" y="1341438"/>
            <a:ext cx="8569325" cy="5256212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sz="2800" dirty="0"/>
              <a:t>函数是指完成一个特定工作的独立程序模块。</a:t>
            </a:r>
            <a:endParaRPr lang="zh-CN" altLang="en-US" sz="2800" dirty="0"/>
          </a:p>
          <a:p>
            <a:pPr lvl="1" algn="just" eaLnBrk="1" hangingPunct="1"/>
            <a:r>
              <a:rPr lang="zh-CN" altLang="en-US" sz="2400" dirty="0"/>
              <a:t>库函数：由</a:t>
            </a:r>
            <a:r>
              <a:rPr lang="en-US" altLang="zh-CN" sz="2400"/>
              <a:t>C</a:t>
            </a:r>
            <a:r>
              <a:rPr lang="zh-CN" altLang="en-US" sz="2400" dirty="0"/>
              <a:t>语言系统提供定义</a:t>
            </a:r>
            <a:endParaRPr lang="zh-CN" altLang="en-US" sz="2400" dirty="0"/>
          </a:p>
          <a:p>
            <a:pPr lvl="2" algn="just" eaLnBrk="1" hangingPunct="1">
              <a:buNone/>
            </a:pPr>
            <a:r>
              <a:rPr lang="zh-CN" altLang="en-US" sz="2000" dirty="0"/>
              <a:t>如</a:t>
            </a:r>
            <a:r>
              <a:rPr lang="en-US" altLang="zh-CN" sz="2000" err="1"/>
              <a:t>scanf</a:t>
            </a:r>
            <a:r>
              <a:rPr lang="zh-CN" altLang="en-US" sz="2000" dirty="0"/>
              <a:t>（）、</a:t>
            </a:r>
            <a:r>
              <a:rPr lang="en-US" altLang="zh-CN" sz="2000" err="1"/>
              <a:t>printf</a:t>
            </a:r>
            <a:r>
              <a:rPr lang="zh-CN" altLang="en-US" sz="2000" dirty="0"/>
              <a:t>（）等函数</a:t>
            </a:r>
            <a:endParaRPr lang="zh-CN" altLang="en-US" sz="2000" dirty="0"/>
          </a:p>
          <a:p>
            <a:pPr lvl="1" algn="just" eaLnBrk="1" hangingPunct="1"/>
            <a:r>
              <a:rPr lang="zh-CN" altLang="en-US" sz="2400" dirty="0"/>
              <a:t>自定义函数：需要用户自己定义</a:t>
            </a:r>
            <a:endParaRPr lang="zh-CN" altLang="en-US" sz="2400" dirty="0"/>
          </a:p>
          <a:p>
            <a:pPr lvl="2" algn="just" eaLnBrk="1" hangingPunct="1">
              <a:buNone/>
            </a:pPr>
            <a:r>
              <a:rPr lang="zh-CN" altLang="en-US" sz="2000" dirty="0"/>
              <a:t>如计算圆柱体体积函数</a:t>
            </a:r>
            <a:r>
              <a:rPr lang="en-US" altLang="zh-CN" sz="2000"/>
              <a:t>cylinder</a:t>
            </a:r>
            <a:r>
              <a:rPr lang="zh-CN" altLang="en-US" sz="2000" dirty="0"/>
              <a:t>（）</a:t>
            </a:r>
            <a:endParaRPr lang="en-US" altLang="zh-CN" sz="2000"/>
          </a:p>
          <a:p>
            <a:pPr algn="just" eaLnBrk="1" hangingPunct="1"/>
            <a:r>
              <a:rPr lang="en-US" altLang="zh-CN" sz="2800"/>
              <a:t>main()</a:t>
            </a:r>
            <a:r>
              <a:rPr lang="zh-CN" altLang="en-US" sz="2800" dirty="0"/>
              <a:t>也是一个函数，</a:t>
            </a:r>
            <a:r>
              <a:rPr lang="en-US" altLang="zh-CN" sz="2800"/>
              <a:t>C</a:t>
            </a:r>
            <a:r>
              <a:rPr lang="zh-CN" altLang="en-US" sz="2800" dirty="0"/>
              <a:t>程序由一个</a:t>
            </a:r>
            <a:r>
              <a:rPr lang="en-US" altLang="zh-CN" sz="2800"/>
              <a:t>main()</a:t>
            </a:r>
            <a:r>
              <a:rPr lang="zh-CN" altLang="en-US" sz="2800" dirty="0"/>
              <a:t>和多个函数构成。</a:t>
            </a:r>
            <a:endParaRPr lang="zh-CN" altLang="en-US" sz="2800" dirty="0"/>
          </a:p>
          <a:p>
            <a:pPr algn="just" eaLnBrk="1" hangingPunct="1"/>
            <a:r>
              <a:rPr lang="zh-CN" altLang="en-US" sz="2800" dirty="0"/>
              <a:t>程序中一旦调用了某个函数，该函数就会完成一些特定的工作，然后返回到调用它的地方。</a:t>
            </a:r>
            <a:endParaRPr lang="zh-CN" altLang="en-US" sz="2800" dirty="0"/>
          </a:p>
          <a:p>
            <a:pPr lvl="1" algn="just" eaLnBrk="1" hangingPunct="1"/>
            <a:r>
              <a:rPr lang="zh-CN" altLang="en-US" sz="2400" dirty="0"/>
              <a:t>函数经过运算，得到一个明确的运算结果，并需要回送该结果。例如，函数</a:t>
            </a:r>
            <a:r>
              <a:rPr lang="en-US" altLang="zh-CN" sz="2400"/>
              <a:t>cylinder()</a:t>
            </a:r>
            <a:r>
              <a:rPr lang="zh-CN" altLang="en-US" sz="2400" dirty="0"/>
              <a:t>返回圆柱的体积。</a:t>
            </a:r>
            <a:endParaRPr lang="en-US" altLang="zh-CN" sz="2400"/>
          </a:p>
          <a:p>
            <a:pPr lvl="1" algn="just" eaLnBrk="1" hangingPunct="1"/>
            <a:r>
              <a:rPr lang="zh-CN" altLang="en-US" sz="2400" dirty="0"/>
              <a:t>函数完成一系列操作步骤，不需要回送任何运算结果。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631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6315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6315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6315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72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6315">
                                            <p:txEl>
                                              <p:charRg st="72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93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6315">
                                            <p:txEl>
                                              <p:charRg st="93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127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6315">
                                            <p:txEl>
                                              <p:charRg st="127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16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6315">
                                            <p:txEl>
                                              <p:charRg st="168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charRg st="220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6315">
                                            <p:txEl>
                                              <p:charRg st="220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4338" name="Rectangle 11"/>
          <p:cNvSpPr>
            <a:spLocks noGrp="1"/>
          </p:cNvSpPr>
          <p:nvPr>
            <p:ph type="title"/>
          </p:nvPr>
        </p:nvSpPr>
        <p:spPr>
          <a:xfrm>
            <a:off x="5508625" y="476250"/>
            <a:ext cx="3455988" cy="13684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/>
              <a:t>1</a:t>
            </a:r>
            <a:r>
              <a:rPr lang="zh-CN" altLang="en-US" sz="3600" dirty="0"/>
              <a:t>．返回运算结果的函数定义</a:t>
            </a:r>
            <a:endParaRPr lang="zh-CN" altLang="en-US" dirty="0"/>
          </a:p>
        </p:txBody>
      </p:sp>
      <p:sp>
        <p:nvSpPr>
          <p:cNvPr id="229388" name="Rectangle 12"/>
          <p:cNvSpPr>
            <a:spLocks noGrp="1"/>
          </p:cNvSpPr>
          <p:nvPr>
            <p:ph idx="1"/>
          </p:nvPr>
        </p:nvSpPr>
        <p:spPr>
          <a:xfrm>
            <a:off x="323850" y="3140075"/>
            <a:ext cx="8569325" cy="3529013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lnSpc>
                <a:spcPct val="124000"/>
              </a:lnSpc>
              <a:buNone/>
            </a:pPr>
            <a:r>
              <a:rPr lang="zh-CN" altLang="en-US" dirty="0">
                <a:solidFill>
                  <a:srgbClr val="CC0066"/>
                </a:solidFill>
              </a:rPr>
              <a:t>函数类型 函数名（形参表）</a:t>
            </a:r>
            <a:r>
              <a:rPr lang="zh-CN" altLang="en-US" dirty="0"/>
              <a:t>	</a:t>
            </a:r>
            <a:r>
              <a:rPr lang="en-US" altLang="zh-CN"/>
              <a:t>/* </a:t>
            </a:r>
            <a:r>
              <a:rPr lang="zh-CN" altLang="en-US" dirty="0"/>
              <a:t>函数首部 *</a:t>
            </a:r>
            <a:r>
              <a:rPr lang="en-US" altLang="zh-CN"/>
              <a:t>/</a:t>
            </a:r>
            <a:endParaRPr lang="en-US" altLang="zh-CN"/>
          </a:p>
          <a:p>
            <a:pPr lvl="1" algn="just" eaLnBrk="1" hangingPunct="1">
              <a:lnSpc>
                <a:spcPct val="124000"/>
              </a:lnSpc>
              <a:buNone/>
            </a:pPr>
            <a:r>
              <a:rPr lang="en-US" altLang="zh-CN">
                <a:solidFill>
                  <a:srgbClr val="CC0066"/>
                </a:solidFill>
              </a:rPr>
              <a:t>{</a:t>
            </a:r>
            <a:r>
              <a:rPr lang="en-US" altLang="zh-CN"/>
              <a:t>                        	      </a:t>
            </a:r>
            <a:r>
              <a:rPr lang="zh-CN" altLang="en-US"/>
              <a:t> </a:t>
            </a:r>
            <a:r>
              <a:rPr lang="en-US" altLang="zh-CN"/>
              <a:t> /* </a:t>
            </a:r>
            <a:r>
              <a:rPr lang="zh-CN" altLang="en-US" dirty="0"/>
              <a:t>函数体 *</a:t>
            </a:r>
            <a:r>
              <a:rPr lang="en-US" altLang="zh-CN"/>
              <a:t>/</a:t>
            </a:r>
            <a:endParaRPr lang="en-US" altLang="zh-CN"/>
          </a:p>
          <a:p>
            <a:pPr lvl="1" algn="just" eaLnBrk="1" hangingPunct="1">
              <a:lnSpc>
                <a:spcPct val="124000"/>
              </a:lnSpc>
              <a:buNone/>
            </a:pPr>
            <a:r>
              <a:rPr lang="en-US" altLang="zh-CN"/>
              <a:t>    </a:t>
            </a:r>
            <a:r>
              <a:rPr lang="zh-CN" altLang="en-US" dirty="0"/>
              <a:t>函数实现过程</a:t>
            </a:r>
            <a:endParaRPr lang="zh-CN" altLang="en-US" dirty="0"/>
          </a:p>
          <a:p>
            <a:pPr lvl="1" algn="just" eaLnBrk="1" hangingPunct="1">
              <a:lnSpc>
                <a:spcPct val="124000"/>
              </a:lnSpc>
              <a:buNone/>
            </a:pPr>
            <a:r>
              <a:rPr lang="zh-CN" altLang="en-US" dirty="0"/>
              <a:t>    </a:t>
            </a:r>
            <a:r>
              <a:rPr lang="en-US" altLang="zh-CN">
                <a:solidFill>
                  <a:schemeClr val="bg2"/>
                </a:solidFill>
              </a:rPr>
              <a:t>return </a:t>
            </a:r>
            <a:r>
              <a:rPr lang="zh-CN" altLang="en-US" dirty="0">
                <a:solidFill>
                  <a:schemeClr val="bg2"/>
                </a:solidFill>
              </a:rPr>
              <a:t>表达式；</a:t>
            </a:r>
            <a:endParaRPr lang="zh-CN" altLang="en-US" dirty="0">
              <a:solidFill>
                <a:schemeClr val="bg2"/>
              </a:solidFill>
            </a:endParaRPr>
          </a:p>
          <a:p>
            <a:pPr lvl="1" algn="just" eaLnBrk="1" hangingPunct="1">
              <a:lnSpc>
                <a:spcPct val="124000"/>
              </a:lnSpc>
              <a:buNone/>
            </a:pPr>
            <a:r>
              <a:rPr lang="en-US" altLang="zh-CN">
                <a:solidFill>
                  <a:srgbClr val="CC0066"/>
                </a:solidFill>
              </a:rPr>
              <a:t>}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4340" name="Rectangle 4"/>
          <p:cNvSpPr/>
          <p:nvPr/>
        </p:nvSpPr>
        <p:spPr>
          <a:xfrm>
            <a:off x="457200" y="2514600"/>
            <a:ext cx="8686800" cy="434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endParaRPr lang="zh-CN" altLang="en-US" sz="2800" b="0" dirty="0">
              <a:solidFill>
                <a:srgbClr val="FFFF00"/>
              </a:solidFill>
              <a:latin typeface="Arial" panose="02080604020202020204" pitchFamily="34" charset="0"/>
            </a:endParaRPr>
          </a:p>
        </p:txBody>
      </p:sp>
      <p:sp>
        <p:nvSpPr>
          <p:cNvPr id="229390" name="Line 14"/>
          <p:cNvSpPr/>
          <p:nvPr/>
        </p:nvSpPr>
        <p:spPr>
          <a:xfrm>
            <a:off x="2051050" y="3716338"/>
            <a:ext cx="685800" cy="137160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9391" name="Text Box 15"/>
          <p:cNvSpPr txBox="1"/>
          <p:nvPr/>
        </p:nvSpPr>
        <p:spPr>
          <a:xfrm>
            <a:off x="4429125" y="5876925"/>
            <a:ext cx="4608513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把函数运算的结果回送给主函数</a:t>
            </a:r>
            <a:endParaRPr lang="zh-CN" altLang="en-US" dirty="0">
              <a:solidFill>
                <a:schemeClr val="bg2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229393" name="Text Box 17"/>
          <p:cNvSpPr txBox="1"/>
          <p:nvPr/>
        </p:nvSpPr>
        <p:spPr>
          <a:xfrm>
            <a:off x="4500563" y="5411788"/>
            <a:ext cx="2447925" cy="4667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只能返回一个值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29395" name="Line 19"/>
          <p:cNvSpPr/>
          <p:nvPr/>
        </p:nvSpPr>
        <p:spPr>
          <a:xfrm flipH="1">
            <a:off x="1547813" y="2759075"/>
            <a:ext cx="239712" cy="525463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9396" name="Rectangle 20"/>
          <p:cNvSpPr/>
          <p:nvPr/>
        </p:nvSpPr>
        <p:spPr>
          <a:xfrm>
            <a:off x="539750" y="2347913"/>
            <a:ext cx="30416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函数返回值的类型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29397" name="AutoShape 21"/>
          <p:cNvSpPr/>
          <p:nvPr/>
        </p:nvSpPr>
        <p:spPr>
          <a:xfrm>
            <a:off x="5508625" y="2276475"/>
            <a:ext cx="1447800" cy="533400"/>
          </a:xfrm>
          <a:prstGeom prst="wedgeRectCallout">
            <a:avLst>
              <a:gd name="adj1" fmla="val -68662"/>
              <a:gd name="adj2" fmla="val 174523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dirty="0">
                <a:latin typeface="Arial" panose="02080604020202020204" pitchFamily="34" charset="0"/>
              </a:rPr>
              <a:t>没有分号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4347" name="Rectangle 23"/>
          <p:cNvSpPr/>
          <p:nvPr/>
        </p:nvSpPr>
        <p:spPr>
          <a:xfrm>
            <a:off x="252413" y="549275"/>
            <a:ext cx="5670550" cy="16287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double cylinder (double r, double h)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{</a:t>
            </a:r>
            <a:r>
              <a:rPr lang="en-US" altLang="zh-CN" sz="2000">
                <a:latin typeface="Arial" panose="02080604020202020204" pitchFamily="34" charset="0"/>
              </a:rPr>
              <a:t>   double result;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    result = 3.1415926 * r * r * h; 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    </a:t>
            </a:r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</a:rPr>
              <a:t>return result;</a:t>
            </a:r>
            <a:endParaRPr lang="en-US" altLang="zh-CN" sz="2000">
              <a:solidFill>
                <a:schemeClr val="bg2"/>
              </a:solidFill>
              <a:latin typeface="Arial" panose="02080604020202020204" pitchFamily="34" charset="0"/>
            </a:endParaRPr>
          </a:p>
          <a:p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}</a:t>
            </a:r>
            <a:endParaRPr lang="zh-CN" altLang="en-US" sz="2000" dirty="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229400" name="Line 24"/>
          <p:cNvSpPr/>
          <p:nvPr/>
        </p:nvSpPr>
        <p:spPr>
          <a:xfrm flipH="1" flipV="1">
            <a:off x="4029075" y="5878513"/>
            <a:ext cx="400050" cy="21590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93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charRg st="2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9388">
                                            <p:txEl>
                                              <p:charRg st="2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9388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charRg st="92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9388">
                                            <p:txEl>
                                              <p:charRg st="92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charRg st="10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9388">
                                            <p:txEl>
                                              <p:charRg st="108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8" grpId="0" build="p"/>
      <p:bldP spid="229391" grpId="0" bldLvl="0" animBg="1"/>
      <p:bldP spid="229393" grpId="0" bldLvl="0" animBg="1"/>
      <p:bldP spid="229396" grpId="0"/>
      <p:bldP spid="22939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827088" y="620713"/>
            <a:ext cx="1811337" cy="5953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形参</a:t>
            </a:r>
            <a:endParaRPr lang="zh-CN" altLang="en-US" sz="4000" dirty="0"/>
          </a:p>
        </p:txBody>
      </p:sp>
      <p:sp>
        <p:nvSpPr>
          <p:cNvPr id="392195" name="Rectangle 3"/>
          <p:cNvSpPr>
            <a:spLocks noGrp="1"/>
          </p:cNvSpPr>
          <p:nvPr>
            <p:ph idx="1"/>
          </p:nvPr>
        </p:nvSpPr>
        <p:spPr>
          <a:xfrm>
            <a:off x="395288" y="4437063"/>
            <a:ext cx="8424862" cy="100806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CC0066"/>
                </a:solidFill>
              </a:rPr>
              <a:t>类型</a:t>
            </a:r>
            <a:r>
              <a:rPr lang="en-US" altLang="zh-CN" sz="2400">
                <a:solidFill>
                  <a:srgbClr val="CC0066"/>
                </a:solidFill>
              </a:rPr>
              <a:t>1  </a:t>
            </a:r>
            <a:r>
              <a:rPr lang="zh-CN" altLang="en-US" sz="2400" dirty="0">
                <a:solidFill>
                  <a:srgbClr val="CC0066"/>
                </a:solidFill>
              </a:rPr>
              <a:t>参数</a:t>
            </a:r>
            <a:r>
              <a:rPr lang="en-US" altLang="zh-CN" sz="2400">
                <a:solidFill>
                  <a:srgbClr val="CC0066"/>
                </a:solidFill>
              </a:rPr>
              <a:t>1 </a:t>
            </a:r>
            <a:r>
              <a:rPr lang="zh-CN" altLang="en-US" sz="2400" dirty="0">
                <a:solidFill>
                  <a:srgbClr val="CC0066"/>
                </a:solidFill>
              </a:rPr>
              <a:t>，类型</a:t>
            </a:r>
            <a:r>
              <a:rPr lang="en-US" altLang="zh-CN" sz="2400">
                <a:solidFill>
                  <a:srgbClr val="CC0066"/>
                </a:solidFill>
              </a:rPr>
              <a:t>2  </a:t>
            </a:r>
            <a:r>
              <a:rPr lang="zh-CN" altLang="en-US" sz="2400" dirty="0">
                <a:solidFill>
                  <a:srgbClr val="CC0066"/>
                </a:solidFill>
              </a:rPr>
              <a:t>参数</a:t>
            </a:r>
            <a:r>
              <a:rPr lang="en-US" altLang="zh-CN" sz="2400">
                <a:solidFill>
                  <a:srgbClr val="CC0066"/>
                </a:solidFill>
              </a:rPr>
              <a:t>2 </a:t>
            </a:r>
            <a:r>
              <a:rPr lang="zh-CN" altLang="en-US" sz="2400" dirty="0">
                <a:solidFill>
                  <a:srgbClr val="CC0066"/>
                </a:solidFill>
              </a:rPr>
              <a:t>，</a:t>
            </a:r>
            <a:r>
              <a:rPr lang="en-US" altLang="zh-CN" sz="2400">
                <a:solidFill>
                  <a:srgbClr val="CC0066"/>
                </a:solidFill>
              </a:rPr>
              <a:t>……</a:t>
            </a:r>
            <a:r>
              <a:rPr lang="zh-CN" altLang="en-US" sz="2400" dirty="0">
                <a:solidFill>
                  <a:srgbClr val="CC0066"/>
                </a:solidFill>
              </a:rPr>
              <a:t>，类型</a:t>
            </a:r>
            <a:r>
              <a:rPr lang="en-US" altLang="zh-CN" sz="2400">
                <a:solidFill>
                  <a:srgbClr val="CC0066"/>
                </a:solidFill>
              </a:rPr>
              <a:t>n  </a:t>
            </a:r>
            <a:r>
              <a:rPr lang="zh-CN" altLang="en-US" sz="2400" dirty="0">
                <a:solidFill>
                  <a:srgbClr val="CC0066"/>
                </a:solidFill>
              </a:rPr>
              <a:t>参数</a:t>
            </a:r>
            <a:r>
              <a:rPr lang="en-US" altLang="zh-CN" sz="2400">
                <a:solidFill>
                  <a:srgbClr val="CC0066"/>
                </a:solidFill>
              </a:rPr>
              <a:t>n</a:t>
            </a:r>
            <a:endParaRPr lang="en-US" altLang="zh-CN" sz="2400">
              <a:solidFill>
                <a:srgbClr val="CC0066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400" dirty="0"/>
              <a:t>参数之间用逗号分隔，每个参数前面的类型都必须分别写明</a:t>
            </a:r>
            <a:endParaRPr lang="zh-CN" altLang="en-US" sz="2400" dirty="0"/>
          </a:p>
        </p:txBody>
      </p:sp>
      <p:sp>
        <p:nvSpPr>
          <p:cNvPr id="16388" name="Rectangle 4"/>
          <p:cNvSpPr/>
          <p:nvPr/>
        </p:nvSpPr>
        <p:spPr>
          <a:xfrm>
            <a:off x="5003800" y="265113"/>
            <a:ext cx="4032250" cy="19304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rgbClr val="CC0066"/>
                </a:solidFill>
                <a:latin typeface="Arial" panose="02080604020202020204" pitchFamily="34" charset="0"/>
              </a:rPr>
              <a:t>函数类型 函数名（形参表）</a:t>
            </a:r>
            <a:r>
              <a:rPr lang="en-US" altLang="zh-CN">
                <a:solidFill>
                  <a:srgbClr val="CC0066"/>
                </a:solidFill>
                <a:latin typeface="Arial" panose="02080604020202020204" pitchFamily="34" charset="0"/>
              </a:rPr>
              <a:t>{</a:t>
            </a:r>
            <a:endParaRPr lang="en-US" altLang="zh-CN">
              <a:solidFill>
                <a:srgbClr val="CC0066"/>
              </a:solidFill>
              <a:latin typeface="Arial" panose="02080604020202020204" pitchFamily="34" charset="0"/>
            </a:endParaRPr>
          </a:p>
          <a:p>
            <a:r>
              <a:rPr lang="en-US" altLang="zh-CN">
                <a:latin typeface="Arial" panose="02080604020202020204" pitchFamily="34" charset="0"/>
              </a:rPr>
              <a:t>    </a:t>
            </a:r>
            <a:r>
              <a:rPr lang="zh-CN" altLang="en-US" dirty="0">
                <a:latin typeface="Arial" panose="02080604020202020204" pitchFamily="34" charset="0"/>
              </a:rPr>
              <a:t>函数实现过程</a:t>
            </a:r>
            <a:endParaRPr lang="zh-CN" altLang="en-US" dirty="0">
              <a:latin typeface="Arial" panose="02080604020202020204" pitchFamily="34" charset="0"/>
            </a:endParaRPr>
          </a:p>
          <a:p>
            <a:r>
              <a:rPr lang="zh-CN" altLang="en-US" dirty="0">
                <a:latin typeface="Arial" panose="02080604020202020204" pitchFamily="34" charset="0"/>
              </a:rPr>
              <a:t>    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</a:rPr>
              <a:t>return </a:t>
            </a: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</a:rPr>
              <a:t>表达式；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</a:endParaRPr>
          </a:p>
          <a:p>
            <a:r>
              <a:rPr lang="en-US" altLang="zh-CN">
                <a:solidFill>
                  <a:srgbClr val="CC0066"/>
                </a:solidFill>
                <a:latin typeface="Arial" panose="02080604020202020204" pitchFamily="34" charset="0"/>
              </a:rPr>
              <a:t>}</a:t>
            </a:r>
            <a:endParaRPr lang="en-US" altLang="zh-CN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392197" name="Rectangle 5"/>
          <p:cNvSpPr/>
          <p:nvPr/>
        </p:nvSpPr>
        <p:spPr>
          <a:xfrm>
            <a:off x="1476375" y="1341438"/>
            <a:ext cx="3057525" cy="4667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latin typeface="Arial" panose="02080604020202020204" pitchFamily="34" charset="0"/>
              </a:rPr>
              <a:t>不能写成 </a:t>
            </a:r>
            <a:r>
              <a:rPr lang="en-US" altLang="zh-CN">
                <a:latin typeface="Arial" panose="02080604020202020204" pitchFamily="34" charset="0"/>
              </a:rPr>
              <a:t>double r, h</a:t>
            </a:r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16390" name="Rectangle 6"/>
          <p:cNvSpPr/>
          <p:nvPr/>
        </p:nvSpPr>
        <p:spPr>
          <a:xfrm>
            <a:off x="179388" y="2349500"/>
            <a:ext cx="5608637" cy="16303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en-US" altLang="zh-CN" sz="2000">
                <a:latin typeface="Arial" panose="02080604020202020204" pitchFamily="34" charset="0"/>
              </a:rPr>
              <a:t>double cylinder (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double r, double h</a:t>
            </a:r>
            <a:r>
              <a:rPr lang="en-US" altLang="zh-CN" sz="2000">
                <a:latin typeface="Arial" panose="02080604020202020204" pitchFamily="34" charset="0"/>
              </a:rPr>
              <a:t>)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{   double result;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    result =3.1415926 * r * r * h; 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    return result;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}</a:t>
            </a:r>
            <a:endParaRPr lang="zh-CN" altLang="en-US" sz="2000" dirty="0">
              <a:latin typeface="Arial" panose="02080604020202020204" pitchFamily="34" charset="0"/>
            </a:endParaRPr>
          </a:p>
        </p:txBody>
      </p:sp>
      <p:sp>
        <p:nvSpPr>
          <p:cNvPr id="392199" name="Line 7"/>
          <p:cNvSpPr/>
          <p:nvPr/>
        </p:nvSpPr>
        <p:spPr>
          <a:xfrm flipH="1">
            <a:off x="6521450" y="755650"/>
            <a:ext cx="1804988" cy="36925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392200" name="Line 8"/>
          <p:cNvSpPr/>
          <p:nvPr/>
        </p:nvSpPr>
        <p:spPr>
          <a:xfrm flipH="1">
            <a:off x="3851275" y="1844675"/>
            <a:ext cx="0" cy="5048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2195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/>
      <p:bldP spid="39219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7410" name="Rectangle 5"/>
          <p:cNvSpPr>
            <a:spLocks noGrp="1"/>
          </p:cNvSpPr>
          <p:nvPr>
            <p:ph idx="1"/>
          </p:nvPr>
        </p:nvSpPr>
        <p:spPr>
          <a:xfrm>
            <a:off x="323850" y="2420938"/>
            <a:ext cx="8569325" cy="38163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>
                <a:solidFill>
                  <a:srgbClr val="CC0066"/>
                </a:solidFill>
              </a:rPr>
              <a:t>double cylinder (double r, double h)</a:t>
            </a:r>
            <a:r>
              <a:rPr lang="en-US" altLang="zh-CN" sz="2400"/>
              <a:t> /* </a:t>
            </a:r>
            <a:r>
              <a:rPr lang="zh-CN" altLang="en-US" sz="2400" dirty="0">
                <a:solidFill>
                  <a:schemeClr val="bg2"/>
                </a:solidFill>
              </a:rPr>
              <a:t>函数首部 </a:t>
            </a:r>
            <a:r>
              <a:rPr lang="zh-CN" altLang="en-US" sz="2400" dirty="0"/>
              <a:t>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>
                <a:solidFill>
                  <a:srgbClr val="CC0066"/>
                </a:solidFill>
              </a:rPr>
              <a:t>{</a:t>
            </a:r>
            <a:r>
              <a:rPr lang="en-US" altLang="zh-CN" sz="2400">
                <a:solidFill>
                  <a:srgbClr val="0064C8"/>
                </a:solidFill>
              </a:rPr>
              <a:t>					</a:t>
            </a:r>
            <a:r>
              <a:rPr lang="en-US" altLang="zh-CN" sz="2400"/>
              <a:t>/* </a:t>
            </a:r>
            <a:r>
              <a:rPr lang="zh-CN" altLang="en-US" sz="2400" dirty="0">
                <a:solidFill>
                  <a:schemeClr val="bg2"/>
                </a:solidFill>
              </a:rPr>
              <a:t>函数体</a:t>
            </a:r>
            <a:r>
              <a:rPr lang="zh-CN" altLang="en-US" sz="2400" dirty="0"/>
              <a:t>，写在一对大括号内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/>
              <a:t>    double result;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/>
              <a:t>	result =3.1415926 * r * r * h;    /* </a:t>
            </a:r>
            <a:r>
              <a:rPr lang="zh-CN" altLang="en-US" sz="2400" dirty="0"/>
              <a:t>计算圆柱体积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chemeClr val="bg2"/>
                </a:solidFill>
              </a:rPr>
              <a:t>return result;</a:t>
            </a:r>
            <a:r>
              <a:rPr lang="en-US" altLang="zh-CN" sz="2400"/>
              <a:t>		               </a:t>
            </a:r>
            <a:r>
              <a:rPr lang="en-US" altLang="zh-CN" sz="2400">
                <a:solidFill>
                  <a:schemeClr val="bg2"/>
                </a:solidFill>
              </a:rPr>
              <a:t>/* </a:t>
            </a:r>
            <a:r>
              <a:rPr lang="zh-CN" altLang="en-US" sz="2400" dirty="0">
                <a:solidFill>
                  <a:schemeClr val="bg2"/>
                </a:solidFill>
              </a:rPr>
              <a:t>返回运算结果*</a:t>
            </a:r>
            <a:r>
              <a:rPr lang="en-US" altLang="zh-CN" sz="2400">
                <a:solidFill>
                  <a:schemeClr val="bg2"/>
                </a:solidFill>
              </a:rPr>
              <a:t>/</a:t>
            </a:r>
            <a:r>
              <a:rPr lang="en-US" altLang="zh-CN" sz="2400"/>
              <a:t>	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>
                <a:solidFill>
                  <a:srgbClr val="CC0066"/>
                </a:solidFill>
              </a:rPr>
              <a:t>}</a:t>
            </a:r>
            <a:endParaRPr lang="en-US" altLang="zh-CN" sz="2400">
              <a:solidFill>
                <a:srgbClr val="CC0066"/>
              </a:solidFill>
            </a:endParaRPr>
          </a:p>
        </p:txBody>
      </p:sp>
      <p:sp>
        <p:nvSpPr>
          <p:cNvPr id="17411" name="Rectangle 9"/>
          <p:cNvSpPr>
            <a:spLocks noGrp="1"/>
          </p:cNvSpPr>
          <p:nvPr>
            <p:ph type="title"/>
          </p:nvPr>
        </p:nvSpPr>
        <p:spPr>
          <a:xfrm>
            <a:off x="5003800" y="260350"/>
            <a:ext cx="3960813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分析函数的定义</a:t>
            </a:r>
            <a:endParaRPr lang="zh-CN" altLang="en-US" sz="4000" dirty="0"/>
          </a:p>
        </p:txBody>
      </p:sp>
      <p:sp>
        <p:nvSpPr>
          <p:cNvPr id="237578" name="Line 10"/>
          <p:cNvSpPr/>
          <p:nvPr/>
        </p:nvSpPr>
        <p:spPr>
          <a:xfrm flipH="1">
            <a:off x="898525" y="1862138"/>
            <a:ext cx="0" cy="5048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37579" name="Rectangle 11"/>
          <p:cNvSpPr/>
          <p:nvPr/>
        </p:nvSpPr>
        <p:spPr>
          <a:xfrm>
            <a:off x="323850" y="1341438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函数类型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37580" name="Line 12"/>
          <p:cNvSpPr/>
          <p:nvPr/>
        </p:nvSpPr>
        <p:spPr>
          <a:xfrm flipH="1">
            <a:off x="2266950" y="1935163"/>
            <a:ext cx="0" cy="5048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37581" name="Line 13"/>
          <p:cNvSpPr/>
          <p:nvPr/>
        </p:nvSpPr>
        <p:spPr>
          <a:xfrm flipH="1">
            <a:off x="3995738" y="1916113"/>
            <a:ext cx="0" cy="5048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37582" name="Rectangle 14"/>
          <p:cNvSpPr/>
          <p:nvPr/>
        </p:nvSpPr>
        <p:spPr>
          <a:xfrm>
            <a:off x="1908175" y="1484313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函数名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37583" name="Rectangle 15"/>
          <p:cNvSpPr/>
          <p:nvPr/>
        </p:nvSpPr>
        <p:spPr>
          <a:xfrm>
            <a:off x="3344863" y="1503363"/>
            <a:ext cx="11033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形参表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37584" name="Rectangle 16"/>
          <p:cNvSpPr/>
          <p:nvPr/>
        </p:nvSpPr>
        <p:spPr>
          <a:xfrm>
            <a:off x="1403350" y="5805488"/>
            <a:ext cx="2328863" cy="4206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与函数类型一致</a:t>
            </a:r>
            <a:endParaRPr lang="en-US" altLang="zh-CN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37585" name="Line 17"/>
          <p:cNvSpPr/>
          <p:nvPr/>
        </p:nvSpPr>
        <p:spPr>
          <a:xfrm flipH="1" flipV="1">
            <a:off x="2268538" y="5157788"/>
            <a:ext cx="0" cy="576262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9" grpId="0"/>
      <p:bldP spid="237582" grpId="0"/>
      <p:bldP spid="237583" grpId="0"/>
      <p:bldP spid="23758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003800" y="477838"/>
            <a:ext cx="3744913" cy="10271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/>
              <a:t>2</a:t>
            </a:r>
            <a:r>
              <a:rPr lang="zh-CN" altLang="en-US" sz="3600" dirty="0"/>
              <a:t>．不返回运算结果的函数定义</a:t>
            </a:r>
            <a:endParaRPr lang="zh-CN" altLang="en-US" sz="3600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23850" y="1916113"/>
            <a:ext cx="8569325" cy="280828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04000"/>
              </a:lnSpc>
              <a:buNone/>
            </a:pPr>
            <a:r>
              <a:rPr lang="en-US" altLang="zh-CN" sz="2800">
                <a:solidFill>
                  <a:srgbClr val="CC0066"/>
                </a:solidFill>
              </a:rPr>
              <a:t>void</a:t>
            </a:r>
            <a:r>
              <a:rPr lang="en-US" altLang="zh-CN" sz="2800"/>
              <a:t> </a:t>
            </a:r>
            <a:r>
              <a:rPr lang="zh-CN" altLang="en-US" sz="2800" dirty="0"/>
              <a:t>函数名（参数表）  	</a:t>
            </a:r>
            <a:r>
              <a:rPr lang="en-US" altLang="zh-CN" sz="2800"/>
              <a:t>/* </a:t>
            </a:r>
            <a:r>
              <a:rPr lang="zh-CN" altLang="en-US" sz="2800" dirty="0"/>
              <a:t>函数首部 *</a:t>
            </a:r>
            <a:r>
              <a:rPr lang="en-US" altLang="zh-CN" sz="2800"/>
              <a:t>/</a:t>
            </a:r>
            <a:endParaRPr lang="en-US" altLang="zh-CN" sz="2800"/>
          </a:p>
          <a:p>
            <a:pPr algn="just" eaLnBrk="1" hangingPunct="1">
              <a:lnSpc>
                <a:spcPct val="104000"/>
              </a:lnSpc>
              <a:buNone/>
            </a:pPr>
            <a:r>
              <a:rPr lang="en-US" altLang="zh-CN" sz="2800"/>
              <a:t>{                    			/* </a:t>
            </a:r>
            <a:r>
              <a:rPr lang="zh-CN" altLang="en-US" sz="2800" dirty="0"/>
              <a:t>函数体 *</a:t>
            </a:r>
            <a:r>
              <a:rPr lang="en-US" altLang="zh-CN" sz="2800"/>
              <a:t>/</a:t>
            </a:r>
            <a:endParaRPr lang="en-US" altLang="zh-CN" sz="2800"/>
          </a:p>
          <a:p>
            <a:pPr algn="just" eaLnBrk="1" hangingPunct="1">
              <a:lnSpc>
                <a:spcPct val="104000"/>
              </a:lnSpc>
              <a:buNone/>
            </a:pPr>
            <a:r>
              <a:rPr lang="en-US" altLang="zh-CN" sz="2800"/>
              <a:t>    </a:t>
            </a:r>
            <a:r>
              <a:rPr lang="zh-CN" altLang="en-US" sz="2800" dirty="0"/>
              <a:t>函数实现过程</a:t>
            </a:r>
            <a:endParaRPr lang="zh-CN" altLang="en-US" sz="2800" dirty="0"/>
          </a:p>
          <a:p>
            <a:pPr algn="just" eaLnBrk="1" hangingPunct="1">
              <a:lnSpc>
                <a:spcPct val="104000"/>
              </a:lnSpc>
              <a:buNone/>
            </a:pPr>
            <a:r>
              <a:rPr lang="zh-CN" altLang="en-US" sz="2800" dirty="0"/>
              <a:t>    </a:t>
            </a:r>
            <a:r>
              <a:rPr lang="en-US" altLang="zh-CN" sz="2800">
                <a:solidFill>
                  <a:schemeClr val="bg2"/>
                </a:solidFill>
              </a:rPr>
              <a:t>return</a:t>
            </a:r>
            <a:r>
              <a:rPr lang="zh-CN" altLang="en-US" sz="2800" dirty="0">
                <a:solidFill>
                  <a:schemeClr val="bg2"/>
                </a:solidFill>
              </a:rPr>
              <a:t>；</a:t>
            </a:r>
            <a:r>
              <a:rPr lang="zh-CN" altLang="en-US" sz="2800" dirty="0"/>
              <a:t>          		</a:t>
            </a:r>
            <a:r>
              <a:rPr lang="en-US" altLang="zh-CN" sz="2800"/>
              <a:t>/* </a:t>
            </a:r>
            <a:r>
              <a:rPr lang="zh-CN" altLang="en-US" sz="2800" dirty="0"/>
              <a:t>可以省略</a:t>
            </a:r>
            <a:r>
              <a:rPr lang="en-US" altLang="zh-CN" sz="2800"/>
              <a:t>return */</a:t>
            </a:r>
            <a:endParaRPr lang="en-US" altLang="zh-CN" sz="2800"/>
          </a:p>
          <a:p>
            <a:pPr algn="just" eaLnBrk="1" hangingPunct="1">
              <a:lnSpc>
                <a:spcPct val="104000"/>
              </a:lnSpc>
              <a:buNone/>
            </a:pPr>
            <a:r>
              <a:rPr lang="en-US" altLang="zh-CN" sz="2800"/>
              <a:t>}</a:t>
            </a:r>
            <a:endParaRPr lang="zh-CN" altLang="en-US" sz="2800" dirty="0"/>
          </a:p>
        </p:txBody>
      </p:sp>
      <p:sp>
        <p:nvSpPr>
          <p:cNvPr id="390148" name="Text Box 4"/>
          <p:cNvSpPr txBox="1"/>
          <p:nvPr/>
        </p:nvSpPr>
        <p:spPr>
          <a:xfrm>
            <a:off x="3779838" y="4581525"/>
            <a:ext cx="4464050" cy="50641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Arial" panose="02080604020202020204" pitchFamily="34" charset="0"/>
              </a:rPr>
              <a:t>这类函数通常用于屏幕输出等</a:t>
            </a:r>
            <a:endParaRPr lang="zh-CN" altLang="en-US" b="0" dirty="0">
              <a:latin typeface="Arial" panose="02080604020202020204" pitchFamily="34" charset="0"/>
            </a:endParaRPr>
          </a:p>
        </p:txBody>
      </p:sp>
      <p:sp>
        <p:nvSpPr>
          <p:cNvPr id="390151" name="Line 7"/>
          <p:cNvSpPr/>
          <p:nvPr/>
        </p:nvSpPr>
        <p:spPr>
          <a:xfrm flipH="1">
            <a:off x="898525" y="1428750"/>
            <a:ext cx="0" cy="5048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0152" name="Rectangle 8"/>
          <p:cNvSpPr/>
          <p:nvPr/>
        </p:nvSpPr>
        <p:spPr>
          <a:xfrm>
            <a:off x="250825" y="908050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表示不返回结果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390153" name="Rectangle 9"/>
          <p:cNvSpPr/>
          <p:nvPr/>
        </p:nvSpPr>
        <p:spPr>
          <a:xfrm>
            <a:off x="468313" y="5300663"/>
            <a:ext cx="5111750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不能省略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  <a:p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否则函数类型被默认定义为</a:t>
            </a:r>
            <a:r>
              <a:rPr lang="en-US" altLang="zh-CN" err="1">
                <a:solidFill>
                  <a:srgbClr val="CC0066"/>
                </a:solidFill>
                <a:latin typeface="Arial" panose="02080604020202020204" pitchFamily="34" charset="0"/>
                <a:ea typeface="仿宋_GB2312" pitchFamily="49" charset="-122"/>
              </a:rPr>
              <a:t>int</a:t>
            </a:r>
            <a:endParaRPr lang="zh-CN" altLang="en-US" dirty="0">
              <a:solidFill>
                <a:srgbClr val="CC0066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390154" name="Line 10"/>
          <p:cNvSpPr/>
          <p:nvPr/>
        </p:nvSpPr>
        <p:spPr>
          <a:xfrm flipH="1" flipV="1">
            <a:off x="611188" y="2420938"/>
            <a:ext cx="0" cy="28797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8" grpId="0" bldLvl="0" animBg="1"/>
      <p:bldP spid="390152" grpId="0"/>
      <p:bldP spid="3901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/>
              <a:t>5-2  </a:t>
            </a:r>
            <a:r>
              <a:rPr lang="zh-CN" altLang="en-US" sz="4000" dirty="0"/>
              <a:t>输出</a:t>
            </a:r>
            <a:r>
              <a:rPr lang="en-US" altLang="zh-CN" sz="4000"/>
              <a:t>5</a:t>
            </a:r>
            <a:r>
              <a:rPr lang="zh-CN" altLang="en-US" sz="4000" dirty="0"/>
              <a:t>之内的数字金字塔。</a:t>
            </a:r>
            <a:endParaRPr lang="zh-CN" altLang="en-US" sz="4000" dirty="0"/>
          </a:p>
        </p:txBody>
      </p:sp>
      <p:sp>
        <p:nvSpPr>
          <p:cNvPr id="391171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7272338" cy="54721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/* </a:t>
            </a:r>
            <a:r>
              <a:rPr lang="zh-CN" altLang="en-US" sz="1800" dirty="0"/>
              <a:t>输出数字金字塔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#include &lt;</a:t>
            </a:r>
            <a:r>
              <a:rPr lang="en-US" altLang="zh-CN" sz="1800" err="1"/>
              <a:t>stdio.h</a:t>
            </a:r>
            <a:r>
              <a:rPr lang="en-US" altLang="zh-CN" sz="1800"/>
              <a:t>&gt;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err="1"/>
              <a:t>int</a:t>
            </a:r>
            <a:r>
              <a:rPr lang="en-US" altLang="zh-CN" sz="1800"/>
              <a:t> main (void)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{   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</a:t>
            </a:r>
            <a:r>
              <a:rPr lang="en-US" altLang="zh-CN" sz="1800">
                <a:solidFill>
                  <a:srgbClr val="CC0066"/>
                </a:solidFill>
              </a:rPr>
              <a:t>void pyramid (</a:t>
            </a:r>
            <a:r>
              <a:rPr lang="en-US" altLang="zh-CN" sz="1800" err="1">
                <a:solidFill>
                  <a:srgbClr val="CC0066"/>
                </a:solidFill>
              </a:rPr>
              <a:t>int</a:t>
            </a:r>
            <a:r>
              <a:rPr lang="en-US" altLang="zh-CN" sz="1800">
                <a:solidFill>
                  <a:srgbClr val="CC0066"/>
                </a:solidFill>
              </a:rPr>
              <a:t> n);</a:t>
            </a:r>
            <a:r>
              <a:rPr lang="en-US" altLang="zh-CN" sz="1800"/>
              <a:t>		/* </a:t>
            </a:r>
            <a:r>
              <a:rPr lang="zh-CN" altLang="en-US" sz="1800" dirty="0">
                <a:solidFill>
                  <a:schemeClr val="bg2"/>
                </a:solidFill>
              </a:rPr>
              <a:t>函数声明</a:t>
            </a:r>
            <a:r>
              <a:rPr lang="zh-CN" altLang="en-US" sz="1800" dirty="0"/>
              <a:t>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</a:t>
            </a:r>
            <a:r>
              <a:rPr lang="en-US" altLang="zh-CN" sz="1800">
                <a:solidFill>
                  <a:schemeClr val="bg2"/>
                </a:solidFill>
              </a:rPr>
              <a:t>pyramid(5);</a:t>
            </a:r>
            <a:r>
              <a:rPr lang="en-US" altLang="zh-CN" sz="1800"/>
              <a:t>		/* </a:t>
            </a:r>
            <a:r>
              <a:rPr lang="zh-CN" altLang="en-US" sz="1800" dirty="0"/>
              <a:t>调用函数，输出数字金字塔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return 0;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}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CC0066"/>
                </a:solidFill>
              </a:rPr>
              <a:t>void pyramid (</a:t>
            </a:r>
            <a:r>
              <a:rPr lang="en-US" altLang="zh-CN" sz="1800" err="1">
                <a:solidFill>
                  <a:srgbClr val="CC0066"/>
                </a:solidFill>
              </a:rPr>
              <a:t>int</a:t>
            </a:r>
            <a:r>
              <a:rPr lang="en-US" altLang="zh-CN" sz="1800">
                <a:solidFill>
                  <a:srgbClr val="CC0066"/>
                </a:solidFill>
              </a:rPr>
              <a:t> n)</a:t>
            </a:r>
            <a:r>
              <a:rPr lang="en-US" altLang="zh-CN" sz="1800"/>
              <a:t>               	/* </a:t>
            </a:r>
            <a:r>
              <a:rPr lang="zh-CN" altLang="en-US" sz="1800" dirty="0">
                <a:solidFill>
                  <a:schemeClr val="bg2"/>
                </a:solidFill>
              </a:rPr>
              <a:t>函数定义</a:t>
            </a:r>
            <a:r>
              <a:rPr lang="zh-CN" altLang="en-US" sz="1800" dirty="0"/>
              <a:t>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{		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</a:t>
            </a:r>
            <a:r>
              <a:rPr lang="en-US" altLang="zh-CN" sz="1800" err="1"/>
              <a:t>int</a:t>
            </a:r>
            <a:r>
              <a:rPr lang="en-US" altLang="zh-CN" sz="1800"/>
              <a:t> i, j;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for (i = 1; i &lt;= n; i++){	/* </a:t>
            </a:r>
            <a:r>
              <a:rPr lang="zh-CN" altLang="en-US" sz="1800" dirty="0"/>
              <a:t>需要输出的行数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    for (j = 1; j &lt;= </a:t>
            </a:r>
            <a:r>
              <a:rPr lang="en-US" altLang="zh-CN" sz="1800" err="1"/>
              <a:t>n-i</a:t>
            </a:r>
            <a:r>
              <a:rPr lang="en-US" altLang="zh-CN" sz="1800"/>
              <a:t>; j++) /* </a:t>
            </a:r>
            <a:r>
              <a:rPr lang="zh-CN" altLang="en-US" sz="1800" dirty="0"/>
              <a:t>输出每行左边的空格 *</a:t>
            </a:r>
            <a:r>
              <a:rPr lang="en-US" altLang="zh-CN" sz="1800"/>
              <a:t>/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	</a:t>
            </a:r>
            <a:r>
              <a:rPr lang="en-US" altLang="zh-CN" sz="1800" err="1"/>
              <a:t>printf</a:t>
            </a:r>
            <a:r>
              <a:rPr lang="en-US" altLang="zh-CN" sz="1800"/>
              <a:t>(" ");	        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    for (j = 1; j &lt;= i; j++)  	/</a:t>
            </a:r>
            <a:r>
              <a:rPr lang="zh-CN" altLang="en-US" sz="1800" dirty="0"/>
              <a:t>* 输出每行的数字 *</a:t>
            </a:r>
            <a:r>
              <a:rPr lang="en-US" altLang="zh-CN" sz="1800"/>
              <a:t>/ 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	</a:t>
            </a:r>
            <a:r>
              <a:rPr lang="en-US" altLang="zh-CN" sz="1800" err="1"/>
              <a:t>printf(“%d</a:t>
            </a:r>
            <a:r>
              <a:rPr lang="en-US" altLang="zh-CN" sz="1800"/>
              <a:t>  ”, i);	/</a:t>
            </a:r>
            <a:r>
              <a:rPr lang="zh-CN" altLang="en-US" sz="1800" dirty="0"/>
              <a:t>* 每个数字的后面有一个空格 *</a:t>
            </a:r>
            <a:r>
              <a:rPr lang="en-US" altLang="zh-CN" sz="1800"/>
              <a:t>/ 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    </a:t>
            </a:r>
            <a:r>
              <a:rPr lang="en-US" altLang="zh-CN" sz="1800" err="1"/>
              <a:t>putchar</a:t>
            </a:r>
            <a:r>
              <a:rPr lang="en-US" altLang="zh-CN" sz="1800"/>
              <a:t> ('\n');			    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	}</a:t>
            </a:r>
            <a:endParaRPr lang="en-US" altLang="zh-CN" sz="18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/>
              <a:t>}</a:t>
            </a:r>
            <a:endParaRPr lang="zh-CN" altLang="en-US" sz="1800" dirty="0"/>
          </a:p>
        </p:txBody>
      </p:sp>
      <p:sp>
        <p:nvSpPr>
          <p:cNvPr id="19460" name="Text Box 4"/>
          <p:cNvSpPr txBox="1"/>
          <p:nvPr/>
        </p:nvSpPr>
        <p:spPr>
          <a:xfrm>
            <a:off x="6804025" y="2968625"/>
            <a:ext cx="2305050" cy="1936750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b="0">
                <a:latin typeface="Arial" panose="02080604020202020204" pitchFamily="34" charset="0"/>
              </a:rPr>
              <a:t> </a:t>
            </a:r>
            <a:r>
              <a:rPr lang="en-US" altLang="zh-CN">
                <a:latin typeface="Arial" panose="02080604020202020204" pitchFamily="34" charset="0"/>
              </a:rPr>
              <a:t>1</a:t>
            </a:r>
            <a:endParaRPr lang="en-US" altLang="zh-CN">
              <a:latin typeface="Arial" panose="02080604020202020204" pitchFamily="34" charset="0"/>
            </a:endParaRPr>
          </a:p>
          <a:p>
            <a:pPr algn="ctr"/>
            <a:r>
              <a:rPr lang="en-US" altLang="zh-CN">
                <a:latin typeface="Arial" panose="02080604020202020204" pitchFamily="34" charset="0"/>
              </a:rPr>
              <a:t>2  2</a:t>
            </a:r>
            <a:endParaRPr lang="en-US" altLang="zh-CN">
              <a:latin typeface="Arial" panose="02080604020202020204" pitchFamily="34" charset="0"/>
            </a:endParaRPr>
          </a:p>
          <a:p>
            <a:pPr algn="ctr"/>
            <a:r>
              <a:rPr lang="en-US" altLang="zh-CN">
                <a:latin typeface="Arial" panose="02080604020202020204" pitchFamily="34" charset="0"/>
              </a:rPr>
              <a:t>  3  3  3</a:t>
            </a:r>
            <a:endParaRPr lang="en-US" altLang="zh-CN">
              <a:latin typeface="Arial" panose="02080604020202020204" pitchFamily="34" charset="0"/>
            </a:endParaRPr>
          </a:p>
          <a:p>
            <a:pPr algn="ctr"/>
            <a:r>
              <a:rPr lang="en-US" altLang="zh-CN">
                <a:latin typeface="Arial" panose="02080604020202020204" pitchFamily="34" charset="0"/>
              </a:rPr>
              <a:t> 4  4  4  4</a:t>
            </a:r>
            <a:endParaRPr lang="en-US" altLang="zh-CN">
              <a:latin typeface="Arial" panose="02080604020202020204" pitchFamily="34" charset="0"/>
            </a:endParaRPr>
          </a:p>
          <a:p>
            <a:pPr algn="ctr"/>
            <a:r>
              <a:rPr lang="en-US" altLang="zh-CN">
                <a:latin typeface="Arial" panose="02080604020202020204" pitchFamily="34" charset="0"/>
              </a:rPr>
              <a:t>5  5  5  5  5</a:t>
            </a:r>
            <a:r>
              <a:rPr lang="en-US" altLang="zh-CN" b="0">
                <a:latin typeface="Arial" panose="02080604020202020204" pitchFamily="34" charset="0"/>
              </a:rPr>
              <a:t> </a:t>
            </a:r>
            <a:endParaRPr lang="zh-CN" altLang="en-US" b="0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5.1.3  </a:t>
            </a:r>
            <a:r>
              <a:rPr lang="zh-CN" altLang="en-US" dirty="0"/>
              <a:t>函数的调用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23850" y="1989138"/>
            <a:ext cx="8569325" cy="40322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定义一个函数后，就可以在程序中调用这个函数。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调用标准库函数时，在程序的最前面用</a:t>
            </a:r>
            <a:r>
              <a:rPr lang="en-US" altLang="zh-CN">
                <a:solidFill>
                  <a:schemeClr val="bg2"/>
                </a:solidFill>
              </a:rPr>
              <a:t>#include</a:t>
            </a:r>
            <a:r>
              <a:rPr lang="zh-CN" altLang="en-US" dirty="0"/>
              <a:t>命令包含相应的头文件。</a:t>
            </a:r>
            <a:endParaRPr lang="zh-CN" altLang="en-US" dirty="0"/>
          </a:p>
          <a:p>
            <a:pPr eaLnBrk="1" hangingPunct="1"/>
            <a:r>
              <a:rPr lang="zh-CN" altLang="en-US" dirty="0"/>
              <a:t>调用自定义函数时，程序中必须有与调用函数相对应的函数定义。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02588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1</a:t>
            </a:r>
            <a:r>
              <a:rPr lang="zh-CN" altLang="en-US" dirty="0"/>
              <a:t>．函数调用的形式和过程</a:t>
            </a:r>
            <a:endParaRPr lang="zh-CN" altLang="en-US" dirty="0"/>
          </a:p>
        </p:txBody>
      </p:sp>
      <p:sp>
        <p:nvSpPr>
          <p:cNvPr id="394243" name="Rectangle 3"/>
          <p:cNvSpPr>
            <a:spLocks noGrp="1"/>
          </p:cNvSpPr>
          <p:nvPr>
            <p:ph idx="1"/>
          </p:nvPr>
        </p:nvSpPr>
        <p:spPr>
          <a:xfrm>
            <a:off x="468313" y="2781300"/>
            <a:ext cx="8351837" cy="340995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使用返回值：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en-US" altLang="zh-CN"/>
              <a:t>volume = </a:t>
            </a:r>
            <a:r>
              <a:rPr lang="en-US" altLang="zh-CN">
                <a:solidFill>
                  <a:srgbClr val="CC0066"/>
                </a:solidFill>
              </a:rPr>
              <a:t>cylinder (radius, height )</a:t>
            </a:r>
            <a:r>
              <a:rPr lang="en-US" altLang="zh-CN"/>
              <a:t>;</a:t>
            </a:r>
            <a:endParaRPr lang="en-US" altLang="zh-CN"/>
          </a:p>
          <a:p>
            <a:pPr lvl="1" algn="just" eaLnBrk="1" hangingPunct="1">
              <a:buNone/>
            </a:pPr>
            <a:r>
              <a:rPr lang="en-US" altLang="zh-CN" err="1"/>
              <a:t>printf(“%f</a:t>
            </a:r>
            <a:r>
              <a:rPr lang="en-US" altLang="zh-CN"/>
              <a:t> \n”,</a:t>
            </a:r>
            <a:r>
              <a:rPr lang="en-US" altLang="zh-CN">
                <a:solidFill>
                  <a:srgbClr val="CC0066"/>
                </a:solidFill>
              </a:rPr>
              <a:t>cylinder (radius, height )</a:t>
            </a:r>
            <a:r>
              <a:rPr lang="en-US" altLang="zh-CN"/>
              <a:t>);</a:t>
            </a:r>
            <a:endParaRPr lang="en-US" altLang="zh-CN"/>
          </a:p>
          <a:p>
            <a:pPr algn="just" eaLnBrk="1" hangingPunct="1"/>
            <a:r>
              <a:rPr lang="zh-CN" altLang="en-US" dirty="0"/>
              <a:t>完成操作：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en-US" altLang="zh-CN"/>
              <a:t>pyramid(5);</a:t>
            </a:r>
            <a:endParaRPr lang="en-US" altLang="zh-CN"/>
          </a:p>
        </p:txBody>
      </p:sp>
      <p:sp>
        <p:nvSpPr>
          <p:cNvPr id="394244" name="Rectangle 4"/>
          <p:cNvSpPr/>
          <p:nvPr/>
        </p:nvSpPr>
        <p:spPr>
          <a:xfrm>
            <a:off x="3563938" y="5445125"/>
            <a:ext cx="3863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常用于</a:t>
            </a:r>
            <a:r>
              <a:rPr lang="en-US" altLang="zh-CN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void</a:t>
            </a:r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类型函数的调用</a:t>
            </a:r>
            <a:endParaRPr lang="zh-CN" altLang="en-US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94245" name="Rectangle 5"/>
          <p:cNvSpPr/>
          <p:nvPr/>
        </p:nvSpPr>
        <p:spPr>
          <a:xfrm>
            <a:off x="4140200" y="2852738"/>
            <a:ext cx="41671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常用于返回结果的函数的调用</a:t>
            </a:r>
            <a:endParaRPr lang="zh-CN" altLang="en-US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94246" name="Line 6"/>
          <p:cNvSpPr/>
          <p:nvPr/>
        </p:nvSpPr>
        <p:spPr>
          <a:xfrm flipH="1">
            <a:off x="3779838" y="1844675"/>
            <a:ext cx="1008062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4247" name="Rectangle 7"/>
          <p:cNvSpPr/>
          <p:nvPr/>
        </p:nvSpPr>
        <p:spPr>
          <a:xfrm>
            <a:off x="4811713" y="1628775"/>
            <a:ext cx="2941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常量、变量、表达式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21512" name="Rectangle 8"/>
          <p:cNvSpPr/>
          <p:nvPr/>
        </p:nvSpPr>
        <p:spPr>
          <a:xfrm>
            <a:off x="468313" y="1557338"/>
            <a:ext cx="3563937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dirty="0">
                <a:solidFill>
                  <a:schemeClr val="bg2"/>
                </a:solidFill>
                <a:latin typeface="Arial" panose="02080604020202020204" pitchFamily="34" charset="0"/>
              </a:rPr>
              <a:t>函数名</a:t>
            </a:r>
            <a:r>
              <a:rPr lang="zh-CN" altLang="en-US" sz="3200" dirty="0">
                <a:latin typeface="Arial" panose="02080604020202020204" pitchFamily="34" charset="0"/>
              </a:rPr>
              <a:t>（</a:t>
            </a:r>
            <a:r>
              <a:rPr lang="zh-CN" altLang="en-US" sz="3200" dirty="0">
                <a:solidFill>
                  <a:srgbClr val="CC0066"/>
                </a:solidFill>
                <a:latin typeface="Arial" panose="02080604020202020204" pitchFamily="34" charset="0"/>
              </a:rPr>
              <a:t>实参表</a:t>
            </a:r>
            <a:r>
              <a:rPr lang="zh-CN" altLang="en-US" sz="3200" dirty="0">
                <a:latin typeface="Arial" panose="02080604020202020204" pitchFamily="34" charset="0"/>
              </a:rPr>
              <a:t>）</a:t>
            </a:r>
            <a:endParaRPr lang="zh-CN" altLang="en-US" sz="3200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42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4243">
                                            <p:txEl>
                                              <p:charRg st="7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4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4243">
                                            <p:txEl>
                                              <p:charRg st="44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9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4243">
                                            <p:txEl>
                                              <p:charRg st="90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charRg st="9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94243">
                                            <p:txEl>
                                              <p:charRg st="96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/>
      <p:bldP spid="394244" grpId="0"/>
      <p:bldP spid="394245" grpId="0"/>
      <p:bldP spid="3942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611188" y="549275"/>
            <a:ext cx="4510087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函数调用的过程</a:t>
            </a:r>
            <a:endParaRPr lang="zh-CN" altLang="en-US" dirty="0"/>
          </a:p>
        </p:txBody>
      </p:sp>
      <p:sp>
        <p:nvSpPr>
          <p:cNvPr id="22531" name="Rectangle 9"/>
          <p:cNvSpPr>
            <a:spLocks noGrp="1"/>
          </p:cNvSpPr>
          <p:nvPr>
            <p:ph idx="1"/>
          </p:nvPr>
        </p:nvSpPr>
        <p:spPr>
          <a:xfrm>
            <a:off x="539750" y="1628775"/>
            <a:ext cx="8208963" cy="424815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计算机在执行程序时，从主函数</a:t>
            </a:r>
            <a:r>
              <a:rPr lang="en-US" altLang="zh-CN"/>
              <a:t>main</a:t>
            </a:r>
            <a:r>
              <a:rPr lang="zh-CN" altLang="en-US" dirty="0"/>
              <a:t>开始执行，如果遇到某个函数调用，主函数被暂停执行，转而执行相应的函数，该函数执行完后，将返回主函数，然后再从原先暂停的位置继续执行。</a:t>
            </a:r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r>
              <a:rPr lang="zh-CN" altLang="en-US" dirty="0"/>
              <a:t>函数遇</a:t>
            </a:r>
            <a:r>
              <a:rPr lang="en-US" altLang="zh-CN"/>
              <a:t>return</a:t>
            </a:r>
            <a:r>
              <a:rPr lang="zh-CN" altLang="en-US" dirty="0"/>
              <a:t>或最后的大括号，返回主函数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4165600" y="333375"/>
            <a:ext cx="4978400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分析函数调用的过程</a:t>
            </a:r>
            <a:endParaRPr lang="zh-CN" altLang="en-US" sz="4000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250825" y="908050"/>
            <a:ext cx="6121400" cy="54959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#include &lt;</a:t>
            </a:r>
            <a:r>
              <a:rPr lang="en-US" altLang="zh-CN" sz="2000" err="1"/>
              <a:t>stdio.h</a:t>
            </a:r>
            <a:r>
              <a:rPr lang="en-US" altLang="zh-CN" sz="2000"/>
              <a:t>&gt;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main( void )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{    double height, radius, volume;	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</a:t>
            </a:r>
            <a:r>
              <a:rPr lang="en-US" altLang="zh-CN" sz="2000">
                <a:solidFill>
                  <a:srgbClr val="CC0066"/>
                </a:solidFill>
              </a:rPr>
              <a:t>double cylinder (double r, double h);</a:t>
            </a:r>
            <a:endParaRPr lang="en-US" altLang="zh-CN" sz="2000">
              <a:solidFill>
                <a:srgbClr val="CC0066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>
                <a:solidFill>
                  <a:srgbClr val="CC0066"/>
                </a:solidFill>
              </a:rPr>
              <a:t>    </a:t>
            </a:r>
            <a:r>
              <a:rPr lang="en-US" altLang="zh-CN" sz="2000"/>
              <a:t>	</a:t>
            </a:r>
            <a:r>
              <a:rPr lang="en-US" altLang="zh-CN" sz="2000" err="1"/>
              <a:t>printf</a:t>
            </a:r>
            <a:r>
              <a:rPr lang="en-US" altLang="zh-CN" sz="2000"/>
              <a:t> ("Enter radius and height: ");	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</a:t>
            </a:r>
            <a:r>
              <a:rPr lang="en-US" altLang="zh-CN" sz="2000" err="1"/>
              <a:t>scanf</a:t>
            </a:r>
            <a:r>
              <a:rPr lang="en-US" altLang="zh-CN" sz="2000"/>
              <a:t> ("%</a:t>
            </a:r>
            <a:r>
              <a:rPr lang="en-US" altLang="zh-CN" sz="2000" err="1"/>
              <a:t>lf%lf</a:t>
            </a:r>
            <a:r>
              <a:rPr lang="en-US" altLang="zh-CN" sz="2000"/>
              <a:t>", &amp;radius, &amp;height);	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volume =</a:t>
            </a:r>
            <a:r>
              <a:rPr lang="en-US" altLang="zh-CN" sz="2000">
                <a:solidFill>
                  <a:srgbClr val="CC0066"/>
                </a:solidFill>
              </a:rPr>
              <a:t> cylinder (radius, height )</a:t>
            </a:r>
            <a:r>
              <a:rPr lang="en-US" altLang="zh-CN" sz="2000"/>
              <a:t>;	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</a:t>
            </a:r>
            <a:r>
              <a:rPr lang="en-US" altLang="zh-CN" sz="2000" err="1"/>
              <a:t>printf</a:t>
            </a:r>
            <a:r>
              <a:rPr lang="en-US" altLang="zh-CN" sz="2000"/>
              <a:t> ("Volume = %.3f\n", volume);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return  0;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>
                <a:solidFill>
                  <a:srgbClr val="CC0066"/>
                </a:solidFill>
              </a:rPr>
              <a:t>double cylinder (double r, double h)</a:t>
            </a:r>
            <a:r>
              <a:rPr lang="en-US" altLang="zh-CN" sz="2000"/>
              <a:t>	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>
                <a:solidFill>
                  <a:srgbClr val="CC0066"/>
                </a:solidFill>
              </a:rPr>
              <a:t>{</a:t>
            </a:r>
            <a:r>
              <a:rPr lang="en-US" altLang="zh-CN" sz="2000"/>
              <a:t>	double result;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result =3.1415926 * r * r * h; 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/>
              <a:t>	</a:t>
            </a:r>
            <a:r>
              <a:rPr lang="en-US" altLang="zh-CN" sz="2000">
                <a:solidFill>
                  <a:schemeClr val="bg2"/>
                </a:solidFill>
              </a:rPr>
              <a:t>return result;                                    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>
                <a:solidFill>
                  <a:srgbClr val="CC0066"/>
                </a:solidFill>
              </a:rPr>
              <a:t>}</a:t>
            </a:r>
            <a:endParaRPr lang="zh-CN" altLang="en-US" sz="2000" dirty="0">
              <a:solidFill>
                <a:srgbClr val="CC0066"/>
              </a:solidFill>
            </a:endParaRPr>
          </a:p>
        </p:txBody>
      </p:sp>
      <p:sp>
        <p:nvSpPr>
          <p:cNvPr id="428036" name="Rectangle 4"/>
          <p:cNvSpPr/>
          <p:nvPr/>
        </p:nvSpPr>
        <p:spPr>
          <a:xfrm>
            <a:off x="6637338" y="276225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调用</a:t>
            </a: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</a:rPr>
              <a:t>函数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  <p:sp>
        <p:nvSpPr>
          <p:cNvPr id="428037" name="Line 5"/>
          <p:cNvSpPr/>
          <p:nvPr/>
        </p:nvSpPr>
        <p:spPr>
          <a:xfrm flipH="1">
            <a:off x="3563938" y="3427413"/>
            <a:ext cx="142875" cy="1223962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28039" name="Line 7"/>
          <p:cNvSpPr/>
          <p:nvPr/>
        </p:nvSpPr>
        <p:spPr>
          <a:xfrm>
            <a:off x="4860925" y="3463925"/>
            <a:ext cx="215900" cy="1150938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28040" name="Rectangle 8"/>
          <p:cNvSpPr/>
          <p:nvPr/>
        </p:nvSpPr>
        <p:spPr>
          <a:xfrm>
            <a:off x="6491288" y="3592513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实参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形参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428041" name="Rectangle 9"/>
          <p:cNvSpPr/>
          <p:nvPr/>
        </p:nvSpPr>
        <p:spPr>
          <a:xfrm>
            <a:off x="5975350" y="4941888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执行函数中的语句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428042" name="Rectangle 10"/>
          <p:cNvSpPr/>
          <p:nvPr/>
        </p:nvSpPr>
        <p:spPr>
          <a:xfrm>
            <a:off x="5795963" y="5661025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返回调用它的地方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428043" name="Line 11"/>
          <p:cNvSpPr/>
          <p:nvPr/>
        </p:nvSpPr>
        <p:spPr>
          <a:xfrm>
            <a:off x="2057400" y="3349625"/>
            <a:ext cx="571500" cy="2382838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/>
      <p:bldP spid="428040" grpId="0"/>
      <p:bldP spid="428041" grpId="0"/>
      <p:bldP spid="4280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6491288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2</a:t>
            </a:r>
            <a:r>
              <a:rPr lang="zh-CN" altLang="en-US" dirty="0"/>
              <a:t>．参数传递</a:t>
            </a:r>
            <a:endParaRPr lang="zh-CN" altLang="en-US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457200" y="1557338"/>
            <a:ext cx="8507413" cy="496728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2800" dirty="0"/>
              <a:t>函数</a:t>
            </a:r>
            <a:r>
              <a:rPr lang="zh-CN" altLang="en-US" sz="2800" dirty="0">
                <a:solidFill>
                  <a:srgbClr val="CC0066"/>
                </a:solidFill>
              </a:rPr>
              <a:t>定义</a:t>
            </a:r>
            <a:r>
              <a:rPr lang="zh-CN" altLang="en-US" sz="2800" dirty="0"/>
              <a:t>时的参数被称为</a:t>
            </a:r>
            <a:r>
              <a:rPr lang="zh-CN" altLang="en-US" sz="2800" dirty="0">
                <a:solidFill>
                  <a:srgbClr val="CC0066"/>
                </a:solidFill>
              </a:rPr>
              <a:t>形式参数</a:t>
            </a:r>
            <a:r>
              <a:rPr lang="zh-CN" altLang="en-US" sz="2800" dirty="0"/>
              <a:t>（简称</a:t>
            </a:r>
            <a:r>
              <a:rPr lang="zh-CN" altLang="en-US" sz="2800" dirty="0">
                <a:solidFill>
                  <a:srgbClr val="CC0066"/>
                </a:solidFill>
              </a:rPr>
              <a:t>形参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400"/>
              <a:t>double cylinder (double </a:t>
            </a:r>
            <a:r>
              <a:rPr lang="en-US" altLang="zh-CN" sz="2400">
                <a:solidFill>
                  <a:srgbClr val="CC0066"/>
                </a:solidFill>
              </a:rPr>
              <a:t>r</a:t>
            </a:r>
            <a:r>
              <a:rPr lang="en-US" altLang="zh-CN" sz="2400"/>
              <a:t>, double </a:t>
            </a:r>
            <a:r>
              <a:rPr lang="en-US" altLang="zh-CN" sz="2400">
                <a:solidFill>
                  <a:srgbClr val="CC0066"/>
                </a:solidFill>
              </a:rPr>
              <a:t>h</a:t>
            </a:r>
            <a:r>
              <a:rPr lang="en-US" altLang="zh-CN" sz="2400"/>
              <a:t>)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/>
              <a:t>函数</a:t>
            </a:r>
            <a:r>
              <a:rPr lang="zh-CN" altLang="en-US" sz="2800" dirty="0">
                <a:solidFill>
                  <a:schemeClr val="bg2"/>
                </a:solidFill>
              </a:rPr>
              <a:t>调用</a:t>
            </a:r>
            <a:r>
              <a:rPr lang="zh-CN" altLang="en-US" sz="2800" dirty="0"/>
              <a:t>时的参数被称为</a:t>
            </a:r>
            <a:r>
              <a:rPr lang="zh-CN" altLang="en-US" sz="2800" dirty="0">
                <a:solidFill>
                  <a:schemeClr val="bg2"/>
                </a:solidFill>
              </a:rPr>
              <a:t>实际参数</a:t>
            </a:r>
            <a:r>
              <a:rPr lang="zh-CN" altLang="en-US" sz="2800" dirty="0"/>
              <a:t>（简称</a:t>
            </a:r>
            <a:r>
              <a:rPr lang="zh-CN" altLang="en-US" sz="2800" dirty="0">
                <a:solidFill>
                  <a:schemeClr val="bg2"/>
                </a:solidFill>
              </a:rPr>
              <a:t>实参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400"/>
              <a:t>volume = cylinder (</a:t>
            </a:r>
            <a:r>
              <a:rPr lang="en-US" altLang="zh-CN" sz="2400">
                <a:solidFill>
                  <a:schemeClr val="bg2"/>
                </a:solidFill>
              </a:rPr>
              <a:t>radius</a:t>
            </a:r>
            <a:r>
              <a:rPr lang="en-US" altLang="zh-CN" sz="2400"/>
              <a:t>, </a:t>
            </a:r>
            <a:r>
              <a:rPr lang="en-US" altLang="zh-CN" sz="2400">
                <a:solidFill>
                  <a:schemeClr val="bg2"/>
                </a:solidFill>
              </a:rPr>
              <a:t>height</a:t>
            </a:r>
            <a:r>
              <a:rPr lang="en-US" altLang="zh-CN" sz="2400"/>
              <a:t>);</a:t>
            </a:r>
            <a:endParaRPr lang="en-US" altLang="zh-CN" sz="2400"/>
          </a:p>
          <a:p>
            <a:pPr lvl="1" algn="just" eaLnBrk="1" hangingPunct="1">
              <a:lnSpc>
                <a:spcPct val="90000"/>
              </a:lnSpc>
              <a:buNone/>
            </a:pPr>
            <a:endParaRPr lang="en-US" altLang="zh-CN" sz="240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CC0066"/>
                </a:solidFill>
              </a:rPr>
              <a:t>实参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olidFill>
                  <a:schemeClr val="bg2"/>
                </a:solidFill>
                <a:sym typeface="Wingdings" panose="05000000000000000000" pitchFamily="2" charset="2"/>
              </a:rPr>
              <a:t>形参</a:t>
            </a:r>
            <a:endParaRPr lang="zh-CN" altLang="en-US" sz="28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/>
              <a:t>在参数传递过程中，实参把值复制给形参。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/>
              <a:t>形参和实参</a:t>
            </a:r>
            <a:r>
              <a:rPr lang="zh-CN" altLang="en-US" sz="2400" dirty="0">
                <a:solidFill>
                  <a:srgbClr val="CC0066"/>
                </a:solidFill>
              </a:rPr>
              <a:t>一一对应</a:t>
            </a:r>
            <a:r>
              <a:rPr lang="zh-CN" altLang="en-US" sz="2400" dirty="0"/>
              <a:t>：数量一致，类型一致，顺序一致</a:t>
            </a:r>
            <a:endParaRPr lang="zh-CN" altLang="en-US" sz="2400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CC0066"/>
                </a:solidFill>
              </a:rPr>
              <a:t>形参</a:t>
            </a:r>
            <a:r>
              <a:rPr lang="zh-CN" altLang="en-US" sz="2400" dirty="0"/>
              <a:t>：变量，用于接受实参传递过来的值</a:t>
            </a:r>
            <a:endParaRPr lang="zh-CN" altLang="en-US" sz="2400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chemeClr val="bg2"/>
                </a:solidFill>
              </a:rPr>
              <a:t>实参</a:t>
            </a:r>
            <a:r>
              <a:rPr lang="zh-CN" altLang="en-US" sz="2400" dirty="0"/>
              <a:t>：常量、变量或表达式</a:t>
            </a:r>
            <a:endParaRPr lang="zh-CN" altLang="en-US" sz="2400" dirty="0"/>
          </a:p>
        </p:txBody>
      </p:sp>
      <p:sp>
        <p:nvSpPr>
          <p:cNvPr id="395270" name="Text Box 6"/>
          <p:cNvSpPr txBox="1"/>
          <p:nvPr/>
        </p:nvSpPr>
        <p:spPr>
          <a:xfrm>
            <a:off x="3924300" y="3573463"/>
            <a:ext cx="18716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单向传递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527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6202363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3</a:t>
            </a:r>
            <a:r>
              <a:rPr lang="zh-CN" altLang="en-US" dirty="0"/>
              <a:t>．函数结果返回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468313" y="1557338"/>
            <a:ext cx="8291512" cy="43926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函数返回的两种情况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完成确定的运算，有一个运算结果返回给主调函数。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完成指定工作，没有确定的运算结果需返回给主调函数（函数类型</a:t>
            </a:r>
            <a:r>
              <a:rPr lang="en-US" altLang="zh-CN"/>
              <a:t>void</a:t>
            </a:r>
            <a:r>
              <a:rPr lang="zh-CN" altLang="en-US" dirty="0"/>
              <a:t>）。</a:t>
            </a:r>
            <a:endParaRPr lang="zh-CN" altLang="en-US" dirty="0"/>
          </a:p>
          <a:p>
            <a:pPr eaLnBrk="1" hangingPunct="1"/>
            <a:r>
              <a:rPr lang="zh-CN" altLang="en-US" dirty="0"/>
              <a:t>函数结果返回的形式：</a:t>
            </a:r>
            <a:endParaRPr lang="zh-CN" altLang="en-US" dirty="0"/>
          </a:p>
          <a:p>
            <a:pPr lvl="1" eaLnBrk="1" hangingPunct="1"/>
            <a:r>
              <a:rPr lang="en-US" altLang="zh-CN"/>
              <a:t>return  </a:t>
            </a:r>
            <a:r>
              <a:rPr lang="zh-CN" altLang="en-US" dirty="0"/>
              <a:t>表达式；</a:t>
            </a:r>
            <a:endParaRPr lang="zh-CN" altLang="en-US" dirty="0"/>
          </a:p>
          <a:p>
            <a:pPr lvl="1" eaLnBrk="1" hangingPunct="1"/>
            <a:r>
              <a:rPr lang="en-US" altLang="zh-CN"/>
              <a:t>return  (</a:t>
            </a:r>
            <a:r>
              <a:rPr lang="zh-CN" altLang="en-US" dirty="0"/>
              <a:t>表达式</a:t>
            </a:r>
            <a:r>
              <a:rPr lang="en-US" altLang="zh-CN"/>
              <a:t>)</a:t>
            </a:r>
            <a:r>
              <a:rPr lang="zh-CN" altLang="en-US" dirty="0"/>
              <a:t>；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47050" cy="8112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/>
              <a:t>【</a:t>
            </a:r>
            <a:r>
              <a:rPr lang="zh-CN" altLang="en-US" sz="3200" dirty="0"/>
              <a:t>例</a:t>
            </a:r>
            <a:r>
              <a:rPr lang="en-US" altLang="zh-CN" sz="3200"/>
              <a:t>5-3】</a:t>
            </a:r>
            <a:r>
              <a:rPr lang="zh-CN" altLang="en-US" sz="3200" dirty="0"/>
              <a:t>定义判断奇偶数的函数</a:t>
            </a:r>
            <a:r>
              <a:rPr lang="en-US" altLang="zh-CN" sz="3200"/>
              <a:t>even (n)</a:t>
            </a:r>
            <a:endParaRPr lang="zh-CN" altLang="en-US" sz="3200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323850" y="1341438"/>
            <a:ext cx="8569325" cy="525621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400" dirty="0"/>
              <a:t>定义一个判断奇偶数的函数</a:t>
            </a:r>
            <a:r>
              <a:rPr lang="en-US" altLang="zh-CN" sz="2400"/>
              <a:t>even (n)</a:t>
            </a:r>
            <a:r>
              <a:rPr lang="zh-CN" altLang="en-US" sz="2400" dirty="0"/>
              <a:t>，当</a:t>
            </a:r>
            <a:r>
              <a:rPr lang="en-US" altLang="zh-CN" sz="2400"/>
              <a:t>n</a:t>
            </a:r>
            <a:r>
              <a:rPr lang="zh-CN" altLang="en-US" sz="2400" dirty="0"/>
              <a:t>为偶数时返回</a:t>
            </a:r>
            <a:r>
              <a:rPr lang="en-US" altLang="zh-CN" sz="2400"/>
              <a:t>1</a:t>
            </a:r>
            <a:r>
              <a:rPr lang="zh-CN" altLang="en-US" sz="2400" dirty="0"/>
              <a:t>，否则返回</a:t>
            </a:r>
            <a:r>
              <a:rPr lang="en-US" altLang="zh-CN" sz="2400"/>
              <a:t>0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buNone/>
            </a:pP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/* </a:t>
            </a:r>
            <a:r>
              <a:rPr lang="zh-CN" altLang="en-US" sz="2400" dirty="0"/>
              <a:t>判断奇偶数的函数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even (</a:t>
            </a:r>
            <a:r>
              <a:rPr lang="en-US" altLang="zh-CN" sz="2400" err="1"/>
              <a:t>int</a:t>
            </a:r>
            <a:r>
              <a:rPr lang="en-US" altLang="zh-CN" sz="2400"/>
              <a:t> n)		/* </a:t>
            </a:r>
            <a:r>
              <a:rPr lang="zh-CN" altLang="en-US" sz="2400" dirty="0"/>
              <a:t>函数首部 *</a:t>
            </a:r>
            <a:r>
              <a:rPr lang="en-US" altLang="zh-CN" sz="2400"/>
              <a:t>	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{										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if(n%2 == 0) 		/* </a:t>
            </a:r>
            <a:r>
              <a:rPr lang="zh-CN" altLang="en-US" sz="2400" dirty="0"/>
              <a:t>判别奇偶数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	</a:t>
            </a:r>
            <a:r>
              <a:rPr lang="en-US" altLang="zh-CN" sz="2400">
                <a:solidFill>
                  <a:srgbClr val="CC0066"/>
                </a:solidFill>
              </a:rPr>
              <a:t>return 1;	</a:t>
            </a:r>
            <a:r>
              <a:rPr lang="en-US" altLang="zh-CN" sz="2400"/>
              <a:t>	/* </a:t>
            </a:r>
            <a:r>
              <a:rPr lang="zh-CN" altLang="en-US" sz="2400" dirty="0"/>
              <a:t>偶数返回</a:t>
            </a:r>
            <a:r>
              <a:rPr lang="en-US" altLang="zh-CN" sz="2400"/>
              <a:t>1 */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else		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		</a:t>
            </a:r>
            <a:r>
              <a:rPr lang="en-US" altLang="zh-CN" sz="2400">
                <a:solidFill>
                  <a:srgbClr val="CC0066"/>
                </a:solidFill>
              </a:rPr>
              <a:t>return 0;</a:t>
            </a:r>
            <a:r>
              <a:rPr lang="en-US" altLang="zh-CN" sz="2400"/>
              <a:t>		/* </a:t>
            </a:r>
            <a:r>
              <a:rPr lang="zh-CN" altLang="en-US" sz="2400" dirty="0"/>
              <a:t>奇数返回</a:t>
            </a:r>
            <a:r>
              <a:rPr lang="en-US" altLang="zh-CN" sz="2400"/>
              <a:t>0 */</a:t>
            </a:r>
            <a:endParaRPr lang="en-US" altLang="zh-CN" sz="2400"/>
          </a:p>
          <a:p>
            <a:pPr eaLnBrk="1" hangingPunct="1">
              <a:buNone/>
            </a:pPr>
            <a:r>
              <a:rPr lang="en-US" altLang="zh-CN" sz="2400"/>
              <a:t>}	</a:t>
            </a:r>
            <a:endParaRPr lang="zh-CN" altLang="en-US" sz="2400" dirty="0"/>
          </a:p>
        </p:txBody>
      </p:sp>
      <p:sp>
        <p:nvSpPr>
          <p:cNvPr id="422916" name="Rectangle 4"/>
          <p:cNvSpPr/>
          <p:nvPr/>
        </p:nvSpPr>
        <p:spPr>
          <a:xfrm>
            <a:off x="6300788" y="2133600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如何调用该</a:t>
            </a: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</a:rPr>
              <a:t>函数？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67325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4</a:t>
            </a:r>
            <a:r>
              <a:rPr lang="zh-CN" altLang="en-US" dirty="0"/>
              <a:t>．函数原型声明</a:t>
            </a:r>
            <a:endParaRPr lang="zh-CN" altLang="en-US" dirty="0"/>
          </a:p>
        </p:txBody>
      </p:sp>
      <p:sp>
        <p:nvSpPr>
          <p:cNvPr id="397315" name="Rectangle 3"/>
          <p:cNvSpPr>
            <a:spLocks noGrp="1"/>
          </p:cNvSpPr>
          <p:nvPr>
            <p:ph idx="1"/>
          </p:nvPr>
        </p:nvSpPr>
        <p:spPr>
          <a:xfrm>
            <a:off x="468313" y="1989138"/>
            <a:ext cx="8229600" cy="4238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itchFamily="2" charset="-122"/>
              </a:rPr>
              <a:t>函数类型 函数名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 dirty="0">
                <a:latin typeface="宋体" pitchFamily="2" charset="-122"/>
              </a:rPr>
              <a:t>参数表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；</a:t>
            </a:r>
            <a:endParaRPr lang="zh-CN" altLang="en-US" sz="2800" dirty="0">
              <a:latin typeface="宋体" pitchFamily="2" charset="-122"/>
            </a:endParaRPr>
          </a:p>
          <a:p>
            <a:pPr lvl="1" eaLnBrk="1" hangingPunct="1">
              <a:buNone/>
            </a:pPr>
            <a:r>
              <a:rPr lang="en-US" altLang="zh-CN" sz="2400">
                <a:solidFill>
                  <a:srgbClr val="CC0066"/>
                </a:solidFill>
              </a:rPr>
              <a:t>double cylinder (double r, double h);</a:t>
            </a:r>
            <a:endParaRPr lang="en-US" altLang="zh-CN" sz="2400">
              <a:solidFill>
                <a:srgbClr val="CC0066"/>
              </a:solidFill>
            </a:endParaRPr>
          </a:p>
          <a:p>
            <a:pPr lvl="1" eaLnBrk="1" hangingPunct="1">
              <a:buNone/>
            </a:pPr>
            <a:r>
              <a:rPr lang="en-US" altLang="zh-CN" sz="2400">
                <a:solidFill>
                  <a:srgbClr val="CC0066"/>
                </a:solidFill>
              </a:rPr>
              <a:t>void pyramid (</a:t>
            </a:r>
            <a:r>
              <a:rPr lang="en-US" altLang="zh-CN" sz="2400" err="1">
                <a:solidFill>
                  <a:srgbClr val="CC0066"/>
                </a:solidFill>
              </a:rPr>
              <a:t>int</a:t>
            </a:r>
            <a:r>
              <a:rPr lang="en-US" altLang="zh-CN" sz="2400">
                <a:solidFill>
                  <a:srgbClr val="CC0066"/>
                </a:solidFill>
              </a:rPr>
              <a:t> n);</a:t>
            </a:r>
            <a:endParaRPr lang="en-US" altLang="zh-CN" sz="2400">
              <a:latin typeface="宋体" pitchFamily="2" charset="-122"/>
            </a:endParaRP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函数必须先定义后调用，将主调函数放在被调函数的后面，就像变量先定义后使用一样。</a:t>
            </a:r>
            <a:endParaRPr lang="zh-CN" altLang="en-US" sz="2800" dirty="0">
              <a:latin typeface="宋体" pitchFamily="2" charset="-122"/>
            </a:endParaRP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如果自定义函数在主调函数的后面，就需要在函数调用前，加上函数原型声明。</a:t>
            </a:r>
            <a:endParaRPr lang="zh-CN" altLang="en-US" sz="2800" dirty="0">
              <a:latin typeface="宋体" pitchFamily="2" charset="-122"/>
            </a:endParaRP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函数声明：说明函数的类型和参数的情况，以保证程序编译时能判断对该函数的调用是否正确。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397316" name="Text Box 4"/>
          <p:cNvSpPr txBox="1"/>
          <p:nvPr/>
        </p:nvSpPr>
        <p:spPr>
          <a:xfrm>
            <a:off x="1042988" y="1341438"/>
            <a:ext cx="7777162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只写函数定义中的第</a:t>
            </a:r>
            <a:r>
              <a:rPr lang="en-US" altLang="zh-CN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行（函数首部），并以分号结束。</a:t>
            </a:r>
            <a:endParaRPr lang="zh-CN" altLang="en-US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731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15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7315">
                                            <p:txEl>
                                              <p:charRg st="15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5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7315">
                                            <p:txEl>
                                              <p:charRg st="53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7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7315">
                                            <p:txEl>
                                              <p:charRg st="75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11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7315">
                                            <p:txEl>
                                              <p:charRg st="11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charRg st="15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7315">
                                            <p:txEl>
                                              <p:charRg st="151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build="p"/>
      <p:bldP spid="39731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187450" y="333375"/>
            <a:ext cx="563086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Chap</a:t>
            </a:r>
            <a:r>
              <a:rPr lang="x-none" altLang="en-US" dirty="0">
                <a:latin typeface="宋体" pitchFamily="2" charset="-122"/>
              </a:rPr>
              <a:t>ter</a:t>
            </a:r>
            <a:r>
              <a:rPr lang="en-US" altLang="zh-CN" dirty="0">
                <a:latin typeface="宋体" pitchFamily="2" charset="-122"/>
              </a:rPr>
              <a:t> 5</a:t>
            </a:r>
            <a:r>
              <a:rPr lang="zh-CN" altLang="en-US" dirty="0">
                <a:latin typeface="宋体" pitchFamily="2" charset="-122"/>
              </a:rPr>
              <a:t>  函数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701165"/>
            <a:ext cx="6151245" cy="208153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计算圆柱体体积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使用函数编写程序</a:t>
            </a:r>
            <a:endParaRPr lang="zh-CN" altLang="en-US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变量与函数</a:t>
            </a:r>
            <a:endParaRPr 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323850" y="476250"/>
            <a:ext cx="7777163" cy="9366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5.2 </a:t>
            </a:r>
            <a:r>
              <a:rPr lang="zh-CN" altLang="en-US" dirty="0"/>
              <a:t>使用函数编写程序</a:t>
            </a:r>
            <a:endParaRPr lang="en-US" altLang="zh-CN"/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323850" y="1844675"/>
            <a:ext cx="8229600" cy="3886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/>
              <a:t>例</a:t>
            </a:r>
            <a:r>
              <a:rPr lang="en-US" altLang="zh-CN"/>
              <a:t>5-4 </a:t>
            </a:r>
            <a:r>
              <a:rPr lang="zh-CN" altLang="en-US" dirty="0"/>
              <a:t>输入精度</a:t>
            </a:r>
            <a:r>
              <a:rPr lang="en-US" altLang="zh-CN"/>
              <a:t>e</a:t>
            </a:r>
            <a:r>
              <a:rPr lang="zh-CN" altLang="en-US" dirty="0"/>
              <a:t>，使用格里高利公式求</a:t>
            </a:r>
            <a:r>
              <a:rPr lang="en-US" altLang="zh-CN"/>
              <a:t>π</a:t>
            </a:r>
            <a:r>
              <a:rPr lang="zh-CN" altLang="en-US" dirty="0"/>
              <a:t>的近似值，精确到最后一项的绝对值小于</a:t>
            </a:r>
            <a:r>
              <a:rPr lang="en-US" altLang="zh-CN"/>
              <a:t>e</a:t>
            </a:r>
            <a:r>
              <a:rPr lang="zh-CN" altLang="en-US" dirty="0"/>
              <a:t>。要求定义和调用函数 </a:t>
            </a:r>
            <a:r>
              <a:rPr lang="en-US" altLang="zh-CN" err="1"/>
              <a:t>funpi(e</a:t>
            </a:r>
            <a:r>
              <a:rPr lang="en-US" altLang="zh-CN"/>
              <a:t>) </a:t>
            </a:r>
            <a:r>
              <a:rPr lang="zh-CN" altLang="en-US" dirty="0"/>
              <a:t>求</a:t>
            </a:r>
            <a:r>
              <a:rPr lang="en-US" altLang="zh-CN"/>
              <a:t>π</a:t>
            </a:r>
            <a:r>
              <a:rPr lang="zh-CN" altLang="en-US" dirty="0"/>
              <a:t>的近似值。</a:t>
            </a:r>
            <a:endParaRPr lang="zh-CN" altLang="en-US" dirty="0"/>
          </a:p>
          <a:p>
            <a:pPr algn="just" eaLnBrk="1" hangingPunct="1">
              <a:buNone/>
            </a:pPr>
            <a:endParaRPr lang="zh-CN" altLang="en-US" dirty="0"/>
          </a:p>
        </p:txBody>
      </p:sp>
      <p:sp>
        <p:nvSpPr>
          <p:cNvPr id="28676" name="Rectangle 5"/>
          <p:cNvSpPr/>
          <p:nvPr/>
        </p:nvSpPr>
        <p:spPr>
          <a:xfrm>
            <a:off x="0" y="3252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endParaRPr lang="zh-CN" altLang="en-US" dirty="0">
              <a:latin typeface="Arial" panose="02080604020202020204" pitchFamily="34" charset="0"/>
            </a:endParaRPr>
          </a:p>
        </p:txBody>
      </p:sp>
      <p:graphicFrame>
        <p:nvGraphicFramePr>
          <p:cNvPr id="28677" name="Object 4"/>
          <p:cNvGraphicFramePr/>
          <p:nvPr/>
        </p:nvGraphicFramePr>
        <p:xfrm>
          <a:off x="2771775" y="3860800"/>
          <a:ext cx="36004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58265" imgH="393700" progId="Equation.DSMT4">
                  <p:embed/>
                </p:oleObj>
              </mc:Choice>
              <mc:Fallback>
                <p:oleObj name="" r:id="rId1" imgW="1358265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3860800"/>
                        <a:ext cx="3600450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5580063" y="260350"/>
            <a:ext cx="3313112" cy="6477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/>
              <a:t>5-4 </a:t>
            </a:r>
            <a:r>
              <a:rPr lang="zh-CN" altLang="en-US" sz="4000" dirty="0"/>
              <a:t>源程序</a:t>
            </a:r>
            <a:endParaRPr lang="zh-CN" altLang="en-US" sz="4000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179388" y="692150"/>
            <a:ext cx="4176712" cy="5545138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/>
              <a:t>/* </a:t>
            </a:r>
            <a:r>
              <a:rPr lang="zh-CN" altLang="en-US" sz="2000" dirty="0"/>
              <a:t>用格里高利公式计算</a:t>
            </a:r>
            <a:r>
              <a:rPr lang="en-US" altLang="zh-CN" sz="2000"/>
              <a:t>π</a:t>
            </a:r>
            <a:r>
              <a:rPr lang="zh-CN" altLang="en-US" sz="2000" dirty="0"/>
              <a:t>的近似值，精度为</a:t>
            </a:r>
            <a:r>
              <a:rPr lang="en-US" altLang="zh-CN" sz="2000"/>
              <a:t>e  */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#include &lt;</a:t>
            </a:r>
            <a:r>
              <a:rPr lang="en-US" altLang="zh-CN" sz="2000" err="1"/>
              <a:t>stdio.h</a:t>
            </a:r>
            <a:r>
              <a:rPr lang="en-US" altLang="zh-CN" sz="2000"/>
              <a:t>&gt;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#include &lt;</a:t>
            </a:r>
            <a:r>
              <a:rPr lang="en-US" altLang="zh-CN" sz="2000" err="1"/>
              <a:t>math.h</a:t>
            </a:r>
            <a:r>
              <a:rPr lang="en-US" altLang="zh-CN" sz="2000"/>
              <a:t>&gt;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main (void)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{ 	double e, pi;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	</a:t>
            </a:r>
            <a:r>
              <a:rPr lang="en-US" altLang="zh-CN" sz="2000">
                <a:solidFill>
                  <a:schemeClr val="bg2"/>
                </a:solidFill>
              </a:rPr>
              <a:t>double </a:t>
            </a:r>
            <a:r>
              <a:rPr lang="en-US" altLang="zh-CN" sz="2000" err="1">
                <a:solidFill>
                  <a:schemeClr val="bg2"/>
                </a:solidFill>
              </a:rPr>
              <a:t>funpi</a:t>
            </a:r>
            <a:r>
              <a:rPr lang="en-US" altLang="zh-CN" sz="2000">
                <a:solidFill>
                  <a:schemeClr val="bg2"/>
                </a:solidFill>
              </a:rPr>
              <a:t> (double e); </a:t>
            </a:r>
            <a:endParaRPr lang="en-US" altLang="zh-CN" sz="2000"/>
          </a:p>
          <a:p>
            <a:pPr eaLnBrk="1" hangingPunct="1">
              <a:buNone/>
            </a:pP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	</a:t>
            </a:r>
            <a:r>
              <a:rPr lang="en-US" altLang="zh-CN" sz="2000" err="1"/>
              <a:t>printf</a:t>
            </a:r>
            <a:r>
              <a:rPr lang="en-US" altLang="zh-CN" sz="2000"/>
              <a:t> ("Enter e:");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	</a:t>
            </a:r>
            <a:r>
              <a:rPr lang="en-US" altLang="zh-CN" sz="2000" err="1"/>
              <a:t>scanf</a:t>
            </a:r>
            <a:r>
              <a:rPr lang="en-US" altLang="zh-CN" sz="2000"/>
              <a:t> ("%lf", &amp;e);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	pi = </a:t>
            </a:r>
            <a:r>
              <a:rPr lang="en-US" altLang="zh-CN" sz="2000" err="1">
                <a:solidFill>
                  <a:srgbClr val="CC0066"/>
                </a:solidFill>
              </a:rPr>
              <a:t>funpi</a:t>
            </a:r>
            <a:r>
              <a:rPr lang="en-US" altLang="zh-CN" sz="2000">
                <a:solidFill>
                  <a:srgbClr val="CC0066"/>
                </a:solidFill>
              </a:rPr>
              <a:t> (e)</a:t>
            </a:r>
            <a:r>
              <a:rPr lang="en-US" altLang="zh-CN" sz="2000"/>
              <a:t>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	</a:t>
            </a:r>
            <a:r>
              <a:rPr lang="en-US" altLang="zh-CN" sz="2000" err="1"/>
              <a:t>printf</a:t>
            </a:r>
            <a:r>
              <a:rPr lang="en-US" altLang="zh-CN" sz="2000"/>
              <a:t> ("pi = %.4f\n", pi);	</a:t>
            </a:r>
            <a:endParaRPr lang="en-US" altLang="zh-CN" sz="2000"/>
          </a:p>
          <a:p>
            <a:pPr eaLnBrk="1" hangingPunct="1">
              <a:buNone/>
            </a:pP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	return 0;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}</a:t>
            </a:r>
            <a:endParaRPr lang="zh-CN" altLang="en-US" sz="2000" dirty="0"/>
          </a:p>
        </p:txBody>
      </p:sp>
      <p:sp>
        <p:nvSpPr>
          <p:cNvPr id="400388" name="Rectangle 4"/>
          <p:cNvSpPr/>
          <p:nvPr/>
        </p:nvSpPr>
        <p:spPr>
          <a:xfrm>
            <a:off x="3924300" y="1700213"/>
            <a:ext cx="4943475" cy="4949825"/>
          </a:xfrm>
          <a:prstGeom prst="rect">
            <a:avLst/>
          </a:prstGeom>
          <a:noFill/>
          <a:ln w="12700" cap="rnd" cmpd="sng">
            <a:solidFill>
              <a:schemeClr val="accent1"/>
            </a:solidFill>
            <a:prstDash val="sysDot"/>
            <a:miter/>
            <a:headEnd type="none" w="med" len="med"/>
            <a:tailEnd type="none" w="med" len="med"/>
          </a:ln>
        </p:spPr>
        <p:txBody>
          <a:bodyPr anchor="t" anchorCtr="0"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double </a:t>
            </a:r>
            <a:r>
              <a:rPr lang="en-US" altLang="zh-CN" sz="2000" err="1">
                <a:solidFill>
                  <a:srgbClr val="CC0066"/>
                </a:solidFill>
                <a:latin typeface="Arial" panose="02080604020202020204" pitchFamily="34" charset="0"/>
              </a:rPr>
              <a:t>funpi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 (double e) 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{	 </a:t>
            </a:r>
            <a:r>
              <a:rPr lang="en-US" altLang="zh-CN" sz="2000" err="1">
                <a:latin typeface="Arial" panose="02080604020202020204" pitchFamily="34" charset="0"/>
              </a:rPr>
              <a:t>int</a:t>
            </a:r>
            <a:r>
              <a:rPr lang="en-US" altLang="zh-CN" sz="2000">
                <a:latin typeface="Arial" panose="02080604020202020204" pitchFamily="34" charset="0"/>
              </a:rPr>
              <a:t> denominator, flag;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double item, sum;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	 flag = 1;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	 denominator = 1;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	 item = 1.0;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	 sum = 0;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while (</a:t>
            </a:r>
            <a:r>
              <a:rPr lang="en-US" altLang="zh-CN" sz="2000" err="1">
                <a:latin typeface="Arial" panose="02080604020202020204" pitchFamily="34" charset="0"/>
              </a:rPr>
              <a:t>fabs</a:t>
            </a:r>
            <a:r>
              <a:rPr lang="en-US" altLang="zh-CN" sz="2000">
                <a:latin typeface="Arial" panose="02080604020202020204" pitchFamily="34" charset="0"/>
              </a:rPr>
              <a:t> (item) &gt;= e){  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	     item = flag * 1.0 / </a:t>
            </a:r>
            <a:r>
              <a:rPr lang="zh-CN" altLang="en-US" sz="2000">
                <a:latin typeface="Arial" panose="02080604020202020204" pitchFamily="34" charset="0"/>
              </a:rPr>
              <a:t>      </a:t>
            </a:r>
            <a:endParaRPr lang="zh-CN" altLang="en-US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000">
                <a:latin typeface="Arial" panose="02080604020202020204" pitchFamily="34" charset="0"/>
              </a:rPr>
              <a:t>         </a:t>
            </a:r>
            <a:r>
              <a:rPr lang="en-US" altLang="zh-CN" sz="2000">
                <a:latin typeface="Arial" panose="02080604020202020204" pitchFamily="34" charset="0"/>
              </a:rPr>
              <a:t>denominator;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  sum = </a:t>
            </a:r>
            <a:r>
              <a:rPr lang="en-US" altLang="zh-CN" sz="2000" err="1">
                <a:latin typeface="Arial" panose="02080604020202020204" pitchFamily="34" charset="0"/>
              </a:rPr>
              <a:t>sum</a:t>
            </a:r>
            <a:r>
              <a:rPr lang="en-US" altLang="zh-CN" sz="2000">
                <a:latin typeface="Arial" panose="02080604020202020204" pitchFamily="34" charset="0"/>
              </a:rPr>
              <a:t> + item;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  flag = -flag;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	     denominator </a:t>
            </a:r>
            <a:r>
              <a:rPr lang="zh-CN" altLang="en-US" sz="2000">
                <a:latin typeface="Arial" panose="02080604020202020204" pitchFamily="34" charset="0"/>
              </a:rPr>
              <a:t>+</a:t>
            </a:r>
            <a:r>
              <a:rPr lang="en-US" altLang="zh-CN" sz="2000">
                <a:latin typeface="Arial" panose="02080604020202020204" pitchFamily="34" charset="0"/>
              </a:rPr>
              <a:t>= 2;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}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	 </a:t>
            </a:r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</a:rPr>
              <a:t>return sum * 4;</a:t>
            </a:r>
            <a:endParaRPr lang="en-US" altLang="zh-CN" sz="2000">
              <a:solidFill>
                <a:schemeClr val="bg2"/>
              </a:solidFill>
              <a:latin typeface="Arial" panose="0208060402020202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}</a:t>
            </a:r>
            <a:endParaRPr lang="zh-CN" altLang="en-US" sz="2000" dirty="0">
              <a:latin typeface="Arial" panose="02080604020202020204" pitchFamily="34" charset="0"/>
            </a:endParaRPr>
          </a:p>
        </p:txBody>
      </p:sp>
      <p:sp>
        <p:nvSpPr>
          <p:cNvPr id="400389" name="Rectangle 5"/>
          <p:cNvSpPr/>
          <p:nvPr/>
        </p:nvSpPr>
        <p:spPr>
          <a:xfrm>
            <a:off x="5995988" y="838200"/>
            <a:ext cx="2897187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latin typeface="Arial" panose="02080604020202020204" pitchFamily="34" charset="0"/>
              </a:rPr>
              <a:t>Enter e: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0.0001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latin typeface="Arial" panose="02080604020202020204" pitchFamily="34" charset="0"/>
              </a:rPr>
              <a:t>pi = 3.1418</a:t>
            </a:r>
            <a:endParaRPr lang="zh-CN" altLang="en-US" sz="2000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bldLvl="0" animBg="1"/>
      <p:bldP spid="40038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755650" y="476250"/>
            <a:ext cx="7561263" cy="5762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/>
              <a:t>5-5  </a:t>
            </a:r>
            <a:r>
              <a:rPr lang="zh-CN" altLang="en-US" sz="4000" dirty="0"/>
              <a:t>判断素数的函数</a:t>
            </a:r>
            <a:endParaRPr lang="zh-CN" altLang="en-US" sz="4000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218488" cy="518477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/>
              <a:t>例</a:t>
            </a:r>
            <a:r>
              <a:rPr lang="en-US" altLang="zh-CN" sz="2800"/>
              <a:t>5-5  </a:t>
            </a:r>
            <a:r>
              <a:rPr lang="zh-CN" altLang="en-US" sz="2800" dirty="0"/>
              <a:t>求</a:t>
            </a:r>
            <a:r>
              <a:rPr lang="en-US" altLang="zh-CN" sz="2800"/>
              <a:t>100</a:t>
            </a:r>
            <a:r>
              <a:rPr lang="zh-CN" altLang="en-US" sz="2800" dirty="0"/>
              <a:t>以内的全部素数，每行输出</a:t>
            </a:r>
            <a:r>
              <a:rPr lang="en-US" altLang="zh-CN" sz="2800"/>
              <a:t>10</a:t>
            </a:r>
            <a:r>
              <a:rPr lang="zh-CN" altLang="en-US" sz="2800" dirty="0"/>
              <a:t>个。素数就是只能被</a:t>
            </a:r>
            <a:r>
              <a:rPr lang="en-US" altLang="zh-CN" sz="2800"/>
              <a:t>1</a:t>
            </a:r>
            <a:r>
              <a:rPr lang="zh-CN" altLang="en-US" sz="2800" dirty="0"/>
              <a:t>和自身整除的正整数，</a:t>
            </a:r>
            <a:r>
              <a:rPr lang="en-US" altLang="zh-CN" sz="2800"/>
              <a:t>1</a:t>
            </a:r>
            <a:r>
              <a:rPr lang="zh-CN" altLang="en-US" sz="2800" dirty="0"/>
              <a:t>不是素数，</a:t>
            </a:r>
            <a:r>
              <a:rPr lang="en-US" altLang="zh-CN" sz="2800"/>
              <a:t>2</a:t>
            </a:r>
            <a:r>
              <a:rPr lang="zh-CN" altLang="en-US" sz="2800" dirty="0"/>
              <a:t>是素数。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要求定义和调用函数</a:t>
            </a:r>
            <a:r>
              <a:rPr lang="en-US" altLang="zh-CN" sz="2800"/>
              <a:t>prime (m)</a:t>
            </a:r>
            <a:r>
              <a:rPr lang="zh-CN" altLang="en-US" sz="2800" dirty="0"/>
              <a:t>判断</a:t>
            </a:r>
            <a:r>
              <a:rPr lang="en-US" altLang="zh-CN" sz="2800"/>
              <a:t>m</a:t>
            </a:r>
            <a:r>
              <a:rPr lang="zh-CN" altLang="en-US" sz="2800" dirty="0"/>
              <a:t>是否为素数，当</a:t>
            </a:r>
            <a:r>
              <a:rPr lang="en-US" altLang="zh-CN" sz="2800"/>
              <a:t>m</a:t>
            </a:r>
            <a:r>
              <a:rPr lang="zh-CN" altLang="en-US" sz="2800" dirty="0"/>
              <a:t>为素数时返回</a:t>
            </a:r>
            <a:r>
              <a:rPr lang="en-US" altLang="zh-CN" sz="2800"/>
              <a:t>1</a:t>
            </a:r>
            <a:r>
              <a:rPr lang="zh-CN" altLang="en-US" sz="2800" dirty="0"/>
              <a:t>，否则返回</a:t>
            </a:r>
            <a:r>
              <a:rPr lang="en-US" altLang="zh-CN" sz="2800"/>
              <a:t>0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GB" sz="2800" dirty="0"/>
              <a:t>	</a:t>
            </a:r>
            <a:endParaRPr lang="zh-CN" altLang="en-US" sz="2800" dirty="0"/>
          </a:p>
          <a:p>
            <a:pPr eaLnBrk="1" hangingPunct="1"/>
            <a:r>
              <a:rPr lang="zh-CN" altLang="en-GB" sz="2800" dirty="0"/>
              <a:t>算法描述：</a:t>
            </a:r>
            <a:r>
              <a:rPr lang="zh-CN" altLang="en-US" sz="2800" dirty="0"/>
              <a:t>对</a:t>
            </a:r>
            <a:r>
              <a:rPr lang="en-US" altLang="zh-CN" sz="2800"/>
              <a:t>2</a:t>
            </a:r>
            <a:r>
              <a:rPr lang="zh-CN" altLang="en-US" sz="2800" dirty="0"/>
              <a:t>～</a:t>
            </a:r>
            <a:r>
              <a:rPr lang="en-US" altLang="zh-CN" sz="2800"/>
              <a:t>100</a:t>
            </a:r>
            <a:r>
              <a:rPr lang="zh-CN" altLang="en-US" sz="2800" dirty="0"/>
              <a:t>之间的每个数进行判断，若是素数，则输出该数。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400" err="1"/>
              <a:t>for(m</a:t>
            </a:r>
            <a:r>
              <a:rPr lang="en-US" altLang="zh-CN" sz="2400"/>
              <a:t> = 2; m &lt;= 100; m++) </a:t>
            </a:r>
            <a:endParaRPr lang="en-US" altLang="zh-CN" sz="2400"/>
          </a:p>
          <a:p>
            <a:pPr lvl="1" eaLnBrk="1" hangingPunct="1">
              <a:buNone/>
            </a:pPr>
            <a:r>
              <a:rPr lang="en-US" altLang="zh-CN" sz="2400"/>
              <a:t>    if (</a:t>
            </a:r>
            <a:r>
              <a:rPr lang="en-US" altLang="zh-CN" sz="2400">
                <a:solidFill>
                  <a:srgbClr val="CC0066"/>
                </a:solidFill>
              </a:rPr>
              <a:t>m</a:t>
            </a:r>
            <a:r>
              <a:rPr lang="zh-CN" altLang="en-US" sz="2400" dirty="0">
                <a:solidFill>
                  <a:srgbClr val="CC0066"/>
                </a:solidFill>
              </a:rPr>
              <a:t>是素数</a:t>
            </a:r>
            <a:r>
              <a:rPr lang="en-US" altLang="zh-CN" sz="2400"/>
              <a:t>) </a:t>
            </a:r>
            <a:endParaRPr lang="en-US" altLang="zh-CN" sz="2400"/>
          </a:p>
          <a:p>
            <a:pPr lvl="1" eaLnBrk="1" hangingPunct="1">
              <a:buNone/>
            </a:pPr>
            <a:r>
              <a:rPr lang="en-US" altLang="zh-CN" sz="2400"/>
              <a:t>        </a:t>
            </a:r>
            <a:r>
              <a:rPr lang="en-US" altLang="zh-CN" sz="2400" err="1"/>
              <a:t>printf("%d</a:t>
            </a:r>
            <a:r>
              <a:rPr lang="en-US" altLang="zh-CN" sz="2400"/>
              <a:t> ", m);       </a:t>
            </a:r>
            <a:endParaRPr lang="zh-CN" altLang="en-US" sz="2400" dirty="0"/>
          </a:p>
        </p:txBody>
      </p:sp>
      <p:sp>
        <p:nvSpPr>
          <p:cNvPr id="402436" name="Text Box 4"/>
          <p:cNvSpPr txBox="1"/>
          <p:nvPr/>
        </p:nvSpPr>
        <p:spPr>
          <a:xfrm>
            <a:off x="4787900" y="5300663"/>
            <a:ext cx="2376488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err="1">
                <a:solidFill>
                  <a:srgbClr val="CC0066"/>
                </a:solidFill>
                <a:latin typeface="Arial" panose="02080604020202020204" pitchFamily="34" charset="0"/>
                <a:ea typeface="仿宋_GB2312" pitchFamily="49" charset="-122"/>
              </a:rPr>
              <a:t>prime(m</a:t>
            </a:r>
            <a:r>
              <a:rPr lang="en-US" altLang="zh-CN">
                <a:solidFill>
                  <a:srgbClr val="CC0066"/>
                </a:solidFill>
                <a:latin typeface="Arial" panose="02080604020202020204" pitchFamily="34" charset="0"/>
                <a:ea typeface="仿宋_GB2312" pitchFamily="49" charset="-122"/>
              </a:rPr>
              <a:t>) != 0</a:t>
            </a:r>
            <a:endParaRPr lang="en-US" altLang="zh-CN">
              <a:solidFill>
                <a:srgbClr val="CC0066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4797425" y="260350"/>
            <a:ext cx="4032250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例</a:t>
            </a:r>
            <a:r>
              <a:rPr lang="en-US" altLang="zh-CN"/>
              <a:t>5-5 </a:t>
            </a:r>
            <a:r>
              <a:rPr lang="zh-CN" altLang="en-US" dirty="0"/>
              <a:t>源程序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34925" y="620713"/>
            <a:ext cx="6042025" cy="6021387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/>
              <a:t>#include &lt;</a:t>
            </a:r>
            <a:r>
              <a:rPr lang="en-US" altLang="zh-CN" sz="2000" err="1"/>
              <a:t>stdio.h</a:t>
            </a:r>
            <a:r>
              <a:rPr lang="en-US" altLang="zh-CN" sz="2000"/>
              <a:t>&gt;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#include &lt;</a:t>
            </a:r>
            <a:r>
              <a:rPr lang="en-US" altLang="zh-CN" sz="2000" err="1"/>
              <a:t>math.h</a:t>
            </a:r>
            <a:r>
              <a:rPr lang="en-US" altLang="zh-CN" sz="2000"/>
              <a:t>&gt;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</a:t>
            </a:r>
            <a:r>
              <a:rPr lang="en-US" altLang="zh-CN" sz="2000" err="1"/>
              <a:t>main(void</a:t>
            </a:r>
            <a:r>
              <a:rPr lang="en-US" altLang="zh-CN" sz="2000"/>
              <a:t>)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{  	</a:t>
            </a:r>
            <a:r>
              <a:rPr lang="en-US" altLang="zh-CN" sz="2000" err="1"/>
              <a:t>int</a:t>
            </a:r>
            <a:r>
              <a:rPr lang="en-US" altLang="zh-CN" sz="2000"/>
              <a:t> count, m;   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	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prime (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m);</a:t>
            </a:r>
            <a:endParaRPr lang="en-US" altLang="zh-CN" sz="200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en-US" altLang="zh-CN" sz="2000"/>
              <a:t>    	count = 0;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	</a:t>
            </a:r>
            <a:r>
              <a:rPr lang="en-US" altLang="zh-CN" sz="2000" err="1"/>
              <a:t>for(m</a:t>
            </a:r>
            <a:r>
              <a:rPr lang="en-US" altLang="zh-CN" sz="2000"/>
              <a:t> = 2; m &lt;= 100; m++){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	    if ( </a:t>
            </a:r>
            <a:r>
              <a:rPr lang="en-US" altLang="zh-CN" sz="2000" err="1">
                <a:solidFill>
                  <a:srgbClr val="CC0066"/>
                </a:solidFill>
              </a:rPr>
              <a:t>prime(m</a:t>
            </a:r>
            <a:r>
              <a:rPr lang="en-US" altLang="zh-CN" sz="2000">
                <a:solidFill>
                  <a:srgbClr val="CC0066"/>
                </a:solidFill>
              </a:rPr>
              <a:t>) != 0  </a:t>
            </a:r>
            <a:r>
              <a:rPr lang="en-US" altLang="zh-CN" sz="2000"/>
              <a:t> ){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	        printf("%6d", m );     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         	count++;            	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         	if (count %10 == 0)  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		    </a:t>
            </a:r>
            <a:r>
              <a:rPr lang="en-US" altLang="zh-CN" sz="2000" err="1"/>
              <a:t>printf</a:t>
            </a:r>
            <a:r>
              <a:rPr lang="en-US" altLang="zh-CN" sz="2000"/>
              <a:t> ("\n");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     }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	}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    	</a:t>
            </a:r>
            <a:r>
              <a:rPr lang="en-US" altLang="zh-CN" sz="2000" err="1"/>
              <a:t>printf</a:t>
            </a:r>
            <a:r>
              <a:rPr lang="en-US" altLang="zh-CN" sz="2000"/>
              <a:t> ("\n");</a:t>
            </a:r>
            <a:endParaRPr lang="en-US" altLang="zh-CN" sz="2000"/>
          </a:p>
          <a:p>
            <a:pPr eaLnBrk="1" hangingPunct="1">
              <a:buNone/>
            </a:pPr>
            <a:r>
              <a:rPr lang="en-US" altLang="zh-CN" sz="2000"/>
              <a:t>}</a:t>
            </a:r>
            <a:endParaRPr lang="zh-CN" altLang="en-US" sz="2000" dirty="0"/>
          </a:p>
        </p:txBody>
      </p:sp>
      <p:sp>
        <p:nvSpPr>
          <p:cNvPr id="31748" name="Rectangle 6"/>
          <p:cNvSpPr/>
          <p:nvPr/>
        </p:nvSpPr>
        <p:spPr>
          <a:xfrm>
            <a:off x="5073650" y="3140075"/>
            <a:ext cx="3908425" cy="3683000"/>
          </a:xfrm>
          <a:prstGeom prst="rect">
            <a:avLst/>
          </a:prstGeom>
          <a:noFill/>
          <a:ln w="12700" cap="flat" cmpd="sng">
            <a:solidFill>
              <a:srgbClr val="6F6FBC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 err="1">
                <a:latin typeface="Arial" panose="02080604020202020204" pitchFamily="34" charset="0"/>
              </a:rPr>
              <a:t>int</a:t>
            </a:r>
            <a:r>
              <a:rPr lang="en-US" altLang="zh-CN" sz="2000">
                <a:latin typeface="Arial" panose="02080604020202020204" pitchFamily="34" charset="0"/>
              </a:rPr>
              <a:t> prime (</a:t>
            </a:r>
            <a:r>
              <a:rPr lang="en-US" altLang="zh-CN" sz="2000" err="1">
                <a:latin typeface="Arial" panose="02080604020202020204" pitchFamily="34" charset="0"/>
              </a:rPr>
              <a:t>int</a:t>
            </a:r>
            <a:r>
              <a:rPr lang="en-US" altLang="zh-CN" sz="2000">
                <a:latin typeface="Arial" panose="02080604020202020204" pitchFamily="34" charset="0"/>
              </a:rPr>
              <a:t> m)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{   </a:t>
            </a:r>
            <a:r>
              <a:rPr lang="en-US" altLang="zh-CN" sz="2000" err="1">
                <a:latin typeface="Arial" panose="02080604020202020204" pitchFamily="34" charset="0"/>
              </a:rPr>
              <a:t>int</a:t>
            </a:r>
            <a:r>
              <a:rPr lang="en-US" altLang="zh-CN" sz="2000">
                <a:latin typeface="Arial" panose="02080604020202020204" pitchFamily="34" charset="0"/>
              </a:rPr>
              <a:t> i, n;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if ( m == 1 ) </a:t>
            </a:r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</a:rPr>
              <a:t>return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0</a:t>
            </a:r>
            <a:r>
              <a:rPr lang="en-US" altLang="zh-CN" sz="2000">
                <a:latin typeface="Arial" panose="02080604020202020204" pitchFamily="34" charset="0"/>
              </a:rPr>
              <a:t>;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 </a:t>
            </a:r>
            <a:r>
              <a:rPr lang="en-US" altLang="zh-CN" sz="2000">
                <a:latin typeface="Arial" panose="02080604020202020204" pitchFamily="34" charset="0"/>
              </a:rPr>
              <a:t>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n = </a:t>
            </a:r>
            <a:r>
              <a:rPr lang="en-US" altLang="zh-CN" sz="2000" err="1">
                <a:latin typeface="Arial" panose="02080604020202020204" pitchFamily="34" charset="0"/>
              </a:rPr>
              <a:t>sqrt</a:t>
            </a:r>
            <a:r>
              <a:rPr lang="en-US" altLang="zh-CN" sz="2000">
                <a:latin typeface="Arial" panose="02080604020202020204" pitchFamily="34" charset="0"/>
              </a:rPr>
              <a:t> (m);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for( i = 2; i &lt;= n; i++)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 if (m % i == 0){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   	    </a:t>
            </a:r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</a:rPr>
              <a:t>return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0</a:t>
            </a:r>
            <a:r>
              <a:rPr lang="en-US" altLang="zh-CN" sz="2000">
                <a:latin typeface="Arial" panose="02080604020202020204" pitchFamily="34" charset="0"/>
              </a:rPr>
              <a:t>;	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   }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    </a:t>
            </a:r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</a:rPr>
              <a:t>return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1</a:t>
            </a:r>
            <a:r>
              <a:rPr lang="en-US" altLang="zh-CN" sz="2000">
                <a:latin typeface="Arial" panose="02080604020202020204" pitchFamily="34" charset="0"/>
              </a:rPr>
              <a:t>; </a:t>
            </a:r>
            <a:endParaRPr lang="en-US" altLang="zh-CN" sz="20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}</a:t>
            </a:r>
            <a:endParaRPr lang="zh-CN" altLang="en-US" sz="2000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187450" y="333375"/>
            <a:ext cx="563086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Chap</a:t>
            </a:r>
            <a:r>
              <a:rPr lang="x-none" altLang="en-US" dirty="0">
                <a:latin typeface="宋体" pitchFamily="2" charset="-122"/>
              </a:rPr>
              <a:t>ter</a:t>
            </a:r>
            <a:r>
              <a:rPr lang="en-US" altLang="zh-CN" dirty="0">
                <a:latin typeface="宋体" pitchFamily="2" charset="-122"/>
              </a:rPr>
              <a:t> 5</a:t>
            </a:r>
            <a:r>
              <a:rPr lang="zh-CN" altLang="en-US" dirty="0">
                <a:latin typeface="宋体" pitchFamily="2" charset="-122"/>
              </a:rPr>
              <a:t>  函数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701165"/>
            <a:ext cx="6151245" cy="208153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计算圆柱体体积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使用函数编写程序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变量与函数</a:t>
            </a:r>
            <a:endParaRPr lang="zh-CN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68313" y="765175"/>
            <a:ext cx="5699125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5.3 </a:t>
            </a:r>
            <a:r>
              <a:rPr lang="zh-CN" altLang="en-US" dirty="0"/>
              <a:t>变量与函数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900113" y="2492375"/>
            <a:ext cx="7427912" cy="19431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/>
              <a:t>5.3.1  </a:t>
            </a:r>
            <a:r>
              <a:rPr lang="zh-CN" altLang="en-US" dirty="0"/>
              <a:t>局部变量和全局变量</a:t>
            </a:r>
            <a:endParaRPr lang="zh-CN" altLang="en-US" dirty="0"/>
          </a:p>
          <a:p>
            <a:pPr eaLnBrk="1" hangingPunct="1">
              <a:spcBef>
                <a:spcPct val="100000"/>
              </a:spcBef>
              <a:buNone/>
            </a:pPr>
            <a:r>
              <a:rPr lang="en-US" altLang="zh-CN"/>
              <a:t>5.3.2  </a:t>
            </a:r>
            <a:r>
              <a:rPr lang="zh-CN" altLang="en-US" dirty="0"/>
              <a:t>变量生命周期和静态局部变量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7859713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/>
              <a:t>5.3.1 </a:t>
            </a:r>
            <a:r>
              <a:rPr lang="zh-CN" altLang="en-US" dirty="0"/>
              <a:t>局部变量和全局变量</a:t>
            </a:r>
            <a:endParaRPr lang="zh-CN" altLang="en-US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250825" y="1484313"/>
            <a:ext cx="8507413" cy="48958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局部变量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在函数内定义的变量（包括形参）</a:t>
            </a:r>
            <a:endParaRPr lang="zh-CN" altLang="en-US" dirty="0"/>
          </a:p>
          <a:p>
            <a:pPr lvl="2" eaLnBrk="1" hangingPunct="1">
              <a:buNone/>
            </a:pPr>
            <a:r>
              <a:rPr lang="zh-CN" altLang="en-US" dirty="0"/>
              <a:t>作用范围：</a:t>
            </a:r>
            <a:r>
              <a:rPr lang="zh-CN" altLang="en-US" dirty="0">
                <a:solidFill>
                  <a:schemeClr val="bg2"/>
                </a:solidFill>
              </a:rPr>
              <a:t>本函数内部</a:t>
            </a:r>
            <a:endParaRPr lang="zh-CN" altLang="en-US" dirty="0">
              <a:solidFill>
                <a:schemeClr val="bg2"/>
              </a:solidFill>
            </a:endParaRPr>
          </a:p>
          <a:p>
            <a:pPr lvl="1" eaLnBrk="1" hangingPunct="1"/>
            <a:r>
              <a:rPr lang="zh-CN" altLang="en-US" dirty="0"/>
              <a:t>定义在复合语句内的变量</a:t>
            </a:r>
            <a:endParaRPr lang="zh-CN" altLang="en-US" dirty="0"/>
          </a:p>
          <a:p>
            <a:pPr lvl="2" eaLnBrk="1" hangingPunct="1">
              <a:buNone/>
            </a:pPr>
            <a:r>
              <a:rPr lang="zh-CN" altLang="en-US" dirty="0"/>
              <a:t>作用范围：</a:t>
            </a:r>
            <a:r>
              <a:rPr lang="zh-CN" altLang="en-US" dirty="0">
                <a:solidFill>
                  <a:schemeClr val="bg2"/>
                </a:solidFill>
              </a:rPr>
              <a:t>复合语句内部</a:t>
            </a:r>
            <a:endParaRPr lang="zh-CN" altLang="en-US" dirty="0">
              <a:solidFill>
                <a:schemeClr val="bg2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全局变量	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在函数以外定义的变量，不从属于任一函数。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buNone/>
            </a:pPr>
            <a:r>
              <a:rPr lang="zh-CN" altLang="en-US" dirty="0"/>
              <a:t>作用范围：</a:t>
            </a:r>
            <a:r>
              <a:rPr lang="zh-CN" altLang="en-US" dirty="0">
                <a:solidFill>
                  <a:schemeClr val="bg2"/>
                </a:solidFill>
              </a:rPr>
              <a:t>从定义处到源文件结束</a:t>
            </a:r>
            <a:r>
              <a:rPr lang="zh-CN" altLang="zh-CN" dirty="0"/>
              <a:t>（包括各函数）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例</a:t>
            </a:r>
            <a:r>
              <a:rPr lang="en-US" altLang="zh-CN" sz="3200"/>
              <a:t>5-6  </a:t>
            </a:r>
            <a:r>
              <a:rPr lang="zh-CN" altLang="en-US" sz="3200" dirty="0"/>
              <a:t>在复合语句中定义局部变量。</a:t>
            </a:r>
            <a:endParaRPr lang="zh-CN" altLang="en-US" sz="3200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898525" y="1125538"/>
            <a:ext cx="7561263" cy="547211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#include &lt;</a:t>
            </a:r>
            <a:r>
              <a:rPr lang="en-US" altLang="zh-CN" sz="2400" err="1"/>
              <a:t>stdio.h</a:t>
            </a:r>
            <a:r>
              <a:rPr lang="en-US" altLang="zh-CN" sz="2400"/>
              <a:t>&gt;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main (void)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{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</a:t>
            </a:r>
            <a:r>
              <a:rPr lang="en-US" altLang="zh-CN" sz="2400" err="1">
                <a:solidFill>
                  <a:schemeClr val="bg2"/>
                </a:solidFill>
              </a:rPr>
              <a:t>int</a:t>
            </a:r>
            <a:r>
              <a:rPr lang="en-US" altLang="zh-CN" sz="2400">
                <a:solidFill>
                  <a:schemeClr val="bg2"/>
                </a:solidFill>
              </a:rPr>
              <a:t> a;</a:t>
            </a:r>
            <a:endParaRPr lang="en-US" altLang="zh-CN" sz="240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a = 1;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</a:t>
            </a:r>
            <a:r>
              <a:rPr lang="en-US" altLang="zh-CN" sz="2400">
                <a:solidFill>
                  <a:srgbClr val="33CC33"/>
                </a:solidFill>
              </a:rPr>
              <a:t>{</a:t>
            </a:r>
            <a:r>
              <a:rPr lang="en-US" altLang="zh-CN" sz="2400"/>
              <a:t>              		       /*  </a:t>
            </a:r>
            <a:r>
              <a:rPr lang="zh-CN" altLang="en-US" sz="2400" dirty="0"/>
              <a:t>复合语句开始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    </a:t>
            </a:r>
            <a:r>
              <a:rPr lang="en-US" altLang="zh-CN" sz="2400" err="1">
                <a:solidFill>
                  <a:srgbClr val="33CC33"/>
                </a:solidFill>
              </a:rPr>
              <a:t>int</a:t>
            </a:r>
            <a:r>
              <a:rPr lang="en-US" altLang="zh-CN" sz="2400">
                <a:solidFill>
                  <a:srgbClr val="33CC33"/>
                </a:solidFill>
              </a:rPr>
              <a:t> b = 2;</a:t>
            </a:r>
            <a:endParaRPr lang="en-US" altLang="zh-CN" sz="240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    b = a + b;     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    a = a + b;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33CC33"/>
                </a:solidFill>
              </a:rPr>
              <a:t>}</a:t>
            </a:r>
            <a:r>
              <a:rPr lang="en-US" altLang="zh-CN" sz="2400"/>
              <a:t>                		       /*  </a:t>
            </a:r>
            <a:r>
              <a:rPr lang="zh-CN" altLang="en-US" sz="2400" dirty="0"/>
              <a:t>复合语句结束 *</a:t>
            </a:r>
            <a:r>
              <a:rPr lang="en-US" altLang="zh-CN" sz="2400"/>
              <a:t>/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	</a:t>
            </a:r>
            <a:r>
              <a:rPr lang="en-US" altLang="zh-CN" sz="2400" err="1"/>
              <a:t>printf</a:t>
            </a:r>
            <a:r>
              <a:rPr lang="en-US" altLang="zh-CN" sz="2400"/>
              <a:t> ("%d " , a );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	return 0;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}</a:t>
            </a:r>
            <a:endParaRPr lang="zh-CN" altLang="en-US" sz="2400" dirty="0"/>
          </a:p>
        </p:txBody>
      </p:sp>
      <p:sp>
        <p:nvSpPr>
          <p:cNvPr id="423941" name="Text Box 5"/>
          <p:cNvSpPr txBox="1"/>
          <p:nvPr/>
        </p:nvSpPr>
        <p:spPr>
          <a:xfrm>
            <a:off x="5003800" y="3429000"/>
            <a:ext cx="3454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b:</a:t>
            </a:r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小范围内的临时变量</a:t>
            </a:r>
            <a:r>
              <a:rPr lang="zh-CN" altLang="en-US" b="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endParaRPr lang="zh-CN" altLang="en-US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23942" name="Line 6"/>
          <p:cNvSpPr/>
          <p:nvPr/>
        </p:nvSpPr>
        <p:spPr>
          <a:xfrm>
            <a:off x="754063" y="2349500"/>
            <a:ext cx="0" cy="37433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3943" name="Line 7"/>
          <p:cNvSpPr/>
          <p:nvPr/>
        </p:nvSpPr>
        <p:spPr>
          <a:xfrm>
            <a:off x="1114425" y="3429000"/>
            <a:ext cx="0" cy="1439863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3946" name="Rectangle 10"/>
          <p:cNvSpPr/>
          <p:nvPr/>
        </p:nvSpPr>
        <p:spPr>
          <a:xfrm>
            <a:off x="6731000" y="1773238"/>
            <a:ext cx="3603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>
                <a:latin typeface="Arial" panose="02080604020202020204" pitchFamily="34" charset="0"/>
              </a:rPr>
              <a:t>4</a:t>
            </a:r>
            <a:endParaRPr lang="zh-CN" altLang="en-US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1" grpId="0" bldLvl="0" animBg="1"/>
      <p:bldP spid="42394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5075238" y="188913"/>
            <a:ext cx="3744912" cy="6477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/>
              <a:t>5-7  </a:t>
            </a:r>
            <a:r>
              <a:rPr lang="zh-CN" altLang="en-US" sz="2800" dirty="0"/>
              <a:t>全局变量定义</a:t>
            </a:r>
            <a:endParaRPr lang="zh-CN" altLang="en-US" sz="2800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755650" y="476250"/>
            <a:ext cx="6300788" cy="619283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#include "</a:t>
            </a:r>
            <a:r>
              <a:rPr lang="en-US" altLang="zh-CN" sz="2000" err="1"/>
              <a:t>stdio.h</a:t>
            </a:r>
            <a:r>
              <a:rPr lang="en-US" altLang="zh-CN" sz="2000"/>
              <a:t>"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err="1">
                <a:solidFill>
                  <a:srgbClr val="CC0066"/>
                </a:solidFill>
              </a:rPr>
              <a:t>int</a:t>
            </a:r>
            <a:r>
              <a:rPr lang="en-US" altLang="zh-CN" sz="2000">
                <a:solidFill>
                  <a:srgbClr val="CC0066"/>
                </a:solidFill>
              </a:rPr>
              <a:t> x;</a:t>
            </a:r>
            <a:r>
              <a:rPr lang="en-US" altLang="zh-CN" sz="2000"/>
              <a:t>	   	/* </a:t>
            </a:r>
            <a:r>
              <a:rPr lang="zh-CN" altLang="en-US" sz="2000" dirty="0"/>
              <a:t>定义全局变量</a:t>
            </a:r>
            <a:r>
              <a:rPr lang="en-US" altLang="zh-CN" sz="2000"/>
              <a:t>x */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f( )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{ 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x = 4;</a:t>
            </a:r>
            <a:r>
              <a:rPr lang="en-US" altLang="zh-CN" sz="2000"/>
              <a:t>       /* x</a:t>
            </a:r>
            <a:r>
              <a:rPr lang="zh-CN" altLang="en-US" sz="2000" dirty="0"/>
              <a:t>为局部变量 *</a:t>
            </a:r>
            <a:r>
              <a:rPr lang="en-US" altLang="zh-CN" sz="2000"/>
              <a:t>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return x;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</a:t>
            </a:r>
            <a:r>
              <a:rPr lang="en-US" altLang="zh-CN" sz="2000" err="1"/>
              <a:t>main(void</a:t>
            </a:r>
            <a:r>
              <a:rPr lang="en-US" altLang="zh-CN" sz="2000"/>
              <a:t>)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a = 1;</a:t>
            </a:r>
            <a:r>
              <a:rPr lang="en-US" altLang="zh-CN" sz="2000"/>
              <a:t>  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>
                <a:solidFill>
                  <a:srgbClr val="CC0066"/>
                </a:solidFill>
              </a:rPr>
              <a:t>x</a:t>
            </a:r>
            <a:r>
              <a:rPr lang="en-US" altLang="zh-CN" sz="2000"/>
              <a:t> = </a:t>
            </a:r>
            <a:r>
              <a:rPr lang="en-US" altLang="zh-CN" sz="2000">
                <a:solidFill>
                  <a:schemeClr val="bg2"/>
                </a:solidFill>
              </a:rPr>
              <a:t>a</a:t>
            </a:r>
            <a:r>
              <a:rPr lang="en-US" altLang="zh-CN" sz="2000"/>
              <a:t>;   	     	/* </a:t>
            </a:r>
            <a:r>
              <a:rPr lang="zh-CN" altLang="en-US" sz="2000" dirty="0"/>
              <a:t>对全局变量 </a:t>
            </a:r>
            <a:r>
              <a:rPr lang="en-US" altLang="zh-CN" sz="2000"/>
              <a:t>x </a:t>
            </a:r>
            <a:r>
              <a:rPr lang="zh-CN" altLang="en-US" sz="2000" dirty="0"/>
              <a:t>赋值</a:t>
            </a:r>
            <a:r>
              <a:rPr lang="en-US" altLang="zh-CN" sz="2000"/>
              <a:t> */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a = f( );  	   	/* a</a:t>
            </a:r>
            <a:r>
              <a:rPr lang="zh-CN" altLang="en-US" sz="2000" dirty="0"/>
              <a:t>的值为</a:t>
            </a:r>
            <a:r>
              <a:rPr lang="en-US" altLang="zh-CN" sz="2000"/>
              <a:t>4 */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{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	    </a:t>
            </a:r>
            <a:r>
              <a:rPr lang="en-US" altLang="zh-CN" sz="2000" err="1">
                <a:solidFill>
                  <a:srgbClr val="33CC33"/>
                </a:solidFill>
              </a:rPr>
              <a:t>int</a:t>
            </a:r>
            <a:r>
              <a:rPr lang="en-US" altLang="zh-CN" sz="2000">
                <a:solidFill>
                  <a:srgbClr val="33CC33"/>
                </a:solidFill>
              </a:rPr>
              <a:t> b = 2;</a:t>
            </a:r>
            <a:r>
              <a:rPr lang="en-US" altLang="zh-CN" sz="2000"/>
              <a:t> 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zh-CN" altLang="en-US" sz="2000"/>
              <a:t>    </a:t>
            </a:r>
            <a:r>
              <a:rPr lang="en-US" altLang="zh-CN" sz="2000"/>
              <a:t>b = a + b;   	/* b</a:t>
            </a:r>
            <a:r>
              <a:rPr lang="zh-CN" altLang="en-US" sz="2000" dirty="0"/>
              <a:t>的值为</a:t>
            </a:r>
            <a:r>
              <a:rPr lang="en-US" altLang="zh-CN" sz="2000"/>
              <a:t>6 */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	    </a:t>
            </a:r>
            <a:r>
              <a:rPr lang="en-US" altLang="zh-CN" sz="2000">
                <a:solidFill>
                  <a:srgbClr val="CC0066"/>
                </a:solidFill>
              </a:rPr>
              <a:t>x</a:t>
            </a:r>
            <a:r>
              <a:rPr lang="en-US" altLang="zh-CN" sz="2000"/>
              <a:t> = </a:t>
            </a:r>
            <a:r>
              <a:rPr lang="en-US" altLang="zh-CN" sz="2000">
                <a:solidFill>
                  <a:srgbClr val="CC0066"/>
                </a:solidFill>
              </a:rPr>
              <a:t>x</a:t>
            </a:r>
            <a:r>
              <a:rPr lang="en-US" altLang="zh-CN" sz="2000"/>
              <a:t> + b;	/* </a:t>
            </a:r>
            <a:r>
              <a:rPr lang="zh-CN" altLang="en-US" sz="2000" dirty="0"/>
              <a:t>全局变量运算 *</a:t>
            </a:r>
            <a:r>
              <a:rPr lang="en-US" altLang="zh-CN" sz="2000"/>
              <a:t>/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}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/>
              <a:t>printf("%d</a:t>
            </a:r>
            <a:r>
              <a:rPr lang="en-US" altLang="zh-CN" sz="2000"/>
              <a:t> %d" , a, </a:t>
            </a:r>
            <a:r>
              <a:rPr lang="en-US" altLang="zh-CN" sz="2000">
                <a:solidFill>
                  <a:srgbClr val="CC0066"/>
                </a:solidFill>
              </a:rPr>
              <a:t>x</a:t>
            </a:r>
            <a:r>
              <a:rPr lang="en-US" altLang="zh-CN" sz="2000"/>
              <a:t>);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return 0;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}</a:t>
            </a:r>
            <a:endParaRPr lang="zh-CN" altLang="en-US" sz="2000" dirty="0"/>
          </a:p>
        </p:txBody>
      </p:sp>
      <p:sp>
        <p:nvSpPr>
          <p:cNvPr id="424965" name="Rectangle 5"/>
          <p:cNvSpPr/>
          <p:nvPr/>
        </p:nvSpPr>
        <p:spPr>
          <a:xfrm>
            <a:off x="7524750" y="3573463"/>
            <a:ext cx="1308100" cy="4603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>
                <a:latin typeface="Arial" panose="02080604020202020204" pitchFamily="34" charset="0"/>
              </a:rPr>
              <a:t>4, 7</a:t>
            </a:r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424966" name="Text Box 6"/>
          <p:cNvSpPr txBox="1"/>
          <p:nvPr/>
        </p:nvSpPr>
        <p:spPr>
          <a:xfrm>
            <a:off x="5219700" y="1054100"/>
            <a:ext cx="3814763" cy="9461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bg2"/>
                </a:solidFill>
                <a:latin typeface="Times New Roman" pitchFamily="18" charset="0"/>
                <a:ea typeface="仿宋_GB2312" pitchFamily="49" charset="-122"/>
              </a:rPr>
              <a:t>若局部变量与全局变量同名，局部变量优先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424967" name="Line 7"/>
          <p:cNvSpPr/>
          <p:nvPr/>
        </p:nvSpPr>
        <p:spPr>
          <a:xfrm>
            <a:off x="468313" y="908050"/>
            <a:ext cx="0" cy="5545138"/>
          </a:xfrm>
          <a:prstGeom prst="line">
            <a:avLst/>
          </a:prstGeom>
          <a:ln w="38100" cap="flat" cmpd="sng">
            <a:solidFill>
              <a:srgbClr val="CC00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4968" name="Line 8"/>
          <p:cNvSpPr/>
          <p:nvPr/>
        </p:nvSpPr>
        <p:spPr>
          <a:xfrm>
            <a:off x="611188" y="1773238"/>
            <a:ext cx="0" cy="64770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4969" name="Line 9"/>
          <p:cNvSpPr/>
          <p:nvPr/>
        </p:nvSpPr>
        <p:spPr>
          <a:xfrm>
            <a:off x="971550" y="4508500"/>
            <a:ext cx="0" cy="1008063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4970" name="Line 10"/>
          <p:cNvSpPr/>
          <p:nvPr/>
        </p:nvSpPr>
        <p:spPr>
          <a:xfrm>
            <a:off x="611188" y="3357563"/>
            <a:ext cx="0" cy="30956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5" grpId="0" bldLvl="0" animBg="1"/>
      <p:bldP spid="42496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4859338" y="404813"/>
            <a:ext cx="4002087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变量作用范围示例</a:t>
            </a:r>
            <a:endParaRPr lang="en-US" altLang="zh-CN" sz="360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1187450" y="1179513"/>
            <a:ext cx="6264275" cy="54895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err="1">
                <a:solidFill>
                  <a:srgbClr val="CC0066"/>
                </a:solidFill>
              </a:rPr>
              <a:t>int</a:t>
            </a:r>
            <a:r>
              <a:rPr lang="en-US" altLang="zh-CN" sz="2000">
                <a:solidFill>
                  <a:srgbClr val="CC0066"/>
                </a:solidFill>
              </a:rPr>
              <a:t> x=1;</a:t>
            </a:r>
            <a:endParaRPr lang="en-US" altLang="zh-CN" sz="2000">
              <a:solidFill>
                <a:srgbClr val="CC0066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void main( )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{   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a=2;</a:t>
            </a:r>
            <a:endParaRPr lang="en-US" altLang="zh-CN" sz="2000">
              <a:solidFill>
                <a:schemeClr val="bg2"/>
              </a:solidFill>
            </a:endParaRPr>
          </a:p>
          <a:p>
            <a:pPr eaLnBrk="1" hangingPunct="1">
              <a:lnSpc>
                <a:spcPct val="60000"/>
              </a:lnSpc>
              <a:buNone/>
            </a:pPr>
            <a:r>
              <a:rPr lang="en-US" altLang="zh-CN" sz="2000"/>
              <a:t>    ……..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{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>
                <a:solidFill>
                  <a:srgbClr val="33CC33"/>
                </a:solidFill>
              </a:rPr>
              <a:t>         </a:t>
            </a:r>
            <a:r>
              <a:rPr lang="en-US" altLang="zh-CN" sz="2000" err="1">
                <a:solidFill>
                  <a:srgbClr val="33CC33"/>
                </a:solidFill>
              </a:rPr>
              <a:t>int</a:t>
            </a:r>
            <a:r>
              <a:rPr lang="en-US" altLang="zh-CN" sz="2000">
                <a:solidFill>
                  <a:srgbClr val="33CC33"/>
                </a:solidFill>
              </a:rPr>
              <a:t> b=3;</a:t>
            </a:r>
            <a:endParaRPr lang="en-US" altLang="zh-CN" sz="2000">
              <a:solidFill>
                <a:srgbClr val="33CC33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     …..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}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     f( );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         ………..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err="1">
                <a:solidFill>
                  <a:srgbClr val="CC0066"/>
                </a:solidFill>
              </a:rPr>
              <a:t>int</a:t>
            </a:r>
            <a:r>
              <a:rPr lang="en-US" altLang="zh-CN" sz="2000">
                <a:solidFill>
                  <a:srgbClr val="CC0066"/>
                </a:solidFill>
              </a:rPr>
              <a:t> t=4 ;</a:t>
            </a:r>
            <a:endParaRPr lang="en-US" altLang="zh-CN" sz="2000">
              <a:solidFill>
                <a:srgbClr val="CC0066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void f( )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{ </a:t>
            </a:r>
            <a:r>
              <a:rPr lang="en-US" altLang="zh-CN" sz="2000" err="1">
                <a:solidFill>
                  <a:schemeClr val="bg2"/>
                </a:solidFill>
              </a:rPr>
              <a:t>int</a:t>
            </a:r>
            <a:r>
              <a:rPr lang="en-US" altLang="zh-CN" sz="2000">
                <a:solidFill>
                  <a:schemeClr val="bg2"/>
                </a:solidFill>
              </a:rPr>
              <a:t> x=5, b=6;</a:t>
            </a:r>
            <a:endParaRPr lang="en-US" altLang="zh-CN" sz="2000">
              <a:solidFill>
                <a:schemeClr val="bg2"/>
              </a:solidFill>
            </a:endParaRPr>
          </a:p>
          <a:p>
            <a:pPr eaLnBrk="1" hangingPunct="1">
              <a:lnSpc>
                <a:spcPct val="40000"/>
              </a:lnSpc>
              <a:buNone/>
            </a:pPr>
            <a:r>
              <a:rPr lang="en-US" altLang="zh-CN" sz="2000"/>
              <a:t>   …….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err="1">
                <a:solidFill>
                  <a:srgbClr val="CC0066"/>
                </a:solidFill>
              </a:rPr>
              <a:t>int</a:t>
            </a:r>
            <a:r>
              <a:rPr lang="en-US" altLang="zh-CN" sz="2000">
                <a:solidFill>
                  <a:srgbClr val="CC0066"/>
                </a:solidFill>
              </a:rPr>
              <a:t> a=7;</a:t>
            </a:r>
            <a:endParaRPr lang="en-US" altLang="zh-CN" sz="2000">
              <a:solidFill>
                <a:srgbClr val="CC0066"/>
              </a:solidFill>
            </a:endParaRPr>
          </a:p>
        </p:txBody>
      </p:sp>
      <p:sp>
        <p:nvSpPr>
          <p:cNvPr id="430084" name="Text Box 4"/>
          <p:cNvSpPr txBox="1"/>
          <p:nvPr/>
        </p:nvSpPr>
        <p:spPr>
          <a:xfrm>
            <a:off x="3924300" y="2781300"/>
            <a:ext cx="266382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x=?  a=?  b=?</a:t>
            </a:r>
            <a:endParaRPr lang="en-US" altLang="zh-CN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430085" name="Text Box 5"/>
          <p:cNvSpPr txBox="1"/>
          <p:nvPr/>
        </p:nvSpPr>
        <p:spPr>
          <a:xfrm>
            <a:off x="4356100" y="3789363"/>
            <a:ext cx="7620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</a:rPr>
              <a:t>b=?</a:t>
            </a:r>
            <a:r>
              <a:rPr lang="en-US" altLang="zh-CN" b="0">
                <a:solidFill>
                  <a:srgbClr val="0033CC"/>
                </a:solidFill>
                <a:latin typeface="Times New Roman" pitchFamily="18" charset="0"/>
              </a:rPr>
              <a:t> </a:t>
            </a:r>
            <a:endParaRPr lang="en-US" altLang="zh-CN" b="0">
              <a:latin typeface="Times New Roman" pitchFamily="18" charset="0"/>
            </a:endParaRPr>
          </a:p>
        </p:txBody>
      </p:sp>
      <p:sp>
        <p:nvSpPr>
          <p:cNvPr id="430086" name="Text Box 6"/>
          <p:cNvSpPr txBox="1"/>
          <p:nvPr/>
        </p:nvSpPr>
        <p:spPr>
          <a:xfrm>
            <a:off x="3924300" y="4724400"/>
            <a:ext cx="400685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0" dirty="0">
                <a:solidFill>
                  <a:schemeClr val="bg2"/>
                </a:solidFill>
                <a:latin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</a:rPr>
              <a:t>x=5  b=6  t=4  a</a:t>
            </a:r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</a:rPr>
              <a:t>没定义</a:t>
            </a:r>
            <a:r>
              <a:rPr lang="zh-CN" altLang="en-US" b="0" dirty="0">
                <a:solidFill>
                  <a:srgbClr val="0033CC"/>
                </a:solidFill>
                <a:latin typeface="Times New Roman" pitchFamily="18" charset="0"/>
              </a:rPr>
              <a:t> </a:t>
            </a:r>
            <a:endParaRPr lang="en-US" altLang="zh-CN" b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30087" name="Line 7"/>
          <p:cNvSpPr/>
          <p:nvPr/>
        </p:nvSpPr>
        <p:spPr>
          <a:xfrm>
            <a:off x="827088" y="1268413"/>
            <a:ext cx="0" cy="4953000"/>
          </a:xfrm>
          <a:prstGeom prst="line">
            <a:avLst/>
          </a:prstGeom>
          <a:ln w="38100" cap="flat" cmpd="sng">
            <a:solidFill>
              <a:srgbClr val="CC00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88" name="Line 8"/>
          <p:cNvSpPr/>
          <p:nvPr/>
        </p:nvSpPr>
        <p:spPr>
          <a:xfrm>
            <a:off x="1187450" y="5949950"/>
            <a:ext cx="0" cy="304800"/>
          </a:xfrm>
          <a:prstGeom prst="line">
            <a:avLst/>
          </a:prstGeom>
          <a:ln w="38100" cap="flat" cmpd="sng">
            <a:solidFill>
              <a:srgbClr val="CC00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89" name="Line 9"/>
          <p:cNvSpPr/>
          <p:nvPr/>
        </p:nvSpPr>
        <p:spPr>
          <a:xfrm>
            <a:off x="1187450" y="1917700"/>
            <a:ext cx="0" cy="2590800"/>
          </a:xfrm>
          <a:prstGeom prst="line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90" name="Line 10"/>
          <p:cNvSpPr/>
          <p:nvPr/>
        </p:nvSpPr>
        <p:spPr>
          <a:xfrm>
            <a:off x="1763713" y="2781300"/>
            <a:ext cx="0" cy="576263"/>
          </a:xfrm>
          <a:prstGeom prst="line">
            <a:avLst/>
          </a:prstGeom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91" name="Line 11"/>
          <p:cNvSpPr/>
          <p:nvPr/>
        </p:nvSpPr>
        <p:spPr>
          <a:xfrm>
            <a:off x="971550" y="4581525"/>
            <a:ext cx="0" cy="1655763"/>
          </a:xfrm>
          <a:prstGeom prst="line">
            <a:avLst/>
          </a:prstGeom>
          <a:ln w="38100" cap="flat" cmpd="sng">
            <a:solidFill>
              <a:srgbClr val="CC00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92" name="Line 12"/>
          <p:cNvSpPr/>
          <p:nvPr/>
        </p:nvSpPr>
        <p:spPr>
          <a:xfrm>
            <a:off x="1187450" y="5229225"/>
            <a:ext cx="0" cy="609600"/>
          </a:xfrm>
          <a:prstGeom prst="line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0094" name="Text Box 14"/>
          <p:cNvSpPr txBox="1"/>
          <p:nvPr/>
        </p:nvSpPr>
        <p:spPr>
          <a:xfrm>
            <a:off x="4211638" y="5300663"/>
            <a:ext cx="2808287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0" dirty="0">
                <a:solidFill>
                  <a:schemeClr val="bg2"/>
                </a:solidFill>
                <a:latin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</a:rPr>
              <a:t>x=?  b=?  t=? a=?</a:t>
            </a:r>
            <a:endParaRPr lang="en-US" altLang="zh-CN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4" grpId="0" bldLvl="0" animBg="1"/>
      <p:bldP spid="430085" grpId="0" bldLvl="0" animBg="1"/>
      <p:bldP spid="430086" grpId="0" bldLvl="0" animBg="1"/>
      <p:bldP spid="43009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411651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820150" cy="4895850"/>
          </a:xfrm>
        </p:spPr>
        <p:txBody>
          <a:bodyPr vert="horz" wrap="square" lIns="91440" tIns="45720" rIns="91440" bIns="45720" anchor="t" anchorCtr="0"/>
          <a:p>
            <a:pPr marL="92075" indent="-92075" eaLnBrk="1" hangingPunct="1"/>
            <a:r>
              <a:rPr lang="zh-CN" altLang="en-US" sz="2800" dirty="0"/>
              <a:t>自动变量（</a:t>
            </a:r>
            <a:r>
              <a:rPr lang="en-US" altLang="zh-CN" sz="2800">
                <a:solidFill>
                  <a:srgbClr val="CC0066"/>
                </a:solidFill>
              </a:rPr>
              <a:t>auto</a:t>
            </a:r>
            <a:r>
              <a:rPr lang="zh-CN" altLang="en-US" sz="2800" dirty="0"/>
              <a:t>）</a:t>
            </a:r>
            <a:r>
              <a:rPr lang="en-US" altLang="zh-CN" sz="2800"/>
              <a:t>:  </a:t>
            </a:r>
            <a:r>
              <a:rPr lang="zh-CN" altLang="en-US" sz="2800" dirty="0"/>
              <a:t>普通的局部变量</a:t>
            </a:r>
            <a:endParaRPr lang="zh-CN" altLang="en-US" sz="2800" dirty="0"/>
          </a:p>
          <a:p>
            <a:pPr marL="770255" lvl="1" eaLnBrk="1" hangingPunct="1"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x, y;  </a:t>
            </a:r>
            <a:r>
              <a:rPr lang="en-US" altLang="zh-CN" sz="2400">
                <a:sym typeface="Wingdings" panose="05000000000000000000" pitchFamily="2" charset="2"/>
              </a:rPr>
              <a:t> 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CC0066"/>
                </a:solidFill>
              </a:rPr>
              <a:t>auto</a:t>
            </a:r>
            <a:r>
              <a:rPr lang="en-US" altLang="zh-CN" sz="2400"/>
              <a:t> </a:t>
            </a:r>
            <a:r>
              <a:rPr lang="en-US" altLang="zh-CN" sz="2400" err="1"/>
              <a:t>int</a:t>
            </a:r>
            <a:r>
              <a:rPr lang="en-US" altLang="zh-CN" sz="2400"/>
              <a:t> x, y;</a:t>
            </a:r>
            <a:endParaRPr lang="en-US" altLang="zh-CN" sz="2400"/>
          </a:p>
          <a:p>
            <a:pPr marL="770255" lvl="1" eaLnBrk="1" hangingPunct="1">
              <a:buNone/>
            </a:pPr>
            <a:r>
              <a:rPr lang="en-US" altLang="zh-CN" sz="2400"/>
              <a:t>char c1; </a:t>
            </a:r>
            <a:r>
              <a:rPr lang="en-US" altLang="zh-CN" sz="2400">
                <a:sym typeface="Wingdings" panose="05000000000000000000" pitchFamily="2" charset="2"/>
              </a:rPr>
              <a:t></a:t>
            </a:r>
            <a:r>
              <a:rPr lang="en-US" altLang="zh-CN" sz="2400"/>
              <a:t>  </a:t>
            </a:r>
            <a:r>
              <a:rPr lang="en-US" altLang="zh-CN" sz="2400">
                <a:solidFill>
                  <a:srgbClr val="CC0066"/>
                </a:solidFill>
              </a:rPr>
              <a:t>auto</a:t>
            </a:r>
            <a:r>
              <a:rPr lang="en-US" altLang="zh-CN" sz="2400"/>
              <a:t> char c1;</a:t>
            </a:r>
            <a:endParaRPr lang="en-US" altLang="zh-CN" sz="2400"/>
          </a:p>
          <a:p>
            <a:pPr marL="770255" lvl="1" eaLnBrk="1" hangingPunct="1"/>
            <a:r>
              <a:rPr lang="zh-CN" altLang="zh-CN" dirty="0"/>
              <a:t>函数调用时，定义变量，分配存储单元</a:t>
            </a:r>
            <a:r>
              <a:rPr lang="zh-CN" altLang="en-US" dirty="0"/>
              <a:t>。</a:t>
            </a:r>
            <a:endParaRPr lang="zh-CN" altLang="en-US" dirty="0"/>
          </a:p>
          <a:p>
            <a:pPr marL="770255" lvl="1" eaLnBrk="1" hangingPunct="1"/>
            <a:r>
              <a:rPr lang="zh-CN" altLang="zh-CN" dirty="0"/>
              <a:t>函数调用结束，收回存储单元</a:t>
            </a:r>
            <a:r>
              <a:rPr lang="zh-CN" altLang="en-US" dirty="0"/>
              <a:t>。</a:t>
            </a:r>
            <a:endParaRPr lang="zh-CN" altLang="en-US" dirty="0"/>
          </a:p>
          <a:p>
            <a:pPr marL="92075" indent="-92075" eaLnBrk="1" hangingPunct="1"/>
            <a:r>
              <a:rPr lang="zh-CN" altLang="en-US" sz="2800" dirty="0"/>
              <a:t>全局变量：从</a:t>
            </a:r>
            <a:r>
              <a:rPr lang="zh-CN" altLang="zh-CN" sz="2800" dirty="0"/>
              <a:t>程序</a:t>
            </a:r>
            <a:r>
              <a:rPr lang="zh-CN" altLang="en-US" sz="2800" dirty="0"/>
              <a:t>执行开始，到程序的结束</a:t>
            </a:r>
            <a:r>
              <a:rPr lang="zh-CN" altLang="zh-CN" sz="2800" dirty="0"/>
              <a:t>，</a:t>
            </a:r>
            <a:r>
              <a:rPr lang="zh-CN" altLang="en-US" sz="2800" dirty="0"/>
              <a:t>存储单元始终保持</a:t>
            </a:r>
            <a:r>
              <a:rPr lang="zh-CN" altLang="zh-CN" sz="2800" dirty="0"/>
              <a:t>。</a:t>
            </a:r>
            <a:endParaRPr lang="zh-CN" altLang="en-US" sz="2800" dirty="0"/>
          </a:p>
          <a:p>
            <a:pPr marL="92075" indent="-92075" eaLnBrk="1" hangingPunct="1"/>
            <a:r>
              <a:rPr lang="zh-CN" altLang="en-US" sz="2800" dirty="0"/>
              <a:t>变量生命周期</a:t>
            </a:r>
            <a:endParaRPr lang="zh-CN" altLang="en-US" sz="2800" dirty="0"/>
          </a:p>
          <a:p>
            <a:pPr marL="770255" lvl="1" eaLnBrk="1" hangingPunct="1">
              <a:buNone/>
            </a:pPr>
            <a:r>
              <a:rPr lang="zh-CN" altLang="en-US" sz="2400" dirty="0"/>
              <a:t>变量从定义开始分配存储单元，到运行结束存储单元被回收的整个过程。</a:t>
            </a:r>
            <a:endParaRPr lang="zh-CN" altLang="en-US" sz="2400" dirty="0"/>
          </a:p>
        </p:txBody>
      </p:sp>
      <p:sp>
        <p:nvSpPr>
          <p:cNvPr id="37891" name="Rectangle 21"/>
          <p:cNvSpPr>
            <a:spLocks noGrp="1"/>
          </p:cNvSpPr>
          <p:nvPr>
            <p:ph type="title"/>
          </p:nvPr>
        </p:nvSpPr>
        <p:spPr>
          <a:xfrm>
            <a:off x="468313" y="692150"/>
            <a:ext cx="8075612" cy="5953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/>
              <a:t>5.3.2  </a:t>
            </a:r>
            <a:r>
              <a:rPr lang="zh-CN" altLang="en-US" sz="3600" dirty="0"/>
              <a:t>变量生命周期和静态局部变量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2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1651">
                                            <p:txEl>
                                              <p:charRg st="2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5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1651">
                                            <p:txEl>
                                              <p:charRg st="51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7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charRg st="78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97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11651">
                                            <p:txEl>
                                              <p:charRg st="97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112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1651">
                                            <p:txEl>
                                              <p:charRg st="112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142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1651">
                                            <p:txEl>
                                              <p:charRg st="142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charRg st="149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charRg st="149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410626" name="Rectangle 2"/>
          <p:cNvSpPr>
            <a:spLocks noGrp="1"/>
          </p:cNvSpPr>
          <p:nvPr>
            <p:ph idx="1"/>
          </p:nvPr>
        </p:nvSpPr>
        <p:spPr>
          <a:xfrm>
            <a:off x="755650" y="1484313"/>
            <a:ext cx="77724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  <a:buSzTx/>
            </a:pPr>
            <a:r>
              <a:rPr lang="zh-CN" altLang="en-US" dirty="0"/>
              <a:t>存储类型：</a:t>
            </a:r>
            <a:endParaRPr lang="zh-CN" altLang="en-US" dirty="0"/>
          </a:p>
          <a:p>
            <a:pPr lvl="1" eaLnBrk="1" hangingPunct="1">
              <a:spcBef>
                <a:spcPct val="50000"/>
              </a:spcBef>
              <a:buSzTx/>
            </a:pPr>
            <a:r>
              <a:rPr lang="zh-CN" altLang="en-US" dirty="0"/>
              <a:t>动态存储：自动变量</a:t>
            </a:r>
            <a:endParaRPr lang="zh-CN" altLang="en-US" dirty="0"/>
          </a:p>
          <a:p>
            <a:pPr lvl="1" eaLnBrk="1" hangingPunct="1">
              <a:spcBef>
                <a:spcPct val="50000"/>
              </a:spcBef>
              <a:buSzTx/>
            </a:pPr>
            <a:r>
              <a:rPr lang="zh-CN" altLang="en-US" dirty="0"/>
              <a:t>静态存储：全局变量、</a:t>
            </a:r>
            <a:r>
              <a:rPr lang="zh-CN" altLang="en-US" dirty="0">
                <a:solidFill>
                  <a:schemeClr val="bg2"/>
                </a:solidFill>
              </a:rPr>
              <a:t>静态局部变量</a:t>
            </a:r>
            <a:endParaRPr lang="zh-CN" altLang="en-US" dirty="0">
              <a:solidFill>
                <a:schemeClr val="bg2"/>
              </a:solidFill>
            </a:endParaRPr>
          </a:p>
          <a:p>
            <a:pPr eaLnBrk="1" hangingPunct="1"/>
            <a:r>
              <a:rPr lang="zh-CN" altLang="en-US" dirty="0"/>
              <a:t>用户存储空间</a:t>
            </a:r>
            <a:endParaRPr lang="zh-CN" altLang="en-US" dirty="0"/>
          </a:p>
          <a:p>
            <a:pPr eaLnBrk="1" hangingPunct="1"/>
            <a:endParaRPr lang="zh-CN" altLang="en-US" b="0" dirty="0"/>
          </a:p>
          <a:p>
            <a:pPr eaLnBrk="1" hangingPunct="1"/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</p:txBody>
      </p:sp>
      <p:sp>
        <p:nvSpPr>
          <p:cNvPr id="38915" name="Rectangle 3"/>
          <p:cNvSpPr>
            <a:spLocks noGrp="1"/>
          </p:cNvSpPr>
          <p:nvPr>
            <p:ph type="title"/>
          </p:nvPr>
        </p:nvSpPr>
        <p:spPr>
          <a:xfrm>
            <a:off x="971550" y="476250"/>
            <a:ext cx="7561263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存储区</a:t>
            </a:r>
            <a:endParaRPr lang="en-US" altLang="zh-CN" sz="4800"/>
          </a:p>
        </p:txBody>
      </p:sp>
      <p:grpSp>
        <p:nvGrpSpPr>
          <p:cNvPr id="2" name="Group 8"/>
          <p:cNvGrpSpPr/>
          <p:nvPr/>
        </p:nvGrpSpPr>
        <p:grpSpPr>
          <a:xfrm>
            <a:off x="2771775" y="4221163"/>
            <a:ext cx="2971800" cy="1223962"/>
            <a:chOff x="1989" y="2977"/>
            <a:chExt cx="1872" cy="771"/>
          </a:xfrm>
        </p:grpSpPr>
        <p:sp>
          <p:nvSpPr>
            <p:cNvPr id="38917" name="Rectangle 5"/>
            <p:cNvSpPr/>
            <p:nvPr/>
          </p:nvSpPr>
          <p:spPr>
            <a:xfrm>
              <a:off x="1989" y="2977"/>
              <a:ext cx="528" cy="771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bg2"/>
                  </a:solidFill>
                  <a:latin typeface="Times New Roman" pitchFamily="18" charset="0"/>
                </a:rPr>
                <a:t>数</a:t>
              </a:r>
              <a:endParaRPr lang="zh-CN" altLang="en-US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pPr algn="ctr"/>
              <a:r>
                <a:rPr lang="zh-CN" altLang="en-US" dirty="0">
                  <a:solidFill>
                    <a:schemeClr val="bg2"/>
                  </a:solidFill>
                  <a:latin typeface="Times New Roman" pitchFamily="18" charset="0"/>
                </a:rPr>
                <a:t>据</a:t>
              </a:r>
              <a:endParaRPr lang="zh-CN" altLang="en-US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pPr algn="ctr"/>
              <a:r>
                <a:rPr lang="zh-CN" altLang="en-US" dirty="0">
                  <a:solidFill>
                    <a:schemeClr val="bg2"/>
                  </a:solidFill>
                  <a:latin typeface="Times New Roman" pitchFamily="18" charset="0"/>
                </a:rPr>
                <a:t>区</a:t>
              </a:r>
              <a:endParaRPr lang="zh-CN" altLang="en-US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18" name="Rectangle 6"/>
            <p:cNvSpPr/>
            <p:nvPr/>
          </p:nvSpPr>
          <p:spPr>
            <a:xfrm>
              <a:off x="2517" y="2980"/>
              <a:ext cx="1344" cy="38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Times New Roman" pitchFamily="18" charset="0"/>
                </a:rPr>
                <a:t>静态存储区</a:t>
              </a:r>
              <a:endParaRPr lang="zh-CN" altLang="en-US" sz="2800" dirty="0">
                <a:latin typeface="Times New Roman" pitchFamily="18" charset="0"/>
              </a:endParaRPr>
            </a:p>
          </p:txBody>
        </p:sp>
        <p:sp>
          <p:nvSpPr>
            <p:cNvPr id="38919" name="Rectangle 7"/>
            <p:cNvSpPr/>
            <p:nvPr/>
          </p:nvSpPr>
          <p:spPr>
            <a:xfrm>
              <a:off x="2517" y="3364"/>
              <a:ext cx="1344" cy="38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Times New Roman" pitchFamily="18" charset="0"/>
                </a:rPr>
                <a:t>动态存储区</a:t>
              </a:r>
              <a:endParaRPr lang="zh-CN" altLang="en-US" sz="280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062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>
                                            <p:txEl>
                                              <p:charRg st="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0626">
                                            <p:txEl>
                                              <p:charRg st="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>
                                            <p:txEl>
                                              <p:charRg st="1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10626">
                                            <p:txEl>
                                              <p:charRg st="1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>
                                            <p:txEl>
                                              <p:charRg st="3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0626">
                                            <p:txEl>
                                              <p:charRg st="33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413699" name="Rectangle 3"/>
          <p:cNvSpPr>
            <a:spLocks noGrp="1"/>
          </p:cNvSpPr>
          <p:nvPr>
            <p:ph idx="1"/>
          </p:nvPr>
        </p:nvSpPr>
        <p:spPr>
          <a:xfrm>
            <a:off x="395288" y="1628775"/>
            <a:ext cx="7993062" cy="3484563"/>
          </a:xfrm>
        </p:spPr>
        <p:txBody>
          <a:bodyPr vert="horz" wrap="square" lIns="91440" tIns="45720" rIns="91440" bIns="45720" anchor="t" anchorCtr="0"/>
          <a:p>
            <a:pPr defTabSz="914400" eaLnBrk="1" hangingPunct="1">
              <a:lnSpc>
                <a:spcPct val="150000"/>
              </a:lnSpc>
              <a:buNone/>
              <a:tabLst>
                <a:tab pos="1246505" algn="l"/>
              </a:tabLst>
            </a:pPr>
            <a:r>
              <a:rPr lang="en-US" altLang="zh-CN">
                <a:solidFill>
                  <a:srgbClr val="CC0066"/>
                </a:solidFill>
              </a:rPr>
              <a:t>static </a:t>
            </a:r>
            <a:r>
              <a:rPr lang="en-US" altLang="zh-CN"/>
              <a:t> </a:t>
            </a:r>
            <a:r>
              <a:rPr lang="zh-CN" altLang="en-US" dirty="0"/>
              <a:t>类型名  变量表</a:t>
            </a:r>
            <a:endParaRPr lang="zh-CN" altLang="en-US" dirty="0"/>
          </a:p>
          <a:p>
            <a:pPr defTabSz="914400" eaLnBrk="1" hangingPunct="1">
              <a:lnSpc>
                <a:spcPct val="150000"/>
              </a:lnSpc>
              <a:tabLst>
                <a:tab pos="1246505" algn="l"/>
              </a:tabLst>
            </a:pPr>
            <a:r>
              <a:rPr lang="zh-CN" altLang="en-US" dirty="0"/>
              <a:t>作用范围：局部变量</a:t>
            </a:r>
            <a:endParaRPr lang="zh-CN" altLang="en-US" dirty="0"/>
          </a:p>
          <a:p>
            <a:pPr defTabSz="914400" eaLnBrk="1" hangingPunct="1">
              <a:lnSpc>
                <a:spcPct val="150000"/>
              </a:lnSpc>
              <a:tabLst>
                <a:tab pos="1246505" algn="l"/>
              </a:tabLst>
            </a:pPr>
            <a:r>
              <a:rPr lang="zh-CN" altLang="en-US" dirty="0"/>
              <a:t>生命周期：全局变量</a:t>
            </a:r>
            <a:endParaRPr lang="zh-CN" altLang="en-US" dirty="0"/>
          </a:p>
        </p:txBody>
      </p:sp>
      <p:sp>
        <p:nvSpPr>
          <p:cNvPr id="39939" name="Rectangle 4"/>
          <p:cNvSpPr>
            <a:spLocks noGrp="1"/>
          </p:cNvSpPr>
          <p:nvPr>
            <p:ph type="title"/>
          </p:nvPr>
        </p:nvSpPr>
        <p:spPr>
          <a:xfrm>
            <a:off x="468313" y="692150"/>
            <a:ext cx="4392612" cy="8651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静态局部变量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69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charRg st="1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3699">
                                            <p:txEl>
                                              <p:charRg st="1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charRg st="2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3699">
                                            <p:txEl>
                                              <p:charRg st="2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200" b="0" dirty="0">
                <a:latin typeface="Arial Black" pitchFamily="34" charset="0"/>
              </a:rPr>
            </a:fld>
            <a:endParaRPr lang="zh-CN" altLang="en-US" sz="1200" b="0" dirty="0">
              <a:latin typeface="Arial Black" pitchFamily="34" charset="0"/>
            </a:endParaRPr>
          </a:p>
        </p:txBody>
      </p:sp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3563938" y="404813"/>
            <a:ext cx="5478462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</a:t>
            </a:r>
            <a:r>
              <a:rPr lang="en-US" altLang="zh-CN" sz="3600"/>
              <a:t>5-9  </a:t>
            </a:r>
            <a:r>
              <a:rPr lang="zh-CN" altLang="en-US" sz="3600" dirty="0"/>
              <a:t>静态局部变量示例</a:t>
            </a:r>
            <a:endParaRPr lang="zh-CN" altLang="en-US" sz="3600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323850" y="692150"/>
            <a:ext cx="4392613" cy="59055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#include &lt;</a:t>
            </a:r>
            <a:r>
              <a:rPr lang="en-US" altLang="zh-CN" sz="2400" err="1"/>
              <a:t>stdio.h</a:t>
            </a:r>
            <a:r>
              <a:rPr lang="en-US" altLang="zh-CN" sz="2400"/>
              <a:t>&gt;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void fun (</a:t>
            </a:r>
            <a:r>
              <a:rPr lang="en-US" altLang="zh-CN" sz="2400" err="1"/>
              <a:t>int</a:t>
            </a:r>
            <a:r>
              <a:rPr lang="en-US" altLang="zh-CN" sz="2400"/>
              <a:t> k)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main (void)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{  </a:t>
            </a:r>
            <a:r>
              <a:rPr lang="en-US" altLang="zh-CN" sz="2400" err="1"/>
              <a:t>int</a:t>
            </a:r>
            <a:r>
              <a:rPr lang="en-US" altLang="zh-CN" sz="2400"/>
              <a:t> k;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for (k = 1; k &lt;= 3; k++)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    fun (k);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return 0;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}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void </a:t>
            </a:r>
            <a:r>
              <a:rPr lang="en-US" altLang="zh-CN" sz="2400" err="1"/>
              <a:t>fun(int</a:t>
            </a:r>
            <a:r>
              <a:rPr lang="en-US" altLang="zh-CN" sz="2400"/>
              <a:t> k)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</a:t>
            </a:r>
            <a:r>
              <a:rPr lang="en-US" altLang="zh-CN" sz="2400">
                <a:solidFill>
                  <a:srgbClr val="CC0066"/>
                </a:solidFill>
              </a:rPr>
              <a:t>static </a:t>
            </a:r>
            <a:r>
              <a:rPr lang="en-US" altLang="zh-CN" sz="2400" err="1">
                <a:solidFill>
                  <a:srgbClr val="CC0066"/>
                </a:solidFill>
              </a:rPr>
              <a:t>int</a:t>
            </a:r>
            <a:r>
              <a:rPr lang="en-US" altLang="zh-CN" sz="2400">
                <a:solidFill>
                  <a:srgbClr val="CC0066"/>
                </a:solidFill>
              </a:rPr>
              <a:t> a;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>
              <a:solidFill>
                <a:srgbClr val="CC0066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</a:t>
            </a:r>
            <a:r>
              <a:rPr lang="en-US" altLang="zh-CN" sz="2400" err="1"/>
              <a:t>printf</a:t>
            </a:r>
            <a:r>
              <a:rPr lang="en-US" altLang="zh-CN" sz="2400"/>
              <a:t> ("%d, ", a); </a:t>
            </a:r>
            <a:endParaRPr lang="en-US" altLang="zh-CN" sz="240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    a += k ;    		</a:t>
            </a:r>
            <a:endParaRPr lang="en-US" altLang="zh-CN" sz="2400">
              <a:solidFill>
                <a:srgbClr val="CC0066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/>
              <a:t>}</a:t>
            </a:r>
            <a:endParaRPr lang="zh-CN" altLang="en-US" sz="2400" dirty="0"/>
          </a:p>
        </p:txBody>
      </p:sp>
      <p:sp>
        <p:nvSpPr>
          <p:cNvPr id="425989" name="Rectangle 5"/>
          <p:cNvSpPr/>
          <p:nvPr/>
        </p:nvSpPr>
        <p:spPr>
          <a:xfrm>
            <a:off x="6372225" y="2276475"/>
            <a:ext cx="1644650" cy="4603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>
                <a:latin typeface="Arial" panose="02080604020202020204" pitchFamily="34" charset="0"/>
              </a:rPr>
              <a:t>0,1,3,</a:t>
            </a:r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425990" name="Rectangle 6"/>
          <p:cNvSpPr/>
          <p:nvPr/>
        </p:nvSpPr>
        <p:spPr>
          <a:xfrm>
            <a:off x="2555875" y="5732463"/>
            <a:ext cx="5699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静态变量会记住前一次调用时留下来的值</a:t>
            </a:r>
            <a:endParaRPr lang="zh-CN" altLang="en-US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25991" name="Rectangle 7"/>
          <p:cNvSpPr/>
          <p:nvPr/>
        </p:nvSpPr>
        <p:spPr>
          <a:xfrm>
            <a:off x="3203575" y="4292600"/>
            <a:ext cx="28051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静态变量的初值为</a:t>
            </a:r>
            <a:r>
              <a:rPr lang="en-US" altLang="zh-CN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0</a:t>
            </a:r>
            <a:endParaRPr lang="zh-CN" altLang="en-US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9" grpId="0" bldLvl="0" animBg="1"/>
      <p:bldP spid="425990" grpId="0"/>
      <p:bldP spid="425991" grpId="0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6875</Words>
  <Application>WPS 演示</Application>
  <PresentationFormat>全屏显示(4:3)</PresentationFormat>
  <Paragraphs>578</Paragraphs>
  <Slides>34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仿宋_GB2312</vt:lpstr>
      <vt:lpstr>微软雅黑</vt:lpstr>
      <vt:lpstr>宋体</vt:lpstr>
      <vt:lpstr>Arial Unicode MS</vt:lpstr>
      <vt:lpstr>Noto Sans Symbols2</vt:lpstr>
      <vt:lpstr>Pixel</vt:lpstr>
      <vt:lpstr>Equation.DSMT4</vt:lpstr>
      <vt:lpstr>Chapter 5  函数</vt:lpstr>
      <vt:lpstr>Chapter 5  函数</vt:lpstr>
      <vt:lpstr>5.1.1  程序解析－计算圆柱体积 </vt:lpstr>
      <vt:lpstr>例5-1源程序</vt:lpstr>
      <vt:lpstr>例5-1源程序</vt:lpstr>
      <vt:lpstr>5.1.2  函数的定义 </vt:lpstr>
      <vt:lpstr>1．返回运算结果的函数定义</vt:lpstr>
      <vt:lpstr>形参</vt:lpstr>
      <vt:lpstr>分析函数的定义</vt:lpstr>
      <vt:lpstr>2．不返回运算结果的函数定义</vt:lpstr>
      <vt:lpstr>例5-2  输出5之内的数字金字塔。</vt:lpstr>
      <vt:lpstr>5.1.3  函数的调用</vt:lpstr>
      <vt:lpstr>1．函数调用的形式和过程</vt:lpstr>
      <vt:lpstr>函数调用的过程</vt:lpstr>
      <vt:lpstr>分析函数调用的过程</vt:lpstr>
      <vt:lpstr>2．参数传递</vt:lpstr>
      <vt:lpstr>3．函数结果返回</vt:lpstr>
      <vt:lpstr>【例5-3】定义判断奇偶数的函数even (n)</vt:lpstr>
      <vt:lpstr>4．函数原型声明</vt:lpstr>
      <vt:lpstr>Chapter 5  函数</vt:lpstr>
      <vt:lpstr>5.2 使用函数编写程序</vt:lpstr>
      <vt:lpstr>例5-4 源程序</vt:lpstr>
      <vt:lpstr>例5-5  判断素数的函数</vt:lpstr>
      <vt:lpstr>例5-5 源程序</vt:lpstr>
      <vt:lpstr>Chapter 5  函数</vt:lpstr>
      <vt:lpstr>5.3 变量与函数</vt:lpstr>
      <vt:lpstr>5.3.1 局部变量和全局变量</vt:lpstr>
      <vt:lpstr>例5-6  在复合语句中定义局部变量。</vt:lpstr>
      <vt:lpstr>例5-7  全局变量定义</vt:lpstr>
      <vt:lpstr>变量作用范围示例</vt:lpstr>
      <vt:lpstr>5.3.2  变量生命周期和静态局部变量</vt:lpstr>
      <vt:lpstr>存储区</vt:lpstr>
      <vt:lpstr>静态局部变量</vt:lpstr>
      <vt:lpstr>例5-9  静态局部变量示例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1259</cp:revision>
  <dcterms:created xsi:type="dcterms:W3CDTF">2023-10-13T01:46:34Z</dcterms:created>
  <dcterms:modified xsi:type="dcterms:W3CDTF">2023-10-13T01:46:34Z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