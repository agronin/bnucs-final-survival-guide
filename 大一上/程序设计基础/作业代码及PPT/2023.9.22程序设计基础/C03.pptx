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46"/>
  </p:handoutMasterIdLst>
  <p:sldIdLst>
    <p:sldId id="483" r:id="rId3"/>
    <p:sldId id="484" r:id="rId4"/>
    <p:sldId id="485" r:id="rId5"/>
    <p:sldId id="486" r:id="rId6"/>
    <p:sldId id="487" r:id="rId7"/>
    <p:sldId id="488" r:id="rId8"/>
    <p:sldId id="489" r:id="rId9"/>
    <p:sldId id="490" r:id="rId10"/>
    <p:sldId id="491" r:id="rId11"/>
    <p:sldId id="492" r:id="rId12"/>
    <p:sldId id="493" r:id="rId13"/>
    <p:sldId id="494" r:id="rId14"/>
    <p:sldId id="495" r:id="rId15"/>
    <p:sldId id="496" r:id="rId16"/>
    <p:sldId id="497" r:id="rId17"/>
    <p:sldId id="498" r:id="rId19"/>
    <p:sldId id="499" r:id="rId20"/>
    <p:sldId id="500" r:id="rId21"/>
    <p:sldId id="501" r:id="rId22"/>
    <p:sldId id="502" r:id="rId23"/>
    <p:sldId id="503" r:id="rId24"/>
    <p:sldId id="504" r:id="rId25"/>
    <p:sldId id="505" r:id="rId26"/>
    <p:sldId id="506" r:id="rId27"/>
    <p:sldId id="507" r:id="rId28"/>
    <p:sldId id="508" r:id="rId29"/>
    <p:sldId id="509" r:id="rId30"/>
    <p:sldId id="510" r:id="rId31"/>
    <p:sldId id="511" r:id="rId32"/>
    <p:sldId id="512" r:id="rId33"/>
    <p:sldId id="513" r:id="rId34"/>
    <p:sldId id="514" r:id="rId35"/>
    <p:sldId id="515" r:id="rId36"/>
    <p:sldId id="516" r:id="rId37"/>
    <p:sldId id="517" r:id="rId38"/>
    <p:sldId id="518" r:id="rId39"/>
    <p:sldId id="519" r:id="rId40"/>
    <p:sldId id="520" r:id="rId41"/>
    <p:sldId id="521" r:id="rId42"/>
    <p:sldId id="522" r:id="rId43"/>
    <p:sldId id="523" r:id="rId44"/>
    <p:sldId id="524" r:id="rId45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8080"/>
    <a:srgbClr val="FF3300"/>
    <a:srgbClr val="FF9966"/>
    <a:srgbClr val="FF9933"/>
    <a:srgbClr val="FFFF00"/>
    <a:srgbClr val="757E30"/>
    <a:srgbClr val="33CC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5655"/>
    <p:restoredTop sz="87587"/>
  </p:normalViewPr>
  <p:slideViewPr>
    <p:cSldViewPr showGuides="1">
      <p:cViewPr varScale="1">
        <p:scale>
          <a:sx n="96" d="100"/>
          <a:sy n="96" d="100"/>
        </p:scale>
        <p:origin x="39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DC051A7-3587-483F-9A84-19A57A54D70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3076" name="Rectangle 4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9EBB9F-ED3F-4095-BBB0-A0D8AB781BF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2048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235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2560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3277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3481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48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0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4920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00D6FC-F8F6-4751-AF76-C915BE71AE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4AC981-3895-42EE-8AD4-27665A5AED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816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8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9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4817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8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48177" name="Text Box 17"/>
          <p:cNvSpPr txBox="1">
            <a:spLocks noChangeArrowheads="1"/>
          </p:cNvSpPr>
          <p:nvPr/>
        </p:nvSpPr>
        <p:spPr bwMode="auto">
          <a:xfrm>
            <a:off x="8532813" y="6308725"/>
            <a:ext cx="503238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9E139-8418-4926-8889-64399745B40F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1026"/>
          <p:cNvSpPr>
            <a:spLocks noGrp="1"/>
          </p:cNvSpPr>
          <p:nvPr>
            <p:ph type="title"/>
          </p:nvPr>
        </p:nvSpPr>
        <p:spPr>
          <a:xfrm>
            <a:off x="250825" y="692150"/>
            <a:ext cx="7772400" cy="914400"/>
          </a:xfrm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en-US" altLang="zh-CN" b="0" dirty="0"/>
              <a:t>Chap 3</a:t>
            </a:r>
            <a:r>
              <a:rPr lang="zh-CN" altLang="en-US" b="0" dirty="0"/>
              <a:t>   分支结构</a:t>
            </a:r>
            <a:endParaRPr lang="zh-CN" altLang="en-US" b="0" dirty="0"/>
          </a:p>
        </p:txBody>
      </p:sp>
      <p:sp>
        <p:nvSpPr>
          <p:cNvPr id="5123" name="Rectangle 1027"/>
          <p:cNvSpPr>
            <a:spLocks noGrp="1"/>
          </p:cNvSpPr>
          <p:nvPr>
            <p:ph idx="1"/>
          </p:nvPr>
        </p:nvSpPr>
        <p:spPr>
          <a:xfrm>
            <a:off x="539750" y="2205038"/>
            <a:ext cx="8208963" cy="295275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spcBef>
                <a:spcPct val="100000"/>
              </a:spcBef>
              <a:buNone/>
            </a:pPr>
            <a:r>
              <a:rPr lang="zh-CN" altLang="en-US" b="0" dirty="0"/>
              <a:t>3.1  统计输入的一批字符中各类字符的数量 </a:t>
            </a:r>
            <a:endParaRPr lang="zh-CN" altLang="en-US" b="0" dirty="0"/>
          </a:p>
          <a:p>
            <a:pPr algn="just" eaLnBrk="1" hangingPunct="1">
              <a:spcBef>
                <a:spcPct val="100000"/>
              </a:spcBef>
              <a:buNone/>
            </a:pPr>
            <a:r>
              <a:rPr lang="zh-CN" altLang="en-US" b="0" dirty="0"/>
              <a:t>3.2  查询自动售货机中商品的价格 </a:t>
            </a:r>
            <a:endParaRPr lang="zh-CN" altLang="en-US" b="0" dirty="0"/>
          </a:p>
          <a:p>
            <a:pPr algn="just" eaLnBrk="1" hangingPunct="1">
              <a:spcBef>
                <a:spcPct val="100000"/>
              </a:spcBef>
              <a:buNone/>
            </a:pPr>
            <a:r>
              <a:rPr lang="zh-CN" altLang="en-US" b="0" dirty="0"/>
              <a:t>3.3  </a:t>
            </a:r>
            <a:r>
              <a:rPr lang="zh-CN" altLang="en-US" b="0" dirty="0">
                <a:latin typeface="宋体" pitchFamily="2" charset="-122"/>
              </a:rPr>
              <a:t>分支结构程序设计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250825" y="476250"/>
            <a:ext cx="8686800" cy="12477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3.1  统计输入的一批字符中各类字符的数量</a:t>
            </a:r>
            <a:endParaRPr lang="zh-CN" altLang="en-US" b="0" dirty="0"/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395288" y="1916113"/>
            <a:ext cx="8424862" cy="467995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spcBef>
                <a:spcPct val="50000"/>
              </a:spcBef>
              <a:buNone/>
            </a:pPr>
            <a:r>
              <a:rPr lang="zh-CN" altLang="en-US" b="0" dirty="0">
                <a:latin typeface="宋体" pitchFamily="2" charset="-122"/>
              </a:rPr>
              <a:t>例</a:t>
            </a:r>
            <a:r>
              <a:rPr lang="en-US" altLang="zh-CN" b="0" dirty="0"/>
              <a:t>3-1</a:t>
            </a:r>
            <a:r>
              <a:rPr lang="en-US" altLang="zh-CN" b="0" dirty="0">
                <a:latin typeface="宋体" pitchFamily="2" charset="-122"/>
              </a:rPr>
              <a:t> </a:t>
            </a:r>
            <a:r>
              <a:rPr lang="zh-CN" altLang="en-US" b="0" dirty="0">
                <a:latin typeface="宋体" pitchFamily="2" charset="-122"/>
              </a:rPr>
              <a:t>输入</a:t>
            </a:r>
            <a:r>
              <a:rPr lang="zh-CN" altLang="en-US" b="0" dirty="0"/>
              <a:t>10</a:t>
            </a:r>
            <a:r>
              <a:rPr lang="zh-CN" altLang="en-US" b="0" dirty="0">
                <a:latin typeface="宋体" pitchFamily="2" charset="-122"/>
              </a:rPr>
              <a:t>个字符，统计其中英文字母、数字字符和其他字符的个数。</a:t>
            </a:r>
            <a:r>
              <a:rPr lang="zh-CN" altLang="en-US" b="0" dirty="0"/>
              <a:t> </a:t>
            </a:r>
            <a:endParaRPr lang="zh-CN" altLang="en-US" b="0" dirty="0"/>
          </a:p>
          <a:p>
            <a:pPr algn="just" eaLnBrk="1" hangingPunct="1">
              <a:spcBef>
                <a:spcPct val="50000"/>
              </a:spcBef>
              <a:buNone/>
            </a:pPr>
            <a:r>
              <a:rPr lang="zh-CN" altLang="en-US" b="0" dirty="0"/>
              <a:t>3.1.1  </a:t>
            </a:r>
            <a:r>
              <a:rPr lang="zh-CN" altLang="en-US" b="0" dirty="0">
                <a:latin typeface="宋体" pitchFamily="2" charset="-122"/>
              </a:rPr>
              <a:t>程序解析</a:t>
            </a:r>
            <a:endParaRPr lang="zh-CN" altLang="en-US" b="0" dirty="0">
              <a:latin typeface="宋体" pitchFamily="2" charset="-122"/>
            </a:endParaRPr>
          </a:p>
          <a:p>
            <a:pPr algn="just" eaLnBrk="1" hangingPunct="1">
              <a:spcBef>
                <a:spcPct val="50000"/>
              </a:spcBef>
              <a:buNone/>
            </a:pPr>
            <a:r>
              <a:rPr lang="zh-CN" altLang="en-US" b="0" dirty="0"/>
              <a:t>3.1.2  </a:t>
            </a:r>
            <a:r>
              <a:rPr lang="zh-CN" altLang="en-US" b="0" dirty="0">
                <a:latin typeface="宋体" pitchFamily="2" charset="-122"/>
              </a:rPr>
              <a:t>字符类型</a:t>
            </a:r>
            <a:endParaRPr lang="zh-CN" altLang="en-US" b="0" dirty="0">
              <a:latin typeface="宋体" pitchFamily="2" charset="-122"/>
            </a:endParaRPr>
          </a:p>
          <a:p>
            <a:pPr algn="just" eaLnBrk="1" hangingPunct="1">
              <a:spcBef>
                <a:spcPct val="50000"/>
              </a:spcBef>
              <a:buNone/>
            </a:pPr>
            <a:r>
              <a:rPr lang="zh-CN" altLang="en-US" b="0" dirty="0"/>
              <a:t>3.1.3  </a:t>
            </a:r>
            <a:r>
              <a:rPr lang="zh-CN" altLang="en-US" b="0" dirty="0">
                <a:latin typeface="宋体" pitchFamily="2" charset="-122"/>
              </a:rPr>
              <a:t>字符数据的输入和输出</a:t>
            </a:r>
            <a:r>
              <a:rPr lang="en-US" altLang="zh-CN" b="0" dirty="0"/>
              <a:t> </a:t>
            </a:r>
            <a:endParaRPr lang="zh-CN" altLang="en-US" b="0" dirty="0">
              <a:latin typeface="宋体" pitchFamily="2" charset="-122"/>
            </a:endParaRPr>
          </a:p>
          <a:p>
            <a:pPr algn="just" eaLnBrk="1" hangingPunct="1">
              <a:spcBef>
                <a:spcPct val="50000"/>
              </a:spcBef>
              <a:buNone/>
            </a:pPr>
            <a:r>
              <a:rPr lang="zh-CN" altLang="en-US" b="0" dirty="0"/>
              <a:t>3.1.4 </a:t>
            </a:r>
            <a:r>
              <a:rPr lang="zh-CN" altLang="en-US" b="0" dirty="0">
                <a:latin typeface="宋体" pitchFamily="2" charset="-122"/>
              </a:rPr>
              <a:t>逻辑运算</a:t>
            </a:r>
            <a:endParaRPr lang="zh-CN" altLang="en-US" b="0" dirty="0">
              <a:latin typeface="宋体" pitchFamily="2" charset="-122"/>
            </a:endParaRPr>
          </a:p>
          <a:p>
            <a:pPr algn="just" eaLnBrk="1" hangingPunct="1">
              <a:spcBef>
                <a:spcPct val="50000"/>
              </a:spcBef>
              <a:buNone/>
            </a:pPr>
            <a:r>
              <a:rPr lang="zh-CN" altLang="en-US" b="0" dirty="0"/>
              <a:t>3.1.</a:t>
            </a:r>
            <a:r>
              <a:rPr lang="en-US" altLang="zh-CN" b="0" dirty="0"/>
              <a:t>5 else-if </a:t>
            </a:r>
            <a:r>
              <a:rPr lang="zh-CN" altLang="en-US" b="0" dirty="0"/>
              <a:t>语句</a:t>
            </a:r>
            <a:endParaRPr lang="zh-CN" altLang="en-US" b="0" dirty="0"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4284663" y="188913"/>
            <a:ext cx="4608512" cy="609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3.1.1  </a:t>
            </a:r>
            <a:r>
              <a:rPr lang="zh-CN" altLang="en-US" b="0" dirty="0">
                <a:latin typeface="宋体" pitchFamily="2" charset="-122"/>
              </a:rPr>
              <a:t>程序解析</a:t>
            </a:r>
            <a:endParaRPr lang="zh-CN" altLang="en-US" b="0" dirty="0"/>
          </a:p>
        </p:txBody>
      </p:sp>
      <p:sp>
        <p:nvSpPr>
          <p:cNvPr id="7171" name="Rectangle 3"/>
          <p:cNvSpPr>
            <a:spLocks noGrp="1"/>
          </p:cNvSpPr>
          <p:nvPr>
            <p:ph idx="1"/>
          </p:nvPr>
        </p:nvSpPr>
        <p:spPr>
          <a:xfrm>
            <a:off x="72708" y="141288"/>
            <a:ext cx="8999537" cy="65278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sz="2200" b="0" dirty="0">
                <a:ea typeface="Arial Unicode MS" pitchFamily="34" charset="-122"/>
              </a:rPr>
              <a:t>#</a:t>
            </a:r>
            <a:r>
              <a:rPr lang="en-US" altLang="zh-CN" sz="2200" b="0" dirty="0">
                <a:ea typeface="Arial Unicode MS" pitchFamily="34" charset="-122"/>
              </a:rPr>
              <a:t>include &lt;stdio.h&gt;</a:t>
            </a:r>
            <a:endParaRPr lang="en-US" altLang="zh-CN" sz="22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200" b="0" dirty="0">
                <a:ea typeface="Arial Unicode MS" pitchFamily="34" charset="-122"/>
              </a:rPr>
              <a:t>int main(void)</a:t>
            </a:r>
            <a:endParaRPr lang="en-US" altLang="zh-CN" sz="22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200" b="0" dirty="0">
                <a:ea typeface="Arial Unicode MS" pitchFamily="34" charset="-122"/>
              </a:rPr>
              <a:t>{  </a:t>
            </a:r>
            <a:endParaRPr lang="en-US" altLang="zh-CN" sz="22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200" b="0" dirty="0">
                <a:ea typeface="Arial Unicode MS" pitchFamily="34" charset="-122"/>
              </a:rPr>
              <a:t>   int digit, i, letter, other; </a:t>
            </a:r>
            <a:endParaRPr lang="zh-CN" altLang="en-US" sz="22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sz="2200" b="0" dirty="0">
                <a:ea typeface="Arial Unicode MS" pitchFamily="34" charset="-122"/>
              </a:rPr>
              <a:t>   </a:t>
            </a:r>
            <a:r>
              <a:rPr lang="en-US" altLang="zh-CN" sz="2200" b="0" dirty="0">
                <a:solidFill>
                  <a:srgbClr val="CC0066"/>
                </a:solidFill>
              </a:rPr>
              <a:t>char</a:t>
            </a:r>
            <a:r>
              <a:rPr lang="en-US" altLang="zh-CN" sz="2200" b="0" dirty="0">
                <a:ea typeface="Arial Unicode MS" pitchFamily="34" charset="-122"/>
              </a:rPr>
              <a:t> ch;</a:t>
            </a:r>
            <a:r>
              <a:rPr lang="en-US" altLang="zh-CN" sz="2200" b="0" dirty="0">
                <a:solidFill>
                  <a:srgbClr val="CC0066"/>
                </a:solidFill>
              </a:rPr>
              <a:t>  </a:t>
            </a:r>
            <a:endParaRPr lang="en-US" altLang="zh-CN" sz="2200" b="0" dirty="0">
              <a:solidFill>
                <a:srgbClr val="CC0066"/>
              </a:solidFill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200" b="0" dirty="0">
                <a:ea typeface="Arial Unicode MS" pitchFamily="34" charset="-122"/>
              </a:rPr>
              <a:t>   digit = letter = other = 0; </a:t>
            </a:r>
            <a:endParaRPr lang="en-US" altLang="zh-CN" sz="22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200" b="0" dirty="0">
                <a:ea typeface="Arial Unicode MS" pitchFamily="34" charset="-122"/>
              </a:rPr>
              <a:t>   printf(“Enter 10 characters: ");</a:t>
            </a:r>
            <a:endParaRPr lang="zh-CN" altLang="en-US" sz="22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sz="2200" b="0" dirty="0">
                <a:ea typeface="Arial Unicode MS" pitchFamily="34" charset="-122"/>
              </a:rPr>
              <a:t>   </a:t>
            </a:r>
            <a:r>
              <a:rPr lang="en-US" altLang="zh-CN" sz="2200" b="0" dirty="0">
                <a:ea typeface="Arial Unicode MS" pitchFamily="34" charset="-122"/>
              </a:rPr>
              <a:t>for(i = 1; i &lt;= 10; i++){</a:t>
            </a:r>
            <a:endParaRPr lang="zh-CN" altLang="en-US" sz="22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sz="2200" b="0" dirty="0">
                <a:ea typeface="Arial Unicode MS" pitchFamily="34" charset="-122"/>
              </a:rPr>
              <a:t>       </a:t>
            </a:r>
            <a:r>
              <a:rPr lang="en-US" altLang="zh-CN" sz="2200" b="0" dirty="0">
                <a:solidFill>
                  <a:srgbClr val="CC0066"/>
                </a:solidFill>
              </a:rPr>
              <a:t>ch = getchar()</a:t>
            </a:r>
            <a:r>
              <a:rPr lang="en-US" altLang="zh-CN" sz="2200" b="0" dirty="0"/>
              <a:t>;</a:t>
            </a:r>
            <a:r>
              <a:rPr lang="en-US" altLang="zh-CN" sz="2200" b="0" dirty="0">
                <a:ea typeface="Arial Unicode MS" pitchFamily="34" charset="-122"/>
              </a:rPr>
              <a:t>     /* </a:t>
            </a:r>
            <a:r>
              <a:rPr lang="zh-CN" altLang="en-US" sz="2200" b="0" dirty="0">
                <a:ea typeface="Arial Unicode MS" pitchFamily="34" charset="-122"/>
              </a:rPr>
              <a:t>从键盘输入一个字符，赋值给变量 </a:t>
            </a:r>
            <a:r>
              <a:rPr lang="en-US" altLang="zh-CN" sz="2200" b="0" dirty="0">
                <a:ea typeface="Arial Unicode MS" pitchFamily="34" charset="-122"/>
              </a:rPr>
              <a:t>ch */ </a:t>
            </a:r>
            <a:endParaRPr lang="en-US" altLang="zh-CN" sz="22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200" b="0" dirty="0">
                <a:ea typeface="Arial Unicode MS" pitchFamily="34" charset="-122"/>
              </a:rPr>
              <a:t>       </a:t>
            </a:r>
            <a:r>
              <a:rPr lang="en-US" altLang="zh-CN" sz="2200" b="0" dirty="0">
                <a:solidFill>
                  <a:schemeClr val="bg2"/>
                </a:solidFill>
                <a:ea typeface="Arial Unicode MS" pitchFamily="34" charset="-122"/>
              </a:rPr>
              <a:t>if</a:t>
            </a:r>
            <a:r>
              <a:rPr lang="en-US" altLang="zh-CN" sz="2200" b="0" dirty="0">
                <a:ea typeface="Arial Unicode MS" pitchFamily="34" charset="-122"/>
              </a:rPr>
              <a:t>((</a:t>
            </a:r>
            <a:r>
              <a:rPr lang="en-US" altLang="zh-CN" sz="2200" b="0" dirty="0">
                <a:solidFill>
                  <a:srgbClr val="CC0066"/>
                </a:solidFill>
              </a:rPr>
              <a:t>ch &gt;= 'a' &amp;&amp; ch &lt;= 'z'</a:t>
            </a:r>
            <a:r>
              <a:rPr lang="en-US" altLang="zh-CN" sz="2200" b="0" dirty="0">
                <a:ea typeface="Arial Unicode MS" pitchFamily="34" charset="-122"/>
              </a:rPr>
              <a:t> ) || ( </a:t>
            </a:r>
            <a:r>
              <a:rPr lang="en-US" altLang="zh-CN" sz="2200" b="0" dirty="0">
                <a:solidFill>
                  <a:srgbClr val="CC0066"/>
                </a:solidFill>
              </a:rPr>
              <a:t>ch &gt;= 'A' &amp;&amp; ch &lt;= 'Z'</a:t>
            </a:r>
            <a:r>
              <a:rPr lang="en-US" altLang="zh-CN" sz="2200" b="0" dirty="0">
                <a:ea typeface="Arial Unicode MS" pitchFamily="34" charset="-122"/>
              </a:rPr>
              <a:t>))</a:t>
            </a:r>
            <a:endParaRPr lang="zh-CN" altLang="en-US" sz="22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sz="2200" b="0" dirty="0">
                <a:ea typeface="Arial Unicode MS" pitchFamily="34" charset="-122"/>
              </a:rPr>
              <a:t>            </a:t>
            </a:r>
            <a:r>
              <a:rPr lang="en-US" altLang="zh-CN" sz="2200" b="0" dirty="0">
                <a:ea typeface="Arial Unicode MS" pitchFamily="34" charset="-122"/>
              </a:rPr>
              <a:t>letter ++; </a:t>
            </a:r>
            <a:endParaRPr lang="zh-CN" altLang="en-US" sz="22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sz="2200" b="0" dirty="0">
                <a:ea typeface="Arial Unicode MS" pitchFamily="34" charset="-122"/>
              </a:rPr>
              <a:t>       </a:t>
            </a:r>
            <a:r>
              <a:rPr lang="en-US" altLang="zh-CN" sz="2200" b="0" dirty="0">
                <a:solidFill>
                  <a:schemeClr val="bg2"/>
                </a:solidFill>
                <a:ea typeface="Arial Unicode MS" pitchFamily="34" charset="-122"/>
              </a:rPr>
              <a:t>else </a:t>
            </a:r>
            <a:r>
              <a:rPr lang="en-US" altLang="zh-CN" sz="2200" b="0" dirty="0">
                <a:solidFill>
                  <a:schemeClr val="bg2"/>
                </a:solidFill>
              </a:rPr>
              <a:t>if</a:t>
            </a:r>
            <a:r>
              <a:rPr lang="en-US" altLang="zh-CN" sz="2200" b="0" dirty="0"/>
              <a:t>(</a:t>
            </a:r>
            <a:r>
              <a:rPr lang="en-US" altLang="zh-CN" sz="2200" b="0" dirty="0">
                <a:solidFill>
                  <a:srgbClr val="CC0066"/>
                </a:solidFill>
              </a:rPr>
              <a:t>ch &gt;= '0' &amp;&amp; ch &lt;= '9</a:t>
            </a:r>
            <a:r>
              <a:rPr lang="en-US" altLang="zh-CN" sz="2200" b="0" dirty="0">
                <a:solidFill>
                  <a:srgbClr val="FF00FF"/>
                </a:solidFill>
                <a:ea typeface="Arial Unicode MS" pitchFamily="34" charset="-122"/>
              </a:rPr>
              <a:t>'</a:t>
            </a:r>
            <a:r>
              <a:rPr lang="en-US" altLang="zh-CN" sz="2200" b="0" dirty="0">
                <a:ea typeface="Arial Unicode MS" pitchFamily="34" charset="-122"/>
              </a:rPr>
              <a:t>)   </a:t>
            </a:r>
            <a:r>
              <a:rPr lang="zh-CN" altLang="en-US" sz="2200" b="0" dirty="0"/>
              <a:t>/* </a:t>
            </a:r>
            <a:r>
              <a:rPr lang="zh-CN" altLang="en-US" sz="2200" b="0" dirty="0">
                <a:latin typeface="宋体" pitchFamily="2" charset="-122"/>
              </a:rPr>
              <a:t>如果</a:t>
            </a:r>
            <a:r>
              <a:rPr lang="en-US" altLang="zh-CN" sz="2200" b="0" dirty="0"/>
              <a:t>ch</a:t>
            </a:r>
            <a:r>
              <a:rPr lang="zh-CN" altLang="en-US" sz="2200" b="0" dirty="0">
                <a:latin typeface="宋体" pitchFamily="2" charset="-122"/>
              </a:rPr>
              <a:t>是数字字符</a:t>
            </a:r>
            <a:r>
              <a:rPr lang="zh-CN" altLang="en-US" sz="2200" b="0" dirty="0"/>
              <a:t> */</a:t>
            </a:r>
            <a:r>
              <a:rPr lang="zh-CN" altLang="en-US" sz="2200" b="0" dirty="0">
                <a:ea typeface="Arial Unicode MS" pitchFamily="34" charset="-122"/>
              </a:rPr>
              <a:t> </a:t>
            </a:r>
            <a:endParaRPr lang="zh-CN" altLang="en-US" sz="22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sz="2200" b="0" dirty="0">
                <a:ea typeface="Arial Unicode MS" pitchFamily="34" charset="-122"/>
              </a:rPr>
              <a:t>            </a:t>
            </a:r>
            <a:r>
              <a:rPr lang="en-US" altLang="zh-CN" sz="2200" b="0" dirty="0">
                <a:ea typeface="Arial Unicode MS" pitchFamily="34" charset="-122"/>
              </a:rPr>
              <a:t>digit ++;</a:t>
            </a:r>
            <a:endParaRPr lang="en-US" altLang="zh-CN" sz="22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200" b="0" dirty="0">
                <a:ea typeface="Arial Unicode MS" pitchFamily="34" charset="-122"/>
              </a:rPr>
              <a:t>       </a:t>
            </a:r>
            <a:r>
              <a:rPr lang="en-US" altLang="zh-CN" sz="2200" b="0" dirty="0">
                <a:solidFill>
                  <a:schemeClr val="bg2"/>
                </a:solidFill>
                <a:ea typeface="Arial Unicode MS" pitchFamily="34" charset="-122"/>
              </a:rPr>
              <a:t>else</a:t>
            </a:r>
            <a:r>
              <a:rPr lang="en-US" altLang="zh-CN" sz="2200" b="0" dirty="0">
                <a:ea typeface="Arial Unicode MS" pitchFamily="34" charset="-122"/>
              </a:rPr>
              <a:t> </a:t>
            </a:r>
            <a:endParaRPr lang="en-US" altLang="zh-CN" sz="22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200" b="0" dirty="0">
                <a:ea typeface="Arial Unicode MS" pitchFamily="34" charset="-122"/>
              </a:rPr>
              <a:t>            other ++;</a:t>
            </a:r>
            <a:endParaRPr lang="en-US" altLang="zh-CN" sz="22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200" b="0" dirty="0">
                <a:ea typeface="Arial Unicode MS" pitchFamily="34" charset="-122"/>
              </a:rPr>
              <a:t>   }</a:t>
            </a:r>
            <a:endParaRPr lang="en-US" altLang="zh-CN" sz="24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400" b="0" dirty="0">
                <a:ea typeface="Arial Unicode MS" pitchFamily="34" charset="-122"/>
              </a:rPr>
              <a:t>   </a:t>
            </a:r>
            <a:r>
              <a:rPr lang="en-US" altLang="zh-CN" sz="2200" b="0" dirty="0">
                <a:ea typeface="Arial Unicode MS" pitchFamily="34" charset="-122"/>
              </a:rPr>
              <a:t>printf("letter=%d,digit=%d,other=%d\n",letter,digit,other);</a:t>
            </a:r>
            <a:endParaRPr lang="en-US" altLang="zh-CN" sz="22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200" b="0" dirty="0">
                <a:ea typeface="Arial Unicode MS" pitchFamily="34" charset="-122"/>
              </a:rPr>
              <a:t>   return 0;</a:t>
            </a:r>
            <a:endParaRPr lang="en-US" altLang="zh-CN" sz="22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200" b="0" dirty="0">
                <a:ea typeface="Arial Unicode MS" pitchFamily="34" charset="-122"/>
              </a:rPr>
              <a:t>}</a:t>
            </a:r>
            <a:endParaRPr lang="en-US" altLang="zh-CN" sz="2200" b="0" dirty="0">
              <a:ea typeface="Arial Unicode MS" pitchFamily="34" charset="-122"/>
            </a:endParaRPr>
          </a:p>
        </p:txBody>
      </p:sp>
      <p:sp>
        <p:nvSpPr>
          <p:cNvPr id="124933" name="Rectangle 5"/>
          <p:cNvSpPr/>
          <p:nvPr/>
        </p:nvSpPr>
        <p:spPr>
          <a:xfrm>
            <a:off x="4530725" y="942340"/>
            <a:ext cx="4362450" cy="79883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>
                <a:ea typeface="Arial Unicode MS" pitchFamily="34" charset="-122"/>
              </a:rPr>
              <a:t>input 10 characters: </a:t>
            </a:r>
            <a:r>
              <a:rPr lang="en-US" altLang="zh-CN" sz="2000" b="0" dirty="0">
                <a:solidFill>
                  <a:srgbClr val="CC0066"/>
                </a:solidFill>
              </a:rPr>
              <a:t>Reold 123?</a:t>
            </a:r>
            <a:endParaRPr lang="en-US" altLang="zh-CN" sz="20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/>
              <a:t>letter=5, digit=3, other=2 </a:t>
            </a:r>
            <a:endParaRPr lang="en-US" altLang="zh-CN" sz="2000" b="0" dirty="0"/>
          </a:p>
        </p:txBody>
      </p:sp>
      <p:sp>
        <p:nvSpPr>
          <p:cNvPr id="124934" name="Rectangle 6"/>
          <p:cNvSpPr/>
          <p:nvPr/>
        </p:nvSpPr>
        <p:spPr>
          <a:xfrm>
            <a:off x="5248910" y="4375468"/>
            <a:ext cx="2926080" cy="848360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zh-CN" altLang="en-US" sz="2400" b="0" dirty="0">
                <a:latin typeface="宋体" pitchFamily="2" charset="-122"/>
              </a:rPr>
              <a:t>多层缩进的书写格式</a:t>
            </a:r>
            <a:endParaRPr lang="zh-CN" altLang="en-US" sz="2400" b="0" dirty="0">
              <a:latin typeface="宋体" pitchFamily="2" charset="-122"/>
            </a:endParaRPr>
          </a:p>
          <a:p>
            <a:pPr marL="0" lvl="0" indent="0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zh-CN" altLang="en-US" sz="2400" b="0" dirty="0">
                <a:latin typeface="宋体" pitchFamily="2" charset="-122"/>
              </a:rPr>
              <a:t>使程序层次分明</a:t>
            </a:r>
            <a:r>
              <a:rPr lang="zh-CN" altLang="en-US" sz="2800" b="0" dirty="0">
                <a:latin typeface="宋体" pitchFamily="2" charset="-122"/>
              </a:rPr>
              <a:t> </a:t>
            </a:r>
            <a:endParaRPr lang="zh-CN" altLang="en-US" sz="2800" b="0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3" grpId="0" bldLvl="0" animBg="1"/>
      <p:bldP spid="124934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457200" y="587375"/>
            <a:ext cx="7210425" cy="609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3.1.2  </a:t>
            </a:r>
            <a:r>
              <a:rPr lang="zh-CN" altLang="en-US" b="0" dirty="0">
                <a:latin typeface="宋体" pitchFamily="2" charset="-122"/>
              </a:rPr>
              <a:t>字符类型</a:t>
            </a:r>
            <a:endParaRPr lang="zh-CN" altLang="en-US" b="0" dirty="0"/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>
          <a:xfrm>
            <a:off x="454025" y="1339850"/>
            <a:ext cx="8078788" cy="4897438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en-US" altLang="zh-CN" b="0" dirty="0">
                <a:solidFill>
                  <a:srgbClr val="CC0066"/>
                </a:solidFill>
              </a:rPr>
              <a:t>char</a:t>
            </a:r>
            <a:r>
              <a:rPr lang="en-US" altLang="zh-CN" b="0" dirty="0"/>
              <a:t> </a:t>
            </a:r>
            <a:r>
              <a:rPr lang="en-US" altLang="zh-CN" b="0" dirty="0">
                <a:solidFill>
                  <a:schemeClr val="bg2"/>
                </a:solidFill>
              </a:rPr>
              <a:t>ch</a:t>
            </a:r>
            <a:r>
              <a:rPr lang="en-US" altLang="zh-CN" b="0" dirty="0"/>
              <a:t>; </a:t>
            </a:r>
            <a:endParaRPr lang="en-US" altLang="zh-CN" b="0" dirty="0"/>
          </a:p>
          <a:p>
            <a:pPr algn="just" eaLnBrk="1" hangingPunct="1">
              <a:buNone/>
            </a:pPr>
            <a:r>
              <a:rPr lang="en-US" altLang="zh-CN" b="0" dirty="0"/>
              <a:t>(ch &gt;= </a:t>
            </a:r>
            <a:r>
              <a:rPr lang="en-US" altLang="zh-CN" b="0" dirty="0">
                <a:solidFill>
                  <a:schemeClr val="bg2"/>
                </a:solidFill>
              </a:rPr>
              <a:t>'a'</a:t>
            </a:r>
            <a:r>
              <a:rPr lang="en-US" altLang="zh-CN" b="0" dirty="0"/>
              <a:t> &amp;&amp; ch &lt;= </a:t>
            </a:r>
            <a:r>
              <a:rPr lang="en-US" altLang="zh-CN" b="0" dirty="0">
                <a:solidFill>
                  <a:schemeClr val="bg2"/>
                </a:solidFill>
              </a:rPr>
              <a:t>'z'</a:t>
            </a:r>
            <a:r>
              <a:rPr lang="en-US" altLang="zh-CN" b="0" dirty="0"/>
              <a:t> ) || ( ch &gt;= </a:t>
            </a:r>
            <a:r>
              <a:rPr lang="en-US" altLang="zh-CN" b="0" dirty="0">
                <a:solidFill>
                  <a:schemeClr val="bg2"/>
                </a:solidFill>
              </a:rPr>
              <a:t>'A'</a:t>
            </a:r>
            <a:r>
              <a:rPr lang="en-US" altLang="zh-CN" b="0" dirty="0"/>
              <a:t> &amp;&amp; ch &lt;= </a:t>
            </a:r>
            <a:r>
              <a:rPr lang="en-US" altLang="zh-CN" b="0" dirty="0">
                <a:solidFill>
                  <a:schemeClr val="bg2"/>
                </a:solidFill>
              </a:rPr>
              <a:t>'Z'</a:t>
            </a:r>
            <a:r>
              <a:rPr lang="en-US" altLang="zh-CN" b="0" dirty="0"/>
              <a:t>)</a:t>
            </a:r>
            <a:endParaRPr lang="en-US" altLang="zh-CN" b="0" dirty="0"/>
          </a:p>
          <a:p>
            <a:pPr algn="just" eaLnBrk="1" hangingPunct="1">
              <a:buNone/>
            </a:pPr>
            <a:r>
              <a:rPr lang="en-US" altLang="zh-CN" b="0" dirty="0"/>
              <a:t>(ch &gt;= </a:t>
            </a:r>
            <a:r>
              <a:rPr lang="en-US" altLang="zh-CN" b="0" dirty="0">
                <a:solidFill>
                  <a:schemeClr val="bg2"/>
                </a:solidFill>
              </a:rPr>
              <a:t>'0'</a:t>
            </a:r>
            <a:r>
              <a:rPr lang="en-US" altLang="zh-CN" b="0" dirty="0"/>
              <a:t> &amp;&amp; ch &lt;= </a:t>
            </a:r>
            <a:r>
              <a:rPr lang="en-US" altLang="zh-CN" b="0" dirty="0">
                <a:solidFill>
                  <a:schemeClr val="bg2"/>
                </a:solidFill>
              </a:rPr>
              <a:t>'9'</a:t>
            </a:r>
            <a:r>
              <a:rPr lang="en-US" altLang="zh-CN" b="0" dirty="0"/>
              <a:t>)</a:t>
            </a:r>
            <a:endParaRPr lang="en-US" altLang="zh-CN" b="0" dirty="0"/>
          </a:p>
          <a:p>
            <a:pPr algn="just" eaLnBrk="1" hangingPunct="1">
              <a:buNone/>
            </a:pPr>
            <a:endParaRPr lang="zh-CN" altLang="en-US" b="0" dirty="0"/>
          </a:p>
          <a:p>
            <a:pPr algn="just" eaLnBrk="1" hangingPunct="1">
              <a:buNone/>
            </a:pPr>
            <a:r>
              <a:rPr lang="zh-CN" altLang="en-US" b="0" dirty="0"/>
              <a:t>字符型数据</a:t>
            </a:r>
            <a:endParaRPr lang="zh-CN" altLang="en-US" b="0" dirty="0"/>
          </a:p>
          <a:p>
            <a:pPr lvl="1" algn="just" eaLnBrk="1" hangingPunct="1"/>
            <a:r>
              <a:rPr lang="zh-CN" altLang="en-US" b="0" dirty="0">
                <a:latin typeface="宋体" pitchFamily="2" charset="-122"/>
              </a:rPr>
              <a:t>字符变量：</a:t>
            </a:r>
            <a:r>
              <a:rPr lang="en-US" altLang="zh-CN" b="0" dirty="0">
                <a:solidFill>
                  <a:schemeClr val="bg2"/>
                </a:solidFill>
              </a:rPr>
              <a:t>ch</a:t>
            </a:r>
            <a:endParaRPr lang="zh-CN" altLang="en-US" b="0" dirty="0">
              <a:solidFill>
                <a:schemeClr val="bg2"/>
              </a:solidFill>
            </a:endParaRPr>
          </a:p>
          <a:p>
            <a:pPr lvl="1" algn="just" eaLnBrk="1" hangingPunct="1"/>
            <a:r>
              <a:rPr lang="zh-CN" altLang="en-US" b="0" dirty="0">
                <a:latin typeface="宋体" pitchFamily="2" charset="-122"/>
              </a:rPr>
              <a:t>字符常量</a:t>
            </a:r>
            <a:r>
              <a:rPr lang="zh-CN" altLang="en-US" b="0" dirty="0"/>
              <a:t>： </a:t>
            </a:r>
            <a:r>
              <a:rPr lang="en-US" altLang="zh-CN" b="0" dirty="0">
                <a:solidFill>
                  <a:schemeClr val="bg2"/>
                </a:solidFill>
              </a:rPr>
              <a:t>'a'</a:t>
            </a:r>
            <a:r>
              <a:rPr lang="en-US" altLang="zh-CN" b="0" dirty="0"/>
              <a:t> 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5508625" y="260985"/>
            <a:ext cx="3429000" cy="609600"/>
          </a:xfrm>
        </p:spPr>
        <p:txBody>
          <a:bodyPr vert="horz" wrap="square" lIns="91440" tIns="45720" rIns="91440" bIns="45720" anchor="ctr" anchorCtr="0"/>
          <a:p>
            <a:pPr algn="r" eaLnBrk="1" hangingPunct="1"/>
            <a:r>
              <a:rPr lang="zh-CN" altLang="en-US" b="0" dirty="0">
                <a:latin typeface="宋体" pitchFamily="2" charset="-122"/>
              </a:rPr>
              <a:t>字符常量 </a:t>
            </a:r>
            <a:endParaRPr lang="zh-CN" altLang="en-US" b="0" dirty="0">
              <a:latin typeface="宋体" pitchFamily="2" charset="-122"/>
            </a:endParaRPr>
          </a:p>
        </p:txBody>
      </p:sp>
      <p:sp>
        <p:nvSpPr>
          <p:cNvPr id="9219" name="Rectangle 3"/>
          <p:cNvSpPr>
            <a:spLocks noGrp="1"/>
          </p:cNvSpPr>
          <p:nvPr>
            <p:ph idx="1"/>
          </p:nvPr>
        </p:nvSpPr>
        <p:spPr>
          <a:xfrm>
            <a:off x="304800" y="838200"/>
            <a:ext cx="7010400" cy="38100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en-US" altLang="zh-CN" b="0" dirty="0"/>
              <a:t> 'a'   'z'   'A'   'Z'   '0'  '9'  ' '   '\n'</a:t>
            </a:r>
            <a:endParaRPr lang="en-US" altLang="zh-CN" b="0" dirty="0"/>
          </a:p>
          <a:p>
            <a:pPr algn="just" eaLnBrk="1" hangingPunct="1">
              <a:buNone/>
            </a:pPr>
            <a:r>
              <a:rPr lang="zh-CN" altLang="en-US" b="0" dirty="0"/>
              <a:t>A</a:t>
            </a:r>
            <a:r>
              <a:rPr lang="en-US" altLang="zh-CN" b="0" dirty="0"/>
              <a:t>SCII</a:t>
            </a:r>
            <a:r>
              <a:rPr lang="zh-CN" altLang="en-US" b="0" dirty="0"/>
              <a:t>字符集：列出所有可用的字符</a:t>
            </a:r>
            <a:endParaRPr lang="en-US" altLang="zh-CN" b="0" dirty="0"/>
          </a:p>
          <a:p>
            <a:pPr lvl="1" algn="just" eaLnBrk="1" hangingPunct="1">
              <a:buNone/>
            </a:pPr>
            <a:r>
              <a:rPr lang="zh-CN" altLang="en-US" b="0" dirty="0"/>
              <a:t>每个字符：唯一的次序值（ A</a:t>
            </a:r>
            <a:r>
              <a:rPr lang="en-US" altLang="zh-CN" b="0" dirty="0"/>
              <a:t>SCII</a:t>
            </a:r>
            <a:r>
              <a:rPr lang="zh-CN" altLang="en-US" b="0" dirty="0"/>
              <a:t> 码）</a:t>
            </a:r>
            <a:endParaRPr lang="zh-CN" altLang="en-US" b="0" dirty="0"/>
          </a:p>
          <a:p>
            <a:pPr lvl="2" algn="just" eaLnBrk="1" hangingPunct="1">
              <a:buNone/>
            </a:pPr>
            <a:endParaRPr lang="zh-CN" altLang="en-US" b="0" dirty="0"/>
          </a:p>
          <a:p>
            <a:pPr lvl="1" algn="just" eaLnBrk="1" hangingPunct="1">
              <a:buNone/>
            </a:pPr>
            <a:r>
              <a:rPr lang="zh-CN" altLang="en-US" b="0" dirty="0"/>
              <a:t>'0'-'9'</a:t>
            </a:r>
            <a:endParaRPr lang="zh-CN" altLang="en-US" b="0" dirty="0"/>
          </a:p>
          <a:p>
            <a:pPr lvl="1" algn="just" eaLnBrk="1" hangingPunct="1">
              <a:buNone/>
            </a:pPr>
            <a:r>
              <a:rPr lang="en-US" altLang="zh-CN" b="0" dirty="0"/>
              <a:t>'A'-'Z'</a:t>
            </a:r>
            <a:endParaRPr lang="en-US" altLang="zh-CN" b="0" dirty="0"/>
          </a:p>
          <a:p>
            <a:pPr lvl="1" algn="just" eaLnBrk="1" hangingPunct="1">
              <a:buNone/>
            </a:pPr>
            <a:r>
              <a:rPr lang="en-US" altLang="zh-CN" b="0" dirty="0"/>
              <a:t>'a'-'z'</a:t>
            </a:r>
            <a:endParaRPr lang="zh-CN" altLang="en-US" b="0" dirty="0"/>
          </a:p>
        </p:txBody>
      </p:sp>
      <p:pic>
        <p:nvPicPr>
          <p:cNvPr id="12902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8645" y="2538000"/>
            <a:ext cx="5957305" cy="43200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29029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920" y="2538000"/>
            <a:ext cx="5819340" cy="432000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29030" name="Rectangle 6"/>
          <p:cNvSpPr/>
          <p:nvPr/>
        </p:nvSpPr>
        <p:spPr>
          <a:xfrm>
            <a:off x="323850" y="4869180"/>
            <a:ext cx="2728595" cy="81470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zh-CN" altLang="en-US" sz="2800" b="0" dirty="0"/>
              <a:t>区分数字 1 和数字字符 '1'</a:t>
            </a:r>
            <a:endParaRPr lang="zh-CN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0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684213" y="620713"/>
            <a:ext cx="3630612" cy="9144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>
                <a:latin typeface="宋体" pitchFamily="2" charset="-122"/>
              </a:rPr>
              <a:t>字符变量 </a:t>
            </a:r>
            <a:endParaRPr lang="zh-CN" altLang="en-US" b="0" dirty="0">
              <a:latin typeface="宋体" pitchFamily="2" charset="-122"/>
            </a:endParaRP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685800" y="1773238"/>
            <a:ext cx="7847013" cy="3621087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en-US" altLang="zh-CN" b="0" dirty="0">
                <a:solidFill>
                  <a:srgbClr val="CC0066"/>
                </a:solidFill>
              </a:rPr>
              <a:t>char</a:t>
            </a:r>
            <a:r>
              <a:rPr lang="en-US" altLang="zh-CN" b="0" dirty="0"/>
              <a:t> </a:t>
            </a:r>
            <a:r>
              <a:rPr lang="en-US" altLang="zh-CN" b="0" dirty="0">
                <a:solidFill>
                  <a:schemeClr val="bg2"/>
                </a:solidFill>
              </a:rPr>
              <a:t>ch</a:t>
            </a:r>
            <a:r>
              <a:rPr lang="en-US" altLang="zh-CN" b="0" dirty="0"/>
              <a:t>;  </a:t>
            </a:r>
            <a:endParaRPr lang="en-US" altLang="zh-CN" b="0" dirty="0"/>
          </a:p>
          <a:p>
            <a:pPr algn="just" eaLnBrk="1" hangingPunct="1">
              <a:buNone/>
            </a:pPr>
            <a:endParaRPr lang="zh-CN" altLang="en-US" b="0" dirty="0">
              <a:latin typeface="宋体" pitchFamily="2" charset="-122"/>
            </a:endParaRPr>
          </a:p>
          <a:p>
            <a:pPr algn="just" eaLnBrk="1" hangingPunct="1">
              <a:buNone/>
            </a:pPr>
            <a:r>
              <a:rPr lang="zh-CN" altLang="en-US" b="0" dirty="0">
                <a:latin typeface="宋体" pitchFamily="2" charset="-122"/>
              </a:rPr>
              <a:t>定义字符变量</a:t>
            </a:r>
            <a:r>
              <a:rPr lang="en-US" altLang="zh-CN" b="0" dirty="0">
                <a:ea typeface="Arial Unicode MS" pitchFamily="34" charset="-122"/>
              </a:rPr>
              <a:t>ch</a:t>
            </a:r>
            <a:r>
              <a:rPr lang="en-US" altLang="zh-CN" b="0" dirty="0">
                <a:latin typeface="宋体" pitchFamily="2" charset="-122"/>
              </a:rPr>
              <a:t>，</a:t>
            </a:r>
            <a:r>
              <a:rPr lang="zh-CN" altLang="en-US" b="0" dirty="0">
                <a:latin typeface="宋体" pitchFamily="2" charset="-122"/>
              </a:rPr>
              <a:t>用于存放字符型数据。</a:t>
            </a:r>
            <a:endParaRPr lang="zh-CN" altLang="en-US" b="0" dirty="0">
              <a:latin typeface="宋体" pitchFamily="2" charset="-122"/>
            </a:endParaRPr>
          </a:p>
          <a:p>
            <a:pPr algn="just" eaLnBrk="1" hangingPunct="1">
              <a:buNone/>
            </a:pPr>
            <a:endParaRPr lang="en-US" altLang="zh-CN" b="0" dirty="0">
              <a:latin typeface="宋体" pitchFamily="2" charset="-122"/>
            </a:endParaRPr>
          </a:p>
          <a:p>
            <a:pPr algn="just" eaLnBrk="1" hangingPunct="1">
              <a:buNone/>
            </a:pPr>
            <a:r>
              <a:rPr lang="en-US" altLang="zh-CN" b="0" dirty="0">
                <a:ea typeface="Arial Unicode MS" pitchFamily="34" charset="-122"/>
              </a:rPr>
              <a:t>ch = 'A';</a:t>
            </a:r>
            <a:endParaRPr lang="en-US" altLang="zh-CN" b="0" dirty="0"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208915" y="457200"/>
            <a:ext cx="8315960" cy="9144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3.1.</a:t>
            </a:r>
            <a:r>
              <a:rPr lang="en-US" altLang="zh-CN" b="0" dirty="0"/>
              <a:t>3  </a:t>
            </a:r>
            <a:r>
              <a:rPr lang="zh-CN" altLang="en-US" b="0" dirty="0">
                <a:latin typeface="宋体" pitchFamily="2" charset="-122"/>
              </a:rPr>
              <a:t>字符型数据的输入和输出</a:t>
            </a:r>
            <a:endParaRPr lang="zh-CN" altLang="en-US" b="0" dirty="0"/>
          </a:p>
        </p:txBody>
      </p:sp>
      <p:sp>
        <p:nvSpPr>
          <p:cNvPr id="179203" name="Rectangle 3"/>
          <p:cNvSpPr>
            <a:spLocks noGrp="1"/>
          </p:cNvSpPr>
          <p:nvPr>
            <p:ph idx="1"/>
          </p:nvPr>
        </p:nvSpPr>
        <p:spPr>
          <a:xfrm>
            <a:off x="457200" y="1524000"/>
            <a:ext cx="8305800" cy="3962400"/>
          </a:xfrm>
        </p:spPr>
        <p:txBody>
          <a:bodyPr vert="horz" wrap="square" lIns="91440" tIns="45720" rIns="91440" bIns="45720" anchor="t" anchorCtr="0"/>
          <a:p>
            <a:pPr algn="just" eaLnBrk="1" hangingPunct="1"/>
            <a:r>
              <a:rPr lang="zh-CN" altLang="en-US" b="0" dirty="0"/>
              <a:t>字符输入函数</a:t>
            </a:r>
            <a:r>
              <a:rPr lang="en-US" altLang="zh-CN" b="0" dirty="0"/>
              <a:t>getchar</a:t>
            </a:r>
            <a:endParaRPr lang="en-US" altLang="zh-CN" b="0" dirty="0"/>
          </a:p>
          <a:p>
            <a:pPr lvl="1" algn="just" eaLnBrk="1" hangingPunct="1">
              <a:buNone/>
            </a:pPr>
            <a:r>
              <a:rPr lang="zh-CN" altLang="en-US" b="0" dirty="0"/>
              <a:t>输入</a:t>
            </a:r>
            <a:r>
              <a:rPr lang="zh-CN" altLang="en-US" b="0" dirty="0">
                <a:solidFill>
                  <a:srgbClr val="CC0066"/>
                </a:solidFill>
              </a:rPr>
              <a:t>一个</a:t>
            </a:r>
            <a:r>
              <a:rPr lang="zh-CN" altLang="en-US" b="0" dirty="0"/>
              <a:t>字符</a:t>
            </a:r>
            <a:endParaRPr lang="zh-CN" altLang="en-US" b="0" dirty="0"/>
          </a:p>
          <a:p>
            <a:pPr lvl="1" algn="just" eaLnBrk="1" hangingPunct="1">
              <a:lnSpc>
                <a:spcPct val="85000"/>
              </a:lnSpc>
              <a:buNone/>
            </a:pPr>
            <a:r>
              <a:rPr lang="en-US" altLang="zh-CN" b="0" dirty="0"/>
              <a:t>char ch;</a:t>
            </a:r>
            <a:endParaRPr lang="en-US" altLang="zh-CN" b="0" dirty="0"/>
          </a:p>
          <a:p>
            <a:pPr lvl="1" algn="just" eaLnBrk="1" hangingPunct="1">
              <a:lnSpc>
                <a:spcPct val="85000"/>
              </a:lnSpc>
              <a:buNone/>
            </a:pPr>
            <a:r>
              <a:rPr lang="en-US" altLang="zh-CN" b="0" dirty="0">
                <a:solidFill>
                  <a:srgbClr val="CC0066"/>
                </a:solidFill>
              </a:rPr>
              <a:t>ch = getchar( )</a:t>
            </a:r>
            <a:r>
              <a:rPr lang="en-US" altLang="zh-CN" b="0" dirty="0"/>
              <a:t>;</a:t>
            </a:r>
            <a:endParaRPr lang="zh-CN" altLang="en-US" b="0" dirty="0"/>
          </a:p>
          <a:p>
            <a:pPr algn="just" eaLnBrk="1" hangingPunct="1"/>
            <a:r>
              <a:rPr lang="zh-CN" altLang="en-US" b="0" dirty="0"/>
              <a:t>字符输出函数</a:t>
            </a:r>
            <a:r>
              <a:rPr lang="en-US" altLang="zh-CN" b="0" dirty="0"/>
              <a:t>putchar</a:t>
            </a:r>
            <a:endParaRPr lang="en-US" altLang="zh-CN" b="0" dirty="0"/>
          </a:p>
          <a:p>
            <a:pPr lvl="1" algn="just" eaLnBrk="1" hangingPunct="1">
              <a:buNone/>
            </a:pPr>
            <a:r>
              <a:rPr lang="zh-CN" altLang="en-US" b="0" dirty="0"/>
              <a:t>输出</a:t>
            </a:r>
            <a:r>
              <a:rPr lang="zh-CN" altLang="en-US" b="0" dirty="0">
                <a:solidFill>
                  <a:srgbClr val="CC0066"/>
                </a:solidFill>
              </a:rPr>
              <a:t>一个</a:t>
            </a:r>
            <a:r>
              <a:rPr lang="zh-CN" altLang="en-US" b="0" dirty="0"/>
              <a:t>字符</a:t>
            </a:r>
            <a:endParaRPr lang="zh-CN" altLang="en-US" b="0" dirty="0"/>
          </a:p>
          <a:p>
            <a:pPr lvl="1" algn="just" eaLnBrk="1" hangingPunct="1">
              <a:buNone/>
            </a:pPr>
            <a:r>
              <a:rPr lang="en-US" altLang="zh-CN" b="0" dirty="0">
                <a:solidFill>
                  <a:srgbClr val="CC0066"/>
                </a:solidFill>
              </a:rPr>
              <a:t>putchar(</a:t>
            </a:r>
            <a:r>
              <a:rPr lang="zh-CN" altLang="en-US" b="0" dirty="0">
                <a:solidFill>
                  <a:srgbClr val="CC0066"/>
                </a:solidFill>
              </a:rPr>
              <a:t>输出参数</a:t>
            </a:r>
            <a:r>
              <a:rPr lang="en-US" altLang="zh-CN" b="0" dirty="0">
                <a:solidFill>
                  <a:srgbClr val="CC0066"/>
                </a:solidFill>
              </a:rPr>
              <a:t>)</a:t>
            </a:r>
            <a:r>
              <a:rPr lang="en-US" altLang="zh-CN" b="0" dirty="0"/>
              <a:t>;</a:t>
            </a:r>
            <a:endParaRPr lang="en-US" altLang="zh-CN" b="0" dirty="0"/>
          </a:p>
        </p:txBody>
      </p:sp>
      <p:sp>
        <p:nvSpPr>
          <p:cNvPr id="179204" name="Rectangle 4"/>
          <p:cNvSpPr/>
          <p:nvPr/>
        </p:nvSpPr>
        <p:spPr>
          <a:xfrm>
            <a:off x="1455579" y="5691188"/>
            <a:ext cx="3383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zh-CN" altLang="en-US" sz="2800" b="0" dirty="0">
                <a:solidFill>
                  <a:schemeClr val="bg2"/>
                </a:solidFill>
              </a:rPr>
              <a:t>字符常量或字符变量</a:t>
            </a:r>
            <a:endParaRPr lang="zh-CN" altLang="en-US" sz="2800" b="0" dirty="0">
              <a:solidFill>
                <a:schemeClr val="bg2"/>
              </a:solidFill>
            </a:endParaRPr>
          </a:p>
        </p:txBody>
      </p:sp>
      <p:sp>
        <p:nvSpPr>
          <p:cNvPr id="179205" name="Line 5"/>
          <p:cNvSpPr/>
          <p:nvPr/>
        </p:nvSpPr>
        <p:spPr>
          <a:xfrm flipV="1">
            <a:off x="3048000" y="5157788"/>
            <a:ext cx="0" cy="609600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9206" name="Rectangle 6"/>
          <p:cNvSpPr/>
          <p:nvPr/>
        </p:nvSpPr>
        <p:spPr>
          <a:xfrm>
            <a:off x="5219700" y="2276475"/>
            <a:ext cx="3384550" cy="1944688"/>
          </a:xfrm>
          <a:prstGeom prst="rect">
            <a:avLst/>
          </a:prstGeom>
          <a:noFill/>
          <a:ln w="9525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742950" lvl="1" indent="-285750" algn="just" eaLnBrk="1" hangingPunct="1">
              <a:lnSpc>
                <a:spcPct val="90000"/>
              </a:lnSpc>
              <a:buNone/>
            </a:pPr>
            <a:r>
              <a:rPr lang="en-US" altLang="zh-CN" b="0" dirty="0">
                <a:ea typeface="Arial Unicode MS" pitchFamily="34" charset="-122"/>
              </a:rPr>
              <a:t>char ch;</a:t>
            </a:r>
            <a:endParaRPr lang="en-US" altLang="zh-CN" b="0" dirty="0">
              <a:ea typeface="Arial Unicode MS" pitchFamily="34" charset="-122"/>
            </a:endParaRPr>
          </a:p>
          <a:p>
            <a:pPr marL="742950" lvl="1" indent="-285750" algn="just" eaLnBrk="1" hangingPunct="1">
              <a:lnSpc>
                <a:spcPct val="90000"/>
              </a:lnSpc>
              <a:buNone/>
            </a:pPr>
            <a:r>
              <a:rPr lang="en-US" altLang="zh-CN" b="0" dirty="0">
                <a:ea typeface="Arial Unicode MS" pitchFamily="34" charset="-122"/>
              </a:rPr>
              <a:t>ch = getchar(); </a:t>
            </a:r>
            <a:endParaRPr lang="en-US" altLang="zh-CN" b="0" dirty="0">
              <a:ea typeface="Arial Unicode MS" pitchFamily="34" charset="-122"/>
            </a:endParaRPr>
          </a:p>
          <a:p>
            <a:pPr marL="742950" lvl="1" indent="-285750" algn="just" eaLnBrk="1" hangingPunct="1">
              <a:lnSpc>
                <a:spcPct val="90000"/>
              </a:lnSpc>
              <a:buNone/>
            </a:pPr>
            <a:r>
              <a:rPr lang="en-US" altLang="zh-CN" b="0" dirty="0">
                <a:ea typeface="Arial Unicode MS" pitchFamily="34" charset="-122"/>
              </a:rPr>
              <a:t>putchar (ch); </a:t>
            </a:r>
            <a:endParaRPr lang="en-US" altLang="zh-CN" b="0" dirty="0">
              <a:ea typeface="Arial Unicode MS" pitchFamily="34" charset="-122"/>
            </a:endParaRPr>
          </a:p>
          <a:p>
            <a:pPr marL="742950" lvl="1" indent="-285750" algn="just" eaLnBrk="1" hangingPunct="1">
              <a:lnSpc>
                <a:spcPct val="90000"/>
              </a:lnSpc>
              <a:buNone/>
            </a:pPr>
            <a:r>
              <a:rPr lang="en-US" altLang="zh-CN" b="0" dirty="0">
                <a:ea typeface="Arial Unicode MS" pitchFamily="34" charset="-122"/>
              </a:rPr>
              <a:t>putchar (‘?');</a:t>
            </a:r>
            <a:endParaRPr lang="zh-CN" altLang="en-US" b="0" dirty="0">
              <a:ea typeface="Arial Unicode MS" pitchFamily="34" charset="-122"/>
            </a:endParaRPr>
          </a:p>
        </p:txBody>
      </p:sp>
      <p:sp>
        <p:nvSpPr>
          <p:cNvPr id="179207" name="Rectangle 7"/>
          <p:cNvSpPr/>
          <p:nvPr/>
        </p:nvSpPr>
        <p:spPr>
          <a:xfrm>
            <a:off x="6372225" y="4724400"/>
            <a:ext cx="1066800" cy="9398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>
                <a:solidFill>
                  <a:srgbClr val="CC0066"/>
                </a:solidFill>
                <a:ea typeface="Arial Unicode MS" pitchFamily="34" charset="-122"/>
              </a:rPr>
              <a:t>a</a:t>
            </a:r>
            <a:endParaRPr lang="en-US" altLang="zh-CN" sz="2400" b="0" dirty="0">
              <a:solidFill>
                <a:srgbClr val="CC0066"/>
              </a:solidFill>
              <a:ea typeface="Arial Unicode MS" pitchFamily="34" charset="-122"/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a?</a:t>
            </a:r>
            <a:endParaRPr lang="en-US" altLang="zh-CN" sz="24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920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920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charRg st="14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9203">
                                            <p:txEl>
                                              <p:charRg st="14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9203">
                                            <p:txEl>
                                              <p:charRg st="14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charRg st="21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9203">
                                            <p:txEl>
                                              <p:charRg st="21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9203">
                                            <p:txEl>
                                              <p:charRg st="21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charRg st="3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9203">
                                            <p:txEl>
                                              <p:charRg st="3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9203">
                                            <p:txEl>
                                              <p:charRg st="3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charRg st="47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9203">
                                            <p:txEl>
                                              <p:charRg st="47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9203">
                                            <p:txEl>
                                              <p:charRg st="47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charRg st="61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9203">
                                            <p:txEl>
                                              <p:charRg st="61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9203">
                                            <p:txEl>
                                              <p:charRg st="61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charRg st="68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9203">
                                            <p:txEl>
                                              <p:charRg st="68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9203">
                                            <p:txEl>
                                              <p:charRg st="68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9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9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9207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9207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>
                                            <p:txEl>
                                              <p:charRg st="2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9207">
                                            <p:txEl>
                                              <p:charRg st="2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9207">
                                            <p:txEl>
                                              <p:charRg st="2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3" grpId="0" build="p"/>
      <p:bldP spid="179204" grpId="0"/>
      <p:bldP spid="179206" grpId="0" bldLvl="0" animBg="1"/>
      <p:bldP spid="179207" grpId="0" animBg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611188" y="692150"/>
            <a:ext cx="7772400" cy="914400"/>
          </a:xfrm>
        </p:spPr>
        <p:txBody>
          <a:bodyPr vert="horz" wrap="square" lIns="91440" tIns="45720" rIns="91440" bIns="45720" anchor="ctr" anchorCtr="0"/>
          <a:p>
            <a:pPr algn="just" eaLnBrk="1" hangingPunct="1"/>
            <a:r>
              <a:rPr lang="zh-CN" altLang="en-US" sz="4000" b="0" dirty="0"/>
              <a:t>调用</a:t>
            </a:r>
            <a:r>
              <a:rPr lang="en-US" altLang="zh-CN" sz="4000" b="0" dirty="0"/>
              <a:t>scanf</a:t>
            </a:r>
            <a:r>
              <a:rPr lang="zh-CN" altLang="en-US" sz="4000" b="0" dirty="0"/>
              <a:t>和</a:t>
            </a:r>
            <a:r>
              <a:rPr lang="en-US" altLang="zh-CN" sz="4000" b="0" dirty="0"/>
              <a:t>printf</a:t>
            </a:r>
            <a:r>
              <a:rPr lang="zh-CN" altLang="en-US" sz="4000" b="0" dirty="0"/>
              <a:t>输入输出字符 </a:t>
            </a:r>
            <a:endParaRPr lang="zh-CN" altLang="en-US" sz="4000" b="0" dirty="0"/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54928" y="1700530"/>
            <a:ext cx="9034145" cy="2663825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en-US" altLang="zh-CN" sz="2800" b="0" dirty="0"/>
              <a:t>double value1, value2;</a:t>
            </a:r>
            <a:endParaRPr lang="en-US" altLang="zh-CN" sz="2800" b="0" dirty="0"/>
          </a:p>
          <a:p>
            <a:pPr eaLnBrk="1" hangingPunct="1">
              <a:buNone/>
            </a:pPr>
            <a:r>
              <a:rPr lang="en-US" altLang="zh-CN" sz="2800" b="0" dirty="0"/>
              <a:t>char operator;</a:t>
            </a:r>
            <a:endParaRPr lang="en-US" altLang="zh-CN" sz="2800" b="0" dirty="0"/>
          </a:p>
          <a:p>
            <a:pPr eaLnBrk="1" hangingPunct="1">
              <a:buNone/>
            </a:pPr>
            <a:r>
              <a:rPr lang="en-US" altLang="zh-CN" sz="2800" b="0" dirty="0"/>
              <a:t>printf(“Type in an expression: ”); </a:t>
            </a:r>
            <a:endParaRPr lang="en-US" altLang="zh-CN" sz="2800" b="0" dirty="0"/>
          </a:p>
          <a:p>
            <a:pPr eaLnBrk="1" hangingPunct="1">
              <a:buNone/>
            </a:pPr>
            <a:r>
              <a:rPr lang="en-US" altLang="zh-CN" sz="2800" b="0" dirty="0"/>
              <a:t>scanf(“%lf%c%lf”, &amp;value1, &amp;operator, </a:t>
            </a:r>
            <a:r>
              <a:rPr lang="x-none" altLang="en-US" sz="2800" b="0" dirty="0"/>
              <a:t>&amp;</a:t>
            </a:r>
            <a:r>
              <a:rPr lang="en-US" altLang="zh-CN" sz="2800" b="0" dirty="0"/>
              <a:t>value2);</a:t>
            </a:r>
            <a:endParaRPr lang="en-US" altLang="zh-CN" sz="2800" b="0" dirty="0"/>
          </a:p>
          <a:p>
            <a:pPr eaLnBrk="1" hangingPunct="1">
              <a:buNone/>
            </a:pPr>
            <a:r>
              <a:rPr lang="en-US" altLang="zh-CN" sz="2800" b="0" dirty="0"/>
              <a:t>printf(“%.2f %c %.2f”, value1, operator, </a:t>
            </a:r>
            <a:r>
              <a:rPr lang="x-none" altLang="en-US" sz="2800" b="0" dirty="0"/>
              <a:t>v</a:t>
            </a:r>
            <a:r>
              <a:rPr lang="en-US" altLang="zh-CN" sz="2800" b="0" dirty="0"/>
              <a:t>alue2); </a:t>
            </a:r>
            <a:endParaRPr lang="zh-CN" altLang="en-US" sz="2800" b="0" dirty="0"/>
          </a:p>
        </p:txBody>
      </p:sp>
      <p:sp>
        <p:nvSpPr>
          <p:cNvPr id="180229" name="Rectangle 5"/>
          <p:cNvSpPr/>
          <p:nvPr/>
        </p:nvSpPr>
        <p:spPr>
          <a:xfrm>
            <a:off x="3059748" y="4797108"/>
            <a:ext cx="5256212" cy="130937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Type in an expression: </a:t>
            </a:r>
            <a:r>
              <a:rPr lang="en-US" altLang="zh-CN" sz="2400" b="0" dirty="0">
                <a:solidFill>
                  <a:srgbClr val="CC0066"/>
                </a:solidFill>
              </a:rPr>
              <a:t>10.0+5.61 </a:t>
            </a:r>
            <a:endParaRPr lang="en-US" altLang="zh-CN" sz="2400" b="0" dirty="0">
              <a:solidFill>
                <a:srgbClr val="CC0066"/>
              </a:solidFill>
              <a:ea typeface="Arial Unicode MS" pitchFamily="34" charset="-122"/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10.00 + 5.61 </a:t>
            </a:r>
            <a:endParaRPr lang="en-US" altLang="zh-CN" sz="24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0229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0229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>
                                            <p:txEl>
                                              <p:charRg st="34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0229">
                                            <p:txEl>
                                              <p:charRg st="34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0229">
                                            <p:txEl>
                                              <p:charRg st="34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9" grpId="0" animBg="1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457200" y="549275"/>
            <a:ext cx="8229600" cy="9350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3.1.</a:t>
            </a:r>
            <a:r>
              <a:rPr lang="en-US" altLang="zh-CN" b="0" dirty="0"/>
              <a:t>4  </a:t>
            </a:r>
            <a:r>
              <a:rPr lang="zh-CN" altLang="en-US" b="0" dirty="0"/>
              <a:t>逻辑运算</a:t>
            </a:r>
            <a:endParaRPr lang="zh-CN" altLang="en-US" b="0" dirty="0"/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457200" y="1524000"/>
            <a:ext cx="8362950" cy="3489325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en-US" altLang="zh-CN" b="0" dirty="0"/>
              <a:t>(ch &gt;= 'a' </a:t>
            </a:r>
            <a:r>
              <a:rPr lang="en-US" altLang="zh-CN" b="0" dirty="0">
                <a:solidFill>
                  <a:srgbClr val="CC0066"/>
                </a:solidFill>
              </a:rPr>
              <a:t>&amp;&amp;</a:t>
            </a:r>
            <a:r>
              <a:rPr lang="en-US" altLang="zh-CN" b="0" dirty="0"/>
              <a:t> ch &lt;= 'z' ) </a:t>
            </a:r>
            <a:r>
              <a:rPr lang="en-US" altLang="zh-CN" b="0" dirty="0">
                <a:solidFill>
                  <a:srgbClr val="CC0066"/>
                </a:solidFill>
              </a:rPr>
              <a:t>||</a:t>
            </a:r>
            <a:r>
              <a:rPr lang="en-US" altLang="zh-CN" b="0" dirty="0"/>
              <a:t> ( ch &gt;= 'A' </a:t>
            </a:r>
            <a:r>
              <a:rPr lang="en-US" altLang="zh-CN" b="0" dirty="0">
                <a:solidFill>
                  <a:srgbClr val="CC0066"/>
                </a:solidFill>
              </a:rPr>
              <a:t>&amp;&amp;</a:t>
            </a:r>
            <a:r>
              <a:rPr lang="en-US" altLang="zh-CN" b="0" dirty="0"/>
              <a:t> ch &lt;= 'Z')</a:t>
            </a:r>
            <a:endParaRPr lang="en-US" altLang="zh-CN" b="0" dirty="0"/>
          </a:p>
          <a:p>
            <a:pPr algn="just" eaLnBrk="1" hangingPunct="1">
              <a:buNone/>
            </a:pPr>
            <a:r>
              <a:rPr lang="en-US" altLang="zh-CN" b="0" dirty="0"/>
              <a:t>ch &gt;= '0' </a:t>
            </a:r>
            <a:r>
              <a:rPr lang="en-US" altLang="zh-CN" b="0" dirty="0">
                <a:solidFill>
                  <a:srgbClr val="CC0066"/>
                </a:solidFill>
              </a:rPr>
              <a:t>&amp;&amp;</a:t>
            </a:r>
            <a:r>
              <a:rPr lang="en-US" altLang="zh-CN" b="0" dirty="0"/>
              <a:t> ch &lt;= '9'</a:t>
            </a:r>
            <a:endParaRPr lang="zh-CN" altLang="en-US" b="0" dirty="0"/>
          </a:p>
          <a:p>
            <a:pPr eaLnBrk="1" hangingPunct="1">
              <a:buNone/>
            </a:pPr>
            <a:endParaRPr lang="en-US" altLang="zh-CN" b="0" dirty="0"/>
          </a:p>
          <a:p>
            <a:pPr eaLnBrk="1" hangingPunct="1">
              <a:buNone/>
            </a:pPr>
            <a:r>
              <a:rPr lang="en-US" altLang="zh-CN" b="0" dirty="0"/>
              <a:t>x&lt;=1 </a:t>
            </a:r>
            <a:r>
              <a:rPr lang="zh-CN" altLang="en-US" b="0" dirty="0"/>
              <a:t>关系运算</a:t>
            </a:r>
            <a:endParaRPr lang="zh-CN" altLang="en-US" b="0" dirty="0"/>
          </a:p>
          <a:p>
            <a:pPr eaLnBrk="1" hangingPunct="1">
              <a:buNone/>
            </a:pPr>
            <a:r>
              <a:rPr lang="en-US" altLang="zh-CN" b="0" dirty="0"/>
              <a:t>-1 &lt;= x &lt;= 1 </a:t>
            </a:r>
            <a:endParaRPr lang="zh-CN" altLang="en-US" sz="2800" b="0" dirty="0">
              <a:latin typeface="宋体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3429000" y="4019550"/>
            <a:ext cx="4724400" cy="685800"/>
            <a:chOff x="1872" y="1200"/>
            <a:chExt cx="2976" cy="432"/>
          </a:xfrm>
        </p:grpSpPr>
        <p:sp>
          <p:nvSpPr>
            <p:cNvPr id="13319" name="Line 5"/>
            <p:cNvSpPr/>
            <p:nvPr/>
          </p:nvSpPr>
          <p:spPr>
            <a:xfrm>
              <a:off x="1872" y="1632"/>
              <a:ext cx="297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320" name="Freeform 6"/>
            <p:cNvSpPr/>
            <p:nvPr/>
          </p:nvSpPr>
          <p:spPr>
            <a:xfrm>
              <a:off x="2928" y="1200"/>
              <a:ext cx="1296" cy="432"/>
            </a:xfrm>
            <a:custGeom>
              <a:avLst/>
              <a:gdLst>
                <a:gd name="txL" fmla="*/ 0 w 1296"/>
                <a:gd name="txT" fmla="*/ 0 h 432"/>
                <a:gd name="txR" fmla="*/ 1296 w 1296"/>
                <a:gd name="txB" fmla="*/ 432 h 432"/>
              </a:gdLst>
              <a:ahLst/>
              <a:cxnLst>
                <a:cxn ang="0">
                  <a:pos x="0" y="432"/>
                </a:cxn>
                <a:cxn ang="0">
                  <a:pos x="0" y="0"/>
                </a:cxn>
                <a:cxn ang="0">
                  <a:pos x="1296" y="0"/>
                </a:cxn>
              </a:cxnLst>
              <a:rect l="txL" t="txT" r="txR" b="txB"/>
              <a:pathLst>
                <a:path w="1296" h="432">
                  <a:moveTo>
                    <a:pt x="0" y="432"/>
                  </a:moveTo>
                  <a:lnTo>
                    <a:pt x="0" y="0"/>
                  </a:lnTo>
                  <a:lnTo>
                    <a:pt x="1296" y="0"/>
                  </a:lnTo>
                </a:path>
              </a:pathLst>
            </a:custGeom>
            <a:noFill/>
            <a:ln w="9525" cap="flat" cmpd="sng">
              <a:solidFill>
                <a:srgbClr val="DE4D1A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21" name="Freeform 7"/>
            <p:cNvSpPr/>
            <p:nvPr/>
          </p:nvSpPr>
          <p:spPr>
            <a:xfrm>
              <a:off x="2496" y="1344"/>
              <a:ext cx="1344" cy="288"/>
            </a:xfrm>
            <a:custGeom>
              <a:avLst/>
              <a:gdLst>
                <a:gd name="txL" fmla="*/ 0 w 1344"/>
                <a:gd name="txT" fmla="*/ 0 h 288"/>
                <a:gd name="txR" fmla="*/ 1344 w 1344"/>
                <a:gd name="txB" fmla="*/ 288 h 288"/>
              </a:gdLst>
              <a:ahLst/>
              <a:cxnLst>
                <a:cxn ang="0">
                  <a:pos x="1344" y="288"/>
                </a:cxn>
                <a:cxn ang="0">
                  <a:pos x="1344" y="0"/>
                </a:cxn>
                <a:cxn ang="0">
                  <a:pos x="0" y="0"/>
                </a:cxn>
              </a:cxnLst>
              <a:rect l="txL" t="txT" r="txR" b="txB"/>
              <a:pathLst>
                <a:path w="1344" h="288">
                  <a:moveTo>
                    <a:pt x="1344" y="288"/>
                  </a:moveTo>
                  <a:lnTo>
                    <a:pt x="1344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2129C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81256" name="Rectangle 8"/>
          <p:cNvSpPr/>
          <p:nvPr/>
        </p:nvSpPr>
        <p:spPr>
          <a:xfrm>
            <a:off x="3581400" y="4764088"/>
            <a:ext cx="50292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Clr>
                <a:schemeClr val="accent2"/>
              </a:buClr>
              <a:buSzTx/>
              <a:buNone/>
            </a:pPr>
            <a:r>
              <a:rPr lang="en-US" altLang="zh-CN" sz="2400" b="0" dirty="0">
                <a:solidFill>
                  <a:schemeClr val="bg2"/>
                </a:solidFill>
              </a:rPr>
              <a:t>0              -1             1		x</a:t>
            </a:r>
            <a:r>
              <a:rPr lang="zh-CN" altLang="en-US" sz="2000" b="0" dirty="0">
                <a:latin typeface="宋体" pitchFamily="2" charset="-122"/>
              </a:rPr>
              <a:t>			</a:t>
            </a:r>
            <a:endParaRPr lang="zh-CN" altLang="en-US" sz="2000" b="0" dirty="0">
              <a:latin typeface="宋体" pitchFamily="2" charset="-122"/>
            </a:endParaRPr>
          </a:p>
        </p:txBody>
      </p:sp>
      <p:sp>
        <p:nvSpPr>
          <p:cNvPr id="181257" name="Text Box 9"/>
          <p:cNvSpPr txBox="1"/>
          <p:nvPr/>
        </p:nvSpPr>
        <p:spPr>
          <a:xfrm>
            <a:off x="3429000" y="5013325"/>
            <a:ext cx="4948555" cy="138366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/>
              <a:t>x &gt;= -1 </a:t>
            </a:r>
            <a:r>
              <a:rPr lang="zh-CN" altLang="en-US" b="0" dirty="0">
                <a:solidFill>
                  <a:srgbClr val="CC0066"/>
                </a:solidFill>
              </a:rPr>
              <a:t>并且</a:t>
            </a:r>
            <a:r>
              <a:rPr lang="zh-CN" altLang="en-US" b="0" dirty="0"/>
              <a:t> </a:t>
            </a:r>
            <a:r>
              <a:rPr lang="en-US" altLang="zh-CN" b="0" dirty="0"/>
              <a:t>x &lt;= 1</a:t>
            </a:r>
            <a:endParaRPr lang="en-US" altLang="zh-CN" b="0" dirty="0"/>
          </a:p>
          <a:p>
            <a:pPr marL="457200" lvl="1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/>
              <a:t>x &gt;= -1  </a:t>
            </a:r>
            <a:r>
              <a:rPr lang="en-US" altLang="zh-CN" b="0" dirty="0">
                <a:solidFill>
                  <a:srgbClr val="CC0066"/>
                </a:solidFill>
              </a:rPr>
              <a:t>&amp;&amp;</a:t>
            </a:r>
            <a:r>
              <a:rPr lang="en-US" altLang="zh-CN" b="0" dirty="0"/>
              <a:t>  x &lt;= 1</a:t>
            </a:r>
            <a:endParaRPr lang="en-US" altLang="zh-CN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6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1256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1256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1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1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6" grpId="0" bldLvl="2" advAuto="1000" build="p"/>
      <p:bldP spid="18125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395288" y="333375"/>
            <a:ext cx="8229600" cy="1371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3种逻辑运算符</a:t>
            </a:r>
            <a:endParaRPr lang="zh-CN" altLang="en-US" b="0" dirty="0"/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304800" y="1447800"/>
            <a:ext cx="2466975" cy="17653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b="0" dirty="0"/>
              <a:t>逻辑与 </a:t>
            </a:r>
            <a:r>
              <a:rPr lang="en-US" altLang="zh-CN" b="0" dirty="0"/>
              <a:t> </a:t>
            </a:r>
            <a:r>
              <a:rPr lang="en-US" altLang="zh-CN" b="0" dirty="0">
                <a:solidFill>
                  <a:srgbClr val="CC0066"/>
                </a:solidFill>
              </a:rPr>
              <a:t>&amp;&amp;</a:t>
            </a:r>
            <a:r>
              <a:rPr lang="en-US" altLang="zh-CN" b="0" dirty="0"/>
              <a:t> </a:t>
            </a:r>
            <a:endParaRPr lang="en-US" altLang="zh-CN" b="0" dirty="0"/>
          </a:p>
          <a:p>
            <a:pPr algn="just" eaLnBrk="1" hangingPunct="1">
              <a:buNone/>
            </a:pPr>
            <a:r>
              <a:rPr lang="zh-CN" altLang="en-US" b="0" dirty="0"/>
              <a:t>逻辑或 </a:t>
            </a:r>
            <a:r>
              <a:rPr lang="en-US" altLang="zh-CN" b="0" dirty="0"/>
              <a:t> </a:t>
            </a:r>
            <a:r>
              <a:rPr lang="en-US" altLang="zh-CN" b="0" dirty="0">
                <a:solidFill>
                  <a:srgbClr val="CC0066"/>
                </a:solidFill>
              </a:rPr>
              <a:t>||</a:t>
            </a:r>
            <a:endParaRPr lang="en-US" altLang="zh-CN" b="0" dirty="0">
              <a:solidFill>
                <a:srgbClr val="CC0066"/>
              </a:solidFill>
            </a:endParaRPr>
          </a:p>
          <a:p>
            <a:pPr algn="just" eaLnBrk="1" hangingPunct="1">
              <a:buNone/>
            </a:pPr>
            <a:r>
              <a:rPr lang="zh-CN" altLang="en-US" b="0" dirty="0"/>
              <a:t>逻辑非</a:t>
            </a:r>
            <a:r>
              <a:rPr lang="en-US" altLang="zh-CN" b="0" dirty="0"/>
              <a:t> </a:t>
            </a:r>
            <a:r>
              <a:rPr lang="en-US" altLang="zh-CN" b="0" dirty="0">
                <a:solidFill>
                  <a:srgbClr val="CC0066"/>
                </a:solidFill>
              </a:rPr>
              <a:t>!</a:t>
            </a:r>
            <a:endParaRPr lang="zh-CN" altLang="en-US" sz="2800" b="0" dirty="0">
              <a:solidFill>
                <a:srgbClr val="CC0066"/>
              </a:solidFill>
              <a:latin typeface="宋体" pitchFamily="2" charset="-122"/>
            </a:endParaRPr>
          </a:p>
        </p:txBody>
      </p:sp>
      <p:sp>
        <p:nvSpPr>
          <p:cNvPr id="14340" name="Oval 11"/>
          <p:cNvSpPr/>
          <p:nvPr/>
        </p:nvSpPr>
        <p:spPr>
          <a:xfrm>
            <a:off x="5334000" y="2590800"/>
            <a:ext cx="1447800" cy="1905000"/>
          </a:xfrm>
          <a:prstGeom prst="ellipse">
            <a:avLst/>
          </a:prstGeom>
          <a:solidFill>
            <a:srgbClr val="C3F5FD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/>
          </a:p>
        </p:txBody>
      </p:sp>
      <p:sp>
        <p:nvSpPr>
          <p:cNvPr id="14341" name="Oval 12"/>
          <p:cNvSpPr/>
          <p:nvPr/>
        </p:nvSpPr>
        <p:spPr>
          <a:xfrm>
            <a:off x="6477000" y="2667000"/>
            <a:ext cx="1371600" cy="1905000"/>
          </a:xfrm>
          <a:prstGeom prst="ellipse">
            <a:avLst/>
          </a:prstGeom>
          <a:solidFill>
            <a:srgbClr val="C3F5FD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/>
          </a:p>
        </p:txBody>
      </p:sp>
      <p:sp>
        <p:nvSpPr>
          <p:cNvPr id="14342" name="Rectangle 13"/>
          <p:cNvSpPr/>
          <p:nvPr/>
        </p:nvSpPr>
        <p:spPr>
          <a:xfrm>
            <a:off x="4343400" y="5029200"/>
            <a:ext cx="2362200" cy="1447800"/>
          </a:xfrm>
          <a:prstGeom prst="rect">
            <a:avLst/>
          </a:prstGeom>
          <a:solidFill>
            <a:srgbClr val="F7FA6A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/>
          </a:p>
        </p:txBody>
      </p:sp>
      <p:sp>
        <p:nvSpPr>
          <p:cNvPr id="14343" name="Oval 14"/>
          <p:cNvSpPr/>
          <p:nvPr/>
        </p:nvSpPr>
        <p:spPr>
          <a:xfrm>
            <a:off x="5105400" y="5257800"/>
            <a:ext cx="914400" cy="990600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/>
          </a:p>
        </p:txBody>
      </p:sp>
      <p:sp>
        <p:nvSpPr>
          <p:cNvPr id="14344" name="Oval 15"/>
          <p:cNvSpPr/>
          <p:nvPr/>
        </p:nvSpPr>
        <p:spPr>
          <a:xfrm>
            <a:off x="2209800" y="2667000"/>
            <a:ext cx="1524000" cy="1905000"/>
          </a:xfrm>
          <a:prstGeom prst="ellipse">
            <a:avLst/>
          </a:prstGeom>
          <a:solidFill>
            <a:srgbClr val="337774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/>
          </a:p>
        </p:txBody>
      </p:sp>
      <p:sp>
        <p:nvSpPr>
          <p:cNvPr id="14345" name="Oval 16"/>
          <p:cNvSpPr/>
          <p:nvPr/>
        </p:nvSpPr>
        <p:spPr>
          <a:xfrm>
            <a:off x="3124200" y="2743200"/>
            <a:ext cx="1371600" cy="1752600"/>
          </a:xfrm>
          <a:prstGeom prst="ellipse">
            <a:avLst/>
          </a:prstGeom>
          <a:solidFill>
            <a:srgbClr val="EAB42C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/>
          </a:p>
        </p:txBody>
      </p:sp>
      <p:sp>
        <p:nvSpPr>
          <p:cNvPr id="14346" name="Line 17"/>
          <p:cNvSpPr/>
          <p:nvPr/>
        </p:nvSpPr>
        <p:spPr>
          <a:xfrm flipH="1">
            <a:off x="3200400" y="3048000"/>
            <a:ext cx="304800" cy="381000"/>
          </a:xfrm>
          <a:prstGeom prst="line">
            <a:avLst/>
          </a:prstGeom>
          <a:ln w="9525" cap="flat" cmpd="sng">
            <a:solidFill>
              <a:srgbClr val="DE4D1A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7" name="Line 18"/>
          <p:cNvSpPr/>
          <p:nvPr/>
        </p:nvSpPr>
        <p:spPr>
          <a:xfrm flipH="1">
            <a:off x="3200400" y="3276600"/>
            <a:ext cx="457200" cy="533400"/>
          </a:xfrm>
          <a:prstGeom prst="line">
            <a:avLst/>
          </a:prstGeom>
          <a:ln w="9525" cap="flat" cmpd="sng">
            <a:solidFill>
              <a:srgbClr val="DE4D1A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8" name="Line 19"/>
          <p:cNvSpPr/>
          <p:nvPr/>
        </p:nvSpPr>
        <p:spPr>
          <a:xfrm flipH="1">
            <a:off x="3276600" y="3562350"/>
            <a:ext cx="457200" cy="533400"/>
          </a:xfrm>
          <a:prstGeom prst="line">
            <a:avLst/>
          </a:prstGeom>
          <a:ln w="9525" cap="flat" cmpd="sng">
            <a:solidFill>
              <a:srgbClr val="DE4D1A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9" name="Line 20"/>
          <p:cNvSpPr/>
          <p:nvPr/>
        </p:nvSpPr>
        <p:spPr>
          <a:xfrm flipH="1">
            <a:off x="3371850" y="4000500"/>
            <a:ext cx="304800" cy="228600"/>
          </a:xfrm>
          <a:prstGeom prst="line">
            <a:avLst/>
          </a:prstGeom>
          <a:ln w="9525" cap="flat" cmpd="sng">
            <a:solidFill>
              <a:srgbClr val="DE4D1A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50" name="Rectangle 24"/>
          <p:cNvSpPr/>
          <p:nvPr/>
        </p:nvSpPr>
        <p:spPr>
          <a:xfrm>
            <a:off x="2587784" y="3352800"/>
            <a:ext cx="42672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en-US" altLang="zh-CN" sz="2800" b="0" dirty="0"/>
              <a:t>X</a:t>
            </a:r>
            <a:endParaRPr lang="en-US" altLang="zh-CN" sz="2800" b="0" dirty="0"/>
          </a:p>
        </p:txBody>
      </p:sp>
      <p:sp>
        <p:nvSpPr>
          <p:cNvPr id="14351" name="Rectangle 25"/>
          <p:cNvSpPr/>
          <p:nvPr/>
        </p:nvSpPr>
        <p:spPr>
          <a:xfrm>
            <a:off x="2791143" y="2057400"/>
            <a:ext cx="14249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en-US" altLang="zh-CN" sz="2800" b="0" dirty="0"/>
              <a:t>X </a:t>
            </a:r>
            <a:r>
              <a:rPr lang="en-US" altLang="zh-CN" sz="2800" b="0" dirty="0">
                <a:solidFill>
                  <a:srgbClr val="CC0066"/>
                </a:solidFill>
              </a:rPr>
              <a:t>&amp;&amp;</a:t>
            </a:r>
            <a:r>
              <a:rPr lang="en-US" altLang="zh-CN" sz="2800" b="0" dirty="0">
                <a:solidFill>
                  <a:schemeClr val="accent1"/>
                </a:solidFill>
              </a:rPr>
              <a:t> </a:t>
            </a:r>
            <a:r>
              <a:rPr lang="en-US" altLang="zh-CN" sz="2800" b="0" dirty="0"/>
              <a:t>Y</a:t>
            </a:r>
            <a:endParaRPr lang="zh-CN" altLang="en-US" sz="2800" b="0" dirty="0"/>
          </a:p>
        </p:txBody>
      </p:sp>
      <p:sp>
        <p:nvSpPr>
          <p:cNvPr id="14352" name="Rectangle 26"/>
          <p:cNvSpPr/>
          <p:nvPr/>
        </p:nvSpPr>
        <p:spPr>
          <a:xfrm>
            <a:off x="3856831" y="3352800"/>
            <a:ext cx="40005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en-US" altLang="zh-CN" sz="2800" b="0" dirty="0"/>
              <a:t>Y</a:t>
            </a:r>
            <a:endParaRPr lang="en-US" altLang="zh-CN" sz="2800" b="0" dirty="0"/>
          </a:p>
        </p:txBody>
      </p:sp>
      <p:sp>
        <p:nvSpPr>
          <p:cNvPr id="14353" name="Rectangle 27"/>
          <p:cNvSpPr/>
          <p:nvPr/>
        </p:nvSpPr>
        <p:spPr>
          <a:xfrm>
            <a:off x="5788184" y="3276600"/>
            <a:ext cx="42672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en-US" altLang="zh-CN" sz="2800" b="0" dirty="0"/>
              <a:t>X</a:t>
            </a:r>
            <a:endParaRPr lang="en-US" altLang="zh-CN" sz="2800" b="0" dirty="0"/>
          </a:p>
        </p:txBody>
      </p:sp>
      <p:sp>
        <p:nvSpPr>
          <p:cNvPr id="14354" name="Rectangle 28"/>
          <p:cNvSpPr/>
          <p:nvPr/>
        </p:nvSpPr>
        <p:spPr>
          <a:xfrm>
            <a:off x="7057232" y="3276600"/>
            <a:ext cx="40005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en-US" altLang="zh-CN" sz="2800" b="0" dirty="0"/>
              <a:t>Y</a:t>
            </a:r>
            <a:endParaRPr lang="en-US" altLang="zh-CN" sz="2800" b="0" dirty="0"/>
          </a:p>
        </p:txBody>
      </p:sp>
      <p:sp>
        <p:nvSpPr>
          <p:cNvPr id="14355" name="Rectangle 29"/>
          <p:cNvSpPr/>
          <p:nvPr/>
        </p:nvSpPr>
        <p:spPr>
          <a:xfrm>
            <a:off x="6036310" y="2057400"/>
            <a:ext cx="11099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en-US" altLang="zh-CN" sz="2800" b="0" dirty="0"/>
              <a:t>X </a:t>
            </a:r>
            <a:r>
              <a:rPr lang="en-US" altLang="zh-CN" sz="2800" b="0" dirty="0">
                <a:solidFill>
                  <a:srgbClr val="CC0066"/>
                </a:solidFill>
              </a:rPr>
              <a:t>||</a:t>
            </a:r>
            <a:r>
              <a:rPr lang="en-US" altLang="zh-CN" sz="2800" b="0" dirty="0">
                <a:solidFill>
                  <a:schemeClr val="accent1"/>
                </a:solidFill>
              </a:rPr>
              <a:t> </a:t>
            </a:r>
            <a:r>
              <a:rPr lang="en-US" altLang="zh-CN" sz="2800" b="0" dirty="0"/>
              <a:t>Y</a:t>
            </a:r>
            <a:endParaRPr lang="zh-CN" altLang="en-US" sz="2800" b="0" dirty="0"/>
          </a:p>
        </p:txBody>
      </p:sp>
      <p:sp>
        <p:nvSpPr>
          <p:cNvPr id="14356" name="Rectangle 31"/>
          <p:cNvSpPr/>
          <p:nvPr/>
        </p:nvSpPr>
        <p:spPr>
          <a:xfrm>
            <a:off x="5367497" y="5500688"/>
            <a:ext cx="42672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en-US" altLang="zh-CN" sz="2800" b="0" dirty="0"/>
              <a:t>X</a:t>
            </a:r>
            <a:endParaRPr lang="en-US" altLang="zh-CN" sz="2800" b="0" dirty="0"/>
          </a:p>
        </p:txBody>
      </p:sp>
      <p:sp>
        <p:nvSpPr>
          <p:cNvPr id="14357" name="Rectangle 32"/>
          <p:cNvSpPr/>
          <p:nvPr/>
        </p:nvSpPr>
        <p:spPr>
          <a:xfrm>
            <a:off x="4397693" y="5257800"/>
            <a:ext cx="6819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en-US" altLang="zh-CN" sz="2800" b="0" dirty="0">
                <a:solidFill>
                  <a:srgbClr val="CC0066"/>
                </a:solidFill>
              </a:rPr>
              <a:t>!</a:t>
            </a:r>
            <a:r>
              <a:rPr lang="en-US" altLang="zh-CN" sz="2800" b="0" dirty="0">
                <a:solidFill>
                  <a:schemeClr val="accent1"/>
                </a:solidFill>
              </a:rPr>
              <a:t> </a:t>
            </a:r>
            <a:r>
              <a:rPr lang="en-US" altLang="zh-CN" sz="2800" b="0" dirty="0"/>
              <a:t>X</a:t>
            </a:r>
            <a:endParaRPr lang="zh-CN" altLang="en-US" sz="2800" b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3"/>
          <p:cNvSpPr>
            <a:spLocks noGrp="1"/>
          </p:cNvSpPr>
          <p:nvPr>
            <p:ph idx="1"/>
          </p:nvPr>
        </p:nvSpPr>
        <p:spPr>
          <a:xfrm>
            <a:off x="31115" y="1676400"/>
            <a:ext cx="8305800" cy="28194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b="0" dirty="0"/>
              <a:t>       逻辑与</a:t>
            </a:r>
            <a:r>
              <a:rPr lang="zh-CN" altLang="zh-CN" b="0" dirty="0"/>
              <a:t> </a:t>
            </a:r>
            <a:r>
              <a:rPr lang="zh-CN" altLang="en-US" b="0" dirty="0"/>
              <a:t>&amp;&amp;</a:t>
            </a:r>
            <a:r>
              <a:rPr lang="zh-CN" altLang="zh-CN" b="0" dirty="0"/>
              <a:t>       </a:t>
            </a:r>
            <a:r>
              <a:rPr lang="zh-CN" altLang="en-US" b="0" dirty="0"/>
              <a:t>逻辑或 ||       逻辑非 ! </a:t>
            </a:r>
            <a:endParaRPr lang="zh-CN" altLang="en-US" b="0" dirty="0"/>
          </a:p>
          <a:p>
            <a:pPr marL="819150" lvl="1" eaLnBrk="1" hangingPunct="1">
              <a:lnSpc>
                <a:spcPct val="120000"/>
              </a:lnSpc>
              <a:buNone/>
            </a:pPr>
            <a:r>
              <a:rPr lang="zh-CN" altLang="en-US" b="0" dirty="0"/>
              <a:t>(</a:t>
            </a:r>
            <a:r>
              <a:rPr lang="en-US" altLang="zh-CN" b="0" dirty="0"/>
              <a:t>x&gt;1)&amp;&amp;(y&gt;1)     (x&gt;1)||(y&gt;1)        (x&gt;1)</a:t>
            </a:r>
            <a:endParaRPr lang="en-US" altLang="zh-CN" b="0" dirty="0"/>
          </a:p>
          <a:p>
            <a:pPr marL="819150" lvl="1" algn="just" eaLnBrk="1" hangingPunct="1">
              <a:buNone/>
            </a:pPr>
            <a:endParaRPr lang="en-US" altLang="zh-CN" b="0" dirty="0"/>
          </a:p>
          <a:p>
            <a:pPr marL="819150" lvl="1" algn="just" eaLnBrk="1" hangingPunct="1">
              <a:buNone/>
            </a:pPr>
            <a:endParaRPr lang="en-US" altLang="zh-CN" b="0" dirty="0"/>
          </a:p>
          <a:p>
            <a:pPr marL="819150" lvl="1" algn="just" eaLnBrk="1" hangingPunct="1">
              <a:buNone/>
            </a:pPr>
            <a:r>
              <a:rPr lang="en-US" altLang="zh-CN" b="0" dirty="0"/>
              <a:t>							!(x&gt;1) </a:t>
            </a:r>
            <a:r>
              <a:rPr lang="zh-CN" altLang="en-US" b="0" dirty="0"/>
              <a:t>即 </a:t>
            </a:r>
            <a:r>
              <a:rPr lang="en-US" altLang="zh-CN" b="0" dirty="0"/>
              <a:t>x&lt;=1</a:t>
            </a:r>
            <a:endParaRPr lang="zh-CN" altLang="en-US" sz="3600" b="0" dirty="0"/>
          </a:p>
        </p:txBody>
      </p:sp>
      <p:sp>
        <p:nvSpPr>
          <p:cNvPr id="1536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逻辑运算符的含义</a:t>
            </a:r>
            <a:endParaRPr lang="zh-CN" altLang="en-US" b="0" dirty="0"/>
          </a:p>
        </p:txBody>
      </p:sp>
      <p:grpSp>
        <p:nvGrpSpPr>
          <p:cNvPr id="15364" name="Group 30"/>
          <p:cNvGrpSpPr/>
          <p:nvPr/>
        </p:nvGrpSpPr>
        <p:grpSpPr>
          <a:xfrm>
            <a:off x="1143000" y="3048000"/>
            <a:ext cx="6629400" cy="2057400"/>
            <a:chOff x="1152" y="1920"/>
            <a:chExt cx="4176" cy="1296"/>
          </a:xfrm>
        </p:grpSpPr>
        <p:sp>
          <p:nvSpPr>
            <p:cNvPr id="15365" name="Rectangle 15"/>
            <p:cNvSpPr/>
            <p:nvPr/>
          </p:nvSpPr>
          <p:spPr>
            <a:xfrm>
              <a:off x="3180" y="2568"/>
              <a:ext cx="528" cy="576"/>
            </a:xfrm>
            <a:prstGeom prst="rect">
              <a:avLst/>
            </a:prstGeom>
            <a:solidFill>
              <a:srgbClr val="A6CC2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/>
            </a:p>
          </p:txBody>
        </p:sp>
        <p:sp>
          <p:nvSpPr>
            <p:cNvPr id="15366" name="Line 5"/>
            <p:cNvSpPr/>
            <p:nvPr/>
          </p:nvSpPr>
          <p:spPr>
            <a:xfrm>
              <a:off x="1152" y="3024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367" name="Line 6"/>
            <p:cNvSpPr/>
            <p:nvPr/>
          </p:nvSpPr>
          <p:spPr>
            <a:xfrm>
              <a:off x="1152" y="2592"/>
              <a:ext cx="1008" cy="0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5368" name="Line 7"/>
            <p:cNvSpPr/>
            <p:nvPr/>
          </p:nvSpPr>
          <p:spPr>
            <a:xfrm>
              <a:off x="1536" y="2064"/>
              <a:ext cx="0" cy="960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5369" name="Rectangle 8"/>
            <p:cNvSpPr/>
            <p:nvPr/>
          </p:nvSpPr>
          <p:spPr>
            <a:xfrm>
              <a:off x="1552" y="2096"/>
              <a:ext cx="528" cy="480"/>
            </a:xfrm>
            <a:prstGeom prst="rect">
              <a:avLst/>
            </a:prstGeom>
            <a:solidFill>
              <a:srgbClr val="A6CC2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/>
            </a:p>
          </p:txBody>
        </p:sp>
        <p:sp>
          <p:nvSpPr>
            <p:cNvPr id="15370" name="Line 4"/>
            <p:cNvSpPr/>
            <p:nvPr/>
          </p:nvSpPr>
          <p:spPr>
            <a:xfrm flipV="1">
              <a:off x="1152" y="1968"/>
              <a:ext cx="0" cy="10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371" name="Line 10"/>
            <p:cNvSpPr/>
            <p:nvPr/>
          </p:nvSpPr>
          <p:spPr>
            <a:xfrm>
              <a:off x="2784" y="3010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372" name="Rectangle 13"/>
            <p:cNvSpPr/>
            <p:nvPr/>
          </p:nvSpPr>
          <p:spPr>
            <a:xfrm>
              <a:off x="2688" y="2082"/>
              <a:ext cx="1024" cy="480"/>
            </a:xfrm>
            <a:prstGeom prst="rect">
              <a:avLst/>
            </a:prstGeom>
            <a:solidFill>
              <a:srgbClr val="A6CC2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/>
            </a:p>
          </p:txBody>
        </p:sp>
        <p:sp>
          <p:nvSpPr>
            <p:cNvPr id="15373" name="Line 14"/>
            <p:cNvSpPr/>
            <p:nvPr/>
          </p:nvSpPr>
          <p:spPr>
            <a:xfrm flipV="1">
              <a:off x="2784" y="1954"/>
              <a:ext cx="0" cy="10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374" name="Line 12"/>
            <p:cNvSpPr/>
            <p:nvPr/>
          </p:nvSpPr>
          <p:spPr>
            <a:xfrm>
              <a:off x="3168" y="2050"/>
              <a:ext cx="0" cy="960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5375" name="Line 11"/>
            <p:cNvSpPr/>
            <p:nvPr/>
          </p:nvSpPr>
          <p:spPr>
            <a:xfrm>
              <a:off x="2784" y="2566"/>
              <a:ext cx="1008" cy="0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5376" name="Line 23"/>
            <p:cNvSpPr/>
            <p:nvPr/>
          </p:nvSpPr>
          <p:spPr>
            <a:xfrm>
              <a:off x="4224" y="2208"/>
              <a:ext cx="110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377" name="Freeform 25"/>
            <p:cNvSpPr/>
            <p:nvPr/>
          </p:nvSpPr>
          <p:spPr>
            <a:xfrm>
              <a:off x="4656" y="1920"/>
              <a:ext cx="672" cy="288"/>
            </a:xfrm>
            <a:custGeom>
              <a:avLst/>
              <a:gdLst>
                <a:gd name="txL" fmla="*/ 0 w 672"/>
                <a:gd name="txT" fmla="*/ 0 h 288"/>
                <a:gd name="txR" fmla="*/ 672 w 672"/>
                <a:gd name="txB" fmla="*/ 288 h 288"/>
              </a:gdLst>
              <a:ahLst/>
              <a:cxnLst>
                <a:cxn ang="0">
                  <a:pos x="0" y="288"/>
                </a:cxn>
                <a:cxn ang="0">
                  <a:pos x="0" y="0"/>
                </a:cxn>
                <a:cxn ang="0">
                  <a:pos x="672" y="0"/>
                </a:cxn>
              </a:cxnLst>
              <a:rect l="txL" t="txT" r="txR" b="txB"/>
              <a:pathLst>
                <a:path w="672" h="288">
                  <a:moveTo>
                    <a:pt x="0" y="288"/>
                  </a:moveTo>
                  <a:lnTo>
                    <a:pt x="0" y="0"/>
                  </a:lnTo>
                  <a:lnTo>
                    <a:pt x="672" y="0"/>
                  </a:ln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378" name="Line 26"/>
            <p:cNvSpPr/>
            <p:nvPr/>
          </p:nvSpPr>
          <p:spPr>
            <a:xfrm>
              <a:off x="4224" y="3216"/>
              <a:ext cx="110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379" name="Freeform 27"/>
            <p:cNvSpPr/>
            <p:nvPr/>
          </p:nvSpPr>
          <p:spPr>
            <a:xfrm>
              <a:off x="4176" y="2880"/>
              <a:ext cx="528" cy="336"/>
            </a:xfrm>
            <a:custGeom>
              <a:avLst/>
              <a:gdLst>
                <a:gd name="txL" fmla="*/ 0 w 528"/>
                <a:gd name="txT" fmla="*/ 0 h 336"/>
                <a:gd name="txR" fmla="*/ 528 w 528"/>
                <a:gd name="txB" fmla="*/ 336 h 336"/>
              </a:gdLst>
              <a:ahLst/>
              <a:cxnLst>
                <a:cxn ang="0">
                  <a:pos x="528" y="336"/>
                </a:cxn>
                <a:cxn ang="0">
                  <a:pos x="528" y="0"/>
                </a:cxn>
                <a:cxn ang="0">
                  <a:pos x="0" y="0"/>
                </a:cxn>
              </a:cxnLst>
              <a:rect l="txL" t="txT" r="txR" b="txB"/>
              <a:pathLst>
                <a:path w="528" h="336">
                  <a:moveTo>
                    <a:pt x="528" y="336"/>
                  </a:moveTo>
                  <a:lnTo>
                    <a:pt x="528" y="0"/>
                  </a:ln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逻辑运算符的功能</a:t>
            </a:r>
            <a:endParaRPr lang="zh-CN" altLang="en-US" b="0" dirty="0"/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993775" y="1628775"/>
            <a:ext cx="6530975" cy="3922713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0" dirty="0"/>
              <a:t>逻辑与</a:t>
            </a:r>
            <a:r>
              <a:rPr lang="zh-CN" altLang="zh-CN" b="0" dirty="0"/>
              <a:t> </a:t>
            </a:r>
            <a:r>
              <a:rPr lang="zh-CN" altLang="en-US" b="0" dirty="0"/>
              <a:t>&amp;&amp;</a:t>
            </a:r>
            <a:r>
              <a:rPr lang="zh-CN" altLang="zh-CN" b="0" dirty="0"/>
              <a:t>   </a:t>
            </a:r>
            <a:r>
              <a:rPr lang="zh-CN" altLang="en-US" b="0" dirty="0"/>
              <a:t>逻辑或 ||     逻辑非 !</a:t>
            </a: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/>
              <a:t>                    </a:t>
            </a: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/>
              <a:t>    </a:t>
            </a:r>
            <a:r>
              <a:rPr lang="en-US" altLang="zh-CN" b="0" dirty="0"/>
              <a:t>a   b   a&amp;&amp;b  a||b    !a</a:t>
            </a:r>
            <a:endParaRPr lang="en-US" altLang="zh-CN" b="0" dirty="0"/>
          </a:p>
          <a:p>
            <a:pPr lvl="1" eaLnBrk="1" hangingPunct="1">
              <a:buNone/>
            </a:pPr>
            <a:r>
              <a:rPr lang="zh-CN" altLang="en-US" b="0" dirty="0"/>
              <a:t>假  </a:t>
            </a:r>
            <a:r>
              <a:rPr lang="en-US" altLang="zh-CN" b="0" dirty="0"/>
              <a:t> </a:t>
            </a:r>
            <a:r>
              <a:rPr lang="zh-CN" altLang="en-US" b="0" dirty="0"/>
              <a:t>假       假        假       真</a:t>
            </a:r>
            <a:endParaRPr lang="zh-CN" altLang="en-US" b="0" dirty="0"/>
          </a:p>
          <a:p>
            <a:pPr lvl="1" eaLnBrk="1" hangingPunct="1">
              <a:buNone/>
            </a:pPr>
            <a:r>
              <a:rPr lang="zh-CN" altLang="en-US" b="0" dirty="0"/>
              <a:t>假   真       假        真       真</a:t>
            </a:r>
            <a:endParaRPr lang="zh-CN" altLang="en-US" b="0" dirty="0"/>
          </a:p>
          <a:p>
            <a:pPr lvl="1" eaLnBrk="1" hangingPunct="1">
              <a:buNone/>
            </a:pPr>
            <a:r>
              <a:rPr lang="zh-CN" altLang="en-US" b="0" dirty="0"/>
              <a:t>真   假       假        真       假</a:t>
            </a:r>
            <a:endParaRPr lang="zh-CN" altLang="en-US" b="0" dirty="0"/>
          </a:p>
          <a:p>
            <a:pPr lvl="1" eaLnBrk="1" hangingPunct="1">
              <a:buNone/>
            </a:pPr>
            <a:r>
              <a:rPr lang="zh-CN" altLang="en-US" b="0" dirty="0"/>
              <a:t>真   真       真        真       假 </a:t>
            </a:r>
            <a:endParaRPr lang="zh-CN" altLang="en-US" b="0" dirty="0"/>
          </a:p>
        </p:txBody>
      </p:sp>
      <p:grpSp>
        <p:nvGrpSpPr>
          <p:cNvPr id="16388" name="Group 17"/>
          <p:cNvGrpSpPr/>
          <p:nvPr/>
        </p:nvGrpSpPr>
        <p:grpSpPr>
          <a:xfrm>
            <a:off x="1403350" y="2819400"/>
            <a:ext cx="4619625" cy="2514600"/>
            <a:chOff x="884" y="1776"/>
            <a:chExt cx="2910" cy="1584"/>
          </a:xfrm>
        </p:grpSpPr>
        <p:sp>
          <p:nvSpPr>
            <p:cNvPr id="16389" name="Line 4"/>
            <p:cNvSpPr/>
            <p:nvPr/>
          </p:nvSpPr>
          <p:spPr>
            <a:xfrm>
              <a:off x="884" y="2112"/>
              <a:ext cx="2910" cy="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390" name="Line 5"/>
            <p:cNvSpPr/>
            <p:nvPr/>
          </p:nvSpPr>
          <p:spPr>
            <a:xfrm>
              <a:off x="1746" y="1776"/>
              <a:ext cx="0" cy="15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391" name="Line 14"/>
            <p:cNvSpPr/>
            <p:nvPr/>
          </p:nvSpPr>
          <p:spPr>
            <a:xfrm>
              <a:off x="2640" y="1776"/>
              <a:ext cx="0" cy="15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392" name="Line 15"/>
            <p:cNvSpPr/>
            <p:nvPr/>
          </p:nvSpPr>
          <p:spPr>
            <a:xfrm>
              <a:off x="3264" y="1776"/>
              <a:ext cx="0" cy="15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6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逻辑表达式</a:t>
            </a:r>
            <a:endParaRPr lang="zh-CN" altLang="en-US" b="0" dirty="0"/>
          </a:p>
        </p:txBody>
      </p:sp>
      <p:sp>
        <p:nvSpPr>
          <p:cNvPr id="72707" name="Rectangle 3"/>
          <p:cNvSpPr>
            <a:spLocks noGrp="1"/>
          </p:cNvSpPr>
          <p:nvPr>
            <p:ph idx="1"/>
          </p:nvPr>
        </p:nvSpPr>
        <p:spPr>
          <a:xfrm>
            <a:off x="304800" y="1600200"/>
            <a:ext cx="8659813" cy="47244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4000"/>
              </a:lnSpc>
              <a:buNone/>
            </a:pPr>
            <a:r>
              <a:rPr lang="zh-CN" altLang="en-US" sz="2800" b="0" dirty="0">
                <a:latin typeface="宋体" pitchFamily="2" charset="-122"/>
              </a:rPr>
              <a:t>逻辑表达式：用</a:t>
            </a:r>
            <a:r>
              <a:rPr lang="zh-CN" altLang="en-US" sz="2800" b="0" dirty="0">
                <a:solidFill>
                  <a:srgbClr val="CC0066"/>
                </a:solidFill>
                <a:latin typeface="宋体" pitchFamily="2" charset="-122"/>
              </a:rPr>
              <a:t>逻辑运算符</a:t>
            </a:r>
            <a:r>
              <a:rPr lang="zh-CN" altLang="en-US" sz="2800" b="0" dirty="0">
                <a:latin typeface="宋体" pitchFamily="2" charset="-122"/>
              </a:rPr>
              <a:t>将</a:t>
            </a:r>
            <a:r>
              <a:rPr lang="zh-CN" altLang="en-US" sz="2800" b="0" dirty="0">
                <a:solidFill>
                  <a:srgbClr val="CC0066"/>
                </a:solidFill>
                <a:latin typeface="宋体" pitchFamily="2" charset="-122"/>
              </a:rPr>
              <a:t>逻辑运算对象</a:t>
            </a:r>
            <a:r>
              <a:rPr lang="zh-CN" altLang="en-US" sz="2800" b="0" dirty="0">
                <a:latin typeface="宋体" pitchFamily="2" charset="-122"/>
              </a:rPr>
              <a:t>连接起来的式子。 </a:t>
            </a:r>
            <a:endParaRPr lang="zh-CN" altLang="en-US" sz="2800" b="0" dirty="0">
              <a:latin typeface="宋体" pitchFamily="2" charset="-122"/>
            </a:endParaRPr>
          </a:p>
          <a:p>
            <a:pPr algn="just" eaLnBrk="1" hangingPunct="1">
              <a:lnSpc>
                <a:spcPct val="94000"/>
              </a:lnSpc>
              <a:buNone/>
            </a:pPr>
            <a:r>
              <a:rPr lang="en-US" altLang="zh-CN" sz="2800" b="0" dirty="0"/>
              <a:t>(ch &gt;= 'a') &amp;&amp; (ch &lt;= 'z')  </a:t>
            </a:r>
            <a:endParaRPr lang="en-US" altLang="zh-CN" sz="2800" b="0" dirty="0"/>
          </a:p>
          <a:p>
            <a:pPr algn="just" eaLnBrk="1" hangingPunct="1">
              <a:lnSpc>
                <a:spcPct val="94000"/>
              </a:lnSpc>
              <a:buNone/>
            </a:pPr>
            <a:r>
              <a:rPr lang="en-US" altLang="zh-CN" sz="2800" b="0" dirty="0"/>
              <a:t>   </a:t>
            </a:r>
            <a:r>
              <a:rPr lang="zh-CN" altLang="en-US" sz="2800" b="0" dirty="0"/>
              <a:t>判断</a:t>
            </a:r>
            <a:r>
              <a:rPr lang="en-US" altLang="zh-CN" sz="2800" b="0" dirty="0"/>
              <a:t>ch </a:t>
            </a:r>
            <a:r>
              <a:rPr lang="zh-CN" altLang="en-US" sz="2800" b="0" dirty="0"/>
              <a:t>是否为小写英文字母</a:t>
            </a:r>
            <a:endParaRPr lang="zh-CN" altLang="en-US" sz="2800" b="0" dirty="0"/>
          </a:p>
          <a:p>
            <a:pPr algn="just" eaLnBrk="1" hangingPunct="1">
              <a:lnSpc>
                <a:spcPct val="94000"/>
              </a:lnSpc>
              <a:buNone/>
            </a:pPr>
            <a:r>
              <a:rPr lang="zh-CN" altLang="en-US" sz="2800" b="0" dirty="0"/>
              <a:t>或：</a:t>
            </a:r>
            <a:endParaRPr lang="zh-CN" altLang="en-US" sz="2800" b="0" dirty="0"/>
          </a:p>
          <a:p>
            <a:pPr algn="just" eaLnBrk="1" hangingPunct="1">
              <a:lnSpc>
                <a:spcPct val="94000"/>
              </a:lnSpc>
              <a:buNone/>
            </a:pPr>
            <a:r>
              <a:rPr lang="en-US" altLang="zh-CN" sz="2800" b="0" dirty="0"/>
              <a:t>ch &gt;= 'a' &amp;&amp; ch &lt;= 'z'</a:t>
            </a:r>
            <a:endParaRPr lang="en-US" altLang="zh-CN" sz="2800" b="0" dirty="0"/>
          </a:p>
          <a:p>
            <a:pPr lvl="1" algn="just" eaLnBrk="1" hangingPunct="1">
              <a:lnSpc>
                <a:spcPct val="94000"/>
              </a:lnSpc>
              <a:buNone/>
            </a:pPr>
            <a:endParaRPr lang="en-US" altLang="zh-CN" sz="2400" b="0" dirty="0"/>
          </a:p>
          <a:p>
            <a:pPr algn="just" eaLnBrk="1" hangingPunct="1">
              <a:lnSpc>
                <a:spcPct val="94000"/>
              </a:lnSpc>
              <a:buNone/>
            </a:pPr>
            <a:r>
              <a:rPr lang="en-US" altLang="zh-CN" sz="2800" b="0" dirty="0"/>
              <a:t>(ch &gt;= 'a' &amp;&amp; ch &lt;= 'z') || ( ch &gt;= 'A' &amp;&amp; ch &lt;= 'Z') </a:t>
            </a:r>
            <a:endParaRPr lang="en-US" altLang="zh-CN" sz="2800" b="0" dirty="0"/>
          </a:p>
          <a:p>
            <a:pPr algn="just" eaLnBrk="1" hangingPunct="1">
              <a:lnSpc>
                <a:spcPct val="94000"/>
              </a:lnSpc>
              <a:buNone/>
            </a:pPr>
            <a:r>
              <a:rPr lang="zh-CN" altLang="en-US" sz="2800" b="0" dirty="0"/>
              <a:t> 	判断</a:t>
            </a:r>
            <a:r>
              <a:rPr lang="en-US" altLang="zh-CN" sz="2800" b="0" dirty="0"/>
              <a:t>ch </a:t>
            </a:r>
            <a:r>
              <a:rPr lang="zh-CN" altLang="en-US" sz="2800" b="0" dirty="0"/>
              <a:t>是否为英文字母</a:t>
            </a:r>
            <a:endParaRPr lang="zh-CN" altLang="zh-CN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7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7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charRg st="29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707">
                                            <p:txEl>
                                              <p:charRg st="29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707">
                                            <p:txEl>
                                              <p:charRg st="29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charRg st="58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707">
                                            <p:txEl>
                                              <p:charRg st="58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707">
                                            <p:txEl>
                                              <p:charRg st="58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charRg st="76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707">
                                            <p:txEl>
                                              <p:charRg st="76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2707">
                                            <p:txEl>
                                              <p:charRg st="76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charRg st="79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2707">
                                            <p:txEl>
                                              <p:charRg st="79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2707">
                                            <p:txEl>
                                              <p:charRg st="79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charRg st="103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2707">
                                            <p:txEl>
                                              <p:charRg st="103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2707">
                                            <p:txEl>
                                              <p:charRg st="103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charRg st="158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2707">
                                            <p:txEl>
                                              <p:charRg st="158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2707">
                                            <p:txEl>
                                              <p:charRg st="158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6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条件的表示</a:t>
            </a:r>
            <a:endParaRPr lang="zh-CN" altLang="en-US" b="0" dirty="0"/>
          </a:p>
        </p:txBody>
      </p:sp>
      <p:sp>
        <p:nvSpPr>
          <p:cNvPr id="182275" name="Rectangle 3"/>
          <p:cNvSpPr>
            <a:spLocks noGrp="1"/>
          </p:cNvSpPr>
          <p:nvPr>
            <p:ph idx="1"/>
          </p:nvPr>
        </p:nvSpPr>
        <p:spPr>
          <a:xfrm>
            <a:off x="323850" y="1484313"/>
            <a:ext cx="8569325" cy="496887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b="0" dirty="0"/>
              <a:t>例</a:t>
            </a:r>
            <a:r>
              <a:rPr lang="en-US" altLang="zh-CN" b="0" dirty="0"/>
              <a:t>3-2  </a:t>
            </a:r>
            <a:r>
              <a:rPr lang="zh-CN" altLang="en-US" b="0" dirty="0"/>
              <a:t>写出满足下列条件的</a:t>
            </a:r>
            <a:r>
              <a:rPr lang="en-US" altLang="zh-CN" b="0" dirty="0"/>
              <a:t>C</a:t>
            </a:r>
            <a:r>
              <a:rPr lang="zh-CN" altLang="en-US" b="0" dirty="0"/>
              <a:t>表达式。</a:t>
            </a:r>
            <a:endParaRPr lang="zh-CN" altLang="en-US" b="0" dirty="0"/>
          </a:p>
          <a:p>
            <a:pPr eaLnBrk="1" hangingPunct="1">
              <a:lnSpc>
                <a:spcPct val="90000"/>
              </a:lnSpc>
            </a:pPr>
            <a:r>
              <a:rPr lang="en-US" altLang="zh-CN" b="0" dirty="0"/>
              <a:t>ch </a:t>
            </a:r>
            <a:r>
              <a:rPr lang="zh-CN" altLang="en-US" b="0" dirty="0"/>
              <a:t>是空格或者回车。</a:t>
            </a:r>
            <a:endParaRPr lang="zh-CN" altLang="en-US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0" dirty="0"/>
              <a:t>ch == ' ' || ch == '\n'</a:t>
            </a:r>
            <a:endParaRPr lang="en-US" altLang="zh-CN" b="0" dirty="0"/>
          </a:p>
          <a:p>
            <a:pPr eaLnBrk="1" hangingPunct="1">
              <a:lnSpc>
                <a:spcPct val="90000"/>
              </a:lnSpc>
            </a:pPr>
            <a:r>
              <a:rPr lang="en-US" altLang="zh-CN" b="0" dirty="0"/>
              <a:t>number</a:t>
            </a:r>
            <a:r>
              <a:rPr lang="zh-CN" altLang="en-US" b="0" dirty="0"/>
              <a:t>是偶数。</a:t>
            </a:r>
            <a:endParaRPr lang="zh-CN" altLang="en-US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0" dirty="0"/>
              <a:t>number % 2 == 0</a:t>
            </a:r>
            <a:endParaRPr lang="en-US" altLang="zh-CN" b="0" dirty="0"/>
          </a:p>
          <a:p>
            <a:pPr eaLnBrk="1" hangingPunct="1">
              <a:lnSpc>
                <a:spcPct val="90000"/>
              </a:lnSpc>
            </a:pPr>
            <a:r>
              <a:rPr lang="en-US" altLang="zh-CN" b="0" dirty="0"/>
              <a:t>year </a:t>
            </a:r>
            <a:r>
              <a:rPr lang="zh-CN" altLang="en-US" b="0" dirty="0"/>
              <a:t>是闰年，即 </a:t>
            </a:r>
            <a:r>
              <a:rPr lang="en-US" altLang="zh-CN" b="0" dirty="0"/>
              <a:t>year </a:t>
            </a:r>
            <a:r>
              <a:rPr lang="zh-CN" altLang="en-US" b="0" dirty="0"/>
              <a:t>能被 </a:t>
            </a:r>
            <a:r>
              <a:rPr lang="en-US" altLang="zh-CN" b="0" dirty="0"/>
              <a:t>4 </a:t>
            </a:r>
            <a:r>
              <a:rPr lang="zh-CN" altLang="en-US" b="0" dirty="0"/>
              <a:t>整除但不能被 </a:t>
            </a:r>
            <a:r>
              <a:rPr lang="en-US" altLang="zh-CN" b="0" dirty="0"/>
              <a:t>100 </a:t>
            </a:r>
            <a:r>
              <a:rPr lang="zh-CN" altLang="en-US" b="0" dirty="0"/>
              <a:t>整除，或 </a:t>
            </a:r>
            <a:r>
              <a:rPr lang="en-US" altLang="zh-CN" b="0" dirty="0"/>
              <a:t>year </a:t>
            </a:r>
            <a:r>
              <a:rPr lang="zh-CN" altLang="en-US" b="0" dirty="0"/>
              <a:t>能被 </a:t>
            </a:r>
            <a:r>
              <a:rPr lang="en-US" altLang="zh-CN" b="0" dirty="0"/>
              <a:t>400 </a:t>
            </a:r>
            <a:r>
              <a:rPr lang="zh-CN" altLang="en-US" b="0" dirty="0"/>
              <a:t>整除。 </a:t>
            </a:r>
            <a:endParaRPr lang="zh-CN" altLang="en-US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0" dirty="0"/>
              <a:t> </a:t>
            </a:r>
            <a:r>
              <a:rPr lang="en-US" altLang="zh-CN" b="0" dirty="0"/>
              <a:t>(year % 4 == 0 &amp;&amp; year % 100 != 0) || (year % 400 == 0) </a:t>
            </a:r>
            <a:endParaRPr lang="zh-CN" alt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227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227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charRg st="21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2275">
                                            <p:txEl>
                                              <p:charRg st="21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2275">
                                            <p:txEl>
                                              <p:charRg st="21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charRg st="33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2275">
                                            <p:txEl>
                                              <p:charRg st="33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2275">
                                            <p:txEl>
                                              <p:charRg st="33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charRg st="57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2275">
                                            <p:txEl>
                                              <p:charRg st="57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2275">
                                            <p:txEl>
                                              <p:charRg st="57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charRg st="68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2275">
                                            <p:txEl>
                                              <p:charRg st="68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2275">
                                            <p:txEl>
                                              <p:charRg st="68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charRg st="84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2275">
                                            <p:txEl>
                                              <p:charRg st="84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2275">
                                            <p:txEl>
                                              <p:charRg st="84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charRg st="138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2275">
                                            <p:txEl>
                                              <p:charRg st="138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2275">
                                            <p:txEl>
                                              <p:charRg st="138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 dirty="0"/>
              <a:t>3.1.5  else – if </a:t>
            </a:r>
            <a:r>
              <a:rPr lang="zh-CN" altLang="en-US" b="0" dirty="0"/>
              <a:t>语句 </a:t>
            </a:r>
            <a:endParaRPr lang="zh-CN" altLang="en-US" b="0" dirty="0"/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xfrm>
            <a:off x="250825" y="1981200"/>
            <a:ext cx="8642350" cy="3895725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800" b="0" dirty="0">
                <a:solidFill>
                  <a:srgbClr val="CC0066"/>
                </a:solidFill>
                <a:ea typeface="Arial Unicode MS" pitchFamily="34" charset="-122"/>
              </a:rPr>
              <a:t>if</a:t>
            </a:r>
            <a:r>
              <a:rPr lang="en-US" altLang="zh-CN" sz="2800" b="0" dirty="0">
                <a:ea typeface="Arial Unicode MS" pitchFamily="34" charset="-122"/>
              </a:rPr>
              <a:t>((</a:t>
            </a:r>
            <a:r>
              <a:rPr lang="en-US" altLang="zh-CN" sz="2800" b="0" dirty="0"/>
              <a:t>ch &gt;= 'a' &amp;&amp; ch &lt;= 'z'</a:t>
            </a:r>
            <a:r>
              <a:rPr lang="en-US" altLang="zh-CN" sz="2800" b="0" dirty="0">
                <a:ea typeface="Arial Unicode MS" pitchFamily="34" charset="-122"/>
              </a:rPr>
              <a:t> )||( </a:t>
            </a:r>
            <a:r>
              <a:rPr lang="en-US" altLang="zh-CN" sz="2800" b="0" dirty="0"/>
              <a:t>ch &gt;= 'A' &amp;&amp; ch &lt;= 'Z'</a:t>
            </a:r>
            <a:r>
              <a:rPr lang="en-US" altLang="zh-CN" sz="2800" b="0" dirty="0">
                <a:ea typeface="Arial Unicode MS" pitchFamily="34" charset="-122"/>
              </a:rPr>
              <a:t>))</a:t>
            </a:r>
            <a:endParaRPr lang="zh-CN" altLang="en-US" sz="28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800" b="0" dirty="0">
                <a:ea typeface="Arial Unicode MS" pitchFamily="34" charset="-122"/>
              </a:rPr>
              <a:t>    letter ++; </a:t>
            </a:r>
            <a:endParaRPr lang="zh-CN" altLang="en-US" sz="28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800" b="0" dirty="0">
                <a:solidFill>
                  <a:srgbClr val="CC0066"/>
                </a:solidFill>
                <a:ea typeface="Arial Unicode MS" pitchFamily="34" charset="-122"/>
              </a:rPr>
              <a:t>else </a:t>
            </a:r>
            <a:r>
              <a:rPr lang="en-US" altLang="zh-CN" sz="2800" b="0" dirty="0">
                <a:solidFill>
                  <a:srgbClr val="CC0066"/>
                </a:solidFill>
              </a:rPr>
              <a:t>if</a:t>
            </a:r>
            <a:r>
              <a:rPr lang="en-US" altLang="zh-CN" sz="2800" b="0" dirty="0"/>
              <a:t>(ch &gt;= '0' &amp;&amp; ch &lt;= '9</a:t>
            </a:r>
            <a:r>
              <a:rPr lang="en-US" altLang="zh-CN" sz="2800" b="0" dirty="0">
                <a:ea typeface="Arial Unicode MS" pitchFamily="34" charset="-122"/>
              </a:rPr>
              <a:t>')</a:t>
            </a:r>
            <a:endParaRPr lang="zh-CN" altLang="en-US" sz="28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sz="2800" b="0" dirty="0">
                <a:ea typeface="Arial Unicode MS" pitchFamily="34" charset="-122"/>
              </a:rPr>
              <a:t>    </a:t>
            </a:r>
            <a:r>
              <a:rPr lang="en-US" altLang="zh-CN" sz="2800" b="0" dirty="0">
                <a:ea typeface="Arial Unicode MS" pitchFamily="34" charset="-122"/>
              </a:rPr>
              <a:t>digit ++;</a:t>
            </a:r>
            <a:endParaRPr lang="en-US" altLang="zh-CN" sz="28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800" b="0" dirty="0">
                <a:solidFill>
                  <a:srgbClr val="CC0066"/>
                </a:solidFill>
                <a:ea typeface="Arial Unicode MS" pitchFamily="34" charset="-122"/>
              </a:rPr>
              <a:t>else </a:t>
            </a:r>
            <a:endParaRPr lang="en-US" altLang="zh-CN" sz="2800" b="0" dirty="0">
              <a:solidFill>
                <a:srgbClr val="CC0066"/>
              </a:solidFill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n-US" altLang="zh-CN" sz="2800" b="0" dirty="0">
                <a:ea typeface="Arial Unicode MS" pitchFamily="34" charset="-122"/>
              </a:rPr>
              <a:t>    other ++;</a:t>
            </a:r>
            <a:endParaRPr lang="en-US" altLang="zh-CN" sz="28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endParaRPr lang="en-US" altLang="zh-CN" sz="2800" b="0" dirty="0">
              <a:ea typeface="Arial Unicode MS" pitchFamily="34" charset="-12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sz="2800" b="0" dirty="0">
                <a:ea typeface="Arial Unicode MS" pitchFamily="34" charset="-122"/>
              </a:rPr>
              <a:t>实现多路选择</a:t>
            </a:r>
            <a:endParaRPr lang="zh-CN" altLang="en-US" sz="2800" b="0" dirty="0">
              <a:ea typeface="Arial Unicode MS" pitchFamily="34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673100" y="260350"/>
            <a:ext cx="3683000" cy="9556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 dirty="0"/>
              <a:t>else – if </a:t>
            </a:r>
            <a:r>
              <a:rPr lang="zh-CN" altLang="en-US" b="0" dirty="0"/>
              <a:t>语句</a:t>
            </a:r>
            <a:endParaRPr lang="zh-CN" altLang="en-US" b="0" dirty="0"/>
          </a:p>
        </p:txBody>
      </p:sp>
      <p:sp>
        <p:nvSpPr>
          <p:cNvPr id="187395" name="Rectangle 3"/>
          <p:cNvSpPr>
            <a:spLocks noGrp="1"/>
          </p:cNvSpPr>
          <p:nvPr>
            <p:ph idx="1"/>
          </p:nvPr>
        </p:nvSpPr>
        <p:spPr>
          <a:xfrm>
            <a:off x="188595" y="4113848"/>
            <a:ext cx="5113338" cy="25209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b="0" dirty="0">
                <a:solidFill>
                  <a:srgbClr val="CC0066"/>
                </a:solidFill>
              </a:rPr>
              <a:t>if</a:t>
            </a:r>
            <a:r>
              <a:rPr lang="en-US" altLang="zh-CN" sz="2800" b="0" dirty="0"/>
              <a:t> (</a:t>
            </a:r>
            <a:r>
              <a:rPr lang="zh-CN" altLang="en-US" sz="2800" b="0" dirty="0">
                <a:solidFill>
                  <a:schemeClr val="bg2"/>
                </a:solidFill>
              </a:rPr>
              <a:t>表达式1</a:t>
            </a:r>
            <a:r>
              <a:rPr lang="zh-CN" altLang="en-US" sz="2800" b="0" dirty="0"/>
              <a:t>)</a:t>
            </a:r>
            <a:r>
              <a:rPr lang="en-US" altLang="zh-CN" sz="2800" b="0" dirty="0"/>
              <a:t>    </a:t>
            </a:r>
            <a:r>
              <a:rPr lang="zh-CN" altLang="en-US" sz="2800" b="0" dirty="0">
                <a:solidFill>
                  <a:schemeClr val="bg2"/>
                </a:solidFill>
              </a:rPr>
              <a:t>语句1</a:t>
            </a:r>
            <a:endParaRPr lang="en-US" altLang="zh-CN" sz="2800" b="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b="0" dirty="0">
                <a:solidFill>
                  <a:srgbClr val="CC0066"/>
                </a:solidFill>
              </a:rPr>
              <a:t>else if</a:t>
            </a:r>
            <a:r>
              <a:rPr lang="en-US" altLang="zh-CN" sz="2800" b="0" dirty="0"/>
              <a:t> (</a:t>
            </a:r>
            <a:r>
              <a:rPr lang="zh-CN" altLang="en-US" sz="2800" b="0" dirty="0">
                <a:solidFill>
                  <a:schemeClr val="bg2"/>
                </a:solidFill>
              </a:rPr>
              <a:t>表达式2</a:t>
            </a:r>
            <a:r>
              <a:rPr lang="zh-CN" altLang="en-US" sz="2800" b="0" dirty="0"/>
              <a:t>)</a:t>
            </a:r>
            <a:r>
              <a:rPr lang="en-US" altLang="zh-CN" sz="2800" b="0" dirty="0"/>
              <a:t>    </a:t>
            </a:r>
            <a:r>
              <a:rPr lang="zh-CN" altLang="en-US" sz="2800" b="0" dirty="0">
                <a:solidFill>
                  <a:schemeClr val="bg2"/>
                </a:solidFill>
              </a:rPr>
              <a:t>语句2</a:t>
            </a:r>
            <a:endParaRPr lang="zh-CN" altLang="en-US" sz="2800" b="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8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b="0" dirty="0">
                <a:solidFill>
                  <a:srgbClr val="CC0066"/>
                </a:solidFill>
              </a:rPr>
              <a:t>else if</a:t>
            </a:r>
            <a:r>
              <a:rPr lang="en-US" altLang="zh-CN" sz="2800" b="0" dirty="0"/>
              <a:t> (</a:t>
            </a:r>
            <a:r>
              <a:rPr lang="zh-CN" altLang="en-US" sz="2800" b="0" dirty="0">
                <a:solidFill>
                  <a:schemeClr val="bg2"/>
                </a:solidFill>
              </a:rPr>
              <a:t>表达式</a:t>
            </a:r>
            <a:r>
              <a:rPr lang="en-US" altLang="zh-CN" sz="2800" b="0" dirty="0">
                <a:solidFill>
                  <a:schemeClr val="bg2"/>
                </a:solidFill>
              </a:rPr>
              <a:t>n-1</a:t>
            </a:r>
            <a:r>
              <a:rPr lang="en-US" altLang="zh-CN" sz="2800" b="0" dirty="0"/>
              <a:t>)    </a:t>
            </a:r>
            <a:r>
              <a:rPr lang="zh-CN" altLang="en-US" sz="2800" b="0" dirty="0">
                <a:solidFill>
                  <a:schemeClr val="bg2"/>
                </a:solidFill>
              </a:rPr>
              <a:t>语句</a:t>
            </a:r>
            <a:r>
              <a:rPr lang="en-US" altLang="zh-CN" sz="2800" b="0" dirty="0">
                <a:solidFill>
                  <a:schemeClr val="bg2"/>
                </a:solidFill>
              </a:rPr>
              <a:t>n-1</a:t>
            </a:r>
            <a:endParaRPr lang="en-US" altLang="zh-CN" sz="2800" b="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b="0" dirty="0">
                <a:solidFill>
                  <a:srgbClr val="CC0066"/>
                </a:solidFill>
              </a:rPr>
              <a:t>else</a:t>
            </a:r>
            <a:r>
              <a:rPr lang="en-US" altLang="zh-CN" sz="2800" b="0" dirty="0"/>
              <a:t>  </a:t>
            </a:r>
            <a:r>
              <a:rPr lang="zh-CN" altLang="en-US" sz="2800" b="0" dirty="0">
                <a:solidFill>
                  <a:schemeClr val="bg2"/>
                </a:solidFill>
              </a:rPr>
              <a:t>语句</a:t>
            </a:r>
            <a:r>
              <a:rPr lang="en-US" altLang="zh-CN" sz="2800" b="0" dirty="0">
                <a:solidFill>
                  <a:schemeClr val="bg2"/>
                </a:solidFill>
              </a:rPr>
              <a:t>n</a:t>
            </a:r>
            <a:endParaRPr lang="zh-CN" altLang="en-US" sz="2800" b="0" dirty="0">
              <a:solidFill>
                <a:schemeClr val="bg2"/>
              </a:solidFill>
            </a:endParaRPr>
          </a:p>
        </p:txBody>
      </p:sp>
      <p:sp>
        <p:nvSpPr>
          <p:cNvPr id="21508" name="Rectangle 4"/>
          <p:cNvSpPr/>
          <p:nvPr/>
        </p:nvSpPr>
        <p:spPr>
          <a:xfrm>
            <a:off x="179705" y="1580515"/>
            <a:ext cx="4537075" cy="208756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76250" lvl="0" indent="-4762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CC0066"/>
                </a:solidFill>
              </a:rPr>
              <a:t>if</a:t>
            </a:r>
            <a:r>
              <a:rPr lang="en-US" altLang="zh-CN" sz="1800" b="0" dirty="0"/>
              <a:t>((ch &gt;= 'a' &amp;&amp; ch &lt;= 'z' )||( ch &gt;= 'A' &amp;&amp; ch &lt;= 'Z'))</a:t>
            </a:r>
            <a:endParaRPr lang="zh-CN" altLang="en-US" sz="1800" b="0" dirty="0"/>
          </a:p>
          <a:p>
            <a:pPr marL="476250" lvl="0" indent="-4762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/>
              <a:t>    letter ++; </a:t>
            </a:r>
            <a:endParaRPr lang="zh-CN" altLang="en-US" sz="1800" b="0" dirty="0"/>
          </a:p>
          <a:p>
            <a:pPr marL="476250" lvl="0" indent="-4762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CC0066"/>
                </a:solidFill>
              </a:rPr>
              <a:t>else if</a:t>
            </a:r>
            <a:r>
              <a:rPr lang="en-US" altLang="zh-CN" sz="1800" b="0" dirty="0"/>
              <a:t>(ch &gt;= '0' &amp;&amp; ch &lt;= '9')</a:t>
            </a:r>
            <a:endParaRPr lang="zh-CN" altLang="en-US" sz="1800" b="0" dirty="0"/>
          </a:p>
          <a:p>
            <a:pPr marL="476250" lvl="0" indent="-4762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 dirty="0"/>
              <a:t>    </a:t>
            </a:r>
            <a:r>
              <a:rPr lang="en-US" altLang="zh-CN" sz="1800" b="0" dirty="0"/>
              <a:t>digit ++;</a:t>
            </a:r>
            <a:endParaRPr lang="en-US" altLang="zh-CN" sz="1800" b="0" dirty="0"/>
          </a:p>
          <a:p>
            <a:pPr marL="476250" lvl="0" indent="-4762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CC0066"/>
                </a:solidFill>
              </a:rPr>
              <a:t>else </a:t>
            </a:r>
            <a:endParaRPr lang="en-US" altLang="zh-CN" sz="1800" b="0" dirty="0">
              <a:solidFill>
                <a:srgbClr val="CC0066"/>
              </a:solidFill>
            </a:endParaRPr>
          </a:p>
          <a:p>
            <a:pPr marL="476250" lvl="0" indent="-4762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/>
              <a:t>    other ++;</a:t>
            </a:r>
            <a:endParaRPr lang="en-US" altLang="zh-CN" sz="1800" b="0" dirty="0"/>
          </a:p>
        </p:txBody>
      </p:sp>
      <p:grpSp>
        <p:nvGrpSpPr>
          <p:cNvPr id="2" name="Group 5"/>
          <p:cNvGrpSpPr/>
          <p:nvPr/>
        </p:nvGrpSpPr>
        <p:grpSpPr>
          <a:xfrm>
            <a:off x="4333240" y="1945640"/>
            <a:ext cx="4641850" cy="3065463"/>
            <a:chOff x="1680" y="1872"/>
            <a:chExt cx="2924" cy="1931"/>
          </a:xfrm>
        </p:grpSpPr>
        <p:sp>
          <p:nvSpPr>
            <p:cNvPr id="21510" name="Line 6"/>
            <p:cNvSpPr/>
            <p:nvPr/>
          </p:nvSpPr>
          <p:spPr>
            <a:xfrm flipH="1">
              <a:off x="3630" y="3098"/>
              <a:ext cx="0" cy="1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21511" name="Freeform 7"/>
            <p:cNvSpPr/>
            <p:nvPr/>
          </p:nvSpPr>
          <p:spPr>
            <a:xfrm>
              <a:off x="3356" y="2666"/>
              <a:ext cx="272" cy="112"/>
            </a:xfrm>
            <a:custGeom>
              <a:avLst/>
              <a:gdLst>
                <a:gd name="txL" fmla="*/ 0 w 675"/>
                <a:gd name="txT" fmla="*/ 0 h 462"/>
                <a:gd name="txR" fmla="*/ 675 w 675"/>
                <a:gd name="txB" fmla="*/ 462 h 462"/>
              </a:gdLst>
              <a:ahLst/>
              <a:cxnLst>
                <a:cxn ang="0">
                  <a:pos x="0" y="0"/>
                </a:cxn>
                <a:cxn ang="0">
                  <a:pos x="272" y="0"/>
                </a:cxn>
                <a:cxn ang="0">
                  <a:pos x="272" y="112"/>
                </a:cxn>
              </a:cxnLst>
              <a:rect l="txL" t="txT" r="txR" b="txB"/>
              <a:pathLst>
                <a:path w="675" h="462">
                  <a:moveTo>
                    <a:pt x="0" y="0"/>
                  </a:moveTo>
                  <a:lnTo>
                    <a:pt x="675" y="0"/>
                  </a:lnTo>
                  <a:lnTo>
                    <a:pt x="675" y="46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12" name="Text Box 8"/>
            <p:cNvSpPr txBox="1"/>
            <p:nvPr/>
          </p:nvSpPr>
          <p:spPr>
            <a:xfrm>
              <a:off x="2402" y="2026"/>
              <a:ext cx="192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900" b="0" dirty="0"/>
                <a:t>假</a:t>
              </a:r>
              <a:endParaRPr lang="zh-CN" altLang="en-US" sz="900" b="0" dirty="0"/>
            </a:p>
          </p:txBody>
        </p:sp>
        <p:sp>
          <p:nvSpPr>
            <p:cNvPr id="21513" name="AutoShape 9"/>
            <p:cNvSpPr/>
            <p:nvPr/>
          </p:nvSpPr>
          <p:spPr>
            <a:xfrm>
              <a:off x="1680" y="2030"/>
              <a:ext cx="696" cy="312"/>
            </a:xfrm>
            <a:prstGeom prst="flowChartDecision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900" b="0" dirty="0"/>
                <a:t>表达式1</a:t>
              </a:r>
              <a:endParaRPr lang="zh-CN" altLang="en-US" sz="900" b="0" dirty="0"/>
            </a:p>
          </p:txBody>
        </p:sp>
        <p:sp>
          <p:nvSpPr>
            <p:cNvPr id="21514" name="AutoShape 10"/>
            <p:cNvSpPr/>
            <p:nvPr/>
          </p:nvSpPr>
          <p:spPr>
            <a:xfrm>
              <a:off x="2308" y="2298"/>
              <a:ext cx="690" cy="300"/>
            </a:xfrm>
            <a:prstGeom prst="flowChartDecision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900" b="0" dirty="0"/>
                <a:t>表达式2</a:t>
              </a:r>
              <a:endParaRPr lang="zh-CN" altLang="en-US" sz="900" b="0" dirty="0"/>
            </a:p>
          </p:txBody>
        </p:sp>
        <p:sp>
          <p:nvSpPr>
            <p:cNvPr id="21515" name="AutoShape 11"/>
            <p:cNvSpPr/>
            <p:nvPr/>
          </p:nvSpPr>
          <p:spPr>
            <a:xfrm>
              <a:off x="1756" y="3265"/>
              <a:ext cx="534" cy="174"/>
            </a:xfrm>
            <a:prstGeom prst="flowChart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900" b="0" dirty="0"/>
                <a:t>语句1</a:t>
              </a:r>
              <a:endParaRPr lang="zh-CN" altLang="en-US" sz="900" b="0" dirty="0"/>
            </a:p>
          </p:txBody>
        </p:sp>
        <p:sp>
          <p:nvSpPr>
            <p:cNvPr id="21516" name="AutoShape 12"/>
            <p:cNvSpPr/>
            <p:nvPr/>
          </p:nvSpPr>
          <p:spPr>
            <a:xfrm>
              <a:off x="2382" y="3271"/>
              <a:ext cx="534" cy="174"/>
            </a:xfrm>
            <a:prstGeom prst="flowChart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900" b="0" dirty="0"/>
                <a:t>语句2</a:t>
              </a:r>
              <a:endParaRPr lang="zh-CN" altLang="en-US" sz="900" b="0" dirty="0"/>
            </a:p>
          </p:txBody>
        </p:sp>
        <p:sp>
          <p:nvSpPr>
            <p:cNvPr id="21517" name="AutoShape 13"/>
            <p:cNvSpPr/>
            <p:nvPr/>
          </p:nvSpPr>
          <p:spPr>
            <a:xfrm>
              <a:off x="3366" y="3279"/>
              <a:ext cx="534" cy="174"/>
            </a:xfrm>
            <a:prstGeom prst="flowChart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000" b="0" dirty="0"/>
                <a:t>语句</a:t>
              </a:r>
              <a:r>
                <a:rPr lang="en-US" altLang="zh-CN" sz="1000" b="0" dirty="0"/>
                <a:t>n-1</a:t>
              </a:r>
              <a:endParaRPr lang="en-US" altLang="zh-CN" sz="1000" b="0" dirty="0"/>
            </a:p>
          </p:txBody>
        </p:sp>
        <p:sp>
          <p:nvSpPr>
            <p:cNvPr id="21518" name="AutoShape 14"/>
            <p:cNvSpPr/>
            <p:nvPr/>
          </p:nvSpPr>
          <p:spPr>
            <a:xfrm>
              <a:off x="4070" y="3285"/>
              <a:ext cx="534" cy="173"/>
            </a:xfrm>
            <a:prstGeom prst="flowChartProcess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900" b="0" dirty="0"/>
                <a:t>语句</a:t>
              </a:r>
              <a:r>
                <a:rPr lang="en-US" altLang="zh-CN" sz="900" b="0" dirty="0"/>
                <a:t>n</a:t>
              </a:r>
              <a:endParaRPr lang="en-US" altLang="zh-CN" sz="900" b="0" dirty="0"/>
            </a:p>
          </p:txBody>
        </p:sp>
        <p:sp>
          <p:nvSpPr>
            <p:cNvPr id="21519" name="Line 15"/>
            <p:cNvSpPr/>
            <p:nvPr/>
          </p:nvSpPr>
          <p:spPr>
            <a:xfrm>
              <a:off x="2025" y="2348"/>
              <a:ext cx="0" cy="90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21520" name="Line 16"/>
            <p:cNvSpPr/>
            <p:nvPr/>
          </p:nvSpPr>
          <p:spPr>
            <a:xfrm>
              <a:off x="2648" y="2600"/>
              <a:ext cx="0" cy="6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21521" name="Freeform 17"/>
            <p:cNvSpPr/>
            <p:nvPr/>
          </p:nvSpPr>
          <p:spPr>
            <a:xfrm>
              <a:off x="2380" y="2186"/>
              <a:ext cx="272" cy="112"/>
            </a:xfrm>
            <a:custGeom>
              <a:avLst/>
              <a:gdLst>
                <a:gd name="txL" fmla="*/ 0 w 675"/>
                <a:gd name="txT" fmla="*/ 0 h 462"/>
                <a:gd name="txR" fmla="*/ 675 w 675"/>
                <a:gd name="txB" fmla="*/ 462 h 462"/>
              </a:gdLst>
              <a:ahLst/>
              <a:cxnLst>
                <a:cxn ang="0">
                  <a:pos x="0" y="0"/>
                </a:cxn>
                <a:cxn ang="0">
                  <a:pos x="272" y="0"/>
                </a:cxn>
                <a:cxn ang="0">
                  <a:pos x="272" y="112"/>
                </a:cxn>
              </a:cxnLst>
              <a:rect l="txL" t="txT" r="txR" b="txB"/>
              <a:pathLst>
                <a:path w="675" h="462">
                  <a:moveTo>
                    <a:pt x="0" y="0"/>
                  </a:moveTo>
                  <a:lnTo>
                    <a:pt x="675" y="0"/>
                  </a:lnTo>
                  <a:lnTo>
                    <a:pt x="675" y="46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22" name="Line 18"/>
            <p:cNvSpPr/>
            <p:nvPr/>
          </p:nvSpPr>
          <p:spPr>
            <a:xfrm flipH="1">
              <a:off x="2029" y="1872"/>
              <a:ext cx="0" cy="1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21523" name="Text Box 19"/>
            <p:cNvSpPr txBox="1"/>
            <p:nvPr/>
          </p:nvSpPr>
          <p:spPr>
            <a:xfrm>
              <a:off x="1792" y="2330"/>
              <a:ext cx="288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900" b="0" dirty="0"/>
                <a:t>真</a:t>
              </a:r>
              <a:endParaRPr lang="zh-CN" altLang="en-US" sz="900" b="0" dirty="0"/>
            </a:p>
          </p:txBody>
        </p:sp>
        <p:sp>
          <p:nvSpPr>
            <p:cNvPr id="21524" name="Freeform 20"/>
            <p:cNvSpPr/>
            <p:nvPr/>
          </p:nvSpPr>
          <p:spPr>
            <a:xfrm>
              <a:off x="2012" y="3442"/>
              <a:ext cx="2316" cy="182"/>
            </a:xfrm>
            <a:custGeom>
              <a:avLst/>
              <a:gdLst>
                <a:gd name="txL" fmla="*/ 0 w 5790"/>
                <a:gd name="txT" fmla="*/ 0 h 455"/>
                <a:gd name="txR" fmla="*/ 5790 w 5790"/>
                <a:gd name="txB" fmla="*/ 455 h 455"/>
              </a:gdLst>
              <a:ahLst/>
              <a:cxnLst>
                <a:cxn ang="0">
                  <a:pos x="0" y="0"/>
                </a:cxn>
                <a:cxn ang="0">
                  <a:pos x="0" y="182"/>
                </a:cxn>
                <a:cxn ang="0">
                  <a:pos x="2316" y="182"/>
                </a:cxn>
                <a:cxn ang="0">
                  <a:pos x="2316" y="25"/>
                </a:cxn>
              </a:cxnLst>
              <a:rect l="txL" t="txT" r="txR" b="txB"/>
              <a:pathLst>
                <a:path w="5790" h="455">
                  <a:moveTo>
                    <a:pt x="0" y="0"/>
                  </a:moveTo>
                  <a:lnTo>
                    <a:pt x="0" y="455"/>
                  </a:lnTo>
                  <a:lnTo>
                    <a:pt x="5790" y="455"/>
                  </a:lnTo>
                  <a:lnTo>
                    <a:pt x="5790" y="63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25" name="Line 21"/>
            <p:cNvSpPr/>
            <p:nvPr/>
          </p:nvSpPr>
          <p:spPr>
            <a:xfrm>
              <a:off x="2666" y="3442"/>
              <a:ext cx="0" cy="18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6" name="Line 22"/>
            <p:cNvSpPr/>
            <p:nvPr/>
          </p:nvSpPr>
          <p:spPr>
            <a:xfrm>
              <a:off x="3642" y="3461"/>
              <a:ext cx="0" cy="15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7" name="Line 23"/>
            <p:cNvSpPr/>
            <p:nvPr/>
          </p:nvSpPr>
          <p:spPr>
            <a:xfrm>
              <a:off x="3140" y="3624"/>
              <a:ext cx="0" cy="17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21528" name="Freeform 24"/>
            <p:cNvSpPr/>
            <p:nvPr/>
          </p:nvSpPr>
          <p:spPr>
            <a:xfrm>
              <a:off x="2992" y="2446"/>
              <a:ext cx="272" cy="112"/>
            </a:xfrm>
            <a:custGeom>
              <a:avLst/>
              <a:gdLst>
                <a:gd name="txL" fmla="*/ 0 w 675"/>
                <a:gd name="txT" fmla="*/ 0 h 462"/>
                <a:gd name="txR" fmla="*/ 675 w 675"/>
                <a:gd name="txB" fmla="*/ 462 h 462"/>
              </a:gdLst>
              <a:ahLst/>
              <a:cxnLst>
                <a:cxn ang="0">
                  <a:pos x="0" y="0"/>
                </a:cxn>
                <a:cxn ang="0">
                  <a:pos x="272" y="0"/>
                </a:cxn>
                <a:cxn ang="0">
                  <a:pos x="272" y="112"/>
                </a:cxn>
              </a:cxnLst>
              <a:rect l="txL" t="txT" r="txR" b="txB"/>
              <a:pathLst>
                <a:path w="675" h="462">
                  <a:moveTo>
                    <a:pt x="0" y="0"/>
                  </a:moveTo>
                  <a:lnTo>
                    <a:pt x="675" y="0"/>
                  </a:lnTo>
                  <a:lnTo>
                    <a:pt x="675" y="46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29" name="AutoShape 25"/>
            <p:cNvSpPr/>
            <p:nvPr/>
          </p:nvSpPr>
          <p:spPr>
            <a:xfrm>
              <a:off x="3196" y="2778"/>
              <a:ext cx="864" cy="312"/>
            </a:xfrm>
            <a:prstGeom prst="flowChartDecision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900" b="0" dirty="0"/>
                <a:t>表达式</a:t>
              </a:r>
              <a:r>
                <a:rPr lang="en-US" altLang="zh-CN" sz="1000" b="0" dirty="0"/>
                <a:t>n-1</a:t>
              </a:r>
              <a:endParaRPr lang="en-US" altLang="zh-CN" sz="1000" b="0" dirty="0"/>
            </a:p>
          </p:txBody>
        </p:sp>
        <p:sp>
          <p:nvSpPr>
            <p:cNvPr id="21530" name="Freeform 26"/>
            <p:cNvSpPr/>
            <p:nvPr/>
          </p:nvSpPr>
          <p:spPr>
            <a:xfrm>
              <a:off x="4064" y="2930"/>
              <a:ext cx="272" cy="344"/>
            </a:xfrm>
            <a:custGeom>
              <a:avLst/>
              <a:gdLst>
                <a:gd name="txL" fmla="*/ 0 w 675"/>
                <a:gd name="txT" fmla="*/ 0 h 462"/>
                <a:gd name="txR" fmla="*/ 675 w 675"/>
                <a:gd name="txB" fmla="*/ 462 h 462"/>
              </a:gdLst>
              <a:ahLst/>
              <a:cxnLst>
                <a:cxn ang="0">
                  <a:pos x="0" y="0"/>
                </a:cxn>
                <a:cxn ang="0">
                  <a:pos x="272" y="0"/>
                </a:cxn>
                <a:cxn ang="0">
                  <a:pos x="272" y="344"/>
                </a:cxn>
              </a:cxnLst>
              <a:rect l="txL" t="txT" r="txR" b="txB"/>
              <a:pathLst>
                <a:path w="675" h="462">
                  <a:moveTo>
                    <a:pt x="0" y="0"/>
                  </a:moveTo>
                  <a:lnTo>
                    <a:pt x="675" y="0"/>
                  </a:lnTo>
                  <a:lnTo>
                    <a:pt x="675" y="46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31" name="Text Box 27"/>
            <p:cNvSpPr txBox="1"/>
            <p:nvPr/>
          </p:nvSpPr>
          <p:spPr>
            <a:xfrm>
              <a:off x="3366" y="3074"/>
              <a:ext cx="288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900" b="0" dirty="0"/>
                <a:t>真</a:t>
              </a:r>
              <a:endParaRPr lang="zh-CN" altLang="en-US" sz="900" b="0" dirty="0"/>
            </a:p>
          </p:txBody>
        </p:sp>
        <p:sp>
          <p:nvSpPr>
            <p:cNvPr id="21532" name="Text Box 28"/>
            <p:cNvSpPr txBox="1"/>
            <p:nvPr/>
          </p:nvSpPr>
          <p:spPr>
            <a:xfrm>
              <a:off x="3244" y="2506"/>
              <a:ext cx="508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900" b="0" dirty="0"/>
                <a:t>假</a:t>
              </a:r>
              <a:endParaRPr lang="zh-CN" altLang="en-US" sz="900" b="0" dirty="0"/>
            </a:p>
          </p:txBody>
        </p:sp>
        <p:sp>
          <p:nvSpPr>
            <p:cNvPr id="21533" name="Text Box 29"/>
            <p:cNvSpPr txBox="1"/>
            <p:nvPr/>
          </p:nvSpPr>
          <p:spPr>
            <a:xfrm>
              <a:off x="2404" y="2568"/>
              <a:ext cx="288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900" b="0" dirty="0"/>
                <a:t>真</a:t>
              </a:r>
              <a:endParaRPr lang="zh-CN" altLang="en-US" sz="900" b="0" dirty="0"/>
            </a:p>
          </p:txBody>
        </p:sp>
        <p:sp>
          <p:nvSpPr>
            <p:cNvPr id="21534" name="Text Box 30"/>
            <p:cNvSpPr txBox="1"/>
            <p:nvPr/>
          </p:nvSpPr>
          <p:spPr>
            <a:xfrm>
              <a:off x="3014" y="2265"/>
              <a:ext cx="192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900" b="0" dirty="0"/>
                <a:t>假</a:t>
              </a:r>
              <a:endParaRPr lang="zh-CN" altLang="en-US" sz="900" b="0" dirty="0"/>
            </a:p>
          </p:txBody>
        </p:sp>
        <p:sp>
          <p:nvSpPr>
            <p:cNvPr id="21535" name="Text Box 31"/>
            <p:cNvSpPr txBox="1"/>
            <p:nvPr/>
          </p:nvSpPr>
          <p:spPr>
            <a:xfrm>
              <a:off x="4020" y="2787"/>
              <a:ext cx="352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900" b="0" dirty="0"/>
                <a:t>假</a:t>
              </a:r>
              <a:endParaRPr lang="zh-CN" altLang="en-US" sz="900" b="0" dirty="0"/>
            </a:p>
          </p:txBody>
        </p:sp>
        <p:sp>
          <p:nvSpPr>
            <p:cNvPr id="21536" name="Text Box 32"/>
            <p:cNvSpPr txBox="1"/>
            <p:nvPr/>
          </p:nvSpPr>
          <p:spPr>
            <a:xfrm>
              <a:off x="3124" y="2570"/>
              <a:ext cx="264" cy="16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900" b="0" dirty="0">
                  <a:latin typeface="Arial Black" pitchFamily="34" charset="0"/>
                  <a:ea typeface="黑体" pitchFamily="49" charset="-122"/>
                </a:rPr>
                <a:t>…</a:t>
              </a:r>
              <a:endParaRPr lang="zh-CN" altLang="en-US" sz="900" b="0" dirty="0">
                <a:latin typeface="Arial Black" pitchFamily="34" charset="0"/>
                <a:ea typeface="黑体" pitchFamily="49" charset="-122"/>
              </a:endParaRPr>
            </a:p>
          </p:txBody>
        </p:sp>
        <p:sp>
          <p:nvSpPr>
            <p:cNvPr id="21537" name="Text Box 33"/>
            <p:cNvSpPr txBox="1"/>
            <p:nvPr/>
          </p:nvSpPr>
          <p:spPr>
            <a:xfrm>
              <a:off x="3000" y="3268"/>
              <a:ext cx="264" cy="16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900" b="0" dirty="0">
                  <a:latin typeface="Arial Black" pitchFamily="34" charset="0"/>
                  <a:ea typeface="黑体" pitchFamily="49" charset="-122"/>
                </a:rPr>
                <a:t>…</a:t>
              </a:r>
              <a:endParaRPr lang="zh-CN" altLang="en-US" sz="900" b="0" dirty="0">
                <a:latin typeface="Arial Black" pitchFamily="34" charset="0"/>
                <a:ea typeface="黑体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7395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7395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charRg st="17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7395">
                                            <p:txEl>
                                              <p:charRg st="17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7395">
                                            <p:txEl>
                                              <p:charRg st="17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charRg st="4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7395">
                                            <p:txEl>
                                              <p:charRg st="4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7395">
                                            <p:txEl>
                                              <p:charRg st="4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charRg st="66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7395">
                                            <p:txEl>
                                              <p:charRg st="66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7395">
                                            <p:txEl>
                                              <p:charRg st="66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5" grpId="0" bldLvl="2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计算</a:t>
            </a:r>
            <a:r>
              <a:rPr lang="zh-CN" altLang="en-US" b="0" dirty="0">
                <a:sym typeface="+mn-ea"/>
              </a:rPr>
              <a:t>分段函数</a:t>
            </a:r>
            <a:endParaRPr lang="zh-CN" altLang="en-US" b="0" dirty="0"/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xfrm>
            <a:off x="395288" y="1844675"/>
            <a:ext cx="7931150" cy="8001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0" dirty="0"/>
              <a:t>例</a:t>
            </a:r>
            <a:r>
              <a:rPr lang="en-US" altLang="zh-CN" b="0" dirty="0"/>
              <a:t>3-3 </a:t>
            </a:r>
            <a:r>
              <a:rPr lang="zh-CN" altLang="en-US" b="0" dirty="0"/>
              <a:t>计算</a:t>
            </a:r>
            <a:r>
              <a:rPr lang="zh-CN" altLang="en-US" b="0" dirty="0">
                <a:sym typeface="+mn-ea"/>
              </a:rPr>
              <a:t>分段函数</a:t>
            </a:r>
            <a:r>
              <a:rPr lang="zh-CN" altLang="en-US" b="0" dirty="0"/>
              <a:t> </a:t>
            </a:r>
            <a:endParaRPr lang="zh-CN" altLang="en-US" b="0" dirty="0"/>
          </a:p>
        </p:txBody>
      </p:sp>
      <p:sp>
        <p:nvSpPr>
          <p:cNvPr id="22532" name="Rectangle 6"/>
          <p:cNvSpPr/>
          <p:nvPr/>
        </p:nvSpPr>
        <p:spPr>
          <a:xfrm>
            <a:off x="0" y="3055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/>
          </a:p>
        </p:txBody>
      </p:sp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755650" y="2708275"/>
          <a:ext cx="6119813" cy="246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854200" imgH="749300" progId="Equation.DSMT4">
                  <p:embed/>
                </p:oleObj>
              </mc:Choice>
              <mc:Fallback>
                <p:oleObj name="" r:id="rId1" imgW="1854200" imgH="7493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5650" y="2708275"/>
                        <a:ext cx="6119813" cy="2466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xfrm>
            <a:off x="395288" y="404813"/>
            <a:ext cx="5483225" cy="668337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b="0" dirty="0"/>
              <a:t>源程序</a:t>
            </a:r>
            <a:r>
              <a:rPr lang="en-US" altLang="zh-CN" sz="4000" b="0" dirty="0"/>
              <a:t>-</a:t>
            </a:r>
            <a:r>
              <a:rPr lang="zh-CN" altLang="en-US" sz="4000" b="0" dirty="0"/>
              <a:t>计算分段函数</a:t>
            </a:r>
            <a:endParaRPr lang="zh-CN" altLang="en-US" sz="4000" b="0" dirty="0"/>
          </a:p>
        </p:txBody>
      </p:sp>
      <p:sp>
        <p:nvSpPr>
          <p:cNvPr id="24579" name="Rectangle 3"/>
          <p:cNvSpPr>
            <a:spLocks noGrp="1"/>
          </p:cNvSpPr>
          <p:nvPr>
            <p:ph type="body" sz="half" idx="1"/>
          </p:nvPr>
        </p:nvSpPr>
        <p:spPr>
          <a:xfrm>
            <a:off x="250825" y="1052513"/>
            <a:ext cx="5257800" cy="5805487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b="0" dirty="0"/>
              <a:t># include &lt;stdio.h&gt; 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b="0" dirty="0"/>
              <a:t>int main(void)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b="0" dirty="0"/>
              <a:t>{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b="0" dirty="0"/>
              <a:t>   double x, y; 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b="0" dirty="0"/>
              <a:t>   printf("Enter x:");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b="0" dirty="0"/>
              <a:t>   scanf("%lf", &amp;x); 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b="0" dirty="0"/>
              <a:t>   if (x &lt; 0){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b="0" dirty="0"/>
              <a:t>       y = 0;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b="0" dirty="0"/>
              <a:t>   }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b="0" dirty="0"/>
              <a:t>   else if (x &lt;= 15){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b="0" dirty="0"/>
              <a:t>       y = 4 * x / 3;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b="0" dirty="0"/>
              <a:t>   }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b="0" dirty="0"/>
              <a:t>   else{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b="0" dirty="0"/>
              <a:t>      y = 2.5 * x - 10.5;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b="0" dirty="0"/>
              <a:t>   }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b="0" dirty="0"/>
              <a:t>   printf("f(%.2f) = %.2f\n", x, y); 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b="0" dirty="0"/>
              <a:t>   return 0;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b="0" dirty="0"/>
              <a:t>}</a:t>
            </a:r>
            <a:endParaRPr lang="en-US" altLang="zh-CN" sz="2000" b="0" dirty="0"/>
          </a:p>
        </p:txBody>
      </p:sp>
      <p:sp>
        <p:nvSpPr>
          <p:cNvPr id="185348" name="Rectangle 4"/>
          <p:cNvSpPr/>
          <p:nvPr/>
        </p:nvSpPr>
        <p:spPr>
          <a:xfrm>
            <a:off x="2916238" y="2565400"/>
            <a:ext cx="2592387" cy="9398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Enter x: </a:t>
            </a:r>
            <a:r>
              <a:rPr lang="en-US" altLang="zh-CN" sz="2400" b="0" dirty="0">
                <a:solidFill>
                  <a:srgbClr val="CC0066"/>
                </a:solidFill>
              </a:rPr>
              <a:t>-0.5</a:t>
            </a:r>
            <a:endParaRPr lang="en-US" altLang="zh-CN" sz="24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f(-0.50) = 0.00 </a:t>
            </a:r>
            <a:endParaRPr lang="en-US" altLang="zh-CN" sz="2400" b="0" dirty="0"/>
          </a:p>
        </p:txBody>
      </p:sp>
      <p:sp>
        <p:nvSpPr>
          <p:cNvPr id="185349" name="Rectangle 5"/>
          <p:cNvSpPr/>
          <p:nvPr/>
        </p:nvSpPr>
        <p:spPr>
          <a:xfrm>
            <a:off x="3203575" y="3716338"/>
            <a:ext cx="2592388" cy="9398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Enter x: </a:t>
            </a:r>
            <a:r>
              <a:rPr lang="en-US" altLang="zh-CN" sz="2400" b="0" dirty="0">
                <a:solidFill>
                  <a:srgbClr val="CC0066"/>
                </a:solidFill>
              </a:rPr>
              <a:t>9.5</a:t>
            </a:r>
            <a:endParaRPr lang="en-US" altLang="zh-CN" sz="24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f(9.50) = 12.67</a:t>
            </a:r>
            <a:endParaRPr lang="en-US" altLang="zh-CN" sz="2400" b="0" dirty="0"/>
          </a:p>
        </p:txBody>
      </p:sp>
      <p:sp>
        <p:nvSpPr>
          <p:cNvPr id="185350" name="Rectangle 6"/>
          <p:cNvSpPr/>
          <p:nvPr/>
        </p:nvSpPr>
        <p:spPr>
          <a:xfrm>
            <a:off x="5002213" y="4797425"/>
            <a:ext cx="2663825" cy="130937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Enter x: </a:t>
            </a:r>
            <a:r>
              <a:rPr lang="en-US" altLang="zh-CN" sz="2400" b="0" dirty="0">
                <a:solidFill>
                  <a:srgbClr val="CC0066"/>
                </a:solidFill>
              </a:rPr>
              <a:t>21.3</a:t>
            </a:r>
            <a:endParaRPr lang="en-US" altLang="zh-CN" sz="24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f(21.30) = 42.75</a:t>
            </a:r>
            <a:endParaRPr lang="en-US" altLang="zh-CN" sz="2400" b="0" dirty="0"/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>
            <p:ph sz="half" idx="2"/>
          </p:nvPr>
        </p:nvGraphicFramePr>
        <p:xfrm>
          <a:off x="4067175" y="549275"/>
          <a:ext cx="4752975" cy="192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854200" imgH="749300" progId="Equation.DSMT4">
                  <p:embed/>
                </p:oleObj>
              </mc:Choice>
              <mc:Fallback>
                <p:oleObj name="" r:id="rId1" imgW="1854200" imgH="7493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4067175" y="549275"/>
                        <a:ext cx="4752975" cy="19208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3" name="Rectangle 9"/>
          <p:cNvSpPr/>
          <p:nvPr/>
        </p:nvSpPr>
        <p:spPr>
          <a:xfrm>
            <a:off x="6300788" y="3429000"/>
            <a:ext cx="2592387" cy="9398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Enter x: </a:t>
            </a:r>
            <a:r>
              <a:rPr lang="en-US" altLang="zh-CN" sz="2400" b="0" dirty="0">
                <a:solidFill>
                  <a:srgbClr val="CC0066"/>
                </a:solidFill>
              </a:rPr>
              <a:t>?</a:t>
            </a:r>
            <a:endParaRPr lang="en-US" altLang="zh-CN" sz="24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endParaRPr lang="en-US" altLang="zh-CN" sz="2400" b="0" dirty="0">
              <a:solidFill>
                <a:srgbClr val="CC0066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8" grpId="0" bldLvl="0" animBg="1"/>
      <p:bldP spid="185349" grpId="0" bldLvl="0" animBg="1"/>
      <p:bldP spid="185350" grpId="0" bldLvl="0" animBg="1"/>
      <p:bldP spid="185353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xfrm>
            <a:off x="0" y="549275"/>
            <a:ext cx="8686800" cy="1031875"/>
          </a:xfrm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b="0" dirty="0"/>
              <a:t>3.2 查询自动售货机中商品的价格 </a:t>
            </a:r>
            <a:endParaRPr lang="zh-CN" altLang="en-US" b="0" dirty="0"/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755650" y="1773238"/>
            <a:ext cx="7488238" cy="338455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spcBef>
                <a:spcPct val="50000"/>
              </a:spcBef>
              <a:buNone/>
            </a:pPr>
            <a:r>
              <a:rPr lang="zh-CN" altLang="en-US" b="0" dirty="0"/>
              <a:t>例</a:t>
            </a:r>
            <a:r>
              <a:rPr lang="en-US" altLang="zh-CN" b="0" dirty="0"/>
              <a:t>3-4</a:t>
            </a:r>
            <a:r>
              <a:rPr lang="en-US" altLang="zh-CN" b="0" dirty="0">
                <a:latin typeface="宋体" pitchFamily="2" charset="-122"/>
              </a:rPr>
              <a:t> </a:t>
            </a:r>
            <a:r>
              <a:rPr lang="zh-CN" altLang="en-US" b="0" dirty="0">
                <a:latin typeface="宋体" pitchFamily="2" charset="-122"/>
              </a:rPr>
              <a:t>查询自动售货机中商品的价格</a:t>
            </a:r>
            <a:endParaRPr lang="zh-CN" altLang="en-US" b="0" dirty="0"/>
          </a:p>
          <a:p>
            <a:pPr algn="just" eaLnBrk="1" hangingPunct="1">
              <a:spcBef>
                <a:spcPct val="50000"/>
              </a:spcBef>
              <a:buNone/>
            </a:pPr>
            <a:endParaRPr lang="zh-CN" altLang="en-US" b="0" dirty="0"/>
          </a:p>
          <a:p>
            <a:pPr algn="just" eaLnBrk="1" hangingPunct="1">
              <a:spcBef>
                <a:spcPct val="50000"/>
              </a:spcBef>
              <a:buNone/>
            </a:pPr>
            <a:r>
              <a:rPr lang="zh-CN" altLang="en-US" b="0" dirty="0"/>
              <a:t>3.2.1  </a:t>
            </a:r>
            <a:r>
              <a:rPr lang="zh-CN" altLang="en-US" b="0" dirty="0">
                <a:latin typeface="宋体" pitchFamily="2" charset="-122"/>
              </a:rPr>
              <a:t>程序解析</a:t>
            </a:r>
            <a:endParaRPr lang="zh-CN" altLang="en-US" b="0" dirty="0">
              <a:latin typeface="宋体" pitchFamily="2" charset="-122"/>
            </a:endParaRPr>
          </a:p>
          <a:p>
            <a:pPr algn="just" eaLnBrk="1" hangingPunct="1">
              <a:spcBef>
                <a:spcPct val="50000"/>
              </a:spcBef>
              <a:buNone/>
            </a:pPr>
            <a:r>
              <a:rPr lang="zh-CN" altLang="en-US" b="0" dirty="0"/>
              <a:t>3.2.2  </a:t>
            </a:r>
            <a:r>
              <a:rPr lang="en-US" altLang="zh-CN" b="0" dirty="0"/>
              <a:t>switch</a:t>
            </a:r>
            <a:r>
              <a:rPr lang="zh-CN" altLang="en-US" b="0" dirty="0"/>
              <a:t>语句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xfrm>
            <a:off x="395288" y="404813"/>
            <a:ext cx="4598987" cy="914400"/>
          </a:xfrm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b="0" dirty="0"/>
              <a:t>3.2.1  </a:t>
            </a:r>
            <a:r>
              <a:rPr lang="zh-CN" altLang="en-US" b="0" dirty="0">
                <a:latin typeface="宋体" pitchFamily="2" charset="-122"/>
              </a:rPr>
              <a:t>程序解析</a:t>
            </a:r>
            <a:endParaRPr lang="zh-CN" altLang="en-US" b="0" dirty="0"/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xfrm>
            <a:off x="0" y="1196975"/>
            <a:ext cx="9144000" cy="5472113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spcBef>
                <a:spcPct val="0"/>
              </a:spcBef>
              <a:buNone/>
            </a:pPr>
            <a:r>
              <a:rPr lang="zh-CN" altLang="en-US" sz="2800" b="0" dirty="0">
                <a:latin typeface="宋体" pitchFamily="2" charset="-122"/>
              </a:rPr>
              <a:t>假设自动售货机出售</a:t>
            </a:r>
            <a:r>
              <a:rPr lang="zh-CN" altLang="en-US" sz="2800" b="0" dirty="0">
                <a:ea typeface="Arial Unicode MS" pitchFamily="34" charset="-122"/>
              </a:rPr>
              <a:t>4</a:t>
            </a:r>
            <a:r>
              <a:rPr lang="zh-CN" altLang="en-US" sz="2800" b="0" dirty="0">
                <a:latin typeface="宋体" pitchFamily="2" charset="-122"/>
              </a:rPr>
              <a:t>种商品，薯片</a:t>
            </a:r>
            <a:r>
              <a:rPr lang="zh-CN" altLang="en-US" sz="2800" b="0" dirty="0">
                <a:ea typeface="Arial Unicode MS" pitchFamily="34" charset="-122"/>
              </a:rPr>
              <a:t>(</a:t>
            </a:r>
            <a:r>
              <a:rPr lang="en-US" altLang="zh-CN" sz="2800" b="0" dirty="0">
                <a:ea typeface="Arial Unicode MS" pitchFamily="34" charset="-122"/>
              </a:rPr>
              <a:t>crisps)</a:t>
            </a:r>
            <a:r>
              <a:rPr lang="en-US" altLang="zh-CN" sz="2800" b="0" dirty="0">
                <a:latin typeface="宋体" pitchFamily="2" charset="-122"/>
              </a:rPr>
              <a:t>、</a:t>
            </a:r>
            <a:r>
              <a:rPr lang="zh-CN" altLang="en-US" sz="2800" b="0" dirty="0">
                <a:latin typeface="宋体" pitchFamily="2" charset="-122"/>
              </a:rPr>
              <a:t>爆米花</a:t>
            </a:r>
            <a:r>
              <a:rPr lang="zh-CN" altLang="en-US" sz="2800" b="0" dirty="0">
                <a:ea typeface="Arial Unicode MS" pitchFamily="34" charset="-122"/>
              </a:rPr>
              <a:t>(</a:t>
            </a:r>
            <a:r>
              <a:rPr lang="en-US" altLang="zh-CN" sz="2800" b="0" dirty="0">
                <a:ea typeface="Arial Unicode MS" pitchFamily="34" charset="-122"/>
              </a:rPr>
              <a:t>popcorn)</a:t>
            </a:r>
            <a:r>
              <a:rPr lang="en-US" altLang="zh-CN" sz="2800" b="0" dirty="0">
                <a:latin typeface="宋体" pitchFamily="2" charset="-122"/>
              </a:rPr>
              <a:t>、</a:t>
            </a:r>
            <a:r>
              <a:rPr lang="zh-CN" altLang="en-US" sz="2800" b="0" dirty="0">
                <a:latin typeface="宋体" pitchFamily="2" charset="-122"/>
              </a:rPr>
              <a:t>巧克力</a:t>
            </a:r>
            <a:r>
              <a:rPr lang="zh-CN" altLang="en-US" sz="2800" b="0" dirty="0">
                <a:ea typeface="Arial Unicode MS" pitchFamily="34" charset="-122"/>
              </a:rPr>
              <a:t>(</a:t>
            </a:r>
            <a:r>
              <a:rPr lang="en-US" altLang="zh-CN" sz="2800" b="0" dirty="0">
                <a:ea typeface="Arial Unicode MS" pitchFamily="34" charset="-122"/>
              </a:rPr>
              <a:t>chocolate)</a:t>
            </a:r>
            <a:r>
              <a:rPr lang="zh-CN" altLang="en-US" sz="2800" b="0" dirty="0">
                <a:latin typeface="宋体" pitchFamily="2" charset="-122"/>
              </a:rPr>
              <a:t>和可乐</a:t>
            </a:r>
            <a:r>
              <a:rPr lang="zh-CN" altLang="en-US" sz="2800" b="0" dirty="0">
                <a:ea typeface="Arial Unicode MS" pitchFamily="34" charset="-122"/>
              </a:rPr>
              <a:t>(</a:t>
            </a:r>
            <a:r>
              <a:rPr lang="en-US" altLang="zh-CN" sz="2800" b="0" dirty="0">
                <a:ea typeface="Arial Unicode MS" pitchFamily="34" charset="-122"/>
              </a:rPr>
              <a:t>cola)</a:t>
            </a:r>
            <a:r>
              <a:rPr lang="en-US" altLang="zh-CN" sz="2800" b="0" dirty="0">
                <a:latin typeface="宋体" pitchFamily="2" charset="-122"/>
              </a:rPr>
              <a:t>，</a:t>
            </a:r>
            <a:r>
              <a:rPr lang="zh-CN" altLang="en-US" sz="2800" b="0" dirty="0">
                <a:latin typeface="宋体" pitchFamily="2" charset="-122"/>
              </a:rPr>
              <a:t>售价分别是每份</a:t>
            </a:r>
            <a:r>
              <a:rPr lang="zh-CN" altLang="en-US" sz="2800" b="0" dirty="0">
                <a:ea typeface="Arial Unicode MS" pitchFamily="34" charset="-122"/>
              </a:rPr>
              <a:t>3.0</a:t>
            </a:r>
            <a:r>
              <a:rPr lang="zh-CN" altLang="en-US" sz="2800" b="0" dirty="0">
                <a:latin typeface="宋体" pitchFamily="2" charset="-122"/>
              </a:rPr>
              <a:t>、</a:t>
            </a:r>
            <a:r>
              <a:rPr lang="zh-CN" altLang="en-US" sz="2800" b="0" dirty="0">
                <a:ea typeface="Arial Unicode MS" pitchFamily="34" charset="-122"/>
              </a:rPr>
              <a:t>2.5</a:t>
            </a:r>
            <a:r>
              <a:rPr lang="zh-CN" altLang="en-US" sz="2800" b="0" dirty="0">
                <a:latin typeface="宋体" pitchFamily="2" charset="-122"/>
              </a:rPr>
              <a:t>、</a:t>
            </a:r>
            <a:r>
              <a:rPr lang="zh-CN" altLang="en-US" sz="2800" b="0" dirty="0">
                <a:ea typeface="Arial Unicode MS" pitchFamily="34" charset="-122"/>
              </a:rPr>
              <a:t>4.0</a:t>
            </a:r>
            <a:r>
              <a:rPr lang="zh-CN" altLang="en-US" sz="2800" b="0" dirty="0">
                <a:latin typeface="宋体" pitchFamily="2" charset="-122"/>
              </a:rPr>
              <a:t>和</a:t>
            </a:r>
            <a:r>
              <a:rPr lang="zh-CN" altLang="en-US" sz="2800" b="0" dirty="0">
                <a:ea typeface="Arial Unicode MS" pitchFamily="34" charset="-122"/>
              </a:rPr>
              <a:t>3.5</a:t>
            </a:r>
            <a:r>
              <a:rPr lang="zh-CN" altLang="en-US" sz="2800" b="0" dirty="0">
                <a:latin typeface="宋体" pitchFamily="2" charset="-122"/>
              </a:rPr>
              <a:t>元。在屏幕上显示以下菜单，用户可以连续查询商品的价格，当查询次数超过</a:t>
            </a:r>
            <a:r>
              <a:rPr lang="zh-CN" altLang="en-US" sz="2800" b="0" dirty="0">
                <a:ea typeface="Arial Unicode MS" pitchFamily="34" charset="-122"/>
              </a:rPr>
              <a:t>5</a:t>
            </a:r>
            <a:r>
              <a:rPr lang="zh-CN" altLang="en-US" sz="2800" b="0" dirty="0">
                <a:latin typeface="宋体" pitchFamily="2" charset="-122"/>
              </a:rPr>
              <a:t>次时，自动退出查询；不到</a:t>
            </a:r>
            <a:r>
              <a:rPr lang="zh-CN" altLang="en-US" sz="2800" b="0" dirty="0">
                <a:ea typeface="Arial Unicode MS" pitchFamily="34" charset="-122"/>
              </a:rPr>
              <a:t>5</a:t>
            </a:r>
            <a:r>
              <a:rPr lang="zh-CN" altLang="en-US" sz="2800" b="0" dirty="0">
                <a:latin typeface="宋体" pitchFamily="2" charset="-122"/>
              </a:rPr>
              <a:t>次时，用户可以选择退出。当用户输入编号</a:t>
            </a:r>
            <a:r>
              <a:rPr lang="zh-CN" altLang="en-US" sz="2800" b="0" dirty="0">
                <a:ea typeface="Arial Unicode MS" pitchFamily="34" charset="-122"/>
              </a:rPr>
              <a:t>1</a:t>
            </a:r>
            <a:r>
              <a:rPr lang="zh-CN" altLang="en-US" sz="2800" b="0" dirty="0">
                <a:latin typeface="宋体" pitchFamily="2" charset="-122"/>
              </a:rPr>
              <a:t>～</a:t>
            </a:r>
            <a:r>
              <a:rPr lang="zh-CN" altLang="en-US" sz="2800" b="0" dirty="0">
                <a:ea typeface="Arial Unicode MS" pitchFamily="34" charset="-122"/>
              </a:rPr>
              <a:t>4</a:t>
            </a:r>
            <a:r>
              <a:rPr lang="zh-CN" altLang="en-US" sz="2800" b="0" dirty="0">
                <a:latin typeface="宋体" pitchFamily="2" charset="-122"/>
              </a:rPr>
              <a:t>，显示相应商品的价格；输入</a:t>
            </a:r>
            <a:r>
              <a:rPr lang="zh-CN" altLang="en-US" sz="2800" b="0" dirty="0">
                <a:ea typeface="Arial Unicode MS" pitchFamily="34" charset="-122"/>
              </a:rPr>
              <a:t>0</a:t>
            </a:r>
            <a:r>
              <a:rPr lang="zh-CN" altLang="en-US" sz="2800" b="0" dirty="0">
                <a:latin typeface="宋体" pitchFamily="2" charset="-122"/>
              </a:rPr>
              <a:t>，退出查询；输入其他编号，显示价格为</a:t>
            </a:r>
            <a:r>
              <a:rPr lang="zh-CN" altLang="en-US" sz="2800" b="0" dirty="0">
                <a:ea typeface="Arial Unicode MS" pitchFamily="34" charset="-122"/>
              </a:rPr>
              <a:t>0。</a:t>
            </a:r>
            <a:endParaRPr lang="zh-CN" altLang="en-US" sz="2800" b="0" dirty="0">
              <a:ea typeface="Arial Unicode MS" pitchFamily="34" charset="-122"/>
            </a:endParaRPr>
          </a:p>
          <a:p>
            <a:pPr lvl="1" algn="just" eaLnBrk="1" hangingPunct="1">
              <a:spcBef>
                <a:spcPct val="0"/>
              </a:spcBef>
              <a:buNone/>
            </a:pPr>
            <a:r>
              <a:rPr lang="zh-CN" altLang="en-US" sz="2400" b="0" dirty="0">
                <a:cs typeface="Arial" panose="02080604020202020204" pitchFamily="34" charset="0"/>
              </a:rPr>
              <a:t>[1] </a:t>
            </a:r>
            <a:r>
              <a:rPr lang="en-US" altLang="zh-CN" sz="2400" b="0" dirty="0">
                <a:cs typeface="Arial" panose="02080604020202020204" pitchFamily="34" charset="0"/>
              </a:rPr>
              <a:t>Select </a:t>
            </a:r>
            <a:r>
              <a:rPr lang="en-US" altLang="zh-CN" sz="2400" b="0" dirty="0">
                <a:ea typeface="Arial Unicode MS" pitchFamily="34" charset="-122"/>
              </a:rPr>
              <a:t>crisps</a:t>
            </a:r>
            <a:endParaRPr lang="en-US" altLang="zh-CN" sz="2400" b="0" dirty="0">
              <a:ea typeface="Arial Unicode MS" pitchFamily="34" charset="-122"/>
            </a:endParaRPr>
          </a:p>
          <a:p>
            <a:pPr lvl="1" algn="just" eaLnBrk="1" hangingPunct="1">
              <a:spcBef>
                <a:spcPct val="0"/>
              </a:spcBef>
              <a:buNone/>
            </a:pPr>
            <a:r>
              <a:rPr lang="en-US" altLang="zh-CN" sz="2400" b="0" dirty="0">
                <a:cs typeface="Arial" panose="02080604020202020204" pitchFamily="34" charset="0"/>
              </a:rPr>
              <a:t>[2] Select</a:t>
            </a:r>
            <a:r>
              <a:rPr lang="en-US" altLang="zh-CN" sz="2400" b="0" dirty="0">
                <a:ea typeface="Arial Unicode MS" pitchFamily="34" charset="-122"/>
              </a:rPr>
              <a:t> popcorn</a:t>
            </a:r>
            <a:r>
              <a:rPr lang="en-US" altLang="zh-CN" sz="2400" b="0" dirty="0">
                <a:cs typeface="Arial" panose="02080604020202020204" pitchFamily="34" charset="0"/>
              </a:rPr>
              <a:t> </a:t>
            </a:r>
            <a:endParaRPr lang="en-US" altLang="zh-CN" sz="2400" b="0" dirty="0">
              <a:ea typeface="Arial Unicode MS" pitchFamily="34" charset="-122"/>
            </a:endParaRPr>
          </a:p>
          <a:p>
            <a:pPr lvl="1" algn="just" eaLnBrk="1" hangingPunct="1">
              <a:spcBef>
                <a:spcPct val="0"/>
              </a:spcBef>
              <a:buNone/>
            </a:pPr>
            <a:r>
              <a:rPr lang="en-US" altLang="zh-CN" sz="2400" b="0" dirty="0">
                <a:cs typeface="Arial" panose="02080604020202020204" pitchFamily="34" charset="0"/>
              </a:rPr>
              <a:t>[3] Select</a:t>
            </a:r>
            <a:r>
              <a:rPr lang="en-US" altLang="zh-CN" sz="2400" b="0" dirty="0">
                <a:ea typeface="Arial Unicode MS" pitchFamily="34" charset="-122"/>
              </a:rPr>
              <a:t> chocolate</a:t>
            </a:r>
            <a:endParaRPr lang="en-US" altLang="zh-CN" sz="2400" b="0" dirty="0">
              <a:ea typeface="Arial Unicode MS" pitchFamily="34" charset="-122"/>
            </a:endParaRPr>
          </a:p>
          <a:p>
            <a:pPr lvl="1" algn="just" eaLnBrk="1" hangingPunct="1">
              <a:spcBef>
                <a:spcPct val="0"/>
              </a:spcBef>
              <a:buNone/>
            </a:pPr>
            <a:r>
              <a:rPr lang="en-US" altLang="zh-CN" sz="2400" b="0" dirty="0">
                <a:cs typeface="Arial" panose="02080604020202020204" pitchFamily="34" charset="0"/>
              </a:rPr>
              <a:t>[4] Select</a:t>
            </a:r>
            <a:r>
              <a:rPr lang="en-US" altLang="zh-CN" sz="2400" b="0" dirty="0">
                <a:ea typeface="Arial Unicode MS" pitchFamily="34" charset="-122"/>
              </a:rPr>
              <a:t> cola</a:t>
            </a:r>
            <a:r>
              <a:rPr lang="en-US" altLang="zh-CN" sz="2400" b="0" dirty="0">
                <a:cs typeface="Arial" panose="02080604020202020204" pitchFamily="34" charset="0"/>
              </a:rPr>
              <a:t> </a:t>
            </a:r>
            <a:endParaRPr lang="en-US" altLang="zh-CN" sz="2400" b="0" dirty="0">
              <a:ea typeface="Arial Unicode MS" pitchFamily="34" charset="-122"/>
            </a:endParaRPr>
          </a:p>
          <a:p>
            <a:pPr lvl="1" algn="just" eaLnBrk="1" hangingPunct="1">
              <a:spcBef>
                <a:spcPct val="0"/>
              </a:spcBef>
              <a:buNone/>
            </a:pPr>
            <a:r>
              <a:rPr lang="en-US" altLang="zh-CN" sz="2400" b="0" dirty="0">
                <a:cs typeface="Arial" panose="02080604020202020204" pitchFamily="34" charset="0"/>
              </a:rPr>
              <a:t>[0] Exit</a:t>
            </a:r>
            <a:endParaRPr lang="en-US" altLang="zh-CN" sz="2400" b="0" dirty="0">
              <a:ea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3"/>
          <p:cNvSpPr>
            <a:spLocks noGrp="1"/>
          </p:cNvSpPr>
          <p:nvPr>
            <p:ph idx="1"/>
          </p:nvPr>
        </p:nvSpPr>
        <p:spPr>
          <a:xfrm>
            <a:off x="228600" y="152400"/>
            <a:ext cx="5638800" cy="67056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0" dirty="0">
                <a:ea typeface="Arial Unicode MS" pitchFamily="34" charset="-122"/>
              </a:rPr>
              <a:t>#include &lt;stdio.h&gt;</a:t>
            </a:r>
            <a:endParaRPr lang="en-US" altLang="zh-CN" sz="2000" b="0" dirty="0"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0" dirty="0">
                <a:ea typeface="Arial Unicode MS" pitchFamily="34" charset="-122"/>
              </a:rPr>
              <a:t>Int main(void)</a:t>
            </a:r>
            <a:endParaRPr lang="en-US" altLang="zh-CN" sz="2000" b="0" dirty="0"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0" dirty="0">
                <a:ea typeface="Arial Unicode MS" pitchFamily="34" charset="-122"/>
              </a:rPr>
              <a:t>{   int choice, i;   double price;</a:t>
            </a:r>
            <a:endParaRPr lang="en-US" altLang="zh-CN" sz="2000" b="0" dirty="0"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0" dirty="0">
                <a:ea typeface="Arial Unicode MS" pitchFamily="34" charset="-122"/>
              </a:rPr>
              <a:t>    </a:t>
            </a:r>
            <a:r>
              <a:rPr lang="en-US" altLang="zh-CN" sz="2000" b="0" dirty="0">
                <a:solidFill>
                  <a:srgbClr val="DE4D1A"/>
                </a:solidFill>
                <a:ea typeface="Arial Unicode MS" pitchFamily="34" charset="-122"/>
              </a:rPr>
              <a:t>for( i = 1; i &lt;= 5; i++) {</a:t>
            </a:r>
            <a:endParaRPr lang="en-US" altLang="zh-CN" sz="2000" b="0" dirty="0">
              <a:solidFill>
                <a:srgbClr val="DE4D1A"/>
              </a:solidFill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0" dirty="0">
                <a:ea typeface="Arial Unicode MS" pitchFamily="34" charset="-122"/>
              </a:rPr>
              <a:t>        printf("</a:t>
            </a:r>
            <a:r>
              <a:rPr lang="en-US" altLang="zh-CN" sz="2000" b="0" dirty="0">
                <a:cs typeface="Arial" panose="02080604020202020204" pitchFamily="34" charset="0"/>
              </a:rPr>
              <a:t>[1] Select </a:t>
            </a:r>
            <a:r>
              <a:rPr lang="en-US" altLang="zh-CN" sz="2000" b="0" dirty="0">
                <a:ea typeface="Arial Unicode MS" pitchFamily="34" charset="-122"/>
              </a:rPr>
              <a:t>crisps \n");</a:t>
            </a:r>
            <a:endParaRPr lang="en-US" altLang="zh-CN" sz="2000" b="0" dirty="0"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000" b="0" dirty="0">
                <a:ea typeface="Arial Unicode MS" pitchFamily="34" charset="-122"/>
              </a:rPr>
              <a:t>        </a:t>
            </a:r>
            <a:r>
              <a:rPr lang="en-US" altLang="zh-CN" sz="2000" b="0" dirty="0">
                <a:ea typeface="Arial Unicode MS" pitchFamily="34" charset="-122"/>
              </a:rPr>
              <a:t>printf("</a:t>
            </a:r>
            <a:r>
              <a:rPr lang="en-US" altLang="zh-CN" sz="2000" b="0" dirty="0">
                <a:cs typeface="Arial" panose="02080604020202020204" pitchFamily="34" charset="0"/>
              </a:rPr>
              <a:t>[2] Select</a:t>
            </a:r>
            <a:r>
              <a:rPr lang="en-US" altLang="zh-CN" sz="2000" b="0" dirty="0">
                <a:ea typeface="Arial Unicode MS" pitchFamily="34" charset="-122"/>
              </a:rPr>
              <a:t> popcorn \n");</a:t>
            </a:r>
            <a:endParaRPr lang="en-US" altLang="zh-CN" sz="2000" b="0" dirty="0"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000" b="0" dirty="0">
                <a:ea typeface="Arial Unicode MS" pitchFamily="34" charset="-122"/>
              </a:rPr>
              <a:t>        </a:t>
            </a:r>
            <a:r>
              <a:rPr lang="en-US" altLang="zh-CN" sz="2000" b="0" dirty="0">
                <a:ea typeface="Arial Unicode MS" pitchFamily="34" charset="-122"/>
              </a:rPr>
              <a:t>printf("</a:t>
            </a:r>
            <a:r>
              <a:rPr lang="en-US" altLang="zh-CN" sz="2000" b="0" dirty="0">
                <a:cs typeface="Arial" panose="02080604020202020204" pitchFamily="34" charset="0"/>
              </a:rPr>
              <a:t>[3] Select</a:t>
            </a:r>
            <a:r>
              <a:rPr lang="en-US" altLang="zh-CN" sz="2000" b="0" dirty="0">
                <a:ea typeface="Arial Unicode MS" pitchFamily="34" charset="-122"/>
              </a:rPr>
              <a:t> chocolate \n");</a:t>
            </a:r>
            <a:endParaRPr lang="en-US" altLang="zh-CN" sz="2000" b="0" dirty="0"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000" b="0" dirty="0">
                <a:ea typeface="Arial Unicode MS" pitchFamily="34" charset="-122"/>
              </a:rPr>
              <a:t>        </a:t>
            </a:r>
            <a:r>
              <a:rPr lang="en-US" altLang="zh-CN" sz="2000" b="0" dirty="0">
                <a:ea typeface="Arial Unicode MS" pitchFamily="34" charset="-122"/>
              </a:rPr>
              <a:t>printf("</a:t>
            </a:r>
            <a:r>
              <a:rPr lang="en-US" altLang="zh-CN" sz="2000" b="0" dirty="0">
                <a:cs typeface="Arial" panose="02080604020202020204" pitchFamily="34" charset="0"/>
              </a:rPr>
              <a:t>[4] Select</a:t>
            </a:r>
            <a:r>
              <a:rPr lang="en-US" altLang="zh-CN" sz="2000" b="0" dirty="0">
                <a:ea typeface="Arial Unicode MS" pitchFamily="34" charset="-122"/>
              </a:rPr>
              <a:t> cola \n");</a:t>
            </a:r>
            <a:endParaRPr lang="en-US" altLang="zh-CN" sz="2000" b="0" dirty="0"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000" b="0" dirty="0">
                <a:ea typeface="Arial Unicode MS" pitchFamily="34" charset="-122"/>
              </a:rPr>
              <a:t>        </a:t>
            </a:r>
            <a:r>
              <a:rPr lang="en-US" altLang="zh-CN" sz="2000" b="0" dirty="0">
                <a:ea typeface="Arial Unicode MS" pitchFamily="34" charset="-122"/>
              </a:rPr>
              <a:t>printf("</a:t>
            </a:r>
            <a:r>
              <a:rPr lang="en-US" altLang="zh-CN" sz="2000" b="0" dirty="0">
                <a:cs typeface="Arial" panose="02080604020202020204" pitchFamily="34" charset="0"/>
              </a:rPr>
              <a:t>[0] exit</a:t>
            </a:r>
            <a:r>
              <a:rPr lang="en-US" altLang="zh-CN" sz="2000" b="0" dirty="0">
                <a:ea typeface="Arial Unicode MS" pitchFamily="34" charset="-122"/>
              </a:rPr>
              <a:t> \n"); </a:t>
            </a:r>
            <a:endParaRPr lang="en-US" altLang="zh-CN" sz="2000" b="0" dirty="0"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000" b="0" dirty="0">
                <a:ea typeface="Arial Unicode MS" pitchFamily="34" charset="-122"/>
              </a:rPr>
              <a:t>        </a:t>
            </a:r>
            <a:r>
              <a:rPr lang="en-US" altLang="zh-CN" sz="2000" b="0" dirty="0">
                <a:ea typeface="Arial Unicode MS" pitchFamily="34" charset="-122"/>
              </a:rPr>
              <a:t>printf("Enter choice: ");</a:t>
            </a:r>
            <a:endParaRPr lang="en-US" altLang="zh-CN" sz="2000" b="0" dirty="0"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000" b="0" dirty="0">
                <a:ea typeface="Arial Unicode MS" pitchFamily="34" charset="-122"/>
              </a:rPr>
              <a:t>        </a:t>
            </a:r>
            <a:r>
              <a:rPr lang="en-US" altLang="zh-CN" sz="2000" b="0" dirty="0">
                <a:ea typeface="Arial Unicode MS" pitchFamily="34" charset="-122"/>
              </a:rPr>
              <a:t>scanf("%d", &amp;choice);</a:t>
            </a:r>
            <a:endParaRPr lang="en-US" altLang="zh-CN" sz="2000" b="0" dirty="0"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000" b="0" dirty="0">
                <a:ea typeface="Arial Unicode MS" pitchFamily="34" charset="-122"/>
              </a:rPr>
              <a:t>        </a:t>
            </a:r>
            <a:r>
              <a:rPr lang="en-US" altLang="zh-CN" sz="2000" b="0" dirty="0">
                <a:ea typeface="Arial Unicode MS" pitchFamily="34" charset="-122"/>
              </a:rPr>
              <a:t>if(choice == 0) break; </a:t>
            </a:r>
            <a:endParaRPr lang="en-US" altLang="zh-CN" sz="2000" b="0" dirty="0"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0" dirty="0">
                <a:solidFill>
                  <a:srgbClr val="CC0066"/>
                </a:solidFill>
                <a:ea typeface="Arial Unicode MS" pitchFamily="34" charset="-122"/>
              </a:rPr>
              <a:t>        </a:t>
            </a:r>
            <a:r>
              <a:rPr lang="en-US" altLang="zh-CN" sz="2000" b="0" dirty="0">
                <a:solidFill>
                  <a:schemeClr val="bg2"/>
                </a:solidFill>
                <a:ea typeface="Arial Unicode MS" pitchFamily="34" charset="-122"/>
              </a:rPr>
              <a:t>switch (choice) {         </a:t>
            </a:r>
            <a:endParaRPr lang="en-US" altLang="zh-CN" sz="2000" b="0" dirty="0">
              <a:solidFill>
                <a:schemeClr val="bg2"/>
              </a:solidFill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0" dirty="0">
                <a:solidFill>
                  <a:schemeClr val="bg2"/>
                </a:solidFill>
                <a:ea typeface="Arial Unicode MS" pitchFamily="34" charset="-122"/>
              </a:rPr>
              <a:t>           case 1: price=3.0; break;</a:t>
            </a:r>
            <a:endParaRPr lang="en-US" altLang="zh-CN" sz="2000" b="0" dirty="0">
              <a:solidFill>
                <a:schemeClr val="bg2"/>
              </a:solidFill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000" b="0" dirty="0">
                <a:solidFill>
                  <a:schemeClr val="bg2"/>
                </a:solidFill>
                <a:ea typeface="Arial Unicode MS" pitchFamily="34" charset="-122"/>
              </a:rPr>
              <a:t>           </a:t>
            </a:r>
            <a:r>
              <a:rPr lang="en-US" altLang="zh-CN" sz="2000" b="0" dirty="0">
                <a:solidFill>
                  <a:schemeClr val="bg2"/>
                </a:solidFill>
                <a:ea typeface="Arial Unicode MS" pitchFamily="34" charset="-122"/>
              </a:rPr>
              <a:t>case 2: price=2.5; break;</a:t>
            </a:r>
            <a:endParaRPr lang="en-US" altLang="zh-CN" sz="2000" b="0" dirty="0">
              <a:solidFill>
                <a:schemeClr val="bg2"/>
              </a:solidFill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0" dirty="0">
                <a:solidFill>
                  <a:schemeClr val="bg2"/>
                </a:solidFill>
                <a:ea typeface="Arial Unicode MS" pitchFamily="34" charset="-122"/>
              </a:rPr>
              <a:t>           case 3: price=4.0; break;</a:t>
            </a:r>
            <a:endParaRPr lang="en-US" altLang="zh-CN" sz="2000" b="0" dirty="0">
              <a:solidFill>
                <a:schemeClr val="bg2"/>
              </a:solidFill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0" dirty="0">
                <a:solidFill>
                  <a:schemeClr val="bg2"/>
                </a:solidFill>
                <a:ea typeface="Arial Unicode MS" pitchFamily="34" charset="-122"/>
              </a:rPr>
              <a:t>           case 4: price=3.5; break;</a:t>
            </a:r>
            <a:endParaRPr lang="en-US" altLang="zh-CN" sz="2000" b="0" dirty="0">
              <a:solidFill>
                <a:schemeClr val="bg2"/>
              </a:solidFill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0" dirty="0">
                <a:solidFill>
                  <a:schemeClr val="bg2"/>
                </a:solidFill>
                <a:ea typeface="Arial Unicode MS" pitchFamily="34" charset="-122"/>
              </a:rPr>
              <a:t>           default: price=0.0; break;</a:t>
            </a:r>
            <a:endParaRPr lang="en-US" altLang="zh-CN" sz="2000" b="0" dirty="0">
              <a:solidFill>
                <a:schemeClr val="bg2"/>
              </a:solidFill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0" dirty="0">
                <a:solidFill>
                  <a:schemeClr val="bg2"/>
                </a:solidFill>
                <a:ea typeface="Arial Unicode MS" pitchFamily="34" charset="-122"/>
              </a:rPr>
              <a:t>        }</a:t>
            </a:r>
            <a:endParaRPr lang="en-US" altLang="zh-CN" sz="2000" b="0" dirty="0">
              <a:solidFill>
                <a:schemeClr val="bg2"/>
              </a:solidFill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0" dirty="0">
                <a:ea typeface="Arial Unicode MS" pitchFamily="34" charset="-122"/>
              </a:rPr>
              <a:t>        printf("price = %0.1f\n", price);  </a:t>
            </a:r>
            <a:endParaRPr lang="en-US" altLang="zh-CN" sz="2000" b="0" dirty="0"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0" dirty="0">
                <a:ea typeface="Arial Unicode MS" pitchFamily="34" charset="-122"/>
              </a:rPr>
              <a:t>    </a:t>
            </a:r>
            <a:r>
              <a:rPr lang="en-US" altLang="zh-CN" sz="2000" b="0" dirty="0">
                <a:solidFill>
                  <a:srgbClr val="DE4D1A"/>
                </a:solidFill>
                <a:ea typeface="Arial Unicode MS" pitchFamily="34" charset="-122"/>
              </a:rPr>
              <a:t>}</a:t>
            </a:r>
            <a:endParaRPr lang="en-US" altLang="zh-CN" sz="2000" b="0" dirty="0">
              <a:solidFill>
                <a:srgbClr val="DE4D1A"/>
              </a:solidFill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0" dirty="0">
                <a:ea typeface="Arial Unicode MS" pitchFamily="34" charset="-122"/>
              </a:rPr>
              <a:t>    printf("Thanks \n"); </a:t>
            </a:r>
            <a:endParaRPr lang="zh-CN" altLang="en-US" sz="2000" b="0" dirty="0"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000" b="0" dirty="0">
                <a:ea typeface="Arial Unicode MS" pitchFamily="34" charset="-122"/>
              </a:rPr>
              <a:t>}</a:t>
            </a:r>
            <a:endParaRPr lang="zh-CN" altLang="en-US" sz="2000" b="0" dirty="0">
              <a:ea typeface="Arial Unicode MS" pitchFamily="34" charset="-122"/>
            </a:endParaRPr>
          </a:p>
        </p:txBody>
      </p:sp>
      <p:sp>
        <p:nvSpPr>
          <p:cNvPr id="144388" name="Rectangle 4"/>
          <p:cNvSpPr/>
          <p:nvPr/>
        </p:nvSpPr>
        <p:spPr>
          <a:xfrm>
            <a:off x="5992813" y="76200"/>
            <a:ext cx="2971800" cy="655447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[1] Select </a:t>
            </a:r>
            <a:r>
              <a:rPr lang="en-US" altLang="zh-CN" sz="2000" b="0" dirty="0">
                <a:ea typeface="Arial Unicode MS" pitchFamily="34" charset="-122"/>
              </a:rPr>
              <a:t>crisps</a:t>
            </a:r>
            <a:endParaRPr lang="en-US" altLang="zh-CN" sz="2000" b="0" dirty="0">
              <a:ea typeface="Arial Unicode MS" pitchFamily="34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[2] Select</a:t>
            </a:r>
            <a:r>
              <a:rPr lang="en-US" altLang="zh-CN" sz="2000" b="0" dirty="0">
                <a:ea typeface="Arial Unicode MS" pitchFamily="34" charset="-122"/>
              </a:rPr>
              <a:t> popcorn</a:t>
            </a:r>
            <a:r>
              <a:rPr lang="en-US" altLang="zh-CN" sz="2000" b="0" dirty="0">
                <a:cs typeface="Arial" panose="02080604020202020204" pitchFamily="34" charset="0"/>
              </a:rPr>
              <a:t> </a:t>
            </a:r>
            <a:endParaRPr lang="en-US" altLang="zh-CN" sz="2000" b="0" dirty="0">
              <a:cs typeface="Arial" panose="0208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[3] Select</a:t>
            </a:r>
            <a:r>
              <a:rPr lang="en-US" altLang="zh-CN" sz="2000" b="0" dirty="0">
                <a:ea typeface="Arial Unicode MS" pitchFamily="34" charset="-122"/>
              </a:rPr>
              <a:t> chocolate</a:t>
            </a:r>
            <a:endParaRPr lang="en-US" altLang="zh-CN" sz="2000" b="0" dirty="0">
              <a:ea typeface="Arial Unicode MS" pitchFamily="34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[4] Select</a:t>
            </a:r>
            <a:r>
              <a:rPr lang="en-US" altLang="zh-CN" sz="2000" b="0" dirty="0">
                <a:ea typeface="Arial Unicode MS" pitchFamily="34" charset="-122"/>
              </a:rPr>
              <a:t> cola</a:t>
            </a:r>
            <a:r>
              <a:rPr lang="en-US" altLang="zh-CN" sz="2000" b="0" dirty="0">
                <a:cs typeface="Arial" panose="02080604020202020204" pitchFamily="34" charset="0"/>
              </a:rPr>
              <a:t> </a:t>
            </a:r>
            <a:endParaRPr lang="en-US" altLang="zh-CN" sz="2000" b="0" dirty="0">
              <a:cs typeface="Arial" panose="0208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[0] Exit</a:t>
            </a:r>
            <a:endParaRPr lang="en-US" altLang="zh-CN" sz="2000" b="0" dirty="0">
              <a:cs typeface="Arial" panose="0208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ea typeface="Arial Unicode MS" pitchFamily="34" charset="-122"/>
              </a:rPr>
              <a:t>Enter choice: </a:t>
            </a:r>
            <a:r>
              <a:rPr lang="en-US" altLang="zh-CN" sz="2000" b="0" dirty="0">
                <a:solidFill>
                  <a:srgbClr val="0000FF"/>
                </a:solidFill>
                <a:ea typeface="Arial Unicode MS" pitchFamily="34" charset="-122"/>
              </a:rPr>
              <a:t>1</a:t>
            </a:r>
            <a:endParaRPr lang="en-US" altLang="zh-CN" sz="2000" b="0" dirty="0">
              <a:solidFill>
                <a:srgbClr val="0000FF"/>
              </a:solidFill>
              <a:ea typeface="Arial Unicode MS" pitchFamily="34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ea typeface="Arial Unicode MS" pitchFamily="34" charset="-122"/>
              </a:rPr>
              <a:t>price = 3.0</a:t>
            </a:r>
            <a:endParaRPr lang="en-US" altLang="zh-CN" sz="2000" b="0" dirty="0">
              <a:ea typeface="Arial Unicode MS" pitchFamily="34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[1] Select </a:t>
            </a:r>
            <a:r>
              <a:rPr lang="en-US" altLang="zh-CN" sz="2000" b="0" dirty="0">
                <a:ea typeface="Arial Unicode MS" pitchFamily="34" charset="-122"/>
              </a:rPr>
              <a:t>crisps</a:t>
            </a:r>
            <a:endParaRPr lang="en-US" altLang="zh-CN" sz="2000" b="0" dirty="0">
              <a:ea typeface="Arial Unicode MS" pitchFamily="34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[2] Select</a:t>
            </a:r>
            <a:r>
              <a:rPr lang="en-US" altLang="zh-CN" sz="2000" b="0" dirty="0">
                <a:ea typeface="Arial Unicode MS" pitchFamily="34" charset="-122"/>
              </a:rPr>
              <a:t> popcorn</a:t>
            </a:r>
            <a:r>
              <a:rPr lang="en-US" altLang="zh-CN" sz="2000" b="0" dirty="0">
                <a:cs typeface="Arial" panose="02080604020202020204" pitchFamily="34" charset="0"/>
              </a:rPr>
              <a:t> </a:t>
            </a:r>
            <a:endParaRPr lang="en-US" altLang="zh-CN" sz="2000" b="0" dirty="0">
              <a:cs typeface="Arial" panose="0208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[3] Select</a:t>
            </a:r>
            <a:r>
              <a:rPr lang="en-US" altLang="zh-CN" sz="2000" b="0" dirty="0">
                <a:ea typeface="Arial Unicode MS" pitchFamily="34" charset="-122"/>
              </a:rPr>
              <a:t> chocolate</a:t>
            </a:r>
            <a:endParaRPr lang="en-US" altLang="zh-CN" sz="2000" b="0" dirty="0">
              <a:ea typeface="Arial Unicode MS" pitchFamily="34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[4] Select</a:t>
            </a:r>
            <a:r>
              <a:rPr lang="en-US" altLang="zh-CN" sz="2000" b="0" dirty="0">
                <a:ea typeface="Arial Unicode MS" pitchFamily="34" charset="-122"/>
              </a:rPr>
              <a:t> cola</a:t>
            </a:r>
            <a:r>
              <a:rPr lang="en-US" altLang="zh-CN" sz="2000" b="0" dirty="0">
                <a:cs typeface="Arial" panose="02080604020202020204" pitchFamily="34" charset="0"/>
              </a:rPr>
              <a:t> </a:t>
            </a:r>
            <a:endParaRPr lang="en-US" altLang="zh-CN" sz="2000" b="0" dirty="0">
              <a:cs typeface="Arial" panose="0208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[0] Exit</a:t>
            </a:r>
            <a:endParaRPr lang="en-US" altLang="zh-CN" sz="2000" b="0" dirty="0">
              <a:cs typeface="Arial" panose="0208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ea typeface="Arial Unicode MS" pitchFamily="34" charset="-122"/>
              </a:rPr>
              <a:t>Enter choice: </a:t>
            </a:r>
            <a:r>
              <a:rPr lang="en-US" altLang="zh-CN" sz="2000" b="0" dirty="0">
                <a:solidFill>
                  <a:srgbClr val="0000FF"/>
                </a:solidFill>
                <a:ea typeface="Arial Unicode MS" pitchFamily="34" charset="-122"/>
              </a:rPr>
              <a:t>7</a:t>
            </a:r>
            <a:endParaRPr lang="en-US" altLang="zh-CN" sz="2000" b="0" dirty="0">
              <a:solidFill>
                <a:srgbClr val="0000FF"/>
              </a:solidFill>
              <a:ea typeface="Arial Unicode MS" pitchFamily="34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ea typeface="Arial Unicode MS" pitchFamily="34" charset="-122"/>
              </a:rPr>
              <a:t>price = 0.0</a:t>
            </a:r>
            <a:br>
              <a:rPr lang="en-US" altLang="zh-CN" sz="2000" b="0" dirty="0">
                <a:ea typeface="Arial Unicode MS" pitchFamily="34" charset="-122"/>
              </a:rPr>
            </a:br>
            <a:r>
              <a:rPr lang="en-US" altLang="zh-CN" sz="2000" b="0" dirty="0">
                <a:cs typeface="Arial" panose="02080604020202020204" pitchFamily="34" charset="0"/>
              </a:rPr>
              <a:t>[1] Select </a:t>
            </a:r>
            <a:r>
              <a:rPr lang="en-US" altLang="zh-CN" sz="2000" b="0" dirty="0">
                <a:ea typeface="Arial Unicode MS" pitchFamily="34" charset="-122"/>
              </a:rPr>
              <a:t>crisps</a:t>
            </a:r>
            <a:endParaRPr lang="en-US" altLang="zh-CN" sz="2000" b="0" dirty="0">
              <a:ea typeface="Arial Unicode MS" pitchFamily="34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[2] Select</a:t>
            </a:r>
            <a:r>
              <a:rPr lang="en-US" altLang="zh-CN" sz="2000" b="0" dirty="0">
                <a:ea typeface="Arial Unicode MS" pitchFamily="34" charset="-122"/>
              </a:rPr>
              <a:t> popcorn</a:t>
            </a:r>
            <a:r>
              <a:rPr lang="en-US" altLang="zh-CN" sz="2000" b="0" dirty="0">
                <a:cs typeface="Arial" panose="02080604020202020204" pitchFamily="34" charset="0"/>
              </a:rPr>
              <a:t> </a:t>
            </a:r>
            <a:endParaRPr lang="en-US" altLang="zh-CN" sz="2000" b="0" dirty="0">
              <a:cs typeface="Arial" panose="0208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[3] Select</a:t>
            </a:r>
            <a:r>
              <a:rPr lang="en-US" altLang="zh-CN" sz="2000" b="0" dirty="0">
                <a:ea typeface="Arial Unicode MS" pitchFamily="34" charset="-122"/>
              </a:rPr>
              <a:t> chocolate</a:t>
            </a:r>
            <a:endParaRPr lang="en-US" altLang="zh-CN" sz="2000" b="0" dirty="0">
              <a:ea typeface="Arial Unicode MS" pitchFamily="34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[4] Select</a:t>
            </a:r>
            <a:r>
              <a:rPr lang="en-US" altLang="zh-CN" sz="2000" b="0" dirty="0">
                <a:ea typeface="Arial Unicode MS" pitchFamily="34" charset="-122"/>
              </a:rPr>
              <a:t> cola</a:t>
            </a:r>
            <a:r>
              <a:rPr lang="en-US" altLang="zh-CN" sz="2000" b="0" dirty="0">
                <a:cs typeface="Arial" panose="02080604020202020204" pitchFamily="34" charset="0"/>
              </a:rPr>
              <a:t> </a:t>
            </a:r>
            <a:endParaRPr lang="en-US" altLang="zh-CN" sz="2000" b="0" dirty="0">
              <a:cs typeface="Arial" panose="0208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[0] Exit</a:t>
            </a:r>
            <a:endParaRPr lang="en-US" altLang="zh-CN" sz="2000" b="0" dirty="0">
              <a:cs typeface="Arial" panose="0208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ea typeface="Arial Unicode MS" pitchFamily="34" charset="-122"/>
              </a:rPr>
              <a:t>Enter choice: </a:t>
            </a:r>
            <a:r>
              <a:rPr lang="en-US" altLang="zh-CN" sz="2000" b="0" dirty="0">
                <a:solidFill>
                  <a:srgbClr val="0000FF"/>
                </a:solidFill>
                <a:ea typeface="Arial Unicode MS" pitchFamily="34" charset="-122"/>
              </a:rPr>
              <a:t>0</a:t>
            </a:r>
            <a:endParaRPr lang="en-US" altLang="zh-CN" sz="2000" b="0" dirty="0">
              <a:solidFill>
                <a:srgbClr val="0000FF"/>
              </a:solidFill>
              <a:ea typeface="Arial Unicode MS" pitchFamily="34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ea typeface="Arial Unicode MS" pitchFamily="34" charset="-122"/>
              </a:rPr>
              <a:t>Thanks</a:t>
            </a:r>
            <a:endParaRPr lang="en-US" altLang="zh-CN" sz="2000" b="0" dirty="0">
              <a:ea typeface="Arial Unicode MS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8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228600" y="381000"/>
            <a:ext cx="4953000" cy="609600"/>
          </a:xfrm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b="0" dirty="0"/>
              <a:t>3.2.2 </a:t>
            </a:r>
            <a:r>
              <a:rPr lang="en-US" altLang="zh-CN" b="0" dirty="0"/>
              <a:t>switch</a:t>
            </a:r>
            <a:r>
              <a:rPr lang="zh-CN" altLang="en-US" b="0" dirty="0"/>
              <a:t>语句 </a:t>
            </a:r>
            <a:endParaRPr lang="zh-CN" altLang="en-US" b="0" dirty="0"/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395288" y="1125538"/>
            <a:ext cx="8497887" cy="554355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spcBef>
                <a:spcPct val="50000"/>
              </a:spcBef>
              <a:buNone/>
            </a:pPr>
            <a:r>
              <a:rPr lang="zh-CN" altLang="en-US" b="0" dirty="0"/>
              <a:t>处理多分支选择问题，3种情况</a:t>
            </a:r>
            <a:endParaRPr lang="zh-CN" altLang="en-US" b="0" dirty="0"/>
          </a:p>
          <a:p>
            <a:pPr algn="just" eaLnBrk="1" hangingPunct="1">
              <a:spcBef>
                <a:spcPct val="50000"/>
              </a:spcBef>
              <a:buNone/>
            </a:pPr>
            <a:r>
              <a:rPr lang="zh-CN" altLang="en-US" b="0" dirty="0"/>
              <a:t>1、在</a:t>
            </a:r>
            <a:r>
              <a:rPr lang="en-US" altLang="zh-CN" b="0" dirty="0"/>
              <a:t>switch</a:t>
            </a:r>
            <a:r>
              <a:rPr lang="zh-CN" altLang="en-US" b="0" dirty="0"/>
              <a:t>语句的每个语句段中都使用</a:t>
            </a:r>
            <a:r>
              <a:rPr lang="en-US" altLang="zh-CN" b="0" dirty="0">
                <a:solidFill>
                  <a:srgbClr val="CC0066"/>
                </a:solidFill>
              </a:rPr>
              <a:t>break</a:t>
            </a:r>
            <a:r>
              <a:rPr lang="zh-CN" altLang="en-US" b="0" dirty="0"/>
              <a:t>语句</a:t>
            </a:r>
            <a:endParaRPr lang="zh-CN" altLang="en-US" b="0" dirty="0"/>
          </a:p>
          <a:p>
            <a:pPr lvl="1" algn="just" eaLnBrk="1" hangingPunct="1">
              <a:buNone/>
            </a:pPr>
            <a:r>
              <a:rPr lang="en-US" altLang="zh-CN" b="0" dirty="0"/>
              <a:t>switch(</a:t>
            </a:r>
            <a:r>
              <a:rPr lang="zh-CN" altLang="en-US" b="0" dirty="0"/>
              <a:t>表达式){ </a:t>
            </a:r>
            <a:endParaRPr lang="zh-CN" altLang="en-US" b="0" dirty="0"/>
          </a:p>
          <a:p>
            <a:pPr lvl="1" algn="just" eaLnBrk="1" hangingPunct="1">
              <a:buNone/>
            </a:pPr>
            <a:r>
              <a:rPr lang="en-US" altLang="zh-CN" b="0" dirty="0"/>
              <a:t>    case </a:t>
            </a:r>
            <a:r>
              <a:rPr lang="zh-CN" altLang="en-US" b="0" dirty="0">
                <a:solidFill>
                  <a:srgbClr val="CC0066"/>
                </a:solidFill>
              </a:rPr>
              <a:t>常量表达式1</a:t>
            </a:r>
            <a:r>
              <a:rPr lang="zh-CN" altLang="en-US" b="0" dirty="0"/>
              <a:t>：语句段1; </a:t>
            </a:r>
            <a:r>
              <a:rPr lang="en-US" altLang="zh-CN" b="0" dirty="0">
                <a:solidFill>
                  <a:schemeClr val="bg2"/>
                </a:solidFill>
              </a:rPr>
              <a:t>break</a:t>
            </a:r>
            <a:r>
              <a:rPr lang="en-US" altLang="zh-CN" b="0" dirty="0"/>
              <a:t>;</a:t>
            </a:r>
            <a:endParaRPr lang="en-US" altLang="zh-CN" b="0" dirty="0"/>
          </a:p>
          <a:p>
            <a:pPr lvl="1" algn="just" eaLnBrk="1" hangingPunct="1">
              <a:buNone/>
            </a:pPr>
            <a:r>
              <a:rPr lang="zh-CN" altLang="en-US" b="0" dirty="0"/>
              <a:t>    </a:t>
            </a:r>
            <a:r>
              <a:rPr lang="en-US" altLang="zh-CN" b="0" dirty="0"/>
              <a:t>case </a:t>
            </a:r>
            <a:r>
              <a:rPr lang="zh-CN" altLang="en-US" b="0" dirty="0">
                <a:solidFill>
                  <a:srgbClr val="CC0066"/>
                </a:solidFill>
              </a:rPr>
              <a:t>常量表达式2</a:t>
            </a:r>
            <a:r>
              <a:rPr lang="zh-CN" altLang="en-US" b="0" dirty="0"/>
              <a:t>：语句段2 ; </a:t>
            </a:r>
            <a:r>
              <a:rPr lang="en-US" altLang="zh-CN" b="0" dirty="0">
                <a:solidFill>
                  <a:schemeClr val="bg2"/>
                </a:solidFill>
              </a:rPr>
              <a:t>break</a:t>
            </a:r>
            <a:r>
              <a:rPr lang="en-US" altLang="zh-CN" b="0" dirty="0"/>
              <a:t>;</a:t>
            </a:r>
            <a:endParaRPr lang="zh-CN" altLang="en-US" b="0" dirty="0"/>
          </a:p>
          <a:p>
            <a:pPr lvl="1" algn="just" eaLnBrk="1" hangingPunct="1">
              <a:buNone/>
            </a:pPr>
            <a:r>
              <a:rPr lang="zh-CN" altLang="en-US" b="0" dirty="0"/>
              <a:t>        ....…</a:t>
            </a:r>
            <a:endParaRPr lang="zh-CN" altLang="en-US" b="0" dirty="0"/>
          </a:p>
          <a:p>
            <a:pPr lvl="1" algn="just" eaLnBrk="1" hangingPunct="1">
              <a:buNone/>
            </a:pPr>
            <a:r>
              <a:rPr lang="zh-CN" altLang="en-US" b="0" dirty="0"/>
              <a:t>    </a:t>
            </a:r>
            <a:r>
              <a:rPr lang="en-US" altLang="zh-CN" b="0" dirty="0"/>
              <a:t>case </a:t>
            </a:r>
            <a:r>
              <a:rPr lang="zh-CN" altLang="en-US" b="0" dirty="0">
                <a:solidFill>
                  <a:srgbClr val="CC0066"/>
                </a:solidFill>
              </a:rPr>
              <a:t>常量表达式</a:t>
            </a:r>
            <a:r>
              <a:rPr lang="en-US" altLang="zh-CN" b="0" dirty="0">
                <a:solidFill>
                  <a:srgbClr val="CC0066"/>
                </a:solidFill>
              </a:rPr>
              <a:t>n</a:t>
            </a:r>
            <a:r>
              <a:rPr lang="zh-CN" altLang="en-US" b="0" dirty="0"/>
              <a:t>：语句段</a:t>
            </a:r>
            <a:r>
              <a:rPr lang="en-US" altLang="zh-CN" b="0" dirty="0"/>
              <a:t>n </a:t>
            </a:r>
            <a:r>
              <a:rPr lang="zh-CN" altLang="en-US" b="0" dirty="0"/>
              <a:t>; </a:t>
            </a:r>
            <a:r>
              <a:rPr lang="en-US" altLang="zh-CN" b="0" dirty="0">
                <a:solidFill>
                  <a:schemeClr val="bg2"/>
                </a:solidFill>
              </a:rPr>
              <a:t>break</a:t>
            </a:r>
            <a:r>
              <a:rPr lang="en-US" altLang="zh-CN" b="0" dirty="0"/>
              <a:t>;</a:t>
            </a:r>
            <a:endParaRPr lang="zh-CN" altLang="en-US" b="0" dirty="0"/>
          </a:p>
          <a:p>
            <a:pPr lvl="1" algn="just" eaLnBrk="1" hangingPunct="1">
              <a:buNone/>
            </a:pPr>
            <a:r>
              <a:rPr lang="zh-CN" altLang="en-US" b="0" dirty="0"/>
              <a:t>    </a:t>
            </a:r>
            <a:r>
              <a:rPr lang="en-US" altLang="zh-CN" b="0" dirty="0"/>
              <a:t>default ：                 </a:t>
            </a:r>
            <a:r>
              <a:rPr lang="zh-CN" altLang="en-US" b="0" dirty="0"/>
              <a:t>语句段</a:t>
            </a:r>
            <a:r>
              <a:rPr lang="en-US" altLang="zh-CN" b="0" dirty="0"/>
              <a:t>n+1 </a:t>
            </a:r>
            <a:r>
              <a:rPr lang="zh-CN" altLang="en-US" b="0" dirty="0"/>
              <a:t>; </a:t>
            </a:r>
            <a:r>
              <a:rPr lang="en-US" altLang="zh-CN" b="0" dirty="0">
                <a:solidFill>
                  <a:schemeClr val="bg2"/>
                </a:solidFill>
              </a:rPr>
              <a:t>break</a:t>
            </a:r>
            <a:r>
              <a:rPr lang="en-US" altLang="zh-CN" b="0" dirty="0"/>
              <a:t>;</a:t>
            </a:r>
            <a:endParaRPr lang="zh-CN" altLang="en-US" b="0" dirty="0"/>
          </a:p>
          <a:p>
            <a:pPr lvl="1" algn="just" eaLnBrk="1" hangingPunct="1">
              <a:buNone/>
            </a:pPr>
            <a:r>
              <a:rPr lang="zh-CN" altLang="en-US" b="0" dirty="0"/>
              <a:t>}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idx="1"/>
          </p:nvPr>
        </p:nvSpPr>
        <p:spPr>
          <a:xfrm>
            <a:off x="80645" y="304800"/>
            <a:ext cx="5207000" cy="2403475"/>
          </a:xfrm>
          <a:ln w="12700" cmpd="sng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000" b="0" dirty="0"/>
              <a:t>switch(</a:t>
            </a:r>
            <a:r>
              <a:rPr lang="zh-CN" altLang="en-US" sz="2000" b="0" dirty="0"/>
              <a:t>表达式){ </a:t>
            </a:r>
            <a:endParaRPr lang="zh-CN" altLang="en-US" sz="2000" b="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000" b="0" dirty="0"/>
              <a:t>    case </a:t>
            </a:r>
            <a:r>
              <a:rPr lang="zh-CN" altLang="en-US" sz="2000" b="0" dirty="0">
                <a:solidFill>
                  <a:srgbClr val="CC0066"/>
                </a:solidFill>
              </a:rPr>
              <a:t>常量表达式1</a:t>
            </a:r>
            <a:r>
              <a:rPr lang="zh-CN" altLang="en-US" sz="2000" b="0" dirty="0"/>
              <a:t>：语句段1; </a:t>
            </a:r>
            <a:r>
              <a:rPr lang="en-US" altLang="zh-CN" sz="2000" b="0" dirty="0">
                <a:solidFill>
                  <a:schemeClr val="bg2"/>
                </a:solidFill>
              </a:rPr>
              <a:t>break</a:t>
            </a:r>
            <a:r>
              <a:rPr lang="en-US" altLang="zh-CN" sz="2000" b="0" dirty="0"/>
              <a:t>;</a:t>
            </a:r>
            <a:endParaRPr lang="en-US" altLang="zh-CN" sz="2000" b="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000" b="0" dirty="0"/>
              <a:t>    </a:t>
            </a:r>
            <a:r>
              <a:rPr lang="en-US" altLang="zh-CN" sz="2000" b="0" dirty="0"/>
              <a:t>case </a:t>
            </a:r>
            <a:r>
              <a:rPr lang="zh-CN" altLang="en-US" sz="2000" b="0" dirty="0">
                <a:solidFill>
                  <a:srgbClr val="CC0066"/>
                </a:solidFill>
              </a:rPr>
              <a:t>常量表达式2</a:t>
            </a:r>
            <a:r>
              <a:rPr lang="zh-CN" altLang="en-US" sz="2000" b="0" dirty="0"/>
              <a:t>：语句段2 ; </a:t>
            </a:r>
            <a:r>
              <a:rPr lang="en-US" altLang="zh-CN" sz="2000" b="0" dirty="0">
                <a:solidFill>
                  <a:schemeClr val="bg2"/>
                </a:solidFill>
              </a:rPr>
              <a:t>break</a:t>
            </a:r>
            <a:r>
              <a:rPr lang="en-US" altLang="zh-CN" sz="2000" b="0" dirty="0"/>
              <a:t>;</a:t>
            </a:r>
            <a:endParaRPr lang="zh-CN" altLang="en-US" sz="2000" b="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000" b="0" dirty="0"/>
              <a:t>        ....…</a:t>
            </a:r>
            <a:endParaRPr lang="zh-CN" altLang="en-US" sz="2000" b="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000" b="0" dirty="0"/>
              <a:t>    </a:t>
            </a:r>
            <a:r>
              <a:rPr lang="en-US" altLang="zh-CN" sz="2000" b="0" dirty="0"/>
              <a:t>case </a:t>
            </a:r>
            <a:r>
              <a:rPr lang="zh-CN" altLang="en-US" sz="2000" b="0" dirty="0">
                <a:solidFill>
                  <a:srgbClr val="CC0066"/>
                </a:solidFill>
              </a:rPr>
              <a:t>常量表达式</a:t>
            </a:r>
            <a:r>
              <a:rPr lang="en-US" altLang="zh-CN" sz="2000" b="0" dirty="0">
                <a:solidFill>
                  <a:srgbClr val="CC0066"/>
                </a:solidFill>
              </a:rPr>
              <a:t>n</a:t>
            </a:r>
            <a:r>
              <a:rPr lang="zh-CN" altLang="en-US" sz="2000" b="0" dirty="0"/>
              <a:t>：语句段</a:t>
            </a:r>
            <a:r>
              <a:rPr lang="en-US" altLang="zh-CN" sz="2000" b="0" dirty="0"/>
              <a:t>n </a:t>
            </a:r>
            <a:r>
              <a:rPr lang="zh-CN" altLang="en-US" sz="2000" b="0" dirty="0"/>
              <a:t>; </a:t>
            </a:r>
            <a:r>
              <a:rPr lang="en-US" altLang="zh-CN" sz="2000" b="0" dirty="0">
                <a:solidFill>
                  <a:schemeClr val="bg2"/>
                </a:solidFill>
              </a:rPr>
              <a:t>break</a:t>
            </a:r>
            <a:r>
              <a:rPr lang="en-US" altLang="zh-CN" sz="2000" b="0" dirty="0"/>
              <a:t>;</a:t>
            </a:r>
            <a:endParaRPr lang="zh-CN" altLang="en-US" sz="2000" b="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000" b="0" dirty="0"/>
              <a:t>    </a:t>
            </a:r>
            <a:r>
              <a:rPr lang="en-US" altLang="zh-CN" sz="2000" b="0" dirty="0"/>
              <a:t>default ：              </a:t>
            </a:r>
            <a:r>
              <a:rPr lang="zh-CN" altLang="en-US" sz="2000" b="0" dirty="0"/>
              <a:t>语句段</a:t>
            </a:r>
            <a:r>
              <a:rPr lang="en-US" altLang="zh-CN" sz="2000" b="0" dirty="0"/>
              <a:t>n+1 </a:t>
            </a:r>
            <a:r>
              <a:rPr lang="zh-CN" altLang="en-US" sz="2000" b="0" dirty="0"/>
              <a:t>; </a:t>
            </a:r>
            <a:r>
              <a:rPr lang="en-US" altLang="zh-CN" sz="2000" b="0" dirty="0">
                <a:solidFill>
                  <a:schemeClr val="bg2"/>
                </a:solidFill>
              </a:rPr>
              <a:t>break</a:t>
            </a:r>
            <a:r>
              <a:rPr lang="en-US" altLang="zh-CN" sz="2000" b="0" dirty="0"/>
              <a:t>;</a:t>
            </a:r>
            <a:endParaRPr lang="zh-CN" altLang="en-US" sz="2000" b="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000" b="0" dirty="0"/>
              <a:t>}</a:t>
            </a:r>
            <a:endParaRPr lang="zh-CN" altLang="en-US" sz="2000" b="0" dirty="0"/>
          </a:p>
        </p:txBody>
      </p:sp>
      <p:grpSp>
        <p:nvGrpSpPr>
          <p:cNvPr id="2" name="Group 42"/>
          <p:cNvGrpSpPr/>
          <p:nvPr/>
        </p:nvGrpSpPr>
        <p:grpSpPr>
          <a:xfrm>
            <a:off x="381000" y="3473450"/>
            <a:ext cx="7854950" cy="3124200"/>
            <a:chOff x="240" y="1920"/>
            <a:chExt cx="4948" cy="1968"/>
          </a:xfrm>
        </p:grpSpPr>
        <p:sp>
          <p:nvSpPr>
            <p:cNvPr id="30726" name="Rectangle 4"/>
            <p:cNvSpPr/>
            <p:nvPr/>
          </p:nvSpPr>
          <p:spPr>
            <a:xfrm>
              <a:off x="1076" y="2242"/>
              <a:ext cx="1755" cy="254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表达式的值=常量表达式 2 的值</a:t>
              </a:r>
              <a:endParaRPr lang="zh-CN" altLang="en-US" sz="1400" b="0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0727" name="Rectangle 5"/>
            <p:cNvSpPr/>
            <p:nvPr/>
          </p:nvSpPr>
          <p:spPr>
            <a:xfrm>
              <a:off x="441" y="2552"/>
              <a:ext cx="300" cy="64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表达式</a:t>
              </a:r>
              <a:endParaRPr lang="zh-CN" altLang="en-US" sz="1400" b="0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0728" name="Rectangle 6"/>
            <p:cNvSpPr/>
            <p:nvPr/>
          </p:nvSpPr>
          <p:spPr>
            <a:xfrm>
              <a:off x="3048" y="2017"/>
              <a:ext cx="702" cy="25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语句段1</a:t>
              </a:r>
              <a:endParaRPr lang="zh-CN" altLang="en-US" sz="1400" b="0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0729" name="Line 7"/>
            <p:cNvSpPr/>
            <p:nvPr/>
          </p:nvSpPr>
          <p:spPr>
            <a:xfrm>
              <a:off x="240" y="2826"/>
              <a:ext cx="20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30" name="Rectangle 8"/>
            <p:cNvSpPr/>
            <p:nvPr/>
          </p:nvSpPr>
          <p:spPr>
            <a:xfrm>
              <a:off x="3048" y="2422"/>
              <a:ext cx="702" cy="25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语句段2</a:t>
              </a:r>
              <a:endParaRPr lang="zh-CN" altLang="en-US" sz="1400" b="0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0731" name="Rectangle 9"/>
            <p:cNvSpPr/>
            <p:nvPr/>
          </p:nvSpPr>
          <p:spPr>
            <a:xfrm>
              <a:off x="3048" y="3214"/>
              <a:ext cx="702" cy="25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语句段</a:t>
              </a:r>
              <a:r>
                <a:rPr lang="en-US" altLang="zh-CN" sz="1400" b="0" dirty="0">
                  <a:latin typeface="Times New Roman" pitchFamily="18" charset="0"/>
                  <a:ea typeface="楷体_GB2312" pitchFamily="49" charset="-122"/>
                </a:rPr>
                <a:t>n</a:t>
              </a:r>
              <a:endParaRPr lang="en-US" altLang="zh-CN" sz="1400" b="0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0732" name="Rectangle 10"/>
            <p:cNvSpPr/>
            <p:nvPr/>
          </p:nvSpPr>
          <p:spPr>
            <a:xfrm>
              <a:off x="3048" y="3635"/>
              <a:ext cx="802" cy="25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语句段</a:t>
              </a:r>
              <a:r>
                <a:rPr lang="en-US" altLang="zh-CN" sz="1400" b="0" dirty="0">
                  <a:latin typeface="Times New Roman" pitchFamily="18" charset="0"/>
                  <a:ea typeface="楷体_GB2312" pitchFamily="49" charset="-122"/>
                </a:rPr>
                <a:t>n+1</a:t>
              </a:r>
              <a:endParaRPr lang="en-US" altLang="zh-CN" sz="1400" b="0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0733" name="Rectangle 16"/>
            <p:cNvSpPr/>
            <p:nvPr/>
          </p:nvSpPr>
          <p:spPr>
            <a:xfrm>
              <a:off x="1076" y="1920"/>
              <a:ext cx="1972" cy="253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表达式的值=常量表达式 1 的值</a:t>
              </a:r>
              <a:endParaRPr lang="zh-CN" altLang="en-US" sz="1400" b="0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0734" name="Line 17"/>
            <p:cNvSpPr/>
            <p:nvPr/>
          </p:nvSpPr>
          <p:spPr>
            <a:xfrm>
              <a:off x="1017" y="2173"/>
              <a:ext cx="204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35" name="Line 18"/>
            <p:cNvSpPr/>
            <p:nvPr/>
          </p:nvSpPr>
          <p:spPr>
            <a:xfrm>
              <a:off x="1017" y="2496"/>
              <a:ext cx="204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36" name="Rectangle 19"/>
            <p:cNvSpPr/>
            <p:nvPr/>
          </p:nvSpPr>
          <p:spPr>
            <a:xfrm>
              <a:off x="1076" y="3048"/>
              <a:ext cx="1755" cy="254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表达式的值=常量表达式 </a:t>
              </a:r>
              <a:r>
                <a:rPr lang="en-US" altLang="zh-CN" sz="1400" b="0" dirty="0">
                  <a:latin typeface="Times New Roman" pitchFamily="18" charset="0"/>
                  <a:ea typeface="楷体_GB2312" pitchFamily="49" charset="-122"/>
                </a:rPr>
                <a:t>n </a:t>
              </a: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的值</a:t>
              </a:r>
              <a:endParaRPr lang="zh-CN" altLang="en-US" sz="1400" b="0" dirty="0">
                <a:latin typeface="宋体" pitchFamily="2" charset="-122"/>
              </a:endParaRPr>
            </a:p>
          </p:txBody>
        </p:sp>
        <p:sp>
          <p:nvSpPr>
            <p:cNvPr id="30737" name="Line 20"/>
            <p:cNvSpPr/>
            <p:nvPr/>
          </p:nvSpPr>
          <p:spPr>
            <a:xfrm>
              <a:off x="1017" y="3302"/>
              <a:ext cx="204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38" name="Rectangle 21"/>
            <p:cNvSpPr/>
            <p:nvPr/>
          </p:nvSpPr>
          <p:spPr>
            <a:xfrm>
              <a:off x="1076" y="3463"/>
              <a:ext cx="1755" cy="253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其他</a:t>
              </a:r>
              <a:endParaRPr lang="zh-CN" altLang="en-US" sz="1400" b="0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0739" name="Line 22"/>
            <p:cNvSpPr/>
            <p:nvPr/>
          </p:nvSpPr>
          <p:spPr>
            <a:xfrm>
              <a:off x="1017" y="3785"/>
              <a:ext cx="204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40" name="Line 23"/>
            <p:cNvSpPr/>
            <p:nvPr/>
          </p:nvSpPr>
          <p:spPr>
            <a:xfrm>
              <a:off x="1017" y="2173"/>
              <a:ext cx="0" cy="16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1" name="Line 24"/>
            <p:cNvSpPr/>
            <p:nvPr/>
          </p:nvSpPr>
          <p:spPr>
            <a:xfrm>
              <a:off x="725" y="2818"/>
              <a:ext cx="29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2" name="Line 25"/>
            <p:cNvSpPr/>
            <p:nvPr/>
          </p:nvSpPr>
          <p:spPr>
            <a:xfrm>
              <a:off x="4608" y="2160"/>
              <a:ext cx="29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43" name="Rectangle 26"/>
            <p:cNvSpPr/>
            <p:nvPr/>
          </p:nvSpPr>
          <p:spPr>
            <a:xfrm>
              <a:off x="4080" y="2016"/>
              <a:ext cx="528" cy="25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0" dirty="0">
                  <a:latin typeface="Times New Roman" pitchFamily="18" charset="0"/>
                  <a:ea typeface="楷体_GB2312" pitchFamily="49" charset="-122"/>
                </a:rPr>
                <a:t>break</a:t>
              </a:r>
              <a:endParaRPr lang="en-US" altLang="zh-CN" sz="1400" b="0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0744" name="Rectangle 28"/>
            <p:cNvSpPr/>
            <p:nvPr/>
          </p:nvSpPr>
          <p:spPr>
            <a:xfrm>
              <a:off x="4080" y="2386"/>
              <a:ext cx="528" cy="25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0" dirty="0">
                  <a:latin typeface="Times New Roman" pitchFamily="18" charset="0"/>
                  <a:ea typeface="楷体_GB2312" pitchFamily="49" charset="-122"/>
                </a:rPr>
                <a:t>break</a:t>
              </a:r>
              <a:endParaRPr lang="en-US" altLang="zh-CN" sz="1400" b="0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0745" name="Rectangle 30"/>
            <p:cNvSpPr/>
            <p:nvPr/>
          </p:nvSpPr>
          <p:spPr>
            <a:xfrm>
              <a:off x="4080" y="3202"/>
              <a:ext cx="528" cy="25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0" dirty="0">
                  <a:latin typeface="Times New Roman" pitchFamily="18" charset="0"/>
                  <a:ea typeface="楷体_GB2312" pitchFamily="49" charset="-122"/>
                </a:rPr>
                <a:t>break</a:t>
              </a:r>
              <a:endParaRPr lang="en-US" altLang="zh-CN" sz="1400" b="0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0746" name="Rectangle 32"/>
            <p:cNvSpPr/>
            <p:nvPr/>
          </p:nvSpPr>
          <p:spPr>
            <a:xfrm>
              <a:off x="4080" y="3600"/>
              <a:ext cx="528" cy="25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0" dirty="0">
                  <a:latin typeface="Times New Roman" pitchFamily="18" charset="0"/>
                  <a:ea typeface="楷体_GB2312" pitchFamily="49" charset="-122"/>
                </a:rPr>
                <a:t>break</a:t>
              </a:r>
              <a:endParaRPr lang="en-US" altLang="zh-CN" sz="1400" b="0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0747" name="Line 33"/>
            <p:cNvSpPr/>
            <p:nvPr/>
          </p:nvSpPr>
          <p:spPr>
            <a:xfrm>
              <a:off x="3744" y="216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8" name="Line 34"/>
            <p:cNvSpPr/>
            <p:nvPr/>
          </p:nvSpPr>
          <p:spPr>
            <a:xfrm>
              <a:off x="3744" y="2544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9" name="Line 35"/>
            <p:cNvSpPr/>
            <p:nvPr/>
          </p:nvSpPr>
          <p:spPr>
            <a:xfrm>
              <a:off x="3744" y="336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0" name="Line 36"/>
            <p:cNvSpPr/>
            <p:nvPr/>
          </p:nvSpPr>
          <p:spPr>
            <a:xfrm>
              <a:off x="3888" y="374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1" name="Line 37"/>
            <p:cNvSpPr/>
            <p:nvPr/>
          </p:nvSpPr>
          <p:spPr>
            <a:xfrm>
              <a:off x="4608" y="2496"/>
              <a:ext cx="29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52" name="Line 38"/>
            <p:cNvSpPr/>
            <p:nvPr/>
          </p:nvSpPr>
          <p:spPr>
            <a:xfrm>
              <a:off x="4608" y="3312"/>
              <a:ext cx="29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53" name="Line 39"/>
            <p:cNvSpPr/>
            <p:nvPr/>
          </p:nvSpPr>
          <p:spPr>
            <a:xfrm>
              <a:off x="4608" y="3744"/>
              <a:ext cx="29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54" name="Line 40"/>
            <p:cNvSpPr/>
            <p:nvPr/>
          </p:nvSpPr>
          <p:spPr>
            <a:xfrm>
              <a:off x="4896" y="2160"/>
              <a:ext cx="0" cy="15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5" name="Line 41"/>
            <p:cNvSpPr/>
            <p:nvPr/>
          </p:nvSpPr>
          <p:spPr>
            <a:xfrm>
              <a:off x="4896" y="2832"/>
              <a:ext cx="29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0724" name="Rectangle 43"/>
          <p:cNvSpPr/>
          <p:nvPr/>
        </p:nvSpPr>
        <p:spPr>
          <a:xfrm>
            <a:off x="5358765" y="222250"/>
            <a:ext cx="3698875" cy="2614930"/>
          </a:xfrm>
          <a:prstGeom prst="rect">
            <a:avLst/>
          </a:prstGeom>
          <a:noFill/>
          <a:ln w="12700" cap="rnd" cmpd="sng">
            <a:solidFill>
              <a:schemeClr val="accent1">
                <a:shade val="50000"/>
              </a:schemeClr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en-US" altLang="zh-CN" sz="2000" b="0" dirty="0">
                <a:ea typeface="Arial Unicode MS" pitchFamily="34" charset="-122"/>
              </a:rPr>
              <a:t>switch (choice) {</a:t>
            </a:r>
            <a:endParaRPr lang="en-US" altLang="zh-CN" sz="2000" b="0" dirty="0">
              <a:ea typeface="Arial Unicode MS" pitchFamily="34" charset="-122"/>
            </a:endParaRPr>
          </a:p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en-US" altLang="zh-CN" sz="2000" b="0" dirty="0">
                <a:ea typeface="Arial Unicode MS" pitchFamily="34" charset="-122"/>
              </a:rPr>
              <a:t>    case </a:t>
            </a:r>
            <a:r>
              <a:rPr lang="en-US" altLang="zh-CN" sz="2000" b="0" dirty="0">
                <a:solidFill>
                  <a:srgbClr val="CC0066"/>
                </a:solidFill>
                <a:ea typeface="Arial Unicode MS" pitchFamily="34" charset="-122"/>
              </a:rPr>
              <a:t>1</a:t>
            </a:r>
            <a:r>
              <a:rPr lang="en-US" altLang="zh-CN" sz="2000" b="0" dirty="0">
                <a:ea typeface="Arial Unicode MS" pitchFamily="34" charset="-122"/>
              </a:rPr>
              <a:t>: price=3.0; </a:t>
            </a:r>
            <a:r>
              <a:rPr lang="en-US" altLang="zh-CN" sz="2000" b="0" dirty="0">
                <a:solidFill>
                  <a:schemeClr val="bg2"/>
                </a:solidFill>
                <a:ea typeface="Arial Unicode MS" pitchFamily="34" charset="-122"/>
              </a:rPr>
              <a:t>break</a:t>
            </a:r>
            <a:r>
              <a:rPr lang="en-US" altLang="zh-CN" sz="2000" b="0" dirty="0">
                <a:ea typeface="Arial Unicode MS" pitchFamily="34" charset="-122"/>
              </a:rPr>
              <a:t>;</a:t>
            </a:r>
            <a:endParaRPr lang="en-US" altLang="zh-CN" sz="2000" b="0" dirty="0">
              <a:ea typeface="Arial Unicode MS" pitchFamily="34" charset="-122"/>
            </a:endParaRPr>
          </a:p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zh-CN" altLang="en-US" sz="2000" b="0" dirty="0">
                <a:ea typeface="Arial Unicode MS" pitchFamily="34" charset="-122"/>
              </a:rPr>
              <a:t>    </a:t>
            </a:r>
            <a:r>
              <a:rPr lang="en-US" altLang="zh-CN" sz="2000" b="0" dirty="0">
                <a:ea typeface="Arial Unicode MS" pitchFamily="34" charset="-122"/>
              </a:rPr>
              <a:t>case </a:t>
            </a:r>
            <a:r>
              <a:rPr lang="en-US" altLang="zh-CN" sz="2000" b="0" dirty="0">
                <a:solidFill>
                  <a:srgbClr val="CC0066"/>
                </a:solidFill>
                <a:ea typeface="Arial Unicode MS" pitchFamily="34" charset="-122"/>
              </a:rPr>
              <a:t>2</a:t>
            </a:r>
            <a:r>
              <a:rPr lang="en-US" altLang="zh-CN" sz="2000" b="0" dirty="0">
                <a:ea typeface="Arial Unicode MS" pitchFamily="34" charset="-122"/>
              </a:rPr>
              <a:t>: price=2.5; </a:t>
            </a:r>
            <a:r>
              <a:rPr lang="en-US" altLang="zh-CN" sz="2000" b="0" dirty="0">
                <a:solidFill>
                  <a:schemeClr val="bg2"/>
                </a:solidFill>
                <a:ea typeface="Arial Unicode MS" pitchFamily="34" charset="-122"/>
              </a:rPr>
              <a:t>break</a:t>
            </a:r>
            <a:r>
              <a:rPr lang="en-US" altLang="zh-CN" sz="2000" b="0" dirty="0">
                <a:ea typeface="Arial Unicode MS" pitchFamily="34" charset="-122"/>
              </a:rPr>
              <a:t>;</a:t>
            </a:r>
            <a:endParaRPr lang="en-US" altLang="zh-CN" sz="2000" b="0" dirty="0">
              <a:ea typeface="Arial Unicode MS" pitchFamily="34" charset="-122"/>
            </a:endParaRPr>
          </a:p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en-US" altLang="zh-CN" sz="2000" b="0" dirty="0">
                <a:ea typeface="Arial Unicode MS" pitchFamily="34" charset="-122"/>
              </a:rPr>
              <a:t>    case </a:t>
            </a:r>
            <a:r>
              <a:rPr lang="en-US" altLang="zh-CN" sz="2000" b="0" dirty="0">
                <a:solidFill>
                  <a:srgbClr val="CC0066"/>
                </a:solidFill>
                <a:ea typeface="Arial Unicode MS" pitchFamily="34" charset="-122"/>
              </a:rPr>
              <a:t>3</a:t>
            </a:r>
            <a:r>
              <a:rPr lang="en-US" altLang="zh-CN" sz="2000" b="0" dirty="0">
                <a:ea typeface="Arial Unicode MS" pitchFamily="34" charset="-122"/>
              </a:rPr>
              <a:t>: price=4.0; </a:t>
            </a:r>
            <a:r>
              <a:rPr lang="en-US" altLang="zh-CN" sz="2000" b="0" dirty="0">
                <a:solidFill>
                  <a:schemeClr val="bg2"/>
                </a:solidFill>
                <a:ea typeface="Arial Unicode MS" pitchFamily="34" charset="-122"/>
              </a:rPr>
              <a:t>break</a:t>
            </a:r>
            <a:r>
              <a:rPr lang="en-US" altLang="zh-CN" sz="2000" b="0" dirty="0">
                <a:ea typeface="Arial Unicode MS" pitchFamily="34" charset="-122"/>
              </a:rPr>
              <a:t>;</a:t>
            </a:r>
            <a:endParaRPr lang="en-US" altLang="zh-CN" sz="2000" b="0" dirty="0">
              <a:ea typeface="Arial Unicode MS" pitchFamily="34" charset="-122"/>
            </a:endParaRPr>
          </a:p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en-US" altLang="zh-CN" sz="2000" b="0" dirty="0">
                <a:ea typeface="Arial Unicode MS" pitchFamily="34" charset="-122"/>
              </a:rPr>
              <a:t>    case </a:t>
            </a:r>
            <a:r>
              <a:rPr lang="en-US" altLang="zh-CN" sz="2000" b="0" dirty="0">
                <a:solidFill>
                  <a:srgbClr val="CC0066"/>
                </a:solidFill>
                <a:ea typeface="Arial Unicode MS" pitchFamily="34" charset="-122"/>
              </a:rPr>
              <a:t>4</a:t>
            </a:r>
            <a:r>
              <a:rPr lang="en-US" altLang="zh-CN" sz="2000" b="0" dirty="0">
                <a:ea typeface="Arial Unicode MS" pitchFamily="34" charset="-122"/>
              </a:rPr>
              <a:t>: price=3.5; </a:t>
            </a:r>
            <a:r>
              <a:rPr lang="en-US" altLang="zh-CN" sz="2000" b="0" dirty="0">
                <a:solidFill>
                  <a:schemeClr val="bg2"/>
                </a:solidFill>
                <a:ea typeface="Arial Unicode MS" pitchFamily="34" charset="-122"/>
              </a:rPr>
              <a:t>break</a:t>
            </a:r>
            <a:r>
              <a:rPr lang="en-US" altLang="zh-CN" sz="2000" b="0" dirty="0">
                <a:ea typeface="Arial Unicode MS" pitchFamily="34" charset="-122"/>
              </a:rPr>
              <a:t>;</a:t>
            </a:r>
            <a:endParaRPr lang="en-US" altLang="zh-CN" sz="2000" b="0" dirty="0">
              <a:ea typeface="Arial Unicode MS" pitchFamily="34" charset="-122"/>
            </a:endParaRPr>
          </a:p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en-US" altLang="zh-CN" sz="2000" b="0" dirty="0">
                <a:ea typeface="Arial Unicode MS" pitchFamily="34" charset="-122"/>
              </a:rPr>
              <a:t>    default: price=0.0; </a:t>
            </a:r>
            <a:r>
              <a:rPr lang="en-US" altLang="zh-CN" sz="2000" b="0" dirty="0">
                <a:solidFill>
                  <a:schemeClr val="bg2"/>
                </a:solidFill>
                <a:ea typeface="Arial Unicode MS" pitchFamily="34" charset="-122"/>
              </a:rPr>
              <a:t>break</a:t>
            </a:r>
            <a:r>
              <a:rPr lang="en-US" altLang="zh-CN" sz="2000" b="0" dirty="0">
                <a:ea typeface="Arial Unicode MS" pitchFamily="34" charset="-122"/>
              </a:rPr>
              <a:t>;</a:t>
            </a:r>
            <a:endParaRPr lang="en-US" altLang="zh-CN" sz="2000" b="0" dirty="0">
              <a:ea typeface="Arial Unicode MS" pitchFamily="34" charset="-122"/>
            </a:endParaRPr>
          </a:p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en-US" altLang="zh-CN" sz="2000" b="0" dirty="0">
                <a:ea typeface="Arial Unicode MS" pitchFamily="34" charset="-122"/>
              </a:rPr>
              <a:t>}</a:t>
            </a:r>
            <a:endParaRPr lang="en-US" altLang="zh-CN" sz="2000" b="0" dirty="0">
              <a:ea typeface="Arial Unicode MS" pitchFamily="34" charset="-122"/>
            </a:endParaRPr>
          </a:p>
        </p:txBody>
      </p:sp>
      <p:sp>
        <p:nvSpPr>
          <p:cNvPr id="146476" name="Rectangle 44"/>
          <p:cNvSpPr/>
          <p:nvPr/>
        </p:nvSpPr>
        <p:spPr>
          <a:xfrm>
            <a:off x="5959793" y="2946400"/>
            <a:ext cx="3028315" cy="40068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zh-CN" altLang="en-US" sz="2400" b="0" dirty="0"/>
              <a:t>用</a:t>
            </a:r>
            <a:r>
              <a:rPr lang="en-US" altLang="zh-CN" sz="2400" b="0" dirty="0"/>
              <a:t>else-if</a:t>
            </a:r>
            <a:r>
              <a:rPr lang="zh-CN" altLang="en-US" sz="2400" b="0" dirty="0"/>
              <a:t> 如何实现？</a:t>
            </a:r>
            <a:endParaRPr lang="zh-CN" altLang="en-US" sz="24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6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76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求解简单表达式</a:t>
            </a:r>
            <a:endParaRPr lang="zh-CN" altLang="en-US" b="0" dirty="0"/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395288" y="1844675"/>
            <a:ext cx="8280400" cy="3313113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b="0" dirty="0"/>
              <a:t>例</a:t>
            </a:r>
            <a:r>
              <a:rPr lang="en-US" altLang="zh-CN" b="0" dirty="0"/>
              <a:t>3-5 </a:t>
            </a:r>
            <a:r>
              <a:rPr lang="zh-CN" altLang="en-US" b="0" dirty="0"/>
              <a:t>输入一个形式如“操作数 运算符 操作数”的四则运算表达式，输出运算结果。</a:t>
            </a:r>
            <a:endParaRPr lang="zh-CN" altLang="en-US" b="0" dirty="0"/>
          </a:p>
          <a:p>
            <a:pPr eaLnBrk="1" hangingPunct="1">
              <a:lnSpc>
                <a:spcPct val="90000"/>
              </a:lnSpc>
              <a:buNone/>
            </a:pPr>
            <a:endParaRPr lang="zh-CN" altLang="en-US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0" dirty="0"/>
              <a:t>例如：</a:t>
            </a:r>
            <a:endParaRPr lang="zh-CN" altLang="en-US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0" dirty="0"/>
              <a:t>输入：</a:t>
            </a:r>
            <a:r>
              <a:rPr lang="en-US" altLang="zh-CN" b="0" dirty="0"/>
              <a:t>3.1+4.8</a:t>
            </a:r>
            <a:r>
              <a:rPr lang="en-US" altLang="zh-CN" b="0" u="sng" dirty="0"/>
              <a:t> </a:t>
            </a:r>
            <a:endParaRPr lang="en-US" altLang="zh-CN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0" dirty="0"/>
              <a:t>输出：</a:t>
            </a:r>
            <a:r>
              <a:rPr lang="en-US" altLang="zh-CN" b="0" dirty="0"/>
              <a:t>=7.9</a:t>
            </a:r>
            <a:endParaRPr lang="zh-CN" altLang="en-US" b="0" dirty="0"/>
          </a:p>
        </p:txBody>
      </p:sp>
      <p:sp>
        <p:nvSpPr>
          <p:cNvPr id="31748" name="Rectangle 4"/>
          <p:cNvSpPr/>
          <p:nvPr/>
        </p:nvSpPr>
        <p:spPr>
          <a:xfrm>
            <a:off x="0" y="3055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xfrm>
            <a:off x="6948488" y="188913"/>
            <a:ext cx="2195512" cy="668337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b="0" dirty="0"/>
              <a:t>源程序</a:t>
            </a:r>
            <a:endParaRPr lang="zh-CN" altLang="en-US" sz="4000" b="0" dirty="0"/>
          </a:p>
        </p:txBody>
      </p:sp>
      <p:sp>
        <p:nvSpPr>
          <p:cNvPr id="33795" name="Rectangle 3"/>
          <p:cNvSpPr>
            <a:spLocks noGrp="1"/>
          </p:cNvSpPr>
          <p:nvPr>
            <p:ph type="body" sz="half" idx="1"/>
          </p:nvPr>
        </p:nvSpPr>
        <p:spPr>
          <a:xfrm>
            <a:off x="0" y="0"/>
            <a:ext cx="6804025" cy="676656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# include &lt;stdio.h&gt;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int main(void)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{  char operator;   double value1, value2;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printf("Type in an expression:\n");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scanf("%lf%c%lf", &amp;value1, &amp;operator, &amp;value2);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switch(operator){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case '+': 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 printf("=%.2f\n", value1+value2);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 break;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case '-': 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 printf("=%.2f\n", value1-value2);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 break;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case '*': 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 printf("=%.2f\n", value1*value2);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 break;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case '/': 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 printf("=%.2f\n", value1/value2);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 break;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default:  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 printf("Unknown operator\n");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 break;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}return 0;</a:t>
            </a:r>
            <a:endParaRPr lang="en-US" altLang="zh-CN" sz="2000" b="0" dirty="0"/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}</a:t>
            </a:r>
            <a:endParaRPr lang="en-US" altLang="zh-CN" sz="2000" b="0" dirty="0"/>
          </a:p>
        </p:txBody>
      </p:sp>
      <p:sp>
        <p:nvSpPr>
          <p:cNvPr id="195588" name="Rectangle 4"/>
          <p:cNvSpPr/>
          <p:nvPr/>
        </p:nvSpPr>
        <p:spPr>
          <a:xfrm>
            <a:off x="5795010" y="2252345"/>
            <a:ext cx="3180080" cy="101473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Type in an expression: </a:t>
            </a:r>
            <a:endParaRPr lang="en-US" altLang="zh-CN" sz="20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CC0066"/>
                </a:solidFill>
              </a:rPr>
              <a:t>3.1+4.8</a:t>
            </a:r>
            <a:r>
              <a:rPr lang="en-US" altLang="zh-CN" sz="2000" b="0" u="sng" dirty="0"/>
              <a:t> </a:t>
            </a:r>
            <a:endParaRPr lang="en-US" altLang="zh-CN" sz="20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=7.9</a:t>
            </a:r>
            <a:endParaRPr lang="en-US" altLang="zh-CN" sz="2000" b="0" dirty="0"/>
          </a:p>
        </p:txBody>
      </p:sp>
      <p:sp>
        <p:nvSpPr>
          <p:cNvPr id="195594" name="Rectangle 10"/>
          <p:cNvSpPr/>
          <p:nvPr/>
        </p:nvSpPr>
        <p:spPr>
          <a:xfrm>
            <a:off x="6156325" y="4340225"/>
            <a:ext cx="1868170" cy="398780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/>
              <a:t>如果除数为</a:t>
            </a:r>
            <a:r>
              <a:rPr lang="en-US" altLang="zh-CN" sz="2000" b="0" dirty="0"/>
              <a:t>0</a:t>
            </a:r>
            <a:r>
              <a:rPr lang="zh-CN" altLang="en-US" sz="2000" b="0" dirty="0"/>
              <a:t>？</a:t>
            </a:r>
            <a:endParaRPr lang="zh-CN" altLang="en-US" sz="2000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9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8" grpId="0" bldLvl="0" animBg="1"/>
      <p:bldP spid="195594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xfrm>
            <a:off x="538163" y="685800"/>
            <a:ext cx="7423150" cy="914400"/>
          </a:xfrm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b="0" dirty="0"/>
              <a:t>2、在</a:t>
            </a:r>
            <a:r>
              <a:rPr lang="en-US" altLang="zh-CN" b="0" dirty="0"/>
              <a:t>switch</a:t>
            </a:r>
            <a:r>
              <a:rPr lang="zh-CN" altLang="en-US" b="0" dirty="0"/>
              <a:t>中不使用</a:t>
            </a:r>
            <a:r>
              <a:rPr lang="en-US" altLang="zh-CN" b="0" dirty="0"/>
              <a:t>break</a:t>
            </a:r>
            <a:endParaRPr lang="zh-CN" altLang="en-US" b="0" dirty="0"/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304800" y="1752600"/>
            <a:ext cx="6553200" cy="3733800"/>
          </a:xfrm>
        </p:spPr>
        <p:txBody>
          <a:bodyPr vert="horz" wrap="square" lIns="91440" tIns="45720" rIns="91440" bIns="45720" anchor="t" anchorCtr="0"/>
          <a:p>
            <a:pPr lvl="1" algn="just" eaLnBrk="1" hangingPunct="1">
              <a:spcBef>
                <a:spcPct val="50000"/>
              </a:spcBef>
              <a:buNone/>
            </a:pPr>
            <a:r>
              <a:rPr lang="en-US" altLang="zh-CN" b="0" dirty="0"/>
              <a:t>switch(</a:t>
            </a:r>
            <a:r>
              <a:rPr lang="zh-CN" altLang="en-US" b="0" dirty="0"/>
              <a:t>表达式){ </a:t>
            </a:r>
            <a:endParaRPr lang="zh-CN" altLang="en-US" b="0" dirty="0"/>
          </a:p>
          <a:p>
            <a:pPr lvl="1" algn="just" eaLnBrk="1" hangingPunct="1">
              <a:buNone/>
            </a:pPr>
            <a:r>
              <a:rPr lang="en-US" altLang="zh-CN" b="0" dirty="0"/>
              <a:t>    case </a:t>
            </a:r>
            <a:r>
              <a:rPr lang="zh-CN" altLang="en-US" b="0" dirty="0">
                <a:solidFill>
                  <a:srgbClr val="CC0066"/>
                </a:solidFill>
              </a:rPr>
              <a:t>常量表达式1</a:t>
            </a:r>
            <a:r>
              <a:rPr lang="zh-CN" altLang="en-US" b="0" dirty="0"/>
              <a:t>：语句段1;</a:t>
            </a:r>
            <a:endParaRPr lang="en-US" altLang="zh-CN" b="0" dirty="0"/>
          </a:p>
          <a:p>
            <a:pPr lvl="1" algn="just" eaLnBrk="1" hangingPunct="1">
              <a:buNone/>
            </a:pPr>
            <a:r>
              <a:rPr lang="zh-CN" altLang="en-US" b="0" dirty="0"/>
              <a:t>    </a:t>
            </a:r>
            <a:r>
              <a:rPr lang="en-US" altLang="zh-CN" b="0" dirty="0"/>
              <a:t>case </a:t>
            </a:r>
            <a:r>
              <a:rPr lang="zh-CN" altLang="en-US" b="0" dirty="0">
                <a:solidFill>
                  <a:srgbClr val="CC0066"/>
                </a:solidFill>
              </a:rPr>
              <a:t>常量表达式2</a:t>
            </a:r>
            <a:r>
              <a:rPr lang="zh-CN" altLang="en-US" b="0" dirty="0"/>
              <a:t>：语句段2;</a:t>
            </a:r>
            <a:endParaRPr lang="zh-CN" altLang="en-US" b="0" dirty="0"/>
          </a:p>
          <a:p>
            <a:pPr lvl="1" algn="just" eaLnBrk="1" hangingPunct="1">
              <a:buNone/>
            </a:pPr>
            <a:r>
              <a:rPr lang="zh-CN" altLang="en-US" b="0" dirty="0"/>
              <a:t>        ....…</a:t>
            </a:r>
            <a:endParaRPr lang="zh-CN" altLang="en-US" b="0" dirty="0"/>
          </a:p>
          <a:p>
            <a:pPr lvl="1" algn="just" eaLnBrk="1" hangingPunct="1">
              <a:buNone/>
            </a:pPr>
            <a:r>
              <a:rPr lang="zh-CN" altLang="en-US" b="0" dirty="0"/>
              <a:t>    </a:t>
            </a:r>
            <a:r>
              <a:rPr lang="en-US" altLang="zh-CN" b="0" dirty="0"/>
              <a:t>case </a:t>
            </a:r>
            <a:r>
              <a:rPr lang="zh-CN" altLang="en-US" b="0" dirty="0">
                <a:solidFill>
                  <a:srgbClr val="CC0066"/>
                </a:solidFill>
              </a:rPr>
              <a:t>常量表达式</a:t>
            </a:r>
            <a:r>
              <a:rPr lang="en-US" altLang="zh-CN" b="0" dirty="0">
                <a:solidFill>
                  <a:srgbClr val="CC0066"/>
                </a:solidFill>
              </a:rPr>
              <a:t>n</a:t>
            </a:r>
            <a:r>
              <a:rPr lang="zh-CN" altLang="en-US" b="0" dirty="0"/>
              <a:t>：语句段</a:t>
            </a:r>
            <a:r>
              <a:rPr lang="en-US" altLang="zh-CN" b="0" dirty="0"/>
              <a:t>n</a:t>
            </a:r>
            <a:r>
              <a:rPr lang="zh-CN" altLang="en-US" b="0" dirty="0"/>
              <a:t>;</a:t>
            </a:r>
            <a:endParaRPr lang="zh-CN" altLang="en-US" b="0" dirty="0"/>
          </a:p>
          <a:p>
            <a:pPr lvl="1" algn="just" eaLnBrk="1" hangingPunct="1">
              <a:buNone/>
            </a:pPr>
            <a:r>
              <a:rPr lang="zh-CN" altLang="en-US" b="0" dirty="0"/>
              <a:t>    </a:t>
            </a:r>
            <a:r>
              <a:rPr lang="en-US" altLang="zh-CN" b="0" dirty="0"/>
              <a:t>default ：              </a:t>
            </a:r>
            <a:r>
              <a:rPr lang="zh-CN" altLang="en-US" b="0" dirty="0"/>
              <a:t>语句段</a:t>
            </a:r>
            <a:r>
              <a:rPr lang="en-US" altLang="zh-CN" b="0" dirty="0"/>
              <a:t>n+1</a:t>
            </a:r>
            <a:r>
              <a:rPr lang="zh-CN" altLang="en-US" b="0" dirty="0"/>
              <a:t>;</a:t>
            </a:r>
            <a:endParaRPr lang="zh-CN" altLang="en-US" b="0" dirty="0"/>
          </a:p>
          <a:p>
            <a:pPr lvl="1" algn="just" eaLnBrk="1" hangingPunct="1">
              <a:buNone/>
            </a:pPr>
            <a:r>
              <a:rPr lang="zh-CN" altLang="en-US" b="0" dirty="0"/>
              <a:t>}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Grp="1"/>
          </p:cNvSpPr>
          <p:nvPr>
            <p:ph idx="1"/>
          </p:nvPr>
        </p:nvSpPr>
        <p:spPr>
          <a:xfrm>
            <a:off x="152400" y="188913"/>
            <a:ext cx="5140325" cy="2763837"/>
          </a:xfrm>
          <a:ln>
            <a:solidFill>
              <a:schemeClr val="tx1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switch(</a:t>
            </a:r>
            <a:r>
              <a:rPr lang="zh-CN" altLang="en-US" sz="2400" b="0" dirty="0"/>
              <a:t>表达式){ </a:t>
            </a:r>
            <a:endParaRPr lang="zh-CN" altLang="en-US" sz="2400" b="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case </a:t>
            </a:r>
            <a:r>
              <a:rPr lang="zh-CN" altLang="en-US" sz="2400" b="0" dirty="0">
                <a:solidFill>
                  <a:srgbClr val="CC0066"/>
                </a:solidFill>
              </a:rPr>
              <a:t>常量表达式1</a:t>
            </a:r>
            <a:r>
              <a:rPr lang="zh-CN" altLang="en-US" sz="2400" b="0" dirty="0"/>
              <a:t>：语句段1;</a:t>
            </a:r>
            <a:endParaRPr lang="en-US" altLang="zh-CN" sz="2400" b="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    </a:t>
            </a:r>
            <a:r>
              <a:rPr lang="en-US" altLang="zh-CN" sz="2400" b="0" dirty="0"/>
              <a:t>case </a:t>
            </a:r>
            <a:r>
              <a:rPr lang="zh-CN" altLang="en-US" sz="2400" b="0" dirty="0">
                <a:solidFill>
                  <a:srgbClr val="CC0066"/>
                </a:solidFill>
              </a:rPr>
              <a:t>常量表达式2</a:t>
            </a:r>
            <a:r>
              <a:rPr lang="zh-CN" altLang="en-US" sz="2400" b="0" dirty="0"/>
              <a:t>：语句段2;</a:t>
            </a:r>
            <a:endParaRPr lang="zh-CN" altLang="en-US" sz="2400" b="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        ....…</a:t>
            </a:r>
            <a:endParaRPr lang="zh-CN" altLang="en-US" sz="2400" b="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    </a:t>
            </a:r>
            <a:r>
              <a:rPr lang="en-US" altLang="zh-CN" sz="2400" b="0" dirty="0"/>
              <a:t>case </a:t>
            </a:r>
            <a:r>
              <a:rPr lang="zh-CN" altLang="en-US" sz="2400" b="0" dirty="0">
                <a:solidFill>
                  <a:srgbClr val="CC0066"/>
                </a:solidFill>
              </a:rPr>
              <a:t>常量表达式</a:t>
            </a:r>
            <a:r>
              <a:rPr lang="en-US" altLang="zh-CN" sz="2400" b="0" dirty="0">
                <a:solidFill>
                  <a:srgbClr val="CC0066"/>
                </a:solidFill>
              </a:rPr>
              <a:t>n</a:t>
            </a:r>
            <a:r>
              <a:rPr lang="zh-CN" altLang="en-US" sz="2400" b="0" dirty="0"/>
              <a:t>：语句段</a:t>
            </a:r>
            <a:r>
              <a:rPr lang="en-US" altLang="zh-CN" sz="2400" b="0" dirty="0"/>
              <a:t>n</a:t>
            </a:r>
            <a:r>
              <a:rPr lang="zh-CN" altLang="en-US" sz="2400" b="0" dirty="0"/>
              <a:t>;</a:t>
            </a:r>
            <a:endParaRPr lang="zh-CN" altLang="en-US" sz="2400" b="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    </a:t>
            </a:r>
            <a:r>
              <a:rPr lang="en-US" altLang="zh-CN" sz="2400" b="0" dirty="0"/>
              <a:t>default ：              </a:t>
            </a:r>
            <a:r>
              <a:rPr lang="zh-CN" altLang="en-US" sz="2400" b="0" dirty="0"/>
              <a:t>语句段</a:t>
            </a:r>
            <a:r>
              <a:rPr lang="en-US" altLang="zh-CN" sz="2400" b="0" dirty="0"/>
              <a:t>n+1</a:t>
            </a:r>
            <a:r>
              <a:rPr lang="zh-CN" altLang="en-US" sz="2400" b="0" dirty="0"/>
              <a:t>;</a:t>
            </a:r>
            <a:endParaRPr lang="zh-CN" altLang="en-US" sz="2400" b="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}</a:t>
            </a:r>
            <a:endParaRPr lang="zh-CN" altLang="en-US" sz="2400" b="0" dirty="0"/>
          </a:p>
        </p:txBody>
      </p:sp>
      <p:sp>
        <p:nvSpPr>
          <p:cNvPr id="36867" name="Rectangle 34"/>
          <p:cNvSpPr/>
          <p:nvPr/>
        </p:nvSpPr>
        <p:spPr>
          <a:xfrm>
            <a:off x="5410200" y="222250"/>
            <a:ext cx="3505200" cy="2614930"/>
          </a:xfrm>
          <a:prstGeom prst="rect">
            <a:avLst/>
          </a:prstGeom>
          <a:noFill/>
          <a:ln w="9525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en-US" altLang="zh-CN" sz="2000" b="0" dirty="0">
                <a:ea typeface="Arial Unicode MS" pitchFamily="34" charset="-122"/>
              </a:rPr>
              <a:t>switch (choice) {</a:t>
            </a:r>
            <a:endParaRPr lang="en-US" altLang="zh-CN" sz="2000" b="0" dirty="0">
              <a:ea typeface="Arial Unicode MS" pitchFamily="34" charset="-122"/>
            </a:endParaRPr>
          </a:p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en-US" altLang="zh-CN" sz="2000" b="0" dirty="0">
                <a:ea typeface="Arial Unicode MS" pitchFamily="34" charset="-122"/>
              </a:rPr>
              <a:t>    case </a:t>
            </a:r>
            <a:r>
              <a:rPr lang="en-US" altLang="zh-CN" sz="2000" b="0" dirty="0">
                <a:solidFill>
                  <a:srgbClr val="CC0066"/>
                </a:solidFill>
                <a:ea typeface="Arial Unicode MS" pitchFamily="34" charset="-122"/>
              </a:rPr>
              <a:t>1</a:t>
            </a:r>
            <a:r>
              <a:rPr lang="en-US" altLang="zh-CN" sz="2000" b="0" dirty="0">
                <a:ea typeface="Arial Unicode MS" pitchFamily="34" charset="-122"/>
              </a:rPr>
              <a:t>: price=3.0;</a:t>
            </a:r>
            <a:endParaRPr lang="en-US" altLang="zh-CN" sz="2000" b="0" dirty="0">
              <a:ea typeface="Arial Unicode MS" pitchFamily="34" charset="-122"/>
            </a:endParaRPr>
          </a:p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zh-CN" altLang="en-US" sz="2000" b="0" dirty="0">
                <a:ea typeface="Arial Unicode MS" pitchFamily="34" charset="-122"/>
              </a:rPr>
              <a:t>    </a:t>
            </a:r>
            <a:r>
              <a:rPr lang="en-US" altLang="zh-CN" sz="2000" b="0" dirty="0">
                <a:ea typeface="Arial Unicode MS" pitchFamily="34" charset="-122"/>
              </a:rPr>
              <a:t>case </a:t>
            </a:r>
            <a:r>
              <a:rPr lang="en-US" altLang="zh-CN" sz="2000" b="0" dirty="0">
                <a:solidFill>
                  <a:srgbClr val="CC0066"/>
                </a:solidFill>
                <a:ea typeface="Arial Unicode MS" pitchFamily="34" charset="-122"/>
              </a:rPr>
              <a:t>2</a:t>
            </a:r>
            <a:r>
              <a:rPr lang="en-US" altLang="zh-CN" sz="2000" b="0" dirty="0">
                <a:ea typeface="Arial Unicode MS" pitchFamily="34" charset="-122"/>
              </a:rPr>
              <a:t>: price=2.5;</a:t>
            </a:r>
            <a:endParaRPr lang="en-US" altLang="zh-CN" sz="2000" b="0" dirty="0">
              <a:ea typeface="Arial Unicode MS" pitchFamily="34" charset="-122"/>
            </a:endParaRPr>
          </a:p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en-US" altLang="zh-CN" sz="2000" b="0" dirty="0">
                <a:ea typeface="Arial Unicode MS" pitchFamily="34" charset="-122"/>
              </a:rPr>
              <a:t>    case </a:t>
            </a:r>
            <a:r>
              <a:rPr lang="en-US" altLang="zh-CN" sz="2000" b="0" dirty="0">
                <a:solidFill>
                  <a:srgbClr val="CC0066"/>
                </a:solidFill>
                <a:ea typeface="Arial Unicode MS" pitchFamily="34" charset="-122"/>
              </a:rPr>
              <a:t>3</a:t>
            </a:r>
            <a:r>
              <a:rPr lang="en-US" altLang="zh-CN" sz="2000" b="0" dirty="0">
                <a:ea typeface="Arial Unicode MS" pitchFamily="34" charset="-122"/>
              </a:rPr>
              <a:t>: price=4.0;</a:t>
            </a:r>
            <a:endParaRPr lang="en-US" altLang="zh-CN" sz="2000" b="0" dirty="0">
              <a:ea typeface="Arial Unicode MS" pitchFamily="34" charset="-122"/>
            </a:endParaRPr>
          </a:p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en-US" altLang="zh-CN" sz="2000" b="0" dirty="0">
                <a:ea typeface="Arial Unicode MS" pitchFamily="34" charset="-122"/>
              </a:rPr>
              <a:t>    case </a:t>
            </a:r>
            <a:r>
              <a:rPr lang="en-US" altLang="zh-CN" sz="2000" b="0" dirty="0">
                <a:solidFill>
                  <a:srgbClr val="CC0066"/>
                </a:solidFill>
                <a:ea typeface="Arial Unicode MS" pitchFamily="34" charset="-122"/>
              </a:rPr>
              <a:t>4</a:t>
            </a:r>
            <a:r>
              <a:rPr lang="en-US" altLang="zh-CN" sz="2000" b="0" dirty="0">
                <a:ea typeface="Arial Unicode MS" pitchFamily="34" charset="-122"/>
              </a:rPr>
              <a:t>: price=3.5;</a:t>
            </a:r>
            <a:endParaRPr lang="en-US" altLang="zh-CN" sz="2000" b="0" dirty="0">
              <a:ea typeface="Arial Unicode MS" pitchFamily="34" charset="-122"/>
            </a:endParaRPr>
          </a:p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en-US" altLang="zh-CN" sz="2000" b="0" dirty="0">
                <a:ea typeface="Arial Unicode MS" pitchFamily="34" charset="-122"/>
              </a:rPr>
              <a:t>    default: price=0.0;</a:t>
            </a:r>
            <a:endParaRPr lang="en-US" altLang="zh-CN" sz="2000" b="0" dirty="0">
              <a:ea typeface="Arial Unicode MS" pitchFamily="34" charset="-122"/>
            </a:endParaRPr>
          </a:p>
          <a:p>
            <a:pPr marL="0" lvl="0" indent="0" algn="just" eaLnBrk="1" hangingPunct="1">
              <a:buClr>
                <a:schemeClr val="accent2"/>
              </a:buClr>
              <a:buSzTx/>
              <a:buNone/>
            </a:pPr>
            <a:r>
              <a:rPr lang="en-US" altLang="zh-CN" sz="2000" b="0" dirty="0">
                <a:ea typeface="Arial Unicode MS" pitchFamily="34" charset="-122"/>
              </a:rPr>
              <a:t>}</a:t>
            </a:r>
            <a:endParaRPr lang="en-US" altLang="zh-CN" sz="2000" b="0" dirty="0">
              <a:ea typeface="Arial Unicode MS" pitchFamily="34" charset="-122"/>
            </a:endParaRPr>
          </a:p>
        </p:txBody>
      </p:sp>
      <p:grpSp>
        <p:nvGrpSpPr>
          <p:cNvPr id="36868" name="Group 35"/>
          <p:cNvGrpSpPr/>
          <p:nvPr/>
        </p:nvGrpSpPr>
        <p:grpSpPr>
          <a:xfrm>
            <a:off x="1295400" y="3048000"/>
            <a:ext cx="6248400" cy="3124200"/>
            <a:chOff x="1800" y="6588"/>
            <a:chExt cx="7065" cy="3797"/>
          </a:xfrm>
        </p:grpSpPr>
        <p:sp>
          <p:nvSpPr>
            <p:cNvPr id="36870" name="Rectangle 36"/>
            <p:cNvSpPr/>
            <p:nvPr/>
          </p:nvSpPr>
          <p:spPr>
            <a:xfrm>
              <a:off x="3300" y="7210"/>
              <a:ext cx="3150" cy="48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表达式的值=常量表达式 2 的值</a:t>
              </a:r>
              <a:endParaRPr lang="zh-CN" altLang="en-US" sz="1400" b="0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6871" name="Rectangle 37"/>
            <p:cNvSpPr/>
            <p:nvPr/>
          </p:nvSpPr>
          <p:spPr>
            <a:xfrm>
              <a:off x="2160" y="7808"/>
              <a:ext cx="540" cy="124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表达式</a:t>
              </a:r>
              <a:endParaRPr lang="zh-CN" altLang="en-US" sz="1400" b="0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6872" name="Rectangle 38"/>
            <p:cNvSpPr/>
            <p:nvPr/>
          </p:nvSpPr>
          <p:spPr>
            <a:xfrm>
              <a:off x="6840" y="6776"/>
              <a:ext cx="1260" cy="489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语句段1</a:t>
              </a:r>
              <a:endParaRPr lang="zh-CN" altLang="en-US" sz="1400" b="0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6873" name="Line 39"/>
            <p:cNvSpPr/>
            <p:nvPr/>
          </p:nvSpPr>
          <p:spPr>
            <a:xfrm>
              <a:off x="1800" y="8336"/>
              <a:ext cx="36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74" name="Rectangle 40"/>
            <p:cNvSpPr/>
            <p:nvPr/>
          </p:nvSpPr>
          <p:spPr>
            <a:xfrm>
              <a:off x="6840" y="7556"/>
              <a:ext cx="1260" cy="489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语句段2</a:t>
              </a:r>
              <a:endParaRPr lang="zh-CN" altLang="en-US" sz="1400" b="0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6875" name="Rectangle 41"/>
            <p:cNvSpPr/>
            <p:nvPr/>
          </p:nvSpPr>
          <p:spPr>
            <a:xfrm>
              <a:off x="6840" y="9084"/>
              <a:ext cx="1260" cy="489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语句段</a:t>
              </a:r>
              <a:r>
                <a:rPr lang="en-US" altLang="zh-CN" sz="1400" b="0" dirty="0">
                  <a:latin typeface="Times New Roman" pitchFamily="18" charset="0"/>
                  <a:ea typeface="楷体_GB2312" pitchFamily="49" charset="-122"/>
                </a:rPr>
                <a:t>n</a:t>
              </a:r>
              <a:endParaRPr lang="en-US" altLang="zh-CN" sz="1400" b="0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6876" name="Rectangle 42"/>
            <p:cNvSpPr/>
            <p:nvPr/>
          </p:nvSpPr>
          <p:spPr>
            <a:xfrm>
              <a:off x="6840" y="9896"/>
              <a:ext cx="1440" cy="489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语句段</a:t>
              </a:r>
              <a:r>
                <a:rPr lang="en-US" altLang="zh-CN" sz="1400" b="0" dirty="0">
                  <a:latin typeface="Times New Roman" pitchFamily="18" charset="0"/>
                  <a:ea typeface="楷体_GB2312" pitchFamily="49" charset="-122"/>
                </a:rPr>
                <a:t>n+1</a:t>
              </a:r>
              <a:endParaRPr lang="en-US" altLang="zh-CN" sz="1400" b="0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6877" name="Line 43"/>
            <p:cNvSpPr/>
            <p:nvPr/>
          </p:nvSpPr>
          <p:spPr>
            <a:xfrm>
              <a:off x="7560" y="7244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78" name="Line 44"/>
            <p:cNvSpPr/>
            <p:nvPr/>
          </p:nvSpPr>
          <p:spPr>
            <a:xfrm>
              <a:off x="7560" y="9584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79" name="Line 45"/>
            <p:cNvSpPr/>
            <p:nvPr/>
          </p:nvSpPr>
          <p:spPr>
            <a:xfrm>
              <a:off x="8340" y="10187"/>
              <a:ext cx="52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80" name="Line 46"/>
            <p:cNvSpPr/>
            <p:nvPr/>
          </p:nvSpPr>
          <p:spPr>
            <a:xfrm>
              <a:off x="7560" y="8024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81" name="Line 47"/>
            <p:cNvSpPr/>
            <p:nvPr/>
          </p:nvSpPr>
          <p:spPr>
            <a:xfrm>
              <a:off x="7560" y="8804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82" name="Rectangle 48"/>
            <p:cNvSpPr/>
            <p:nvPr/>
          </p:nvSpPr>
          <p:spPr>
            <a:xfrm>
              <a:off x="3300" y="6588"/>
              <a:ext cx="3540" cy="48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表达式</a:t>
              </a:r>
              <a:r>
                <a:rPr lang="zh-CN" altLang="en-US" sz="1400" b="0" dirty="0">
                  <a:latin typeface="宋体" pitchFamily="2" charset="-122"/>
                </a:rPr>
                <a:t>的值=</a:t>
              </a: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常量表达式 1 </a:t>
              </a:r>
              <a:r>
                <a:rPr lang="zh-CN" altLang="en-US" sz="1400" b="0" dirty="0">
                  <a:latin typeface="宋体" pitchFamily="2" charset="-122"/>
                </a:rPr>
                <a:t>的值</a:t>
              </a:r>
              <a:endParaRPr lang="zh-CN" altLang="en-US" sz="1400" b="0" dirty="0">
                <a:latin typeface="宋体" pitchFamily="2" charset="-122"/>
              </a:endParaRPr>
            </a:p>
          </p:txBody>
        </p:sp>
        <p:sp>
          <p:nvSpPr>
            <p:cNvPr id="36883" name="Line 49"/>
            <p:cNvSpPr/>
            <p:nvPr/>
          </p:nvSpPr>
          <p:spPr>
            <a:xfrm>
              <a:off x="3195" y="7077"/>
              <a:ext cx="367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84" name="Line 50"/>
            <p:cNvSpPr/>
            <p:nvPr/>
          </p:nvSpPr>
          <p:spPr>
            <a:xfrm>
              <a:off x="3195" y="7699"/>
              <a:ext cx="367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85" name="Rectangle 51"/>
            <p:cNvSpPr/>
            <p:nvPr/>
          </p:nvSpPr>
          <p:spPr>
            <a:xfrm>
              <a:off x="3300" y="8765"/>
              <a:ext cx="3150" cy="48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表达式的值=常量表达式 </a:t>
              </a:r>
              <a:r>
                <a:rPr lang="en-US" altLang="zh-CN" sz="1400" b="0" dirty="0">
                  <a:latin typeface="Times New Roman" pitchFamily="18" charset="0"/>
                  <a:ea typeface="楷体_GB2312" pitchFamily="49" charset="-122"/>
                </a:rPr>
                <a:t>n </a:t>
              </a: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的值</a:t>
              </a:r>
              <a:endParaRPr lang="zh-CN" altLang="en-US" sz="1400" b="0" dirty="0">
                <a:latin typeface="宋体" pitchFamily="2" charset="-122"/>
              </a:endParaRPr>
            </a:p>
          </p:txBody>
        </p:sp>
        <p:sp>
          <p:nvSpPr>
            <p:cNvPr id="36886" name="Line 52"/>
            <p:cNvSpPr/>
            <p:nvPr/>
          </p:nvSpPr>
          <p:spPr>
            <a:xfrm>
              <a:off x="3195" y="9254"/>
              <a:ext cx="367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87" name="Rectangle 53"/>
            <p:cNvSpPr/>
            <p:nvPr/>
          </p:nvSpPr>
          <p:spPr>
            <a:xfrm>
              <a:off x="3300" y="9565"/>
              <a:ext cx="3150" cy="48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2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latin typeface="Times New Roman" pitchFamily="18" charset="0"/>
                  <a:ea typeface="楷体_GB2312" pitchFamily="49" charset="-122"/>
                </a:rPr>
                <a:t>其他</a:t>
              </a:r>
              <a:endParaRPr lang="zh-CN" altLang="en-US" sz="1400" b="0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6888" name="Line 54"/>
            <p:cNvSpPr/>
            <p:nvPr/>
          </p:nvSpPr>
          <p:spPr>
            <a:xfrm>
              <a:off x="3195" y="10187"/>
              <a:ext cx="367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89" name="Line 55"/>
            <p:cNvSpPr/>
            <p:nvPr/>
          </p:nvSpPr>
          <p:spPr>
            <a:xfrm>
              <a:off x="3195" y="7077"/>
              <a:ext cx="0" cy="311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0" name="Line 56"/>
            <p:cNvSpPr/>
            <p:nvPr/>
          </p:nvSpPr>
          <p:spPr>
            <a:xfrm>
              <a:off x="2670" y="8321"/>
              <a:ext cx="52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53658" name="Rectangle 58"/>
          <p:cNvSpPr/>
          <p:nvPr/>
        </p:nvSpPr>
        <p:spPr>
          <a:xfrm>
            <a:off x="7380288" y="2924175"/>
            <a:ext cx="1295400" cy="40068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price=?</a:t>
            </a:r>
            <a:endParaRPr lang="en-US" altLang="zh-CN" sz="2400" b="0" dirty="0">
              <a:latin typeface="宋体" pitchFamily="2" charset="-122"/>
              <a:ea typeface="Arial Unicode MS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8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Grp="1"/>
          </p:cNvSpPr>
          <p:nvPr>
            <p:ph type="title"/>
          </p:nvPr>
        </p:nvSpPr>
        <p:spPr>
          <a:xfrm>
            <a:off x="395288" y="549275"/>
            <a:ext cx="8435975" cy="100806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3、在</a:t>
            </a:r>
            <a:r>
              <a:rPr lang="en-US" altLang="zh-CN" b="0" dirty="0"/>
              <a:t>switch</a:t>
            </a:r>
            <a:r>
              <a:rPr lang="zh-CN" altLang="en-US" b="0" dirty="0"/>
              <a:t>的某些语句段中使用</a:t>
            </a:r>
            <a:r>
              <a:rPr lang="en-US" altLang="zh-CN" b="0" dirty="0"/>
              <a:t>break</a:t>
            </a:r>
            <a:endParaRPr lang="zh-CN" altLang="en-US" b="0" dirty="0"/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457200" y="2373313"/>
            <a:ext cx="8147050" cy="1271587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spcBef>
                <a:spcPct val="50000"/>
              </a:spcBef>
              <a:buNone/>
            </a:pPr>
            <a:r>
              <a:rPr lang="zh-CN" altLang="en-US" b="0" dirty="0">
                <a:ea typeface="黑体" pitchFamily="49" charset="-122"/>
              </a:rPr>
              <a:t>例3-</a:t>
            </a:r>
            <a:r>
              <a:rPr lang="en-US" altLang="zh-CN" b="0" dirty="0">
                <a:ea typeface="黑体" pitchFamily="49" charset="-122"/>
              </a:rPr>
              <a:t>6 </a:t>
            </a:r>
            <a:r>
              <a:rPr lang="zh-CN" altLang="en-US" b="0" dirty="0">
                <a:latin typeface="宋体" pitchFamily="2" charset="-122"/>
              </a:rPr>
              <a:t>输入</a:t>
            </a:r>
            <a:r>
              <a:rPr lang="zh-CN" altLang="en-US" b="0" dirty="0">
                <a:ea typeface="Arial Unicode MS" pitchFamily="34" charset="-122"/>
              </a:rPr>
              <a:t>10</a:t>
            </a:r>
            <a:r>
              <a:rPr lang="zh-CN" altLang="en-US" b="0" dirty="0">
                <a:latin typeface="宋体" pitchFamily="2" charset="-122"/>
              </a:rPr>
              <a:t>个字符，分别统计出其中空格或回车、数字和其他字符的个数。</a:t>
            </a:r>
            <a:endParaRPr lang="zh-CN" altLang="en-US" b="0" dirty="0">
              <a:ea typeface="Arial Unicode MS" pitchFamily="34" charset="-122"/>
            </a:endParaRPr>
          </a:p>
        </p:txBody>
      </p:sp>
      <p:sp>
        <p:nvSpPr>
          <p:cNvPr id="37892" name="Rectangle 4"/>
          <p:cNvSpPr/>
          <p:nvPr/>
        </p:nvSpPr>
        <p:spPr>
          <a:xfrm>
            <a:off x="755650" y="4149725"/>
            <a:ext cx="7643813" cy="8655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buClr>
                <a:schemeClr val="accent2"/>
              </a:buClr>
              <a:buSzTx/>
              <a:buFontTx/>
              <a:buNone/>
            </a:pPr>
            <a:r>
              <a:rPr lang="zh-CN" altLang="en-US" sz="2800" b="0" dirty="0"/>
              <a:t>例</a:t>
            </a:r>
            <a:r>
              <a:rPr lang="en-US" altLang="zh-CN" sz="2800" b="0" dirty="0"/>
              <a:t>3-1 </a:t>
            </a:r>
            <a:r>
              <a:rPr lang="zh-CN" altLang="en-US" sz="2800" b="0" dirty="0"/>
              <a:t>输入10个字符，统计其中英文字母、数字字符和其他字符的个数。</a:t>
            </a:r>
            <a:endParaRPr lang="zh-CN" altLang="en-US" sz="2800" b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3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int main(void)</a:t>
            </a:r>
            <a:endParaRPr lang="en-US" altLang="zh-CN" sz="2000" b="0" dirty="0"/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{  int blank, digit, i, other;</a:t>
            </a:r>
            <a:r>
              <a:rPr lang="sv-SE" altLang="zh-CN" sz="2000" b="0" dirty="0"/>
              <a:t>  char ch;                          </a:t>
            </a:r>
            <a:endParaRPr lang="sv-SE" altLang="zh-CN" sz="2000" b="0" dirty="0"/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sv-SE" altLang="zh-CN" sz="2000" b="0" dirty="0"/>
              <a:t>   blank = digit = other = 0; </a:t>
            </a:r>
            <a:endParaRPr lang="sv-SE" altLang="zh-CN" sz="2000" b="0" dirty="0"/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sv-SE" altLang="zh-CN" sz="2000" b="0" dirty="0"/>
              <a:t>   </a:t>
            </a:r>
            <a:r>
              <a:rPr lang="en-US" altLang="zh-CN" sz="2000" b="0" dirty="0"/>
              <a:t>printf("Enter 10 characters: ");</a:t>
            </a:r>
            <a:endParaRPr lang="en-US" altLang="zh-CN" sz="2000" b="0" dirty="0"/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</a:t>
            </a:r>
            <a:r>
              <a:rPr lang="en-US" altLang="zh-CN" sz="2000" b="0" dirty="0">
                <a:solidFill>
                  <a:schemeClr val="bg2"/>
                </a:solidFill>
              </a:rPr>
              <a:t>for(i = 1; i &lt;= 10; i++)</a:t>
            </a:r>
            <a:r>
              <a:rPr lang="en-US" altLang="zh-CN" sz="2000" b="0" dirty="0"/>
              <a:t>{</a:t>
            </a:r>
            <a:endParaRPr lang="en-US" altLang="zh-CN" sz="2000" b="0" dirty="0"/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ch = getchar();</a:t>
            </a:r>
            <a:endParaRPr lang="en-US" altLang="zh-CN" sz="2000" b="0" dirty="0"/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</a:t>
            </a:r>
            <a:r>
              <a:rPr lang="en-US" altLang="zh-CN" sz="2000" b="0" dirty="0">
                <a:solidFill>
                  <a:srgbClr val="CC0066"/>
                </a:solidFill>
              </a:rPr>
              <a:t>switch (ch){</a:t>
            </a:r>
            <a:endParaRPr lang="en-US" altLang="zh-CN" sz="2000" b="0" dirty="0">
              <a:solidFill>
                <a:srgbClr val="CC0066"/>
              </a:solidFill>
            </a:endParaRPr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case ' ' :  </a:t>
            </a:r>
            <a:endParaRPr lang="en-US" altLang="zh-CN" sz="2000" b="0" dirty="0"/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case '\n':                 </a:t>
            </a:r>
            <a:endParaRPr lang="en-US" altLang="zh-CN" sz="2000" b="0" dirty="0"/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    blank ++;</a:t>
            </a:r>
            <a:endParaRPr lang="en-US" altLang="zh-CN" sz="2000" b="0" dirty="0"/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    break; </a:t>
            </a:r>
            <a:endParaRPr lang="en-US" altLang="zh-CN" sz="2000" b="0" dirty="0"/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case '0' : case '1' : case '2' : case '3' : case '4' :</a:t>
            </a:r>
            <a:endParaRPr lang="en-US" altLang="zh-CN" sz="2000" b="0" dirty="0"/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case '5' : case '6' : case '7' : case '8' : case '9' :  </a:t>
            </a:r>
            <a:endParaRPr lang="en-US" altLang="zh-CN" sz="2000" b="0" dirty="0"/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    digit ++; </a:t>
            </a:r>
            <a:endParaRPr lang="en-US" altLang="zh-CN" sz="2000" b="0" dirty="0"/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    break;</a:t>
            </a:r>
            <a:endParaRPr lang="en-US" altLang="zh-CN" sz="2000" b="0" dirty="0"/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default:</a:t>
            </a:r>
            <a:endParaRPr lang="en-US" altLang="zh-CN" sz="2000" b="0" dirty="0"/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    other ++;</a:t>
            </a:r>
            <a:endParaRPr lang="en-US" altLang="zh-CN" sz="2000" b="0" dirty="0"/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        break;</a:t>
            </a:r>
            <a:endParaRPr lang="en-US" altLang="zh-CN" sz="2000" b="0" dirty="0"/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    </a:t>
            </a:r>
            <a:r>
              <a:rPr lang="en-US" altLang="zh-CN" sz="2000" b="0" dirty="0">
                <a:solidFill>
                  <a:srgbClr val="CC0066"/>
                </a:solidFill>
              </a:rPr>
              <a:t>}</a:t>
            </a:r>
            <a:r>
              <a:rPr lang="en-US" altLang="zh-CN" sz="2000" b="0" dirty="0"/>
              <a:t>   </a:t>
            </a:r>
            <a:endParaRPr lang="en-US" altLang="zh-CN" sz="2000" b="0" dirty="0"/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</a:t>
            </a:r>
            <a:r>
              <a:rPr lang="en-US" altLang="zh-CN" sz="2000" b="0" dirty="0">
                <a:solidFill>
                  <a:schemeClr val="bg2"/>
                </a:solidFill>
              </a:rPr>
              <a:t>}</a:t>
            </a:r>
            <a:endParaRPr lang="en-US" altLang="zh-CN" sz="2000" b="0" dirty="0">
              <a:solidFill>
                <a:schemeClr val="bg2"/>
              </a:solidFill>
            </a:endParaRPr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printf("blank=%d, digit=%d, other=%d\n", blank, digit, other);</a:t>
            </a:r>
            <a:endParaRPr lang="en-US" altLang="zh-CN" sz="2000" b="0" dirty="0"/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   return 0;</a:t>
            </a:r>
            <a:endParaRPr lang="en-US" altLang="zh-CN" sz="2000" b="0" dirty="0"/>
          </a:p>
          <a:p>
            <a:pPr lvl="1" eaLnBrk="1" hangingPunct="1">
              <a:lnSpc>
                <a:spcPct val="80000"/>
              </a:lnSpc>
              <a:spcBef>
                <a:spcPct val="15000"/>
              </a:spcBef>
              <a:buNone/>
            </a:pPr>
            <a:r>
              <a:rPr lang="en-US" altLang="zh-CN" sz="2000" b="0" dirty="0"/>
              <a:t>}</a:t>
            </a:r>
            <a:endParaRPr lang="en-US" altLang="zh-CN" sz="2000" b="0" dirty="0"/>
          </a:p>
        </p:txBody>
      </p:sp>
      <p:sp>
        <p:nvSpPr>
          <p:cNvPr id="155653" name="Rectangle 5"/>
          <p:cNvSpPr/>
          <p:nvPr/>
        </p:nvSpPr>
        <p:spPr>
          <a:xfrm>
            <a:off x="3851275" y="1700213"/>
            <a:ext cx="4114800" cy="110680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>
                <a:ea typeface="Arial Unicode MS" pitchFamily="34" charset="-122"/>
              </a:rPr>
              <a:t>Enter 10 characters: </a:t>
            </a:r>
            <a:r>
              <a:rPr lang="en-US" altLang="zh-CN" sz="2000" b="0" dirty="0">
                <a:solidFill>
                  <a:srgbClr val="CC0066"/>
                </a:solidFill>
                <a:ea typeface="Arial Unicode MS" pitchFamily="34" charset="-122"/>
              </a:rPr>
              <a:t>Reold 123?</a:t>
            </a:r>
            <a:endParaRPr lang="en-US" altLang="zh-CN" sz="2000" b="0" dirty="0">
              <a:solidFill>
                <a:srgbClr val="CC0066"/>
              </a:solidFill>
              <a:ea typeface="Arial Unicode MS" pitchFamily="34" charset="-122"/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/>
              <a:t>blank=1, digit=3, other=6</a:t>
            </a:r>
            <a:endParaRPr lang="en-US" altLang="zh-CN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3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xfrm>
            <a:off x="395288" y="692150"/>
            <a:ext cx="7210425" cy="609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3.3 分支结构程序设计 </a:t>
            </a:r>
            <a:endParaRPr lang="zh-CN" altLang="en-US" b="0" dirty="0"/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>
          <a:xfrm>
            <a:off x="273050" y="1608138"/>
            <a:ext cx="8763000" cy="3692525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spcBef>
                <a:spcPct val="50000"/>
              </a:spcBef>
            </a:pPr>
            <a:r>
              <a:rPr lang="zh-CN" altLang="en-US" b="0" dirty="0"/>
              <a:t>分支结构一般分为二分支和多分支两种结构</a:t>
            </a:r>
            <a:endParaRPr lang="zh-CN" altLang="en-US" b="0" dirty="0"/>
          </a:p>
          <a:p>
            <a:pPr algn="just" eaLnBrk="1" hangingPunct="1">
              <a:spcBef>
                <a:spcPct val="50000"/>
              </a:spcBef>
            </a:pPr>
            <a:r>
              <a:rPr lang="zh-CN" altLang="en-US" b="0" dirty="0"/>
              <a:t>用条件语句（</a:t>
            </a:r>
            <a:r>
              <a:rPr lang="en-US" altLang="zh-CN" b="0" dirty="0"/>
              <a:t>if </a:t>
            </a:r>
            <a:r>
              <a:rPr lang="zh-CN" altLang="en-US" b="0" dirty="0"/>
              <a:t>和 </a:t>
            </a:r>
            <a:r>
              <a:rPr lang="en-US" altLang="zh-CN" b="0" dirty="0"/>
              <a:t>switch）</a:t>
            </a:r>
            <a:r>
              <a:rPr lang="zh-CN" altLang="en-US" b="0" dirty="0"/>
              <a:t>实现选择</a:t>
            </a:r>
            <a:endParaRPr lang="zh-CN" altLang="en-US" b="0" dirty="0"/>
          </a:p>
          <a:p>
            <a:pPr algn="just" eaLnBrk="1" hangingPunct="1">
              <a:spcBef>
                <a:spcPct val="50000"/>
              </a:spcBef>
              <a:buNone/>
            </a:pPr>
            <a:endParaRPr lang="zh-CN" altLang="en-US" b="0" dirty="0"/>
          </a:p>
          <a:p>
            <a:pPr algn="just" eaLnBrk="1" hangingPunct="1">
              <a:spcBef>
                <a:spcPct val="50000"/>
              </a:spcBef>
              <a:buNone/>
            </a:pPr>
            <a:r>
              <a:rPr lang="zh-CN" altLang="en-US" b="0" dirty="0"/>
              <a:t>3.3.1  二分支结构和基本的 </a:t>
            </a:r>
            <a:r>
              <a:rPr lang="en-US" altLang="zh-CN" b="0" dirty="0"/>
              <a:t>if </a:t>
            </a:r>
            <a:r>
              <a:rPr lang="zh-CN" altLang="en-US" b="0" dirty="0"/>
              <a:t>语句</a:t>
            </a:r>
            <a:endParaRPr lang="zh-CN" altLang="en-US" b="0" dirty="0"/>
          </a:p>
          <a:p>
            <a:pPr algn="just" eaLnBrk="1" hangingPunct="1">
              <a:spcBef>
                <a:spcPct val="50000"/>
              </a:spcBef>
              <a:buNone/>
            </a:pPr>
            <a:r>
              <a:rPr lang="zh-CN" altLang="en-US" b="0" dirty="0"/>
              <a:t>3.3.2  多分支结构与嵌套的 </a:t>
            </a:r>
            <a:r>
              <a:rPr lang="en-US" altLang="zh-CN" b="0" dirty="0"/>
              <a:t>if </a:t>
            </a:r>
            <a:r>
              <a:rPr lang="zh-CN" altLang="en-US" b="0" dirty="0"/>
              <a:t>语句和</a:t>
            </a:r>
            <a:r>
              <a:rPr lang="en-US" altLang="zh-CN" b="0" dirty="0"/>
              <a:t>switch</a:t>
            </a:r>
            <a:r>
              <a:rPr lang="zh-CN" altLang="en-US" b="0" dirty="0"/>
              <a:t>语句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435975" cy="8874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3.3.1 二分支结构和基本的 </a:t>
            </a:r>
            <a:r>
              <a:rPr lang="en-US" altLang="zh-CN" b="0" dirty="0"/>
              <a:t>if </a:t>
            </a:r>
            <a:r>
              <a:rPr lang="zh-CN" altLang="en-US" b="0" dirty="0"/>
              <a:t>语句</a:t>
            </a:r>
            <a:endParaRPr lang="zh-CN" altLang="en-US" b="0" dirty="0"/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>
          <a:xfrm>
            <a:off x="838200" y="1371600"/>
            <a:ext cx="3505200" cy="2209800"/>
          </a:xfrm>
        </p:spPr>
        <p:txBody>
          <a:bodyPr vert="horz" wrap="square" lIns="91440" tIns="45720" rIns="91440" bIns="45720" anchor="t" anchorCtr="0"/>
          <a:p>
            <a:pPr marL="952500" lvl="1" algn="just" eaLnBrk="1" hangingPunct="1">
              <a:buClr>
                <a:schemeClr val="tx2"/>
              </a:buClr>
              <a:buFontTx/>
              <a:buNone/>
            </a:pPr>
            <a:r>
              <a:rPr lang="en-US" altLang="zh-CN" b="0" dirty="0">
                <a:ea typeface="Arial Unicode MS" pitchFamily="34" charset="-122"/>
              </a:rPr>
              <a:t>if (</a:t>
            </a:r>
            <a:r>
              <a:rPr lang="zh-CN" altLang="en-US" b="0" dirty="0">
                <a:ea typeface="Arial Unicode MS" pitchFamily="34" charset="-122"/>
              </a:rPr>
              <a:t>表达式)</a:t>
            </a:r>
            <a:endParaRPr lang="zh-CN" altLang="en-US" b="0" dirty="0">
              <a:ea typeface="Arial Unicode MS" pitchFamily="34" charset="-122"/>
            </a:endParaRPr>
          </a:p>
          <a:p>
            <a:pPr marL="952500" lvl="1" algn="just" eaLnBrk="1" hangingPunct="1">
              <a:buClr>
                <a:schemeClr val="tx2"/>
              </a:buClr>
              <a:buFontTx/>
              <a:buNone/>
            </a:pPr>
            <a:r>
              <a:rPr lang="en-US" altLang="zh-CN" b="0" dirty="0">
                <a:ea typeface="Arial Unicode MS" pitchFamily="34" charset="-122"/>
              </a:rPr>
              <a:t>    </a:t>
            </a:r>
            <a:r>
              <a:rPr lang="zh-CN" altLang="en-US" b="0" dirty="0">
                <a:ea typeface="Arial Unicode MS" pitchFamily="34" charset="-122"/>
              </a:rPr>
              <a:t>语句1</a:t>
            </a:r>
            <a:endParaRPr lang="en-US" altLang="zh-CN" b="0" dirty="0">
              <a:ea typeface="Arial Unicode MS" pitchFamily="34" charset="-122"/>
            </a:endParaRPr>
          </a:p>
          <a:p>
            <a:pPr marL="952500" lvl="1" algn="just" eaLnBrk="1" hangingPunct="1">
              <a:buClr>
                <a:schemeClr val="tx2"/>
              </a:buClr>
              <a:buFontTx/>
              <a:buNone/>
            </a:pPr>
            <a:r>
              <a:rPr lang="en-US" altLang="zh-CN" b="0" dirty="0">
                <a:ea typeface="Arial Unicode MS" pitchFamily="34" charset="-122"/>
              </a:rPr>
              <a:t>else</a:t>
            </a:r>
            <a:endParaRPr lang="en-US" altLang="zh-CN" b="0" dirty="0">
              <a:ea typeface="Arial Unicode MS" pitchFamily="34" charset="-122"/>
            </a:endParaRPr>
          </a:p>
          <a:p>
            <a:pPr marL="952500" lvl="1" algn="just" eaLnBrk="1" hangingPunct="1">
              <a:buClr>
                <a:schemeClr val="tx2"/>
              </a:buClr>
              <a:buFontTx/>
              <a:buNone/>
            </a:pPr>
            <a:r>
              <a:rPr lang="en-US" altLang="zh-CN" b="0" dirty="0">
                <a:ea typeface="Arial Unicode MS" pitchFamily="34" charset="-122"/>
              </a:rPr>
              <a:t>    </a:t>
            </a:r>
            <a:r>
              <a:rPr lang="zh-CN" altLang="en-US" b="0" dirty="0">
                <a:ea typeface="Arial Unicode MS" pitchFamily="34" charset="-122"/>
              </a:rPr>
              <a:t>语句2</a:t>
            </a:r>
            <a:endParaRPr lang="zh-CN" altLang="en-US" b="0" dirty="0">
              <a:ea typeface="Arial Unicode MS" pitchFamily="34" charset="-122"/>
            </a:endParaRPr>
          </a:p>
        </p:txBody>
      </p:sp>
      <p:sp>
        <p:nvSpPr>
          <p:cNvPr id="158724" name="Rectangle 4"/>
          <p:cNvSpPr/>
          <p:nvPr/>
        </p:nvSpPr>
        <p:spPr>
          <a:xfrm>
            <a:off x="4724400" y="1600200"/>
            <a:ext cx="3733800" cy="1295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52500" lvl="1" indent="-285750" algn="just" eaLnBrk="1" hangingPunct="1">
              <a:buClr>
                <a:schemeClr val="tx2"/>
              </a:buClr>
              <a:buSzTx/>
              <a:buFontTx/>
              <a:buNone/>
            </a:pPr>
            <a:r>
              <a:rPr lang="en-US" altLang="zh-CN" b="0" dirty="0">
                <a:ea typeface="Arial Unicode MS" pitchFamily="34" charset="-122"/>
              </a:rPr>
              <a:t>if (</a:t>
            </a:r>
            <a:r>
              <a:rPr lang="zh-CN" altLang="en-US" b="0" dirty="0">
                <a:ea typeface="Arial Unicode MS" pitchFamily="34" charset="-122"/>
              </a:rPr>
              <a:t>表达式)</a:t>
            </a:r>
            <a:endParaRPr lang="zh-CN" altLang="en-US" b="0" dirty="0">
              <a:ea typeface="Arial Unicode MS" pitchFamily="34" charset="-122"/>
            </a:endParaRPr>
          </a:p>
          <a:p>
            <a:pPr marL="952500" lvl="1" indent="-285750" algn="just" eaLnBrk="1" hangingPunct="1">
              <a:buClr>
                <a:schemeClr val="tx2"/>
              </a:buClr>
              <a:buSzTx/>
              <a:buFontTx/>
              <a:buNone/>
            </a:pPr>
            <a:r>
              <a:rPr lang="en-US" altLang="zh-CN" b="0" dirty="0">
                <a:ea typeface="Arial Unicode MS" pitchFamily="34" charset="-122"/>
              </a:rPr>
              <a:t>    </a:t>
            </a:r>
            <a:r>
              <a:rPr lang="zh-CN" altLang="en-US" b="0" dirty="0">
                <a:ea typeface="Arial Unicode MS" pitchFamily="34" charset="-122"/>
              </a:rPr>
              <a:t>语句1</a:t>
            </a:r>
            <a:endParaRPr lang="en-US" altLang="zh-CN" b="0" dirty="0">
              <a:ea typeface="Arial Unicode MS" pitchFamily="34" charset="-122"/>
            </a:endParaRPr>
          </a:p>
        </p:txBody>
      </p:sp>
      <p:grpSp>
        <p:nvGrpSpPr>
          <p:cNvPr id="40965" name="Group 5"/>
          <p:cNvGrpSpPr/>
          <p:nvPr/>
        </p:nvGrpSpPr>
        <p:grpSpPr>
          <a:xfrm>
            <a:off x="228600" y="3505200"/>
            <a:ext cx="4267200" cy="2971800"/>
            <a:chOff x="1728" y="2112"/>
            <a:chExt cx="2688" cy="1872"/>
          </a:xfrm>
        </p:grpSpPr>
        <p:sp>
          <p:nvSpPr>
            <p:cNvPr id="40981" name="Line 6"/>
            <p:cNvSpPr/>
            <p:nvPr/>
          </p:nvSpPr>
          <p:spPr>
            <a:xfrm>
              <a:off x="3024" y="2112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82" name="AutoShape 7"/>
            <p:cNvSpPr/>
            <p:nvPr/>
          </p:nvSpPr>
          <p:spPr>
            <a:xfrm>
              <a:off x="2352" y="2496"/>
              <a:ext cx="1392" cy="432"/>
            </a:xfrm>
            <a:prstGeom prst="diamond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/>
            </a:p>
          </p:txBody>
        </p:sp>
        <p:sp>
          <p:nvSpPr>
            <p:cNvPr id="40983" name="Text Box 8"/>
            <p:cNvSpPr txBox="1"/>
            <p:nvPr/>
          </p:nvSpPr>
          <p:spPr>
            <a:xfrm>
              <a:off x="1728" y="3120"/>
              <a:ext cx="624" cy="25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0" dirty="0">
                  <a:latin typeface="Times New Roman" pitchFamily="18" charset="0"/>
                </a:rPr>
                <a:t>语句1</a:t>
              </a:r>
              <a:endParaRPr lang="zh-CN" altLang="en-US" sz="2000" b="0" dirty="0">
                <a:latin typeface="Times New Roman" pitchFamily="18" charset="0"/>
              </a:endParaRPr>
            </a:p>
          </p:txBody>
        </p:sp>
        <p:sp>
          <p:nvSpPr>
            <p:cNvPr id="40984" name="Text Box 9"/>
            <p:cNvSpPr txBox="1"/>
            <p:nvPr/>
          </p:nvSpPr>
          <p:spPr>
            <a:xfrm>
              <a:off x="2736" y="2592"/>
              <a:ext cx="67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0" dirty="0">
                  <a:latin typeface="Times New Roman" pitchFamily="18" charset="0"/>
                </a:rPr>
                <a:t>表达式</a:t>
              </a:r>
              <a:endParaRPr lang="zh-CN" altLang="en-US" sz="2000" b="0" dirty="0">
                <a:latin typeface="Times New Roman" pitchFamily="18" charset="0"/>
              </a:endParaRPr>
            </a:p>
          </p:txBody>
        </p:sp>
        <p:sp>
          <p:nvSpPr>
            <p:cNvPr id="40985" name="Text Box 10"/>
            <p:cNvSpPr txBox="1"/>
            <p:nvPr/>
          </p:nvSpPr>
          <p:spPr>
            <a:xfrm>
              <a:off x="3840" y="3120"/>
              <a:ext cx="576" cy="25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0" dirty="0">
                  <a:latin typeface="Times New Roman" pitchFamily="18" charset="0"/>
                </a:rPr>
                <a:t>语句2</a:t>
              </a:r>
              <a:endParaRPr lang="zh-CN" altLang="en-US" sz="2000" b="0" dirty="0">
                <a:latin typeface="Times New Roman" pitchFamily="18" charset="0"/>
              </a:endParaRPr>
            </a:p>
          </p:txBody>
        </p:sp>
        <p:sp>
          <p:nvSpPr>
            <p:cNvPr id="40986" name="Line 11"/>
            <p:cNvSpPr/>
            <p:nvPr/>
          </p:nvSpPr>
          <p:spPr>
            <a:xfrm>
              <a:off x="1968" y="2688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7" name="Line 12"/>
            <p:cNvSpPr/>
            <p:nvPr/>
          </p:nvSpPr>
          <p:spPr>
            <a:xfrm>
              <a:off x="1968" y="2688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88" name="Line 13"/>
            <p:cNvSpPr/>
            <p:nvPr/>
          </p:nvSpPr>
          <p:spPr>
            <a:xfrm>
              <a:off x="3744" y="2688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9" name="Line 14"/>
            <p:cNvSpPr/>
            <p:nvPr/>
          </p:nvSpPr>
          <p:spPr>
            <a:xfrm>
              <a:off x="4128" y="2688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90" name="Line 15"/>
            <p:cNvSpPr/>
            <p:nvPr/>
          </p:nvSpPr>
          <p:spPr>
            <a:xfrm>
              <a:off x="1968" y="340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1" name="Line 16"/>
            <p:cNvSpPr/>
            <p:nvPr/>
          </p:nvSpPr>
          <p:spPr>
            <a:xfrm>
              <a:off x="4128" y="340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2" name="Line 17"/>
            <p:cNvSpPr/>
            <p:nvPr/>
          </p:nvSpPr>
          <p:spPr>
            <a:xfrm>
              <a:off x="1968" y="3648"/>
              <a:ext cx="21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3" name="Line 18"/>
            <p:cNvSpPr/>
            <p:nvPr/>
          </p:nvSpPr>
          <p:spPr>
            <a:xfrm>
              <a:off x="3024" y="3648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94" name="Text Box 19"/>
            <p:cNvSpPr txBox="1"/>
            <p:nvPr/>
          </p:nvSpPr>
          <p:spPr>
            <a:xfrm>
              <a:off x="1968" y="2400"/>
              <a:ext cx="38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0" dirty="0">
                  <a:latin typeface="Times New Roman" pitchFamily="18" charset="0"/>
                </a:rPr>
                <a:t>真</a:t>
              </a:r>
              <a:endParaRPr lang="zh-CN" altLang="en-US" sz="2000" b="0" dirty="0">
                <a:latin typeface="Times New Roman" pitchFamily="18" charset="0"/>
              </a:endParaRPr>
            </a:p>
          </p:txBody>
        </p:sp>
        <p:sp>
          <p:nvSpPr>
            <p:cNvPr id="40995" name="Text Box 20"/>
            <p:cNvSpPr txBox="1"/>
            <p:nvPr/>
          </p:nvSpPr>
          <p:spPr>
            <a:xfrm>
              <a:off x="3840" y="2400"/>
              <a:ext cx="33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0" dirty="0">
                  <a:latin typeface="Times New Roman" pitchFamily="18" charset="0"/>
                </a:rPr>
                <a:t>假</a:t>
              </a:r>
              <a:endParaRPr lang="zh-CN" altLang="en-US" sz="2000" b="0" dirty="0">
                <a:latin typeface="Times New Roman" pitchFamily="18" charset="0"/>
              </a:endParaRPr>
            </a:p>
          </p:txBody>
        </p:sp>
      </p:grpSp>
      <p:grpSp>
        <p:nvGrpSpPr>
          <p:cNvPr id="3" name="Group 37"/>
          <p:cNvGrpSpPr/>
          <p:nvPr/>
        </p:nvGrpSpPr>
        <p:grpSpPr>
          <a:xfrm>
            <a:off x="4724400" y="3429000"/>
            <a:ext cx="3886200" cy="2971800"/>
            <a:chOff x="2976" y="2160"/>
            <a:chExt cx="2448" cy="1872"/>
          </a:xfrm>
        </p:grpSpPr>
        <p:sp>
          <p:nvSpPr>
            <p:cNvPr id="40968" name="Line 22"/>
            <p:cNvSpPr/>
            <p:nvPr/>
          </p:nvSpPr>
          <p:spPr>
            <a:xfrm>
              <a:off x="4272" y="2160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69" name="AutoShape 23"/>
            <p:cNvSpPr/>
            <p:nvPr/>
          </p:nvSpPr>
          <p:spPr>
            <a:xfrm>
              <a:off x="3600" y="2544"/>
              <a:ext cx="1392" cy="432"/>
            </a:xfrm>
            <a:prstGeom prst="diamond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/>
            </a:p>
          </p:txBody>
        </p:sp>
        <p:sp>
          <p:nvSpPr>
            <p:cNvPr id="40970" name="Text Box 24"/>
            <p:cNvSpPr txBox="1"/>
            <p:nvPr/>
          </p:nvSpPr>
          <p:spPr>
            <a:xfrm>
              <a:off x="2976" y="3168"/>
              <a:ext cx="624" cy="25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0" dirty="0">
                  <a:latin typeface="Times New Roman" pitchFamily="18" charset="0"/>
                </a:rPr>
                <a:t>语句1</a:t>
              </a:r>
              <a:endParaRPr lang="zh-CN" altLang="en-US" sz="2000" b="0" dirty="0">
                <a:latin typeface="Times New Roman" pitchFamily="18" charset="0"/>
              </a:endParaRPr>
            </a:p>
          </p:txBody>
        </p:sp>
        <p:sp>
          <p:nvSpPr>
            <p:cNvPr id="40971" name="Text Box 25"/>
            <p:cNvSpPr txBox="1"/>
            <p:nvPr/>
          </p:nvSpPr>
          <p:spPr>
            <a:xfrm>
              <a:off x="3984" y="2640"/>
              <a:ext cx="67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0" dirty="0">
                  <a:latin typeface="Times New Roman" pitchFamily="18" charset="0"/>
                </a:rPr>
                <a:t>表达式</a:t>
              </a:r>
              <a:endParaRPr lang="zh-CN" altLang="en-US" sz="2000" b="0" dirty="0">
                <a:latin typeface="Times New Roman" pitchFamily="18" charset="0"/>
              </a:endParaRPr>
            </a:p>
          </p:txBody>
        </p:sp>
        <p:sp>
          <p:nvSpPr>
            <p:cNvPr id="40972" name="Line 27"/>
            <p:cNvSpPr/>
            <p:nvPr/>
          </p:nvSpPr>
          <p:spPr>
            <a:xfrm>
              <a:off x="3216" y="273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3" name="Line 28"/>
            <p:cNvSpPr/>
            <p:nvPr/>
          </p:nvSpPr>
          <p:spPr>
            <a:xfrm>
              <a:off x="3216" y="2736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74" name="Line 29"/>
            <p:cNvSpPr/>
            <p:nvPr/>
          </p:nvSpPr>
          <p:spPr>
            <a:xfrm>
              <a:off x="4992" y="273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5" name="Line 31"/>
            <p:cNvSpPr/>
            <p:nvPr/>
          </p:nvSpPr>
          <p:spPr>
            <a:xfrm>
              <a:off x="3216" y="345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6" name="Line 32"/>
            <p:cNvSpPr/>
            <p:nvPr/>
          </p:nvSpPr>
          <p:spPr>
            <a:xfrm>
              <a:off x="5376" y="2736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7" name="Line 33"/>
            <p:cNvSpPr/>
            <p:nvPr/>
          </p:nvSpPr>
          <p:spPr>
            <a:xfrm>
              <a:off x="3216" y="3696"/>
              <a:ext cx="21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8" name="Line 34"/>
            <p:cNvSpPr/>
            <p:nvPr/>
          </p:nvSpPr>
          <p:spPr>
            <a:xfrm>
              <a:off x="4272" y="3696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79" name="Text Box 35"/>
            <p:cNvSpPr txBox="1"/>
            <p:nvPr/>
          </p:nvSpPr>
          <p:spPr>
            <a:xfrm>
              <a:off x="3216" y="2448"/>
              <a:ext cx="38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0" dirty="0">
                  <a:latin typeface="Times New Roman" pitchFamily="18" charset="0"/>
                </a:rPr>
                <a:t>真</a:t>
              </a:r>
              <a:endParaRPr lang="zh-CN" altLang="en-US" sz="2000" b="0" dirty="0">
                <a:latin typeface="Times New Roman" pitchFamily="18" charset="0"/>
              </a:endParaRPr>
            </a:p>
          </p:txBody>
        </p:sp>
        <p:sp>
          <p:nvSpPr>
            <p:cNvPr id="40980" name="Text Box 36"/>
            <p:cNvSpPr txBox="1"/>
            <p:nvPr/>
          </p:nvSpPr>
          <p:spPr>
            <a:xfrm>
              <a:off x="5088" y="2448"/>
              <a:ext cx="33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0" dirty="0">
                  <a:latin typeface="Times New Roman" pitchFamily="18" charset="0"/>
                </a:rPr>
                <a:t>假</a:t>
              </a:r>
              <a:endParaRPr lang="zh-CN" altLang="en-US" sz="2000" b="0" dirty="0">
                <a:latin typeface="Times New Roman" pitchFamily="18" charset="0"/>
              </a:endParaRPr>
            </a:p>
          </p:txBody>
        </p:sp>
      </p:grpSp>
      <p:sp>
        <p:nvSpPr>
          <p:cNvPr id="158758" name="Rectangle 38"/>
          <p:cNvSpPr/>
          <p:nvPr/>
        </p:nvSpPr>
        <p:spPr>
          <a:xfrm>
            <a:off x="3734435" y="2438400"/>
            <a:ext cx="1402080" cy="40068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zh-CN" altLang="en-US" sz="2400" b="0" dirty="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一条语句</a:t>
            </a:r>
            <a:endParaRPr lang="zh-CN" altLang="en-US" sz="2400" b="0" dirty="0">
              <a:solidFill>
                <a:schemeClr val="bg2"/>
              </a:solidFill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8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8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4" grpId="0"/>
      <p:bldP spid="15875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xfrm>
            <a:off x="619125" y="571500"/>
            <a:ext cx="6049963" cy="9144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判断数字的奇偶性</a:t>
            </a:r>
            <a:endParaRPr lang="zh-CN" altLang="en-US" b="0" dirty="0"/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26035" y="1828800"/>
            <a:ext cx="8867140" cy="13843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b="0" dirty="0">
                <a:ea typeface="黑体" pitchFamily="49" charset="-122"/>
              </a:rPr>
              <a:t>例3-</a:t>
            </a:r>
            <a:r>
              <a:rPr lang="en-US" altLang="zh-CN" b="0" dirty="0">
                <a:ea typeface="黑体" pitchFamily="49" charset="-122"/>
              </a:rPr>
              <a:t>7 </a:t>
            </a:r>
            <a:r>
              <a:rPr lang="zh-CN" altLang="en-US" b="0" dirty="0"/>
              <a:t>输入</a:t>
            </a:r>
            <a:r>
              <a:rPr lang="en-US" altLang="zh-CN" b="0" dirty="0"/>
              <a:t>1</a:t>
            </a:r>
            <a:r>
              <a:rPr lang="zh-CN" altLang="en-US" b="0" dirty="0"/>
              <a:t>个整数，判断该数是奇数还是偶数。</a:t>
            </a:r>
            <a:endParaRPr lang="en-US" altLang="zh-CN" b="0" dirty="0"/>
          </a:p>
        </p:txBody>
      </p:sp>
      <p:sp>
        <p:nvSpPr>
          <p:cNvPr id="161796" name="Rectangle 4"/>
          <p:cNvSpPr/>
          <p:nvPr/>
        </p:nvSpPr>
        <p:spPr>
          <a:xfrm>
            <a:off x="2627313" y="3305175"/>
            <a:ext cx="38163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accent2"/>
              </a:buClr>
              <a:buSzPct val="80000"/>
              <a:buNone/>
            </a:pPr>
            <a:r>
              <a:rPr lang="en-US" altLang="zh-CN" sz="2800" b="0" dirty="0"/>
              <a:t>number % 2 == 0</a:t>
            </a:r>
            <a:endParaRPr lang="en-US" altLang="zh-CN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2555875" y="189230"/>
            <a:ext cx="6553200" cy="609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源程序</a:t>
            </a:r>
            <a:r>
              <a:rPr lang="en-US" altLang="zh-CN" b="0" dirty="0"/>
              <a:t>-</a:t>
            </a:r>
            <a:r>
              <a:rPr lang="zh-CN" altLang="en-US" b="0" dirty="0"/>
              <a:t>判断数字的奇偶性</a:t>
            </a:r>
            <a:endParaRPr lang="zh-CN" altLang="en-US" b="0" dirty="0"/>
          </a:p>
        </p:txBody>
      </p:sp>
      <p:sp>
        <p:nvSpPr>
          <p:cNvPr id="43011" name="Rectangle 3"/>
          <p:cNvSpPr>
            <a:spLocks noGrp="1"/>
          </p:cNvSpPr>
          <p:nvPr>
            <p:ph idx="1"/>
          </p:nvPr>
        </p:nvSpPr>
        <p:spPr>
          <a:xfrm>
            <a:off x="250825" y="765810"/>
            <a:ext cx="6939280" cy="56388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b="0" dirty="0"/>
              <a:t>#include &lt;stdio.h&gt; 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int main(void)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{   int number;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    printf("Enter a number: ");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    scanf("%d", &amp;number);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    if(number % 2 == 0){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        printf("The number is even. \n");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    }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    else{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        printf("The number is odd. \n");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    }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    return 0;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}</a:t>
            </a:r>
            <a:endParaRPr lang="zh-CN" altLang="en-US" sz="2400" b="0" dirty="0"/>
          </a:p>
        </p:txBody>
      </p:sp>
      <p:sp>
        <p:nvSpPr>
          <p:cNvPr id="159748" name="Rectangle 4"/>
          <p:cNvSpPr/>
          <p:nvPr/>
        </p:nvSpPr>
        <p:spPr>
          <a:xfrm>
            <a:off x="6011863" y="4221163"/>
            <a:ext cx="2808287" cy="101473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Enter a number: </a:t>
            </a:r>
            <a:r>
              <a:rPr lang="en-US" altLang="zh-CN" sz="2000" b="0" dirty="0">
                <a:solidFill>
                  <a:srgbClr val="CC0066"/>
                </a:solidFill>
              </a:rPr>
              <a:t>329</a:t>
            </a:r>
            <a:r>
              <a:rPr lang="en-US" altLang="zh-CN" sz="2000" b="0" dirty="0"/>
              <a:t> </a:t>
            </a:r>
            <a:endParaRPr lang="en-US" altLang="zh-CN" sz="20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The number is odd.</a:t>
            </a:r>
            <a:endParaRPr lang="en-US" altLang="zh-CN" sz="2000" b="0" dirty="0"/>
          </a:p>
        </p:txBody>
      </p:sp>
      <p:sp>
        <p:nvSpPr>
          <p:cNvPr id="159750" name="Rectangle 6"/>
          <p:cNvSpPr/>
          <p:nvPr/>
        </p:nvSpPr>
        <p:spPr>
          <a:xfrm>
            <a:off x="5797550" y="2422525"/>
            <a:ext cx="3095625" cy="70675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Enter a number: </a:t>
            </a:r>
            <a:r>
              <a:rPr lang="en-US" altLang="zh-CN" sz="2000" b="0" dirty="0">
                <a:solidFill>
                  <a:srgbClr val="CC0066"/>
                </a:solidFill>
              </a:rPr>
              <a:t>1028</a:t>
            </a:r>
            <a:endParaRPr lang="en-US" altLang="zh-CN" sz="20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The number is even.</a:t>
            </a:r>
            <a:endParaRPr lang="en-US" altLang="zh-CN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8" grpId="0" bldLvl="0" animBg="1"/>
      <p:bldP spid="159750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619125" y="571500"/>
            <a:ext cx="6049963" cy="9144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求绝对值</a:t>
            </a:r>
            <a:endParaRPr lang="zh-CN" altLang="en-US" b="0" dirty="0"/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533400" y="1828800"/>
            <a:ext cx="8070850" cy="808038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b="0" dirty="0">
                <a:ea typeface="黑体" pitchFamily="49" charset="-122"/>
              </a:rPr>
              <a:t>例3-</a:t>
            </a:r>
            <a:r>
              <a:rPr lang="en-US" altLang="zh-CN" b="0" dirty="0">
                <a:ea typeface="黑体" pitchFamily="49" charset="-122"/>
              </a:rPr>
              <a:t>8   </a:t>
            </a:r>
            <a:r>
              <a:rPr lang="zh-CN" altLang="en-US" b="0" dirty="0"/>
              <a:t>输入</a:t>
            </a:r>
            <a:r>
              <a:rPr lang="en-US" altLang="zh-CN" b="0" dirty="0"/>
              <a:t>1</a:t>
            </a:r>
            <a:r>
              <a:rPr lang="zh-CN" altLang="en-US" b="0" dirty="0"/>
              <a:t>个整数，输出它的绝对值 。</a:t>
            </a:r>
            <a:endParaRPr lang="en-US" altLang="zh-CN" b="0" dirty="0"/>
          </a:p>
        </p:txBody>
      </p:sp>
      <p:sp>
        <p:nvSpPr>
          <p:cNvPr id="197636" name="Rectangle 4"/>
          <p:cNvSpPr/>
          <p:nvPr/>
        </p:nvSpPr>
        <p:spPr>
          <a:xfrm>
            <a:off x="755650" y="3500438"/>
            <a:ext cx="6911975" cy="10388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accent2"/>
              </a:buClr>
              <a:buSzPct val="80000"/>
              <a:buNone/>
            </a:pPr>
            <a:r>
              <a:rPr lang="zh-CN" altLang="en-US" sz="2800" b="0" dirty="0"/>
              <a:t>当</a:t>
            </a:r>
            <a:r>
              <a:rPr lang="en-US" altLang="zh-CN" sz="2800" b="0" dirty="0"/>
              <a:t>number &lt; 0</a:t>
            </a:r>
            <a:r>
              <a:rPr lang="zh-CN" altLang="en-US" sz="2800" b="0" dirty="0"/>
              <a:t>时，</a:t>
            </a:r>
            <a:r>
              <a:rPr lang="en-US" altLang="zh-CN" sz="2800" b="0" dirty="0"/>
              <a:t>number = -number;</a:t>
            </a:r>
            <a:endParaRPr lang="en-US" altLang="zh-CN" sz="2800" b="0" dirty="0"/>
          </a:p>
          <a:p>
            <a:pPr marL="0" lvl="0" indent="0" eaLnBrk="1" hangingPunct="1">
              <a:buClr>
                <a:schemeClr val="accent2"/>
              </a:buClr>
              <a:buSzPct val="80000"/>
              <a:buNone/>
            </a:pPr>
            <a:r>
              <a:rPr lang="zh-CN" altLang="en-US" sz="2800" b="0" dirty="0"/>
              <a:t>当</a:t>
            </a:r>
            <a:r>
              <a:rPr lang="en-US" altLang="zh-CN" sz="2800" b="0" dirty="0"/>
              <a:t>number &gt;= 0</a:t>
            </a:r>
            <a:r>
              <a:rPr lang="zh-CN" altLang="en-US" sz="2800" b="0" dirty="0"/>
              <a:t>时，</a:t>
            </a:r>
            <a:r>
              <a:rPr lang="en-US" altLang="zh-CN" sz="2800" b="0" dirty="0">
                <a:solidFill>
                  <a:srgbClr val="CC0066"/>
                </a:solidFill>
              </a:rPr>
              <a:t>?</a:t>
            </a:r>
            <a:endParaRPr lang="en-US" altLang="zh-CN" sz="2800" b="0" dirty="0">
              <a:solidFill>
                <a:srgbClr val="CC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7636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>
                                            <p:txEl>
                                              <p:charRg st="31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7636">
                                            <p:txEl>
                                              <p:charRg st="31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6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/>
          </p:cNvSpPr>
          <p:nvPr>
            <p:ph type="title"/>
          </p:nvPr>
        </p:nvSpPr>
        <p:spPr>
          <a:xfrm>
            <a:off x="4429125" y="476250"/>
            <a:ext cx="4464050" cy="609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源程序</a:t>
            </a:r>
            <a:r>
              <a:rPr lang="en-US" altLang="zh-CN" b="0" dirty="0"/>
              <a:t>-</a:t>
            </a:r>
            <a:r>
              <a:rPr lang="zh-CN" altLang="en-US" b="0" dirty="0"/>
              <a:t>求绝对值</a:t>
            </a:r>
            <a:endParaRPr lang="zh-CN" altLang="en-US" b="0" dirty="0"/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>
          <a:xfrm>
            <a:off x="250825" y="836613"/>
            <a:ext cx="7634288" cy="4897437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b="0" dirty="0"/>
              <a:t>#include &lt;stdio.h&gt; 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int main(void)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{  int number;       		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    printf("Enter a number: ");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    scanf("%d", &amp;number);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    if(number &lt; 0){  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       number = -number;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    }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    printf("The absolute value is %d.\n", number);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    return 0;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400" b="0" dirty="0"/>
              <a:t>}</a:t>
            </a:r>
            <a:endParaRPr lang="zh-CN" altLang="en-US" sz="2400" b="0" dirty="0"/>
          </a:p>
        </p:txBody>
      </p:sp>
      <p:sp>
        <p:nvSpPr>
          <p:cNvPr id="198660" name="Rectangle 4"/>
          <p:cNvSpPr/>
          <p:nvPr/>
        </p:nvSpPr>
        <p:spPr>
          <a:xfrm>
            <a:off x="5003800" y="1484313"/>
            <a:ext cx="3330575" cy="70675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Enter a number:  </a:t>
            </a:r>
            <a:r>
              <a:rPr lang="en-US" altLang="zh-CN" sz="2000" b="0" dirty="0">
                <a:solidFill>
                  <a:srgbClr val="CC0066"/>
                </a:solidFill>
              </a:rPr>
              <a:t>10</a:t>
            </a:r>
            <a:r>
              <a:rPr lang="en-US" altLang="zh-CN" sz="2000" b="0" dirty="0"/>
              <a:t> </a:t>
            </a:r>
            <a:endParaRPr lang="en-US" altLang="zh-CN" sz="20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The absolute value is 10.</a:t>
            </a:r>
            <a:endParaRPr lang="en-US" altLang="zh-CN" sz="2000" b="0" dirty="0"/>
          </a:p>
        </p:txBody>
      </p:sp>
      <p:sp>
        <p:nvSpPr>
          <p:cNvPr id="198661" name="Rectangle 5"/>
          <p:cNvSpPr/>
          <p:nvPr/>
        </p:nvSpPr>
        <p:spPr>
          <a:xfrm>
            <a:off x="4932363" y="2997200"/>
            <a:ext cx="3671887" cy="70675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Enter a number:  </a:t>
            </a:r>
            <a:r>
              <a:rPr lang="en-US" altLang="zh-CN" sz="2000" b="0" dirty="0">
                <a:solidFill>
                  <a:srgbClr val="CC0066"/>
                </a:solidFill>
              </a:rPr>
              <a:t>-300</a:t>
            </a:r>
            <a:r>
              <a:rPr lang="en-US" altLang="zh-CN" sz="2000" b="0" dirty="0"/>
              <a:t> </a:t>
            </a:r>
            <a:endParaRPr lang="en-US" altLang="zh-CN" sz="20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The absolute value is 300.</a:t>
            </a:r>
            <a:endParaRPr lang="en-US" altLang="zh-CN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0" grpId="0" bldLvl="0" animBg="1"/>
      <p:bldP spid="198661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/>
          </p:cNvSpPr>
          <p:nvPr>
            <p:ph type="title"/>
          </p:nvPr>
        </p:nvSpPr>
        <p:spPr>
          <a:xfrm>
            <a:off x="323850" y="692150"/>
            <a:ext cx="8520113" cy="12557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b="0" dirty="0"/>
              <a:t>3.3.2 多分支结构与嵌套的 </a:t>
            </a:r>
            <a:r>
              <a:rPr lang="en-US" altLang="zh-CN" sz="4000" b="0" dirty="0"/>
              <a:t>if </a:t>
            </a:r>
            <a:r>
              <a:rPr lang="zh-CN" altLang="en-US" sz="4000" b="0" dirty="0"/>
              <a:t>语句和</a:t>
            </a:r>
            <a:r>
              <a:rPr lang="en-US" altLang="zh-CN" sz="4000" b="0" dirty="0"/>
              <a:t>switch</a:t>
            </a:r>
            <a:r>
              <a:rPr lang="zh-CN" altLang="en-US" sz="4000" b="0" dirty="0"/>
              <a:t>语句</a:t>
            </a:r>
            <a:endParaRPr lang="zh-CN" altLang="en-US" sz="4000" b="0" dirty="0"/>
          </a:p>
        </p:txBody>
      </p:sp>
      <p:sp>
        <p:nvSpPr>
          <p:cNvPr id="163843" name="Rectangle 3"/>
          <p:cNvSpPr>
            <a:spLocks noGrp="1"/>
          </p:cNvSpPr>
          <p:nvPr>
            <p:ph idx="1"/>
          </p:nvPr>
        </p:nvSpPr>
        <p:spPr>
          <a:xfrm>
            <a:off x="468313" y="1989138"/>
            <a:ext cx="8064500" cy="4608512"/>
          </a:xfrm>
        </p:spPr>
        <p:txBody>
          <a:bodyPr vert="horz" wrap="square" lIns="91440" tIns="45720" rIns="91440" bIns="45720" anchor="t" anchorCtr="0"/>
          <a:p>
            <a:pPr marL="476250" indent="-476250" algn="just" eaLnBrk="1" hangingPunct="1">
              <a:spcBef>
                <a:spcPct val="50000"/>
              </a:spcBef>
              <a:buNone/>
            </a:pPr>
            <a:r>
              <a:rPr lang="zh-CN" altLang="en-US" b="0" dirty="0">
                <a:latin typeface="宋体" pitchFamily="2" charset="-122"/>
              </a:rPr>
              <a:t>多分支结构有多种形式</a:t>
            </a:r>
            <a:endParaRPr lang="zh-CN" altLang="en-US" b="0" dirty="0">
              <a:latin typeface="宋体" pitchFamily="2" charset="-122"/>
            </a:endParaRPr>
          </a:p>
          <a:p>
            <a:pPr marL="476250" indent="-476250" algn="just" eaLnBrk="1" hangingPunct="1">
              <a:spcBef>
                <a:spcPct val="50000"/>
              </a:spcBef>
              <a:buNone/>
            </a:pPr>
            <a:r>
              <a:rPr lang="zh-CN" altLang="en-US" b="0" dirty="0">
                <a:latin typeface="宋体" pitchFamily="2" charset="-122"/>
              </a:rPr>
              <a:t>实现方法:</a:t>
            </a:r>
            <a:endParaRPr lang="zh-CN" altLang="en-US" b="0" dirty="0">
              <a:latin typeface="宋体" pitchFamily="2" charset="-122"/>
            </a:endParaRPr>
          </a:p>
          <a:p>
            <a:pPr marL="476250" indent="-476250" algn="just" eaLnBrk="1" hangingPunct="1">
              <a:spcBef>
                <a:spcPct val="50000"/>
              </a:spcBef>
            </a:pPr>
            <a:r>
              <a:rPr lang="zh-CN" altLang="en-US" b="0" dirty="0">
                <a:latin typeface="宋体" pitchFamily="2" charset="-122"/>
              </a:rPr>
              <a:t>嵌套的</a:t>
            </a:r>
            <a:r>
              <a:rPr lang="zh-CN" altLang="en-US" b="0" dirty="0">
                <a:ea typeface="Arial Unicode MS" pitchFamily="34" charset="-122"/>
              </a:rPr>
              <a:t> </a:t>
            </a:r>
            <a:r>
              <a:rPr lang="en-US" altLang="zh-CN" b="0" dirty="0">
                <a:ea typeface="Arial Unicode MS" pitchFamily="34" charset="-122"/>
              </a:rPr>
              <a:t>if </a:t>
            </a:r>
            <a:r>
              <a:rPr lang="zh-CN" altLang="en-US" b="0" dirty="0">
                <a:latin typeface="宋体" pitchFamily="2" charset="-122"/>
              </a:rPr>
              <a:t>语句</a:t>
            </a:r>
            <a:endParaRPr lang="zh-CN" altLang="en-US" b="0" dirty="0">
              <a:latin typeface="宋体" pitchFamily="2" charset="-122"/>
            </a:endParaRPr>
          </a:p>
          <a:p>
            <a:pPr marL="952500" lvl="1" algn="just" eaLnBrk="1" hangingPunct="1">
              <a:spcBef>
                <a:spcPct val="50000"/>
              </a:spcBef>
            </a:pPr>
            <a:r>
              <a:rPr lang="zh-CN" altLang="en-US" b="0" dirty="0">
                <a:ea typeface="Arial Unicode MS" pitchFamily="34" charset="-122"/>
              </a:rPr>
              <a:t> </a:t>
            </a:r>
            <a:r>
              <a:rPr lang="en-US" altLang="zh-CN" b="0" dirty="0"/>
              <a:t>else – if </a:t>
            </a:r>
            <a:r>
              <a:rPr lang="zh-CN" altLang="en-US" b="0" dirty="0"/>
              <a:t>语句</a:t>
            </a:r>
            <a:endParaRPr lang="zh-CN" altLang="en-US" b="0" dirty="0"/>
          </a:p>
          <a:p>
            <a:pPr marL="952500" lvl="1" algn="just" eaLnBrk="1" hangingPunct="1">
              <a:spcBef>
                <a:spcPct val="50000"/>
              </a:spcBef>
            </a:pPr>
            <a:r>
              <a:rPr lang="zh-CN" altLang="en-US" b="0" dirty="0">
                <a:solidFill>
                  <a:schemeClr val="bg2"/>
                </a:solidFill>
              </a:rPr>
              <a:t>嵌套的 </a:t>
            </a:r>
            <a:r>
              <a:rPr lang="en-US" altLang="zh-CN" b="0" dirty="0">
                <a:solidFill>
                  <a:schemeClr val="bg2"/>
                </a:solidFill>
              </a:rPr>
              <a:t>if - else</a:t>
            </a:r>
            <a:r>
              <a:rPr lang="zh-CN" altLang="en-US" b="0" dirty="0">
                <a:solidFill>
                  <a:schemeClr val="bg2"/>
                </a:solidFill>
              </a:rPr>
              <a:t>语句</a:t>
            </a:r>
            <a:endParaRPr lang="zh-CN" altLang="en-US" b="0" dirty="0">
              <a:solidFill>
                <a:schemeClr val="bg2"/>
              </a:solidFill>
            </a:endParaRPr>
          </a:p>
          <a:p>
            <a:pPr marL="476250" indent="-476250" algn="just" eaLnBrk="1" hangingPunct="1">
              <a:spcBef>
                <a:spcPct val="50000"/>
              </a:spcBef>
            </a:pPr>
            <a:r>
              <a:rPr lang="en-US" altLang="zh-CN" b="0" dirty="0">
                <a:ea typeface="Arial Unicode MS" pitchFamily="34" charset="-122"/>
              </a:rPr>
              <a:t>switch</a:t>
            </a:r>
            <a:r>
              <a:rPr lang="zh-CN" altLang="en-US" b="0" dirty="0">
                <a:latin typeface="宋体" pitchFamily="2" charset="-122"/>
              </a:rPr>
              <a:t>语句</a:t>
            </a:r>
            <a:endParaRPr lang="zh-CN" altLang="en-US" b="0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43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43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charRg st="11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43">
                                            <p:txEl>
                                              <p:charRg st="11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43">
                                            <p:txEl>
                                              <p:charRg st="11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charRg st="1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43">
                                            <p:txEl>
                                              <p:charRg st="1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43">
                                            <p:txEl>
                                              <p:charRg st="1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charRg st="27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3843">
                                            <p:txEl>
                                              <p:charRg st="27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3843">
                                            <p:txEl>
                                              <p:charRg st="27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charRg st="41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3843">
                                            <p:txEl>
                                              <p:charRg st="41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3843">
                                            <p:txEl>
                                              <p:charRg st="41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charRg st="57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3843">
                                            <p:txEl>
                                              <p:charRg st="57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3843">
                                            <p:txEl>
                                              <p:charRg st="57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/>
          </p:cNvSpPr>
          <p:nvPr>
            <p:ph type="title"/>
          </p:nvPr>
        </p:nvSpPr>
        <p:spPr>
          <a:xfrm>
            <a:off x="1103313" y="457200"/>
            <a:ext cx="4598987" cy="1371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嵌套的 </a:t>
            </a:r>
            <a:r>
              <a:rPr lang="en-US" altLang="zh-CN" b="0" dirty="0"/>
              <a:t>if </a:t>
            </a:r>
            <a:r>
              <a:rPr lang="zh-CN" altLang="en-US" b="0" dirty="0">
                <a:latin typeface="宋体" pitchFamily="2" charset="-122"/>
              </a:rPr>
              <a:t>语句</a:t>
            </a:r>
            <a:endParaRPr lang="zh-CN" altLang="en-US" b="0" dirty="0">
              <a:latin typeface="宋体" pitchFamily="2" charset="-122"/>
            </a:endParaRPr>
          </a:p>
        </p:txBody>
      </p:sp>
      <p:sp>
        <p:nvSpPr>
          <p:cNvPr id="47107" name="Rectangle 3"/>
          <p:cNvSpPr>
            <a:spLocks noGrp="1"/>
          </p:cNvSpPr>
          <p:nvPr>
            <p:ph idx="1"/>
          </p:nvPr>
        </p:nvSpPr>
        <p:spPr>
          <a:xfrm>
            <a:off x="684213" y="1773238"/>
            <a:ext cx="2951162" cy="22733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en-US" altLang="zh-CN" b="0" dirty="0"/>
              <a:t>if (</a:t>
            </a:r>
            <a:r>
              <a:rPr lang="zh-CN" altLang="en-US" b="0" dirty="0"/>
              <a:t>表达式</a:t>
            </a:r>
            <a:r>
              <a:rPr lang="en-US" altLang="zh-CN" b="0" dirty="0"/>
              <a:t>)</a:t>
            </a:r>
            <a:endParaRPr lang="en-US" altLang="zh-CN" b="0" dirty="0"/>
          </a:p>
          <a:p>
            <a:pPr algn="just" eaLnBrk="1" hangingPunct="1">
              <a:buNone/>
            </a:pPr>
            <a:r>
              <a:rPr lang="en-US" altLang="zh-CN" b="0" dirty="0"/>
              <a:t>    </a:t>
            </a:r>
            <a:r>
              <a:rPr lang="zh-CN" altLang="en-US" b="0" dirty="0"/>
              <a:t>语句1</a:t>
            </a:r>
            <a:endParaRPr lang="en-US" altLang="zh-CN" b="0" dirty="0"/>
          </a:p>
          <a:p>
            <a:pPr algn="just" eaLnBrk="1" hangingPunct="1">
              <a:buNone/>
            </a:pPr>
            <a:r>
              <a:rPr lang="en-US" altLang="zh-CN" b="0" dirty="0"/>
              <a:t>else  </a:t>
            </a:r>
            <a:endParaRPr lang="en-US" altLang="zh-CN" b="0" dirty="0"/>
          </a:p>
          <a:p>
            <a:pPr algn="just" eaLnBrk="1" hangingPunct="1">
              <a:buNone/>
            </a:pPr>
            <a:r>
              <a:rPr lang="en-US" altLang="zh-CN" b="0" dirty="0"/>
              <a:t>    </a:t>
            </a:r>
            <a:r>
              <a:rPr lang="zh-CN" altLang="en-US" b="0" dirty="0"/>
              <a:t>语句2</a:t>
            </a:r>
            <a:endParaRPr lang="zh-CN" altLang="en-US" b="0" dirty="0"/>
          </a:p>
        </p:txBody>
      </p:sp>
      <p:sp>
        <p:nvSpPr>
          <p:cNvPr id="164869" name="Rectangle 5"/>
          <p:cNvSpPr/>
          <p:nvPr/>
        </p:nvSpPr>
        <p:spPr>
          <a:xfrm>
            <a:off x="3200400" y="2514600"/>
            <a:ext cx="20574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chemeClr val="accent2"/>
              </a:buClr>
              <a:buSzTx/>
              <a:buNone/>
            </a:pPr>
            <a:r>
              <a:rPr lang="en-US" altLang="zh-CN" sz="2800" b="0" dirty="0">
                <a:ea typeface="仿宋_GB2312" pitchFamily="49" charset="-122"/>
              </a:rPr>
              <a:t>      </a:t>
            </a:r>
            <a:r>
              <a:rPr lang="en-US" altLang="zh-CN" sz="2800" b="0" dirty="0">
                <a:solidFill>
                  <a:schemeClr val="bg2"/>
                </a:solidFill>
                <a:ea typeface="仿宋_GB2312" pitchFamily="49" charset="-122"/>
              </a:rPr>
              <a:t>if </a:t>
            </a:r>
            <a:r>
              <a:rPr lang="zh-CN" altLang="en-US" sz="2800" b="0" dirty="0">
                <a:solidFill>
                  <a:schemeClr val="bg2"/>
                </a:solidFill>
                <a:ea typeface="仿宋_GB2312" pitchFamily="49" charset="-122"/>
              </a:rPr>
              <a:t>语句</a:t>
            </a:r>
            <a:endParaRPr lang="zh-CN" altLang="en-US" sz="2800" b="0" dirty="0">
              <a:solidFill>
                <a:schemeClr val="bg2"/>
              </a:solidFill>
              <a:ea typeface="仿宋_GB2312" pitchFamily="49" charset="-122"/>
            </a:endParaRPr>
          </a:p>
        </p:txBody>
      </p:sp>
      <p:sp>
        <p:nvSpPr>
          <p:cNvPr id="164870" name="Line 6"/>
          <p:cNvSpPr/>
          <p:nvPr/>
        </p:nvSpPr>
        <p:spPr>
          <a:xfrm flipH="1">
            <a:off x="2667000" y="2743200"/>
            <a:ext cx="990600" cy="0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4871" name="Line 7"/>
          <p:cNvSpPr/>
          <p:nvPr/>
        </p:nvSpPr>
        <p:spPr>
          <a:xfrm flipH="1">
            <a:off x="2667000" y="3771900"/>
            <a:ext cx="990600" cy="0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4872" name="Rectangle 8"/>
          <p:cNvSpPr/>
          <p:nvPr/>
        </p:nvSpPr>
        <p:spPr>
          <a:xfrm>
            <a:off x="3200400" y="3543300"/>
            <a:ext cx="2092325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chemeClr val="accent2"/>
              </a:buClr>
              <a:buSzTx/>
              <a:buNone/>
            </a:pPr>
            <a:r>
              <a:rPr lang="en-US" altLang="zh-CN" sz="2800" b="0" dirty="0">
                <a:solidFill>
                  <a:schemeClr val="bg2"/>
                </a:solidFill>
                <a:ea typeface="仿宋_GB2312" pitchFamily="49" charset="-122"/>
              </a:rPr>
              <a:t>      if </a:t>
            </a:r>
            <a:r>
              <a:rPr lang="zh-CN" altLang="en-US" sz="2800" b="0" dirty="0">
                <a:solidFill>
                  <a:schemeClr val="bg2"/>
                </a:solidFill>
                <a:ea typeface="仿宋_GB2312" pitchFamily="49" charset="-122"/>
              </a:rPr>
              <a:t>语句</a:t>
            </a:r>
            <a:endParaRPr lang="zh-CN" altLang="en-US" sz="2800" b="0" dirty="0">
              <a:solidFill>
                <a:schemeClr val="bg2"/>
              </a:solidFill>
              <a:ea typeface="仿宋_GB2312" pitchFamily="49" charset="-122"/>
            </a:endParaRPr>
          </a:p>
        </p:txBody>
      </p:sp>
      <p:sp>
        <p:nvSpPr>
          <p:cNvPr id="164875" name="Rectangle 11"/>
          <p:cNvSpPr/>
          <p:nvPr/>
        </p:nvSpPr>
        <p:spPr>
          <a:xfrm>
            <a:off x="1894840" y="4495800"/>
            <a:ext cx="5496560" cy="12236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algn="just"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Char char="o"/>
            </a:pPr>
            <a:r>
              <a:rPr lang="en-US" altLang="zh-CN" sz="3200" b="0" dirty="0">
                <a:ea typeface="仿宋_GB2312" pitchFamily="49" charset="-122"/>
              </a:rPr>
              <a:t> else – if </a:t>
            </a:r>
            <a:r>
              <a:rPr lang="zh-CN" altLang="en-US" sz="3200" b="0" dirty="0">
                <a:ea typeface="仿宋_GB2312" pitchFamily="49" charset="-122"/>
              </a:rPr>
              <a:t>语句</a:t>
            </a:r>
            <a:endParaRPr lang="zh-CN" altLang="en-US" sz="3200" b="0" dirty="0">
              <a:ea typeface="仿宋_GB2312" pitchFamily="49" charset="-122"/>
            </a:endParaRPr>
          </a:p>
          <a:p>
            <a:pPr marL="457200" lvl="1" indent="0" algn="just"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Char char="o"/>
            </a:pPr>
            <a:r>
              <a:rPr lang="zh-CN" altLang="en-US" sz="3200" b="0" dirty="0">
                <a:ea typeface="仿宋_GB2312" pitchFamily="49" charset="-122"/>
              </a:rPr>
              <a:t> 嵌套的 </a:t>
            </a:r>
            <a:r>
              <a:rPr lang="en-US" altLang="zh-CN" sz="3200" b="0" dirty="0">
                <a:ea typeface="仿宋_GB2312" pitchFamily="49" charset="-122"/>
              </a:rPr>
              <a:t>if - else</a:t>
            </a:r>
            <a:r>
              <a:rPr lang="zh-CN" altLang="en-US" sz="3200" b="0" dirty="0">
                <a:ea typeface="仿宋_GB2312" pitchFamily="49" charset="-122"/>
              </a:rPr>
              <a:t>语句</a:t>
            </a:r>
            <a:endParaRPr lang="zh-CN" altLang="en-US" sz="3200" b="0" dirty="0"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9" grpId="0"/>
      <p:bldP spid="164872" grpId="0"/>
      <p:bldP spid="16487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/>
          </p:cNvSpPr>
          <p:nvPr>
            <p:ph idx="1"/>
          </p:nvPr>
        </p:nvSpPr>
        <p:spPr>
          <a:xfrm>
            <a:off x="228600" y="44450"/>
            <a:ext cx="4056063" cy="2052638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if (</a:t>
            </a:r>
            <a:r>
              <a:rPr lang="zh-CN" altLang="en-US" sz="2400" b="0" dirty="0"/>
              <a:t>表达式</a:t>
            </a:r>
            <a:r>
              <a:rPr lang="en-US" altLang="zh-CN" sz="2400" b="0" dirty="0"/>
              <a:t>1)    </a:t>
            </a:r>
            <a:r>
              <a:rPr lang="zh-CN" altLang="en-US" sz="2400" b="0" dirty="0"/>
              <a:t>语句1</a:t>
            </a:r>
            <a:endParaRPr lang="en-US" altLang="zh-CN" sz="2400" b="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else if(</a:t>
            </a:r>
            <a:r>
              <a:rPr lang="zh-CN" altLang="en-US" sz="2400" b="0" dirty="0"/>
              <a:t>表达式</a:t>
            </a:r>
            <a:r>
              <a:rPr lang="en-US" altLang="zh-CN" sz="2400" b="0" dirty="0"/>
              <a:t>2)  </a:t>
            </a:r>
            <a:r>
              <a:rPr lang="zh-CN" altLang="en-US" sz="2400" b="0" dirty="0"/>
              <a:t>语句</a:t>
            </a:r>
            <a:r>
              <a:rPr lang="en-US" altLang="zh-CN" sz="2400" b="0" dirty="0"/>
              <a:t>2</a:t>
            </a:r>
            <a:endParaRPr lang="en-US" altLang="zh-CN" sz="2400" b="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……</a:t>
            </a:r>
            <a:endParaRPr lang="zh-CN" altLang="en-US" sz="2400" b="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else if(</a:t>
            </a:r>
            <a:r>
              <a:rPr lang="zh-CN" altLang="en-US" sz="2400" b="0" dirty="0"/>
              <a:t>表达式</a:t>
            </a:r>
            <a:r>
              <a:rPr lang="en-US" altLang="zh-CN" sz="2400" b="0" dirty="0"/>
              <a:t>n-1</a:t>
            </a:r>
            <a:r>
              <a:rPr lang="zh-CN" altLang="en-US" sz="2400" b="0" dirty="0"/>
              <a:t>)  语句</a:t>
            </a:r>
            <a:r>
              <a:rPr lang="en-US" altLang="zh-CN" sz="2400" b="0" dirty="0"/>
              <a:t>n-1</a:t>
            </a:r>
            <a:endParaRPr lang="en-US" altLang="zh-CN" sz="2400" b="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else </a:t>
            </a:r>
            <a:r>
              <a:rPr lang="zh-CN" altLang="en-US" sz="2400" b="0" dirty="0"/>
              <a:t>语句</a:t>
            </a:r>
            <a:r>
              <a:rPr lang="en-US" altLang="zh-CN" sz="2400" b="0" dirty="0"/>
              <a:t>n</a:t>
            </a:r>
            <a:endParaRPr lang="en-US" altLang="zh-CN" sz="2400" b="0" dirty="0"/>
          </a:p>
        </p:txBody>
      </p:sp>
      <p:grpSp>
        <p:nvGrpSpPr>
          <p:cNvPr id="48131" name="Group 3"/>
          <p:cNvGrpSpPr/>
          <p:nvPr/>
        </p:nvGrpSpPr>
        <p:grpSpPr>
          <a:xfrm>
            <a:off x="228600" y="1917065"/>
            <a:ext cx="8520430" cy="4800600"/>
            <a:chOff x="3414" y="7376"/>
            <a:chExt cx="7205" cy="5503"/>
          </a:xfrm>
        </p:grpSpPr>
        <p:grpSp>
          <p:nvGrpSpPr>
            <p:cNvPr id="48138" name="Group 4"/>
            <p:cNvGrpSpPr/>
            <p:nvPr/>
          </p:nvGrpSpPr>
          <p:grpSpPr>
            <a:xfrm>
              <a:off x="3414" y="7376"/>
              <a:ext cx="7205" cy="5003"/>
              <a:chOff x="2714" y="2536"/>
              <a:chExt cx="7205" cy="5003"/>
            </a:xfrm>
          </p:grpSpPr>
          <p:grpSp>
            <p:nvGrpSpPr>
              <p:cNvPr id="48140" name="Group 5"/>
              <p:cNvGrpSpPr/>
              <p:nvPr/>
            </p:nvGrpSpPr>
            <p:grpSpPr>
              <a:xfrm>
                <a:off x="2714" y="2536"/>
                <a:ext cx="7205" cy="5003"/>
                <a:chOff x="2254" y="11080"/>
                <a:chExt cx="7205" cy="5003"/>
              </a:xfrm>
            </p:grpSpPr>
            <p:sp>
              <p:nvSpPr>
                <p:cNvPr id="48142" name="Line 6"/>
                <p:cNvSpPr/>
                <p:nvPr/>
              </p:nvSpPr>
              <p:spPr>
                <a:xfrm>
                  <a:off x="5734" y="14856"/>
                  <a:ext cx="285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ysDot"/>
                  <a:headEnd type="none" w="med" len="med"/>
                  <a:tailEnd type="none" w="med" len="med"/>
                </a:ln>
              </p:spPr>
            </p:sp>
            <p:grpSp>
              <p:nvGrpSpPr>
                <p:cNvPr id="48143" name="Group 7"/>
                <p:cNvGrpSpPr/>
                <p:nvPr/>
              </p:nvGrpSpPr>
              <p:grpSpPr>
                <a:xfrm>
                  <a:off x="2254" y="11080"/>
                  <a:ext cx="7205" cy="5003"/>
                  <a:chOff x="2254" y="2456"/>
                  <a:chExt cx="7205" cy="5003"/>
                </a:xfrm>
              </p:grpSpPr>
              <p:sp>
                <p:nvSpPr>
                  <p:cNvPr id="48146" name="Text Box 8"/>
                  <p:cNvSpPr txBox="1"/>
                  <p:nvPr/>
                </p:nvSpPr>
                <p:spPr>
                  <a:xfrm>
                    <a:off x="4089" y="2872"/>
                    <a:ext cx="480" cy="40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1800" b="0" dirty="0">
                        <a:latin typeface="Times New Roman" pitchFamily="18" charset="0"/>
                      </a:rPr>
                      <a:t>假</a:t>
                    </a:r>
                    <a:endParaRPr lang="zh-CN" altLang="en-US" sz="1800" b="0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48147" name="AutoShape 9"/>
                  <p:cNvSpPr/>
                  <p:nvPr/>
                </p:nvSpPr>
                <p:spPr>
                  <a:xfrm>
                    <a:off x="2254" y="2911"/>
                    <a:ext cx="1740" cy="780"/>
                  </a:xfrm>
                  <a:prstGeom prst="flowChartDecision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1800" b="0" dirty="0">
                        <a:latin typeface="Times New Roman" pitchFamily="18" charset="0"/>
                      </a:rPr>
                      <a:t>表达式1</a:t>
                    </a:r>
                    <a:endParaRPr lang="zh-CN" altLang="en-US" sz="1800" b="0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48148" name="AutoShape 10"/>
                  <p:cNvSpPr/>
                  <p:nvPr/>
                </p:nvSpPr>
                <p:spPr>
                  <a:xfrm>
                    <a:off x="3834" y="3531"/>
                    <a:ext cx="1725" cy="750"/>
                  </a:xfrm>
                  <a:prstGeom prst="flowChartDecision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1800" b="0" dirty="0">
                        <a:latin typeface="Times New Roman" pitchFamily="18" charset="0"/>
                      </a:rPr>
                      <a:t>表达式2</a:t>
                    </a:r>
                    <a:endParaRPr lang="zh-CN" altLang="en-US" sz="1800" b="0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48149" name="AutoShape 11"/>
                  <p:cNvSpPr/>
                  <p:nvPr/>
                </p:nvSpPr>
                <p:spPr>
                  <a:xfrm>
                    <a:off x="2409" y="5969"/>
                    <a:ext cx="1335" cy="434"/>
                  </a:xfrm>
                  <a:prstGeom prst="flowChartProcess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1800" b="0" dirty="0">
                        <a:latin typeface="Times New Roman" pitchFamily="18" charset="0"/>
                      </a:rPr>
                      <a:t>语句1</a:t>
                    </a:r>
                    <a:endParaRPr lang="zh-CN" altLang="en-US" sz="1800" b="0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48150" name="AutoShape 12"/>
                  <p:cNvSpPr/>
                  <p:nvPr/>
                </p:nvSpPr>
                <p:spPr>
                  <a:xfrm>
                    <a:off x="4059" y="5955"/>
                    <a:ext cx="1335" cy="434"/>
                  </a:xfrm>
                  <a:prstGeom prst="flowChartProcess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1800" b="0" dirty="0">
                        <a:latin typeface="Times New Roman" pitchFamily="18" charset="0"/>
                      </a:rPr>
                      <a:t>语句2</a:t>
                    </a:r>
                    <a:endParaRPr lang="zh-CN" altLang="en-US" sz="1800" b="0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48151" name="AutoShape 13"/>
                  <p:cNvSpPr/>
                  <p:nvPr/>
                </p:nvSpPr>
                <p:spPr>
                  <a:xfrm>
                    <a:off x="6445" y="6004"/>
                    <a:ext cx="1335" cy="434"/>
                  </a:xfrm>
                  <a:prstGeom prst="flowChartProcess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1800" b="0" dirty="0">
                        <a:latin typeface="Times New Roman" pitchFamily="18" charset="0"/>
                      </a:rPr>
                      <a:t>语句</a:t>
                    </a:r>
                    <a:r>
                      <a:rPr lang="en-US" altLang="zh-CN" sz="1800" b="0" dirty="0">
                        <a:latin typeface="Times New Roman" pitchFamily="18" charset="0"/>
                      </a:rPr>
                      <a:t>n-1</a:t>
                    </a:r>
                    <a:endParaRPr lang="en-US" altLang="zh-CN" sz="1800" b="0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48152" name="AutoShape 14"/>
                  <p:cNvSpPr/>
                  <p:nvPr/>
                </p:nvSpPr>
                <p:spPr>
                  <a:xfrm>
                    <a:off x="8124" y="6018"/>
                    <a:ext cx="1335" cy="434"/>
                  </a:xfrm>
                  <a:prstGeom prst="flowChartProcess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1800" b="0" dirty="0">
                        <a:latin typeface="Times New Roman" pitchFamily="18" charset="0"/>
                      </a:rPr>
                      <a:t>语句</a:t>
                    </a:r>
                    <a:r>
                      <a:rPr lang="en-US" altLang="zh-CN" sz="1800" b="0" dirty="0">
                        <a:latin typeface="Times New Roman" pitchFamily="18" charset="0"/>
                      </a:rPr>
                      <a:t>n</a:t>
                    </a:r>
                    <a:endParaRPr lang="en-US" altLang="zh-CN" sz="1800" b="0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48153" name="Line 15"/>
                  <p:cNvSpPr/>
                  <p:nvPr/>
                </p:nvSpPr>
                <p:spPr>
                  <a:xfrm>
                    <a:off x="3115" y="3691"/>
                    <a:ext cx="8" cy="2299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48154" name="Line 16"/>
                  <p:cNvSpPr/>
                  <p:nvPr/>
                </p:nvSpPr>
                <p:spPr>
                  <a:xfrm>
                    <a:off x="4694" y="4316"/>
                    <a:ext cx="0" cy="1675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48155" name="Freeform 17"/>
                  <p:cNvSpPr/>
                  <p:nvPr/>
                </p:nvSpPr>
                <p:spPr>
                  <a:xfrm>
                    <a:off x="4034" y="3291"/>
                    <a:ext cx="680" cy="280"/>
                  </a:xfrm>
                  <a:custGeom>
                    <a:avLst/>
                    <a:gdLst>
                      <a:gd name="txL" fmla="*/ 0 w 675"/>
                      <a:gd name="txT" fmla="*/ 0 h 462"/>
                      <a:gd name="txR" fmla="*/ 675 w 675"/>
                      <a:gd name="txB" fmla="*/ 462 h 462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680" y="0"/>
                      </a:cxn>
                      <a:cxn ang="0">
                        <a:pos x="680" y="280"/>
                      </a:cxn>
                    </a:cxnLst>
                    <a:rect l="txL" t="txT" r="txR" b="txB"/>
                    <a:pathLst>
                      <a:path w="675" h="462">
                        <a:moveTo>
                          <a:pt x="0" y="0"/>
                        </a:moveTo>
                        <a:lnTo>
                          <a:pt x="675" y="0"/>
                        </a:lnTo>
                        <a:lnTo>
                          <a:pt x="675" y="462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48156" name="Line 18"/>
                  <p:cNvSpPr/>
                  <p:nvPr/>
                </p:nvSpPr>
                <p:spPr>
                  <a:xfrm flipH="1">
                    <a:off x="3129" y="2456"/>
                    <a:ext cx="5" cy="401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48157" name="Text Box 19"/>
                  <p:cNvSpPr txBox="1"/>
                  <p:nvPr/>
                </p:nvSpPr>
                <p:spPr>
                  <a:xfrm>
                    <a:off x="2414" y="3751"/>
                    <a:ext cx="385" cy="40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1800" b="0" dirty="0">
                        <a:latin typeface="Times New Roman" pitchFamily="18" charset="0"/>
                      </a:rPr>
                      <a:t>真</a:t>
                    </a:r>
                    <a:r>
                      <a:rPr lang="zh-CN" altLang="en-US" sz="1700" b="0" dirty="0">
                        <a:latin typeface="Times New Roman" pitchFamily="18" charset="0"/>
                      </a:rPr>
                      <a:t>  </a:t>
                    </a:r>
                    <a:endParaRPr lang="zh-CN" altLang="en-US" sz="1000" b="0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48158" name="Freeform 20"/>
                  <p:cNvSpPr/>
                  <p:nvPr/>
                </p:nvSpPr>
                <p:spPr>
                  <a:xfrm>
                    <a:off x="3114" y="6471"/>
                    <a:ext cx="5790" cy="455"/>
                  </a:xfrm>
                  <a:custGeom>
                    <a:avLst/>
                    <a:gdLst>
                      <a:gd name="txL" fmla="*/ 0 w 5790"/>
                      <a:gd name="txT" fmla="*/ 0 h 455"/>
                      <a:gd name="txR" fmla="*/ 5790 w 5790"/>
                      <a:gd name="txB" fmla="*/ 455 h 455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455"/>
                      </a:cxn>
                      <a:cxn ang="0">
                        <a:pos x="5790" y="455"/>
                      </a:cxn>
                      <a:cxn ang="0">
                        <a:pos x="5790" y="63"/>
                      </a:cxn>
                    </a:cxnLst>
                    <a:rect l="txL" t="txT" r="txR" b="txB"/>
                    <a:pathLst>
                      <a:path w="5790" h="455">
                        <a:moveTo>
                          <a:pt x="0" y="0"/>
                        </a:moveTo>
                        <a:lnTo>
                          <a:pt x="0" y="455"/>
                        </a:lnTo>
                        <a:lnTo>
                          <a:pt x="5790" y="455"/>
                        </a:lnTo>
                        <a:lnTo>
                          <a:pt x="5790" y="63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48159" name="Line 21"/>
                  <p:cNvSpPr/>
                  <p:nvPr/>
                </p:nvSpPr>
                <p:spPr>
                  <a:xfrm>
                    <a:off x="4749" y="6471"/>
                    <a:ext cx="0" cy="483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48160" name="Line 22"/>
                  <p:cNvSpPr/>
                  <p:nvPr/>
                </p:nvSpPr>
                <p:spPr>
                  <a:xfrm>
                    <a:off x="7059" y="6489"/>
                    <a:ext cx="0" cy="399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48161" name="Line 23"/>
                  <p:cNvSpPr/>
                  <p:nvPr/>
                </p:nvSpPr>
                <p:spPr>
                  <a:xfrm>
                    <a:off x="5934" y="7011"/>
                    <a:ext cx="0" cy="448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48162" name="Freeform 24"/>
                  <p:cNvSpPr/>
                  <p:nvPr/>
                </p:nvSpPr>
                <p:spPr>
                  <a:xfrm>
                    <a:off x="5594" y="3891"/>
                    <a:ext cx="680" cy="280"/>
                  </a:xfrm>
                  <a:custGeom>
                    <a:avLst/>
                    <a:gdLst>
                      <a:gd name="txL" fmla="*/ 0 w 675"/>
                      <a:gd name="txT" fmla="*/ 0 h 462"/>
                      <a:gd name="txR" fmla="*/ 675 w 675"/>
                      <a:gd name="txB" fmla="*/ 462 h 462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680" y="0"/>
                      </a:cxn>
                      <a:cxn ang="0">
                        <a:pos x="680" y="280"/>
                      </a:cxn>
                    </a:cxnLst>
                    <a:rect l="txL" t="txT" r="txR" b="txB"/>
                    <a:pathLst>
                      <a:path w="675" h="462">
                        <a:moveTo>
                          <a:pt x="0" y="0"/>
                        </a:moveTo>
                        <a:lnTo>
                          <a:pt x="675" y="0"/>
                        </a:lnTo>
                        <a:lnTo>
                          <a:pt x="675" y="462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48163" name="AutoShape 25"/>
                  <p:cNvSpPr/>
                  <p:nvPr/>
                </p:nvSpPr>
                <p:spPr>
                  <a:xfrm>
                    <a:off x="6074" y="4751"/>
                    <a:ext cx="2160" cy="780"/>
                  </a:xfrm>
                  <a:prstGeom prst="flowChartDecision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1800" b="0" dirty="0">
                        <a:latin typeface="Times New Roman" pitchFamily="18" charset="0"/>
                      </a:rPr>
                      <a:t>表达式</a:t>
                    </a:r>
                    <a:r>
                      <a:rPr lang="en-US" altLang="zh-CN" sz="1800" b="0" dirty="0">
                        <a:latin typeface="Times New Roman" pitchFamily="18" charset="0"/>
                      </a:rPr>
                      <a:t>n-1</a:t>
                    </a:r>
                    <a:endParaRPr lang="en-US" altLang="zh-CN" sz="1000" b="0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48164" name="Line 26"/>
                  <p:cNvSpPr/>
                  <p:nvPr/>
                </p:nvSpPr>
                <p:spPr>
                  <a:xfrm flipH="1">
                    <a:off x="7159" y="5551"/>
                    <a:ext cx="15" cy="477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48165" name="Freeform 27"/>
                  <p:cNvSpPr/>
                  <p:nvPr/>
                </p:nvSpPr>
                <p:spPr>
                  <a:xfrm>
                    <a:off x="8254" y="5131"/>
                    <a:ext cx="680" cy="860"/>
                  </a:xfrm>
                  <a:custGeom>
                    <a:avLst/>
                    <a:gdLst>
                      <a:gd name="txL" fmla="*/ 0 w 675"/>
                      <a:gd name="txT" fmla="*/ 0 h 462"/>
                      <a:gd name="txR" fmla="*/ 675 w 675"/>
                      <a:gd name="txB" fmla="*/ 462 h 462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680" y="0"/>
                      </a:cxn>
                      <a:cxn ang="0">
                        <a:pos x="680" y="860"/>
                      </a:cxn>
                    </a:cxnLst>
                    <a:rect l="txL" t="txT" r="txR" b="txB"/>
                    <a:pathLst>
                      <a:path w="675" h="462">
                        <a:moveTo>
                          <a:pt x="0" y="0"/>
                        </a:moveTo>
                        <a:lnTo>
                          <a:pt x="675" y="0"/>
                        </a:lnTo>
                        <a:lnTo>
                          <a:pt x="675" y="462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48166" name="Freeform 28"/>
                  <p:cNvSpPr/>
                  <p:nvPr/>
                </p:nvSpPr>
                <p:spPr>
                  <a:xfrm>
                    <a:off x="6474" y="4451"/>
                    <a:ext cx="680" cy="280"/>
                  </a:xfrm>
                  <a:custGeom>
                    <a:avLst/>
                    <a:gdLst>
                      <a:gd name="txL" fmla="*/ 0 w 675"/>
                      <a:gd name="txT" fmla="*/ 0 h 462"/>
                      <a:gd name="txR" fmla="*/ 675 w 675"/>
                      <a:gd name="txB" fmla="*/ 462 h 462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680" y="0"/>
                      </a:cxn>
                      <a:cxn ang="0">
                        <a:pos x="680" y="280"/>
                      </a:cxn>
                    </a:cxnLst>
                    <a:rect l="txL" t="txT" r="txR" b="txB"/>
                    <a:pathLst>
                      <a:path w="675" h="462">
                        <a:moveTo>
                          <a:pt x="0" y="0"/>
                        </a:moveTo>
                        <a:lnTo>
                          <a:pt x="675" y="0"/>
                        </a:lnTo>
                        <a:lnTo>
                          <a:pt x="675" y="462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48167" name="Text Box 29"/>
                  <p:cNvSpPr txBox="1"/>
                  <p:nvPr/>
                </p:nvSpPr>
                <p:spPr>
                  <a:xfrm>
                    <a:off x="8334" y="4631"/>
                    <a:ext cx="480" cy="421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1800" b="0" dirty="0">
                        <a:latin typeface="Times New Roman" pitchFamily="18" charset="0"/>
                      </a:rPr>
                      <a:t>假</a:t>
                    </a:r>
                    <a:endParaRPr lang="zh-CN" altLang="en-US" sz="1800" b="0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48168" name="Line 30"/>
                  <p:cNvSpPr/>
                  <p:nvPr/>
                </p:nvSpPr>
                <p:spPr>
                  <a:xfrm>
                    <a:off x="6094" y="4431"/>
                    <a:ext cx="285" cy="0"/>
                  </a:xfrm>
                  <a:prstGeom prst="line">
                    <a:avLst/>
                  </a:prstGeom>
                  <a:ln w="28575" cap="flat" cmpd="sng">
                    <a:solidFill>
                      <a:srgbClr val="000000"/>
                    </a:solidFill>
                    <a:prstDash val="sysDot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48169" name="Text Box 31"/>
                  <p:cNvSpPr txBox="1"/>
                  <p:nvPr/>
                </p:nvSpPr>
                <p:spPr>
                  <a:xfrm>
                    <a:off x="6394" y="5491"/>
                    <a:ext cx="379" cy="40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1800" b="0" dirty="0">
                        <a:latin typeface="Times New Roman" pitchFamily="18" charset="0"/>
                      </a:rPr>
                      <a:t>真</a:t>
                    </a:r>
                    <a:r>
                      <a:rPr lang="zh-CN" altLang="en-US" sz="2000" b="0" dirty="0">
                        <a:latin typeface="Times New Roman" pitchFamily="18" charset="0"/>
                      </a:rPr>
                      <a:t>  </a:t>
                    </a:r>
                    <a:endParaRPr lang="zh-CN" altLang="en-US" sz="1000" b="0" dirty="0">
                      <a:latin typeface="Times New Roman" pitchFamily="18" charset="0"/>
                    </a:endParaRPr>
                  </a:p>
                </p:txBody>
              </p:sp>
            </p:grpSp>
            <p:sp>
              <p:nvSpPr>
                <p:cNvPr id="48144" name="Text Box 32"/>
                <p:cNvSpPr txBox="1"/>
                <p:nvPr/>
              </p:nvSpPr>
              <p:spPr>
                <a:xfrm>
                  <a:off x="5594" y="12016"/>
                  <a:ext cx="420" cy="40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0" dirty="0">
                      <a:latin typeface="Times New Roman" pitchFamily="18" charset="0"/>
                    </a:rPr>
                    <a:t>假</a:t>
                  </a:r>
                  <a:endParaRPr lang="zh-CN" altLang="en-US" sz="1800" b="0" dirty="0">
                    <a:latin typeface="Times New Roman" pitchFamily="18" charset="0"/>
                  </a:endParaRPr>
                </a:p>
              </p:txBody>
            </p:sp>
            <p:sp>
              <p:nvSpPr>
                <p:cNvPr id="48145" name="Text Box 33"/>
                <p:cNvSpPr txBox="1"/>
                <p:nvPr/>
              </p:nvSpPr>
              <p:spPr>
                <a:xfrm>
                  <a:off x="6654" y="12656"/>
                  <a:ext cx="420" cy="40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0" dirty="0">
                      <a:latin typeface="Times New Roman" pitchFamily="18" charset="0"/>
                    </a:rPr>
                    <a:t>假</a:t>
                  </a:r>
                  <a:endParaRPr lang="zh-CN" altLang="en-US" sz="1800" b="0" dirty="0"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48141" name="Text Box 34"/>
              <p:cNvSpPr txBox="1"/>
              <p:nvPr/>
            </p:nvSpPr>
            <p:spPr>
              <a:xfrm>
                <a:off x="4354" y="4436"/>
                <a:ext cx="720" cy="40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 b="0" dirty="0">
                    <a:latin typeface="Times New Roman" pitchFamily="18" charset="0"/>
                  </a:rPr>
                  <a:t>真</a:t>
                </a:r>
                <a:r>
                  <a:rPr lang="zh-CN" altLang="en-US" sz="1600" b="0" dirty="0">
                    <a:latin typeface="Times New Roman" pitchFamily="18" charset="0"/>
                  </a:rPr>
                  <a:t>  </a:t>
                </a:r>
                <a:endParaRPr lang="zh-CN" altLang="en-US" sz="1000" b="0" dirty="0">
                  <a:latin typeface="Times New Roman" pitchFamily="18" charset="0"/>
                </a:endParaRPr>
              </a:p>
            </p:txBody>
          </p:sp>
        </p:grpSp>
        <p:sp>
          <p:nvSpPr>
            <p:cNvPr id="48139" name="Text Box 35"/>
            <p:cNvSpPr txBox="1"/>
            <p:nvPr/>
          </p:nvSpPr>
          <p:spPr>
            <a:xfrm>
              <a:off x="5557" y="12376"/>
              <a:ext cx="2800" cy="503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000" b="0" dirty="0">
                <a:latin typeface="Times New Roman" pitchFamily="18" charset="0"/>
              </a:endParaRPr>
            </a:p>
          </p:txBody>
        </p:sp>
      </p:grpSp>
      <p:sp>
        <p:nvSpPr>
          <p:cNvPr id="48136" name="Rectangle 41"/>
          <p:cNvSpPr>
            <a:spLocks noGrp="1"/>
          </p:cNvSpPr>
          <p:nvPr>
            <p:ph type="title"/>
          </p:nvPr>
        </p:nvSpPr>
        <p:spPr>
          <a:xfrm>
            <a:off x="4643438" y="381000"/>
            <a:ext cx="4195762" cy="5334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 dirty="0"/>
              <a:t>else – if </a:t>
            </a:r>
            <a:r>
              <a:rPr lang="zh-CN" altLang="en-US" b="0" dirty="0"/>
              <a:t>语句</a:t>
            </a:r>
            <a:endParaRPr lang="zh-CN" altLang="en-US" b="0" dirty="0"/>
          </a:p>
        </p:txBody>
      </p:sp>
      <p:sp>
        <p:nvSpPr>
          <p:cNvPr id="165930" name="Text Box 42"/>
          <p:cNvSpPr txBox="1"/>
          <p:nvPr/>
        </p:nvSpPr>
        <p:spPr>
          <a:xfrm>
            <a:off x="5664518" y="2352676"/>
            <a:ext cx="331089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0" dirty="0">
                <a:solidFill>
                  <a:schemeClr val="bg2"/>
                </a:solidFill>
                <a:latin typeface="Times New Roman" pitchFamily="18" charset="0"/>
              </a:rPr>
              <a:t>n</a:t>
            </a:r>
            <a:r>
              <a:rPr lang="zh-CN" altLang="en-US" sz="2400" b="0" dirty="0">
                <a:solidFill>
                  <a:schemeClr val="bg2"/>
                </a:solidFill>
                <a:latin typeface="Times New Roman" pitchFamily="18" charset="0"/>
              </a:rPr>
              <a:t>个分支需要</a:t>
            </a:r>
            <a:r>
              <a:rPr lang="en-US" altLang="zh-CN" sz="2400" b="0" dirty="0">
                <a:solidFill>
                  <a:schemeClr val="bg2"/>
                </a:solidFill>
                <a:latin typeface="Times New Roman" pitchFamily="18" charset="0"/>
              </a:rPr>
              <a:t>n-1</a:t>
            </a:r>
            <a:r>
              <a:rPr lang="zh-CN" altLang="en-US" sz="2400" b="0" dirty="0">
                <a:solidFill>
                  <a:schemeClr val="bg2"/>
                </a:solidFill>
                <a:latin typeface="Times New Roman" pitchFamily="18" charset="0"/>
              </a:rPr>
              <a:t>次比较</a:t>
            </a:r>
            <a:endParaRPr lang="zh-CN" altLang="zh-CN" sz="2400" b="0" dirty="0">
              <a:solidFill>
                <a:schemeClr val="bg2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93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>
            <a:spLocks noGrp="1"/>
          </p:cNvSpPr>
          <p:nvPr>
            <p:ph type="title"/>
          </p:nvPr>
        </p:nvSpPr>
        <p:spPr>
          <a:xfrm>
            <a:off x="2984500" y="71755"/>
            <a:ext cx="6074410" cy="6858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嵌套的 </a:t>
            </a:r>
            <a:r>
              <a:rPr lang="en-US" altLang="zh-CN" b="0" dirty="0"/>
              <a:t>if – else </a:t>
            </a:r>
            <a:r>
              <a:rPr lang="zh-CN" altLang="en-US" b="0" dirty="0">
                <a:latin typeface="宋体" pitchFamily="2" charset="-122"/>
              </a:rPr>
              <a:t>语句</a:t>
            </a:r>
            <a:endParaRPr lang="zh-CN" altLang="en-US" b="0" dirty="0">
              <a:latin typeface="宋体" pitchFamily="2" charset="-122"/>
            </a:endParaRPr>
          </a:p>
        </p:txBody>
      </p:sp>
      <p:sp>
        <p:nvSpPr>
          <p:cNvPr id="49155" name="Rectangle 3"/>
          <p:cNvSpPr>
            <a:spLocks noGrp="1"/>
          </p:cNvSpPr>
          <p:nvPr>
            <p:ph idx="1"/>
          </p:nvPr>
        </p:nvSpPr>
        <p:spPr>
          <a:xfrm>
            <a:off x="323850" y="260350"/>
            <a:ext cx="3810000" cy="29718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b="0" dirty="0"/>
              <a:t>if(</a:t>
            </a:r>
            <a:r>
              <a:rPr lang="zh-CN" altLang="en-US" b="0" dirty="0"/>
              <a:t>表达式1)</a:t>
            </a:r>
            <a:endParaRPr lang="zh-CN" altLang="en-US" b="0" dirty="0"/>
          </a:p>
          <a:p>
            <a:pPr marL="819150" lvl="1" algn="just" eaLnBrk="1" hangingPunct="1">
              <a:lnSpc>
                <a:spcPct val="90000"/>
              </a:lnSpc>
              <a:buNone/>
            </a:pPr>
            <a:r>
              <a:rPr lang="en-US" altLang="zh-CN" b="0" dirty="0"/>
              <a:t>if(</a:t>
            </a:r>
            <a:r>
              <a:rPr lang="zh-CN" altLang="en-US" b="0" dirty="0"/>
              <a:t>表达式2) 语句1</a:t>
            </a:r>
            <a:endParaRPr lang="zh-CN" altLang="en-US" b="0" dirty="0"/>
          </a:p>
          <a:p>
            <a:pPr marL="819150" lvl="1" algn="just" eaLnBrk="1" hangingPunct="1">
              <a:lnSpc>
                <a:spcPct val="90000"/>
              </a:lnSpc>
              <a:buNone/>
            </a:pPr>
            <a:r>
              <a:rPr lang="en-US" altLang="zh-CN" b="0" dirty="0"/>
              <a:t>else  </a:t>
            </a:r>
            <a:r>
              <a:rPr lang="zh-CN" altLang="en-US" b="0" dirty="0"/>
              <a:t>语句2 </a:t>
            </a:r>
            <a:endParaRPr lang="zh-CN" altLang="en-US" b="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b="0" dirty="0"/>
              <a:t>else</a:t>
            </a:r>
            <a:endParaRPr lang="en-US" altLang="zh-CN" b="0" dirty="0"/>
          </a:p>
          <a:p>
            <a:pPr marL="819150" lvl="1" algn="just" eaLnBrk="1" hangingPunct="1">
              <a:lnSpc>
                <a:spcPct val="90000"/>
              </a:lnSpc>
              <a:buNone/>
            </a:pPr>
            <a:r>
              <a:rPr lang="en-US" altLang="zh-CN" b="0" dirty="0"/>
              <a:t>if(</a:t>
            </a:r>
            <a:r>
              <a:rPr lang="zh-CN" altLang="en-US" b="0" dirty="0"/>
              <a:t>表达式3) 语句3 </a:t>
            </a:r>
            <a:endParaRPr lang="zh-CN" altLang="en-US" b="0" dirty="0"/>
          </a:p>
          <a:p>
            <a:pPr marL="819150" lvl="1" algn="just" eaLnBrk="1" hangingPunct="1">
              <a:lnSpc>
                <a:spcPct val="90000"/>
              </a:lnSpc>
              <a:buNone/>
            </a:pPr>
            <a:r>
              <a:rPr lang="en-US" altLang="zh-CN" b="0" dirty="0"/>
              <a:t>else  </a:t>
            </a:r>
            <a:r>
              <a:rPr lang="zh-CN" altLang="en-US" b="0" dirty="0"/>
              <a:t>语句4  </a:t>
            </a:r>
            <a:endParaRPr lang="zh-CN" altLang="en-US" b="0" dirty="0"/>
          </a:p>
        </p:txBody>
      </p:sp>
      <p:grpSp>
        <p:nvGrpSpPr>
          <p:cNvPr id="2" name="Group 10"/>
          <p:cNvGrpSpPr/>
          <p:nvPr/>
        </p:nvGrpSpPr>
        <p:grpSpPr>
          <a:xfrm>
            <a:off x="431800" y="2590800"/>
            <a:ext cx="8483600" cy="3810000"/>
            <a:chOff x="1973" y="10588"/>
            <a:chExt cx="7960" cy="3661"/>
          </a:xfrm>
        </p:grpSpPr>
        <p:sp>
          <p:nvSpPr>
            <p:cNvPr id="49157" name="Freeform 11"/>
            <p:cNvSpPr/>
            <p:nvPr/>
          </p:nvSpPr>
          <p:spPr>
            <a:xfrm>
              <a:off x="6738" y="11391"/>
              <a:ext cx="1410" cy="312"/>
            </a:xfrm>
            <a:custGeom>
              <a:avLst/>
              <a:gdLst>
                <a:gd name="txL" fmla="*/ 0 w 675"/>
                <a:gd name="txT" fmla="*/ 0 h 462"/>
                <a:gd name="txR" fmla="*/ 675 w 675"/>
                <a:gd name="txB" fmla="*/ 462 h 462"/>
              </a:gdLst>
              <a:ahLst/>
              <a:cxnLst>
                <a:cxn ang="0">
                  <a:pos x="0" y="0"/>
                </a:cxn>
                <a:cxn ang="0">
                  <a:pos x="1410" y="0"/>
                </a:cxn>
                <a:cxn ang="0">
                  <a:pos x="1410" y="312"/>
                </a:cxn>
              </a:cxnLst>
              <a:rect l="txL" t="txT" r="txR" b="txB"/>
              <a:pathLst>
                <a:path w="675" h="462">
                  <a:moveTo>
                    <a:pt x="0" y="0"/>
                  </a:moveTo>
                  <a:lnTo>
                    <a:pt x="675" y="0"/>
                  </a:lnTo>
                  <a:lnTo>
                    <a:pt x="675" y="462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58" name="Line 12"/>
            <p:cNvSpPr/>
            <p:nvPr/>
          </p:nvSpPr>
          <p:spPr>
            <a:xfrm>
              <a:off x="3633" y="11381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49159" name="AutoShape 13"/>
            <p:cNvSpPr/>
            <p:nvPr/>
          </p:nvSpPr>
          <p:spPr>
            <a:xfrm>
              <a:off x="4998" y="10993"/>
              <a:ext cx="1740" cy="780"/>
            </a:xfrm>
            <a:prstGeom prst="flowChartDecision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/>
                <a:t>表达式1</a:t>
              </a:r>
              <a:endParaRPr lang="zh-CN" altLang="en-US" sz="1800" b="0" dirty="0"/>
            </a:p>
          </p:txBody>
        </p:sp>
        <p:sp>
          <p:nvSpPr>
            <p:cNvPr id="49160" name="AutoShape 14"/>
            <p:cNvSpPr/>
            <p:nvPr/>
          </p:nvSpPr>
          <p:spPr>
            <a:xfrm>
              <a:off x="7288" y="11717"/>
              <a:ext cx="1725" cy="750"/>
            </a:xfrm>
            <a:prstGeom prst="flowChartDecision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/>
                <a:t>表达式3</a:t>
              </a:r>
              <a:endParaRPr lang="zh-CN" altLang="en-US" sz="1800" b="0" dirty="0"/>
            </a:p>
          </p:txBody>
        </p:sp>
        <p:sp>
          <p:nvSpPr>
            <p:cNvPr id="49161" name="AutoShape 15"/>
            <p:cNvSpPr/>
            <p:nvPr/>
          </p:nvSpPr>
          <p:spPr>
            <a:xfrm>
              <a:off x="9093" y="12845"/>
              <a:ext cx="840" cy="434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/>
                <a:t>语句4</a:t>
              </a:r>
              <a:endParaRPr lang="zh-CN" altLang="en-US" sz="1800" b="0" dirty="0"/>
            </a:p>
          </p:txBody>
        </p:sp>
        <p:sp>
          <p:nvSpPr>
            <p:cNvPr id="49162" name="Line 16"/>
            <p:cNvSpPr/>
            <p:nvPr/>
          </p:nvSpPr>
          <p:spPr>
            <a:xfrm flipH="1">
              <a:off x="5868" y="10588"/>
              <a:ext cx="0" cy="40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49163" name="Text Box 17"/>
            <p:cNvSpPr txBox="1"/>
            <p:nvPr/>
          </p:nvSpPr>
          <p:spPr>
            <a:xfrm>
              <a:off x="4473" y="11010"/>
              <a:ext cx="525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/>
                <a:t>真 </a:t>
              </a:r>
              <a:endParaRPr lang="zh-CN" altLang="en-US" sz="1800" b="0" dirty="0"/>
            </a:p>
          </p:txBody>
        </p:sp>
        <p:sp>
          <p:nvSpPr>
            <p:cNvPr id="49164" name="Line 18"/>
            <p:cNvSpPr/>
            <p:nvPr/>
          </p:nvSpPr>
          <p:spPr>
            <a:xfrm>
              <a:off x="9558" y="13283"/>
              <a:ext cx="0" cy="48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65" name="Line 19"/>
            <p:cNvSpPr/>
            <p:nvPr/>
          </p:nvSpPr>
          <p:spPr>
            <a:xfrm>
              <a:off x="5943" y="13801"/>
              <a:ext cx="0" cy="44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49166" name="Text Box 20"/>
            <p:cNvSpPr txBox="1"/>
            <p:nvPr/>
          </p:nvSpPr>
          <p:spPr>
            <a:xfrm>
              <a:off x="6798" y="11010"/>
              <a:ext cx="480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/>
                <a:t>假</a:t>
              </a:r>
              <a:endParaRPr lang="zh-CN" altLang="en-US" sz="1800" b="0" dirty="0"/>
            </a:p>
          </p:txBody>
        </p:sp>
        <p:sp>
          <p:nvSpPr>
            <p:cNvPr id="49167" name="Line 21"/>
            <p:cNvSpPr/>
            <p:nvPr/>
          </p:nvSpPr>
          <p:spPr>
            <a:xfrm flipH="1">
              <a:off x="3633" y="11375"/>
              <a:ext cx="137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68" name="AutoShape 22"/>
            <p:cNvSpPr/>
            <p:nvPr/>
          </p:nvSpPr>
          <p:spPr>
            <a:xfrm>
              <a:off x="2783" y="11697"/>
              <a:ext cx="1725" cy="750"/>
            </a:xfrm>
            <a:prstGeom prst="flowChartDecision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/>
                <a:t>表达式2</a:t>
              </a:r>
              <a:endParaRPr lang="zh-CN" altLang="en-US" sz="1800" b="0" dirty="0"/>
            </a:p>
          </p:txBody>
        </p:sp>
        <p:grpSp>
          <p:nvGrpSpPr>
            <p:cNvPr id="49169" name="Group 23"/>
            <p:cNvGrpSpPr/>
            <p:nvPr/>
          </p:nvGrpSpPr>
          <p:grpSpPr>
            <a:xfrm>
              <a:off x="2373" y="12055"/>
              <a:ext cx="420" cy="810"/>
              <a:chOff x="1539" y="9512"/>
              <a:chExt cx="840" cy="936"/>
            </a:xfrm>
          </p:grpSpPr>
          <p:sp>
            <p:nvSpPr>
              <p:cNvPr id="49190" name="Line 24"/>
              <p:cNvSpPr/>
              <p:nvPr/>
            </p:nvSpPr>
            <p:spPr>
              <a:xfrm>
                <a:off x="1539" y="9512"/>
                <a:ext cx="0" cy="9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sm" len="med"/>
              </a:ln>
            </p:spPr>
          </p:sp>
          <p:sp>
            <p:nvSpPr>
              <p:cNvPr id="49191" name="Line 25"/>
              <p:cNvSpPr/>
              <p:nvPr/>
            </p:nvSpPr>
            <p:spPr>
              <a:xfrm>
                <a:off x="1539" y="9512"/>
                <a:ext cx="8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sm" len="med"/>
              </a:ln>
            </p:spPr>
          </p:sp>
        </p:grpSp>
        <p:grpSp>
          <p:nvGrpSpPr>
            <p:cNvPr id="49170" name="Group 26"/>
            <p:cNvGrpSpPr/>
            <p:nvPr/>
          </p:nvGrpSpPr>
          <p:grpSpPr>
            <a:xfrm>
              <a:off x="4518" y="12065"/>
              <a:ext cx="315" cy="800"/>
              <a:chOff x="4269" y="9512"/>
              <a:chExt cx="840" cy="936"/>
            </a:xfrm>
          </p:grpSpPr>
          <p:sp>
            <p:nvSpPr>
              <p:cNvPr id="49188" name="Line 27"/>
              <p:cNvSpPr/>
              <p:nvPr/>
            </p:nvSpPr>
            <p:spPr>
              <a:xfrm>
                <a:off x="4269" y="9512"/>
                <a:ext cx="8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sm" len="med"/>
              </a:ln>
            </p:spPr>
          </p:sp>
          <p:sp>
            <p:nvSpPr>
              <p:cNvPr id="49189" name="Line 28"/>
              <p:cNvSpPr/>
              <p:nvPr/>
            </p:nvSpPr>
            <p:spPr>
              <a:xfrm>
                <a:off x="5109" y="9512"/>
                <a:ext cx="0" cy="9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sm" len="med"/>
              </a:ln>
            </p:spPr>
          </p:sp>
        </p:grpSp>
        <p:grpSp>
          <p:nvGrpSpPr>
            <p:cNvPr id="49171" name="Group 29"/>
            <p:cNvGrpSpPr/>
            <p:nvPr/>
          </p:nvGrpSpPr>
          <p:grpSpPr>
            <a:xfrm>
              <a:off x="6873" y="12085"/>
              <a:ext cx="435" cy="936"/>
              <a:chOff x="1539" y="9512"/>
              <a:chExt cx="840" cy="936"/>
            </a:xfrm>
          </p:grpSpPr>
          <p:sp>
            <p:nvSpPr>
              <p:cNvPr id="49186" name="Line 30"/>
              <p:cNvSpPr/>
              <p:nvPr/>
            </p:nvSpPr>
            <p:spPr>
              <a:xfrm>
                <a:off x="1539" y="9512"/>
                <a:ext cx="0" cy="9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sm" len="med"/>
              </a:ln>
            </p:spPr>
          </p:sp>
          <p:sp>
            <p:nvSpPr>
              <p:cNvPr id="49187" name="Line 31"/>
              <p:cNvSpPr/>
              <p:nvPr/>
            </p:nvSpPr>
            <p:spPr>
              <a:xfrm>
                <a:off x="1539" y="9512"/>
                <a:ext cx="8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sm" len="med"/>
              </a:ln>
            </p:spPr>
          </p:sp>
        </p:grpSp>
        <p:grpSp>
          <p:nvGrpSpPr>
            <p:cNvPr id="49172" name="Group 32"/>
            <p:cNvGrpSpPr/>
            <p:nvPr/>
          </p:nvGrpSpPr>
          <p:grpSpPr>
            <a:xfrm>
              <a:off x="8988" y="12088"/>
              <a:ext cx="525" cy="737"/>
              <a:chOff x="4269" y="9512"/>
              <a:chExt cx="840" cy="936"/>
            </a:xfrm>
          </p:grpSpPr>
          <p:sp>
            <p:nvSpPr>
              <p:cNvPr id="49184" name="Line 33"/>
              <p:cNvSpPr/>
              <p:nvPr/>
            </p:nvSpPr>
            <p:spPr>
              <a:xfrm>
                <a:off x="4269" y="9512"/>
                <a:ext cx="8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sm" len="med"/>
              </a:ln>
            </p:spPr>
          </p:sp>
          <p:sp>
            <p:nvSpPr>
              <p:cNvPr id="49185" name="Line 34"/>
              <p:cNvSpPr/>
              <p:nvPr/>
            </p:nvSpPr>
            <p:spPr>
              <a:xfrm>
                <a:off x="5109" y="9512"/>
                <a:ext cx="0" cy="9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sm" len="med"/>
              </a:ln>
            </p:spPr>
          </p:sp>
        </p:grpSp>
        <p:sp>
          <p:nvSpPr>
            <p:cNvPr id="49173" name="AutoShape 35"/>
            <p:cNvSpPr/>
            <p:nvPr/>
          </p:nvSpPr>
          <p:spPr>
            <a:xfrm>
              <a:off x="6573" y="12865"/>
              <a:ext cx="840" cy="434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/>
                <a:t>语句3</a:t>
              </a:r>
              <a:endParaRPr lang="zh-CN" altLang="en-US" sz="1800" b="0" dirty="0"/>
            </a:p>
          </p:txBody>
        </p:sp>
        <p:sp>
          <p:nvSpPr>
            <p:cNvPr id="49174" name="Line 36"/>
            <p:cNvSpPr/>
            <p:nvPr/>
          </p:nvSpPr>
          <p:spPr>
            <a:xfrm>
              <a:off x="6993" y="13303"/>
              <a:ext cx="0" cy="48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75" name="AutoShape 37"/>
            <p:cNvSpPr/>
            <p:nvPr/>
          </p:nvSpPr>
          <p:spPr>
            <a:xfrm>
              <a:off x="1973" y="12885"/>
              <a:ext cx="840" cy="434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/>
                <a:t>语句1</a:t>
              </a:r>
              <a:endParaRPr lang="zh-CN" altLang="en-US" sz="1800" b="0" dirty="0"/>
            </a:p>
          </p:txBody>
        </p:sp>
        <p:sp>
          <p:nvSpPr>
            <p:cNvPr id="49176" name="Line 38"/>
            <p:cNvSpPr/>
            <p:nvPr/>
          </p:nvSpPr>
          <p:spPr>
            <a:xfrm>
              <a:off x="2373" y="13313"/>
              <a:ext cx="0" cy="48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77" name="AutoShape 39"/>
            <p:cNvSpPr/>
            <p:nvPr/>
          </p:nvSpPr>
          <p:spPr>
            <a:xfrm>
              <a:off x="4473" y="12865"/>
              <a:ext cx="840" cy="434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/>
                <a:t>语句2</a:t>
              </a:r>
              <a:endParaRPr lang="zh-CN" altLang="en-US" sz="1800" b="0" dirty="0"/>
            </a:p>
          </p:txBody>
        </p:sp>
        <p:sp>
          <p:nvSpPr>
            <p:cNvPr id="49178" name="Line 40"/>
            <p:cNvSpPr/>
            <p:nvPr/>
          </p:nvSpPr>
          <p:spPr>
            <a:xfrm>
              <a:off x="4893" y="13303"/>
              <a:ext cx="0" cy="48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79" name="Line 41"/>
            <p:cNvSpPr/>
            <p:nvPr/>
          </p:nvSpPr>
          <p:spPr>
            <a:xfrm>
              <a:off x="2340" y="13801"/>
              <a:ext cx="727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80" name="Text Box 42"/>
            <p:cNvSpPr txBox="1"/>
            <p:nvPr/>
          </p:nvSpPr>
          <p:spPr>
            <a:xfrm>
              <a:off x="2373" y="11716"/>
              <a:ext cx="525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/>
                <a:t>真 </a:t>
              </a:r>
              <a:endParaRPr lang="zh-CN" altLang="en-US" sz="1800" b="0" dirty="0"/>
            </a:p>
          </p:txBody>
        </p:sp>
        <p:sp>
          <p:nvSpPr>
            <p:cNvPr id="49181" name="Text Box 43"/>
            <p:cNvSpPr txBox="1"/>
            <p:nvPr/>
          </p:nvSpPr>
          <p:spPr>
            <a:xfrm>
              <a:off x="6888" y="11776"/>
              <a:ext cx="525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/>
                <a:t>真 </a:t>
              </a:r>
              <a:endParaRPr lang="zh-CN" altLang="en-US" sz="1800" b="0" dirty="0"/>
            </a:p>
          </p:txBody>
        </p:sp>
        <p:sp>
          <p:nvSpPr>
            <p:cNvPr id="49182" name="Text Box 44"/>
            <p:cNvSpPr txBox="1"/>
            <p:nvPr/>
          </p:nvSpPr>
          <p:spPr>
            <a:xfrm>
              <a:off x="8883" y="11776"/>
              <a:ext cx="480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/>
                <a:t>假</a:t>
              </a:r>
              <a:endParaRPr lang="zh-CN" altLang="en-US" sz="1800" b="0" dirty="0"/>
            </a:p>
          </p:txBody>
        </p:sp>
        <p:sp>
          <p:nvSpPr>
            <p:cNvPr id="49183" name="Text Box 45"/>
            <p:cNvSpPr txBox="1"/>
            <p:nvPr/>
          </p:nvSpPr>
          <p:spPr>
            <a:xfrm>
              <a:off x="4343" y="11706"/>
              <a:ext cx="480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0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/>
                <a:t>假</a:t>
              </a:r>
              <a:endParaRPr lang="zh-CN" altLang="en-US" sz="1800" b="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2"/>
          <p:cNvSpPr>
            <a:spLocks noGrp="1"/>
          </p:cNvSpPr>
          <p:nvPr>
            <p:ph idx="1"/>
          </p:nvPr>
        </p:nvSpPr>
        <p:spPr>
          <a:xfrm>
            <a:off x="229235" y="766445"/>
            <a:ext cx="2555875" cy="1647190"/>
          </a:xfr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anchor="t" anchorCtr="0"/>
          <a:p>
            <a:pPr marL="0" lvl="1" algn="just" eaLnBrk="1" latinLnBrk="0" hangingPunct="1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ea typeface="Arial Unicode MS" pitchFamily="34" charset="-122"/>
              </a:rPr>
              <a:t>if (x &lt; 1)  </a:t>
            </a:r>
            <a:endParaRPr lang="en-US" altLang="zh-CN" sz="2400" b="0" dirty="0">
              <a:ea typeface="Arial Unicode MS" pitchFamily="34" charset="-122"/>
            </a:endParaRPr>
          </a:p>
          <a:p>
            <a:pPr marL="0" lvl="1" algn="just" eaLnBrk="1" latinLnBrk="0" hangingPunct="1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ea typeface="Arial Unicode MS" pitchFamily="34" charset="-122"/>
              </a:rPr>
              <a:t>    y = x + 1; </a:t>
            </a:r>
            <a:endParaRPr lang="en-US" altLang="zh-CN" sz="2400" b="0" dirty="0">
              <a:ea typeface="Arial Unicode MS" pitchFamily="34" charset="-122"/>
            </a:endParaRPr>
          </a:p>
          <a:p>
            <a:pPr marL="0" lvl="1" algn="just" eaLnBrk="1" latinLnBrk="0" hangingPunct="1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ea typeface="Arial Unicode MS" pitchFamily="34" charset="-122"/>
              </a:rPr>
              <a:t>else if (x &lt; 2)  </a:t>
            </a:r>
            <a:endParaRPr lang="en-US" altLang="zh-CN" sz="2400" b="0" dirty="0">
              <a:ea typeface="Arial Unicode MS" pitchFamily="34" charset="-122"/>
            </a:endParaRPr>
          </a:p>
          <a:p>
            <a:pPr marL="0" lvl="1" algn="just" eaLnBrk="1" latinLnBrk="0" hangingPunct="1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ea typeface="Arial Unicode MS" pitchFamily="34" charset="-122"/>
              </a:rPr>
              <a:t>   y = x + 2;</a:t>
            </a:r>
            <a:endParaRPr lang="en-US" altLang="zh-CN" sz="2400" b="0" dirty="0">
              <a:ea typeface="Arial Unicode MS" pitchFamily="34" charset="-122"/>
            </a:endParaRPr>
          </a:p>
          <a:p>
            <a:pPr marL="0" lvl="1" algn="just" eaLnBrk="1" latinLnBrk="0" hangingPunct="1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CN" sz="2400" b="0" dirty="0"/>
              <a:t>else  y = x + 3; </a:t>
            </a:r>
            <a:endParaRPr lang="en-US" altLang="zh-CN" sz="2400" b="0" dirty="0"/>
          </a:p>
        </p:txBody>
      </p:sp>
      <p:sp>
        <p:nvSpPr>
          <p:cNvPr id="172035" name="Rectangle 3"/>
          <p:cNvSpPr/>
          <p:nvPr/>
        </p:nvSpPr>
        <p:spPr>
          <a:xfrm>
            <a:off x="4740275" y="768350"/>
            <a:ext cx="4179570" cy="164401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819150" lvl="1" indent="-285750" algn="just" eaLnBrk="1" hangingPunct="1">
              <a:lnSpc>
                <a:spcPct val="84000"/>
              </a:lnSpc>
              <a:buSzTx/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if (x &lt; 1)</a:t>
            </a:r>
            <a:endParaRPr lang="en-US" altLang="zh-CN" sz="2400" b="0" dirty="0">
              <a:ea typeface="Arial Unicode MS" pitchFamily="34" charset="-122"/>
            </a:endParaRPr>
          </a:p>
          <a:p>
            <a:pPr marL="819150" lvl="1" indent="-285750" algn="just" eaLnBrk="1" hangingPunct="1">
              <a:lnSpc>
                <a:spcPct val="84000"/>
              </a:lnSpc>
              <a:buSzTx/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    if (x &lt; 2)  y = x + 1; </a:t>
            </a:r>
            <a:endParaRPr lang="en-US" altLang="zh-CN" sz="2400" b="0" dirty="0">
              <a:ea typeface="Arial Unicode MS" pitchFamily="34" charset="-122"/>
            </a:endParaRPr>
          </a:p>
          <a:p>
            <a:pPr marL="819150" lvl="1" indent="-285750" algn="just" eaLnBrk="1" hangingPunct="1">
              <a:lnSpc>
                <a:spcPct val="84000"/>
              </a:lnSpc>
              <a:buSzTx/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    else  y = x + 2;</a:t>
            </a:r>
            <a:endParaRPr lang="en-US" altLang="zh-CN" sz="2400" b="0" dirty="0">
              <a:ea typeface="Arial Unicode MS" pitchFamily="34" charset="-122"/>
            </a:endParaRPr>
          </a:p>
          <a:p>
            <a:pPr marL="819150" lvl="1" indent="-285750" algn="just" eaLnBrk="1" hangingPunct="1">
              <a:lnSpc>
                <a:spcPct val="84000"/>
              </a:lnSpc>
              <a:buSzTx/>
              <a:buFontTx/>
              <a:buNone/>
            </a:pPr>
            <a:r>
              <a:rPr lang="en-US" altLang="zh-CN" sz="2400" b="0" dirty="0"/>
              <a:t>else  y = x + 3;</a:t>
            </a:r>
            <a:r>
              <a:rPr lang="en-US" altLang="zh-CN" sz="2400" b="0" dirty="0">
                <a:ea typeface="仿宋_GB2312" pitchFamily="49" charset="-122"/>
              </a:rPr>
              <a:t> </a:t>
            </a:r>
            <a:endParaRPr lang="zh-CN" altLang="en-US" sz="2400" b="0" dirty="0">
              <a:ea typeface="仿宋_GB2312" pitchFamily="49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4476750" y="3124200"/>
            <a:ext cx="4539615" cy="3429000"/>
            <a:chOff x="1920" y="1296"/>
            <a:chExt cx="3744" cy="2880"/>
          </a:xfrm>
        </p:grpSpPr>
        <p:sp>
          <p:nvSpPr>
            <p:cNvPr id="50201" name="AutoShape 5"/>
            <p:cNvSpPr/>
            <p:nvPr/>
          </p:nvSpPr>
          <p:spPr>
            <a:xfrm>
              <a:off x="3571" y="1546"/>
              <a:ext cx="1229" cy="429"/>
            </a:xfrm>
            <a:prstGeom prst="flowChartDecision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latin typeface="Times New Roman" pitchFamily="18" charset="0"/>
                </a:rPr>
                <a:t>x&lt;1</a:t>
              </a:r>
              <a:endParaRPr lang="en-US" altLang="zh-CN" sz="1800" b="0" dirty="0">
                <a:latin typeface="Times New Roman" pitchFamily="18" charset="0"/>
              </a:endParaRPr>
            </a:p>
          </p:txBody>
        </p:sp>
        <p:sp>
          <p:nvSpPr>
            <p:cNvPr id="50202" name="AutoShape 6"/>
            <p:cNvSpPr/>
            <p:nvPr/>
          </p:nvSpPr>
          <p:spPr>
            <a:xfrm>
              <a:off x="2448" y="2036"/>
              <a:ext cx="1218" cy="412"/>
            </a:xfrm>
            <a:prstGeom prst="flowChartDecision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latin typeface="Times New Roman" pitchFamily="18" charset="0"/>
                </a:rPr>
                <a:t>x&lt;2</a:t>
              </a:r>
              <a:endParaRPr lang="en-US" altLang="zh-CN" sz="1800" b="0" dirty="0">
                <a:latin typeface="Times New Roman" pitchFamily="18" charset="0"/>
              </a:endParaRPr>
            </a:p>
          </p:txBody>
        </p:sp>
        <p:sp>
          <p:nvSpPr>
            <p:cNvPr id="50203" name="AutoShape 7"/>
            <p:cNvSpPr/>
            <p:nvPr/>
          </p:nvSpPr>
          <p:spPr>
            <a:xfrm>
              <a:off x="1920" y="3166"/>
              <a:ext cx="978" cy="289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latin typeface="Times New Roman" pitchFamily="18" charset="0"/>
                </a:rPr>
                <a:t>y=x+1</a:t>
              </a:r>
              <a:endParaRPr lang="en-US" altLang="zh-CN" sz="1800" b="0" dirty="0">
                <a:latin typeface="Times New Roman" pitchFamily="18" charset="0"/>
              </a:endParaRPr>
            </a:p>
          </p:txBody>
        </p:sp>
        <p:sp>
          <p:nvSpPr>
            <p:cNvPr id="50204" name="AutoShape 8"/>
            <p:cNvSpPr/>
            <p:nvPr/>
          </p:nvSpPr>
          <p:spPr>
            <a:xfrm>
              <a:off x="3457" y="3176"/>
              <a:ext cx="959" cy="278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latin typeface="Times New Roman" pitchFamily="18" charset="0"/>
                </a:rPr>
                <a:t>y=x+2</a:t>
              </a:r>
              <a:endParaRPr lang="en-US" altLang="zh-CN" sz="1800" b="0" dirty="0">
                <a:latin typeface="Times New Roman" pitchFamily="18" charset="0"/>
              </a:endParaRPr>
            </a:p>
          </p:txBody>
        </p:sp>
        <p:sp>
          <p:nvSpPr>
            <p:cNvPr id="50205" name="Line 9"/>
            <p:cNvSpPr/>
            <p:nvPr/>
          </p:nvSpPr>
          <p:spPr>
            <a:xfrm flipH="1">
              <a:off x="4189" y="1296"/>
              <a:ext cx="3" cy="2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206" name="Text Box 10"/>
            <p:cNvSpPr txBox="1"/>
            <p:nvPr/>
          </p:nvSpPr>
          <p:spPr>
            <a:xfrm>
              <a:off x="3188" y="1457"/>
              <a:ext cx="460" cy="223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>
                  <a:latin typeface="Times New Roman" pitchFamily="18" charset="0"/>
                </a:rPr>
                <a:t>真 </a:t>
              </a:r>
              <a:endParaRPr lang="zh-CN" altLang="en-US" sz="1800" b="0" dirty="0">
                <a:latin typeface="Times New Roman" pitchFamily="18" charset="0"/>
              </a:endParaRPr>
            </a:p>
          </p:txBody>
        </p:sp>
        <p:sp>
          <p:nvSpPr>
            <p:cNvPr id="50207" name="Line 11"/>
            <p:cNvSpPr/>
            <p:nvPr/>
          </p:nvSpPr>
          <p:spPr>
            <a:xfrm>
              <a:off x="3936" y="3792"/>
              <a:ext cx="0" cy="38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208" name="Freeform 12"/>
            <p:cNvSpPr/>
            <p:nvPr/>
          </p:nvSpPr>
          <p:spPr>
            <a:xfrm>
              <a:off x="4807" y="1776"/>
              <a:ext cx="521" cy="1132"/>
            </a:xfrm>
            <a:custGeom>
              <a:avLst/>
              <a:gdLst>
                <a:gd name="txL" fmla="*/ 0 w 675"/>
                <a:gd name="txT" fmla="*/ 0 h 462"/>
                <a:gd name="txR" fmla="*/ 675 w 675"/>
                <a:gd name="txB" fmla="*/ 462 h 462"/>
              </a:gdLst>
              <a:ahLst/>
              <a:cxnLst>
                <a:cxn ang="0">
                  <a:pos x="0" y="0"/>
                </a:cxn>
                <a:cxn ang="0">
                  <a:pos x="521" y="0"/>
                </a:cxn>
                <a:cxn ang="0">
                  <a:pos x="521" y="1132"/>
                </a:cxn>
              </a:cxnLst>
              <a:rect l="txL" t="txT" r="txR" b="txB"/>
              <a:pathLst>
                <a:path w="675" h="462">
                  <a:moveTo>
                    <a:pt x="0" y="0"/>
                  </a:moveTo>
                  <a:lnTo>
                    <a:pt x="675" y="0"/>
                  </a:lnTo>
                  <a:lnTo>
                    <a:pt x="675" y="462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50209" name="Text Box 13"/>
            <p:cNvSpPr txBox="1"/>
            <p:nvPr/>
          </p:nvSpPr>
          <p:spPr>
            <a:xfrm>
              <a:off x="4800" y="1440"/>
              <a:ext cx="296" cy="223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>
                  <a:latin typeface="Times New Roman" pitchFamily="18" charset="0"/>
                </a:rPr>
                <a:t>假</a:t>
              </a:r>
              <a:endParaRPr lang="zh-CN" altLang="en-US" sz="1800" b="0" dirty="0">
                <a:latin typeface="Times New Roman" pitchFamily="18" charset="0"/>
              </a:endParaRPr>
            </a:p>
          </p:txBody>
        </p:sp>
        <p:sp>
          <p:nvSpPr>
            <p:cNvPr id="50210" name="Text Box 14"/>
            <p:cNvSpPr txBox="1"/>
            <p:nvPr/>
          </p:nvSpPr>
          <p:spPr>
            <a:xfrm>
              <a:off x="2496" y="1824"/>
              <a:ext cx="509" cy="223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>
                  <a:latin typeface="Times New Roman" pitchFamily="18" charset="0"/>
                </a:rPr>
                <a:t>真  </a:t>
              </a:r>
              <a:endParaRPr lang="zh-CN" altLang="en-US" sz="1800" b="0" dirty="0">
                <a:latin typeface="Times New Roman" pitchFamily="18" charset="0"/>
              </a:endParaRPr>
            </a:p>
          </p:txBody>
        </p:sp>
        <p:sp>
          <p:nvSpPr>
            <p:cNvPr id="50211" name="AutoShape 15"/>
            <p:cNvSpPr/>
            <p:nvPr/>
          </p:nvSpPr>
          <p:spPr>
            <a:xfrm>
              <a:off x="4800" y="2908"/>
              <a:ext cx="864" cy="258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latin typeface="Times New Roman" pitchFamily="18" charset="0"/>
                </a:rPr>
                <a:t>y=x+3</a:t>
              </a:r>
              <a:endParaRPr lang="en-US" altLang="zh-CN" sz="1800" b="0" dirty="0">
                <a:latin typeface="Times New Roman" pitchFamily="18" charset="0"/>
              </a:endParaRPr>
            </a:p>
          </p:txBody>
        </p:sp>
        <p:sp>
          <p:nvSpPr>
            <p:cNvPr id="50212" name="Line 16"/>
            <p:cNvSpPr/>
            <p:nvPr/>
          </p:nvSpPr>
          <p:spPr>
            <a:xfrm>
              <a:off x="5376" y="3168"/>
              <a:ext cx="0" cy="57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3" name="Line 17"/>
            <p:cNvSpPr/>
            <p:nvPr/>
          </p:nvSpPr>
          <p:spPr>
            <a:xfrm>
              <a:off x="2256" y="3478"/>
              <a:ext cx="0" cy="26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4" name="Line 18"/>
            <p:cNvSpPr/>
            <p:nvPr/>
          </p:nvSpPr>
          <p:spPr>
            <a:xfrm>
              <a:off x="2256" y="3744"/>
              <a:ext cx="31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5" name="Line 19"/>
            <p:cNvSpPr/>
            <p:nvPr/>
          </p:nvSpPr>
          <p:spPr>
            <a:xfrm>
              <a:off x="3072" y="1776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6" name="Line 20"/>
            <p:cNvSpPr/>
            <p:nvPr/>
          </p:nvSpPr>
          <p:spPr>
            <a:xfrm>
              <a:off x="3072" y="1776"/>
              <a:ext cx="0" cy="26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7" name="Line 21"/>
            <p:cNvSpPr/>
            <p:nvPr/>
          </p:nvSpPr>
          <p:spPr>
            <a:xfrm>
              <a:off x="2208" y="2256"/>
              <a:ext cx="0" cy="9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218" name="Line 22"/>
            <p:cNvSpPr/>
            <p:nvPr/>
          </p:nvSpPr>
          <p:spPr>
            <a:xfrm>
              <a:off x="2208" y="225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9" name="Line 23"/>
            <p:cNvSpPr/>
            <p:nvPr/>
          </p:nvSpPr>
          <p:spPr>
            <a:xfrm>
              <a:off x="3888" y="2248"/>
              <a:ext cx="0" cy="9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220" name="Line 24"/>
            <p:cNvSpPr/>
            <p:nvPr/>
          </p:nvSpPr>
          <p:spPr>
            <a:xfrm>
              <a:off x="3648" y="225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21" name="Line 25"/>
            <p:cNvSpPr/>
            <p:nvPr/>
          </p:nvSpPr>
          <p:spPr>
            <a:xfrm>
              <a:off x="3936" y="3456"/>
              <a:ext cx="0" cy="26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22" name="Text Box 26"/>
            <p:cNvSpPr txBox="1"/>
            <p:nvPr/>
          </p:nvSpPr>
          <p:spPr>
            <a:xfrm>
              <a:off x="3645" y="1985"/>
              <a:ext cx="339" cy="223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>
                  <a:latin typeface="Times New Roman" pitchFamily="18" charset="0"/>
                </a:rPr>
                <a:t>假</a:t>
              </a:r>
              <a:endParaRPr lang="zh-CN" altLang="en-US" sz="1800" b="0" dirty="0">
                <a:latin typeface="Times New Roman" pitchFamily="18" charset="0"/>
              </a:endParaRPr>
            </a:p>
          </p:txBody>
        </p:sp>
      </p:grpSp>
      <p:grpSp>
        <p:nvGrpSpPr>
          <p:cNvPr id="50181" name="Group 27"/>
          <p:cNvGrpSpPr/>
          <p:nvPr/>
        </p:nvGrpSpPr>
        <p:grpSpPr>
          <a:xfrm>
            <a:off x="152400" y="2564765"/>
            <a:ext cx="4197985" cy="4145280"/>
            <a:chOff x="2304" y="1296"/>
            <a:chExt cx="3216" cy="2736"/>
          </a:xfrm>
        </p:grpSpPr>
        <p:sp>
          <p:nvSpPr>
            <p:cNvPr id="50183" name="Text Box 28"/>
            <p:cNvSpPr txBox="1"/>
            <p:nvPr/>
          </p:nvSpPr>
          <p:spPr>
            <a:xfrm>
              <a:off x="3600" y="1525"/>
              <a:ext cx="339" cy="223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>
                  <a:latin typeface="Times New Roman" pitchFamily="18" charset="0"/>
                </a:rPr>
                <a:t>假</a:t>
              </a:r>
              <a:endParaRPr lang="zh-CN" altLang="en-US" sz="1800" b="0" dirty="0">
                <a:latin typeface="Times New Roman" pitchFamily="18" charset="0"/>
              </a:endParaRPr>
            </a:p>
          </p:txBody>
        </p:sp>
        <p:sp>
          <p:nvSpPr>
            <p:cNvPr id="50184" name="AutoShape 29"/>
            <p:cNvSpPr/>
            <p:nvPr/>
          </p:nvSpPr>
          <p:spPr>
            <a:xfrm>
              <a:off x="2304" y="1546"/>
              <a:ext cx="1229" cy="429"/>
            </a:xfrm>
            <a:prstGeom prst="flowChartDecision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latin typeface="Times New Roman" pitchFamily="18" charset="0"/>
                </a:rPr>
                <a:t> x&lt;1</a:t>
              </a:r>
              <a:endParaRPr lang="en-US" altLang="zh-CN" sz="1800" b="0" dirty="0">
                <a:latin typeface="Times New Roman" pitchFamily="18" charset="0"/>
              </a:endParaRPr>
            </a:p>
          </p:txBody>
        </p:sp>
        <p:sp>
          <p:nvSpPr>
            <p:cNvPr id="50185" name="AutoShape 30"/>
            <p:cNvSpPr/>
            <p:nvPr/>
          </p:nvSpPr>
          <p:spPr>
            <a:xfrm>
              <a:off x="3420" y="1887"/>
              <a:ext cx="1218" cy="412"/>
            </a:xfrm>
            <a:prstGeom prst="flowChartDecision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latin typeface="Times New Roman" pitchFamily="18" charset="0"/>
                </a:rPr>
                <a:t>x&lt;2</a:t>
              </a:r>
              <a:endParaRPr lang="en-US" altLang="zh-CN" sz="1800" b="0" dirty="0">
                <a:latin typeface="Times New Roman" pitchFamily="18" charset="0"/>
              </a:endParaRPr>
            </a:p>
          </p:txBody>
        </p:sp>
        <p:sp>
          <p:nvSpPr>
            <p:cNvPr id="50186" name="AutoShape 31"/>
            <p:cNvSpPr/>
            <p:nvPr/>
          </p:nvSpPr>
          <p:spPr>
            <a:xfrm>
              <a:off x="2495" y="3226"/>
              <a:ext cx="861" cy="239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latin typeface="Times New Roman" pitchFamily="18" charset="0"/>
                </a:rPr>
                <a:t>y=x+1</a:t>
              </a:r>
              <a:endParaRPr lang="en-US" altLang="zh-CN" sz="1800" b="0" dirty="0">
                <a:latin typeface="Times New Roman" pitchFamily="18" charset="0"/>
              </a:endParaRPr>
            </a:p>
          </p:txBody>
        </p:sp>
        <p:sp>
          <p:nvSpPr>
            <p:cNvPr id="50187" name="AutoShape 32"/>
            <p:cNvSpPr/>
            <p:nvPr/>
          </p:nvSpPr>
          <p:spPr>
            <a:xfrm>
              <a:off x="3723" y="3219"/>
              <a:ext cx="792" cy="238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latin typeface="Times New Roman" pitchFamily="18" charset="0"/>
                </a:rPr>
                <a:t>y=x+2</a:t>
              </a:r>
              <a:endParaRPr lang="en-US" altLang="zh-CN" sz="1800" b="0" dirty="0">
                <a:latin typeface="Times New Roman" pitchFamily="18" charset="0"/>
              </a:endParaRPr>
            </a:p>
          </p:txBody>
        </p:sp>
        <p:sp>
          <p:nvSpPr>
            <p:cNvPr id="50188" name="Line 33"/>
            <p:cNvSpPr/>
            <p:nvPr/>
          </p:nvSpPr>
          <p:spPr>
            <a:xfrm>
              <a:off x="2922" y="2022"/>
              <a:ext cx="3" cy="119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189" name="Line 34"/>
            <p:cNvSpPr/>
            <p:nvPr/>
          </p:nvSpPr>
          <p:spPr>
            <a:xfrm>
              <a:off x="4027" y="2318"/>
              <a:ext cx="0" cy="9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190" name="Freeform 35"/>
            <p:cNvSpPr/>
            <p:nvPr/>
          </p:nvSpPr>
          <p:spPr>
            <a:xfrm>
              <a:off x="3561" y="1755"/>
              <a:ext cx="480" cy="154"/>
            </a:xfrm>
            <a:custGeom>
              <a:avLst/>
              <a:gdLst>
                <a:gd name="txL" fmla="*/ 0 w 675"/>
                <a:gd name="txT" fmla="*/ 0 h 462"/>
                <a:gd name="txR" fmla="*/ 675 w 675"/>
                <a:gd name="txB" fmla="*/ 462 h 462"/>
              </a:gdLst>
              <a:ahLst/>
              <a:cxnLst>
                <a:cxn ang="0">
                  <a:pos x="0" y="0"/>
                </a:cxn>
                <a:cxn ang="0">
                  <a:pos x="480" y="0"/>
                </a:cxn>
                <a:cxn ang="0">
                  <a:pos x="480" y="154"/>
                </a:cxn>
              </a:cxnLst>
              <a:rect l="txL" t="txT" r="txR" b="txB"/>
              <a:pathLst>
                <a:path w="675" h="462">
                  <a:moveTo>
                    <a:pt x="0" y="0"/>
                  </a:moveTo>
                  <a:lnTo>
                    <a:pt x="675" y="0"/>
                  </a:lnTo>
                  <a:lnTo>
                    <a:pt x="675" y="462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50191" name="Line 36"/>
            <p:cNvSpPr/>
            <p:nvPr/>
          </p:nvSpPr>
          <p:spPr>
            <a:xfrm flipH="1">
              <a:off x="2922" y="1296"/>
              <a:ext cx="3" cy="2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192" name="Text Box 37"/>
            <p:cNvSpPr txBox="1"/>
            <p:nvPr/>
          </p:nvSpPr>
          <p:spPr>
            <a:xfrm>
              <a:off x="2417" y="2008"/>
              <a:ext cx="370" cy="223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>
                  <a:latin typeface="Times New Roman" pitchFamily="18" charset="0"/>
                </a:rPr>
                <a:t>真  </a:t>
              </a:r>
              <a:endParaRPr lang="zh-CN" altLang="en-US" sz="1800" b="0" dirty="0">
                <a:latin typeface="Times New Roman" pitchFamily="18" charset="0"/>
              </a:endParaRPr>
            </a:p>
          </p:txBody>
        </p:sp>
        <p:sp>
          <p:nvSpPr>
            <p:cNvPr id="50193" name="Line 38"/>
            <p:cNvSpPr/>
            <p:nvPr/>
          </p:nvSpPr>
          <p:spPr>
            <a:xfrm>
              <a:off x="4032" y="3456"/>
              <a:ext cx="0" cy="57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194" name="Freeform 39"/>
            <p:cNvSpPr/>
            <p:nvPr/>
          </p:nvSpPr>
          <p:spPr>
            <a:xfrm>
              <a:off x="4663" y="2084"/>
              <a:ext cx="521" cy="1132"/>
            </a:xfrm>
            <a:custGeom>
              <a:avLst/>
              <a:gdLst>
                <a:gd name="txL" fmla="*/ 0 w 675"/>
                <a:gd name="txT" fmla="*/ 0 h 462"/>
                <a:gd name="txR" fmla="*/ 675 w 675"/>
                <a:gd name="txB" fmla="*/ 462 h 462"/>
              </a:gdLst>
              <a:ahLst/>
              <a:cxnLst>
                <a:cxn ang="0">
                  <a:pos x="0" y="0"/>
                </a:cxn>
                <a:cxn ang="0">
                  <a:pos x="521" y="0"/>
                </a:cxn>
                <a:cxn ang="0">
                  <a:pos x="521" y="1132"/>
                </a:cxn>
              </a:cxnLst>
              <a:rect l="txL" t="txT" r="txR" b="txB"/>
              <a:pathLst>
                <a:path w="675" h="462">
                  <a:moveTo>
                    <a:pt x="0" y="0"/>
                  </a:moveTo>
                  <a:lnTo>
                    <a:pt x="675" y="0"/>
                  </a:lnTo>
                  <a:lnTo>
                    <a:pt x="675" y="462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50195" name="Text Box 40"/>
            <p:cNvSpPr txBox="1"/>
            <p:nvPr/>
          </p:nvSpPr>
          <p:spPr>
            <a:xfrm>
              <a:off x="4663" y="1810"/>
              <a:ext cx="296" cy="223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>
                  <a:latin typeface="Times New Roman" pitchFamily="18" charset="0"/>
                </a:rPr>
                <a:t>假</a:t>
              </a:r>
              <a:endParaRPr lang="zh-CN" altLang="en-US" sz="1800" b="0" dirty="0">
                <a:latin typeface="Times New Roman" pitchFamily="18" charset="0"/>
              </a:endParaRPr>
            </a:p>
          </p:txBody>
        </p:sp>
        <p:sp>
          <p:nvSpPr>
            <p:cNvPr id="50196" name="Text Box 41"/>
            <p:cNvSpPr txBox="1"/>
            <p:nvPr/>
          </p:nvSpPr>
          <p:spPr>
            <a:xfrm>
              <a:off x="3462" y="2340"/>
              <a:ext cx="509" cy="223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>
                  <a:latin typeface="Times New Roman" pitchFamily="18" charset="0"/>
                </a:rPr>
                <a:t>真 </a:t>
              </a:r>
              <a:endParaRPr lang="zh-CN" altLang="en-US" sz="1800" b="0" dirty="0">
                <a:latin typeface="Times New Roman" pitchFamily="18" charset="0"/>
              </a:endParaRPr>
            </a:p>
          </p:txBody>
        </p:sp>
        <p:sp>
          <p:nvSpPr>
            <p:cNvPr id="50197" name="AutoShape 42"/>
            <p:cNvSpPr/>
            <p:nvPr/>
          </p:nvSpPr>
          <p:spPr>
            <a:xfrm>
              <a:off x="4718" y="3218"/>
              <a:ext cx="802" cy="238"/>
            </a:xfrm>
            <a:prstGeom prst="flowChartProcess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latin typeface="Times New Roman" pitchFamily="18" charset="0"/>
                </a:rPr>
                <a:t>y=x+3</a:t>
              </a:r>
              <a:endParaRPr lang="en-US" altLang="zh-CN" sz="1800" b="0" dirty="0">
                <a:latin typeface="Times New Roman" pitchFamily="18" charset="0"/>
              </a:endParaRPr>
            </a:p>
          </p:txBody>
        </p:sp>
        <p:sp>
          <p:nvSpPr>
            <p:cNvPr id="50198" name="Line 43"/>
            <p:cNvSpPr/>
            <p:nvPr/>
          </p:nvSpPr>
          <p:spPr>
            <a:xfrm>
              <a:off x="5184" y="3456"/>
              <a:ext cx="0" cy="26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9" name="Line 44"/>
            <p:cNvSpPr/>
            <p:nvPr/>
          </p:nvSpPr>
          <p:spPr>
            <a:xfrm>
              <a:off x="2880" y="3456"/>
              <a:ext cx="0" cy="26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00" name="Line 45"/>
            <p:cNvSpPr/>
            <p:nvPr/>
          </p:nvSpPr>
          <p:spPr>
            <a:xfrm>
              <a:off x="2880" y="3696"/>
              <a:ext cx="23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0182" name="Rectangle 46"/>
          <p:cNvSpPr>
            <a:spLocks noGrp="1"/>
          </p:cNvSpPr>
          <p:nvPr>
            <p:ph type="title"/>
          </p:nvPr>
        </p:nvSpPr>
        <p:spPr>
          <a:xfrm>
            <a:off x="228600" y="0"/>
            <a:ext cx="5783263" cy="6858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2种嵌套</a:t>
            </a:r>
            <a:r>
              <a:rPr lang="en-US" altLang="zh-CN" b="0" dirty="0"/>
              <a:t>if</a:t>
            </a:r>
            <a:r>
              <a:rPr lang="zh-CN" altLang="en-US" b="0" dirty="0">
                <a:latin typeface="宋体" pitchFamily="2" charset="-122"/>
              </a:rPr>
              <a:t>语句的比较</a:t>
            </a:r>
            <a:endParaRPr lang="zh-CN" altLang="en-US" b="0" dirty="0"/>
          </a:p>
        </p:txBody>
      </p:sp>
      <p:sp>
        <p:nvSpPr>
          <p:cNvPr id="5" name="矩形 4"/>
          <p:cNvSpPr/>
          <p:nvPr/>
        </p:nvSpPr>
        <p:spPr>
          <a:xfrm>
            <a:off x="92075" y="2501265"/>
            <a:ext cx="8959850" cy="417703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551815" y="4725035"/>
            <a:ext cx="36601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7" name="组合 16"/>
          <p:cNvGrpSpPr/>
          <p:nvPr/>
        </p:nvGrpSpPr>
        <p:grpSpPr>
          <a:xfrm>
            <a:off x="275590" y="3642995"/>
            <a:ext cx="1106170" cy="1482090"/>
            <a:chOff x="434" y="5737"/>
            <a:chExt cx="1742" cy="2334"/>
          </a:xfrm>
        </p:grpSpPr>
        <p:sp>
          <p:nvSpPr>
            <p:cNvPr id="7" name="文本框 6"/>
            <p:cNvSpPr txBox="1"/>
            <p:nvPr/>
          </p:nvSpPr>
          <p:spPr>
            <a:xfrm>
              <a:off x="1660" y="7491"/>
              <a:ext cx="51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434" y="5737"/>
              <a:ext cx="1620" cy="1700"/>
              <a:chOff x="434" y="5737"/>
              <a:chExt cx="1620" cy="1700"/>
            </a:xfrm>
          </p:grpSpPr>
          <p:cxnSp>
            <p:nvCxnSpPr>
              <p:cNvPr id="8" name="直接连接符 7"/>
              <p:cNvCxnSpPr/>
              <p:nvPr/>
            </p:nvCxnSpPr>
            <p:spPr>
              <a:xfrm flipH="1">
                <a:off x="1919" y="5737"/>
                <a:ext cx="0" cy="170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" name="文本框 11"/>
              <p:cNvSpPr txBox="1"/>
              <p:nvPr/>
            </p:nvSpPr>
            <p:spPr>
              <a:xfrm>
                <a:off x="434" y="6270"/>
                <a:ext cx="162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y=x+1</a:t>
                </a:r>
                <a:endParaRPr lang="en-US" altLang="zh-CN"/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>
            <a:off x="1335405" y="3644265"/>
            <a:ext cx="1209040" cy="1480820"/>
            <a:chOff x="2103" y="5739"/>
            <a:chExt cx="1904" cy="2332"/>
          </a:xfrm>
        </p:grpSpPr>
        <p:sp>
          <p:nvSpPr>
            <p:cNvPr id="9" name="文本框 8"/>
            <p:cNvSpPr txBox="1"/>
            <p:nvPr/>
          </p:nvSpPr>
          <p:spPr>
            <a:xfrm>
              <a:off x="3491" y="7491"/>
              <a:ext cx="517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3684" y="5739"/>
              <a:ext cx="0" cy="170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" name="文本框 12"/>
            <p:cNvSpPr txBox="1"/>
            <p:nvPr/>
          </p:nvSpPr>
          <p:spPr>
            <a:xfrm>
              <a:off x="2103" y="6244"/>
              <a:ext cx="16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y=x+2</a:t>
              </a:r>
              <a:endParaRPr lang="en-US" altLang="zh-CN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2555240" y="3964940"/>
            <a:ext cx="1028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y=x+3</a:t>
            </a:r>
            <a:endParaRPr lang="en-US" altLang="zh-CN"/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5055870" y="4708525"/>
            <a:ext cx="36601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" name="组合 29"/>
          <p:cNvGrpSpPr/>
          <p:nvPr/>
        </p:nvGrpSpPr>
        <p:grpSpPr>
          <a:xfrm>
            <a:off x="5558155" y="3626485"/>
            <a:ext cx="327660" cy="1482090"/>
            <a:chOff x="8753" y="5711"/>
            <a:chExt cx="516" cy="2334"/>
          </a:xfrm>
        </p:grpSpPr>
        <p:sp>
          <p:nvSpPr>
            <p:cNvPr id="20" name="文本框 19"/>
            <p:cNvSpPr txBox="1"/>
            <p:nvPr/>
          </p:nvSpPr>
          <p:spPr>
            <a:xfrm>
              <a:off x="8753" y="7465"/>
              <a:ext cx="51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  <p:cxnSp>
          <p:nvCxnSpPr>
            <p:cNvPr id="22" name="直接连接符 21"/>
            <p:cNvCxnSpPr/>
            <p:nvPr/>
          </p:nvCxnSpPr>
          <p:spPr>
            <a:xfrm flipH="1">
              <a:off x="9012" y="5711"/>
              <a:ext cx="0" cy="170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3" name="文本框 22"/>
          <p:cNvSpPr txBox="1"/>
          <p:nvPr/>
        </p:nvSpPr>
        <p:spPr>
          <a:xfrm>
            <a:off x="4779645" y="3964940"/>
            <a:ext cx="1028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y=x+1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6720840" y="4740275"/>
            <a:ext cx="3282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cxnSp>
        <p:nvCxnSpPr>
          <p:cNvPr id="26" name="直接连接符 25"/>
          <p:cNvCxnSpPr/>
          <p:nvPr/>
        </p:nvCxnSpPr>
        <p:spPr>
          <a:xfrm>
            <a:off x="6843395" y="3986530"/>
            <a:ext cx="0" cy="720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shade val="50000"/>
              </a:schemeClr>
            </a:solidFill>
            <a:prstDash val="sysDash"/>
            <a:round/>
            <a:headEnd type="none" w="med" len="med"/>
            <a:tailEnd type="none" w="med" len="med"/>
          </a:ln>
        </p:spPr>
      </p:cxnSp>
      <p:sp>
        <p:nvSpPr>
          <p:cNvPr id="27" name="文本框 26"/>
          <p:cNvSpPr txBox="1"/>
          <p:nvPr/>
        </p:nvSpPr>
        <p:spPr>
          <a:xfrm>
            <a:off x="7200900" y="4162425"/>
            <a:ext cx="1028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y=x+2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329045" y="3613150"/>
            <a:ext cx="1028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y=x+3</a:t>
            </a:r>
            <a:endParaRPr lang="en-US" altLang="zh-CN"/>
          </a:p>
        </p:txBody>
      </p:sp>
      <p:cxnSp>
        <p:nvCxnSpPr>
          <p:cNvPr id="31" name="直接连接符 30"/>
          <p:cNvCxnSpPr/>
          <p:nvPr/>
        </p:nvCxnSpPr>
        <p:spPr>
          <a:xfrm>
            <a:off x="6843395" y="3985260"/>
            <a:ext cx="0" cy="720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shade val="50000"/>
              </a:schemeClr>
            </a:solidFill>
            <a:prstDash val="sysDash"/>
            <a:round/>
            <a:headEnd type="none" w="med" len="med"/>
            <a:tailEnd type="none" w="med" len="med"/>
          </a:ln>
        </p:spPr>
      </p:cxnSp>
      <p:sp>
        <p:nvSpPr>
          <p:cNvPr id="32" name="文本框 31"/>
          <p:cNvSpPr txBox="1"/>
          <p:nvPr/>
        </p:nvSpPr>
        <p:spPr>
          <a:xfrm>
            <a:off x="7200900" y="4161155"/>
            <a:ext cx="1028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y=x+2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411980" y="842645"/>
            <a:ext cx="0" cy="575437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 bldLvl="0" animBg="1"/>
      <p:bldP spid="5" grpId="0" bldLvl="0" animBg="1"/>
      <p:bldP spid="14" grpId="0"/>
      <p:bldP spid="25" grpId="0"/>
      <p:bldP spid="27" grpId="0"/>
      <p:bldP spid="28" grpId="0"/>
      <p:bldP spid="23" grpId="0"/>
      <p:bldP spid="3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b="0" dirty="0"/>
              <a:t>else </a:t>
            </a:r>
            <a:r>
              <a:rPr lang="zh-CN" altLang="en-US" sz="4000" b="0" dirty="0"/>
              <a:t>和 </a:t>
            </a:r>
            <a:r>
              <a:rPr lang="en-US" altLang="zh-CN" sz="4000" b="0" dirty="0"/>
              <a:t>if </a:t>
            </a:r>
            <a:r>
              <a:rPr lang="zh-CN" altLang="en-US" sz="4000" b="0" dirty="0"/>
              <a:t>的匹配</a:t>
            </a:r>
            <a:endParaRPr lang="zh-CN" altLang="en-US" sz="4000" b="0" dirty="0">
              <a:latin typeface="宋体" pitchFamily="2" charset="-122"/>
            </a:endParaRPr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>
          <a:xfrm>
            <a:off x="468313" y="1196975"/>
            <a:ext cx="3455987" cy="273685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800" b="0" dirty="0"/>
              <a:t>if(</a:t>
            </a:r>
            <a:r>
              <a:rPr lang="zh-CN" altLang="en-US" sz="2800" b="0" dirty="0"/>
              <a:t>表达式1)</a:t>
            </a:r>
            <a:endParaRPr lang="zh-CN" altLang="en-US" sz="2800" b="0" dirty="0"/>
          </a:p>
          <a:p>
            <a:pPr marL="819150" lvl="1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if(</a:t>
            </a:r>
            <a:r>
              <a:rPr lang="zh-CN" altLang="en-US" sz="2400" b="0" dirty="0"/>
              <a:t>表达式2) 语句1</a:t>
            </a:r>
            <a:endParaRPr lang="zh-CN" altLang="en-US" sz="2400" b="0" dirty="0"/>
          </a:p>
          <a:p>
            <a:pPr marL="819150" lvl="1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else  </a:t>
            </a:r>
            <a:r>
              <a:rPr lang="zh-CN" altLang="en-US" sz="2400" b="0" dirty="0"/>
              <a:t>语句2 </a:t>
            </a:r>
            <a:endParaRPr lang="zh-CN" altLang="en-US" sz="2400" b="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800" b="0" dirty="0"/>
              <a:t>else</a:t>
            </a:r>
            <a:endParaRPr lang="en-US" altLang="zh-CN" sz="2800" b="0" dirty="0"/>
          </a:p>
          <a:p>
            <a:pPr marL="819150" lvl="1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if(</a:t>
            </a:r>
            <a:r>
              <a:rPr lang="zh-CN" altLang="en-US" sz="2400" b="0" dirty="0"/>
              <a:t>表达式3) 语句3 </a:t>
            </a:r>
            <a:endParaRPr lang="zh-CN" altLang="en-US" sz="2400" b="0" dirty="0"/>
          </a:p>
          <a:p>
            <a:pPr marL="819150" lvl="1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else  </a:t>
            </a:r>
            <a:r>
              <a:rPr lang="zh-CN" altLang="en-US" sz="2400" b="0" dirty="0"/>
              <a:t>语句4  </a:t>
            </a:r>
            <a:endParaRPr lang="zh-CN" altLang="en-US" sz="2400" b="0" dirty="0"/>
          </a:p>
        </p:txBody>
      </p:sp>
      <p:sp>
        <p:nvSpPr>
          <p:cNvPr id="173060" name="Rectangle 4"/>
          <p:cNvSpPr/>
          <p:nvPr/>
        </p:nvSpPr>
        <p:spPr>
          <a:xfrm>
            <a:off x="4876800" y="1125538"/>
            <a:ext cx="3962400" cy="2514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just" eaLnBrk="1" hangingPunct="1">
              <a:lnSpc>
                <a:spcPct val="90000"/>
              </a:lnSpc>
              <a:buClr>
                <a:schemeClr val="accent2"/>
              </a:buClr>
              <a:buSzTx/>
              <a:buNone/>
            </a:pPr>
            <a:r>
              <a:rPr lang="en-US" altLang="zh-CN" sz="2400" b="0" dirty="0">
                <a:ea typeface="仿宋_GB2312" pitchFamily="49" charset="-122"/>
              </a:rPr>
              <a:t>if(</a:t>
            </a:r>
            <a:r>
              <a:rPr lang="zh-CN" altLang="en-US" sz="2400" b="0" dirty="0">
                <a:ea typeface="仿宋_GB2312" pitchFamily="49" charset="-122"/>
              </a:rPr>
              <a:t>表达式1)</a:t>
            </a:r>
            <a:endParaRPr lang="zh-CN" altLang="en-US" sz="2400" b="0" dirty="0">
              <a:ea typeface="仿宋_GB2312" pitchFamily="49" charset="-122"/>
            </a:endParaRPr>
          </a:p>
          <a:p>
            <a:pPr marL="819150" lvl="1" indent="-285750" algn="just"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zh-CN" sz="2400" b="0" dirty="0">
                <a:ea typeface="仿宋_GB2312" pitchFamily="49" charset="-122"/>
              </a:rPr>
              <a:t>if(</a:t>
            </a:r>
            <a:r>
              <a:rPr lang="zh-CN" altLang="en-US" sz="2400" b="0" dirty="0">
                <a:ea typeface="仿宋_GB2312" pitchFamily="49" charset="-122"/>
              </a:rPr>
              <a:t>表达式2) 语句1</a:t>
            </a:r>
            <a:endParaRPr lang="zh-CN" altLang="en-US" sz="2400" b="0" dirty="0">
              <a:ea typeface="仿宋_GB2312" pitchFamily="49" charset="-122"/>
            </a:endParaRPr>
          </a:p>
          <a:p>
            <a:pPr marL="819150" lvl="1" indent="-285750" algn="just" eaLnBrk="1" hangingPunct="1">
              <a:lnSpc>
                <a:spcPct val="90000"/>
              </a:lnSpc>
              <a:buSzTx/>
              <a:buFontTx/>
              <a:buNone/>
            </a:pPr>
            <a:r>
              <a:rPr lang="zh-CN" altLang="en-US" sz="2400" b="0" dirty="0">
                <a:ea typeface="仿宋_GB2312" pitchFamily="49" charset="-122"/>
              </a:rPr>
              <a:t> </a:t>
            </a:r>
            <a:endParaRPr lang="zh-CN" altLang="en-US" sz="2400" b="0" dirty="0">
              <a:ea typeface="仿宋_GB2312" pitchFamily="49" charset="-122"/>
            </a:endParaRPr>
          </a:p>
          <a:p>
            <a:pPr marL="342900" lvl="0" indent="-342900" algn="just" eaLnBrk="1" hangingPunct="1">
              <a:lnSpc>
                <a:spcPct val="90000"/>
              </a:lnSpc>
              <a:buClr>
                <a:schemeClr val="accent2"/>
              </a:buClr>
              <a:buSzTx/>
              <a:buNone/>
            </a:pPr>
            <a:r>
              <a:rPr lang="en-US" altLang="zh-CN" sz="2400" b="0" dirty="0">
                <a:ea typeface="仿宋_GB2312" pitchFamily="49" charset="-122"/>
              </a:rPr>
              <a:t>else</a:t>
            </a:r>
            <a:endParaRPr lang="en-US" altLang="zh-CN" sz="2400" b="0" dirty="0">
              <a:ea typeface="仿宋_GB2312" pitchFamily="49" charset="-122"/>
            </a:endParaRPr>
          </a:p>
          <a:p>
            <a:pPr marL="819150" lvl="1" indent="-285750" algn="just"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zh-CN" sz="2400" b="0" dirty="0">
                <a:ea typeface="仿宋_GB2312" pitchFamily="49" charset="-122"/>
              </a:rPr>
              <a:t>if(</a:t>
            </a:r>
            <a:r>
              <a:rPr lang="zh-CN" altLang="en-US" sz="2400" b="0" dirty="0">
                <a:ea typeface="仿宋_GB2312" pitchFamily="49" charset="-122"/>
              </a:rPr>
              <a:t>表达式3) 语句3 </a:t>
            </a:r>
            <a:endParaRPr lang="zh-CN" altLang="en-US" sz="2400" b="0" dirty="0">
              <a:ea typeface="仿宋_GB2312" pitchFamily="49" charset="-122"/>
            </a:endParaRPr>
          </a:p>
          <a:p>
            <a:pPr marL="819150" lvl="1" indent="-285750" algn="just"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zh-CN" sz="2400" b="0" dirty="0">
                <a:ea typeface="仿宋_GB2312" pitchFamily="49" charset="-122"/>
              </a:rPr>
              <a:t>else  </a:t>
            </a:r>
            <a:r>
              <a:rPr lang="zh-CN" altLang="en-US" sz="2400" b="0" dirty="0">
                <a:ea typeface="仿宋_GB2312" pitchFamily="49" charset="-122"/>
              </a:rPr>
              <a:t>语句4  </a:t>
            </a:r>
            <a:endParaRPr lang="zh-CN" altLang="en-US" sz="2400" b="0" dirty="0">
              <a:ea typeface="仿宋_GB2312" pitchFamily="49" charset="-122"/>
            </a:endParaRPr>
          </a:p>
        </p:txBody>
      </p:sp>
      <p:sp>
        <p:nvSpPr>
          <p:cNvPr id="173061" name="Text Box 5"/>
          <p:cNvSpPr txBox="1"/>
          <p:nvPr/>
        </p:nvSpPr>
        <p:spPr>
          <a:xfrm>
            <a:off x="109538" y="3859848"/>
            <a:ext cx="8818245" cy="47815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0" dirty="0">
                <a:solidFill>
                  <a:schemeClr val="bg2"/>
                </a:solidFill>
                <a:latin typeface="Times New Roman" pitchFamily="18" charset="0"/>
              </a:rPr>
              <a:t>else </a:t>
            </a:r>
            <a:r>
              <a:rPr lang="zh-CN" altLang="en-US" sz="2800" b="0" dirty="0">
                <a:solidFill>
                  <a:schemeClr val="bg2"/>
                </a:solidFill>
                <a:latin typeface="Times New Roman" pitchFamily="18" charset="0"/>
              </a:rPr>
              <a:t>与最靠近它的、没有与别的 </a:t>
            </a:r>
            <a:r>
              <a:rPr lang="en-US" altLang="zh-CN" sz="2800" b="0" dirty="0">
                <a:solidFill>
                  <a:schemeClr val="bg2"/>
                </a:solidFill>
                <a:latin typeface="Times New Roman" pitchFamily="18" charset="0"/>
              </a:rPr>
              <a:t>else </a:t>
            </a:r>
            <a:r>
              <a:rPr lang="zh-CN" altLang="en-US" sz="2800" b="0" dirty="0">
                <a:solidFill>
                  <a:schemeClr val="bg2"/>
                </a:solidFill>
                <a:latin typeface="Times New Roman" pitchFamily="18" charset="0"/>
              </a:rPr>
              <a:t>匹配过的 </a:t>
            </a:r>
            <a:r>
              <a:rPr lang="en-US" altLang="zh-CN" sz="2800" b="0" dirty="0">
                <a:solidFill>
                  <a:schemeClr val="bg2"/>
                </a:solidFill>
                <a:latin typeface="Times New Roman" pitchFamily="18" charset="0"/>
              </a:rPr>
              <a:t>if </a:t>
            </a:r>
            <a:r>
              <a:rPr lang="zh-CN" altLang="en-US" sz="2800" b="0" dirty="0">
                <a:solidFill>
                  <a:schemeClr val="bg2"/>
                </a:solidFill>
                <a:latin typeface="Times New Roman" pitchFamily="18" charset="0"/>
              </a:rPr>
              <a:t>匹配</a:t>
            </a:r>
            <a:endParaRPr lang="zh-CN" altLang="en-US" sz="2800" b="0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173062" name="Rectangle 6"/>
          <p:cNvSpPr/>
          <p:nvPr/>
        </p:nvSpPr>
        <p:spPr>
          <a:xfrm>
            <a:off x="2124075" y="4437063"/>
            <a:ext cx="4495800" cy="2133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just" eaLnBrk="1" hangingPunct="1">
              <a:lnSpc>
                <a:spcPct val="90000"/>
              </a:lnSpc>
              <a:buClr>
                <a:schemeClr val="accent2"/>
              </a:buClr>
              <a:buSzTx/>
              <a:buNone/>
            </a:pPr>
            <a:r>
              <a:rPr lang="en-US" altLang="zh-CN" sz="2400" b="0" dirty="0">
                <a:ea typeface="仿宋_GB2312" pitchFamily="49" charset="-122"/>
              </a:rPr>
              <a:t>if(</a:t>
            </a:r>
            <a:r>
              <a:rPr lang="zh-CN" altLang="en-US" sz="2400" b="0" dirty="0">
                <a:ea typeface="仿宋_GB2312" pitchFamily="49" charset="-122"/>
              </a:rPr>
              <a:t>表达式1)</a:t>
            </a:r>
            <a:endParaRPr lang="zh-CN" altLang="en-US" sz="2400" b="0" dirty="0">
              <a:ea typeface="仿宋_GB2312" pitchFamily="49" charset="-122"/>
            </a:endParaRPr>
          </a:p>
          <a:p>
            <a:pPr marL="819150" lvl="1" indent="-285750" algn="just"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zh-CN" sz="2400" b="0" dirty="0">
                <a:ea typeface="仿宋_GB2312" pitchFamily="49" charset="-122"/>
              </a:rPr>
              <a:t>if(</a:t>
            </a:r>
            <a:r>
              <a:rPr lang="zh-CN" altLang="en-US" sz="2400" b="0" dirty="0">
                <a:ea typeface="仿宋_GB2312" pitchFamily="49" charset="-122"/>
              </a:rPr>
              <a:t>表达式2) 语句1 </a:t>
            </a:r>
            <a:endParaRPr lang="zh-CN" altLang="en-US" sz="2400" b="0" dirty="0">
              <a:ea typeface="仿宋_GB2312" pitchFamily="49" charset="-122"/>
            </a:endParaRPr>
          </a:p>
          <a:p>
            <a:pPr marL="819150" lvl="1" indent="-285750" algn="just"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zh-CN" sz="2400" b="0" dirty="0">
                <a:ea typeface="仿宋_GB2312" pitchFamily="49" charset="-122"/>
              </a:rPr>
              <a:t>else</a:t>
            </a:r>
            <a:endParaRPr lang="en-US" altLang="zh-CN" sz="2400" b="0" dirty="0">
              <a:ea typeface="仿宋_GB2312" pitchFamily="49" charset="-122"/>
            </a:endParaRPr>
          </a:p>
          <a:p>
            <a:pPr marL="1143000" lvl="2" indent="-228600" algn="just" eaLnBrk="1" hangingPunct="1">
              <a:lnSpc>
                <a:spcPct val="90000"/>
              </a:lnSpc>
              <a:buClr>
                <a:schemeClr val="accent2"/>
              </a:buClr>
              <a:buSzTx/>
              <a:buFontTx/>
              <a:buNone/>
            </a:pPr>
            <a:r>
              <a:rPr lang="en-US" altLang="zh-CN" b="0" dirty="0">
                <a:ea typeface="仿宋_GB2312" pitchFamily="49" charset="-122"/>
              </a:rPr>
              <a:t>if(</a:t>
            </a:r>
            <a:r>
              <a:rPr lang="zh-CN" altLang="en-US" b="0" dirty="0">
                <a:ea typeface="仿宋_GB2312" pitchFamily="49" charset="-122"/>
              </a:rPr>
              <a:t>表达式3) 语句3 </a:t>
            </a:r>
            <a:endParaRPr lang="zh-CN" altLang="en-US" b="0" dirty="0">
              <a:ea typeface="仿宋_GB2312" pitchFamily="49" charset="-122"/>
            </a:endParaRPr>
          </a:p>
          <a:p>
            <a:pPr marL="1143000" lvl="2" indent="-228600" algn="just" eaLnBrk="1" hangingPunct="1">
              <a:lnSpc>
                <a:spcPct val="90000"/>
              </a:lnSpc>
              <a:buClr>
                <a:schemeClr val="accent2"/>
              </a:buClr>
              <a:buSzTx/>
              <a:buFontTx/>
              <a:buNone/>
            </a:pPr>
            <a:r>
              <a:rPr lang="en-US" altLang="zh-CN" b="0" dirty="0">
                <a:ea typeface="仿宋_GB2312" pitchFamily="49" charset="-122"/>
              </a:rPr>
              <a:t>else  </a:t>
            </a:r>
            <a:r>
              <a:rPr lang="zh-CN" altLang="en-US" b="0" dirty="0">
                <a:ea typeface="仿宋_GB2312" pitchFamily="49" charset="-122"/>
              </a:rPr>
              <a:t>语句4  </a:t>
            </a:r>
            <a:endParaRPr lang="zh-CN" altLang="en-US" b="0" dirty="0"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0" grpId="0" bldLvl="0" animBg="1"/>
      <p:bldP spid="173061" grpId="0"/>
      <p:bldP spid="173062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842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改变</a:t>
            </a:r>
            <a:r>
              <a:rPr lang="en-US" altLang="zh-CN" b="0" dirty="0"/>
              <a:t>else </a:t>
            </a:r>
            <a:r>
              <a:rPr lang="zh-CN" altLang="en-US" b="0" dirty="0"/>
              <a:t>和 </a:t>
            </a:r>
            <a:r>
              <a:rPr lang="en-US" altLang="zh-CN" b="0" dirty="0"/>
              <a:t>if </a:t>
            </a:r>
            <a:r>
              <a:rPr lang="zh-CN" altLang="en-US" b="0" dirty="0"/>
              <a:t>的配对</a:t>
            </a:r>
            <a:endParaRPr lang="zh-CN" altLang="en-US" b="0" dirty="0">
              <a:latin typeface="宋体" pitchFamily="2" charset="-122"/>
            </a:endParaRPr>
          </a:p>
        </p:txBody>
      </p:sp>
      <p:sp>
        <p:nvSpPr>
          <p:cNvPr id="52227" name="Rectangle 3"/>
          <p:cNvSpPr>
            <a:spLocks noGrp="1"/>
          </p:cNvSpPr>
          <p:nvPr>
            <p:ph idx="1"/>
          </p:nvPr>
        </p:nvSpPr>
        <p:spPr>
          <a:xfrm>
            <a:off x="228600" y="1447800"/>
            <a:ext cx="8591550" cy="1693863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400" b="0" dirty="0"/>
              <a:t>例</a:t>
            </a:r>
            <a:r>
              <a:rPr lang="en-US" altLang="zh-CN" sz="2400" b="0" dirty="0"/>
              <a:t>3-10 </a:t>
            </a:r>
            <a:r>
              <a:rPr lang="zh-CN" altLang="en-US" sz="2400" b="0" dirty="0"/>
              <a:t>改写下列 </a:t>
            </a:r>
            <a:r>
              <a:rPr lang="en-US" altLang="zh-CN" sz="2400" b="0" dirty="0"/>
              <a:t>if </a:t>
            </a:r>
            <a:r>
              <a:rPr lang="zh-CN" altLang="en-US" sz="2400" b="0" dirty="0"/>
              <a:t>语句，使 </a:t>
            </a:r>
            <a:r>
              <a:rPr lang="en-US" altLang="zh-CN" sz="2400" b="0" dirty="0"/>
              <a:t>else </a:t>
            </a:r>
            <a:r>
              <a:rPr lang="zh-CN" altLang="en-US" sz="2400" b="0" dirty="0"/>
              <a:t>和第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个 </a:t>
            </a:r>
            <a:r>
              <a:rPr lang="en-US" altLang="zh-CN" sz="2400" b="0" dirty="0"/>
              <a:t>if </a:t>
            </a:r>
            <a:r>
              <a:rPr lang="zh-CN" altLang="en-US" sz="2400" b="0" dirty="0"/>
              <a:t>配对。 </a:t>
            </a:r>
            <a:endParaRPr lang="en-US" altLang="zh-CN" sz="2400" b="0" dirty="0"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if (x &lt; 2)</a:t>
            </a:r>
            <a:endParaRPr lang="en-US" altLang="zh-CN" sz="2400" b="0" dirty="0"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    if (x &lt; 1)  y = x + 1; </a:t>
            </a:r>
            <a:endParaRPr lang="en-US" altLang="zh-CN" sz="2400" b="0" dirty="0">
              <a:ea typeface="Arial Unicode MS" pitchFamily="34" charset="-122"/>
            </a:endParaRP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    else  y = x + 2;</a:t>
            </a:r>
            <a:endParaRPr lang="en-US" altLang="zh-CN" sz="2400" b="0" dirty="0">
              <a:ea typeface="Arial Unicode MS" pitchFamily="34" charset="-122"/>
            </a:endParaRPr>
          </a:p>
        </p:txBody>
      </p:sp>
      <p:sp>
        <p:nvSpPr>
          <p:cNvPr id="174086" name="Rectangle 6"/>
          <p:cNvSpPr/>
          <p:nvPr/>
        </p:nvSpPr>
        <p:spPr>
          <a:xfrm>
            <a:off x="152400" y="3886200"/>
            <a:ext cx="4038600" cy="1828800"/>
          </a:xfrm>
          <a:prstGeom prst="rect">
            <a:avLst/>
          </a:prstGeom>
          <a:noFill/>
          <a:ln w="9525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just" eaLnBrk="1" hangingPunct="1">
              <a:buClr>
                <a:schemeClr val="accent2"/>
              </a:buClr>
              <a:buSzTx/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if (x &lt; 2){</a:t>
            </a:r>
            <a:endParaRPr lang="en-US" altLang="zh-CN" sz="2400" b="0" dirty="0">
              <a:ea typeface="Arial Unicode MS" pitchFamily="34" charset="-122"/>
            </a:endParaRPr>
          </a:p>
          <a:p>
            <a:pPr marL="342900" lvl="0" indent="-342900" algn="just" eaLnBrk="1" hangingPunct="1">
              <a:buClr>
                <a:schemeClr val="accent2"/>
              </a:buClr>
              <a:buSzTx/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    if (x &lt; 1)   y = x + 1; </a:t>
            </a:r>
            <a:endParaRPr lang="en-US" altLang="zh-CN" sz="2400" b="0" dirty="0">
              <a:ea typeface="Arial Unicode MS" pitchFamily="34" charset="-122"/>
            </a:endParaRPr>
          </a:p>
          <a:p>
            <a:pPr marL="342900" lvl="0" indent="-342900" algn="just" eaLnBrk="1" hangingPunct="1">
              <a:buClr>
                <a:schemeClr val="accent2"/>
              </a:buClr>
              <a:buSzTx/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}</a:t>
            </a:r>
            <a:endParaRPr lang="en-US" altLang="zh-CN" sz="2400" b="0" dirty="0">
              <a:ea typeface="Arial Unicode MS" pitchFamily="34" charset="-122"/>
            </a:endParaRPr>
          </a:p>
          <a:p>
            <a:pPr marL="342900" lvl="0" indent="-342900" algn="just" eaLnBrk="1" hangingPunct="1">
              <a:buClr>
                <a:schemeClr val="accent2"/>
              </a:buClr>
              <a:buSzTx/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else  y = x + 2;</a:t>
            </a:r>
            <a:endParaRPr lang="en-US" altLang="zh-CN" sz="2400" b="0" dirty="0">
              <a:ea typeface="Arial Unicode MS" pitchFamily="34" charset="-122"/>
            </a:endParaRPr>
          </a:p>
        </p:txBody>
      </p:sp>
      <p:sp>
        <p:nvSpPr>
          <p:cNvPr id="174087" name="Rectangle 7"/>
          <p:cNvSpPr/>
          <p:nvPr/>
        </p:nvSpPr>
        <p:spPr>
          <a:xfrm>
            <a:off x="4572000" y="3886200"/>
            <a:ext cx="4038600" cy="1828800"/>
          </a:xfrm>
          <a:prstGeom prst="rect">
            <a:avLst/>
          </a:prstGeom>
          <a:noFill/>
          <a:ln w="9525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just" eaLnBrk="1" hangingPunct="1">
              <a:buClr>
                <a:schemeClr val="accent2"/>
              </a:buClr>
              <a:buSzTx/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if (x &lt; 2)</a:t>
            </a:r>
            <a:endParaRPr lang="en-US" altLang="zh-CN" sz="2400" b="0" dirty="0">
              <a:ea typeface="Arial Unicode MS" pitchFamily="34" charset="-122"/>
            </a:endParaRPr>
          </a:p>
          <a:p>
            <a:pPr marL="342900" lvl="0" indent="-342900" algn="just" eaLnBrk="1" hangingPunct="1">
              <a:buClr>
                <a:schemeClr val="accent2"/>
              </a:buClr>
              <a:buSzTx/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    if (x &lt; 1)   y = x + 1; </a:t>
            </a:r>
            <a:endParaRPr lang="en-US" altLang="zh-CN" sz="2400" b="0" dirty="0">
              <a:ea typeface="Arial Unicode MS" pitchFamily="34" charset="-122"/>
            </a:endParaRPr>
          </a:p>
          <a:p>
            <a:pPr marL="342900" lvl="0" indent="-342900" algn="just" eaLnBrk="1" hangingPunct="1">
              <a:buClr>
                <a:schemeClr val="accent2"/>
              </a:buClr>
              <a:buSzTx/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    else;</a:t>
            </a:r>
            <a:endParaRPr lang="en-US" altLang="zh-CN" sz="2400" b="0" dirty="0">
              <a:ea typeface="Arial Unicode MS" pitchFamily="34" charset="-122"/>
            </a:endParaRPr>
          </a:p>
          <a:p>
            <a:pPr marL="342900" lvl="0" indent="-342900" algn="just" eaLnBrk="1" hangingPunct="1">
              <a:buClr>
                <a:schemeClr val="accent2"/>
              </a:buClr>
              <a:buSzTx/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else  y = x + 2;</a:t>
            </a:r>
            <a:endParaRPr lang="en-US" altLang="zh-CN" sz="2400" b="0" dirty="0">
              <a:ea typeface="Arial Unicode MS" pitchFamily="34" charset="-122"/>
            </a:endParaRPr>
          </a:p>
        </p:txBody>
      </p:sp>
      <p:sp>
        <p:nvSpPr>
          <p:cNvPr id="174089" name="Rectangle 9"/>
          <p:cNvSpPr/>
          <p:nvPr/>
        </p:nvSpPr>
        <p:spPr>
          <a:xfrm>
            <a:off x="3924300" y="2924175"/>
            <a:ext cx="3095625" cy="40068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zh-CN" altLang="en-US" sz="2400" b="0" dirty="0">
                <a:ea typeface="Arial Unicode MS" pitchFamily="34" charset="-122"/>
              </a:rPr>
              <a:t>每条语句的执行条件?</a:t>
            </a:r>
            <a:r>
              <a:rPr lang="en-US" altLang="zh-CN" sz="2400" b="0" dirty="0">
                <a:latin typeface="宋体" pitchFamily="2" charset="-122"/>
              </a:rPr>
              <a:t> </a:t>
            </a:r>
            <a:endParaRPr lang="zh-CN" altLang="en-US" sz="2400" b="0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6" grpId="0" bldLvl="0" animBg="1"/>
      <p:bldP spid="174087" grpId="0" bldLvl="0" animBg="1"/>
      <p:bldP spid="174089" grpId="0" bldLvl="0" animBg="1"/>
    </p:bld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9207</Words>
  <Application>WPS 演示</Application>
  <PresentationFormat>全屏显示(4:3)</PresentationFormat>
  <Paragraphs>812</Paragraphs>
  <Slides>42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42</vt:i4>
      </vt:variant>
    </vt:vector>
  </HeadingPairs>
  <TitlesOfParts>
    <vt:vector size="60" baseType="lpstr">
      <vt:lpstr>Arial</vt:lpstr>
      <vt:lpstr>宋体</vt:lpstr>
      <vt:lpstr>Wingdings</vt:lpstr>
      <vt:lpstr>DejaVu Sans</vt:lpstr>
      <vt:lpstr>文泉驿微米黑</vt:lpstr>
      <vt:lpstr>Arial Black</vt:lpstr>
      <vt:lpstr>Times New Roman</vt:lpstr>
      <vt:lpstr>Arial Unicode MS</vt:lpstr>
      <vt:lpstr>黑体</vt:lpstr>
      <vt:lpstr>楷体_GB2312</vt:lpstr>
      <vt:lpstr>仿宋_GB2312</vt:lpstr>
      <vt:lpstr>微软雅黑</vt:lpstr>
      <vt:lpstr>宋体</vt:lpstr>
      <vt:lpstr>Arial Unicode MS</vt:lpstr>
      <vt:lpstr>Noto Sans Symbols2</vt:lpstr>
      <vt:lpstr>Pixel</vt:lpstr>
      <vt:lpstr>Equation.DSMT4</vt:lpstr>
      <vt:lpstr>Equation.DSMT4</vt:lpstr>
      <vt:lpstr>Chap 3   分支结构</vt:lpstr>
      <vt:lpstr>3.1  统计输入的一批字符中各类字符的数量</vt:lpstr>
      <vt:lpstr>3.1.1  程序解析</vt:lpstr>
      <vt:lpstr>3.1.2  字符类型</vt:lpstr>
      <vt:lpstr>字符常量 </vt:lpstr>
      <vt:lpstr>字符变量 </vt:lpstr>
      <vt:lpstr>3.1.3  字符型数据的输入和输出</vt:lpstr>
      <vt:lpstr>调用scanf和printf输入输出字符 </vt:lpstr>
      <vt:lpstr>3.1.4  逻辑运算</vt:lpstr>
      <vt:lpstr>3种逻辑运算符</vt:lpstr>
      <vt:lpstr>逻辑运算符的含义</vt:lpstr>
      <vt:lpstr>逻辑运算符的功能</vt:lpstr>
      <vt:lpstr>逻辑表达式</vt:lpstr>
      <vt:lpstr>条件的表示</vt:lpstr>
      <vt:lpstr>3.1.5  else – if 语句 </vt:lpstr>
      <vt:lpstr>else – if 语句</vt:lpstr>
      <vt:lpstr>计算分段函数</vt:lpstr>
      <vt:lpstr>源程序-计算分段函数</vt:lpstr>
      <vt:lpstr>3.2 查询自动售货机中商品的价格 </vt:lpstr>
      <vt:lpstr>3.2.1  程序解析</vt:lpstr>
      <vt:lpstr>PowerPoint 演示文稿</vt:lpstr>
      <vt:lpstr>3.2.2 switch语句 </vt:lpstr>
      <vt:lpstr>PowerPoint 演示文稿</vt:lpstr>
      <vt:lpstr>求解简单表达式</vt:lpstr>
      <vt:lpstr>源程序</vt:lpstr>
      <vt:lpstr>2、在switch中不使用break</vt:lpstr>
      <vt:lpstr>PowerPoint 演示文稿</vt:lpstr>
      <vt:lpstr>3、在switch的某些语句段中使用break</vt:lpstr>
      <vt:lpstr>PowerPoint 演示文稿</vt:lpstr>
      <vt:lpstr>3.3 分支结构程序设计 </vt:lpstr>
      <vt:lpstr>3.3.1 二分支结构和基本的 if 语句</vt:lpstr>
      <vt:lpstr>判断数字的奇偶性</vt:lpstr>
      <vt:lpstr>源程序-判断数字的奇偶性</vt:lpstr>
      <vt:lpstr>求绝对值</vt:lpstr>
      <vt:lpstr>源程序-求绝对值</vt:lpstr>
      <vt:lpstr>3.3.2 多分支结构与嵌套的 if 语句和switch语句</vt:lpstr>
      <vt:lpstr>嵌套的 if 语句</vt:lpstr>
      <vt:lpstr>else – if 语句</vt:lpstr>
      <vt:lpstr>嵌套的 if – else 语句</vt:lpstr>
      <vt:lpstr>2种嵌套if语句的比较</vt:lpstr>
      <vt:lpstr>else 和 if 的匹配</vt:lpstr>
      <vt:lpstr>改变else 和 if 的配对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chap2_用C语言编写程序1-3</dc:title>
  <dc:creator>yanhui</dc:creator>
  <cp:lastModifiedBy>huxy</cp:lastModifiedBy>
  <cp:revision>1195</cp:revision>
  <dcterms:created xsi:type="dcterms:W3CDTF">2023-09-03T15:14:57Z</dcterms:created>
  <dcterms:modified xsi:type="dcterms:W3CDTF">2023-09-03T15:14:57Z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2052-11.1.0.10920</vt:lpwstr>
  </property>
</Properties>
</file>