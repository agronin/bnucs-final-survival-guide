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5"/>
  </p:handoutMasterIdLst>
  <p:sldIdLst>
    <p:sldId id="381" r:id="rId3"/>
    <p:sldId id="383" r:id="rId4"/>
    <p:sldId id="483" r:id="rId6"/>
    <p:sldId id="413" r:id="rId7"/>
    <p:sldId id="415" r:id="rId8"/>
    <p:sldId id="414" r:id="rId9"/>
    <p:sldId id="416" r:id="rId10"/>
    <p:sldId id="422" r:id="rId11"/>
    <p:sldId id="423" r:id="rId12"/>
    <p:sldId id="418" r:id="rId13"/>
    <p:sldId id="484" r:id="rId14"/>
    <p:sldId id="424" r:id="rId15"/>
    <p:sldId id="425" r:id="rId16"/>
    <p:sldId id="427" r:id="rId17"/>
    <p:sldId id="428" r:id="rId18"/>
    <p:sldId id="429" r:id="rId19"/>
    <p:sldId id="431" r:id="rId20"/>
    <p:sldId id="432" r:id="rId21"/>
    <p:sldId id="433" r:id="rId22"/>
    <p:sldId id="434" r:id="rId23"/>
    <p:sldId id="485" r:id="rId24"/>
    <p:sldId id="436" r:id="rId25"/>
    <p:sldId id="437" r:id="rId26"/>
    <p:sldId id="438" r:id="rId27"/>
    <p:sldId id="440" r:id="rId28"/>
    <p:sldId id="441" r:id="rId29"/>
    <p:sldId id="442" r:id="rId30"/>
    <p:sldId id="443" r:id="rId31"/>
    <p:sldId id="444" r:id="rId32"/>
    <p:sldId id="445" r:id="rId33"/>
    <p:sldId id="446" r:id="rId34"/>
    <p:sldId id="447" r:id="rId35"/>
    <p:sldId id="448" r:id="rId36"/>
    <p:sldId id="449" r:id="rId37"/>
    <p:sldId id="454" r:id="rId38"/>
    <p:sldId id="455" r:id="rId39"/>
    <p:sldId id="456" r:id="rId40"/>
    <p:sldId id="458" r:id="rId41"/>
    <p:sldId id="460" r:id="rId42"/>
    <p:sldId id="459" r:id="rId43"/>
    <p:sldId id="457" r:id="rId44"/>
    <p:sldId id="461" r:id="rId45"/>
    <p:sldId id="462" r:id="rId46"/>
    <p:sldId id="463" r:id="rId47"/>
    <p:sldId id="464" r:id="rId48"/>
    <p:sldId id="465" r:id="rId49"/>
    <p:sldId id="466" r:id="rId50"/>
    <p:sldId id="467" r:id="rId51"/>
    <p:sldId id="468" r:id="rId52"/>
    <p:sldId id="469" r:id="rId53"/>
    <p:sldId id="470" r:id="rId54"/>
    <p:sldId id="471" r:id="rId55"/>
    <p:sldId id="472" r:id="rId56"/>
    <p:sldId id="473" r:id="rId57"/>
    <p:sldId id="474" r:id="rId58"/>
    <p:sldId id="475" r:id="rId59"/>
    <p:sldId id="476" r:id="rId60"/>
    <p:sldId id="479" r:id="rId61"/>
    <p:sldId id="480" r:id="rId62"/>
    <p:sldId id="481" r:id="rId63"/>
    <p:sldId id="482" r:id="rId64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80604020202020204" pitchFamily="34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008080"/>
    <a:srgbClr val="FF3300"/>
    <a:srgbClr val="FF9966"/>
    <a:srgbClr val="FF9933"/>
    <a:srgbClr val="FFFF00"/>
    <a:srgbClr val="757E30"/>
    <a:srgbClr val="33CCCC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5655"/>
    <p:restoredTop sz="87587"/>
  </p:normalViewPr>
  <p:slideViewPr>
    <p:cSldViewPr showGuides="1">
      <p:cViewPr varScale="1">
        <p:scale>
          <a:sx n="96" d="100"/>
          <a:sy n="96" d="100"/>
        </p:scale>
        <p:origin x="392" y="48"/>
      </p:cViewPr>
      <p:guideLst>
        <p:guide orient="horz" pos="2160"/>
        <p:guide pos="29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8" Type="http://schemas.openxmlformats.org/officeDocument/2006/relationships/tableStyles" Target="tableStyles.xml"/><Relationship Id="rId67" Type="http://schemas.openxmlformats.org/officeDocument/2006/relationships/viewProps" Target="viewProps.xml"/><Relationship Id="rId66" Type="http://schemas.openxmlformats.org/officeDocument/2006/relationships/presProps" Target="presProps.xml"/><Relationship Id="rId65" Type="http://schemas.openxmlformats.org/officeDocument/2006/relationships/handoutMaster" Target="handoutMasters/handoutMaster1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DC051A7-3587-483F-9A84-19A57A54D702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3076" name="Rectangle 4"/>
          <p:cNvSpPr/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kumimoji="1" sz="1200">
                <a:latin typeface="Times New Roman" pitchFamily="18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59EBB9F-ED3F-4095-BBB0-A0D8AB781BF8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宋体" pitchFamily="2" charset="-122"/>
                <a:cs typeface="+mn-cs"/>
              </a:rPr>
            </a:fld>
            <a:endParaRPr kumimoji="1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717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71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1126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1331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33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>
          <a:solidFill>
            <a:srgbClr val="FFFFFF">
              <a:alpha val="100000"/>
            </a:srgbClr>
          </a:solidFill>
        </p:spPr>
      </p:sp>
      <p:sp>
        <p:nvSpPr>
          <p:cNvPr id="18436" name="Rectangle 3"/>
          <p:cNvSpPr/>
          <p:nvPr>
            <p:ph type="body" idx="1"/>
          </p:nvPr>
        </p:nvSpPr>
        <p:spPr>
          <a:solidFill>
            <a:srgbClr val="FFFFFF">
              <a:alpha val="100000"/>
            </a:srgbClr>
          </a:solidFill>
          <a:ln>
            <a:solidFill>
              <a:srgbClr val="000000">
                <a:alpha val="100000"/>
              </a:srgbClr>
            </a:solidFill>
            <a:miter/>
          </a:ln>
        </p:spPr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2560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2765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76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2969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97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3481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3891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389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4096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450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491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5120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>
              <a:spcBef>
                <a:spcPct val="0"/>
              </a:spcBef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  <p:sp>
        <p:nvSpPr>
          <p:cNvPr id="5325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203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49204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400"/>
            </a:lvl1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 Black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800D6FC-F8F6-4751-AF76-C915BE71AE0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 Black" pitchFamily="34" charset="0"/>
                <a:ea typeface="宋体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 Black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脚占位符 1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None/>
              <a:defRPr/>
            </a:pPr>
            <a:endParaRPr kumimoji="0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48162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8060402020202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1028" name="Rectangle 1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9" name="Rectangle 15"/>
          <p:cNvSpPr>
            <a:spLocks noGrp="1"/>
          </p:cNvSpPr>
          <p:nvPr>
            <p:ph type="body" idx="1"/>
          </p:nvPr>
        </p:nvSpPr>
        <p:spPr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48176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8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48177" name="Text Box 17"/>
          <p:cNvSpPr txBox="1">
            <a:spLocks noChangeArrowheads="1"/>
          </p:cNvSpPr>
          <p:nvPr/>
        </p:nvSpPr>
        <p:spPr bwMode="auto">
          <a:xfrm>
            <a:off x="8532813" y="6308725"/>
            <a:ext cx="503238" cy="36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lIns="92075" tIns="46038" rIns="92075" bIns="46038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80604020202020204" pitchFamily="34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6D9E139-8418-4926-8889-64399745B40F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80604020202020204" pitchFamily="34" charset="0"/>
                <a:ea typeface="宋体" pitchFamily="2" charset="-122"/>
                <a:cs typeface="+mn-cs"/>
              </a:rPr>
            </a:fld>
            <a:endParaRPr kumimoji="0" lang="en-US" altLang="zh-CN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80604020202020204" pitchFamily="34" charset="0"/>
              <a:ea typeface="宋体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hlink"/>
          </a:solidFill>
          <a:latin typeface="Arial" panose="02080604020202020204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1.wmf"/><Relationship Id="rId1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oleObject" Target="../embeddings/oleObject3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oleObject" Target="../embeddings/oleObject4.bin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 dirty="0"/>
              <a:t>Chap</a:t>
            </a:r>
            <a:r>
              <a:rPr lang="zh-CN" altLang="en-US" b="0" dirty="0"/>
              <a:t> 2  用</a:t>
            </a:r>
            <a:r>
              <a:rPr lang="en-US" altLang="zh-CN" b="0" dirty="0"/>
              <a:t>C</a:t>
            </a:r>
            <a:r>
              <a:rPr lang="zh-CN" altLang="en-US" b="0" dirty="0"/>
              <a:t>语言编写程序 </a:t>
            </a:r>
            <a:endParaRPr lang="zh-CN" altLang="en-US" b="0" dirty="0"/>
          </a:p>
        </p:txBody>
      </p:sp>
      <p:sp>
        <p:nvSpPr>
          <p:cNvPr id="5123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0" dirty="0"/>
              <a:t>2.1  在屏幕上显示信息</a:t>
            </a:r>
            <a:endParaRPr lang="en-US" altLang="zh-CN" b="0" dirty="0"/>
          </a:p>
          <a:p>
            <a:pPr eaLnBrk="1" hangingPunct="1">
              <a:buNone/>
            </a:pPr>
            <a:r>
              <a:rPr lang="en-US" altLang="zh-CN" b="0" dirty="0"/>
              <a:t>2.2  </a:t>
            </a:r>
            <a:r>
              <a:rPr lang="zh-CN" altLang="en-US" b="0" dirty="0"/>
              <a:t>求华氏温度 100°</a:t>
            </a:r>
            <a:r>
              <a:rPr lang="en-US" altLang="zh-CN" b="0" dirty="0"/>
              <a:t>F </a:t>
            </a:r>
            <a:r>
              <a:rPr lang="zh-CN" altLang="en-US" b="0" dirty="0"/>
              <a:t>对应的摄氏温度</a:t>
            </a: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/>
              <a:t>2.3  计算分段函数</a:t>
            </a: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/>
              <a:t>2.4  输出华氏—摄氏温度转换表</a:t>
            </a: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/>
              <a:t>2.5  生成乘方表与阶乘表 </a:t>
            </a:r>
            <a:endParaRPr lang="zh-CN" altLang="en-US" b="0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2.1  在屏幕上显示信息</a:t>
            </a:r>
            <a:endParaRPr lang="zh-CN" altLang="en-US" b="0" dirty="0"/>
          </a:p>
        </p:txBody>
      </p:sp>
      <p:sp>
        <p:nvSpPr>
          <p:cNvPr id="6147" name="Rectangle 18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0" dirty="0"/>
              <a:t>例2-1 在屏幕上显示一个短句</a:t>
            </a:r>
            <a:r>
              <a:rPr lang="en-US" altLang="zh-CN" b="0" dirty="0"/>
              <a:t>:</a:t>
            </a:r>
            <a:endParaRPr lang="en-US" altLang="zh-CN" b="0" dirty="0"/>
          </a:p>
          <a:p>
            <a:pPr eaLnBrk="1" hangingPunct="1"/>
            <a:endParaRPr lang="en-US" altLang="zh-CN" b="0" dirty="0"/>
          </a:p>
          <a:p>
            <a:pPr eaLnBrk="1" hangingPunct="1">
              <a:buNone/>
            </a:pPr>
            <a:r>
              <a:rPr lang="en-US" altLang="zh-CN" b="0" dirty="0"/>
              <a:t>Hello World!</a:t>
            </a:r>
            <a:endParaRPr lang="zh-CN" altLang="en-US" b="0" dirty="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2.1  在屏幕上显示信息</a:t>
            </a:r>
            <a:endParaRPr lang="zh-CN" altLang="en-US" b="0" dirty="0"/>
          </a:p>
        </p:txBody>
      </p:sp>
      <p:sp>
        <p:nvSpPr>
          <p:cNvPr id="8195" name="Rectangle 18"/>
          <p:cNvSpPr>
            <a:spLocks noGrp="1"/>
          </p:cNvSpPr>
          <p:nvPr>
            <p:ph idx="1"/>
          </p:nvPr>
        </p:nvSpPr>
        <p:spPr>
          <a:xfrm>
            <a:off x="457200" y="1981200"/>
            <a:ext cx="8273415" cy="367982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b="0" dirty="0">
                <a:solidFill>
                  <a:srgbClr val="00B050"/>
                </a:solidFill>
              </a:rPr>
              <a:t>/* </a:t>
            </a:r>
            <a:r>
              <a:rPr lang="zh-CN" altLang="en-US" sz="2800" b="0" dirty="0">
                <a:solidFill>
                  <a:srgbClr val="00B050"/>
                </a:solidFill>
              </a:rPr>
              <a:t>显示“</a:t>
            </a:r>
            <a:r>
              <a:rPr lang="en-US" altLang="zh-CN" sz="2800" b="0" dirty="0">
                <a:solidFill>
                  <a:srgbClr val="00B050"/>
                </a:solidFill>
              </a:rPr>
              <a:t>Hello World!” */</a:t>
            </a:r>
            <a:r>
              <a:rPr lang="en-US" altLang="zh-CN" sz="2800" b="0" dirty="0"/>
              <a:t>               </a:t>
            </a:r>
            <a:r>
              <a:rPr lang="zh-CN" altLang="en-US" sz="2800" b="0" dirty="0">
                <a:solidFill>
                  <a:schemeClr val="bg2"/>
                </a:solidFill>
              </a:rPr>
              <a:t>注释文本</a:t>
            </a:r>
            <a:r>
              <a:rPr lang="zh-CN" altLang="en-US" sz="2800" b="0" dirty="0"/>
              <a:t>  </a:t>
            </a:r>
            <a:endParaRPr lang="zh-CN" altLang="en-US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# </a:t>
            </a:r>
            <a:r>
              <a:rPr lang="en-US" altLang="zh-CN" sz="2800" b="0" dirty="0"/>
              <a:t>include &lt;stdio.h&gt;             </a:t>
            </a:r>
            <a:r>
              <a:rPr lang="zh-CN" altLang="en-US" sz="2800" b="0" dirty="0">
                <a:solidFill>
                  <a:schemeClr val="bg2"/>
                </a:solidFill>
                <a:sym typeface="+mn-ea"/>
              </a:rPr>
              <a:t>编译预处理命令</a:t>
            </a:r>
            <a:endParaRPr lang="zh-CN" altLang="en-US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b="0" dirty="0"/>
              <a:t>int main(void)                       </a:t>
            </a:r>
            <a:r>
              <a:rPr lang="zh-CN" altLang="en-US" sz="2800" b="0" dirty="0">
                <a:solidFill>
                  <a:schemeClr val="bg2"/>
                </a:solidFill>
              </a:rPr>
              <a:t>主函数</a:t>
            </a:r>
            <a:endParaRPr lang="zh-CN" altLang="en-US" sz="2800" b="0" dirty="0">
              <a:solidFill>
                <a:schemeClr val="bg2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{   </a:t>
            </a:r>
            <a:endParaRPr lang="zh-CN" altLang="en-US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    </a:t>
            </a:r>
            <a:r>
              <a:rPr lang="en-US" altLang="zh-CN" sz="2800" b="0" dirty="0"/>
              <a:t>printf(“Hello World! \n”);           </a:t>
            </a:r>
            <a:r>
              <a:rPr lang="zh-CN" altLang="en-US" sz="2800" b="0" dirty="0">
                <a:solidFill>
                  <a:schemeClr val="bg2"/>
                </a:solidFill>
              </a:rPr>
              <a:t>语句结束</a:t>
            </a:r>
            <a:endParaRPr lang="zh-CN" altLang="en-US" sz="2800" b="0" dirty="0">
              <a:solidFill>
                <a:schemeClr val="bg2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>
                <a:solidFill>
                  <a:schemeClr val="bg2"/>
                </a:solidFill>
              </a:rPr>
              <a:t>    </a:t>
            </a:r>
            <a:r>
              <a:rPr lang="en-US" altLang="zh-CN" sz="2800" b="0" dirty="0"/>
              <a:t>return 0;</a:t>
            </a:r>
            <a:r>
              <a:rPr lang="x-none" altLang="en-US" sz="2800" b="0" dirty="0"/>
              <a:t>  </a:t>
            </a:r>
            <a:r>
              <a:rPr lang="x-none" altLang="en-US" sz="2800" b="0" dirty="0">
                <a:solidFill>
                  <a:srgbClr val="00B050"/>
                </a:solidFill>
              </a:rPr>
              <a:t>//</a:t>
            </a:r>
            <a:r>
              <a:rPr lang="zh-CN" altLang="x-none" sz="2800" b="0" dirty="0">
                <a:solidFill>
                  <a:srgbClr val="00B050"/>
                </a:solidFill>
              </a:rPr>
              <a:t>返回系统</a:t>
            </a:r>
            <a:r>
              <a:rPr lang="en-US" altLang="zh-CN" sz="2800" b="0" dirty="0">
                <a:sym typeface="+mn-ea"/>
              </a:rPr>
              <a:t>                   </a:t>
            </a:r>
            <a:r>
              <a:rPr lang="zh-CN" altLang="en-US" sz="2800" b="0" dirty="0">
                <a:solidFill>
                  <a:schemeClr val="bg2"/>
                </a:solidFill>
                <a:sym typeface="+mn-ea"/>
              </a:rPr>
              <a:t>注释文本</a:t>
            </a:r>
            <a:r>
              <a:rPr lang="zh-CN" altLang="en-US" sz="2800" b="0" dirty="0">
                <a:sym typeface="+mn-ea"/>
              </a:rPr>
              <a:t> </a:t>
            </a:r>
            <a:endParaRPr lang="en-US" altLang="zh-CN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}</a:t>
            </a:r>
            <a:endParaRPr lang="zh-CN" altLang="en-US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    </a:t>
            </a:r>
            <a:endParaRPr lang="zh-CN" altLang="en-US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   </a:t>
            </a:r>
            <a:r>
              <a:rPr lang="zh-CN" altLang="en-US" sz="2800" b="0" dirty="0">
                <a:solidFill>
                  <a:schemeClr val="bg2"/>
                </a:solidFill>
              </a:rPr>
              <a:t>输出函数</a:t>
            </a:r>
            <a:r>
              <a:rPr lang="zh-CN" altLang="en-US" sz="2800" b="0" dirty="0">
                <a:solidFill>
                  <a:srgbClr val="CC0066"/>
                </a:solidFill>
              </a:rPr>
              <a:t>                </a:t>
            </a:r>
            <a:r>
              <a:rPr lang="zh-CN" altLang="en-US" sz="2800" b="0" dirty="0">
                <a:solidFill>
                  <a:schemeClr val="bg2"/>
                </a:solidFill>
              </a:rPr>
              <a:t>换行符</a:t>
            </a:r>
            <a:endParaRPr lang="zh-CN" altLang="en-US" sz="2800" b="0" dirty="0">
              <a:solidFill>
                <a:schemeClr val="bg2"/>
              </a:solidFill>
            </a:endParaRPr>
          </a:p>
        </p:txBody>
      </p:sp>
      <p:sp>
        <p:nvSpPr>
          <p:cNvPr id="8196" name="Line 4"/>
          <p:cNvSpPr/>
          <p:nvPr/>
        </p:nvSpPr>
        <p:spPr>
          <a:xfrm>
            <a:off x="3778885" y="3068638"/>
            <a:ext cx="1676400" cy="0"/>
          </a:xfrm>
          <a:prstGeom prst="line">
            <a:avLst/>
          </a:prstGeom>
          <a:ln w="41275" cap="sq" cmpd="sng">
            <a:solidFill>
              <a:schemeClr val="bg2"/>
            </a:solidFill>
            <a:prstDash val="solid"/>
            <a:headEnd type="triangle" w="med" len="med"/>
            <a:tailEnd type="none" w="sm" len="sm"/>
          </a:ln>
        </p:spPr>
      </p:sp>
      <p:sp>
        <p:nvSpPr>
          <p:cNvPr id="8197" name="Line 5"/>
          <p:cNvSpPr/>
          <p:nvPr/>
        </p:nvSpPr>
        <p:spPr>
          <a:xfrm>
            <a:off x="1476375" y="4004945"/>
            <a:ext cx="0" cy="1296035"/>
          </a:xfrm>
          <a:prstGeom prst="line">
            <a:avLst/>
          </a:prstGeom>
          <a:ln w="41275" cap="sq" cmpd="sng">
            <a:solidFill>
              <a:schemeClr val="bg2"/>
            </a:solidFill>
            <a:prstDash val="solid"/>
            <a:headEnd type="triangle" w="med" len="med"/>
            <a:tailEnd type="none" w="sm" len="sm"/>
          </a:ln>
        </p:spPr>
      </p:sp>
      <p:sp>
        <p:nvSpPr>
          <p:cNvPr id="8198" name="Line 6"/>
          <p:cNvSpPr/>
          <p:nvPr/>
        </p:nvSpPr>
        <p:spPr>
          <a:xfrm flipV="1">
            <a:off x="5651500" y="3860800"/>
            <a:ext cx="838200" cy="0"/>
          </a:xfrm>
          <a:prstGeom prst="line">
            <a:avLst/>
          </a:prstGeom>
          <a:ln w="38100" cap="sq" cmpd="sng">
            <a:solidFill>
              <a:schemeClr val="bg2"/>
            </a:solidFill>
            <a:prstDash val="solid"/>
            <a:headEnd type="triangle" w="med" len="med"/>
            <a:tailEnd type="none" w="sm" len="sm"/>
          </a:ln>
        </p:spPr>
      </p:sp>
      <p:sp>
        <p:nvSpPr>
          <p:cNvPr id="8199" name="Line 8"/>
          <p:cNvSpPr/>
          <p:nvPr/>
        </p:nvSpPr>
        <p:spPr>
          <a:xfrm>
            <a:off x="4571683" y="4076700"/>
            <a:ext cx="381000" cy="0"/>
          </a:xfrm>
          <a:prstGeom prst="line">
            <a:avLst/>
          </a:prstGeom>
          <a:ln w="41275" cap="sq" cmpd="sng">
            <a:solidFill>
              <a:srgbClr val="CC0066"/>
            </a:solidFill>
            <a:prstDash val="solid"/>
            <a:headEnd type="none" w="med" len="med"/>
            <a:tailEnd type="none" w="sm" len="sm"/>
          </a:ln>
        </p:spPr>
      </p:sp>
      <p:sp>
        <p:nvSpPr>
          <p:cNvPr id="8200" name="Line 12"/>
          <p:cNvSpPr/>
          <p:nvPr/>
        </p:nvSpPr>
        <p:spPr>
          <a:xfrm>
            <a:off x="4747895" y="4043680"/>
            <a:ext cx="15240" cy="1320165"/>
          </a:xfrm>
          <a:prstGeom prst="line">
            <a:avLst/>
          </a:prstGeom>
          <a:ln w="41275" cap="sq" cmpd="sng">
            <a:solidFill>
              <a:schemeClr val="bg2"/>
            </a:solidFill>
            <a:prstDash val="solid"/>
            <a:headEnd type="triangle" w="med" len="med"/>
            <a:tailEnd type="none" w="sm" len="sm"/>
          </a:ln>
        </p:spPr>
      </p:sp>
      <p:sp>
        <p:nvSpPr>
          <p:cNvPr id="8201" name="Line 13"/>
          <p:cNvSpPr/>
          <p:nvPr/>
        </p:nvSpPr>
        <p:spPr>
          <a:xfrm flipV="1">
            <a:off x="5454968" y="2205038"/>
            <a:ext cx="838200" cy="0"/>
          </a:xfrm>
          <a:prstGeom prst="line">
            <a:avLst/>
          </a:prstGeom>
          <a:ln w="38100" cap="sq" cmpd="sng">
            <a:solidFill>
              <a:schemeClr val="bg2"/>
            </a:solidFill>
            <a:prstDash val="solid"/>
            <a:headEnd type="triangle" w="med" len="med"/>
            <a:tailEnd type="none" w="sm" len="sm"/>
          </a:ln>
        </p:spPr>
      </p:sp>
      <p:sp>
        <p:nvSpPr>
          <p:cNvPr id="225294" name="Text Box 14"/>
          <p:cNvSpPr txBox="1"/>
          <p:nvPr/>
        </p:nvSpPr>
        <p:spPr>
          <a:xfrm>
            <a:off x="5363528" y="4725670"/>
            <a:ext cx="3313112" cy="1568450"/>
          </a:xfrm>
          <a:prstGeom prst="rect">
            <a:avLst/>
          </a:prstGeom>
          <a:noFill/>
          <a:ln w="12700" cap="sq" cmpd="sng">
            <a:solidFill>
              <a:schemeClr val="accent1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 dirty="0">
                <a:latin typeface="Times New Roman" pitchFamily="18" charset="0"/>
              </a:rPr>
              <a:t>1.任何程序都有主函数</a:t>
            </a:r>
            <a:endParaRPr lang="zh-CN" altLang="en-US" sz="2400" b="0" dirty="0">
              <a:latin typeface="Times New Roman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 dirty="0">
                <a:latin typeface="Times New Roman" pitchFamily="18" charset="0"/>
              </a:rPr>
              <a:t>2.程序由若干语句组成</a:t>
            </a:r>
            <a:endParaRPr lang="zh-CN" altLang="en-US" sz="2400" b="0" dirty="0">
              <a:latin typeface="Times New Roman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2400" b="0" dirty="0">
                <a:latin typeface="Times New Roman" pitchFamily="18" charset="0"/>
              </a:rPr>
              <a:t>3.语句由；结束</a:t>
            </a:r>
            <a:endParaRPr lang="zh-CN" altLang="en-US" sz="2400" b="0" dirty="0">
              <a:latin typeface="Times New Roman" pitchFamily="18" charset="0"/>
            </a:endParaRPr>
          </a:p>
        </p:txBody>
      </p:sp>
      <p:sp>
        <p:nvSpPr>
          <p:cNvPr id="3" name="Line 6"/>
          <p:cNvSpPr/>
          <p:nvPr/>
        </p:nvSpPr>
        <p:spPr>
          <a:xfrm flipV="1">
            <a:off x="5651500" y="4293235"/>
            <a:ext cx="838200" cy="0"/>
          </a:xfrm>
          <a:prstGeom prst="line">
            <a:avLst/>
          </a:prstGeom>
          <a:ln w="38100" cap="sq" cmpd="sng">
            <a:solidFill>
              <a:schemeClr val="bg2"/>
            </a:solidFill>
            <a:prstDash val="solid"/>
            <a:headEnd type="triangle" w="med" len="med"/>
            <a:tailEnd type="none" w="sm" len="sm"/>
          </a:ln>
        </p:spPr>
      </p:sp>
      <p:sp>
        <p:nvSpPr>
          <p:cNvPr id="9220" name="Line 11"/>
          <p:cNvSpPr/>
          <p:nvPr/>
        </p:nvSpPr>
        <p:spPr>
          <a:xfrm>
            <a:off x="4211638" y="2636838"/>
            <a:ext cx="1371600" cy="0"/>
          </a:xfrm>
          <a:prstGeom prst="line">
            <a:avLst/>
          </a:prstGeom>
          <a:ln w="41275" cap="sq" cmpd="sng">
            <a:solidFill>
              <a:schemeClr val="bg2"/>
            </a:solidFill>
            <a:prstDash val="solid"/>
            <a:headEnd type="triangle" w="med" len="med"/>
            <a:tailEnd type="none" w="sm" len="sm"/>
          </a:ln>
        </p:spPr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5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294" grpId="0" bldLvl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17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2.1  在屏幕上显示信息</a:t>
            </a:r>
            <a:endParaRPr lang="zh-CN" altLang="en-US" b="0" dirty="0"/>
          </a:p>
        </p:txBody>
      </p:sp>
      <p:sp>
        <p:nvSpPr>
          <p:cNvPr id="8195" name="Rectangle 18"/>
          <p:cNvSpPr>
            <a:spLocks noGrp="1"/>
          </p:cNvSpPr>
          <p:nvPr>
            <p:ph idx="1"/>
          </p:nvPr>
        </p:nvSpPr>
        <p:spPr>
          <a:xfrm>
            <a:off x="457200" y="1981200"/>
            <a:ext cx="7715250" cy="367982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b="0" dirty="0">
                <a:solidFill>
                  <a:srgbClr val="00B050"/>
                </a:solidFill>
              </a:rPr>
              <a:t>/* </a:t>
            </a:r>
            <a:r>
              <a:rPr lang="zh-CN" altLang="en-US" sz="2800" b="0" dirty="0">
                <a:solidFill>
                  <a:srgbClr val="00B050"/>
                </a:solidFill>
              </a:rPr>
              <a:t>显示</a:t>
            </a:r>
            <a:r>
              <a:rPr lang="x-none" altLang="zh-CN" sz="2800" b="0" dirty="0">
                <a:solidFill>
                  <a:srgbClr val="00B050"/>
                </a:solidFill>
              </a:rPr>
              <a:t>”</a:t>
            </a:r>
            <a:r>
              <a:rPr lang="en-US" altLang="zh-CN" sz="2800" b="0" dirty="0">
                <a:solidFill>
                  <a:srgbClr val="00B050"/>
                </a:solidFill>
              </a:rPr>
              <a:t>Hello World!” </a:t>
            </a:r>
            <a:endParaRPr lang="en-US" altLang="zh-CN" sz="2800" b="0" dirty="0">
              <a:solidFill>
                <a:srgbClr val="00B05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>
                <a:solidFill>
                  <a:srgbClr val="00B050"/>
                </a:solidFill>
              </a:rPr>
              <a:t>这种形式的注释，以</a:t>
            </a:r>
            <a:r>
              <a:rPr lang="x-none" altLang="zh-CN" sz="2800" b="0" dirty="0">
                <a:solidFill>
                  <a:srgbClr val="00B050"/>
                </a:solidFill>
              </a:rPr>
              <a:t>/*</a:t>
            </a:r>
            <a:r>
              <a:rPr lang="zh-CN" altLang="x-none" sz="2800" b="0" dirty="0">
                <a:solidFill>
                  <a:srgbClr val="00B050"/>
                </a:solidFill>
              </a:rPr>
              <a:t>开</a:t>
            </a:r>
            <a:endParaRPr lang="zh-CN" altLang="x-none" sz="2800" b="0" dirty="0">
              <a:solidFill>
                <a:srgbClr val="00B050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x-none" sz="2800" b="0" dirty="0">
                <a:solidFill>
                  <a:srgbClr val="00B050"/>
                </a:solidFill>
              </a:rPr>
              <a:t>头</a:t>
            </a:r>
            <a:r>
              <a:rPr lang="zh-CN" altLang="en-US" sz="2800" b="0" dirty="0">
                <a:solidFill>
                  <a:srgbClr val="00B050"/>
                </a:solidFill>
              </a:rPr>
              <a:t>可以跨越多行</a:t>
            </a:r>
            <a:r>
              <a:rPr lang="en-US" altLang="zh-CN" sz="2800" b="0" dirty="0">
                <a:solidFill>
                  <a:srgbClr val="00B050"/>
                </a:solidFill>
              </a:rPr>
              <a:t>  */</a:t>
            </a:r>
            <a:r>
              <a:rPr lang="en-US" altLang="zh-CN" sz="2800" b="0" dirty="0"/>
              <a:t>               </a:t>
            </a:r>
            <a:endParaRPr lang="en-US" altLang="zh-CN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# </a:t>
            </a:r>
            <a:r>
              <a:rPr lang="en-US" altLang="zh-CN" sz="2800" b="0" dirty="0"/>
              <a:t>include &lt;stdio.h&gt;</a:t>
            </a:r>
            <a:endParaRPr lang="zh-CN" altLang="en-US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b="0" dirty="0"/>
              <a:t>int main(void)</a:t>
            </a:r>
            <a:endParaRPr lang="en-US" altLang="zh-CN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{   </a:t>
            </a:r>
            <a:endParaRPr lang="zh-CN" altLang="en-US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    </a:t>
            </a:r>
            <a:r>
              <a:rPr lang="en-US" altLang="zh-CN" sz="2800" b="0" dirty="0"/>
              <a:t>printf(“Hello World! \n”);           </a:t>
            </a:r>
            <a:r>
              <a:rPr lang="zh-CN" altLang="en-US" sz="2800" b="0" dirty="0">
                <a:solidFill>
                  <a:schemeClr val="bg2"/>
                </a:solidFill>
              </a:rPr>
              <a:t>    </a:t>
            </a:r>
            <a:r>
              <a:rPr lang="en-US" altLang="zh-CN" sz="2800" b="0" dirty="0">
                <a:solidFill>
                  <a:schemeClr val="bg2"/>
                </a:solidFill>
              </a:rPr>
              <a:t>    </a:t>
            </a:r>
            <a:endParaRPr lang="en-US" altLang="zh-CN" sz="2800" b="0" dirty="0">
              <a:solidFill>
                <a:schemeClr val="bg2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b="0" dirty="0">
                <a:solidFill>
                  <a:schemeClr val="bg2"/>
                </a:solidFill>
              </a:rPr>
              <a:t>    </a:t>
            </a:r>
            <a:r>
              <a:rPr lang="en-US" altLang="zh-CN" sz="2800" b="0" dirty="0"/>
              <a:t>return 0;</a:t>
            </a:r>
            <a:r>
              <a:rPr lang="x-none" altLang="en-US" sz="2800" b="0" dirty="0"/>
              <a:t>  </a:t>
            </a:r>
            <a:r>
              <a:rPr lang="x-none" altLang="en-US" sz="2800" b="0" dirty="0">
                <a:solidFill>
                  <a:srgbClr val="00B050"/>
                </a:solidFill>
              </a:rPr>
              <a:t>//</a:t>
            </a:r>
            <a:r>
              <a:rPr lang="zh-CN" altLang="x-none" sz="2800" b="0" dirty="0">
                <a:solidFill>
                  <a:srgbClr val="00B050"/>
                </a:solidFill>
              </a:rPr>
              <a:t>返回系统，此注释到行尾结束</a:t>
            </a:r>
            <a:r>
              <a:rPr lang="en-US" altLang="zh-CN" sz="2800" b="0" dirty="0">
                <a:sym typeface="+mn-ea"/>
              </a:rPr>
              <a:t>          </a:t>
            </a:r>
            <a:endParaRPr lang="en-US" altLang="zh-CN" sz="2800" b="0" dirty="0">
              <a:sym typeface="+mn-ea"/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}</a:t>
            </a:r>
            <a:endParaRPr lang="zh-CN" altLang="en-US" sz="28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1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2.1  在屏幕上显示信息</a:t>
            </a:r>
            <a:endParaRPr lang="zh-CN" altLang="en-US" b="0" dirty="0"/>
          </a:p>
        </p:txBody>
      </p:sp>
      <p:sp>
        <p:nvSpPr>
          <p:cNvPr id="9219" name="Rectangle 13"/>
          <p:cNvSpPr>
            <a:spLocks noGrp="1"/>
          </p:cNvSpPr>
          <p:nvPr>
            <p:ph idx="1"/>
          </p:nvPr>
        </p:nvSpPr>
        <p:spPr>
          <a:xfrm>
            <a:off x="457200" y="1773238"/>
            <a:ext cx="8291513" cy="4608512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例2-2 在屏幕上显示</a:t>
            </a:r>
            <a:r>
              <a:rPr lang="en-US" altLang="zh-CN" sz="2400" b="0" dirty="0"/>
              <a:t>:</a:t>
            </a:r>
            <a:endParaRPr lang="en-US" altLang="zh-CN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Programming is fun!</a:t>
            </a:r>
            <a:endParaRPr lang="en-US" altLang="zh-CN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And Programming in C is even more fun!</a:t>
            </a:r>
            <a:endParaRPr lang="en-US" altLang="zh-CN" sz="2400" b="0" dirty="0"/>
          </a:p>
          <a:p>
            <a:pPr eaLnBrk="1" hangingPunct="1">
              <a:lnSpc>
                <a:spcPct val="90000"/>
              </a:lnSpc>
              <a:buNone/>
            </a:pPr>
            <a:endParaRPr lang="en-US" altLang="zh-CN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# </a:t>
            </a:r>
            <a:r>
              <a:rPr lang="en-US" altLang="zh-CN" sz="2400" b="0" dirty="0"/>
              <a:t>include &lt;stdio.h&gt;</a:t>
            </a:r>
            <a:endParaRPr lang="en-US" altLang="zh-CN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int main(void)</a:t>
            </a:r>
            <a:endParaRPr lang="zh-CN" altLang="zh-CN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zh-CN" sz="2400" b="0" dirty="0"/>
              <a:t>{</a:t>
            </a:r>
            <a:endParaRPr lang="zh-CN" altLang="zh-CN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printf("Programming is fun! \n");</a:t>
            </a:r>
            <a:endParaRPr lang="en-US" altLang="zh-CN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printf("And Programming in C is even more fun! \n");</a:t>
            </a:r>
            <a:endParaRPr lang="en-US" altLang="zh-CN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return 0;</a:t>
            </a:r>
            <a:endParaRPr lang="en-US" altLang="zh-CN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}      </a:t>
            </a:r>
            <a:endParaRPr lang="zh-CN" altLang="en-US" sz="2400" b="0" dirty="0"/>
          </a:p>
        </p:txBody>
      </p:sp>
      <p:sp>
        <p:nvSpPr>
          <p:cNvPr id="2" name="矩形 1"/>
          <p:cNvSpPr/>
          <p:nvPr/>
        </p:nvSpPr>
        <p:spPr>
          <a:xfrm>
            <a:off x="252095" y="3285490"/>
            <a:ext cx="8280400" cy="3239770"/>
          </a:xfrm>
          <a:prstGeom prst="rect">
            <a:avLst/>
          </a:prstGeom>
          <a:noFill/>
          <a:ln w="28575" cap="flat" cmpd="sng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10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2.2  求华氏温度 100°</a:t>
            </a:r>
            <a:r>
              <a:rPr lang="en-US" altLang="zh-CN" b="0" dirty="0"/>
              <a:t>F </a:t>
            </a:r>
            <a:r>
              <a:rPr lang="zh-CN" altLang="en-US" b="0" dirty="0"/>
              <a:t>对应的摄氏温度 </a:t>
            </a:r>
            <a:endParaRPr lang="zh-CN" altLang="en-US" b="0" dirty="0"/>
          </a:p>
        </p:txBody>
      </p:sp>
      <p:sp>
        <p:nvSpPr>
          <p:cNvPr id="10243" name="Rectangle 1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endParaRPr lang="zh-CN" altLang="en-US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0" dirty="0"/>
              <a:t>摄氏温度 </a:t>
            </a:r>
            <a:r>
              <a:rPr lang="en-US" altLang="zh-CN" b="0" dirty="0"/>
              <a:t>C=(5/9)(F-32)</a:t>
            </a:r>
            <a:endParaRPr lang="en-US" altLang="zh-CN" b="0" dirty="0"/>
          </a:p>
          <a:p>
            <a:pPr eaLnBrk="1" hangingPunct="1">
              <a:lnSpc>
                <a:spcPct val="90000"/>
              </a:lnSpc>
              <a:buNone/>
            </a:pPr>
            <a:endParaRPr lang="zh-CN" altLang="en-US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0" dirty="0"/>
              <a:t>2.2.1  程序解析</a:t>
            </a:r>
            <a:endParaRPr lang="zh-CN" altLang="en-US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0" dirty="0"/>
              <a:t>2.2.2  常量、变量和数据类型</a:t>
            </a:r>
            <a:endParaRPr lang="zh-CN" altLang="en-US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0" dirty="0"/>
              <a:t>2.2.3  算术运算和赋值运算</a:t>
            </a:r>
            <a:endParaRPr lang="zh-CN" altLang="en-US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0" dirty="0"/>
              <a:t>2.2.4  格式化输出函数</a:t>
            </a:r>
            <a:r>
              <a:rPr lang="en-US" altLang="zh-CN" b="0" dirty="0"/>
              <a:t>printf</a:t>
            </a:r>
            <a:endParaRPr lang="en-US" altLang="zh-CN" b="0" dirty="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11"/>
          <p:cNvSpPr>
            <a:spLocks noGrp="1"/>
          </p:cNvSpPr>
          <p:nvPr>
            <p:ph type="title"/>
          </p:nvPr>
        </p:nvSpPr>
        <p:spPr>
          <a:xfrm>
            <a:off x="457200" y="457200"/>
            <a:ext cx="5122863" cy="7397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b="0" dirty="0"/>
              <a:t>2.2.1  程序解析</a:t>
            </a:r>
            <a:endParaRPr lang="zh-CN" altLang="en-US" sz="4000" b="0" dirty="0"/>
          </a:p>
        </p:txBody>
      </p:sp>
      <p:sp>
        <p:nvSpPr>
          <p:cNvPr id="12291" name="Rectangle 12"/>
          <p:cNvSpPr>
            <a:spLocks noGrp="1"/>
          </p:cNvSpPr>
          <p:nvPr>
            <p:ph idx="1"/>
          </p:nvPr>
        </p:nvSpPr>
        <p:spPr>
          <a:xfrm>
            <a:off x="107950" y="1266825"/>
            <a:ext cx="8820150" cy="50419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例2-3 求华氏温度 100°</a:t>
            </a:r>
            <a:r>
              <a:rPr lang="en-US" altLang="zh-CN" sz="2400" b="0" dirty="0"/>
              <a:t>F </a:t>
            </a:r>
            <a:r>
              <a:rPr lang="zh-CN" altLang="en-US" sz="2400" b="0" dirty="0"/>
              <a:t>对应的摄氏温度。</a:t>
            </a:r>
            <a:endParaRPr lang="zh-CN" altLang="en-US" sz="2400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000" b="0" dirty="0"/>
              <a:t>摄氏温度 </a:t>
            </a:r>
            <a:r>
              <a:rPr lang="en-US" altLang="zh-CN" sz="2000" b="0" dirty="0"/>
              <a:t>C=(5/9)(F-32) </a:t>
            </a:r>
            <a:endParaRPr lang="en-US" altLang="zh-CN" sz="20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#</a:t>
            </a:r>
            <a:r>
              <a:rPr lang="en-US" altLang="zh-CN" sz="2400" b="0" dirty="0"/>
              <a:t>include &lt;stdio.h&gt;</a:t>
            </a:r>
            <a:endParaRPr lang="en-US" altLang="zh-CN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int main(void)</a:t>
            </a:r>
            <a:endParaRPr lang="en-US" altLang="zh-CN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{   </a:t>
            </a:r>
            <a:endParaRPr lang="en-US" altLang="zh-CN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int celsius, fahr;           </a:t>
            </a:r>
            <a:r>
              <a:rPr lang="zh-CN" altLang="en-US" sz="2400" b="0" dirty="0">
                <a:solidFill>
                  <a:schemeClr val="bg2"/>
                </a:solidFill>
              </a:rPr>
              <a:t>变量定义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    </a:t>
            </a:r>
            <a:r>
              <a:rPr lang="en-US" altLang="zh-CN" sz="2400" b="0" dirty="0"/>
              <a:t>fahr = 100;                                    </a:t>
            </a:r>
            <a:r>
              <a:rPr lang="zh-CN" altLang="en-US" sz="2400" b="0" dirty="0">
                <a:solidFill>
                  <a:schemeClr val="bg2"/>
                </a:solidFill>
              </a:rPr>
              <a:t>变量使用</a:t>
            </a:r>
            <a:endParaRPr lang="zh-CN" altLang="en-US" sz="2400" b="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    </a:t>
            </a:r>
            <a:r>
              <a:rPr lang="en-US" altLang="zh-CN" sz="2400" b="0" dirty="0"/>
              <a:t>celsius = 5 * (fahr - 32) / 9; </a:t>
            </a:r>
            <a:endParaRPr lang="en-US" altLang="zh-CN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printf("fahr = </a:t>
            </a:r>
            <a:r>
              <a:rPr lang="en-US" altLang="zh-CN" sz="2400" b="0" dirty="0">
                <a:solidFill>
                  <a:srgbClr val="CC0066"/>
                </a:solidFill>
              </a:rPr>
              <a:t>%d</a:t>
            </a:r>
            <a:r>
              <a:rPr lang="en-US" altLang="zh-CN" sz="2400" b="0" dirty="0"/>
              <a:t>, celsius = </a:t>
            </a:r>
            <a:r>
              <a:rPr lang="en-US" altLang="zh-CN" sz="2400" b="0" dirty="0">
                <a:solidFill>
                  <a:srgbClr val="CC0066"/>
                </a:solidFill>
              </a:rPr>
              <a:t>%d</a:t>
            </a:r>
            <a:r>
              <a:rPr lang="en-US" altLang="zh-CN" sz="2400" b="0" dirty="0"/>
              <a:t>\n", </a:t>
            </a:r>
            <a:r>
              <a:rPr lang="en-US" altLang="zh-CN" sz="2400" b="0" dirty="0">
                <a:solidFill>
                  <a:srgbClr val="CC0066"/>
                </a:solidFill>
              </a:rPr>
              <a:t>fahr</a:t>
            </a:r>
            <a:r>
              <a:rPr lang="en-US" altLang="zh-CN" sz="2400" b="0" dirty="0"/>
              <a:t>, </a:t>
            </a:r>
            <a:r>
              <a:rPr lang="en-US" altLang="zh-CN" sz="2400" b="0" dirty="0">
                <a:solidFill>
                  <a:srgbClr val="CC0066"/>
                </a:solidFill>
              </a:rPr>
              <a:t>celsius</a:t>
            </a:r>
            <a:r>
              <a:rPr lang="en-US" altLang="zh-CN" sz="2400" b="0" dirty="0"/>
              <a:t>);</a:t>
            </a:r>
            <a:endParaRPr lang="en-US" altLang="zh-CN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x-none" altLang="en-US" sz="2400" b="0" dirty="0"/>
              <a:t>	</a:t>
            </a:r>
            <a:r>
              <a:rPr lang="zh-CN" altLang="en-US" sz="2400" b="0" dirty="0">
                <a:solidFill>
                  <a:schemeClr val="bg2"/>
                </a:solidFill>
              </a:rPr>
              <a:t>输出结果</a:t>
            </a:r>
            <a:endParaRPr lang="en-US" altLang="zh-CN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    </a:t>
            </a:r>
            <a:r>
              <a:rPr lang="en-US" altLang="zh-CN" sz="2400" b="0" dirty="0"/>
              <a:t>return 0;</a:t>
            </a:r>
            <a:endParaRPr lang="en-US" altLang="zh-CN" sz="24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}</a:t>
            </a:r>
            <a:endParaRPr lang="en-US" altLang="zh-CN" sz="2000" b="0" dirty="0"/>
          </a:p>
        </p:txBody>
      </p:sp>
      <p:sp>
        <p:nvSpPr>
          <p:cNvPr id="229380" name="Rectangle 4"/>
          <p:cNvSpPr/>
          <p:nvPr/>
        </p:nvSpPr>
        <p:spPr>
          <a:xfrm>
            <a:off x="457200" y="2514600"/>
            <a:ext cx="8686800" cy="43434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lnSpc>
                <a:spcPct val="90000"/>
              </a:lnSpc>
              <a:buClr>
                <a:schemeClr val="tx2"/>
              </a:buClr>
              <a:buSzPct val="80000"/>
              <a:buFontTx/>
              <a:buNone/>
            </a:pPr>
            <a:endParaRPr lang="zh-CN" altLang="en-US" sz="2800" b="0" dirty="0">
              <a:solidFill>
                <a:srgbClr val="FFFF00"/>
              </a:solidFill>
            </a:endParaRPr>
          </a:p>
        </p:txBody>
      </p:sp>
      <p:sp>
        <p:nvSpPr>
          <p:cNvPr id="12293" name="AutoShape 5"/>
          <p:cNvSpPr/>
          <p:nvPr/>
        </p:nvSpPr>
        <p:spPr>
          <a:xfrm>
            <a:off x="5002213" y="4005263"/>
            <a:ext cx="381000" cy="685800"/>
          </a:xfrm>
          <a:prstGeom prst="rightBrace">
            <a:avLst>
              <a:gd name="adj1" fmla="val 15000"/>
              <a:gd name="adj2" fmla="val 50000"/>
            </a:avLst>
          </a:prstGeom>
          <a:noFill/>
          <a:ln w="31750" cap="sq" cmpd="sng">
            <a:solidFill>
              <a:schemeClr val="bg2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/>
          </a:p>
        </p:txBody>
      </p:sp>
      <p:sp>
        <p:nvSpPr>
          <p:cNvPr id="229382" name="Rectangle 6"/>
          <p:cNvSpPr/>
          <p:nvPr/>
        </p:nvSpPr>
        <p:spPr>
          <a:xfrm>
            <a:off x="3743325" y="2124710"/>
            <a:ext cx="5279390" cy="52197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zh-CN" altLang="en-US" sz="2800" b="0" dirty="0">
                <a:latin typeface="宋体" pitchFamily="2" charset="-122"/>
              </a:rPr>
              <a:t>输出:</a:t>
            </a:r>
            <a:r>
              <a:rPr lang="en-US" altLang="zh-CN" sz="2800" b="0" dirty="0"/>
              <a:t>fahr =</a:t>
            </a:r>
            <a:r>
              <a:rPr lang="en-US" altLang="zh-CN" sz="2800" b="0" dirty="0">
                <a:solidFill>
                  <a:srgbClr val="CC0066"/>
                </a:solidFill>
              </a:rPr>
              <a:t>100</a:t>
            </a:r>
            <a:r>
              <a:rPr lang="en-US" altLang="zh-CN" sz="2800" b="0" dirty="0"/>
              <a:t>, celsius = </a:t>
            </a:r>
            <a:r>
              <a:rPr lang="en-US" altLang="zh-CN" sz="2800" b="0" dirty="0">
                <a:solidFill>
                  <a:srgbClr val="CC0066"/>
                </a:solidFill>
              </a:rPr>
              <a:t>37</a:t>
            </a:r>
            <a:endParaRPr lang="zh-CN" altLang="en-US" sz="2800" b="0" dirty="0">
              <a:solidFill>
                <a:srgbClr val="CC0066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93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9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9380" grpId="0"/>
      <p:bldP spid="229382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2.2.2  常量、变量和数据类型</a:t>
            </a:r>
            <a:endParaRPr lang="zh-CN" altLang="en-US" b="0" dirty="0"/>
          </a:p>
        </p:txBody>
      </p:sp>
      <p:sp>
        <p:nvSpPr>
          <p:cNvPr id="14339" name="Rectangle 5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b="0" dirty="0"/>
              <a:t>int celsius, fahr; </a:t>
            </a:r>
            <a:endParaRPr lang="en-US" altLang="zh-CN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b="0" dirty="0">
                <a:solidFill>
                  <a:srgbClr val="CC0066"/>
                </a:solidFill>
              </a:rPr>
              <a:t>celsius</a:t>
            </a:r>
            <a:r>
              <a:rPr lang="en-US" altLang="zh-CN" sz="2800" b="0" dirty="0"/>
              <a:t> = 5 * (</a:t>
            </a:r>
            <a:r>
              <a:rPr lang="en-US" altLang="zh-CN" sz="2800" b="0" dirty="0">
                <a:solidFill>
                  <a:srgbClr val="CC0066"/>
                </a:solidFill>
              </a:rPr>
              <a:t>fahr</a:t>
            </a:r>
            <a:r>
              <a:rPr lang="en-US" altLang="zh-CN" sz="2800" b="0" dirty="0"/>
              <a:t> - 32) / 9;</a:t>
            </a:r>
            <a:endParaRPr lang="en-US" altLang="zh-CN" sz="2800" b="0" dirty="0"/>
          </a:p>
          <a:p>
            <a:pPr eaLnBrk="1" hangingPunct="1">
              <a:lnSpc>
                <a:spcPct val="80000"/>
              </a:lnSpc>
            </a:pPr>
            <a:endParaRPr lang="en-US" altLang="zh-CN" sz="2800" b="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b="0" dirty="0"/>
              <a:t>数据</a:t>
            </a:r>
            <a:endParaRPr lang="zh-CN" altLang="en-US" sz="2800" b="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b="0" dirty="0"/>
              <a:t>常量：在程序运行过程中，其值不能被改变 </a:t>
            </a:r>
            <a:endParaRPr lang="zh-CN" altLang="en-US" sz="2400" b="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b="0" dirty="0"/>
              <a:t>变量：在程序运行过程中，其值可以被改变 </a:t>
            </a:r>
            <a:endParaRPr lang="zh-CN" altLang="en-US" sz="2400" b="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b="0" dirty="0"/>
              <a:t>数据类型</a:t>
            </a:r>
            <a:endParaRPr lang="zh-CN" altLang="en-US" sz="2800" b="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b="0" dirty="0"/>
              <a:t>常量：5 和 9是整型常量（整数）</a:t>
            </a:r>
            <a:endParaRPr lang="zh-CN" altLang="en-US" sz="2400" b="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00" b="0" dirty="0"/>
              <a:t>变量：在定义时指定</a:t>
            </a:r>
            <a:endParaRPr lang="zh-CN" altLang="en-US" sz="2400" b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变量的定义</a:t>
            </a:r>
            <a:endParaRPr lang="zh-CN" altLang="en-US" b="0" dirty="0"/>
          </a:p>
        </p:txBody>
      </p:sp>
      <p:sp>
        <p:nvSpPr>
          <p:cNvPr id="15363" name="Rectangle 6"/>
          <p:cNvSpPr>
            <a:spLocks noGrp="1"/>
          </p:cNvSpPr>
          <p:nvPr>
            <p:ph idx="1"/>
          </p:nvPr>
        </p:nvSpPr>
        <p:spPr>
          <a:xfrm>
            <a:off x="468313" y="1844675"/>
            <a:ext cx="8229600" cy="388620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b="0" dirty="0"/>
              <a:t>变量定义的一般形式：</a:t>
            </a:r>
            <a:r>
              <a:rPr lang="zh-CN" altLang="en-US" b="0" dirty="0">
                <a:solidFill>
                  <a:schemeClr val="bg2"/>
                </a:solidFill>
              </a:rPr>
              <a:t>类型名    变量名表；</a:t>
            </a:r>
            <a:endParaRPr lang="zh-CN" altLang="en-US" b="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0" dirty="0"/>
              <a:t>例如：</a:t>
            </a:r>
            <a:endParaRPr lang="zh-CN" altLang="en-US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="0" dirty="0">
                <a:solidFill>
                  <a:srgbClr val="CC0066"/>
                </a:solidFill>
              </a:rPr>
              <a:t>int</a:t>
            </a:r>
            <a:r>
              <a:rPr lang="en-US" altLang="zh-CN" b="0" dirty="0"/>
              <a:t> celsius, fahr;          </a:t>
            </a:r>
            <a:r>
              <a:rPr lang="zh-CN" altLang="en-US" b="0" dirty="0">
                <a:solidFill>
                  <a:schemeClr val="bg2"/>
                </a:solidFill>
              </a:rPr>
              <a:t>定义整型变量</a:t>
            </a:r>
            <a:endParaRPr lang="zh-CN" altLang="en-US" b="0" dirty="0">
              <a:solidFill>
                <a:schemeClr val="bg2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="0" dirty="0">
                <a:solidFill>
                  <a:srgbClr val="CC0066"/>
                </a:solidFill>
              </a:rPr>
              <a:t>float</a:t>
            </a:r>
            <a:r>
              <a:rPr lang="en-US" altLang="zh-CN" b="0" dirty="0"/>
              <a:t> x;                        </a:t>
            </a:r>
            <a:r>
              <a:rPr lang="zh-CN" altLang="en-US" b="0" dirty="0">
                <a:solidFill>
                  <a:schemeClr val="bg2"/>
                </a:solidFill>
              </a:rPr>
              <a:t>定义单精度浮点型变量</a:t>
            </a:r>
            <a:endParaRPr lang="zh-CN" altLang="en-US" b="0" dirty="0">
              <a:solidFill>
                <a:schemeClr val="bg2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="0" dirty="0">
                <a:solidFill>
                  <a:srgbClr val="CC0066"/>
                </a:solidFill>
              </a:rPr>
              <a:t>double</a:t>
            </a:r>
            <a:r>
              <a:rPr lang="en-US" altLang="zh-CN" b="0" dirty="0"/>
              <a:t> area, length;   </a:t>
            </a:r>
            <a:r>
              <a:rPr lang="zh-CN" altLang="en-US" b="0" dirty="0">
                <a:solidFill>
                  <a:schemeClr val="bg2"/>
                </a:solidFill>
              </a:rPr>
              <a:t>定义双精度浮点型变量</a:t>
            </a:r>
            <a:endParaRPr lang="zh-CN" altLang="en-US" b="0" dirty="0">
              <a:solidFill>
                <a:schemeClr val="bg2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endParaRPr lang="zh-CN" alt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4"/>
          <p:cNvSpPr>
            <a:spLocks noGrp="1"/>
          </p:cNvSpPr>
          <p:nvPr>
            <p:ph type="title"/>
          </p:nvPr>
        </p:nvSpPr>
        <p:spPr>
          <a:xfrm>
            <a:off x="457200" y="457200"/>
            <a:ext cx="4402138" cy="9556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变量的名字</a:t>
            </a:r>
            <a:endParaRPr lang="zh-CN" altLang="en-US" b="0" dirty="0"/>
          </a:p>
        </p:txBody>
      </p:sp>
      <p:sp>
        <p:nvSpPr>
          <p:cNvPr id="16387" name="Rectangle 5"/>
          <p:cNvSpPr>
            <a:spLocks noGrp="1"/>
          </p:cNvSpPr>
          <p:nvPr>
            <p:ph idx="1"/>
          </p:nvPr>
        </p:nvSpPr>
        <p:spPr>
          <a:xfrm>
            <a:off x="323850" y="1412875"/>
            <a:ext cx="8280400" cy="5300663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endParaRPr lang="zh-CN" altLang="en-US" sz="2800" b="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b="0" dirty="0"/>
              <a:t>变量名可以由字母，数字，下划线组成；</a:t>
            </a:r>
            <a:r>
              <a:rPr lang="zh-CN" altLang="en-US" sz="2800" b="0" dirty="0">
                <a:sym typeface="+mn-ea"/>
              </a:rPr>
              <a:t>变量名不能以数字开头</a:t>
            </a:r>
            <a:endParaRPr lang="zh-CN" altLang="en-US" sz="2800" b="0" dirty="0"/>
          </a:p>
          <a:p>
            <a:pPr lvl="1" eaLnBrk="1" hangingPunct="1">
              <a:lnSpc>
                <a:spcPct val="80000"/>
              </a:lnSpc>
            </a:pPr>
            <a:r>
              <a:rPr lang="en-US" altLang="zh-CN" sz="2450" b="0" dirty="0">
                <a:sym typeface="+mn-ea"/>
              </a:rPr>
              <a:t>x1</a:t>
            </a:r>
            <a:r>
              <a:rPr lang="zh-CN" altLang="en-US" sz="2450" b="0" dirty="0">
                <a:sym typeface="+mn-ea"/>
              </a:rPr>
              <a:t>可作为变量名，</a:t>
            </a:r>
            <a:r>
              <a:rPr lang="en-US" altLang="zh-CN" sz="2450" b="0" dirty="0">
                <a:sym typeface="+mn-ea"/>
              </a:rPr>
              <a:t>1x</a:t>
            </a:r>
            <a:r>
              <a:rPr lang="zh-CN" altLang="en-US" sz="2450" b="0" dirty="0">
                <a:sym typeface="+mn-ea"/>
              </a:rPr>
              <a:t>不行。</a:t>
            </a:r>
            <a:endParaRPr lang="zh-CN" altLang="en-US" sz="2450" b="0" dirty="0"/>
          </a:p>
          <a:p>
            <a:pPr eaLnBrk="1" hangingPunct="1">
              <a:lnSpc>
                <a:spcPct val="80000"/>
              </a:lnSpc>
            </a:pPr>
            <a:endParaRPr lang="zh-CN" altLang="en-US" sz="2800" b="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b="0" dirty="0"/>
              <a:t>变量名不能与其他已有的名字重名</a:t>
            </a:r>
            <a:endParaRPr lang="zh-CN" altLang="en-US" sz="2800" b="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50" b="0" dirty="0"/>
              <a:t>不能与</a:t>
            </a:r>
            <a:r>
              <a:rPr lang="en-US" altLang="zh-CN" sz="2450" b="0" dirty="0"/>
              <a:t>C</a:t>
            </a:r>
            <a:r>
              <a:rPr lang="zh-CN" altLang="en-US" sz="2450" b="0" dirty="0"/>
              <a:t>语言关键字重名</a:t>
            </a:r>
            <a:endParaRPr lang="zh-CN" altLang="en-US" sz="2450" b="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450" b="0" dirty="0"/>
              <a:t>不能与其他变量或函数名重名。</a:t>
            </a:r>
            <a:endParaRPr lang="zh-CN" altLang="en-US" sz="2450" b="0" dirty="0"/>
          </a:p>
          <a:p>
            <a:pPr eaLnBrk="1" hangingPunct="1">
              <a:lnSpc>
                <a:spcPct val="80000"/>
              </a:lnSpc>
            </a:pPr>
            <a:endParaRPr lang="zh-CN" altLang="en-US" sz="2800" b="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b="0" dirty="0"/>
              <a:t>变量名要</a:t>
            </a:r>
            <a:r>
              <a:rPr lang="zh-CN" altLang="en-US" sz="2800" b="0" dirty="0">
                <a:sym typeface="+mn-ea"/>
              </a:rPr>
              <a:t>见名知义</a:t>
            </a:r>
            <a:endParaRPr lang="zh-CN" altLang="en-US" sz="2800" b="0" dirty="0">
              <a:sym typeface="+mn-ea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zh-CN" sz="2100" b="0" dirty="0"/>
              <a:t>area</a:t>
            </a:r>
            <a:r>
              <a:rPr lang="zh-CN" altLang="en-US" sz="2100" b="0" dirty="0"/>
              <a:t>，</a:t>
            </a:r>
            <a:r>
              <a:rPr lang="en-US" altLang="zh-CN" sz="2100" b="0" dirty="0"/>
              <a:t>length</a:t>
            </a:r>
            <a:endParaRPr lang="en-US" altLang="zh-CN" sz="2100" b="0" dirty="0"/>
          </a:p>
          <a:p>
            <a:pPr lvl="1" eaLnBrk="1" hangingPunct="1">
              <a:lnSpc>
                <a:spcPct val="80000"/>
              </a:lnSpc>
            </a:pPr>
            <a:r>
              <a:rPr lang="zh-CN" altLang="en-US" sz="2100" b="0" dirty="0"/>
              <a:t>减少使用</a:t>
            </a:r>
            <a:r>
              <a:rPr lang="en-US" altLang="zh-CN" sz="2100" b="0" dirty="0"/>
              <a:t>a1</a:t>
            </a:r>
            <a:r>
              <a:rPr lang="zh-CN" altLang="en-US" sz="2100" b="0" dirty="0"/>
              <a:t>，</a:t>
            </a:r>
            <a:r>
              <a:rPr lang="en-US" altLang="zh-CN" sz="2100" b="0" dirty="0"/>
              <a:t>a34</a:t>
            </a:r>
            <a:r>
              <a:rPr lang="zh-CN" altLang="en-US" sz="2100" b="0" dirty="0"/>
              <a:t>，</a:t>
            </a:r>
            <a:r>
              <a:rPr lang="en-US" altLang="zh-CN" sz="2100" b="0" dirty="0"/>
              <a:t>x2</a:t>
            </a:r>
            <a:endParaRPr lang="zh-CN" altLang="en-US" sz="21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4"/>
          <p:cNvSpPr>
            <a:spLocks noGrp="1"/>
          </p:cNvSpPr>
          <p:nvPr>
            <p:ph type="title"/>
          </p:nvPr>
        </p:nvSpPr>
        <p:spPr>
          <a:xfrm>
            <a:off x="457200" y="457200"/>
            <a:ext cx="4402138" cy="9556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变量的定义</a:t>
            </a:r>
            <a:endParaRPr lang="zh-CN" altLang="en-US" b="0" dirty="0"/>
          </a:p>
        </p:txBody>
      </p:sp>
      <p:sp>
        <p:nvSpPr>
          <p:cNvPr id="16387" name="Rectangle 5"/>
          <p:cNvSpPr>
            <a:spLocks noGrp="1"/>
          </p:cNvSpPr>
          <p:nvPr>
            <p:ph idx="1"/>
          </p:nvPr>
        </p:nvSpPr>
        <p:spPr>
          <a:xfrm>
            <a:off x="323850" y="1412875"/>
            <a:ext cx="8280400" cy="5300663"/>
          </a:xfrm>
        </p:spPr>
        <p:txBody>
          <a:bodyPr vert="horz" wrap="square" lIns="91440" tIns="45720" rIns="91440" bIns="45720" anchor="t" anchorCtr="0"/>
          <a:p>
            <a:pPr marL="457200" lvl="1" indent="0" eaLnBrk="1" hangingPunct="1">
              <a:lnSpc>
                <a:spcPct val="80000"/>
              </a:lnSpc>
              <a:buNone/>
            </a:pPr>
            <a:endParaRPr lang="zh-CN" altLang="en-US" sz="2400" b="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b="0" dirty="0"/>
              <a:t>变量名代表内存中的一个存储单元</a:t>
            </a:r>
            <a:endParaRPr lang="zh-CN" altLang="en-US" sz="2800" b="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存放该变量的值</a:t>
            </a:r>
            <a:endParaRPr lang="zh-CN" altLang="en-US" sz="2400" b="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b="0" dirty="0"/>
              <a:t>该存储单元的大小由变量的数据类型决定</a:t>
            </a:r>
            <a:endParaRPr lang="zh-CN" altLang="en-US" sz="2800" b="0" dirty="0"/>
          </a:p>
          <a:p>
            <a:pPr eaLnBrk="1" hangingPunct="1">
              <a:lnSpc>
                <a:spcPct val="80000"/>
              </a:lnSpc>
            </a:pPr>
            <a:endParaRPr lang="en-US" altLang="zh-CN" sz="2800" b="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b="0" dirty="0"/>
              <a:t>数学中的变量代表未知数 </a:t>
            </a:r>
            <a:endParaRPr lang="zh-CN" altLang="en-US" sz="2800" b="0" dirty="0"/>
          </a:p>
          <a:p>
            <a:pPr eaLnBrk="1" hangingPunct="1">
              <a:lnSpc>
                <a:spcPct val="80000"/>
              </a:lnSpc>
            </a:pPr>
            <a:r>
              <a:rPr lang="en-US" altLang="zh-CN" sz="2800" b="0" dirty="0">
                <a:sym typeface="+mn-ea"/>
              </a:rPr>
              <a:t>C</a:t>
            </a:r>
            <a:r>
              <a:rPr lang="zh-CN" altLang="en-US" sz="2800" b="0" dirty="0">
                <a:sym typeface="+mn-ea"/>
              </a:rPr>
              <a:t>语言中的变量代表保存数据的存储单元</a:t>
            </a:r>
            <a:endParaRPr lang="zh-CN" altLang="en-US" sz="2800" b="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x = x+1</a:t>
            </a:r>
            <a:endParaRPr lang="zh-CN" altLang="en-US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13"/>
          <p:cNvSpPr>
            <a:spLocks noGrp="1"/>
          </p:cNvSpPr>
          <p:nvPr>
            <p:ph type="title"/>
          </p:nvPr>
        </p:nvSpPr>
        <p:spPr>
          <a:xfrm>
            <a:off x="457200" y="457200"/>
            <a:ext cx="5483225" cy="8842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变量的定义与使用</a:t>
            </a:r>
            <a:endParaRPr lang="zh-CN" altLang="en-US" b="0" dirty="0"/>
          </a:p>
        </p:txBody>
      </p:sp>
      <p:sp>
        <p:nvSpPr>
          <p:cNvPr id="17411" name="Rectangle 14"/>
          <p:cNvSpPr>
            <a:spLocks noGrp="1"/>
          </p:cNvSpPr>
          <p:nvPr>
            <p:ph idx="1"/>
          </p:nvPr>
        </p:nvSpPr>
        <p:spPr>
          <a:xfrm>
            <a:off x="323850" y="1412875"/>
            <a:ext cx="8820150" cy="5256213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变量必须先</a:t>
            </a:r>
            <a:r>
              <a:rPr lang="zh-CN" altLang="en-US" sz="2800" b="0" dirty="0">
                <a:solidFill>
                  <a:srgbClr val="CC0066"/>
                </a:solidFill>
              </a:rPr>
              <a:t>定义</a:t>
            </a:r>
            <a:r>
              <a:rPr lang="zh-CN" altLang="en-US" sz="2800" b="0" dirty="0"/>
              <a:t>，后</a:t>
            </a:r>
            <a:r>
              <a:rPr lang="zh-CN" altLang="en-US" sz="2800" b="0" dirty="0">
                <a:solidFill>
                  <a:schemeClr val="bg2"/>
                </a:solidFill>
              </a:rPr>
              <a:t>使用</a:t>
            </a:r>
            <a:r>
              <a:rPr lang="zh-CN" altLang="en-US" sz="2800" b="0" dirty="0"/>
              <a:t>。</a:t>
            </a:r>
            <a:endParaRPr lang="zh-CN" altLang="en-US" sz="2800" b="0" dirty="0"/>
          </a:p>
          <a:p>
            <a:pPr eaLnBrk="1" hangingPunct="1">
              <a:lnSpc>
                <a:spcPct val="80000"/>
              </a:lnSpc>
              <a:buNone/>
            </a:pPr>
            <a:endParaRPr lang="zh-CN" altLang="en-US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#</a:t>
            </a:r>
            <a:r>
              <a:rPr lang="en-US" altLang="zh-CN" sz="2800" b="0" dirty="0"/>
              <a:t>include &lt;stdio.h&gt;</a:t>
            </a:r>
            <a:endParaRPr lang="en-US" altLang="zh-CN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b="0" dirty="0"/>
              <a:t>int main(void)</a:t>
            </a:r>
            <a:endParaRPr lang="en-US" altLang="zh-CN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b="0" dirty="0"/>
              <a:t>{   </a:t>
            </a:r>
            <a:endParaRPr lang="en-US" altLang="zh-CN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b="0" dirty="0"/>
              <a:t>    int celsius, fahr;           </a:t>
            </a:r>
            <a:endParaRPr lang="en-US" altLang="zh-CN" sz="2800" b="0" dirty="0"/>
          </a:p>
          <a:p>
            <a:pPr eaLnBrk="1" hangingPunct="1">
              <a:lnSpc>
                <a:spcPct val="80000"/>
              </a:lnSpc>
              <a:buNone/>
            </a:pPr>
            <a:endParaRPr lang="zh-CN" altLang="en-US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    </a:t>
            </a:r>
            <a:r>
              <a:rPr lang="en-US" altLang="zh-CN" sz="2800" b="0" dirty="0"/>
              <a:t>fahr = 100;                                 </a:t>
            </a:r>
            <a:endParaRPr lang="zh-CN" altLang="en-US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    </a:t>
            </a:r>
            <a:r>
              <a:rPr lang="en-US" altLang="zh-CN" sz="2800" b="0" dirty="0"/>
              <a:t>celsius = 5 * (fahr - 32) / 9; </a:t>
            </a:r>
            <a:endParaRPr lang="en-US" altLang="zh-CN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b="0" dirty="0"/>
              <a:t>    printf("fahr = %d, celsius = %d\n", fahr, celsius); </a:t>
            </a:r>
            <a:endParaRPr lang="zh-CN" altLang="en-US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    </a:t>
            </a:r>
            <a:r>
              <a:rPr lang="en-US" altLang="zh-CN" sz="2800" b="0" dirty="0"/>
              <a:t>return 0;</a:t>
            </a:r>
            <a:endParaRPr lang="en-US" altLang="zh-CN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}</a:t>
            </a:r>
            <a:endParaRPr lang="en-US" altLang="zh-CN" sz="2800" b="0" dirty="0"/>
          </a:p>
        </p:txBody>
      </p:sp>
      <p:sp>
        <p:nvSpPr>
          <p:cNvPr id="241671" name="Text Box 7"/>
          <p:cNvSpPr txBox="1"/>
          <p:nvPr/>
        </p:nvSpPr>
        <p:spPr>
          <a:xfrm>
            <a:off x="4787265" y="2997200"/>
            <a:ext cx="3606800" cy="423545"/>
          </a:xfrm>
          <a:prstGeom prst="rect">
            <a:avLst/>
          </a:prstGeom>
          <a:noFill/>
          <a:ln w="12700" cap="sq" cmpd="sng">
            <a:solidFill>
              <a:schemeClr val="accent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zh-CN" altLang="en-US" sz="2400" b="0" dirty="0">
                <a:latin typeface="宋体" pitchFamily="2" charset="-122"/>
              </a:rPr>
              <a:t>一个变量名只能定义一次</a:t>
            </a:r>
            <a:endParaRPr lang="zh-CN" altLang="en-US" sz="2400" b="0" dirty="0">
              <a:latin typeface="宋体" pitchFamily="2" charset="-122"/>
            </a:endParaRPr>
          </a:p>
        </p:txBody>
      </p:sp>
      <p:sp>
        <p:nvSpPr>
          <p:cNvPr id="241672" name="Line 8"/>
          <p:cNvSpPr/>
          <p:nvPr/>
        </p:nvSpPr>
        <p:spPr>
          <a:xfrm>
            <a:off x="2627313" y="1773238"/>
            <a:ext cx="360362" cy="1800225"/>
          </a:xfrm>
          <a:prstGeom prst="line">
            <a:avLst/>
          </a:prstGeom>
          <a:ln w="38100" cap="sq" cmpd="sng">
            <a:solidFill>
              <a:srgbClr val="CC0066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241673" name="Line 9"/>
          <p:cNvSpPr/>
          <p:nvPr/>
        </p:nvSpPr>
        <p:spPr>
          <a:xfrm flipH="1">
            <a:off x="3563938" y="1773238"/>
            <a:ext cx="360362" cy="3095625"/>
          </a:xfrm>
          <a:prstGeom prst="line">
            <a:avLst/>
          </a:prstGeom>
          <a:ln w="38100" cap="sq" cmpd="sng">
            <a:solidFill>
              <a:schemeClr val="bg2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241674" name="Text Box 10"/>
          <p:cNvSpPr txBox="1"/>
          <p:nvPr/>
        </p:nvSpPr>
        <p:spPr>
          <a:xfrm>
            <a:off x="1619250" y="1844675"/>
            <a:ext cx="3429000" cy="478155"/>
          </a:xfrm>
          <a:prstGeom prst="rect">
            <a:avLst/>
          </a:prstGeom>
          <a:noFill/>
          <a:ln w="12700" cap="sq" cmpd="sng">
            <a:solidFill>
              <a:schemeClr val="bg2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zh-CN" altLang="en-US" sz="2800" b="0" dirty="0">
                <a:latin typeface="宋体" pitchFamily="2" charset="-122"/>
              </a:rPr>
              <a:t>应该先赋值，后引用</a:t>
            </a:r>
            <a:endParaRPr lang="zh-CN" altLang="en-US" sz="2800" b="0" dirty="0">
              <a:latin typeface="宋体" pitchFamily="2" charset="-122"/>
            </a:endParaRPr>
          </a:p>
        </p:txBody>
      </p:sp>
      <p:sp>
        <p:nvSpPr>
          <p:cNvPr id="241675" name="Line 11"/>
          <p:cNvSpPr/>
          <p:nvPr/>
        </p:nvSpPr>
        <p:spPr>
          <a:xfrm flipH="1">
            <a:off x="1476375" y="2276475"/>
            <a:ext cx="1582738" cy="2160588"/>
          </a:xfrm>
          <a:prstGeom prst="line">
            <a:avLst/>
          </a:prstGeom>
          <a:ln w="38100" cap="rnd" cmpd="sng">
            <a:solidFill>
              <a:srgbClr val="CC0066"/>
            </a:solidFill>
            <a:prstDash val="sysDot"/>
            <a:headEnd type="none" w="sm" len="sm"/>
            <a:tailEnd type="triangle" w="med" len="med"/>
          </a:ln>
        </p:spPr>
      </p:sp>
      <p:sp>
        <p:nvSpPr>
          <p:cNvPr id="241676" name="Line 12"/>
          <p:cNvSpPr/>
          <p:nvPr/>
        </p:nvSpPr>
        <p:spPr>
          <a:xfrm flipH="1">
            <a:off x="3584575" y="2349500"/>
            <a:ext cx="1059180" cy="2519680"/>
          </a:xfrm>
          <a:prstGeom prst="line">
            <a:avLst/>
          </a:prstGeom>
          <a:ln w="38100" cap="rnd" cmpd="sng">
            <a:solidFill>
              <a:schemeClr val="bg2"/>
            </a:solidFill>
            <a:prstDash val="sysDot"/>
            <a:headEnd type="none" w="sm" len="sm"/>
            <a:tailEnd type="triangle" w="med" len="med"/>
          </a:ln>
        </p:spPr>
      </p:sp>
      <p:sp>
        <p:nvSpPr>
          <p:cNvPr id="2" name="文本框 1"/>
          <p:cNvSpPr txBox="1"/>
          <p:nvPr/>
        </p:nvSpPr>
        <p:spPr>
          <a:xfrm>
            <a:off x="5736590" y="220345"/>
            <a:ext cx="3156585" cy="2030095"/>
          </a:xfrm>
          <a:prstGeom prst="rect">
            <a:avLst/>
          </a:prstGeom>
          <a:noFill/>
          <a:ln w="12700" cmpd="sng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rtlCol="0" anchor="t">
            <a:spAutoFit/>
          </a:bodyPr>
          <a:p>
            <a:r>
              <a:rPr lang="zh-CN" altLang="en-US"/>
              <a:t>C89规定，在任何执行语句之前，在块的开头声明所有局部变量。</a:t>
            </a:r>
            <a:endParaRPr lang="zh-CN" altLang="en-US"/>
          </a:p>
          <a:p>
            <a:r>
              <a:rPr lang="zh-CN" altLang="en-US"/>
              <a:t>在C99以及C++中则没有这个限制，即在首次使用之前，可在块的任何位置都可以声明变量。</a:t>
            </a:r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1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1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16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16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1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1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16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16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16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16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16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16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671" grpId="0" bldLvl="0" animBg="1"/>
      <p:bldP spid="241674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Rectangle 4"/>
          <p:cNvSpPr>
            <a:spLocks noGrp="1"/>
          </p:cNvSpPr>
          <p:nvPr>
            <p:ph type="title"/>
          </p:nvPr>
        </p:nvSpPr>
        <p:spPr>
          <a:xfrm>
            <a:off x="457200" y="457200"/>
            <a:ext cx="8103870" cy="102743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2.2.3  算术运算和赋值运算</a:t>
            </a:r>
            <a:endParaRPr lang="zh-CN" altLang="en-US" b="0" dirty="0"/>
          </a:p>
        </p:txBody>
      </p:sp>
      <p:sp>
        <p:nvSpPr>
          <p:cNvPr id="243717" name="Rectangle 5"/>
          <p:cNvSpPr>
            <a:spLocks noGrp="1"/>
          </p:cNvSpPr>
          <p:nvPr>
            <p:ph idx="1"/>
          </p:nvPr>
        </p:nvSpPr>
        <p:spPr>
          <a:xfrm>
            <a:off x="457200" y="1557338"/>
            <a:ext cx="8218488" cy="4967287"/>
          </a:xfrm>
        </p:spPr>
        <p:txBody>
          <a:bodyPr vert="horz" wrap="square" lIns="91440" tIns="45720" rIns="91440" bIns="45720" anchor="t" anchorCtr="0"/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="0" dirty="0"/>
              <a:t>fahr = 100;                                 </a:t>
            </a:r>
            <a:endParaRPr lang="zh-CN" altLang="en-US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="0" dirty="0"/>
              <a:t>celsius = 5 * (fahr - 32) / 9; </a:t>
            </a:r>
            <a:endParaRPr lang="en-US" altLang="zh-CN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0" dirty="0"/>
              <a:t>1、算术运算</a:t>
            </a:r>
            <a:endParaRPr lang="zh-CN" altLang="en-US" b="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b="0" dirty="0"/>
              <a:t>双目算术运算符：</a:t>
            </a:r>
            <a:r>
              <a:rPr lang="zh-CN" altLang="en-US" b="0" dirty="0">
                <a:solidFill>
                  <a:srgbClr val="CC0066"/>
                </a:solidFill>
              </a:rPr>
              <a:t>+   -   *   /   %</a:t>
            </a:r>
            <a:endParaRPr lang="zh-CN" altLang="en-US" b="0" dirty="0">
              <a:solidFill>
                <a:srgbClr val="CC0066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0" dirty="0"/>
              <a:t>算术表达式：用</a:t>
            </a:r>
            <a:r>
              <a:rPr lang="zh-CN" altLang="en-US" b="0" dirty="0">
                <a:solidFill>
                  <a:schemeClr val="bg2"/>
                </a:solidFill>
              </a:rPr>
              <a:t>算术运算符</a:t>
            </a:r>
            <a:r>
              <a:rPr lang="zh-CN" altLang="en-US" b="0" dirty="0"/>
              <a:t>将</a:t>
            </a:r>
            <a:r>
              <a:rPr lang="zh-CN" altLang="en-US" b="0" dirty="0">
                <a:solidFill>
                  <a:schemeClr val="bg2"/>
                </a:solidFill>
              </a:rPr>
              <a:t>运算对象</a:t>
            </a:r>
            <a:r>
              <a:rPr lang="zh-CN" altLang="en-US" b="0" dirty="0"/>
              <a:t>连接起来的符合</a:t>
            </a:r>
            <a:r>
              <a:rPr lang="en-US" altLang="zh-CN" b="0" dirty="0"/>
              <a:t>C</a:t>
            </a:r>
            <a:r>
              <a:rPr lang="zh-CN" altLang="en-US" b="0" dirty="0"/>
              <a:t>语言语法规则的式子 </a:t>
            </a:r>
            <a:endParaRPr lang="zh-CN" altLang="en-US" b="0" dirty="0"/>
          </a:p>
          <a:p>
            <a:pPr lvl="1" eaLnBrk="1" hangingPunct="1">
              <a:lnSpc>
                <a:spcPct val="90000"/>
              </a:lnSpc>
              <a:buNone/>
            </a:pPr>
            <a:endParaRPr lang="zh-CN" altLang="en-US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="0" dirty="0"/>
              <a:t>	</a:t>
            </a:r>
            <a:r>
              <a:rPr lang="zh-CN" altLang="en-US" b="0" dirty="0"/>
              <a:t>数学式：(5/9)(</a:t>
            </a:r>
            <a:r>
              <a:rPr lang="en-US" altLang="zh-CN" b="0" dirty="0"/>
              <a:t>F-32) </a:t>
            </a:r>
            <a:endParaRPr lang="en-US" altLang="zh-CN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="0" dirty="0"/>
              <a:t>	C</a:t>
            </a:r>
            <a:r>
              <a:rPr lang="zh-CN" altLang="en-US" b="0" dirty="0"/>
              <a:t>表达式：5 </a:t>
            </a:r>
            <a:r>
              <a:rPr lang="zh-CN" altLang="en-US" b="0" dirty="0">
                <a:solidFill>
                  <a:srgbClr val="CC0066"/>
                </a:solidFill>
              </a:rPr>
              <a:t>*</a:t>
            </a:r>
            <a:r>
              <a:rPr lang="zh-CN" altLang="en-US" b="0" dirty="0"/>
              <a:t> (</a:t>
            </a:r>
            <a:r>
              <a:rPr lang="en-US" altLang="zh-CN" b="0" dirty="0"/>
              <a:t>fahr - 32) / 9</a:t>
            </a:r>
            <a:endParaRPr lang="zh-CN" altLang="en-US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="0" dirty="0"/>
              <a:t>	</a:t>
            </a:r>
            <a:r>
              <a:rPr lang="zh-CN" altLang="en-US" b="0" dirty="0"/>
              <a:t>数学式：</a:t>
            </a:r>
            <a:r>
              <a:rPr lang="en-US" altLang="zh-CN" b="0" dirty="0"/>
              <a:t>s(s-a)(s-b)(s-c)</a:t>
            </a:r>
            <a:endParaRPr lang="en-US" altLang="zh-CN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="0" dirty="0"/>
              <a:t>	C</a:t>
            </a:r>
            <a:r>
              <a:rPr lang="zh-CN" altLang="en-US" b="0" dirty="0"/>
              <a:t>表达式：</a:t>
            </a:r>
            <a:r>
              <a:rPr lang="en-US" altLang="zh-CN" b="0" dirty="0"/>
              <a:t>s*(s-a)*(s-b)*(s-c)</a:t>
            </a:r>
            <a:endParaRPr lang="zh-CN" alt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>
                                            <p:txEl>
                                              <p:charRg st="77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3717">
                                            <p:txEl>
                                              <p:charRg st="77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3717">
                                            <p:txEl>
                                              <p:charRg st="77" end="8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>
                                            <p:txEl>
                                              <p:charRg st="84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3717">
                                            <p:txEl>
                                              <p:charRg st="84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3717">
                                            <p:txEl>
                                              <p:charRg st="84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>
                                            <p:txEl>
                                              <p:charRg st="110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3717">
                                            <p:txEl>
                                              <p:charRg st="110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3717">
                                            <p:txEl>
                                              <p:charRg st="110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>
                                            <p:txEl>
                                              <p:charRg st="146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3717">
                                            <p:txEl>
                                              <p:charRg st="146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3717">
                                            <p:txEl>
                                              <p:charRg st="146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>
                                            <p:txEl>
                                              <p:charRg st="163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3717">
                                            <p:txEl>
                                              <p:charRg st="163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3717">
                                            <p:txEl>
                                              <p:charRg st="163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>
                                            <p:txEl>
                                              <p:charRg st="188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43717">
                                            <p:txEl>
                                              <p:charRg st="188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43717">
                                            <p:txEl>
                                              <p:charRg st="188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7">
                                            <p:txEl>
                                              <p:charRg st="209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43717">
                                            <p:txEl>
                                              <p:charRg st="209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43717">
                                            <p:txEl>
                                              <p:charRg st="209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7" grpId="0" bldLvl="2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2052"/>
          <p:cNvSpPr>
            <a:spLocks noGrp="1"/>
          </p:cNvSpPr>
          <p:nvPr>
            <p:ph type="title"/>
          </p:nvPr>
        </p:nvSpPr>
        <p:spPr>
          <a:xfrm>
            <a:off x="6300788" y="188913"/>
            <a:ext cx="2674937" cy="811212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算术运算</a:t>
            </a:r>
            <a:endParaRPr lang="zh-CN" altLang="en-US" b="0" dirty="0"/>
          </a:p>
        </p:txBody>
      </p:sp>
      <p:sp>
        <p:nvSpPr>
          <p:cNvPr id="20483" name="Rectangle 2053"/>
          <p:cNvSpPr>
            <a:spLocks noGrp="1"/>
          </p:cNvSpPr>
          <p:nvPr>
            <p:ph idx="1"/>
          </p:nvPr>
        </p:nvSpPr>
        <p:spPr>
          <a:xfrm>
            <a:off x="250825" y="836930"/>
            <a:ext cx="8622665" cy="5832475"/>
          </a:xfrm>
        </p:spPr>
        <p:txBody>
          <a:bodyPr vert="horz" wrap="square" lIns="91440" tIns="45720" rIns="91440" bIns="45720" anchor="t" anchorCtr="0"/>
          <a:p>
            <a:pPr lvl="1" eaLnBrk="1" hangingPunct="1"/>
            <a:r>
              <a:rPr lang="zh-CN" altLang="en-US" b="0" dirty="0"/>
              <a:t>双目算术运算符：</a:t>
            </a:r>
            <a:r>
              <a:rPr lang="zh-CN" altLang="en-US" b="0" dirty="0">
                <a:solidFill>
                  <a:srgbClr val="CC0066"/>
                </a:solidFill>
              </a:rPr>
              <a:t>+   -   *   /   %</a:t>
            </a:r>
            <a:endParaRPr lang="zh-CN" altLang="en-US" b="0" dirty="0">
              <a:solidFill>
                <a:srgbClr val="CC0066"/>
              </a:solidFill>
            </a:endParaRPr>
          </a:p>
          <a:p>
            <a:pPr lvl="1" eaLnBrk="1" hangingPunct="1"/>
            <a:r>
              <a:rPr lang="zh-CN" altLang="en-US" b="0" dirty="0"/>
              <a:t>算术表达式：用</a:t>
            </a:r>
            <a:r>
              <a:rPr lang="zh-CN" altLang="en-US" b="0" dirty="0">
                <a:solidFill>
                  <a:srgbClr val="CC0066"/>
                </a:solidFill>
              </a:rPr>
              <a:t>算术运算符</a:t>
            </a:r>
            <a:r>
              <a:rPr lang="zh-CN" altLang="en-US" b="0" dirty="0"/>
              <a:t>将</a:t>
            </a:r>
            <a:r>
              <a:rPr lang="zh-CN" altLang="en-US" b="0" dirty="0">
                <a:solidFill>
                  <a:srgbClr val="CC0066"/>
                </a:solidFill>
              </a:rPr>
              <a:t>运算对象</a:t>
            </a:r>
            <a:r>
              <a:rPr lang="zh-CN" altLang="en-US" b="0" dirty="0"/>
              <a:t>连接起来的符合</a:t>
            </a:r>
            <a:r>
              <a:rPr lang="en-US" altLang="zh-CN" b="0" dirty="0"/>
              <a:t>C</a:t>
            </a:r>
            <a:r>
              <a:rPr lang="zh-CN" altLang="en-US" b="0" dirty="0"/>
              <a:t>语言语法规则的式子 </a:t>
            </a: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>
                <a:solidFill>
                  <a:schemeClr val="bg2"/>
                </a:solidFill>
              </a:rPr>
              <a:t>注意</a:t>
            </a:r>
            <a:endParaRPr lang="zh-CN" altLang="en-US" b="0" dirty="0">
              <a:solidFill>
                <a:schemeClr val="bg2"/>
              </a:solidFill>
            </a:endParaRPr>
          </a:p>
          <a:p>
            <a:pPr eaLnBrk="1" hangingPunct="1"/>
            <a:r>
              <a:rPr lang="zh-CN" altLang="en-US" b="0" dirty="0">
                <a:solidFill>
                  <a:srgbClr val="CC0066"/>
                </a:solidFill>
              </a:rPr>
              <a:t>/ </a:t>
            </a:r>
            <a:r>
              <a:rPr lang="zh-CN" altLang="en-US" b="0" dirty="0"/>
              <a:t>整型除整型，得整型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zh-CN" altLang="en-US" b="0" dirty="0"/>
              <a:t>如：1/2 ＝ 0，9/4 ＝ 2 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zh-CN" altLang="en-US" b="0" dirty="0"/>
              <a:t>5 * (</a:t>
            </a:r>
            <a:r>
              <a:rPr lang="en-US" altLang="zh-CN" b="0" dirty="0"/>
              <a:t>fahr - 32) / 9 </a:t>
            </a:r>
            <a:r>
              <a:rPr lang="zh-CN" altLang="en-US" b="0" dirty="0"/>
              <a:t>和 5 </a:t>
            </a:r>
            <a:r>
              <a:rPr lang="en-US" altLang="zh-CN" b="0" dirty="0"/>
              <a:t>/ 9</a:t>
            </a:r>
            <a:r>
              <a:rPr lang="zh-CN" altLang="en-US" b="0" dirty="0"/>
              <a:t> * (</a:t>
            </a:r>
            <a:r>
              <a:rPr lang="en-US" altLang="zh-CN" b="0" dirty="0"/>
              <a:t>fahr - 32) </a:t>
            </a:r>
            <a:r>
              <a:rPr lang="zh-CN" altLang="en-US" b="0" dirty="0"/>
              <a:t>等价吗</a:t>
            </a:r>
            <a:r>
              <a:rPr lang="en-US" altLang="zh-CN" b="0" dirty="0"/>
              <a:t>?</a:t>
            </a:r>
            <a:endParaRPr lang="zh-CN" altLang="en-US" b="0" dirty="0"/>
          </a:p>
          <a:p>
            <a:pPr eaLnBrk="1" hangingPunct="1"/>
            <a:r>
              <a:rPr lang="zh-CN" altLang="en-US" b="0" dirty="0">
                <a:solidFill>
                  <a:srgbClr val="CC0066"/>
                </a:solidFill>
              </a:rPr>
              <a:t>%</a:t>
            </a:r>
            <a:r>
              <a:rPr lang="zh-CN" altLang="en-US" b="0" dirty="0"/>
              <a:t> 只针对整型数据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zh-CN" altLang="en-US" b="0" dirty="0"/>
              <a:t>如： 5％6＝5，9％4＝1，100％4＝0</a:t>
            </a:r>
            <a:endParaRPr lang="zh-CN" altLang="en-US" b="0" dirty="0"/>
          </a:p>
          <a:p>
            <a:pPr eaLnBrk="1" hangingPunct="1"/>
            <a:r>
              <a:rPr lang="zh-CN" altLang="en-US" b="0" dirty="0"/>
              <a:t>双目运算符两侧操作数的类型要相同</a:t>
            </a:r>
            <a:endParaRPr lang="en-US" altLang="zh-CN" b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Rectangle 5"/>
          <p:cNvSpPr>
            <a:spLocks noGrp="1"/>
          </p:cNvSpPr>
          <p:nvPr>
            <p:ph type="title"/>
          </p:nvPr>
        </p:nvSpPr>
        <p:spPr>
          <a:xfrm>
            <a:off x="6084253" y="116523"/>
            <a:ext cx="2674937" cy="1371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赋值运算</a:t>
            </a:r>
            <a:endParaRPr lang="zh-CN" altLang="en-US" b="0" dirty="0"/>
          </a:p>
        </p:txBody>
      </p:sp>
      <p:sp>
        <p:nvSpPr>
          <p:cNvPr id="21507" name="Rectangle 6"/>
          <p:cNvSpPr>
            <a:spLocks noGrp="1"/>
          </p:cNvSpPr>
          <p:nvPr>
            <p:ph idx="1"/>
          </p:nvPr>
        </p:nvSpPr>
        <p:spPr>
          <a:xfrm>
            <a:off x="539750" y="981075"/>
            <a:ext cx="8280400" cy="5040313"/>
          </a:xfrm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b="0" dirty="0"/>
              <a:t>赋值运算符  </a:t>
            </a:r>
            <a:r>
              <a:rPr lang="en-US" altLang="en-US" b="0" dirty="0">
                <a:solidFill>
                  <a:srgbClr val="CC0066"/>
                </a:solidFill>
              </a:rPr>
              <a:t>=</a:t>
            </a:r>
            <a:endParaRPr lang="en-US" altLang="en-US" b="0" dirty="0">
              <a:solidFill>
                <a:srgbClr val="CC0066"/>
              </a:solidFill>
            </a:endParaRPr>
          </a:p>
          <a:p>
            <a:pPr eaLnBrk="1" hangingPunct="1"/>
            <a:r>
              <a:rPr lang="zh-CN" altLang="en-US" b="0" dirty="0"/>
              <a:t>赋值表达式：用 </a:t>
            </a:r>
            <a:r>
              <a:rPr lang="en-US" altLang="en-US" b="0" dirty="0">
                <a:solidFill>
                  <a:srgbClr val="CC0066"/>
                </a:solidFill>
              </a:rPr>
              <a:t>=</a:t>
            </a:r>
            <a:r>
              <a:rPr lang="en-US" altLang="en-US" b="0" dirty="0"/>
              <a:t> </a:t>
            </a:r>
            <a:r>
              <a:rPr lang="zh-CN" altLang="en-US" b="0" dirty="0"/>
              <a:t>将一个</a:t>
            </a:r>
            <a:r>
              <a:rPr lang="zh-CN" altLang="en-US" b="0" dirty="0">
                <a:solidFill>
                  <a:srgbClr val="CC0066"/>
                </a:solidFill>
              </a:rPr>
              <a:t>变量</a:t>
            </a:r>
            <a:r>
              <a:rPr lang="zh-CN" altLang="en-US" b="0" dirty="0"/>
              <a:t>和一个</a:t>
            </a:r>
            <a:r>
              <a:rPr lang="zh-CN" altLang="en-US" b="0" dirty="0">
                <a:solidFill>
                  <a:srgbClr val="CC0066"/>
                </a:solidFill>
              </a:rPr>
              <a:t>表达式</a:t>
            </a:r>
            <a:r>
              <a:rPr lang="zh-CN" altLang="en-US" b="0" dirty="0"/>
              <a:t>连接起来的式子 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zh-CN" altLang="en-US" b="0" dirty="0">
                <a:solidFill>
                  <a:schemeClr val="bg2"/>
                </a:solidFill>
              </a:rPr>
              <a:t>变量 ＝ 表达式</a:t>
            </a:r>
            <a:endParaRPr lang="zh-CN" altLang="en-US" b="0" dirty="0">
              <a:solidFill>
                <a:schemeClr val="bg2"/>
              </a:solidFill>
            </a:endParaRPr>
          </a:p>
          <a:p>
            <a:pPr eaLnBrk="1" hangingPunct="1">
              <a:buNone/>
            </a:pPr>
            <a:r>
              <a:rPr lang="zh-CN" altLang="en-US" b="0" dirty="0"/>
              <a:t>例如：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en-US" altLang="zh-CN" b="0" dirty="0"/>
              <a:t>fahr = 100; 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en-US" altLang="zh-CN" b="0" dirty="0"/>
              <a:t>celsius = 5 * (fahr - 32) / 9; </a:t>
            </a:r>
            <a:endParaRPr lang="en-US" altLang="zh-CN" b="0" dirty="0"/>
          </a:p>
          <a:p>
            <a:pPr lvl="1" eaLnBrk="1" hangingPunct="1"/>
            <a:r>
              <a:rPr lang="zh-CN" altLang="en-US" b="0" dirty="0"/>
              <a:t>计算赋值运算符右侧</a:t>
            </a:r>
            <a:r>
              <a:rPr lang="zh-CN" altLang="en-US" b="0" dirty="0">
                <a:solidFill>
                  <a:schemeClr val="bg2"/>
                </a:solidFill>
              </a:rPr>
              <a:t>表达式</a:t>
            </a:r>
            <a:r>
              <a:rPr lang="zh-CN" altLang="en-US" b="0" dirty="0"/>
              <a:t>的值</a:t>
            </a:r>
            <a:endParaRPr lang="zh-CN" altLang="en-US" b="0" dirty="0"/>
          </a:p>
          <a:p>
            <a:pPr lvl="1" eaLnBrk="1" hangingPunct="1"/>
            <a:r>
              <a:rPr lang="zh-CN" altLang="en-US" b="0" dirty="0"/>
              <a:t>将赋值运算符右侧</a:t>
            </a:r>
            <a:r>
              <a:rPr lang="zh-CN" altLang="en-US" b="0" dirty="0">
                <a:solidFill>
                  <a:schemeClr val="bg2"/>
                </a:solidFill>
              </a:rPr>
              <a:t>表达式</a:t>
            </a:r>
            <a:r>
              <a:rPr lang="zh-CN" altLang="en-US" b="0" dirty="0"/>
              <a:t>的值赋给左侧的</a:t>
            </a:r>
            <a:r>
              <a:rPr lang="zh-CN" altLang="en-US" b="0" dirty="0">
                <a:solidFill>
                  <a:schemeClr val="bg2"/>
                </a:solidFill>
              </a:rPr>
              <a:t>变量</a:t>
            </a:r>
            <a:endParaRPr lang="zh-CN" altLang="en-US" b="0" dirty="0">
              <a:solidFill>
                <a:schemeClr val="bg2"/>
              </a:solidFill>
            </a:endParaRPr>
          </a:p>
          <a:p>
            <a:pPr lvl="1" eaLnBrk="1" hangingPunct="1"/>
            <a:r>
              <a:rPr lang="zh-CN" altLang="en-US" b="0" dirty="0">
                <a:solidFill>
                  <a:schemeClr val="bg2"/>
                </a:solidFill>
              </a:rPr>
              <a:t>变量的左值和右值</a:t>
            </a:r>
            <a:endParaRPr lang="zh-CN" altLang="en-US" b="0" dirty="0">
              <a:solidFill>
                <a:schemeClr val="bg2"/>
              </a:solidFill>
            </a:endParaRPr>
          </a:p>
        </p:txBody>
      </p:sp>
      <p:sp>
        <p:nvSpPr>
          <p:cNvPr id="21508" name="Rectangle 4"/>
          <p:cNvSpPr/>
          <p:nvPr/>
        </p:nvSpPr>
        <p:spPr>
          <a:xfrm>
            <a:off x="4213067" y="2636520"/>
            <a:ext cx="4094480" cy="45275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zh-CN" altLang="en-US" sz="2800" b="0" dirty="0"/>
              <a:t>＝的左边必须是一个变量</a:t>
            </a:r>
            <a:endParaRPr lang="zh-CN" altLang="en-US" sz="2800" b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9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2.2.4  格式化输出函数</a:t>
            </a:r>
            <a:r>
              <a:rPr lang="en-US" altLang="zh-CN" b="0" dirty="0"/>
              <a:t>printf</a:t>
            </a:r>
            <a:endParaRPr lang="en-US" altLang="zh-CN" b="0" dirty="0"/>
          </a:p>
        </p:txBody>
      </p:sp>
      <p:sp>
        <p:nvSpPr>
          <p:cNvPr id="22531" name="Rectangle 10"/>
          <p:cNvSpPr>
            <a:spLocks noGrp="1"/>
          </p:cNvSpPr>
          <p:nvPr>
            <p:ph idx="1"/>
          </p:nvPr>
        </p:nvSpPr>
        <p:spPr>
          <a:xfrm>
            <a:off x="323850" y="1628775"/>
            <a:ext cx="8496300" cy="489585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2800" b="0" dirty="0"/>
              <a:t>数据输出：格式化输出函数 </a:t>
            </a:r>
            <a:r>
              <a:rPr lang="en-US" altLang="zh-CN" sz="2800" b="0" dirty="0">
                <a:solidFill>
                  <a:srgbClr val="CC0066"/>
                </a:solidFill>
              </a:rPr>
              <a:t>printf</a:t>
            </a:r>
            <a:endParaRPr lang="en-US" altLang="zh-CN" sz="2800" b="0" dirty="0"/>
          </a:p>
          <a:p>
            <a:pPr eaLnBrk="1" hangingPunct="1">
              <a:buNone/>
            </a:pPr>
            <a:r>
              <a:rPr lang="en-US" altLang="zh-CN" sz="2800" b="0" dirty="0"/>
              <a:t> </a:t>
            </a:r>
            <a:r>
              <a:rPr lang="zh-CN" altLang="en-US" sz="2800" b="0" dirty="0"/>
              <a:t>#</a:t>
            </a:r>
            <a:r>
              <a:rPr lang="en-US" altLang="zh-CN" sz="2800" b="0" dirty="0"/>
              <a:t>include &lt;stdio.h&gt;</a:t>
            </a:r>
            <a:endParaRPr lang="en-US" altLang="zh-CN" sz="2800" b="0" dirty="0"/>
          </a:p>
          <a:p>
            <a:pPr lvl="1" eaLnBrk="1" hangingPunct="1">
              <a:buNone/>
            </a:pPr>
            <a:r>
              <a:rPr lang="en-US" altLang="zh-CN" sz="2400" b="0" dirty="0"/>
              <a:t>printf("Hello World! \n");</a:t>
            </a:r>
            <a:endParaRPr lang="en-US" altLang="zh-CN" sz="2400" b="0" dirty="0"/>
          </a:p>
          <a:p>
            <a:pPr lvl="1" eaLnBrk="1" hangingPunct="1">
              <a:buNone/>
            </a:pPr>
            <a:r>
              <a:rPr lang="en-US" altLang="zh-CN" sz="2400" b="0" dirty="0"/>
              <a:t>printf("fahr = %d, celsius = %d\n", fahr, celsius);</a:t>
            </a:r>
            <a:endParaRPr lang="en-US" altLang="zh-CN" sz="2400" b="0" dirty="0"/>
          </a:p>
          <a:p>
            <a:pPr lvl="1" eaLnBrk="1" hangingPunct="1">
              <a:buNone/>
            </a:pP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800" b="0" dirty="0">
                <a:solidFill>
                  <a:srgbClr val="CC0066"/>
                </a:solidFill>
              </a:rPr>
              <a:t>printf</a:t>
            </a:r>
            <a:r>
              <a:rPr lang="en-US" altLang="zh-CN" sz="2800" b="0" dirty="0"/>
              <a:t>(</a:t>
            </a:r>
            <a:r>
              <a:rPr lang="zh-CN" altLang="en-US" sz="2800" b="0" dirty="0">
                <a:solidFill>
                  <a:schemeClr val="bg2"/>
                </a:solidFill>
              </a:rPr>
              <a:t>格式控制字符串</a:t>
            </a:r>
            <a:r>
              <a:rPr lang="zh-CN" altLang="en-US" sz="2800" b="0" dirty="0"/>
              <a:t>, </a:t>
            </a:r>
            <a:r>
              <a:rPr lang="zh-CN" altLang="en-US" sz="2800" b="0" dirty="0">
                <a:solidFill>
                  <a:schemeClr val="hlink"/>
                </a:solidFill>
              </a:rPr>
              <a:t>输出参数1, … , 输出参数</a:t>
            </a:r>
            <a:r>
              <a:rPr lang="en-US" altLang="zh-CN" sz="2800" b="0" dirty="0">
                <a:solidFill>
                  <a:schemeClr val="hlink"/>
                </a:solidFill>
              </a:rPr>
              <a:t>n</a:t>
            </a:r>
            <a:r>
              <a:rPr lang="en-US" altLang="zh-CN" sz="2800" b="0" dirty="0"/>
              <a:t>);</a:t>
            </a:r>
            <a:endParaRPr lang="zh-CN" altLang="en-US" sz="2800" b="0" dirty="0"/>
          </a:p>
        </p:txBody>
      </p:sp>
      <p:sp>
        <p:nvSpPr>
          <p:cNvPr id="248837" name="Rectangle 5"/>
          <p:cNvSpPr/>
          <p:nvPr/>
        </p:nvSpPr>
        <p:spPr>
          <a:xfrm>
            <a:off x="534035" y="5791200"/>
            <a:ext cx="6278880" cy="50482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zh-CN" altLang="en-US" b="0" dirty="0">
                <a:latin typeface="宋体" pitchFamily="2" charset="-122"/>
              </a:rPr>
              <a:t>用双引号括起来，表示输出的格式</a:t>
            </a:r>
            <a:endParaRPr lang="zh-CN" altLang="en-US" sz="2800" b="0" dirty="0">
              <a:latin typeface="宋体" pitchFamily="2" charset="-122"/>
            </a:endParaRPr>
          </a:p>
        </p:txBody>
      </p:sp>
      <p:sp>
        <p:nvSpPr>
          <p:cNvPr id="248838" name="Line 6"/>
          <p:cNvSpPr/>
          <p:nvPr/>
        </p:nvSpPr>
        <p:spPr>
          <a:xfrm flipH="1" flipV="1">
            <a:off x="2209800" y="4437063"/>
            <a:ext cx="0" cy="1066800"/>
          </a:xfrm>
          <a:prstGeom prst="line">
            <a:avLst/>
          </a:prstGeom>
          <a:ln w="38100" cap="sq" cmpd="sng">
            <a:solidFill>
              <a:schemeClr val="bg2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248839" name="Rectangle 7"/>
          <p:cNvSpPr/>
          <p:nvPr/>
        </p:nvSpPr>
        <p:spPr>
          <a:xfrm>
            <a:off x="3857308" y="5084763"/>
            <a:ext cx="2621280" cy="50482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zh-CN" altLang="en-US" b="0" dirty="0">
                <a:latin typeface="宋体" pitchFamily="2" charset="-122"/>
              </a:rPr>
              <a:t>要输出的数据</a:t>
            </a:r>
            <a:endParaRPr lang="zh-CN" altLang="en-US" b="0" dirty="0">
              <a:latin typeface="宋体" pitchFamily="2" charset="-122"/>
            </a:endParaRPr>
          </a:p>
        </p:txBody>
      </p:sp>
      <p:sp>
        <p:nvSpPr>
          <p:cNvPr id="248840" name="Line 8"/>
          <p:cNvSpPr/>
          <p:nvPr/>
        </p:nvSpPr>
        <p:spPr>
          <a:xfrm flipH="1" flipV="1">
            <a:off x="5009198" y="4581525"/>
            <a:ext cx="0" cy="457200"/>
          </a:xfrm>
          <a:prstGeom prst="line">
            <a:avLst/>
          </a:prstGeom>
          <a:ln w="38100" cap="sq" cmpd="sng">
            <a:solidFill>
              <a:schemeClr val="bg2"/>
            </a:solidFill>
            <a:prstDash val="solid"/>
            <a:headEnd type="none" w="sm" len="sm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8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88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8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8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88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88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37" grpId="0" bldLvl="0" animBg="1"/>
      <p:bldP spid="248839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Rectangle 8"/>
          <p:cNvSpPr>
            <a:spLocks noGrp="1"/>
          </p:cNvSpPr>
          <p:nvPr>
            <p:ph type="title"/>
          </p:nvPr>
        </p:nvSpPr>
        <p:spPr>
          <a:xfrm>
            <a:off x="468313" y="260350"/>
            <a:ext cx="7272337" cy="9366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 dirty="0"/>
              <a:t>printf－</a:t>
            </a:r>
            <a:r>
              <a:rPr lang="zh-CN" altLang="en-US" b="0" dirty="0"/>
              <a:t>格式控制字符串</a:t>
            </a:r>
            <a:endParaRPr lang="zh-CN" altLang="en-US" b="0" dirty="0"/>
          </a:p>
        </p:txBody>
      </p:sp>
      <p:sp>
        <p:nvSpPr>
          <p:cNvPr id="250889" name="Rectangle 9"/>
          <p:cNvSpPr>
            <a:spLocks noGrp="1"/>
          </p:cNvSpPr>
          <p:nvPr>
            <p:ph idx="1"/>
          </p:nvPr>
        </p:nvSpPr>
        <p:spPr>
          <a:xfrm>
            <a:off x="36195" y="1052513"/>
            <a:ext cx="9036050" cy="5256212"/>
          </a:xfrm>
        </p:spPr>
        <p:txBody>
          <a:bodyPr vert="horz" wrap="square" lIns="91440" tIns="45720" rIns="91440" bIns="45720" anchor="t" anchorCtr="0"/>
          <a:p>
            <a:pPr lvl="1" eaLnBrk="1" hangingPunct="1">
              <a:buNone/>
            </a:pPr>
            <a:r>
              <a:rPr lang="en-US" altLang="zh-CN" sz="2400" b="0" dirty="0"/>
              <a:t>printf(</a:t>
            </a:r>
            <a:r>
              <a:rPr lang="en-US" altLang="zh-CN" sz="2400" b="0" dirty="0">
                <a:solidFill>
                  <a:schemeClr val="bg2"/>
                </a:solidFill>
              </a:rPr>
              <a:t>"Hello World! \n");</a:t>
            </a:r>
            <a:r>
              <a:rPr lang="en-US" altLang="zh-CN" sz="2400" b="0" dirty="0"/>
              <a:t> </a:t>
            </a:r>
            <a:endParaRPr lang="en-US" altLang="zh-CN" sz="2400" b="0" dirty="0"/>
          </a:p>
          <a:p>
            <a:pPr lvl="1" eaLnBrk="1" hangingPunct="1">
              <a:buNone/>
            </a:pPr>
            <a:r>
              <a:rPr lang="en-US" altLang="zh-CN" sz="2400" b="0" dirty="0"/>
              <a:t>printf(</a:t>
            </a:r>
            <a:r>
              <a:rPr lang="en-US" altLang="zh-CN" sz="2400" b="0" dirty="0">
                <a:solidFill>
                  <a:schemeClr val="bg2"/>
                </a:solidFill>
              </a:rPr>
              <a:t>"fahr = %d, celsius = %d\n"</a:t>
            </a:r>
            <a:r>
              <a:rPr lang="en-US" altLang="zh-CN" sz="2400" b="0" dirty="0"/>
              <a:t>, </a:t>
            </a:r>
            <a:r>
              <a:rPr lang="en-US" altLang="zh-CN" sz="2400" b="0" dirty="0">
                <a:solidFill>
                  <a:schemeClr val="hlink"/>
                </a:solidFill>
              </a:rPr>
              <a:t>fahr, celsius</a:t>
            </a:r>
            <a:r>
              <a:rPr lang="en-US" altLang="zh-CN" sz="2400" b="0" dirty="0"/>
              <a:t>);</a:t>
            </a:r>
            <a:endParaRPr lang="en-US" altLang="zh-CN" sz="2400" b="0" dirty="0"/>
          </a:p>
          <a:p>
            <a:pPr lvl="1" eaLnBrk="1" hangingPunct="1">
              <a:buNone/>
            </a:pPr>
            <a:r>
              <a:rPr lang="en-US" altLang="zh-CN" sz="2400" b="0" dirty="0"/>
              <a:t>printf(</a:t>
            </a:r>
            <a:r>
              <a:rPr lang="en-US" altLang="zh-CN" sz="2400" b="0" dirty="0">
                <a:solidFill>
                  <a:schemeClr val="bg2"/>
                </a:solidFill>
              </a:rPr>
              <a:t>"Hi\n"</a:t>
            </a:r>
            <a:r>
              <a:rPr lang="en-US" altLang="zh-CN" sz="2400" b="0" dirty="0"/>
              <a:t>, </a:t>
            </a:r>
            <a:r>
              <a:rPr lang="en-US" altLang="zh-CN" sz="2400" b="0" dirty="0">
                <a:solidFill>
                  <a:schemeClr val="hlink"/>
                </a:solidFill>
              </a:rPr>
              <a:t>fahr</a:t>
            </a:r>
            <a:r>
              <a:rPr lang="en-US" altLang="zh-CN" sz="2400" b="0" dirty="0"/>
              <a:t>);</a:t>
            </a:r>
            <a:endParaRPr lang="en-US" altLang="zh-CN" sz="2400" b="0" dirty="0"/>
          </a:p>
          <a:p>
            <a:pPr eaLnBrk="1" hangingPunct="1">
              <a:buNone/>
            </a:pPr>
            <a:r>
              <a:rPr lang="zh-CN" altLang="en-US" b="0" dirty="0">
                <a:solidFill>
                  <a:schemeClr val="bg2"/>
                </a:solidFill>
              </a:rPr>
              <a:t>格式控制字符串</a:t>
            </a:r>
            <a:r>
              <a:rPr lang="zh-CN" altLang="en-US" b="0" dirty="0"/>
              <a:t>：</a:t>
            </a:r>
            <a:endParaRPr lang="zh-CN" altLang="en-US" b="0" dirty="0"/>
          </a:p>
          <a:p>
            <a:pPr lvl="1" eaLnBrk="1" hangingPunct="1"/>
            <a:r>
              <a:rPr lang="zh-CN" altLang="en-US" b="0" dirty="0"/>
              <a:t>普通字符：原样输出</a:t>
            </a:r>
            <a:endParaRPr lang="zh-CN" altLang="en-US" b="0" dirty="0"/>
          </a:p>
          <a:p>
            <a:pPr lvl="1" eaLnBrk="1" hangingPunct="1"/>
            <a:r>
              <a:rPr lang="zh-CN" altLang="en-US" b="0" dirty="0"/>
              <a:t>格式控制说明:按指定的格式输出数据,</a:t>
            </a:r>
            <a:r>
              <a:rPr lang="zh-CN" altLang="en-US" b="0" dirty="0">
                <a:solidFill>
                  <a:srgbClr val="CC0066"/>
                </a:solidFill>
              </a:rPr>
              <a:t>%</a:t>
            </a:r>
            <a:r>
              <a:rPr lang="zh-CN" altLang="en-US" b="0" dirty="0"/>
              <a:t>…</a:t>
            </a:r>
            <a:endParaRPr lang="zh-CN" altLang="en-US" b="0" dirty="0"/>
          </a:p>
          <a:p>
            <a:pPr lvl="2" eaLnBrk="1" hangingPunct="1">
              <a:buNone/>
            </a:pPr>
            <a:r>
              <a:rPr lang="zh-CN" altLang="en-US" b="0" dirty="0"/>
              <a:t>与数据类型有关</a:t>
            </a:r>
            <a:endParaRPr lang="zh-CN" altLang="en-US" b="0" dirty="0"/>
          </a:p>
          <a:p>
            <a:pPr lvl="2" eaLnBrk="1" hangingPunct="1"/>
            <a:r>
              <a:rPr lang="en-US" altLang="zh-CN" b="0" dirty="0"/>
              <a:t>int</a:t>
            </a:r>
            <a:r>
              <a:rPr lang="zh-CN" altLang="en-US" b="0" dirty="0"/>
              <a:t>型 ：</a:t>
            </a:r>
            <a:r>
              <a:rPr lang="zh-CN" altLang="en-US" b="0" dirty="0">
                <a:solidFill>
                  <a:srgbClr val="CC0066"/>
                </a:solidFill>
              </a:rPr>
              <a:t>%</a:t>
            </a:r>
            <a:r>
              <a:rPr lang="en-US" altLang="zh-CN" b="0" dirty="0">
                <a:solidFill>
                  <a:srgbClr val="CC0066"/>
                </a:solidFill>
              </a:rPr>
              <a:t>d</a:t>
            </a:r>
            <a:endParaRPr lang="zh-CN" altLang="en-US" b="0" dirty="0">
              <a:solidFill>
                <a:srgbClr val="CC0066"/>
              </a:solidFill>
            </a:endParaRPr>
          </a:p>
          <a:p>
            <a:pPr lvl="2" eaLnBrk="1" hangingPunct="1"/>
            <a:r>
              <a:rPr lang="en-US" altLang="zh-CN" b="0" dirty="0"/>
              <a:t>float double</a:t>
            </a:r>
            <a:r>
              <a:rPr lang="zh-CN" altLang="en-US" b="0" dirty="0"/>
              <a:t>型：</a:t>
            </a:r>
            <a:r>
              <a:rPr lang="zh-CN" altLang="en-US" b="0" dirty="0">
                <a:solidFill>
                  <a:srgbClr val="CC0066"/>
                </a:solidFill>
              </a:rPr>
              <a:t>%</a:t>
            </a:r>
            <a:r>
              <a:rPr lang="en-US" altLang="zh-CN" b="0" dirty="0">
                <a:solidFill>
                  <a:srgbClr val="CC0066"/>
                </a:solidFill>
              </a:rPr>
              <a:t>f</a:t>
            </a:r>
            <a:endParaRPr lang="zh-CN" altLang="en-US" b="0" dirty="0">
              <a:solidFill>
                <a:srgbClr val="CC0066"/>
              </a:solidFill>
            </a:endParaRPr>
          </a:p>
          <a:p>
            <a:pPr lvl="1" eaLnBrk="1" hangingPunct="1">
              <a:buNone/>
            </a:pPr>
            <a:r>
              <a:rPr lang="en-US" altLang="zh-CN" sz="2400" b="0" dirty="0"/>
              <a:t>printf("fahr = </a:t>
            </a:r>
            <a:r>
              <a:rPr lang="en-US" altLang="zh-CN" sz="2400" b="0" dirty="0">
                <a:solidFill>
                  <a:srgbClr val="CC0066"/>
                </a:solidFill>
              </a:rPr>
              <a:t>%d</a:t>
            </a:r>
            <a:r>
              <a:rPr lang="en-US" altLang="zh-CN" sz="2400" b="0" dirty="0"/>
              <a:t>, celsius = </a:t>
            </a:r>
            <a:r>
              <a:rPr lang="en-US" altLang="zh-CN" sz="2400" b="0" dirty="0">
                <a:solidFill>
                  <a:srgbClr val="CC0066"/>
                </a:solidFill>
              </a:rPr>
              <a:t>%d</a:t>
            </a:r>
            <a:r>
              <a:rPr lang="en-US" altLang="zh-CN" sz="2400" b="0" dirty="0"/>
              <a:t>\n", fahr, celsius);</a:t>
            </a:r>
            <a:endParaRPr lang="zh-CN" altLang="en-US" sz="2400" b="0" dirty="0"/>
          </a:p>
        </p:txBody>
      </p:sp>
      <p:sp>
        <p:nvSpPr>
          <p:cNvPr id="250887" name="Rectangle 7"/>
          <p:cNvSpPr/>
          <p:nvPr/>
        </p:nvSpPr>
        <p:spPr>
          <a:xfrm>
            <a:off x="3296920" y="5805805"/>
            <a:ext cx="5395595" cy="521970"/>
          </a:xfrm>
          <a:prstGeom prst="rect">
            <a:avLst/>
          </a:prstGeom>
          <a:noFill/>
          <a:ln w="12700" cap="rnd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zh-CN" altLang="en-US" sz="2800" b="0" dirty="0">
                <a:latin typeface="宋体" pitchFamily="2" charset="-122"/>
              </a:rPr>
              <a:t>输出:</a:t>
            </a:r>
            <a:r>
              <a:rPr lang="en-US" altLang="zh-CN" sz="2800" b="0" dirty="0"/>
              <a:t>fahr =</a:t>
            </a:r>
            <a:r>
              <a:rPr lang="en-US" altLang="zh-CN" sz="2800" b="0" dirty="0">
                <a:solidFill>
                  <a:srgbClr val="CC0066"/>
                </a:solidFill>
              </a:rPr>
              <a:t>100</a:t>
            </a:r>
            <a:r>
              <a:rPr lang="en-US" altLang="zh-CN" sz="2800" b="0" dirty="0"/>
              <a:t>, celsius = </a:t>
            </a:r>
            <a:r>
              <a:rPr lang="en-US" altLang="zh-CN" sz="2800" b="0" dirty="0">
                <a:solidFill>
                  <a:srgbClr val="CC0066"/>
                </a:solidFill>
              </a:rPr>
              <a:t>37</a:t>
            </a:r>
            <a:endParaRPr lang="zh-CN" altLang="en-US" sz="2800" b="0" dirty="0">
              <a:solidFill>
                <a:srgbClr val="CC0066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>
                                            <p:txEl>
                                              <p:charRg st="102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0889">
                                            <p:txEl>
                                              <p:charRg st="102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0889">
                                            <p:txEl>
                                              <p:charRg st="102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>
                                            <p:txEl>
                                              <p:charRg st="111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50889">
                                            <p:txEl>
                                              <p:charRg st="111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50889">
                                            <p:txEl>
                                              <p:charRg st="111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>
                                            <p:txEl>
                                              <p:charRg st="121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50889">
                                            <p:txEl>
                                              <p:charRg st="121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50889">
                                            <p:txEl>
                                              <p:charRg st="121" end="14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>
                                            <p:txEl>
                                              <p:charRg st="142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0889">
                                            <p:txEl>
                                              <p:charRg st="142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0889">
                                            <p:txEl>
                                              <p:charRg st="142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>
                                            <p:txEl>
                                              <p:charRg st="150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50889">
                                            <p:txEl>
                                              <p:charRg st="150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50889">
                                            <p:txEl>
                                              <p:charRg st="150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>
                                            <p:txEl>
                                              <p:charRg st="159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0889">
                                            <p:txEl>
                                              <p:charRg st="159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0889">
                                            <p:txEl>
                                              <p:charRg st="159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>
                                            <p:txEl>
                                              <p:charRg st="176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0889">
                                            <p:txEl>
                                              <p:charRg st="176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50889">
                                            <p:txEl>
                                              <p:charRg st="176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508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508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9" grpId="0" bldLvl="2" build="p"/>
      <p:bldP spid="250887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2.3 计算分段函数 </a:t>
            </a:r>
            <a:endParaRPr lang="zh-CN" altLang="en-US" b="0" dirty="0"/>
          </a:p>
        </p:txBody>
      </p:sp>
      <p:sp>
        <p:nvSpPr>
          <p:cNvPr id="2457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b="0" dirty="0"/>
              <a:t>2.3.1  程序解析</a:t>
            </a: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/>
              <a:t>2.3.2  关系运算</a:t>
            </a: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/>
              <a:t>2.3.3  </a:t>
            </a:r>
            <a:r>
              <a:rPr lang="en-US" altLang="zh-CN" b="0" dirty="0"/>
              <a:t>if-else</a:t>
            </a:r>
            <a:r>
              <a:rPr lang="zh-CN" altLang="en-US" b="0" dirty="0"/>
              <a:t>语句</a:t>
            </a:r>
            <a:endParaRPr lang="zh-CN" altLang="en-US" b="0" dirty="0"/>
          </a:p>
          <a:p>
            <a:pPr eaLnBrk="1" hangingPunct="1">
              <a:buNone/>
            </a:pPr>
            <a:r>
              <a:rPr lang="zh-CN" altLang="en-US" b="0" dirty="0"/>
              <a:t>2.3.4  格式化输入函数</a:t>
            </a:r>
            <a:r>
              <a:rPr lang="en-US" altLang="zh-CN" b="0" dirty="0"/>
              <a:t>scanf</a:t>
            </a:r>
            <a:endParaRPr lang="en-US" altLang="zh-CN" b="0" dirty="0"/>
          </a:p>
          <a:p>
            <a:pPr eaLnBrk="1" hangingPunct="1">
              <a:buNone/>
            </a:pPr>
            <a:r>
              <a:rPr lang="en-US" altLang="zh-CN" b="0" dirty="0"/>
              <a:t>2.3.5  </a:t>
            </a:r>
            <a:r>
              <a:rPr lang="zh-CN" altLang="en-US" b="0" dirty="0"/>
              <a:t>常用数学库函数</a:t>
            </a:r>
            <a:endParaRPr lang="zh-CN" altLang="en-US" b="0" dirty="0"/>
          </a:p>
        </p:txBody>
      </p:sp>
    </p:spTree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2.3.1  程序解析</a:t>
            </a:r>
            <a:endParaRPr lang="zh-CN" altLang="en-US" b="0" dirty="0"/>
          </a:p>
        </p:txBody>
      </p:sp>
      <p:sp>
        <p:nvSpPr>
          <p:cNvPr id="352259" name="Rectangle 3"/>
          <p:cNvSpPr>
            <a:spLocks noGrp="1"/>
          </p:cNvSpPr>
          <p:nvPr>
            <p:ph idx="1"/>
          </p:nvPr>
        </p:nvSpPr>
        <p:spPr>
          <a:xfrm>
            <a:off x="395288" y="1773238"/>
            <a:ext cx="4176712" cy="432752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0" dirty="0"/>
              <a:t>例2-4  计算分段函数</a:t>
            </a:r>
            <a:endParaRPr lang="zh-CN" altLang="en-US" sz="2800" b="0" dirty="0"/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800" b="0" dirty="0"/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800" b="0" dirty="0"/>
          </a:p>
          <a:p>
            <a:pPr eaLnBrk="1" hangingPunct="1">
              <a:lnSpc>
                <a:spcPct val="90000"/>
              </a:lnSpc>
              <a:buNone/>
            </a:pPr>
            <a:endParaRPr lang="zh-CN" altLang="en-US" sz="2800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0" dirty="0"/>
              <a:t>要解决的问题：</a:t>
            </a:r>
            <a:endParaRPr lang="zh-CN" altLang="en-US" sz="2800" b="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0" dirty="0"/>
              <a:t>输入</a:t>
            </a:r>
            <a:endParaRPr lang="zh-CN" altLang="en-US" sz="2400" b="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0" dirty="0"/>
              <a:t>计算分段函数</a:t>
            </a:r>
            <a:endParaRPr lang="zh-CN" altLang="en-US" sz="2400" b="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sz="2400" b="0" dirty="0"/>
              <a:t>输出，并保留2位小数</a:t>
            </a:r>
            <a:r>
              <a:rPr lang="en-US" altLang="zh-CN" sz="2400" b="0" dirty="0"/>
              <a:t> </a:t>
            </a:r>
            <a:endParaRPr lang="en-US" altLang="zh-CN" sz="2400" b="0" dirty="0"/>
          </a:p>
        </p:txBody>
      </p:sp>
      <p:sp>
        <p:nvSpPr>
          <p:cNvPr id="26628" name="Rectangle 8"/>
          <p:cNvSpPr/>
          <p:nvPr/>
        </p:nvSpPr>
        <p:spPr>
          <a:xfrm>
            <a:off x="0" y="31543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/>
          </a:p>
        </p:txBody>
      </p:sp>
      <p:graphicFrame>
        <p:nvGraphicFramePr>
          <p:cNvPr id="26629" name="Object 7"/>
          <p:cNvGraphicFramePr>
            <a:graphicFrameLocks noChangeAspect="1"/>
          </p:cNvGraphicFramePr>
          <p:nvPr/>
        </p:nvGraphicFramePr>
        <p:xfrm>
          <a:off x="828040" y="2372360"/>
          <a:ext cx="5115560" cy="11798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" imgW="1675765" imgH="546100" progId="Equation.DSMT4">
                  <p:embed/>
                </p:oleObj>
              </mc:Choice>
              <mc:Fallback>
                <p:oleObj name="" r:id="rId1" imgW="1675765" imgH="546100" progId="Equation.DSMT4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28040" y="2372360"/>
                        <a:ext cx="5115560" cy="11798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 descr="图片1"/>
          <p:cNvPicPr>
            <a:picLocks noChangeAspect="1"/>
          </p:cNvPicPr>
          <p:nvPr/>
        </p:nvPicPr>
        <p:blipFill>
          <a:blip r:embed="rId3"/>
          <a:srcRect l="77220" t="59452" r="9325"/>
          <a:stretch>
            <a:fillRect/>
          </a:stretch>
        </p:blipFill>
        <p:spPr>
          <a:xfrm>
            <a:off x="6172200" y="2487295"/>
            <a:ext cx="688975" cy="4794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881370" y="2559050"/>
            <a:ext cx="1270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tx1"/>
                </a:solidFill>
                <a:uFillTx/>
                <a:ea typeface="Sans Serif" charset="0"/>
              </a:rPr>
              <a:t>且         </a:t>
            </a:r>
            <a:r>
              <a:rPr lang="en-US" altLang="zh-CN">
                <a:solidFill>
                  <a:schemeClr val="tx1"/>
                </a:solidFill>
                <a:uFillTx/>
                <a:ea typeface="Sans Serif" charset="0"/>
              </a:rPr>
              <a:t>0</a:t>
            </a:r>
            <a:endParaRPr lang="en-US" altLang="zh-CN">
              <a:solidFill>
                <a:schemeClr val="tx1"/>
              </a:solidFill>
              <a:uFillTx/>
              <a:ea typeface="Sans Serif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charRg st="24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52259">
                                            <p:txEl>
                                              <p:charRg st="24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charRg st="27" end="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352259">
                                            <p:txEl>
                                              <p:charRg st="27" end="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259">
                                            <p:txEl>
                                              <p:charRg st="34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1000"/>
                                        <p:tgtEl>
                                          <p:spTgt spid="352259">
                                            <p:txEl>
                                              <p:charRg st="34" end="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2"/>
          <p:cNvSpPr>
            <a:spLocks noGrp="1"/>
          </p:cNvSpPr>
          <p:nvPr>
            <p:ph type="title"/>
          </p:nvPr>
        </p:nvSpPr>
        <p:spPr>
          <a:xfrm>
            <a:off x="323850" y="404813"/>
            <a:ext cx="7705725" cy="10128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2.3.1  程序解析－求分段函数 </a:t>
            </a:r>
            <a:endParaRPr lang="zh-CN" altLang="en-US" b="0" dirty="0"/>
          </a:p>
        </p:txBody>
      </p:sp>
      <p:sp>
        <p:nvSpPr>
          <p:cNvPr id="28675" name="Rectangle 3"/>
          <p:cNvSpPr>
            <a:spLocks noGrp="1"/>
          </p:cNvSpPr>
          <p:nvPr>
            <p:ph idx="1"/>
          </p:nvPr>
        </p:nvSpPr>
        <p:spPr>
          <a:xfrm>
            <a:off x="250825" y="1341438"/>
            <a:ext cx="8893175" cy="5516562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#</a:t>
            </a:r>
            <a:r>
              <a:rPr lang="en-US" altLang="zh-CN" sz="2400" b="0" dirty="0"/>
              <a:t>include &lt;stdio.h&gt;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int main(void)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{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double x, y; 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printf("Enter x (x&gt;=0):\n");  </a:t>
            </a:r>
            <a:r>
              <a:rPr lang="en-US" altLang="zh-CN" sz="2400" b="0" dirty="0">
                <a:solidFill>
                  <a:schemeClr val="bg2"/>
                </a:solidFill>
              </a:rPr>
              <a:t>/* </a:t>
            </a:r>
            <a:r>
              <a:rPr lang="zh-CN" altLang="en-US" sz="2400" b="0" dirty="0">
                <a:solidFill>
                  <a:schemeClr val="bg2"/>
                </a:solidFill>
              </a:rPr>
              <a:t>输入提示 */</a:t>
            </a:r>
            <a:endParaRPr lang="zh-CN" altLang="en-US" sz="2400" b="0" dirty="0">
              <a:solidFill>
                <a:schemeClr val="bg2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    </a:t>
            </a:r>
            <a:r>
              <a:rPr lang="en-US" altLang="zh-CN" sz="2400" b="0" dirty="0">
                <a:solidFill>
                  <a:srgbClr val="CC0066"/>
                </a:solidFill>
              </a:rPr>
              <a:t>scanf</a:t>
            </a:r>
            <a:r>
              <a:rPr lang="en-US" altLang="zh-CN" sz="2400" b="0" dirty="0"/>
              <a:t>("%lf", &amp;x);                  </a:t>
            </a:r>
            <a:r>
              <a:rPr lang="en-US" altLang="zh-CN" sz="2400" b="0" dirty="0">
                <a:solidFill>
                  <a:schemeClr val="bg2"/>
                </a:solidFill>
              </a:rPr>
              <a:t>/* </a:t>
            </a:r>
            <a:r>
              <a:rPr lang="zh-CN" altLang="en-US" sz="2400" b="0" dirty="0">
                <a:solidFill>
                  <a:schemeClr val="bg2"/>
                </a:solidFill>
              </a:rPr>
              <a:t>调用</a:t>
            </a:r>
            <a:r>
              <a:rPr lang="en-US" altLang="zh-CN" sz="2400" b="0" dirty="0">
                <a:solidFill>
                  <a:schemeClr val="bg2"/>
                </a:solidFill>
              </a:rPr>
              <a:t>scanf</a:t>
            </a:r>
            <a:r>
              <a:rPr lang="zh-CN" altLang="en-US" sz="2400" b="0" dirty="0">
                <a:solidFill>
                  <a:schemeClr val="bg2"/>
                </a:solidFill>
              </a:rPr>
              <a:t>函数输入数据 */</a:t>
            </a:r>
            <a:endParaRPr lang="zh-CN" altLang="en-US" sz="2400" b="0" dirty="0">
              <a:solidFill>
                <a:schemeClr val="bg2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    </a:t>
            </a:r>
            <a:r>
              <a:rPr lang="en-US" altLang="zh-CN" sz="2400" b="0" dirty="0">
                <a:solidFill>
                  <a:srgbClr val="CC0066"/>
                </a:solidFill>
              </a:rPr>
              <a:t>if</a:t>
            </a:r>
            <a:r>
              <a:rPr lang="en-US" altLang="zh-CN" sz="2400" b="0" dirty="0"/>
              <a:t>(x &lt;= 15)          	          </a:t>
            </a:r>
            <a:r>
              <a:rPr lang="en-US" altLang="zh-CN" sz="2400" b="0" dirty="0">
                <a:solidFill>
                  <a:schemeClr val="bg2"/>
                </a:solidFill>
              </a:rPr>
              <a:t>/*  if – else</a:t>
            </a:r>
            <a:r>
              <a:rPr lang="zh-CN" altLang="en-US" sz="2400" b="0" dirty="0">
                <a:solidFill>
                  <a:schemeClr val="bg2"/>
                </a:solidFill>
              </a:rPr>
              <a:t>语句 */</a:t>
            </a:r>
            <a:endParaRPr lang="zh-CN" altLang="en-US" sz="2400" b="0" dirty="0">
              <a:solidFill>
                <a:schemeClr val="bg2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        </a:t>
            </a:r>
            <a:r>
              <a:rPr lang="en-US" altLang="zh-CN" sz="2400" b="0" dirty="0"/>
              <a:t> y = 4 * x / 3; 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</a:t>
            </a:r>
            <a:r>
              <a:rPr lang="en-US" altLang="zh-CN" sz="2400" b="0" dirty="0">
                <a:solidFill>
                  <a:srgbClr val="CC0066"/>
                </a:solidFill>
              </a:rPr>
              <a:t>else</a:t>
            </a:r>
            <a:r>
              <a:rPr lang="en-US" altLang="zh-CN" sz="2400" b="0" dirty="0"/>
              <a:t> 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    y = 2.5 * x - 10.5;             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printf("y = f(%f) = </a:t>
            </a:r>
            <a:r>
              <a:rPr lang="en-US" altLang="zh-CN" sz="2400" b="0" dirty="0">
                <a:solidFill>
                  <a:srgbClr val="CC0066"/>
                </a:solidFill>
              </a:rPr>
              <a:t>%.2f</a:t>
            </a:r>
            <a:r>
              <a:rPr lang="en-US" altLang="zh-CN" sz="2400" b="0" dirty="0"/>
              <a:t>\n", x, y); 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    </a:t>
            </a:r>
            <a:r>
              <a:rPr lang="en-US" altLang="zh-CN" sz="2400" b="0" dirty="0"/>
              <a:t>return 0;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}</a:t>
            </a:r>
            <a:endParaRPr lang="en-US" altLang="zh-CN" sz="2400" b="0" dirty="0"/>
          </a:p>
        </p:txBody>
      </p:sp>
      <p:sp>
        <p:nvSpPr>
          <p:cNvPr id="354308" name="Rectangle 4"/>
          <p:cNvSpPr/>
          <p:nvPr/>
        </p:nvSpPr>
        <p:spPr>
          <a:xfrm>
            <a:off x="3489960" y="1341755"/>
            <a:ext cx="2662555" cy="119888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/>
              <a:t>Enter x (x&gt;=0):</a:t>
            </a:r>
            <a:endParaRPr lang="en-US" altLang="zh-CN" sz="2000" b="0" dirty="0"/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CC0066"/>
                </a:solidFill>
              </a:rPr>
              <a:t>9.5</a:t>
            </a:r>
            <a:endParaRPr lang="zh-CN" altLang="en-US" sz="20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/>
              <a:t>f(9.500000)=12.67</a:t>
            </a:r>
            <a:endParaRPr lang="en-US" altLang="zh-CN" sz="2000" b="0" dirty="0"/>
          </a:p>
        </p:txBody>
      </p:sp>
      <p:sp>
        <p:nvSpPr>
          <p:cNvPr id="354309" name="Rectangle 5"/>
          <p:cNvSpPr/>
          <p:nvPr/>
        </p:nvSpPr>
        <p:spPr>
          <a:xfrm>
            <a:off x="6227445" y="1341755"/>
            <a:ext cx="2822575" cy="119888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/>
              <a:t>Enter x (x&gt;=0):</a:t>
            </a:r>
            <a:endParaRPr lang="en-US" altLang="zh-CN" sz="2000" b="0" dirty="0"/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CC0066"/>
                </a:solidFill>
              </a:rPr>
              <a:t>15</a:t>
            </a:r>
            <a:endParaRPr lang="en-US" altLang="zh-CN" sz="20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/>
              <a:t>f(15.000000)=20.00</a:t>
            </a:r>
            <a:endParaRPr lang="en-US" altLang="zh-CN" sz="2000" b="0" dirty="0"/>
          </a:p>
        </p:txBody>
      </p:sp>
      <p:sp>
        <p:nvSpPr>
          <p:cNvPr id="354311" name="Rectangle 7"/>
          <p:cNvSpPr/>
          <p:nvPr/>
        </p:nvSpPr>
        <p:spPr>
          <a:xfrm>
            <a:off x="6010275" y="4581525"/>
            <a:ext cx="2863215" cy="119888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/>
              <a:t>Enter x (x&gt;=0):</a:t>
            </a:r>
            <a:endParaRPr lang="en-US" altLang="zh-CN" sz="2000" b="0" dirty="0"/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CC0066"/>
                </a:solidFill>
              </a:rPr>
              <a:t>21.3</a:t>
            </a:r>
            <a:endParaRPr lang="en-US" altLang="zh-CN" sz="20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/>
              <a:t>f(21.300000)=42.75</a:t>
            </a:r>
            <a:endParaRPr lang="en-US" altLang="zh-CN" sz="2000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4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4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43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4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4308" grpId="0" bldLvl="0" animBg="1"/>
      <p:bldP spid="354309" grpId="0" bldLvl="0" animBg="1"/>
      <p:bldP spid="354311" grpId="0" bldLvl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7786688" cy="8112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b="0" dirty="0"/>
              <a:t>2.3.2  关系运算</a:t>
            </a:r>
            <a:endParaRPr lang="zh-CN" altLang="en-US" sz="4000" b="0" dirty="0"/>
          </a:p>
        </p:txBody>
      </p:sp>
      <p:sp>
        <p:nvSpPr>
          <p:cNvPr id="356356" name="Rectangle 4"/>
          <p:cNvSpPr/>
          <p:nvPr/>
        </p:nvSpPr>
        <p:spPr>
          <a:xfrm>
            <a:off x="5652135" y="3861118"/>
            <a:ext cx="2256155" cy="45275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zh-CN" altLang="en-US" sz="2800" b="0" dirty="0">
                <a:latin typeface="宋体" pitchFamily="2" charset="-122"/>
              </a:rPr>
              <a:t>区分</a:t>
            </a:r>
            <a:r>
              <a:rPr lang="en-US" altLang="zh-CN" sz="2800" b="0" dirty="0">
                <a:solidFill>
                  <a:srgbClr val="CC0066"/>
                </a:solidFill>
              </a:rPr>
              <a:t>=</a:t>
            </a:r>
            <a:r>
              <a:rPr lang="zh-CN" altLang="en-US" sz="2800" b="0" dirty="0">
                <a:solidFill>
                  <a:srgbClr val="CC0066"/>
                </a:solidFill>
              </a:rPr>
              <a:t> </a:t>
            </a:r>
            <a:r>
              <a:rPr lang="zh-CN" altLang="en-US" sz="2800" b="0" dirty="0">
                <a:latin typeface="宋体" pitchFamily="2" charset="-122"/>
              </a:rPr>
              <a:t>和</a:t>
            </a:r>
            <a:r>
              <a:rPr lang="en-US" altLang="zh-CN" sz="2800" b="0" dirty="0">
                <a:solidFill>
                  <a:srgbClr val="CC0066"/>
                </a:solidFill>
              </a:rPr>
              <a:t>==</a:t>
            </a:r>
            <a:endParaRPr lang="zh-CN" altLang="en-US" sz="2800" b="0" dirty="0">
              <a:solidFill>
                <a:srgbClr val="CC0066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7200" y="1845310"/>
            <a:ext cx="8342630" cy="39763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eaLnBrk="1" hangingPunct="1">
              <a:lnSpc>
                <a:spcPct val="80000"/>
              </a:lnSpc>
              <a:buNone/>
            </a:pPr>
            <a:r>
              <a:rPr lang="en-US" altLang="zh-CN" sz="2800" dirty="0">
                <a:sym typeface="+mn-ea"/>
              </a:rPr>
              <a:t>x &lt;= 15</a:t>
            </a:r>
            <a:r>
              <a:rPr lang="zh-CN" altLang="en-US" sz="2800" dirty="0">
                <a:sym typeface="+mn-ea"/>
              </a:rPr>
              <a:t>比较 </a:t>
            </a:r>
            <a:r>
              <a:rPr lang="en-US" altLang="zh-CN" sz="2800" dirty="0">
                <a:sym typeface="+mn-ea"/>
              </a:rPr>
              <a:t>x </a:t>
            </a:r>
            <a:r>
              <a:rPr lang="zh-CN" altLang="en-US" sz="2800" dirty="0">
                <a:sym typeface="+mn-ea"/>
              </a:rPr>
              <a:t>和 1</a:t>
            </a:r>
            <a:r>
              <a:rPr lang="en-US" altLang="zh-CN" sz="2800" dirty="0">
                <a:sym typeface="+mn-ea"/>
              </a:rPr>
              <a:t>5 </a:t>
            </a:r>
            <a:r>
              <a:rPr lang="zh-CN" altLang="en-US" sz="2800" dirty="0">
                <a:sym typeface="+mn-ea"/>
              </a:rPr>
              <a:t>的大小</a:t>
            </a:r>
            <a:r>
              <a:rPr lang="en-US" altLang="zh-CN" sz="2800" dirty="0">
                <a:sym typeface="+mn-ea"/>
              </a:rPr>
              <a:t>,</a:t>
            </a:r>
            <a:r>
              <a:rPr lang="zh-CN" altLang="en-US" sz="2800" dirty="0">
                <a:sym typeface="+mn-ea"/>
              </a:rPr>
              <a:t>比较的结果：真  假</a:t>
            </a:r>
            <a:endParaRPr lang="zh-CN" altLang="en-US" sz="2800" dirty="0">
              <a:sym typeface="+mn-ea"/>
            </a:endParaRPr>
          </a:p>
          <a:p>
            <a:pPr eaLnBrk="1" hangingPunct="1">
              <a:lnSpc>
                <a:spcPct val="80000"/>
              </a:lnSpc>
              <a:buNone/>
            </a:pPr>
            <a:endParaRPr lang="zh-CN" altLang="en-US" sz="2800" b="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400" dirty="0">
                <a:sym typeface="+mn-ea"/>
              </a:rPr>
              <a:t>当 </a:t>
            </a:r>
            <a:r>
              <a:rPr lang="en-US" altLang="zh-CN" sz="2400" dirty="0">
                <a:sym typeface="+mn-ea"/>
              </a:rPr>
              <a:t>x </a:t>
            </a:r>
            <a:r>
              <a:rPr lang="zh-CN" altLang="en-US" sz="2400" dirty="0">
                <a:sym typeface="+mn-ea"/>
              </a:rPr>
              <a:t>取值</a:t>
            </a:r>
            <a:r>
              <a:rPr lang="en-US" altLang="zh-CN" sz="2400" dirty="0">
                <a:sym typeface="+mn-ea"/>
              </a:rPr>
              <a:t>9.5</a:t>
            </a:r>
            <a:r>
              <a:rPr lang="zh-CN" altLang="en-US" sz="2400" dirty="0">
                <a:sym typeface="+mn-ea"/>
              </a:rPr>
              <a:t>时， </a:t>
            </a:r>
            <a:r>
              <a:rPr lang="en-US" altLang="zh-CN" sz="2400" dirty="0">
                <a:sym typeface="+mn-ea"/>
              </a:rPr>
              <a:t>  x &lt;= 15</a:t>
            </a:r>
            <a:r>
              <a:rPr lang="zh-CN" altLang="en-US" sz="2400" dirty="0">
                <a:sym typeface="+mn-ea"/>
              </a:rPr>
              <a:t>的结果是：？</a:t>
            </a:r>
            <a:endParaRPr lang="zh-CN" altLang="en-US" sz="2400" b="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400" dirty="0">
                <a:sym typeface="+mn-ea"/>
              </a:rPr>
              <a:t>当 </a:t>
            </a:r>
            <a:r>
              <a:rPr lang="en-US" altLang="zh-CN" sz="2400" dirty="0">
                <a:sym typeface="+mn-ea"/>
              </a:rPr>
              <a:t>x </a:t>
            </a:r>
            <a:r>
              <a:rPr lang="zh-CN" altLang="en-US" sz="2400" dirty="0">
                <a:sym typeface="+mn-ea"/>
              </a:rPr>
              <a:t>取值</a:t>
            </a:r>
            <a:r>
              <a:rPr lang="en-US" altLang="zh-CN" sz="2400" dirty="0">
                <a:sym typeface="+mn-ea"/>
              </a:rPr>
              <a:t>21.3</a:t>
            </a:r>
            <a:r>
              <a:rPr lang="zh-CN" altLang="en-US" sz="2400" dirty="0">
                <a:sym typeface="+mn-ea"/>
              </a:rPr>
              <a:t>时， </a:t>
            </a:r>
            <a:r>
              <a:rPr lang="en-US" altLang="zh-CN" sz="2400" dirty="0">
                <a:sym typeface="+mn-ea"/>
              </a:rPr>
              <a:t>x &lt;= 15</a:t>
            </a:r>
            <a:r>
              <a:rPr lang="zh-CN" altLang="en-US" sz="2400" dirty="0">
                <a:sym typeface="+mn-ea"/>
              </a:rPr>
              <a:t>的结果是：？</a:t>
            </a:r>
            <a:r>
              <a:rPr lang="zh-CN" altLang="en-US" sz="2800" dirty="0">
                <a:sym typeface="+mn-ea"/>
              </a:rPr>
              <a:t> </a:t>
            </a:r>
            <a:endParaRPr lang="en-US" altLang="zh-CN" sz="2800" b="0" dirty="0"/>
          </a:p>
          <a:p>
            <a:pPr lvl="1" eaLnBrk="1" hangingPunct="1">
              <a:lnSpc>
                <a:spcPct val="80000"/>
              </a:lnSpc>
              <a:buNone/>
            </a:pPr>
            <a:endParaRPr lang="zh-CN" altLang="en-US" sz="28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800" dirty="0">
                <a:sym typeface="+mn-ea"/>
              </a:rPr>
              <a:t>关系运算 — 比较两个操作数</a:t>
            </a:r>
            <a:endParaRPr lang="zh-CN" altLang="en-US" sz="2800" b="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dirty="0">
                <a:sym typeface="+mn-ea"/>
              </a:rPr>
              <a:t>x </a:t>
            </a:r>
            <a:r>
              <a:rPr lang="en-US" altLang="zh-CN" sz="2400" dirty="0">
                <a:solidFill>
                  <a:srgbClr val="CC0066"/>
                </a:solidFill>
                <a:sym typeface="+mn-ea"/>
              </a:rPr>
              <a:t>&lt;</a:t>
            </a:r>
            <a:r>
              <a:rPr lang="en-US" altLang="zh-CN" sz="2400" dirty="0">
                <a:sym typeface="+mn-ea"/>
              </a:rPr>
              <a:t> y     x </a:t>
            </a:r>
            <a:r>
              <a:rPr lang="en-US" altLang="zh-CN" sz="2400" dirty="0">
                <a:solidFill>
                  <a:srgbClr val="CC0066"/>
                </a:solidFill>
                <a:sym typeface="+mn-ea"/>
              </a:rPr>
              <a:t>&lt;=</a:t>
            </a:r>
            <a:r>
              <a:rPr lang="en-US" altLang="zh-CN" sz="2400" dirty="0">
                <a:sym typeface="+mn-ea"/>
              </a:rPr>
              <a:t> y       x </a:t>
            </a:r>
            <a:r>
              <a:rPr lang="en-US" altLang="zh-CN" sz="2400" dirty="0">
                <a:solidFill>
                  <a:srgbClr val="CC0066"/>
                </a:solidFill>
                <a:sym typeface="+mn-ea"/>
              </a:rPr>
              <a:t>==</a:t>
            </a:r>
            <a:r>
              <a:rPr lang="en-US" altLang="zh-CN" sz="2400" dirty="0">
                <a:sym typeface="+mn-ea"/>
              </a:rPr>
              <a:t> y</a:t>
            </a:r>
            <a:endParaRPr lang="en-US" altLang="zh-CN" sz="2400" b="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dirty="0">
                <a:sym typeface="+mn-ea"/>
              </a:rPr>
              <a:t>x </a:t>
            </a:r>
            <a:r>
              <a:rPr lang="en-US" altLang="zh-CN" sz="2400" dirty="0">
                <a:solidFill>
                  <a:srgbClr val="CC0066"/>
                </a:solidFill>
                <a:sym typeface="+mn-ea"/>
              </a:rPr>
              <a:t>&gt;</a:t>
            </a:r>
            <a:r>
              <a:rPr lang="en-US" altLang="zh-CN" sz="2400" dirty="0">
                <a:sym typeface="+mn-ea"/>
              </a:rPr>
              <a:t> y     x </a:t>
            </a:r>
            <a:r>
              <a:rPr lang="en-US" altLang="zh-CN" sz="2400" dirty="0">
                <a:solidFill>
                  <a:srgbClr val="CC0066"/>
                </a:solidFill>
                <a:sym typeface="+mn-ea"/>
              </a:rPr>
              <a:t>&gt;=</a:t>
            </a:r>
            <a:r>
              <a:rPr lang="en-US" altLang="zh-CN" sz="2400" dirty="0">
                <a:sym typeface="+mn-ea"/>
              </a:rPr>
              <a:t> y       x </a:t>
            </a:r>
            <a:r>
              <a:rPr lang="en-US" altLang="zh-CN" sz="2400" dirty="0">
                <a:solidFill>
                  <a:srgbClr val="CC0066"/>
                </a:solidFill>
                <a:sym typeface="+mn-ea"/>
              </a:rPr>
              <a:t>!=</a:t>
            </a:r>
            <a:r>
              <a:rPr lang="en-US" altLang="zh-CN" sz="2400" dirty="0">
                <a:sym typeface="+mn-ea"/>
              </a:rPr>
              <a:t>  y</a:t>
            </a:r>
            <a:endParaRPr lang="en-US" altLang="zh-CN" sz="2400" dirty="0">
              <a:sym typeface="+mn-ea"/>
            </a:endParaRPr>
          </a:p>
          <a:p>
            <a:pPr lvl="1" eaLnBrk="1" hangingPunct="1">
              <a:lnSpc>
                <a:spcPct val="80000"/>
              </a:lnSpc>
              <a:buNone/>
            </a:pPr>
            <a:endParaRPr lang="en-US" altLang="zh-CN" sz="2400" b="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dirty="0">
                <a:sym typeface="+mn-ea"/>
              </a:rPr>
              <a:t>关系表达式：用</a:t>
            </a:r>
            <a:r>
              <a:rPr lang="zh-CN" altLang="en-US" sz="2800" dirty="0">
                <a:solidFill>
                  <a:srgbClr val="CC0066"/>
                </a:solidFill>
                <a:sym typeface="+mn-ea"/>
              </a:rPr>
              <a:t>关系运算符</a:t>
            </a:r>
            <a:r>
              <a:rPr lang="zh-CN" altLang="en-US" sz="2800" dirty="0">
                <a:sym typeface="+mn-ea"/>
              </a:rPr>
              <a:t>将2个</a:t>
            </a:r>
            <a:r>
              <a:rPr lang="zh-CN" altLang="en-US" sz="2800" dirty="0">
                <a:solidFill>
                  <a:srgbClr val="CC0066"/>
                </a:solidFill>
                <a:sym typeface="+mn-ea"/>
              </a:rPr>
              <a:t>表达式</a:t>
            </a:r>
            <a:r>
              <a:rPr lang="zh-CN" altLang="en-US" sz="2800" dirty="0">
                <a:sym typeface="+mn-ea"/>
              </a:rPr>
              <a:t>连接起来的式子。</a:t>
            </a:r>
            <a:endParaRPr lang="zh-CN" altLang="en-US" sz="2800" b="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zh-CN" altLang="en-US" sz="2400" dirty="0">
                <a:sym typeface="+mn-ea"/>
              </a:rPr>
              <a:t>如：</a:t>
            </a:r>
            <a:r>
              <a:rPr lang="en-US" altLang="zh-CN" sz="2400" dirty="0">
                <a:sym typeface="+mn-ea"/>
              </a:rPr>
              <a:t>x &lt;= 1</a:t>
            </a:r>
            <a:endParaRPr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6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6356" grpId="0" bldLvl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Rectangle 2"/>
          <p:cNvSpPr>
            <a:spLocks noGrp="1"/>
          </p:cNvSpPr>
          <p:nvPr>
            <p:ph type="title"/>
          </p:nvPr>
        </p:nvSpPr>
        <p:spPr>
          <a:xfrm>
            <a:off x="395288" y="260350"/>
            <a:ext cx="8229600" cy="1371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b="0" dirty="0"/>
              <a:t>运用关系表达式</a:t>
            </a:r>
            <a:endParaRPr lang="zh-CN" altLang="en-US" sz="4000" b="0" dirty="0"/>
          </a:p>
        </p:txBody>
      </p:sp>
      <p:sp>
        <p:nvSpPr>
          <p:cNvPr id="357379" name="Rectangle 3"/>
          <p:cNvSpPr>
            <a:spLocks noGrp="1"/>
          </p:cNvSpPr>
          <p:nvPr>
            <p:ph idx="1"/>
          </p:nvPr>
        </p:nvSpPr>
        <p:spPr>
          <a:xfrm>
            <a:off x="457200" y="1341438"/>
            <a:ext cx="8686800" cy="259238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b="0" dirty="0"/>
              <a:t>表示比较的数学式          </a:t>
            </a:r>
            <a:r>
              <a:rPr lang="en-US" altLang="zh-CN" b="0" dirty="0"/>
              <a:t>C</a:t>
            </a:r>
            <a:r>
              <a:rPr lang="zh-CN" altLang="en-US" b="0" dirty="0"/>
              <a:t>关系表达式</a:t>
            </a:r>
            <a:endParaRPr lang="zh-CN" altLang="en-US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="0" dirty="0"/>
              <a:t>x≤10</a:t>
            </a:r>
            <a:endParaRPr lang="en-US" altLang="zh-CN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="0" dirty="0"/>
              <a:t>x≥10</a:t>
            </a:r>
            <a:endParaRPr lang="en-US" altLang="zh-CN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="0" dirty="0"/>
              <a:t>x≠10</a:t>
            </a:r>
            <a:endParaRPr lang="en-US" altLang="zh-CN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="0" dirty="0"/>
              <a:t>x=10</a:t>
            </a:r>
            <a:endParaRPr lang="en-US" altLang="zh-CN" b="0" dirty="0"/>
          </a:p>
        </p:txBody>
      </p:sp>
      <p:sp>
        <p:nvSpPr>
          <p:cNvPr id="357380" name="Rectangle 4"/>
          <p:cNvSpPr/>
          <p:nvPr/>
        </p:nvSpPr>
        <p:spPr>
          <a:xfrm>
            <a:off x="5257800" y="1752600"/>
            <a:ext cx="3077210" cy="2072640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tx2"/>
              </a:buClr>
              <a:buSzPct val="110000"/>
              <a:buFontTx/>
              <a:buNone/>
            </a:pPr>
            <a:r>
              <a:rPr lang="en-US" altLang="zh-CN" sz="2800" b="0" dirty="0"/>
              <a:t>x &lt;= 10</a:t>
            </a:r>
            <a:endParaRPr lang="en-US" altLang="zh-CN" sz="2800" b="0" dirty="0"/>
          </a:p>
          <a:p>
            <a:pPr marL="0" lvl="0" indent="0" eaLnBrk="1" hangingPunct="1">
              <a:buClr>
                <a:schemeClr val="tx2"/>
              </a:buClr>
              <a:buSzPct val="110000"/>
              <a:buFontTx/>
              <a:buNone/>
            </a:pPr>
            <a:r>
              <a:rPr lang="en-US" altLang="zh-CN" sz="2800" b="0" dirty="0"/>
              <a:t>x &gt;= 10</a:t>
            </a:r>
            <a:endParaRPr lang="en-US" altLang="zh-CN" sz="2800" b="0" dirty="0"/>
          </a:p>
          <a:p>
            <a:pPr marL="0" lvl="0" indent="0" eaLnBrk="1" hangingPunct="1">
              <a:buClr>
                <a:schemeClr val="tx2"/>
              </a:buClr>
              <a:buSzPct val="110000"/>
              <a:buFontTx/>
              <a:buNone/>
            </a:pPr>
            <a:r>
              <a:rPr lang="en-US" altLang="zh-CN" sz="2800" b="0" dirty="0"/>
              <a:t>x != </a:t>
            </a:r>
            <a:r>
              <a:rPr lang="en-US" altLang="zh-CN" sz="2800" b="0" dirty="0">
                <a:ea typeface="Arial Unicode MS" pitchFamily="34" charset="-122"/>
              </a:rPr>
              <a:t>10</a:t>
            </a:r>
            <a:endParaRPr lang="en-US" altLang="zh-CN" sz="2800" b="0" dirty="0">
              <a:ea typeface="Arial Unicode MS" pitchFamily="34" charset="-122"/>
            </a:endParaRPr>
          </a:p>
          <a:p>
            <a:pPr marL="0" lvl="0" indent="0" eaLnBrk="1" hangingPunct="1">
              <a:buClr>
                <a:schemeClr val="tx2"/>
              </a:buClr>
              <a:buSzPct val="110000"/>
              <a:buFontTx/>
              <a:buNone/>
            </a:pPr>
            <a:r>
              <a:rPr lang="en-US" altLang="zh-CN" sz="2800" b="0" dirty="0">
                <a:ea typeface="Arial Unicode MS" pitchFamily="34" charset="-122"/>
              </a:rPr>
              <a:t>x == 10</a:t>
            </a:r>
            <a:endParaRPr lang="en-US" altLang="zh-CN" sz="2800" b="0" dirty="0">
              <a:ea typeface="Arial Unicode MS" pitchFamily="34" charset="-122"/>
            </a:endParaRPr>
          </a:p>
        </p:txBody>
      </p:sp>
      <p:sp>
        <p:nvSpPr>
          <p:cNvPr id="357381" name="Rectangle 5"/>
          <p:cNvSpPr/>
          <p:nvPr/>
        </p:nvSpPr>
        <p:spPr>
          <a:xfrm>
            <a:off x="457200" y="4005263"/>
            <a:ext cx="6851650" cy="25209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None/>
            </a:pPr>
            <a:r>
              <a:rPr lang="zh-CN" altLang="en-US" b="0" dirty="0"/>
              <a:t>用关系表达式描述条件</a:t>
            </a:r>
            <a:endParaRPr lang="zh-CN" altLang="en-US" b="0" dirty="0"/>
          </a:p>
          <a:p>
            <a:pPr marL="742950" lvl="1" indent="-285750" eaLnBrk="1" hangingPunct="1"/>
            <a:r>
              <a:rPr lang="zh-CN" altLang="en-US" b="0" dirty="0"/>
              <a:t>判断 </a:t>
            </a:r>
            <a:r>
              <a:rPr lang="en-US" altLang="zh-CN" b="0" dirty="0"/>
              <a:t>x </a:t>
            </a:r>
            <a:r>
              <a:rPr lang="zh-CN" altLang="en-US" b="0" dirty="0"/>
              <a:t>是否为负数</a:t>
            </a:r>
            <a:endParaRPr lang="zh-CN" altLang="en-US" b="0" dirty="0"/>
          </a:p>
          <a:p>
            <a:pPr marL="742950" lvl="1" indent="-285750" eaLnBrk="1" hangingPunct="1">
              <a:buNone/>
            </a:pPr>
            <a:r>
              <a:rPr lang="en-US" altLang="zh-CN" b="0" dirty="0"/>
              <a:t>x &lt; 0</a:t>
            </a:r>
            <a:endParaRPr lang="en-US" altLang="zh-CN" b="0" dirty="0"/>
          </a:p>
          <a:p>
            <a:pPr marL="742950" lvl="1" indent="-285750" eaLnBrk="1" hangingPunct="1"/>
            <a:r>
              <a:rPr lang="zh-CN" altLang="en-US" b="0" dirty="0"/>
              <a:t>判断 </a:t>
            </a:r>
            <a:r>
              <a:rPr lang="en-US" altLang="zh-CN" b="0" dirty="0"/>
              <a:t>x </a:t>
            </a:r>
            <a:r>
              <a:rPr lang="zh-CN" altLang="en-US" b="0" dirty="0"/>
              <a:t>是否不为零</a:t>
            </a:r>
            <a:endParaRPr lang="zh-CN" altLang="en-US" b="0" dirty="0"/>
          </a:p>
          <a:p>
            <a:pPr marL="742950" lvl="1" indent="-285750" eaLnBrk="1" hangingPunct="1">
              <a:buNone/>
            </a:pPr>
            <a:r>
              <a:rPr lang="en-US" altLang="zh-CN" b="0" dirty="0"/>
              <a:t>x != 0</a:t>
            </a:r>
            <a:endParaRPr lang="en-US" altLang="zh-CN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9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7379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7379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9">
                                            <p:txEl>
                                              <p:charRg st="25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7379">
                                            <p:txEl>
                                              <p:charRg st="25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7379">
                                            <p:txEl>
                                              <p:charRg st="25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9">
                                            <p:txEl>
                                              <p:charRg st="3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57379">
                                            <p:txEl>
                                              <p:charRg st="3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57379">
                                            <p:txEl>
                                              <p:charRg st="30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9">
                                            <p:txEl>
                                              <p:charRg st="35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7379">
                                            <p:txEl>
                                              <p:charRg st="35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7379">
                                            <p:txEl>
                                              <p:charRg st="35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79">
                                            <p:txEl>
                                              <p:charRg st="4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57379">
                                            <p:txEl>
                                              <p:charRg st="4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57379">
                                            <p:txEl>
                                              <p:charRg st="40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7380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7380">
                                            <p:txEl>
                                              <p:charRg st="0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>
                                            <p:txEl>
                                              <p:charRg st="8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57380">
                                            <p:txEl>
                                              <p:charRg st="8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57380">
                                            <p:txEl>
                                              <p:charRg st="8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>
                                            <p:txEl>
                                              <p:charRg st="16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57380">
                                            <p:txEl>
                                              <p:charRg st="16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57380">
                                            <p:txEl>
                                              <p:charRg st="16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0">
                                            <p:txEl>
                                              <p:charRg st="24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7380">
                                            <p:txEl>
                                              <p:charRg st="24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57380">
                                            <p:txEl>
                                              <p:charRg st="24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1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7381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7381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1">
                                            <p:txEl>
                                              <p:charRg st="11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57381">
                                            <p:txEl>
                                              <p:charRg st="11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57381">
                                            <p:txEl>
                                              <p:charRg st="11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1">
                                            <p:txEl>
                                              <p:charRg st="22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57381">
                                            <p:txEl>
                                              <p:charRg st="22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57381">
                                            <p:txEl>
                                              <p:charRg st="22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1">
                                            <p:txEl>
                                              <p:charRg st="28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57381">
                                            <p:txEl>
                                              <p:charRg st="28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57381">
                                            <p:txEl>
                                              <p:charRg st="28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381">
                                            <p:txEl>
                                              <p:charRg st="39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57381">
                                            <p:txEl>
                                              <p:charRg st="39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57381">
                                            <p:txEl>
                                              <p:charRg st="39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7379" grpId="0" build="p"/>
      <p:bldP spid="357380" grpId="0" build="p"/>
      <p:bldP spid="357381" grpId="0" bldLvl="2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556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2.3.3  </a:t>
            </a:r>
            <a:r>
              <a:rPr lang="en-US" altLang="zh-CN" b="0" dirty="0"/>
              <a:t>if - else</a:t>
            </a:r>
            <a:r>
              <a:rPr lang="zh-CN" altLang="en-US" b="0" dirty="0"/>
              <a:t>语句</a:t>
            </a:r>
            <a:endParaRPr lang="zh-CN" altLang="en-US" b="0" dirty="0"/>
          </a:p>
        </p:txBody>
      </p:sp>
      <p:sp>
        <p:nvSpPr>
          <p:cNvPr id="358403" name="Rectangle 3"/>
          <p:cNvSpPr>
            <a:spLocks noGrp="1"/>
          </p:cNvSpPr>
          <p:nvPr>
            <p:ph idx="1"/>
          </p:nvPr>
        </p:nvSpPr>
        <p:spPr>
          <a:xfrm>
            <a:off x="395288" y="1412875"/>
            <a:ext cx="3683000" cy="2232025"/>
          </a:xfrm>
        </p:spPr>
        <p:txBody>
          <a:bodyPr vert="horz" wrap="square" lIns="91440" tIns="45720" rIns="91440" bIns="45720" anchor="t" anchorCtr="0"/>
          <a:p>
            <a:pPr lvl="1" eaLnBrk="1" hangingPunct="1">
              <a:buNone/>
            </a:pPr>
            <a:r>
              <a:rPr lang="en-US" altLang="zh-CN" b="0" dirty="0">
                <a:solidFill>
                  <a:srgbClr val="CC0066"/>
                </a:solidFill>
              </a:rPr>
              <a:t>if</a:t>
            </a:r>
            <a:r>
              <a:rPr lang="en-US" altLang="zh-CN" b="0" dirty="0"/>
              <a:t> (</a:t>
            </a:r>
            <a:r>
              <a:rPr lang="zh-CN" altLang="en-US" b="0" dirty="0">
                <a:solidFill>
                  <a:schemeClr val="bg2"/>
                </a:solidFill>
              </a:rPr>
              <a:t>表达式</a:t>
            </a:r>
            <a:r>
              <a:rPr lang="zh-CN" altLang="en-US" b="0" dirty="0"/>
              <a:t>)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en-US" altLang="zh-CN" b="0" dirty="0"/>
              <a:t>    </a:t>
            </a:r>
            <a:r>
              <a:rPr lang="zh-CN" altLang="en-US" b="0" dirty="0">
                <a:solidFill>
                  <a:schemeClr val="bg2"/>
                </a:solidFill>
              </a:rPr>
              <a:t>语句1</a:t>
            </a:r>
            <a:endParaRPr lang="en-US" altLang="zh-CN" b="0" dirty="0">
              <a:solidFill>
                <a:schemeClr val="bg2"/>
              </a:solidFill>
            </a:endParaRPr>
          </a:p>
          <a:p>
            <a:pPr lvl="1" eaLnBrk="1" hangingPunct="1">
              <a:buNone/>
            </a:pPr>
            <a:r>
              <a:rPr lang="en-US" altLang="zh-CN" b="0" dirty="0">
                <a:solidFill>
                  <a:srgbClr val="CC0066"/>
                </a:solidFill>
              </a:rPr>
              <a:t>else</a:t>
            </a:r>
            <a:endParaRPr lang="en-US" altLang="zh-CN" b="0" dirty="0">
              <a:solidFill>
                <a:srgbClr val="CC0066"/>
              </a:solidFill>
            </a:endParaRPr>
          </a:p>
          <a:p>
            <a:pPr lvl="1" eaLnBrk="1" hangingPunct="1">
              <a:buNone/>
            </a:pPr>
            <a:r>
              <a:rPr lang="en-US" altLang="zh-CN" b="0" dirty="0"/>
              <a:t>    </a:t>
            </a:r>
            <a:r>
              <a:rPr lang="zh-CN" altLang="en-US" b="0" dirty="0">
                <a:solidFill>
                  <a:schemeClr val="bg2"/>
                </a:solidFill>
              </a:rPr>
              <a:t>语句2</a:t>
            </a:r>
            <a:endParaRPr lang="zh-CN" altLang="en-US" b="0" dirty="0">
              <a:solidFill>
                <a:schemeClr val="bg2"/>
              </a:solidFill>
            </a:endParaRPr>
          </a:p>
        </p:txBody>
      </p:sp>
      <p:sp>
        <p:nvSpPr>
          <p:cNvPr id="32772" name="Rectangle 4"/>
          <p:cNvSpPr/>
          <p:nvPr/>
        </p:nvSpPr>
        <p:spPr>
          <a:xfrm>
            <a:off x="4218305" y="1341755"/>
            <a:ext cx="4601845" cy="198564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76250" lvl="0" indent="-4762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0" dirty="0">
                <a:solidFill>
                  <a:srgbClr val="CC0066"/>
                </a:solidFill>
              </a:rPr>
              <a:t>if</a:t>
            </a:r>
            <a:r>
              <a:rPr lang="en-US" altLang="zh-CN" sz="2800" b="0" dirty="0"/>
              <a:t>(x &lt;= 15) </a:t>
            </a:r>
            <a:endParaRPr lang="en-US" altLang="zh-CN" sz="2800" b="0" dirty="0"/>
          </a:p>
          <a:p>
            <a:pPr marL="476250" lvl="0" indent="-4762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0" dirty="0"/>
              <a:t>    y = 4 * x / 3; </a:t>
            </a:r>
            <a:endParaRPr lang="en-US" altLang="zh-CN" sz="2800" b="0" dirty="0">
              <a:solidFill>
                <a:schemeClr val="bg2"/>
              </a:solidFill>
            </a:endParaRPr>
          </a:p>
          <a:p>
            <a:pPr marL="476250" lvl="0" indent="-4762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0" dirty="0">
                <a:solidFill>
                  <a:srgbClr val="CC0066"/>
                </a:solidFill>
              </a:rPr>
              <a:t>else</a:t>
            </a:r>
            <a:r>
              <a:rPr lang="en-US" altLang="zh-CN" sz="2800" b="0" dirty="0"/>
              <a:t> </a:t>
            </a:r>
            <a:endParaRPr lang="en-US" altLang="zh-CN" sz="2800" b="0" dirty="0"/>
          </a:p>
          <a:p>
            <a:pPr marL="476250" lvl="0" indent="-47625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0" dirty="0"/>
              <a:t>    y = 2.5 * x - 10.5;</a:t>
            </a:r>
            <a:endParaRPr lang="zh-CN" altLang="en-US" sz="2800" b="0" dirty="0"/>
          </a:p>
        </p:txBody>
      </p:sp>
      <p:grpSp>
        <p:nvGrpSpPr>
          <p:cNvPr id="2" name="Group 5"/>
          <p:cNvGrpSpPr/>
          <p:nvPr/>
        </p:nvGrpSpPr>
        <p:grpSpPr>
          <a:xfrm>
            <a:off x="2362200" y="3352800"/>
            <a:ext cx="4267200" cy="2971800"/>
            <a:chOff x="1728" y="2112"/>
            <a:chExt cx="2688" cy="1872"/>
          </a:xfrm>
        </p:grpSpPr>
        <p:sp>
          <p:nvSpPr>
            <p:cNvPr id="32774" name="Line 6"/>
            <p:cNvSpPr/>
            <p:nvPr/>
          </p:nvSpPr>
          <p:spPr>
            <a:xfrm>
              <a:off x="3024" y="2112"/>
              <a:ext cx="0" cy="384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775" name="AutoShape 7"/>
            <p:cNvSpPr/>
            <p:nvPr/>
          </p:nvSpPr>
          <p:spPr>
            <a:xfrm>
              <a:off x="2352" y="2496"/>
              <a:ext cx="1392" cy="432"/>
            </a:xfrm>
            <a:prstGeom prst="diamond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1800" b="0" dirty="0"/>
            </a:p>
          </p:txBody>
        </p:sp>
        <p:sp>
          <p:nvSpPr>
            <p:cNvPr id="32776" name="Text Box 8"/>
            <p:cNvSpPr txBox="1"/>
            <p:nvPr/>
          </p:nvSpPr>
          <p:spPr>
            <a:xfrm>
              <a:off x="1728" y="3120"/>
              <a:ext cx="624" cy="25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latin typeface="Times New Roman" pitchFamily="18" charset="0"/>
                </a:rPr>
                <a:t>语句1</a:t>
              </a:r>
              <a:endParaRPr lang="zh-CN" altLang="en-US" sz="2000" b="0" dirty="0">
                <a:latin typeface="Times New Roman" pitchFamily="18" charset="0"/>
              </a:endParaRPr>
            </a:p>
          </p:txBody>
        </p:sp>
        <p:sp>
          <p:nvSpPr>
            <p:cNvPr id="32777" name="Text Box 9"/>
            <p:cNvSpPr txBox="1"/>
            <p:nvPr/>
          </p:nvSpPr>
          <p:spPr>
            <a:xfrm>
              <a:off x="2736" y="2592"/>
              <a:ext cx="67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latin typeface="Times New Roman" pitchFamily="18" charset="0"/>
                </a:rPr>
                <a:t>表达式</a:t>
              </a:r>
              <a:endParaRPr lang="zh-CN" altLang="en-US" sz="2000" b="0" dirty="0">
                <a:latin typeface="Times New Roman" pitchFamily="18" charset="0"/>
              </a:endParaRPr>
            </a:p>
          </p:txBody>
        </p:sp>
        <p:sp>
          <p:nvSpPr>
            <p:cNvPr id="32778" name="Text Box 10"/>
            <p:cNvSpPr txBox="1"/>
            <p:nvPr/>
          </p:nvSpPr>
          <p:spPr>
            <a:xfrm>
              <a:off x="3840" y="3120"/>
              <a:ext cx="576" cy="251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latin typeface="Times New Roman" pitchFamily="18" charset="0"/>
                </a:rPr>
                <a:t>语句2</a:t>
              </a:r>
              <a:endParaRPr lang="zh-CN" altLang="en-US" sz="2000" b="0" dirty="0">
                <a:latin typeface="Times New Roman" pitchFamily="18" charset="0"/>
              </a:endParaRPr>
            </a:p>
          </p:txBody>
        </p:sp>
        <p:sp>
          <p:nvSpPr>
            <p:cNvPr id="32779" name="Line 11"/>
            <p:cNvSpPr/>
            <p:nvPr/>
          </p:nvSpPr>
          <p:spPr>
            <a:xfrm>
              <a:off x="1968" y="268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0" name="Line 12"/>
            <p:cNvSpPr/>
            <p:nvPr/>
          </p:nvSpPr>
          <p:spPr>
            <a:xfrm>
              <a:off x="1968" y="2688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781" name="Line 13"/>
            <p:cNvSpPr/>
            <p:nvPr/>
          </p:nvSpPr>
          <p:spPr>
            <a:xfrm>
              <a:off x="3744" y="2688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2" name="Line 14"/>
            <p:cNvSpPr/>
            <p:nvPr/>
          </p:nvSpPr>
          <p:spPr>
            <a:xfrm>
              <a:off x="4128" y="2688"/>
              <a:ext cx="0" cy="43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783" name="Line 15"/>
            <p:cNvSpPr/>
            <p:nvPr/>
          </p:nvSpPr>
          <p:spPr>
            <a:xfrm>
              <a:off x="1968" y="340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4" name="Line 16"/>
            <p:cNvSpPr/>
            <p:nvPr/>
          </p:nvSpPr>
          <p:spPr>
            <a:xfrm>
              <a:off x="4128" y="3408"/>
              <a:ext cx="0" cy="24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5" name="Line 17"/>
            <p:cNvSpPr/>
            <p:nvPr/>
          </p:nvSpPr>
          <p:spPr>
            <a:xfrm>
              <a:off x="1968" y="3648"/>
              <a:ext cx="216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2786" name="Line 18"/>
            <p:cNvSpPr/>
            <p:nvPr/>
          </p:nvSpPr>
          <p:spPr>
            <a:xfrm>
              <a:off x="3024" y="3648"/>
              <a:ext cx="0" cy="336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32787" name="Text Box 19"/>
            <p:cNvSpPr txBox="1"/>
            <p:nvPr/>
          </p:nvSpPr>
          <p:spPr>
            <a:xfrm>
              <a:off x="1968" y="2400"/>
              <a:ext cx="384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latin typeface="Times New Roman" pitchFamily="18" charset="0"/>
                </a:rPr>
                <a:t>真</a:t>
              </a:r>
              <a:endParaRPr lang="zh-CN" altLang="en-US" sz="2000" b="0" dirty="0">
                <a:latin typeface="Times New Roman" pitchFamily="18" charset="0"/>
              </a:endParaRPr>
            </a:p>
          </p:txBody>
        </p:sp>
        <p:sp>
          <p:nvSpPr>
            <p:cNvPr id="32788" name="Text Box 20"/>
            <p:cNvSpPr txBox="1"/>
            <p:nvPr/>
          </p:nvSpPr>
          <p:spPr>
            <a:xfrm>
              <a:off x="3840" y="2400"/>
              <a:ext cx="336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75000"/>
                <a:buFont typeface="Wingdings" panose="05000000000000000000" pitchFamily="2" charset="2"/>
                <a:buChar char="n"/>
                <a:defRPr sz="3200" b="1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0000"/>
                <a:buFont typeface="Wingdings" panose="05000000000000000000" pitchFamily="2" charset="2"/>
                <a:buChar char="¨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SzPct val="65000"/>
                <a:buFont typeface="Wingdings" panose="05000000000000000000" pitchFamily="2" charset="2"/>
                <a:buChar char="n"/>
                <a:defRPr sz="2400" b="1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¨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2"/>
                </a:buClr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000" b="0" dirty="0">
                  <a:latin typeface="Times New Roman" pitchFamily="18" charset="0"/>
                </a:rPr>
                <a:t>假</a:t>
              </a:r>
              <a:endParaRPr lang="zh-CN" altLang="en-US" sz="2000" b="0" dirty="0">
                <a:latin typeface="Times New Roman" pitchFamily="18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8403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8403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charRg st="9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8403">
                                            <p:txEl>
                                              <p:charRg st="9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8403">
                                            <p:txEl>
                                              <p:charRg st="9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charRg st="17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8403">
                                            <p:txEl>
                                              <p:charRg st="17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8403">
                                            <p:txEl>
                                              <p:charRg st="17" end="2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03">
                                            <p:txEl>
                                              <p:charRg st="22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8403">
                                            <p:txEl>
                                              <p:charRg st="22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8403">
                                            <p:txEl>
                                              <p:charRg st="22" end="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03" grpId="0" bldLvl="2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计算分段函数 </a:t>
            </a:r>
            <a:endParaRPr lang="zh-CN" altLang="en-US" b="0" dirty="0"/>
          </a:p>
        </p:txBody>
      </p:sp>
      <p:sp>
        <p:nvSpPr>
          <p:cNvPr id="33795" name="Rectangle 3"/>
          <p:cNvSpPr>
            <a:spLocks noGrp="1"/>
          </p:cNvSpPr>
          <p:nvPr>
            <p:ph idx="1"/>
          </p:nvPr>
        </p:nvSpPr>
        <p:spPr>
          <a:xfrm>
            <a:off x="468313" y="3644900"/>
            <a:ext cx="3959225" cy="23050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en-US" altLang="zh-CN" b="0" dirty="0">
                <a:solidFill>
                  <a:srgbClr val="CC0066"/>
                </a:solidFill>
              </a:rPr>
              <a:t>if</a:t>
            </a:r>
            <a:r>
              <a:rPr lang="en-US" altLang="zh-CN" b="0" dirty="0"/>
              <a:t> (</a:t>
            </a:r>
            <a:r>
              <a:rPr lang="zh-CN" altLang="en-US" b="0" dirty="0">
                <a:solidFill>
                  <a:schemeClr val="bg2"/>
                </a:solidFill>
              </a:rPr>
              <a:t>表达式</a:t>
            </a:r>
            <a:r>
              <a:rPr lang="zh-CN" altLang="en-US" b="0" dirty="0"/>
              <a:t>)</a:t>
            </a:r>
            <a:endParaRPr lang="zh-CN" altLang="en-US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0" dirty="0"/>
              <a:t>    </a:t>
            </a:r>
            <a:r>
              <a:rPr lang="zh-CN" altLang="en-US" b="0" dirty="0">
                <a:solidFill>
                  <a:schemeClr val="bg2"/>
                </a:solidFill>
              </a:rPr>
              <a:t>语句1</a:t>
            </a:r>
            <a:endParaRPr lang="en-US" altLang="zh-CN" b="0" dirty="0">
              <a:solidFill>
                <a:schemeClr val="bg2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0" dirty="0">
                <a:solidFill>
                  <a:srgbClr val="CC0066"/>
                </a:solidFill>
              </a:rPr>
              <a:t>else</a:t>
            </a:r>
            <a:endParaRPr lang="en-US" altLang="zh-CN" b="0" dirty="0">
              <a:solidFill>
                <a:srgbClr val="CC0066"/>
              </a:solidFill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b="0" dirty="0"/>
              <a:t>    </a:t>
            </a:r>
            <a:r>
              <a:rPr lang="zh-CN" altLang="en-US" b="0" dirty="0">
                <a:solidFill>
                  <a:schemeClr val="bg2"/>
                </a:solidFill>
              </a:rPr>
              <a:t>语句2</a:t>
            </a:r>
            <a:endParaRPr lang="zh-CN" altLang="en-US" b="0" dirty="0">
              <a:solidFill>
                <a:schemeClr val="bg2"/>
              </a:solidFill>
            </a:endParaRPr>
          </a:p>
          <a:p>
            <a:pPr lvl="1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b="0" dirty="0"/>
          </a:p>
        </p:txBody>
      </p:sp>
      <p:sp>
        <p:nvSpPr>
          <p:cNvPr id="359429" name="Rectangle 5"/>
          <p:cNvSpPr/>
          <p:nvPr/>
        </p:nvSpPr>
        <p:spPr>
          <a:xfrm>
            <a:off x="5360670" y="1510030"/>
            <a:ext cx="2551113" cy="1814830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>
                <a:schemeClr val="tx2"/>
              </a:buClr>
              <a:buSzPct val="80000"/>
              <a:buFontTx/>
              <a:buNone/>
            </a:pPr>
            <a:r>
              <a:rPr lang="en-US" altLang="zh-CN" sz="2800" b="0" dirty="0">
                <a:ea typeface="Arial Unicode MS" pitchFamily="34" charset="-122"/>
              </a:rPr>
              <a:t>if(x != 0)</a:t>
            </a:r>
            <a:endParaRPr lang="zh-CN" altLang="en-US" sz="2800" b="0" dirty="0">
              <a:ea typeface="Arial Unicode MS" pitchFamily="34" charset="-122"/>
            </a:endParaRPr>
          </a:p>
          <a:p>
            <a:pPr marL="0" lvl="0" indent="0" eaLnBrk="1" hangingPunct="1">
              <a:spcBef>
                <a:spcPct val="0"/>
              </a:spcBef>
              <a:buClr>
                <a:schemeClr val="tx2"/>
              </a:buClr>
              <a:buSzPct val="80000"/>
              <a:buFontTx/>
              <a:buNone/>
            </a:pPr>
            <a:r>
              <a:rPr lang="zh-CN" altLang="en-US" sz="2800" b="0" dirty="0">
                <a:ea typeface="Arial Unicode MS" pitchFamily="34" charset="-122"/>
              </a:rPr>
              <a:t>        </a:t>
            </a:r>
            <a:r>
              <a:rPr lang="en-US" altLang="zh-CN" sz="2800" b="0" dirty="0">
                <a:ea typeface="Arial Unicode MS" pitchFamily="34" charset="-122"/>
              </a:rPr>
              <a:t>y = 1/x;</a:t>
            </a:r>
            <a:endParaRPr lang="en-US" altLang="zh-CN" sz="2800" b="0" dirty="0">
              <a:ea typeface="Arial Unicode MS" pitchFamily="34" charset="-122"/>
            </a:endParaRPr>
          </a:p>
          <a:p>
            <a:pPr marL="0" lvl="0" indent="0" eaLnBrk="1" hangingPunct="1">
              <a:spcBef>
                <a:spcPct val="0"/>
              </a:spcBef>
              <a:buClr>
                <a:schemeClr val="tx2"/>
              </a:buClr>
              <a:buSzPct val="80000"/>
              <a:buFontTx/>
              <a:buNone/>
            </a:pPr>
            <a:r>
              <a:rPr lang="en-US" altLang="zh-CN" sz="2800" b="0" dirty="0">
                <a:ea typeface="Arial Unicode MS" pitchFamily="34" charset="-122"/>
              </a:rPr>
              <a:t>else </a:t>
            </a:r>
            <a:endParaRPr lang="en-US" altLang="zh-CN" sz="2800" b="0" dirty="0">
              <a:ea typeface="Arial Unicode MS" pitchFamily="34" charset="-122"/>
            </a:endParaRPr>
          </a:p>
          <a:p>
            <a:pPr marL="0" lvl="0" indent="0" eaLnBrk="1" hangingPunct="1">
              <a:spcBef>
                <a:spcPct val="0"/>
              </a:spcBef>
              <a:buClr>
                <a:schemeClr val="tx2"/>
              </a:buClr>
              <a:buSzPct val="80000"/>
              <a:buFontTx/>
              <a:buNone/>
            </a:pPr>
            <a:r>
              <a:rPr lang="en-US" altLang="zh-CN" sz="2800" b="0" dirty="0">
                <a:ea typeface="Arial Unicode MS" pitchFamily="34" charset="-122"/>
              </a:rPr>
              <a:t>        y = 0;</a:t>
            </a:r>
            <a:endParaRPr lang="zh-CN" altLang="en-US" sz="2800" b="0" dirty="0">
              <a:ea typeface="Arial Unicode MS" pitchFamily="34" charset="-122"/>
            </a:endParaRPr>
          </a:p>
        </p:txBody>
      </p:sp>
      <p:sp>
        <p:nvSpPr>
          <p:cNvPr id="359431" name="Rectangle 7"/>
          <p:cNvSpPr/>
          <p:nvPr/>
        </p:nvSpPr>
        <p:spPr>
          <a:xfrm>
            <a:off x="468313" y="3860800"/>
            <a:ext cx="4464050" cy="25209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eaLnBrk="1" hangingPunct="1">
              <a:lnSpc>
                <a:spcPct val="90000"/>
              </a:lnSpc>
              <a:buNone/>
            </a:pPr>
            <a:endParaRPr lang="en-US" altLang="zh-CN" b="0" dirty="0"/>
          </a:p>
        </p:txBody>
      </p:sp>
      <p:sp>
        <p:nvSpPr>
          <p:cNvPr id="33798" name="Rectangle 9"/>
          <p:cNvSpPr/>
          <p:nvPr/>
        </p:nvSpPr>
        <p:spPr>
          <a:xfrm>
            <a:off x="0" y="3154363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/>
          </a:p>
        </p:txBody>
      </p:sp>
      <p:graphicFrame>
        <p:nvGraphicFramePr>
          <p:cNvPr id="33799" name="Object 8"/>
          <p:cNvGraphicFramePr>
            <a:graphicFrameLocks noChangeAspect="1"/>
          </p:cNvGraphicFramePr>
          <p:nvPr/>
        </p:nvGraphicFramePr>
        <p:xfrm>
          <a:off x="684530" y="1628775"/>
          <a:ext cx="4248150" cy="15767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1028065" imgH="546100" progId="Equation.DSMT4">
                  <p:embed/>
                </p:oleObj>
              </mc:Choice>
              <mc:Fallback>
                <p:oleObj name="" r:id="rId1" imgW="1028065" imgH="546100" progId="Equation.DSMT4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84530" y="1628775"/>
                        <a:ext cx="4248150" cy="157670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左大括号 1"/>
          <p:cNvSpPr/>
          <p:nvPr/>
        </p:nvSpPr>
        <p:spPr>
          <a:xfrm>
            <a:off x="2136775" y="1628775"/>
            <a:ext cx="383540" cy="1525905"/>
          </a:xfrm>
          <a:prstGeom prst="leftBrac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2075" tIns="46038" rIns="92075" bIns="46038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80604020202020204" pitchFamily="34" charset="0"/>
              <a:ea typeface="宋体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083685" y="1941195"/>
            <a:ext cx="415925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2400"/>
              <a:t>=</a:t>
            </a:r>
            <a:endParaRPr lang="en-US" altLang="zh-CN" sz="2400"/>
          </a:p>
        </p:txBody>
      </p:sp>
      <p:cxnSp>
        <p:nvCxnSpPr>
          <p:cNvPr id="4" name="直接连接符 3"/>
          <p:cNvCxnSpPr>
            <a:cxnSpLocks noChangeAspect="1"/>
          </p:cNvCxnSpPr>
          <p:nvPr/>
        </p:nvCxnSpPr>
        <p:spPr>
          <a:xfrm>
            <a:off x="4211320" y="2060575"/>
            <a:ext cx="201803" cy="25203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31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9431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9431">
                                            <p:txEl>
                                              <p:charRg st="0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594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594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9429" grpId="0" bldLvl="0" animBg="1"/>
      <p:bldP spid="359431" grpId="0" bldLvl="2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Rectangle 2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7397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b="0" dirty="0"/>
              <a:t>源程序及运行结果</a:t>
            </a:r>
            <a:endParaRPr lang="zh-CN" altLang="en-US" sz="4000" b="0" dirty="0"/>
          </a:p>
        </p:txBody>
      </p:sp>
      <p:sp>
        <p:nvSpPr>
          <p:cNvPr id="37891" name="Rectangle 3"/>
          <p:cNvSpPr>
            <a:spLocks noGrp="1"/>
          </p:cNvSpPr>
          <p:nvPr>
            <p:ph idx="1"/>
          </p:nvPr>
        </p:nvSpPr>
        <p:spPr>
          <a:xfrm>
            <a:off x="250825" y="1197610"/>
            <a:ext cx="5041900" cy="518477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#</a:t>
            </a:r>
            <a:r>
              <a:rPr lang="en-US" altLang="zh-CN" sz="2400" b="0" dirty="0"/>
              <a:t>include &lt;stdio.h&gt; </a:t>
            </a:r>
            <a:endParaRPr lang="zh-CN" altLang="en-US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int main(void)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{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double x, y; 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printf("Enter x:\n");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scanf("%lf", &amp;x);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    </a:t>
            </a:r>
            <a:r>
              <a:rPr lang="en-US" altLang="zh-CN" sz="2400" b="0" dirty="0"/>
              <a:t>if(x != 0)</a:t>
            </a:r>
            <a:endParaRPr lang="zh-CN" altLang="en-US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        </a:t>
            </a:r>
            <a:r>
              <a:rPr lang="en-US" altLang="zh-CN" sz="2400" b="0" dirty="0"/>
              <a:t>y = 1/x;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else 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    y = 0;</a:t>
            </a:r>
            <a:endParaRPr lang="zh-CN" altLang="en-US" sz="2400" b="0" dirty="0"/>
          </a:p>
          <a:p>
            <a:pPr eaLnBrk="1" hangingPunct="1">
              <a:spcBef>
                <a:spcPct val="0"/>
              </a:spcBef>
              <a:buClr>
                <a:schemeClr val="tx2"/>
              </a:buClr>
              <a:buSzPct val="80000"/>
              <a:buFontTx/>
              <a:buNone/>
            </a:pPr>
            <a:r>
              <a:rPr lang="en-US" altLang="zh-CN" sz="2400" b="0" dirty="0"/>
              <a:t>    printf("f(%.2f) = %.1f\n", x, y); 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    </a:t>
            </a:r>
            <a:r>
              <a:rPr lang="en-US" altLang="zh-CN" sz="2400" b="0" dirty="0"/>
              <a:t>return 0;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}</a:t>
            </a:r>
            <a:endParaRPr lang="en-US" altLang="zh-CN" sz="2400" b="0" dirty="0"/>
          </a:p>
        </p:txBody>
      </p:sp>
      <p:sp>
        <p:nvSpPr>
          <p:cNvPr id="363524" name="Rectangle 4"/>
          <p:cNvSpPr/>
          <p:nvPr/>
        </p:nvSpPr>
        <p:spPr>
          <a:xfrm>
            <a:off x="5562600" y="1541463"/>
            <a:ext cx="2667000" cy="141986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input x:</a:t>
            </a:r>
            <a:endParaRPr lang="en-US" altLang="zh-CN" sz="2400" b="0" dirty="0"/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rgbClr val="CC0066"/>
                </a:solidFill>
              </a:rPr>
              <a:t>2.5</a:t>
            </a:r>
            <a:endParaRPr lang="en-US" altLang="zh-CN" sz="24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f(2.50)=0.4</a:t>
            </a:r>
            <a:endParaRPr lang="en-US" altLang="zh-CN" sz="2400" b="0" dirty="0"/>
          </a:p>
        </p:txBody>
      </p:sp>
      <p:sp>
        <p:nvSpPr>
          <p:cNvPr id="363525" name="Rectangle 5"/>
          <p:cNvSpPr/>
          <p:nvPr/>
        </p:nvSpPr>
        <p:spPr>
          <a:xfrm>
            <a:off x="5562600" y="3522663"/>
            <a:ext cx="2667000" cy="141986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input x:</a:t>
            </a:r>
            <a:endParaRPr lang="en-US" altLang="zh-CN" sz="2400" b="0" dirty="0"/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rgbClr val="CC0066"/>
                </a:solidFill>
              </a:rPr>
              <a:t>0</a:t>
            </a:r>
            <a:endParaRPr lang="en-US" altLang="zh-CN" sz="24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f(0.00)=0.0</a:t>
            </a:r>
            <a:endParaRPr lang="en-US" altLang="zh-CN" sz="2400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3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35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3524" grpId="0" bldLvl="0" animBg="1"/>
      <p:bldP spid="363525" grpId="0" bldLvl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Rectangle 2"/>
          <p:cNvSpPr>
            <a:spLocks noGrp="1"/>
          </p:cNvSpPr>
          <p:nvPr>
            <p:ph type="title"/>
          </p:nvPr>
        </p:nvSpPr>
        <p:spPr>
          <a:xfrm>
            <a:off x="395288" y="188913"/>
            <a:ext cx="5338762" cy="9556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软件测试的基本思想 </a:t>
            </a:r>
            <a:endParaRPr lang="zh-CN" altLang="en-US" b="0" dirty="0"/>
          </a:p>
        </p:txBody>
      </p:sp>
      <p:sp>
        <p:nvSpPr>
          <p:cNvPr id="365571" name="Rectangle 3"/>
          <p:cNvSpPr>
            <a:spLocks noGrp="1"/>
          </p:cNvSpPr>
          <p:nvPr>
            <p:ph idx="1"/>
          </p:nvPr>
        </p:nvSpPr>
        <p:spPr>
          <a:xfrm>
            <a:off x="0" y="2636838"/>
            <a:ext cx="8823325" cy="1728787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2800" b="0" dirty="0"/>
              <a:t>软件测试</a:t>
            </a:r>
            <a:endParaRPr lang="zh-CN" altLang="en-US" sz="2800" b="0" dirty="0"/>
          </a:p>
          <a:p>
            <a:pPr lvl="1" eaLnBrk="1" hangingPunct="1">
              <a:buNone/>
            </a:pPr>
            <a:r>
              <a:rPr lang="zh-CN" altLang="en-US" sz="2400" b="0" dirty="0"/>
              <a:t>精心设计一批</a:t>
            </a:r>
            <a:r>
              <a:rPr lang="zh-CN" altLang="en-US" sz="2400" b="0" dirty="0">
                <a:solidFill>
                  <a:srgbClr val="CC0066"/>
                </a:solidFill>
              </a:rPr>
              <a:t>测试用例 </a:t>
            </a:r>
            <a:r>
              <a:rPr lang="en-US" altLang="zh-CN" sz="2400" b="0" dirty="0">
                <a:solidFill>
                  <a:schemeClr val="bg2"/>
                </a:solidFill>
              </a:rPr>
              <a:t>[</a:t>
            </a:r>
            <a:r>
              <a:rPr lang="zh-CN" altLang="en-US" sz="2400" b="0" dirty="0">
                <a:solidFill>
                  <a:schemeClr val="bg2"/>
                </a:solidFill>
              </a:rPr>
              <a:t>输入数据，预期输出结果]</a:t>
            </a:r>
            <a:r>
              <a:rPr lang="zh-CN" altLang="en-US" sz="2400" b="0" dirty="0"/>
              <a:t> ，然后分别用这些测试用例运行程序，看程序的实际运行结果与预期输出结果是否一致。</a:t>
            </a:r>
            <a:endParaRPr lang="en-US" altLang="zh-CN" sz="2400" b="0" dirty="0"/>
          </a:p>
        </p:txBody>
      </p:sp>
      <p:sp>
        <p:nvSpPr>
          <p:cNvPr id="39940" name="Rectangle 4"/>
          <p:cNvSpPr/>
          <p:nvPr/>
        </p:nvSpPr>
        <p:spPr>
          <a:xfrm>
            <a:off x="3200400" y="990600"/>
            <a:ext cx="2667000" cy="141986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input x:</a:t>
            </a:r>
            <a:endParaRPr lang="en-US" altLang="zh-CN" sz="2400" b="0" dirty="0"/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rgbClr val="CC0066"/>
                </a:solidFill>
              </a:rPr>
              <a:t>2.5</a:t>
            </a:r>
            <a:endParaRPr lang="en-US" altLang="zh-CN" sz="24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f(2.50)=0.4</a:t>
            </a:r>
            <a:endParaRPr lang="en-US" altLang="zh-CN" sz="2400" b="0" dirty="0"/>
          </a:p>
        </p:txBody>
      </p:sp>
      <p:sp>
        <p:nvSpPr>
          <p:cNvPr id="39941" name="Rectangle 5"/>
          <p:cNvSpPr/>
          <p:nvPr/>
        </p:nvSpPr>
        <p:spPr>
          <a:xfrm>
            <a:off x="6248400" y="990600"/>
            <a:ext cx="2667000" cy="141986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input x:</a:t>
            </a:r>
            <a:endParaRPr lang="en-US" altLang="zh-CN" sz="2400" b="0" dirty="0"/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rgbClr val="CC0066"/>
                </a:solidFill>
              </a:rPr>
              <a:t>0</a:t>
            </a:r>
            <a:endParaRPr lang="en-US" altLang="zh-CN" sz="24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f(0.00)=0.0</a:t>
            </a:r>
            <a:endParaRPr lang="en-US" altLang="zh-CN" sz="2400" b="0" dirty="0"/>
          </a:p>
        </p:txBody>
      </p:sp>
      <p:sp>
        <p:nvSpPr>
          <p:cNvPr id="39942" name="Rectangle 6"/>
          <p:cNvSpPr/>
          <p:nvPr/>
        </p:nvSpPr>
        <p:spPr>
          <a:xfrm>
            <a:off x="304800" y="914400"/>
            <a:ext cx="2743200" cy="1676400"/>
          </a:xfrm>
          <a:prstGeom prst="rect">
            <a:avLst/>
          </a:prstGeom>
          <a:noFill/>
          <a:ln w="9525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lnSpc>
                <a:spcPct val="90000"/>
              </a:lnSpc>
              <a:buClr>
                <a:schemeClr val="tx2"/>
              </a:buClr>
              <a:buSzPct val="80000"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if(x != 0)</a:t>
            </a:r>
            <a:endParaRPr lang="zh-CN" altLang="en-US" sz="2400" b="0" dirty="0">
              <a:ea typeface="Arial Unicode MS" pitchFamily="34" charset="-122"/>
            </a:endParaRPr>
          </a:p>
          <a:p>
            <a:pPr marL="342900" lvl="0" indent="-342900" algn="just" eaLnBrk="1" hangingPunct="1">
              <a:lnSpc>
                <a:spcPct val="90000"/>
              </a:lnSpc>
              <a:buClr>
                <a:schemeClr val="tx2"/>
              </a:buClr>
              <a:buSzPct val="80000"/>
              <a:buFontTx/>
              <a:buNone/>
            </a:pPr>
            <a:r>
              <a:rPr lang="zh-CN" altLang="en-US" sz="2400" b="0" dirty="0">
                <a:ea typeface="Arial Unicode MS" pitchFamily="34" charset="-122"/>
              </a:rPr>
              <a:t>        </a:t>
            </a:r>
            <a:r>
              <a:rPr lang="en-US" altLang="zh-CN" sz="2400" b="0" dirty="0">
                <a:ea typeface="Arial Unicode MS" pitchFamily="34" charset="-122"/>
              </a:rPr>
              <a:t>y = 1/x;</a:t>
            </a:r>
            <a:endParaRPr lang="en-US" altLang="zh-CN" sz="2400" b="0" dirty="0">
              <a:ea typeface="Arial Unicode MS" pitchFamily="34" charset="-122"/>
            </a:endParaRPr>
          </a:p>
          <a:p>
            <a:pPr marL="342900" lvl="0" indent="-342900" algn="just" eaLnBrk="1" hangingPunct="1">
              <a:lnSpc>
                <a:spcPct val="90000"/>
              </a:lnSpc>
              <a:buClr>
                <a:schemeClr val="tx2"/>
              </a:buClr>
              <a:buSzPct val="80000"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else </a:t>
            </a:r>
            <a:endParaRPr lang="en-US" altLang="zh-CN" sz="2400" b="0" dirty="0">
              <a:ea typeface="Arial Unicode MS" pitchFamily="34" charset="-122"/>
            </a:endParaRPr>
          </a:p>
          <a:p>
            <a:pPr marL="342900" lvl="0" indent="-342900" algn="just" eaLnBrk="1" hangingPunct="1">
              <a:lnSpc>
                <a:spcPct val="90000"/>
              </a:lnSpc>
              <a:buClr>
                <a:schemeClr val="tx2"/>
              </a:buClr>
              <a:buSzPct val="80000"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        y = 0;</a:t>
            </a:r>
            <a:endParaRPr lang="en-US" altLang="zh-CN" sz="2400" b="0" dirty="0">
              <a:ea typeface="Arial Unicode MS" pitchFamily="34" charset="-122"/>
            </a:endParaRPr>
          </a:p>
        </p:txBody>
      </p:sp>
      <p:sp>
        <p:nvSpPr>
          <p:cNvPr id="365575" name="Rectangle 7"/>
          <p:cNvSpPr/>
          <p:nvPr/>
        </p:nvSpPr>
        <p:spPr>
          <a:xfrm>
            <a:off x="142875" y="4508500"/>
            <a:ext cx="3872230" cy="1752600"/>
          </a:xfrm>
          <a:prstGeom prst="rect">
            <a:avLst/>
          </a:prstGeom>
          <a:noFill/>
          <a:ln w="9525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lIns="92075" tIns="46038" rIns="92075" bIns="46038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42900" lvl="0" indent="-342900" algn="just" eaLnBrk="1" hangingPunct="1">
              <a:buClr>
                <a:schemeClr val="tx2"/>
              </a:buClr>
              <a:buSzPct val="80000"/>
              <a:buFontTx/>
              <a:buNone/>
            </a:pPr>
            <a:r>
              <a:rPr lang="en-US" altLang="zh-CN" sz="2400" b="0" dirty="0">
                <a:solidFill>
                  <a:schemeClr val="bg2"/>
                </a:solidFill>
                <a:ea typeface="Arial Unicode MS" pitchFamily="34" charset="-122"/>
              </a:rPr>
              <a:t>if</a:t>
            </a:r>
            <a:r>
              <a:rPr lang="en-US" altLang="zh-CN" sz="2400" b="0" dirty="0">
                <a:ea typeface="Arial Unicode MS" pitchFamily="34" charset="-122"/>
              </a:rPr>
              <a:t>(x &lt;= 15)</a:t>
            </a:r>
            <a:endParaRPr lang="zh-CN" altLang="en-US" sz="2400" b="0" dirty="0">
              <a:ea typeface="Arial Unicode MS" pitchFamily="34" charset="-122"/>
            </a:endParaRPr>
          </a:p>
          <a:p>
            <a:pPr marL="342900" lvl="0" indent="-342900" algn="just" eaLnBrk="1" hangingPunct="1">
              <a:buClr>
                <a:schemeClr val="tx2"/>
              </a:buClr>
              <a:buSzPct val="80000"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    y = 4 * x / 3;</a:t>
            </a:r>
            <a:endParaRPr lang="en-US" altLang="zh-CN" sz="2400" b="0" dirty="0">
              <a:ea typeface="Arial Unicode MS" pitchFamily="34" charset="-122"/>
            </a:endParaRPr>
          </a:p>
          <a:p>
            <a:pPr marL="342900" lvl="0" indent="-342900" algn="just" eaLnBrk="1" hangingPunct="1">
              <a:buClr>
                <a:schemeClr val="tx2"/>
              </a:buClr>
              <a:buSzPct val="80000"/>
              <a:buFontTx/>
              <a:buNone/>
            </a:pPr>
            <a:r>
              <a:rPr lang="en-US" altLang="zh-CN" sz="2400" b="0" dirty="0">
                <a:solidFill>
                  <a:schemeClr val="bg2"/>
                </a:solidFill>
                <a:ea typeface="Arial Unicode MS" pitchFamily="34" charset="-122"/>
              </a:rPr>
              <a:t>else </a:t>
            </a:r>
            <a:endParaRPr lang="en-US" altLang="zh-CN" sz="2400" b="0" dirty="0">
              <a:solidFill>
                <a:schemeClr val="bg2"/>
              </a:solidFill>
              <a:ea typeface="Arial Unicode MS" pitchFamily="34" charset="-122"/>
            </a:endParaRPr>
          </a:p>
          <a:p>
            <a:pPr marL="342900" lvl="0" indent="-342900" algn="just" eaLnBrk="1" hangingPunct="1">
              <a:buClr>
                <a:schemeClr val="tx2"/>
              </a:buClr>
              <a:buSzPct val="80000"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   y = 2.5 * x - 10.5;</a:t>
            </a:r>
            <a:endParaRPr lang="en-US" altLang="zh-CN" sz="2400" b="0" dirty="0">
              <a:ea typeface="Arial Unicode MS" pitchFamily="34" charset="-122"/>
            </a:endParaRPr>
          </a:p>
        </p:txBody>
      </p:sp>
      <p:sp>
        <p:nvSpPr>
          <p:cNvPr id="365578" name="Rectangle 10"/>
          <p:cNvSpPr/>
          <p:nvPr/>
        </p:nvSpPr>
        <p:spPr>
          <a:xfrm>
            <a:off x="3059430" y="4313555"/>
            <a:ext cx="2807970" cy="119888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/>
              <a:t>Enter x (x&gt;=0):</a:t>
            </a:r>
            <a:endParaRPr lang="en-US" altLang="zh-CN" sz="2000" b="0" dirty="0"/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CC0066"/>
                </a:solidFill>
              </a:rPr>
              <a:t>9.5</a:t>
            </a:r>
            <a:endParaRPr lang="zh-CN" altLang="en-US" sz="20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/>
              <a:t>f(9.500000)=12.67</a:t>
            </a:r>
            <a:endParaRPr lang="en-US" altLang="zh-CN" sz="2000" b="0" dirty="0"/>
          </a:p>
        </p:txBody>
      </p:sp>
      <p:sp>
        <p:nvSpPr>
          <p:cNvPr id="365579" name="Rectangle 11"/>
          <p:cNvSpPr/>
          <p:nvPr/>
        </p:nvSpPr>
        <p:spPr>
          <a:xfrm>
            <a:off x="5941695" y="4313555"/>
            <a:ext cx="3136900" cy="119888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/>
              <a:t>Enter x (x&gt;=0):</a:t>
            </a:r>
            <a:endParaRPr lang="en-US" altLang="zh-CN" sz="2000" b="0" dirty="0"/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CC0066"/>
                </a:solidFill>
              </a:rPr>
              <a:t>15</a:t>
            </a:r>
            <a:endParaRPr lang="en-US" altLang="zh-CN" sz="20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/>
              <a:t>f(15.000000)=20.00</a:t>
            </a:r>
            <a:endParaRPr lang="en-US" altLang="zh-CN" sz="2000" b="0" dirty="0"/>
          </a:p>
        </p:txBody>
      </p:sp>
      <p:sp>
        <p:nvSpPr>
          <p:cNvPr id="365580" name="Rectangle 12"/>
          <p:cNvSpPr/>
          <p:nvPr/>
        </p:nvSpPr>
        <p:spPr>
          <a:xfrm>
            <a:off x="4234815" y="5588635"/>
            <a:ext cx="3361055" cy="119888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/>
              <a:t>Enter x (x&gt;=0):</a:t>
            </a:r>
            <a:endParaRPr lang="en-US" altLang="zh-CN" sz="2000" b="0" dirty="0"/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>
                <a:solidFill>
                  <a:srgbClr val="CC0066"/>
                </a:solidFill>
              </a:rPr>
              <a:t>21.3</a:t>
            </a:r>
            <a:endParaRPr lang="en-US" altLang="zh-CN" sz="20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/>
              <a:t>f(21.300000)=42.75</a:t>
            </a:r>
            <a:endParaRPr lang="en-US" altLang="zh-CN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557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557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1">
                                            <p:txEl>
                                              <p:charRg st="5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5571">
                                            <p:txEl>
                                              <p:charRg st="5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5571">
                                            <p:txEl>
                                              <p:charRg st="5" end="7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55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55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55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5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5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5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5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5571" grpId="0" build="p"/>
      <p:bldP spid="365575" grpId="0" bldLvl="0" animBg="1"/>
      <p:bldP spid="365578" grpId="0" bldLvl="0" animBg="1"/>
      <p:bldP spid="365579" grpId="0" bldLvl="0" animBg="1"/>
      <p:bldP spid="365580" grpId="0" bldLvl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2.3.4  格式化输入函数</a:t>
            </a:r>
            <a:r>
              <a:rPr lang="en-US" altLang="zh-CN" b="0" dirty="0"/>
              <a:t>scanf</a:t>
            </a:r>
            <a:endParaRPr lang="en-US" altLang="zh-CN" b="0" dirty="0"/>
          </a:p>
        </p:txBody>
      </p:sp>
      <p:sp>
        <p:nvSpPr>
          <p:cNvPr id="367619" name="Rectangle 3"/>
          <p:cNvSpPr>
            <a:spLocks noGrp="1"/>
          </p:cNvSpPr>
          <p:nvPr>
            <p:ph idx="1"/>
          </p:nvPr>
        </p:nvSpPr>
        <p:spPr>
          <a:xfrm>
            <a:off x="395288" y="1412875"/>
            <a:ext cx="8569325" cy="3168650"/>
          </a:xfrm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2800" b="0" dirty="0"/>
              <a:t>数据输入：格式化输入函数 </a:t>
            </a:r>
            <a:r>
              <a:rPr lang="en-US" altLang="zh-CN" sz="2800" b="0" dirty="0"/>
              <a:t>scanf</a:t>
            </a:r>
            <a:endParaRPr lang="en-US" altLang="zh-CN" sz="2800" b="0" dirty="0"/>
          </a:p>
          <a:p>
            <a:pPr eaLnBrk="1" hangingPunct="1">
              <a:buNone/>
            </a:pPr>
            <a:r>
              <a:rPr lang="en-US" altLang="zh-CN" sz="2800" b="0" dirty="0"/>
              <a:t> </a:t>
            </a:r>
            <a:r>
              <a:rPr lang="zh-CN" altLang="en-US" sz="2800" b="0" dirty="0"/>
              <a:t>#</a:t>
            </a:r>
            <a:r>
              <a:rPr lang="en-US" altLang="zh-CN" sz="2800" b="0" dirty="0"/>
              <a:t>include &lt;stdio.h&gt;</a:t>
            </a:r>
            <a:endParaRPr lang="en-US" altLang="zh-CN" sz="2800" b="0" dirty="0"/>
          </a:p>
          <a:p>
            <a:pPr eaLnBrk="1" hangingPunct="1">
              <a:buNone/>
            </a:pPr>
            <a:endParaRPr lang="en-US" altLang="zh-CN" sz="2800" b="0" dirty="0"/>
          </a:p>
          <a:p>
            <a:pPr lvl="1" eaLnBrk="1" hangingPunct="1">
              <a:buNone/>
            </a:pPr>
            <a:r>
              <a:rPr lang="en-US" altLang="zh-CN" sz="2400" b="0" dirty="0"/>
              <a:t>scanf("%lf", &amp;x);</a:t>
            </a:r>
            <a:endParaRPr lang="en-US" altLang="zh-CN" sz="2400" b="0" dirty="0"/>
          </a:p>
          <a:p>
            <a:pPr lvl="1" eaLnBrk="1" hangingPunct="1">
              <a:buNone/>
            </a:pPr>
            <a:endParaRPr lang="en-US" altLang="zh-CN" sz="2400" b="0" dirty="0"/>
          </a:p>
          <a:p>
            <a:pPr eaLnBrk="1" hangingPunct="1">
              <a:buNone/>
            </a:pPr>
            <a:r>
              <a:rPr lang="en-US" altLang="zh-CN" sz="2800" b="0" dirty="0">
                <a:solidFill>
                  <a:srgbClr val="CC0066"/>
                </a:solidFill>
              </a:rPr>
              <a:t>scanf</a:t>
            </a:r>
            <a:r>
              <a:rPr lang="en-US" altLang="zh-CN" sz="2800" b="0" dirty="0"/>
              <a:t>(</a:t>
            </a:r>
            <a:r>
              <a:rPr lang="zh-CN" altLang="en-US" sz="2800" b="0" dirty="0">
                <a:solidFill>
                  <a:schemeClr val="bg2"/>
                </a:solidFill>
              </a:rPr>
              <a:t>格式控制字符串</a:t>
            </a:r>
            <a:r>
              <a:rPr lang="zh-CN" altLang="en-US" sz="2800" b="0" dirty="0"/>
              <a:t>, </a:t>
            </a:r>
            <a:r>
              <a:rPr lang="zh-CN" altLang="en-US" sz="2800" b="0" dirty="0">
                <a:solidFill>
                  <a:schemeClr val="hlink"/>
                </a:solidFill>
              </a:rPr>
              <a:t>输入参数1, … , 输入参数</a:t>
            </a:r>
            <a:r>
              <a:rPr lang="en-US" altLang="zh-CN" sz="2800" b="0" dirty="0">
                <a:solidFill>
                  <a:schemeClr val="hlink"/>
                </a:solidFill>
              </a:rPr>
              <a:t>n</a:t>
            </a:r>
            <a:r>
              <a:rPr lang="en-US" altLang="zh-CN" sz="2800" b="0" dirty="0"/>
              <a:t>);</a:t>
            </a:r>
            <a:endParaRPr lang="zh-CN" altLang="en-US" sz="2800" b="0" dirty="0"/>
          </a:p>
        </p:txBody>
      </p:sp>
      <p:sp>
        <p:nvSpPr>
          <p:cNvPr id="367620" name="Rectangle 4"/>
          <p:cNvSpPr/>
          <p:nvPr/>
        </p:nvSpPr>
        <p:spPr>
          <a:xfrm>
            <a:off x="187167" y="5722938"/>
            <a:ext cx="6278880" cy="50482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zh-CN" altLang="en-US" b="0" dirty="0">
                <a:latin typeface="宋体" pitchFamily="2" charset="-122"/>
              </a:rPr>
              <a:t>用双引号括起来，表示输入的格式</a:t>
            </a:r>
            <a:endParaRPr lang="zh-CN" altLang="en-US" sz="2800" b="0" dirty="0">
              <a:latin typeface="宋体" pitchFamily="2" charset="-122"/>
            </a:endParaRPr>
          </a:p>
        </p:txBody>
      </p:sp>
      <p:sp>
        <p:nvSpPr>
          <p:cNvPr id="367621" name="Line 5"/>
          <p:cNvSpPr/>
          <p:nvPr/>
        </p:nvSpPr>
        <p:spPr>
          <a:xfrm flipH="1" flipV="1">
            <a:off x="2771775" y="4522788"/>
            <a:ext cx="0" cy="1066800"/>
          </a:xfrm>
          <a:prstGeom prst="line">
            <a:avLst/>
          </a:prstGeom>
          <a:ln w="38100" cap="sq" cmpd="sng">
            <a:solidFill>
              <a:schemeClr val="bg2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367622" name="Rectangle 6"/>
          <p:cNvSpPr/>
          <p:nvPr/>
        </p:nvSpPr>
        <p:spPr>
          <a:xfrm>
            <a:off x="5426075" y="5002213"/>
            <a:ext cx="2241550" cy="50482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zh-CN" altLang="en-US" b="0" dirty="0">
                <a:latin typeface="宋体" pitchFamily="2" charset="-122"/>
              </a:rPr>
              <a:t>变量地址</a:t>
            </a:r>
            <a:endParaRPr lang="zh-CN" altLang="en-US" b="0" dirty="0">
              <a:latin typeface="宋体" pitchFamily="2" charset="-122"/>
            </a:endParaRPr>
          </a:p>
        </p:txBody>
      </p:sp>
      <p:sp>
        <p:nvSpPr>
          <p:cNvPr id="367623" name="Line 7"/>
          <p:cNvSpPr/>
          <p:nvPr/>
        </p:nvSpPr>
        <p:spPr>
          <a:xfrm flipH="1" flipV="1">
            <a:off x="6300788" y="4365625"/>
            <a:ext cx="0" cy="457200"/>
          </a:xfrm>
          <a:prstGeom prst="line">
            <a:avLst/>
          </a:prstGeom>
          <a:ln w="38100" cap="sq" cmpd="sng">
            <a:solidFill>
              <a:schemeClr val="bg2"/>
            </a:solidFill>
            <a:prstDash val="solid"/>
            <a:headEnd type="none" w="sm" len="sm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761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7619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charRg st="1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7619">
                                            <p:txEl>
                                              <p:charRg st="1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7619">
                                            <p:txEl>
                                              <p:charRg st="19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charRg st="4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7619">
                                            <p:txEl>
                                              <p:charRg st="4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7619">
                                            <p:txEl>
                                              <p:charRg st="40" end="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19">
                                            <p:txEl>
                                              <p:charRg st="59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7619">
                                            <p:txEl>
                                              <p:charRg st="59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7619">
                                            <p:txEl>
                                              <p:charRg st="59" end="9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676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676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76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76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7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67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76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76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7619" grpId="0" bldLvl="2" build="p"/>
      <p:bldP spid="367620" grpId="0" bldLvl="0" animBg="1"/>
      <p:bldP spid="367622" grpId="0" bldLvl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>
          <a:xfrm>
            <a:off x="457200" y="620713"/>
            <a:ext cx="8229600" cy="863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 dirty="0"/>
              <a:t>scanf－</a:t>
            </a:r>
            <a:r>
              <a:rPr lang="zh-CN" altLang="en-US" b="0" dirty="0"/>
              <a:t>格式控制字符串</a:t>
            </a:r>
            <a:endParaRPr lang="zh-CN" altLang="en-US" b="0" dirty="0"/>
          </a:p>
        </p:txBody>
      </p:sp>
      <p:sp>
        <p:nvSpPr>
          <p:cNvPr id="368643" name="Rectangle 3"/>
          <p:cNvSpPr>
            <a:spLocks noGrp="1"/>
          </p:cNvSpPr>
          <p:nvPr>
            <p:ph idx="1"/>
          </p:nvPr>
        </p:nvSpPr>
        <p:spPr>
          <a:xfrm>
            <a:off x="395288" y="1341438"/>
            <a:ext cx="8362950" cy="423862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b="0" dirty="0">
                <a:solidFill>
                  <a:schemeClr val="bg2"/>
                </a:solidFill>
              </a:rPr>
              <a:t>格式控制字符串</a:t>
            </a:r>
            <a:r>
              <a:rPr lang="zh-CN" altLang="en-US" b="0" dirty="0"/>
              <a:t>：</a:t>
            </a:r>
            <a:endParaRPr lang="zh-CN" altLang="en-US" b="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b="0" dirty="0"/>
              <a:t>格式控制说明: 按指定的格式输入数据, </a:t>
            </a:r>
            <a:r>
              <a:rPr lang="zh-CN" altLang="en-US" b="0" dirty="0">
                <a:solidFill>
                  <a:srgbClr val="CC0066"/>
                </a:solidFill>
              </a:rPr>
              <a:t>%</a:t>
            </a:r>
            <a:r>
              <a:rPr lang="zh-CN" altLang="en-US" b="0" dirty="0"/>
              <a:t>…</a:t>
            </a:r>
            <a:endParaRPr lang="zh-CN" altLang="en-US" b="0" dirty="0"/>
          </a:p>
          <a:p>
            <a:pPr lvl="2" eaLnBrk="1" hangingPunct="1">
              <a:lnSpc>
                <a:spcPct val="90000"/>
              </a:lnSpc>
              <a:buNone/>
            </a:pPr>
            <a:r>
              <a:rPr lang="zh-CN" altLang="en-US" b="0" dirty="0"/>
              <a:t>与数据类型有关</a:t>
            </a:r>
            <a:endParaRPr lang="zh-CN" altLang="en-US" b="0" dirty="0"/>
          </a:p>
          <a:p>
            <a:pPr lvl="2" eaLnBrk="1" hangingPunct="1">
              <a:lnSpc>
                <a:spcPct val="90000"/>
              </a:lnSpc>
            </a:pPr>
            <a:r>
              <a:rPr lang="en-US" altLang="zh-CN" b="0" dirty="0"/>
              <a:t>int</a:t>
            </a:r>
            <a:r>
              <a:rPr lang="zh-CN" altLang="en-US" b="0" dirty="0"/>
              <a:t>型 ：</a:t>
            </a:r>
            <a:r>
              <a:rPr lang="zh-CN" altLang="en-US" b="0" dirty="0">
                <a:solidFill>
                  <a:srgbClr val="CC0066"/>
                </a:solidFill>
              </a:rPr>
              <a:t>%</a:t>
            </a:r>
            <a:r>
              <a:rPr lang="en-US" altLang="zh-CN" b="0" dirty="0">
                <a:solidFill>
                  <a:srgbClr val="CC0066"/>
                </a:solidFill>
              </a:rPr>
              <a:t>d</a:t>
            </a:r>
            <a:endParaRPr lang="zh-CN" altLang="en-US" b="0" dirty="0">
              <a:solidFill>
                <a:srgbClr val="CC0066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b="0" dirty="0"/>
              <a:t>float</a:t>
            </a:r>
            <a:r>
              <a:rPr lang="zh-CN" altLang="en-US" b="0" dirty="0"/>
              <a:t>型：</a:t>
            </a:r>
            <a:r>
              <a:rPr lang="zh-CN" altLang="en-US" b="0" dirty="0">
                <a:solidFill>
                  <a:srgbClr val="CC0066"/>
                </a:solidFill>
              </a:rPr>
              <a:t>%</a:t>
            </a:r>
            <a:r>
              <a:rPr lang="en-US" altLang="zh-CN" b="0" dirty="0">
                <a:solidFill>
                  <a:srgbClr val="CC0066"/>
                </a:solidFill>
              </a:rPr>
              <a:t>f</a:t>
            </a:r>
            <a:endParaRPr lang="en-US" altLang="zh-CN" b="0" dirty="0">
              <a:solidFill>
                <a:srgbClr val="CC0066"/>
              </a:solidFill>
            </a:endParaRPr>
          </a:p>
          <a:p>
            <a:pPr lvl="2" eaLnBrk="1" hangingPunct="1">
              <a:lnSpc>
                <a:spcPct val="90000"/>
              </a:lnSpc>
            </a:pPr>
            <a:r>
              <a:rPr lang="en-US" altLang="zh-CN" b="0" dirty="0"/>
              <a:t>double</a:t>
            </a:r>
            <a:r>
              <a:rPr lang="zh-CN" altLang="en-US" b="0" dirty="0"/>
              <a:t>型：</a:t>
            </a:r>
            <a:r>
              <a:rPr lang="zh-CN" altLang="en-US" b="0" dirty="0">
                <a:solidFill>
                  <a:srgbClr val="CC0066"/>
                </a:solidFill>
              </a:rPr>
              <a:t>%</a:t>
            </a:r>
            <a:r>
              <a:rPr lang="en-US" altLang="zh-CN" b="0" dirty="0">
                <a:solidFill>
                  <a:srgbClr val="CC0066"/>
                </a:solidFill>
              </a:rPr>
              <a:t>lf</a:t>
            </a:r>
            <a:endParaRPr lang="en-US" altLang="zh-CN" b="0" dirty="0">
              <a:solidFill>
                <a:srgbClr val="CC0066"/>
              </a:solidFill>
            </a:endParaRPr>
          </a:p>
          <a:p>
            <a:pPr lvl="1" eaLnBrk="1" hangingPunct="1">
              <a:lnSpc>
                <a:spcPct val="90000"/>
              </a:lnSpc>
            </a:pPr>
            <a:r>
              <a:rPr lang="zh-CN" altLang="en-US" b="0" dirty="0"/>
              <a:t>普通字符：原样输入</a:t>
            </a:r>
            <a:endParaRPr lang="zh-CN" altLang="en-US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b="0" dirty="0"/>
              <a:t>例如：</a:t>
            </a:r>
            <a:endParaRPr lang="zh-CN" altLang="en-US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="0" dirty="0"/>
              <a:t>scanf("</a:t>
            </a:r>
            <a:r>
              <a:rPr lang="en-US" altLang="zh-CN" b="0" dirty="0">
                <a:solidFill>
                  <a:srgbClr val="CC0066"/>
                </a:solidFill>
              </a:rPr>
              <a:t>%lf</a:t>
            </a:r>
            <a:r>
              <a:rPr lang="en-US" altLang="zh-CN" b="0" dirty="0"/>
              <a:t>", &amp;x);</a:t>
            </a:r>
            <a:endParaRPr lang="zh-CN" altLang="en-US" b="0" dirty="0"/>
          </a:p>
        </p:txBody>
      </p:sp>
      <p:sp>
        <p:nvSpPr>
          <p:cNvPr id="368644" name="Rectangle 4"/>
          <p:cNvSpPr/>
          <p:nvPr/>
        </p:nvSpPr>
        <p:spPr>
          <a:xfrm>
            <a:off x="971550" y="5661025"/>
            <a:ext cx="1981200" cy="52197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zh-CN" altLang="en-US" sz="2800" b="0" dirty="0">
                <a:latin typeface="宋体" pitchFamily="2" charset="-122"/>
              </a:rPr>
              <a:t>输入: </a:t>
            </a:r>
            <a:r>
              <a:rPr lang="en-US" altLang="zh-CN" sz="2800" b="0" dirty="0">
                <a:solidFill>
                  <a:srgbClr val="CC0066"/>
                </a:solidFill>
              </a:rPr>
              <a:t>9.5</a:t>
            </a:r>
            <a:endParaRPr lang="zh-CN" altLang="en-US" sz="2800" b="0" dirty="0">
              <a:solidFill>
                <a:srgbClr val="CC0066"/>
              </a:solidFill>
            </a:endParaRPr>
          </a:p>
        </p:txBody>
      </p:sp>
      <p:sp>
        <p:nvSpPr>
          <p:cNvPr id="368645" name="Rectangle 5"/>
          <p:cNvSpPr/>
          <p:nvPr/>
        </p:nvSpPr>
        <p:spPr>
          <a:xfrm>
            <a:off x="4643438" y="4868863"/>
            <a:ext cx="3886200" cy="47815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buClr>
                <a:schemeClr val="tx2"/>
              </a:buClr>
              <a:buSzPct val="80000"/>
              <a:buFontTx/>
              <a:buNone/>
            </a:pPr>
            <a:r>
              <a:rPr lang="en-US" altLang="zh-CN" sz="2800" b="0" dirty="0">
                <a:ea typeface="Arial Unicode MS" pitchFamily="34" charset="-122"/>
              </a:rPr>
              <a:t>scanf("x=</a:t>
            </a:r>
            <a:r>
              <a:rPr lang="zh-CN" altLang="en-US" sz="2800" b="0" dirty="0">
                <a:solidFill>
                  <a:srgbClr val="CC0066"/>
                </a:solidFill>
                <a:ea typeface="Arial Unicode MS" pitchFamily="34" charset="-122"/>
              </a:rPr>
              <a:t>%</a:t>
            </a:r>
            <a:r>
              <a:rPr lang="en-US" altLang="zh-CN" sz="2800" b="0" dirty="0">
                <a:solidFill>
                  <a:srgbClr val="CC0066"/>
                </a:solidFill>
                <a:ea typeface="Arial Unicode MS" pitchFamily="34" charset="-122"/>
              </a:rPr>
              <a:t>lf</a:t>
            </a:r>
            <a:r>
              <a:rPr lang="en-US" altLang="zh-CN" sz="2800" b="0" dirty="0">
                <a:ea typeface="Arial Unicode MS" pitchFamily="34" charset="-122"/>
              </a:rPr>
              <a:t>", &amp;x);</a:t>
            </a:r>
            <a:endParaRPr lang="zh-CN" altLang="en-US" sz="2800" b="0" dirty="0">
              <a:ea typeface="Arial Unicode MS" pitchFamily="34" charset="-122"/>
            </a:endParaRPr>
          </a:p>
        </p:txBody>
      </p:sp>
      <p:sp>
        <p:nvSpPr>
          <p:cNvPr id="368646" name="Rectangle 6"/>
          <p:cNvSpPr/>
          <p:nvPr/>
        </p:nvSpPr>
        <p:spPr>
          <a:xfrm>
            <a:off x="4859655" y="5734050"/>
            <a:ext cx="3134995" cy="52197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zh-CN" altLang="en-US" sz="2800" b="0" dirty="0"/>
              <a:t>输入: </a:t>
            </a:r>
            <a:r>
              <a:rPr lang="en-US" altLang="zh-CN" sz="2800" b="0" dirty="0"/>
              <a:t>x=</a:t>
            </a:r>
            <a:r>
              <a:rPr lang="en-US" altLang="zh-CN" sz="2800" b="0" dirty="0">
                <a:solidFill>
                  <a:srgbClr val="CC0066"/>
                </a:solidFill>
              </a:rPr>
              <a:t>9.5</a:t>
            </a:r>
            <a:endParaRPr lang="zh-CN" altLang="en-US" sz="2800" b="0" dirty="0">
              <a:solidFill>
                <a:srgbClr val="CC0066"/>
              </a:solidFill>
            </a:endParaRPr>
          </a:p>
        </p:txBody>
      </p:sp>
      <p:sp>
        <p:nvSpPr>
          <p:cNvPr id="368647" name="Rectangle 7"/>
          <p:cNvSpPr/>
          <p:nvPr/>
        </p:nvSpPr>
        <p:spPr>
          <a:xfrm>
            <a:off x="5091748" y="3933825"/>
            <a:ext cx="3738880" cy="45275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ctr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zh-CN" altLang="en-US" sz="2800" b="0" dirty="0">
                <a:latin typeface="宋体" pitchFamily="2" charset="-122"/>
              </a:rPr>
              <a:t>尽量不要出现普通字符</a:t>
            </a:r>
            <a:endParaRPr lang="zh-CN" altLang="en-US" sz="2800" b="0" dirty="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8643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8643">
                                            <p:txEl>
                                              <p:charRg st="0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charRg st="9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8643">
                                            <p:txEl>
                                              <p:charRg st="9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8643">
                                            <p:txEl>
                                              <p:charRg st="9" end="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charRg st="32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8643">
                                            <p:txEl>
                                              <p:charRg st="32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8643">
                                            <p:txEl>
                                              <p:charRg st="32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charRg st="40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68643">
                                            <p:txEl>
                                              <p:charRg st="40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68643">
                                            <p:txEl>
                                              <p:charRg st="40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charRg st="49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68643">
                                            <p:txEl>
                                              <p:charRg st="49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68643">
                                            <p:txEl>
                                              <p:charRg st="49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charRg st="59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8643">
                                            <p:txEl>
                                              <p:charRg st="59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8643">
                                            <p:txEl>
                                              <p:charRg st="59" end="7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charRg st="71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8643">
                                            <p:txEl>
                                              <p:charRg st="71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8643">
                                            <p:txEl>
                                              <p:charRg st="71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charRg st="81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68643">
                                            <p:txEl>
                                              <p:charRg st="81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68643">
                                            <p:txEl>
                                              <p:charRg st="81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3">
                                            <p:txEl>
                                              <p:charRg st="85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68643">
                                            <p:txEl>
                                              <p:charRg st="85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68643">
                                            <p:txEl>
                                              <p:charRg st="85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8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68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86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86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68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68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68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68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43" grpId="0" bldLvl="2" build="p"/>
      <p:bldP spid="368644" grpId="0" bldLvl="0" animBg="1"/>
      <p:bldP spid="368645" grpId="0"/>
      <p:bldP spid="368646" grpId="0" bldLvl="0" animBg="1"/>
      <p:bldP spid="368647" grpId="0" bldLvl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改进例2-3的程序</a:t>
            </a:r>
            <a:endParaRPr lang="zh-CN" altLang="en-US" b="0" dirty="0"/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251778" y="1566863"/>
            <a:ext cx="8748712" cy="503078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0" dirty="0"/>
              <a:t>例2-3 求华氏温度 100°</a:t>
            </a:r>
            <a:r>
              <a:rPr lang="en-US" altLang="zh-CN" sz="2800" b="0" dirty="0"/>
              <a:t>F </a:t>
            </a:r>
            <a:r>
              <a:rPr lang="zh-CN" altLang="en-US" sz="2800" b="0" dirty="0"/>
              <a:t>对应的摄氏温度。</a:t>
            </a:r>
            <a:endParaRPr lang="zh-CN" altLang="en-US" sz="2800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摄氏温度 </a:t>
            </a:r>
            <a:r>
              <a:rPr lang="en-US" altLang="zh-CN" sz="2400" b="0" dirty="0"/>
              <a:t>C=(5/9)(F-32) </a:t>
            </a:r>
            <a:endParaRPr lang="en-US" altLang="zh-CN" sz="2400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#</a:t>
            </a:r>
            <a:r>
              <a:rPr lang="en-US" altLang="zh-CN" sz="2400" b="0" dirty="0"/>
              <a:t>include &lt;stdio.h&gt;</a:t>
            </a:r>
            <a:endParaRPr lang="en-US" altLang="zh-CN" sz="2400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int main(void)</a:t>
            </a:r>
            <a:endParaRPr lang="en-US" altLang="zh-CN" sz="2400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{   </a:t>
            </a:r>
            <a:endParaRPr lang="en-US" altLang="zh-CN" sz="2400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int celsius, fahr;</a:t>
            </a:r>
            <a:endParaRPr lang="en-US" altLang="zh-CN" sz="2400" b="0" dirty="0"/>
          </a:p>
          <a:p>
            <a:pPr lvl="1" eaLnBrk="1" hangingPunct="1">
              <a:lnSpc>
                <a:spcPct val="90000"/>
              </a:lnSpc>
              <a:buNone/>
            </a:pPr>
            <a:endParaRPr lang="zh-CN" altLang="en-US" sz="2400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    </a:t>
            </a:r>
            <a:r>
              <a:rPr lang="en-US" altLang="zh-CN" sz="2400" b="0" dirty="0"/>
              <a:t>fahr = 100; </a:t>
            </a:r>
            <a:endParaRPr lang="zh-CN" altLang="en-US" sz="2400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    </a:t>
            </a:r>
            <a:r>
              <a:rPr lang="en-US" altLang="zh-CN" sz="2400" b="0" dirty="0"/>
              <a:t>celsius = 5 * (fahr - 32) / 9; </a:t>
            </a:r>
            <a:endParaRPr lang="en-US" altLang="zh-CN" sz="2400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printf("fahr = %d, celsius = %d\n", fahr, celsius); </a:t>
            </a:r>
            <a:endParaRPr lang="en-US" altLang="zh-CN" sz="2400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    </a:t>
            </a:r>
            <a:r>
              <a:rPr lang="en-US" altLang="zh-CN" sz="2400" b="0" dirty="0"/>
              <a:t>return 0;</a:t>
            </a:r>
            <a:endParaRPr lang="en-US" altLang="zh-CN" sz="2400" b="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zh-CN" altLang="en-US" sz="2400" b="0" dirty="0"/>
              <a:t>}</a:t>
            </a:r>
            <a:endParaRPr lang="en-US" altLang="zh-CN" sz="2400" b="0" dirty="0"/>
          </a:p>
        </p:txBody>
      </p:sp>
      <p:sp>
        <p:nvSpPr>
          <p:cNvPr id="369668" name="Rectangle 4"/>
          <p:cNvSpPr/>
          <p:nvPr/>
        </p:nvSpPr>
        <p:spPr>
          <a:xfrm>
            <a:off x="5101590" y="4220845"/>
            <a:ext cx="3641725" cy="521970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buClr>
                <a:schemeClr val="tx2"/>
              </a:buClr>
              <a:buSzPct val="110000"/>
              <a:buFontTx/>
              <a:buNone/>
            </a:pPr>
            <a:r>
              <a:rPr lang="en-US" altLang="zh-CN" sz="2800" b="0" dirty="0">
                <a:ea typeface="Arial Unicode MS" pitchFamily="34" charset="-122"/>
              </a:rPr>
              <a:t>scanf("%d", &amp;fahr);</a:t>
            </a:r>
            <a:endParaRPr lang="en-US" altLang="zh-CN" sz="2800" b="0" dirty="0">
              <a:ea typeface="Arial Unicode MS" pitchFamily="34" charset="-122"/>
            </a:endParaRPr>
          </a:p>
        </p:txBody>
      </p:sp>
      <p:sp>
        <p:nvSpPr>
          <p:cNvPr id="369669" name="Rectangle 5"/>
          <p:cNvSpPr/>
          <p:nvPr/>
        </p:nvSpPr>
        <p:spPr>
          <a:xfrm>
            <a:off x="4640580" y="3657600"/>
            <a:ext cx="4141788" cy="478155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buClr>
                <a:schemeClr val="tx2"/>
              </a:buClr>
              <a:buSzPct val="80000"/>
              <a:buFontTx/>
              <a:buNone/>
            </a:pPr>
            <a:r>
              <a:rPr lang="en-US" altLang="zh-CN" sz="2800" b="0" dirty="0">
                <a:ea typeface="Arial Unicode MS" pitchFamily="34" charset="-122"/>
              </a:rPr>
              <a:t>printf(“Enter fahr: \n");</a:t>
            </a:r>
            <a:endParaRPr lang="en-US" altLang="zh-CN" sz="2800" b="0" dirty="0">
              <a:ea typeface="Arial Unicode MS" pitchFamily="34" charset="-122"/>
            </a:endParaRPr>
          </a:p>
        </p:txBody>
      </p:sp>
      <p:sp>
        <p:nvSpPr>
          <p:cNvPr id="369670" name="Rectangle 6"/>
          <p:cNvSpPr/>
          <p:nvPr/>
        </p:nvSpPr>
        <p:spPr>
          <a:xfrm>
            <a:off x="4932680" y="2133600"/>
            <a:ext cx="3876675" cy="1419860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Enter fahr:</a:t>
            </a:r>
            <a:endParaRPr lang="en-US" altLang="zh-CN" sz="2400" b="0" dirty="0"/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>
                <a:solidFill>
                  <a:srgbClr val="CC0066"/>
                </a:solidFill>
              </a:rPr>
              <a:t>100</a:t>
            </a:r>
            <a:endParaRPr lang="en-US" altLang="zh-CN" sz="24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fahr =100, celsius = 37</a:t>
            </a:r>
            <a:endParaRPr lang="en-US" altLang="zh-CN" sz="2400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9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9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696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696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9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9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9668" grpId="0" bldLvl="0" animBg="1"/>
      <p:bldP spid="369669" grpId="0" bldLvl="0" animBg="1"/>
      <p:bldP spid="369670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2.3.5  常用数学库函数</a:t>
            </a:r>
            <a:endParaRPr lang="zh-CN" altLang="en-US" b="0" dirty="0"/>
          </a:p>
        </p:txBody>
      </p:sp>
      <p:sp>
        <p:nvSpPr>
          <p:cNvPr id="371715" name="Rectangle 3"/>
          <p:cNvSpPr>
            <a:spLocks noGrp="1"/>
          </p:cNvSpPr>
          <p:nvPr>
            <p:ph idx="1"/>
          </p:nvPr>
        </p:nvSpPr>
        <p:spPr>
          <a:xfrm>
            <a:off x="323850" y="1341438"/>
            <a:ext cx="8569325" cy="5183187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</a:pPr>
            <a:r>
              <a:rPr lang="zh-CN" altLang="en-US" b="0" dirty="0"/>
              <a:t>库函数</a:t>
            </a:r>
            <a:endParaRPr lang="zh-CN" altLang="en-US" b="0" dirty="0"/>
          </a:p>
          <a:p>
            <a:pPr lvl="1" eaLnBrk="1" hangingPunct="1">
              <a:lnSpc>
                <a:spcPct val="90000"/>
              </a:lnSpc>
            </a:pPr>
            <a:r>
              <a:rPr lang="en-US" altLang="zh-CN" b="0" dirty="0"/>
              <a:t>C</a:t>
            </a:r>
            <a:r>
              <a:rPr lang="zh-CN" altLang="en-US" b="0" dirty="0"/>
              <a:t>语言处理系统提供事先编好的函数，供用户在编程时调用。</a:t>
            </a:r>
            <a:r>
              <a:rPr lang="en-US" altLang="zh-CN" b="0" dirty="0"/>
              <a:t>scanf(), printf(), exp()</a:t>
            </a:r>
            <a:endParaRPr lang="en-US" altLang="zh-CN" b="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b="0" dirty="0"/>
              <a:t>在相应的系统文件（头文件）中定义一些必需的信息。</a:t>
            </a:r>
            <a:endParaRPr lang="zh-CN" altLang="en-US" b="0" dirty="0"/>
          </a:p>
          <a:p>
            <a:pPr eaLnBrk="1" hangingPunct="1">
              <a:lnSpc>
                <a:spcPct val="90000"/>
              </a:lnSpc>
            </a:pPr>
            <a:r>
              <a:rPr lang="zh-CN" altLang="en-US" b="0" dirty="0"/>
              <a:t>#</a:t>
            </a:r>
            <a:r>
              <a:rPr lang="en-US" altLang="zh-CN" b="0" dirty="0"/>
              <a:t>include</a:t>
            </a:r>
            <a:r>
              <a:rPr lang="zh-CN" altLang="en-US" b="0" dirty="0"/>
              <a:t>命令</a:t>
            </a:r>
            <a:endParaRPr lang="en-US" altLang="zh-CN" b="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b="0" dirty="0"/>
              <a:t>用户调用库函数时，将相应的头文件包含到源程序中。</a:t>
            </a:r>
            <a:endParaRPr lang="zh-CN" altLang="en-US" b="0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b="0" dirty="0"/>
              <a:t>例如</a:t>
            </a:r>
            <a:endParaRPr lang="zh-CN" altLang="en-US" b="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b="0" dirty="0"/>
              <a:t>调用</a:t>
            </a:r>
            <a:r>
              <a:rPr lang="en-US" altLang="zh-CN" b="0" dirty="0"/>
              <a:t>scanf, printf，</a:t>
            </a:r>
            <a:r>
              <a:rPr lang="zh-CN" altLang="en-US" b="0" dirty="0"/>
              <a:t>需要 #</a:t>
            </a:r>
            <a:r>
              <a:rPr lang="en-US" altLang="zh-CN" b="0" dirty="0"/>
              <a:t>include &lt;stdio.h&gt;</a:t>
            </a:r>
            <a:endParaRPr lang="en-US" altLang="zh-CN" b="0" dirty="0"/>
          </a:p>
          <a:p>
            <a:pPr lvl="1" eaLnBrk="1" hangingPunct="1">
              <a:lnSpc>
                <a:spcPct val="90000"/>
              </a:lnSpc>
            </a:pPr>
            <a:r>
              <a:rPr lang="zh-CN" altLang="en-US" b="0" dirty="0"/>
              <a:t>调用</a:t>
            </a:r>
            <a:r>
              <a:rPr lang="en-US" altLang="zh-CN" b="0" dirty="0"/>
              <a:t>sqrt，</a:t>
            </a:r>
            <a:r>
              <a:rPr lang="zh-CN" altLang="en-US" b="0" dirty="0"/>
              <a:t>需要 #</a:t>
            </a:r>
            <a:r>
              <a:rPr lang="en-US" altLang="zh-CN" b="0" dirty="0"/>
              <a:t>include &lt;math.h&gt;</a:t>
            </a:r>
            <a:endParaRPr lang="zh-CN" alt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171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171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charRg st="4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1715">
                                            <p:txEl>
                                              <p:charRg st="4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1715">
                                            <p:txEl>
                                              <p:charRg st="4" end="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charRg st="56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1715">
                                            <p:txEl>
                                              <p:charRg st="56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1715">
                                            <p:txEl>
                                              <p:charRg st="56" end="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charRg st="81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1715">
                                            <p:txEl>
                                              <p:charRg st="81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1715">
                                            <p:txEl>
                                              <p:charRg st="81" end="9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charRg st="92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1715">
                                            <p:txEl>
                                              <p:charRg st="92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1715">
                                            <p:txEl>
                                              <p:charRg st="92" end="1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charRg st="117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1715">
                                            <p:txEl>
                                              <p:charRg st="117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1715">
                                            <p:txEl>
                                              <p:charRg st="117" end="1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charRg st="120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1715">
                                            <p:txEl>
                                              <p:charRg st="120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1715">
                                            <p:txEl>
                                              <p:charRg st="120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715">
                                            <p:txEl>
                                              <p:charRg st="158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1715">
                                            <p:txEl>
                                              <p:charRg st="158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1715">
                                            <p:txEl>
                                              <p:charRg st="158" end="18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715" grpId="0" bldLvl="2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常用数学库函数</a:t>
            </a:r>
            <a:endParaRPr lang="zh-CN" altLang="en-US" b="0" dirty="0"/>
          </a:p>
        </p:txBody>
      </p:sp>
      <p:sp>
        <p:nvSpPr>
          <p:cNvPr id="372739" name="Rectangle 3"/>
          <p:cNvSpPr>
            <a:spLocks noGrp="1"/>
          </p:cNvSpPr>
          <p:nvPr>
            <p:ph idx="1"/>
          </p:nvPr>
        </p:nvSpPr>
        <p:spPr>
          <a:xfrm>
            <a:off x="395288" y="1557338"/>
            <a:ext cx="8435975" cy="4679950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</a:pPr>
            <a:r>
              <a:rPr lang="zh-CN" altLang="en-US" sz="2800" b="0" dirty="0"/>
              <a:t>平方根函数 </a:t>
            </a:r>
            <a:r>
              <a:rPr lang="en-US" altLang="zh-CN" sz="2800" b="0" dirty="0">
                <a:solidFill>
                  <a:srgbClr val="CC0066"/>
                </a:solidFill>
              </a:rPr>
              <a:t>sqrt(x)</a:t>
            </a:r>
            <a:r>
              <a:rPr lang="zh-CN" altLang="en-US" sz="2800" b="0" dirty="0"/>
              <a:t> </a:t>
            </a:r>
            <a:endParaRPr lang="zh-CN" altLang="en-US" sz="2800" b="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b="0" dirty="0"/>
              <a:t>绝对值函数 </a:t>
            </a:r>
            <a:r>
              <a:rPr lang="en-US" altLang="zh-CN" sz="2800" b="0" dirty="0">
                <a:solidFill>
                  <a:srgbClr val="CC0066"/>
                </a:solidFill>
              </a:rPr>
              <a:t>fabs(x)</a:t>
            </a:r>
            <a:endParaRPr lang="en-US" altLang="zh-CN" sz="2800" b="0" dirty="0">
              <a:solidFill>
                <a:srgbClr val="CC0066"/>
              </a:solidFill>
            </a:endParaRPr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fabs(-3.56) </a:t>
            </a:r>
            <a:r>
              <a:rPr lang="zh-CN" altLang="en-US" sz="2400" b="0" dirty="0"/>
              <a:t>的值为3.56</a:t>
            </a:r>
            <a:endParaRPr lang="zh-CN" altLang="en-US" sz="2400" b="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b="0" dirty="0"/>
              <a:t>幂函数 </a:t>
            </a:r>
            <a:r>
              <a:rPr lang="en-US" altLang="zh-CN" sz="2800" b="0" dirty="0">
                <a:solidFill>
                  <a:srgbClr val="CC0066"/>
                </a:solidFill>
              </a:rPr>
              <a:t>pow(x, n)</a:t>
            </a:r>
            <a:r>
              <a:rPr lang="en-US" altLang="zh-CN" sz="2800" b="0" dirty="0"/>
              <a:t> ：x</a:t>
            </a:r>
            <a:r>
              <a:rPr lang="en-US" altLang="zh-CN" sz="2800" b="0" baseline="30000" dirty="0"/>
              <a:t>n</a:t>
            </a:r>
            <a:endParaRPr lang="en-US" altLang="zh-CN" sz="2800" b="0" baseline="30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pow(1.1, 2) </a:t>
            </a:r>
            <a:r>
              <a:rPr lang="zh-CN" altLang="en-US" sz="2400" b="0" dirty="0"/>
              <a:t>的值为1.21</a:t>
            </a:r>
            <a:endParaRPr lang="zh-CN" altLang="en-US" sz="2400" b="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b="0" dirty="0"/>
              <a:t>指数函数 </a:t>
            </a:r>
            <a:r>
              <a:rPr lang="en-US" altLang="zh-CN" sz="2800" b="0" dirty="0">
                <a:solidFill>
                  <a:srgbClr val="CC0066"/>
                </a:solidFill>
              </a:rPr>
              <a:t>exp(x)</a:t>
            </a:r>
            <a:r>
              <a:rPr lang="en-US" altLang="zh-CN" sz="2800" b="0" dirty="0"/>
              <a:t>：e</a:t>
            </a:r>
            <a:r>
              <a:rPr lang="en-US" altLang="zh-CN" sz="2800" b="0" baseline="30000" dirty="0"/>
              <a:t>x</a:t>
            </a:r>
            <a:endParaRPr lang="en-US" altLang="zh-CN" sz="2800" b="0" baseline="3000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exp(2.3) </a:t>
            </a:r>
            <a:r>
              <a:rPr lang="zh-CN" altLang="en-US" sz="2400" b="0" dirty="0"/>
              <a:t>的值为</a:t>
            </a:r>
            <a:r>
              <a:rPr lang="en-US" altLang="zh-CN" sz="2400" b="0" dirty="0"/>
              <a:t>e</a:t>
            </a:r>
            <a:r>
              <a:rPr lang="en-US" altLang="zh-CN" b="0" baseline="30000" dirty="0"/>
              <a:t>2.3</a:t>
            </a:r>
            <a:endParaRPr lang="en-US" altLang="zh-CN" b="0" baseline="3000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b="0" dirty="0"/>
              <a:t>以</a:t>
            </a:r>
            <a:r>
              <a:rPr lang="en-US" altLang="zh-CN" sz="2800" b="0" dirty="0"/>
              <a:t>e</a:t>
            </a:r>
            <a:r>
              <a:rPr lang="zh-CN" altLang="en-US" sz="2800" b="0" dirty="0"/>
              <a:t>为底的对数函数 </a:t>
            </a:r>
            <a:r>
              <a:rPr lang="en-US" altLang="zh-CN" sz="2800" b="0" dirty="0">
                <a:solidFill>
                  <a:srgbClr val="CC0066"/>
                </a:solidFill>
              </a:rPr>
              <a:t>log(x)</a:t>
            </a:r>
            <a:r>
              <a:rPr lang="en-US" altLang="zh-CN" sz="2800" b="0" dirty="0"/>
              <a:t>：ln x</a:t>
            </a:r>
            <a:endParaRPr lang="en-US" altLang="zh-CN" sz="2800" b="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log(123.45) </a:t>
            </a:r>
            <a:r>
              <a:rPr lang="zh-CN" altLang="en-US" sz="2400" b="0" dirty="0"/>
              <a:t>的值为4.815836</a:t>
            </a:r>
            <a:endParaRPr lang="zh-CN" altLang="en-US" sz="2400" b="0" dirty="0"/>
          </a:p>
          <a:p>
            <a:pPr eaLnBrk="1" hangingPunct="1">
              <a:lnSpc>
                <a:spcPct val="80000"/>
              </a:lnSpc>
            </a:pPr>
            <a:r>
              <a:rPr lang="zh-CN" altLang="en-US" sz="2800" b="0" dirty="0"/>
              <a:t>以10为底的对数函数 </a:t>
            </a:r>
            <a:r>
              <a:rPr lang="en-US" altLang="zh-CN" sz="2800" b="0" dirty="0">
                <a:solidFill>
                  <a:srgbClr val="CC0066"/>
                </a:solidFill>
              </a:rPr>
              <a:t>log10(x)</a:t>
            </a:r>
            <a:r>
              <a:rPr lang="en-US" altLang="zh-CN" sz="2800" b="0" dirty="0"/>
              <a:t>：log</a:t>
            </a:r>
            <a:r>
              <a:rPr lang="en-US" altLang="zh-CN" sz="2800" b="0" baseline="-25000" dirty="0"/>
              <a:t>10</a:t>
            </a:r>
            <a:r>
              <a:rPr lang="en-US" altLang="zh-CN" sz="2800" b="0" dirty="0"/>
              <a:t>x</a:t>
            </a:r>
            <a:endParaRPr lang="en-US" altLang="zh-CN" sz="2800" b="0" dirty="0"/>
          </a:p>
          <a:p>
            <a:pPr lvl="1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log10(123.45) </a:t>
            </a:r>
            <a:r>
              <a:rPr lang="zh-CN" altLang="en-US" sz="2400" b="0" dirty="0"/>
              <a:t>的值为2.091491。 </a:t>
            </a:r>
            <a:endParaRPr lang="zh-CN" altLang="en-US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273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2739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1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2739">
                                            <p:txEl>
                                              <p:charRg st="1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2739">
                                            <p:txEl>
                                              <p:charRg st="15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29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72739">
                                            <p:txEl>
                                              <p:charRg st="29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72739">
                                            <p:txEl>
                                              <p:charRg st="29" end="4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49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72739">
                                            <p:txEl>
                                              <p:charRg st="49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72739">
                                            <p:txEl>
                                              <p:charRg st="49" end="6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67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72739">
                                            <p:txEl>
                                              <p:charRg st="67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72739">
                                            <p:txEl>
                                              <p:charRg st="67" end="8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87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72739">
                                            <p:txEl>
                                              <p:charRg st="87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72739">
                                            <p:txEl>
                                              <p:charRg st="87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102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2739">
                                            <p:txEl>
                                              <p:charRg st="102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2739">
                                            <p:txEl>
                                              <p:charRg st="102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119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2739">
                                            <p:txEl>
                                              <p:charRg st="119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2739">
                                            <p:txEl>
                                              <p:charRg st="119" end="1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141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72739">
                                            <p:txEl>
                                              <p:charRg st="141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2739">
                                            <p:txEl>
                                              <p:charRg st="141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165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72739">
                                            <p:txEl>
                                              <p:charRg st="165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72739">
                                            <p:txEl>
                                              <p:charRg st="165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39">
                                            <p:txEl>
                                              <p:charRg st="192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72739">
                                            <p:txEl>
                                              <p:charRg st="192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72739">
                                            <p:txEl>
                                              <p:charRg st="192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2739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例2-</a:t>
            </a:r>
            <a:r>
              <a:rPr lang="en-US" altLang="zh-CN" b="0" dirty="0"/>
              <a:t>5  </a:t>
            </a:r>
            <a:r>
              <a:rPr lang="zh-CN" altLang="en-US" b="0" dirty="0"/>
              <a:t>计算存款的本息</a:t>
            </a:r>
            <a:endParaRPr lang="zh-CN" altLang="en-US" b="0" dirty="0"/>
          </a:p>
        </p:txBody>
      </p:sp>
      <p:sp>
        <p:nvSpPr>
          <p:cNvPr id="48131" name="Rectangle 3"/>
          <p:cNvSpPr>
            <a:spLocks noGrp="1"/>
          </p:cNvSpPr>
          <p:nvPr>
            <p:ph idx="1"/>
          </p:nvPr>
        </p:nvSpPr>
        <p:spPr>
          <a:xfrm>
            <a:off x="457200" y="1981200"/>
            <a:ext cx="8159750" cy="1847850"/>
          </a:xfrm>
        </p:spPr>
        <p:txBody>
          <a:bodyPr vert="horz" wrap="square" lIns="91440" tIns="45720" rIns="91440" bIns="45720" anchor="t" anchorCtr="0"/>
          <a:p>
            <a:pPr lvl="1" eaLnBrk="1" hangingPunct="1">
              <a:buNone/>
            </a:pPr>
            <a:r>
              <a:rPr lang="zh-CN" altLang="en-US" b="0" dirty="0"/>
              <a:t>输入存款金额 </a:t>
            </a:r>
            <a:r>
              <a:rPr lang="en-US" altLang="zh-CN" b="0" dirty="0"/>
              <a:t>money、</a:t>
            </a:r>
            <a:r>
              <a:rPr lang="zh-CN" altLang="en-US" b="0" dirty="0"/>
              <a:t>存期 </a:t>
            </a:r>
            <a:r>
              <a:rPr lang="en-US" altLang="zh-CN" b="0" dirty="0"/>
              <a:t>year </a:t>
            </a:r>
            <a:r>
              <a:rPr lang="zh-CN" altLang="en-US" b="0" dirty="0"/>
              <a:t>和年利率 </a:t>
            </a:r>
            <a:r>
              <a:rPr lang="en-US" altLang="zh-CN" b="0" dirty="0"/>
              <a:t>rate，</a:t>
            </a:r>
            <a:r>
              <a:rPr lang="zh-CN" altLang="en-US" b="0" dirty="0"/>
              <a:t>根据公式计算存款到期时的本息合计</a:t>
            </a:r>
            <a:r>
              <a:rPr lang="en-US" altLang="zh-CN" b="0" dirty="0"/>
              <a:t>sum（</a:t>
            </a:r>
            <a:r>
              <a:rPr lang="zh-CN" altLang="en-US" b="0" dirty="0"/>
              <a:t>税前），输出时保留2位小数。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en-US" altLang="zh-CN" b="0" dirty="0"/>
              <a:t>sum = money ( 1 + rate)</a:t>
            </a:r>
            <a:r>
              <a:rPr lang="en-US" altLang="zh-CN" b="0" baseline="30000" dirty="0"/>
              <a:t>year</a:t>
            </a:r>
            <a:endParaRPr lang="en-US" altLang="zh-CN" b="0" baseline="30000" dirty="0"/>
          </a:p>
        </p:txBody>
      </p:sp>
      <p:sp>
        <p:nvSpPr>
          <p:cNvPr id="373764" name="Rectangle 4"/>
          <p:cNvSpPr/>
          <p:nvPr/>
        </p:nvSpPr>
        <p:spPr>
          <a:xfrm>
            <a:off x="990600" y="4343400"/>
            <a:ext cx="7010400" cy="478155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buClr>
                <a:schemeClr val="tx2"/>
              </a:buClr>
              <a:buSzPct val="80000"/>
              <a:buFontTx/>
              <a:buNone/>
            </a:pPr>
            <a:r>
              <a:rPr lang="en-US" altLang="zh-CN" sz="2800" b="0" dirty="0">
                <a:solidFill>
                  <a:schemeClr val="bg2"/>
                </a:solidFill>
                <a:ea typeface="Arial Unicode MS" pitchFamily="34" charset="-122"/>
              </a:rPr>
              <a:t>sum = money * pow((1 + rate), year)</a:t>
            </a:r>
            <a:endParaRPr lang="en-US" altLang="zh-CN" sz="2800" b="0" dirty="0">
              <a:solidFill>
                <a:schemeClr val="bg2"/>
              </a:solidFill>
              <a:ea typeface="Arial Unicode MS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37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376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Rectangle 2"/>
          <p:cNvSpPr>
            <a:spLocks noGrp="1"/>
          </p:cNvSpPr>
          <p:nvPr>
            <p:ph type="title"/>
          </p:nvPr>
        </p:nvSpPr>
        <p:spPr>
          <a:xfrm>
            <a:off x="5929313" y="457200"/>
            <a:ext cx="2819400" cy="6683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sz="4000" b="0" dirty="0"/>
              <a:t>例2-</a:t>
            </a:r>
            <a:r>
              <a:rPr lang="en-US" altLang="zh-CN" sz="4000" b="0" dirty="0"/>
              <a:t>5 </a:t>
            </a:r>
            <a:r>
              <a:rPr lang="zh-CN" altLang="en-US" sz="4000" b="0" dirty="0"/>
              <a:t>程序</a:t>
            </a:r>
            <a:endParaRPr lang="zh-CN" altLang="en-US" sz="4000" b="0" dirty="0"/>
          </a:p>
        </p:txBody>
      </p:sp>
      <p:sp>
        <p:nvSpPr>
          <p:cNvPr id="50179" name="Rectangle 3"/>
          <p:cNvSpPr>
            <a:spLocks noGrp="1"/>
          </p:cNvSpPr>
          <p:nvPr>
            <p:ph idx="1"/>
          </p:nvPr>
        </p:nvSpPr>
        <p:spPr>
          <a:xfrm>
            <a:off x="250825" y="476250"/>
            <a:ext cx="7309485" cy="6048375"/>
          </a:xfrm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# </a:t>
            </a:r>
            <a:r>
              <a:rPr lang="en-US" altLang="zh-CN" sz="2400" b="0" dirty="0"/>
              <a:t>include &lt;stdio.h&gt; 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>
                <a:solidFill>
                  <a:schemeClr val="bg2"/>
                </a:solidFill>
              </a:rPr>
              <a:t># include &lt;math.h&gt;</a:t>
            </a:r>
            <a:r>
              <a:rPr lang="en-US" altLang="zh-CN" sz="2400" b="0" dirty="0"/>
              <a:t> 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int main(void)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{   int money, year;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double rate, sum; 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    </a:t>
            </a:r>
            <a:r>
              <a:rPr lang="en-US" altLang="zh-CN" sz="2400" b="0" dirty="0"/>
              <a:t>printf(“Enter money:"); 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scanf("%d", &amp;money); 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    </a:t>
            </a:r>
            <a:r>
              <a:rPr lang="en-US" altLang="zh-CN" sz="2400" b="0" dirty="0"/>
              <a:t>printf(“Enter year: "); 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scanf("%d", &amp;year); 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    </a:t>
            </a:r>
            <a:r>
              <a:rPr lang="en-US" altLang="zh-CN" sz="2400" b="0" dirty="0"/>
              <a:t>printf(“Enter rate:"); 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scanf("%</a:t>
            </a:r>
            <a:r>
              <a:rPr lang="en-US" altLang="zh-CN" sz="2400" b="0" dirty="0">
                <a:solidFill>
                  <a:srgbClr val="CC0066"/>
                </a:solidFill>
              </a:rPr>
              <a:t>lf</a:t>
            </a:r>
            <a:r>
              <a:rPr lang="en-US" altLang="zh-CN" sz="2400" b="0" dirty="0"/>
              <a:t>", &amp;rate);</a:t>
            </a:r>
            <a:endParaRPr lang="zh-CN" altLang="en-US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sum = money * </a:t>
            </a:r>
            <a:r>
              <a:rPr lang="en-US" altLang="zh-CN" sz="2400" b="0" dirty="0">
                <a:solidFill>
                  <a:schemeClr val="bg2"/>
                </a:solidFill>
              </a:rPr>
              <a:t>pow((1 +</a:t>
            </a:r>
            <a:r>
              <a:rPr lang="en-US" altLang="zh-CN" sz="2400" b="0" dirty="0"/>
              <a:t> </a:t>
            </a:r>
            <a:r>
              <a:rPr lang="en-US" altLang="zh-CN" sz="2400" b="0" dirty="0">
                <a:solidFill>
                  <a:schemeClr val="bg2"/>
                </a:solidFill>
              </a:rPr>
              <a:t>rate</a:t>
            </a:r>
            <a:r>
              <a:rPr lang="en-US" altLang="zh-CN" sz="2400" b="0" dirty="0"/>
              <a:t>), year); 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printf("sum = %.2f", sum);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return 0;</a:t>
            </a:r>
            <a:endParaRPr lang="en-US" altLang="zh-CN" sz="2400" b="0" dirty="0"/>
          </a:p>
          <a:p>
            <a:pPr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}</a:t>
            </a:r>
            <a:endParaRPr lang="en-US" altLang="zh-CN" sz="2400" b="0" dirty="0"/>
          </a:p>
        </p:txBody>
      </p:sp>
      <p:sp>
        <p:nvSpPr>
          <p:cNvPr id="375812" name="Rectangle 4"/>
          <p:cNvSpPr/>
          <p:nvPr/>
        </p:nvSpPr>
        <p:spPr>
          <a:xfrm>
            <a:off x="4572000" y="1484313"/>
            <a:ext cx="4267200" cy="189928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Enter money: </a:t>
            </a:r>
            <a:r>
              <a:rPr lang="en-US" altLang="zh-CN" sz="2400" b="0" dirty="0">
                <a:solidFill>
                  <a:srgbClr val="CC0066"/>
                </a:solidFill>
              </a:rPr>
              <a:t>1000</a:t>
            </a:r>
            <a:endParaRPr lang="en-US" altLang="zh-CN" sz="24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Enter year:  </a:t>
            </a:r>
            <a:r>
              <a:rPr lang="en-US" altLang="zh-CN" sz="2400" b="0" dirty="0">
                <a:solidFill>
                  <a:srgbClr val="CC0066"/>
                </a:solidFill>
              </a:rPr>
              <a:t>3</a:t>
            </a:r>
            <a:endParaRPr lang="en-US" altLang="zh-CN" sz="24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Enter rate:  </a:t>
            </a:r>
            <a:r>
              <a:rPr lang="en-US" altLang="zh-CN" sz="2400" b="0" dirty="0">
                <a:solidFill>
                  <a:srgbClr val="CC0066"/>
                </a:solidFill>
              </a:rPr>
              <a:t>0.025</a:t>
            </a:r>
            <a:endParaRPr lang="en-US" altLang="zh-CN" sz="24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/>
              <a:t>sum = 1076.89</a:t>
            </a:r>
            <a:endParaRPr lang="en-US" altLang="zh-CN" sz="2400" b="0" dirty="0"/>
          </a:p>
        </p:txBody>
      </p:sp>
      <p:sp>
        <p:nvSpPr>
          <p:cNvPr id="375814" name="Rectangle 6"/>
          <p:cNvSpPr/>
          <p:nvPr/>
        </p:nvSpPr>
        <p:spPr>
          <a:xfrm>
            <a:off x="1668145" y="6236970"/>
            <a:ext cx="7294880" cy="46037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scanf("</a:t>
            </a:r>
            <a:r>
              <a:rPr lang="en-US" altLang="zh-CN" sz="2400" b="0" dirty="0">
                <a:solidFill>
                  <a:srgbClr val="CC0066"/>
                </a:solidFill>
              </a:rPr>
              <a:t>%d</a:t>
            </a:r>
            <a:r>
              <a:rPr lang="en-US" altLang="zh-CN" sz="2400" b="0" dirty="0"/>
              <a:t>%d</a:t>
            </a:r>
            <a:r>
              <a:rPr lang="en-US" altLang="zh-CN" sz="2400" b="0" dirty="0">
                <a:solidFill>
                  <a:schemeClr val="bg2"/>
                </a:solidFill>
              </a:rPr>
              <a:t>%lf</a:t>
            </a:r>
            <a:r>
              <a:rPr lang="en-US" altLang="zh-CN" sz="2400" b="0" dirty="0"/>
              <a:t>", </a:t>
            </a:r>
            <a:r>
              <a:rPr lang="en-US" altLang="zh-CN" sz="2400" b="0" dirty="0">
                <a:solidFill>
                  <a:srgbClr val="CC0066"/>
                </a:solidFill>
              </a:rPr>
              <a:t>&amp;money</a:t>
            </a:r>
            <a:r>
              <a:rPr lang="en-US" altLang="zh-CN" sz="2400" b="0" dirty="0"/>
              <a:t>, &amp;year, </a:t>
            </a:r>
            <a:r>
              <a:rPr lang="en-US" altLang="zh-CN" sz="2400" b="0" dirty="0">
                <a:solidFill>
                  <a:schemeClr val="bg2"/>
                </a:solidFill>
              </a:rPr>
              <a:t>&amp;rate</a:t>
            </a:r>
            <a:r>
              <a:rPr lang="en-US" altLang="zh-CN" sz="2400" b="0" dirty="0"/>
              <a:t>);</a:t>
            </a:r>
            <a:endParaRPr lang="en-US" altLang="zh-CN" sz="2400" b="0" dirty="0">
              <a:ea typeface="Arial Unicode MS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5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5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58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5812" grpId="0" bldLvl="0" animBg="1"/>
      <p:bldP spid="375814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Rectangle 2"/>
          <p:cNvSpPr>
            <a:spLocks noGrp="1"/>
          </p:cNvSpPr>
          <p:nvPr>
            <p:ph type="title"/>
          </p:nvPr>
        </p:nvSpPr>
        <p:spPr>
          <a:xfrm>
            <a:off x="468313" y="188913"/>
            <a:ext cx="8291512" cy="95567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调用</a:t>
            </a:r>
            <a:r>
              <a:rPr lang="en-US" altLang="zh-CN" b="0" dirty="0"/>
              <a:t>scanf</a:t>
            </a:r>
            <a:r>
              <a:rPr lang="zh-CN" altLang="en-US" b="0" dirty="0"/>
              <a:t>函数输入多个数据</a:t>
            </a:r>
            <a:endParaRPr lang="zh-CN" altLang="en-US" b="0" dirty="0"/>
          </a:p>
        </p:txBody>
      </p:sp>
      <p:sp>
        <p:nvSpPr>
          <p:cNvPr id="377859" name="Rectangle 3"/>
          <p:cNvSpPr>
            <a:spLocks noGrp="1"/>
          </p:cNvSpPr>
          <p:nvPr>
            <p:ph idx="1"/>
          </p:nvPr>
        </p:nvSpPr>
        <p:spPr>
          <a:xfrm>
            <a:off x="26670" y="909320"/>
            <a:ext cx="9083040" cy="5467350"/>
          </a:xfrm>
        </p:spPr>
        <p:txBody>
          <a:bodyPr vert="horz" wrap="square" lIns="91440" tIns="45720" rIns="91440" bIns="45720" anchor="t" anchorCtr="0"/>
          <a:p>
            <a:pPr lvl="1" eaLnBrk="1" hangingPunct="1">
              <a:buNone/>
            </a:pPr>
            <a:r>
              <a:rPr lang="en-US" altLang="zh-CN" b="0" dirty="0"/>
              <a:t>scanf("</a:t>
            </a:r>
            <a:r>
              <a:rPr lang="en-US" altLang="zh-CN" b="0" dirty="0">
                <a:solidFill>
                  <a:srgbClr val="CC0066"/>
                </a:solidFill>
              </a:rPr>
              <a:t>%d</a:t>
            </a:r>
            <a:r>
              <a:rPr lang="en-US" altLang="zh-CN" b="0" dirty="0"/>
              <a:t>%d</a:t>
            </a:r>
            <a:r>
              <a:rPr lang="en-US" altLang="zh-CN" b="0" dirty="0">
                <a:solidFill>
                  <a:schemeClr val="bg2"/>
                </a:solidFill>
              </a:rPr>
              <a:t>%lf</a:t>
            </a:r>
            <a:r>
              <a:rPr lang="en-US" altLang="zh-CN" b="0" dirty="0"/>
              <a:t>", </a:t>
            </a:r>
            <a:r>
              <a:rPr lang="en-US" altLang="zh-CN" b="0" dirty="0">
                <a:solidFill>
                  <a:srgbClr val="CC0066"/>
                </a:solidFill>
              </a:rPr>
              <a:t>&amp;money</a:t>
            </a:r>
            <a:r>
              <a:rPr lang="en-US" altLang="zh-CN" b="0" dirty="0"/>
              <a:t>, &amp;year, </a:t>
            </a:r>
            <a:r>
              <a:rPr lang="en-US" altLang="zh-CN" b="0" dirty="0">
                <a:solidFill>
                  <a:schemeClr val="bg2"/>
                </a:solidFill>
              </a:rPr>
              <a:t>&amp;rate</a:t>
            </a:r>
            <a:r>
              <a:rPr lang="en-US" altLang="zh-CN" b="0" dirty="0"/>
              <a:t>); </a:t>
            </a:r>
            <a:endParaRPr lang="en-US" altLang="zh-CN" b="0" dirty="0"/>
          </a:p>
          <a:p>
            <a:pPr lvl="1" eaLnBrk="1" hangingPunct="1">
              <a:buNone/>
            </a:pPr>
            <a:r>
              <a:rPr lang="zh-CN" altLang="en-US" b="0" dirty="0"/>
              <a:t>输入：</a:t>
            </a:r>
            <a:r>
              <a:rPr lang="zh-CN" altLang="en-US" b="0" dirty="0">
                <a:solidFill>
                  <a:srgbClr val="CC0066"/>
                </a:solidFill>
              </a:rPr>
              <a:t>1000</a:t>
            </a:r>
            <a:r>
              <a:rPr lang="zh-CN" altLang="en-US" b="0" dirty="0"/>
              <a:t>  3  </a:t>
            </a:r>
            <a:r>
              <a:rPr lang="zh-CN" altLang="en-US" b="0" dirty="0">
                <a:solidFill>
                  <a:schemeClr val="bg2"/>
                </a:solidFill>
              </a:rPr>
              <a:t>0.025</a:t>
            </a:r>
            <a:endParaRPr lang="zh-CN" altLang="en-US" b="0" dirty="0">
              <a:solidFill>
                <a:schemeClr val="bg2"/>
              </a:solidFill>
            </a:endParaRPr>
          </a:p>
          <a:p>
            <a:pPr eaLnBrk="1" hangingPunct="1"/>
            <a:endParaRPr lang="zh-CN" altLang="en-US" b="0" dirty="0"/>
          </a:p>
          <a:p>
            <a:pPr eaLnBrk="1" hangingPunct="1"/>
            <a:r>
              <a:rPr lang="en-US" altLang="zh-CN" b="0" dirty="0"/>
              <a:t>scanf</a:t>
            </a:r>
            <a:r>
              <a:rPr lang="zh-CN" altLang="en-US" b="0" dirty="0"/>
              <a:t>需要多个输入参数和多个格式控制说明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zh-CN" altLang="en-US" b="0" dirty="0"/>
              <a:t>输入参数的类型、个数和位置要与格式控制说明一一对应 </a:t>
            </a:r>
            <a:endParaRPr lang="zh-CN" altLang="en-US" b="0" dirty="0"/>
          </a:p>
          <a:p>
            <a:pPr lvl="1" eaLnBrk="1" hangingPunct="1">
              <a:buNone/>
            </a:pPr>
            <a:r>
              <a:rPr lang="en-US" altLang="zh-CN" b="0" dirty="0"/>
              <a:t>  scanf("</a:t>
            </a:r>
            <a:r>
              <a:rPr lang="en-US" altLang="zh-CN" b="0" dirty="0">
                <a:solidFill>
                  <a:srgbClr val="CC0066"/>
                </a:solidFill>
              </a:rPr>
              <a:t>%d</a:t>
            </a:r>
            <a:r>
              <a:rPr lang="en-US" altLang="zh-CN" b="0" dirty="0">
                <a:solidFill>
                  <a:schemeClr val="bg2"/>
                </a:solidFill>
              </a:rPr>
              <a:t>%lf</a:t>
            </a:r>
            <a:r>
              <a:rPr lang="en-US" altLang="zh-CN" b="0" dirty="0"/>
              <a:t>%d ", </a:t>
            </a:r>
            <a:r>
              <a:rPr lang="en-US" altLang="zh-CN" b="0" dirty="0">
                <a:solidFill>
                  <a:srgbClr val="CC0066"/>
                </a:solidFill>
              </a:rPr>
              <a:t>&amp;money</a:t>
            </a:r>
            <a:r>
              <a:rPr lang="en-US" altLang="zh-CN" b="0" dirty="0"/>
              <a:t>, &amp;year, </a:t>
            </a:r>
            <a:r>
              <a:rPr lang="en-US" altLang="zh-CN" b="0" dirty="0">
                <a:solidFill>
                  <a:schemeClr val="bg2"/>
                </a:solidFill>
              </a:rPr>
              <a:t>&amp;rate</a:t>
            </a:r>
            <a:r>
              <a:rPr lang="en-US" altLang="zh-CN" b="0" dirty="0"/>
              <a:t>);</a:t>
            </a:r>
            <a:endParaRPr lang="zh-CN" altLang="en-US" b="0" dirty="0"/>
          </a:p>
          <a:p>
            <a:pPr eaLnBrk="1" hangingPunct="1"/>
            <a:r>
              <a:rPr lang="zh-CN" altLang="en-US" b="0" dirty="0"/>
              <a:t>程序运行时，输入的多个数据之间必须有间隔。</a:t>
            </a:r>
            <a:endParaRPr lang="zh-CN" altLang="en-US" b="0" dirty="0"/>
          </a:p>
        </p:txBody>
      </p:sp>
      <p:sp>
        <p:nvSpPr>
          <p:cNvPr id="377860" name="Rectangle 4"/>
          <p:cNvSpPr/>
          <p:nvPr/>
        </p:nvSpPr>
        <p:spPr>
          <a:xfrm>
            <a:off x="179705" y="5364480"/>
            <a:ext cx="8930005" cy="953135"/>
          </a:xfrm>
          <a:prstGeom prst="rect">
            <a:avLst/>
          </a:prstGeom>
          <a:noFill/>
          <a:ln w="9525">
            <a:noFill/>
          </a:ln>
        </p:spPr>
        <p:txBody>
          <a:bodyPr wrap="squar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algn="just" eaLnBrk="1" hangingPunct="1">
              <a:spcBef>
                <a:spcPct val="50000"/>
              </a:spcBef>
              <a:buClr>
                <a:srgbClr val="33CCCC"/>
              </a:buClr>
              <a:buSzPct val="110000"/>
              <a:buFontTx/>
              <a:buNone/>
            </a:pPr>
            <a:r>
              <a:rPr lang="en-US" altLang="zh-CN" b="0" dirty="0">
                <a:ea typeface="Arial Unicode MS" pitchFamily="34" charset="-122"/>
              </a:rPr>
              <a:t>scanf("</a:t>
            </a:r>
            <a:r>
              <a:rPr lang="en-US" altLang="zh-CN" b="0" dirty="0">
                <a:solidFill>
                  <a:srgbClr val="CC0066"/>
                </a:solidFill>
                <a:ea typeface="Arial Unicode MS" pitchFamily="34" charset="-122"/>
              </a:rPr>
              <a:t>%d,</a:t>
            </a:r>
            <a:r>
              <a:rPr lang="en-US" altLang="zh-CN" b="0" dirty="0">
                <a:solidFill>
                  <a:schemeClr val="bg2"/>
                </a:solidFill>
                <a:ea typeface="Arial Unicode MS" pitchFamily="34" charset="-122"/>
              </a:rPr>
              <a:t>%lf,</a:t>
            </a:r>
            <a:r>
              <a:rPr lang="en-US" altLang="zh-CN" b="0" dirty="0">
                <a:ea typeface="Arial Unicode MS" pitchFamily="34" charset="-122"/>
              </a:rPr>
              <a:t>%d</a:t>
            </a:r>
            <a:r>
              <a:rPr lang="en-US" altLang="zh-CN" b="0" dirty="0">
                <a:solidFill>
                  <a:srgbClr val="FFFF00"/>
                </a:solidFill>
                <a:ea typeface="Arial Unicode MS" pitchFamily="34" charset="-122"/>
              </a:rPr>
              <a:t> </a:t>
            </a:r>
            <a:r>
              <a:rPr lang="en-US" altLang="zh-CN" b="0" dirty="0">
                <a:ea typeface="Arial Unicode MS" pitchFamily="34" charset="-122"/>
              </a:rPr>
              <a:t>", </a:t>
            </a:r>
            <a:r>
              <a:rPr lang="en-US" altLang="zh-CN" b="0" dirty="0">
                <a:solidFill>
                  <a:srgbClr val="CC0066"/>
                </a:solidFill>
                <a:ea typeface="Arial Unicode MS" pitchFamily="34" charset="-122"/>
              </a:rPr>
              <a:t>&amp;money</a:t>
            </a:r>
            <a:r>
              <a:rPr lang="en-US" altLang="zh-CN" b="0" dirty="0">
                <a:ea typeface="Arial Unicode MS" pitchFamily="34" charset="-122"/>
              </a:rPr>
              <a:t>, </a:t>
            </a:r>
            <a:r>
              <a:rPr lang="en-US" altLang="zh-CN" b="0" dirty="0">
                <a:solidFill>
                  <a:schemeClr val="bg2"/>
                </a:solidFill>
                <a:ea typeface="Arial Unicode MS" pitchFamily="34" charset="-122"/>
              </a:rPr>
              <a:t>&amp;rate</a:t>
            </a:r>
            <a:r>
              <a:rPr lang="en-US" altLang="zh-CN" b="0" dirty="0">
                <a:ea typeface="Arial Unicode MS" pitchFamily="34" charset="-122"/>
              </a:rPr>
              <a:t> , &amp;year);      </a:t>
            </a:r>
            <a:r>
              <a:rPr lang="zh-CN" altLang="en-US" b="0" dirty="0">
                <a:ea typeface="Arial Unicode MS" pitchFamily="34" charset="-122"/>
              </a:rPr>
              <a:t>如何输入？</a:t>
            </a:r>
            <a:endParaRPr lang="zh-CN" altLang="en-US" b="0" dirty="0">
              <a:ea typeface="Arial Unicode MS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7859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7859">
                                            <p:txEl>
                                              <p:charRg st="0" end="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charRg st="41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7859">
                                            <p:txEl>
                                              <p:charRg st="41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77859">
                                            <p:txEl>
                                              <p:charRg st="41" end="5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charRg st="60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77859">
                                            <p:txEl>
                                              <p:charRg st="60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77859">
                                            <p:txEl>
                                              <p:charRg st="60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charRg st="83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77859">
                                            <p:txEl>
                                              <p:charRg st="83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77859">
                                            <p:txEl>
                                              <p:charRg st="83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charRg st="110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77859">
                                            <p:txEl>
                                              <p:charRg st="110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77859">
                                            <p:txEl>
                                              <p:charRg st="110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59">
                                            <p:txEl>
                                              <p:charRg st="153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77859">
                                            <p:txEl>
                                              <p:charRg st="153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77859">
                                            <p:txEl>
                                              <p:charRg st="153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77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859" grpId="0" bldLvl="2" build="p"/>
      <p:bldP spid="377860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Rectangle 2"/>
          <p:cNvSpPr>
            <a:spLocks noGrp="1"/>
          </p:cNvSpPr>
          <p:nvPr>
            <p:ph type="title"/>
          </p:nvPr>
        </p:nvSpPr>
        <p:spPr>
          <a:xfrm>
            <a:off x="468313" y="692150"/>
            <a:ext cx="8050212" cy="6302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 dirty="0"/>
              <a:t>2.4 </a:t>
            </a:r>
            <a:r>
              <a:rPr lang="zh-CN" altLang="en-US" b="0" dirty="0"/>
              <a:t>输出华氏－摄氏温度转换表</a:t>
            </a:r>
            <a:endParaRPr lang="zh-CN" altLang="en-US" b="0" dirty="0"/>
          </a:p>
        </p:txBody>
      </p:sp>
      <p:sp>
        <p:nvSpPr>
          <p:cNvPr id="54275" name="Rectangle 3"/>
          <p:cNvSpPr>
            <a:spLocks noGrp="1"/>
          </p:cNvSpPr>
          <p:nvPr>
            <p:ph idx="1"/>
          </p:nvPr>
        </p:nvSpPr>
        <p:spPr>
          <a:xfrm>
            <a:off x="906463" y="2363788"/>
            <a:ext cx="7405687" cy="2165350"/>
          </a:xfrm>
        </p:spPr>
        <p:txBody>
          <a:bodyPr vert="horz" wrap="square" lIns="91440" tIns="45720" rIns="91440" bIns="45720" anchor="t" anchorCtr="0"/>
          <a:p>
            <a:pPr marL="281305" indent="-281305" algn="just" eaLnBrk="1" hangingPunct="1">
              <a:lnSpc>
                <a:spcPct val="120000"/>
              </a:lnSpc>
              <a:buNone/>
            </a:pPr>
            <a:r>
              <a:rPr lang="en-US" altLang="zh-CN" b="0" dirty="0"/>
              <a:t>2.4.1  </a:t>
            </a:r>
            <a:r>
              <a:rPr lang="zh-CN" altLang="en-US" b="0" dirty="0"/>
              <a:t>程序解析</a:t>
            </a:r>
            <a:endParaRPr lang="zh-CN" altLang="en-US" b="0" dirty="0"/>
          </a:p>
          <a:p>
            <a:pPr marL="281305" indent="-281305" algn="just" eaLnBrk="1" hangingPunct="1">
              <a:lnSpc>
                <a:spcPct val="120000"/>
              </a:lnSpc>
              <a:buNone/>
            </a:pPr>
            <a:r>
              <a:rPr lang="en-US" altLang="zh-CN" b="0" dirty="0"/>
              <a:t>2.4.2  for</a:t>
            </a:r>
            <a:r>
              <a:rPr lang="zh-CN" altLang="en-US" b="0" dirty="0"/>
              <a:t>语句</a:t>
            </a:r>
            <a:endParaRPr lang="zh-CN" altLang="en-US" b="0" dirty="0"/>
          </a:p>
          <a:p>
            <a:pPr marL="281305" indent="-281305" algn="just" eaLnBrk="1" hangingPunct="1">
              <a:lnSpc>
                <a:spcPct val="120000"/>
              </a:lnSpc>
              <a:buNone/>
            </a:pPr>
            <a:r>
              <a:rPr lang="en-US" altLang="zh-CN" b="0" dirty="0"/>
              <a:t>2.4.3  </a:t>
            </a:r>
            <a:r>
              <a:rPr lang="zh-CN" altLang="en-US" b="0" dirty="0"/>
              <a:t>指定次数的循环程序设计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2"/>
          <p:cNvSpPr>
            <a:spLocks noGrp="1"/>
          </p:cNvSpPr>
          <p:nvPr>
            <p:ph type="title"/>
          </p:nvPr>
        </p:nvSpPr>
        <p:spPr>
          <a:xfrm>
            <a:off x="250825" y="476250"/>
            <a:ext cx="8229600" cy="8477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 dirty="0"/>
              <a:t>2.4.1 </a:t>
            </a:r>
            <a:r>
              <a:rPr lang="zh-CN" altLang="en-US" b="0" dirty="0"/>
              <a:t>程序解析</a:t>
            </a:r>
            <a:endParaRPr lang="zh-CN" altLang="en-US" b="0" dirty="0"/>
          </a:p>
        </p:txBody>
      </p:sp>
      <p:sp>
        <p:nvSpPr>
          <p:cNvPr id="55299" name="Rectangle 3"/>
          <p:cNvSpPr>
            <a:spLocks noGrp="1"/>
          </p:cNvSpPr>
          <p:nvPr>
            <p:ph idx="1"/>
          </p:nvPr>
        </p:nvSpPr>
        <p:spPr>
          <a:xfrm>
            <a:off x="468313" y="1628775"/>
            <a:ext cx="8351837" cy="4321175"/>
          </a:xfrm>
        </p:spPr>
        <p:txBody>
          <a:bodyPr vert="horz" wrap="square" lIns="91440" tIns="45720" rIns="91440" bIns="45720" anchor="t" anchorCtr="0"/>
          <a:p>
            <a:pPr marL="281305" indent="-281305" algn="just" eaLnBrk="1" hangingPunct="1">
              <a:lnSpc>
                <a:spcPct val="90000"/>
              </a:lnSpc>
              <a:buNone/>
            </a:pPr>
            <a:r>
              <a:rPr lang="zh-CN" altLang="en-US" b="0" dirty="0"/>
              <a:t>例</a:t>
            </a:r>
            <a:r>
              <a:rPr lang="en-US" altLang="zh-CN" b="0" dirty="0"/>
              <a:t>2-6</a:t>
            </a:r>
            <a:r>
              <a:rPr lang="zh-CN" altLang="en-US" b="0" dirty="0"/>
              <a:t>输入</a:t>
            </a:r>
            <a:r>
              <a:rPr lang="en-US" altLang="zh-CN" b="0" dirty="0"/>
              <a:t>2</a:t>
            </a:r>
            <a:r>
              <a:rPr lang="zh-CN" altLang="en-US" b="0" dirty="0"/>
              <a:t>个整数</a:t>
            </a:r>
            <a:r>
              <a:rPr lang="en-US" altLang="zh-CN" b="0" dirty="0"/>
              <a:t>lower</a:t>
            </a:r>
            <a:r>
              <a:rPr lang="zh-CN" altLang="en-US" b="0" dirty="0"/>
              <a:t>和 </a:t>
            </a:r>
            <a:r>
              <a:rPr lang="en-US" altLang="zh-CN" b="0" dirty="0"/>
              <a:t>upper</a:t>
            </a:r>
            <a:r>
              <a:rPr lang="zh-CN" altLang="en-US" b="0" dirty="0"/>
              <a:t>，输出一张华氏－摄氏温度转换表，华氏温度的取值范围是</a:t>
            </a:r>
            <a:r>
              <a:rPr lang="en-US" altLang="zh-CN" b="0" dirty="0"/>
              <a:t>[lower, upper]</a:t>
            </a:r>
            <a:r>
              <a:rPr lang="zh-CN" altLang="en-US" b="0" dirty="0"/>
              <a:t>，每次增加</a:t>
            </a:r>
            <a:r>
              <a:rPr lang="en-US" altLang="zh-CN" b="0" dirty="0"/>
              <a:t>1°F</a:t>
            </a:r>
            <a:r>
              <a:rPr lang="zh-CN" altLang="en-US" b="0" dirty="0"/>
              <a:t>。 </a:t>
            </a:r>
            <a:endParaRPr lang="zh-CN" altLang="en-US" b="0" dirty="0"/>
          </a:p>
          <a:p>
            <a:pPr marL="1273175" lvl="2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zh-CN" b="0" dirty="0"/>
          </a:p>
          <a:p>
            <a:pPr marL="1273175" lvl="2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/>
              <a:t>fahr  celsius</a:t>
            </a:r>
            <a:endParaRPr lang="en-US" altLang="zh-CN" b="0" dirty="0"/>
          </a:p>
          <a:p>
            <a:pPr marL="1273175" lvl="2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/>
              <a:t>  30    -1.1</a:t>
            </a:r>
            <a:endParaRPr lang="en-US" altLang="zh-CN" b="0" dirty="0"/>
          </a:p>
          <a:p>
            <a:pPr marL="1273175" lvl="2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/>
              <a:t>  31    -0.6</a:t>
            </a:r>
            <a:endParaRPr lang="en-US" altLang="zh-CN" b="0" dirty="0"/>
          </a:p>
          <a:p>
            <a:pPr marL="1273175" lvl="2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/>
              <a:t>  32     0.0</a:t>
            </a:r>
            <a:endParaRPr lang="en-US" altLang="zh-CN" b="0" dirty="0"/>
          </a:p>
          <a:p>
            <a:pPr marL="1273175" lvl="2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/>
              <a:t>  33     0.6</a:t>
            </a:r>
            <a:endParaRPr lang="en-US" altLang="zh-CN" b="0" dirty="0"/>
          </a:p>
          <a:p>
            <a:pPr marL="1273175" lvl="2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/>
              <a:t>  34     1.1</a:t>
            </a:r>
            <a:endParaRPr lang="en-US" altLang="zh-CN" b="0" dirty="0"/>
          </a:p>
          <a:p>
            <a:pPr marL="1273175" lvl="2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0" dirty="0"/>
              <a:t>  35     1.7</a:t>
            </a:r>
            <a:endParaRPr lang="en-US" altLang="zh-CN" b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Rectangle 2"/>
          <p:cNvSpPr>
            <a:spLocks noGrp="1"/>
          </p:cNvSpPr>
          <p:nvPr>
            <p:ph type="title"/>
          </p:nvPr>
        </p:nvSpPr>
        <p:spPr>
          <a:xfrm>
            <a:off x="228600" y="490538"/>
            <a:ext cx="7745413" cy="706437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 dirty="0"/>
              <a:t>2.4.1 </a:t>
            </a:r>
            <a:r>
              <a:rPr lang="zh-CN" altLang="en-US" b="0" dirty="0"/>
              <a:t>程序解析</a:t>
            </a:r>
            <a:r>
              <a:rPr lang="en-US" altLang="zh-CN" b="0" dirty="0"/>
              <a:t>-</a:t>
            </a:r>
            <a:r>
              <a:rPr lang="zh-CN" altLang="en-US" b="0" dirty="0"/>
              <a:t>温度转换表</a:t>
            </a:r>
            <a:endParaRPr lang="zh-CN" altLang="en-US" b="0" dirty="0"/>
          </a:p>
        </p:txBody>
      </p:sp>
      <p:sp>
        <p:nvSpPr>
          <p:cNvPr id="56323" name="Rectangle 3"/>
          <p:cNvSpPr>
            <a:spLocks noGrp="1"/>
          </p:cNvSpPr>
          <p:nvPr>
            <p:ph idx="1"/>
          </p:nvPr>
        </p:nvSpPr>
        <p:spPr>
          <a:xfrm>
            <a:off x="107315" y="1270000"/>
            <a:ext cx="8893175" cy="5472113"/>
          </a:xfrm>
        </p:spPr>
        <p:txBody>
          <a:bodyPr vert="horz" wrap="square" lIns="91440" tIns="45720" rIns="91440" bIns="45720" anchor="t" anchorCtr="0"/>
          <a:p>
            <a:pPr marL="854075" lvl="1" indent="-382270" algn="just" eaLnBrk="1" hangingPunct="1">
              <a:lnSpc>
                <a:spcPct val="90000"/>
              </a:lnSpc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#include &lt;stdio.h&gt;</a:t>
            </a:r>
            <a:endParaRPr lang="en-US" altLang="zh-CN" sz="2000" b="0" dirty="0"/>
          </a:p>
          <a:p>
            <a:pPr marL="854075" lvl="1" indent="-382270" algn="just" eaLnBrk="1" hangingPunct="1">
              <a:lnSpc>
                <a:spcPct val="90000"/>
              </a:lnSpc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int main(void)</a:t>
            </a:r>
            <a:endParaRPr lang="en-US" altLang="zh-CN" sz="2000" b="0" dirty="0"/>
          </a:p>
          <a:p>
            <a:pPr marL="854075" lvl="1" indent="-382270" algn="just" eaLnBrk="1" hangingPunct="1">
              <a:lnSpc>
                <a:spcPct val="90000"/>
              </a:lnSpc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{   </a:t>
            </a:r>
            <a:r>
              <a:rPr lang="en-US" altLang="zh-CN" sz="2000" b="0" dirty="0"/>
              <a:t>int fahr, lower, upper; </a:t>
            </a:r>
            <a:endParaRPr lang="en-US" altLang="zh-CN" sz="2000" b="0" dirty="0"/>
          </a:p>
          <a:p>
            <a:pPr marL="854075" lvl="1" indent="-382270" algn="just" eaLnBrk="1" hangingPunct="1">
              <a:lnSpc>
                <a:spcPct val="90000"/>
              </a:lnSpc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     double celsius; </a:t>
            </a:r>
            <a:endParaRPr lang="en-US" altLang="zh-CN" sz="2000" b="0" dirty="0">
              <a:cs typeface="Arial" panose="02080604020202020204" pitchFamily="34" charset="0"/>
            </a:endParaRPr>
          </a:p>
          <a:p>
            <a:pPr marL="854075" lvl="1" indent="-382270" eaLnBrk="1" hangingPunct="1">
              <a:lnSpc>
                <a:spcPct val="90000"/>
              </a:lnSpc>
              <a:buNone/>
            </a:pPr>
            <a:r>
              <a:rPr lang="en-US" altLang="zh-CN" sz="2000" b="0" dirty="0"/>
              <a:t>     printf("Enter lower:"); </a:t>
            </a:r>
            <a:endParaRPr lang="en-US" altLang="zh-CN" sz="2000" b="0" dirty="0"/>
          </a:p>
          <a:p>
            <a:pPr marL="854075" lvl="1" indent="-382270" eaLnBrk="1" hangingPunct="1">
              <a:lnSpc>
                <a:spcPct val="90000"/>
              </a:lnSpc>
              <a:buNone/>
            </a:pPr>
            <a:r>
              <a:rPr lang="en-US" altLang="zh-CN" sz="2000" b="0" dirty="0"/>
              <a:t>     scanf("%d", &amp;lower);  </a:t>
            </a:r>
            <a:endParaRPr lang="en-US" altLang="zh-CN" sz="2000" b="0" dirty="0"/>
          </a:p>
          <a:p>
            <a:pPr marL="854075" lvl="1" indent="-382270" eaLnBrk="1" hangingPunct="1">
              <a:lnSpc>
                <a:spcPct val="90000"/>
              </a:lnSpc>
              <a:buNone/>
            </a:pPr>
            <a:r>
              <a:rPr lang="en-US" altLang="zh-CN" sz="2000" b="0" dirty="0"/>
              <a:t>     printf("Enter upper:");</a:t>
            </a:r>
            <a:endParaRPr lang="en-US" altLang="zh-CN" sz="2000" b="0" dirty="0"/>
          </a:p>
          <a:p>
            <a:pPr marL="854075" lvl="1" indent="-382270" eaLnBrk="1" hangingPunct="1">
              <a:lnSpc>
                <a:spcPct val="90000"/>
              </a:lnSpc>
              <a:buNone/>
            </a:pPr>
            <a:r>
              <a:rPr lang="en-US" altLang="zh-CN" sz="2000" b="0" dirty="0"/>
              <a:t>     scanf("%d", &amp;upper); </a:t>
            </a:r>
            <a:endParaRPr lang="en-US" altLang="zh-CN" sz="2000" b="0" dirty="0">
              <a:cs typeface="Arial" panose="02080604020202020204" pitchFamily="34" charset="0"/>
            </a:endParaRPr>
          </a:p>
          <a:p>
            <a:pPr marL="854075" lvl="1" indent="-382270" algn="just" eaLnBrk="1" hangingPunct="1">
              <a:lnSpc>
                <a:spcPct val="90000"/>
              </a:lnSpc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     printf("fahr  celsius\n");</a:t>
            </a:r>
            <a:endParaRPr lang="en-US" altLang="zh-CN" sz="2000" b="0" dirty="0">
              <a:cs typeface="Arial" panose="02080604020202020204" pitchFamily="34" charset="0"/>
            </a:endParaRPr>
          </a:p>
          <a:p>
            <a:pPr marL="854075" lvl="1" indent="-382270" algn="just" eaLnBrk="1" hangingPunct="1">
              <a:lnSpc>
                <a:spcPct val="90000"/>
              </a:lnSpc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     </a:t>
            </a:r>
            <a:r>
              <a:rPr lang="en-US" altLang="zh-CN" sz="1800" b="0" dirty="0">
                <a:solidFill>
                  <a:schemeClr val="bg2"/>
                </a:solidFill>
              </a:rPr>
              <a:t>// </a:t>
            </a:r>
            <a:r>
              <a:rPr lang="zh-CN" altLang="en-US" sz="1800" b="0" dirty="0">
                <a:solidFill>
                  <a:schemeClr val="bg2"/>
                </a:solidFill>
              </a:rPr>
              <a:t>温度重复转换：华氏温度从</a:t>
            </a:r>
            <a:r>
              <a:rPr lang="en-US" altLang="zh-CN" sz="1800" b="0" dirty="0">
                <a:solidFill>
                  <a:schemeClr val="bg2"/>
                </a:solidFill>
              </a:rPr>
              <a:t>lower</a:t>
            </a:r>
            <a:r>
              <a:rPr lang="zh-CN" altLang="en-US" sz="1800" b="0" dirty="0">
                <a:solidFill>
                  <a:schemeClr val="bg2"/>
                </a:solidFill>
              </a:rPr>
              <a:t>开始，到</a:t>
            </a:r>
            <a:r>
              <a:rPr lang="en-US" altLang="zh-CN" sz="1800" b="0" dirty="0">
                <a:solidFill>
                  <a:schemeClr val="bg2"/>
                </a:solidFill>
              </a:rPr>
              <a:t>upper</a:t>
            </a:r>
            <a:r>
              <a:rPr lang="zh-CN" altLang="en-US" sz="1800" b="0" dirty="0">
                <a:solidFill>
                  <a:schemeClr val="bg2"/>
                </a:solidFill>
              </a:rPr>
              <a:t>结束，每次增加</a:t>
            </a:r>
            <a:r>
              <a:rPr lang="en-US" altLang="zh-CN" sz="1800" b="0" dirty="0">
                <a:solidFill>
                  <a:schemeClr val="bg2"/>
                </a:solidFill>
              </a:rPr>
              <a:t>1°F</a:t>
            </a:r>
            <a:r>
              <a:rPr lang="en-US" altLang="zh-CN" sz="1800" b="0" dirty="0"/>
              <a:t> </a:t>
            </a:r>
            <a:endParaRPr lang="en-US" altLang="zh-CN" sz="1800" b="0" dirty="0"/>
          </a:p>
          <a:p>
            <a:pPr marL="854075" lvl="1" indent="-382270" algn="just" eaLnBrk="1" hangingPunct="1">
              <a:lnSpc>
                <a:spcPct val="90000"/>
              </a:lnSpc>
              <a:buNone/>
            </a:pPr>
            <a:r>
              <a:rPr lang="en-US" altLang="zh-CN" sz="2000" b="0" dirty="0"/>
              <a:t>     </a:t>
            </a:r>
            <a:r>
              <a:rPr lang="en-US" altLang="zh-CN" sz="2000" b="0" dirty="0">
                <a:solidFill>
                  <a:srgbClr val="CC0066"/>
                </a:solidFill>
                <a:cs typeface="Arial" panose="02080604020202020204" pitchFamily="34" charset="0"/>
              </a:rPr>
              <a:t>for (fahr = lower; fahr &lt;= upper; fahr ++)</a:t>
            </a:r>
            <a:r>
              <a:rPr lang="en-US" altLang="zh-CN" sz="2000" b="0" dirty="0">
                <a:cs typeface="Arial" panose="02080604020202020204" pitchFamily="34" charset="0"/>
              </a:rPr>
              <a:t> { </a:t>
            </a:r>
            <a:endParaRPr lang="en-US" altLang="zh-CN" sz="2000" b="0" dirty="0">
              <a:cs typeface="Arial" panose="02080604020202020204" pitchFamily="34" charset="0"/>
            </a:endParaRPr>
          </a:p>
          <a:p>
            <a:pPr marL="854075" lvl="1" indent="-382270" algn="just" eaLnBrk="1" hangingPunct="1">
              <a:lnSpc>
                <a:spcPct val="90000"/>
              </a:lnSpc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         celsius = (5.0 / 9.0) * (fahr - 32); </a:t>
            </a:r>
            <a:endParaRPr lang="en-US" altLang="zh-CN" sz="2000" b="0" dirty="0">
              <a:cs typeface="Arial" panose="02080604020202020204" pitchFamily="34" charset="0"/>
            </a:endParaRPr>
          </a:p>
          <a:p>
            <a:pPr marL="854075" lvl="1" indent="-382270" algn="just" eaLnBrk="1" hangingPunct="1">
              <a:lnSpc>
                <a:spcPct val="90000"/>
              </a:lnSpc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         printf("%d %6.1f\n", fahr, celsius); </a:t>
            </a:r>
            <a:endParaRPr lang="en-US" altLang="zh-CN" sz="2000" b="0" dirty="0">
              <a:cs typeface="Arial" panose="02080604020202020204" pitchFamily="34" charset="0"/>
            </a:endParaRPr>
          </a:p>
          <a:p>
            <a:pPr marL="854075" lvl="1" indent="-382270" algn="just" eaLnBrk="1" hangingPunct="1">
              <a:lnSpc>
                <a:spcPct val="90000"/>
              </a:lnSpc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     }</a:t>
            </a:r>
            <a:endParaRPr lang="en-US" altLang="zh-CN" sz="2000" b="0" dirty="0">
              <a:cs typeface="Arial" panose="02080604020202020204" pitchFamily="34" charset="0"/>
            </a:endParaRPr>
          </a:p>
          <a:p>
            <a:pPr marL="854075" lvl="1" indent="-382270" algn="just" eaLnBrk="1" hangingPunct="1">
              <a:lnSpc>
                <a:spcPct val="90000"/>
              </a:lnSpc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     return 0;</a:t>
            </a:r>
            <a:endParaRPr lang="en-US" altLang="zh-CN" sz="2000" b="0" dirty="0">
              <a:cs typeface="Arial" panose="02080604020202020204" pitchFamily="34" charset="0"/>
            </a:endParaRPr>
          </a:p>
          <a:p>
            <a:pPr marL="854075" lvl="1" indent="-382270" algn="just" eaLnBrk="1" hangingPunct="1">
              <a:lnSpc>
                <a:spcPct val="90000"/>
              </a:lnSpc>
              <a:buNone/>
            </a:pPr>
            <a:r>
              <a:rPr lang="en-US" altLang="zh-CN" sz="2000" b="0" dirty="0">
                <a:cs typeface="Arial" panose="02080604020202020204" pitchFamily="34" charset="0"/>
              </a:rPr>
              <a:t>} </a:t>
            </a:r>
            <a:endParaRPr lang="en-US" altLang="zh-CN" sz="2000" b="0" dirty="0">
              <a:ea typeface="Arial" panose="02080604020202020204" pitchFamily="34" charset="0"/>
            </a:endParaRPr>
          </a:p>
        </p:txBody>
      </p:sp>
      <p:sp>
        <p:nvSpPr>
          <p:cNvPr id="389128" name="Rectangle 8"/>
          <p:cNvSpPr/>
          <p:nvPr/>
        </p:nvSpPr>
        <p:spPr>
          <a:xfrm>
            <a:off x="4860290" y="6021705"/>
            <a:ext cx="2377440" cy="46037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fahr = fahr+1</a:t>
            </a:r>
            <a:endParaRPr lang="en-US" altLang="zh-CN" sz="2400" b="0" dirty="0"/>
          </a:p>
        </p:txBody>
      </p:sp>
      <p:sp>
        <p:nvSpPr>
          <p:cNvPr id="389129" name="Line 9"/>
          <p:cNvSpPr/>
          <p:nvPr/>
        </p:nvSpPr>
        <p:spPr>
          <a:xfrm flipH="1" flipV="1">
            <a:off x="6009640" y="4868863"/>
            <a:ext cx="0" cy="1081087"/>
          </a:xfrm>
          <a:prstGeom prst="line">
            <a:avLst/>
          </a:prstGeom>
          <a:ln w="38100" cap="sq" cmpd="sng">
            <a:solidFill>
              <a:schemeClr val="bg2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389130" name="Rectangle 10"/>
          <p:cNvSpPr/>
          <p:nvPr/>
        </p:nvSpPr>
        <p:spPr>
          <a:xfrm>
            <a:off x="6443663" y="1281113"/>
            <a:ext cx="2303462" cy="295338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>
                <a:ea typeface="Arial Unicode MS" pitchFamily="34" charset="-122"/>
              </a:rPr>
              <a:t>Enter lower: </a:t>
            </a:r>
            <a:r>
              <a:rPr lang="en-US" altLang="zh-CN" sz="2000" b="0" dirty="0">
                <a:solidFill>
                  <a:srgbClr val="CC0066"/>
                </a:solidFill>
              </a:rPr>
              <a:t>30</a:t>
            </a:r>
            <a:endParaRPr lang="en-US" altLang="zh-CN" sz="20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/>
              <a:t>Enter upper:  </a:t>
            </a:r>
            <a:r>
              <a:rPr lang="en-US" altLang="zh-CN" sz="2000" b="0" dirty="0">
                <a:solidFill>
                  <a:srgbClr val="CC0066"/>
                </a:solidFill>
              </a:rPr>
              <a:t>35</a:t>
            </a:r>
            <a:endParaRPr lang="en-US" altLang="zh-CN" sz="20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fahr  celsius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  30    -1.1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  31    -0.6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  32     0.0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  33     0.6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  34     1.1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  35     1.7</a:t>
            </a:r>
            <a:endParaRPr lang="en-US" altLang="zh-CN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89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89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89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89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89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9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28" grpId="0" bldLvl="0" animBg="1"/>
      <p:bldP spid="389130" grpId="0" bldLvl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Rectangle 2"/>
          <p:cNvSpPr>
            <a:spLocks noGrp="1"/>
          </p:cNvSpPr>
          <p:nvPr>
            <p:ph idx="1"/>
          </p:nvPr>
        </p:nvSpPr>
        <p:spPr>
          <a:xfrm>
            <a:off x="304800" y="1371600"/>
            <a:ext cx="7924800" cy="2209800"/>
          </a:xfrm>
        </p:spPr>
        <p:txBody>
          <a:bodyPr vert="horz" wrap="square" lIns="91440" tIns="45720" rIns="91440" bIns="45720" anchor="t" anchorCtr="0"/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zh-CN" b="0" dirty="0">
                <a:solidFill>
                  <a:schemeClr val="bg2"/>
                </a:solidFill>
                <a:latin typeface="Arial Black" pitchFamily="34" charset="0"/>
                <a:ea typeface="楷体_GB2312" pitchFamily="49" charset="-122"/>
              </a:rPr>
              <a:t>for</a:t>
            </a:r>
            <a:r>
              <a:rPr lang="en-US" altLang="zh-CN" b="0" dirty="0">
                <a:latin typeface="Arial Black" pitchFamily="34" charset="0"/>
                <a:ea typeface="楷体_GB2312" pitchFamily="49" charset="-122"/>
              </a:rPr>
              <a:t>(</a:t>
            </a:r>
            <a:r>
              <a:rPr lang="zh-CN" altLang="en-US" b="0" dirty="0">
                <a:solidFill>
                  <a:srgbClr val="CC0066"/>
                </a:solidFill>
                <a:latin typeface="Arial Black" pitchFamily="34" charset="0"/>
              </a:rPr>
              <a:t>表达式</a:t>
            </a:r>
            <a:r>
              <a:rPr lang="en-US" altLang="zh-CN" b="0" dirty="0">
                <a:solidFill>
                  <a:srgbClr val="CC0066"/>
                </a:solidFill>
                <a:latin typeface="Arial Black" pitchFamily="34" charset="0"/>
              </a:rPr>
              <a:t>1</a:t>
            </a:r>
            <a:r>
              <a:rPr lang="zh-CN" altLang="en-US" b="0" dirty="0">
                <a:latin typeface="Arial Black" pitchFamily="34" charset="0"/>
              </a:rPr>
              <a:t>；</a:t>
            </a:r>
            <a:r>
              <a:rPr lang="zh-CN" altLang="en-US" b="0" dirty="0">
                <a:solidFill>
                  <a:srgbClr val="CC0066"/>
                </a:solidFill>
                <a:latin typeface="Arial Black" pitchFamily="34" charset="0"/>
              </a:rPr>
              <a:t>表达式</a:t>
            </a:r>
            <a:r>
              <a:rPr lang="en-US" altLang="zh-CN" b="0" dirty="0">
                <a:solidFill>
                  <a:srgbClr val="CC0066"/>
                </a:solidFill>
                <a:latin typeface="Arial Black" pitchFamily="34" charset="0"/>
              </a:rPr>
              <a:t>2</a:t>
            </a:r>
            <a:r>
              <a:rPr lang="zh-CN" altLang="en-US" b="0" dirty="0">
                <a:latin typeface="Arial Black" pitchFamily="34" charset="0"/>
              </a:rPr>
              <a:t>；</a:t>
            </a:r>
            <a:r>
              <a:rPr lang="zh-CN" altLang="en-US" b="0" dirty="0">
                <a:solidFill>
                  <a:srgbClr val="CC0066"/>
                </a:solidFill>
                <a:latin typeface="Arial Black" pitchFamily="34" charset="0"/>
              </a:rPr>
              <a:t>表达式</a:t>
            </a:r>
            <a:r>
              <a:rPr lang="en-US" altLang="zh-CN" b="0" dirty="0">
                <a:solidFill>
                  <a:srgbClr val="CC0066"/>
                </a:solidFill>
                <a:latin typeface="Arial Black" pitchFamily="34" charset="0"/>
              </a:rPr>
              <a:t>3</a:t>
            </a:r>
            <a:r>
              <a:rPr lang="en-US" altLang="zh-CN" b="0" dirty="0">
                <a:latin typeface="Arial Black" pitchFamily="34" charset="0"/>
                <a:ea typeface="楷体_GB2312" pitchFamily="49" charset="-122"/>
              </a:rPr>
              <a:t>)</a:t>
            </a:r>
            <a:endParaRPr lang="en-US" altLang="zh-CN" b="0" dirty="0">
              <a:latin typeface="Arial Black" pitchFamily="34" charset="0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en-US" altLang="zh-CN" b="0" dirty="0">
                <a:latin typeface="Arial Black" pitchFamily="34" charset="0"/>
              </a:rPr>
              <a:t>    </a:t>
            </a:r>
            <a:r>
              <a:rPr lang="zh-CN" altLang="en-US" b="0" dirty="0">
                <a:solidFill>
                  <a:srgbClr val="CC0066"/>
                </a:solidFill>
                <a:latin typeface="Arial Black" pitchFamily="34" charset="0"/>
              </a:rPr>
              <a:t>循环体语句</a:t>
            </a:r>
            <a:endParaRPr lang="zh-CN" altLang="en-US" b="0" dirty="0">
              <a:solidFill>
                <a:srgbClr val="CC0066"/>
              </a:solidFill>
              <a:latin typeface="Arial Black" pitchFamily="34" charset="0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endParaRPr lang="zh-CN" altLang="en-US" b="0" dirty="0">
              <a:solidFill>
                <a:srgbClr val="D90F4E"/>
              </a:solidFill>
              <a:latin typeface="Arial Black" pitchFamily="34" charset="0"/>
            </a:endParaRPr>
          </a:p>
          <a:p>
            <a:pPr marL="0" indent="0" algn="just" eaLnBrk="1" hangingPunct="1">
              <a:lnSpc>
                <a:spcPct val="90000"/>
              </a:lnSpc>
              <a:buNone/>
            </a:pPr>
            <a:r>
              <a:rPr lang="zh-CN" altLang="en-US" b="0" dirty="0"/>
              <a:t>实现</a:t>
            </a:r>
            <a:r>
              <a:rPr lang="en-US" altLang="zh-CN" b="0" dirty="0"/>
              <a:t>C</a:t>
            </a:r>
            <a:r>
              <a:rPr lang="zh-CN" altLang="en-US" b="0" dirty="0"/>
              <a:t>语句的重复执行</a:t>
            </a:r>
            <a:endParaRPr lang="zh-CN" altLang="en-US" b="0" dirty="0"/>
          </a:p>
        </p:txBody>
      </p:sp>
      <p:sp>
        <p:nvSpPr>
          <p:cNvPr id="58371" name="Rectangle 3" descr="Large confetti"/>
          <p:cNvSpPr>
            <a:spLocks noGrp="1"/>
          </p:cNvSpPr>
          <p:nvPr>
            <p:ph type="title"/>
          </p:nvPr>
        </p:nvSpPr>
        <p:spPr>
          <a:xfrm>
            <a:off x="395288" y="476250"/>
            <a:ext cx="8229600" cy="84772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0" dirty="0"/>
              <a:t>2.4.2   for</a:t>
            </a:r>
            <a:r>
              <a:rPr lang="zh-CN" altLang="en-US" b="0" dirty="0"/>
              <a:t>语句－循环语句</a:t>
            </a:r>
            <a:endParaRPr lang="zh-CN" altLang="en-US" b="0" dirty="0"/>
          </a:p>
        </p:txBody>
      </p:sp>
      <p:graphicFrame>
        <p:nvGraphicFramePr>
          <p:cNvPr id="391172" name="Object 4"/>
          <p:cNvGraphicFramePr>
            <a:graphicFrameLocks noChangeAspect="1"/>
          </p:cNvGraphicFramePr>
          <p:nvPr/>
        </p:nvGraphicFramePr>
        <p:xfrm>
          <a:off x="5148580" y="2348865"/>
          <a:ext cx="2574925" cy="3504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1714500" imgH="2333625" progId="Paint.Picture">
                  <p:embed/>
                </p:oleObj>
              </mc:Choice>
              <mc:Fallback>
                <p:oleObj name="" r:id="rId1" imgW="1714500" imgH="2333625" progId="Paint.Picture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48580" y="2348865"/>
                        <a:ext cx="2574925" cy="350456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1173" name="Rectangle 5"/>
          <p:cNvSpPr/>
          <p:nvPr/>
        </p:nvSpPr>
        <p:spPr>
          <a:xfrm>
            <a:off x="395288" y="3860800"/>
            <a:ext cx="4643437" cy="1295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buClr>
                <a:srgbClr val="E4B710"/>
              </a:buClr>
              <a:buSzPct val="45000"/>
              <a:buFont typeface="MingLiU" pitchFamily="49" charset="-120"/>
              <a:buNone/>
            </a:pPr>
            <a:r>
              <a:rPr lang="en-US" altLang="zh-CN" sz="2800" b="0" dirty="0">
                <a:latin typeface="Times New Roman" pitchFamily="18" charset="0"/>
              </a:rPr>
              <a:t>3</a:t>
            </a:r>
            <a:r>
              <a:rPr lang="zh-CN" altLang="en-US" sz="2800" b="0" dirty="0">
                <a:latin typeface="Times New Roman" pitchFamily="18" charset="0"/>
              </a:rPr>
              <a:t>个表达式、循环体语句</a:t>
            </a:r>
            <a:endParaRPr lang="zh-CN" altLang="en-US" sz="2800" b="0" dirty="0">
              <a:latin typeface="Times New Roman" pitchFamily="18" charset="0"/>
            </a:endParaRPr>
          </a:p>
          <a:p>
            <a:pPr marL="0" lvl="0" indent="0" algn="just" eaLnBrk="1" hangingPunct="1">
              <a:lnSpc>
                <a:spcPct val="90000"/>
              </a:lnSpc>
              <a:buClr>
                <a:srgbClr val="E4B710"/>
              </a:buClr>
              <a:buSzPct val="45000"/>
              <a:buFont typeface="MingLiU" pitchFamily="49" charset="-120"/>
              <a:buNone/>
            </a:pPr>
            <a:r>
              <a:rPr lang="zh-CN" altLang="en-US" sz="2800" b="0" dirty="0">
                <a:latin typeface="Times New Roman" pitchFamily="18" charset="0"/>
              </a:rPr>
              <a:t>书写顺序和执行顺序不同</a:t>
            </a:r>
            <a:endParaRPr lang="zh-CN" altLang="en-US" sz="2800" b="0" dirty="0">
              <a:latin typeface="Times New Roman" pitchFamily="18" charset="0"/>
            </a:endParaRPr>
          </a:p>
          <a:p>
            <a:pPr marL="0" lvl="0" indent="0" algn="just" eaLnBrk="1" hangingPunct="1">
              <a:lnSpc>
                <a:spcPct val="90000"/>
              </a:lnSpc>
              <a:buClr>
                <a:srgbClr val="E4B710"/>
              </a:buClr>
              <a:buSzPct val="45000"/>
              <a:buFont typeface="MingLiU" pitchFamily="49" charset="-120"/>
              <a:buNone/>
            </a:pPr>
            <a:r>
              <a:rPr lang="zh-CN" altLang="en-US" sz="2800" b="0" dirty="0">
                <a:latin typeface="Times New Roman" pitchFamily="18" charset="0"/>
              </a:rPr>
              <a:t>表达式</a:t>
            </a:r>
            <a:r>
              <a:rPr lang="en-US" altLang="zh-CN" sz="2800" b="0" dirty="0">
                <a:latin typeface="Times New Roman" pitchFamily="18" charset="0"/>
              </a:rPr>
              <a:t>1</a:t>
            </a:r>
            <a:r>
              <a:rPr lang="zh-CN" altLang="en-US" sz="2800" b="0" dirty="0">
                <a:latin typeface="Times New Roman" pitchFamily="18" charset="0"/>
              </a:rPr>
              <a:t>只执行一次</a:t>
            </a:r>
            <a:endParaRPr lang="zh-CN" altLang="en-US" sz="2800" b="0" dirty="0"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11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3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1173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1173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3">
                                            <p:txEl>
                                              <p:charRg st="12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1173">
                                            <p:txEl>
                                              <p:charRg st="12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1173">
                                            <p:txEl>
                                              <p:charRg st="12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3">
                                            <p:txEl>
                                              <p:charRg st="25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1173">
                                            <p:txEl>
                                              <p:charRg st="25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1173">
                                            <p:txEl>
                                              <p:charRg st="25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117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Rectangle 2"/>
          <p:cNvSpPr>
            <a:spLocks noGrp="1"/>
          </p:cNvSpPr>
          <p:nvPr>
            <p:ph idx="1"/>
          </p:nvPr>
        </p:nvSpPr>
        <p:spPr>
          <a:xfrm>
            <a:off x="323850" y="1125855"/>
            <a:ext cx="8428355" cy="1930400"/>
          </a:xfrm>
        </p:spPr>
        <p:txBody>
          <a:bodyPr vert="horz" wrap="square" lIns="91440" tIns="45720" rIns="91440" bIns="45720" anchor="t" anchorCtr="0"/>
          <a:p>
            <a:pPr marL="0" indent="0" algn="just" eaLnBrk="1" hangingPunct="1">
              <a:buNone/>
            </a:pPr>
            <a:r>
              <a:rPr lang="en-US" altLang="zh-CN" sz="2800" b="0" dirty="0">
                <a:solidFill>
                  <a:schemeClr val="bg2"/>
                </a:solidFill>
              </a:rPr>
              <a:t>for (</a:t>
            </a:r>
            <a:r>
              <a:rPr lang="en-US" altLang="zh-CN" sz="2800" b="0" dirty="0">
                <a:solidFill>
                  <a:srgbClr val="CC0066"/>
                </a:solidFill>
              </a:rPr>
              <a:t>fahr</a:t>
            </a:r>
            <a:r>
              <a:rPr lang="en-US" altLang="zh-CN" sz="2800" b="0" dirty="0">
                <a:solidFill>
                  <a:schemeClr val="hlink"/>
                </a:solidFill>
              </a:rPr>
              <a:t> </a:t>
            </a:r>
            <a:r>
              <a:rPr lang="en-US" altLang="zh-CN" sz="2800" b="0" dirty="0">
                <a:solidFill>
                  <a:schemeClr val="bg2"/>
                </a:solidFill>
              </a:rPr>
              <a:t>= lower;</a:t>
            </a:r>
            <a:r>
              <a:rPr lang="en-US" altLang="zh-CN" sz="2800" b="0" dirty="0">
                <a:solidFill>
                  <a:schemeClr val="hlink"/>
                </a:solidFill>
              </a:rPr>
              <a:t> </a:t>
            </a:r>
            <a:r>
              <a:rPr lang="en-US" altLang="zh-CN" sz="2800" b="0" dirty="0">
                <a:solidFill>
                  <a:srgbClr val="CC0066"/>
                </a:solidFill>
              </a:rPr>
              <a:t>fahr</a:t>
            </a:r>
            <a:r>
              <a:rPr lang="en-US" altLang="zh-CN" sz="2800" b="0" dirty="0">
                <a:solidFill>
                  <a:schemeClr val="hlink"/>
                </a:solidFill>
              </a:rPr>
              <a:t> </a:t>
            </a:r>
            <a:r>
              <a:rPr lang="en-US" altLang="zh-CN" sz="2800" b="0" dirty="0">
                <a:solidFill>
                  <a:schemeClr val="bg2"/>
                </a:solidFill>
              </a:rPr>
              <a:t>&lt;= upper;</a:t>
            </a:r>
            <a:r>
              <a:rPr lang="en-US" altLang="zh-CN" sz="2800" b="0" dirty="0">
                <a:solidFill>
                  <a:schemeClr val="hlink"/>
                </a:solidFill>
              </a:rPr>
              <a:t> </a:t>
            </a:r>
            <a:r>
              <a:rPr lang="en-US" altLang="zh-CN" sz="2800" b="0" dirty="0">
                <a:solidFill>
                  <a:srgbClr val="CC0066"/>
                </a:solidFill>
              </a:rPr>
              <a:t>fahr</a:t>
            </a:r>
            <a:r>
              <a:rPr lang="en-US" altLang="zh-CN" sz="2800" b="0" dirty="0">
                <a:solidFill>
                  <a:schemeClr val="hlink"/>
                </a:solidFill>
              </a:rPr>
              <a:t> </a:t>
            </a:r>
            <a:r>
              <a:rPr lang="en-US" altLang="zh-CN" sz="2800" b="0" dirty="0">
                <a:solidFill>
                  <a:schemeClr val="bg2"/>
                </a:solidFill>
              </a:rPr>
              <a:t>++)</a:t>
            </a:r>
            <a:r>
              <a:rPr lang="en-US" altLang="zh-CN" sz="2800" b="0" dirty="0"/>
              <a:t> { </a:t>
            </a:r>
            <a:endParaRPr lang="en-US" altLang="zh-CN" sz="2800" b="0" dirty="0"/>
          </a:p>
          <a:p>
            <a:pPr marL="758825" lvl="1" algn="just" eaLnBrk="1" hangingPunct="1">
              <a:buNone/>
            </a:pPr>
            <a:r>
              <a:rPr lang="en-US" altLang="zh-CN" sz="2400" b="0" dirty="0">
                <a:cs typeface="Arial" panose="02080604020202020204" pitchFamily="34" charset="0"/>
              </a:rPr>
              <a:t>celsius = (5.0 / 9.0) * (fahr - 32.0); </a:t>
            </a:r>
            <a:endParaRPr lang="en-US" altLang="zh-CN" sz="2400" b="0" dirty="0"/>
          </a:p>
          <a:p>
            <a:pPr marL="758825" lvl="1" algn="just" eaLnBrk="1" hangingPunct="1">
              <a:buNone/>
            </a:pPr>
            <a:r>
              <a:rPr lang="en-US" altLang="zh-CN" sz="2400" b="0" dirty="0">
                <a:cs typeface="Arial" panose="02080604020202020204" pitchFamily="34" charset="0"/>
              </a:rPr>
              <a:t>printf("%d %6.1f\n", fahr, celsius); </a:t>
            </a:r>
            <a:endParaRPr lang="en-US" altLang="zh-CN" sz="2400" b="0" dirty="0">
              <a:cs typeface="Arial" panose="02080604020202020204" pitchFamily="34" charset="0"/>
            </a:endParaRPr>
          </a:p>
          <a:p>
            <a:pPr marL="0" indent="0" algn="just" eaLnBrk="1" hangingPunct="1">
              <a:buNone/>
            </a:pPr>
            <a:r>
              <a:rPr lang="en-US" altLang="zh-CN" sz="2800" b="0" dirty="0">
                <a:cs typeface="Arial" panose="02080604020202020204" pitchFamily="34" charset="0"/>
              </a:rPr>
              <a:t>}</a:t>
            </a:r>
            <a:endParaRPr lang="en-US" altLang="zh-CN" sz="2800" b="0" dirty="0">
              <a:ea typeface="Arial" panose="02080604020202020204" pitchFamily="34" charset="0"/>
            </a:endParaRPr>
          </a:p>
        </p:txBody>
      </p:sp>
      <p:sp>
        <p:nvSpPr>
          <p:cNvPr id="393219" name="Rectangle 3"/>
          <p:cNvSpPr/>
          <p:nvPr/>
        </p:nvSpPr>
        <p:spPr>
          <a:xfrm>
            <a:off x="611188" y="3068638"/>
            <a:ext cx="8305800" cy="3352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281305" lvl="0" indent="-281305" algn="just" eaLnBrk="1" hangingPunct="1">
              <a:buNone/>
            </a:pPr>
            <a:r>
              <a:rPr lang="zh-CN" altLang="en-US" sz="2400" b="0" dirty="0">
                <a:solidFill>
                  <a:srgbClr val="CC0066"/>
                </a:solidFill>
              </a:rPr>
              <a:t>表达式</a:t>
            </a:r>
            <a:r>
              <a:rPr lang="en-US" altLang="zh-CN" sz="2400" b="0" dirty="0">
                <a:solidFill>
                  <a:srgbClr val="CC0066"/>
                </a:solidFill>
              </a:rPr>
              <a:t>1</a:t>
            </a:r>
            <a:r>
              <a:rPr lang="zh-CN" altLang="en-US" sz="2400" b="0" dirty="0">
                <a:solidFill>
                  <a:srgbClr val="CC0066"/>
                </a:solidFill>
              </a:rPr>
              <a:t>：</a:t>
            </a:r>
            <a:r>
              <a:rPr lang="zh-CN" altLang="en-US" sz="2400" b="0" dirty="0">
                <a:latin typeface="宋体" pitchFamily="2" charset="-122"/>
              </a:rPr>
              <a:t>给循环变量赋初值，</a:t>
            </a:r>
            <a:r>
              <a:rPr lang="zh-CN" altLang="en-US" sz="2400" b="0" dirty="0"/>
              <a:t>指定循环的起点。</a:t>
            </a:r>
            <a:endParaRPr lang="zh-CN" altLang="en-US" sz="2400" b="0" dirty="0"/>
          </a:p>
          <a:p>
            <a:pPr marL="758825" lvl="1" indent="-285750" algn="just" eaLnBrk="1" hangingPunct="1">
              <a:buNone/>
            </a:pPr>
            <a:r>
              <a:rPr lang="en-US" altLang="zh-CN" sz="2000" b="0" dirty="0"/>
              <a:t>fahr = lower</a:t>
            </a:r>
            <a:endParaRPr lang="en-US" altLang="zh-CN" sz="2000" b="0" dirty="0"/>
          </a:p>
          <a:p>
            <a:pPr marL="281305" lvl="0" indent="-281305" algn="just" eaLnBrk="1" hangingPunct="1">
              <a:buNone/>
            </a:pPr>
            <a:r>
              <a:rPr lang="zh-CN" altLang="en-US" sz="2400" b="0" dirty="0">
                <a:solidFill>
                  <a:srgbClr val="CC0066"/>
                </a:solidFill>
              </a:rPr>
              <a:t>表达式</a:t>
            </a:r>
            <a:r>
              <a:rPr lang="en-US" altLang="zh-CN" sz="2400" b="0" dirty="0">
                <a:solidFill>
                  <a:srgbClr val="CC0066"/>
                </a:solidFill>
              </a:rPr>
              <a:t>2</a:t>
            </a:r>
            <a:r>
              <a:rPr lang="zh-CN" altLang="en-US" sz="2400" b="0" dirty="0">
                <a:solidFill>
                  <a:srgbClr val="CC0066"/>
                </a:solidFill>
              </a:rPr>
              <a:t>：</a:t>
            </a:r>
            <a:r>
              <a:rPr lang="zh-CN" altLang="en-US" sz="2400" b="0" dirty="0"/>
              <a:t>给出循环的条件，决定循环的继续或结束。</a:t>
            </a:r>
            <a:endParaRPr lang="zh-CN" altLang="en-US" sz="2400" b="0" dirty="0"/>
          </a:p>
          <a:p>
            <a:pPr marL="758825" lvl="1" indent="-285750" algn="just" eaLnBrk="1" hangingPunct="1">
              <a:buNone/>
            </a:pPr>
            <a:r>
              <a:rPr lang="en-US" altLang="zh-CN" sz="2000" b="0" dirty="0"/>
              <a:t>fahr &lt;= upper</a:t>
            </a:r>
            <a:endParaRPr lang="en-US" altLang="zh-CN" sz="2000" b="0" dirty="0"/>
          </a:p>
          <a:p>
            <a:pPr marL="281305" lvl="0" indent="-281305" algn="just" eaLnBrk="1" hangingPunct="1">
              <a:buNone/>
            </a:pPr>
            <a:r>
              <a:rPr lang="zh-CN" altLang="en-US" sz="2400" b="0" dirty="0">
                <a:solidFill>
                  <a:srgbClr val="CC0066"/>
                </a:solidFill>
              </a:rPr>
              <a:t>表达式</a:t>
            </a:r>
            <a:r>
              <a:rPr lang="en-US" altLang="zh-CN" sz="2400" b="0" dirty="0">
                <a:solidFill>
                  <a:srgbClr val="CC0066"/>
                </a:solidFill>
              </a:rPr>
              <a:t>3</a:t>
            </a:r>
            <a:r>
              <a:rPr lang="zh-CN" altLang="en-US" sz="2400" b="0" dirty="0">
                <a:solidFill>
                  <a:srgbClr val="CC0066"/>
                </a:solidFill>
              </a:rPr>
              <a:t>：</a:t>
            </a:r>
            <a:r>
              <a:rPr lang="zh-CN" altLang="en-US" sz="2400" b="0" dirty="0"/>
              <a:t>设置循环的步长，改变循环变量的值，从而可改变表达式</a:t>
            </a:r>
            <a:r>
              <a:rPr lang="en-US" altLang="zh-CN" sz="2400" b="0" dirty="0"/>
              <a:t>2</a:t>
            </a:r>
            <a:r>
              <a:rPr lang="zh-CN" altLang="en-US" sz="2400" b="0" dirty="0"/>
              <a:t>的真假性。</a:t>
            </a:r>
            <a:endParaRPr lang="zh-CN" altLang="en-US" sz="2400" b="0" dirty="0"/>
          </a:p>
          <a:p>
            <a:pPr marL="758825" lvl="1" indent="-285750" algn="just" eaLnBrk="1" hangingPunct="1">
              <a:buNone/>
            </a:pPr>
            <a:r>
              <a:rPr lang="en-US" altLang="zh-CN" sz="2000" b="0" dirty="0"/>
              <a:t>fahr++</a:t>
            </a:r>
            <a:endParaRPr lang="en-US" altLang="zh-CN" sz="2000" b="0" dirty="0"/>
          </a:p>
          <a:p>
            <a:pPr marL="281305" lvl="0" indent="-281305" algn="just" eaLnBrk="1" hangingPunct="1">
              <a:buNone/>
            </a:pPr>
            <a:r>
              <a:rPr lang="zh-CN" altLang="en-US" sz="2400" b="0" dirty="0">
                <a:solidFill>
                  <a:srgbClr val="CC0066"/>
                </a:solidFill>
              </a:rPr>
              <a:t>语句：</a:t>
            </a:r>
            <a:r>
              <a:rPr lang="zh-CN" altLang="en-US" sz="2400" b="0" dirty="0"/>
              <a:t>被反复执行的语句，一条语句。</a:t>
            </a:r>
            <a:endParaRPr lang="zh-CN" altLang="en-US" sz="2400" b="0" dirty="0"/>
          </a:p>
        </p:txBody>
      </p:sp>
      <p:sp>
        <p:nvSpPr>
          <p:cNvPr id="60420" name="Rectangle 4" descr="Large confetti"/>
          <p:cNvSpPr>
            <a:spLocks noGrp="1"/>
          </p:cNvSpPr>
          <p:nvPr>
            <p:ph type="title"/>
          </p:nvPr>
        </p:nvSpPr>
        <p:spPr>
          <a:xfrm>
            <a:off x="5327650" y="260350"/>
            <a:ext cx="3816350" cy="84772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0" dirty="0"/>
              <a:t>for</a:t>
            </a:r>
            <a:r>
              <a:rPr lang="zh-CN" altLang="en-US" b="0" dirty="0"/>
              <a:t>语句的说明</a:t>
            </a:r>
            <a:endParaRPr lang="zh-CN" alt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3219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3219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charRg st="23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93219">
                                            <p:txEl>
                                              <p:charRg st="23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93219">
                                            <p:txEl>
                                              <p:charRg st="23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charRg st="36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3219">
                                            <p:txEl>
                                              <p:charRg st="36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3219">
                                            <p:txEl>
                                              <p:charRg st="36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charRg st="61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3219">
                                            <p:txEl>
                                              <p:charRg st="61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3219">
                                            <p:txEl>
                                              <p:charRg st="61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charRg st="75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3219">
                                            <p:txEl>
                                              <p:charRg st="75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3219">
                                            <p:txEl>
                                              <p:charRg st="75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charRg st="112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3219">
                                            <p:txEl>
                                              <p:charRg st="112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3219">
                                            <p:txEl>
                                              <p:charRg st="112" end="1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219">
                                            <p:txEl>
                                              <p:charRg st="119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3219">
                                            <p:txEl>
                                              <p:charRg st="119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3219">
                                            <p:txEl>
                                              <p:charRg st="119" end="13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3219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2194" name="Rectangle 2"/>
          <p:cNvSpPr>
            <a:spLocks noGrp="1"/>
          </p:cNvSpPr>
          <p:nvPr>
            <p:ph idx="1"/>
          </p:nvPr>
        </p:nvSpPr>
        <p:spPr>
          <a:xfrm>
            <a:off x="468313" y="1700213"/>
            <a:ext cx="8135937" cy="3241675"/>
          </a:xfrm>
        </p:spPr>
        <p:txBody>
          <a:bodyPr vert="horz" wrap="square" lIns="91440" tIns="45720" rIns="91440" bIns="45720" anchor="t" anchorCtr="0"/>
          <a:p>
            <a:pPr marL="0" indent="0" algn="just" eaLnBrk="1" hangingPunct="1">
              <a:buNone/>
            </a:pPr>
            <a:r>
              <a:rPr lang="zh-CN" altLang="en-US" sz="2800" b="0" dirty="0">
                <a:solidFill>
                  <a:srgbClr val="CC0066"/>
                </a:solidFill>
              </a:rPr>
              <a:t>循环</a:t>
            </a:r>
            <a:r>
              <a:rPr lang="en-US" altLang="zh-CN" sz="2800" b="0" dirty="0"/>
              <a:t>(</a:t>
            </a:r>
            <a:r>
              <a:rPr lang="zh-CN" altLang="en-US" sz="2800" b="0" dirty="0"/>
              <a:t>控制</a:t>
            </a:r>
            <a:r>
              <a:rPr lang="en-US" altLang="zh-CN" sz="2800" b="0" dirty="0"/>
              <a:t>)</a:t>
            </a:r>
            <a:r>
              <a:rPr lang="zh-CN" altLang="en-US" sz="2800" b="0" dirty="0">
                <a:solidFill>
                  <a:srgbClr val="CC0066"/>
                </a:solidFill>
              </a:rPr>
              <a:t>变量</a:t>
            </a:r>
            <a:r>
              <a:rPr lang="zh-CN" altLang="en-US" sz="2800" b="0" dirty="0"/>
              <a:t>：</a:t>
            </a:r>
            <a:r>
              <a:rPr lang="en-US" altLang="zh-CN" sz="2800" b="0" dirty="0"/>
              <a:t>for</a:t>
            </a:r>
            <a:r>
              <a:rPr lang="zh-CN" altLang="en-US" sz="2800" b="0" dirty="0"/>
              <a:t>语句中，通过改变或判断某个变量的值来控制循环的执行</a:t>
            </a:r>
            <a:endParaRPr lang="zh-CN" altLang="en-US" sz="2800" b="0" dirty="0"/>
          </a:p>
          <a:p>
            <a:pPr marL="0" indent="0" algn="just" eaLnBrk="1" hangingPunct="1">
              <a:buNone/>
            </a:pPr>
            <a:endParaRPr lang="zh-CN" altLang="en-US" sz="2800" b="0" dirty="0"/>
          </a:p>
          <a:p>
            <a:pPr marL="0" indent="0" algn="just" eaLnBrk="1" hangingPunct="1">
              <a:buNone/>
            </a:pPr>
            <a:r>
              <a:rPr lang="en-US" altLang="zh-CN" sz="2800" b="0" dirty="0">
                <a:solidFill>
                  <a:schemeClr val="bg2"/>
                </a:solidFill>
              </a:rPr>
              <a:t>for (</a:t>
            </a:r>
            <a:r>
              <a:rPr lang="en-US" altLang="zh-CN" sz="2800" b="0" dirty="0">
                <a:solidFill>
                  <a:srgbClr val="CC0066"/>
                </a:solidFill>
              </a:rPr>
              <a:t>fahr</a:t>
            </a:r>
            <a:r>
              <a:rPr lang="en-US" altLang="zh-CN" sz="2800" b="0" dirty="0">
                <a:solidFill>
                  <a:schemeClr val="hlink"/>
                </a:solidFill>
              </a:rPr>
              <a:t> </a:t>
            </a:r>
            <a:r>
              <a:rPr lang="en-US" altLang="zh-CN" sz="2800" b="0" dirty="0">
                <a:solidFill>
                  <a:schemeClr val="bg2"/>
                </a:solidFill>
              </a:rPr>
              <a:t>= lower;</a:t>
            </a:r>
            <a:r>
              <a:rPr lang="en-US" altLang="zh-CN" sz="2800" b="0" dirty="0">
                <a:solidFill>
                  <a:schemeClr val="hlink"/>
                </a:solidFill>
              </a:rPr>
              <a:t> </a:t>
            </a:r>
            <a:r>
              <a:rPr lang="en-US" altLang="zh-CN" sz="2800" b="0" dirty="0">
                <a:solidFill>
                  <a:srgbClr val="CC0066"/>
                </a:solidFill>
              </a:rPr>
              <a:t>fahr</a:t>
            </a:r>
            <a:r>
              <a:rPr lang="en-US" altLang="zh-CN" sz="2800" b="0" dirty="0">
                <a:solidFill>
                  <a:schemeClr val="hlink"/>
                </a:solidFill>
              </a:rPr>
              <a:t> </a:t>
            </a:r>
            <a:r>
              <a:rPr lang="en-US" altLang="zh-CN" sz="2800" b="0" dirty="0">
                <a:solidFill>
                  <a:schemeClr val="bg2"/>
                </a:solidFill>
              </a:rPr>
              <a:t>&lt;= upper;</a:t>
            </a:r>
            <a:r>
              <a:rPr lang="en-US" altLang="zh-CN" sz="2800" b="0" dirty="0">
                <a:solidFill>
                  <a:schemeClr val="hlink"/>
                </a:solidFill>
              </a:rPr>
              <a:t> </a:t>
            </a:r>
            <a:r>
              <a:rPr lang="en-US" altLang="zh-CN" sz="2800" b="0" dirty="0">
                <a:solidFill>
                  <a:srgbClr val="CC0066"/>
                </a:solidFill>
              </a:rPr>
              <a:t>fahr</a:t>
            </a:r>
            <a:r>
              <a:rPr lang="en-US" altLang="zh-CN" sz="2800" b="0" dirty="0">
                <a:solidFill>
                  <a:schemeClr val="hlink"/>
                </a:solidFill>
              </a:rPr>
              <a:t> </a:t>
            </a:r>
            <a:r>
              <a:rPr lang="en-US" altLang="zh-CN" sz="2800" b="0" dirty="0">
                <a:solidFill>
                  <a:schemeClr val="bg2"/>
                </a:solidFill>
              </a:rPr>
              <a:t>++)</a:t>
            </a:r>
            <a:r>
              <a:rPr lang="en-US" altLang="zh-CN" sz="2800" b="0" dirty="0"/>
              <a:t> { </a:t>
            </a:r>
            <a:endParaRPr lang="en-US" altLang="zh-CN" sz="2800" b="0" dirty="0"/>
          </a:p>
          <a:p>
            <a:pPr marL="758825" lvl="1" algn="just" eaLnBrk="1" hangingPunct="1">
              <a:buNone/>
            </a:pPr>
            <a:r>
              <a:rPr lang="en-US" altLang="zh-CN" sz="2400" b="0" dirty="0">
                <a:cs typeface="Arial" panose="02080604020202020204" pitchFamily="34" charset="0"/>
              </a:rPr>
              <a:t>celsius = (5.0 / 9.0) * (fahr - 32.0); </a:t>
            </a:r>
            <a:endParaRPr lang="en-US" altLang="zh-CN" sz="2400" b="0" dirty="0"/>
          </a:p>
          <a:p>
            <a:pPr marL="758825" lvl="1" algn="just" eaLnBrk="1" hangingPunct="1">
              <a:buNone/>
            </a:pPr>
            <a:r>
              <a:rPr lang="en-US" altLang="zh-CN" sz="2400" b="0" dirty="0">
                <a:cs typeface="Arial" panose="02080604020202020204" pitchFamily="34" charset="0"/>
              </a:rPr>
              <a:t>printf("%d %6.1f\n", fahr, celsius); </a:t>
            </a:r>
            <a:endParaRPr lang="en-US" altLang="zh-CN" sz="2400" b="0" dirty="0">
              <a:cs typeface="Arial" panose="02080604020202020204" pitchFamily="34" charset="0"/>
            </a:endParaRPr>
          </a:p>
          <a:p>
            <a:pPr marL="0" indent="0" algn="just" eaLnBrk="1" hangingPunct="1">
              <a:buNone/>
            </a:pPr>
            <a:r>
              <a:rPr lang="en-US" altLang="zh-CN" sz="2800" b="0" dirty="0">
                <a:cs typeface="Arial" panose="02080604020202020204" pitchFamily="34" charset="0"/>
              </a:rPr>
              <a:t>}</a:t>
            </a:r>
            <a:endParaRPr lang="en-US" altLang="zh-CN" sz="2800" b="0" dirty="0"/>
          </a:p>
        </p:txBody>
      </p:sp>
      <p:sp>
        <p:nvSpPr>
          <p:cNvPr id="59395" name="Rectangle 3" descr="Large confetti"/>
          <p:cNvSpPr>
            <a:spLocks noGrp="1"/>
          </p:cNvSpPr>
          <p:nvPr>
            <p:ph type="title"/>
          </p:nvPr>
        </p:nvSpPr>
        <p:spPr>
          <a:xfrm>
            <a:off x="395288" y="620713"/>
            <a:ext cx="8229600" cy="92075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b="0" dirty="0"/>
              <a:t>for</a:t>
            </a:r>
            <a:r>
              <a:rPr lang="zh-CN" altLang="en-US" b="0" dirty="0"/>
              <a:t>语句中的循环变量</a:t>
            </a:r>
            <a:endParaRPr lang="zh-CN" altLang="en-US" b="0" dirty="0"/>
          </a:p>
        </p:txBody>
      </p:sp>
      <p:sp>
        <p:nvSpPr>
          <p:cNvPr id="392196" name="Rectangle 4"/>
          <p:cNvSpPr/>
          <p:nvPr/>
        </p:nvSpPr>
        <p:spPr>
          <a:xfrm>
            <a:off x="1219200" y="5410200"/>
            <a:ext cx="12496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 dirty="0">
                <a:solidFill>
                  <a:schemeClr val="bg2"/>
                </a:solidFill>
                <a:latin typeface="Times New Roman" pitchFamily="18" charset="0"/>
              </a:rPr>
              <a:t>赋初值</a:t>
            </a:r>
            <a:endParaRPr lang="zh-CN" altLang="en-US" sz="2800" b="0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392197" name="Rectangle 5"/>
          <p:cNvSpPr/>
          <p:nvPr/>
        </p:nvSpPr>
        <p:spPr>
          <a:xfrm>
            <a:off x="3559175" y="5410200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 dirty="0">
                <a:solidFill>
                  <a:schemeClr val="bg2"/>
                </a:solidFill>
                <a:latin typeface="Times New Roman" pitchFamily="18" charset="0"/>
              </a:rPr>
              <a:t>判断其值</a:t>
            </a:r>
            <a:endParaRPr lang="zh-CN" altLang="en-US" sz="2800" b="0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392198" name="Rectangle 6"/>
          <p:cNvSpPr/>
          <p:nvPr/>
        </p:nvSpPr>
        <p:spPr>
          <a:xfrm>
            <a:off x="6116955" y="5424488"/>
            <a:ext cx="1605280" cy="52197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b="0" dirty="0">
                <a:solidFill>
                  <a:schemeClr val="bg2"/>
                </a:solidFill>
                <a:latin typeface="Times New Roman" pitchFamily="18" charset="0"/>
              </a:rPr>
              <a:t>改变其值</a:t>
            </a:r>
            <a:endParaRPr lang="zh-CN" altLang="en-US" sz="2800" b="0" dirty="0">
              <a:solidFill>
                <a:schemeClr val="bg2"/>
              </a:solidFill>
              <a:latin typeface="Times New Roman" pitchFamily="18" charset="0"/>
            </a:endParaRPr>
          </a:p>
        </p:txBody>
      </p:sp>
      <p:sp>
        <p:nvSpPr>
          <p:cNvPr id="392199" name="Line 7"/>
          <p:cNvSpPr/>
          <p:nvPr/>
        </p:nvSpPr>
        <p:spPr>
          <a:xfrm flipH="1" flipV="1">
            <a:off x="1619250" y="3581400"/>
            <a:ext cx="0" cy="1752600"/>
          </a:xfrm>
          <a:prstGeom prst="line">
            <a:avLst/>
          </a:prstGeom>
          <a:ln w="38100" cap="sq" cmpd="sng">
            <a:solidFill>
              <a:schemeClr val="bg2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392200" name="Line 8"/>
          <p:cNvSpPr/>
          <p:nvPr/>
        </p:nvSpPr>
        <p:spPr>
          <a:xfrm flipH="1" flipV="1">
            <a:off x="4210050" y="3505200"/>
            <a:ext cx="0" cy="1752600"/>
          </a:xfrm>
          <a:prstGeom prst="line">
            <a:avLst/>
          </a:prstGeom>
          <a:ln w="38100" cap="sq" cmpd="sng">
            <a:solidFill>
              <a:schemeClr val="bg2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392201" name="Line 9"/>
          <p:cNvSpPr/>
          <p:nvPr/>
        </p:nvSpPr>
        <p:spPr>
          <a:xfrm flipH="1" flipV="1">
            <a:off x="6885305" y="3581400"/>
            <a:ext cx="0" cy="1752600"/>
          </a:xfrm>
          <a:prstGeom prst="line">
            <a:avLst/>
          </a:prstGeom>
          <a:ln w="38100" cap="sq" cmpd="sng">
            <a:solidFill>
              <a:schemeClr val="bg2"/>
            </a:solidFill>
            <a:prstDash val="solid"/>
            <a:headEnd type="none" w="sm" len="sm"/>
            <a:tailEnd type="triangl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2194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2194">
                                            <p:txEl>
                                              <p:charRg st="0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charRg st="39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2194">
                                            <p:txEl>
                                              <p:charRg st="39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2194">
                                            <p:txEl>
                                              <p:charRg st="39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charRg st="85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2194">
                                            <p:txEl>
                                              <p:charRg st="85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2194">
                                            <p:txEl>
                                              <p:charRg st="85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charRg st="125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92194">
                                            <p:txEl>
                                              <p:charRg st="125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92194">
                                            <p:txEl>
                                              <p:charRg st="125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4">
                                            <p:txEl>
                                              <p:charRg st="163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2194">
                                            <p:txEl>
                                              <p:charRg st="163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2194">
                                            <p:txEl>
                                              <p:charRg st="163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2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92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2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2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92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92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92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921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92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2194" grpId="0" uiExpand="1" build="p"/>
      <p:bldP spid="392196" grpId="0"/>
      <p:bldP spid="392197" grpId="0"/>
      <p:bldP spid="392198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2"/>
          <p:cNvSpPr>
            <a:spLocks noGrp="1"/>
          </p:cNvSpPr>
          <p:nvPr>
            <p:ph type="title"/>
          </p:nvPr>
        </p:nvSpPr>
        <p:spPr>
          <a:xfrm>
            <a:off x="304800" y="515938"/>
            <a:ext cx="6172200" cy="609600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例中</a:t>
            </a:r>
            <a:r>
              <a:rPr lang="en-US" altLang="zh-CN" b="0" dirty="0"/>
              <a:t>for</a:t>
            </a:r>
            <a:r>
              <a:rPr lang="zh-CN" altLang="en-US" b="0" dirty="0"/>
              <a:t>语句的流程</a:t>
            </a:r>
            <a:endParaRPr lang="zh-CN" altLang="en-US" b="0" dirty="0"/>
          </a:p>
        </p:txBody>
      </p:sp>
      <p:sp>
        <p:nvSpPr>
          <p:cNvPr id="57347" name="Rectangle 3"/>
          <p:cNvSpPr>
            <a:spLocks noGrp="1"/>
          </p:cNvSpPr>
          <p:nvPr>
            <p:ph idx="1"/>
          </p:nvPr>
        </p:nvSpPr>
        <p:spPr>
          <a:xfrm>
            <a:off x="198438" y="1166813"/>
            <a:ext cx="7156450" cy="1828800"/>
          </a:xfrm>
        </p:spPr>
        <p:txBody>
          <a:bodyPr vert="horz" wrap="square" lIns="91440" tIns="45720" rIns="91440" bIns="45720" anchor="t" anchorCtr="0"/>
          <a:p>
            <a:pPr marL="854075" lvl="1" indent="-382270" algn="just" eaLnBrk="1" hangingPunct="1">
              <a:buNone/>
            </a:pPr>
            <a:r>
              <a:rPr lang="en-US" altLang="zh-CN" sz="2400" b="0" dirty="0">
                <a:solidFill>
                  <a:srgbClr val="CC0066"/>
                </a:solidFill>
              </a:rPr>
              <a:t>for (fahr = lower; fahr &lt;= upper; fahr ++)</a:t>
            </a:r>
            <a:endParaRPr lang="en-US" altLang="zh-CN" sz="2400" b="0" dirty="0">
              <a:solidFill>
                <a:srgbClr val="CC0066"/>
              </a:solidFill>
            </a:endParaRPr>
          </a:p>
          <a:p>
            <a:pPr marL="854075" lvl="1" indent="-382270" algn="just" eaLnBrk="1" hangingPunct="1">
              <a:buNone/>
            </a:pPr>
            <a:r>
              <a:rPr lang="en-US" altLang="zh-CN" sz="2400" b="0" dirty="0"/>
              <a:t>{ </a:t>
            </a:r>
            <a:endParaRPr lang="en-US" altLang="zh-CN" sz="2400" b="0" dirty="0"/>
          </a:p>
          <a:p>
            <a:pPr marL="854075" lvl="1" indent="-382270" algn="just" eaLnBrk="1" hangingPunct="1">
              <a:buNone/>
            </a:pPr>
            <a:r>
              <a:rPr lang="en-US" altLang="zh-CN" sz="2400" b="0" dirty="0">
                <a:cs typeface="Arial" panose="02080604020202020204" pitchFamily="34" charset="0"/>
              </a:rPr>
              <a:t>        celsius = (5.0 / 9.0) * (fahr - 32); </a:t>
            </a:r>
            <a:endParaRPr lang="en-US" altLang="zh-CN" sz="2400" b="0" dirty="0"/>
          </a:p>
          <a:p>
            <a:pPr marL="854075" lvl="1" indent="-382270" algn="just" eaLnBrk="1" hangingPunct="1">
              <a:buNone/>
            </a:pPr>
            <a:r>
              <a:rPr lang="en-US" altLang="zh-CN" sz="2400" b="0" dirty="0">
                <a:cs typeface="Arial" panose="02080604020202020204" pitchFamily="34" charset="0"/>
              </a:rPr>
              <a:t>        printf("%d %6.1f\n", fahr, celsius); </a:t>
            </a:r>
            <a:endParaRPr lang="en-US" altLang="zh-CN" sz="2400" b="0" dirty="0">
              <a:cs typeface="Arial" panose="02080604020202020204" pitchFamily="34" charset="0"/>
            </a:endParaRPr>
          </a:p>
          <a:p>
            <a:pPr marL="854075" lvl="1" indent="-382270" algn="just" eaLnBrk="1" hangingPunct="1">
              <a:buNone/>
            </a:pPr>
            <a:r>
              <a:rPr lang="en-US" altLang="zh-CN" sz="2400" b="0" dirty="0">
                <a:cs typeface="Arial" panose="02080604020202020204" pitchFamily="34" charset="0"/>
              </a:rPr>
              <a:t> }</a:t>
            </a:r>
            <a:endParaRPr lang="zh-CN" altLang="en-US" sz="2400" b="0" dirty="0"/>
          </a:p>
        </p:txBody>
      </p:sp>
      <p:graphicFrame>
        <p:nvGraphicFramePr>
          <p:cNvPr id="390149" name="Object 5"/>
          <p:cNvGraphicFramePr>
            <a:graphicFrameLocks noChangeAspect="1"/>
          </p:cNvGraphicFramePr>
          <p:nvPr/>
        </p:nvGraphicFramePr>
        <p:xfrm>
          <a:off x="2700020" y="2993390"/>
          <a:ext cx="2944495" cy="37706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409825" imgH="2800350" progId="Paint.Picture">
                  <p:embed/>
                </p:oleObj>
              </mc:Choice>
              <mc:Fallback>
                <p:oleObj name="" r:id="rId1" imgW="2409825" imgH="2800350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700020" y="2993390"/>
                        <a:ext cx="2944495" cy="377063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0150" name="Rectangle 6"/>
          <p:cNvSpPr/>
          <p:nvPr/>
        </p:nvSpPr>
        <p:spPr>
          <a:xfrm>
            <a:off x="5747385" y="3065780"/>
            <a:ext cx="2409190" cy="78422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en-US" altLang="zh-CN" sz="2400" b="0" dirty="0"/>
              <a:t>fahr = fahr+2</a:t>
            </a:r>
            <a:endParaRPr lang="en-US" altLang="zh-CN" sz="2400" b="0" dirty="0"/>
          </a:p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zh-CN" altLang="en-US" sz="2400" b="0" dirty="0">
                <a:solidFill>
                  <a:schemeClr val="bg2"/>
                </a:solidFill>
              </a:rPr>
              <a:t>输出？</a:t>
            </a:r>
            <a:endParaRPr lang="zh-CN" altLang="en-US" sz="2400" b="0" dirty="0">
              <a:solidFill>
                <a:schemeClr val="bg2"/>
              </a:solidFill>
            </a:endParaRPr>
          </a:p>
        </p:txBody>
      </p:sp>
      <p:sp>
        <p:nvSpPr>
          <p:cNvPr id="390151" name="Line 7"/>
          <p:cNvSpPr/>
          <p:nvPr/>
        </p:nvSpPr>
        <p:spPr>
          <a:xfrm flipH="1" flipV="1">
            <a:off x="6946900" y="1541780"/>
            <a:ext cx="0" cy="1440000"/>
          </a:xfrm>
          <a:prstGeom prst="line">
            <a:avLst/>
          </a:prstGeom>
          <a:ln w="38100" cap="sq" cmpd="sng">
            <a:solidFill>
              <a:schemeClr val="bg2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57351" name="Rectangle 8"/>
          <p:cNvSpPr/>
          <p:nvPr/>
        </p:nvSpPr>
        <p:spPr>
          <a:xfrm>
            <a:off x="296863" y="3465513"/>
            <a:ext cx="2303462" cy="295338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>
                <a:ea typeface="Arial Unicode MS" pitchFamily="34" charset="-122"/>
              </a:rPr>
              <a:t>Enter lower: </a:t>
            </a:r>
            <a:r>
              <a:rPr lang="en-US" altLang="zh-CN" sz="2000" b="0" dirty="0">
                <a:solidFill>
                  <a:srgbClr val="CC0066"/>
                </a:solidFill>
              </a:rPr>
              <a:t>30</a:t>
            </a:r>
            <a:endParaRPr lang="en-US" altLang="zh-CN" sz="20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/>
              <a:t>Enter upper:  </a:t>
            </a:r>
            <a:r>
              <a:rPr lang="en-US" altLang="zh-CN" sz="2000" b="0" dirty="0">
                <a:solidFill>
                  <a:srgbClr val="CC0066"/>
                </a:solidFill>
              </a:rPr>
              <a:t>35</a:t>
            </a:r>
            <a:endParaRPr lang="en-US" altLang="zh-CN" sz="20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fahr  celsius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  30    -1.1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  31    -0.6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  32     0.0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  33     0.6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  34     1.1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  35     1.7</a:t>
            </a:r>
            <a:endParaRPr lang="en-US" altLang="zh-CN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01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01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0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0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0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0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0150" grpId="0" bldLvl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2"/>
          <p:cNvSpPr>
            <a:spLocks noGrp="1"/>
          </p:cNvSpPr>
          <p:nvPr>
            <p:ph idx="1"/>
          </p:nvPr>
        </p:nvSpPr>
        <p:spPr>
          <a:xfrm>
            <a:off x="250825" y="1341438"/>
            <a:ext cx="8686800" cy="1981200"/>
          </a:xfrm>
          <a:ln>
            <a:solidFill>
              <a:schemeClr val="bg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buNone/>
            </a:pPr>
            <a:r>
              <a:rPr lang="en-US" altLang="zh-CN" sz="2800" b="0" dirty="0">
                <a:solidFill>
                  <a:schemeClr val="bg2"/>
                </a:solidFill>
              </a:rPr>
              <a:t>for (fahr = lower; fahr &lt;= upper; fahr ++)</a:t>
            </a:r>
            <a:r>
              <a:rPr lang="en-US" altLang="zh-CN" sz="2800" b="0" dirty="0"/>
              <a:t> </a:t>
            </a:r>
            <a:r>
              <a:rPr lang="en-US" altLang="zh-CN" sz="2800" b="0" dirty="0">
                <a:solidFill>
                  <a:srgbClr val="CC0066"/>
                </a:solidFill>
              </a:rPr>
              <a:t>{ </a:t>
            </a:r>
            <a:endParaRPr lang="en-US" altLang="zh-CN" sz="2800" b="0" dirty="0">
              <a:solidFill>
                <a:srgbClr val="CC0066"/>
              </a:solidFill>
            </a:endParaRPr>
          </a:p>
          <a:p>
            <a:pPr marL="854075" lvl="1" algn="just" eaLnBrk="1" hangingPunct="1">
              <a:buNone/>
            </a:pPr>
            <a:r>
              <a:rPr lang="en-US" altLang="zh-CN" sz="2400" b="0" dirty="0">
                <a:cs typeface="Arial" panose="02080604020202020204" pitchFamily="34" charset="0"/>
              </a:rPr>
              <a:t>celsius = (5.0 / 9.0) * (fahr - 32.0); </a:t>
            </a:r>
            <a:endParaRPr lang="en-US" altLang="zh-CN" sz="2400" b="0" dirty="0"/>
          </a:p>
          <a:p>
            <a:pPr marL="854075" lvl="1" algn="just" eaLnBrk="1" hangingPunct="1">
              <a:buNone/>
            </a:pPr>
            <a:r>
              <a:rPr lang="en-US" altLang="zh-CN" sz="2400" b="0" dirty="0">
                <a:cs typeface="Arial" panose="02080604020202020204" pitchFamily="34" charset="0"/>
              </a:rPr>
              <a:t>printf("%d %6.1f\n", fahr, celsius); </a:t>
            </a:r>
            <a:endParaRPr lang="en-US" altLang="zh-CN" sz="2400" b="0" dirty="0">
              <a:cs typeface="Arial" panose="02080604020202020204" pitchFamily="34" charset="0"/>
            </a:endParaRPr>
          </a:p>
          <a:p>
            <a:pPr marL="377825" indent="-377825" algn="just" eaLnBrk="1" hangingPunct="1">
              <a:buNone/>
            </a:pPr>
            <a:r>
              <a:rPr lang="en-US" altLang="zh-CN" sz="2800" b="0" dirty="0">
                <a:solidFill>
                  <a:srgbClr val="CC0066"/>
                </a:solidFill>
                <a:cs typeface="Arial" panose="02080604020202020204" pitchFamily="34" charset="0"/>
              </a:rPr>
              <a:t>}</a:t>
            </a:r>
            <a:endParaRPr lang="en-US" altLang="zh-CN" sz="2800" b="0" dirty="0">
              <a:solidFill>
                <a:srgbClr val="CC0066"/>
              </a:solidFill>
              <a:ea typeface="Arial" panose="02080604020202020204" pitchFamily="34" charset="0"/>
            </a:endParaRPr>
          </a:p>
        </p:txBody>
      </p:sp>
      <p:sp>
        <p:nvSpPr>
          <p:cNvPr id="394243" name="Text Box 3"/>
          <p:cNvSpPr txBox="1"/>
          <p:nvPr/>
        </p:nvSpPr>
        <p:spPr>
          <a:xfrm>
            <a:off x="1285875" y="2828290"/>
            <a:ext cx="7317105" cy="1198880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0" dirty="0"/>
              <a:t>for (fahr = lower ; fahr &lt;= upper; fahr = fahr + 1)</a:t>
            </a:r>
            <a:r>
              <a:rPr lang="en-US" altLang="zh-CN" sz="2400" b="0" dirty="0"/>
              <a:t> </a:t>
            </a:r>
            <a:endParaRPr lang="en-US" altLang="zh-CN" sz="24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  </a:t>
            </a:r>
            <a:r>
              <a:rPr lang="en-US" altLang="zh-CN" sz="2400" b="0" dirty="0">
                <a:solidFill>
                  <a:srgbClr val="FF0000"/>
                </a:solidFill>
              </a:rPr>
              <a:t>  celsius = (5.0 / 9.0) * (fahr - 32.0);   </a:t>
            </a:r>
            <a:r>
              <a:rPr lang="en-US" altLang="zh-CN" sz="2400" b="0" dirty="0"/>
              <a:t>  	</a:t>
            </a:r>
            <a:endParaRPr lang="en-US" altLang="zh-CN" sz="24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    printf("%d %6.1f\n", fahr, celsius); </a:t>
            </a:r>
            <a:endParaRPr lang="en-US" altLang="zh-CN" sz="2400" b="0" dirty="0"/>
          </a:p>
        </p:txBody>
      </p:sp>
      <p:sp>
        <p:nvSpPr>
          <p:cNvPr id="61444" name="Rectangle 4" descr="Large confetti"/>
          <p:cNvSpPr>
            <a:spLocks noGrp="1"/>
          </p:cNvSpPr>
          <p:nvPr>
            <p:ph type="title"/>
          </p:nvPr>
        </p:nvSpPr>
        <p:spPr>
          <a:xfrm>
            <a:off x="457200" y="549275"/>
            <a:ext cx="8229600" cy="776288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 dirty="0"/>
              <a:t>复合语句</a:t>
            </a:r>
            <a:r>
              <a:rPr lang="en-US" altLang="zh-CN" b="0" dirty="0"/>
              <a:t>{  }</a:t>
            </a:r>
            <a:r>
              <a:rPr lang="zh-CN" altLang="en-US" b="0" dirty="0"/>
              <a:t>和空语句 </a:t>
            </a:r>
            <a:r>
              <a:rPr lang="en-US" altLang="zh-CN" b="0" dirty="0"/>
              <a:t>;</a:t>
            </a:r>
            <a:endParaRPr lang="en-US" altLang="zh-CN" b="0" dirty="0"/>
          </a:p>
        </p:txBody>
      </p:sp>
      <p:sp>
        <p:nvSpPr>
          <p:cNvPr id="394245" name="Text Box 5"/>
          <p:cNvSpPr txBox="1"/>
          <p:nvPr/>
        </p:nvSpPr>
        <p:spPr>
          <a:xfrm>
            <a:off x="457200" y="4622800"/>
            <a:ext cx="7411085" cy="1938020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0" dirty="0">
                <a:solidFill>
                  <a:srgbClr val="FF0000"/>
                </a:solidFill>
              </a:rPr>
              <a:t>for (fahr = lower ; fahr &lt;= upper; fahr = fahr + 1);</a:t>
            </a:r>
            <a:r>
              <a:rPr lang="en-US" altLang="zh-CN" sz="2400" b="0" dirty="0">
                <a:solidFill>
                  <a:srgbClr val="FF0000"/>
                </a:solidFill>
              </a:rPr>
              <a:t> </a:t>
            </a:r>
            <a:endParaRPr lang="en-US" altLang="zh-CN" sz="2400" b="0" dirty="0">
              <a:solidFill>
                <a:srgbClr val="FF0000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{</a:t>
            </a:r>
            <a:endParaRPr lang="en-US" altLang="zh-CN" sz="24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    celsius = (5.0 / 9.0) * (fahr - 32.0);     	</a:t>
            </a:r>
            <a:endParaRPr lang="en-US" altLang="zh-CN" sz="24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    printf("%d %6.1f\n", fahr, celsius);  </a:t>
            </a:r>
            <a:endParaRPr lang="en-US" altLang="zh-CN" sz="24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} </a:t>
            </a:r>
            <a:endParaRPr lang="en-US" altLang="zh-CN" sz="2400" b="0" dirty="0"/>
          </a:p>
        </p:txBody>
      </p:sp>
      <p:sp>
        <p:nvSpPr>
          <p:cNvPr id="394246" name="Text Box 6"/>
          <p:cNvSpPr txBox="1"/>
          <p:nvPr/>
        </p:nvSpPr>
        <p:spPr>
          <a:xfrm>
            <a:off x="4081145" y="6236335"/>
            <a:ext cx="4279900" cy="4603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chemeClr val="bg2"/>
                </a:solidFill>
              </a:rPr>
              <a:t>不要对</a:t>
            </a:r>
            <a:r>
              <a:rPr lang="en-US" altLang="zh-CN" sz="2400" b="0" dirty="0">
                <a:solidFill>
                  <a:schemeClr val="bg2"/>
                </a:solidFill>
              </a:rPr>
              <a:t>for</a:t>
            </a:r>
            <a:r>
              <a:rPr lang="zh-CN" altLang="en-US" sz="2400" b="0" dirty="0">
                <a:solidFill>
                  <a:schemeClr val="bg2"/>
                </a:solidFill>
              </a:rPr>
              <a:t>语句随意加分号</a:t>
            </a:r>
            <a:endParaRPr lang="zh-CN" altLang="en-US" sz="2400" b="0" dirty="0">
              <a:solidFill>
                <a:schemeClr val="bg2"/>
              </a:solidFill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V="1">
            <a:off x="7235825" y="5012055"/>
            <a:ext cx="360045" cy="12242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" name="Text Box 6"/>
          <p:cNvSpPr txBox="1"/>
          <p:nvPr/>
        </p:nvSpPr>
        <p:spPr>
          <a:xfrm>
            <a:off x="911225" y="4027170"/>
            <a:ext cx="7922260" cy="460375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sz="2400" b="0" dirty="0">
                <a:solidFill>
                  <a:schemeClr val="bg2"/>
                </a:solidFill>
              </a:rPr>
              <a:t>如果没有花括号</a:t>
            </a:r>
            <a:r>
              <a:rPr lang="en-US" altLang="zh-CN" sz="2400" b="0" dirty="0">
                <a:solidFill>
                  <a:schemeClr val="bg2"/>
                </a:solidFill>
              </a:rPr>
              <a:t>{}</a:t>
            </a:r>
            <a:r>
              <a:rPr lang="zh-CN" altLang="en-US" sz="2400" b="0" dirty="0">
                <a:solidFill>
                  <a:schemeClr val="bg2"/>
                </a:solidFill>
              </a:rPr>
              <a:t>，则</a:t>
            </a:r>
            <a:r>
              <a:rPr lang="en-US" altLang="zh-CN" sz="2400" b="0" dirty="0">
                <a:solidFill>
                  <a:schemeClr val="bg2"/>
                </a:solidFill>
              </a:rPr>
              <a:t>for</a:t>
            </a:r>
            <a:r>
              <a:rPr lang="zh-CN" altLang="en-US" sz="2400" b="0" dirty="0">
                <a:solidFill>
                  <a:schemeClr val="bg2"/>
                </a:solidFill>
              </a:rPr>
              <a:t>循环只有紧跟的一句是循环体</a:t>
            </a:r>
            <a:endParaRPr lang="zh-CN" altLang="en-US" sz="24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42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42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4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4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4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4243" grpId="0" bldLvl="0" animBg="1"/>
      <p:bldP spid="394245" grpId="0" bldLvl="0" animBg="1"/>
      <p:bldP spid="394246" grpId="0"/>
      <p:bldP spid="3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5266" name="Rectangle 2"/>
          <p:cNvSpPr>
            <a:spLocks noGrp="1"/>
          </p:cNvSpPr>
          <p:nvPr>
            <p:ph idx="1"/>
          </p:nvPr>
        </p:nvSpPr>
        <p:spPr>
          <a:xfrm>
            <a:off x="468313" y="1484313"/>
            <a:ext cx="8229600" cy="4876800"/>
          </a:xfrm>
          <a:ln>
            <a:solidFill>
              <a:schemeClr val="bg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求 </a:t>
            </a:r>
            <a:r>
              <a:rPr lang="en-US" altLang="zh-CN" sz="2800" b="0" dirty="0"/>
              <a:t>1+2+……+100</a:t>
            </a:r>
            <a:endParaRPr lang="zh-CN" altLang="en-US" sz="28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抽取具有共性的算式：</a:t>
            </a:r>
            <a:r>
              <a:rPr lang="en-US" altLang="zh-CN" b="0" dirty="0"/>
              <a:t>sum = sum + i</a:t>
            </a:r>
            <a:endParaRPr lang="en-US" altLang="zh-CN" b="0" dirty="0"/>
          </a:p>
          <a:p>
            <a:pPr marL="854075" lvl="1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sum</a:t>
            </a:r>
            <a:r>
              <a:rPr lang="zh-CN" altLang="en-US" sz="2400" b="0" dirty="0"/>
              <a:t>初值为</a:t>
            </a:r>
            <a:r>
              <a:rPr lang="en-US" altLang="zh-CN" sz="2400" b="0" dirty="0"/>
              <a:t>0</a:t>
            </a:r>
            <a:r>
              <a:rPr lang="zh-CN" altLang="en-US" sz="2400" b="0" dirty="0"/>
              <a:t>，该算式重复</a:t>
            </a:r>
            <a:r>
              <a:rPr lang="en-US" altLang="zh-CN" sz="2400" b="0" dirty="0"/>
              <a:t>100</a:t>
            </a:r>
            <a:r>
              <a:rPr lang="zh-CN" altLang="en-US" sz="2400" b="0" dirty="0"/>
              <a:t>次，</a:t>
            </a:r>
            <a:r>
              <a:rPr lang="en-US" altLang="zh-CN" sz="2400" b="0" dirty="0"/>
              <a:t>i</a:t>
            </a:r>
            <a:r>
              <a:rPr lang="zh-CN" altLang="en-US" sz="2400" b="0" dirty="0"/>
              <a:t>从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变到</a:t>
            </a:r>
            <a:r>
              <a:rPr lang="en-US" altLang="zh-CN" sz="2400" b="0" dirty="0"/>
              <a:t>100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endParaRPr lang="en-US" altLang="zh-CN" sz="2800" b="0" dirty="0"/>
          </a:p>
          <a:p>
            <a:pPr marL="854075" lvl="1" algn="just"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设</a:t>
            </a:r>
            <a:r>
              <a:rPr lang="en-US" altLang="zh-CN" sz="2400" b="0" dirty="0"/>
              <a:t>i</a:t>
            </a:r>
            <a:r>
              <a:rPr lang="zh-CN" altLang="en-US" sz="2400" b="0" dirty="0"/>
              <a:t>为循环变量，则：</a:t>
            </a:r>
            <a:endParaRPr lang="zh-CN" altLang="en-US" sz="2400" b="0" dirty="0"/>
          </a:p>
          <a:p>
            <a:pPr marL="854075" lvl="1" algn="just"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指定循环起点的表达式</a:t>
            </a:r>
            <a:r>
              <a:rPr lang="en-US" altLang="zh-CN" sz="2400" b="0" dirty="0"/>
              <a:t>1</a:t>
            </a:r>
            <a:r>
              <a:rPr lang="zh-CN" altLang="en-US" sz="2400" b="0" dirty="0"/>
              <a:t>：</a:t>
            </a:r>
            <a:r>
              <a:rPr lang="en-US" altLang="zh-CN" sz="2400" b="0" dirty="0"/>
              <a:t>i = 1</a:t>
            </a:r>
            <a:endParaRPr lang="en-US" altLang="zh-CN" sz="2400" b="0" dirty="0"/>
          </a:p>
          <a:p>
            <a:pPr marL="854075" lvl="1" algn="just"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给出循环条件的表达式</a:t>
            </a:r>
            <a:r>
              <a:rPr lang="en-US" altLang="zh-CN" sz="2400" b="0" dirty="0"/>
              <a:t>2</a:t>
            </a:r>
            <a:r>
              <a:rPr lang="zh-CN" altLang="en-US" sz="2400" b="0" dirty="0"/>
              <a:t>：</a:t>
            </a:r>
            <a:r>
              <a:rPr lang="en-US" altLang="zh-CN" sz="2400" b="0" dirty="0"/>
              <a:t>i &lt;= 100</a:t>
            </a:r>
            <a:endParaRPr lang="en-US" altLang="zh-CN" sz="2400" b="0" dirty="0"/>
          </a:p>
          <a:p>
            <a:pPr marL="854075" lvl="1" algn="just"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设置循环步长的表达式</a:t>
            </a:r>
            <a:r>
              <a:rPr lang="en-US" altLang="zh-CN" sz="2400" b="0" dirty="0"/>
              <a:t>3</a:t>
            </a:r>
            <a:r>
              <a:rPr lang="zh-CN" altLang="en-US" sz="2400" b="0" dirty="0"/>
              <a:t>：</a:t>
            </a:r>
            <a:r>
              <a:rPr lang="en-US" altLang="zh-CN" sz="2400" b="0" dirty="0"/>
              <a:t>i++</a:t>
            </a:r>
            <a:endParaRPr lang="en-US" altLang="zh-CN" sz="2400" b="0" dirty="0"/>
          </a:p>
          <a:p>
            <a:pPr marL="854075" lvl="1" algn="just" eaLnBrk="1" hangingPunct="1">
              <a:lnSpc>
                <a:spcPct val="80000"/>
              </a:lnSpc>
              <a:buNone/>
            </a:pPr>
            <a:r>
              <a:rPr lang="zh-CN" altLang="en-US" sz="2400" b="0" dirty="0"/>
              <a:t>循环体语句：</a:t>
            </a:r>
            <a:r>
              <a:rPr lang="en-US" altLang="zh-CN" sz="2400" b="0" dirty="0"/>
              <a:t>sum = sum + i;</a:t>
            </a:r>
            <a:endParaRPr lang="en-US" altLang="zh-CN" sz="2400" b="0" dirty="0"/>
          </a:p>
          <a:p>
            <a:pPr marL="854075" lvl="1" algn="just" eaLnBrk="1" hangingPunct="1">
              <a:lnSpc>
                <a:spcPct val="80000"/>
              </a:lnSpc>
              <a:buNone/>
            </a:pPr>
            <a:endParaRPr lang="en-US" altLang="zh-CN" sz="2400" b="0" dirty="0"/>
          </a:p>
          <a:p>
            <a:pPr marL="854075" lvl="1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for(i=1; i&lt;=100; i++)</a:t>
            </a:r>
            <a:endParaRPr lang="en-US" altLang="zh-CN" sz="2400" b="0" dirty="0"/>
          </a:p>
          <a:p>
            <a:pPr marL="1273175" lvl="2" algn="just" eaLnBrk="1" hangingPunct="1">
              <a:lnSpc>
                <a:spcPct val="80000"/>
              </a:lnSpc>
              <a:buNone/>
            </a:pPr>
            <a:r>
              <a:rPr lang="en-US" altLang="zh-CN" sz="2000" b="0" dirty="0"/>
              <a:t>sum =sum+i;</a:t>
            </a:r>
            <a:endParaRPr lang="en-US" altLang="zh-CN" sz="2000" b="0" dirty="0"/>
          </a:p>
        </p:txBody>
      </p:sp>
      <p:sp>
        <p:nvSpPr>
          <p:cNvPr id="62467" name="Rectangle 3" descr="Large confetti"/>
          <p:cNvSpPr>
            <a:spLocks noGrp="1"/>
          </p:cNvSpPr>
          <p:nvPr>
            <p:ph type="title"/>
          </p:nvPr>
        </p:nvSpPr>
        <p:spPr>
          <a:xfrm>
            <a:off x="457200" y="620713"/>
            <a:ext cx="7339013" cy="703262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zh-CN" sz="4000" b="0" dirty="0"/>
              <a:t>2.4.3 </a:t>
            </a:r>
            <a:r>
              <a:rPr lang="zh-CN" altLang="en-US" sz="4000" b="0" dirty="0"/>
              <a:t>指定次数的循环程序设计</a:t>
            </a:r>
            <a:endParaRPr lang="en-US" altLang="zh-CN" sz="40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5266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5266">
                                            <p:txEl>
                                              <p:charRg st="0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>
                                            <p:txEl>
                                              <p:charRg st="13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5266">
                                            <p:txEl>
                                              <p:charRg st="13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5266">
                                            <p:txEl>
                                              <p:charRg st="13" end="3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>
                                            <p:txEl>
                                              <p:charRg st="3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5266">
                                            <p:txEl>
                                              <p:charRg st="3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5266">
                                            <p:txEl>
                                              <p:charRg st="3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>
                                            <p:txEl>
                                              <p:charRg st="66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5266">
                                            <p:txEl>
                                              <p:charRg st="66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5266">
                                            <p:txEl>
                                              <p:charRg st="66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>
                                            <p:txEl>
                                              <p:charRg st="77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95266">
                                            <p:txEl>
                                              <p:charRg st="77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5266">
                                            <p:txEl>
                                              <p:charRg st="77" end="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>
                                            <p:txEl>
                                              <p:charRg st="95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95266">
                                            <p:txEl>
                                              <p:charRg st="95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95266">
                                            <p:txEl>
                                              <p:charRg st="95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>
                                            <p:txEl>
                                              <p:charRg st="116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5266">
                                            <p:txEl>
                                              <p:charRg st="116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95266">
                                            <p:txEl>
                                              <p:charRg st="116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>
                                            <p:txEl>
                                              <p:charRg st="132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95266">
                                            <p:txEl>
                                              <p:charRg st="132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95266">
                                            <p:txEl>
                                              <p:charRg st="132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>
                                            <p:txEl>
                                              <p:charRg st="154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95266">
                                            <p:txEl>
                                              <p:charRg st="154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95266">
                                            <p:txEl>
                                              <p:charRg st="154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266">
                                            <p:txEl>
                                              <p:charRg st="176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95266">
                                            <p:txEl>
                                              <p:charRg st="176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95266">
                                            <p:txEl>
                                              <p:charRg st="176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5266" grpId="0" bldLvl="2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Rectangle 2"/>
          <p:cNvSpPr>
            <a:spLocks noGrp="1"/>
          </p:cNvSpPr>
          <p:nvPr>
            <p:ph idx="1"/>
          </p:nvPr>
        </p:nvSpPr>
        <p:spPr>
          <a:xfrm>
            <a:off x="457200" y="1524000"/>
            <a:ext cx="8218488" cy="5073650"/>
          </a:xfrm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/*  </a:t>
            </a:r>
            <a:r>
              <a:rPr lang="zh-CN" altLang="en-US" sz="2400" b="0" dirty="0"/>
              <a:t>计算</a:t>
            </a:r>
            <a:r>
              <a:rPr lang="en-US" altLang="zh-CN" sz="2400" b="0" dirty="0"/>
              <a:t>1 + 2 + 3 + …… + 100  */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#include &lt;stdio.h&gt;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int main(void)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{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int i, sum;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sum = 0;                  	    </a:t>
            </a:r>
            <a:r>
              <a:rPr lang="en-US" altLang="zh-CN" sz="2400" b="0" dirty="0">
                <a:solidFill>
                  <a:schemeClr val="bg2"/>
                </a:solidFill>
              </a:rPr>
              <a:t>/* </a:t>
            </a:r>
            <a:r>
              <a:rPr lang="zh-CN" altLang="en-US" sz="2400" b="0" dirty="0">
                <a:solidFill>
                  <a:schemeClr val="bg2"/>
                </a:solidFill>
              </a:rPr>
              <a:t>置累加和</a:t>
            </a:r>
            <a:r>
              <a:rPr lang="en-US" altLang="zh-CN" sz="2400" b="0" dirty="0">
                <a:solidFill>
                  <a:schemeClr val="bg2"/>
                </a:solidFill>
              </a:rPr>
              <a:t>sum</a:t>
            </a:r>
            <a:r>
              <a:rPr lang="zh-CN" altLang="en-US" sz="2400" b="0" dirty="0">
                <a:solidFill>
                  <a:schemeClr val="bg2"/>
                </a:solidFill>
              </a:rPr>
              <a:t>的初值为</a:t>
            </a:r>
            <a:r>
              <a:rPr lang="en-US" altLang="zh-CN" sz="2400" b="0" dirty="0">
                <a:solidFill>
                  <a:schemeClr val="bg2"/>
                </a:solidFill>
              </a:rPr>
              <a:t>0 */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for ( i = 1; i &lt;= 100; i++ )    </a:t>
            </a:r>
            <a:r>
              <a:rPr lang="en-US" altLang="zh-CN" sz="2400" b="0" dirty="0">
                <a:solidFill>
                  <a:schemeClr val="bg2"/>
                </a:solidFill>
              </a:rPr>
              <a:t>/* </a:t>
            </a:r>
            <a:r>
              <a:rPr lang="zh-CN" altLang="en-US" sz="2400" b="0" dirty="0">
                <a:solidFill>
                  <a:schemeClr val="bg2"/>
                </a:solidFill>
              </a:rPr>
              <a:t>循环重复</a:t>
            </a:r>
            <a:r>
              <a:rPr lang="en-US" altLang="zh-CN" sz="2400" b="0" dirty="0">
                <a:solidFill>
                  <a:schemeClr val="bg2"/>
                </a:solidFill>
              </a:rPr>
              <a:t>100</a:t>
            </a:r>
            <a:r>
              <a:rPr lang="zh-CN" altLang="en-US" sz="2400" b="0" dirty="0">
                <a:solidFill>
                  <a:schemeClr val="bg2"/>
                </a:solidFill>
              </a:rPr>
              <a:t>次 *</a:t>
            </a:r>
            <a:r>
              <a:rPr lang="en-US" altLang="zh-CN" sz="2400" b="0" dirty="0">
                <a:solidFill>
                  <a:schemeClr val="bg2"/>
                </a:solidFill>
              </a:rPr>
              <a:t>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    sum = sum + i;         	     </a:t>
            </a:r>
            <a:r>
              <a:rPr lang="en-US" altLang="zh-CN" sz="2400" b="0" dirty="0">
                <a:solidFill>
                  <a:schemeClr val="bg2"/>
                </a:solidFill>
              </a:rPr>
              <a:t>/* </a:t>
            </a:r>
            <a:r>
              <a:rPr lang="zh-CN" altLang="en-US" sz="2400" b="0" dirty="0">
                <a:solidFill>
                  <a:schemeClr val="bg2"/>
                </a:solidFill>
              </a:rPr>
              <a:t>反复累加 *</a:t>
            </a:r>
            <a:r>
              <a:rPr lang="en-US" altLang="zh-CN" sz="2400" b="0" dirty="0">
                <a:solidFill>
                  <a:schemeClr val="bg2"/>
                </a:solidFill>
              </a:rPr>
              <a:t>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377825" indent="-377825" algn="just" eaLnBrk="1" hangingPunct="1">
              <a:lnSpc>
                <a:spcPct val="120000"/>
              </a:lnSpc>
              <a:buNone/>
            </a:pPr>
            <a:r>
              <a:rPr lang="en-US" altLang="zh-CN" sz="2400" b="0" dirty="0"/>
              <a:t>    printf( “sum = %d\n”, sum);  	</a:t>
            </a:r>
            <a:r>
              <a:rPr lang="en-US" altLang="zh-CN" sz="2400" b="0" dirty="0">
                <a:solidFill>
                  <a:schemeClr val="bg2"/>
                </a:solidFill>
              </a:rPr>
              <a:t>/* </a:t>
            </a:r>
            <a:r>
              <a:rPr lang="zh-CN" altLang="en-US" sz="2400" b="0" dirty="0">
                <a:solidFill>
                  <a:schemeClr val="bg2"/>
                </a:solidFill>
              </a:rPr>
              <a:t>输出累加和 *</a:t>
            </a:r>
            <a:r>
              <a:rPr lang="en-US" altLang="zh-CN" sz="2400" b="0" dirty="0">
                <a:solidFill>
                  <a:schemeClr val="bg2"/>
                </a:solidFill>
              </a:rPr>
              <a:t>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377825" indent="-377825" algn="just" eaLnBrk="1" hangingPunct="1">
              <a:lnSpc>
                <a:spcPct val="120000"/>
              </a:lnSpc>
              <a:buNone/>
            </a:pPr>
            <a:r>
              <a:rPr lang="en-US" altLang="zh-CN" sz="2400" b="0" dirty="0"/>
              <a:t>    return 0;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}</a:t>
            </a:r>
            <a:endParaRPr lang="en-US" altLang="zh-CN" b="0" dirty="0"/>
          </a:p>
        </p:txBody>
      </p:sp>
      <p:sp>
        <p:nvSpPr>
          <p:cNvPr id="63491" name="Rectangle 3" descr="Large confetti"/>
          <p:cNvSpPr>
            <a:spLocks noGrp="1"/>
          </p:cNvSpPr>
          <p:nvPr>
            <p:ph type="title"/>
          </p:nvPr>
        </p:nvSpPr>
        <p:spPr>
          <a:xfrm>
            <a:off x="32385" y="168275"/>
            <a:ext cx="8644255" cy="738505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b="0" dirty="0"/>
              <a:t>源程序－求 </a:t>
            </a:r>
            <a:r>
              <a:rPr lang="en-US" altLang="zh-CN" sz="4000" b="0" dirty="0"/>
              <a:t>1+2+……+100</a:t>
            </a:r>
            <a:endParaRPr lang="zh-CN" altLang="en-US" sz="4000" b="0" dirty="0"/>
          </a:p>
        </p:txBody>
      </p:sp>
      <p:sp>
        <p:nvSpPr>
          <p:cNvPr id="396292" name="Rectangle 4"/>
          <p:cNvSpPr/>
          <p:nvPr/>
        </p:nvSpPr>
        <p:spPr>
          <a:xfrm>
            <a:off x="4351020" y="2060575"/>
            <a:ext cx="4324985" cy="155130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en-US" altLang="zh-CN" sz="2400" b="0" dirty="0"/>
              <a:t>for(i=1; i&lt;=100; i++){   </a:t>
            </a:r>
            <a:endParaRPr lang="en-US" altLang="zh-CN" sz="2400" b="0" dirty="0"/>
          </a:p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en-US" altLang="zh-CN" sz="2400" b="0" dirty="0"/>
              <a:t>     sum=0;</a:t>
            </a:r>
            <a:endParaRPr lang="en-US" altLang="zh-CN" sz="2400" b="0" dirty="0"/>
          </a:p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en-US" altLang="zh-CN" sz="2400" b="0" dirty="0"/>
              <a:t>     sum=sum+i;</a:t>
            </a:r>
            <a:endParaRPr lang="en-US" altLang="zh-CN" sz="2400" b="0" dirty="0"/>
          </a:p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en-US" altLang="zh-CN" sz="2400" b="0" dirty="0"/>
              <a:t>}</a:t>
            </a:r>
            <a:endParaRPr lang="en-US" altLang="zh-CN" sz="2400" b="0" dirty="0"/>
          </a:p>
        </p:txBody>
      </p:sp>
      <p:sp>
        <p:nvSpPr>
          <p:cNvPr id="396293" name="Text Box 5"/>
          <p:cNvSpPr txBox="1"/>
          <p:nvPr/>
        </p:nvSpPr>
        <p:spPr>
          <a:xfrm>
            <a:off x="6804025" y="765175"/>
            <a:ext cx="2121535" cy="423545"/>
          </a:xfrm>
          <a:prstGeom prst="rect">
            <a:avLst/>
          </a:prstGeom>
          <a:noFill/>
          <a:ln w="9525" cap="flat" cmpd="sng">
            <a:solidFill>
              <a:schemeClr val="hlink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sum=5050</a:t>
            </a:r>
            <a:endParaRPr lang="en-US" altLang="zh-CN" sz="2400" b="0" dirty="0"/>
          </a:p>
        </p:txBody>
      </p:sp>
      <p:sp>
        <p:nvSpPr>
          <p:cNvPr id="2" name="Text Box 5"/>
          <p:cNvSpPr txBox="1"/>
          <p:nvPr/>
        </p:nvSpPr>
        <p:spPr>
          <a:xfrm>
            <a:off x="5718810" y="3217545"/>
            <a:ext cx="2917190" cy="423545"/>
          </a:xfrm>
          <a:prstGeom prst="rect">
            <a:avLst/>
          </a:prstGeom>
          <a:noFill/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400" b="0" dirty="0">
                <a:solidFill>
                  <a:srgbClr val="FF0000"/>
                </a:solidFill>
              </a:rPr>
              <a:t>！！</a:t>
            </a:r>
            <a:r>
              <a:rPr lang="en-US" altLang="zh-CN" sz="2400" b="0" dirty="0">
                <a:solidFill>
                  <a:srgbClr val="FF0000"/>
                </a:solidFill>
              </a:rPr>
              <a:t>bug</a:t>
            </a:r>
            <a:r>
              <a:rPr lang="zh-CN" altLang="en-US" sz="2400" b="0" dirty="0">
                <a:solidFill>
                  <a:srgbClr val="FF0000"/>
                </a:solidFill>
              </a:rPr>
              <a:t>：初值错位</a:t>
            </a:r>
            <a:endParaRPr lang="zh-CN" altLang="en-US" sz="2400" b="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62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6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6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6293" grpId="0" bldLvl="0" animBg="1"/>
      <p:bldP spid="2" grpId="0" bldLvl="0" animBg="1"/>
      <p:bldP spid="396292" grpId="0" animBg="1"/>
      <p:bldP spid="396292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2"/>
          <p:cNvSpPr>
            <a:spLocks noGrp="1"/>
          </p:cNvSpPr>
          <p:nvPr>
            <p:ph idx="1"/>
          </p:nvPr>
        </p:nvSpPr>
        <p:spPr>
          <a:xfrm>
            <a:off x="457200" y="1524000"/>
            <a:ext cx="5464175" cy="4495800"/>
          </a:xfrm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buNone/>
            </a:pPr>
            <a:r>
              <a:rPr lang="en-US" altLang="zh-CN" sz="2400" b="0" dirty="0"/>
              <a:t>#include &lt;stdio.h&gt;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int main(void)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{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int i, sum;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sum = 0;                  	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for ( i = 1; i &lt;= 100; i++ )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    sum = sum + i; 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120000"/>
              </a:lnSpc>
              <a:buNone/>
            </a:pPr>
            <a:r>
              <a:rPr lang="en-US" altLang="zh-CN" sz="2400" b="0" dirty="0"/>
              <a:t>    printf( “sum = %d\n”, sum);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120000"/>
              </a:lnSpc>
              <a:buNone/>
            </a:pPr>
            <a:r>
              <a:rPr lang="en-US" altLang="zh-CN" sz="2400" b="0" dirty="0"/>
              <a:t>    return 0;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}</a:t>
            </a:r>
            <a:endParaRPr lang="en-US" altLang="zh-CN" b="0" dirty="0"/>
          </a:p>
        </p:txBody>
      </p:sp>
      <p:sp>
        <p:nvSpPr>
          <p:cNvPr id="64515" name="Rectangle 3" descr="Large confetti"/>
          <p:cNvSpPr>
            <a:spLocks noGrp="1"/>
          </p:cNvSpPr>
          <p:nvPr>
            <p:ph type="title"/>
          </p:nvPr>
        </p:nvSpPr>
        <p:spPr>
          <a:xfrm>
            <a:off x="457200" y="549275"/>
            <a:ext cx="8229600" cy="738188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b="0" dirty="0"/>
              <a:t>求 </a:t>
            </a:r>
            <a:r>
              <a:rPr lang="en-US" altLang="zh-CN" sz="4000" b="0" dirty="0"/>
              <a:t>1+1/2+1/3+……+ 1/100</a:t>
            </a:r>
            <a:endParaRPr lang="en-US" altLang="zh-CN" sz="4000" b="0" dirty="0"/>
          </a:p>
        </p:txBody>
      </p:sp>
      <p:sp>
        <p:nvSpPr>
          <p:cNvPr id="397317" name="Rectangle 5"/>
          <p:cNvSpPr/>
          <p:nvPr/>
        </p:nvSpPr>
        <p:spPr>
          <a:xfrm>
            <a:off x="5279390" y="3747135"/>
            <a:ext cx="3469640" cy="78422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en-US" altLang="zh-CN" sz="2400" b="0" dirty="0"/>
              <a:t>for(i=1; i&lt;=100; i++)  </a:t>
            </a:r>
            <a:endParaRPr lang="en-US" altLang="zh-CN" sz="2400" b="0" dirty="0"/>
          </a:p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en-US" altLang="zh-CN" sz="2400" b="0" dirty="0"/>
              <a:t>     sum=sum+1.0/i;</a:t>
            </a:r>
            <a:endParaRPr lang="en-US" altLang="zh-CN" sz="2400" b="0" dirty="0"/>
          </a:p>
        </p:txBody>
      </p:sp>
      <p:sp>
        <p:nvSpPr>
          <p:cNvPr id="397318" name="Rectangle 6"/>
          <p:cNvSpPr/>
          <p:nvPr/>
        </p:nvSpPr>
        <p:spPr>
          <a:xfrm>
            <a:off x="6538913" y="2565400"/>
            <a:ext cx="2209800" cy="78422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en-US" altLang="zh-CN" sz="2400" b="0" dirty="0"/>
              <a:t>int i;</a:t>
            </a:r>
            <a:endParaRPr lang="en-US" altLang="zh-CN" sz="2400" b="0" dirty="0"/>
          </a:p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en-US" altLang="zh-CN" sz="2400" b="0" dirty="0"/>
              <a:t>double sum;</a:t>
            </a:r>
            <a:endParaRPr lang="en-US" altLang="zh-CN" sz="2400" b="0" dirty="0"/>
          </a:p>
        </p:txBody>
      </p:sp>
      <p:sp>
        <p:nvSpPr>
          <p:cNvPr id="397319" name="Rectangle 7"/>
          <p:cNvSpPr/>
          <p:nvPr/>
        </p:nvSpPr>
        <p:spPr>
          <a:xfrm>
            <a:off x="4427538" y="5157788"/>
            <a:ext cx="4473575" cy="46037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printf( “sum = %f\n”, sum);</a:t>
            </a:r>
            <a:endParaRPr lang="en-US" altLang="zh-CN" sz="2400" b="0" dirty="0"/>
          </a:p>
        </p:txBody>
      </p:sp>
      <p:sp>
        <p:nvSpPr>
          <p:cNvPr id="2" name="文本框 1"/>
          <p:cNvSpPr txBox="1"/>
          <p:nvPr/>
        </p:nvSpPr>
        <p:spPr>
          <a:xfrm>
            <a:off x="4003675" y="1424940"/>
            <a:ext cx="425894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对已有的程序进行改造</a:t>
            </a:r>
            <a:endParaRPr lang="zh-CN" altLang="en-US" sz="3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7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97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73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7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7317" grpId="0" bldLvl="0" animBg="1"/>
      <p:bldP spid="397318" grpId="0" bldLvl="0" animBg="1"/>
      <p:bldP spid="397319" grpId="0" bldLvl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800600"/>
          </a:xfrm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buNone/>
            </a:pPr>
            <a:r>
              <a:rPr lang="zh-CN" altLang="en-US" sz="2800" b="0" dirty="0"/>
              <a:t>一般包含四个部分：</a:t>
            </a:r>
            <a:endParaRPr lang="zh-CN" altLang="en-US" sz="2800" b="0" dirty="0"/>
          </a:p>
          <a:p>
            <a:pPr marL="377825" indent="-377825" algn="just" eaLnBrk="1" hangingPunct="1"/>
            <a:r>
              <a:rPr lang="zh-CN" altLang="en-US" sz="2600" b="0" dirty="0"/>
              <a:t>初始化：指定循环起点</a:t>
            </a:r>
            <a:endParaRPr lang="zh-CN" altLang="en-US" sz="2600" b="0" dirty="0"/>
          </a:p>
          <a:p>
            <a:pPr marL="854075" lvl="1" algn="just" eaLnBrk="1" hangingPunct="1"/>
            <a:r>
              <a:rPr lang="zh-CN" altLang="en-US" sz="2100" b="0" dirty="0"/>
              <a:t>给循环变量赋初值，如</a:t>
            </a:r>
            <a:r>
              <a:rPr lang="en-US" altLang="zh-CN" sz="2100" b="0" dirty="0"/>
              <a:t>i = 1;</a:t>
            </a:r>
            <a:endParaRPr lang="en-US" altLang="zh-CN" sz="2100" b="0" dirty="0"/>
          </a:p>
          <a:p>
            <a:pPr marL="854075" lvl="1" algn="just" eaLnBrk="1" hangingPunct="1"/>
            <a:r>
              <a:rPr lang="zh-CN" altLang="en-US" sz="2100" b="0" dirty="0"/>
              <a:t>进入循环之前，设置相关变量的初值，如</a:t>
            </a:r>
            <a:r>
              <a:rPr lang="en-US" altLang="zh-CN" sz="2100" b="0" dirty="0"/>
              <a:t>sum = 0</a:t>
            </a:r>
            <a:r>
              <a:rPr lang="zh-CN" altLang="en-US" sz="2100" b="0" dirty="0"/>
              <a:t>。</a:t>
            </a:r>
            <a:endParaRPr lang="zh-CN" altLang="en-US" sz="2100" b="0" dirty="0"/>
          </a:p>
          <a:p>
            <a:pPr marL="377825" indent="-377825" algn="just" eaLnBrk="1" hangingPunct="1"/>
            <a:r>
              <a:rPr lang="zh-CN" altLang="en-US" sz="2600" b="0" dirty="0"/>
              <a:t>条件控制：</a:t>
            </a:r>
            <a:endParaRPr lang="zh-CN" altLang="en-US" sz="2600" b="0" dirty="0"/>
          </a:p>
          <a:p>
            <a:pPr marL="854075" lvl="1" algn="just" eaLnBrk="1" hangingPunct="1"/>
            <a:r>
              <a:rPr lang="zh-CN" altLang="en-US" sz="2100" b="0" dirty="0"/>
              <a:t>只要</a:t>
            </a:r>
            <a:r>
              <a:rPr lang="en-US" altLang="zh-CN" sz="2100" b="0" dirty="0"/>
              <a:t>i &lt;= 100</a:t>
            </a:r>
            <a:r>
              <a:rPr lang="zh-CN" altLang="en-US" sz="2100" b="0" dirty="0"/>
              <a:t>，循环就继续</a:t>
            </a:r>
            <a:endParaRPr lang="zh-CN" altLang="en-US" sz="2100" b="0" dirty="0"/>
          </a:p>
          <a:p>
            <a:pPr marL="377825" indent="-377825" algn="just" eaLnBrk="1" hangingPunct="1"/>
            <a:r>
              <a:rPr lang="zh-CN" altLang="en-US" sz="2600" b="0" dirty="0"/>
              <a:t>工作：指重复执行的语句（循环体）。</a:t>
            </a:r>
            <a:endParaRPr lang="zh-CN" altLang="en-US" sz="2600" b="0" dirty="0"/>
          </a:p>
          <a:p>
            <a:pPr marL="854075" lvl="1" algn="just" eaLnBrk="1" hangingPunct="1"/>
            <a:r>
              <a:rPr lang="zh-CN" altLang="en-US" sz="2100" b="0" dirty="0"/>
              <a:t>一条语句，可以是复合语句或空语句。如</a:t>
            </a:r>
            <a:r>
              <a:rPr lang="en-US" altLang="zh-CN" sz="2100" b="0" dirty="0"/>
              <a:t>sum = sum + i</a:t>
            </a:r>
            <a:r>
              <a:rPr lang="zh-CN" altLang="en-US" sz="2100" b="0" dirty="0"/>
              <a:t>。</a:t>
            </a:r>
            <a:endParaRPr lang="zh-CN" altLang="en-US" sz="2100" b="0" dirty="0"/>
          </a:p>
          <a:p>
            <a:pPr marL="377825" indent="-377825" algn="just" eaLnBrk="1" hangingPunct="1"/>
            <a:r>
              <a:rPr lang="zh-CN" altLang="en-US" sz="2600" b="0" dirty="0"/>
              <a:t>改变循环变量：在每次循环中改变循环变量的值</a:t>
            </a:r>
            <a:endParaRPr lang="zh-CN" altLang="en-US" sz="2600" b="0" dirty="0"/>
          </a:p>
          <a:p>
            <a:pPr marL="854075" lvl="1" algn="just" eaLnBrk="1" hangingPunct="1"/>
            <a:r>
              <a:rPr lang="zh-CN" altLang="en-US" sz="2100" b="0" dirty="0"/>
              <a:t>如 </a:t>
            </a:r>
            <a:r>
              <a:rPr lang="en-US" altLang="zh-CN" sz="2100" b="0" dirty="0"/>
              <a:t>i++</a:t>
            </a:r>
            <a:r>
              <a:rPr lang="zh-CN" altLang="en-US" sz="2100" b="0" dirty="0"/>
              <a:t>，以改变循环条件的真假。一旦</a:t>
            </a:r>
            <a:r>
              <a:rPr lang="en-US" altLang="zh-CN" sz="2100" b="0" dirty="0"/>
              <a:t>i &gt; 100</a:t>
            </a:r>
            <a:r>
              <a:rPr lang="zh-CN" altLang="en-US" sz="2100" b="0" dirty="0"/>
              <a:t>，循环结束。</a:t>
            </a:r>
            <a:endParaRPr lang="zh-CN" altLang="en-US" sz="2400" b="0" dirty="0"/>
          </a:p>
        </p:txBody>
      </p:sp>
      <p:sp>
        <p:nvSpPr>
          <p:cNvPr id="65539" name="Rectangle 3" descr="Large confetti"/>
          <p:cNvSpPr>
            <a:spLocks noGrp="1"/>
          </p:cNvSpPr>
          <p:nvPr>
            <p:ph type="title"/>
          </p:nvPr>
        </p:nvSpPr>
        <p:spPr>
          <a:xfrm>
            <a:off x="323850" y="620713"/>
            <a:ext cx="8050213" cy="706437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 dirty="0"/>
              <a:t>指定次数的循环程序设计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Rectangle 2"/>
          <p:cNvSpPr>
            <a:spLocks noGrp="1"/>
          </p:cNvSpPr>
          <p:nvPr>
            <p:ph idx="1"/>
          </p:nvPr>
        </p:nvSpPr>
        <p:spPr>
          <a:xfrm>
            <a:off x="762000" y="1371600"/>
            <a:ext cx="7050088" cy="4937125"/>
          </a:xfrm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输入一个正整数</a:t>
            </a:r>
            <a:r>
              <a:rPr lang="en-US" altLang="zh-CN" sz="2800" b="0" dirty="0"/>
              <a:t>n</a:t>
            </a:r>
            <a:r>
              <a:rPr lang="zh-CN" altLang="en-US" sz="2800" b="0" dirty="0"/>
              <a:t>，求前</a:t>
            </a:r>
            <a:r>
              <a:rPr lang="en-US" altLang="zh-CN" sz="2800" b="0" dirty="0"/>
              <a:t>n</a:t>
            </a:r>
            <a:r>
              <a:rPr lang="zh-CN" altLang="en-US" sz="2800" b="0" dirty="0"/>
              <a:t>项和，即循环</a:t>
            </a:r>
            <a:r>
              <a:rPr lang="en-US" altLang="zh-CN" sz="2800" b="0" dirty="0"/>
              <a:t>n</a:t>
            </a:r>
            <a:r>
              <a:rPr lang="zh-CN" altLang="en-US" sz="2800" b="0" dirty="0"/>
              <a:t>次</a:t>
            </a:r>
            <a:endParaRPr lang="zh-CN" altLang="en-US" sz="28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#include &lt;stdio.h&gt;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int main(void)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{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int i, sum;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sum = 0;                  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for ( i = 1; i &lt;= 100; i++ )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    sum = sum + i; 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120000"/>
              </a:lnSpc>
              <a:buNone/>
            </a:pPr>
            <a:r>
              <a:rPr lang="en-US" altLang="zh-CN" sz="2400" b="0" dirty="0"/>
              <a:t>    printf( “sum = %d\n”, sum);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120000"/>
              </a:lnSpc>
              <a:buNone/>
            </a:pPr>
            <a:r>
              <a:rPr lang="en-US" altLang="zh-CN" sz="2400" b="0" dirty="0"/>
              <a:t>    return 0;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}</a:t>
            </a:r>
            <a:endParaRPr lang="en-US" altLang="zh-CN" sz="2400" b="0" dirty="0"/>
          </a:p>
        </p:txBody>
      </p:sp>
      <p:sp>
        <p:nvSpPr>
          <p:cNvPr id="66563" name="Rectangle 3" descr="Large confetti"/>
          <p:cNvSpPr>
            <a:spLocks noGrp="1"/>
          </p:cNvSpPr>
          <p:nvPr>
            <p:ph type="title"/>
          </p:nvPr>
        </p:nvSpPr>
        <p:spPr>
          <a:xfrm>
            <a:off x="468313" y="549275"/>
            <a:ext cx="7272337" cy="792163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0" dirty="0"/>
              <a:t>例</a:t>
            </a:r>
            <a:r>
              <a:rPr lang="en-US" altLang="zh-CN" b="0" dirty="0"/>
              <a:t>2-7 </a:t>
            </a:r>
            <a:r>
              <a:rPr lang="zh-CN" altLang="en-US" b="0" dirty="0"/>
              <a:t>求 </a:t>
            </a:r>
            <a:r>
              <a:rPr lang="en-US" altLang="zh-CN" b="0" dirty="0"/>
              <a:t>1+2+3+……+n </a:t>
            </a:r>
            <a:endParaRPr lang="en-US" altLang="zh-CN" b="0" dirty="0"/>
          </a:p>
        </p:txBody>
      </p:sp>
      <p:sp>
        <p:nvSpPr>
          <p:cNvPr id="66564" name="Rectangle 4"/>
          <p:cNvSpPr/>
          <p:nvPr/>
        </p:nvSpPr>
        <p:spPr>
          <a:xfrm>
            <a:off x="1202690" y="3933825"/>
            <a:ext cx="4132580" cy="718820"/>
          </a:xfrm>
          <a:prstGeom prst="rect">
            <a:avLst/>
          </a:prstGeom>
          <a:noFill/>
          <a:ln w="9525" cap="rnd" cmpd="sng">
            <a:solidFill>
              <a:schemeClr val="tx1"/>
            </a:solidFill>
            <a:prstDash val="sysDot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b="0" dirty="0"/>
          </a:p>
        </p:txBody>
      </p:sp>
      <p:sp>
        <p:nvSpPr>
          <p:cNvPr id="399365" name="Rectangle 5"/>
          <p:cNvSpPr/>
          <p:nvPr/>
        </p:nvSpPr>
        <p:spPr>
          <a:xfrm>
            <a:off x="5580380" y="4078605"/>
            <a:ext cx="3399790" cy="78422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en-US" altLang="zh-CN" sz="2400" b="0" dirty="0"/>
              <a:t>for(i=1; i&lt;=n; i++)  </a:t>
            </a:r>
            <a:endParaRPr lang="en-US" altLang="zh-CN" sz="2400" b="0" dirty="0"/>
          </a:p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en-US" altLang="zh-CN" sz="2400" b="0" dirty="0"/>
              <a:t>     sum=sum+i;</a:t>
            </a:r>
            <a:endParaRPr lang="en-US" altLang="zh-CN" sz="2400" b="0" dirty="0"/>
          </a:p>
        </p:txBody>
      </p:sp>
      <p:sp>
        <p:nvSpPr>
          <p:cNvPr id="399366" name="Rectangle 6"/>
          <p:cNvSpPr/>
          <p:nvPr/>
        </p:nvSpPr>
        <p:spPr>
          <a:xfrm>
            <a:off x="5580380" y="2854325"/>
            <a:ext cx="3399790" cy="78422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en-US" altLang="zh-CN" sz="2400" b="0" dirty="0"/>
              <a:t>printf(“Enter n:");  </a:t>
            </a:r>
            <a:endParaRPr lang="en-US" altLang="zh-CN" sz="2400" b="0" dirty="0"/>
          </a:p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en-US" altLang="zh-CN" sz="2400" b="0" dirty="0"/>
              <a:t>scanf("%d", &amp;n); </a:t>
            </a:r>
            <a:endParaRPr lang="en-US" altLang="zh-CN" sz="2400" b="0" dirty="0"/>
          </a:p>
        </p:txBody>
      </p:sp>
      <p:sp>
        <p:nvSpPr>
          <p:cNvPr id="399367" name="Rectangle 7"/>
          <p:cNvSpPr/>
          <p:nvPr/>
        </p:nvSpPr>
        <p:spPr>
          <a:xfrm>
            <a:off x="3492500" y="5589905"/>
            <a:ext cx="3756660" cy="82994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Enter n: </a:t>
            </a:r>
            <a:r>
              <a:rPr lang="en-US" altLang="zh-CN" sz="2400" b="0" dirty="0">
                <a:solidFill>
                  <a:srgbClr val="CC0066"/>
                </a:solidFill>
              </a:rPr>
              <a:t>100</a:t>
            </a:r>
            <a:endParaRPr lang="en-US" altLang="zh-CN" sz="24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Sum = 5050</a:t>
            </a:r>
            <a:endParaRPr lang="en-US" altLang="zh-CN" sz="2400" b="0" dirty="0"/>
          </a:p>
        </p:txBody>
      </p:sp>
      <p:sp>
        <p:nvSpPr>
          <p:cNvPr id="2" name="Rectangle 6"/>
          <p:cNvSpPr/>
          <p:nvPr/>
        </p:nvSpPr>
        <p:spPr>
          <a:xfrm>
            <a:off x="5580380" y="2066925"/>
            <a:ext cx="1685925" cy="40068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lnSpc>
                <a:spcPct val="84000"/>
              </a:lnSpc>
              <a:buClr>
                <a:srgbClr val="33CCCC"/>
              </a:buClr>
              <a:buSzPct val="110000"/>
              <a:buFontTx/>
              <a:buNone/>
            </a:pPr>
            <a:r>
              <a:rPr lang="en-US" altLang="zh-CN" sz="2400" b="0" dirty="0"/>
              <a:t>int n; </a:t>
            </a:r>
            <a:endParaRPr lang="en-US" altLang="zh-CN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99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99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5" grpId="0" bldLvl="0" animBg="1"/>
      <p:bldP spid="399366" grpId="0" bldLvl="0" animBg="1"/>
      <p:bldP spid="399367" grpId="0" bldLvl="0" animBg="1"/>
      <p:bldP spid="2" grpId="0" bldLvl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Rectangle 2"/>
          <p:cNvSpPr>
            <a:spLocks noGrp="1"/>
          </p:cNvSpPr>
          <p:nvPr>
            <p:ph idx="1"/>
          </p:nvPr>
        </p:nvSpPr>
        <p:spPr>
          <a:xfrm>
            <a:off x="34925" y="1269365"/>
            <a:ext cx="4593590" cy="4883785"/>
          </a:xfrm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200" b="0" dirty="0"/>
              <a:t>#include &lt;stdio.h&gt;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200" b="0" dirty="0"/>
              <a:t>int main(void)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200" b="0" dirty="0"/>
              <a:t>{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200" b="0" dirty="0"/>
              <a:t>    int i, sum, n ;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200" b="0" dirty="0"/>
              <a:t> 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200" b="0" dirty="0"/>
              <a:t>    printf(“Enter n: ");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200" b="0" dirty="0"/>
              <a:t>    scanf("%d", &amp;n);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200" b="0" dirty="0"/>
              <a:t>    sum = 0;                  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200" b="0" dirty="0"/>
              <a:t>    for ( i = 1; i &lt;= n; i++ )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200" b="0" dirty="0"/>
              <a:t>        sum = sum + i; 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200" b="0" dirty="0"/>
              <a:t>    printf( “sum = %d\n”, sum);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200" b="0" dirty="0"/>
              <a:t>    return 0;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200" b="0" dirty="0"/>
              <a:t>}</a:t>
            </a:r>
            <a:endParaRPr lang="en-US" altLang="zh-CN" sz="2200" b="0" dirty="0"/>
          </a:p>
        </p:txBody>
      </p:sp>
      <p:sp>
        <p:nvSpPr>
          <p:cNvPr id="67587" name="Rectangle 3"/>
          <p:cNvSpPr>
            <a:spLocks noGrp="1"/>
          </p:cNvSpPr>
          <p:nvPr>
            <p:ph type="title"/>
          </p:nvPr>
        </p:nvSpPr>
        <p:spPr>
          <a:xfrm>
            <a:off x="323850" y="476250"/>
            <a:ext cx="8050213" cy="7064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求</a:t>
            </a:r>
            <a:r>
              <a:rPr lang="en-US" altLang="zh-CN" b="0" dirty="0"/>
              <a:t>1+1/2+1/3+……+ 1/n </a:t>
            </a:r>
            <a:endParaRPr lang="en-US" altLang="zh-CN" b="0" dirty="0"/>
          </a:p>
        </p:txBody>
      </p:sp>
      <p:sp>
        <p:nvSpPr>
          <p:cNvPr id="400388" name="Rectangle 4"/>
          <p:cNvSpPr/>
          <p:nvPr/>
        </p:nvSpPr>
        <p:spPr>
          <a:xfrm>
            <a:off x="4545330" y="1292860"/>
            <a:ext cx="4495800" cy="487362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377825" lvl="0" indent="-377825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200" b="0" dirty="0"/>
              <a:t>#include &lt;stdio.h&gt;</a:t>
            </a:r>
            <a:endParaRPr lang="en-US" altLang="zh-CN" sz="2200" b="0" dirty="0"/>
          </a:p>
          <a:p>
            <a:pPr marL="377825" lvl="0" indent="-377825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200" b="0" dirty="0"/>
              <a:t>int main(void)</a:t>
            </a:r>
            <a:endParaRPr lang="en-US" altLang="zh-CN" sz="2200" b="0" dirty="0"/>
          </a:p>
          <a:p>
            <a:pPr marL="377825" lvl="0" indent="-377825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200" b="0" dirty="0"/>
              <a:t>{  </a:t>
            </a:r>
            <a:endParaRPr lang="en-US" altLang="zh-CN" sz="2200" b="0" dirty="0"/>
          </a:p>
          <a:p>
            <a:pPr marL="377825" lvl="0" indent="-377825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200" b="0" dirty="0"/>
              <a:t>     int i , n ;</a:t>
            </a:r>
            <a:endParaRPr lang="en-US" altLang="zh-CN" sz="2200" b="0" dirty="0"/>
          </a:p>
          <a:p>
            <a:pPr marL="377825" lvl="0" indent="-377825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200" b="0" dirty="0"/>
              <a:t>    double sum;</a:t>
            </a:r>
            <a:endParaRPr lang="en-US" altLang="zh-CN" sz="2200" b="0" dirty="0"/>
          </a:p>
          <a:p>
            <a:pPr marL="377825" lvl="0" indent="-377825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200" b="0" dirty="0"/>
              <a:t> </a:t>
            </a:r>
            <a:endParaRPr lang="en-US" altLang="zh-CN" sz="2200" b="0" dirty="0"/>
          </a:p>
          <a:p>
            <a:pPr marL="377825" lvl="0" indent="-377825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200" b="0" dirty="0"/>
              <a:t>    printf(“Enter n: ");</a:t>
            </a:r>
            <a:endParaRPr lang="en-US" altLang="zh-CN" sz="2200" b="0" dirty="0"/>
          </a:p>
          <a:p>
            <a:pPr marL="377825" lvl="0" indent="-377825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200" b="0" dirty="0"/>
              <a:t>    scanf("%d", &amp;n);</a:t>
            </a:r>
            <a:endParaRPr lang="en-US" altLang="zh-CN" sz="2200" b="0" dirty="0"/>
          </a:p>
          <a:p>
            <a:pPr marL="377825" lvl="0" indent="-377825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200" b="0" dirty="0"/>
              <a:t>    sum = 0;                  </a:t>
            </a:r>
            <a:endParaRPr lang="en-US" altLang="zh-CN" sz="2200" b="0" dirty="0"/>
          </a:p>
          <a:p>
            <a:pPr marL="377825" lvl="0" indent="-377825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200" b="0" dirty="0"/>
              <a:t>    for ( i = 1; i &lt;= n; i++ )</a:t>
            </a:r>
            <a:endParaRPr lang="en-US" altLang="zh-CN" sz="2200" b="0" dirty="0"/>
          </a:p>
          <a:p>
            <a:pPr marL="377825" lvl="0" indent="-377825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200" b="0" dirty="0"/>
              <a:t>        sum = sum + 1.0/i; </a:t>
            </a:r>
            <a:endParaRPr lang="en-US" altLang="zh-CN" sz="2200" b="0" dirty="0"/>
          </a:p>
          <a:p>
            <a:pPr marL="377825" lvl="0" indent="-377825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200" b="0" dirty="0"/>
              <a:t>    printf( “sum = %f\n”, sum);</a:t>
            </a:r>
            <a:endParaRPr lang="en-US" altLang="zh-CN" sz="2200" b="0" dirty="0"/>
          </a:p>
          <a:p>
            <a:pPr marL="377825" lvl="0" indent="-377825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200" b="0" dirty="0"/>
              <a:t>    return 0;</a:t>
            </a:r>
            <a:endParaRPr lang="en-US" altLang="zh-CN" sz="2200" b="0" dirty="0"/>
          </a:p>
          <a:p>
            <a:pPr marL="377825" lvl="0" indent="-377825" eaLnBrk="1" hangingPunct="1">
              <a:lnSpc>
                <a:spcPct val="80000"/>
              </a:lnSpc>
              <a:buClrTx/>
              <a:buSzTx/>
              <a:buFontTx/>
              <a:buNone/>
            </a:pPr>
            <a:r>
              <a:rPr lang="en-US" altLang="zh-CN" sz="2200" b="0" dirty="0"/>
              <a:t>}</a:t>
            </a:r>
            <a:endParaRPr lang="en-US" altLang="zh-CN" sz="22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8" grpId="0" bldLvl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1410" name="Rectangle 2"/>
          <p:cNvSpPr>
            <a:spLocks noGrp="1"/>
          </p:cNvSpPr>
          <p:nvPr>
            <p:ph idx="1"/>
          </p:nvPr>
        </p:nvSpPr>
        <p:spPr>
          <a:xfrm>
            <a:off x="906463" y="2236788"/>
            <a:ext cx="7697787" cy="2705100"/>
          </a:xfrm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buNone/>
            </a:pPr>
            <a:r>
              <a:rPr lang="zh-CN" altLang="en-US" b="0" dirty="0"/>
              <a:t>求前</a:t>
            </a:r>
            <a:r>
              <a:rPr lang="en-US" altLang="zh-CN" b="0" dirty="0"/>
              <a:t>n</a:t>
            </a:r>
            <a:r>
              <a:rPr lang="zh-CN" altLang="en-US" b="0" dirty="0"/>
              <a:t>项和，即循环</a:t>
            </a:r>
            <a:r>
              <a:rPr lang="en-US" altLang="zh-CN" b="0" dirty="0"/>
              <a:t>n</a:t>
            </a:r>
            <a:r>
              <a:rPr lang="zh-CN" altLang="en-US" b="0" dirty="0"/>
              <a:t>次，每次累加</a:t>
            </a:r>
            <a:r>
              <a:rPr lang="en-US" altLang="zh-CN" b="0" dirty="0"/>
              <a:t>1</a:t>
            </a:r>
            <a:r>
              <a:rPr lang="zh-CN" altLang="en-US" b="0" dirty="0"/>
              <a:t>项。</a:t>
            </a:r>
            <a:endParaRPr lang="zh-CN" altLang="en-US" b="0" dirty="0"/>
          </a:p>
          <a:p>
            <a:pPr marL="854075" lvl="1" eaLnBrk="1" hangingPunct="1">
              <a:buNone/>
            </a:pPr>
            <a:r>
              <a:rPr lang="en-US" altLang="zh-CN" b="0" dirty="0"/>
              <a:t>for (i = 1; i &lt;= n ; i++)</a:t>
            </a:r>
            <a:endParaRPr lang="en-US" altLang="zh-CN" b="0" dirty="0"/>
          </a:p>
          <a:p>
            <a:pPr marL="854075" lvl="1" algn="just" eaLnBrk="1" hangingPunct="1">
              <a:buNone/>
            </a:pPr>
            <a:r>
              <a:rPr lang="en-US" altLang="zh-CN" b="0" dirty="0"/>
              <a:t>    sum = sum + </a:t>
            </a:r>
            <a:r>
              <a:rPr lang="en-US" altLang="zh-CN" b="0" dirty="0">
                <a:solidFill>
                  <a:srgbClr val="CC0066"/>
                </a:solidFill>
              </a:rPr>
              <a:t>item</a:t>
            </a:r>
            <a:r>
              <a:rPr lang="en-US" altLang="zh-CN" b="0" dirty="0">
                <a:solidFill>
                  <a:srgbClr val="D90F4E"/>
                </a:solidFill>
              </a:rPr>
              <a:t> </a:t>
            </a:r>
            <a:r>
              <a:rPr lang="en-US" altLang="zh-CN" b="0" dirty="0"/>
              <a:t>(</a:t>
            </a:r>
            <a:r>
              <a:rPr lang="zh-CN" altLang="en-US" b="0" dirty="0"/>
              <a:t>第</a:t>
            </a:r>
            <a:r>
              <a:rPr lang="en-US" altLang="zh-CN" b="0" dirty="0"/>
              <a:t>i</a:t>
            </a:r>
            <a:r>
              <a:rPr lang="zh-CN" altLang="en-US" b="0" dirty="0"/>
              <a:t>项</a:t>
            </a:r>
            <a:r>
              <a:rPr lang="en-US" altLang="zh-CN" b="0" dirty="0"/>
              <a:t>)</a:t>
            </a:r>
            <a:endParaRPr lang="en-US" altLang="zh-CN" b="0" dirty="0">
              <a:solidFill>
                <a:srgbClr val="D90F4E"/>
              </a:solidFill>
            </a:endParaRPr>
          </a:p>
          <a:p>
            <a:pPr marL="854075" lvl="1" algn="just" eaLnBrk="1" hangingPunct="1">
              <a:buNone/>
            </a:pPr>
            <a:endParaRPr lang="en-US" altLang="zh-CN" b="0" dirty="0"/>
          </a:p>
          <a:p>
            <a:pPr marL="854075" lvl="1" algn="just" eaLnBrk="1" hangingPunct="1">
              <a:buNone/>
            </a:pPr>
            <a:r>
              <a:rPr lang="en-US" altLang="zh-CN" b="0" dirty="0"/>
              <a:t>		</a:t>
            </a:r>
            <a:r>
              <a:rPr lang="en-US" altLang="zh-CN" b="0" dirty="0">
                <a:solidFill>
                  <a:srgbClr val="CC0066"/>
                </a:solidFill>
              </a:rPr>
              <a:t>item</a:t>
            </a:r>
            <a:r>
              <a:rPr lang="en-US" altLang="zh-CN" b="0" dirty="0"/>
              <a:t> = </a:t>
            </a:r>
            <a:r>
              <a:rPr lang="en-US" altLang="zh-CN" b="0" dirty="0">
                <a:solidFill>
                  <a:srgbClr val="CC0066"/>
                </a:solidFill>
              </a:rPr>
              <a:t>1.0</a:t>
            </a:r>
            <a:r>
              <a:rPr lang="en-US" altLang="zh-CN" b="0" dirty="0"/>
              <a:t> / (2 * i - 1)</a:t>
            </a:r>
            <a:endParaRPr lang="en-US" altLang="zh-CN" b="0" dirty="0"/>
          </a:p>
        </p:txBody>
      </p:sp>
      <p:sp>
        <p:nvSpPr>
          <p:cNvPr id="68611" name="Rectangle 3"/>
          <p:cNvSpPr>
            <a:spLocks noGrp="1"/>
          </p:cNvSpPr>
          <p:nvPr>
            <p:ph type="title"/>
          </p:nvPr>
        </p:nvSpPr>
        <p:spPr>
          <a:xfrm>
            <a:off x="171450" y="620713"/>
            <a:ext cx="8145463" cy="706437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求 </a:t>
            </a:r>
            <a:r>
              <a:rPr lang="en-US" altLang="zh-CN" b="0" dirty="0"/>
              <a:t>1+1/3+1/5+… </a:t>
            </a:r>
            <a:r>
              <a:rPr lang="zh-CN" altLang="en-US" b="0" dirty="0"/>
              <a:t>的前</a:t>
            </a:r>
            <a:r>
              <a:rPr lang="en-US" altLang="zh-CN" b="0" dirty="0"/>
              <a:t>n</a:t>
            </a:r>
            <a:r>
              <a:rPr lang="zh-CN" altLang="en-US" b="0" dirty="0"/>
              <a:t>项和</a:t>
            </a:r>
            <a:endParaRPr lang="zh-CN" altLang="en-US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0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1410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1410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0">
                                            <p:txEl>
                                              <p:charRg st="2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01410">
                                            <p:txEl>
                                              <p:charRg st="2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01410">
                                            <p:txEl>
                                              <p:charRg st="20" end="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0">
                                            <p:txEl>
                                              <p:charRg st="46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01410">
                                            <p:txEl>
                                              <p:charRg st="46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01410">
                                            <p:txEl>
                                              <p:charRg st="46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410">
                                            <p:txEl>
                                              <p:charRg st="74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01410">
                                            <p:txEl>
                                              <p:charRg st="74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01410">
                                            <p:txEl>
                                              <p:charRg st="74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1410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Rectangle 2"/>
          <p:cNvSpPr>
            <a:spLocks noGrp="1"/>
          </p:cNvSpPr>
          <p:nvPr>
            <p:ph idx="1"/>
          </p:nvPr>
        </p:nvSpPr>
        <p:spPr>
          <a:xfrm>
            <a:off x="533400" y="1125855"/>
            <a:ext cx="8359775" cy="5622290"/>
          </a:xfrm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#include &lt;stdio.h&gt;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int main(void)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60000"/>
              </a:lnSpc>
              <a:buNone/>
            </a:pPr>
            <a:r>
              <a:rPr lang="en-US" altLang="zh-CN" sz="2400" b="0" dirty="0"/>
              <a:t>{   int  i, n; 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	double item, sum;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printf(“Enter n: ");       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	scanf ("%d", &amp;n);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	sum = 0 ; 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	 for ( i = 1; i &lt;= n; i++ ) {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	   	item = 1.0 / (2 * i - 1);  	</a:t>
            </a:r>
            <a:r>
              <a:rPr lang="en-US" altLang="zh-CN" sz="2400" b="0" dirty="0">
                <a:solidFill>
                  <a:schemeClr val="bg2"/>
                </a:solidFill>
              </a:rPr>
              <a:t>/* </a:t>
            </a:r>
            <a:r>
              <a:rPr lang="zh-CN" altLang="en-US" sz="2400" b="0" dirty="0">
                <a:solidFill>
                  <a:schemeClr val="bg2"/>
                </a:solidFill>
              </a:rPr>
              <a:t>计算第</a:t>
            </a:r>
            <a:r>
              <a:rPr lang="en-US" altLang="zh-CN" sz="2400" b="0" dirty="0">
                <a:solidFill>
                  <a:schemeClr val="bg2"/>
                </a:solidFill>
              </a:rPr>
              <a:t>i</a:t>
            </a:r>
            <a:r>
              <a:rPr lang="zh-CN" altLang="en-US" sz="2400" b="0" dirty="0">
                <a:solidFill>
                  <a:schemeClr val="bg2"/>
                </a:solidFill>
              </a:rPr>
              <a:t>项的值 *</a:t>
            </a:r>
            <a:r>
              <a:rPr lang="en-US" altLang="zh-CN" sz="2400" b="0" dirty="0">
                <a:solidFill>
                  <a:schemeClr val="bg2"/>
                </a:solidFill>
              </a:rPr>
              <a:t>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     sum = sum + item ;   	</a:t>
            </a:r>
            <a:r>
              <a:rPr lang="en-US" altLang="zh-CN" sz="2400" b="0" dirty="0">
                <a:solidFill>
                  <a:schemeClr val="bg2"/>
                </a:solidFill>
              </a:rPr>
              <a:t>/* </a:t>
            </a:r>
            <a:r>
              <a:rPr lang="zh-CN" altLang="en-US" sz="2400" b="0" dirty="0">
                <a:solidFill>
                  <a:schemeClr val="bg2"/>
                </a:solidFill>
              </a:rPr>
              <a:t>累加第</a:t>
            </a:r>
            <a:r>
              <a:rPr lang="en-US" altLang="zh-CN" sz="2400" b="0" dirty="0">
                <a:solidFill>
                  <a:schemeClr val="bg2"/>
                </a:solidFill>
              </a:rPr>
              <a:t>i</a:t>
            </a:r>
            <a:r>
              <a:rPr lang="zh-CN" altLang="en-US" sz="2400" b="0" dirty="0">
                <a:solidFill>
                  <a:schemeClr val="bg2"/>
                </a:solidFill>
              </a:rPr>
              <a:t>项的值 *</a:t>
            </a:r>
            <a:r>
              <a:rPr lang="en-US" altLang="zh-CN" sz="2400" b="0" dirty="0">
                <a:solidFill>
                  <a:schemeClr val="bg2"/>
                </a:solidFill>
              </a:rPr>
              <a:t>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377825" indent="-377825" algn="just" eaLnBrk="1" hangingPunct="1">
              <a:lnSpc>
                <a:spcPct val="60000"/>
              </a:lnSpc>
              <a:buNone/>
            </a:pPr>
            <a:r>
              <a:rPr lang="en-US" altLang="zh-CN" sz="2400" b="0" dirty="0"/>
              <a:t>	 }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60000"/>
              </a:lnSpc>
              <a:buNone/>
            </a:pPr>
            <a:r>
              <a:rPr lang="en-US" altLang="zh-CN" sz="2400" b="0" dirty="0"/>
              <a:t>	printf ( "sum = %f\n", sum);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60000"/>
              </a:lnSpc>
              <a:buNone/>
            </a:pPr>
            <a:r>
              <a:rPr lang="en-US" altLang="zh-CN" sz="2400" b="0" dirty="0"/>
              <a:t>     return 0;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}</a:t>
            </a:r>
            <a:endParaRPr lang="en-US" altLang="zh-CN" sz="2400" b="0" dirty="0"/>
          </a:p>
        </p:txBody>
      </p:sp>
      <p:sp>
        <p:nvSpPr>
          <p:cNvPr id="69635" name="Rectangle 3"/>
          <p:cNvSpPr>
            <a:spLocks noGrp="1"/>
          </p:cNvSpPr>
          <p:nvPr>
            <p:ph type="title"/>
          </p:nvPr>
        </p:nvSpPr>
        <p:spPr>
          <a:xfrm>
            <a:off x="323850" y="476250"/>
            <a:ext cx="7777163" cy="7064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源程序－求 </a:t>
            </a:r>
            <a:r>
              <a:rPr lang="en-US" altLang="zh-CN" b="0" dirty="0"/>
              <a:t>1+1/3+1/5+… 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Rectangle 2"/>
          <p:cNvSpPr>
            <a:spLocks noGrp="1"/>
          </p:cNvSpPr>
          <p:nvPr>
            <p:ph idx="1"/>
          </p:nvPr>
        </p:nvSpPr>
        <p:spPr>
          <a:xfrm>
            <a:off x="685800" y="1371600"/>
            <a:ext cx="7848600" cy="4038600"/>
          </a:xfrm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buNone/>
            </a:pPr>
            <a:r>
              <a:rPr lang="zh-CN" altLang="en-US" b="0" dirty="0"/>
              <a:t>求前</a:t>
            </a:r>
            <a:r>
              <a:rPr lang="en-US" altLang="zh-CN" b="0" dirty="0"/>
              <a:t>n</a:t>
            </a:r>
            <a:r>
              <a:rPr lang="zh-CN" altLang="en-US" b="0" dirty="0"/>
              <a:t>项和，即循环</a:t>
            </a:r>
            <a:r>
              <a:rPr lang="en-US" altLang="zh-CN" b="0" dirty="0"/>
              <a:t>n</a:t>
            </a:r>
            <a:r>
              <a:rPr lang="zh-CN" altLang="en-US" b="0" dirty="0"/>
              <a:t>次，每次累加</a:t>
            </a:r>
            <a:r>
              <a:rPr lang="en-US" altLang="zh-CN" b="0" dirty="0"/>
              <a:t>1</a:t>
            </a:r>
            <a:r>
              <a:rPr lang="zh-CN" altLang="en-US" b="0" dirty="0"/>
              <a:t>项。</a:t>
            </a:r>
            <a:endParaRPr lang="zh-CN" altLang="en-US" b="0" dirty="0"/>
          </a:p>
          <a:p>
            <a:pPr marL="854075" lvl="1" eaLnBrk="1" hangingPunct="1">
              <a:buNone/>
            </a:pPr>
            <a:r>
              <a:rPr lang="en-US" altLang="zh-CN" b="0" dirty="0"/>
              <a:t>for (i = 1; i &lt;= n ; i++)</a:t>
            </a:r>
            <a:endParaRPr lang="en-US" altLang="zh-CN" b="0" dirty="0"/>
          </a:p>
          <a:p>
            <a:pPr marL="854075" lvl="1" algn="just" eaLnBrk="1" hangingPunct="1">
              <a:buNone/>
            </a:pPr>
            <a:r>
              <a:rPr lang="en-US" altLang="zh-CN" b="0" dirty="0"/>
              <a:t>    sum = sum + </a:t>
            </a:r>
            <a:r>
              <a:rPr lang="en-US" altLang="zh-CN" b="0" dirty="0">
                <a:solidFill>
                  <a:srgbClr val="CC0066"/>
                </a:solidFill>
              </a:rPr>
              <a:t>item;</a:t>
            </a:r>
            <a:r>
              <a:rPr lang="en-US" altLang="zh-CN" b="0" dirty="0">
                <a:solidFill>
                  <a:srgbClr val="D90F4E"/>
                </a:solidFill>
              </a:rPr>
              <a:t> </a:t>
            </a:r>
            <a:r>
              <a:rPr lang="en-US" altLang="zh-CN" b="0" dirty="0"/>
              <a:t>(</a:t>
            </a:r>
            <a:r>
              <a:rPr lang="zh-CN" altLang="en-US" b="0" dirty="0"/>
              <a:t>第</a:t>
            </a:r>
            <a:r>
              <a:rPr lang="en-US" altLang="zh-CN" b="0" dirty="0"/>
              <a:t>i</a:t>
            </a:r>
            <a:r>
              <a:rPr lang="zh-CN" altLang="en-US" b="0" dirty="0"/>
              <a:t>项</a:t>
            </a:r>
            <a:r>
              <a:rPr lang="en-US" altLang="zh-CN" b="0" dirty="0"/>
              <a:t>)</a:t>
            </a:r>
            <a:endParaRPr lang="en-US" altLang="zh-CN" b="0" dirty="0"/>
          </a:p>
          <a:p>
            <a:pPr marL="854075" lvl="1" algn="just" eaLnBrk="1" hangingPunct="1">
              <a:buNone/>
            </a:pPr>
            <a:endParaRPr lang="en-US" altLang="zh-CN" b="0" dirty="0">
              <a:solidFill>
                <a:srgbClr val="D90F4E"/>
              </a:solidFill>
            </a:endParaRPr>
          </a:p>
          <a:p>
            <a:pPr marL="854075" lvl="1" algn="just" eaLnBrk="1" hangingPunct="1">
              <a:buNone/>
            </a:pPr>
            <a:endParaRPr lang="en-US" altLang="zh-CN" b="0" dirty="0">
              <a:solidFill>
                <a:srgbClr val="D90F4E"/>
              </a:solidFill>
            </a:endParaRPr>
          </a:p>
          <a:p>
            <a:pPr marL="854075" lvl="1" algn="just" eaLnBrk="1" hangingPunct="1">
              <a:lnSpc>
                <a:spcPct val="70000"/>
              </a:lnSpc>
              <a:buNone/>
            </a:pPr>
            <a:r>
              <a:rPr lang="en-US" altLang="zh-CN" b="0" dirty="0">
                <a:solidFill>
                  <a:srgbClr val="CC0066"/>
                </a:solidFill>
              </a:rPr>
              <a:t>item</a:t>
            </a:r>
            <a:r>
              <a:rPr lang="en-US" altLang="zh-CN" b="0" dirty="0"/>
              <a:t> = </a:t>
            </a:r>
            <a:r>
              <a:rPr lang="en-US" altLang="zh-CN" b="0" dirty="0">
                <a:solidFill>
                  <a:schemeClr val="bg2"/>
                </a:solidFill>
              </a:rPr>
              <a:t>flag</a:t>
            </a:r>
            <a:r>
              <a:rPr lang="en-US" altLang="zh-CN" b="0" dirty="0"/>
              <a:t> * 1.0 / </a:t>
            </a:r>
            <a:r>
              <a:rPr lang="en-US" altLang="zh-CN" b="0" dirty="0">
                <a:solidFill>
                  <a:schemeClr val="bg2"/>
                </a:solidFill>
              </a:rPr>
              <a:t>denominator</a:t>
            </a:r>
            <a:r>
              <a:rPr lang="en-US" altLang="zh-CN" b="0" dirty="0"/>
              <a:t> ;</a:t>
            </a:r>
            <a:endParaRPr lang="en-US" altLang="zh-CN" b="0" dirty="0"/>
          </a:p>
          <a:p>
            <a:pPr marL="854075" lvl="1" algn="just" eaLnBrk="1" hangingPunct="1">
              <a:lnSpc>
                <a:spcPct val="70000"/>
              </a:lnSpc>
              <a:buNone/>
            </a:pPr>
            <a:r>
              <a:rPr lang="en-US" altLang="zh-CN" b="0" dirty="0">
                <a:solidFill>
                  <a:schemeClr val="bg2"/>
                </a:solidFill>
              </a:rPr>
              <a:t>denominator</a:t>
            </a:r>
            <a:r>
              <a:rPr lang="en-US" altLang="zh-CN" b="0" dirty="0"/>
              <a:t> = </a:t>
            </a:r>
            <a:r>
              <a:rPr lang="en-US" altLang="zh-CN" b="0" dirty="0">
                <a:solidFill>
                  <a:schemeClr val="bg2"/>
                </a:solidFill>
              </a:rPr>
              <a:t>denominator</a:t>
            </a:r>
            <a:r>
              <a:rPr lang="en-US" altLang="zh-CN" b="0" dirty="0"/>
              <a:t> + 2;</a:t>
            </a:r>
            <a:endParaRPr lang="en-US" altLang="zh-CN" b="0" dirty="0"/>
          </a:p>
          <a:p>
            <a:pPr marL="854075" lvl="1" algn="just" eaLnBrk="1" hangingPunct="1">
              <a:buNone/>
            </a:pPr>
            <a:r>
              <a:rPr lang="en-US" altLang="zh-CN" b="0" dirty="0">
                <a:solidFill>
                  <a:schemeClr val="bg2"/>
                </a:solidFill>
              </a:rPr>
              <a:t>flag</a:t>
            </a:r>
            <a:r>
              <a:rPr lang="en-US" altLang="zh-CN" b="0" dirty="0"/>
              <a:t> = -flag;</a:t>
            </a:r>
            <a:endParaRPr lang="en-US" altLang="zh-CN" b="0" dirty="0"/>
          </a:p>
        </p:txBody>
      </p:sp>
      <p:sp>
        <p:nvSpPr>
          <p:cNvPr id="70659" name="Rectangle 3"/>
          <p:cNvSpPr>
            <a:spLocks noGrp="1"/>
          </p:cNvSpPr>
          <p:nvPr>
            <p:ph type="title"/>
          </p:nvPr>
        </p:nvSpPr>
        <p:spPr>
          <a:xfrm>
            <a:off x="-1270" y="476250"/>
            <a:ext cx="9098280" cy="70675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例</a:t>
            </a:r>
            <a:r>
              <a:rPr lang="en-US" altLang="zh-CN" b="0" dirty="0"/>
              <a:t>2-8 </a:t>
            </a:r>
            <a:r>
              <a:rPr lang="zh-CN" altLang="en-US" b="0" dirty="0"/>
              <a:t>求 </a:t>
            </a:r>
            <a:r>
              <a:rPr lang="en-US" altLang="zh-CN" b="0" dirty="0"/>
              <a:t>1-1/3+1/5-… </a:t>
            </a:r>
            <a:r>
              <a:rPr lang="zh-CN" altLang="en-US" b="0" dirty="0"/>
              <a:t>的前</a:t>
            </a:r>
            <a:r>
              <a:rPr lang="en-US" altLang="zh-CN" b="0" dirty="0"/>
              <a:t>n</a:t>
            </a:r>
            <a:r>
              <a:rPr lang="zh-CN" altLang="en-US" b="0" dirty="0"/>
              <a:t>项和</a:t>
            </a:r>
            <a:endParaRPr lang="zh-CN" altLang="en-US" b="0" dirty="0"/>
          </a:p>
        </p:txBody>
      </p:sp>
      <p:sp>
        <p:nvSpPr>
          <p:cNvPr id="403460" name="Rectangle 4"/>
          <p:cNvSpPr/>
          <p:nvPr/>
        </p:nvSpPr>
        <p:spPr>
          <a:xfrm>
            <a:off x="4025900" y="3357880"/>
            <a:ext cx="4208780" cy="460375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item = flag*1.0/(2 * i - 1)</a:t>
            </a:r>
            <a:endParaRPr lang="en-US" altLang="zh-CN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3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3460" grpId="0" bldLvl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/>
      <p:sp>
        <p:nvSpPr>
          <p:cNvPr id="71682" name="Rectangle 2"/>
          <p:cNvSpPr>
            <a:spLocks noGrp="1"/>
          </p:cNvSpPr>
          <p:nvPr>
            <p:ph idx="1"/>
          </p:nvPr>
        </p:nvSpPr>
        <p:spPr>
          <a:xfrm>
            <a:off x="250825" y="331470"/>
            <a:ext cx="8569325" cy="6300470"/>
          </a:xfrm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200" b="0" dirty="0"/>
              <a:t>#include &lt;stdio.h&gt;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200" b="0" dirty="0"/>
              <a:t>int main(void)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60000"/>
              </a:lnSpc>
              <a:buNone/>
            </a:pPr>
            <a:r>
              <a:rPr lang="en-US" altLang="zh-CN" sz="2200" b="0" dirty="0"/>
              <a:t>{   int denominator, flag, i, n; 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200" b="0" dirty="0"/>
              <a:t>     double item, sum;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endParaRPr lang="en-US" altLang="zh-CN" sz="22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200" b="0" dirty="0"/>
              <a:t>     printf(“Enter n: ");       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200" b="0" dirty="0"/>
              <a:t>     scanf ("%d", &amp;n);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200" b="0" dirty="0"/>
              <a:t>	 flag=1; 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200" b="0" dirty="0"/>
              <a:t>     denominator =1;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200" b="0" dirty="0"/>
              <a:t>	 sum = 0 ; 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200" b="0" dirty="0"/>
              <a:t>     for ( i = 1; i &lt;= n; i++ ) {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200" b="0" dirty="0"/>
              <a:t>	    item = flag * 1.0/ denominator;       </a:t>
            </a:r>
            <a:r>
              <a:rPr lang="en-US" altLang="zh-CN" sz="2200" b="0" dirty="0">
                <a:solidFill>
                  <a:schemeClr val="bg2"/>
                </a:solidFill>
              </a:rPr>
              <a:t>/* </a:t>
            </a:r>
            <a:r>
              <a:rPr lang="zh-CN" altLang="en-US" sz="2200" b="0" dirty="0">
                <a:solidFill>
                  <a:schemeClr val="bg2"/>
                </a:solidFill>
              </a:rPr>
              <a:t>计算第</a:t>
            </a:r>
            <a:r>
              <a:rPr lang="en-US" altLang="zh-CN" sz="2200" b="0" dirty="0">
                <a:solidFill>
                  <a:schemeClr val="bg2"/>
                </a:solidFill>
              </a:rPr>
              <a:t>i</a:t>
            </a:r>
            <a:r>
              <a:rPr lang="zh-CN" altLang="en-US" sz="2200" b="0" dirty="0">
                <a:solidFill>
                  <a:schemeClr val="bg2"/>
                </a:solidFill>
              </a:rPr>
              <a:t>项的值 *</a:t>
            </a:r>
            <a:r>
              <a:rPr lang="en-US" altLang="zh-CN" sz="2200" b="0" dirty="0">
                <a:solidFill>
                  <a:schemeClr val="bg2"/>
                </a:solidFill>
              </a:rPr>
              <a:t>/</a:t>
            </a:r>
            <a:endParaRPr lang="en-US" altLang="zh-CN" sz="2200" b="0" dirty="0">
              <a:solidFill>
                <a:schemeClr val="bg2"/>
              </a:solidFill>
            </a:endParaRPr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200" b="0" dirty="0"/>
              <a:t>    	    sum = sum + item ;                         </a:t>
            </a:r>
            <a:r>
              <a:rPr lang="en-US" altLang="zh-CN" sz="2200" b="0" dirty="0">
                <a:solidFill>
                  <a:schemeClr val="bg2"/>
                </a:solidFill>
              </a:rPr>
              <a:t>/* </a:t>
            </a:r>
            <a:r>
              <a:rPr lang="zh-CN" altLang="en-US" sz="2200" b="0" dirty="0">
                <a:solidFill>
                  <a:schemeClr val="bg2"/>
                </a:solidFill>
              </a:rPr>
              <a:t>累加第</a:t>
            </a:r>
            <a:r>
              <a:rPr lang="en-US" altLang="zh-CN" sz="2200" b="0" dirty="0">
                <a:solidFill>
                  <a:schemeClr val="bg2"/>
                </a:solidFill>
              </a:rPr>
              <a:t>i</a:t>
            </a:r>
            <a:r>
              <a:rPr lang="zh-CN" altLang="en-US" sz="2200" b="0" dirty="0">
                <a:solidFill>
                  <a:schemeClr val="bg2"/>
                </a:solidFill>
              </a:rPr>
              <a:t>项的值 *</a:t>
            </a:r>
            <a:r>
              <a:rPr lang="en-US" altLang="zh-CN" sz="2200" b="0" dirty="0">
                <a:solidFill>
                  <a:schemeClr val="bg2"/>
                </a:solidFill>
              </a:rPr>
              <a:t>/</a:t>
            </a:r>
            <a:endParaRPr lang="en-US" altLang="zh-CN" sz="2200" b="0" dirty="0">
              <a:solidFill>
                <a:schemeClr val="bg2"/>
              </a:solidFill>
            </a:endParaRPr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200" b="0" dirty="0"/>
              <a:t>        flag = -flag;                                    </a:t>
            </a:r>
            <a:r>
              <a:rPr lang="en-US" altLang="zh-CN" sz="2200" b="0" dirty="0">
                <a:solidFill>
                  <a:schemeClr val="bg2"/>
                </a:solidFill>
              </a:rPr>
              <a:t>/* 准备下一次循环 */</a:t>
            </a:r>
            <a:endParaRPr lang="en-US" altLang="zh-CN" sz="2200" b="0" dirty="0">
              <a:solidFill>
                <a:schemeClr val="bg2"/>
              </a:solidFill>
            </a:endParaRPr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200" b="0" dirty="0"/>
              <a:t>        denominator = denominator +2;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60000"/>
              </a:lnSpc>
              <a:buNone/>
            </a:pPr>
            <a:r>
              <a:rPr lang="en-US" altLang="zh-CN" sz="2200" b="0" dirty="0"/>
              <a:t>	 }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60000"/>
              </a:lnSpc>
              <a:buNone/>
            </a:pPr>
            <a:r>
              <a:rPr lang="en-US" altLang="zh-CN" sz="2200" b="0" dirty="0"/>
              <a:t>	 printf ( "sum = %f\n", sum);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60000"/>
              </a:lnSpc>
              <a:buNone/>
            </a:pPr>
            <a:r>
              <a:rPr lang="en-US" altLang="zh-CN" sz="2200" b="0" dirty="0"/>
              <a:t>     return 0;</a:t>
            </a:r>
            <a:endParaRPr lang="en-US" altLang="zh-CN" sz="22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200" b="0" dirty="0"/>
              <a:t>}</a:t>
            </a:r>
            <a:endParaRPr lang="en-US" altLang="zh-CN" sz="2200" b="0" dirty="0"/>
          </a:p>
        </p:txBody>
      </p:sp>
      <p:sp>
        <p:nvSpPr>
          <p:cNvPr id="71683" name="Rectangle 3"/>
          <p:cNvSpPr>
            <a:spLocks noGrp="1"/>
          </p:cNvSpPr>
          <p:nvPr>
            <p:ph type="title"/>
          </p:nvPr>
        </p:nvSpPr>
        <p:spPr>
          <a:xfrm>
            <a:off x="5076825" y="260350"/>
            <a:ext cx="3727450" cy="7064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例</a:t>
            </a:r>
            <a:r>
              <a:rPr lang="en-US" altLang="zh-CN" b="0" dirty="0"/>
              <a:t>2-8 </a:t>
            </a:r>
            <a:r>
              <a:rPr lang="zh-CN" altLang="en-US" b="0" dirty="0"/>
              <a:t>源程序</a:t>
            </a:r>
            <a:endParaRPr lang="zh-CN" altLang="en-US" b="0" dirty="0"/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Rectangle 2"/>
          <p:cNvSpPr>
            <a:spLocks noGrp="1"/>
          </p:cNvSpPr>
          <p:nvPr>
            <p:ph idx="1"/>
          </p:nvPr>
        </p:nvSpPr>
        <p:spPr>
          <a:xfrm>
            <a:off x="1055688" y="2108200"/>
            <a:ext cx="7032625" cy="3313113"/>
          </a:xfrm>
          <a:ln>
            <a:solidFill>
              <a:schemeClr val="bg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buNone/>
            </a:pPr>
            <a:r>
              <a:rPr lang="en-US" altLang="zh-CN" b="0" dirty="0"/>
              <a:t>n! = 1*2*…*n</a:t>
            </a:r>
            <a:endParaRPr lang="en-US" altLang="zh-CN" b="0" dirty="0"/>
          </a:p>
          <a:p>
            <a:pPr marL="854075" lvl="1" eaLnBrk="1" hangingPunct="1">
              <a:buNone/>
            </a:pPr>
            <a:endParaRPr lang="en-US" altLang="zh-CN" b="0" dirty="0"/>
          </a:p>
          <a:p>
            <a:pPr marL="854075" lvl="1" eaLnBrk="1" hangingPunct="1">
              <a:buNone/>
            </a:pPr>
            <a:r>
              <a:rPr lang="en-US" altLang="zh-CN" b="0" dirty="0"/>
              <a:t>for (i = 1; i &lt;= n ; i++)</a:t>
            </a:r>
            <a:endParaRPr lang="en-US" altLang="zh-CN" b="0" dirty="0"/>
          </a:p>
          <a:p>
            <a:pPr marL="854075" lvl="1" algn="just" eaLnBrk="1" hangingPunct="1">
              <a:buNone/>
            </a:pPr>
            <a:r>
              <a:rPr lang="en-US" altLang="zh-CN" b="0" dirty="0"/>
              <a:t>    product = product </a:t>
            </a:r>
            <a:r>
              <a:rPr lang="en-US" altLang="zh-CN" b="0" dirty="0">
                <a:solidFill>
                  <a:srgbClr val="D90F4E"/>
                </a:solidFill>
              </a:rPr>
              <a:t>*</a:t>
            </a:r>
            <a:r>
              <a:rPr lang="en-US" altLang="zh-CN" b="0" dirty="0"/>
              <a:t> item</a:t>
            </a:r>
            <a:r>
              <a:rPr lang="en-US" altLang="zh-CN" b="0" dirty="0">
                <a:solidFill>
                  <a:srgbClr val="D90F4E"/>
                </a:solidFill>
              </a:rPr>
              <a:t> </a:t>
            </a:r>
            <a:r>
              <a:rPr lang="en-US" altLang="zh-CN" b="0" dirty="0"/>
              <a:t>(</a:t>
            </a:r>
            <a:r>
              <a:rPr lang="zh-CN" altLang="en-US" b="0" dirty="0"/>
              <a:t>第</a:t>
            </a:r>
            <a:r>
              <a:rPr lang="en-US" altLang="zh-CN" b="0" dirty="0"/>
              <a:t>i</a:t>
            </a:r>
            <a:r>
              <a:rPr lang="zh-CN" altLang="en-US" b="0" dirty="0"/>
              <a:t>项</a:t>
            </a:r>
            <a:r>
              <a:rPr lang="en-US" altLang="zh-CN" b="0" dirty="0"/>
              <a:t>)</a:t>
            </a:r>
            <a:endParaRPr lang="en-US" altLang="zh-CN" b="0" dirty="0"/>
          </a:p>
          <a:p>
            <a:pPr marL="854075" lvl="1" algn="just" eaLnBrk="1" hangingPunct="1">
              <a:buNone/>
            </a:pPr>
            <a:endParaRPr lang="en-US" altLang="zh-CN" b="0" dirty="0"/>
          </a:p>
          <a:p>
            <a:pPr marL="854075" lvl="1" algn="just" eaLnBrk="1" hangingPunct="1">
              <a:buNone/>
            </a:pPr>
            <a:r>
              <a:rPr lang="en-US" altLang="zh-CN" b="0" dirty="0"/>
              <a:t>item=i</a:t>
            </a:r>
            <a:endParaRPr lang="en-US" altLang="zh-CN" b="0" dirty="0"/>
          </a:p>
        </p:txBody>
      </p:sp>
      <p:sp>
        <p:nvSpPr>
          <p:cNvPr id="72707" name="Rectangle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例</a:t>
            </a:r>
            <a:r>
              <a:rPr lang="en-US" altLang="zh-CN" b="0" dirty="0"/>
              <a:t>2-9 </a:t>
            </a:r>
            <a:r>
              <a:rPr lang="zh-CN" altLang="en-US" b="0" dirty="0"/>
              <a:t>求</a:t>
            </a:r>
            <a:r>
              <a:rPr lang="en-US" altLang="zh-CN" b="0" dirty="0"/>
              <a:t>n!</a:t>
            </a:r>
            <a:endParaRPr lang="en-US" altLang="zh-CN" b="0" dirty="0"/>
          </a:p>
        </p:txBody>
      </p:sp>
      <p:sp>
        <p:nvSpPr>
          <p:cNvPr id="405508" name="Rectangle 4"/>
          <p:cNvSpPr/>
          <p:nvPr/>
        </p:nvSpPr>
        <p:spPr>
          <a:xfrm>
            <a:off x="5148263" y="2636838"/>
            <a:ext cx="2362200" cy="521970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800" b="0" dirty="0">
                <a:solidFill>
                  <a:schemeClr val="bg2"/>
                </a:solidFill>
              </a:rPr>
              <a:t>product = ?</a:t>
            </a:r>
            <a:endParaRPr lang="en-US" altLang="zh-CN" sz="2800" b="0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055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8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Rectangle 2"/>
          <p:cNvSpPr>
            <a:spLocks noGrp="1"/>
          </p:cNvSpPr>
          <p:nvPr>
            <p:ph idx="1"/>
          </p:nvPr>
        </p:nvSpPr>
        <p:spPr>
          <a:xfrm>
            <a:off x="468313" y="1054735"/>
            <a:ext cx="8305800" cy="5327650"/>
          </a:xfrm>
          <a:ln>
            <a:solidFill>
              <a:schemeClr val="bg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#include &lt;stdio.h&gt;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int main(void)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{    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int i, n;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double product;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printf("input n: \n");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scanf ("%d", &amp;n) 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product=1;         	</a:t>
            </a:r>
            <a:r>
              <a:rPr lang="en-US" altLang="zh-CN" sz="2400" b="0" dirty="0">
                <a:solidFill>
                  <a:schemeClr val="bg2"/>
                </a:solidFill>
              </a:rPr>
              <a:t>/* </a:t>
            </a:r>
            <a:r>
              <a:rPr lang="zh-CN" altLang="en-US" sz="2400" b="0" dirty="0">
                <a:solidFill>
                  <a:schemeClr val="bg2"/>
                </a:solidFill>
              </a:rPr>
              <a:t>置阶乘</a:t>
            </a:r>
            <a:r>
              <a:rPr lang="en-US" altLang="zh-CN" sz="2400" b="0" dirty="0">
                <a:solidFill>
                  <a:schemeClr val="bg2"/>
                </a:solidFill>
              </a:rPr>
              <a:t>product</a:t>
            </a:r>
            <a:r>
              <a:rPr lang="zh-CN" altLang="en-US" sz="2400" b="0" dirty="0">
                <a:solidFill>
                  <a:schemeClr val="bg2"/>
                </a:solidFill>
              </a:rPr>
              <a:t>的初值为</a:t>
            </a:r>
            <a:r>
              <a:rPr lang="en-US" altLang="zh-CN" sz="2400" b="0" dirty="0">
                <a:solidFill>
                  <a:schemeClr val="bg2"/>
                </a:solidFill>
              </a:rPr>
              <a:t>1 */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for ( i = 1; i &lt;= n; i++ )  </a:t>
            </a:r>
            <a:r>
              <a:rPr lang="en-US" altLang="zh-CN" sz="2400" b="0" dirty="0">
                <a:solidFill>
                  <a:schemeClr val="bg2"/>
                </a:solidFill>
              </a:rPr>
              <a:t>/* </a:t>
            </a:r>
            <a:r>
              <a:rPr lang="zh-CN" altLang="en-US" sz="2400" b="0" dirty="0">
                <a:solidFill>
                  <a:schemeClr val="bg2"/>
                </a:solidFill>
              </a:rPr>
              <a:t>循环重复</a:t>
            </a:r>
            <a:r>
              <a:rPr lang="en-US" altLang="zh-CN" sz="2400" b="0" dirty="0">
                <a:solidFill>
                  <a:schemeClr val="bg2"/>
                </a:solidFill>
              </a:rPr>
              <a:t>n</a:t>
            </a:r>
            <a:r>
              <a:rPr lang="zh-CN" altLang="en-US" sz="2400" b="0" dirty="0">
                <a:solidFill>
                  <a:schemeClr val="bg2"/>
                </a:solidFill>
              </a:rPr>
              <a:t>次，计算</a:t>
            </a:r>
            <a:r>
              <a:rPr lang="en-US" altLang="zh-CN" sz="2400" b="0" dirty="0">
                <a:solidFill>
                  <a:schemeClr val="bg2"/>
                </a:solidFill>
              </a:rPr>
              <a:t>n! */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    product = product * i 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printf ( "product = %.0f\n", product );  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return 0;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}</a:t>
            </a:r>
            <a:endParaRPr lang="en-US" altLang="zh-CN" b="0" dirty="0"/>
          </a:p>
        </p:txBody>
      </p:sp>
      <p:sp>
        <p:nvSpPr>
          <p:cNvPr id="73731" name="Rectangle 3"/>
          <p:cNvSpPr>
            <a:spLocks noGrp="1"/>
          </p:cNvSpPr>
          <p:nvPr>
            <p:ph type="title"/>
          </p:nvPr>
        </p:nvSpPr>
        <p:spPr>
          <a:xfrm>
            <a:off x="457200" y="241935"/>
            <a:ext cx="8229600" cy="811213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例</a:t>
            </a:r>
            <a:r>
              <a:rPr lang="en-US" altLang="zh-CN" b="0" dirty="0"/>
              <a:t>2-9 </a:t>
            </a:r>
            <a:r>
              <a:rPr lang="zh-CN" altLang="en-US" b="0" dirty="0"/>
              <a:t>源程序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754" name="Rectangle 2"/>
          <p:cNvSpPr>
            <a:spLocks noGrp="1"/>
          </p:cNvSpPr>
          <p:nvPr>
            <p:ph idx="1"/>
          </p:nvPr>
        </p:nvSpPr>
        <p:spPr>
          <a:xfrm>
            <a:off x="1055688" y="2108200"/>
            <a:ext cx="7181850" cy="3249613"/>
          </a:xfrm>
          <a:ln>
            <a:solidFill>
              <a:schemeClr val="bg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输入实数</a:t>
            </a:r>
            <a:r>
              <a:rPr lang="en-US" altLang="zh-CN" sz="2800" b="0" dirty="0"/>
              <a:t>x</a:t>
            </a:r>
            <a:r>
              <a:rPr lang="zh-CN" altLang="en-US" sz="2800" b="0" dirty="0"/>
              <a:t>和正整数</a:t>
            </a:r>
            <a:r>
              <a:rPr lang="en-US" altLang="zh-CN" sz="2800" b="0" dirty="0"/>
              <a:t>n</a:t>
            </a:r>
            <a:r>
              <a:rPr lang="zh-CN" altLang="en-US" sz="2800" b="0" dirty="0"/>
              <a:t>，</a:t>
            </a:r>
            <a:endParaRPr lang="zh-CN" altLang="en-US" sz="28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r>
              <a:rPr lang="zh-CN" altLang="en-US" sz="2800" b="0" dirty="0"/>
              <a:t>计算</a:t>
            </a:r>
            <a:r>
              <a:rPr lang="en-US" altLang="zh-CN" sz="2800" b="0" dirty="0"/>
              <a:t>x</a:t>
            </a:r>
            <a:r>
              <a:rPr lang="en-US" altLang="zh-CN" sz="2800" b="0" baseline="30000" dirty="0"/>
              <a:t>n</a:t>
            </a:r>
            <a:r>
              <a:rPr lang="en-US" altLang="zh-CN" sz="2800" b="0" dirty="0"/>
              <a:t> = x * x * … * x</a:t>
            </a:r>
            <a:endParaRPr lang="en-US" altLang="zh-CN" sz="2800" b="0" dirty="0"/>
          </a:p>
          <a:p>
            <a:pPr marL="377825" indent="-377825" algn="just" eaLnBrk="1" hangingPunct="1">
              <a:lnSpc>
                <a:spcPct val="80000"/>
              </a:lnSpc>
              <a:buNone/>
            </a:pPr>
            <a:endParaRPr lang="en-US" altLang="zh-CN" sz="2800" b="0" dirty="0"/>
          </a:p>
          <a:p>
            <a:pPr marL="854075" lvl="1" eaLnBrk="1" hangingPunct="1">
              <a:buNone/>
            </a:pPr>
            <a:r>
              <a:rPr lang="en-US" altLang="zh-CN" b="0" dirty="0"/>
              <a:t>for (i = 1; i &lt;= n ; i++)</a:t>
            </a:r>
            <a:endParaRPr lang="en-US" altLang="zh-CN" b="0" dirty="0"/>
          </a:p>
          <a:p>
            <a:pPr marL="854075" lvl="1" algn="just" eaLnBrk="1" hangingPunct="1">
              <a:buNone/>
            </a:pPr>
            <a:r>
              <a:rPr lang="en-US" altLang="zh-CN" b="0" dirty="0"/>
              <a:t>    power = power </a:t>
            </a:r>
            <a:r>
              <a:rPr lang="en-US" altLang="zh-CN" b="0" dirty="0">
                <a:solidFill>
                  <a:srgbClr val="D90F4E"/>
                </a:solidFill>
              </a:rPr>
              <a:t>*</a:t>
            </a:r>
            <a:r>
              <a:rPr lang="en-US" altLang="zh-CN" b="0" dirty="0"/>
              <a:t> item</a:t>
            </a:r>
            <a:r>
              <a:rPr lang="en-US" altLang="zh-CN" b="0" dirty="0">
                <a:solidFill>
                  <a:srgbClr val="D90F4E"/>
                </a:solidFill>
              </a:rPr>
              <a:t> </a:t>
            </a:r>
            <a:r>
              <a:rPr lang="en-US" altLang="zh-CN" b="0" dirty="0"/>
              <a:t>(</a:t>
            </a:r>
            <a:r>
              <a:rPr lang="zh-CN" altLang="en-US" b="0" dirty="0"/>
              <a:t>第</a:t>
            </a:r>
            <a:r>
              <a:rPr lang="en-US" altLang="zh-CN" b="0" dirty="0"/>
              <a:t>i</a:t>
            </a:r>
            <a:r>
              <a:rPr lang="zh-CN" altLang="en-US" b="0" dirty="0"/>
              <a:t>项</a:t>
            </a:r>
            <a:r>
              <a:rPr lang="en-US" altLang="zh-CN" b="0" dirty="0"/>
              <a:t>)</a:t>
            </a:r>
            <a:endParaRPr lang="en-US" altLang="zh-CN" b="0" dirty="0"/>
          </a:p>
          <a:p>
            <a:pPr marL="854075" lvl="1" algn="just" eaLnBrk="1" hangingPunct="1">
              <a:buNone/>
            </a:pPr>
            <a:endParaRPr lang="en-US" altLang="zh-CN" b="0" dirty="0"/>
          </a:p>
          <a:p>
            <a:pPr marL="854075" lvl="1" algn="just" eaLnBrk="1" hangingPunct="1">
              <a:buNone/>
            </a:pPr>
            <a:r>
              <a:rPr lang="en-US" altLang="zh-CN" b="0" dirty="0"/>
              <a:t>item=?</a:t>
            </a:r>
            <a:endParaRPr lang="en-US" altLang="zh-CN" b="0" dirty="0"/>
          </a:p>
        </p:txBody>
      </p:sp>
      <p:sp>
        <p:nvSpPr>
          <p:cNvPr id="74755" name="Rectangle 3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842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求 </a:t>
            </a:r>
            <a:r>
              <a:rPr lang="en-US" altLang="zh-CN" sz="4000" b="0" dirty="0"/>
              <a:t>x</a:t>
            </a:r>
            <a:r>
              <a:rPr lang="en-US" altLang="zh-CN" sz="4000" b="0" baseline="30000" dirty="0"/>
              <a:t>n</a:t>
            </a:r>
            <a:r>
              <a:rPr lang="en-US" altLang="zh-CN" b="0" dirty="0"/>
              <a:t> </a:t>
            </a:r>
            <a:endParaRPr lang="en-US" altLang="zh-CN" b="0" dirty="0"/>
          </a:p>
        </p:txBody>
      </p:sp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5778" name="Rectangle 2"/>
          <p:cNvSpPr>
            <a:spLocks noGrp="1"/>
          </p:cNvSpPr>
          <p:nvPr>
            <p:ph idx="1"/>
          </p:nvPr>
        </p:nvSpPr>
        <p:spPr>
          <a:xfrm>
            <a:off x="323850" y="1304290"/>
            <a:ext cx="8515350" cy="5029200"/>
          </a:xfrm>
          <a:ln>
            <a:solidFill>
              <a:schemeClr val="bg1">
                <a:alpha val="100000"/>
              </a:schemeClr>
            </a:solidFill>
            <a:miter lim="800000"/>
          </a:ln>
        </p:spPr>
        <p:txBody>
          <a:bodyPr vert="horz" wrap="square" lIns="91440" tIns="45720" rIns="91440" bIns="45720" anchor="t" anchorCtr="0"/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#include &lt;stdio.h&gt;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70000"/>
              </a:lnSpc>
              <a:buNone/>
            </a:pPr>
            <a:r>
              <a:rPr lang="en-US" altLang="zh-CN" sz="2400" b="0" dirty="0"/>
              <a:t>int main(void)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60000"/>
              </a:lnSpc>
              <a:buNone/>
            </a:pPr>
            <a:r>
              <a:rPr lang="en-US" altLang="zh-CN" sz="2400" b="0" dirty="0"/>
              <a:t>{    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60000"/>
              </a:lnSpc>
              <a:buNone/>
            </a:pPr>
            <a:r>
              <a:rPr lang="en-US" altLang="zh-CN" sz="2400" b="0" dirty="0"/>
              <a:t>    int i, n;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double x, power 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printf(“Enter x, n: \n");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scanf ("%</a:t>
            </a:r>
            <a:r>
              <a:rPr lang="en-US" altLang="zh-CN" sz="2400" b="0" dirty="0">
                <a:solidFill>
                  <a:srgbClr val="D90F4E"/>
                </a:solidFill>
              </a:rPr>
              <a:t>lf</a:t>
            </a:r>
            <a:r>
              <a:rPr lang="en-US" altLang="zh-CN" sz="2400" b="0" dirty="0"/>
              <a:t>%d", &amp;x, &amp;n) 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power = 1;              	      </a:t>
            </a:r>
            <a:r>
              <a:rPr lang="en-US" altLang="zh-CN" sz="2400" b="0" dirty="0">
                <a:solidFill>
                  <a:schemeClr val="bg2"/>
                </a:solidFill>
              </a:rPr>
              <a:t>/* </a:t>
            </a:r>
            <a:r>
              <a:rPr lang="zh-CN" altLang="en-US" sz="2400" b="0" dirty="0">
                <a:solidFill>
                  <a:schemeClr val="bg2"/>
                </a:solidFill>
              </a:rPr>
              <a:t>置</a:t>
            </a:r>
            <a:r>
              <a:rPr lang="en-US" altLang="zh-CN" sz="2400" b="0" dirty="0">
                <a:solidFill>
                  <a:schemeClr val="bg2"/>
                </a:solidFill>
              </a:rPr>
              <a:t>power</a:t>
            </a:r>
            <a:r>
              <a:rPr lang="zh-CN" altLang="en-US" sz="2400" b="0" dirty="0">
                <a:solidFill>
                  <a:schemeClr val="bg2"/>
                </a:solidFill>
              </a:rPr>
              <a:t>的初值为</a:t>
            </a:r>
            <a:r>
              <a:rPr lang="en-US" altLang="zh-CN" sz="2400" b="0" dirty="0">
                <a:solidFill>
                  <a:schemeClr val="bg2"/>
                </a:solidFill>
              </a:rPr>
              <a:t>1 */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for ( i = 1; i &lt;= n; i++ )  </a:t>
            </a:r>
            <a:r>
              <a:rPr lang="en-US" altLang="zh-CN" sz="2400" b="0" dirty="0">
                <a:solidFill>
                  <a:schemeClr val="bg2"/>
                </a:solidFill>
              </a:rPr>
              <a:t>/* </a:t>
            </a:r>
            <a:r>
              <a:rPr lang="zh-CN" altLang="en-US" sz="2400" b="0" dirty="0">
                <a:solidFill>
                  <a:schemeClr val="bg2"/>
                </a:solidFill>
              </a:rPr>
              <a:t>循环</a:t>
            </a:r>
            <a:r>
              <a:rPr lang="en-US" altLang="zh-CN" sz="2400" b="0" dirty="0">
                <a:solidFill>
                  <a:schemeClr val="bg2"/>
                </a:solidFill>
              </a:rPr>
              <a:t>n</a:t>
            </a:r>
            <a:r>
              <a:rPr lang="zh-CN" altLang="en-US" sz="2400" b="0" dirty="0">
                <a:solidFill>
                  <a:schemeClr val="bg2"/>
                </a:solidFill>
              </a:rPr>
              <a:t>次，计算</a:t>
            </a:r>
            <a:r>
              <a:rPr lang="en-US" altLang="zh-CN" sz="2400" b="0" dirty="0">
                <a:solidFill>
                  <a:schemeClr val="bg2"/>
                </a:solidFill>
              </a:rPr>
              <a:t>x</a:t>
            </a:r>
            <a:r>
              <a:rPr lang="zh-CN" altLang="en-US" sz="2400" b="0" dirty="0">
                <a:solidFill>
                  <a:schemeClr val="bg2"/>
                </a:solidFill>
              </a:rPr>
              <a:t>的</a:t>
            </a:r>
            <a:r>
              <a:rPr lang="en-US" altLang="zh-CN" sz="2400" b="0" dirty="0">
                <a:solidFill>
                  <a:schemeClr val="bg2"/>
                </a:solidFill>
              </a:rPr>
              <a:t>n</a:t>
            </a:r>
            <a:r>
              <a:rPr lang="zh-CN" altLang="en-US" sz="2400" b="0" dirty="0">
                <a:solidFill>
                  <a:schemeClr val="bg2"/>
                </a:solidFill>
              </a:rPr>
              <a:t>次幂 *</a:t>
            </a:r>
            <a:r>
              <a:rPr lang="en-US" altLang="zh-CN" sz="2400" b="0" dirty="0">
                <a:solidFill>
                  <a:schemeClr val="bg2"/>
                </a:solidFill>
              </a:rPr>
              <a:t>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    power = power * x;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90000"/>
              </a:lnSpc>
              <a:buNone/>
            </a:pPr>
            <a:r>
              <a:rPr lang="en-US" altLang="zh-CN" sz="2400" b="0" dirty="0"/>
              <a:t>    printf( "%0.f\n", power);</a:t>
            </a:r>
            <a:endParaRPr lang="en-US" altLang="zh-CN" sz="2400" b="0" dirty="0"/>
          </a:p>
          <a:p>
            <a:pPr marL="377825" indent="-377825" algn="just" eaLnBrk="1" hangingPunct="1">
              <a:lnSpc>
                <a:spcPct val="70000"/>
              </a:lnSpc>
              <a:buNone/>
            </a:pPr>
            <a:r>
              <a:rPr lang="en-US" altLang="zh-CN" sz="2400" b="0" dirty="0"/>
              <a:t>}</a:t>
            </a:r>
            <a:endParaRPr lang="en-US" altLang="zh-CN" sz="2400" b="0" dirty="0"/>
          </a:p>
        </p:txBody>
      </p:sp>
      <p:sp>
        <p:nvSpPr>
          <p:cNvPr id="75779" name="Rectangle 3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8842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源程序－求 </a:t>
            </a:r>
            <a:r>
              <a:rPr lang="en-US" altLang="zh-CN" sz="4000" b="0" dirty="0"/>
              <a:t>x</a:t>
            </a:r>
            <a:r>
              <a:rPr lang="en-US" altLang="zh-CN" sz="4000" b="0" baseline="30000" dirty="0"/>
              <a:t>n</a:t>
            </a:r>
            <a:r>
              <a:rPr lang="en-US" altLang="zh-CN" b="0" dirty="0"/>
              <a:t> </a:t>
            </a:r>
            <a:endParaRPr lang="en-US" altLang="zh-CN" b="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6802" name="Rectangle 2"/>
          <p:cNvSpPr>
            <a:spLocks noGrp="1"/>
          </p:cNvSpPr>
          <p:nvPr>
            <p:ph type="title"/>
          </p:nvPr>
        </p:nvSpPr>
        <p:spPr>
          <a:xfrm>
            <a:off x="684213" y="765175"/>
            <a:ext cx="6678612" cy="782638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 dirty="0"/>
              <a:t>2.5  </a:t>
            </a:r>
            <a:r>
              <a:rPr lang="zh-CN" altLang="en-US" b="0" dirty="0"/>
              <a:t>生成乘方表和阶乘表</a:t>
            </a:r>
            <a:endParaRPr lang="en-US" altLang="zh-CN" b="0" dirty="0"/>
          </a:p>
        </p:txBody>
      </p:sp>
      <p:sp>
        <p:nvSpPr>
          <p:cNvPr id="76803" name="Rectangle 3"/>
          <p:cNvSpPr>
            <a:spLocks noGrp="1"/>
          </p:cNvSpPr>
          <p:nvPr>
            <p:ph idx="1"/>
          </p:nvPr>
        </p:nvSpPr>
        <p:spPr>
          <a:xfrm>
            <a:off x="906463" y="2363788"/>
            <a:ext cx="7405687" cy="1641475"/>
          </a:xfrm>
        </p:spPr>
        <p:txBody>
          <a:bodyPr vert="horz" wrap="square" lIns="91440" tIns="45720" rIns="91440" bIns="45720" anchor="t" anchorCtr="0"/>
          <a:p>
            <a:pPr marL="281305" indent="-281305" algn="just" eaLnBrk="1" hangingPunct="1">
              <a:lnSpc>
                <a:spcPct val="120000"/>
              </a:lnSpc>
              <a:buNone/>
            </a:pPr>
            <a:r>
              <a:rPr lang="en-US" altLang="zh-CN" b="0" dirty="0"/>
              <a:t>2.5.1  </a:t>
            </a:r>
            <a:r>
              <a:rPr lang="zh-CN" altLang="en-US" b="0" dirty="0"/>
              <a:t>程序解析</a:t>
            </a:r>
            <a:endParaRPr lang="zh-CN" altLang="en-US" b="0" dirty="0"/>
          </a:p>
          <a:p>
            <a:pPr marL="281305" indent="-281305" algn="just" eaLnBrk="1" hangingPunct="1">
              <a:lnSpc>
                <a:spcPct val="120000"/>
              </a:lnSpc>
              <a:buNone/>
            </a:pPr>
            <a:r>
              <a:rPr lang="en-US" altLang="zh-CN" b="0" dirty="0"/>
              <a:t>2.5.2  </a:t>
            </a:r>
            <a:r>
              <a:rPr lang="zh-CN" altLang="en-US" b="0" dirty="0"/>
              <a:t>结构化程序设计思想</a:t>
            </a:r>
            <a:endParaRPr lang="zh-CN" altLang="en-US" b="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7826" name="Rectangle 2"/>
          <p:cNvSpPr>
            <a:spLocks noGrp="1"/>
          </p:cNvSpPr>
          <p:nvPr>
            <p:ph type="title"/>
          </p:nvPr>
        </p:nvSpPr>
        <p:spPr>
          <a:xfrm>
            <a:off x="250825" y="476250"/>
            <a:ext cx="8229600" cy="8477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b="0" dirty="0"/>
              <a:t>2.5.1 </a:t>
            </a:r>
            <a:r>
              <a:rPr lang="zh-CN" altLang="en-US" b="0" dirty="0"/>
              <a:t>程序解析</a:t>
            </a:r>
            <a:endParaRPr lang="zh-CN" altLang="en-US" b="0" dirty="0"/>
          </a:p>
        </p:txBody>
      </p:sp>
      <p:sp>
        <p:nvSpPr>
          <p:cNvPr id="77827" name="Rectangle 3"/>
          <p:cNvSpPr>
            <a:spLocks noGrp="1"/>
          </p:cNvSpPr>
          <p:nvPr>
            <p:ph idx="1"/>
          </p:nvPr>
        </p:nvSpPr>
        <p:spPr>
          <a:xfrm>
            <a:off x="468313" y="1628775"/>
            <a:ext cx="8424862" cy="1655763"/>
          </a:xfrm>
        </p:spPr>
        <p:txBody>
          <a:bodyPr vert="horz" wrap="square" lIns="91440" tIns="45720" rIns="91440" bIns="45720" anchor="t" anchorCtr="0"/>
          <a:p>
            <a:pPr marL="281305" indent="-281305" algn="just" eaLnBrk="1" hangingPunct="1">
              <a:lnSpc>
                <a:spcPct val="90000"/>
              </a:lnSpc>
              <a:buNone/>
            </a:pPr>
            <a:r>
              <a:rPr lang="zh-CN" altLang="en-US" b="0" dirty="0"/>
              <a:t>例</a:t>
            </a:r>
            <a:r>
              <a:rPr lang="en-US" altLang="zh-CN" b="0" dirty="0"/>
              <a:t>2-10</a:t>
            </a:r>
            <a:r>
              <a:rPr lang="zh-CN" altLang="en-US" b="0" dirty="0"/>
              <a:t>（</a:t>
            </a:r>
            <a:r>
              <a:rPr lang="en-US" altLang="zh-CN" b="0" dirty="0"/>
              <a:t>1</a:t>
            </a:r>
            <a:r>
              <a:rPr lang="zh-CN" altLang="en-US" b="0" dirty="0"/>
              <a:t>）</a:t>
            </a:r>
            <a:endParaRPr lang="zh-CN" altLang="en-US" b="0" dirty="0"/>
          </a:p>
          <a:p>
            <a:pPr marL="281305" indent="-281305" algn="just" eaLnBrk="1" hangingPunct="1">
              <a:lnSpc>
                <a:spcPct val="90000"/>
              </a:lnSpc>
              <a:buNone/>
            </a:pPr>
            <a:r>
              <a:rPr lang="zh-CN" altLang="en-US" b="0" dirty="0"/>
              <a:t>输入一个正整数</a:t>
            </a:r>
            <a:r>
              <a:rPr lang="en-US" altLang="zh-CN" b="0" dirty="0"/>
              <a:t>n</a:t>
            </a:r>
            <a:r>
              <a:rPr lang="zh-CN" altLang="en-US" b="0" dirty="0"/>
              <a:t>，生成一张</a:t>
            </a:r>
            <a:r>
              <a:rPr lang="en-US" altLang="zh-CN" b="0" dirty="0"/>
              <a:t>2</a:t>
            </a:r>
            <a:r>
              <a:rPr lang="zh-CN" altLang="en-US" b="0" dirty="0"/>
              <a:t>的乘方表，输出</a:t>
            </a:r>
            <a:r>
              <a:rPr lang="en-US" altLang="zh-CN" b="0" dirty="0"/>
              <a:t>2</a:t>
            </a:r>
            <a:r>
              <a:rPr lang="en-US" altLang="zh-CN" b="0" baseline="30000" dirty="0"/>
              <a:t>0</a:t>
            </a:r>
            <a:r>
              <a:rPr lang="zh-CN" altLang="en-US" b="0" dirty="0"/>
              <a:t>到</a:t>
            </a:r>
            <a:r>
              <a:rPr lang="en-US" altLang="zh-CN" b="0" dirty="0"/>
              <a:t>2</a:t>
            </a:r>
            <a:r>
              <a:rPr lang="en-US" altLang="zh-CN" b="0" baseline="30000" dirty="0"/>
              <a:t>n</a:t>
            </a:r>
            <a:r>
              <a:rPr lang="zh-CN" altLang="en-US" b="0" dirty="0"/>
              <a:t>的值，可以调用幂函数计算</a:t>
            </a:r>
            <a:r>
              <a:rPr lang="en-US" altLang="zh-CN" b="0" dirty="0"/>
              <a:t>2</a:t>
            </a:r>
            <a:r>
              <a:rPr lang="zh-CN" altLang="en-US" b="0" dirty="0"/>
              <a:t>的乘方。</a:t>
            </a:r>
            <a:endParaRPr lang="zh-CN" altLang="en-US" b="0" dirty="0"/>
          </a:p>
        </p:txBody>
      </p:sp>
      <p:sp>
        <p:nvSpPr>
          <p:cNvPr id="77828" name="Rectangle 4"/>
          <p:cNvSpPr/>
          <p:nvPr/>
        </p:nvSpPr>
        <p:spPr>
          <a:xfrm>
            <a:off x="20320" y="3545840"/>
            <a:ext cx="904494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for (i = 0; i &lt;= n ; i++){</a:t>
            </a:r>
            <a:endParaRPr lang="en-US" altLang="zh-CN" sz="2400" b="0" dirty="0"/>
          </a:p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    power = pow(2, i); </a:t>
            </a:r>
            <a:r>
              <a:rPr lang="en-US" altLang="zh-CN" sz="2400" b="0" dirty="0">
                <a:solidFill>
                  <a:schemeClr val="bg2"/>
                </a:solidFill>
              </a:rPr>
              <a:t>/*</a:t>
            </a:r>
            <a:r>
              <a:rPr lang="zh-CN" altLang="en-US" sz="2400" b="0" dirty="0">
                <a:solidFill>
                  <a:schemeClr val="bg2"/>
                </a:solidFill>
              </a:rPr>
              <a:t>调用幂函数</a:t>
            </a:r>
            <a:r>
              <a:rPr lang="en-US" altLang="zh-CN" sz="2400" b="0" dirty="0">
                <a:solidFill>
                  <a:schemeClr val="bg2"/>
                </a:solidFill>
              </a:rPr>
              <a:t>pow(2,i)</a:t>
            </a:r>
            <a:r>
              <a:rPr lang="zh-CN" altLang="en-US" sz="2400" b="0" dirty="0">
                <a:solidFill>
                  <a:schemeClr val="bg2"/>
                </a:solidFill>
              </a:rPr>
              <a:t>计算</a:t>
            </a:r>
            <a:r>
              <a:rPr lang="en-US" altLang="zh-CN" sz="2400" b="0" dirty="0">
                <a:solidFill>
                  <a:schemeClr val="bg2"/>
                </a:solidFill>
              </a:rPr>
              <a:t>2</a:t>
            </a:r>
            <a:r>
              <a:rPr lang="zh-CN" altLang="en-US" sz="2400" b="0" dirty="0">
                <a:solidFill>
                  <a:schemeClr val="bg2"/>
                </a:solidFill>
              </a:rPr>
              <a:t>的</a:t>
            </a:r>
            <a:r>
              <a:rPr lang="en-US" altLang="zh-CN" sz="2400" b="0" dirty="0">
                <a:solidFill>
                  <a:schemeClr val="bg2"/>
                </a:solidFill>
              </a:rPr>
              <a:t>i</a:t>
            </a:r>
            <a:r>
              <a:rPr lang="zh-CN" altLang="en-US" sz="2400" b="0" dirty="0">
                <a:solidFill>
                  <a:schemeClr val="bg2"/>
                </a:solidFill>
              </a:rPr>
              <a:t>次方*</a:t>
            </a:r>
            <a:r>
              <a:rPr lang="en-US" altLang="zh-CN" sz="2400" b="0" dirty="0">
                <a:solidFill>
                  <a:schemeClr val="bg2"/>
                </a:solidFill>
              </a:rPr>
              <a:t>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    </a:t>
            </a:r>
            <a:r>
              <a:rPr lang="zh-CN" altLang="en-US" sz="2400" b="0" dirty="0"/>
              <a:t>输出</a:t>
            </a:r>
            <a:r>
              <a:rPr lang="en-US" altLang="zh-CN" sz="2400" b="0" dirty="0"/>
              <a:t>power</a:t>
            </a:r>
            <a:r>
              <a:rPr lang="zh-CN" altLang="en-US" sz="2400" b="0" dirty="0"/>
              <a:t>的值</a:t>
            </a:r>
            <a:r>
              <a:rPr lang="en-US" altLang="zh-CN" sz="2400" b="0" dirty="0"/>
              <a:t>;</a:t>
            </a:r>
            <a:endParaRPr lang="en-US" altLang="zh-CN" sz="2400" b="0" dirty="0"/>
          </a:p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}</a:t>
            </a:r>
            <a:endParaRPr lang="zh-CN" altLang="en-US" sz="2400" b="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8850" name="Rectangle 2"/>
          <p:cNvSpPr>
            <a:spLocks noGrp="1"/>
          </p:cNvSpPr>
          <p:nvPr>
            <p:ph type="title"/>
          </p:nvPr>
        </p:nvSpPr>
        <p:spPr>
          <a:xfrm>
            <a:off x="228600" y="490538"/>
            <a:ext cx="7745413" cy="706437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源程序－生成乘方表</a:t>
            </a:r>
            <a:endParaRPr lang="zh-CN" altLang="en-US" b="0" dirty="0"/>
          </a:p>
        </p:txBody>
      </p:sp>
      <p:sp>
        <p:nvSpPr>
          <p:cNvPr id="78851" name="Rectangle 3"/>
          <p:cNvSpPr>
            <a:spLocks noGrp="1"/>
          </p:cNvSpPr>
          <p:nvPr>
            <p:ph idx="1"/>
          </p:nvPr>
        </p:nvSpPr>
        <p:spPr>
          <a:xfrm>
            <a:off x="35560" y="1270000"/>
            <a:ext cx="9072880" cy="5472430"/>
          </a:xfrm>
        </p:spPr>
        <p:txBody>
          <a:bodyPr vert="horz" wrap="square" lIns="91440" tIns="45720" rIns="91440" bIns="45720" anchor="t" anchorCtr="0"/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#include &lt;stdio.h&gt;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#include &lt;math.h&gt;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int main(void)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{    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int i, n;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double power;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printf("Enter n:");  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scanf("%d", &amp;n); 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for (i = 0; i &lt;= n ; i++){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   power = pow(2, i);</a:t>
            </a:r>
            <a:r>
              <a:rPr lang="en-US" altLang="zh-CN" sz="2400" b="0" dirty="0">
                <a:solidFill>
                  <a:schemeClr val="bg2"/>
                </a:solidFill>
              </a:rPr>
              <a:t> /* </a:t>
            </a:r>
            <a:r>
              <a:rPr lang="zh-CN" altLang="en-US" sz="2400" b="0" dirty="0">
                <a:solidFill>
                  <a:schemeClr val="bg2"/>
                </a:solidFill>
              </a:rPr>
              <a:t>调用幂函数</a:t>
            </a:r>
            <a:r>
              <a:rPr lang="en-US" altLang="zh-CN" sz="2400" b="0" dirty="0">
                <a:solidFill>
                  <a:schemeClr val="bg2"/>
                </a:solidFill>
              </a:rPr>
              <a:t>pow(2,i)</a:t>
            </a:r>
            <a:r>
              <a:rPr lang="zh-CN" altLang="en-US" sz="2400" b="0" dirty="0">
                <a:solidFill>
                  <a:schemeClr val="bg2"/>
                </a:solidFill>
              </a:rPr>
              <a:t>计算</a:t>
            </a:r>
            <a:r>
              <a:rPr lang="en-US" altLang="zh-CN" sz="2400" b="0" dirty="0">
                <a:solidFill>
                  <a:schemeClr val="bg2"/>
                </a:solidFill>
              </a:rPr>
              <a:t>2</a:t>
            </a:r>
            <a:r>
              <a:rPr lang="zh-CN" altLang="en-US" sz="2400" b="0" dirty="0">
                <a:solidFill>
                  <a:schemeClr val="bg2"/>
                </a:solidFill>
              </a:rPr>
              <a:t>的</a:t>
            </a:r>
            <a:r>
              <a:rPr lang="en-US" altLang="zh-CN" sz="2400" b="0" dirty="0">
                <a:solidFill>
                  <a:schemeClr val="bg2"/>
                </a:solidFill>
              </a:rPr>
              <a:t>i</a:t>
            </a:r>
            <a:r>
              <a:rPr lang="zh-CN" altLang="en-US" sz="2400" b="0" dirty="0">
                <a:solidFill>
                  <a:schemeClr val="bg2"/>
                </a:solidFill>
              </a:rPr>
              <a:t>次方 *</a:t>
            </a:r>
            <a:r>
              <a:rPr lang="en-US" altLang="zh-CN" sz="2400" b="0" dirty="0">
                <a:solidFill>
                  <a:schemeClr val="bg2"/>
                </a:solidFill>
              </a:rPr>
              <a:t>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   printf("pow(2,%d)= %.0f\n", i, power);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}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return 0;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}</a:t>
            </a:r>
            <a:endParaRPr lang="en-US" altLang="zh-CN" sz="2400" b="0" dirty="0"/>
          </a:p>
        </p:txBody>
      </p:sp>
      <p:sp>
        <p:nvSpPr>
          <p:cNvPr id="431110" name="Rectangle 6"/>
          <p:cNvSpPr/>
          <p:nvPr/>
        </p:nvSpPr>
        <p:spPr>
          <a:xfrm>
            <a:off x="6372225" y="1125538"/>
            <a:ext cx="2376488" cy="230695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400" b="0" dirty="0">
                <a:ea typeface="Arial Unicode MS" pitchFamily="34" charset="-122"/>
              </a:rPr>
              <a:t>Enter n: </a:t>
            </a:r>
            <a:r>
              <a:rPr lang="en-US" altLang="zh-CN" sz="2400" b="0" dirty="0">
                <a:solidFill>
                  <a:srgbClr val="CC0066"/>
                </a:solidFill>
              </a:rPr>
              <a:t>4</a:t>
            </a:r>
            <a:endParaRPr lang="en-US" altLang="zh-CN" sz="24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pow(2,0)= 1</a:t>
            </a:r>
            <a:endParaRPr lang="en-US" altLang="zh-CN" sz="24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pow(2,1)= 2</a:t>
            </a:r>
            <a:endParaRPr lang="en-US" altLang="zh-CN" sz="24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pow(2,2)= 4</a:t>
            </a:r>
            <a:endParaRPr lang="en-US" altLang="zh-CN" sz="24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pow(2,3)= 8</a:t>
            </a:r>
            <a:endParaRPr lang="en-US" altLang="zh-CN" sz="24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pow(2,4)= 16 </a:t>
            </a:r>
            <a:endParaRPr lang="en-US" altLang="zh-CN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31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31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1110" grpId="0" bldLvl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9874" name="Rectangle 2"/>
          <p:cNvSpPr>
            <a:spLocks noGrp="1"/>
          </p:cNvSpPr>
          <p:nvPr>
            <p:ph type="title"/>
          </p:nvPr>
        </p:nvSpPr>
        <p:spPr>
          <a:xfrm>
            <a:off x="250825" y="189230"/>
            <a:ext cx="8229600" cy="847725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例</a:t>
            </a:r>
            <a:r>
              <a:rPr lang="en-US" altLang="zh-CN" b="0" dirty="0"/>
              <a:t>2-10</a:t>
            </a:r>
            <a:r>
              <a:rPr lang="zh-CN" altLang="en-US" b="0" dirty="0"/>
              <a:t>（</a:t>
            </a:r>
            <a:r>
              <a:rPr lang="en-US" altLang="zh-CN" b="0" dirty="0"/>
              <a:t>2</a:t>
            </a:r>
            <a:r>
              <a:rPr lang="zh-CN" altLang="en-US" b="0" dirty="0"/>
              <a:t>）生成阶乘表</a:t>
            </a:r>
            <a:endParaRPr lang="zh-CN" altLang="en-US" b="0" dirty="0"/>
          </a:p>
        </p:txBody>
      </p:sp>
      <p:sp>
        <p:nvSpPr>
          <p:cNvPr id="79875" name="Rectangle 3"/>
          <p:cNvSpPr>
            <a:spLocks noGrp="1"/>
          </p:cNvSpPr>
          <p:nvPr>
            <p:ph idx="1"/>
          </p:nvPr>
        </p:nvSpPr>
        <p:spPr>
          <a:xfrm>
            <a:off x="253048" y="1127125"/>
            <a:ext cx="8424862" cy="1438275"/>
          </a:xfrm>
        </p:spPr>
        <p:txBody>
          <a:bodyPr vert="horz" wrap="square" lIns="91440" tIns="45720" rIns="91440" bIns="45720" anchor="t" anchorCtr="0"/>
          <a:p>
            <a:pPr marL="281305" indent="-281305" algn="just" eaLnBrk="1" hangingPunct="1">
              <a:lnSpc>
                <a:spcPct val="90000"/>
              </a:lnSpc>
              <a:buNone/>
            </a:pPr>
            <a:r>
              <a:rPr lang="zh-CN" altLang="en-US" b="0" dirty="0"/>
              <a:t>输入一个正整数</a:t>
            </a:r>
            <a:r>
              <a:rPr lang="en-US" altLang="zh-CN" b="0" dirty="0"/>
              <a:t>n</a:t>
            </a:r>
            <a:r>
              <a:rPr lang="zh-CN" altLang="en-US" b="0" dirty="0"/>
              <a:t>，生成一张阶乘表，输出</a:t>
            </a:r>
            <a:r>
              <a:rPr lang="en-US" altLang="zh-CN" b="0" dirty="0"/>
              <a:t>0</a:t>
            </a:r>
            <a:r>
              <a:rPr lang="zh-CN" altLang="en-US" b="0" dirty="0"/>
              <a:t>！到</a:t>
            </a:r>
            <a:r>
              <a:rPr lang="en-US" altLang="zh-CN" b="0" dirty="0"/>
              <a:t>n</a:t>
            </a:r>
            <a:r>
              <a:rPr lang="zh-CN" altLang="en-US" b="0" dirty="0"/>
              <a:t>！的值。要求定义和调用函数</a:t>
            </a:r>
            <a:r>
              <a:rPr lang="en-US" altLang="zh-CN" b="0" dirty="0"/>
              <a:t>fact(n)</a:t>
            </a:r>
            <a:r>
              <a:rPr lang="zh-CN" altLang="en-US" b="0" dirty="0"/>
              <a:t>计算</a:t>
            </a:r>
            <a:r>
              <a:rPr lang="en-US" altLang="zh-CN" b="0" dirty="0"/>
              <a:t>n!</a:t>
            </a:r>
            <a:r>
              <a:rPr lang="zh-CN" altLang="en-US" b="0" dirty="0"/>
              <a:t>，函数类型是</a:t>
            </a:r>
            <a:r>
              <a:rPr lang="en-US" altLang="zh-CN" b="0" dirty="0"/>
              <a:t>double</a:t>
            </a:r>
            <a:r>
              <a:rPr lang="zh-CN" altLang="en-US" b="0" dirty="0"/>
              <a:t>。 </a:t>
            </a:r>
            <a:endParaRPr lang="zh-CN" altLang="en-US" b="0" dirty="0"/>
          </a:p>
        </p:txBody>
      </p:sp>
      <p:sp>
        <p:nvSpPr>
          <p:cNvPr id="79876" name="Rectangle 4"/>
          <p:cNvSpPr/>
          <p:nvPr/>
        </p:nvSpPr>
        <p:spPr>
          <a:xfrm>
            <a:off x="62548" y="4295775"/>
            <a:ext cx="9018905" cy="1568450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2075" tIns="46038" rIns="92075" bIns="46038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for (i = 0; i &lt;= n ; i++){</a:t>
            </a:r>
            <a:endParaRPr lang="en-US" altLang="zh-CN" sz="2400" b="0" dirty="0"/>
          </a:p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    power = pow(2, i);    </a:t>
            </a:r>
            <a:r>
              <a:rPr lang="en-US" altLang="zh-CN" sz="2400" b="0" dirty="0">
                <a:solidFill>
                  <a:schemeClr val="bg2"/>
                </a:solidFill>
              </a:rPr>
              <a:t>/*</a:t>
            </a:r>
            <a:r>
              <a:rPr lang="zh-CN" altLang="en-US" sz="2400" b="0" dirty="0">
                <a:solidFill>
                  <a:schemeClr val="bg2"/>
                </a:solidFill>
              </a:rPr>
              <a:t>调用</a:t>
            </a:r>
            <a:r>
              <a:rPr lang="en-US" altLang="zh-CN" sz="2400" b="0" dirty="0">
                <a:solidFill>
                  <a:schemeClr val="bg2"/>
                </a:solidFill>
              </a:rPr>
              <a:t>pow(2,i)</a:t>
            </a:r>
            <a:r>
              <a:rPr lang="zh-CN" altLang="en-US" sz="2400" b="0" dirty="0">
                <a:solidFill>
                  <a:schemeClr val="bg2"/>
                </a:solidFill>
              </a:rPr>
              <a:t>计算</a:t>
            </a:r>
            <a:r>
              <a:rPr lang="en-US" altLang="zh-CN" sz="2400" b="0" dirty="0">
                <a:solidFill>
                  <a:schemeClr val="bg2"/>
                </a:solidFill>
              </a:rPr>
              <a:t>2</a:t>
            </a:r>
            <a:r>
              <a:rPr lang="zh-CN" altLang="en-US" sz="2400" b="0" dirty="0">
                <a:solidFill>
                  <a:schemeClr val="bg2"/>
                </a:solidFill>
              </a:rPr>
              <a:t>的</a:t>
            </a:r>
            <a:r>
              <a:rPr lang="en-US" altLang="zh-CN" sz="2400" b="0" dirty="0">
                <a:solidFill>
                  <a:schemeClr val="bg2"/>
                </a:solidFill>
              </a:rPr>
              <a:t>i</a:t>
            </a:r>
            <a:r>
              <a:rPr lang="zh-CN" altLang="en-US" sz="2400" b="0" dirty="0">
                <a:solidFill>
                  <a:schemeClr val="bg2"/>
                </a:solidFill>
              </a:rPr>
              <a:t>次方*</a:t>
            </a:r>
            <a:r>
              <a:rPr lang="en-US" altLang="zh-CN" sz="2400" b="0" dirty="0">
                <a:solidFill>
                  <a:schemeClr val="bg2"/>
                </a:solidFill>
              </a:rPr>
              <a:t>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    </a:t>
            </a:r>
            <a:r>
              <a:rPr lang="zh-CN" altLang="en-US" sz="2400" b="0" dirty="0"/>
              <a:t>输出</a:t>
            </a:r>
            <a:r>
              <a:rPr lang="en-US" altLang="zh-CN" sz="2400" b="0" dirty="0"/>
              <a:t>power</a:t>
            </a:r>
            <a:r>
              <a:rPr lang="zh-CN" altLang="en-US" sz="2400" b="0" dirty="0"/>
              <a:t>的值</a:t>
            </a:r>
            <a:r>
              <a:rPr lang="en-US" altLang="zh-CN" sz="2400" b="0" dirty="0"/>
              <a:t>;</a:t>
            </a:r>
            <a:endParaRPr lang="en-US" altLang="zh-CN" sz="2400" b="0" dirty="0"/>
          </a:p>
          <a:p>
            <a:pPr marL="457200" lvl="1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}</a:t>
            </a:r>
            <a:endParaRPr lang="zh-CN" altLang="en-US" sz="2400" b="0" dirty="0"/>
          </a:p>
        </p:txBody>
      </p:sp>
      <p:sp>
        <p:nvSpPr>
          <p:cNvPr id="432133" name="Rectangle 5"/>
          <p:cNvSpPr/>
          <p:nvPr/>
        </p:nvSpPr>
        <p:spPr>
          <a:xfrm>
            <a:off x="684848" y="2665413"/>
            <a:ext cx="8340725" cy="1568450"/>
          </a:xfrm>
          <a:prstGeom prst="rect">
            <a:avLst/>
          </a:prstGeom>
          <a:noFill/>
          <a:ln w="9525">
            <a:noFill/>
          </a:ln>
        </p:spPr>
        <p:txBody>
          <a:bodyPr wrap="none" lIns="92075" tIns="46038" rIns="92075" bIns="46038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for (i = 0; i &lt;= n ; i++){</a:t>
            </a:r>
            <a:endParaRPr lang="en-US" altLang="zh-CN" sz="24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    product = fact(i);   </a:t>
            </a:r>
            <a:r>
              <a:rPr lang="en-US" altLang="zh-CN" sz="2400" b="0" dirty="0">
                <a:solidFill>
                  <a:schemeClr val="bg2"/>
                </a:solidFill>
              </a:rPr>
              <a:t>   /* </a:t>
            </a:r>
            <a:r>
              <a:rPr lang="zh-CN" altLang="en-US" sz="2400" b="0" dirty="0">
                <a:solidFill>
                  <a:schemeClr val="bg2"/>
                </a:solidFill>
              </a:rPr>
              <a:t>调用自定义函数</a:t>
            </a:r>
            <a:r>
              <a:rPr lang="en-US" altLang="zh-CN" sz="2400" b="0" dirty="0">
                <a:solidFill>
                  <a:schemeClr val="bg2"/>
                </a:solidFill>
              </a:rPr>
              <a:t>fact(i)</a:t>
            </a:r>
            <a:r>
              <a:rPr lang="zh-CN" altLang="en-US" sz="2400" b="0" dirty="0">
                <a:solidFill>
                  <a:schemeClr val="bg2"/>
                </a:solidFill>
              </a:rPr>
              <a:t>计算</a:t>
            </a:r>
            <a:r>
              <a:rPr lang="en-US" altLang="zh-CN" sz="2400" b="0" dirty="0">
                <a:solidFill>
                  <a:schemeClr val="bg2"/>
                </a:solidFill>
              </a:rPr>
              <a:t>i! */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    </a:t>
            </a:r>
            <a:r>
              <a:rPr lang="zh-CN" altLang="en-US" sz="2400" b="0" dirty="0"/>
              <a:t>输出</a:t>
            </a:r>
            <a:r>
              <a:rPr lang="en-US" altLang="zh-CN" sz="2400" b="0" dirty="0"/>
              <a:t>product</a:t>
            </a:r>
            <a:r>
              <a:rPr lang="zh-CN" altLang="en-US" sz="2400" b="0" dirty="0"/>
              <a:t>的值</a:t>
            </a:r>
            <a:r>
              <a:rPr lang="en-US" altLang="zh-CN" sz="2400" b="0" dirty="0"/>
              <a:t>;</a:t>
            </a:r>
            <a:endParaRPr lang="en-US" altLang="zh-CN" sz="24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0" dirty="0"/>
              <a:t>}</a:t>
            </a:r>
            <a:endParaRPr lang="en-US" altLang="zh-CN" sz="24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32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2133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0898" name="Rectangle 2"/>
          <p:cNvSpPr>
            <a:spLocks noGrp="1"/>
          </p:cNvSpPr>
          <p:nvPr>
            <p:ph type="title"/>
          </p:nvPr>
        </p:nvSpPr>
        <p:spPr>
          <a:xfrm>
            <a:off x="228600" y="131763"/>
            <a:ext cx="7745413" cy="706437"/>
          </a:xfrm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b="0" dirty="0"/>
              <a:t>源程序－生成阶乘表</a:t>
            </a:r>
            <a:endParaRPr lang="zh-CN" altLang="en-US" b="0" dirty="0"/>
          </a:p>
        </p:txBody>
      </p:sp>
      <p:sp>
        <p:nvSpPr>
          <p:cNvPr id="80899" name="Rectangle 3"/>
          <p:cNvSpPr>
            <a:spLocks noGrp="1"/>
          </p:cNvSpPr>
          <p:nvPr>
            <p:ph idx="1"/>
          </p:nvPr>
        </p:nvSpPr>
        <p:spPr>
          <a:xfrm>
            <a:off x="107315" y="1126490"/>
            <a:ext cx="8642350" cy="5399088"/>
          </a:xfrm>
        </p:spPr>
        <p:txBody>
          <a:bodyPr vert="horz" wrap="square" lIns="91440" tIns="45720" rIns="91440" bIns="45720" anchor="t" anchorCtr="0"/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#include &lt;stdio.h&gt;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>
                <a:solidFill>
                  <a:schemeClr val="bg2"/>
                </a:solidFill>
              </a:rPr>
              <a:t>double fact(int n);  /* </a:t>
            </a:r>
            <a:r>
              <a:rPr lang="zh-CN" altLang="en-US" sz="2400" b="0" dirty="0">
                <a:solidFill>
                  <a:schemeClr val="bg2"/>
                </a:solidFill>
              </a:rPr>
              <a:t>自定义函数的声明 *</a:t>
            </a:r>
            <a:r>
              <a:rPr lang="en-US" altLang="zh-CN" sz="2400" b="0" dirty="0">
                <a:solidFill>
                  <a:schemeClr val="bg2"/>
                </a:solidFill>
              </a:rPr>
              <a:t>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int main(void)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{   int i, n;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double result;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printf("Enter n:"); 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scanf("%d", &amp;n); 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for (i = 0; i &lt;= n ; i++){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    result = fact(i);        </a:t>
            </a:r>
            <a:r>
              <a:rPr lang="en-US" altLang="zh-CN" sz="2400" b="0" dirty="0">
                <a:solidFill>
                  <a:schemeClr val="bg2"/>
                </a:solidFill>
              </a:rPr>
              <a:t>/* </a:t>
            </a:r>
            <a:r>
              <a:rPr lang="zh-CN" altLang="en-US" sz="2400" b="0" dirty="0">
                <a:solidFill>
                  <a:schemeClr val="bg2"/>
                </a:solidFill>
              </a:rPr>
              <a:t>调用自定义函数</a:t>
            </a:r>
            <a:r>
              <a:rPr lang="en-US" altLang="zh-CN" sz="2400" b="0" dirty="0">
                <a:solidFill>
                  <a:schemeClr val="bg2"/>
                </a:solidFill>
              </a:rPr>
              <a:t>fact(i)</a:t>
            </a:r>
            <a:r>
              <a:rPr lang="zh-CN" altLang="en-US" sz="2400" b="0" dirty="0">
                <a:solidFill>
                  <a:schemeClr val="bg2"/>
                </a:solidFill>
              </a:rPr>
              <a:t>计算</a:t>
            </a:r>
            <a:r>
              <a:rPr lang="en-US" altLang="zh-CN" sz="2400" b="0" dirty="0">
                <a:solidFill>
                  <a:schemeClr val="bg2"/>
                </a:solidFill>
              </a:rPr>
              <a:t>i! */</a:t>
            </a:r>
            <a:endParaRPr lang="en-US" altLang="zh-CN" sz="2400" b="0" dirty="0">
              <a:solidFill>
                <a:schemeClr val="bg2"/>
              </a:solidFill>
            </a:endParaRPr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    printf("%d!=%.0f\n", i, result);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 }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   return 0;</a:t>
            </a:r>
            <a:endParaRPr lang="en-US" altLang="zh-CN" sz="2400" b="0" dirty="0"/>
          </a:p>
          <a:p>
            <a:pPr marL="281305" indent="-281305" eaLnBrk="1" hangingPunct="1">
              <a:lnSpc>
                <a:spcPct val="80000"/>
              </a:lnSpc>
              <a:buNone/>
            </a:pPr>
            <a:r>
              <a:rPr lang="en-US" altLang="zh-CN" sz="2400" b="0" dirty="0"/>
              <a:t>}</a:t>
            </a:r>
            <a:endParaRPr lang="en-US" altLang="zh-CN" sz="2400" b="0" dirty="0"/>
          </a:p>
        </p:txBody>
      </p:sp>
      <p:sp>
        <p:nvSpPr>
          <p:cNvPr id="433156" name="Rectangle 4"/>
          <p:cNvSpPr/>
          <p:nvPr/>
        </p:nvSpPr>
        <p:spPr>
          <a:xfrm>
            <a:off x="7235825" y="188913"/>
            <a:ext cx="1511300" cy="1630045"/>
          </a:xfrm>
          <a:prstGeom prst="rect">
            <a:avLst/>
          </a:prstGeom>
          <a:noFill/>
          <a:ln w="12700" cap="flat" cmpd="sng">
            <a:solidFill>
              <a:schemeClr val="tx1"/>
            </a:solidFill>
            <a:prstDash val="sysDot"/>
            <a:miter/>
            <a:headEnd type="none" w="sm" len="sm"/>
            <a:tailEnd type="none" w="sm" len="sm"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zh-CN" sz="2000" b="0" dirty="0">
                <a:ea typeface="Arial Unicode MS" pitchFamily="34" charset="-122"/>
              </a:rPr>
              <a:t>Enter n: </a:t>
            </a:r>
            <a:r>
              <a:rPr lang="en-US" altLang="zh-CN" sz="2000" b="0" dirty="0">
                <a:solidFill>
                  <a:srgbClr val="CC0066"/>
                </a:solidFill>
              </a:rPr>
              <a:t>3</a:t>
            </a:r>
            <a:endParaRPr lang="en-US" altLang="zh-CN" sz="2000" b="0" dirty="0">
              <a:solidFill>
                <a:srgbClr val="CC0066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0!=1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1!=1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2!=2</a:t>
            </a:r>
            <a:endParaRPr lang="en-US" altLang="zh-CN" sz="20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0" dirty="0"/>
              <a:t>3!=6</a:t>
            </a:r>
            <a:endParaRPr lang="en-US" altLang="zh-CN" sz="2000" b="0" dirty="0"/>
          </a:p>
        </p:txBody>
      </p:sp>
      <p:sp>
        <p:nvSpPr>
          <p:cNvPr id="433157" name="Rectangle 5"/>
          <p:cNvSpPr/>
          <p:nvPr/>
        </p:nvSpPr>
        <p:spPr>
          <a:xfrm>
            <a:off x="3529965" y="1819275"/>
            <a:ext cx="5576570" cy="2461260"/>
          </a:xfrm>
          <a:prstGeom prst="rect">
            <a:avLst/>
          </a:prstGeom>
          <a:noFill/>
          <a:ln w="12700" cap="flat" cmpd="sng">
            <a:solidFill>
              <a:schemeClr val="accent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2075" tIns="46038" rIns="92075" bIns="46038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0" dirty="0">
                <a:solidFill>
                  <a:schemeClr val="bg2"/>
                </a:solidFill>
              </a:rPr>
              <a:t>double fact(int n)        /* </a:t>
            </a:r>
            <a:r>
              <a:rPr lang="zh-CN" altLang="en-US" sz="2200" b="0" dirty="0">
                <a:solidFill>
                  <a:schemeClr val="bg2"/>
                </a:solidFill>
              </a:rPr>
              <a:t>函数首部 *</a:t>
            </a:r>
            <a:r>
              <a:rPr lang="en-US" altLang="zh-CN" sz="2200" b="0" dirty="0">
                <a:solidFill>
                  <a:schemeClr val="bg2"/>
                </a:solidFill>
              </a:rPr>
              <a:t>/</a:t>
            </a:r>
            <a:endParaRPr lang="en-US" altLang="zh-CN" sz="2200" b="0" dirty="0">
              <a:solidFill>
                <a:schemeClr val="bg2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0" dirty="0"/>
              <a:t>{   int i;  double product;    </a:t>
            </a:r>
            <a:endParaRPr lang="en-US" altLang="zh-CN" sz="22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0" dirty="0"/>
              <a:t>    product = 1;     </a:t>
            </a:r>
            <a:endParaRPr lang="en-US" altLang="zh-CN" sz="2200" b="0" dirty="0">
              <a:solidFill>
                <a:schemeClr val="bg2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0" dirty="0"/>
              <a:t>    for (i = 1; i &lt;= n; i++)  </a:t>
            </a:r>
            <a:endParaRPr lang="en-US" altLang="zh-CN" sz="22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0" dirty="0"/>
              <a:t>        product = product * i</a:t>
            </a:r>
            <a:endParaRPr lang="en-US" altLang="zh-CN" sz="2200" b="0" dirty="0"/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0" dirty="0"/>
              <a:t> </a:t>
            </a:r>
            <a:r>
              <a:rPr lang="en-US" altLang="zh-CN" sz="2200" b="0" dirty="0">
                <a:solidFill>
                  <a:schemeClr val="bg2"/>
                </a:solidFill>
              </a:rPr>
              <a:t>return  product;  /* </a:t>
            </a:r>
            <a:r>
              <a:rPr lang="zh-CN" altLang="en-US" sz="2200" b="0" dirty="0">
                <a:solidFill>
                  <a:schemeClr val="bg2"/>
                </a:solidFill>
              </a:rPr>
              <a:t>将结果回送主函数 *</a:t>
            </a:r>
            <a:r>
              <a:rPr lang="en-US" altLang="zh-CN" sz="2200" b="0" dirty="0">
                <a:solidFill>
                  <a:schemeClr val="bg2"/>
                </a:solidFill>
              </a:rPr>
              <a:t>/</a:t>
            </a:r>
            <a:endParaRPr lang="en-US" altLang="zh-CN" sz="2200" b="0" dirty="0">
              <a:solidFill>
                <a:schemeClr val="bg2"/>
              </a:solidFill>
            </a:endParaRPr>
          </a:p>
          <a:p>
            <a:pPr marL="0" lvl="0" indent="0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200" b="0" dirty="0"/>
              <a:t>}</a:t>
            </a:r>
            <a:endParaRPr lang="en-US" altLang="zh-CN" sz="22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33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31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33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3156" grpId="0" bldLvl="0" animBg="1"/>
      <p:bldP spid="433157" grpId="0" bldLvl="0" animBg="1"/>
    </p:bldLst>
  </p:timing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2075" tIns="46038" rIns="92075" bIns="46038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13798</Words>
  <Application>WPS 演示</Application>
  <PresentationFormat>全屏显示(4:3)</PresentationFormat>
  <Paragraphs>989</Paragraphs>
  <Slides>61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61</vt:i4>
      </vt:variant>
    </vt:vector>
  </HeadingPairs>
  <TitlesOfParts>
    <vt:vector size="83" baseType="lpstr">
      <vt:lpstr>Arial</vt:lpstr>
      <vt:lpstr>宋体</vt:lpstr>
      <vt:lpstr>Wingdings</vt:lpstr>
      <vt:lpstr>DejaVu Sans</vt:lpstr>
      <vt:lpstr>文泉驿微米黑</vt:lpstr>
      <vt:lpstr>Arial Black</vt:lpstr>
      <vt:lpstr>Times New Roman</vt:lpstr>
      <vt:lpstr>Sans Serif</vt:lpstr>
      <vt:lpstr>C059</vt:lpstr>
      <vt:lpstr>Arial Unicode MS</vt:lpstr>
      <vt:lpstr>楷体_GB2312</vt:lpstr>
      <vt:lpstr>MingLiU</vt:lpstr>
      <vt:lpstr>微软雅黑</vt:lpstr>
      <vt:lpstr>宋体</vt:lpstr>
      <vt:lpstr>Arial Unicode MS</vt:lpstr>
      <vt:lpstr>Noto Sans Symbols2</vt:lpstr>
      <vt:lpstr>Source Han Sans JP</vt:lpstr>
      <vt:lpstr>Pixel</vt:lpstr>
      <vt:lpstr>Equation.DSMT4</vt:lpstr>
      <vt:lpstr>Equation.DSMT4</vt:lpstr>
      <vt:lpstr>Paint.Picture</vt:lpstr>
      <vt:lpstr>Paint.Picture</vt:lpstr>
      <vt:lpstr>Chap 2  用C语言编写程序 </vt:lpstr>
      <vt:lpstr>2.1  在屏幕上显示信息</vt:lpstr>
      <vt:lpstr>2.1  在屏幕上显示信息</vt:lpstr>
      <vt:lpstr>2.1  在屏幕上显示信息</vt:lpstr>
      <vt:lpstr>2.1  在屏幕上显示信息</vt:lpstr>
      <vt:lpstr>2.2  求华氏温度 100°F 对应的摄氏温度 </vt:lpstr>
      <vt:lpstr>2.2.1  程序解析</vt:lpstr>
      <vt:lpstr>2.2.2  常量、变量和数据类型</vt:lpstr>
      <vt:lpstr>变量的定义</vt:lpstr>
      <vt:lpstr>变量的定义</vt:lpstr>
      <vt:lpstr>变量的定义</vt:lpstr>
      <vt:lpstr>变量的定义与使用</vt:lpstr>
      <vt:lpstr>2.2.3  算术运算和赋值运算</vt:lpstr>
      <vt:lpstr>算术运算</vt:lpstr>
      <vt:lpstr>赋值运算</vt:lpstr>
      <vt:lpstr>2.2.4  格式化输出函数printf</vt:lpstr>
      <vt:lpstr>printf－格式控制字符串</vt:lpstr>
      <vt:lpstr>2.3 计算分段函数 </vt:lpstr>
      <vt:lpstr>2.3.1  程序解析</vt:lpstr>
      <vt:lpstr>2.3.1  程序解析－求分段函数 </vt:lpstr>
      <vt:lpstr>2.3.2  关系运算</vt:lpstr>
      <vt:lpstr>运用关系表达式</vt:lpstr>
      <vt:lpstr>2.3.3  if - else语句</vt:lpstr>
      <vt:lpstr>计算分段函数 </vt:lpstr>
      <vt:lpstr>源程序及运行结果</vt:lpstr>
      <vt:lpstr>软件测试的基本思想 </vt:lpstr>
      <vt:lpstr>2.3.4  格式化输入函数scanf</vt:lpstr>
      <vt:lpstr>scanf－格式控制字符串</vt:lpstr>
      <vt:lpstr>改进例2-3的程序</vt:lpstr>
      <vt:lpstr>2.3.5  常用数学库函数</vt:lpstr>
      <vt:lpstr>常用数学库函数</vt:lpstr>
      <vt:lpstr>例2-5  计算存款的本息</vt:lpstr>
      <vt:lpstr>例2-5 程序</vt:lpstr>
      <vt:lpstr>调用scanf函数输入多个数据</vt:lpstr>
      <vt:lpstr>2.4 输出华氏－摄氏温度转换表</vt:lpstr>
      <vt:lpstr>2.4.1 程序解析</vt:lpstr>
      <vt:lpstr>2.4.1 程序解析-温度转换表</vt:lpstr>
      <vt:lpstr>2.4.2   for语句－循环语句</vt:lpstr>
      <vt:lpstr>for语句的说明</vt:lpstr>
      <vt:lpstr>for语句中的循环变量</vt:lpstr>
      <vt:lpstr>例2-8中for语句的流程</vt:lpstr>
      <vt:lpstr>复合语句{  }和空语句 ;</vt:lpstr>
      <vt:lpstr>2.4.3 指定次数的循环程序设计</vt:lpstr>
      <vt:lpstr>源程序－求 1+2+……+100</vt:lpstr>
      <vt:lpstr>求 1+1/2+1/3+……+ 1/100</vt:lpstr>
      <vt:lpstr>指定次数的循环程序设计</vt:lpstr>
      <vt:lpstr>例2-7 求 1+2+3+……+n </vt:lpstr>
      <vt:lpstr>求1+1/2+1/3+……+ 1/n </vt:lpstr>
      <vt:lpstr>求 1+1/3+1/5+… 的前n项和</vt:lpstr>
      <vt:lpstr>源程序－求 1+1/3+1/5+… </vt:lpstr>
      <vt:lpstr>例2-8 求 1-1/3+1/5-… 的前n项和</vt:lpstr>
      <vt:lpstr>例2-8 源程序</vt:lpstr>
      <vt:lpstr>例2-9 求n!</vt:lpstr>
      <vt:lpstr>例2-9 源程序</vt:lpstr>
      <vt:lpstr>求 xn </vt:lpstr>
      <vt:lpstr>源程序－求 xn </vt:lpstr>
      <vt:lpstr>2.5  生成乘方表和阶乘表</vt:lpstr>
      <vt:lpstr>2.5.1 程序解析</vt:lpstr>
      <vt:lpstr>源程序－生成乘方表</vt:lpstr>
      <vt:lpstr>例2-10（2）生成阶乘表</vt:lpstr>
      <vt:lpstr>源程序－生成阶乘表</vt:lpstr>
    </vt:vector>
  </TitlesOfParts>
  <Company> 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chap2_用C语言编写程序1-3</dc:title>
  <dc:creator>yanhui</dc:creator>
  <cp:lastModifiedBy>huxy</cp:lastModifiedBy>
  <cp:revision>1202</cp:revision>
  <dcterms:created xsi:type="dcterms:W3CDTF">2023-09-03T14:57:35Z</dcterms:created>
  <dcterms:modified xsi:type="dcterms:W3CDTF">2023-09-03T14:57:35Z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2052-11.1.0.10920</vt:lpwstr>
  </property>
</Properties>
</file>