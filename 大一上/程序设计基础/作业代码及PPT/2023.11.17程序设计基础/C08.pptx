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72"/>
  </p:handoutMasterIdLst>
  <p:sldIdLst>
    <p:sldId id="950" r:id="rId3"/>
    <p:sldId id="956" r:id="rId4"/>
    <p:sldId id="958" r:id="rId6"/>
    <p:sldId id="959" r:id="rId7"/>
    <p:sldId id="960" r:id="rId8"/>
    <p:sldId id="961" r:id="rId9"/>
    <p:sldId id="962" r:id="rId10"/>
    <p:sldId id="963" r:id="rId11"/>
    <p:sldId id="964" r:id="rId12"/>
    <p:sldId id="965" r:id="rId13"/>
    <p:sldId id="966" r:id="rId14"/>
    <p:sldId id="967" r:id="rId15"/>
    <p:sldId id="970" r:id="rId16"/>
    <p:sldId id="971" r:id="rId17"/>
    <p:sldId id="972" r:id="rId18"/>
    <p:sldId id="973" r:id="rId19"/>
    <p:sldId id="974" r:id="rId20"/>
    <p:sldId id="975" r:id="rId21"/>
    <p:sldId id="976" r:id="rId22"/>
    <p:sldId id="977" r:id="rId23"/>
    <p:sldId id="978" r:id="rId24"/>
    <p:sldId id="979" r:id="rId25"/>
    <p:sldId id="980" r:id="rId26"/>
    <p:sldId id="981" r:id="rId27"/>
    <p:sldId id="982" r:id="rId28"/>
    <p:sldId id="983" r:id="rId29"/>
    <p:sldId id="984" r:id="rId30"/>
    <p:sldId id="985" r:id="rId31"/>
    <p:sldId id="986" r:id="rId32"/>
    <p:sldId id="987" r:id="rId33"/>
    <p:sldId id="988" r:id="rId34"/>
    <p:sldId id="989" r:id="rId35"/>
    <p:sldId id="990" r:id="rId36"/>
    <p:sldId id="991" r:id="rId37"/>
    <p:sldId id="992" r:id="rId38"/>
    <p:sldId id="993" r:id="rId39"/>
    <p:sldId id="994" r:id="rId40"/>
    <p:sldId id="995" r:id="rId41"/>
    <p:sldId id="996" r:id="rId42"/>
    <p:sldId id="997" r:id="rId43"/>
    <p:sldId id="998" r:id="rId44"/>
    <p:sldId id="999" r:id="rId45"/>
    <p:sldId id="1000" r:id="rId46"/>
    <p:sldId id="1001" r:id="rId47"/>
    <p:sldId id="1002" r:id="rId48"/>
    <p:sldId id="1003" r:id="rId49"/>
    <p:sldId id="1004" r:id="rId50"/>
    <p:sldId id="1005" r:id="rId51"/>
    <p:sldId id="1006" r:id="rId52"/>
    <p:sldId id="1007" r:id="rId53"/>
    <p:sldId id="1008" r:id="rId54"/>
    <p:sldId id="1009" r:id="rId55"/>
    <p:sldId id="1010" r:id="rId56"/>
    <p:sldId id="1011" r:id="rId57"/>
    <p:sldId id="1012" r:id="rId58"/>
    <p:sldId id="1013" r:id="rId59"/>
    <p:sldId id="1014" r:id="rId60"/>
    <p:sldId id="1015" r:id="rId61"/>
    <p:sldId id="1016" r:id="rId62"/>
    <p:sldId id="1017" r:id="rId63"/>
    <p:sldId id="1018" r:id="rId64"/>
    <p:sldId id="1019" r:id="rId65"/>
    <p:sldId id="1020" r:id="rId66"/>
    <p:sldId id="1021" r:id="rId67"/>
    <p:sldId id="1022" r:id="rId68"/>
    <p:sldId id="1023" r:id="rId69"/>
    <p:sldId id="1024" r:id="rId70"/>
    <p:sldId id="1025" r:id="rId71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C39BE1"/>
    <a:srgbClr val="E3D0F1"/>
    <a:srgbClr val="FF3300"/>
    <a:srgbClr val="FFFF00"/>
    <a:srgbClr val="008080"/>
    <a:srgbClr val="FF9966"/>
    <a:srgbClr val="FF9933"/>
    <a:srgbClr val="757E30"/>
    <a:srgbClr val="33CC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5655"/>
    <p:restoredTop sz="87587"/>
  </p:normalViewPr>
  <p:slideViewPr>
    <p:cSldViewPr showGuides="1">
      <p:cViewPr varScale="1">
        <p:scale>
          <a:sx n="96" d="100"/>
          <a:sy n="96" d="100"/>
        </p:scale>
        <p:origin x="392" y="48"/>
      </p:cViewPr>
      <p:guideLst>
        <p:guide orient="horz" pos="1968"/>
        <p:guide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5" Type="http://schemas.openxmlformats.org/officeDocument/2006/relationships/tableStyles" Target="tableStyles.xml"/><Relationship Id="rId74" Type="http://schemas.openxmlformats.org/officeDocument/2006/relationships/viewProps" Target="viewProps.xml"/><Relationship Id="rId73" Type="http://schemas.openxmlformats.org/officeDocument/2006/relationships/presProps" Target="presProps.xml"/><Relationship Id="rId72" Type="http://schemas.openxmlformats.org/officeDocument/2006/relationships/handoutMaster" Target="handoutMasters/handoutMaster1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DC051A7-3587-483F-9A84-19A57A54D70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3076" name="Rectangle 4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9EBB9F-ED3F-4095-BBB0-A0D8AB781BF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itchFamily="18" charset="0"/>
              </a:rPr>
            </a:fld>
            <a:endParaRPr lang="zh-CN" altLang="en-US" sz="1200" dirty="0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itchFamily="18" charset="0"/>
              </a:rPr>
            </a:fld>
            <a:endParaRPr lang="zh-CN" altLang="en-US" sz="1200" dirty="0">
              <a:latin typeface="Times New Roman" pitchFamily="18" charset="0"/>
            </a:endParaRPr>
          </a:p>
        </p:txBody>
      </p:sp>
      <p:sp>
        <p:nvSpPr>
          <p:cNvPr id="83971" name="Rectangle 2"/>
          <p:cNvSpPr>
            <a:spLocks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3972" name="Rectangle 3"/>
          <p:cNvSpPr/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itchFamily="18" charset="0"/>
              </a:rPr>
            </a:fld>
            <a:endParaRPr lang="zh-CN" altLang="en-US" sz="1200" dirty="0">
              <a:latin typeface="Times New Roman" pitchFamily="18" charset="0"/>
            </a:endParaRPr>
          </a:p>
        </p:txBody>
      </p:sp>
      <p:sp>
        <p:nvSpPr>
          <p:cNvPr id="8499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itchFamily="18" charset="0"/>
              </a:rPr>
            </a:fld>
            <a:endParaRPr lang="zh-CN" altLang="en-US" sz="1200" dirty="0">
              <a:latin typeface="Times New Roman" pitchFamily="18" charset="0"/>
            </a:endParaRPr>
          </a:p>
        </p:txBody>
      </p:sp>
      <p:sp>
        <p:nvSpPr>
          <p:cNvPr id="8601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8602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itchFamily="18" charset="0"/>
              </a:rPr>
            </a:fld>
            <a:endParaRPr lang="zh-CN" altLang="en-US" sz="1200" dirty="0">
              <a:latin typeface="Times New Roman" pitchFamily="18" charset="0"/>
            </a:endParaRPr>
          </a:p>
        </p:txBody>
      </p:sp>
      <p:sp>
        <p:nvSpPr>
          <p:cNvPr id="8806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8806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itchFamily="18" charset="0"/>
              </a:rPr>
            </a:fld>
            <a:endParaRPr lang="zh-CN" altLang="en-US" sz="1200" dirty="0">
              <a:latin typeface="Times New Roman" pitchFamily="18" charset="0"/>
            </a:endParaRPr>
          </a:p>
        </p:txBody>
      </p:sp>
      <p:sp>
        <p:nvSpPr>
          <p:cNvPr id="8909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8909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itchFamily="18" charset="0"/>
              </a:rPr>
            </a:fld>
            <a:endParaRPr lang="zh-CN" altLang="en-US" sz="1200" dirty="0">
              <a:latin typeface="Times New Roman" pitchFamily="18" charset="0"/>
            </a:endParaRPr>
          </a:p>
        </p:txBody>
      </p:sp>
      <p:sp>
        <p:nvSpPr>
          <p:cNvPr id="9011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itchFamily="18" charset="0"/>
              </a:rPr>
            </a:fld>
            <a:endParaRPr lang="zh-CN" altLang="en-US" sz="1200" dirty="0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11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itchFamily="18" charset="0"/>
              </a:rPr>
            </a:fld>
            <a:endParaRPr lang="zh-CN" altLang="en-US" sz="1200" dirty="0">
              <a:latin typeface="Times New Roman" pitchFamily="18" charset="0"/>
            </a:endParaRPr>
          </a:p>
        </p:txBody>
      </p:sp>
      <p:sp>
        <p:nvSpPr>
          <p:cNvPr id="9216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itchFamily="18" charset="0"/>
              </a:rPr>
            </a:fld>
            <a:endParaRPr lang="zh-CN" altLang="en-US" sz="1200" dirty="0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itchFamily="18" charset="0"/>
              </a:rPr>
            </a:fld>
            <a:endParaRPr lang="zh-CN" altLang="en-US" sz="1200" dirty="0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421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itchFamily="18" charset="0"/>
              </a:rPr>
            </a:fld>
            <a:endParaRPr lang="zh-CN" altLang="en-US" sz="1200" dirty="0">
              <a:latin typeface="Times New Roman" pitchFamily="18" charset="0"/>
            </a:endParaRPr>
          </a:p>
        </p:txBody>
      </p:sp>
      <p:sp>
        <p:nvSpPr>
          <p:cNvPr id="952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52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itchFamily="18" charset="0"/>
              </a:rPr>
            </a:fld>
            <a:endParaRPr lang="zh-CN" altLang="en-US" sz="1200" dirty="0">
              <a:latin typeface="Times New Roman" pitchFamily="18" charset="0"/>
            </a:endParaRPr>
          </a:p>
        </p:txBody>
      </p:sp>
      <p:sp>
        <p:nvSpPr>
          <p:cNvPr id="9625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626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itchFamily="18" charset="0"/>
              </a:rPr>
            </a:fld>
            <a:endParaRPr lang="zh-CN" altLang="en-US" sz="1200" dirty="0">
              <a:latin typeface="Times New Roman" pitchFamily="18" charset="0"/>
            </a:endParaRPr>
          </a:p>
        </p:txBody>
      </p:sp>
      <p:sp>
        <p:nvSpPr>
          <p:cNvPr id="9728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728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itchFamily="18" charset="0"/>
              </a:rPr>
            </a:fld>
            <a:endParaRPr lang="zh-CN" altLang="en-US" sz="1200" dirty="0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20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4920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800D6FC-F8F6-4751-AF76-C915BE71AE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4AC981-3895-42EE-8AD4-27665A5AED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8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8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816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latin typeface="Arial" panose="0208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8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9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4817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8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48177" name="Text Box 17"/>
          <p:cNvSpPr txBox="1">
            <a:spLocks noChangeArrowheads="1"/>
          </p:cNvSpPr>
          <p:nvPr/>
        </p:nvSpPr>
        <p:spPr bwMode="auto">
          <a:xfrm>
            <a:off x="8532813" y="6308725"/>
            <a:ext cx="503238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D9E139-8418-4926-8889-64399745B40F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宋体" pitchFamily="2" charset="-122"/>
                <a:cs typeface="+mn-cs"/>
              </a:rPr>
            </a:fld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5" name="Rectangle 2"/>
          <p:cNvSpPr>
            <a:spLocks noGrp="1"/>
          </p:cNvSpPr>
          <p:nvPr>
            <p:ph type="title"/>
          </p:nvPr>
        </p:nvSpPr>
        <p:spPr>
          <a:xfrm>
            <a:off x="1042988" y="620713"/>
            <a:ext cx="5334000" cy="8382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0"/>
              <a:t>Chap</a:t>
            </a:r>
            <a:r>
              <a:rPr lang="zh-CN" altLang="en-US" b="0" dirty="0"/>
              <a:t> </a:t>
            </a:r>
            <a:r>
              <a:rPr lang="x-none" altLang="en-US" b="0"/>
              <a:t>8</a:t>
            </a:r>
            <a:r>
              <a:rPr lang="en-US" altLang="zh-CN" b="0"/>
              <a:t>  </a:t>
            </a:r>
            <a:r>
              <a:rPr lang="zh-CN" altLang="en-US" b="0" dirty="0">
                <a:ea typeface="华文新魏" pitchFamily="2" charset="-122"/>
              </a:rPr>
              <a:t>指  针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5" name="Rectangle 1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002588" cy="739775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8.1.2  地址和指针－</a:t>
            </a:r>
            <a:r>
              <a:rPr lang="en-US" altLang="zh-CN" b="0">
                <a:sym typeface="+mn-ea"/>
              </a:rPr>
              <a:t>指针</a:t>
            </a:r>
            <a:r>
              <a:rPr lang="en-US" altLang="zh-CN" b="0">
                <a:sym typeface="+mn-ea"/>
              </a:rPr>
              <a:t>的</a:t>
            </a:r>
            <a:r>
              <a:rPr lang="en-US" altLang="zh-CN" b="0">
                <a:sym typeface="+mn-ea"/>
              </a:rPr>
              <a:t>概念</a:t>
            </a:r>
            <a:endParaRPr lang="en-US" altLang="zh-CN" b="0">
              <a:sym typeface="+mn-ea"/>
            </a:endParaRPr>
          </a:p>
        </p:txBody>
      </p:sp>
      <p:sp>
        <p:nvSpPr>
          <p:cNvPr id="8196" name="Rectangle 4"/>
          <p:cNvSpPr/>
          <p:nvPr/>
        </p:nvSpPr>
        <p:spPr>
          <a:xfrm>
            <a:off x="457200" y="2514600"/>
            <a:ext cx="8686800" cy="4343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endParaRPr lang="zh-CN" altLang="en-US" sz="2800" dirty="0">
              <a:solidFill>
                <a:srgbClr val="FFFF00"/>
              </a:solidFill>
              <a:latin typeface="Arial" panose="02080604020202020204" pitchFamily="34" charset="0"/>
            </a:endParaRPr>
          </a:p>
        </p:txBody>
      </p:sp>
      <p:sp>
        <p:nvSpPr>
          <p:cNvPr id="8197" name="Rectangle 15"/>
          <p:cNvSpPr/>
          <p:nvPr/>
        </p:nvSpPr>
        <p:spPr>
          <a:xfrm>
            <a:off x="304800" y="1219200"/>
            <a:ext cx="3505200" cy="10668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/>
          <a:p>
            <a:r>
              <a:rPr lang="zh-CN" altLang="en-US" sz="2800" dirty="0">
                <a:latin typeface="Times New Roman" pitchFamily="18" charset="0"/>
              </a:rPr>
              <a:t>      内存单元</a:t>
            </a:r>
            <a:endParaRPr lang="zh-CN" altLang="en-US" sz="2800" dirty="0">
              <a:latin typeface="Times New Roman" pitchFamily="18" charset="0"/>
            </a:endParaRPr>
          </a:p>
          <a:p>
            <a:r>
              <a:rPr lang="zh-CN" altLang="en-US" sz="2800" dirty="0">
                <a:latin typeface="Times New Roman" pitchFamily="18" charset="0"/>
              </a:rPr>
              <a:t>地址       内容      </a:t>
            </a:r>
            <a:r>
              <a:rPr lang="zh-CN" altLang="en-US" sz="2800" dirty="0">
                <a:latin typeface="宋体" pitchFamily="2" charset="-122"/>
              </a:rPr>
              <a:t>变量</a:t>
            </a:r>
            <a:endParaRPr lang="zh-CN" altLang="en-US" sz="2800" dirty="0">
              <a:latin typeface="宋体" pitchFamily="2" charset="-122"/>
            </a:endParaRPr>
          </a:p>
        </p:txBody>
      </p:sp>
      <p:sp>
        <p:nvSpPr>
          <p:cNvPr id="229392" name="Text Box 16"/>
          <p:cNvSpPr txBox="1"/>
          <p:nvPr/>
        </p:nvSpPr>
        <p:spPr>
          <a:xfrm>
            <a:off x="4038600" y="2883218"/>
            <a:ext cx="5069205" cy="904875"/>
          </a:xfrm>
          <a:prstGeom prst="rect">
            <a:avLst/>
          </a:prstGeom>
          <a:noFill/>
          <a:ln w="12700">
            <a:noFill/>
          </a:ln>
        </p:spPr>
        <p:txBody>
          <a:bodyPr wrap="square" lIns="90000" tIns="46800" rIns="90000" bIns="46800" anchor="ctr" anchorCtr="0">
            <a:spAutoFit/>
          </a:bodyPr>
          <a:p>
            <a:pPr>
              <a:spcBef>
                <a:spcPct val="20000"/>
              </a:spcBef>
            </a:pPr>
            <a:r>
              <a:rPr lang="en-US" altLang="zh-CN" sz="2400" err="1">
                <a:latin typeface="Arial" panose="02080604020202020204" pitchFamily="34" charset="0"/>
              </a:rPr>
              <a:t>int</a:t>
            </a:r>
            <a:r>
              <a:rPr lang="en-US" altLang="zh-CN" sz="2400">
                <a:latin typeface="Arial" panose="02080604020202020204" pitchFamily="34" charset="0"/>
              </a:rPr>
              <a:t>  x = 20, y = 1, z = 155;</a:t>
            </a:r>
            <a:endParaRPr lang="en-US" altLang="zh-CN" sz="2400">
              <a:latin typeface="Arial" panose="02080604020202020204" pitchFamily="34" charset="0"/>
            </a:endParaRPr>
          </a:p>
          <a:p>
            <a:pPr>
              <a:spcBef>
                <a:spcPct val="20000"/>
              </a:spcBef>
            </a:pPr>
            <a:r>
              <a:rPr lang="en-US" altLang="zh-CN" sz="2400" err="1">
                <a:latin typeface="Arial" panose="02080604020202020204" pitchFamily="34" charset="0"/>
              </a:rPr>
              <a:t>printf("%d</a:t>
            </a:r>
            <a:r>
              <a:rPr lang="en-US" altLang="zh-CN" sz="2400">
                <a:latin typeface="Arial" panose="02080604020202020204" pitchFamily="34" charset="0"/>
              </a:rPr>
              <a:t>", x;)</a:t>
            </a:r>
            <a:endParaRPr lang="en-US" altLang="zh-CN" sz="2400">
              <a:latin typeface="Arial" panose="02080604020202020204" pitchFamily="34" charset="0"/>
            </a:endParaRPr>
          </a:p>
        </p:txBody>
      </p:sp>
      <p:sp>
        <p:nvSpPr>
          <p:cNvPr id="229393" name="Rectangle 17"/>
          <p:cNvSpPr/>
          <p:nvPr/>
        </p:nvSpPr>
        <p:spPr>
          <a:xfrm>
            <a:off x="3962400" y="2238534"/>
            <a:ext cx="4572000" cy="461645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>
            <a:spAutoFit/>
          </a:bodyPr>
          <a:p>
            <a:r>
              <a:rPr lang="en-US" altLang="en-US" sz="2400" err="1">
                <a:solidFill>
                  <a:schemeClr val="bg2"/>
                </a:solidFill>
                <a:latin typeface="Times New Roman" pitchFamily="18" charset="0"/>
              </a:rPr>
              <a:t>直接访问</a:t>
            </a:r>
            <a:r>
              <a:rPr lang="en-US" altLang="en-US" sz="2400" err="1">
                <a:latin typeface="仿宋_GB2312" pitchFamily="49" charset="-122"/>
              </a:rPr>
              <a:t>：通过变量名访问</a:t>
            </a:r>
            <a:endParaRPr lang="zh-CN" altLang="en-US" sz="2400" dirty="0">
              <a:latin typeface="仿宋_GB2312" pitchFamily="49" charset="-122"/>
            </a:endParaRPr>
          </a:p>
        </p:txBody>
      </p:sp>
      <p:sp>
        <p:nvSpPr>
          <p:cNvPr id="229394" name="Rectangle 18"/>
          <p:cNvSpPr/>
          <p:nvPr/>
        </p:nvSpPr>
        <p:spPr>
          <a:xfrm>
            <a:off x="3733800" y="4137184"/>
            <a:ext cx="5181600" cy="156972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>
            <a:spAutoFit/>
          </a:bodyPr>
          <a:p>
            <a:r>
              <a:rPr lang="en-US" altLang="en-US" sz="2400" err="1">
                <a:solidFill>
                  <a:srgbClr val="CC0066"/>
                </a:solidFill>
                <a:latin typeface="Times New Roman" pitchFamily="18" charset="0"/>
              </a:rPr>
              <a:t>间接访问</a:t>
            </a:r>
            <a:r>
              <a:rPr lang="en-US" altLang="en-US" sz="2400" err="1">
                <a:latin typeface="宋体" pitchFamily="2" charset="-122"/>
              </a:rPr>
              <a:t>：</a:t>
            </a:r>
            <a:r>
              <a:rPr lang="en-US" altLang="zh-CN" sz="2400" err="1">
                <a:latin typeface="宋体" pitchFamily="2" charset="-122"/>
              </a:rPr>
              <a:t>通过</a:t>
            </a:r>
            <a:r>
              <a:rPr lang="zh-CN" altLang="en-US" sz="2400" dirty="0">
                <a:latin typeface="宋体" pitchFamily="2" charset="-122"/>
              </a:rPr>
              <a:t>另一个变量访问</a:t>
            </a:r>
            <a:endParaRPr lang="en-US" altLang="en-US" sz="2400">
              <a:latin typeface="宋体" pitchFamily="2" charset="-122"/>
            </a:endParaRPr>
          </a:p>
          <a:p>
            <a:pPr lvl="1" eaLnBrk="1" hangingPunct="1"/>
            <a:r>
              <a:rPr lang="en-US" altLang="en-US" sz="2400" err="1">
                <a:latin typeface="宋体" pitchFamily="2" charset="-122"/>
              </a:rPr>
              <a:t>把变量的地址放到另一变量中</a:t>
            </a:r>
            <a:endParaRPr lang="en-US" altLang="en-US" sz="2400">
              <a:latin typeface="宋体" pitchFamily="2" charset="-122"/>
            </a:endParaRPr>
          </a:p>
          <a:p>
            <a:pPr lvl="1" eaLnBrk="1" hangingPunct="1"/>
            <a:r>
              <a:rPr lang="en-US" altLang="en-US" sz="2400" err="1">
                <a:latin typeface="宋体" pitchFamily="2" charset="-122"/>
              </a:rPr>
              <a:t>使用时先找到后者</a:t>
            </a:r>
            <a:endParaRPr lang="en-US" altLang="en-US" sz="2400">
              <a:latin typeface="宋体" pitchFamily="2" charset="-122"/>
            </a:endParaRPr>
          </a:p>
          <a:p>
            <a:pPr lvl="1" eaLnBrk="1" hangingPunct="1"/>
            <a:r>
              <a:rPr lang="en-US" altLang="zh-CN" sz="2400" err="1">
                <a:latin typeface="宋体" pitchFamily="2" charset="-122"/>
              </a:rPr>
              <a:t>再</a:t>
            </a:r>
            <a:r>
              <a:rPr lang="en-US" altLang="en-US" sz="2400" err="1">
                <a:latin typeface="宋体" pitchFamily="2" charset="-122"/>
              </a:rPr>
              <a:t>从中取出前者的地址</a:t>
            </a:r>
            <a:endParaRPr lang="zh-CN" altLang="en-US" sz="2400" dirty="0">
              <a:latin typeface="宋体" pitchFamily="2" charset="-122"/>
            </a:endParaRPr>
          </a:p>
        </p:txBody>
      </p:sp>
      <p:grpSp>
        <p:nvGrpSpPr>
          <p:cNvPr id="8201" name="Group 19"/>
          <p:cNvGrpSpPr/>
          <p:nvPr/>
        </p:nvGrpSpPr>
        <p:grpSpPr>
          <a:xfrm>
            <a:off x="1447800" y="2362200"/>
            <a:ext cx="1371600" cy="2362200"/>
            <a:chOff x="912" y="1008"/>
            <a:chExt cx="864" cy="1488"/>
          </a:xfrm>
        </p:grpSpPr>
        <p:sp>
          <p:nvSpPr>
            <p:cNvPr id="8217" name="Rectangle 20"/>
            <p:cNvSpPr/>
            <p:nvPr/>
          </p:nvSpPr>
          <p:spPr>
            <a:xfrm>
              <a:off x="912" y="1008"/>
              <a:ext cx="864" cy="148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p>
              <a:endParaRPr lang="zh-CN" altLang="en-US" dirty="0">
                <a:latin typeface="Arial" panose="02080604020202020204" pitchFamily="34" charset="0"/>
              </a:endParaRPr>
            </a:p>
          </p:txBody>
        </p:sp>
        <p:sp>
          <p:nvSpPr>
            <p:cNvPr id="8218" name="Line 21"/>
            <p:cNvSpPr/>
            <p:nvPr/>
          </p:nvSpPr>
          <p:spPr>
            <a:xfrm>
              <a:off x="912" y="1248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19" name="Line 22"/>
            <p:cNvSpPr/>
            <p:nvPr/>
          </p:nvSpPr>
          <p:spPr>
            <a:xfrm>
              <a:off x="912" y="1488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20" name="Line 23"/>
            <p:cNvSpPr/>
            <p:nvPr/>
          </p:nvSpPr>
          <p:spPr>
            <a:xfrm>
              <a:off x="912" y="1728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21" name="Line 24"/>
            <p:cNvSpPr/>
            <p:nvPr/>
          </p:nvSpPr>
          <p:spPr>
            <a:xfrm>
              <a:off x="912" y="2016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22" name="Line 25"/>
            <p:cNvSpPr/>
            <p:nvPr/>
          </p:nvSpPr>
          <p:spPr>
            <a:xfrm>
              <a:off x="912" y="2256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26"/>
          <p:cNvGrpSpPr/>
          <p:nvPr/>
        </p:nvGrpSpPr>
        <p:grpSpPr>
          <a:xfrm>
            <a:off x="304800" y="2743200"/>
            <a:ext cx="3657600" cy="1219200"/>
            <a:chOff x="192" y="1248"/>
            <a:chExt cx="2304" cy="768"/>
          </a:xfrm>
        </p:grpSpPr>
        <p:sp>
          <p:nvSpPr>
            <p:cNvPr id="8214" name="Rectangle 27"/>
            <p:cNvSpPr/>
            <p:nvPr/>
          </p:nvSpPr>
          <p:spPr>
            <a:xfrm>
              <a:off x="192" y="1248"/>
              <a:ext cx="2208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r>
                <a:rPr lang="zh-CN" altLang="en-US" sz="2400" dirty="0">
                  <a:latin typeface="Arial" panose="02080604020202020204" pitchFamily="34" charset="0"/>
                </a:rPr>
                <a:t>1000          20            </a:t>
              </a:r>
              <a:r>
                <a:rPr lang="en-US" altLang="zh-CN" sz="2400">
                  <a:solidFill>
                    <a:schemeClr val="bg2"/>
                  </a:solidFill>
                  <a:latin typeface="Arial" panose="02080604020202020204" pitchFamily="34" charset="0"/>
                </a:rPr>
                <a:t>x</a:t>
              </a:r>
              <a:endParaRPr lang="en-US" altLang="zh-CN" sz="2400">
                <a:solidFill>
                  <a:schemeClr val="bg2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8215" name="Rectangle 28"/>
            <p:cNvSpPr/>
            <p:nvPr/>
          </p:nvSpPr>
          <p:spPr>
            <a:xfrm>
              <a:off x="192" y="1488"/>
              <a:ext cx="2304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r>
                <a:rPr lang="zh-CN" altLang="en-US" sz="2400" dirty="0">
                  <a:latin typeface="Arial" panose="02080604020202020204" pitchFamily="34" charset="0"/>
                </a:rPr>
                <a:t>1002           1             </a:t>
              </a:r>
              <a:r>
                <a:rPr lang="en-US" altLang="zh-CN" sz="2400">
                  <a:latin typeface="Arial" panose="02080604020202020204" pitchFamily="34" charset="0"/>
                </a:rPr>
                <a:t>y</a:t>
              </a:r>
              <a:endParaRPr lang="en-US" altLang="zh-CN" sz="2400">
                <a:latin typeface="Arial" panose="02080604020202020204" pitchFamily="34" charset="0"/>
              </a:endParaRPr>
            </a:p>
          </p:txBody>
        </p:sp>
        <p:sp>
          <p:nvSpPr>
            <p:cNvPr id="8216" name="Rectangle 29"/>
            <p:cNvSpPr/>
            <p:nvPr/>
          </p:nvSpPr>
          <p:spPr>
            <a:xfrm>
              <a:off x="192" y="1776"/>
              <a:ext cx="2208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r>
                <a:rPr lang="zh-CN" altLang="en-US" sz="2400" dirty="0">
                  <a:latin typeface="Arial" panose="02080604020202020204" pitchFamily="34" charset="0"/>
                </a:rPr>
                <a:t>1004         155           </a:t>
              </a:r>
              <a:r>
                <a:rPr lang="en-US" altLang="zh-CN" sz="2400">
                  <a:latin typeface="Arial" panose="02080604020202020204" pitchFamily="34" charset="0"/>
                </a:rPr>
                <a:t>z</a:t>
              </a:r>
              <a:endParaRPr lang="en-US" altLang="zh-CN" sz="2400">
                <a:latin typeface="Arial" panose="02080604020202020204" pitchFamily="34" charset="0"/>
              </a:endParaRPr>
            </a:p>
          </p:txBody>
        </p:sp>
      </p:grpSp>
      <p:grpSp>
        <p:nvGrpSpPr>
          <p:cNvPr id="4" name="Group 30"/>
          <p:cNvGrpSpPr/>
          <p:nvPr/>
        </p:nvGrpSpPr>
        <p:grpSpPr>
          <a:xfrm>
            <a:off x="1447800" y="4876800"/>
            <a:ext cx="1371600" cy="762000"/>
            <a:chOff x="912" y="2592"/>
            <a:chExt cx="864" cy="480"/>
          </a:xfrm>
        </p:grpSpPr>
        <p:sp>
          <p:nvSpPr>
            <p:cNvPr id="8212" name="Rectangle 31"/>
            <p:cNvSpPr/>
            <p:nvPr/>
          </p:nvSpPr>
          <p:spPr>
            <a:xfrm>
              <a:off x="912" y="2592"/>
              <a:ext cx="864" cy="48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2075" tIns="46038" rIns="92075" bIns="46038" anchor="ctr" anchorCtr="0"/>
            <a:p>
              <a:endParaRPr lang="zh-CN" altLang="en-US" dirty="0">
                <a:latin typeface="Arial" panose="02080604020202020204" pitchFamily="34" charset="0"/>
              </a:endParaRPr>
            </a:p>
          </p:txBody>
        </p:sp>
        <p:sp>
          <p:nvSpPr>
            <p:cNvPr id="8213" name="Line 32"/>
            <p:cNvSpPr/>
            <p:nvPr/>
          </p:nvSpPr>
          <p:spPr>
            <a:xfrm>
              <a:off x="912" y="2832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33"/>
          <p:cNvGrpSpPr/>
          <p:nvPr/>
        </p:nvGrpSpPr>
        <p:grpSpPr>
          <a:xfrm>
            <a:off x="381000" y="4876800"/>
            <a:ext cx="3657600" cy="762000"/>
            <a:chOff x="240" y="2592"/>
            <a:chExt cx="2304" cy="480"/>
          </a:xfrm>
        </p:grpSpPr>
        <p:sp>
          <p:nvSpPr>
            <p:cNvPr id="8210" name="Rectangle 34"/>
            <p:cNvSpPr/>
            <p:nvPr/>
          </p:nvSpPr>
          <p:spPr>
            <a:xfrm>
              <a:off x="240" y="2592"/>
              <a:ext cx="2208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r>
                <a:rPr lang="zh-CN" altLang="en-US" sz="2400" dirty="0">
                  <a:latin typeface="Arial" panose="02080604020202020204" pitchFamily="34" charset="0"/>
                </a:rPr>
                <a:t>2000       1000          </a:t>
              </a:r>
              <a:r>
                <a:rPr lang="en-US" altLang="zh-CN" sz="2400">
                  <a:solidFill>
                    <a:srgbClr val="CC0066"/>
                  </a:solidFill>
                  <a:latin typeface="Arial" panose="02080604020202020204" pitchFamily="34" charset="0"/>
                </a:rPr>
                <a:t>p</a:t>
              </a:r>
              <a:endParaRPr lang="en-US" altLang="zh-CN" sz="2400">
                <a:solidFill>
                  <a:srgbClr val="CC0066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8211" name="Rectangle 35"/>
            <p:cNvSpPr/>
            <p:nvPr/>
          </p:nvSpPr>
          <p:spPr>
            <a:xfrm>
              <a:off x="240" y="2832"/>
              <a:ext cx="2304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r>
                <a:rPr lang="zh-CN" altLang="en-US" sz="2400" dirty="0">
                  <a:latin typeface="Arial" panose="02080604020202020204" pitchFamily="34" charset="0"/>
                </a:rPr>
                <a:t>2002</a:t>
              </a:r>
              <a:endParaRPr lang="zh-CN" altLang="en-US" sz="2400" dirty="0">
                <a:latin typeface="Arial" panose="02080604020202020204" pitchFamily="34" charset="0"/>
              </a:endParaRPr>
            </a:p>
          </p:txBody>
        </p:sp>
      </p:grpSp>
      <p:grpSp>
        <p:nvGrpSpPr>
          <p:cNvPr id="6" name="Group 36"/>
          <p:cNvGrpSpPr/>
          <p:nvPr/>
        </p:nvGrpSpPr>
        <p:grpSpPr>
          <a:xfrm>
            <a:off x="1219200" y="2895600"/>
            <a:ext cx="228600" cy="2209800"/>
            <a:chOff x="768" y="1344"/>
            <a:chExt cx="144" cy="1392"/>
          </a:xfrm>
        </p:grpSpPr>
        <p:sp>
          <p:nvSpPr>
            <p:cNvPr id="8207" name="Line 37"/>
            <p:cNvSpPr/>
            <p:nvPr/>
          </p:nvSpPr>
          <p:spPr>
            <a:xfrm flipH="1">
              <a:off x="768" y="2736"/>
              <a:ext cx="144" cy="0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8" name="Line 38"/>
            <p:cNvSpPr/>
            <p:nvPr/>
          </p:nvSpPr>
          <p:spPr>
            <a:xfrm flipV="1">
              <a:off x="768" y="1344"/>
              <a:ext cx="0" cy="1392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9" name="Line 39"/>
            <p:cNvSpPr/>
            <p:nvPr/>
          </p:nvSpPr>
          <p:spPr>
            <a:xfrm flipH="1">
              <a:off x="768" y="1344"/>
              <a:ext cx="144" cy="0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triangle" w="med" len="med"/>
              <a:tailEnd type="non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9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9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9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9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9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9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92" grpId="0"/>
      <p:bldP spid="229393" grpId="0"/>
      <p:bldP spid="22939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8602" name="Rectangle 10"/>
          <p:cNvSpPr/>
          <p:nvPr/>
        </p:nvSpPr>
        <p:spPr>
          <a:xfrm>
            <a:off x="250825" y="2634774"/>
            <a:ext cx="5040313" cy="52324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>
            <a:spAutoFit/>
          </a:bodyPr>
          <a:p>
            <a:r>
              <a:rPr lang="zh-CN" altLang="en-US" sz="2800" dirty="0">
                <a:solidFill>
                  <a:schemeClr val="bg2"/>
                </a:solidFill>
                <a:latin typeface="Times New Roman" pitchFamily="18" charset="0"/>
                <a:ea typeface="仿宋_GB2312" pitchFamily="49" charset="-122"/>
              </a:rPr>
              <a:t>指针变量所指向的变量的类型</a:t>
            </a:r>
            <a:endParaRPr lang="zh-CN" altLang="en-US" sz="2800" dirty="0">
              <a:solidFill>
                <a:schemeClr val="bg2"/>
              </a:solidFill>
              <a:latin typeface="Times New Roman" pitchFamily="18" charset="0"/>
              <a:ea typeface="仿宋_GB2312" pitchFamily="49" charset="-122"/>
            </a:endParaRPr>
          </a:p>
        </p:txBody>
      </p:sp>
      <p:sp>
        <p:nvSpPr>
          <p:cNvPr id="238603" name="Rectangle 11"/>
          <p:cNvSpPr/>
          <p:nvPr/>
        </p:nvSpPr>
        <p:spPr>
          <a:xfrm>
            <a:off x="539750" y="3213100"/>
            <a:ext cx="7981950" cy="333375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/>
          <a:p>
            <a:pPr>
              <a:spcBef>
                <a:spcPct val="20000"/>
              </a:spcBef>
            </a:pPr>
            <a:r>
              <a:rPr lang="en-US" altLang="zh-CN" sz="3200" err="1">
                <a:latin typeface="Arial" panose="02080604020202020204" pitchFamily="34" charset="0"/>
              </a:rPr>
              <a:t>int</a:t>
            </a:r>
            <a:r>
              <a:rPr lang="en-US" altLang="zh-CN" sz="3200">
                <a:latin typeface="Arial" panose="02080604020202020204" pitchFamily="34" charset="0"/>
              </a:rPr>
              <a:t>  *p; </a:t>
            </a:r>
            <a:endParaRPr lang="en-US" altLang="zh-CN" sz="3200">
              <a:latin typeface="Arial" panose="02080604020202020204" pitchFamily="34" charset="0"/>
            </a:endParaRPr>
          </a:p>
          <a:p>
            <a:pPr lvl="1" eaLnBrk="1" hangingPunct="1">
              <a:spcBef>
                <a:spcPct val="20000"/>
              </a:spcBef>
            </a:pPr>
            <a:r>
              <a:rPr lang="en-US" altLang="zh-CN" sz="2800">
                <a:latin typeface="Arial" panose="02080604020202020204" pitchFamily="34" charset="0"/>
              </a:rPr>
              <a:t>p </a:t>
            </a:r>
            <a:r>
              <a:rPr lang="zh-CN" altLang="zh-CN" sz="2800" dirty="0">
                <a:latin typeface="Arial" panose="02080604020202020204" pitchFamily="34" charset="0"/>
              </a:rPr>
              <a:t>是整型指针，指向整型变量</a:t>
            </a:r>
            <a:endParaRPr lang="en-US" altLang="en-US" sz="2800">
              <a:latin typeface="Arial" panose="02080604020202020204" pitchFamily="34" charset="0"/>
            </a:endParaRPr>
          </a:p>
          <a:p>
            <a:pPr>
              <a:spcBef>
                <a:spcPct val="20000"/>
              </a:spcBef>
            </a:pPr>
            <a:r>
              <a:rPr lang="en-US" altLang="zh-CN" sz="3200">
                <a:latin typeface="Arial" panose="02080604020202020204" pitchFamily="34" charset="0"/>
              </a:rPr>
              <a:t>float *</a:t>
            </a:r>
            <a:r>
              <a:rPr lang="en-US" altLang="zh-CN" sz="3200" err="1">
                <a:latin typeface="Arial" panose="02080604020202020204" pitchFamily="34" charset="0"/>
              </a:rPr>
              <a:t>fp</a:t>
            </a:r>
            <a:r>
              <a:rPr lang="en-US" altLang="zh-CN" sz="3200">
                <a:latin typeface="Arial" panose="02080604020202020204" pitchFamily="34" charset="0"/>
              </a:rPr>
              <a:t>;   </a:t>
            </a:r>
            <a:endParaRPr lang="en-US" altLang="zh-CN" sz="3200">
              <a:latin typeface="Arial" panose="02080604020202020204" pitchFamily="34" charset="0"/>
            </a:endParaRPr>
          </a:p>
          <a:p>
            <a:pPr lvl="1" eaLnBrk="1" hangingPunct="1">
              <a:spcBef>
                <a:spcPct val="20000"/>
              </a:spcBef>
            </a:pPr>
            <a:r>
              <a:rPr lang="en-US" altLang="zh-CN" sz="2800" err="1">
                <a:latin typeface="Arial" panose="02080604020202020204" pitchFamily="34" charset="0"/>
              </a:rPr>
              <a:t>fp</a:t>
            </a:r>
            <a:r>
              <a:rPr lang="en-US" altLang="zh-CN" sz="2800">
                <a:latin typeface="Arial" panose="02080604020202020204" pitchFamily="34" charset="0"/>
              </a:rPr>
              <a:t> </a:t>
            </a:r>
            <a:r>
              <a:rPr lang="zh-CN" altLang="zh-CN" sz="2800" dirty="0">
                <a:latin typeface="Arial" panose="02080604020202020204" pitchFamily="34" charset="0"/>
              </a:rPr>
              <a:t>是浮点型指针，指向浮点型变量</a:t>
            </a:r>
            <a:endParaRPr lang="zh-CN" altLang="en-US" sz="2800" dirty="0">
              <a:latin typeface="Arial" panose="02080604020202020204" pitchFamily="34" charset="0"/>
            </a:endParaRPr>
          </a:p>
          <a:p>
            <a:pPr>
              <a:spcBef>
                <a:spcPct val="20000"/>
              </a:spcBef>
            </a:pPr>
            <a:r>
              <a:rPr lang="en-US" altLang="zh-CN" sz="3200">
                <a:latin typeface="Arial" panose="02080604020202020204" pitchFamily="34" charset="0"/>
              </a:rPr>
              <a:t>char *cp;</a:t>
            </a:r>
            <a:endParaRPr lang="en-US" altLang="zh-CN" sz="3200">
              <a:latin typeface="Arial" panose="02080604020202020204" pitchFamily="34" charset="0"/>
            </a:endParaRPr>
          </a:p>
          <a:p>
            <a:pPr>
              <a:spcBef>
                <a:spcPct val="20000"/>
              </a:spcBef>
            </a:pPr>
            <a:r>
              <a:rPr lang="en-US" altLang="zh-CN" sz="3200">
                <a:latin typeface="Arial" panose="02080604020202020204" pitchFamily="34" charset="0"/>
              </a:rPr>
              <a:t>    </a:t>
            </a:r>
            <a:r>
              <a:rPr lang="en-US" altLang="zh-CN" sz="2800">
                <a:latin typeface="Arial" panose="02080604020202020204" pitchFamily="34" charset="0"/>
              </a:rPr>
              <a:t>cp </a:t>
            </a:r>
            <a:r>
              <a:rPr lang="zh-CN" altLang="zh-CN" sz="2800" dirty="0">
                <a:latin typeface="Arial" panose="02080604020202020204" pitchFamily="34" charset="0"/>
              </a:rPr>
              <a:t>是字符型指针，指向字符型变量</a:t>
            </a:r>
            <a:endParaRPr lang="zh-CN" altLang="en-US" sz="2800" dirty="0">
              <a:latin typeface="Arial" panose="02080604020202020204" pitchFamily="34" charset="0"/>
            </a:endParaRPr>
          </a:p>
        </p:txBody>
      </p:sp>
      <p:sp>
        <p:nvSpPr>
          <p:cNvPr id="238604" name="Line 12"/>
          <p:cNvSpPr/>
          <p:nvPr/>
        </p:nvSpPr>
        <p:spPr>
          <a:xfrm flipV="1">
            <a:off x="3348038" y="1844675"/>
            <a:ext cx="0" cy="749300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246" name="Rectangle 13"/>
          <p:cNvSpPr>
            <a:spLocks noGrp="1"/>
          </p:cNvSpPr>
          <p:nvPr>
            <p:ph idx="1"/>
          </p:nvPr>
        </p:nvSpPr>
        <p:spPr>
          <a:xfrm>
            <a:off x="2627313" y="1341438"/>
            <a:ext cx="4648200" cy="609600"/>
          </a:xfrm>
        </p:spPr>
        <p:txBody>
          <a:bodyPr vert="horz" wrap="square" lIns="92075" tIns="46038" rIns="92075" bIns="46038" anchor="t" anchorCtr="0"/>
          <a:p>
            <a:pPr eaLnBrk="1" hangingPunct="1">
              <a:buNone/>
            </a:pPr>
            <a:r>
              <a:rPr lang="en-US" altLang="en-US" b="0" err="1">
                <a:solidFill>
                  <a:srgbClr val="CC0066"/>
                </a:solidFill>
              </a:rPr>
              <a:t>类型名</a:t>
            </a:r>
            <a:r>
              <a:rPr lang="en-US" altLang="en-US" b="0">
                <a:solidFill>
                  <a:srgbClr val="CC0066"/>
                </a:solidFill>
              </a:rPr>
              <a:t>  *</a:t>
            </a:r>
            <a:r>
              <a:rPr lang="en-US" altLang="zh-CN" b="0">
                <a:solidFill>
                  <a:srgbClr val="CC0066"/>
                </a:solidFill>
              </a:rPr>
              <a:t> </a:t>
            </a:r>
            <a:r>
              <a:rPr lang="en-US" altLang="en-US" b="0" err="1">
                <a:solidFill>
                  <a:schemeClr val="bg2"/>
                </a:solidFill>
              </a:rPr>
              <a:t>指针变量名</a:t>
            </a:r>
            <a:endParaRPr lang="zh-CN" altLang="en-US" b="0" dirty="0">
              <a:solidFill>
                <a:schemeClr val="bg2"/>
              </a:solidFill>
            </a:endParaRPr>
          </a:p>
        </p:txBody>
      </p:sp>
      <p:sp>
        <p:nvSpPr>
          <p:cNvPr id="238606" name="Rectangle 14"/>
          <p:cNvSpPr/>
          <p:nvPr/>
        </p:nvSpPr>
        <p:spPr>
          <a:xfrm>
            <a:off x="5223669" y="2349500"/>
            <a:ext cx="1962150" cy="47815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zh-CN" altLang="en-US" sz="2800" dirty="0">
                <a:solidFill>
                  <a:schemeClr val="bg2"/>
                </a:solidFill>
                <a:latin typeface="Times New Roman" pitchFamily="18" charset="0"/>
                <a:ea typeface="仿宋_GB2312" pitchFamily="49" charset="-122"/>
              </a:rPr>
              <a:t>指针声明符</a:t>
            </a:r>
            <a:endParaRPr lang="zh-CN" altLang="en-US" sz="2800" dirty="0">
              <a:solidFill>
                <a:schemeClr val="bg2"/>
              </a:solidFill>
              <a:latin typeface="Times New Roman" pitchFamily="18" charset="0"/>
              <a:ea typeface="仿宋_GB2312" pitchFamily="49" charset="-122"/>
            </a:endParaRPr>
          </a:p>
        </p:txBody>
      </p:sp>
      <p:sp>
        <p:nvSpPr>
          <p:cNvPr id="10248" name="Rectangle 16"/>
          <p:cNvSpPr>
            <a:spLocks noGrp="1"/>
          </p:cNvSpPr>
          <p:nvPr>
            <p:ph type="title"/>
          </p:nvPr>
        </p:nvSpPr>
        <p:spPr>
          <a:xfrm>
            <a:off x="533400" y="457200"/>
            <a:ext cx="5486400" cy="739775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8.1.3  指针变量的定义</a:t>
            </a:r>
            <a:endParaRPr lang="en-US" altLang="zh-CN" b="0">
              <a:sym typeface="+mn-ea"/>
            </a:endParaRPr>
          </a:p>
        </p:txBody>
      </p:sp>
      <p:sp>
        <p:nvSpPr>
          <p:cNvPr id="238609" name="Line 17"/>
          <p:cNvSpPr/>
          <p:nvPr/>
        </p:nvSpPr>
        <p:spPr>
          <a:xfrm flipH="1" flipV="1">
            <a:off x="4284663" y="1700213"/>
            <a:ext cx="935037" cy="936625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8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8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8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8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8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8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38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38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602" grpId="0"/>
      <p:bldP spid="238603" grpId="0"/>
      <p:bldP spid="23860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4"/>
          <p:cNvSpPr>
            <a:spLocks noGrp="1"/>
          </p:cNvSpPr>
          <p:nvPr>
            <p:ph type="title"/>
          </p:nvPr>
        </p:nvSpPr>
        <p:spPr>
          <a:xfrm>
            <a:off x="539750" y="404813"/>
            <a:ext cx="4319588" cy="792162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指针变量的定义</a:t>
            </a:r>
            <a:endParaRPr lang="en-US" altLang="zh-CN" b="0">
              <a:sym typeface="+mn-ea"/>
            </a:endParaRPr>
          </a:p>
        </p:txBody>
      </p:sp>
      <p:sp>
        <p:nvSpPr>
          <p:cNvPr id="233479" name="Rectangle 7"/>
          <p:cNvSpPr/>
          <p:nvPr/>
        </p:nvSpPr>
        <p:spPr>
          <a:xfrm>
            <a:off x="755650" y="1341438"/>
            <a:ext cx="7272338" cy="51847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en-US" sz="2800" err="1">
                <a:solidFill>
                  <a:srgbClr val="CC0066"/>
                </a:solidFill>
                <a:latin typeface="Arial" panose="02080604020202020204" pitchFamily="34" charset="0"/>
              </a:rPr>
              <a:t>类型名</a:t>
            </a:r>
            <a:r>
              <a:rPr lang="en-US" altLang="en-US" sz="2800">
                <a:solidFill>
                  <a:srgbClr val="CC0066"/>
                </a:solidFill>
                <a:latin typeface="Arial" panose="02080604020202020204" pitchFamily="34" charset="0"/>
              </a:rPr>
              <a:t>  *</a:t>
            </a:r>
            <a:r>
              <a:rPr lang="en-US" altLang="zh-CN" sz="2800">
                <a:solidFill>
                  <a:srgbClr val="CC0066"/>
                </a:solidFill>
                <a:latin typeface="Arial" panose="02080604020202020204" pitchFamily="34" charset="0"/>
              </a:rPr>
              <a:t> </a:t>
            </a:r>
            <a:r>
              <a:rPr lang="en-US" altLang="en-US" sz="2800" err="1">
                <a:solidFill>
                  <a:schemeClr val="bg2"/>
                </a:solidFill>
                <a:latin typeface="Arial" panose="02080604020202020204" pitchFamily="34" charset="0"/>
              </a:rPr>
              <a:t>指针变量名</a:t>
            </a:r>
            <a:endParaRPr lang="en-US" altLang="zh-CN" sz="2800">
              <a:solidFill>
                <a:schemeClr val="bg2"/>
              </a:solidFill>
              <a:latin typeface="Arial" panose="02080604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800" err="1">
                <a:solidFill>
                  <a:srgbClr val="CC0066"/>
                </a:solidFill>
                <a:latin typeface="Arial" panose="02080604020202020204" pitchFamily="34" charset="0"/>
              </a:rPr>
              <a:t>int</a:t>
            </a:r>
            <a:r>
              <a:rPr lang="en-US" altLang="zh-CN" sz="2800">
                <a:solidFill>
                  <a:srgbClr val="CC0066"/>
                </a:solidFill>
                <a:latin typeface="Arial" panose="02080604020202020204" pitchFamily="34" charset="0"/>
              </a:rPr>
              <a:t>  *</a:t>
            </a:r>
            <a:r>
              <a:rPr lang="en-US" altLang="zh-CN" sz="2800">
                <a:latin typeface="Arial" panose="02080604020202020204" pitchFamily="34" charset="0"/>
              </a:rPr>
              <a:t> </a:t>
            </a:r>
            <a:r>
              <a:rPr lang="en-US" altLang="zh-CN" sz="2800">
                <a:solidFill>
                  <a:schemeClr val="bg2"/>
                </a:solidFill>
                <a:latin typeface="Arial" panose="02080604020202020204" pitchFamily="34" charset="0"/>
              </a:rPr>
              <a:t>p</a:t>
            </a:r>
            <a:r>
              <a:rPr lang="en-US" altLang="zh-CN" sz="2800">
                <a:latin typeface="Arial" panose="02080604020202020204" pitchFamily="34" charset="0"/>
              </a:rPr>
              <a:t>;</a:t>
            </a:r>
            <a:endParaRPr lang="en-US" altLang="zh-CN" sz="2800">
              <a:latin typeface="Arial" panose="02080604020202020204" pitchFamily="34" charset="0"/>
            </a:endParaRP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</a:pPr>
            <a:r>
              <a:rPr lang="en-US" altLang="en-US" sz="2800" err="1">
                <a:latin typeface="Arial" panose="02080604020202020204" pitchFamily="34" charset="0"/>
              </a:rPr>
              <a:t>指针变量名是</a:t>
            </a:r>
            <a:r>
              <a:rPr lang="en-US" altLang="en-US" sz="2800">
                <a:latin typeface="Arial" panose="02080604020202020204" pitchFamily="34" charset="0"/>
              </a:rPr>
              <a:t> </a:t>
            </a:r>
            <a:r>
              <a:rPr lang="en-US" altLang="zh-CN" sz="2800" err="1">
                <a:solidFill>
                  <a:schemeClr val="bg2"/>
                </a:solidFill>
                <a:latin typeface="Arial" panose="02080604020202020204" pitchFamily="34" charset="0"/>
              </a:rPr>
              <a:t>p</a:t>
            </a:r>
            <a:r>
              <a:rPr lang="en-US" altLang="zh-CN" sz="2800" err="1">
                <a:latin typeface="Arial" panose="02080604020202020204" pitchFamily="34" charset="0"/>
              </a:rPr>
              <a:t>，</a:t>
            </a:r>
            <a:r>
              <a:rPr lang="en-US" altLang="en-US" sz="2800" err="1">
                <a:latin typeface="Arial" panose="02080604020202020204" pitchFamily="34" charset="0"/>
              </a:rPr>
              <a:t>不是</a:t>
            </a:r>
            <a:r>
              <a:rPr lang="en-US" altLang="en-US" sz="2800">
                <a:latin typeface="Arial" panose="02080604020202020204" pitchFamily="34" charset="0"/>
              </a:rPr>
              <a:t>*</a:t>
            </a:r>
            <a:r>
              <a:rPr lang="en-US" altLang="zh-CN" sz="2800">
                <a:latin typeface="Arial" panose="02080604020202020204" pitchFamily="34" charset="0"/>
              </a:rPr>
              <a:t>p</a:t>
            </a:r>
            <a:endParaRPr lang="en-US" altLang="zh-CN" sz="2800">
              <a:latin typeface="Arial" panose="02080604020202020204" pitchFamily="34" charset="0"/>
            </a:endParaRP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</a:pPr>
            <a:r>
              <a:rPr lang="zh-CN" altLang="en-US" sz="2800" dirty="0">
                <a:solidFill>
                  <a:srgbClr val="CC0066"/>
                </a:solidFill>
                <a:latin typeface="Arial" panose="02080604020202020204" pitchFamily="34" charset="0"/>
              </a:rPr>
              <a:t>*</a:t>
            </a:r>
            <a:r>
              <a:rPr lang="zh-CN" altLang="en-US" sz="2800" dirty="0">
                <a:latin typeface="Arial" panose="02080604020202020204" pitchFamily="34" charset="0"/>
              </a:rPr>
              <a:t> 是指针声明符</a:t>
            </a:r>
            <a:endParaRPr lang="zh-CN" altLang="en-US" sz="2800" dirty="0">
              <a:latin typeface="Arial" panose="02080604020202020204" pitchFamily="34" charset="0"/>
            </a:endParaRP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en-US" altLang="zh-CN" sz="2800">
              <a:latin typeface="Arial" panose="02080604020202020204" pitchFamily="34" charset="0"/>
            </a:endParaRP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800" err="1">
                <a:latin typeface="Arial" panose="02080604020202020204" pitchFamily="34" charset="0"/>
              </a:rPr>
              <a:t>int</a:t>
            </a:r>
            <a:r>
              <a:rPr lang="en-US" altLang="zh-CN" sz="2800">
                <a:latin typeface="Arial" panose="02080604020202020204" pitchFamily="34" charset="0"/>
              </a:rPr>
              <a:t>  k, *p1, *p2; </a:t>
            </a:r>
            <a:endParaRPr lang="en-US" altLang="zh-CN" sz="2800">
              <a:latin typeface="Arial" panose="02080604020202020204" pitchFamily="34" charset="0"/>
            </a:endParaRP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dirty="0">
                <a:latin typeface="Arial" panose="02080604020202020204" pitchFamily="34" charset="0"/>
              </a:rPr>
              <a:t>等价于：</a:t>
            </a:r>
            <a:endParaRPr lang="zh-CN" altLang="en-US" sz="2800" dirty="0">
              <a:latin typeface="Arial" panose="02080604020202020204" pitchFamily="34" charset="0"/>
            </a:endParaRP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800" err="1">
                <a:latin typeface="Arial" panose="02080604020202020204" pitchFamily="34" charset="0"/>
              </a:rPr>
              <a:t>int</a:t>
            </a:r>
            <a:r>
              <a:rPr lang="en-US" altLang="zh-CN" sz="2800">
                <a:latin typeface="Arial" panose="02080604020202020204" pitchFamily="34" charset="0"/>
              </a:rPr>
              <a:t>  k;</a:t>
            </a:r>
            <a:endParaRPr lang="en-US" altLang="zh-CN" sz="2800">
              <a:latin typeface="Arial" panose="02080604020202020204" pitchFamily="34" charset="0"/>
            </a:endParaRP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800" err="1">
                <a:latin typeface="Arial" panose="02080604020202020204" pitchFamily="34" charset="0"/>
              </a:rPr>
              <a:t>int</a:t>
            </a:r>
            <a:r>
              <a:rPr lang="en-US" altLang="zh-CN" sz="2800">
                <a:latin typeface="Arial" panose="02080604020202020204" pitchFamily="34" charset="0"/>
              </a:rPr>
              <a:t>  *p1;</a:t>
            </a:r>
            <a:endParaRPr lang="en-US" altLang="zh-CN" sz="2800">
              <a:latin typeface="Arial" panose="02080604020202020204" pitchFamily="34" charset="0"/>
            </a:endParaRP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800" err="1">
                <a:latin typeface="Arial" panose="02080604020202020204" pitchFamily="34" charset="0"/>
              </a:rPr>
              <a:t>int</a:t>
            </a:r>
            <a:r>
              <a:rPr lang="en-US" altLang="zh-CN" sz="2800">
                <a:latin typeface="Arial" panose="02080604020202020204" pitchFamily="34" charset="0"/>
              </a:rPr>
              <a:t>  *p2; </a:t>
            </a:r>
            <a:endParaRPr lang="en-US" altLang="zh-CN" sz="2800"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347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347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>
                                            <p:txEl>
                                              <p:charRg st="1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3479">
                                            <p:txEl>
                                              <p:charRg st="1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3479">
                                            <p:txEl>
                                              <p:charRg st="1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>
                                            <p:txEl>
                                              <p:charRg st="23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3479">
                                            <p:txEl>
                                              <p:charRg st="23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3479">
                                            <p:txEl>
                                              <p:charRg st="23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>
                                            <p:txEl>
                                              <p:charRg st="37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3479">
                                            <p:txEl>
                                              <p:charRg st="37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3479">
                                            <p:txEl>
                                              <p:charRg st="37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>
                                            <p:txEl>
                                              <p:charRg st="47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3479">
                                            <p:txEl>
                                              <p:charRg st="47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3479">
                                            <p:txEl>
                                              <p:charRg st="47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>
                                            <p:txEl>
                                              <p:charRg st="66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3479">
                                            <p:txEl>
                                              <p:charRg st="66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3479">
                                            <p:txEl>
                                              <p:charRg st="66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>
                                            <p:txEl>
                                              <p:charRg st="71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3479">
                                            <p:txEl>
                                              <p:charRg st="71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3479">
                                            <p:txEl>
                                              <p:charRg st="71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>
                                            <p:txEl>
                                              <p:charRg st="79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3479">
                                            <p:txEl>
                                              <p:charRg st="79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3479">
                                            <p:txEl>
                                              <p:charRg st="79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>
                                            <p:txEl>
                                              <p:charRg st="89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3479">
                                            <p:txEl>
                                              <p:charRg st="89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3479">
                                            <p:txEl>
                                              <p:charRg st="89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9" grpId="0" bldLvl="2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1" name="Rectangle 13"/>
          <p:cNvSpPr>
            <a:spLocks noGrp="1"/>
          </p:cNvSpPr>
          <p:nvPr>
            <p:ph type="title"/>
          </p:nvPr>
        </p:nvSpPr>
        <p:spPr>
          <a:xfrm>
            <a:off x="457200" y="457200"/>
            <a:ext cx="5867400" cy="884238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8.1.4 </a:t>
            </a:r>
            <a:r>
              <a:rPr lang="en-US" altLang="zh-CN" b="0">
                <a:sym typeface="+mn-ea"/>
              </a:rPr>
              <a:t>指针的基本运算</a:t>
            </a:r>
            <a:r>
              <a:rPr lang="en-US" altLang="zh-CN" b="0">
                <a:sym typeface="+mn-ea"/>
              </a:rPr>
              <a:t> </a:t>
            </a:r>
            <a:endParaRPr lang="en-US" altLang="zh-CN" b="0">
              <a:sym typeface="+mn-ea"/>
            </a:endParaRPr>
          </a:p>
        </p:txBody>
      </p:sp>
      <p:sp>
        <p:nvSpPr>
          <p:cNvPr id="241681" name="Rectangle 17"/>
          <p:cNvSpPr/>
          <p:nvPr/>
        </p:nvSpPr>
        <p:spPr>
          <a:xfrm>
            <a:off x="762000" y="5450523"/>
            <a:ext cx="7096760" cy="954405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46800" rIns="90000" bIns="46800" anchor="ctr" anchorCtr="0">
            <a:spAutoFit/>
          </a:bodyPr>
          <a:p>
            <a:r>
              <a:rPr lang="en-US" altLang="en-US" sz="2800">
                <a:solidFill>
                  <a:srgbClr val="CC0066"/>
                </a:solidFill>
                <a:latin typeface="Arial" panose="02080604020202020204" pitchFamily="34" charset="0"/>
              </a:rPr>
              <a:t>*</a:t>
            </a:r>
            <a:r>
              <a:rPr lang="en-US" altLang="en-US" sz="2800">
                <a:latin typeface="Arial" panose="02080604020202020204" pitchFamily="34" charset="0"/>
              </a:rPr>
              <a:t>   </a:t>
            </a:r>
            <a:r>
              <a:rPr lang="en-US" altLang="en-US" sz="2800" err="1">
                <a:latin typeface="Arial" panose="02080604020202020204" pitchFamily="34" charset="0"/>
              </a:rPr>
              <a:t>间接访问运算符</a:t>
            </a:r>
            <a:r>
              <a:rPr lang="en-US" altLang="zh-CN" sz="2800">
                <a:latin typeface="Arial" panose="02080604020202020204" pitchFamily="34" charset="0"/>
              </a:rPr>
              <a:t>，</a:t>
            </a:r>
            <a:r>
              <a:rPr lang="zh-CN" altLang="en-US" sz="2800" dirty="0">
                <a:latin typeface="Arial" panose="02080604020202020204" pitchFamily="34" charset="0"/>
              </a:rPr>
              <a:t>访问指针所指向的变量</a:t>
            </a:r>
            <a:endParaRPr lang="en-US" altLang="en-US" sz="2800">
              <a:latin typeface="Arial" panose="02080604020202020204" pitchFamily="34" charset="0"/>
            </a:endParaRPr>
          </a:p>
          <a:p>
            <a:r>
              <a:rPr lang="en-US" altLang="en-US" sz="2800">
                <a:solidFill>
                  <a:schemeClr val="bg2"/>
                </a:solidFill>
                <a:latin typeface="Arial" panose="02080604020202020204" pitchFamily="34" charset="0"/>
              </a:rPr>
              <a:t>*</a:t>
            </a:r>
            <a:r>
              <a:rPr lang="en-US" altLang="zh-CN" sz="2800">
                <a:solidFill>
                  <a:schemeClr val="bg2"/>
                </a:solidFill>
                <a:latin typeface="Arial" panose="02080604020202020204" pitchFamily="34" charset="0"/>
              </a:rPr>
              <a:t>p</a:t>
            </a:r>
            <a:r>
              <a:rPr lang="en-US" altLang="zh-CN" sz="2800">
                <a:latin typeface="Arial" panose="02080604020202020204" pitchFamily="34" charset="0"/>
              </a:rPr>
              <a:t>：</a:t>
            </a:r>
            <a:r>
              <a:rPr lang="zh-CN" altLang="en-US" sz="2800" dirty="0">
                <a:latin typeface="Arial" panose="02080604020202020204" pitchFamily="34" charset="0"/>
              </a:rPr>
              <a:t>指针变量 </a:t>
            </a:r>
            <a:r>
              <a:rPr lang="en-US" altLang="zh-CN" sz="2800">
                <a:latin typeface="Arial" panose="02080604020202020204" pitchFamily="34" charset="0"/>
              </a:rPr>
              <a:t>p </a:t>
            </a:r>
            <a:r>
              <a:rPr lang="en-US" altLang="en-US" sz="2800">
                <a:latin typeface="Arial" panose="02080604020202020204" pitchFamily="34" charset="0"/>
              </a:rPr>
              <a:t>所</a:t>
            </a:r>
            <a:r>
              <a:rPr lang="zh-CN" altLang="en-US" sz="2800" dirty="0">
                <a:latin typeface="Arial" panose="02080604020202020204" pitchFamily="34" charset="0"/>
              </a:rPr>
              <a:t>指向的</a:t>
            </a:r>
            <a:r>
              <a:rPr lang="en-US" altLang="en-US" sz="2800" err="1">
                <a:latin typeface="Arial" panose="02080604020202020204" pitchFamily="34" charset="0"/>
              </a:rPr>
              <a:t>变量</a:t>
            </a:r>
            <a:endParaRPr lang="en-US" altLang="zh-CN" sz="2800">
              <a:latin typeface="Arial" panose="02080604020202020204" pitchFamily="34" charset="0"/>
            </a:endParaRPr>
          </a:p>
        </p:txBody>
      </p:sp>
      <p:grpSp>
        <p:nvGrpSpPr>
          <p:cNvPr id="2" name="Group 18"/>
          <p:cNvGrpSpPr/>
          <p:nvPr/>
        </p:nvGrpSpPr>
        <p:grpSpPr>
          <a:xfrm>
            <a:off x="2057400" y="4229100"/>
            <a:ext cx="3200400" cy="1081088"/>
            <a:chOff x="1056" y="2535"/>
            <a:chExt cx="2016" cy="681"/>
          </a:xfrm>
        </p:grpSpPr>
        <p:sp>
          <p:nvSpPr>
            <p:cNvPr id="12297" name="Rectangle 19"/>
            <p:cNvSpPr/>
            <p:nvPr/>
          </p:nvSpPr>
          <p:spPr>
            <a:xfrm>
              <a:off x="2409" y="2583"/>
              <a:ext cx="24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>
                  <a:latin typeface="Arial" panose="02080604020202020204" pitchFamily="34" charset="0"/>
                </a:rPr>
                <a:t>a</a:t>
              </a:r>
              <a:endParaRPr lang="en-US" altLang="zh-CN" sz="2800" b="1">
                <a:latin typeface="Arial" panose="02080604020202020204" pitchFamily="34" charset="0"/>
              </a:endParaRPr>
            </a:p>
          </p:txBody>
        </p:sp>
        <p:sp>
          <p:nvSpPr>
            <p:cNvPr id="12298" name="Rectangle 20"/>
            <p:cNvSpPr/>
            <p:nvPr/>
          </p:nvSpPr>
          <p:spPr>
            <a:xfrm>
              <a:off x="2304" y="2928"/>
              <a:ext cx="768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800" b="1" dirty="0">
                  <a:latin typeface="Arial" panose="02080604020202020204" pitchFamily="34" charset="0"/>
                </a:rPr>
                <a:t>3</a:t>
              </a:r>
              <a:endParaRPr lang="zh-CN" altLang="en-US" sz="3200" b="1" dirty="0">
                <a:latin typeface="Arial" panose="02080604020202020204" pitchFamily="34" charset="0"/>
              </a:endParaRPr>
            </a:p>
          </p:txBody>
        </p:sp>
        <p:sp>
          <p:nvSpPr>
            <p:cNvPr id="12299" name="Rectangle 21"/>
            <p:cNvSpPr/>
            <p:nvPr/>
          </p:nvSpPr>
          <p:spPr>
            <a:xfrm>
              <a:off x="1056" y="2928"/>
              <a:ext cx="768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800" b="1" dirty="0">
                  <a:solidFill>
                    <a:schemeClr val="bg2"/>
                  </a:solidFill>
                  <a:latin typeface="Arial" panose="02080604020202020204" pitchFamily="34" charset="0"/>
                </a:rPr>
                <a:t>&amp;</a:t>
              </a:r>
              <a:r>
                <a:rPr lang="en-US" altLang="zh-CN" sz="2800" b="1">
                  <a:solidFill>
                    <a:schemeClr val="bg2"/>
                  </a:solidFill>
                  <a:latin typeface="Arial" panose="02080604020202020204" pitchFamily="34" charset="0"/>
                </a:rPr>
                <a:t>a</a:t>
              </a:r>
              <a:endParaRPr lang="en-US" altLang="zh-CN" sz="3200" b="1">
                <a:solidFill>
                  <a:schemeClr val="bg2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12300" name="Rectangle 22"/>
            <p:cNvSpPr/>
            <p:nvPr/>
          </p:nvSpPr>
          <p:spPr>
            <a:xfrm>
              <a:off x="1344" y="2535"/>
              <a:ext cx="25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>
                  <a:latin typeface="Arial" panose="02080604020202020204" pitchFamily="34" charset="0"/>
                </a:rPr>
                <a:t>p</a:t>
              </a:r>
              <a:endParaRPr lang="en-US" altLang="zh-CN" sz="2800" b="1">
                <a:latin typeface="Arial" panose="02080604020202020204" pitchFamily="34" charset="0"/>
              </a:endParaRPr>
            </a:p>
          </p:txBody>
        </p:sp>
        <p:sp>
          <p:nvSpPr>
            <p:cNvPr id="12301" name="Line 23"/>
            <p:cNvSpPr/>
            <p:nvPr/>
          </p:nvSpPr>
          <p:spPr>
            <a:xfrm>
              <a:off x="1824" y="3072"/>
              <a:ext cx="4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41688" name="Rectangle 24"/>
          <p:cNvSpPr/>
          <p:nvPr/>
        </p:nvSpPr>
        <p:spPr>
          <a:xfrm>
            <a:off x="4718685" y="4298315"/>
            <a:ext cx="536575" cy="519113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46800" rIns="90000" bIns="46800" anchor="ctr" anchorCtr="0">
            <a:spAutoFit/>
          </a:bodyPr>
          <a:p>
            <a:pPr algn="ctr"/>
            <a:r>
              <a:rPr lang="en-US" altLang="en-US" sz="2800" b="1">
                <a:solidFill>
                  <a:schemeClr val="bg2"/>
                </a:solidFill>
                <a:latin typeface="Arial" panose="02080604020202020204" pitchFamily="34" charset="0"/>
              </a:rPr>
              <a:t>*</a:t>
            </a:r>
            <a:r>
              <a:rPr lang="en-US" altLang="zh-CN" sz="2800" b="1">
                <a:solidFill>
                  <a:schemeClr val="bg2"/>
                </a:solidFill>
                <a:latin typeface="Arial" panose="02080604020202020204" pitchFamily="34" charset="0"/>
              </a:rPr>
              <a:t>p</a:t>
            </a:r>
            <a:endParaRPr lang="en-US" altLang="zh-CN" sz="2800" b="1">
              <a:solidFill>
                <a:schemeClr val="bg2"/>
              </a:solidFill>
              <a:latin typeface="Arial" panose="02080604020202020204" pitchFamily="34" charset="0"/>
            </a:endParaRPr>
          </a:p>
        </p:txBody>
      </p:sp>
      <p:sp>
        <p:nvSpPr>
          <p:cNvPr id="241689" name="Rectangle 25"/>
          <p:cNvSpPr>
            <a:spLocks noGrp="1"/>
          </p:cNvSpPr>
          <p:nvPr>
            <p:ph idx="1"/>
          </p:nvPr>
        </p:nvSpPr>
        <p:spPr>
          <a:xfrm>
            <a:off x="381000" y="1295400"/>
            <a:ext cx="8458200" cy="3124200"/>
          </a:xfrm>
        </p:spPr>
        <p:txBody>
          <a:bodyPr vert="horz" wrap="square" lIns="92075" tIns="46038" rIns="92075" bIns="46038" anchor="t" anchorCtr="0"/>
          <a:p>
            <a:pPr eaLnBrk="1" hangingPunct="1">
              <a:spcBef>
                <a:spcPct val="10000"/>
              </a:spcBef>
              <a:buNone/>
            </a:pPr>
            <a:r>
              <a:rPr lang="zh-CN" altLang="en-US" b="0" dirty="0"/>
              <a:t>如果指针的值是某个变量的地址，通过指针就能</a:t>
            </a:r>
            <a:r>
              <a:rPr lang="zh-CN" altLang="en-US" b="0" dirty="0">
                <a:solidFill>
                  <a:schemeClr val="bg2"/>
                </a:solidFill>
              </a:rPr>
              <a:t>间接访问</a:t>
            </a:r>
            <a:r>
              <a:rPr lang="zh-CN" altLang="en-US" b="0" dirty="0"/>
              <a:t>那个变量。</a:t>
            </a:r>
            <a:endParaRPr lang="zh-CN" altLang="en-US" b="0" dirty="0"/>
          </a:p>
          <a:p>
            <a:pPr eaLnBrk="1" hangingPunct="1">
              <a:spcBef>
                <a:spcPct val="10000"/>
              </a:spcBef>
              <a:buNone/>
            </a:pPr>
            <a:r>
              <a:rPr lang="en-US" altLang="en-US" b="0"/>
              <a:t>1</a:t>
            </a:r>
            <a:r>
              <a:rPr lang="zh-CN" altLang="en-US" b="0" dirty="0"/>
              <a:t>、取地址运算和间接访问运算</a:t>
            </a:r>
            <a:r>
              <a:rPr lang="zh-CN" altLang="en-US" b="0" dirty="0">
                <a:solidFill>
                  <a:schemeClr val="accent1"/>
                </a:solidFill>
              </a:rPr>
              <a:t> </a:t>
            </a:r>
            <a:endParaRPr lang="en-US" altLang="en-US" b="0">
              <a:solidFill>
                <a:schemeClr val="accent1"/>
              </a:solidFill>
            </a:endParaRPr>
          </a:p>
          <a:p>
            <a:pPr lvl="1" eaLnBrk="1" hangingPunct="1">
              <a:spcBef>
                <a:spcPct val="10000"/>
              </a:spcBef>
              <a:buNone/>
            </a:pPr>
            <a:r>
              <a:rPr lang="en-US" altLang="en-US" b="0">
                <a:solidFill>
                  <a:srgbClr val="CC0066"/>
                </a:solidFill>
              </a:rPr>
              <a:t>&amp;</a:t>
            </a:r>
            <a:r>
              <a:rPr lang="en-US" altLang="en-US" b="0"/>
              <a:t>  </a:t>
            </a:r>
            <a:r>
              <a:rPr lang="en-US" altLang="en-US" b="0" err="1"/>
              <a:t>取地址运算符</a:t>
            </a:r>
            <a:r>
              <a:rPr lang="en-US" altLang="zh-CN" b="0"/>
              <a:t>，</a:t>
            </a:r>
            <a:r>
              <a:rPr lang="zh-CN" altLang="en-US" b="0" dirty="0"/>
              <a:t>给出变量的地址</a:t>
            </a:r>
            <a:endParaRPr lang="zh-CN" altLang="en-US" b="0" dirty="0"/>
          </a:p>
          <a:p>
            <a:pPr lvl="1" eaLnBrk="1" hangingPunct="1">
              <a:spcBef>
                <a:spcPct val="10000"/>
              </a:spcBef>
              <a:buNone/>
            </a:pPr>
            <a:r>
              <a:rPr lang="en-US" altLang="zh-CN" b="0" err="1"/>
              <a:t>int</a:t>
            </a:r>
            <a:r>
              <a:rPr lang="en-US" altLang="zh-CN" b="0"/>
              <a:t> *p, a = 3;</a:t>
            </a:r>
            <a:endParaRPr lang="en-US" altLang="zh-CN" b="0"/>
          </a:p>
          <a:p>
            <a:pPr lvl="1" eaLnBrk="1" hangingPunct="1">
              <a:spcBef>
                <a:spcPct val="10000"/>
              </a:spcBef>
              <a:buNone/>
            </a:pPr>
            <a:r>
              <a:rPr lang="en-US" altLang="zh-CN" b="0">
                <a:solidFill>
                  <a:schemeClr val="bg2"/>
                </a:solidFill>
              </a:rPr>
              <a:t>p = &amp;a</a:t>
            </a:r>
            <a:r>
              <a:rPr lang="en-US" altLang="zh-CN" b="0"/>
              <a:t>;    </a:t>
            </a:r>
            <a:r>
              <a:rPr lang="en-US" altLang="en-US" b="0"/>
              <a:t>把 </a:t>
            </a:r>
            <a:r>
              <a:rPr lang="en-US" altLang="zh-CN" b="0"/>
              <a:t>a </a:t>
            </a:r>
            <a:r>
              <a:rPr lang="en-US" altLang="en-US" b="0" err="1"/>
              <a:t>的地址赋给</a:t>
            </a:r>
            <a:r>
              <a:rPr lang="en-US" altLang="en-US" b="0"/>
              <a:t> </a:t>
            </a:r>
            <a:r>
              <a:rPr lang="en-US" altLang="zh-CN" b="0"/>
              <a:t>p，</a:t>
            </a:r>
            <a:r>
              <a:rPr lang="zh-CN" altLang="en-US" b="0" dirty="0"/>
              <a:t>即 </a:t>
            </a:r>
            <a:r>
              <a:rPr lang="en-US" altLang="zh-CN" b="0"/>
              <a:t>p </a:t>
            </a:r>
            <a:r>
              <a:rPr lang="zh-CN" altLang="en-US" b="0" dirty="0"/>
              <a:t>指向 </a:t>
            </a:r>
            <a:r>
              <a:rPr lang="en-US" altLang="zh-CN" b="0"/>
              <a:t>a</a:t>
            </a:r>
            <a:endParaRPr lang="en-US" altLang="zh-CN" b="0"/>
          </a:p>
        </p:txBody>
      </p:sp>
      <p:sp>
        <p:nvSpPr>
          <p:cNvPr id="241690" name="Rectangle 26"/>
          <p:cNvSpPr/>
          <p:nvPr/>
        </p:nvSpPr>
        <p:spPr>
          <a:xfrm>
            <a:off x="3138488" y="3357563"/>
            <a:ext cx="6005512" cy="4206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  <a:ea typeface="仿宋_GB2312" pitchFamily="49" charset="-122"/>
              </a:rPr>
              <a:t>指针变量的类型和它所指向变量的类型相同</a:t>
            </a:r>
            <a:endParaRPr lang="zh-CN" altLang="en-US" sz="2400" b="1" dirty="0">
              <a:solidFill>
                <a:schemeClr val="bg2"/>
              </a:solidFill>
              <a:latin typeface="Times New Roman" pitchFamily="18" charset="0"/>
              <a:ea typeface="仿宋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9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1689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1689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9">
                                            <p:txEl>
                                              <p:charRg st="31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1689">
                                            <p:txEl>
                                              <p:charRg st="31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1689">
                                            <p:txEl>
                                              <p:charRg st="31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9">
                                            <p:txEl>
                                              <p:charRg st="47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1689">
                                            <p:txEl>
                                              <p:charRg st="47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1689">
                                            <p:txEl>
                                              <p:charRg st="47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9">
                                            <p:txEl>
                                              <p:charRg st="65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1689">
                                            <p:txEl>
                                              <p:charRg st="65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1689">
                                            <p:txEl>
                                              <p:charRg st="65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9">
                                            <p:txEl>
                                              <p:charRg st="80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1689">
                                            <p:txEl>
                                              <p:charRg st="80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1689">
                                            <p:txEl>
                                              <p:charRg st="80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1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1681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1681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1">
                                            <p:txEl>
                                              <p:charRg st="23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1681">
                                            <p:txEl>
                                              <p:charRg st="23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1681">
                                            <p:txEl>
                                              <p:charRg st="23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1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1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4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81" grpId="0" build="p"/>
      <p:bldP spid="241688" grpId="0"/>
      <p:bldP spid="241689" grpId="0" bldLvl="2" build="p"/>
      <p:bldP spid="24169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5" name="Rectangle 16"/>
          <p:cNvSpPr/>
          <p:nvPr/>
        </p:nvSpPr>
        <p:spPr>
          <a:xfrm>
            <a:off x="228600" y="1042988"/>
            <a:ext cx="5410200" cy="520065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# include &lt;stdio.h&gt;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int main (void)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{  int a = 3, *p;            	   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p = &amp;a;                 	   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</a:t>
            </a:r>
            <a:r>
              <a:rPr sz="2000">
                <a:latin typeface="+mn-ea"/>
                <a:cs typeface="+mn-ea"/>
                <a:sym typeface="+mn-ea"/>
              </a:rPr>
              <a:t>printf (“a=%d, *p=%</a:t>
            </a:r>
            <a:r>
              <a:rPr sz="2000">
                <a:latin typeface="+mn-ea"/>
                <a:cs typeface="+mn-ea"/>
                <a:sym typeface="+mn-ea"/>
              </a:rPr>
              <a:t>d\n”, a, *p);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*p = 10;        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</a:t>
            </a:r>
            <a:r>
              <a:rPr sz="2000">
                <a:latin typeface="+mn-ea"/>
                <a:cs typeface="+mn-ea"/>
                <a:sym typeface="+mn-ea"/>
              </a:rPr>
              <a:t>printf("a=%d, *p=%</a:t>
            </a:r>
            <a:r>
              <a:rPr sz="2000">
                <a:latin typeface="+mn-ea"/>
                <a:cs typeface="+mn-ea"/>
                <a:sym typeface="+mn-ea"/>
              </a:rPr>
              <a:t>d\n", a, *p);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printf("Enter</a:t>
            </a:r>
            <a:r>
              <a:rPr sz="2000">
                <a:latin typeface="+mn-ea"/>
                <a:cs typeface="+mn-ea"/>
                <a:sym typeface="+mn-ea"/>
              </a:rPr>
              <a:t> a: ");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scanf("</a:t>
            </a:r>
            <a:r>
              <a:rPr sz="2000">
                <a:latin typeface="+mn-ea"/>
                <a:cs typeface="+mn-ea"/>
                <a:sym typeface="+mn-ea"/>
              </a:rPr>
              <a:t>%d", &amp;a);        	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</a:t>
            </a:r>
            <a:r>
              <a:rPr sz="2000">
                <a:latin typeface="+mn-ea"/>
                <a:cs typeface="+mn-ea"/>
                <a:sym typeface="+mn-ea"/>
              </a:rPr>
              <a:t>printf("a=%d, *p=%</a:t>
            </a:r>
            <a:r>
              <a:rPr sz="2000">
                <a:latin typeface="+mn-ea"/>
                <a:cs typeface="+mn-ea"/>
                <a:sym typeface="+mn-ea"/>
              </a:rPr>
              <a:t>d\n", a, *p);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(*p)++;	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</a:t>
            </a:r>
            <a:r>
              <a:rPr sz="2000">
                <a:latin typeface="+mn-ea"/>
                <a:cs typeface="+mn-ea"/>
                <a:sym typeface="+mn-ea"/>
              </a:rPr>
              <a:t>printf("a=%d, *p=%</a:t>
            </a:r>
            <a:r>
              <a:rPr sz="2000">
                <a:latin typeface="+mn-ea"/>
                <a:cs typeface="+mn-ea"/>
                <a:sym typeface="+mn-ea"/>
              </a:rPr>
              <a:t>d\n", a, *p);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   return 0;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} </a:t>
            </a:r>
            <a:endParaRPr sz="2000">
              <a:latin typeface="+mn-ea"/>
              <a:cs typeface="+mn-ea"/>
              <a:sym typeface="+mn-ea"/>
            </a:endParaRPr>
          </a:p>
        </p:txBody>
      </p:sp>
      <p:sp>
        <p:nvSpPr>
          <p:cNvPr id="13316" name="Rectangle 4"/>
          <p:cNvSpPr>
            <a:spLocks noGrp="1"/>
          </p:cNvSpPr>
          <p:nvPr>
            <p:ph type="title"/>
          </p:nvPr>
        </p:nvSpPr>
        <p:spPr>
          <a:xfrm>
            <a:off x="457200" y="200025"/>
            <a:ext cx="8686800" cy="1027113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例8-2</a:t>
            </a:r>
            <a:r>
              <a:rPr lang="en-US" altLang="zh-CN" b="0">
                <a:sym typeface="+mn-ea"/>
              </a:rPr>
              <a:t>指针取地址运算和间接访问运算</a:t>
            </a:r>
            <a:r>
              <a:rPr lang="en-US" altLang="zh-CN" b="0">
                <a:sym typeface="+mn-ea"/>
              </a:rPr>
              <a:t> </a:t>
            </a:r>
            <a:endParaRPr lang="en-US" altLang="zh-CN" b="0">
              <a:sym typeface="+mn-ea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4237038" y="1219200"/>
            <a:ext cx="3946525" cy="1068388"/>
            <a:chOff x="2976" y="-1"/>
            <a:chExt cx="2486" cy="673"/>
          </a:xfrm>
        </p:grpSpPr>
        <p:grpSp>
          <p:nvGrpSpPr>
            <p:cNvPr id="13320" name="Group 8"/>
            <p:cNvGrpSpPr/>
            <p:nvPr/>
          </p:nvGrpSpPr>
          <p:grpSpPr>
            <a:xfrm>
              <a:off x="2976" y="-1"/>
              <a:ext cx="2016" cy="673"/>
              <a:chOff x="1056" y="2543"/>
              <a:chExt cx="2016" cy="673"/>
            </a:xfrm>
          </p:grpSpPr>
          <p:sp>
            <p:nvSpPr>
              <p:cNvPr id="13322" name="Rectangle 9"/>
              <p:cNvSpPr/>
              <p:nvPr/>
            </p:nvSpPr>
            <p:spPr>
              <a:xfrm>
                <a:off x="2544" y="2591"/>
                <a:ext cx="241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>
                    <a:latin typeface="Arial" panose="02080604020202020204" pitchFamily="34" charset="0"/>
                  </a:rPr>
                  <a:t>a</a:t>
                </a:r>
                <a:endParaRPr lang="en-US" altLang="zh-CN" sz="2800" b="1">
                  <a:latin typeface="Arial" panose="02080604020202020204" pitchFamily="34" charset="0"/>
                </a:endParaRPr>
              </a:p>
            </p:txBody>
          </p:sp>
          <p:sp>
            <p:nvSpPr>
              <p:cNvPr id="13323" name="Rectangle 10"/>
              <p:cNvSpPr/>
              <p:nvPr/>
            </p:nvSpPr>
            <p:spPr>
              <a:xfrm>
                <a:off x="2304" y="2928"/>
                <a:ext cx="768" cy="28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800" dirty="0">
                    <a:latin typeface="Arial" panose="02080604020202020204" pitchFamily="34" charset="0"/>
                  </a:rPr>
                  <a:t>3</a:t>
                </a:r>
                <a:endParaRPr lang="zh-CN" altLang="en-US" sz="3200" dirty="0">
                  <a:latin typeface="Arial" panose="02080604020202020204" pitchFamily="34" charset="0"/>
                </a:endParaRPr>
              </a:p>
            </p:txBody>
          </p:sp>
          <p:sp>
            <p:nvSpPr>
              <p:cNvPr id="13324" name="Rectangle 11"/>
              <p:cNvSpPr/>
              <p:nvPr/>
            </p:nvSpPr>
            <p:spPr>
              <a:xfrm>
                <a:off x="1056" y="2928"/>
                <a:ext cx="768" cy="28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800" dirty="0">
                    <a:latin typeface="Arial" panose="02080604020202020204" pitchFamily="34" charset="0"/>
                  </a:rPr>
                  <a:t>&amp;</a:t>
                </a:r>
                <a:r>
                  <a:rPr lang="en-US" altLang="zh-CN" sz="2800">
                    <a:latin typeface="Arial" panose="02080604020202020204" pitchFamily="34" charset="0"/>
                  </a:rPr>
                  <a:t>a</a:t>
                </a:r>
                <a:endParaRPr lang="en-US" altLang="zh-CN" sz="3200" b="1">
                  <a:latin typeface="Arial" panose="02080604020202020204" pitchFamily="34" charset="0"/>
                </a:endParaRPr>
              </a:p>
            </p:txBody>
          </p:sp>
          <p:sp>
            <p:nvSpPr>
              <p:cNvPr id="13325" name="Rectangle 12"/>
              <p:cNvSpPr/>
              <p:nvPr/>
            </p:nvSpPr>
            <p:spPr>
              <a:xfrm>
                <a:off x="1344" y="2543"/>
                <a:ext cx="241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>
                    <a:latin typeface="Arial" panose="02080604020202020204" pitchFamily="34" charset="0"/>
                  </a:rPr>
                  <a:t>p</a:t>
                </a:r>
                <a:endParaRPr lang="en-US" altLang="zh-CN" sz="2800">
                  <a:latin typeface="Arial" panose="02080604020202020204" pitchFamily="34" charset="0"/>
                </a:endParaRPr>
              </a:p>
            </p:txBody>
          </p:sp>
          <p:sp>
            <p:nvSpPr>
              <p:cNvPr id="13326" name="Line 13"/>
              <p:cNvSpPr/>
              <p:nvPr/>
            </p:nvSpPr>
            <p:spPr>
              <a:xfrm>
                <a:off x="1824" y="3072"/>
                <a:ext cx="48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13321" name="Rectangle 14"/>
            <p:cNvSpPr/>
            <p:nvPr/>
          </p:nvSpPr>
          <p:spPr>
            <a:xfrm>
              <a:off x="5136" y="336"/>
              <a:ext cx="32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r>
                <a:rPr lang="en-US" altLang="en-US" sz="2800">
                  <a:latin typeface="Arial" panose="02080604020202020204" pitchFamily="34" charset="0"/>
                </a:rPr>
                <a:t>*</a:t>
              </a:r>
              <a:r>
                <a:rPr lang="en-US" altLang="zh-CN" sz="2800">
                  <a:latin typeface="Arial" panose="02080604020202020204" pitchFamily="34" charset="0"/>
                </a:rPr>
                <a:t>p</a:t>
              </a:r>
              <a:endParaRPr lang="en-US" altLang="zh-CN" sz="2800">
                <a:latin typeface="Arial" panose="02080604020202020204" pitchFamily="34" charset="0"/>
              </a:endParaRPr>
            </a:p>
          </p:txBody>
        </p:sp>
      </p:grpSp>
      <p:sp>
        <p:nvSpPr>
          <p:cNvPr id="243727" name="Line 15"/>
          <p:cNvSpPr/>
          <p:nvPr/>
        </p:nvSpPr>
        <p:spPr>
          <a:xfrm>
            <a:off x="467995" y="2493328"/>
            <a:ext cx="1295400" cy="0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3730" name="Rectangle 18"/>
          <p:cNvSpPr/>
          <p:nvPr/>
        </p:nvSpPr>
        <p:spPr>
          <a:xfrm>
            <a:off x="5943600" y="3429000"/>
            <a:ext cx="2590800" cy="237871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p>
            <a:pPr algn="just">
              <a:spcBef>
                <a:spcPct val="30000"/>
              </a:spcBef>
            </a:pPr>
            <a:r>
              <a:rPr lang="en-US" altLang="zh-CN" sz="2400">
                <a:latin typeface="Arial" panose="02080604020202020204" pitchFamily="34" charset="0"/>
              </a:rPr>
              <a:t>a = 3, *p = 3</a:t>
            </a:r>
            <a:endParaRPr lang="en-US" altLang="zh-CN" sz="2400">
              <a:latin typeface="Arial" panose="02080604020202020204" pitchFamily="34" charset="0"/>
            </a:endParaRPr>
          </a:p>
          <a:p>
            <a:pPr algn="just">
              <a:spcBef>
                <a:spcPct val="30000"/>
              </a:spcBef>
            </a:pPr>
            <a:r>
              <a:rPr lang="en-US" altLang="zh-CN" sz="2400">
                <a:latin typeface="Arial" panose="02080604020202020204" pitchFamily="34" charset="0"/>
              </a:rPr>
              <a:t>a = 10, *p = 10</a:t>
            </a:r>
            <a:endParaRPr lang="en-US" altLang="zh-CN" sz="2400">
              <a:latin typeface="Arial" panose="02080604020202020204" pitchFamily="34" charset="0"/>
            </a:endParaRPr>
          </a:p>
          <a:p>
            <a:pPr algn="just">
              <a:spcBef>
                <a:spcPct val="30000"/>
              </a:spcBef>
            </a:pPr>
            <a:r>
              <a:rPr lang="en-US" altLang="zh-CN" sz="2400">
                <a:latin typeface="Arial" panose="02080604020202020204" pitchFamily="34" charset="0"/>
              </a:rPr>
              <a:t>Enter a: </a:t>
            </a:r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</a:rPr>
              <a:t>5</a:t>
            </a:r>
            <a:r>
              <a:rPr lang="en-US" altLang="zh-CN" sz="2400">
                <a:latin typeface="Arial" panose="02080604020202020204" pitchFamily="34" charset="0"/>
              </a:rPr>
              <a:t> </a:t>
            </a:r>
            <a:endParaRPr lang="en-US" altLang="zh-CN" sz="2400">
              <a:latin typeface="Arial" panose="02080604020202020204" pitchFamily="34" charset="0"/>
            </a:endParaRPr>
          </a:p>
          <a:p>
            <a:pPr algn="just">
              <a:spcBef>
                <a:spcPct val="30000"/>
              </a:spcBef>
            </a:pPr>
            <a:r>
              <a:rPr lang="en-US" altLang="zh-CN" sz="2400">
                <a:latin typeface="Arial" panose="02080604020202020204" pitchFamily="34" charset="0"/>
              </a:rPr>
              <a:t>a = 5, *p = 5</a:t>
            </a:r>
            <a:endParaRPr lang="en-US" altLang="zh-CN" sz="2400">
              <a:latin typeface="Arial" panose="02080604020202020204" pitchFamily="34" charset="0"/>
            </a:endParaRPr>
          </a:p>
          <a:p>
            <a:pPr>
              <a:spcBef>
                <a:spcPct val="30000"/>
              </a:spcBef>
            </a:pPr>
            <a:r>
              <a:rPr lang="en-US" altLang="zh-CN" sz="2400">
                <a:latin typeface="Arial" panose="02080604020202020204" pitchFamily="34" charset="0"/>
              </a:rPr>
              <a:t>a = 6, *p = 6 </a:t>
            </a:r>
            <a:endParaRPr lang="en-US" altLang="zh-CN" sz="2400">
              <a:latin typeface="Arial" panose="02080604020202020204" pitchFamily="34" charset="0"/>
            </a:endParaRPr>
          </a:p>
        </p:txBody>
      </p:sp>
      <p:sp>
        <p:nvSpPr>
          <p:cNvPr id="3" name="Line 15"/>
          <p:cNvSpPr/>
          <p:nvPr/>
        </p:nvSpPr>
        <p:spPr>
          <a:xfrm>
            <a:off x="451485" y="3266123"/>
            <a:ext cx="1295400" cy="0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" name="Line 15"/>
          <p:cNvSpPr/>
          <p:nvPr/>
        </p:nvSpPr>
        <p:spPr>
          <a:xfrm>
            <a:off x="451485" y="5059998"/>
            <a:ext cx="1295400" cy="0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3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3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3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3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0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0">
                                            <p:txEl>
                                              <p:charRg st="14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0">
                                            <p:txEl>
                                              <p:charRg st="30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3730">
                                            <p:txEl>
                                              <p:charRg st="30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3730">
                                            <p:txEl>
                                              <p:charRg st="30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0">
                                            <p:txEl>
                                              <p:charRg st="42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3730">
                                            <p:txEl>
                                              <p:charRg st="42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3730">
                                            <p:txEl>
                                              <p:charRg st="42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0">
                                            <p:txEl>
                                              <p:charRg st="56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3730">
                                            <p:txEl>
                                              <p:charRg st="56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3730">
                                            <p:txEl>
                                              <p:charRg st="56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30" grpId="0" animBg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4339" name="Group 2056"/>
          <p:cNvGrpSpPr/>
          <p:nvPr/>
        </p:nvGrpSpPr>
        <p:grpSpPr>
          <a:xfrm>
            <a:off x="1878013" y="5357813"/>
            <a:ext cx="3998913" cy="1068387"/>
            <a:chOff x="2976" y="-1"/>
            <a:chExt cx="2519" cy="673"/>
          </a:xfrm>
        </p:grpSpPr>
        <p:grpSp>
          <p:nvGrpSpPr>
            <p:cNvPr id="14343" name="Group 2057"/>
            <p:cNvGrpSpPr/>
            <p:nvPr/>
          </p:nvGrpSpPr>
          <p:grpSpPr>
            <a:xfrm>
              <a:off x="2976" y="-1"/>
              <a:ext cx="2016" cy="673"/>
              <a:chOff x="1056" y="2543"/>
              <a:chExt cx="2016" cy="673"/>
            </a:xfrm>
          </p:grpSpPr>
          <p:sp>
            <p:nvSpPr>
              <p:cNvPr id="14345" name="Rectangle 2058"/>
              <p:cNvSpPr/>
              <p:nvPr/>
            </p:nvSpPr>
            <p:spPr>
              <a:xfrm>
                <a:off x="2544" y="2591"/>
                <a:ext cx="252" cy="3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>
                    <a:latin typeface="Arial" panose="02080604020202020204" pitchFamily="34" charset="0"/>
                  </a:rPr>
                  <a:t>a</a:t>
                </a:r>
                <a:endParaRPr lang="en-US" altLang="zh-CN" sz="2800">
                  <a:latin typeface="Arial" panose="02080604020202020204" pitchFamily="34" charset="0"/>
                </a:endParaRPr>
              </a:p>
            </p:txBody>
          </p:sp>
          <p:sp>
            <p:nvSpPr>
              <p:cNvPr id="14346" name="Rectangle 2059"/>
              <p:cNvSpPr/>
              <p:nvPr/>
            </p:nvSpPr>
            <p:spPr>
              <a:xfrm>
                <a:off x="2304" y="2928"/>
                <a:ext cx="768" cy="28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800" dirty="0">
                    <a:latin typeface="Arial" panose="02080604020202020204" pitchFamily="34" charset="0"/>
                  </a:rPr>
                  <a:t>3</a:t>
                </a:r>
                <a:endParaRPr lang="zh-CN" altLang="en-US" sz="2800" dirty="0">
                  <a:latin typeface="Arial" panose="02080604020202020204" pitchFamily="34" charset="0"/>
                </a:endParaRPr>
              </a:p>
            </p:txBody>
          </p:sp>
          <p:sp>
            <p:nvSpPr>
              <p:cNvPr id="14347" name="Rectangle 2060"/>
              <p:cNvSpPr/>
              <p:nvPr/>
            </p:nvSpPr>
            <p:spPr>
              <a:xfrm>
                <a:off x="1056" y="2928"/>
                <a:ext cx="768" cy="28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800" dirty="0">
                    <a:latin typeface="Arial" panose="02080604020202020204" pitchFamily="34" charset="0"/>
                  </a:rPr>
                  <a:t>&amp;</a:t>
                </a:r>
                <a:r>
                  <a:rPr lang="en-US" altLang="zh-CN" sz="2800">
                    <a:latin typeface="Arial" panose="02080604020202020204" pitchFamily="34" charset="0"/>
                  </a:rPr>
                  <a:t>a</a:t>
                </a:r>
                <a:endParaRPr lang="en-US" altLang="zh-CN" sz="3200">
                  <a:latin typeface="Arial" panose="02080604020202020204" pitchFamily="34" charset="0"/>
                </a:endParaRPr>
              </a:p>
            </p:txBody>
          </p:sp>
          <p:sp>
            <p:nvSpPr>
              <p:cNvPr id="14348" name="Rectangle 2061"/>
              <p:cNvSpPr/>
              <p:nvPr/>
            </p:nvSpPr>
            <p:spPr>
              <a:xfrm>
                <a:off x="1344" y="2543"/>
                <a:ext cx="257" cy="32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>
                    <a:latin typeface="Arial" panose="02080604020202020204" pitchFamily="34" charset="0"/>
                  </a:rPr>
                  <a:t>p</a:t>
                </a:r>
                <a:endParaRPr lang="en-US" altLang="zh-CN" sz="2800">
                  <a:latin typeface="Arial" panose="02080604020202020204" pitchFamily="34" charset="0"/>
                </a:endParaRPr>
              </a:p>
            </p:txBody>
          </p:sp>
          <p:sp>
            <p:nvSpPr>
              <p:cNvPr id="14349" name="Line 2062"/>
              <p:cNvSpPr/>
              <p:nvPr/>
            </p:nvSpPr>
            <p:spPr>
              <a:xfrm>
                <a:off x="1824" y="3072"/>
                <a:ext cx="48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14344" name="Rectangle 2063"/>
            <p:cNvSpPr/>
            <p:nvPr/>
          </p:nvSpPr>
          <p:spPr>
            <a:xfrm>
              <a:off x="5128" y="335"/>
              <a:ext cx="367" cy="3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en-US" sz="2800">
                  <a:latin typeface="Arial" panose="02080604020202020204" pitchFamily="34" charset="0"/>
                </a:rPr>
                <a:t>*</a:t>
              </a:r>
              <a:r>
                <a:rPr lang="en-US" altLang="zh-CN" sz="2800">
                  <a:latin typeface="Arial" panose="02080604020202020204" pitchFamily="34" charset="0"/>
                </a:rPr>
                <a:t>p</a:t>
              </a:r>
              <a:endParaRPr lang="en-US" altLang="zh-CN" sz="2800">
                <a:latin typeface="Arial" panose="02080604020202020204" pitchFamily="34" charset="0"/>
              </a:endParaRPr>
            </a:p>
          </p:txBody>
        </p:sp>
      </p:grpSp>
      <p:sp>
        <p:nvSpPr>
          <p:cNvPr id="245777" name="Rectangle 2065"/>
          <p:cNvSpPr/>
          <p:nvPr/>
        </p:nvSpPr>
        <p:spPr>
          <a:xfrm>
            <a:off x="152400" y="528638"/>
            <a:ext cx="8153400" cy="4876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2800">
                <a:latin typeface="Arial" panose="02080604020202020204" pitchFamily="34" charset="0"/>
              </a:rPr>
              <a:t>(1) 当 </a:t>
            </a:r>
            <a:r>
              <a:rPr lang="en-US" altLang="zh-CN" sz="2800">
                <a:latin typeface="Arial" panose="02080604020202020204" pitchFamily="34" charset="0"/>
              </a:rPr>
              <a:t>p = &amp;a </a:t>
            </a:r>
            <a:r>
              <a:rPr lang="en-US" altLang="en-US" sz="2800">
                <a:latin typeface="Arial" panose="02080604020202020204" pitchFamily="34" charset="0"/>
              </a:rPr>
              <a:t>后，*</a:t>
            </a:r>
            <a:r>
              <a:rPr lang="en-US" altLang="zh-CN" sz="2800">
                <a:latin typeface="Arial" panose="02080604020202020204" pitchFamily="34" charset="0"/>
              </a:rPr>
              <a:t>p </a:t>
            </a:r>
            <a:r>
              <a:rPr lang="en-US" altLang="en-US" sz="2800">
                <a:latin typeface="Arial" panose="02080604020202020204" pitchFamily="34" charset="0"/>
              </a:rPr>
              <a:t>与 </a:t>
            </a:r>
            <a:r>
              <a:rPr lang="en-US" altLang="zh-CN" sz="2800">
                <a:latin typeface="Arial" panose="02080604020202020204" pitchFamily="34" charset="0"/>
              </a:rPr>
              <a:t>a </a:t>
            </a:r>
            <a:r>
              <a:rPr lang="en-US" altLang="en-US" sz="2800" err="1">
                <a:latin typeface="Arial" panose="02080604020202020204" pitchFamily="34" charset="0"/>
              </a:rPr>
              <a:t>相同</a:t>
            </a:r>
            <a:endParaRPr lang="en-US" altLang="en-US" sz="2800">
              <a:latin typeface="Arial" panose="02080604020202020204" pitchFamily="34" charset="0"/>
            </a:endParaRP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2800">
                <a:latin typeface="Arial" panose="02080604020202020204" pitchFamily="34" charset="0"/>
              </a:rPr>
              <a:t>(2)  </a:t>
            </a:r>
            <a:r>
              <a:rPr lang="en-US" altLang="zh-CN" sz="2800" err="1">
                <a:latin typeface="Arial" panose="02080604020202020204" pitchFamily="34" charset="0"/>
              </a:rPr>
              <a:t>int</a:t>
            </a:r>
            <a:r>
              <a:rPr lang="en-US" altLang="zh-CN" sz="2800">
                <a:latin typeface="Arial" panose="02080604020202020204" pitchFamily="34" charset="0"/>
              </a:rPr>
              <a:t> *</a:t>
            </a:r>
            <a:r>
              <a:rPr lang="en-US" altLang="zh-CN" sz="2800">
                <a:solidFill>
                  <a:schemeClr val="bg2"/>
                </a:solidFill>
                <a:latin typeface="Arial" panose="02080604020202020204" pitchFamily="34" charset="0"/>
              </a:rPr>
              <a:t>p</a:t>
            </a:r>
            <a:r>
              <a:rPr lang="en-US" altLang="zh-CN" sz="2800">
                <a:latin typeface="Arial" panose="02080604020202020204" pitchFamily="34" charset="0"/>
              </a:rPr>
              <a:t>;    </a:t>
            </a:r>
            <a:r>
              <a:rPr lang="en-US" altLang="en-US" sz="2800" err="1">
                <a:latin typeface="Arial" panose="02080604020202020204" pitchFamily="34" charset="0"/>
              </a:rPr>
              <a:t>定义</a:t>
            </a:r>
            <a:r>
              <a:rPr lang="en-US" altLang="zh-CN" sz="2800" err="1">
                <a:latin typeface="Arial" panose="02080604020202020204" pitchFamily="34" charset="0"/>
              </a:rPr>
              <a:t>指针</a:t>
            </a:r>
            <a:r>
              <a:rPr lang="zh-CN" altLang="en-US" sz="2800" dirty="0">
                <a:latin typeface="Arial" panose="02080604020202020204" pitchFamily="34" charset="0"/>
              </a:rPr>
              <a:t>变量 </a:t>
            </a:r>
            <a:r>
              <a:rPr lang="en-US" altLang="zh-CN" sz="2800">
                <a:latin typeface="Arial" panose="02080604020202020204" pitchFamily="34" charset="0"/>
              </a:rPr>
              <a:t>p</a:t>
            </a:r>
            <a:endParaRPr lang="en-US" altLang="en-US" sz="2800">
              <a:latin typeface="Arial" panose="02080604020202020204" pitchFamily="34" charset="0"/>
            </a:endParaRP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2800">
                <a:latin typeface="Arial" panose="02080604020202020204" pitchFamily="34" charset="0"/>
              </a:rPr>
              <a:t>      </a:t>
            </a:r>
            <a:r>
              <a:rPr lang="en-US" altLang="en-US" sz="2800">
                <a:solidFill>
                  <a:schemeClr val="bg2"/>
                </a:solidFill>
                <a:latin typeface="Arial" panose="02080604020202020204" pitchFamily="34" charset="0"/>
              </a:rPr>
              <a:t>*</a:t>
            </a:r>
            <a:r>
              <a:rPr lang="en-US" altLang="zh-CN" sz="2800">
                <a:solidFill>
                  <a:schemeClr val="bg2"/>
                </a:solidFill>
                <a:latin typeface="Arial" panose="02080604020202020204" pitchFamily="34" charset="0"/>
              </a:rPr>
              <a:t>p</a:t>
            </a:r>
            <a:r>
              <a:rPr lang="en-US" altLang="zh-CN" sz="2800">
                <a:latin typeface="Arial" panose="02080604020202020204" pitchFamily="34" charset="0"/>
              </a:rPr>
              <a:t> =10;   </a:t>
            </a:r>
            <a:r>
              <a:rPr lang="zh-CN" altLang="en-US" sz="2800" dirty="0">
                <a:latin typeface="Arial" panose="02080604020202020204" pitchFamily="34" charset="0"/>
              </a:rPr>
              <a:t>指针</a:t>
            </a:r>
            <a:r>
              <a:rPr lang="en-US" altLang="zh-CN" sz="2800" err="1">
                <a:latin typeface="Arial" panose="02080604020202020204" pitchFamily="34" charset="0"/>
              </a:rPr>
              <a:t>p</a:t>
            </a:r>
            <a:r>
              <a:rPr lang="en-US" altLang="en-US" sz="2800" err="1">
                <a:latin typeface="Arial" panose="02080604020202020204" pitchFamily="34" charset="0"/>
              </a:rPr>
              <a:t>所指</a:t>
            </a:r>
            <a:r>
              <a:rPr lang="zh-CN" altLang="en-US" sz="2800" dirty="0">
                <a:latin typeface="Arial" panose="02080604020202020204" pitchFamily="34" charset="0"/>
              </a:rPr>
              <a:t>向</a:t>
            </a:r>
            <a:r>
              <a:rPr lang="en-US" altLang="en-US" sz="2800" err="1">
                <a:latin typeface="Arial" panose="02080604020202020204" pitchFamily="34" charset="0"/>
              </a:rPr>
              <a:t>的变量</a:t>
            </a:r>
            <a:r>
              <a:rPr lang="en-US" altLang="zh-CN" sz="2800">
                <a:latin typeface="Arial" panose="02080604020202020204" pitchFamily="34" charset="0"/>
              </a:rPr>
              <a:t>，</a:t>
            </a:r>
            <a:r>
              <a:rPr lang="zh-CN" altLang="en-US" sz="2800" dirty="0">
                <a:latin typeface="Arial" panose="02080604020202020204" pitchFamily="34" charset="0"/>
              </a:rPr>
              <a:t>即</a:t>
            </a:r>
            <a:r>
              <a:rPr lang="en-US" altLang="zh-CN" sz="2800">
                <a:latin typeface="Arial" panose="02080604020202020204" pitchFamily="34" charset="0"/>
              </a:rPr>
              <a:t>a</a:t>
            </a:r>
            <a:endParaRPr lang="en-US" altLang="en-US" sz="2800">
              <a:latin typeface="Arial" panose="02080604020202020204" pitchFamily="34" charset="0"/>
            </a:endParaRP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2800">
                <a:latin typeface="Arial" panose="02080604020202020204" pitchFamily="34" charset="0"/>
              </a:rPr>
              <a:t>(3)  </a:t>
            </a:r>
            <a:r>
              <a:rPr lang="en-US" altLang="en-US" sz="2800">
                <a:solidFill>
                  <a:schemeClr val="bg2"/>
                </a:solidFill>
                <a:latin typeface="Arial" panose="02080604020202020204" pitchFamily="34" charset="0"/>
              </a:rPr>
              <a:t>&amp;*</a:t>
            </a:r>
            <a:r>
              <a:rPr lang="en-US" altLang="zh-CN" sz="2800">
                <a:latin typeface="Arial" panose="02080604020202020204" pitchFamily="34" charset="0"/>
              </a:rPr>
              <a:t>p </a:t>
            </a:r>
            <a:r>
              <a:rPr lang="en-US" altLang="en-US" sz="2800">
                <a:latin typeface="Arial" panose="02080604020202020204" pitchFamily="34" charset="0"/>
              </a:rPr>
              <a:t>与 &amp;</a:t>
            </a:r>
            <a:r>
              <a:rPr lang="en-US" altLang="zh-CN" sz="2800">
                <a:latin typeface="Arial" panose="02080604020202020204" pitchFamily="34" charset="0"/>
              </a:rPr>
              <a:t>a </a:t>
            </a:r>
            <a:r>
              <a:rPr lang="en-US" altLang="en-US" sz="2800" err="1">
                <a:latin typeface="Arial" panose="02080604020202020204" pitchFamily="34" charset="0"/>
              </a:rPr>
              <a:t>相同</a:t>
            </a:r>
            <a:r>
              <a:rPr lang="en-US" altLang="en-US" sz="2800">
                <a:latin typeface="Arial" panose="02080604020202020204" pitchFamily="34" charset="0"/>
              </a:rPr>
              <a:t>，</a:t>
            </a:r>
            <a:r>
              <a:rPr lang="zh-CN" altLang="en-US" sz="2800" dirty="0">
                <a:latin typeface="Arial" panose="02080604020202020204" pitchFamily="34" charset="0"/>
              </a:rPr>
              <a:t>是</a:t>
            </a:r>
            <a:r>
              <a:rPr lang="en-US" altLang="en-US" sz="2800" err="1">
                <a:latin typeface="Arial" panose="02080604020202020204" pitchFamily="34" charset="0"/>
              </a:rPr>
              <a:t>地址</a:t>
            </a:r>
            <a:endParaRPr lang="en-US" altLang="en-US" sz="2800">
              <a:latin typeface="Arial" panose="02080604020202020204" pitchFamily="34" charset="0"/>
            </a:endParaRP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2800">
                <a:latin typeface="Arial" panose="02080604020202020204" pitchFamily="34" charset="0"/>
              </a:rPr>
              <a:t>      </a:t>
            </a:r>
            <a:r>
              <a:rPr lang="en-US" altLang="en-US" sz="2800">
                <a:solidFill>
                  <a:schemeClr val="bg2"/>
                </a:solidFill>
                <a:latin typeface="Arial" panose="02080604020202020204" pitchFamily="34" charset="0"/>
              </a:rPr>
              <a:t>*&amp;</a:t>
            </a:r>
            <a:r>
              <a:rPr lang="en-US" altLang="zh-CN" sz="2800">
                <a:latin typeface="Arial" panose="02080604020202020204" pitchFamily="34" charset="0"/>
              </a:rPr>
              <a:t>a </a:t>
            </a:r>
            <a:r>
              <a:rPr lang="en-US" altLang="en-US" sz="2800">
                <a:latin typeface="Arial" panose="02080604020202020204" pitchFamily="34" charset="0"/>
              </a:rPr>
              <a:t>与   </a:t>
            </a:r>
            <a:r>
              <a:rPr lang="en-US" altLang="zh-CN" sz="2800">
                <a:latin typeface="Arial" panose="02080604020202020204" pitchFamily="34" charset="0"/>
              </a:rPr>
              <a:t>a   </a:t>
            </a:r>
            <a:r>
              <a:rPr lang="en-US" altLang="en-US" sz="2800" err="1">
                <a:latin typeface="Arial" panose="02080604020202020204" pitchFamily="34" charset="0"/>
              </a:rPr>
              <a:t>相同</a:t>
            </a:r>
            <a:r>
              <a:rPr lang="en-US" altLang="en-US" sz="2800">
                <a:latin typeface="Arial" panose="02080604020202020204" pitchFamily="34" charset="0"/>
              </a:rPr>
              <a:t>，</a:t>
            </a:r>
            <a:r>
              <a:rPr lang="zh-CN" altLang="en-US" sz="2800" dirty="0">
                <a:latin typeface="Arial" panose="02080604020202020204" pitchFamily="34" charset="0"/>
              </a:rPr>
              <a:t>是</a:t>
            </a:r>
            <a:r>
              <a:rPr lang="en-US" altLang="en-US" sz="2800" err="1">
                <a:latin typeface="Arial" panose="02080604020202020204" pitchFamily="34" charset="0"/>
              </a:rPr>
              <a:t>变量</a:t>
            </a:r>
            <a:endParaRPr lang="en-US" altLang="en-US" sz="2800">
              <a:latin typeface="Arial" panose="0208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800" dirty="0">
                <a:latin typeface="Arial" panose="02080604020202020204" pitchFamily="34" charset="0"/>
              </a:rPr>
              <a:t>(4)  (*</a:t>
            </a:r>
            <a:r>
              <a:rPr lang="en-US" altLang="zh-CN" sz="2800">
                <a:latin typeface="Arial" panose="02080604020202020204" pitchFamily="34" charset="0"/>
              </a:rPr>
              <a:t>p)++  </a:t>
            </a:r>
            <a:r>
              <a:rPr lang="zh-CN" altLang="en-US" sz="2800" dirty="0">
                <a:latin typeface="Arial" panose="02080604020202020204" pitchFamily="34" charset="0"/>
              </a:rPr>
              <a:t>等价于 </a:t>
            </a:r>
            <a:r>
              <a:rPr lang="en-US" altLang="zh-CN" sz="2800">
                <a:latin typeface="Arial" panose="02080604020202020204" pitchFamily="34" charset="0"/>
              </a:rPr>
              <a:t>a++</a:t>
            </a:r>
            <a:endParaRPr lang="en-US" altLang="zh-CN" sz="2800">
              <a:latin typeface="Arial" panose="0208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800">
                <a:latin typeface="Arial" panose="02080604020202020204" pitchFamily="34" charset="0"/>
              </a:rPr>
              <a:t>                   </a:t>
            </a:r>
            <a:r>
              <a:rPr lang="en-US" altLang="en-US" sz="2800">
                <a:latin typeface="Arial" panose="02080604020202020204" pitchFamily="34" charset="0"/>
              </a:rPr>
              <a:t>将 </a:t>
            </a:r>
            <a:r>
              <a:rPr lang="en-US" altLang="zh-CN" sz="2800">
                <a:latin typeface="Arial" panose="02080604020202020204" pitchFamily="34" charset="0"/>
              </a:rPr>
              <a:t>p </a:t>
            </a:r>
            <a:r>
              <a:rPr lang="en-US" altLang="en-US" sz="2800" err="1">
                <a:latin typeface="Arial" panose="02080604020202020204" pitchFamily="34" charset="0"/>
              </a:rPr>
              <a:t>所指</a:t>
            </a:r>
            <a:r>
              <a:rPr lang="zh-CN" altLang="en-US" sz="2800" dirty="0">
                <a:latin typeface="Arial" panose="02080604020202020204" pitchFamily="34" charset="0"/>
              </a:rPr>
              <a:t>向</a:t>
            </a:r>
            <a:r>
              <a:rPr lang="en-US" altLang="en-US" sz="2800">
                <a:latin typeface="Arial" panose="02080604020202020204" pitchFamily="34" charset="0"/>
              </a:rPr>
              <a:t>的变量值加1</a:t>
            </a:r>
            <a:endParaRPr lang="en-US" altLang="en-US" sz="2800">
              <a:latin typeface="Arial" panose="0208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en-US" sz="2800">
                <a:latin typeface="Arial" panose="02080604020202020204" pitchFamily="34" charset="0"/>
              </a:rPr>
              <a:t>       *</a:t>
            </a:r>
            <a:r>
              <a:rPr lang="en-US" altLang="zh-CN" sz="2800">
                <a:latin typeface="Arial" panose="02080604020202020204" pitchFamily="34" charset="0"/>
              </a:rPr>
              <a:t>p++   </a:t>
            </a:r>
            <a:r>
              <a:rPr lang="zh-CN" altLang="en-US" sz="2800" dirty="0">
                <a:latin typeface="Arial" panose="02080604020202020204" pitchFamily="34" charset="0"/>
              </a:rPr>
              <a:t>等价于 </a:t>
            </a:r>
            <a:r>
              <a:rPr lang="en-US" altLang="en-US" sz="2800">
                <a:latin typeface="Arial" panose="02080604020202020204" pitchFamily="34" charset="0"/>
              </a:rPr>
              <a:t>*(</a:t>
            </a:r>
            <a:r>
              <a:rPr lang="en-US" altLang="zh-CN" sz="2800">
                <a:latin typeface="Arial" panose="02080604020202020204" pitchFamily="34" charset="0"/>
              </a:rPr>
              <a:t>p++)</a:t>
            </a:r>
            <a:endParaRPr lang="en-US" altLang="zh-CN" sz="2800">
              <a:latin typeface="Arial" panose="0208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800">
                <a:latin typeface="Arial" panose="02080604020202020204" pitchFamily="34" charset="0"/>
              </a:rPr>
              <a:t>        </a:t>
            </a:r>
            <a:r>
              <a:rPr lang="zh-CN" altLang="zh-CN" sz="2800" dirty="0">
                <a:latin typeface="Arial" panose="02080604020202020204" pitchFamily="34" charset="0"/>
              </a:rPr>
              <a:t>先取 </a:t>
            </a:r>
            <a:r>
              <a:rPr lang="zh-CN" altLang="en-US" sz="2800" dirty="0">
                <a:latin typeface="Arial" panose="02080604020202020204" pitchFamily="34" charset="0"/>
              </a:rPr>
              <a:t>*</a:t>
            </a:r>
            <a:r>
              <a:rPr lang="en-US" altLang="zh-CN" sz="2800">
                <a:latin typeface="Arial" panose="02080604020202020204" pitchFamily="34" charset="0"/>
              </a:rPr>
              <a:t>p，</a:t>
            </a:r>
            <a:r>
              <a:rPr lang="zh-CN" altLang="en-US" sz="2800" dirty="0">
                <a:latin typeface="Arial" panose="02080604020202020204" pitchFamily="34" charset="0"/>
              </a:rPr>
              <a:t>然后 </a:t>
            </a:r>
            <a:r>
              <a:rPr lang="en-US" altLang="zh-CN" sz="2800">
                <a:latin typeface="Arial" panose="02080604020202020204" pitchFamily="34" charset="0"/>
              </a:rPr>
              <a:t>p </a:t>
            </a:r>
            <a:r>
              <a:rPr lang="en-US" altLang="en-US" sz="2800" err="1">
                <a:latin typeface="Arial" panose="02080604020202020204" pitchFamily="34" charset="0"/>
              </a:rPr>
              <a:t>自</a:t>
            </a:r>
            <a:r>
              <a:rPr lang="zh-CN" altLang="en-US" sz="2800" err="1">
                <a:latin typeface="Arial" panose="02080604020202020204" pitchFamily="34" charset="0"/>
              </a:rPr>
              <a:t>增</a:t>
            </a:r>
            <a:r>
              <a:rPr lang="en-US" altLang="en-US" sz="2800">
                <a:latin typeface="Arial" panose="02080604020202020204" pitchFamily="34" charset="0"/>
              </a:rPr>
              <a:t>，</a:t>
            </a:r>
            <a:r>
              <a:rPr lang="zh-CN" altLang="en-US" sz="2800" dirty="0">
                <a:latin typeface="Arial" panose="02080604020202020204" pitchFamily="34" charset="0"/>
              </a:rPr>
              <a:t>此时</a:t>
            </a:r>
            <a:r>
              <a:rPr lang="en-US" altLang="zh-CN" sz="2800" err="1">
                <a:latin typeface="Arial" panose="02080604020202020204" pitchFamily="34" charset="0"/>
              </a:rPr>
              <a:t>p</a:t>
            </a:r>
            <a:r>
              <a:rPr lang="en-US" altLang="en-US" sz="2800" err="1">
                <a:latin typeface="Arial" panose="02080604020202020204" pitchFamily="34" charset="0"/>
              </a:rPr>
              <a:t>不再指向</a:t>
            </a:r>
            <a:r>
              <a:rPr lang="en-US" altLang="zh-CN" sz="2800" err="1">
                <a:latin typeface="Arial" panose="02080604020202020204" pitchFamily="34" charset="0"/>
              </a:rPr>
              <a:t>a</a:t>
            </a:r>
            <a:endParaRPr lang="zh-CN" altLang="en-US" sz="2800" dirty="0">
              <a:latin typeface="Arial" panose="02080604020202020204" pitchFamily="34" charset="0"/>
            </a:endParaRPr>
          </a:p>
        </p:txBody>
      </p:sp>
      <p:sp>
        <p:nvSpPr>
          <p:cNvPr id="14341" name="Rectangle 2066"/>
          <p:cNvSpPr>
            <a:spLocks noGrp="1"/>
          </p:cNvSpPr>
          <p:nvPr>
            <p:ph type="title"/>
          </p:nvPr>
        </p:nvSpPr>
        <p:spPr>
          <a:xfrm>
            <a:off x="7010400" y="200025"/>
            <a:ext cx="1600200" cy="1027113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说明 </a:t>
            </a:r>
            <a:endParaRPr lang="en-US" altLang="zh-CN" b="0">
              <a:sym typeface="+mn-ea"/>
            </a:endParaRPr>
          </a:p>
        </p:txBody>
      </p:sp>
      <p:sp>
        <p:nvSpPr>
          <p:cNvPr id="245779" name="Rectangle 2067"/>
          <p:cNvSpPr/>
          <p:nvPr/>
        </p:nvSpPr>
        <p:spPr>
          <a:xfrm>
            <a:off x="6234748" y="3644900"/>
            <a:ext cx="2526030" cy="1235075"/>
          </a:xfrm>
          <a:prstGeom prst="rect">
            <a:avLst/>
          </a:prstGeom>
          <a:noFill/>
          <a:ln w="12700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lIns="92075" tIns="46038" rIns="92075" bIns="46038">
            <a:spAutoFit/>
          </a:bodyPr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en-US" altLang="zh-CN" sz="2400" err="1">
                <a:latin typeface="Arial" panose="02080604020202020204" pitchFamily="34" charset="0"/>
              </a:rPr>
              <a:t>int</a:t>
            </a:r>
            <a:r>
              <a:rPr lang="en-US" altLang="zh-CN" sz="2400">
                <a:latin typeface="Arial" panose="02080604020202020204" pitchFamily="34" charset="0"/>
              </a:rPr>
              <a:t> a = 1, x, *p;</a:t>
            </a:r>
            <a:endParaRPr lang="en-US" altLang="zh-CN" sz="2400">
              <a:latin typeface="Arial" panose="02080604020202020204" pitchFamily="34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en-US" altLang="zh-CN" sz="2400">
                <a:latin typeface="Arial" panose="02080604020202020204" pitchFamily="34" charset="0"/>
              </a:rPr>
              <a:t>p = &amp;a;</a:t>
            </a:r>
            <a:endParaRPr lang="en-US" altLang="zh-CN" sz="2400">
              <a:latin typeface="Arial" panose="02080604020202020204" pitchFamily="34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en-US" altLang="zh-CN" sz="2400">
                <a:latin typeface="Arial" panose="02080604020202020204" pitchFamily="34" charset="0"/>
              </a:rPr>
              <a:t>x = *p++;</a:t>
            </a:r>
            <a:endParaRPr lang="en-US" altLang="zh-CN" sz="2400"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7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77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77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7">
                                            <p:txEl>
                                              <p:charRg st="25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777">
                                            <p:txEl>
                                              <p:charRg st="25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777">
                                            <p:txEl>
                                              <p:charRg st="25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7">
                                            <p:txEl>
                                              <p:charRg st="50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777">
                                            <p:txEl>
                                              <p:charRg st="50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777">
                                            <p:txEl>
                                              <p:charRg st="50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7">
                                            <p:txEl>
                                              <p:charRg st="79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777">
                                            <p:txEl>
                                              <p:charRg st="79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777">
                                            <p:txEl>
                                              <p:charRg st="79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7">
                                            <p:txEl>
                                              <p:charRg st="100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5777">
                                            <p:txEl>
                                              <p:charRg st="100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5777">
                                            <p:txEl>
                                              <p:charRg st="100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7">
                                            <p:txEl>
                                              <p:charRg st="125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5777">
                                            <p:txEl>
                                              <p:charRg st="125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5777">
                                            <p:txEl>
                                              <p:charRg st="125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7">
                                            <p:txEl>
                                              <p:charRg st="146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5777">
                                            <p:txEl>
                                              <p:charRg st="146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5777">
                                            <p:txEl>
                                              <p:charRg st="146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7">
                                            <p:txEl>
                                              <p:charRg st="179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5777">
                                            <p:txEl>
                                              <p:charRg st="179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5777">
                                            <p:txEl>
                                              <p:charRg st="179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7">
                                            <p:txEl>
                                              <p:charRg st="204" end="2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5777">
                                            <p:txEl>
                                              <p:charRg st="204" end="23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5777">
                                            <p:txEl>
                                              <p:charRg st="204" end="23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5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5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77" grpId="0" build="p"/>
      <p:bldP spid="245779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9"/>
          <p:cNvGrpSpPr/>
          <p:nvPr/>
        </p:nvGrpSpPr>
        <p:grpSpPr>
          <a:xfrm>
            <a:off x="4500563" y="1267143"/>
            <a:ext cx="4135437" cy="2211387"/>
            <a:chOff x="3104" y="623"/>
            <a:chExt cx="2605" cy="1393"/>
          </a:xfrm>
        </p:grpSpPr>
        <p:grpSp>
          <p:nvGrpSpPr>
            <p:cNvPr id="15372" name="Group 10"/>
            <p:cNvGrpSpPr/>
            <p:nvPr/>
          </p:nvGrpSpPr>
          <p:grpSpPr>
            <a:xfrm>
              <a:off x="3104" y="1343"/>
              <a:ext cx="2589" cy="673"/>
              <a:chOff x="2976" y="-1"/>
              <a:chExt cx="2589" cy="673"/>
            </a:xfrm>
          </p:grpSpPr>
          <p:grpSp>
            <p:nvGrpSpPr>
              <p:cNvPr id="15381" name="Group 11"/>
              <p:cNvGrpSpPr/>
              <p:nvPr/>
            </p:nvGrpSpPr>
            <p:grpSpPr>
              <a:xfrm>
                <a:off x="2976" y="-1"/>
                <a:ext cx="2016" cy="673"/>
                <a:chOff x="1056" y="2543"/>
                <a:chExt cx="2016" cy="673"/>
              </a:xfrm>
            </p:grpSpPr>
            <p:sp>
              <p:nvSpPr>
                <p:cNvPr id="15383" name="Rectangle 12"/>
                <p:cNvSpPr/>
                <p:nvPr/>
              </p:nvSpPr>
              <p:spPr>
                <a:xfrm>
                  <a:off x="2544" y="2646"/>
                  <a:ext cx="257" cy="3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800">
                      <a:latin typeface="Arial" panose="02080604020202020204" pitchFamily="34" charset="0"/>
                      <a:ea typeface="仿宋_GB2312" pitchFamily="49" charset="-122"/>
                    </a:rPr>
                    <a:t>b</a:t>
                  </a:r>
                  <a:endParaRPr lang="en-US" altLang="zh-CN" sz="2800">
                    <a:latin typeface="Arial" panose="02080604020202020204" pitchFamily="34" charset="0"/>
                    <a:ea typeface="仿宋_GB2312" pitchFamily="49" charset="-122"/>
                  </a:endParaRPr>
                </a:p>
              </p:txBody>
            </p:sp>
            <p:sp>
              <p:nvSpPr>
                <p:cNvPr id="15384" name="Rectangle 13"/>
                <p:cNvSpPr/>
                <p:nvPr/>
              </p:nvSpPr>
              <p:spPr>
                <a:xfrm>
                  <a:off x="2304" y="2928"/>
                  <a:ext cx="768" cy="288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zh-CN" altLang="en-US" sz="3200" dirty="0">
                      <a:latin typeface="Arial" panose="02080604020202020204" pitchFamily="34" charset="0"/>
                    </a:rPr>
                    <a:t>2</a:t>
                  </a:r>
                  <a:endParaRPr lang="zh-CN" altLang="en-US" sz="3200" dirty="0">
                    <a:latin typeface="Arial" panose="02080604020202020204" pitchFamily="34" charset="0"/>
                  </a:endParaRPr>
                </a:p>
              </p:txBody>
            </p:sp>
            <p:sp>
              <p:nvSpPr>
                <p:cNvPr id="15385" name="Rectangle 14"/>
                <p:cNvSpPr/>
                <p:nvPr/>
              </p:nvSpPr>
              <p:spPr>
                <a:xfrm>
                  <a:off x="1056" y="2928"/>
                  <a:ext cx="768" cy="288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zh-CN" altLang="en-US" sz="2800" dirty="0">
                      <a:latin typeface="Arial" panose="02080604020202020204" pitchFamily="34" charset="0"/>
                      <a:ea typeface="仿宋_GB2312" pitchFamily="49" charset="-122"/>
                    </a:rPr>
                    <a:t>&amp;</a:t>
                  </a:r>
                  <a:r>
                    <a:rPr lang="en-US" altLang="zh-CN" sz="2800">
                      <a:latin typeface="Arial" panose="02080604020202020204" pitchFamily="34" charset="0"/>
                      <a:ea typeface="仿宋_GB2312" pitchFamily="49" charset="-122"/>
                    </a:rPr>
                    <a:t>b</a:t>
                  </a:r>
                  <a:endParaRPr lang="en-US" altLang="zh-CN" sz="3200">
                    <a:latin typeface="Arial" panose="02080604020202020204" pitchFamily="34" charset="0"/>
                  </a:endParaRPr>
                </a:p>
              </p:txBody>
            </p:sp>
            <p:sp>
              <p:nvSpPr>
                <p:cNvPr id="15386" name="Rectangle 15"/>
                <p:cNvSpPr/>
                <p:nvPr/>
              </p:nvSpPr>
              <p:spPr>
                <a:xfrm>
                  <a:off x="1344" y="2543"/>
                  <a:ext cx="400" cy="3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800">
                      <a:latin typeface="Arial" panose="02080604020202020204" pitchFamily="34" charset="0"/>
                      <a:ea typeface="仿宋_GB2312" pitchFamily="49" charset="-122"/>
                    </a:rPr>
                    <a:t>p2</a:t>
                  </a:r>
                  <a:endParaRPr lang="en-US" altLang="zh-CN" sz="2800">
                    <a:latin typeface="Arial" panose="02080604020202020204" pitchFamily="34" charset="0"/>
                    <a:ea typeface="仿宋_GB2312" pitchFamily="49" charset="-122"/>
                  </a:endParaRPr>
                </a:p>
              </p:txBody>
            </p:sp>
            <p:sp>
              <p:nvSpPr>
                <p:cNvPr id="15387" name="Line 16"/>
                <p:cNvSpPr/>
                <p:nvPr/>
              </p:nvSpPr>
              <p:spPr>
                <a:xfrm>
                  <a:off x="1824" y="3072"/>
                  <a:ext cx="480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15382" name="Rectangle 17"/>
              <p:cNvSpPr/>
              <p:nvPr/>
            </p:nvSpPr>
            <p:spPr>
              <a:xfrm>
                <a:off x="5056" y="335"/>
                <a:ext cx="509" cy="33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pPr algn="ctr"/>
                <a:r>
                  <a:rPr lang="en-US" altLang="en-US" sz="2800">
                    <a:latin typeface="Arial" panose="02080604020202020204" pitchFamily="34" charset="0"/>
                    <a:ea typeface="仿宋_GB2312" pitchFamily="49" charset="-122"/>
                  </a:rPr>
                  <a:t>*</a:t>
                </a:r>
                <a:r>
                  <a:rPr lang="en-US" altLang="zh-CN" sz="2800">
                    <a:latin typeface="Arial" panose="02080604020202020204" pitchFamily="34" charset="0"/>
                    <a:ea typeface="仿宋_GB2312" pitchFamily="49" charset="-122"/>
                  </a:rPr>
                  <a:t>p2</a:t>
                </a:r>
                <a:endParaRPr lang="en-US" altLang="zh-CN" sz="2800">
                  <a:latin typeface="Arial" panose="02080604020202020204" pitchFamily="34" charset="0"/>
                  <a:ea typeface="仿宋_GB2312" pitchFamily="49" charset="-122"/>
                </a:endParaRPr>
              </a:p>
            </p:txBody>
          </p:sp>
        </p:grpSp>
        <p:grpSp>
          <p:nvGrpSpPr>
            <p:cNvPr id="15373" name="Group 18"/>
            <p:cNvGrpSpPr/>
            <p:nvPr/>
          </p:nvGrpSpPr>
          <p:grpSpPr>
            <a:xfrm>
              <a:off x="3120" y="623"/>
              <a:ext cx="2589" cy="673"/>
              <a:chOff x="3072" y="95"/>
              <a:chExt cx="2589" cy="673"/>
            </a:xfrm>
          </p:grpSpPr>
          <p:grpSp>
            <p:nvGrpSpPr>
              <p:cNvPr id="15374" name="Group 19"/>
              <p:cNvGrpSpPr/>
              <p:nvPr/>
            </p:nvGrpSpPr>
            <p:grpSpPr>
              <a:xfrm>
                <a:off x="3072" y="95"/>
                <a:ext cx="2016" cy="673"/>
                <a:chOff x="1056" y="2543"/>
                <a:chExt cx="2016" cy="673"/>
              </a:xfrm>
            </p:grpSpPr>
            <p:sp>
              <p:nvSpPr>
                <p:cNvPr id="15376" name="Rectangle 20"/>
                <p:cNvSpPr/>
                <p:nvPr/>
              </p:nvSpPr>
              <p:spPr>
                <a:xfrm>
                  <a:off x="2544" y="2591"/>
                  <a:ext cx="252" cy="3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800">
                      <a:latin typeface="Arial" panose="02080604020202020204" pitchFamily="34" charset="0"/>
                      <a:ea typeface="仿宋_GB2312" pitchFamily="49" charset="-122"/>
                    </a:rPr>
                    <a:t>a</a:t>
                  </a:r>
                  <a:endParaRPr lang="en-US" altLang="zh-CN" sz="2800">
                    <a:latin typeface="Arial" panose="02080604020202020204" pitchFamily="34" charset="0"/>
                    <a:ea typeface="仿宋_GB2312" pitchFamily="49" charset="-122"/>
                  </a:endParaRPr>
                </a:p>
              </p:txBody>
            </p:sp>
            <p:sp>
              <p:nvSpPr>
                <p:cNvPr id="15377" name="Rectangle 21"/>
                <p:cNvSpPr/>
                <p:nvPr/>
              </p:nvSpPr>
              <p:spPr>
                <a:xfrm>
                  <a:off x="2304" y="2928"/>
                  <a:ext cx="768" cy="288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zh-CN" altLang="en-US" sz="2800" dirty="0">
                      <a:latin typeface="Arial" panose="02080604020202020204" pitchFamily="34" charset="0"/>
                      <a:ea typeface="仿宋_GB2312" pitchFamily="49" charset="-122"/>
                    </a:rPr>
                    <a:t>1</a:t>
                  </a:r>
                  <a:endParaRPr lang="zh-CN" altLang="en-US" sz="2800" dirty="0">
                    <a:latin typeface="Arial" panose="02080604020202020204" pitchFamily="34" charset="0"/>
                    <a:ea typeface="仿宋_GB2312" pitchFamily="49" charset="-122"/>
                  </a:endParaRPr>
                </a:p>
              </p:txBody>
            </p:sp>
            <p:sp>
              <p:nvSpPr>
                <p:cNvPr id="15378" name="Rectangle 22"/>
                <p:cNvSpPr/>
                <p:nvPr/>
              </p:nvSpPr>
              <p:spPr>
                <a:xfrm>
                  <a:off x="1056" y="2928"/>
                  <a:ext cx="768" cy="288"/>
                </a:xfrm>
                <a:prstGeom prst="rect">
                  <a:avLst/>
                </a:prstGeom>
                <a:noFill/>
                <a:ln w="127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zh-CN" altLang="en-US" sz="2800" dirty="0">
                      <a:latin typeface="Arial" panose="02080604020202020204" pitchFamily="34" charset="0"/>
                      <a:ea typeface="仿宋_GB2312" pitchFamily="49" charset="-122"/>
                    </a:rPr>
                    <a:t>&amp;</a:t>
                  </a:r>
                  <a:r>
                    <a:rPr lang="en-US" altLang="zh-CN" sz="2800">
                      <a:latin typeface="Arial" panose="02080604020202020204" pitchFamily="34" charset="0"/>
                      <a:ea typeface="仿宋_GB2312" pitchFamily="49" charset="-122"/>
                    </a:rPr>
                    <a:t>a</a:t>
                  </a:r>
                  <a:endParaRPr lang="en-US" altLang="zh-CN" sz="2800">
                    <a:latin typeface="Arial" panose="02080604020202020204" pitchFamily="34" charset="0"/>
                    <a:ea typeface="仿宋_GB2312" pitchFamily="49" charset="-122"/>
                  </a:endParaRPr>
                </a:p>
              </p:txBody>
            </p:sp>
            <p:sp>
              <p:nvSpPr>
                <p:cNvPr id="15379" name="Rectangle 23"/>
                <p:cNvSpPr/>
                <p:nvPr/>
              </p:nvSpPr>
              <p:spPr>
                <a:xfrm>
                  <a:off x="1344" y="2543"/>
                  <a:ext cx="400" cy="32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800">
                      <a:latin typeface="Arial" panose="02080604020202020204" pitchFamily="34" charset="0"/>
                      <a:ea typeface="仿宋_GB2312" pitchFamily="49" charset="-122"/>
                    </a:rPr>
                    <a:t>p1</a:t>
                  </a:r>
                  <a:endParaRPr lang="en-US" altLang="zh-CN" sz="2800">
                    <a:latin typeface="Arial" panose="02080604020202020204" pitchFamily="34" charset="0"/>
                    <a:ea typeface="仿宋_GB2312" pitchFamily="49" charset="-122"/>
                  </a:endParaRPr>
                </a:p>
              </p:txBody>
            </p:sp>
            <p:sp>
              <p:nvSpPr>
                <p:cNvPr id="15380" name="Line 24"/>
                <p:cNvSpPr/>
                <p:nvPr/>
              </p:nvSpPr>
              <p:spPr>
                <a:xfrm>
                  <a:off x="1824" y="3072"/>
                  <a:ext cx="480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15375" name="Rectangle 25"/>
              <p:cNvSpPr/>
              <p:nvPr/>
            </p:nvSpPr>
            <p:spPr>
              <a:xfrm>
                <a:off x="5152" y="431"/>
                <a:ext cx="509" cy="33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pPr algn="ctr"/>
                <a:r>
                  <a:rPr lang="en-US" altLang="en-US" sz="2800">
                    <a:latin typeface="Arial" panose="02080604020202020204" pitchFamily="34" charset="0"/>
                    <a:ea typeface="仿宋_GB2312" pitchFamily="49" charset="-122"/>
                  </a:rPr>
                  <a:t>*</a:t>
                </a:r>
                <a:r>
                  <a:rPr lang="en-US" altLang="zh-CN" sz="2800">
                    <a:latin typeface="Arial" panose="02080604020202020204" pitchFamily="34" charset="0"/>
                    <a:ea typeface="仿宋_GB2312" pitchFamily="49" charset="-122"/>
                  </a:rPr>
                  <a:t>p1</a:t>
                </a:r>
                <a:endParaRPr lang="en-US" altLang="zh-CN" sz="2800">
                  <a:latin typeface="Arial" panose="02080604020202020204" pitchFamily="34" charset="0"/>
                  <a:ea typeface="仿宋_GB2312" pitchFamily="49" charset="-122"/>
                </a:endParaRPr>
              </a:p>
            </p:txBody>
          </p:sp>
        </p:grpSp>
      </p:grpSp>
      <p:grpSp>
        <p:nvGrpSpPr>
          <p:cNvPr id="7" name="Group 34"/>
          <p:cNvGrpSpPr/>
          <p:nvPr/>
        </p:nvGrpSpPr>
        <p:grpSpPr>
          <a:xfrm>
            <a:off x="6877050" y="1879918"/>
            <a:ext cx="381000" cy="1620838"/>
            <a:chOff x="4704" y="912"/>
            <a:chExt cx="240" cy="1021"/>
          </a:xfrm>
        </p:grpSpPr>
        <p:sp>
          <p:nvSpPr>
            <p:cNvPr id="15370" name="Text Box 35"/>
            <p:cNvSpPr txBox="1"/>
            <p:nvPr/>
          </p:nvSpPr>
          <p:spPr>
            <a:xfrm>
              <a:off x="4704" y="912"/>
              <a:ext cx="240" cy="301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lIns="92075" tIns="46038" rIns="92075" bIns="46038">
              <a:spAutoFit/>
            </a:bodyPr>
            <a:p>
              <a:pPr algn="just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80000"/>
              </a:pPr>
              <a:r>
                <a:rPr lang="zh-CN" altLang="en-US" sz="2800" dirty="0">
                  <a:latin typeface="Arial" panose="02080604020202020204" pitchFamily="34" charset="0"/>
                </a:rPr>
                <a:t>2</a:t>
              </a:r>
              <a:endParaRPr lang="zh-CN" altLang="en-US" sz="2800" dirty="0">
                <a:latin typeface="Arial" panose="02080604020202020204" pitchFamily="34" charset="0"/>
              </a:endParaRPr>
            </a:p>
          </p:txBody>
        </p:sp>
        <p:sp>
          <p:nvSpPr>
            <p:cNvPr id="15371" name="Text Box 36"/>
            <p:cNvSpPr txBox="1"/>
            <p:nvPr/>
          </p:nvSpPr>
          <p:spPr>
            <a:xfrm>
              <a:off x="4704" y="1632"/>
              <a:ext cx="240" cy="301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lIns="92075" tIns="46038" rIns="92075" bIns="46038">
              <a:spAutoFit/>
            </a:bodyPr>
            <a:p>
              <a:pPr algn="just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80000"/>
              </a:pPr>
              <a:r>
                <a:rPr lang="zh-CN" altLang="en-US" sz="2800" dirty="0">
                  <a:latin typeface="Arial" panose="02080604020202020204" pitchFamily="34" charset="0"/>
                </a:rPr>
                <a:t>1</a:t>
              </a:r>
              <a:endParaRPr lang="zh-CN" altLang="en-US" sz="2800" dirty="0">
                <a:latin typeface="Arial" panose="02080604020202020204" pitchFamily="34" charset="0"/>
              </a:endParaRPr>
            </a:p>
          </p:txBody>
        </p:sp>
      </p:grpSp>
      <p:sp>
        <p:nvSpPr>
          <p:cNvPr id="15365" name="Rectangle 27"/>
          <p:cNvSpPr/>
          <p:nvPr/>
        </p:nvSpPr>
        <p:spPr>
          <a:xfrm>
            <a:off x="34925" y="1093788"/>
            <a:ext cx="8950325" cy="489140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# include &lt;</a:t>
            </a:r>
            <a:r>
              <a:rPr sz="2400">
                <a:latin typeface="+mn-ea"/>
                <a:cs typeface="+mn-ea"/>
                <a:sym typeface="+mn-ea"/>
              </a:rPr>
              <a:t>stdio.h</a:t>
            </a:r>
            <a:r>
              <a:rPr sz="2400">
                <a:latin typeface="+mn-ea"/>
                <a:cs typeface="+mn-ea"/>
                <a:sym typeface="+mn-ea"/>
              </a:rPr>
              <a:t>&gt;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int</a:t>
            </a:r>
            <a:r>
              <a:rPr sz="2400">
                <a:latin typeface="+mn-ea"/>
                <a:cs typeface="+mn-ea"/>
                <a:sym typeface="+mn-ea"/>
              </a:rPr>
              <a:t> main (void)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{   </a:t>
            </a:r>
            <a:r>
              <a:rPr sz="2400">
                <a:latin typeface="+mn-ea"/>
                <a:cs typeface="+mn-ea"/>
                <a:sym typeface="+mn-ea"/>
              </a:rPr>
              <a:t>int</a:t>
            </a:r>
            <a:r>
              <a:rPr sz="2400">
                <a:latin typeface="+mn-ea"/>
                <a:cs typeface="+mn-ea"/>
                <a:sym typeface="+mn-ea"/>
              </a:rPr>
              <a:t> a = 1, b = 2, t;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 </a:t>
            </a:r>
            <a:r>
              <a:rPr sz="2400">
                <a:latin typeface="+mn-ea"/>
                <a:cs typeface="+mn-ea"/>
                <a:sym typeface="+mn-ea"/>
              </a:rPr>
              <a:t>int</a:t>
            </a:r>
            <a:r>
              <a:rPr sz="2400">
                <a:latin typeface="+mn-ea"/>
                <a:cs typeface="+mn-ea"/>
                <a:sym typeface="+mn-ea"/>
              </a:rPr>
              <a:t> *p1, *p2;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 p1 = &amp;a; p2 = &amp;b; 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</a:t>
            </a:r>
            <a:r>
              <a:rPr sz="2400">
                <a:latin typeface="+mn-ea"/>
                <a:cs typeface="+mn-ea"/>
                <a:sym typeface="+mn-ea"/>
              </a:rPr>
              <a:t>printf</a:t>
            </a:r>
            <a:r>
              <a:rPr sz="2400">
                <a:latin typeface="+mn-ea"/>
                <a:cs typeface="+mn-ea"/>
                <a:sym typeface="+mn-ea"/>
              </a:rPr>
              <a:t> (</a:t>
            </a:r>
            <a:r>
              <a:rPr sz="2400">
                <a:latin typeface="+mn-ea"/>
                <a:cs typeface="+mn-ea"/>
                <a:sym typeface="+mn-ea"/>
              </a:rPr>
              <a:t>"</a:t>
            </a:r>
            <a:r>
              <a:rPr sz="2400">
                <a:latin typeface="+mn-ea"/>
                <a:cs typeface="+mn-ea"/>
                <a:sym typeface="+mn-ea"/>
              </a:rPr>
              <a:t>a=%d, b=%d, *p1=%d, *p2=%</a:t>
            </a:r>
            <a:r>
              <a:rPr sz="2400">
                <a:latin typeface="+mn-ea"/>
                <a:cs typeface="+mn-ea"/>
                <a:sym typeface="+mn-ea"/>
              </a:rPr>
              <a:t>d\n</a:t>
            </a:r>
            <a:r>
              <a:rPr sz="2400">
                <a:latin typeface="+mn-ea"/>
                <a:cs typeface="+mn-ea"/>
                <a:sym typeface="+mn-ea"/>
              </a:rPr>
              <a:t>"</a:t>
            </a:r>
            <a:r>
              <a:rPr sz="2400">
                <a:latin typeface="+mn-ea"/>
                <a:cs typeface="+mn-ea"/>
                <a:sym typeface="+mn-ea"/>
              </a:rPr>
              <a:t>, a, b, *p1, *p2);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 t = *p1; *p1 = *p2; * p2 = t;	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 </a:t>
            </a:r>
            <a:r>
              <a:rPr sz="2400">
                <a:latin typeface="+mn-ea"/>
                <a:cs typeface="+mn-ea"/>
                <a:sym typeface="+mn-ea"/>
              </a:rPr>
              <a:t>printf</a:t>
            </a:r>
            <a:r>
              <a:rPr sz="2400">
                <a:latin typeface="+mn-ea"/>
                <a:cs typeface="+mn-ea"/>
                <a:sym typeface="+mn-ea"/>
              </a:rPr>
              <a:t> (</a:t>
            </a:r>
            <a:r>
              <a:rPr sz="2400">
                <a:latin typeface="+mn-ea"/>
                <a:cs typeface="+mn-ea"/>
                <a:sym typeface="+mn-ea"/>
              </a:rPr>
              <a:t>"</a:t>
            </a:r>
            <a:r>
              <a:rPr sz="2400">
                <a:latin typeface="+mn-ea"/>
                <a:cs typeface="+mn-ea"/>
                <a:sym typeface="+mn-ea"/>
              </a:rPr>
              <a:t>a=%d, b=%d, *p1=%d, *p2=%</a:t>
            </a:r>
            <a:r>
              <a:rPr sz="2400">
                <a:latin typeface="+mn-ea"/>
                <a:cs typeface="+mn-ea"/>
                <a:sym typeface="+mn-ea"/>
              </a:rPr>
              <a:t>d\n</a:t>
            </a:r>
            <a:r>
              <a:rPr sz="2400">
                <a:latin typeface="+mn-ea"/>
                <a:cs typeface="+mn-ea"/>
                <a:sym typeface="+mn-ea"/>
              </a:rPr>
              <a:t>"</a:t>
            </a:r>
            <a:r>
              <a:rPr sz="2400">
                <a:latin typeface="+mn-ea"/>
                <a:cs typeface="+mn-ea"/>
                <a:sym typeface="+mn-ea"/>
              </a:rPr>
              <a:t>, a, b, *p1, *p2);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    return 0;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} </a:t>
            </a:r>
            <a:endParaRPr sz="2400">
              <a:latin typeface="+mn-ea"/>
              <a:cs typeface="+mn-ea"/>
              <a:sym typeface="+mn-ea"/>
            </a:endParaRPr>
          </a:p>
        </p:txBody>
      </p:sp>
      <p:sp>
        <p:nvSpPr>
          <p:cNvPr id="246810" name="Line 26"/>
          <p:cNvSpPr/>
          <p:nvPr/>
        </p:nvSpPr>
        <p:spPr>
          <a:xfrm>
            <a:off x="539750" y="3743325"/>
            <a:ext cx="2590800" cy="0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67" name="Rectangle 28"/>
          <p:cNvSpPr/>
          <p:nvPr/>
        </p:nvSpPr>
        <p:spPr>
          <a:xfrm>
            <a:off x="228600" y="209550"/>
            <a:ext cx="8153400" cy="8001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sz="4400" kern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例8-3  通过</a:t>
            </a:r>
            <a:r>
              <a:rPr lang="en-US" altLang="zh-CN" sz="4400" kern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指针改变变量的值</a:t>
            </a:r>
            <a:endParaRPr lang="en-US" altLang="zh-CN" sz="4400" kern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246813" name="Line 29"/>
          <p:cNvSpPr/>
          <p:nvPr/>
        </p:nvSpPr>
        <p:spPr>
          <a:xfrm>
            <a:off x="612775" y="4581525"/>
            <a:ext cx="3657600" cy="0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6821" name="Rectangle 37"/>
          <p:cNvSpPr/>
          <p:nvPr/>
        </p:nvSpPr>
        <p:spPr>
          <a:xfrm>
            <a:off x="3769360" y="5085080"/>
            <a:ext cx="5046980" cy="82994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p>
            <a:pPr algn="just"/>
            <a:r>
              <a:rPr lang="en-US" altLang="zh-CN" sz="2400">
                <a:latin typeface="Arial" panose="02080604020202020204" pitchFamily="34" charset="0"/>
              </a:rPr>
              <a:t>a = 1, b = 2, *p1 = 1, *p2 = 2</a:t>
            </a:r>
            <a:endParaRPr lang="en-US" altLang="zh-CN" sz="2400">
              <a:latin typeface="Arial" panose="02080604020202020204" pitchFamily="34" charset="0"/>
            </a:endParaRPr>
          </a:p>
          <a:p>
            <a:r>
              <a:rPr lang="en-US" altLang="zh-CN" sz="2400">
                <a:latin typeface="Arial" panose="02080604020202020204" pitchFamily="34" charset="0"/>
              </a:rPr>
              <a:t>a = 2, b = 1, *p1 = 2, *p2 = 1 </a:t>
            </a:r>
            <a:endParaRPr lang="en-US" altLang="zh-CN" sz="2400"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6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6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6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6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6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6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821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7" name="Rectangle 13"/>
          <p:cNvSpPr>
            <a:spLocks noGrp="1"/>
          </p:cNvSpPr>
          <p:nvPr>
            <p:ph type="title"/>
          </p:nvPr>
        </p:nvSpPr>
        <p:spPr>
          <a:xfrm>
            <a:off x="304800" y="414338"/>
            <a:ext cx="4419600" cy="6858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2、赋值运算</a:t>
            </a:r>
            <a:endParaRPr lang="en-US" altLang="zh-CN" b="0">
              <a:sym typeface="+mn-ea"/>
            </a:endParaRPr>
          </a:p>
        </p:txBody>
      </p:sp>
      <p:grpSp>
        <p:nvGrpSpPr>
          <p:cNvPr id="16388" name="Group 14"/>
          <p:cNvGrpSpPr/>
          <p:nvPr/>
        </p:nvGrpSpPr>
        <p:grpSpPr>
          <a:xfrm>
            <a:off x="4114800" y="3733800"/>
            <a:ext cx="3200400" cy="1068388"/>
            <a:chOff x="1056" y="2543"/>
            <a:chExt cx="2016" cy="673"/>
          </a:xfrm>
        </p:grpSpPr>
        <p:sp>
          <p:nvSpPr>
            <p:cNvPr id="16396" name="Rectangle 15"/>
            <p:cNvSpPr/>
            <p:nvPr/>
          </p:nvSpPr>
          <p:spPr>
            <a:xfrm>
              <a:off x="2544" y="2591"/>
              <a:ext cx="252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2800">
                  <a:latin typeface="Arial" panose="02080604020202020204" pitchFamily="34" charset="0"/>
                  <a:ea typeface="楷体_GB2312" pitchFamily="49" charset="-122"/>
                </a:rPr>
                <a:t>a</a:t>
              </a:r>
              <a:endParaRPr lang="en-US" altLang="zh-CN" sz="2800">
                <a:latin typeface="Arial" panose="02080604020202020204" pitchFamily="34" charset="0"/>
                <a:ea typeface="楷体_GB2312" pitchFamily="49" charset="-122"/>
              </a:endParaRPr>
            </a:p>
          </p:txBody>
        </p:sp>
        <p:sp>
          <p:nvSpPr>
            <p:cNvPr id="16397" name="Rectangle 16"/>
            <p:cNvSpPr/>
            <p:nvPr/>
          </p:nvSpPr>
          <p:spPr>
            <a:xfrm>
              <a:off x="2304" y="2928"/>
              <a:ext cx="768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800" dirty="0">
                  <a:latin typeface="Arial" panose="02080604020202020204" pitchFamily="34" charset="0"/>
                  <a:ea typeface="楷体_GB2312" pitchFamily="49" charset="-122"/>
                </a:rPr>
                <a:t>3</a:t>
              </a:r>
              <a:endParaRPr lang="zh-CN" altLang="en-US" sz="2800" dirty="0">
                <a:latin typeface="Arial" panose="02080604020202020204" pitchFamily="34" charset="0"/>
                <a:ea typeface="楷体_GB2312" pitchFamily="49" charset="-122"/>
              </a:endParaRPr>
            </a:p>
          </p:txBody>
        </p:sp>
        <p:sp>
          <p:nvSpPr>
            <p:cNvPr id="16398" name="Rectangle 17"/>
            <p:cNvSpPr/>
            <p:nvPr/>
          </p:nvSpPr>
          <p:spPr>
            <a:xfrm>
              <a:off x="1056" y="2928"/>
              <a:ext cx="768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800" dirty="0">
                  <a:latin typeface="Arial" panose="02080604020202020204" pitchFamily="34" charset="0"/>
                  <a:ea typeface="楷体_GB2312" pitchFamily="49" charset="-122"/>
                </a:rPr>
                <a:t>&amp;</a:t>
              </a:r>
              <a:r>
                <a:rPr lang="en-US" altLang="zh-CN" sz="2800">
                  <a:latin typeface="Arial" panose="02080604020202020204" pitchFamily="34" charset="0"/>
                  <a:ea typeface="楷体_GB2312" pitchFamily="49" charset="-122"/>
                </a:rPr>
                <a:t>a</a:t>
              </a:r>
              <a:endParaRPr lang="en-US" altLang="zh-CN" sz="2800">
                <a:latin typeface="Arial" panose="02080604020202020204" pitchFamily="34" charset="0"/>
                <a:ea typeface="楷体_GB2312" pitchFamily="49" charset="-122"/>
              </a:endParaRPr>
            </a:p>
          </p:txBody>
        </p:sp>
        <p:sp>
          <p:nvSpPr>
            <p:cNvPr id="16399" name="Rectangle 18"/>
            <p:cNvSpPr/>
            <p:nvPr/>
          </p:nvSpPr>
          <p:spPr>
            <a:xfrm>
              <a:off x="1200" y="2543"/>
              <a:ext cx="400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2800">
                  <a:latin typeface="Arial" panose="02080604020202020204" pitchFamily="34" charset="0"/>
                  <a:ea typeface="楷体_GB2312" pitchFamily="49" charset="-122"/>
                </a:rPr>
                <a:t>p1</a:t>
              </a:r>
              <a:endParaRPr lang="en-US" altLang="zh-CN" sz="2800">
                <a:latin typeface="Arial" panose="02080604020202020204" pitchFamily="34" charset="0"/>
                <a:ea typeface="楷体_GB2312" pitchFamily="49" charset="-122"/>
              </a:endParaRPr>
            </a:p>
          </p:txBody>
        </p:sp>
        <p:sp>
          <p:nvSpPr>
            <p:cNvPr id="16400" name="Line 19"/>
            <p:cNvSpPr/>
            <p:nvPr/>
          </p:nvSpPr>
          <p:spPr>
            <a:xfrm>
              <a:off x="1824" y="3072"/>
              <a:ext cx="4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6389" name="Group 21"/>
          <p:cNvGrpSpPr/>
          <p:nvPr/>
        </p:nvGrpSpPr>
        <p:grpSpPr>
          <a:xfrm>
            <a:off x="3962400" y="4802188"/>
            <a:ext cx="2057400" cy="1371600"/>
            <a:chOff x="960" y="3216"/>
            <a:chExt cx="1296" cy="864"/>
          </a:xfrm>
        </p:grpSpPr>
        <p:sp>
          <p:nvSpPr>
            <p:cNvPr id="16393" name="Rectangle 22"/>
            <p:cNvSpPr/>
            <p:nvPr/>
          </p:nvSpPr>
          <p:spPr>
            <a:xfrm>
              <a:off x="960" y="3792"/>
              <a:ext cx="768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800" dirty="0">
                  <a:latin typeface="Arial" panose="02080604020202020204" pitchFamily="34" charset="0"/>
                  <a:ea typeface="楷体_GB2312" pitchFamily="49" charset="-122"/>
                </a:rPr>
                <a:t>&amp;</a:t>
              </a:r>
              <a:r>
                <a:rPr lang="en-US" altLang="zh-CN" sz="2800">
                  <a:latin typeface="Arial" panose="02080604020202020204" pitchFamily="34" charset="0"/>
                  <a:ea typeface="楷体_GB2312" pitchFamily="49" charset="-122"/>
                </a:rPr>
                <a:t>a</a:t>
              </a:r>
              <a:endParaRPr lang="en-US" altLang="zh-CN" sz="3200">
                <a:latin typeface="Arial" panose="02080604020202020204" pitchFamily="34" charset="0"/>
              </a:endParaRPr>
            </a:p>
          </p:txBody>
        </p:sp>
        <p:sp>
          <p:nvSpPr>
            <p:cNvPr id="16394" name="Rectangle 23"/>
            <p:cNvSpPr/>
            <p:nvPr/>
          </p:nvSpPr>
          <p:spPr>
            <a:xfrm>
              <a:off x="1104" y="3407"/>
              <a:ext cx="400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2800">
                  <a:latin typeface="Arial" panose="02080604020202020204" pitchFamily="34" charset="0"/>
                  <a:ea typeface="楷体_GB2312" pitchFamily="49" charset="-122"/>
                </a:rPr>
                <a:t>p2</a:t>
              </a:r>
              <a:endParaRPr lang="en-US" altLang="zh-CN" sz="2800">
                <a:latin typeface="Arial" panose="02080604020202020204" pitchFamily="34" charset="0"/>
                <a:ea typeface="楷体_GB2312" pitchFamily="49" charset="-122"/>
              </a:endParaRPr>
            </a:p>
          </p:txBody>
        </p:sp>
        <p:sp>
          <p:nvSpPr>
            <p:cNvPr id="16395" name="Line 24"/>
            <p:cNvSpPr/>
            <p:nvPr/>
          </p:nvSpPr>
          <p:spPr>
            <a:xfrm flipV="1">
              <a:off x="1776" y="3216"/>
              <a:ext cx="480" cy="72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48857" name="Text Box 25"/>
          <p:cNvSpPr txBox="1"/>
          <p:nvPr/>
        </p:nvSpPr>
        <p:spPr>
          <a:xfrm>
            <a:off x="7594283" y="3926999"/>
            <a:ext cx="937260" cy="1231265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46800" rIns="90000" bIns="4680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800" dirty="0">
                <a:latin typeface="Arial" panose="02080604020202020204" pitchFamily="34" charset="0"/>
                <a:ea typeface="楷体_GB2312" pitchFamily="49" charset="-122"/>
              </a:rPr>
              <a:t>*</a:t>
            </a:r>
            <a:r>
              <a:rPr lang="en-US" altLang="zh-CN" sz="2800">
                <a:latin typeface="Arial" panose="02080604020202020204" pitchFamily="34" charset="0"/>
                <a:ea typeface="楷体_GB2312" pitchFamily="49" charset="-122"/>
              </a:rPr>
              <a:t>p1</a:t>
            </a:r>
            <a:r>
              <a:rPr lang="en-US" altLang="zh-CN" sz="3200">
                <a:latin typeface="Arial" panose="02080604020202020204" pitchFamily="34" charset="0"/>
              </a:rPr>
              <a:t> </a:t>
            </a:r>
            <a:endParaRPr lang="en-US" altLang="zh-CN" sz="3200">
              <a:latin typeface="Arial" panose="02080604020202020204" pitchFamily="34" charset="0"/>
            </a:endParaRPr>
          </a:p>
          <a:p>
            <a:pPr algn="ctr">
              <a:spcBef>
                <a:spcPct val="50000"/>
              </a:spcBef>
            </a:pPr>
            <a:r>
              <a:rPr lang="en-US" altLang="zh-CN" sz="2800">
                <a:latin typeface="Arial" panose="02080604020202020204" pitchFamily="34" charset="0"/>
                <a:ea typeface="楷体_GB2312" pitchFamily="49" charset="-122"/>
              </a:rPr>
              <a:t>*p2</a:t>
            </a:r>
            <a:endParaRPr lang="en-US" altLang="zh-CN" sz="2800">
              <a:latin typeface="Arial" panose="02080604020202020204" pitchFamily="34" charset="0"/>
              <a:ea typeface="楷体_GB2312" pitchFamily="49" charset="-122"/>
            </a:endParaRPr>
          </a:p>
        </p:txBody>
      </p:sp>
      <p:sp>
        <p:nvSpPr>
          <p:cNvPr id="248858" name="Rectangle 26"/>
          <p:cNvSpPr>
            <a:spLocks noGrp="1"/>
          </p:cNvSpPr>
          <p:nvPr>
            <p:ph idx="1"/>
          </p:nvPr>
        </p:nvSpPr>
        <p:spPr>
          <a:xfrm>
            <a:off x="609600" y="1219200"/>
            <a:ext cx="7707313" cy="2857500"/>
          </a:xfrm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b="0" err="1"/>
              <a:t>int</a:t>
            </a:r>
            <a:r>
              <a:rPr lang="en-US" altLang="zh-CN" b="0"/>
              <a:t> a = 3, *p1, *p2;</a:t>
            </a:r>
            <a:endParaRPr lang="en-US" altLang="zh-CN" b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b="0"/>
              <a:t>p1 = &amp;a;  </a:t>
            </a:r>
            <a:endParaRPr lang="en-US" altLang="zh-CN" b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en-US" b="0"/>
              <a:t>把 </a:t>
            </a:r>
            <a:r>
              <a:rPr lang="en-US" altLang="zh-CN" b="0"/>
              <a:t>a </a:t>
            </a:r>
            <a:r>
              <a:rPr lang="en-US" altLang="en-US" b="0" err="1"/>
              <a:t>的地址赋给</a:t>
            </a:r>
            <a:r>
              <a:rPr lang="en-US" altLang="en-US" b="0"/>
              <a:t> </a:t>
            </a:r>
            <a:r>
              <a:rPr lang="en-US" altLang="zh-CN" b="0"/>
              <a:t>p1，</a:t>
            </a:r>
            <a:r>
              <a:rPr lang="zh-CN" altLang="en-US" b="0" dirty="0"/>
              <a:t>即 </a:t>
            </a:r>
            <a:r>
              <a:rPr lang="en-US" altLang="zh-CN" b="0"/>
              <a:t>p1 </a:t>
            </a:r>
            <a:r>
              <a:rPr lang="zh-CN" altLang="en-US" b="0" dirty="0"/>
              <a:t>指向 </a:t>
            </a:r>
            <a:r>
              <a:rPr lang="en-US" altLang="zh-CN" b="0"/>
              <a:t>a</a:t>
            </a:r>
            <a:endParaRPr lang="en-US" altLang="zh-CN" b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b="0"/>
              <a:t>p2 = p1;   </a:t>
            </a:r>
            <a:endParaRPr lang="en-US" altLang="zh-CN" b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b="0"/>
              <a:t>p2 </a:t>
            </a:r>
            <a:r>
              <a:rPr lang="zh-CN" altLang="en-US" b="0" dirty="0"/>
              <a:t>也指向 </a:t>
            </a:r>
            <a:r>
              <a:rPr lang="en-US" altLang="zh-CN" b="0"/>
              <a:t>a</a:t>
            </a:r>
            <a:endParaRPr lang="en-US" altLang="zh-CN" b="0"/>
          </a:p>
        </p:txBody>
      </p:sp>
      <p:sp>
        <p:nvSpPr>
          <p:cNvPr id="248859" name="Rectangle 27"/>
          <p:cNvSpPr/>
          <p:nvPr/>
        </p:nvSpPr>
        <p:spPr>
          <a:xfrm>
            <a:off x="3363119" y="3124200"/>
            <a:ext cx="4806950" cy="47815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zh-CN" altLang="en-US" sz="2800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相同类型的指针才能相互赋值</a:t>
            </a:r>
            <a:endParaRPr lang="zh-CN" altLang="en-US" sz="2800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8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8">
                                            <p:txEl>
                                              <p:charRg st="21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8">
                                            <p:txEl>
                                              <p:charRg st="32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8">
                                            <p:txEl>
                                              <p:charRg st="55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48858">
                                            <p:txEl>
                                              <p:charRg st="55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8">
                                            <p:txEl>
                                              <p:charRg st="67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8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8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48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57" grpId="0"/>
      <p:bldP spid="248858" grpId="0" build="p"/>
      <p:bldP spid="24885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17"/>
          <p:cNvGrpSpPr/>
          <p:nvPr/>
        </p:nvGrpSpPr>
        <p:grpSpPr>
          <a:xfrm>
            <a:off x="4211638" y="842328"/>
            <a:ext cx="4144963" cy="2514600"/>
            <a:chOff x="1152" y="1104"/>
            <a:chExt cx="2611" cy="1584"/>
          </a:xfrm>
        </p:grpSpPr>
        <p:grpSp>
          <p:nvGrpSpPr>
            <p:cNvPr id="17432" name="Group 18"/>
            <p:cNvGrpSpPr/>
            <p:nvPr/>
          </p:nvGrpSpPr>
          <p:grpSpPr>
            <a:xfrm>
              <a:off x="1152" y="1104"/>
              <a:ext cx="2611" cy="1104"/>
              <a:chOff x="1152" y="1104"/>
              <a:chExt cx="2611" cy="1104"/>
            </a:xfrm>
          </p:grpSpPr>
          <p:sp>
            <p:nvSpPr>
              <p:cNvPr id="17435" name="Rectangle 19"/>
              <p:cNvSpPr/>
              <p:nvPr/>
            </p:nvSpPr>
            <p:spPr>
              <a:xfrm>
                <a:off x="2448" y="1680"/>
                <a:ext cx="230" cy="2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>
                    <a:latin typeface="Arial" panose="02080604020202020204" pitchFamily="34" charset="0"/>
                    <a:ea typeface="仿宋_GB2312" pitchFamily="49" charset="-122"/>
                  </a:rPr>
                  <a:t>b</a:t>
                </a:r>
                <a:endParaRPr lang="en-US" altLang="zh-CN" sz="2000" b="1">
                  <a:latin typeface="Arial" panose="0208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7436" name="Rectangle 20"/>
              <p:cNvSpPr/>
              <p:nvPr/>
            </p:nvSpPr>
            <p:spPr>
              <a:xfrm>
                <a:off x="2448" y="1920"/>
                <a:ext cx="768" cy="28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000" b="1" dirty="0">
                    <a:latin typeface="Arial" panose="02080604020202020204" pitchFamily="34" charset="0"/>
                  </a:rPr>
                  <a:t>4</a:t>
                </a:r>
                <a:endParaRPr lang="zh-CN" altLang="en-US" sz="2000" b="1" dirty="0">
                  <a:latin typeface="Arial" panose="02080604020202020204" pitchFamily="34" charset="0"/>
                </a:endParaRPr>
              </a:p>
            </p:txBody>
          </p:sp>
          <p:sp>
            <p:nvSpPr>
              <p:cNvPr id="17437" name="Rectangle 21"/>
              <p:cNvSpPr/>
              <p:nvPr/>
            </p:nvSpPr>
            <p:spPr>
              <a:xfrm>
                <a:off x="1200" y="1920"/>
                <a:ext cx="768" cy="28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000" b="1" dirty="0">
                    <a:latin typeface="Arial" panose="02080604020202020204" pitchFamily="34" charset="0"/>
                    <a:ea typeface="仿宋_GB2312" pitchFamily="49" charset="-122"/>
                  </a:rPr>
                  <a:t>&amp;</a:t>
                </a:r>
                <a:r>
                  <a:rPr lang="en-US" altLang="zh-CN" sz="2000" b="1">
                    <a:latin typeface="Arial" panose="02080604020202020204" pitchFamily="34" charset="0"/>
                    <a:ea typeface="仿宋_GB2312" pitchFamily="49" charset="-122"/>
                  </a:rPr>
                  <a:t>b</a:t>
                </a:r>
                <a:endParaRPr lang="en-US" altLang="zh-CN" sz="2000" b="1">
                  <a:latin typeface="Arial" panose="02080604020202020204" pitchFamily="34" charset="0"/>
                </a:endParaRPr>
              </a:p>
            </p:txBody>
          </p:sp>
          <p:sp>
            <p:nvSpPr>
              <p:cNvPr id="17438" name="Rectangle 22"/>
              <p:cNvSpPr/>
              <p:nvPr/>
            </p:nvSpPr>
            <p:spPr>
              <a:xfrm>
                <a:off x="1152" y="1632"/>
                <a:ext cx="341" cy="2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>
                    <a:latin typeface="Arial" panose="02080604020202020204" pitchFamily="34" charset="0"/>
                    <a:ea typeface="仿宋_GB2312" pitchFamily="49" charset="-122"/>
                  </a:rPr>
                  <a:t>p2</a:t>
                </a:r>
                <a:endParaRPr lang="en-US" altLang="zh-CN" sz="2000" b="1">
                  <a:latin typeface="Arial" panose="0208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7439" name="Rectangle 23"/>
              <p:cNvSpPr/>
              <p:nvPr/>
            </p:nvSpPr>
            <p:spPr>
              <a:xfrm>
                <a:off x="3325" y="1909"/>
                <a:ext cx="422" cy="25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pPr algn="ctr"/>
                <a:r>
                  <a:rPr lang="en-US" altLang="en-US" sz="2000" b="1">
                    <a:latin typeface="Arial" panose="02080604020202020204" pitchFamily="34" charset="0"/>
                    <a:ea typeface="仿宋_GB2312" pitchFamily="49" charset="-122"/>
                  </a:rPr>
                  <a:t>*</a:t>
                </a:r>
                <a:r>
                  <a:rPr lang="en-US" altLang="zh-CN" sz="2000" b="1">
                    <a:latin typeface="Arial" panose="02080604020202020204" pitchFamily="34" charset="0"/>
                    <a:ea typeface="仿宋_GB2312" pitchFamily="49" charset="-122"/>
                  </a:rPr>
                  <a:t>p2</a:t>
                </a:r>
                <a:endParaRPr lang="en-US" altLang="zh-CN" sz="2000" b="1">
                  <a:latin typeface="Arial" panose="0208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7440" name="Rectangle 24"/>
              <p:cNvSpPr/>
              <p:nvPr/>
            </p:nvSpPr>
            <p:spPr>
              <a:xfrm>
                <a:off x="2448" y="1107"/>
                <a:ext cx="223" cy="2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>
                    <a:latin typeface="Arial" panose="02080604020202020204" pitchFamily="34" charset="0"/>
                    <a:ea typeface="仿宋_GB2312" pitchFamily="49" charset="-122"/>
                  </a:rPr>
                  <a:t>a</a:t>
                </a:r>
                <a:endParaRPr lang="en-US" altLang="zh-CN" sz="2000" b="1">
                  <a:latin typeface="Arial" panose="0208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7441" name="Rectangle 25"/>
              <p:cNvSpPr/>
              <p:nvPr/>
            </p:nvSpPr>
            <p:spPr>
              <a:xfrm>
                <a:off x="2464" y="1393"/>
                <a:ext cx="768" cy="28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000" b="1" dirty="0">
                    <a:latin typeface="Arial" panose="02080604020202020204" pitchFamily="34" charset="0"/>
                    <a:ea typeface="仿宋_GB2312" pitchFamily="49" charset="-122"/>
                  </a:rPr>
                  <a:t>2</a:t>
                </a:r>
                <a:endParaRPr lang="zh-CN" altLang="en-US" sz="2000" b="1" dirty="0">
                  <a:latin typeface="Arial" panose="0208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7442" name="Rectangle 26"/>
              <p:cNvSpPr/>
              <p:nvPr/>
            </p:nvSpPr>
            <p:spPr>
              <a:xfrm>
                <a:off x="1216" y="1393"/>
                <a:ext cx="768" cy="28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000" b="1" dirty="0">
                    <a:latin typeface="Arial" panose="02080604020202020204" pitchFamily="34" charset="0"/>
                    <a:ea typeface="仿宋_GB2312" pitchFamily="49" charset="-122"/>
                  </a:rPr>
                  <a:t>&amp;</a:t>
                </a:r>
                <a:r>
                  <a:rPr lang="en-US" altLang="zh-CN" sz="2000" b="1">
                    <a:latin typeface="Arial" panose="02080604020202020204" pitchFamily="34" charset="0"/>
                    <a:ea typeface="仿宋_GB2312" pitchFamily="49" charset="-122"/>
                  </a:rPr>
                  <a:t>a</a:t>
                </a:r>
                <a:endParaRPr lang="en-US" altLang="zh-CN" sz="2000" b="1">
                  <a:latin typeface="Arial" panose="0208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7443" name="Rectangle 27"/>
              <p:cNvSpPr/>
              <p:nvPr/>
            </p:nvSpPr>
            <p:spPr>
              <a:xfrm>
                <a:off x="1158" y="1104"/>
                <a:ext cx="341" cy="2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>
                    <a:latin typeface="Arial" panose="02080604020202020204" pitchFamily="34" charset="0"/>
                    <a:ea typeface="仿宋_GB2312" pitchFamily="49" charset="-122"/>
                  </a:rPr>
                  <a:t>p1</a:t>
                </a:r>
                <a:endParaRPr lang="en-US" altLang="zh-CN" sz="2000" b="1">
                  <a:latin typeface="Arial" panose="0208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7444" name="Rectangle 28"/>
              <p:cNvSpPr/>
              <p:nvPr/>
            </p:nvSpPr>
            <p:spPr>
              <a:xfrm>
                <a:off x="3341" y="1382"/>
                <a:ext cx="422" cy="25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pPr algn="ctr"/>
                <a:r>
                  <a:rPr lang="en-US" altLang="en-US" sz="2000" b="1">
                    <a:latin typeface="Arial" panose="02080604020202020204" pitchFamily="34" charset="0"/>
                    <a:ea typeface="仿宋_GB2312" pitchFamily="49" charset="-122"/>
                  </a:rPr>
                  <a:t>*</a:t>
                </a:r>
                <a:r>
                  <a:rPr lang="en-US" altLang="zh-CN" sz="2000" b="1">
                    <a:latin typeface="Arial" panose="02080604020202020204" pitchFamily="34" charset="0"/>
                    <a:ea typeface="仿宋_GB2312" pitchFamily="49" charset="-122"/>
                  </a:rPr>
                  <a:t>p1</a:t>
                </a:r>
                <a:endParaRPr lang="en-US" altLang="zh-CN" sz="2000" b="1">
                  <a:latin typeface="Arial" panose="02080604020202020204" pitchFamily="34" charset="0"/>
                  <a:ea typeface="仿宋_GB2312" pitchFamily="49" charset="-122"/>
                </a:endParaRPr>
              </a:p>
            </p:txBody>
          </p:sp>
        </p:grpSp>
        <p:sp>
          <p:nvSpPr>
            <p:cNvPr id="17433" name="Rectangle 29"/>
            <p:cNvSpPr/>
            <p:nvPr/>
          </p:nvSpPr>
          <p:spPr>
            <a:xfrm>
              <a:off x="2448" y="2400"/>
              <a:ext cx="768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dirty="0">
                  <a:latin typeface="Arial" panose="02080604020202020204" pitchFamily="34" charset="0"/>
                  <a:ea typeface="仿宋_GB2312" pitchFamily="49" charset="-122"/>
                </a:rPr>
                <a:t>6</a:t>
              </a:r>
              <a:endParaRPr lang="zh-CN" altLang="en-US" sz="2000" b="1" dirty="0">
                <a:latin typeface="Arial" panose="02080604020202020204" pitchFamily="34" charset="0"/>
                <a:ea typeface="仿宋_GB2312" pitchFamily="49" charset="-122"/>
              </a:endParaRPr>
            </a:p>
          </p:txBody>
        </p:sp>
        <p:sp>
          <p:nvSpPr>
            <p:cNvPr id="17434" name="Rectangle 30"/>
            <p:cNvSpPr/>
            <p:nvPr/>
          </p:nvSpPr>
          <p:spPr>
            <a:xfrm>
              <a:off x="2428" y="2160"/>
              <a:ext cx="210" cy="25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>
                  <a:latin typeface="Arial" panose="02080604020202020204" pitchFamily="34" charset="0"/>
                  <a:ea typeface="仿宋_GB2312" pitchFamily="49" charset="-122"/>
                </a:rPr>
                <a:t>c</a:t>
              </a:r>
              <a:endParaRPr lang="en-US" altLang="zh-CN" sz="2000" b="1">
                <a:latin typeface="Arial" panose="02080604020202020204" pitchFamily="34" charset="0"/>
                <a:ea typeface="仿宋_GB2312" pitchFamily="49" charset="-122"/>
              </a:endParaRPr>
            </a:p>
          </p:txBody>
        </p:sp>
      </p:grpSp>
      <p:grpSp>
        <p:nvGrpSpPr>
          <p:cNvPr id="4" name="Group 37"/>
          <p:cNvGrpSpPr/>
          <p:nvPr/>
        </p:nvGrpSpPr>
        <p:grpSpPr>
          <a:xfrm>
            <a:off x="4732338" y="1299528"/>
            <a:ext cx="387350" cy="1295400"/>
            <a:chOff x="2736" y="1392"/>
            <a:chExt cx="224" cy="816"/>
          </a:xfrm>
        </p:grpSpPr>
        <p:sp>
          <p:nvSpPr>
            <p:cNvPr id="17430" name="Rectangle 38"/>
            <p:cNvSpPr/>
            <p:nvPr/>
          </p:nvSpPr>
          <p:spPr>
            <a:xfrm>
              <a:off x="2736" y="1920"/>
              <a:ext cx="224" cy="288"/>
            </a:xfrm>
            <a:prstGeom prst="rect">
              <a:avLst/>
            </a:prstGeom>
            <a:solidFill>
              <a:schemeClr val="fol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r>
                <a:rPr lang="zh-CN" altLang="en-US" sz="2000" b="1" dirty="0">
                  <a:latin typeface="Arial" panose="02080604020202020204" pitchFamily="34" charset="0"/>
                </a:rPr>
                <a:t>&amp;</a:t>
              </a:r>
              <a:r>
                <a:rPr lang="en-US" altLang="zh-CN" sz="2000" b="1">
                  <a:latin typeface="Arial" panose="02080604020202020204" pitchFamily="34" charset="0"/>
                </a:rPr>
                <a:t>a</a:t>
              </a:r>
              <a:endParaRPr lang="en-US" altLang="zh-CN" sz="2000" b="1">
                <a:latin typeface="Arial" panose="02080604020202020204" pitchFamily="34" charset="0"/>
              </a:endParaRPr>
            </a:p>
          </p:txBody>
        </p:sp>
        <p:sp>
          <p:nvSpPr>
            <p:cNvPr id="17431" name="Rectangle 39"/>
            <p:cNvSpPr/>
            <p:nvPr/>
          </p:nvSpPr>
          <p:spPr>
            <a:xfrm>
              <a:off x="2736" y="1392"/>
              <a:ext cx="224" cy="288"/>
            </a:xfrm>
            <a:prstGeom prst="rect">
              <a:avLst/>
            </a:prstGeom>
            <a:solidFill>
              <a:schemeClr val="fol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r>
                <a:rPr lang="zh-CN" altLang="en-US" sz="2000" b="1" dirty="0">
                  <a:latin typeface="Arial" panose="02080604020202020204" pitchFamily="34" charset="0"/>
                  <a:ea typeface="仿宋_GB2312" pitchFamily="49" charset="-122"/>
                </a:rPr>
                <a:t>&amp;</a:t>
              </a:r>
              <a:r>
                <a:rPr lang="en-US" altLang="zh-CN" sz="2000" b="1">
                  <a:latin typeface="Arial" panose="02080604020202020204" pitchFamily="34" charset="0"/>
                  <a:ea typeface="仿宋_GB2312" pitchFamily="49" charset="-122"/>
                </a:rPr>
                <a:t>c</a:t>
              </a:r>
              <a:endParaRPr lang="en-US" altLang="zh-CN" sz="2000" b="1">
                <a:latin typeface="Arial" panose="02080604020202020204" pitchFamily="34" charset="0"/>
              </a:endParaRPr>
            </a:p>
          </p:txBody>
        </p:sp>
      </p:grpSp>
      <p:sp>
        <p:nvSpPr>
          <p:cNvPr id="17413" name="Rectangle 12"/>
          <p:cNvSpPr/>
          <p:nvPr/>
        </p:nvSpPr>
        <p:spPr>
          <a:xfrm>
            <a:off x="0" y="304800"/>
            <a:ext cx="4343400" cy="8001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sz="4400" kern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例8-4  </a:t>
            </a:r>
            <a:r>
              <a:rPr lang="en-US" altLang="zh-CN" sz="4400" kern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指针</a:t>
            </a:r>
            <a:r>
              <a:rPr lang="en-US" altLang="zh-CN" sz="4400" kern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赋值</a:t>
            </a:r>
            <a:endParaRPr lang="en-US" altLang="zh-CN" sz="4400" kern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17414" name="Rectangle 13"/>
          <p:cNvSpPr/>
          <p:nvPr/>
        </p:nvSpPr>
        <p:spPr>
          <a:xfrm>
            <a:off x="323850" y="1196975"/>
            <a:ext cx="8458200" cy="483108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main (void)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{   </a:t>
            </a: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a, b, c, *p1, *p2;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a = 2; b = 4; c = 6;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p1 = &amp;a; p2 = &amp;b;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</a:t>
            </a:r>
            <a:r>
              <a:rPr sz="2000">
                <a:latin typeface="+mn-ea"/>
                <a:cs typeface="+mn-ea"/>
                <a:sym typeface="+mn-ea"/>
              </a:rPr>
              <a:t>printf</a:t>
            </a:r>
            <a:r>
              <a:rPr sz="2000">
                <a:latin typeface="+mn-ea"/>
                <a:cs typeface="+mn-ea"/>
                <a:sym typeface="+mn-ea"/>
              </a:rPr>
              <a:t> (</a:t>
            </a:r>
            <a:r>
              <a:rPr sz="2000">
                <a:latin typeface="+mn-ea"/>
                <a:cs typeface="+mn-ea"/>
                <a:sym typeface="+mn-ea"/>
              </a:rPr>
              <a:t>"</a:t>
            </a:r>
            <a:r>
              <a:rPr sz="2000">
                <a:latin typeface="+mn-ea"/>
                <a:cs typeface="+mn-ea"/>
                <a:sym typeface="+mn-ea"/>
              </a:rPr>
              <a:t>a=%d, b=%d, c=%d, *p1=%d, *p2=%</a:t>
            </a:r>
            <a:r>
              <a:rPr sz="2000">
                <a:latin typeface="+mn-ea"/>
                <a:cs typeface="+mn-ea"/>
                <a:sym typeface="+mn-ea"/>
              </a:rPr>
              <a:t>d\n</a:t>
            </a:r>
            <a:r>
              <a:rPr sz="2000">
                <a:latin typeface="+mn-ea"/>
                <a:cs typeface="+mn-ea"/>
                <a:sym typeface="+mn-ea"/>
              </a:rPr>
              <a:t>"</a:t>
            </a:r>
            <a:r>
              <a:rPr sz="2000">
                <a:latin typeface="+mn-ea"/>
                <a:cs typeface="+mn-ea"/>
                <a:sym typeface="+mn-ea"/>
              </a:rPr>
              <a:t>, a, b, c, *p1, *p2);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p2 = p1; p1 = &amp;c; 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</a:t>
            </a:r>
            <a:r>
              <a:rPr sz="2000">
                <a:latin typeface="+mn-ea"/>
                <a:cs typeface="+mn-ea"/>
                <a:sym typeface="+mn-ea"/>
              </a:rPr>
              <a:t>printf</a:t>
            </a:r>
            <a:r>
              <a:rPr sz="2000">
                <a:latin typeface="+mn-ea"/>
                <a:cs typeface="+mn-ea"/>
                <a:sym typeface="+mn-ea"/>
              </a:rPr>
              <a:t> (</a:t>
            </a:r>
            <a:r>
              <a:rPr sz="2000">
                <a:latin typeface="+mn-ea"/>
                <a:cs typeface="+mn-ea"/>
                <a:sym typeface="+mn-ea"/>
              </a:rPr>
              <a:t>"</a:t>
            </a:r>
            <a:r>
              <a:rPr sz="2000">
                <a:latin typeface="+mn-ea"/>
                <a:cs typeface="+mn-ea"/>
                <a:sym typeface="+mn-ea"/>
              </a:rPr>
              <a:t>a=%d, b=%d, c=%d, *p1=%d, *p2=%</a:t>
            </a:r>
            <a:r>
              <a:rPr sz="2000">
                <a:latin typeface="+mn-ea"/>
                <a:cs typeface="+mn-ea"/>
                <a:sym typeface="+mn-ea"/>
              </a:rPr>
              <a:t>d\n</a:t>
            </a:r>
            <a:r>
              <a:rPr sz="2000">
                <a:latin typeface="+mn-ea"/>
                <a:cs typeface="+mn-ea"/>
                <a:sym typeface="+mn-ea"/>
              </a:rPr>
              <a:t>"</a:t>
            </a:r>
            <a:r>
              <a:rPr sz="2000">
                <a:latin typeface="+mn-ea"/>
                <a:cs typeface="+mn-ea"/>
                <a:sym typeface="+mn-ea"/>
              </a:rPr>
              <a:t>, a, b, c, *p1, *p2); 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return 0;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} </a:t>
            </a:r>
            <a:endParaRPr sz="2000">
              <a:latin typeface="+mn-ea"/>
              <a:cs typeface="+mn-ea"/>
              <a:sym typeface="+mn-ea"/>
            </a:endParaRPr>
          </a:p>
        </p:txBody>
      </p:sp>
      <p:grpSp>
        <p:nvGrpSpPr>
          <p:cNvPr id="5" name="Group 14"/>
          <p:cNvGrpSpPr/>
          <p:nvPr/>
        </p:nvGrpSpPr>
        <p:grpSpPr>
          <a:xfrm>
            <a:off x="5507038" y="1529715"/>
            <a:ext cx="787400" cy="836613"/>
            <a:chOff x="1968" y="1537"/>
            <a:chExt cx="496" cy="527"/>
          </a:xfrm>
        </p:grpSpPr>
        <p:sp>
          <p:nvSpPr>
            <p:cNvPr id="17428" name="Line 15"/>
            <p:cNvSpPr/>
            <p:nvPr/>
          </p:nvSpPr>
          <p:spPr>
            <a:xfrm>
              <a:off x="1968" y="2064"/>
              <a:ext cx="4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29" name="Line 16"/>
            <p:cNvSpPr/>
            <p:nvPr/>
          </p:nvSpPr>
          <p:spPr>
            <a:xfrm>
              <a:off x="1984" y="1537"/>
              <a:ext cx="4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" name="Group 31"/>
          <p:cNvGrpSpPr/>
          <p:nvPr/>
        </p:nvGrpSpPr>
        <p:grpSpPr>
          <a:xfrm>
            <a:off x="5507038" y="1528128"/>
            <a:ext cx="762000" cy="1447800"/>
            <a:chOff x="1968" y="1536"/>
            <a:chExt cx="480" cy="912"/>
          </a:xfrm>
        </p:grpSpPr>
        <p:sp>
          <p:nvSpPr>
            <p:cNvPr id="17426" name="Line 32"/>
            <p:cNvSpPr/>
            <p:nvPr/>
          </p:nvSpPr>
          <p:spPr>
            <a:xfrm flipV="1">
              <a:off x="1968" y="1536"/>
              <a:ext cx="480" cy="528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27" name="Line 33"/>
            <p:cNvSpPr/>
            <p:nvPr/>
          </p:nvSpPr>
          <p:spPr>
            <a:xfrm>
              <a:off x="1968" y="1536"/>
              <a:ext cx="480" cy="912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" name="Group 34"/>
          <p:cNvGrpSpPr/>
          <p:nvPr/>
        </p:nvGrpSpPr>
        <p:grpSpPr>
          <a:xfrm>
            <a:off x="5507038" y="1528128"/>
            <a:ext cx="787400" cy="836612"/>
            <a:chOff x="2064" y="2881"/>
            <a:chExt cx="496" cy="527"/>
          </a:xfrm>
        </p:grpSpPr>
        <p:sp>
          <p:nvSpPr>
            <p:cNvPr id="17424" name="Line 35"/>
            <p:cNvSpPr/>
            <p:nvPr/>
          </p:nvSpPr>
          <p:spPr>
            <a:xfrm>
              <a:off x="2064" y="3408"/>
              <a:ext cx="4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25" name="Line 36"/>
            <p:cNvSpPr/>
            <p:nvPr/>
          </p:nvSpPr>
          <p:spPr>
            <a:xfrm>
              <a:off x="2080" y="2881"/>
              <a:ext cx="4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8" name="Group 46"/>
          <p:cNvGrpSpPr/>
          <p:nvPr/>
        </p:nvGrpSpPr>
        <p:grpSpPr>
          <a:xfrm>
            <a:off x="7626350" y="1283653"/>
            <a:ext cx="684213" cy="2044700"/>
            <a:chOff x="5175" y="278"/>
            <a:chExt cx="431" cy="1288"/>
          </a:xfrm>
        </p:grpSpPr>
        <p:sp>
          <p:nvSpPr>
            <p:cNvPr id="17421" name="Rectangle 47"/>
            <p:cNvSpPr/>
            <p:nvPr/>
          </p:nvSpPr>
          <p:spPr>
            <a:xfrm>
              <a:off x="5184" y="278"/>
              <a:ext cx="422" cy="252"/>
            </a:xfrm>
            <a:prstGeom prst="rect">
              <a:avLst/>
            </a:prstGeom>
            <a:solidFill>
              <a:schemeClr val="folHlink"/>
            </a:solidFill>
            <a:ln w="127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en-US" sz="2000" b="1">
                  <a:latin typeface="Arial" panose="02080604020202020204" pitchFamily="34" charset="0"/>
                  <a:ea typeface="仿宋_GB2312" pitchFamily="49" charset="-122"/>
                </a:rPr>
                <a:t>*</a:t>
              </a:r>
              <a:r>
                <a:rPr lang="en-US" altLang="zh-CN" sz="2000" b="1">
                  <a:latin typeface="Arial" panose="02080604020202020204" pitchFamily="34" charset="0"/>
                  <a:ea typeface="仿宋_GB2312" pitchFamily="49" charset="-122"/>
                </a:rPr>
                <a:t>p2</a:t>
              </a:r>
              <a:endParaRPr lang="en-US" altLang="zh-CN" sz="2000" b="1">
                <a:latin typeface="Arial" panose="02080604020202020204" pitchFamily="34" charset="0"/>
                <a:ea typeface="仿宋_GB2312" pitchFamily="49" charset="-122"/>
              </a:endParaRPr>
            </a:p>
          </p:txBody>
        </p:sp>
        <p:sp>
          <p:nvSpPr>
            <p:cNvPr id="17422" name="Rectangle 48"/>
            <p:cNvSpPr/>
            <p:nvPr/>
          </p:nvSpPr>
          <p:spPr>
            <a:xfrm>
              <a:off x="5175" y="1314"/>
              <a:ext cx="422" cy="252"/>
            </a:xfrm>
            <a:prstGeom prst="rect">
              <a:avLst/>
            </a:prstGeom>
            <a:solidFill>
              <a:schemeClr val="folHlink"/>
            </a:solidFill>
            <a:ln w="127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en-US" sz="2000" b="1">
                  <a:latin typeface="Arial" panose="02080604020202020204" pitchFamily="34" charset="0"/>
                  <a:ea typeface="仿宋_GB2312" pitchFamily="49" charset="-122"/>
                </a:rPr>
                <a:t>*</a:t>
              </a:r>
              <a:r>
                <a:rPr lang="en-US" altLang="zh-CN" sz="2000" b="1">
                  <a:latin typeface="Arial" panose="02080604020202020204" pitchFamily="34" charset="0"/>
                  <a:ea typeface="仿宋_GB2312" pitchFamily="49" charset="-122"/>
                </a:rPr>
                <a:t>p1</a:t>
              </a:r>
              <a:endParaRPr lang="en-US" altLang="zh-CN" sz="2000" b="1">
                <a:latin typeface="Arial" panose="02080604020202020204" pitchFamily="34" charset="0"/>
                <a:ea typeface="仿宋_GB2312" pitchFamily="49" charset="-122"/>
              </a:endParaRPr>
            </a:p>
          </p:txBody>
        </p:sp>
        <p:sp>
          <p:nvSpPr>
            <p:cNvPr id="17423" name="Rectangle 49"/>
            <p:cNvSpPr/>
            <p:nvPr/>
          </p:nvSpPr>
          <p:spPr>
            <a:xfrm>
              <a:off x="5191" y="834"/>
              <a:ext cx="391" cy="252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zh-CN" sz="2000" b="1">
                  <a:latin typeface="Arial" panose="02080604020202020204" pitchFamily="34" charset="0"/>
                  <a:ea typeface="仿宋_GB2312" pitchFamily="49" charset="-122"/>
                </a:rPr>
                <a:t>     </a:t>
              </a:r>
              <a:endParaRPr lang="en-US" altLang="zh-CN" sz="2000" b="1">
                <a:latin typeface="Arial" panose="02080604020202020204" pitchFamily="34" charset="0"/>
                <a:ea typeface="仿宋_GB2312" pitchFamily="49" charset="-122"/>
              </a:endParaRPr>
            </a:p>
          </p:txBody>
        </p:sp>
      </p:grpSp>
      <p:sp>
        <p:nvSpPr>
          <p:cNvPr id="250930" name="Rectangle 50"/>
          <p:cNvSpPr/>
          <p:nvPr/>
        </p:nvSpPr>
        <p:spPr>
          <a:xfrm>
            <a:off x="3563938" y="3860800"/>
            <a:ext cx="5280025" cy="39878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p>
            <a:r>
              <a:rPr lang="en-US" altLang="zh-CN" sz="2000" b="1">
                <a:latin typeface="Arial" panose="02080604020202020204" pitchFamily="34" charset="0"/>
              </a:rPr>
              <a:t>a = 2; b = 4; c = 6; *p1 = 2, *p2 = 4 </a:t>
            </a:r>
            <a:endParaRPr lang="en-US" altLang="zh-CN" sz="2000" b="1">
              <a:latin typeface="Arial" panose="02080604020202020204" pitchFamily="34" charset="0"/>
            </a:endParaRPr>
          </a:p>
        </p:txBody>
      </p:sp>
      <p:sp>
        <p:nvSpPr>
          <p:cNvPr id="250931" name="Rectangle 51"/>
          <p:cNvSpPr/>
          <p:nvPr/>
        </p:nvSpPr>
        <p:spPr>
          <a:xfrm>
            <a:off x="3563938" y="4953000"/>
            <a:ext cx="5351462" cy="39878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p>
            <a:r>
              <a:rPr lang="en-US" altLang="zh-CN" sz="2000" b="1">
                <a:latin typeface="Arial" panose="02080604020202020204" pitchFamily="34" charset="0"/>
              </a:rPr>
              <a:t>a = 2; b = 4; c = 6; *p1 = 6, *p2 = 2 </a:t>
            </a:r>
            <a:endParaRPr lang="en-US" altLang="zh-CN" sz="2000" b="1"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0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0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0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0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930" grpId="0" bldLvl="0" animBg="1"/>
      <p:bldP spid="250931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5" name="Rectangle 7"/>
          <p:cNvSpPr/>
          <p:nvPr/>
        </p:nvSpPr>
        <p:spPr>
          <a:xfrm>
            <a:off x="61913" y="782320"/>
            <a:ext cx="8839200" cy="298450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main (void )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{  </a:t>
            </a: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a=1, b=2; 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</a:t>
            </a: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*p1 = &amp;a, *p2 = &amp;b, *pt; 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    </a:t>
            </a:r>
            <a:r>
              <a:rPr sz="2000">
                <a:latin typeface="+mn-ea"/>
                <a:cs typeface="+mn-ea"/>
                <a:sym typeface="+mn-ea"/>
              </a:rPr>
              <a:t>printf</a:t>
            </a:r>
            <a:r>
              <a:rPr sz="2000">
                <a:latin typeface="+mn-ea"/>
                <a:cs typeface="+mn-ea"/>
                <a:sym typeface="+mn-ea"/>
              </a:rPr>
              <a:t> ("a=%d, b=%d, *p1=%d, *p2=%</a:t>
            </a:r>
            <a:r>
              <a:rPr sz="2000">
                <a:latin typeface="+mn-ea"/>
                <a:cs typeface="+mn-ea"/>
                <a:sym typeface="+mn-ea"/>
              </a:rPr>
              <a:t>d\n</a:t>
            </a:r>
            <a:r>
              <a:rPr sz="2000">
                <a:latin typeface="+mn-ea"/>
                <a:cs typeface="+mn-ea"/>
                <a:sym typeface="+mn-ea"/>
              </a:rPr>
              <a:t>", a, b, *p1, *p2);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pt = p1;    p1 = p2;    p2 = pt;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</a:t>
            </a:r>
            <a:r>
              <a:rPr sz="2000">
                <a:latin typeface="+mn-ea"/>
                <a:cs typeface="+mn-ea"/>
                <a:sym typeface="+mn-ea"/>
              </a:rPr>
              <a:t>printf</a:t>
            </a:r>
            <a:r>
              <a:rPr sz="2000">
                <a:latin typeface="+mn-ea"/>
                <a:cs typeface="+mn-ea"/>
                <a:sym typeface="+mn-ea"/>
              </a:rPr>
              <a:t> (“a=%d, b=%d, *p1=%d, *p2=%</a:t>
            </a:r>
            <a:r>
              <a:rPr sz="2000">
                <a:latin typeface="+mn-ea"/>
                <a:cs typeface="+mn-ea"/>
                <a:sym typeface="+mn-ea"/>
              </a:rPr>
              <a:t>d\n</a:t>
            </a:r>
            <a:r>
              <a:rPr sz="2000">
                <a:latin typeface="+mn-ea"/>
                <a:cs typeface="+mn-ea"/>
                <a:sym typeface="+mn-ea"/>
              </a:rPr>
              <a:t>”, a, b, *p1, *p2);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return 0;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}</a:t>
            </a:r>
            <a:endParaRPr sz="2000">
              <a:latin typeface="+mn-ea"/>
              <a:cs typeface="+mn-ea"/>
              <a:sym typeface="+mn-ea"/>
            </a:endParaRPr>
          </a:p>
        </p:txBody>
      </p:sp>
      <p:sp>
        <p:nvSpPr>
          <p:cNvPr id="18436" name="Rectangle 5"/>
          <p:cNvSpPr>
            <a:spLocks noGrp="1"/>
          </p:cNvSpPr>
          <p:nvPr>
            <p:ph type="title"/>
          </p:nvPr>
        </p:nvSpPr>
        <p:spPr>
          <a:xfrm>
            <a:off x="2962275" y="-27305"/>
            <a:ext cx="5878830" cy="79248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8.1.5 </a:t>
            </a:r>
            <a:r>
              <a:rPr lang="en-US" altLang="zh-CN" b="0">
                <a:sym typeface="+mn-ea"/>
              </a:rPr>
              <a:t>指针</a:t>
            </a:r>
            <a:r>
              <a:rPr lang="en-US" altLang="zh-CN" b="0">
                <a:sym typeface="+mn-ea"/>
              </a:rPr>
              <a:t>变量</a:t>
            </a:r>
            <a:r>
              <a:rPr lang="en-US" altLang="zh-CN" b="0">
                <a:sym typeface="+mn-ea"/>
              </a:rPr>
              <a:t>的</a:t>
            </a:r>
            <a:r>
              <a:rPr lang="en-US" altLang="zh-CN" b="0">
                <a:sym typeface="+mn-ea"/>
              </a:rPr>
              <a:t>初始化</a:t>
            </a:r>
            <a:endParaRPr lang="en-US" altLang="zh-CN" b="0">
              <a:sym typeface="+mn-ea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381000" y="3886200"/>
            <a:ext cx="3963988" cy="2667000"/>
            <a:chOff x="240" y="2448"/>
            <a:chExt cx="2497" cy="1680"/>
          </a:xfrm>
        </p:grpSpPr>
        <p:sp>
          <p:nvSpPr>
            <p:cNvPr id="18455" name="Rectangle 9"/>
            <p:cNvSpPr/>
            <p:nvPr/>
          </p:nvSpPr>
          <p:spPr>
            <a:xfrm>
              <a:off x="246" y="2448"/>
              <a:ext cx="340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p1</a:t>
              </a:r>
              <a:endParaRPr lang="en-US" altLang="zh-CN" sz="2400" b="1">
                <a:latin typeface="Arial" panose="02080604020202020204" pitchFamily="34" charset="0"/>
              </a:endParaRPr>
            </a:p>
          </p:txBody>
        </p:sp>
        <p:grpSp>
          <p:nvGrpSpPr>
            <p:cNvPr id="18456" name="Group 10"/>
            <p:cNvGrpSpPr/>
            <p:nvPr/>
          </p:nvGrpSpPr>
          <p:grpSpPr>
            <a:xfrm>
              <a:off x="240" y="2496"/>
              <a:ext cx="2497" cy="1632"/>
              <a:chOff x="240" y="2496"/>
              <a:chExt cx="2497" cy="1632"/>
            </a:xfrm>
          </p:grpSpPr>
          <p:sp>
            <p:nvSpPr>
              <p:cNvPr id="18457" name="Rectangle 11"/>
              <p:cNvSpPr/>
              <p:nvPr/>
            </p:nvSpPr>
            <p:spPr>
              <a:xfrm>
                <a:off x="1536" y="3024"/>
                <a:ext cx="233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>
                    <a:latin typeface="Arial" panose="02080604020202020204" pitchFamily="34" charset="0"/>
                    <a:ea typeface="仿宋_GB2312" pitchFamily="49" charset="-122"/>
                  </a:rPr>
                  <a:t>b</a:t>
                </a:r>
                <a:endParaRPr lang="en-US" altLang="zh-CN" sz="2400" b="1">
                  <a:latin typeface="Arial" panose="02080604020202020204" pitchFamily="34" charset="0"/>
                </a:endParaRPr>
              </a:p>
            </p:txBody>
          </p:sp>
          <p:sp>
            <p:nvSpPr>
              <p:cNvPr id="18458" name="Rectangle 12"/>
              <p:cNvSpPr/>
              <p:nvPr/>
            </p:nvSpPr>
            <p:spPr>
              <a:xfrm>
                <a:off x="1545" y="3264"/>
                <a:ext cx="768" cy="28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400" b="1" dirty="0">
                    <a:latin typeface="Arial" panose="02080604020202020204" pitchFamily="34" charset="0"/>
                  </a:rPr>
                  <a:t>2</a:t>
                </a:r>
                <a:endParaRPr lang="zh-CN" altLang="en-US" sz="2400" b="1" dirty="0">
                  <a:latin typeface="Arial" panose="02080604020202020204" pitchFamily="34" charset="0"/>
                </a:endParaRPr>
              </a:p>
            </p:txBody>
          </p:sp>
          <p:sp>
            <p:nvSpPr>
              <p:cNvPr id="18459" name="Rectangle 13"/>
              <p:cNvSpPr/>
              <p:nvPr/>
            </p:nvSpPr>
            <p:spPr>
              <a:xfrm>
                <a:off x="288" y="3264"/>
                <a:ext cx="768" cy="28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400" b="1" dirty="0">
                    <a:latin typeface="Arial" panose="02080604020202020204" pitchFamily="34" charset="0"/>
                    <a:ea typeface="仿宋_GB2312" pitchFamily="49" charset="-122"/>
                  </a:rPr>
                  <a:t>&amp;</a:t>
                </a:r>
                <a:r>
                  <a:rPr lang="en-US" altLang="zh-CN" sz="2400" b="1">
                    <a:latin typeface="Arial" panose="02080604020202020204" pitchFamily="34" charset="0"/>
                    <a:ea typeface="仿宋_GB2312" pitchFamily="49" charset="-122"/>
                  </a:rPr>
                  <a:t>b</a:t>
                </a:r>
                <a:endParaRPr lang="en-US" altLang="zh-CN" sz="2400" b="1">
                  <a:latin typeface="Arial" panose="02080604020202020204" pitchFamily="34" charset="0"/>
                </a:endParaRPr>
              </a:p>
            </p:txBody>
          </p:sp>
          <p:sp>
            <p:nvSpPr>
              <p:cNvPr id="18460" name="Rectangle 14"/>
              <p:cNvSpPr/>
              <p:nvPr/>
            </p:nvSpPr>
            <p:spPr>
              <a:xfrm>
                <a:off x="240" y="2976"/>
                <a:ext cx="340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>
                    <a:latin typeface="Arial" panose="02080604020202020204" pitchFamily="34" charset="0"/>
                    <a:ea typeface="仿宋_GB2312" pitchFamily="49" charset="-122"/>
                  </a:rPr>
                  <a:t>p2</a:t>
                </a:r>
                <a:endParaRPr lang="en-US" altLang="zh-CN" sz="2400" b="1">
                  <a:latin typeface="Arial" panose="02080604020202020204" pitchFamily="34" charset="0"/>
                </a:endParaRPr>
              </a:p>
            </p:txBody>
          </p:sp>
          <p:sp>
            <p:nvSpPr>
              <p:cNvPr id="18461" name="Rectangle 15"/>
              <p:cNvSpPr/>
              <p:nvPr/>
            </p:nvSpPr>
            <p:spPr>
              <a:xfrm>
                <a:off x="2308" y="3235"/>
                <a:ext cx="413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pPr algn="ctr"/>
                <a:r>
                  <a:rPr lang="en-US" altLang="en-US" sz="2400" b="1">
                    <a:latin typeface="Arial" panose="02080604020202020204" pitchFamily="34" charset="0"/>
                    <a:ea typeface="仿宋_GB2312" pitchFamily="49" charset="-122"/>
                  </a:rPr>
                  <a:t>*</a:t>
                </a:r>
                <a:r>
                  <a:rPr lang="en-US" altLang="zh-CN" sz="2400" b="1">
                    <a:latin typeface="Arial" panose="02080604020202020204" pitchFamily="34" charset="0"/>
                    <a:ea typeface="仿宋_GB2312" pitchFamily="49" charset="-122"/>
                  </a:rPr>
                  <a:t>p2</a:t>
                </a:r>
                <a:endParaRPr lang="en-US" altLang="zh-CN" sz="2400" b="1">
                  <a:latin typeface="Arial" panose="0208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8462" name="Rectangle 16"/>
              <p:cNvSpPr/>
              <p:nvPr/>
            </p:nvSpPr>
            <p:spPr>
              <a:xfrm>
                <a:off x="1536" y="2496"/>
                <a:ext cx="223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>
                    <a:latin typeface="Arial" panose="02080604020202020204" pitchFamily="34" charset="0"/>
                    <a:ea typeface="仿宋_GB2312" pitchFamily="49" charset="-122"/>
                  </a:rPr>
                  <a:t>a</a:t>
                </a:r>
                <a:endParaRPr lang="en-US" altLang="zh-CN" sz="2400" b="1">
                  <a:latin typeface="Arial" panose="02080604020202020204" pitchFamily="34" charset="0"/>
                </a:endParaRPr>
              </a:p>
            </p:txBody>
          </p:sp>
          <p:sp>
            <p:nvSpPr>
              <p:cNvPr id="18463" name="Rectangle 17"/>
              <p:cNvSpPr/>
              <p:nvPr/>
            </p:nvSpPr>
            <p:spPr>
              <a:xfrm>
                <a:off x="1552" y="2737"/>
                <a:ext cx="768" cy="28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400" b="1" dirty="0">
                    <a:latin typeface="Arial" panose="02080604020202020204" pitchFamily="34" charset="0"/>
                    <a:ea typeface="仿宋_GB2312" pitchFamily="49" charset="-122"/>
                  </a:rPr>
                  <a:t>1</a:t>
                </a:r>
                <a:endParaRPr lang="zh-CN" altLang="en-US" sz="2400" b="1" dirty="0">
                  <a:latin typeface="Arial" panose="02080604020202020204" pitchFamily="34" charset="0"/>
                </a:endParaRPr>
              </a:p>
            </p:txBody>
          </p:sp>
          <p:sp>
            <p:nvSpPr>
              <p:cNvPr id="18464" name="Rectangle 18"/>
              <p:cNvSpPr/>
              <p:nvPr/>
            </p:nvSpPr>
            <p:spPr>
              <a:xfrm>
                <a:off x="304" y="2737"/>
                <a:ext cx="768" cy="28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400" b="1" dirty="0">
                    <a:latin typeface="Arial" panose="02080604020202020204" pitchFamily="34" charset="0"/>
                    <a:ea typeface="仿宋_GB2312" pitchFamily="49" charset="-122"/>
                  </a:rPr>
                  <a:t>&amp;</a:t>
                </a:r>
                <a:r>
                  <a:rPr lang="en-US" altLang="zh-CN" sz="2400" b="1">
                    <a:latin typeface="Arial" panose="02080604020202020204" pitchFamily="34" charset="0"/>
                    <a:ea typeface="仿宋_GB2312" pitchFamily="49" charset="-122"/>
                  </a:rPr>
                  <a:t>a</a:t>
                </a:r>
                <a:endParaRPr lang="en-US" altLang="zh-CN" sz="2400" b="1">
                  <a:latin typeface="Arial" panose="0208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8465" name="Rectangle 19"/>
              <p:cNvSpPr/>
              <p:nvPr/>
            </p:nvSpPr>
            <p:spPr>
              <a:xfrm>
                <a:off x="2324" y="2708"/>
                <a:ext cx="413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pPr algn="ctr"/>
                <a:r>
                  <a:rPr lang="en-US" altLang="en-US" sz="2400" b="1">
                    <a:latin typeface="Arial" panose="02080604020202020204" pitchFamily="34" charset="0"/>
                    <a:ea typeface="仿宋_GB2312" pitchFamily="49" charset="-122"/>
                  </a:rPr>
                  <a:t>*</a:t>
                </a:r>
                <a:r>
                  <a:rPr lang="en-US" altLang="zh-CN" sz="2400" b="1">
                    <a:latin typeface="Arial" panose="02080604020202020204" pitchFamily="34" charset="0"/>
                    <a:ea typeface="仿宋_GB2312" pitchFamily="49" charset="-122"/>
                  </a:rPr>
                  <a:t>p1</a:t>
                </a:r>
                <a:endParaRPr lang="en-US" altLang="zh-CN" sz="2400" b="1">
                  <a:latin typeface="Arial" panose="02080604020202020204" pitchFamily="34" charset="0"/>
                  <a:ea typeface="仿宋_GB2312" pitchFamily="49" charset="-122"/>
                </a:endParaRPr>
              </a:p>
            </p:txBody>
          </p:sp>
          <p:grpSp>
            <p:nvGrpSpPr>
              <p:cNvPr id="18466" name="Group 20"/>
              <p:cNvGrpSpPr/>
              <p:nvPr/>
            </p:nvGrpSpPr>
            <p:grpSpPr>
              <a:xfrm>
                <a:off x="1065" y="2881"/>
                <a:ext cx="496" cy="527"/>
                <a:chOff x="1968" y="1537"/>
                <a:chExt cx="496" cy="527"/>
              </a:xfrm>
            </p:grpSpPr>
            <p:sp>
              <p:nvSpPr>
                <p:cNvPr id="18469" name="Line 21"/>
                <p:cNvSpPr/>
                <p:nvPr/>
              </p:nvSpPr>
              <p:spPr>
                <a:xfrm>
                  <a:off x="1968" y="2064"/>
                  <a:ext cx="480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18470" name="Line 22"/>
                <p:cNvSpPr/>
                <p:nvPr/>
              </p:nvSpPr>
              <p:spPr>
                <a:xfrm>
                  <a:off x="1984" y="1537"/>
                  <a:ext cx="480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18467" name="Rectangle 23"/>
              <p:cNvSpPr/>
              <p:nvPr/>
            </p:nvSpPr>
            <p:spPr>
              <a:xfrm>
                <a:off x="297" y="3840"/>
                <a:ext cx="768" cy="28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en-US" altLang="zh-CN" sz="2400" b="1">
                  <a:latin typeface="Arial" panose="02080604020202020204" pitchFamily="34" charset="0"/>
                </a:endParaRPr>
              </a:p>
            </p:txBody>
          </p:sp>
          <p:sp>
            <p:nvSpPr>
              <p:cNvPr id="18468" name="Rectangle 24"/>
              <p:cNvSpPr/>
              <p:nvPr/>
            </p:nvSpPr>
            <p:spPr>
              <a:xfrm>
                <a:off x="249" y="3552"/>
                <a:ext cx="297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>
                    <a:latin typeface="Arial" panose="02080604020202020204" pitchFamily="34" charset="0"/>
                    <a:ea typeface="仿宋_GB2312" pitchFamily="49" charset="-122"/>
                  </a:rPr>
                  <a:t>pt</a:t>
                </a:r>
                <a:endParaRPr lang="en-US" altLang="zh-CN" sz="2400" b="1">
                  <a:latin typeface="Arial" panose="02080604020202020204" pitchFamily="34" charset="0"/>
                </a:endParaRPr>
              </a:p>
            </p:txBody>
          </p:sp>
        </p:grpSp>
      </p:grpSp>
      <p:grpSp>
        <p:nvGrpSpPr>
          <p:cNvPr id="5" name="Group 42"/>
          <p:cNvGrpSpPr/>
          <p:nvPr/>
        </p:nvGrpSpPr>
        <p:grpSpPr>
          <a:xfrm>
            <a:off x="4876800" y="3733800"/>
            <a:ext cx="3963988" cy="2667000"/>
            <a:chOff x="3072" y="2352"/>
            <a:chExt cx="2497" cy="1680"/>
          </a:xfrm>
        </p:grpSpPr>
        <p:sp>
          <p:nvSpPr>
            <p:cNvPr id="18440" name="Rectangle 26"/>
            <p:cNvSpPr/>
            <p:nvPr/>
          </p:nvSpPr>
          <p:spPr>
            <a:xfrm>
              <a:off x="4368" y="2928"/>
              <a:ext cx="23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b</a:t>
              </a:r>
              <a:endParaRPr lang="en-US" altLang="zh-CN" sz="2400" b="1">
                <a:latin typeface="Arial" panose="02080604020202020204" pitchFamily="34" charset="0"/>
              </a:endParaRPr>
            </a:p>
          </p:txBody>
        </p:sp>
        <p:sp>
          <p:nvSpPr>
            <p:cNvPr id="18441" name="Rectangle 27"/>
            <p:cNvSpPr/>
            <p:nvPr/>
          </p:nvSpPr>
          <p:spPr>
            <a:xfrm>
              <a:off x="4377" y="3168"/>
              <a:ext cx="768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latin typeface="Arial" panose="02080604020202020204" pitchFamily="34" charset="0"/>
                </a:rPr>
                <a:t>2</a:t>
              </a:r>
              <a:endParaRPr lang="zh-CN" altLang="en-US" sz="2400" b="1" dirty="0">
                <a:latin typeface="Arial" panose="02080604020202020204" pitchFamily="34" charset="0"/>
              </a:endParaRPr>
            </a:p>
          </p:txBody>
        </p:sp>
        <p:sp>
          <p:nvSpPr>
            <p:cNvPr id="18442" name="Rectangle 28"/>
            <p:cNvSpPr/>
            <p:nvPr/>
          </p:nvSpPr>
          <p:spPr>
            <a:xfrm>
              <a:off x="3120" y="3168"/>
              <a:ext cx="768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latin typeface="Arial" panose="02080604020202020204" pitchFamily="34" charset="0"/>
                  <a:ea typeface="仿宋_GB2312" pitchFamily="49" charset="-122"/>
                </a:rPr>
                <a:t>&amp;</a:t>
              </a:r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a</a:t>
              </a:r>
              <a:endParaRPr lang="en-US" altLang="zh-CN" sz="2400" b="1">
                <a:latin typeface="Arial" panose="02080604020202020204" pitchFamily="34" charset="0"/>
              </a:endParaRPr>
            </a:p>
          </p:txBody>
        </p:sp>
        <p:sp>
          <p:nvSpPr>
            <p:cNvPr id="18443" name="Rectangle 29"/>
            <p:cNvSpPr/>
            <p:nvPr/>
          </p:nvSpPr>
          <p:spPr>
            <a:xfrm>
              <a:off x="3072" y="2880"/>
              <a:ext cx="340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p2</a:t>
              </a:r>
              <a:endParaRPr lang="en-US" altLang="zh-CN" sz="2400" b="1">
                <a:latin typeface="Arial" panose="02080604020202020204" pitchFamily="34" charset="0"/>
              </a:endParaRPr>
            </a:p>
          </p:txBody>
        </p:sp>
        <p:sp>
          <p:nvSpPr>
            <p:cNvPr id="18444" name="Rectangle 30"/>
            <p:cNvSpPr/>
            <p:nvPr/>
          </p:nvSpPr>
          <p:spPr>
            <a:xfrm>
              <a:off x="5140" y="3139"/>
              <a:ext cx="41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en-US" sz="2400" b="1">
                  <a:latin typeface="Arial" panose="02080604020202020204" pitchFamily="34" charset="0"/>
                  <a:ea typeface="仿宋_GB2312" pitchFamily="49" charset="-122"/>
                </a:rPr>
                <a:t>*</a:t>
              </a:r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p1</a:t>
              </a:r>
              <a:endParaRPr lang="en-US" altLang="zh-CN" sz="2400" b="1">
                <a:latin typeface="Arial" panose="02080604020202020204" pitchFamily="34" charset="0"/>
                <a:ea typeface="仿宋_GB2312" pitchFamily="49" charset="-122"/>
              </a:endParaRPr>
            </a:p>
          </p:txBody>
        </p:sp>
        <p:sp>
          <p:nvSpPr>
            <p:cNvPr id="18445" name="Rectangle 31"/>
            <p:cNvSpPr/>
            <p:nvPr/>
          </p:nvSpPr>
          <p:spPr>
            <a:xfrm>
              <a:off x="4368" y="2400"/>
              <a:ext cx="22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a</a:t>
              </a:r>
              <a:endParaRPr lang="en-US" altLang="zh-CN" sz="2400" b="1">
                <a:latin typeface="Arial" panose="02080604020202020204" pitchFamily="34" charset="0"/>
              </a:endParaRPr>
            </a:p>
          </p:txBody>
        </p:sp>
        <p:sp>
          <p:nvSpPr>
            <p:cNvPr id="18446" name="Rectangle 32"/>
            <p:cNvSpPr/>
            <p:nvPr/>
          </p:nvSpPr>
          <p:spPr>
            <a:xfrm>
              <a:off x="4384" y="2641"/>
              <a:ext cx="768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latin typeface="Arial" panose="02080604020202020204" pitchFamily="34" charset="0"/>
                  <a:ea typeface="仿宋_GB2312" pitchFamily="49" charset="-122"/>
                </a:rPr>
                <a:t>1</a:t>
              </a:r>
              <a:endParaRPr lang="zh-CN" altLang="en-US" sz="2400" b="1" dirty="0">
                <a:latin typeface="Arial" panose="02080604020202020204" pitchFamily="34" charset="0"/>
              </a:endParaRPr>
            </a:p>
          </p:txBody>
        </p:sp>
        <p:sp>
          <p:nvSpPr>
            <p:cNvPr id="18447" name="Rectangle 33"/>
            <p:cNvSpPr/>
            <p:nvPr/>
          </p:nvSpPr>
          <p:spPr>
            <a:xfrm>
              <a:off x="3136" y="2641"/>
              <a:ext cx="768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latin typeface="Arial" panose="02080604020202020204" pitchFamily="34" charset="0"/>
                  <a:ea typeface="仿宋_GB2312" pitchFamily="49" charset="-122"/>
                </a:rPr>
                <a:t>&amp;</a:t>
              </a:r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b</a:t>
              </a:r>
              <a:endParaRPr lang="en-US" altLang="zh-CN" sz="2400" b="1">
                <a:latin typeface="Arial" panose="02080604020202020204" pitchFamily="34" charset="0"/>
                <a:ea typeface="仿宋_GB2312" pitchFamily="49" charset="-122"/>
              </a:endParaRPr>
            </a:p>
          </p:txBody>
        </p:sp>
        <p:sp>
          <p:nvSpPr>
            <p:cNvPr id="18448" name="Rectangle 34"/>
            <p:cNvSpPr/>
            <p:nvPr/>
          </p:nvSpPr>
          <p:spPr>
            <a:xfrm>
              <a:off x="3078" y="2352"/>
              <a:ext cx="340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p1</a:t>
              </a:r>
              <a:endParaRPr lang="en-US" altLang="zh-CN" sz="2400" b="1">
                <a:latin typeface="Arial" panose="02080604020202020204" pitchFamily="34" charset="0"/>
              </a:endParaRPr>
            </a:p>
          </p:txBody>
        </p:sp>
        <p:sp>
          <p:nvSpPr>
            <p:cNvPr id="18449" name="Rectangle 35"/>
            <p:cNvSpPr/>
            <p:nvPr/>
          </p:nvSpPr>
          <p:spPr>
            <a:xfrm>
              <a:off x="5156" y="2612"/>
              <a:ext cx="41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en-US" sz="2400" b="1">
                  <a:latin typeface="Arial" panose="02080604020202020204" pitchFamily="34" charset="0"/>
                  <a:ea typeface="仿宋_GB2312" pitchFamily="49" charset="-122"/>
                </a:rPr>
                <a:t>*</a:t>
              </a:r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p2</a:t>
              </a:r>
              <a:endParaRPr lang="en-US" altLang="zh-CN" sz="2400" b="1">
                <a:latin typeface="Arial" panose="02080604020202020204" pitchFamily="34" charset="0"/>
                <a:ea typeface="仿宋_GB2312" pitchFamily="49" charset="-122"/>
              </a:endParaRPr>
            </a:p>
          </p:txBody>
        </p:sp>
        <p:sp>
          <p:nvSpPr>
            <p:cNvPr id="18450" name="Line 36"/>
            <p:cNvSpPr/>
            <p:nvPr/>
          </p:nvSpPr>
          <p:spPr>
            <a:xfrm flipV="1">
              <a:off x="3897" y="2880"/>
              <a:ext cx="480" cy="960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451" name="Line 37"/>
            <p:cNvSpPr/>
            <p:nvPr/>
          </p:nvSpPr>
          <p:spPr>
            <a:xfrm>
              <a:off x="3888" y="2784"/>
              <a:ext cx="480" cy="528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452" name="Rectangle 38"/>
            <p:cNvSpPr/>
            <p:nvPr/>
          </p:nvSpPr>
          <p:spPr>
            <a:xfrm>
              <a:off x="3081" y="3456"/>
              <a:ext cx="297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pt</a:t>
              </a:r>
              <a:endParaRPr lang="en-US" altLang="zh-CN" sz="2400" b="1">
                <a:latin typeface="Arial" panose="02080604020202020204" pitchFamily="34" charset="0"/>
              </a:endParaRPr>
            </a:p>
          </p:txBody>
        </p:sp>
        <p:sp>
          <p:nvSpPr>
            <p:cNvPr id="18453" name="Line 39"/>
            <p:cNvSpPr/>
            <p:nvPr/>
          </p:nvSpPr>
          <p:spPr>
            <a:xfrm flipV="1">
              <a:off x="3897" y="2784"/>
              <a:ext cx="471" cy="528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454" name="Rectangle 40"/>
            <p:cNvSpPr/>
            <p:nvPr/>
          </p:nvSpPr>
          <p:spPr>
            <a:xfrm>
              <a:off x="3120" y="3744"/>
              <a:ext cx="768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latin typeface="Arial" panose="02080604020202020204" pitchFamily="34" charset="0"/>
                  <a:ea typeface="仿宋_GB2312" pitchFamily="49" charset="-122"/>
                </a:rPr>
                <a:t>&amp;</a:t>
              </a:r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a</a:t>
              </a:r>
              <a:endParaRPr lang="en-US" altLang="zh-CN" sz="2400" b="1">
                <a:latin typeface="Arial" panose="02080604020202020204" pitchFamily="34" charset="0"/>
              </a:endParaRPr>
            </a:p>
          </p:txBody>
        </p:sp>
      </p:grpSp>
      <p:sp>
        <p:nvSpPr>
          <p:cNvPr id="350249" name="Rectangle 41"/>
          <p:cNvSpPr/>
          <p:nvPr/>
        </p:nvSpPr>
        <p:spPr>
          <a:xfrm>
            <a:off x="4716463" y="981710"/>
            <a:ext cx="4114800" cy="70675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p>
            <a:r>
              <a:rPr lang="en-US" altLang="zh-CN" sz="2000">
                <a:latin typeface="Arial" panose="02080604020202020204" pitchFamily="34" charset="0"/>
              </a:rPr>
              <a:t>a = 1; b = 2; *p1 = 1, *p2 = 2</a:t>
            </a:r>
            <a:endParaRPr lang="en-US" altLang="zh-CN" sz="2000">
              <a:latin typeface="Arial" panose="02080604020202020204" pitchFamily="34" charset="0"/>
            </a:endParaRPr>
          </a:p>
          <a:p>
            <a:r>
              <a:rPr lang="en-US" altLang="zh-CN" sz="2000">
                <a:latin typeface="Arial" panose="02080604020202020204" pitchFamily="34" charset="0"/>
              </a:rPr>
              <a:t>a = 1; b = 2; *p1 = 2, *p2 = 1</a:t>
            </a:r>
            <a:endParaRPr lang="en-US" altLang="zh-CN" sz="2000">
              <a:latin typeface="Arial" panose="0208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49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49">
                                            <p:txEl>
                                              <p:charRg st="31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49" grpId="0" animBg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9" name="Rectangle 6"/>
          <p:cNvSpPr>
            <a:spLocks noGrp="1"/>
          </p:cNvSpPr>
          <p:nvPr>
            <p:ph type="title"/>
          </p:nvPr>
        </p:nvSpPr>
        <p:spPr>
          <a:xfrm>
            <a:off x="55245" y="118110"/>
            <a:ext cx="9016365" cy="9144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对指针的操作/对指针所指向变量的操作</a:t>
            </a:r>
            <a:endParaRPr lang="en-US" altLang="zh-CN" b="0">
              <a:sym typeface="+mn-ea"/>
            </a:endParaRPr>
          </a:p>
        </p:txBody>
      </p:sp>
      <p:sp>
        <p:nvSpPr>
          <p:cNvPr id="352264" name="Rectangle 8"/>
          <p:cNvSpPr/>
          <p:nvPr/>
        </p:nvSpPr>
        <p:spPr>
          <a:xfrm>
            <a:off x="228600" y="1371600"/>
            <a:ext cx="7543800" cy="1676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p>
            <a:pPr marL="742950" lvl="1" indent="-285750" eaLnBrk="1" hangingPunct="1">
              <a:lnSpc>
                <a:spcPct val="11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dirty="0">
                <a:latin typeface="Arial" panose="02080604020202020204" pitchFamily="34" charset="0"/>
              </a:rPr>
              <a:t>*</a:t>
            </a:r>
            <a:r>
              <a:rPr lang="en-US" altLang="zh-CN" sz="2800">
                <a:latin typeface="Arial" panose="02080604020202020204" pitchFamily="34" charset="0"/>
              </a:rPr>
              <a:t>p1 </a:t>
            </a:r>
            <a:r>
              <a:rPr lang="zh-CN" altLang="en-US" sz="2800" dirty="0">
                <a:latin typeface="Arial" panose="02080604020202020204" pitchFamily="34" charset="0"/>
              </a:rPr>
              <a:t>和 *</a:t>
            </a:r>
            <a:r>
              <a:rPr lang="en-US" altLang="zh-CN" sz="2800">
                <a:latin typeface="Arial" panose="02080604020202020204" pitchFamily="34" charset="0"/>
              </a:rPr>
              <a:t>p2 </a:t>
            </a:r>
            <a:r>
              <a:rPr lang="zh-CN" altLang="en-US" sz="2800" dirty="0">
                <a:latin typeface="Arial" panose="02080604020202020204" pitchFamily="34" charset="0"/>
              </a:rPr>
              <a:t>的值都由 1 和 2 变成了 2 和 1 </a:t>
            </a:r>
            <a:endParaRPr lang="zh-CN" altLang="en-US" sz="2800" dirty="0">
              <a:latin typeface="Arial" panose="02080604020202020204" pitchFamily="34" charset="0"/>
            </a:endParaRPr>
          </a:p>
          <a:p>
            <a:pPr marL="742950" lvl="1" indent="-285750" algn="just" eaLnBrk="1" hangingPunct="1">
              <a:lnSpc>
                <a:spcPct val="11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dirty="0">
                <a:latin typeface="Arial" panose="02080604020202020204" pitchFamily="34" charset="0"/>
              </a:rPr>
              <a:t>(1) 直接改变指针的值</a:t>
            </a:r>
            <a:endParaRPr lang="zh-CN" altLang="en-US" sz="2800" dirty="0">
              <a:latin typeface="Arial" panose="02080604020202020204" pitchFamily="34" charset="0"/>
            </a:endParaRPr>
          </a:p>
          <a:p>
            <a:pPr marL="742950" lvl="1" indent="-285750" algn="just" eaLnBrk="1" hangingPunct="1">
              <a:lnSpc>
                <a:spcPct val="11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dirty="0">
                <a:latin typeface="Arial" panose="02080604020202020204" pitchFamily="34" charset="0"/>
              </a:rPr>
              <a:t>(2) 改变指针所指变量的值</a:t>
            </a:r>
            <a:endParaRPr lang="zh-CN" altLang="en-US" sz="2800" dirty="0">
              <a:latin typeface="Arial" panose="02080604020202020204" pitchFamily="34" charset="0"/>
            </a:endParaRPr>
          </a:p>
        </p:txBody>
      </p:sp>
      <p:grpSp>
        <p:nvGrpSpPr>
          <p:cNvPr id="19461" name="Group 9"/>
          <p:cNvGrpSpPr/>
          <p:nvPr/>
        </p:nvGrpSpPr>
        <p:grpSpPr>
          <a:xfrm>
            <a:off x="2825750" y="2819400"/>
            <a:ext cx="3963988" cy="1752600"/>
            <a:chOff x="240" y="2448"/>
            <a:chExt cx="2497" cy="1104"/>
          </a:xfrm>
        </p:grpSpPr>
        <p:sp>
          <p:nvSpPr>
            <p:cNvPr id="19491" name="Rectangle 10"/>
            <p:cNvSpPr/>
            <p:nvPr/>
          </p:nvSpPr>
          <p:spPr>
            <a:xfrm>
              <a:off x="246" y="2448"/>
              <a:ext cx="340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p1</a:t>
              </a:r>
              <a:endParaRPr lang="en-US" altLang="zh-CN" sz="2400" b="1">
                <a:latin typeface="Arial" panose="02080604020202020204" pitchFamily="34" charset="0"/>
              </a:endParaRPr>
            </a:p>
          </p:txBody>
        </p:sp>
        <p:sp>
          <p:nvSpPr>
            <p:cNvPr id="19492" name="Rectangle 11"/>
            <p:cNvSpPr/>
            <p:nvPr/>
          </p:nvSpPr>
          <p:spPr>
            <a:xfrm>
              <a:off x="1536" y="3024"/>
              <a:ext cx="23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b</a:t>
              </a:r>
              <a:endParaRPr lang="en-US" altLang="zh-CN" sz="2400" b="1">
                <a:latin typeface="Arial" panose="02080604020202020204" pitchFamily="34" charset="0"/>
              </a:endParaRPr>
            </a:p>
          </p:txBody>
        </p:sp>
        <p:sp>
          <p:nvSpPr>
            <p:cNvPr id="19493" name="Rectangle 12"/>
            <p:cNvSpPr/>
            <p:nvPr/>
          </p:nvSpPr>
          <p:spPr>
            <a:xfrm>
              <a:off x="1545" y="3264"/>
              <a:ext cx="768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latin typeface="Arial" panose="02080604020202020204" pitchFamily="34" charset="0"/>
                </a:rPr>
                <a:t>2</a:t>
              </a:r>
              <a:endParaRPr lang="zh-CN" altLang="en-US" sz="2400" b="1" dirty="0">
                <a:latin typeface="Arial" panose="02080604020202020204" pitchFamily="34" charset="0"/>
              </a:endParaRPr>
            </a:p>
          </p:txBody>
        </p:sp>
        <p:sp>
          <p:nvSpPr>
            <p:cNvPr id="19494" name="Rectangle 13"/>
            <p:cNvSpPr/>
            <p:nvPr/>
          </p:nvSpPr>
          <p:spPr>
            <a:xfrm>
              <a:off x="288" y="3264"/>
              <a:ext cx="768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latin typeface="Arial" panose="02080604020202020204" pitchFamily="34" charset="0"/>
                  <a:ea typeface="仿宋_GB2312" pitchFamily="49" charset="-122"/>
                </a:rPr>
                <a:t>&amp;</a:t>
              </a:r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b</a:t>
              </a:r>
              <a:endParaRPr lang="en-US" altLang="zh-CN" sz="2400" b="1">
                <a:latin typeface="Arial" panose="02080604020202020204" pitchFamily="34" charset="0"/>
              </a:endParaRPr>
            </a:p>
          </p:txBody>
        </p:sp>
        <p:sp>
          <p:nvSpPr>
            <p:cNvPr id="19495" name="Rectangle 14"/>
            <p:cNvSpPr/>
            <p:nvPr/>
          </p:nvSpPr>
          <p:spPr>
            <a:xfrm>
              <a:off x="240" y="2976"/>
              <a:ext cx="340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p2</a:t>
              </a:r>
              <a:endParaRPr lang="en-US" altLang="zh-CN" sz="2400" b="1">
                <a:latin typeface="Arial" panose="02080604020202020204" pitchFamily="34" charset="0"/>
              </a:endParaRPr>
            </a:p>
          </p:txBody>
        </p:sp>
        <p:sp>
          <p:nvSpPr>
            <p:cNvPr id="19496" name="Rectangle 15"/>
            <p:cNvSpPr/>
            <p:nvPr/>
          </p:nvSpPr>
          <p:spPr>
            <a:xfrm>
              <a:off x="2308" y="3235"/>
              <a:ext cx="41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en-US" sz="2400" b="1">
                  <a:latin typeface="Arial" panose="02080604020202020204" pitchFamily="34" charset="0"/>
                  <a:ea typeface="仿宋_GB2312" pitchFamily="49" charset="-122"/>
                </a:rPr>
                <a:t>*</a:t>
              </a:r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p2</a:t>
              </a:r>
              <a:endParaRPr lang="en-US" altLang="zh-CN" sz="2400" b="1">
                <a:latin typeface="Arial" panose="02080604020202020204" pitchFamily="34" charset="0"/>
                <a:ea typeface="仿宋_GB2312" pitchFamily="49" charset="-122"/>
              </a:endParaRPr>
            </a:p>
          </p:txBody>
        </p:sp>
        <p:sp>
          <p:nvSpPr>
            <p:cNvPr id="19497" name="Rectangle 16"/>
            <p:cNvSpPr/>
            <p:nvPr/>
          </p:nvSpPr>
          <p:spPr>
            <a:xfrm>
              <a:off x="1536" y="2496"/>
              <a:ext cx="22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a</a:t>
              </a:r>
              <a:endParaRPr lang="en-US" altLang="zh-CN" sz="2400" b="1">
                <a:latin typeface="Arial" panose="02080604020202020204" pitchFamily="34" charset="0"/>
              </a:endParaRPr>
            </a:p>
          </p:txBody>
        </p:sp>
        <p:sp>
          <p:nvSpPr>
            <p:cNvPr id="19498" name="Rectangle 17"/>
            <p:cNvSpPr/>
            <p:nvPr/>
          </p:nvSpPr>
          <p:spPr>
            <a:xfrm>
              <a:off x="1552" y="2737"/>
              <a:ext cx="768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latin typeface="Arial" panose="02080604020202020204" pitchFamily="34" charset="0"/>
                  <a:ea typeface="仿宋_GB2312" pitchFamily="49" charset="-122"/>
                </a:rPr>
                <a:t>1</a:t>
              </a:r>
              <a:endParaRPr lang="zh-CN" altLang="en-US" sz="2400" b="1" dirty="0">
                <a:latin typeface="Arial" panose="02080604020202020204" pitchFamily="34" charset="0"/>
              </a:endParaRPr>
            </a:p>
          </p:txBody>
        </p:sp>
        <p:sp>
          <p:nvSpPr>
            <p:cNvPr id="19499" name="Rectangle 18"/>
            <p:cNvSpPr/>
            <p:nvPr/>
          </p:nvSpPr>
          <p:spPr>
            <a:xfrm>
              <a:off x="304" y="2737"/>
              <a:ext cx="768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latin typeface="Arial" panose="02080604020202020204" pitchFamily="34" charset="0"/>
                  <a:ea typeface="仿宋_GB2312" pitchFamily="49" charset="-122"/>
                </a:rPr>
                <a:t>&amp;</a:t>
              </a:r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a</a:t>
              </a:r>
              <a:endParaRPr lang="en-US" altLang="zh-CN" sz="2400" b="1">
                <a:latin typeface="Arial" panose="02080604020202020204" pitchFamily="34" charset="0"/>
                <a:ea typeface="仿宋_GB2312" pitchFamily="49" charset="-122"/>
              </a:endParaRPr>
            </a:p>
          </p:txBody>
        </p:sp>
        <p:sp>
          <p:nvSpPr>
            <p:cNvPr id="19500" name="Rectangle 19"/>
            <p:cNvSpPr/>
            <p:nvPr/>
          </p:nvSpPr>
          <p:spPr>
            <a:xfrm>
              <a:off x="2324" y="2708"/>
              <a:ext cx="41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en-US" sz="2400" b="1">
                  <a:latin typeface="Arial" panose="02080604020202020204" pitchFamily="34" charset="0"/>
                  <a:ea typeface="仿宋_GB2312" pitchFamily="49" charset="-122"/>
                </a:rPr>
                <a:t>*</a:t>
              </a:r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p1</a:t>
              </a:r>
              <a:endParaRPr lang="en-US" altLang="zh-CN" sz="2400" b="1">
                <a:latin typeface="Arial" panose="02080604020202020204" pitchFamily="34" charset="0"/>
                <a:ea typeface="仿宋_GB2312" pitchFamily="49" charset="-122"/>
              </a:endParaRPr>
            </a:p>
          </p:txBody>
        </p:sp>
        <p:grpSp>
          <p:nvGrpSpPr>
            <p:cNvPr id="19501" name="Group 20"/>
            <p:cNvGrpSpPr/>
            <p:nvPr/>
          </p:nvGrpSpPr>
          <p:grpSpPr>
            <a:xfrm>
              <a:off x="1065" y="2881"/>
              <a:ext cx="496" cy="527"/>
              <a:chOff x="1968" y="1537"/>
              <a:chExt cx="496" cy="527"/>
            </a:xfrm>
          </p:grpSpPr>
          <p:sp>
            <p:nvSpPr>
              <p:cNvPr id="19502" name="Line 21"/>
              <p:cNvSpPr/>
              <p:nvPr/>
            </p:nvSpPr>
            <p:spPr>
              <a:xfrm>
                <a:off x="1968" y="2064"/>
                <a:ext cx="48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9503" name="Line 22"/>
              <p:cNvSpPr/>
              <p:nvPr/>
            </p:nvSpPr>
            <p:spPr>
              <a:xfrm>
                <a:off x="1984" y="1537"/>
                <a:ext cx="48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grpSp>
        <p:nvGrpSpPr>
          <p:cNvPr id="19462" name="Group 52"/>
          <p:cNvGrpSpPr/>
          <p:nvPr/>
        </p:nvGrpSpPr>
        <p:grpSpPr>
          <a:xfrm>
            <a:off x="539750" y="4652963"/>
            <a:ext cx="3963988" cy="1752600"/>
            <a:chOff x="3072" y="2976"/>
            <a:chExt cx="2497" cy="1104"/>
          </a:xfrm>
        </p:grpSpPr>
        <p:grpSp>
          <p:nvGrpSpPr>
            <p:cNvPr id="19477" name="Group 51"/>
            <p:cNvGrpSpPr/>
            <p:nvPr/>
          </p:nvGrpSpPr>
          <p:grpSpPr>
            <a:xfrm>
              <a:off x="3078" y="2976"/>
              <a:ext cx="1513" cy="336"/>
              <a:chOff x="3078" y="2976"/>
              <a:chExt cx="1513" cy="336"/>
            </a:xfrm>
          </p:grpSpPr>
          <p:sp>
            <p:nvSpPr>
              <p:cNvPr id="19489" name="Rectangle 29"/>
              <p:cNvSpPr/>
              <p:nvPr/>
            </p:nvSpPr>
            <p:spPr>
              <a:xfrm>
                <a:off x="4368" y="3024"/>
                <a:ext cx="223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>
                    <a:latin typeface="Arial" panose="02080604020202020204" pitchFamily="34" charset="0"/>
                    <a:ea typeface="仿宋_GB2312" pitchFamily="49" charset="-122"/>
                  </a:rPr>
                  <a:t>a</a:t>
                </a:r>
                <a:endParaRPr lang="en-US" altLang="zh-CN" sz="2400" b="1">
                  <a:latin typeface="Arial" panose="02080604020202020204" pitchFamily="34" charset="0"/>
                </a:endParaRPr>
              </a:p>
            </p:txBody>
          </p:sp>
          <p:sp>
            <p:nvSpPr>
              <p:cNvPr id="19490" name="Rectangle 32"/>
              <p:cNvSpPr/>
              <p:nvPr/>
            </p:nvSpPr>
            <p:spPr>
              <a:xfrm>
                <a:off x="3078" y="2976"/>
                <a:ext cx="340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>
                    <a:latin typeface="Arial" panose="02080604020202020204" pitchFamily="34" charset="0"/>
                    <a:ea typeface="仿宋_GB2312" pitchFamily="49" charset="-122"/>
                  </a:rPr>
                  <a:t>p1</a:t>
                </a:r>
                <a:endParaRPr lang="en-US" altLang="zh-CN" sz="2400" b="1">
                  <a:latin typeface="Arial" panose="02080604020202020204" pitchFamily="34" charset="0"/>
                </a:endParaRPr>
              </a:p>
            </p:txBody>
          </p:sp>
        </p:grpSp>
        <p:grpSp>
          <p:nvGrpSpPr>
            <p:cNvPr id="19478" name="Group 50"/>
            <p:cNvGrpSpPr/>
            <p:nvPr/>
          </p:nvGrpSpPr>
          <p:grpSpPr>
            <a:xfrm>
              <a:off x="3072" y="3236"/>
              <a:ext cx="2497" cy="844"/>
              <a:chOff x="3072" y="3236"/>
              <a:chExt cx="2497" cy="844"/>
            </a:xfrm>
          </p:grpSpPr>
          <p:sp>
            <p:nvSpPr>
              <p:cNvPr id="19479" name="Rectangle 24"/>
              <p:cNvSpPr/>
              <p:nvPr/>
            </p:nvSpPr>
            <p:spPr>
              <a:xfrm>
                <a:off x="4368" y="3552"/>
                <a:ext cx="233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>
                    <a:latin typeface="Arial" panose="02080604020202020204" pitchFamily="34" charset="0"/>
                    <a:ea typeface="仿宋_GB2312" pitchFamily="49" charset="-122"/>
                  </a:rPr>
                  <a:t>b</a:t>
                </a:r>
                <a:endParaRPr lang="en-US" altLang="zh-CN" sz="2400" b="1">
                  <a:latin typeface="Arial" panose="02080604020202020204" pitchFamily="34" charset="0"/>
                </a:endParaRPr>
              </a:p>
            </p:txBody>
          </p:sp>
          <p:sp>
            <p:nvSpPr>
              <p:cNvPr id="19480" name="Rectangle 25"/>
              <p:cNvSpPr/>
              <p:nvPr/>
            </p:nvSpPr>
            <p:spPr>
              <a:xfrm>
                <a:off x="4377" y="3792"/>
                <a:ext cx="768" cy="28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400" b="1" dirty="0">
                    <a:latin typeface="Arial" panose="02080604020202020204" pitchFamily="34" charset="0"/>
                  </a:rPr>
                  <a:t>2</a:t>
                </a:r>
                <a:endParaRPr lang="zh-CN" altLang="en-US" sz="2400" b="1" dirty="0">
                  <a:latin typeface="Arial" panose="02080604020202020204" pitchFamily="34" charset="0"/>
                </a:endParaRPr>
              </a:p>
            </p:txBody>
          </p:sp>
          <p:sp>
            <p:nvSpPr>
              <p:cNvPr id="19481" name="Rectangle 26"/>
              <p:cNvSpPr/>
              <p:nvPr/>
            </p:nvSpPr>
            <p:spPr>
              <a:xfrm>
                <a:off x="3120" y="3792"/>
                <a:ext cx="768" cy="28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400" b="1" dirty="0">
                    <a:latin typeface="Arial" panose="02080604020202020204" pitchFamily="34" charset="0"/>
                    <a:ea typeface="仿宋_GB2312" pitchFamily="49" charset="-122"/>
                  </a:rPr>
                  <a:t>&amp;</a:t>
                </a:r>
                <a:r>
                  <a:rPr lang="en-US" altLang="zh-CN" sz="2400" b="1">
                    <a:latin typeface="Arial" panose="02080604020202020204" pitchFamily="34" charset="0"/>
                    <a:ea typeface="仿宋_GB2312" pitchFamily="49" charset="-122"/>
                  </a:rPr>
                  <a:t>a</a:t>
                </a:r>
                <a:endParaRPr lang="en-US" altLang="zh-CN" sz="2400" b="1">
                  <a:latin typeface="Arial" panose="02080604020202020204" pitchFamily="34" charset="0"/>
                </a:endParaRPr>
              </a:p>
            </p:txBody>
          </p:sp>
          <p:sp>
            <p:nvSpPr>
              <p:cNvPr id="19482" name="Rectangle 27"/>
              <p:cNvSpPr/>
              <p:nvPr/>
            </p:nvSpPr>
            <p:spPr>
              <a:xfrm>
                <a:off x="3072" y="3504"/>
                <a:ext cx="340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>
                    <a:latin typeface="Arial" panose="02080604020202020204" pitchFamily="34" charset="0"/>
                    <a:ea typeface="仿宋_GB2312" pitchFamily="49" charset="-122"/>
                  </a:rPr>
                  <a:t>p2</a:t>
                </a:r>
                <a:endParaRPr lang="en-US" altLang="zh-CN" sz="2400" b="1">
                  <a:latin typeface="Arial" panose="02080604020202020204" pitchFamily="34" charset="0"/>
                </a:endParaRPr>
              </a:p>
            </p:txBody>
          </p:sp>
          <p:sp>
            <p:nvSpPr>
              <p:cNvPr id="19483" name="Rectangle 28"/>
              <p:cNvSpPr/>
              <p:nvPr/>
            </p:nvSpPr>
            <p:spPr>
              <a:xfrm>
                <a:off x="5140" y="3763"/>
                <a:ext cx="413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pPr algn="ctr"/>
                <a:r>
                  <a:rPr lang="en-US" altLang="en-US" sz="2400" b="1">
                    <a:latin typeface="Arial" panose="02080604020202020204" pitchFamily="34" charset="0"/>
                    <a:ea typeface="仿宋_GB2312" pitchFamily="49" charset="-122"/>
                  </a:rPr>
                  <a:t>*</a:t>
                </a:r>
                <a:r>
                  <a:rPr lang="en-US" altLang="zh-CN" sz="2400" b="1">
                    <a:latin typeface="Arial" panose="02080604020202020204" pitchFamily="34" charset="0"/>
                    <a:ea typeface="仿宋_GB2312" pitchFamily="49" charset="-122"/>
                  </a:rPr>
                  <a:t>p1</a:t>
                </a:r>
                <a:endParaRPr lang="en-US" altLang="zh-CN" sz="2400" b="1">
                  <a:latin typeface="Arial" panose="0208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9484" name="Rectangle 30"/>
              <p:cNvSpPr/>
              <p:nvPr/>
            </p:nvSpPr>
            <p:spPr>
              <a:xfrm>
                <a:off x="4384" y="3265"/>
                <a:ext cx="768" cy="28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400" b="1" dirty="0">
                    <a:latin typeface="Arial" panose="02080604020202020204" pitchFamily="34" charset="0"/>
                    <a:ea typeface="仿宋_GB2312" pitchFamily="49" charset="-122"/>
                  </a:rPr>
                  <a:t>1</a:t>
                </a:r>
                <a:endParaRPr lang="zh-CN" altLang="en-US" sz="2400" b="1" dirty="0">
                  <a:latin typeface="Arial" panose="02080604020202020204" pitchFamily="34" charset="0"/>
                </a:endParaRPr>
              </a:p>
            </p:txBody>
          </p:sp>
          <p:sp>
            <p:nvSpPr>
              <p:cNvPr id="19485" name="Rectangle 31"/>
              <p:cNvSpPr/>
              <p:nvPr/>
            </p:nvSpPr>
            <p:spPr>
              <a:xfrm>
                <a:off x="3136" y="3265"/>
                <a:ext cx="768" cy="28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400" b="1" dirty="0">
                    <a:latin typeface="Arial" panose="02080604020202020204" pitchFamily="34" charset="0"/>
                    <a:ea typeface="仿宋_GB2312" pitchFamily="49" charset="-122"/>
                  </a:rPr>
                  <a:t>&amp;</a:t>
                </a:r>
                <a:r>
                  <a:rPr lang="en-US" altLang="zh-CN" sz="2400" b="1">
                    <a:latin typeface="Arial" panose="02080604020202020204" pitchFamily="34" charset="0"/>
                    <a:ea typeface="仿宋_GB2312" pitchFamily="49" charset="-122"/>
                  </a:rPr>
                  <a:t>b</a:t>
                </a:r>
                <a:endParaRPr lang="en-US" altLang="zh-CN" sz="2400" b="1">
                  <a:latin typeface="Arial" panose="0208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9486" name="Rectangle 33"/>
              <p:cNvSpPr/>
              <p:nvPr/>
            </p:nvSpPr>
            <p:spPr>
              <a:xfrm>
                <a:off x="5156" y="3236"/>
                <a:ext cx="413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pPr algn="ctr"/>
                <a:r>
                  <a:rPr lang="en-US" altLang="en-US" sz="2400" b="1">
                    <a:latin typeface="Arial" panose="02080604020202020204" pitchFamily="34" charset="0"/>
                    <a:ea typeface="仿宋_GB2312" pitchFamily="49" charset="-122"/>
                  </a:rPr>
                  <a:t>*</a:t>
                </a:r>
                <a:r>
                  <a:rPr lang="en-US" altLang="zh-CN" sz="2400" b="1">
                    <a:latin typeface="Arial" panose="02080604020202020204" pitchFamily="34" charset="0"/>
                    <a:ea typeface="仿宋_GB2312" pitchFamily="49" charset="-122"/>
                  </a:rPr>
                  <a:t>p2</a:t>
                </a:r>
                <a:endParaRPr lang="en-US" altLang="zh-CN" sz="2400" b="1">
                  <a:latin typeface="Arial" panose="0208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9487" name="Line 34"/>
              <p:cNvSpPr/>
              <p:nvPr/>
            </p:nvSpPr>
            <p:spPr>
              <a:xfrm>
                <a:off x="3888" y="3408"/>
                <a:ext cx="480" cy="528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9488" name="Line 35"/>
              <p:cNvSpPr/>
              <p:nvPr/>
            </p:nvSpPr>
            <p:spPr>
              <a:xfrm flipV="1">
                <a:off x="3897" y="3408"/>
                <a:ext cx="471" cy="528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grpSp>
        <p:nvGrpSpPr>
          <p:cNvPr id="19463" name="Group 36"/>
          <p:cNvGrpSpPr/>
          <p:nvPr/>
        </p:nvGrpSpPr>
        <p:grpSpPr>
          <a:xfrm>
            <a:off x="4932363" y="4724400"/>
            <a:ext cx="3963987" cy="1752600"/>
            <a:chOff x="240" y="2448"/>
            <a:chExt cx="2497" cy="1104"/>
          </a:xfrm>
        </p:grpSpPr>
        <p:sp>
          <p:nvSpPr>
            <p:cNvPr id="19464" name="Rectangle 37"/>
            <p:cNvSpPr/>
            <p:nvPr/>
          </p:nvSpPr>
          <p:spPr>
            <a:xfrm>
              <a:off x="246" y="2448"/>
              <a:ext cx="340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p1</a:t>
              </a:r>
              <a:endParaRPr lang="en-US" altLang="zh-CN" sz="2400" b="1">
                <a:latin typeface="Arial" panose="02080604020202020204" pitchFamily="34" charset="0"/>
              </a:endParaRPr>
            </a:p>
          </p:txBody>
        </p:sp>
        <p:sp>
          <p:nvSpPr>
            <p:cNvPr id="19465" name="Rectangle 38"/>
            <p:cNvSpPr/>
            <p:nvPr/>
          </p:nvSpPr>
          <p:spPr>
            <a:xfrm>
              <a:off x="1536" y="3024"/>
              <a:ext cx="23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b</a:t>
              </a:r>
              <a:endParaRPr lang="en-US" altLang="zh-CN" sz="2400" b="1">
                <a:latin typeface="Arial" panose="02080604020202020204" pitchFamily="34" charset="0"/>
              </a:endParaRPr>
            </a:p>
          </p:txBody>
        </p:sp>
        <p:sp>
          <p:nvSpPr>
            <p:cNvPr id="19466" name="Rectangle 39"/>
            <p:cNvSpPr/>
            <p:nvPr/>
          </p:nvSpPr>
          <p:spPr>
            <a:xfrm>
              <a:off x="1545" y="3264"/>
              <a:ext cx="768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latin typeface="Arial" panose="02080604020202020204" pitchFamily="34" charset="0"/>
                </a:rPr>
                <a:t>1</a:t>
              </a:r>
              <a:endParaRPr lang="zh-CN" altLang="en-US" sz="2400" b="1" dirty="0">
                <a:latin typeface="Arial" panose="02080604020202020204" pitchFamily="34" charset="0"/>
              </a:endParaRPr>
            </a:p>
          </p:txBody>
        </p:sp>
        <p:sp>
          <p:nvSpPr>
            <p:cNvPr id="19467" name="Rectangle 40"/>
            <p:cNvSpPr/>
            <p:nvPr/>
          </p:nvSpPr>
          <p:spPr>
            <a:xfrm>
              <a:off x="288" y="3264"/>
              <a:ext cx="768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latin typeface="Arial" panose="02080604020202020204" pitchFamily="34" charset="0"/>
                  <a:ea typeface="仿宋_GB2312" pitchFamily="49" charset="-122"/>
                </a:rPr>
                <a:t>&amp;</a:t>
              </a:r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b</a:t>
              </a:r>
              <a:endParaRPr lang="en-US" altLang="zh-CN" sz="2400" b="1">
                <a:latin typeface="Arial" panose="02080604020202020204" pitchFamily="34" charset="0"/>
              </a:endParaRPr>
            </a:p>
          </p:txBody>
        </p:sp>
        <p:sp>
          <p:nvSpPr>
            <p:cNvPr id="19468" name="Rectangle 41"/>
            <p:cNvSpPr/>
            <p:nvPr/>
          </p:nvSpPr>
          <p:spPr>
            <a:xfrm>
              <a:off x="240" y="2976"/>
              <a:ext cx="340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p2</a:t>
              </a:r>
              <a:endParaRPr lang="en-US" altLang="zh-CN" sz="2400" b="1">
                <a:latin typeface="Arial" panose="02080604020202020204" pitchFamily="34" charset="0"/>
              </a:endParaRPr>
            </a:p>
          </p:txBody>
        </p:sp>
        <p:sp>
          <p:nvSpPr>
            <p:cNvPr id="19469" name="Rectangle 42"/>
            <p:cNvSpPr/>
            <p:nvPr/>
          </p:nvSpPr>
          <p:spPr>
            <a:xfrm>
              <a:off x="2308" y="3235"/>
              <a:ext cx="41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en-US" sz="2400" b="1">
                  <a:latin typeface="Arial" panose="02080604020202020204" pitchFamily="34" charset="0"/>
                  <a:ea typeface="仿宋_GB2312" pitchFamily="49" charset="-122"/>
                </a:rPr>
                <a:t>*</a:t>
              </a:r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p2</a:t>
              </a:r>
              <a:endParaRPr lang="en-US" altLang="zh-CN" sz="2400" b="1">
                <a:latin typeface="Arial" panose="02080604020202020204" pitchFamily="34" charset="0"/>
                <a:ea typeface="仿宋_GB2312" pitchFamily="49" charset="-122"/>
              </a:endParaRPr>
            </a:p>
          </p:txBody>
        </p:sp>
        <p:sp>
          <p:nvSpPr>
            <p:cNvPr id="19470" name="Rectangle 43"/>
            <p:cNvSpPr/>
            <p:nvPr/>
          </p:nvSpPr>
          <p:spPr>
            <a:xfrm>
              <a:off x="1536" y="2496"/>
              <a:ext cx="22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a</a:t>
              </a:r>
              <a:endParaRPr lang="en-US" altLang="zh-CN" sz="2400" b="1">
                <a:latin typeface="Arial" panose="02080604020202020204" pitchFamily="34" charset="0"/>
              </a:endParaRPr>
            </a:p>
          </p:txBody>
        </p:sp>
        <p:sp>
          <p:nvSpPr>
            <p:cNvPr id="19471" name="Rectangle 44"/>
            <p:cNvSpPr/>
            <p:nvPr/>
          </p:nvSpPr>
          <p:spPr>
            <a:xfrm>
              <a:off x="1552" y="2737"/>
              <a:ext cx="768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latin typeface="Arial" panose="02080604020202020204" pitchFamily="34" charset="0"/>
                  <a:ea typeface="仿宋_GB2312" pitchFamily="49" charset="-122"/>
                </a:rPr>
                <a:t>2</a:t>
              </a:r>
              <a:endParaRPr lang="zh-CN" altLang="en-US" sz="2400" b="1" dirty="0">
                <a:latin typeface="Arial" panose="02080604020202020204" pitchFamily="34" charset="0"/>
              </a:endParaRPr>
            </a:p>
          </p:txBody>
        </p:sp>
        <p:sp>
          <p:nvSpPr>
            <p:cNvPr id="19472" name="Rectangle 45"/>
            <p:cNvSpPr/>
            <p:nvPr/>
          </p:nvSpPr>
          <p:spPr>
            <a:xfrm>
              <a:off x="304" y="2737"/>
              <a:ext cx="768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 dirty="0">
                  <a:latin typeface="Arial" panose="02080604020202020204" pitchFamily="34" charset="0"/>
                  <a:ea typeface="仿宋_GB2312" pitchFamily="49" charset="-122"/>
                </a:rPr>
                <a:t>&amp;</a:t>
              </a:r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a</a:t>
              </a:r>
              <a:endParaRPr lang="en-US" altLang="zh-CN" sz="2400" b="1">
                <a:latin typeface="Arial" panose="02080604020202020204" pitchFamily="34" charset="0"/>
                <a:ea typeface="仿宋_GB2312" pitchFamily="49" charset="-122"/>
              </a:endParaRPr>
            </a:p>
          </p:txBody>
        </p:sp>
        <p:sp>
          <p:nvSpPr>
            <p:cNvPr id="19473" name="Rectangle 46"/>
            <p:cNvSpPr/>
            <p:nvPr/>
          </p:nvSpPr>
          <p:spPr>
            <a:xfrm>
              <a:off x="2324" y="2708"/>
              <a:ext cx="41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en-US" sz="2400" b="1">
                  <a:latin typeface="Arial" panose="02080604020202020204" pitchFamily="34" charset="0"/>
                  <a:ea typeface="仿宋_GB2312" pitchFamily="49" charset="-122"/>
                </a:rPr>
                <a:t>*</a:t>
              </a:r>
              <a:r>
                <a:rPr lang="en-US" altLang="zh-CN" sz="2400" b="1">
                  <a:latin typeface="Arial" panose="02080604020202020204" pitchFamily="34" charset="0"/>
                  <a:ea typeface="仿宋_GB2312" pitchFamily="49" charset="-122"/>
                </a:rPr>
                <a:t>p1</a:t>
              </a:r>
              <a:endParaRPr lang="en-US" altLang="zh-CN" sz="2400" b="1">
                <a:latin typeface="Arial" panose="02080604020202020204" pitchFamily="34" charset="0"/>
                <a:ea typeface="仿宋_GB2312" pitchFamily="49" charset="-122"/>
              </a:endParaRPr>
            </a:p>
          </p:txBody>
        </p:sp>
        <p:grpSp>
          <p:nvGrpSpPr>
            <p:cNvPr id="19474" name="Group 47"/>
            <p:cNvGrpSpPr/>
            <p:nvPr/>
          </p:nvGrpSpPr>
          <p:grpSpPr>
            <a:xfrm>
              <a:off x="1065" y="2881"/>
              <a:ext cx="496" cy="527"/>
              <a:chOff x="1968" y="1537"/>
              <a:chExt cx="496" cy="527"/>
            </a:xfrm>
          </p:grpSpPr>
          <p:sp>
            <p:nvSpPr>
              <p:cNvPr id="19475" name="Line 48"/>
              <p:cNvSpPr/>
              <p:nvPr/>
            </p:nvSpPr>
            <p:spPr>
              <a:xfrm>
                <a:off x="1968" y="2064"/>
                <a:ext cx="48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9476" name="Line 49"/>
              <p:cNvSpPr/>
              <p:nvPr/>
            </p:nvSpPr>
            <p:spPr>
              <a:xfrm>
                <a:off x="1984" y="1537"/>
                <a:ext cx="48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4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2264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2264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4">
                                            <p:txEl>
                                              <p:charRg st="32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2264">
                                            <p:txEl>
                                              <p:charRg st="32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2264">
                                            <p:txEl>
                                              <p:charRg st="32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4">
                                            <p:txEl>
                                              <p:charRg st="45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2264">
                                            <p:txEl>
                                              <p:charRg st="45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2264">
                                            <p:txEl>
                                              <p:charRg st="45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26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1" name="Rectangle 7"/>
          <p:cNvSpPr>
            <a:spLocks noGrp="1"/>
          </p:cNvSpPr>
          <p:nvPr>
            <p:ph type="title"/>
          </p:nvPr>
        </p:nvSpPr>
        <p:spPr>
          <a:xfrm>
            <a:off x="457200" y="357188"/>
            <a:ext cx="8229600" cy="6096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8.2.2 </a:t>
            </a:r>
            <a:r>
              <a:rPr lang="en-US" altLang="zh-CN" b="0">
                <a:sym typeface="+mn-ea"/>
              </a:rPr>
              <a:t>指针</a:t>
            </a:r>
            <a:r>
              <a:rPr lang="en-US" altLang="zh-CN" b="0">
                <a:sym typeface="+mn-ea"/>
              </a:rPr>
              <a:t>作为函数的参数</a:t>
            </a:r>
            <a:endParaRPr lang="en-US" altLang="zh-CN" b="0">
              <a:sym typeface="+mn-ea"/>
            </a:endParaRPr>
          </a:p>
        </p:txBody>
      </p:sp>
      <p:sp>
        <p:nvSpPr>
          <p:cNvPr id="22532" name="Rectangle 9"/>
          <p:cNvSpPr>
            <a:spLocks noGrp="1"/>
          </p:cNvSpPr>
          <p:nvPr>
            <p:ph idx="1"/>
          </p:nvPr>
        </p:nvSpPr>
        <p:spPr>
          <a:xfrm>
            <a:off x="179388" y="908050"/>
            <a:ext cx="8964612" cy="935038"/>
          </a:xfrm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10000"/>
              </a:lnSpc>
              <a:buNone/>
            </a:pPr>
            <a:r>
              <a:rPr lang="zh-CN" altLang="en-US" sz="2400" dirty="0">
                <a:latin typeface="宋体" pitchFamily="2" charset="-122"/>
              </a:rPr>
              <a:t>函数参数包括实参和形参，两者的类型要一致,可以是指针类型。</a:t>
            </a:r>
            <a:endParaRPr lang="zh-CN" altLang="en-US" sz="2400" dirty="0">
              <a:latin typeface="宋体" pitchFamily="2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400" dirty="0">
                <a:latin typeface="宋体" pitchFamily="2" charset="-122"/>
              </a:rPr>
              <a:t>如果</a:t>
            </a:r>
            <a:r>
              <a:rPr lang="zh-CN" altLang="en-US" sz="2400" dirty="0">
                <a:solidFill>
                  <a:schemeClr val="bg2"/>
                </a:solidFill>
                <a:latin typeface="宋体" pitchFamily="2" charset="-122"/>
              </a:rPr>
              <a:t>实参</a:t>
            </a:r>
            <a:r>
              <a:rPr lang="zh-CN" altLang="en-US" sz="2400" dirty="0">
                <a:latin typeface="宋体" pitchFamily="2" charset="-122"/>
              </a:rPr>
              <a:t>是某个变量的</a:t>
            </a:r>
            <a:r>
              <a:rPr lang="zh-CN" altLang="en-US" sz="2400" dirty="0">
                <a:solidFill>
                  <a:schemeClr val="bg2"/>
                </a:solidFill>
                <a:latin typeface="宋体" pitchFamily="2" charset="-122"/>
              </a:rPr>
              <a:t>地址</a:t>
            </a:r>
            <a:r>
              <a:rPr lang="zh-CN" altLang="en-US" sz="2400" dirty="0">
                <a:latin typeface="宋体" pitchFamily="2" charset="-122"/>
              </a:rPr>
              <a:t>，相应的</a:t>
            </a:r>
            <a:r>
              <a:rPr lang="zh-CN" altLang="en-US" sz="2400" dirty="0">
                <a:solidFill>
                  <a:srgbClr val="CC0066"/>
                </a:solidFill>
                <a:latin typeface="宋体" pitchFamily="2" charset="-122"/>
              </a:rPr>
              <a:t>形参</a:t>
            </a:r>
            <a:r>
              <a:rPr lang="zh-CN" altLang="en-US" sz="2400" dirty="0">
                <a:latin typeface="宋体" pitchFamily="2" charset="-122"/>
              </a:rPr>
              <a:t>就是</a:t>
            </a:r>
            <a:r>
              <a:rPr lang="zh-CN" altLang="en-US" sz="2400" dirty="0">
                <a:solidFill>
                  <a:srgbClr val="CC0066"/>
                </a:solidFill>
                <a:latin typeface="宋体" pitchFamily="2" charset="-122"/>
              </a:rPr>
              <a:t>指针</a:t>
            </a:r>
            <a:r>
              <a:rPr lang="zh-CN" altLang="en-US" sz="2400" dirty="0">
                <a:latin typeface="宋体" pitchFamily="2" charset="-122"/>
              </a:rPr>
              <a:t>。</a:t>
            </a:r>
            <a:r>
              <a:rPr lang="zh-CN" altLang="en-US" sz="2400" dirty="0"/>
              <a:t> </a:t>
            </a:r>
            <a:endParaRPr lang="zh-CN" altLang="en-US" sz="2400" dirty="0"/>
          </a:p>
        </p:txBody>
      </p:sp>
      <p:sp>
        <p:nvSpPr>
          <p:cNvPr id="357386" name="Rectangle 10"/>
          <p:cNvSpPr/>
          <p:nvPr/>
        </p:nvSpPr>
        <p:spPr>
          <a:xfrm>
            <a:off x="323850" y="1955800"/>
            <a:ext cx="8507413" cy="487743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int</a:t>
            </a:r>
            <a:r>
              <a:rPr sz="1800">
                <a:latin typeface="+mn-ea"/>
                <a:cs typeface="+mn-ea"/>
                <a:sym typeface="+mn-ea"/>
              </a:rPr>
              <a:t> main (void) 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{     </a:t>
            </a:r>
            <a:r>
              <a:rPr sz="1800">
                <a:latin typeface="+mn-ea"/>
                <a:cs typeface="+mn-ea"/>
                <a:sym typeface="+mn-ea"/>
              </a:rPr>
              <a:t>int</a:t>
            </a:r>
            <a:r>
              <a:rPr sz="1800">
                <a:latin typeface="+mn-ea"/>
                <a:cs typeface="+mn-ea"/>
                <a:sym typeface="+mn-ea"/>
              </a:rPr>
              <a:t> a = 1, b = 2;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    </a:t>
            </a:r>
            <a:r>
              <a:rPr sz="1800">
                <a:latin typeface="+mn-ea"/>
                <a:cs typeface="+mn-ea"/>
                <a:sym typeface="+mn-ea"/>
              </a:rPr>
              <a:t>int</a:t>
            </a:r>
            <a:r>
              <a:rPr sz="1800">
                <a:latin typeface="+mn-ea"/>
                <a:cs typeface="+mn-ea"/>
                <a:sym typeface="+mn-ea"/>
              </a:rPr>
              <a:t> *pa = &amp;a, *</a:t>
            </a:r>
            <a:r>
              <a:rPr sz="1800">
                <a:latin typeface="+mn-ea"/>
                <a:cs typeface="+mn-ea"/>
                <a:sym typeface="+mn-ea"/>
              </a:rPr>
              <a:t>pb</a:t>
            </a:r>
            <a:r>
              <a:rPr sz="1800">
                <a:latin typeface="+mn-ea"/>
                <a:cs typeface="+mn-ea"/>
                <a:sym typeface="+mn-ea"/>
              </a:rPr>
              <a:t> = &amp;b;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    </a:t>
            </a:r>
            <a:r>
              <a:rPr sz="1800">
                <a:latin typeface="+mn-ea"/>
                <a:cs typeface="+mn-ea"/>
                <a:sym typeface="+mn-ea"/>
              </a:rPr>
              <a:t>void swap1(int x, </a:t>
            </a:r>
            <a:r>
              <a:rPr sz="1800">
                <a:latin typeface="+mn-ea"/>
                <a:cs typeface="+mn-ea"/>
                <a:sym typeface="+mn-ea"/>
              </a:rPr>
              <a:t>int</a:t>
            </a:r>
            <a:r>
              <a:rPr sz="1800">
                <a:latin typeface="+mn-ea"/>
                <a:cs typeface="+mn-ea"/>
                <a:sym typeface="+mn-ea"/>
              </a:rPr>
              <a:t> y), swap2( </a:t>
            </a:r>
            <a:r>
              <a:rPr sz="1800">
                <a:latin typeface="+mn-ea"/>
                <a:cs typeface="+mn-ea"/>
                <a:sym typeface="+mn-ea"/>
              </a:rPr>
              <a:t>int</a:t>
            </a:r>
            <a:r>
              <a:rPr sz="1800">
                <a:latin typeface="+mn-ea"/>
                <a:cs typeface="+mn-ea"/>
                <a:sym typeface="+mn-ea"/>
              </a:rPr>
              <a:t> *</a:t>
            </a:r>
            <a:r>
              <a:rPr sz="1800">
                <a:latin typeface="+mn-ea"/>
                <a:cs typeface="+mn-ea"/>
                <a:sym typeface="+mn-ea"/>
              </a:rPr>
              <a:t>px</a:t>
            </a:r>
            <a:r>
              <a:rPr sz="1800">
                <a:latin typeface="+mn-ea"/>
                <a:cs typeface="+mn-ea"/>
                <a:sym typeface="+mn-ea"/>
              </a:rPr>
              <a:t>, </a:t>
            </a:r>
            <a:r>
              <a:rPr sz="1800">
                <a:latin typeface="+mn-ea"/>
                <a:cs typeface="+mn-ea"/>
                <a:sym typeface="+mn-ea"/>
              </a:rPr>
              <a:t>int</a:t>
            </a:r>
            <a:r>
              <a:rPr sz="1800">
                <a:latin typeface="+mn-ea"/>
                <a:cs typeface="+mn-ea"/>
                <a:sym typeface="+mn-ea"/>
              </a:rPr>
              <a:t> *</a:t>
            </a:r>
            <a:r>
              <a:rPr sz="1800">
                <a:latin typeface="+mn-ea"/>
                <a:cs typeface="+mn-ea"/>
                <a:sym typeface="+mn-ea"/>
              </a:rPr>
              <a:t>py</a:t>
            </a:r>
            <a:r>
              <a:rPr sz="1800">
                <a:latin typeface="+mn-ea"/>
                <a:cs typeface="+mn-ea"/>
                <a:sym typeface="+mn-ea"/>
              </a:rPr>
              <a:t> ), swap3 (</a:t>
            </a:r>
            <a:r>
              <a:rPr sz="1800">
                <a:latin typeface="+mn-ea"/>
                <a:cs typeface="+mn-ea"/>
                <a:sym typeface="+mn-ea"/>
              </a:rPr>
              <a:t>int</a:t>
            </a:r>
            <a:r>
              <a:rPr sz="1800">
                <a:latin typeface="+mn-ea"/>
                <a:cs typeface="+mn-ea"/>
                <a:sym typeface="+mn-ea"/>
              </a:rPr>
              <a:t> *</a:t>
            </a:r>
            <a:r>
              <a:rPr sz="1800">
                <a:latin typeface="+mn-ea"/>
                <a:cs typeface="+mn-ea"/>
                <a:sym typeface="+mn-ea"/>
              </a:rPr>
              <a:t>px</a:t>
            </a:r>
            <a:r>
              <a:rPr sz="1800">
                <a:latin typeface="+mn-ea"/>
                <a:cs typeface="+mn-ea"/>
                <a:sym typeface="+mn-ea"/>
              </a:rPr>
              <a:t>, </a:t>
            </a:r>
            <a:r>
              <a:rPr sz="1800">
                <a:latin typeface="+mn-ea"/>
                <a:cs typeface="+mn-ea"/>
                <a:sym typeface="+mn-ea"/>
              </a:rPr>
              <a:t>int</a:t>
            </a:r>
            <a:r>
              <a:rPr sz="1800">
                <a:latin typeface="+mn-ea"/>
                <a:cs typeface="+mn-ea"/>
                <a:sym typeface="+mn-ea"/>
              </a:rPr>
              <a:t> *</a:t>
            </a:r>
            <a:r>
              <a:rPr sz="1800">
                <a:latin typeface="+mn-ea"/>
                <a:cs typeface="+mn-ea"/>
                <a:sym typeface="+mn-ea"/>
              </a:rPr>
              <a:t>py</a:t>
            </a:r>
            <a:r>
              <a:rPr sz="1800">
                <a:latin typeface="+mn-ea"/>
                <a:cs typeface="+mn-ea"/>
                <a:sym typeface="+mn-ea"/>
              </a:rPr>
              <a:t>);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    </a:t>
            </a:r>
            <a:r>
              <a:rPr sz="1800">
                <a:latin typeface="+mn-ea"/>
                <a:cs typeface="+mn-ea"/>
                <a:sym typeface="+mn-ea"/>
              </a:rPr>
              <a:t>swap1 (a, b)</a:t>
            </a:r>
            <a:r>
              <a:rPr sz="1800">
                <a:latin typeface="+mn-ea"/>
                <a:cs typeface="+mn-ea"/>
                <a:sym typeface="+mn-ea"/>
              </a:rPr>
              <a:t>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    </a:t>
            </a:r>
            <a:r>
              <a:rPr sz="1800">
                <a:latin typeface="+mn-ea"/>
                <a:cs typeface="+mn-ea"/>
                <a:sym typeface="+mn-ea"/>
              </a:rPr>
              <a:t>printf</a:t>
            </a:r>
            <a:r>
              <a:rPr sz="1800">
                <a:latin typeface="+mn-ea"/>
                <a:cs typeface="+mn-ea"/>
                <a:sym typeface="+mn-ea"/>
              </a:rPr>
              <a:t> (“After calling swap1: a=%d b=%</a:t>
            </a:r>
            <a:r>
              <a:rPr sz="1800">
                <a:latin typeface="+mn-ea"/>
                <a:cs typeface="+mn-ea"/>
                <a:sym typeface="+mn-ea"/>
              </a:rPr>
              <a:t>d\n</a:t>
            </a:r>
            <a:r>
              <a:rPr sz="1800">
                <a:latin typeface="+mn-ea"/>
                <a:cs typeface="+mn-ea"/>
                <a:sym typeface="+mn-ea"/>
              </a:rPr>
              <a:t>”, a, b);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    a = 1;   b = 2;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    </a:t>
            </a:r>
            <a:r>
              <a:rPr sz="1800">
                <a:latin typeface="+mn-ea"/>
                <a:cs typeface="+mn-ea"/>
                <a:sym typeface="+mn-ea"/>
              </a:rPr>
              <a:t>swap2(pa, </a:t>
            </a:r>
            <a:r>
              <a:rPr sz="1800">
                <a:latin typeface="+mn-ea"/>
                <a:cs typeface="+mn-ea"/>
                <a:sym typeface="+mn-ea"/>
              </a:rPr>
              <a:t>pb</a:t>
            </a:r>
            <a:r>
              <a:rPr sz="1800">
                <a:latin typeface="+mn-ea"/>
                <a:cs typeface="+mn-ea"/>
                <a:sym typeface="+mn-ea"/>
              </a:rPr>
              <a:t>)</a:t>
            </a:r>
            <a:r>
              <a:rPr sz="1800">
                <a:latin typeface="+mn-ea"/>
                <a:cs typeface="+mn-ea"/>
                <a:sym typeface="+mn-ea"/>
              </a:rPr>
              <a:t>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    </a:t>
            </a:r>
            <a:r>
              <a:rPr sz="1800">
                <a:latin typeface="+mn-ea"/>
                <a:cs typeface="+mn-ea"/>
                <a:sym typeface="+mn-ea"/>
              </a:rPr>
              <a:t>printf</a:t>
            </a:r>
            <a:r>
              <a:rPr sz="1800">
                <a:latin typeface="+mn-ea"/>
                <a:cs typeface="+mn-ea"/>
                <a:sym typeface="+mn-ea"/>
              </a:rPr>
              <a:t> (“After calling swap2: a=%d b=%</a:t>
            </a:r>
            <a:r>
              <a:rPr sz="1800">
                <a:latin typeface="+mn-ea"/>
                <a:cs typeface="+mn-ea"/>
                <a:sym typeface="+mn-ea"/>
              </a:rPr>
              <a:t>d\n</a:t>
            </a:r>
            <a:r>
              <a:rPr sz="1800">
                <a:latin typeface="+mn-ea"/>
                <a:cs typeface="+mn-ea"/>
                <a:sym typeface="+mn-ea"/>
              </a:rPr>
              <a:t>”, a, b);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    a = 1;   b = 2;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    </a:t>
            </a:r>
            <a:r>
              <a:rPr sz="1800">
                <a:latin typeface="+mn-ea"/>
                <a:cs typeface="+mn-ea"/>
                <a:sym typeface="+mn-ea"/>
              </a:rPr>
              <a:t>swap3(pa, </a:t>
            </a:r>
            <a:r>
              <a:rPr sz="1800">
                <a:latin typeface="+mn-ea"/>
                <a:cs typeface="+mn-ea"/>
                <a:sym typeface="+mn-ea"/>
              </a:rPr>
              <a:t>pb</a:t>
            </a:r>
            <a:r>
              <a:rPr sz="1800">
                <a:latin typeface="+mn-ea"/>
                <a:cs typeface="+mn-ea"/>
                <a:sym typeface="+mn-ea"/>
              </a:rPr>
              <a:t>)</a:t>
            </a:r>
            <a:r>
              <a:rPr sz="1800">
                <a:latin typeface="+mn-ea"/>
                <a:cs typeface="+mn-ea"/>
                <a:sym typeface="+mn-ea"/>
              </a:rPr>
              <a:t>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    </a:t>
            </a:r>
            <a:r>
              <a:rPr sz="1800">
                <a:latin typeface="+mn-ea"/>
                <a:cs typeface="+mn-ea"/>
                <a:sym typeface="+mn-ea"/>
              </a:rPr>
              <a:t>printf</a:t>
            </a:r>
            <a:r>
              <a:rPr sz="1800">
                <a:latin typeface="+mn-ea"/>
                <a:cs typeface="+mn-ea"/>
                <a:sym typeface="+mn-ea"/>
              </a:rPr>
              <a:t> (“After calling swap3: a=%d b=%</a:t>
            </a:r>
            <a:r>
              <a:rPr sz="1800">
                <a:latin typeface="+mn-ea"/>
                <a:cs typeface="+mn-ea"/>
                <a:sym typeface="+mn-ea"/>
              </a:rPr>
              <a:t>d\n</a:t>
            </a:r>
            <a:r>
              <a:rPr sz="1800">
                <a:latin typeface="+mn-ea"/>
                <a:cs typeface="+mn-ea"/>
                <a:sym typeface="+mn-ea"/>
              </a:rPr>
              <a:t>”, a, b);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    return 0;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}</a:t>
            </a:r>
            <a:endParaRPr sz="1800">
              <a:latin typeface="+mn-ea"/>
              <a:cs typeface="+mn-ea"/>
              <a:sym typeface="+mn-ea"/>
            </a:endParaRPr>
          </a:p>
        </p:txBody>
      </p:sp>
      <p:sp>
        <p:nvSpPr>
          <p:cNvPr id="357387" name="Rectangle 11"/>
          <p:cNvSpPr/>
          <p:nvPr/>
        </p:nvSpPr>
        <p:spPr>
          <a:xfrm>
            <a:off x="3995738" y="1987868"/>
            <a:ext cx="4495800" cy="7493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zh-CN" altLang="en-US" sz="2400" b="1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调用哪个函数，可以交换</a:t>
            </a:r>
            <a:r>
              <a:rPr lang="en-US" altLang="zh-CN" sz="2400" b="1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main ()</a:t>
            </a:r>
            <a:r>
              <a:rPr lang="zh-CN" altLang="en-US" sz="2400" b="1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中变量</a:t>
            </a:r>
            <a:r>
              <a:rPr lang="en-US" altLang="zh-CN" sz="2400" b="1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a</a:t>
            </a:r>
            <a:r>
              <a:rPr lang="zh-CN" altLang="en-US" sz="2400" b="1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和</a:t>
            </a:r>
            <a:r>
              <a:rPr lang="en-US" altLang="zh-CN" sz="2400" b="1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b</a:t>
            </a:r>
            <a:r>
              <a:rPr lang="zh-CN" altLang="en-US" sz="2400" b="1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的值? </a:t>
            </a:r>
            <a:endParaRPr lang="zh-CN" altLang="en-US" sz="2400" b="1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7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7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386" grpId="0" bldLvl="0" animBg="1"/>
      <p:bldP spid="35738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5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4114800" cy="9144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例8-7 </a:t>
            </a:r>
            <a:r>
              <a:rPr lang="en-US" altLang="zh-CN" sz="4000"/>
              <a:t>swap1()</a:t>
            </a:r>
            <a:endParaRPr lang="zh-CN" altLang="en-US" sz="4000" dirty="0"/>
          </a:p>
        </p:txBody>
      </p:sp>
      <p:grpSp>
        <p:nvGrpSpPr>
          <p:cNvPr id="2" name="Group 23"/>
          <p:cNvGrpSpPr/>
          <p:nvPr/>
        </p:nvGrpSpPr>
        <p:grpSpPr>
          <a:xfrm>
            <a:off x="5257800" y="1127125"/>
            <a:ext cx="2743200" cy="1082675"/>
            <a:chOff x="3696" y="1142"/>
            <a:chExt cx="1728" cy="682"/>
          </a:xfrm>
        </p:grpSpPr>
        <p:sp>
          <p:nvSpPr>
            <p:cNvPr id="23566" name="Rectangle 24"/>
            <p:cNvSpPr/>
            <p:nvPr/>
          </p:nvSpPr>
          <p:spPr>
            <a:xfrm>
              <a:off x="3936" y="1190"/>
              <a:ext cx="24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>
                  <a:latin typeface="Arial" panose="02080604020202020204" pitchFamily="34" charset="0"/>
                </a:rPr>
                <a:t>a</a:t>
              </a:r>
              <a:endParaRPr lang="en-US" altLang="zh-CN" sz="2800" b="1">
                <a:latin typeface="Arial" panose="02080604020202020204" pitchFamily="34" charset="0"/>
              </a:endParaRPr>
            </a:p>
          </p:txBody>
        </p:sp>
        <p:sp>
          <p:nvSpPr>
            <p:cNvPr id="23567" name="Rectangle 25"/>
            <p:cNvSpPr/>
            <p:nvPr/>
          </p:nvSpPr>
          <p:spPr>
            <a:xfrm>
              <a:off x="3696" y="1536"/>
              <a:ext cx="768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800" b="1" dirty="0">
                  <a:latin typeface="Arial" panose="02080604020202020204" pitchFamily="34" charset="0"/>
                </a:rPr>
                <a:t>1</a:t>
              </a:r>
              <a:endParaRPr lang="zh-CN" altLang="en-US" sz="2800" b="1" dirty="0">
                <a:latin typeface="Arial" panose="02080604020202020204" pitchFamily="34" charset="0"/>
              </a:endParaRPr>
            </a:p>
          </p:txBody>
        </p:sp>
        <p:sp>
          <p:nvSpPr>
            <p:cNvPr id="23568" name="Rectangle 26"/>
            <p:cNvSpPr/>
            <p:nvPr/>
          </p:nvSpPr>
          <p:spPr>
            <a:xfrm>
              <a:off x="4656" y="1536"/>
              <a:ext cx="768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800" b="1" dirty="0">
                  <a:latin typeface="Arial" panose="02080604020202020204" pitchFamily="34" charset="0"/>
                </a:rPr>
                <a:t>2</a:t>
              </a:r>
              <a:endParaRPr lang="zh-CN" altLang="en-US" sz="2800" b="1" dirty="0">
                <a:latin typeface="Arial" panose="02080604020202020204" pitchFamily="34" charset="0"/>
              </a:endParaRPr>
            </a:p>
          </p:txBody>
        </p:sp>
        <p:sp>
          <p:nvSpPr>
            <p:cNvPr id="23569" name="Rectangle 27"/>
            <p:cNvSpPr/>
            <p:nvPr/>
          </p:nvSpPr>
          <p:spPr>
            <a:xfrm>
              <a:off x="4944" y="1142"/>
              <a:ext cx="25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>
                  <a:latin typeface="Arial" panose="02080604020202020204" pitchFamily="34" charset="0"/>
                </a:rPr>
                <a:t>b</a:t>
              </a:r>
              <a:endParaRPr lang="en-US" altLang="zh-CN" sz="2800" b="1">
                <a:latin typeface="Arial" panose="02080604020202020204" pitchFamily="34" charset="0"/>
              </a:endParaRPr>
            </a:p>
          </p:txBody>
        </p:sp>
      </p:grpSp>
      <p:grpSp>
        <p:nvGrpSpPr>
          <p:cNvPr id="3" name="Group 28"/>
          <p:cNvGrpSpPr/>
          <p:nvPr/>
        </p:nvGrpSpPr>
        <p:grpSpPr>
          <a:xfrm>
            <a:off x="5334000" y="2879725"/>
            <a:ext cx="2743200" cy="1082675"/>
            <a:chOff x="3696" y="1142"/>
            <a:chExt cx="1728" cy="682"/>
          </a:xfrm>
        </p:grpSpPr>
        <p:sp>
          <p:nvSpPr>
            <p:cNvPr id="23562" name="Rectangle 29"/>
            <p:cNvSpPr/>
            <p:nvPr/>
          </p:nvSpPr>
          <p:spPr>
            <a:xfrm>
              <a:off x="3936" y="1190"/>
              <a:ext cx="24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>
                  <a:latin typeface="Arial" panose="02080604020202020204" pitchFamily="34" charset="0"/>
                </a:rPr>
                <a:t>x</a:t>
              </a:r>
              <a:endParaRPr lang="en-US" altLang="zh-CN" sz="2800" b="1">
                <a:latin typeface="Arial" panose="02080604020202020204" pitchFamily="34" charset="0"/>
              </a:endParaRPr>
            </a:p>
          </p:txBody>
        </p:sp>
        <p:sp>
          <p:nvSpPr>
            <p:cNvPr id="23563" name="Rectangle 30"/>
            <p:cNvSpPr/>
            <p:nvPr/>
          </p:nvSpPr>
          <p:spPr>
            <a:xfrm>
              <a:off x="3696" y="1536"/>
              <a:ext cx="768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800" b="1" dirty="0">
                  <a:latin typeface="Arial" panose="02080604020202020204" pitchFamily="34" charset="0"/>
                </a:rPr>
                <a:t>1</a:t>
              </a:r>
              <a:endParaRPr lang="zh-CN" altLang="en-US" sz="2800" b="1" dirty="0">
                <a:latin typeface="Arial" panose="02080604020202020204" pitchFamily="34" charset="0"/>
              </a:endParaRPr>
            </a:p>
          </p:txBody>
        </p:sp>
        <p:sp>
          <p:nvSpPr>
            <p:cNvPr id="23564" name="Rectangle 31"/>
            <p:cNvSpPr/>
            <p:nvPr/>
          </p:nvSpPr>
          <p:spPr>
            <a:xfrm>
              <a:off x="4656" y="1536"/>
              <a:ext cx="768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800" b="1" dirty="0">
                  <a:latin typeface="Arial" panose="02080604020202020204" pitchFamily="34" charset="0"/>
                </a:rPr>
                <a:t>2</a:t>
              </a:r>
              <a:endParaRPr lang="zh-CN" altLang="en-US" sz="2800" b="1" dirty="0">
                <a:latin typeface="Arial" panose="02080604020202020204" pitchFamily="34" charset="0"/>
              </a:endParaRPr>
            </a:p>
          </p:txBody>
        </p:sp>
        <p:sp>
          <p:nvSpPr>
            <p:cNvPr id="23565" name="Rectangle 32"/>
            <p:cNvSpPr/>
            <p:nvPr/>
          </p:nvSpPr>
          <p:spPr>
            <a:xfrm>
              <a:off x="4944" y="1142"/>
              <a:ext cx="24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>
                  <a:latin typeface="Arial" panose="02080604020202020204" pitchFamily="34" charset="0"/>
                </a:rPr>
                <a:t>y</a:t>
              </a:r>
              <a:endParaRPr lang="en-US" altLang="zh-CN" sz="2800" b="1">
                <a:latin typeface="Arial" panose="02080604020202020204" pitchFamily="34" charset="0"/>
              </a:endParaRPr>
            </a:p>
          </p:txBody>
        </p:sp>
      </p:grpSp>
      <p:grpSp>
        <p:nvGrpSpPr>
          <p:cNvPr id="4" name="Group 33"/>
          <p:cNvGrpSpPr/>
          <p:nvPr/>
        </p:nvGrpSpPr>
        <p:grpSpPr>
          <a:xfrm>
            <a:off x="5715000" y="3505200"/>
            <a:ext cx="2057400" cy="457200"/>
            <a:chOff x="3552" y="2208"/>
            <a:chExt cx="1296" cy="288"/>
          </a:xfrm>
        </p:grpSpPr>
        <p:sp>
          <p:nvSpPr>
            <p:cNvPr id="23560" name="Rectangle 34"/>
            <p:cNvSpPr/>
            <p:nvPr/>
          </p:nvSpPr>
          <p:spPr>
            <a:xfrm>
              <a:off x="3552" y="2208"/>
              <a:ext cx="336" cy="288"/>
            </a:xfrm>
            <a:prstGeom prst="rect">
              <a:avLst/>
            </a:prstGeom>
            <a:solidFill>
              <a:schemeClr val="fol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r>
                <a:rPr lang="zh-CN" altLang="en-US" sz="2800" b="1" dirty="0">
                  <a:latin typeface="Arial" panose="02080604020202020204" pitchFamily="34" charset="0"/>
                </a:rPr>
                <a:t>2</a:t>
              </a:r>
              <a:endParaRPr lang="zh-CN" altLang="en-US" sz="2800" b="1" dirty="0">
                <a:latin typeface="Arial" panose="02080604020202020204" pitchFamily="34" charset="0"/>
              </a:endParaRPr>
            </a:p>
          </p:txBody>
        </p:sp>
        <p:sp>
          <p:nvSpPr>
            <p:cNvPr id="23561" name="Rectangle 35"/>
            <p:cNvSpPr/>
            <p:nvPr/>
          </p:nvSpPr>
          <p:spPr>
            <a:xfrm>
              <a:off x="4512" y="2208"/>
              <a:ext cx="336" cy="288"/>
            </a:xfrm>
            <a:prstGeom prst="rect">
              <a:avLst/>
            </a:prstGeom>
            <a:solidFill>
              <a:schemeClr val="fol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r>
                <a:rPr lang="zh-CN" altLang="en-US" sz="2800" b="1" dirty="0">
                  <a:latin typeface="Arial" panose="02080604020202020204" pitchFamily="34" charset="0"/>
                </a:rPr>
                <a:t>1</a:t>
              </a:r>
              <a:endParaRPr lang="zh-CN" altLang="en-US" sz="2800" b="1" dirty="0">
                <a:latin typeface="Arial" panose="02080604020202020204" pitchFamily="34" charset="0"/>
              </a:endParaRPr>
            </a:p>
          </p:txBody>
        </p:sp>
      </p:grpSp>
      <p:sp>
        <p:nvSpPr>
          <p:cNvPr id="23559" name="Rectangle 36"/>
          <p:cNvSpPr>
            <a:spLocks noGrp="1"/>
          </p:cNvSpPr>
          <p:nvPr>
            <p:ph idx="1"/>
          </p:nvPr>
        </p:nvSpPr>
        <p:spPr>
          <a:xfrm>
            <a:off x="381000" y="1524000"/>
            <a:ext cx="4495800" cy="4004945"/>
          </a:xfr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swap1 (a, b);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void swap1 (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x, 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y)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{   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t;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   t = x; 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   x = y; 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   y = t;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}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9" name="Rectangle 10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例8-7 </a:t>
            </a:r>
            <a:r>
              <a:rPr lang="en-US" altLang="zh-CN" sz="4000"/>
              <a:t>swap2()</a:t>
            </a:r>
            <a:endParaRPr lang="zh-CN" altLang="en-US" sz="4000" dirty="0"/>
          </a:p>
        </p:txBody>
      </p:sp>
      <p:sp>
        <p:nvSpPr>
          <p:cNvPr id="24580" name="Rectangle 24"/>
          <p:cNvSpPr>
            <a:spLocks noGrp="1"/>
          </p:cNvSpPr>
          <p:nvPr>
            <p:ph idx="1"/>
          </p:nvPr>
        </p:nvSpPr>
        <p:spPr>
          <a:xfrm>
            <a:off x="381000" y="1524000"/>
            <a:ext cx="4724400" cy="4004945"/>
          </a:xfr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swap2 (&amp;a, &amp;b)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;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void swap2 (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*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px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, 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*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py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)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{    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t;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    t = *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px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; 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    *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px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= *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py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; 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    *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py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= t;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}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</p:txBody>
      </p:sp>
      <p:grpSp>
        <p:nvGrpSpPr>
          <p:cNvPr id="24581" name="Group 25"/>
          <p:cNvGrpSpPr/>
          <p:nvPr/>
        </p:nvGrpSpPr>
        <p:grpSpPr>
          <a:xfrm>
            <a:off x="5867400" y="1812925"/>
            <a:ext cx="2743200" cy="2301875"/>
            <a:chOff x="3696" y="1142"/>
            <a:chExt cx="1728" cy="1450"/>
          </a:xfrm>
        </p:grpSpPr>
        <p:grpSp>
          <p:nvGrpSpPr>
            <p:cNvPr id="24586" name="Group 26"/>
            <p:cNvGrpSpPr/>
            <p:nvPr/>
          </p:nvGrpSpPr>
          <p:grpSpPr>
            <a:xfrm>
              <a:off x="3936" y="1142"/>
              <a:ext cx="1261" cy="375"/>
              <a:chOff x="3936" y="1142"/>
              <a:chExt cx="1261" cy="375"/>
            </a:xfrm>
          </p:grpSpPr>
          <p:sp>
            <p:nvSpPr>
              <p:cNvPr id="24594" name="Rectangle 27"/>
              <p:cNvSpPr/>
              <p:nvPr/>
            </p:nvSpPr>
            <p:spPr>
              <a:xfrm>
                <a:off x="3936" y="1190"/>
                <a:ext cx="241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>
                    <a:latin typeface="Arial" panose="02080604020202020204" pitchFamily="34" charset="0"/>
                  </a:rPr>
                  <a:t>a</a:t>
                </a:r>
                <a:endParaRPr lang="en-US" altLang="zh-CN" sz="2800" b="1">
                  <a:latin typeface="Arial" panose="02080604020202020204" pitchFamily="34" charset="0"/>
                </a:endParaRPr>
              </a:p>
            </p:txBody>
          </p:sp>
          <p:sp>
            <p:nvSpPr>
              <p:cNvPr id="24595" name="Rectangle 28"/>
              <p:cNvSpPr/>
              <p:nvPr/>
            </p:nvSpPr>
            <p:spPr>
              <a:xfrm>
                <a:off x="4944" y="1142"/>
                <a:ext cx="253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>
                    <a:latin typeface="Arial" panose="02080604020202020204" pitchFamily="34" charset="0"/>
                  </a:rPr>
                  <a:t>b</a:t>
                </a:r>
                <a:endParaRPr lang="en-US" altLang="zh-CN" sz="2800" b="1">
                  <a:latin typeface="Arial" panose="02080604020202020204" pitchFamily="34" charset="0"/>
                </a:endParaRPr>
              </a:p>
            </p:txBody>
          </p:sp>
        </p:grpSp>
        <p:sp>
          <p:nvSpPr>
            <p:cNvPr id="24587" name="Line 29"/>
            <p:cNvSpPr/>
            <p:nvPr/>
          </p:nvSpPr>
          <p:spPr>
            <a:xfrm flipV="1">
              <a:off x="4032" y="1824"/>
              <a:ext cx="0" cy="4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588" name="Line 30"/>
            <p:cNvSpPr/>
            <p:nvPr/>
          </p:nvSpPr>
          <p:spPr>
            <a:xfrm flipV="1">
              <a:off x="5088" y="1824"/>
              <a:ext cx="0" cy="4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589" name="Text Box 31"/>
            <p:cNvSpPr txBox="1"/>
            <p:nvPr/>
          </p:nvSpPr>
          <p:spPr>
            <a:xfrm>
              <a:off x="3840" y="2265"/>
              <a:ext cx="48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err="1">
                  <a:latin typeface="Arial" panose="02080604020202020204" pitchFamily="34" charset="0"/>
                </a:rPr>
                <a:t>px</a:t>
              </a:r>
              <a:endParaRPr lang="en-US" altLang="zh-CN" sz="3200" b="1">
                <a:latin typeface="Arial" panose="02080604020202020204" pitchFamily="34" charset="0"/>
              </a:endParaRPr>
            </a:p>
          </p:txBody>
        </p:sp>
        <p:sp>
          <p:nvSpPr>
            <p:cNvPr id="24590" name="Text Box 32"/>
            <p:cNvSpPr txBox="1"/>
            <p:nvPr/>
          </p:nvSpPr>
          <p:spPr>
            <a:xfrm>
              <a:off x="4896" y="2256"/>
              <a:ext cx="48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err="1">
                  <a:latin typeface="Arial" panose="02080604020202020204" pitchFamily="34" charset="0"/>
                </a:rPr>
                <a:t>py</a:t>
              </a:r>
              <a:endParaRPr lang="en-US" altLang="zh-CN" sz="3200" b="1">
                <a:latin typeface="Arial" panose="02080604020202020204" pitchFamily="34" charset="0"/>
              </a:endParaRPr>
            </a:p>
          </p:txBody>
        </p:sp>
        <p:grpSp>
          <p:nvGrpSpPr>
            <p:cNvPr id="24591" name="Group 33"/>
            <p:cNvGrpSpPr/>
            <p:nvPr/>
          </p:nvGrpSpPr>
          <p:grpSpPr>
            <a:xfrm>
              <a:off x="3696" y="1536"/>
              <a:ext cx="1728" cy="288"/>
              <a:chOff x="3696" y="1536"/>
              <a:chExt cx="1728" cy="288"/>
            </a:xfrm>
          </p:grpSpPr>
          <p:sp>
            <p:nvSpPr>
              <p:cNvPr id="24592" name="Rectangle 34"/>
              <p:cNvSpPr/>
              <p:nvPr/>
            </p:nvSpPr>
            <p:spPr>
              <a:xfrm>
                <a:off x="3696" y="1536"/>
                <a:ext cx="768" cy="28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800" b="1" dirty="0">
                    <a:latin typeface="Arial" panose="02080604020202020204" pitchFamily="34" charset="0"/>
                  </a:rPr>
                  <a:t>1</a:t>
                </a:r>
                <a:endParaRPr lang="zh-CN" altLang="en-US" sz="3200" b="1" dirty="0">
                  <a:latin typeface="Arial" panose="02080604020202020204" pitchFamily="34" charset="0"/>
                </a:endParaRPr>
              </a:p>
            </p:txBody>
          </p:sp>
          <p:sp>
            <p:nvSpPr>
              <p:cNvPr id="24593" name="Rectangle 35"/>
              <p:cNvSpPr/>
              <p:nvPr/>
            </p:nvSpPr>
            <p:spPr>
              <a:xfrm>
                <a:off x="4656" y="1536"/>
                <a:ext cx="768" cy="28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800" b="1" dirty="0">
                    <a:latin typeface="Arial" panose="02080604020202020204" pitchFamily="34" charset="0"/>
                  </a:rPr>
                  <a:t>2</a:t>
                </a:r>
                <a:endParaRPr lang="zh-CN" altLang="en-US" sz="3200" b="1" dirty="0">
                  <a:latin typeface="Arial" panose="02080604020202020204" pitchFamily="34" charset="0"/>
                </a:endParaRPr>
              </a:p>
            </p:txBody>
          </p:sp>
        </p:grpSp>
      </p:grpSp>
      <p:sp>
        <p:nvSpPr>
          <p:cNvPr id="359460" name="Text Box 36"/>
          <p:cNvSpPr txBox="1"/>
          <p:nvPr/>
        </p:nvSpPr>
        <p:spPr>
          <a:xfrm>
            <a:off x="3505200" y="5029200"/>
            <a:ext cx="5029200" cy="10668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>
            <a:spAutoFit/>
          </a:bodyPr>
          <a:p>
            <a:r>
              <a:rPr lang="zh-CN" altLang="en-US" sz="3200" b="1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值传递，地址未变，</a:t>
            </a:r>
            <a:endParaRPr lang="zh-CN" altLang="en-US" sz="3200" b="1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  <a:p>
            <a:r>
              <a:rPr lang="zh-CN" altLang="en-US" sz="3200" b="1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但存放的变量的值改变了</a:t>
            </a:r>
            <a:endParaRPr lang="zh-CN" altLang="en-US" sz="3200" b="1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  <p:grpSp>
        <p:nvGrpSpPr>
          <p:cNvPr id="5" name="Group 37"/>
          <p:cNvGrpSpPr/>
          <p:nvPr/>
        </p:nvGrpSpPr>
        <p:grpSpPr>
          <a:xfrm>
            <a:off x="6172200" y="2438400"/>
            <a:ext cx="2057400" cy="457200"/>
            <a:chOff x="3552" y="2208"/>
            <a:chExt cx="1296" cy="288"/>
          </a:xfrm>
        </p:grpSpPr>
        <p:sp>
          <p:nvSpPr>
            <p:cNvPr id="24584" name="Rectangle 38"/>
            <p:cNvSpPr/>
            <p:nvPr/>
          </p:nvSpPr>
          <p:spPr>
            <a:xfrm>
              <a:off x="3552" y="2208"/>
              <a:ext cx="336" cy="288"/>
            </a:xfrm>
            <a:prstGeom prst="rect">
              <a:avLst/>
            </a:prstGeom>
            <a:solidFill>
              <a:schemeClr val="fol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r>
                <a:rPr lang="zh-CN" altLang="en-US" sz="2800" b="1" dirty="0">
                  <a:latin typeface="Arial" panose="02080604020202020204" pitchFamily="34" charset="0"/>
                </a:rPr>
                <a:t>2</a:t>
              </a:r>
              <a:endParaRPr lang="zh-CN" altLang="en-US" sz="2800" b="1" dirty="0">
                <a:latin typeface="Arial" panose="02080604020202020204" pitchFamily="34" charset="0"/>
              </a:endParaRPr>
            </a:p>
          </p:txBody>
        </p:sp>
        <p:sp>
          <p:nvSpPr>
            <p:cNvPr id="24585" name="Rectangle 39"/>
            <p:cNvSpPr/>
            <p:nvPr/>
          </p:nvSpPr>
          <p:spPr>
            <a:xfrm>
              <a:off x="4512" y="2208"/>
              <a:ext cx="336" cy="288"/>
            </a:xfrm>
            <a:prstGeom prst="rect">
              <a:avLst/>
            </a:prstGeom>
            <a:solidFill>
              <a:schemeClr val="fol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r>
                <a:rPr lang="zh-CN" altLang="en-US" sz="2800" b="1" dirty="0">
                  <a:latin typeface="Arial" panose="02080604020202020204" pitchFamily="34" charset="0"/>
                </a:rPr>
                <a:t>1</a:t>
              </a:r>
              <a:endParaRPr lang="zh-CN" altLang="en-US" sz="2800" b="1" dirty="0">
                <a:latin typeface="Arial" panose="0208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9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9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6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3" name="Rectangle 7"/>
          <p:cNvSpPr>
            <a:spLocks noGrp="1"/>
          </p:cNvSpPr>
          <p:nvPr>
            <p:ph type="title"/>
          </p:nvPr>
        </p:nvSpPr>
        <p:spPr>
          <a:xfrm>
            <a:off x="323850" y="549275"/>
            <a:ext cx="4572000" cy="838200"/>
          </a:xfrm>
        </p:spPr>
        <p:txBody>
          <a:bodyPr vert="horz" wrap="square" lIns="92075" tIns="46038" rIns="92075" bIns="46038" anchor="b" anchorCtr="0"/>
          <a:p>
            <a:pPr eaLnBrk="1" hangingPunct="1"/>
            <a:r>
              <a:rPr lang="zh-CN" altLang="en-US" dirty="0"/>
              <a:t>例8-7 </a:t>
            </a:r>
            <a:r>
              <a:rPr lang="en-US" altLang="zh-CN" sz="4000"/>
              <a:t>swap3()</a:t>
            </a:r>
            <a:endParaRPr lang="zh-CN" altLang="en-US" sz="4000" dirty="0"/>
          </a:p>
        </p:txBody>
      </p:sp>
      <p:sp>
        <p:nvSpPr>
          <p:cNvPr id="25604" name="Rectangle 8"/>
          <p:cNvSpPr>
            <a:spLocks noGrp="1"/>
          </p:cNvSpPr>
          <p:nvPr>
            <p:ph idx="1"/>
          </p:nvPr>
        </p:nvSpPr>
        <p:spPr>
          <a:xfrm>
            <a:off x="457200" y="1524000"/>
            <a:ext cx="4800600" cy="4004945"/>
          </a:xfr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swap3 (&amp;a, &amp;b)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;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void swap3 (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*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px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, 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*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py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)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{    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*pt;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    pt = 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px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; 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    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px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= 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py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; 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    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py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= pt;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}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</p:txBody>
      </p:sp>
      <p:grpSp>
        <p:nvGrpSpPr>
          <p:cNvPr id="2" name="Group 9"/>
          <p:cNvGrpSpPr/>
          <p:nvPr/>
        </p:nvGrpSpPr>
        <p:grpSpPr>
          <a:xfrm>
            <a:off x="6400800" y="2895600"/>
            <a:ext cx="1676400" cy="762000"/>
            <a:chOff x="4032" y="1824"/>
            <a:chExt cx="1056" cy="480"/>
          </a:xfrm>
        </p:grpSpPr>
        <p:sp>
          <p:nvSpPr>
            <p:cNvPr id="25619" name="Line 10"/>
            <p:cNvSpPr/>
            <p:nvPr/>
          </p:nvSpPr>
          <p:spPr>
            <a:xfrm flipV="1">
              <a:off x="4032" y="1824"/>
              <a:ext cx="0" cy="4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20" name="Line 11"/>
            <p:cNvSpPr/>
            <p:nvPr/>
          </p:nvSpPr>
          <p:spPr>
            <a:xfrm flipV="1">
              <a:off x="5088" y="1824"/>
              <a:ext cx="0" cy="4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25606" name="Group 12"/>
          <p:cNvGrpSpPr/>
          <p:nvPr/>
        </p:nvGrpSpPr>
        <p:grpSpPr>
          <a:xfrm>
            <a:off x="5867400" y="1812925"/>
            <a:ext cx="2743200" cy="2301875"/>
            <a:chOff x="3696" y="1142"/>
            <a:chExt cx="1728" cy="1450"/>
          </a:xfrm>
        </p:grpSpPr>
        <p:grpSp>
          <p:nvGrpSpPr>
            <p:cNvPr id="25611" name="Group 13"/>
            <p:cNvGrpSpPr/>
            <p:nvPr/>
          </p:nvGrpSpPr>
          <p:grpSpPr>
            <a:xfrm>
              <a:off x="3936" y="1142"/>
              <a:ext cx="1261" cy="375"/>
              <a:chOff x="3936" y="1142"/>
              <a:chExt cx="1261" cy="375"/>
            </a:xfrm>
          </p:grpSpPr>
          <p:sp>
            <p:nvSpPr>
              <p:cNvPr id="25617" name="Rectangle 14"/>
              <p:cNvSpPr/>
              <p:nvPr/>
            </p:nvSpPr>
            <p:spPr>
              <a:xfrm>
                <a:off x="3936" y="1190"/>
                <a:ext cx="241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>
                    <a:latin typeface="Arial" panose="02080604020202020204" pitchFamily="34" charset="0"/>
                  </a:rPr>
                  <a:t>a</a:t>
                </a:r>
                <a:endParaRPr lang="en-US" altLang="zh-CN" sz="2800" b="1">
                  <a:latin typeface="Arial" panose="02080604020202020204" pitchFamily="34" charset="0"/>
                </a:endParaRPr>
              </a:p>
            </p:txBody>
          </p:sp>
          <p:sp>
            <p:nvSpPr>
              <p:cNvPr id="25618" name="Rectangle 15"/>
              <p:cNvSpPr/>
              <p:nvPr/>
            </p:nvSpPr>
            <p:spPr>
              <a:xfrm>
                <a:off x="4944" y="1142"/>
                <a:ext cx="253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>
                    <a:latin typeface="Arial" panose="02080604020202020204" pitchFamily="34" charset="0"/>
                  </a:rPr>
                  <a:t>b</a:t>
                </a:r>
                <a:endParaRPr lang="en-US" altLang="zh-CN" sz="2800" b="1">
                  <a:latin typeface="Arial" panose="02080604020202020204" pitchFamily="34" charset="0"/>
                </a:endParaRPr>
              </a:p>
            </p:txBody>
          </p:sp>
        </p:grpSp>
        <p:sp>
          <p:nvSpPr>
            <p:cNvPr id="25612" name="Text Box 16"/>
            <p:cNvSpPr txBox="1"/>
            <p:nvPr/>
          </p:nvSpPr>
          <p:spPr>
            <a:xfrm>
              <a:off x="3840" y="2265"/>
              <a:ext cx="48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err="1">
                  <a:latin typeface="Arial" panose="02080604020202020204" pitchFamily="34" charset="0"/>
                </a:rPr>
                <a:t>px</a:t>
              </a:r>
              <a:endParaRPr lang="en-US" altLang="zh-CN" sz="3200" b="1">
                <a:latin typeface="Arial" panose="02080604020202020204" pitchFamily="34" charset="0"/>
              </a:endParaRPr>
            </a:p>
          </p:txBody>
        </p:sp>
        <p:sp>
          <p:nvSpPr>
            <p:cNvPr id="25613" name="Text Box 17"/>
            <p:cNvSpPr txBox="1"/>
            <p:nvPr/>
          </p:nvSpPr>
          <p:spPr>
            <a:xfrm>
              <a:off x="4896" y="2256"/>
              <a:ext cx="48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err="1">
                  <a:latin typeface="Arial" panose="02080604020202020204" pitchFamily="34" charset="0"/>
                </a:rPr>
                <a:t>py</a:t>
              </a:r>
              <a:endParaRPr lang="en-US" altLang="zh-CN" sz="3200" b="1">
                <a:latin typeface="Arial" panose="02080604020202020204" pitchFamily="34" charset="0"/>
              </a:endParaRPr>
            </a:p>
          </p:txBody>
        </p:sp>
        <p:grpSp>
          <p:nvGrpSpPr>
            <p:cNvPr id="25614" name="Group 18"/>
            <p:cNvGrpSpPr/>
            <p:nvPr/>
          </p:nvGrpSpPr>
          <p:grpSpPr>
            <a:xfrm>
              <a:off x="3696" y="1536"/>
              <a:ext cx="1728" cy="288"/>
              <a:chOff x="3696" y="1536"/>
              <a:chExt cx="1728" cy="288"/>
            </a:xfrm>
          </p:grpSpPr>
          <p:sp>
            <p:nvSpPr>
              <p:cNvPr id="25615" name="Rectangle 19"/>
              <p:cNvSpPr/>
              <p:nvPr/>
            </p:nvSpPr>
            <p:spPr>
              <a:xfrm>
                <a:off x="3696" y="1536"/>
                <a:ext cx="768" cy="28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800" b="1" dirty="0">
                    <a:latin typeface="Arial" panose="02080604020202020204" pitchFamily="34" charset="0"/>
                  </a:rPr>
                  <a:t>1</a:t>
                </a:r>
                <a:endParaRPr lang="zh-CN" altLang="en-US" sz="3200" b="1" dirty="0">
                  <a:latin typeface="Arial" panose="02080604020202020204" pitchFamily="34" charset="0"/>
                </a:endParaRPr>
              </a:p>
            </p:txBody>
          </p:sp>
          <p:sp>
            <p:nvSpPr>
              <p:cNvPr id="25616" name="Rectangle 20"/>
              <p:cNvSpPr/>
              <p:nvPr/>
            </p:nvSpPr>
            <p:spPr>
              <a:xfrm>
                <a:off x="4656" y="1536"/>
                <a:ext cx="768" cy="28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800" b="1" dirty="0">
                    <a:latin typeface="Arial" panose="02080604020202020204" pitchFamily="34" charset="0"/>
                  </a:rPr>
                  <a:t>2</a:t>
                </a:r>
                <a:endParaRPr lang="zh-CN" altLang="en-US" sz="3200" b="1" dirty="0">
                  <a:latin typeface="Arial" panose="02080604020202020204" pitchFamily="34" charset="0"/>
                </a:endParaRPr>
              </a:p>
            </p:txBody>
          </p:sp>
        </p:grpSp>
      </p:grpSp>
      <p:sp>
        <p:nvSpPr>
          <p:cNvPr id="361493" name="Text Box 21"/>
          <p:cNvSpPr txBox="1"/>
          <p:nvPr/>
        </p:nvSpPr>
        <p:spPr>
          <a:xfrm>
            <a:off x="3940175" y="5612130"/>
            <a:ext cx="5029200" cy="10668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>
            <a:spAutoFit/>
          </a:bodyPr>
          <a:p>
            <a:r>
              <a:rPr lang="zh-CN" altLang="en-US" sz="3200" b="1" dirty="0">
                <a:solidFill>
                  <a:schemeClr val="bg2"/>
                </a:solidFill>
                <a:latin typeface="Courier New" pitchFamily="49" charset="0"/>
                <a:ea typeface="仿宋_GB2312" pitchFamily="49" charset="-122"/>
              </a:rPr>
              <a:t>值传递，形参指针的改变不会影响实参</a:t>
            </a:r>
            <a:endParaRPr lang="zh-CN" altLang="en-US" sz="3200" b="1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  <p:grpSp>
        <p:nvGrpSpPr>
          <p:cNvPr id="6" name="Group 22"/>
          <p:cNvGrpSpPr/>
          <p:nvPr/>
        </p:nvGrpSpPr>
        <p:grpSpPr>
          <a:xfrm>
            <a:off x="6629400" y="2895600"/>
            <a:ext cx="1219200" cy="838200"/>
            <a:chOff x="4224" y="1872"/>
            <a:chExt cx="768" cy="528"/>
          </a:xfrm>
        </p:grpSpPr>
        <p:sp>
          <p:nvSpPr>
            <p:cNvPr id="25609" name="Line 23"/>
            <p:cNvSpPr/>
            <p:nvPr/>
          </p:nvSpPr>
          <p:spPr>
            <a:xfrm flipV="1">
              <a:off x="4224" y="1872"/>
              <a:ext cx="624" cy="528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610" name="Line 24"/>
            <p:cNvSpPr/>
            <p:nvPr/>
          </p:nvSpPr>
          <p:spPr>
            <a:xfrm flipH="1" flipV="1">
              <a:off x="4320" y="1872"/>
              <a:ext cx="672" cy="528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1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1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49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7" name="Rectangle 8"/>
          <p:cNvSpPr>
            <a:spLocks noGrp="1"/>
          </p:cNvSpPr>
          <p:nvPr>
            <p:ph type="title"/>
          </p:nvPr>
        </p:nvSpPr>
        <p:spPr>
          <a:xfrm>
            <a:off x="3276600" y="93345"/>
            <a:ext cx="5791200" cy="5334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指针</a:t>
            </a:r>
            <a:r>
              <a:rPr lang="en-US" altLang="zh-CN" b="0">
                <a:sym typeface="+mn-ea"/>
              </a:rPr>
              <a:t>作为函数参数的应用</a:t>
            </a:r>
            <a:endParaRPr lang="en-US" altLang="zh-CN" b="0">
              <a:sym typeface="+mn-ea"/>
            </a:endParaRPr>
          </a:p>
        </p:txBody>
      </p:sp>
      <p:sp>
        <p:nvSpPr>
          <p:cNvPr id="363529" name="Rectangle 9"/>
          <p:cNvSpPr>
            <a:spLocks noGrp="1"/>
          </p:cNvSpPr>
          <p:nvPr>
            <p:ph idx="1"/>
          </p:nvPr>
        </p:nvSpPr>
        <p:spPr>
          <a:xfrm>
            <a:off x="228600" y="604838"/>
            <a:ext cx="4953000" cy="3119120"/>
          </a:xfr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swap2 (&amp;a, &amp;b)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;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void swap2 (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*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px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, 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*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py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)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{    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t;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    t = *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px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; 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    *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px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= *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py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; 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    *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py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= t;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}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</p:txBody>
      </p:sp>
      <p:sp>
        <p:nvSpPr>
          <p:cNvPr id="363530" name="Text Box 10"/>
          <p:cNvSpPr txBox="1"/>
          <p:nvPr/>
        </p:nvSpPr>
        <p:spPr>
          <a:xfrm>
            <a:off x="228600" y="3943350"/>
            <a:ext cx="8686800" cy="2719705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>
            <a:spAutoFit/>
          </a:bodyPr>
          <a:p>
            <a:pPr>
              <a:lnSpc>
                <a:spcPct val="11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panose="05000000000000000000" pitchFamily="2" charset="2"/>
            </a:pPr>
            <a:r>
              <a:rPr lang="zh-CN" altLang="en-US" sz="2800" dirty="0">
                <a:latin typeface="宋体" pitchFamily="2" charset="-122"/>
              </a:rPr>
              <a:t>要通过函数调用来改变主调函数中某个变量的值：</a:t>
            </a:r>
            <a:endParaRPr lang="zh-CN" altLang="en-US" sz="2800" dirty="0">
              <a:latin typeface="Arial" panose="02080604020202020204" pitchFamily="34" charset="0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panose="05000000000000000000" pitchFamily="2" charset="2"/>
            </a:pPr>
            <a:r>
              <a:rPr lang="zh-CN" altLang="en-US" sz="2800" dirty="0">
                <a:latin typeface="Arial" panose="02080604020202020204" pitchFamily="34" charset="0"/>
              </a:rPr>
              <a:t>(1) 在主调函数中，</a:t>
            </a:r>
            <a:r>
              <a:rPr lang="zh-CN" altLang="en-US" sz="2800" dirty="0">
                <a:latin typeface="宋体" pitchFamily="2" charset="-122"/>
              </a:rPr>
              <a:t>将该变量的地址或者指向该变量的指针作为实参</a:t>
            </a:r>
            <a:endParaRPr lang="zh-CN" altLang="en-US" sz="2800" dirty="0">
              <a:latin typeface="Arial" panose="02080604020202020204" pitchFamily="34" charset="0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panose="05000000000000000000" pitchFamily="2" charset="2"/>
            </a:pPr>
            <a:r>
              <a:rPr lang="zh-CN" altLang="en-US" sz="2800" dirty="0">
                <a:latin typeface="Arial" panose="02080604020202020204" pitchFamily="34" charset="0"/>
              </a:rPr>
              <a:t>(2) 在被调函数中，</a:t>
            </a:r>
            <a:r>
              <a:rPr lang="zh-CN" altLang="en-US" sz="2800" dirty="0">
                <a:latin typeface="宋体" pitchFamily="2" charset="-122"/>
              </a:rPr>
              <a:t>用指针类型形参接受该变量的地址</a:t>
            </a:r>
            <a:r>
              <a:rPr lang="zh-CN" altLang="en-US" sz="2800" dirty="0">
                <a:latin typeface="Arial" panose="02080604020202020204" pitchFamily="34" charset="0"/>
              </a:rPr>
              <a:t> </a:t>
            </a:r>
            <a:endParaRPr lang="zh-CN" altLang="en-US" sz="2800" dirty="0">
              <a:latin typeface="Arial" panose="02080604020202020204" pitchFamily="34" charset="0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panose="05000000000000000000" pitchFamily="2" charset="2"/>
            </a:pPr>
            <a:r>
              <a:rPr lang="zh-CN" altLang="en-US" sz="2800" dirty="0">
                <a:latin typeface="Arial" panose="02080604020202020204" pitchFamily="34" charset="0"/>
              </a:rPr>
              <a:t>(3) 在被调函数中，改变形参所指向变量的值</a:t>
            </a:r>
            <a:endParaRPr lang="zh-CN" altLang="en-US" sz="2800" dirty="0">
              <a:latin typeface="Arial" panose="02080604020202020204" pitchFamily="34" charset="0"/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6221413" y="909638"/>
            <a:ext cx="2743200" cy="2301875"/>
            <a:chOff x="3696" y="1142"/>
            <a:chExt cx="1728" cy="1450"/>
          </a:xfrm>
        </p:grpSpPr>
        <p:grpSp>
          <p:nvGrpSpPr>
            <p:cNvPr id="26635" name="Group 12"/>
            <p:cNvGrpSpPr/>
            <p:nvPr/>
          </p:nvGrpSpPr>
          <p:grpSpPr>
            <a:xfrm>
              <a:off x="3936" y="1142"/>
              <a:ext cx="1261" cy="375"/>
              <a:chOff x="3936" y="1142"/>
              <a:chExt cx="1261" cy="375"/>
            </a:xfrm>
          </p:grpSpPr>
          <p:sp>
            <p:nvSpPr>
              <p:cNvPr id="26643" name="Rectangle 13"/>
              <p:cNvSpPr/>
              <p:nvPr/>
            </p:nvSpPr>
            <p:spPr>
              <a:xfrm>
                <a:off x="3936" y="1190"/>
                <a:ext cx="241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>
                    <a:latin typeface="Arial" panose="02080604020202020204" pitchFamily="34" charset="0"/>
                  </a:rPr>
                  <a:t>a</a:t>
                </a:r>
                <a:endParaRPr lang="en-US" altLang="zh-CN" sz="2800" b="1">
                  <a:latin typeface="Arial" panose="02080604020202020204" pitchFamily="34" charset="0"/>
                </a:endParaRPr>
              </a:p>
            </p:txBody>
          </p:sp>
          <p:sp>
            <p:nvSpPr>
              <p:cNvPr id="26644" name="Rectangle 14"/>
              <p:cNvSpPr/>
              <p:nvPr/>
            </p:nvSpPr>
            <p:spPr>
              <a:xfrm>
                <a:off x="4944" y="1142"/>
                <a:ext cx="253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>
                    <a:latin typeface="Arial" panose="02080604020202020204" pitchFamily="34" charset="0"/>
                  </a:rPr>
                  <a:t>b</a:t>
                </a:r>
                <a:endParaRPr lang="en-US" altLang="zh-CN" sz="2800" b="1">
                  <a:latin typeface="Arial" panose="02080604020202020204" pitchFamily="34" charset="0"/>
                </a:endParaRPr>
              </a:p>
            </p:txBody>
          </p:sp>
        </p:grpSp>
        <p:sp>
          <p:nvSpPr>
            <p:cNvPr id="26636" name="Line 15"/>
            <p:cNvSpPr/>
            <p:nvPr/>
          </p:nvSpPr>
          <p:spPr>
            <a:xfrm flipV="1">
              <a:off x="4032" y="1824"/>
              <a:ext cx="0" cy="4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637" name="Line 16"/>
            <p:cNvSpPr/>
            <p:nvPr/>
          </p:nvSpPr>
          <p:spPr>
            <a:xfrm flipV="1">
              <a:off x="5088" y="1824"/>
              <a:ext cx="0" cy="4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638" name="Text Box 17"/>
            <p:cNvSpPr txBox="1"/>
            <p:nvPr/>
          </p:nvSpPr>
          <p:spPr>
            <a:xfrm>
              <a:off x="3840" y="2265"/>
              <a:ext cx="48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err="1">
                  <a:latin typeface="Arial" panose="02080604020202020204" pitchFamily="34" charset="0"/>
                </a:rPr>
                <a:t>px</a:t>
              </a:r>
              <a:endParaRPr lang="en-US" altLang="zh-CN" sz="3200" b="1">
                <a:latin typeface="Arial" panose="02080604020202020204" pitchFamily="34" charset="0"/>
              </a:endParaRPr>
            </a:p>
          </p:txBody>
        </p:sp>
        <p:sp>
          <p:nvSpPr>
            <p:cNvPr id="26639" name="Text Box 18"/>
            <p:cNvSpPr txBox="1"/>
            <p:nvPr/>
          </p:nvSpPr>
          <p:spPr>
            <a:xfrm>
              <a:off x="4896" y="2256"/>
              <a:ext cx="48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err="1">
                  <a:latin typeface="Arial" panose="02080604020202020204" pitchFamily="34" charset="0"/>
                </a:rPr>
                <a:t>py</a:t>
              </a:r>
              <a:endParaRPr lang="en-US" altLang="zh-CN" sz="3200" b="1">
                <a:latin typeface="Arial" panose="02080604020202020204" pitchFamily="34" charset="0"/>
              </a:endParaRPr>
            </a:p>
          </p:txBody>
        </p:sp>
        <p:grpSp>
          <p:nvGrpSpPr>
            <p:cNvPr id="26640" name="Group 19"/>
            <p:cNvGrpSpPr/>
            <p:nvPr/>
          </p:nvGrpSpPr>
          <p:grpSpPr>
            <a:xfrm>
              <a:off x="3696" y="1536"/>
              <a:ext cx="1728" cy="288"/>
              <a:chOff x="3696" y="1536"/>
              <a:chExt cx="1728" cy="288"/>
            </a:xfrm>
          </p:grpSpPr>
          <p:sp>
            <p:nvSpPr>
              <p:cNvPr id="26641" name="Rectangle 20"/>
              <p:cNvSpPr/>
              <p:nvPr/>
            </p:nvSpPr>
            <p:spPr>
              <a:xfrm>
                <a:off x="3696" y="1536"/>
                <a:ext cx="768" cy="28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800" b="1" dirty="0">
                    <a:latin typeface="Arial" panose="02080604020202020204" pitchFamily="34" charset="0"/>
                  </a:rPr>
                  <a:t>1</a:t>
                </a:r>
                <a:endParaRPr lang="zh-CN" altLang="en-US" sz="3200" b="1" dirty="0">
                  <a:latin typeface="Arial" panose="02080604020202020204" pitchFamily="34" charset="0"/>
                </a:endParaRPr>
              </a:p>
            </p:txBody>
          </p:sp>
          <p:sp>
            <p:nvSpPr>
              <p:cNvPr id="26642" name="Rectangle 21"/>
              <p:cNvSpPr/>
              <p:nvPr/>
            </p:nvSpPr>
            <p:spPr>
              <a:xfrm>
                <a:off x="4656" y="1536"/>
                <a:ext cx="768" cy="28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zh-CN" altLang="en-US" sz="2800" b="1" dirty="0">
                    <a:latin typeface="Arial" panose="02080604020202020204" pitchFamily="34" charset="0"/>
                  </a:rPr>
                  <a:t>2</a:t>
                </a:r>
                <a:endParaRPr lang="zh-CN" altLang="en-US" sz="3200" b="1" dirty="0">
                  <a:latin typeface="Arial" panose="02080604020202020204" pitchFamily="34" charset="0"/>
                </a:endParaRPr>
              </a:p>
            </p:txBody>
          </p:sp>
        </p:grpSp>
      </p:grpSp>
      <p:grpSp>
        <p:nvGrpSpPr>
          <p:cNvPr id="5" name="Group 22"/>
          <p:cNvGrpSpPr/>
          <p:nvPr/>
        </p:nvGrpSpPr>
        <p:grpSpPr>
          <a:xfrm>
            <a:off x="6613525" y="1547813"/>
            <a:ext cx="2057400" cy="457200"/>
            <a:chOff x="3552" y="2208"/>
            <a:chExt cx="1296" cy="288"/>
          </a:xfrm>
        </p:grpSpPr>
        <p:sp>
          <p:nvSpPr>
            <p:cNvPr id="26633" name="Rectangle 23"/>
            <p:cNvSpPr/>
            <p:nvPr/>
          </p:nvSpPr>
          <p:spPr>
            <a:xfrm>
              <a:off x="3552" y="2208"/>
              <a:ext cx="336" cy="288"/>
            </a:xfrm>
            <a:prstGeom prst="rect">
              <a:avLst/>
            </a:prstGeom>
            <a:solidFill>
              <a:schemeClr val="fol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r>
                <a:rPr lang="zh-CN" altLang="en-US" sz="2800" b="1" dirty="0">
                  <a:latin typeface="Arial" panose="02080604020202020204" pitchFamily="34" charset="0"/>
                </a:rPr>
                <a:t>2</a:t>
              </a:r>
              <a:endParaRPr lang="zh-CN" altLang="en-US" sz="2800" b="1" dirty="0">
                <a:latin typeface="Arial" panose="02080604020202020204" pitchFamily="34" charset="0"/>
              </a:endParaRPr>
            </a:p>
          </p:txBody>
        </p:sp>
        <p:sp>
          <p:nvSpPr>
            <p:cNvPr id="26634" name="Rectangle 24"/>
            <p:cNvSpPr/>
            <p:nvPr/>
          </p:nvSpPr>
          <p:spPr>
            <a:xfrm>
              <a:off x="4512" y="2208"/>
              <a:ext cx="336" cy="288"/>
            </a:xfrm>
            <a:prstGeom prst="rect">
              <a:avLst/>
            </a:prstGeom>
            <a:solidFill>
              <a:schemeClr val="fol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r>
                <a:rPr lang="zh-CN" altLang="en-US" sz="2800" b="1" dirty="0">
                  <a:latin typeface="Arial" panose="02080604020202020204" pitchFamily="34" charset="0"/>
                </a:rPr>
                <a:t>1</a:t>
              </a:r>
              <a:endParaRPr lang="zh-CN" altLang="en-US" sz="2800" b="1" dirty="0">
                <a:latin typeface="Arial" panose="02080604020202020204" pitchFamily="34" charset="0"/>
              </a:endParaRPr>
            </a:p>
          </p:txBody>
        </p:sp>
      </p:grpSp>
      <p:sp>
        <p:nvSpPr>
          <p:cNvPr id="26632" name="Rectangle 25"/>
          <p:cNvSpPr/>
          <p:nvPr/>
        </p:nvSpPr>
        <p:spPr>
          <a:xfrm>
            <a:off x="2467928" y="2925445"/>
            <a:ext cx="4002087" cy="103251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After calling swap1: a=1, b=2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After calling swap2: a=2, b=1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After calling swap3: a=1, b=2</a:t>
            </a:r>
            <a:endParaRPr sz="1800"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0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3530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3530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0">
                                            <p:txEl>
                                              <p:charRg st="23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3530">
                                            <p:txEl>
                                              <p:charRg st="23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3530">
                                            <p:txEl>
                                              <p:charRg st="23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0">
                                            <p:txEl>
                                              <p:charRg st="56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3530">
                                            <p:txEl>
                                              <p:charRg st="56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3530">
                                            <p:txEl>
                                              <p:charRg st="56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0">
                                            <p:txEl>
                                              <p:charRg st="84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3530">
                                            <p:txEl>
                                              <p:charRg st="84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3530">
                                            <p:txEl>
                                              <p:charRg st="84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9" grpId="0" bldLvl="0" animBg="1"/>
      <p:bldP spid="363530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1" name="Rectangle 12"/>
          <p:cNvSpPr>
            <a:spLocks noGrp="1"/>
          </p:cNvSpPr>
          <p:nvPr>
            <p:ph type="title"/>
          </p:nvPr>
        </p:nvSpPr>
        <p:spPr>
          <a:xfrm>
            <a:off x="152400" y="409575"/>
            <a:ext cx="8991600" cy="6858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通过指针实现函数调用返回多个值</a:t>
            </a:r>
            <a:r>
              <a:rPr lang="en-US" altLang="zh-CN" b="0">
                <a:sym typeface="+mn-ea"/>
              </a:rPr>
              <a:t> </a:t>
            </a:r>
            <a:endParaRPr lang="en-US" altLang="zh-CN" b="0">
              <a:sym typeface="+mn-ea"/>
            </a:endParaRPr>
          </a:p>
        </p:txBody>
      </p:sp>
      <p:sp>
        <p:nvSpPr>
          <p:cNvPr id="27652" name="Rectangle 13"/>
          <p:cNvSpPr>
            <a:spLocks noGrp="1"/>
          </p:cNvSpPr>
          <p:nvPr>
            <p:ph idx="1"/>
          </p:nvPr>
        </p:nvSpPr>
        <p:spPr>
          <a:xfrm>
            <a:off x="33020" y="1052830"/>
            <a:ext cx="9086850" cy="1506855"/>
          </a:xfrm>
          <a:noFill/>
          <a:ln w="28575" cmpd="sng">
            <a:noFill/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例8-8   输入年和天数，输出对应的年、月、日。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lvl="1" algn="l"/>
            <a:r>
              <a:rPr sz="2000" b="0">
                <a:sym typeface="+mn-ea"/>
              </a:rPr>
              <a:t>例如：输入2000和61，输出2000-3-1。</a:t>
            </a:r>
            <a:endParaRPr sz="2000" b="0"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定义函数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month_day(year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,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yearday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, *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pmonth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, *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pday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)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lvl="1" algn="l"/>
            <a:r>
              <a:rPr sz="2000" b="0">
                <a:sym typeface="+mn-ea"/>
              </a:rPr>
              <a:t>用2个指针作为函数的参数，带回2个结果</a:t>
            </a:r>
            <a:endParaRPr sz="2000" b="0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7950" y="2639695"/>
            <a:ext cx="8421370" cy="409257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int main (void)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{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int day, month, year, yearday; 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void month_day(int year,int yearday, int *pmonth,int *pday);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printf(“input year and yearday: ”);			   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scanf ("%d%d", &amp;year, &amp;yearday );		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month_day (year, yearday, &amp;month, &amp;day );	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printf ("%d-%d-%d \n", year, month, day );	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return 0;	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} </a:t>
            </a:r>
            <a:endParaRPr sz="2000"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5" name="Rectangle 10"/>
          <p:cNvSpPr>
            <a:spLocks noGrp="1"/>
          </p:cNvSpPr>
          <p:nvPr>
            <p:ph type="title"/>
          </p:nvPr>
        </p:nvSpPr>
        <p:spPr>
          <a:xfrm>
            <a:off x="6804025" y="0"/>
            <a:ext cx="1600200" cy="6096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例8-8</a:t>
            </a:r>
            <a:endParaRPr lang="en-US" altLang="zh-CN" b="0">
              <a:sym typeface="+mn-ea"/>
            </a:endParaRPr>
          </a:p>
        </p:txBody>
      </p:sp>
      <p:sp>
        <p:nvSpPr>
          <p:cNvPr id="28676" name="Rectangle 11"/>
          <p:cNvSpPr>
            <a:spLocks noGrp="1"/>
          </p:cNvSpPr>
          <p:nvPr>
            <p:ph idx="1"/>
          </p:nvPr>
        </p:nvSpPr>
        <p:spPr>
          <a:xfrm>
            <a:off x="228600" y="609600"/>
            <a:ext cx="8664575" cy="5569585"/>
          </a:xfr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void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month_day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(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year,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yearday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,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*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pmonth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,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*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pday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)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{ 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k, leap;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tab [2][13] = {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   {0, 31, 28, 31, 30, 31, 30, 31, 31, 30, 31, 30, 31 },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   {0, 31, 29, 31, 30, 31, 30, 31, 31, 30, 31, 30, 31 },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 };  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    /*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建立闰年判别条件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leap */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leap = (year%4 == 0 &amp;&amp; year%100 != 0) || year%400 == 0; 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for ( k = 1;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yearday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&gt;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tab[leap][k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]; k++)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  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yearday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-= tab [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leap][k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];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*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pmonth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= k;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*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pday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=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yearday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} 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</p:txBody>
      </p:sp>
      <p:sp>
        <p:nvSpPr>
          <p:cNvPr id="28677" name="Rectangle 12"/>
          <p:cNvSpPr/>
          <p:nvPr/>
        </p:nvSpPr>
        <p:spPr>
          <a:xfrm>
            <a:off x="395288" y="6110605"/>
            <a:ext cx="5486400" cy="70675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p>
            <a:pPr algn="just"/>
            <a:r>
              <a:rPr lang="en-US" altLang="zh-CN" sz="2000">
                <a:latin typeface="Arial" panose="02080604020202020204" pitchFamily="34" charset="0"/>
              </a:rPr>
              <a:t>input year and </a:t>
            </a:r>
            <a:r>
              <a:rPr lang="en-US" altLang="zh-CN" sz="2000" err="1">
                <a:latin typeface="Arial" panose="02080604020202020204" pitchFamily="34" charset="0"/>
              </a:rPr>
              <a:t>yearday</a:t>
            </a:r>
            <a:r>
              <a:rPr lang="en-US" altLang="zh-CN" sz="2000">
                <a:latin typeface="Arial" panose="02080604020202020204" pitchFamily="34" charset="0"/>
              </a:rPr>
              <a:t>: 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</a:rPr>
              <a:t>2000  61</a:t>
            </a:r>
            <a:r>
              <a:rPr lang="en-US" altLang="zh-CN" sz="2000">
                <a:latin typeface="Arial" panose="02080604020202020204" pitchFamily="34" charset="0"/>
              </a:rPr>
              <a:t> </a:t>
            </a:r>
            <a:endParaRPr lang="en-US" altLang="zh-CN" sz="2000">
              <a:latin typeface="Arial" panose="02080604020202020204" pitchFamily="34" charset="0"/>
            </a:endParaRPr>
          </a:p>
          <a:p>
            <a:r>
              <a:rPr lang="en-US" altLang="zh-CN" sz="2000">
                <a:latin typeface="Arial" panose="02080604020202020204" pitchFamily="34" charset="0"/>
              </a:rPr>
              <a:t>2000-3-1 </a:t>
            </a:r>
            <a:endParaRPr lang="en-US" altLang="zh-CN" sz="2000">
              <a:latin typeface="Arial" panose="02080604020202020204" pitchFamily="34" charset="0"/>
            </a:endParaRPr>
          </a:p>
        </p:txBody>
      </p:sp>
      <p:grpSp>
        <p:nvGrpSpPr>
          <p:cNvPr id="28678" name="Group 13"/>
          <p:cNvGrpSpPr/>
          <p:nvPr/>
        </p:nvGrpSpPr>
        <p:grpSpPr>
          <a:xfrm>
            <a:off x="5791200" y="3728085"/>
            <a:ext cx="2895600" cy="2270126"/>
            <a:chOff x="3648" y="2710"/>
            <a:chExt cx="1824" cy="1430"/>
          </a:xfrm>
        </p:grpSpPr>
        <p:grpSp>
          <p:nvGrpSpPr>
            <p:cNvPr id="28682" name="Group 14"/>
            <p:cNvGrpSpPr/>
            <p:nvPr/>
          </p:nvGrpSpPr>
          <p:grpSpPr>
            <a:xfrm>
              <a:off x="3792" y="2710"/>
              <a:ext cx="1476" cy="338"/>
              <a:chOff x="3936" y="1174"/>
              <a:chExt cx="1476" cy="338"/>
            </a:xfrm>
          </p:grpSpPr>
          <p:sp>
            <p:nvSpPr>
              <p:cNvPr id="28690" name="Rectangle 15"/>
              <p:cNvSpPr/>
              <p:nvPr/>
            </p:nvSpPr>
            <p:spPr>
              <a:xfrm>
                <a:off x="3936" y="1222"/>
                <a:ext cx="738" cy="29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>
                    <a:latin typeface="Arial" panose="02080604020202020204" pitchFamily="34" charset="0"/>
                  </a:rPr>
                  <a:t>month</a:t>
                </a:r>
                <a:endParaRPr lang="en-US" altLang="zh-CN" sz="2400">
                  <a:latin typeface="Arial" panose="02080604020202020204" pitchFamily="34" charset="0"/>
                </a:endParaRPr>
              </a:p>
            </p:txBody>
          </p:sp>
          <p:sp>
            <p:nvSpPr>
              <p:cNvPr id="28691" name="Rectangle 16"/>
              <p:cNvSpPr/>
              <p:nvPr/>
            </p:nvSpPr>
            <p:spPr>
              <a:xfrm>
                <a:off x="4944" y="1174"/>
                <a:ext cx="468" cy="29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>
                    <a:latin typeface="Arial" panose="02080604020202020204" pitchFamily="34" charset="0"/>
                  </a:rPr>
                  <a:t>day</a:t>
                </a:r>
                <a:endParaRPr lang="en-US" altLang="zh-CN" sz="2400">
                  <a:latin typeface="Arial" panose="02080604020202020204" pitchFamily="34" charset="0"/>
                </a:endParaRPr>
              </a:p>
            </p:txBody>
          </p:sp>
        </p:grpSp>
        <p:sp>
          <p:nvSpPr>
            <p:cNvPr id="28683" name="Line 17"/>
            <p:cNvSpPr/>
            <p:nvPr/>
          </p:nvSpPr>
          <p:spPr>
            <a:xfrm flipV="1">
              <a:off x="4080" y="3360"/>
              <a:ext cx="0" cy="4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684" name="Line 18"/>
            <p:cNvSpPr/>
            <p:nvPr/>
          </p:nvSpPr>
          <p:spPr>
            <a:xfrm flipV="1">
              <a:off x="5088" y="3360"/>
              <a:ext cx="0" cy="4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685" name="Text Box 19"/>
            <p:cNvSpPr txBox="1"/>
            <p:nvPr/>
          </p:nvSpPr>
          <p:spPr>
            <a:xfrm>
              <a:off x="3648" y="3849"/>
              <a:ext cx="864" cy="29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err="1">
                  <a:latin typeface="Arial" panose="02080604020202020204" pitchFamily="34" charset="0"/>
                </a:rPr>
                <a:t>pmonth</a:t>
              </a:r>
              <a:endParaRPr lang="en-US" altLang="zh-CN" sz="2400" err="1">
                <a:latin typeface="Arial" panose="02080604020202020204" pitchFamily="34" charset="0"/>
              </a:endParaRPr>
            </a:p>
          </p:txBody>
        </p:sp>
        <p:sp>
          <p:nvSpPr>
            <p:cNvPr id="28686" name="Text Box 20"/>
            <p:cNvSpPr txBox="1"/>
            <p:nvPr/>
          </p:nvSpPr>
          <p:spPr>
            <a:xfrm>
              <a:off x="4848" y="3840"/>
              <a:ext cx="624" cy="291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000" tIns="46800" rIns="90000" bIns="468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err="1">
                  <a:latin typeface="Arial" panose="02080604020202020204" pitchFamily="34" charset="0"/>
                </a:rPr>
                <a:t>pday</a:t>
              </a:r>
              <a:endParaRPr lang="en-US" altLang="zh-CN" sz="2400" err="1">
                <a:latin typeface="Arial" panose="02080604020202020204" pitchFamily="34" charset="0"/>
              </a:endParaRPr>
            </a:p>
          </p:txBody>
        </p:sp>
        <p:grpSp>
          <p:nvGrpSpPr>
            <p:cNvPr id="28687" name="Group 21"/>
            <p:cNvGrpSpPr/>
            <p:nvPr/>
          </p:nvGrpSpPr>
          <p:grpSpPr>
            <a:xfrm>
              <a:off x="3744" y="3072"/>
              <a:ext cx="1728" cy="288"/>
              <a:chOff x="3696" y="1536"/>
              <a:chExt cx="1728" cy="288"/>
            </a:xfrm>
          </p:grpSpPr>
          <p:sp>
            <p:nvSpPr>
              <p:cNvPr id="28688" name="Rectangle 22"/>
              <p:cNvSpPr/>
              <p:nvPr/>
            </p:nvSpPr>
            <p:spPr>
              <a:xfrm>
                <a:off x="3696" y="1536"/>
                <a:ext cx="768" cy="28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en-US" sz="3200" dirty="0">
                  <a:latin typeface="Arial" panose="02080604020202020204" pitchFamily="34" charset="0"/>
                </a:endParaRPr>
              </a:p>
            </p:txBody>
          </p:sp>
          <p:sp>
            <p:nvSpPr>
              <p:cNvPr id="28689" name="Rectangle 23"/>
              <p:cNvSpPr/>
              <p:nvPr/>
            </p:nvSpPr>
            <p:spPr>
              <a:xfrm>
                <a:off x="4656" y="1536"/>
                <a:ext cx="768" cy="28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en-US" sz="3200" dirty="0">
                  <a:latin typeface="Arial" panose="02080604020202020204" pitchFamily="34" charset="0"/>
                </a:endParaRPr>
              </a:p>
            </p:txBody>
          </p:sp>
        </p:grpSp>
      </p:grpSp>
      <p:grpSp>
        <p:nvGrpSpPr>
          <p:cNvPr id="5" name="Group 24"/>
          <p:cNvGrpSpPr/>
          <p:nvPr/>
        </p:nvGrpSpPr>
        <p:grpSpPr>
          <a:xfrm>
            <a:off x="6248400" y="4302760"/>
            <a:ext cx="2057400" cy="457200"/>
            <a:chOff x="3552" y="2208"/>
            <a:chExt cx="1296" cy="288"/>
          </a:xfrm>
        </p:grpSpPr>
        <p:sp>
          <p:nvSpPr>
            <p:cNvPr id="28680" name="Rectangle 25"/>
            <p:cNvSpPr/>
            <p:nvPr/>
          </p:nvSpPr>
          <p:spPr>
            <a:xfrm>
              <a:off x="3552" y="2208"/>
              <a:ext cx="336" cy="288"/>
            </a:xfrm>
            <a:prstGeom prst="rect">
              <a:avLst/>
            </a:prstGeom>
            <a:solidFill>
              <a:schemeClr val="fol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r>
                <a:rPr lang="zh-CN" altLang="en-US" sz="2800" b="1" dirty="0">
                  <a:latin typeface="Arial" panose="02080604020202020204" pitchFamily="34" charset="0"/>
                </a:rPr>
                <a:t>3</a:t>
              </a:r>
              <a:endParaRPr lang="zh-CN" altLang="en-US" sz="2800" b="1" dirty="0">
                <a:latin typeface="Arial" panose="02080604020202020204" pitchFamily="34" charset="0"/>
              </a:endParaRPr>
            </a:p>
          </p:txBody>
        </p:sp>
        <p:sp>
          <p:nvSpPr>
            <p:cNvPr id="28681" name="Rectangle 26"/>
            <p:cNvSpPr/>
            <p:nvPr/>
          </p:nvSpPr>
          <p:spPr>
            <a:xfrm>
              <a:off x="4512" y="2208"/>
              <a:ext cx="336" cy="288"/>
            </a:xfrm>
            <a:prstGeom prst="rect">
              <a:avLst/>
            </a:prstGeom>
            <a:solidFill>
              <a:schemeClr val="fol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r>
                <a:rPr lang="zh-CN" altLang="en-US" sz="2800" b="1" dirty="0">
                  <a:latin typeface="Arial" panose="02080604020202020204" pitchFamily="34" charset="0"/>
                </a:rPr>
                <a:t>1</a:t>
              </a:r>
              <a:endParaRPr lang="zh-CN" altLang="en-US" sz="2800" b="1" dirty="0">
                <a:latin typeface="Arial" panose="0208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9" name="Rectangle 2"/>
          <p:cNvSpPr>
            <a:spLocks noGrp="1"/>
          </p:cNvSpPr>
          <p:nvPr>
            <p:ph type="title"/>
          </p:nvPr>
        </p:nvSpPr>
        <p:spPr>
          <a:xfrm>
            <a:off x="179388" y="404813"/>
            <a:ext cx="3600450" cy="1152525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8.3 </a:t>
            </a:r>
            <a:r>
              <a:rPr lang="en-US" altLang="zh-CN" b="0">
                <a:sym typeface="+mn-ea"/>
              </a:rPr>
              <a:t>冒泡排序</a:t>
            </a:r>
            <a:endParaRPr lang="en-US" altLang="zh-CN" b="0">
              <a:sym typeface="+mn-ea"/>
            </a:endParaRPr>
          </a:p>
        </p:txBody>
      </p:sp>
      <p:sp>
        <p:nvSpPr>
          <p:cNvPr id="29700" name="Text Box 9"/>
          <p:cNvSpPr/>
          <p:nvPr/>
        </p:nvSpPr>
        <p:spPr>
          <a:xfrm>
            <a:off x="179705" y="1316355"/>
            <a:ext cx="4233545" cy="501840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void </a:t>
            </a:r>
            <a:r>
              <a:rPr sz="1800">
                <a:latin typeface="+mn-ea"/>
                <a:cs typeface="+mn-ea"/>
                <a:sym typeface="+mn-ea"/>
              </a:rPr>
              <a:t>swap2</a:t>
            </a:r>
            <a:r>
              <a:rPr sz="1800">
                <a:latin typeface="+mn-ea"/>
                <a:cs typeface="+mn-ea"/>
                <a:sym typeface="+mn-ea"/>
              </a:rPr>
              <a:t> (</a:t>
            </a:r>
            <a:r>
              <a:rPr sz="1800">
                <a:latin typeface="+mn-ea"/>
                <a:cs typeface="+mn-ea"/>
                <a:sym typeface="+mn-ea"/>
              </a:rPr>
              <a:t>int</a:t>
            </a:r>
            <a:r>
              <a:rPr sz="1800">
                <a:latin typeface="+mn-ea"/>
                <a:cs typeface="+mn-ea"/>
                <a:sym typeface="+mn-ea"/>
              </a:rPr>
              <a:t> *, </a:t>
            </a:r>
            <a:r>
              <a:rPr sz="1800">
                <a:latin typeface="+mn-ea"/>
                <a:cs typeface="+mn-ea"/>
                <a:sym typeface="+mn-ea"/>
              </a:rPr>
              <a:t>int</a:t>
            </a:r>
            <a:r>
              <a:rPr sz="1800">
                <a:latin typeface="+mn-ea"/>
                <a:cs typeface="+mn-ea"/>
                <a:sym typeface="+mn-ea"/>
              </a:rPr>
              <a:t> *);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void </a:t>
            </a:r>
            <a:r>
              <a:rPr sz="1800">
                <a:latin typeface="+mn-ea"/>
                <a:cs typeface="+mn-ea"/>
                <a:sym typeface="+mn-ea"/>
              </a:rPr>
              <a:t>bubble</a:t>
            </a:r>
            <a:r>
              <a:rPr sz="1800">
                <a:latin typeface="+mn-ea"/>
                <a:cs typeface="+mn-ea"/>
                <a:sym typeface="+mn-ea"/>
              </a:rPr>
              <a:t> (</a:t>
            </a:r>
            <a:r>
              <a:rPr sz="1800">
                <a:latin typeface="+mn-ea"/>
                <a:cs typeface="+mn-ea"/>
                <a:sym typeface="+mn-ea"/>
              </a:rPr>
              <a:t>int</a:t>
            </a:r>
            <a:r>
              <a:rPr sz="1800">
                <a:latin typeface="+mn-ea"/>
                <a:cs typeface="+mn-ea"/>
                <a:sym typeface="+mn-ea"/>
              </a:rPr>
              <a:t> a[ ], </a:t>
            </a:r>
            <a:r>
              <a:rPr sz="1800">
                <a:latin typeface="+mn-ea"/>
                <a:cs typeface="+mn-ea"/>
                <a:sym typeface="+mn-ea"/>
              </a:rPr>
              <a:t>int</a:t>
            </a:r>
            <a:r>
              <a:rPr sz="1800">
                <a:latin typeface="+mn-ea"/>
                <a:cs typeface="+mn-ea"/>
                <a:sym typeface="+mn-ea"/>
              </a:rPr>
              <a:t> n);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int</a:t>
            </a:r>
            <a:r>
              <a:rPr sz="1800">
                <a:latin typeface="+mn-ea"/>
                <a:cs typeface="+mn-ea"/>
                <a:sym typeface="+mn-ea"/>
              </a:rPr>
              <a:t> </a:t>
            </a:r>
            <a:r>
              <a:rPr sz="1800">
                <a:latin typeface="+mn-ea"/>
                <a:cs typeface="+mn-ea"/>
                <a:sym typeface="+mn-ea"/>
              </a:rPr>
              <a:t>main(void</a:t>
            </a:r>
            <a:r>
              <a:rPr sz="1800">
                <a:latin typeface="+mn-ea"/>
                <a:cs typeface="+mn-ea"/>
                <a:sym typeface="+mn-ea"/>
              </a:rPr>
              <a:t>)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{  </a:t>
            </a:r>
            <a:r>
              <a:rPr sz="1800">
                <a:latin typeface="+mn-ea"/>
                <a:cs typeface="+mn-ea"/>
                <a:sym typeface="+mn-ea"/>
              </a:rPr>
              <a:t>int</a:t>
            </a:r>
            <a:r>
              <a:rPr sz="1800">
                <a:latin typeface="+mn-ea"/>
                <a:cs typeface="+mn-ea"/>
                <a:sym typeface="+mn-ea"/>
              </a:rPr>
              <a:t> n, a[8]; </a:t>
            </a:r>
            <a:r>
              <a:rPr sz="1800">
                <a:latin typeface="+mn-ea"/>
                <a:cs typeface="+mn-ea"/>
                <a:sym typeface="+mn-ea"/>
              </a:rPr>
              <a:t>int</a:t>
            </a:r>
            <a:r>
              <a:rPr sz="1800">
                <a:latin typeface="+mn-ea"/>
                <a:cs typeface="+mn-ea"/>
                <a:sym typeface="+mn-ea"/>
              </a:rPr>
              <a:t> i; 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</a:t>
            </a:r>
            <a:r>
              <a:rPr sz="1800">
                <a:latin typeface="+mn-ea"/>
                <a:cs typeface="+mn-ea"/>
                <a:sym typeface="+mn-ea"/>
              </a:rPr>
              <a:t>printf("Enter</a:t>
            </a:r>
            <a:r>
              <a:rPr sz="1800">
                <a:latin typeface="+mn-ea"/>
                <a:cs typeface="+mn-ea"/>
                <a:sym typeface="+mn-ea"/>
              </a:rPr>
              <a:t> n (n&lt;=8): ");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</a:t>
            </a:r>
            <a:r>
              <a:rPr sz="1800">
                <a:latin typeface="+mn-ea"/>
                <a:cs typeface="+mn-ea"/>
                <a:sym typeface="+mn-ea"/>
              </a:rPr>
              <a:t>scanf("%d</a:t>
            </a:r>
            <a:r>
              <a:rPr sz="1800">
                <a:latin typeface="+mn-ea"/>
                <a:cs typeface="+mn-ea"/>
                <a:sym typeface="+mn-ea"/>
              </a:rPr>
              <a:t>", &amp;n);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</a:t>
            </a:r>
            <a:r>
              <a:rPr sz="1800">
                <a:latin typeface="+mn-ea"/>
                <a:cs typeface="+mn-ea"/>
                <a:sym typeface="+mn-ea"/>
              </a:rPr>
              <a:t>printf("Enter</a:t>
            </a:r>
            <a:r>
              <a:rPr sz="1800">
                <a:latin typeface="+mn-ea"/>
                <a:cs typeface="+mn-ea"/>
                <a:sym typeface="+mn-ea"/>
              </a:rPr>
              <a:t> </a:t>
            </a:r>
            <a:r>
              <a:rPr sz="1800">
                <a:latin typeface="+mn-ea"/>
                <a:cs typeface="+mn-ea"/>
                <a:sym typeface="+mn-ea"/>
              </a:rPr>
              <a:t>a[%d</a:t>
            </a:r>
            <a:r>
              <a:rPr sz="1800">
                <a:latin typeface="+mn-ea"/>
                <a:cs typeface="+mn-ea"/>
                <a:sym typeface="+mn-ea"/>
              </a:rPr>
              <a:t>] : ",n);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for (i=0; i&lt;</a:t>
            </a:r>
            <a:r>
              <a:rPr sz="1800">
                <a:latin typeface="+mn-ea"/>
                <a:cs typeface="+mn-ea"/>
                <a:sym typeface="+mn-ea"/>
              </a:rPr>
              <a:t>n;i</a:t>
            </a:r>
            <a:r>
              <a:rPr sz="1800">
                <a:latin typeface="+mn-ea"/>
                <a:cs typeface="+mn-ea"/>
                <a:sym typeface="+mn-ea"/>
              </a:rPr>
              <a:t>++)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      </a:t>
            </a:r>
            <a:r>
              <a:rPr sz="1800">
                <a:latin typeface="+mn-ea"/>
                <a:cs typeface="+mn-ea"/>
                <a:sym typeface="+mn-ea"/>
              </a:rPr>
              <a:t>scanf("%d",&amp;a[i</a:t>
            </a:r>
            <a:r>
              <a:rPr sz="1800">
                <a:latin typeface="+mn-ea"/>
                <a:cs typeface="+mn-ea"/>
                <a:sym typeface="+mn-ea"/>
              </a:rPr>
              <a:t>]);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</a:t>
            </a:r>
            <a:r>
              <a:rPr sz="1800">
                <a:latin typeface="+mn-ea"/>
                <a:cs typeface="+mn-ea"/>
                <a:sym typeface="+mn-ea"/>
              </a:rPr>
              <a:t>bubble</a:t>
            </a:r>
            <a:r>
              <a:rPr sz="1800">
                <a:latin typeface="+mn-ea"/>
                <a:cs typeface="+mn-ea"/>
                <a:sym typeface="+mn-ea"/>
              </a:rPr>
              <a:t>(a</a:t>
            </a:r>
            <a:r>
              <a:rPr sz="1800">
                <a:latin typeface="+mn-ea"/>
                <a:cs typeface="+mn-ea"/>
                <a:sym typeface="+mn-ea"/>
              </a:rPr>
              <a:t>, n);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  </a:t>
            </a:r>
            <a:r>
              <a:rPr sz="1800">
                <a:latin typeface="+mn-ea"/>
                <a:cs typeface="+mn-ea"/>
                <a:sym typeface="+mn-ea"/>
              </a:rPr>
              <a:t>printf("After</a:t>
            </a:r>
            <a:r>
              <a:rPr sz="1800">
                <a:latin typeface="+mn-ea"/>
                <a:cs typeface="+mn-ea"/>
                <a:sym typeface="+mn-ea"/>
              </a:rPr>
              <a:t> sorted, </a:t>
            </a:r>
            <a:r>
              <a:rPr sz="1800">
                <a:latin typeface="+mn-ea"/>
                <a:cs typeface="+mn-ea"/>
                <a:sym typeface="+mn-ea"/>
              </a:rPr>
              <a:t>a[%d</a:t>
            </a:r>
            <a:r>
              <a:rPr sz="1800">
                <a:latin typeface="+mn-ea"/>
                <a:cs typeface="+mn-ea"/>
                <a:sym typeface="+mn-ea"/>
              </a:rPr>
              <a:t>] = ", n);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for (i=0; i&lt;n; i++)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	printf("%3d",a[i]);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 return 0;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} </a:t>
            </a:r>
            <a:endParaRPr sz="1800">
              <a:latin typeface="+mn-ea"/>
              <a:cs typeface="+mn-ea"/>
              <a:sym typeface="+mn-ea"/>
            </a:endParaRPr>
          </a:p>
        </p:txBody>
      </p:sp>
      <p:sp>
        <p:nvSpPr>
          <p:cNvPr id="368650" name="Rectangle 10"/>
          <p:cNvSpPr/>
          <p:nvPr/>
        </p:nvSpPr>
        <p:spPr>
          <a:xfrm>
            <a:off x="4425950" y="299720"/>
            <a:ext cx="4495800" cy="301498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void </a:t>
            </a:r>
            <a:r>
              <a:rPr sz="1800">
                <a:latin typeface="+mn-ea"/>
                <a:cs typeface="+mn-ea"/>
                <a:sym typeface="+mn-ea"/>
              </a:rPr>
              <a:t>bubble</a:t>
            </a:r>
            <a:r>
              <a:rPr sz="1800">
                <a:latin typeface="+mn-ea"/>
                <a:cs typeface="+mn-ea"/>
                <a:sym typeface="+mn-ea"/>
              </a:rPr>
              <a:t> (</a:t>
            </a:r>
            <a:r>
              <a:rPr sz="1800">
                <a:latin typeface="+mn-ea"/>
                <a:cs typeface="+mn-ea"/>
                <a:sym typeface="+mn-ea"/>
              </a:rPr>
              <a:t>int</a:t>
            </a:r>
            <a:r>
              <a:rPr sz="1800">
                <a:latin typeface="+mn-ea"/>
                <a:cs typeface="+mn-ea"/>
                <a:sym typeface="+mn-ea"/>
              </a:rPr>
              <a:t> a[ ], </a:t>
            </a:r>
            <a:r>
              <a:rPr sz="1800">
                <a:latin typeface="+mn-ea"/>
                <a:cs typeface="+mn-ea"/>
                <a:sym typeface="+mn-ea"/>
              </a:rPr>
              <a:t>int</a:t>
            </a:r>
            <a:r>
              <a:rPr sz="1800">
                <a:latin typeface="+mn-ea"/>
                <a:cs typeface="+mn-ea"/>
                <a:sym typeface="+mn-ea"/>
              </a:rPr>
              <a:t> n) 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{   </a:t>
            </a:r>
            <a:r>
              <a:rPr sz="1800">
                <a:latin typeface="+mn-ea"/>
                <a:cs typeface="+mn-ea"/>
                <a:sym typeface="+mn-ea"/>
              </a:rPr>
              <a:t>int</a:t>
            </a:r>
            <a:r>
              <a:rPr sz="1800">
                <a:latin typeface="+mn-ea"/>
                <a:cs typeface="+mn-ea"/>
                <a:sym typeface="+mn-ea"/>
              </a:rPr>
              <a:t>  i, j;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  for( i = 1; i &lt; n; i++ )	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      for (j = 0; j &lt; </a:t>
            </a:r>
            <a:r>
              <a:rPr sz="1800">
                <a:latin typeface="+mn-ea"/>
                <a:cs typeface="+mn-ea"/>
                <a:sym typeface="+mn-ea"/>
              </a:rPr>
              <a:t>n-i</a:t>
            </a:r>
            <a:r>
              <a:rPr sz="1800">
                <a:latin typeface="+mn-ea"/>
                <a:cs typeface="+mn-ea"/>
                <a:sym typeface="+mn-ea"/>
              </a:rPr>
              <a:t>; j++ )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          if (</a:t>
            </a:r>
            <a:r>
              <a:rPr sz="1800">
                <a:latin typeface="+mn-ea"/>
                <a:cs typeface="+mn-ea"/>
                <a:sym typeface="+mn-ea"/>
              </a:rPr>
              <a:t>a[j</a:t>
            </a:r>
            <a:r>
              <a:rPr sz="1800">
                <a:latin typeface="+mn-ea"/>
                <a:cs typeface="+mn-ea"/>
                <a:sym typeface="+mn-ea"/>
              </a:rPr>
              <a:t>] &gt; a[j+1])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		    </a:t>
            </a:r>
            <a:r>
              <a:rPr sz="1800">
                <a:latin typeface="+mn-ea"/>
                <a:cs typeface="+mn-ea"/>
                <a:sym typeface="+mn-ea"/>
              </a:rPr>
              <a:t>swap2</a:t>
            </a:r>
            <a:r>
              <a:rPr sz="1800">
                <a:latin typeface="+mn-ea"/>
                <a:cs typeface="+mn-ea"/>
                <a:sym typeface="+mn-ea"/>
              </a:rPr>
              <a:t> (&amp;</a:t>
            </a:r>
            <a:r>
              <a:rPr sz="1800">
                <a:latin typeface="+mn-ea"/>
                <a:cs typeface="+mn-ea"/>
                <a:sym typeface="+mn-ea"/>
              </a:rPr>
              <a:t>a[j</a:t>
            </a:r>
            <a:r>
              <a:rPr sz="1800">
                <a:latin typeface="+mn-ea"/>
                <a:cs typeface="+mn-ea"/>
                <a:sym typeface="+mn-ea"/>
              </a:rPr>
              <a:t>], &amp;a[j+1]);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}</a:t>
            </a:r>
            <a:r>
              <a:rPr sz="1800">
                <a:latin typeface="+mn-ea"/>
                <a:cs typeface="+mn-ea"/>
                <a:sym typeface="+mn-ea"/>
              </a:rPr>
              <a:t> </a:t>
            </a:r>
            <a:endParaRPr sz="1800">
              <a:latin typeface="+mn-ea"/>
              <a:cs typeface="+mn-ea"/>
              <a:sym typeface="+mn-ea"/>
            </a:endParaRPr>
          </a:p>
        </p:txBody>
      </p:sp>
      <p:sp>
        <p:nvSpPr>
          <p:cNvPr id="368652" name="Rectangle 12"/>
          <p:cNvSpPr/>
          <p:nvPr/>
        </p:nvSpPr>
        <p:spPr>
          <a:xfrm>
            <a:off x="4425950" y="3314700"/>
            <a:ext cx="4495800" cy="199961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void </a:t>
            </a:r>
            <a:r>
              <a:rPr sz="1800">
                <a:latin typeface="+mn-ea"/>
                <a:cs typeface="+mn-ea"/>
                <a:sym typeface="+mn-ea"/>
              </a:rPr>
              <a:t>swap2</a:t>
            </a:r>
            <a:r>
              <a:rPr sz="1800">
                <a:latin typeface="+mn-ea"/>
                <a:cs typeface="+mn-ea"/>
                <a:sym typeface="+mn-ea"/>
              </a:rPr>
              <a:t> (int *px, int *py)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{</a:t>
            </a:r>
            <a:r>
              <a:rPr sz="1800">
                <a:latin typeface="+mn-ea"/>
                <a:cs typeface="+mn-ea"/>
                <a:sym typeface="+mn-ea"/>
              </a:rPr>
              <a:t>  </a:t>
            </a:r>
            <a:r>
              <a:rPr sz="1800">
                <a:latin typeface="+mn-ea"/>
                <a:cs typeface="+mn-ea"/>
                <a:sym typeface="+mn-ea"/>
              </a:rPr>
              <a:t>int</a:t>
            </a:r>
            <a:r>
              <a:rPr sz="1800">
                <a:latin typeface="+mn-ea"/>
                <a:cs typeface="+mn-ea"/>
                <a:sym typeface="+mn-ea"/>
              </a:rPr>
              <a:t> t;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 t = *</a:t>
            </a:r>
            <a:r>
              <a:rPr sz="1800">
                <a:latin typeface="+mn-ea"/>
                <a:cs typeface="+mn-ea"/>
                <a:sym typeface="+mn-ea"/>
              </a:rPr>
              <a:t>px</a:t>
            </a:r>
            <a:r>
              <a:rPr sz="1800">
                <a:latin typeface="+mn-ea"/>
                <a:cs typeface="+mn-ea"/>
                <a:sym typeface="+mn-ea"/>
              </a:rPr>
              <a:t>;    *</a:t>
            </a:r>
            <a:r>
              <a:rPr sz="1800">
                <a:latin typeface="+mn-ea"/>
                <a:cs typeface="+mn-ea"/>
                <a:sym typeface="+mn-ea"/>
              </a:rPr>
              <a:t>px</a:t>
            </a:r>
            <a:r>
              <a:rPr sz="1800">
                <a:latin typeface="+mn-ea"/>
                <a:cs typeface="+mn-ea"/>
                <a:sym typeface="+mn-ea"/>
              </a:rPr>
              <a:t> = *</a:t>
            </a:r>
            <a:r>
              <a:rPr sz="1800">
                <a:latin typeface="+mn-ea"/>
                <a:cs typeface="+mn-ea"/>
                <a:sym typeface="+mn-ea"/>
              </a:rPr>
              <a:t>py</a:t>
            </a:r>
            <a:r>
              <a:rPr sz="1800">
                <a:latin typeface="+mn-ea"/>
                <a:cs typeface="+mn-ea"/>
                <a:sym typeface="+mn-ea"/>
              </a:rPr>
              <a:t>;    *</a:t>
            </a:r>
            <a:r>
              <a:rPr sz="1800">
                <a:latin typeface="+mn-ea"/>
                <a:cs typeface="+mn-ea"/>
                <a:sym typeface="+mn-ea"/>
              </a:rPr>
              <a:t>py</a:t>
            </a:r>
            <a:r>
              <a:rPr sz="1800">
                <a:latin typeface="+mn-ea"/>
                <a:cs typeface="+mn-ea"/>
                <a:sym typeface="+mn-ea"/>
              </a:rPr>
              <a:t> = t;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} </a:t>
            </a:r>
            <a:endParaRPr sz="1800">
              <a:latin typeface="+mn-ea"/>
              <a:cs typeface="+mn-ea"/>
              <a:sym typeface="+mn-ea"/>
            </a:endParaRPr>
          </a:p>
        </p:txBody>
      </p:sp>
      <p:sp>
        <p:nvSpPr>
          <p:cNvPr id="368653" name="Rectangle 13"/>
          <p:cNvSpPr/>
          <p:nvPr/>
        </p:nvSpPr>
        <p:spPr>
          <a:xfrm>
            <a:off x="4425950" y="5302250"/>
            <a:ext cx="4494530" cy="103251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Enter n (n&lt;=8): </a:t>
            </a:r>
            <a:r>
              <a:rPr sz="1800">
                <a:latin typeface="+mn-ea"/>
                <a:cs typeface="+mn-ea"/>
                <a:sym typeface="+mn-ea"/>
              </a:rPr>
              <a:t>8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Enter a[8] : </a:t>
            </a:r>
            <a:r>
              <a:rPr sz="1800">
                <a:latin typeface="+mn-ea"/>
                <a:cs typeface="+mn-ea"/>
                <a:sym typeface="+mn-ea"/>
              </a:rPr>
              <a:t>7 3 66 3 -5 22 -77 2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After sorted, a[8] = -77 -5 2 3 3 7 22 66 </a:t>
            </a:r>
            <a:endParaRPr sz="1800"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50" grpId="0" bldLvl="0" animBg="1"/>
      <p:bldP spid="368652" grpId="0" bldLvl="0" animBg="1"/>
      <p:bldP spid="368653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3" name="Rectangle 9"/>
          <p:cNvSpPr>
            <a:spLocks noGrp="1"/>
          </p:cNvSpPr>
          <p:nvPr>
            <p:ph type="title"/>
          </p:nvPr>
        </p:nvSpPr>
        <p:spPr>
          <a:xfrm>
            <a:off x="457200" y="404813"/>
            <a:ext cx="8435975" cy="7239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8.3.2 数组和地址间的关系</a:t>
            </a:r>
            <a:endParaRPr lang="en-US" altLang="zh-CN" b="0">
              <a:sym typeface="+mn-ea"/>
            </a:endParaRPr>
          </a:p>
        </p:txBody>
      </p:sp>
      <p:sp>
        <p:nvSpPr>
          <p:cNvPr id="369674" name="Rectangle 10"/>
          <p:cNvSpPr>
            <a:spLocks noGrp="1"/>
          </p:cNvSpPr>
          <p:nvPr>
            <p:ph idx="1"/>
          </p:nvPr>
        </p:nvSpPr>
        <p:spPr>
          <a:xfrm>
            <a:off x="179388" y="1196975"/>
            <a:ext cx="3529012" cy="3671888"/>
          </a:xfrm>
        </p:spPr>
        <p:txBody>
          <a:bodyPr vert="horz" wrap="square" lIns="90488" tIns="44450" rIns="90488" bIns="44450" anchor="t" anchorCtr="0"/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0" err="1"/>
              <a:t>int</a:t>
            </a:r>
            <a:r>
              <a:rPr lang="en-US" altLang="zh-CN" sz="2800" b="0"/>
              <a:t> a[100], *p;</a:t>
            </a:r>
            <a:endParaRPr lang="zh-CN" altLang="en-US" sz="2800" b="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 dirty="0"/>
              <a:t>数组名代表一个地址，它的值是数组首元素的地址（基地址）</a:t>
            </a:r>
            <a:endParaRPr lang="zh-CN" altLang="en-US" sz="2800" b="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0" err="1">
                <a:solidFill>
                  <a:schemeClr val="bg2"/>
                </a:solidFill>
              </a:rPr>
              <a:t>a+i</a:t>
            </a:r>
            <a:r>
              <a:rPr lang="en-US" altLang="zh-CN" sz="2800" b="0">
                <a:solidFill>
                  <a:schemeClr val="accent1"/>
                </a:solidFill>
              </a:rPr>
              <a:t> </a:t>
            </a:r>
            <a:r>
              <a:rPr lang="zh-CN" altLang="en-US" sz="2800" b="0" dirty="0"/>
              <a:t>是距数组</a:t>
            </a:r>
            <a:r>
              <a:rPr lang="en-US" altLang="zh-CN" sz="2800" b="0"/>
              <a:t>a</a:t>
            </a:r>
            <a:r>
              <a:rPr lang="zh-CN" altLang="en-US" sz="2800" b="0" dirty="0"/>
              <a:t>的基地址的第</a:t>
            </a:r>
            <a:r>
              <a:rPr lang="en-US" altLang="zh-CN" sz="2800" b="0"/>
              <a:t>i</a:t>
            </a:r>
            <a:r>
              <a:rPr lang="zh-CN" altLang="en-US" sz="2800" b="0" dirty="0"/>
              <a:t>个偏移</a:t>
            </a:r>
            <a:endParaRPr lang="zh-CN" altLang="en-US" sz="2800" b="0" dirty="0"/>
          </a:p>
        </p:txBody>
      </p:sp>
      <p:sp>
        <p:nvSpPr>
          <p:cNvPr id="30725" name="Rectangle 30"/>
          <p:cNvSpPr/>
          <p:nvPr/>
        </p:nvSpPr>
        <p:spPr>
          <a:xfrm>
            <a:off x="381000" y="3657600"/>
            <a:ext cx="3276600" cy="13716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p>
            <a:pPr marL="742950" lvl="1" indent="-285750" eaLnBrk="1" hangingPunct="1"/>
            <a:endParaRPr lang="zh-CN" altLang="en-US" sz="2800" dirty="0">
              <a:latin typeface="Arial" panose="02080604020202020204" pitchFamily="34" charset="0"/>
            </a:endParaRPr>
          </a:p>
        </p:txBody>
      </p:sp>
      <p:grpSp>
        <p:nvGrpSpPr>
          <p:cNvPr id="2" name="Group 46"/>
          <p:cNvGrpSpPr/>
          <p:nvPr/>
        </p:nvGrpSpPr>
        <p:grpSpPr>
          <a:xfrm>
            <a:off x="3886200" y="1524000"/>
            <a:ext cx="5029200" cy="3886200"/>
            <a:chOff x="2448" y="960"/>
            <a:chExt cx="3168" cy="2448"/>
          </a:xfrm>
        </p:grpSpPr>
        <p:grpSp>
          <p:nvGrpSpPr>
            <p:cNvPr id="30730" name="Group 12"/>
            <p:cNvGrpSpPr/>
            <p:nvPr/>
          </p:nvGrpSpPr>
          <p:grpSpPr>
            <a:xfrm>
              <a:off x="3840" y="1296"/>
              <a:ext cx="710" cy="1488"/>
              <a:chOff x="912" y="1008"/>
              <a:chExt cx="864" cy="1488"/>
            </a:xfrm>
          </p:grpSpPr>
          <p:sp>
            <p:nvSpPr>
              <p:cNvPr id="30752" name="Rectangle 13"/>
              <p:cNvSpPr/>
              <p:nvPr/>
            </p:nvSpPr>
            <p:spPr>
              <a:xfrm>
                <a:off x="912" y="1008"/>
                <a:ext cx="864" cy="148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2075" tIns="46038" rIns="92075" bIns="46038" anchor="ctr" anchorCtr="0"/>
              <a:p>
                <a:endParaRPr lang="zh-CN" altLang="en-US" dirty="0">
                  <a:latin typeface="Arial" panose="02080604020202020204" pitchFamily="34" charset="0"/>
                </a:endParaRPr>
              </a:p>
            </p:txBody>
          </p:sp>
          <p:sp>
            <p:nvSpPr>
              <p:cNvPr id="30753" name="Line 14"/>
              <p:cNvSpPr/>
              <p:nvPr/>
            </p:nvSpPr>
            <p:spPr>
              <a:xfrm>
                <a:off x="912" y="1248"/>
                <a:ext cx="86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4" name="Line 15"/>
              <p:cNvSpPr/>
              <p:nvPr/>
            </p:nvSpPr>
            <p:spPr>
              <a:xfrm>
                <a:off x="912" y="1488"/>
                <a:ext cx="86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5" name="Line 16"/>
              <p:cNvSpPr/>
              <p:nvPr/>
            </p:nvSpPr>
            <p:spPr>
              <a:xfrm>
                <a:off x="912" y="1728"/>
                <a:ext cx="86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6" name="Line 17"/>
              <p:cNvSpPr/>
              <p:nvPr/>
            </p:nvSpPr>
            <p:spPr>
              <a:xfrm>
                <a:off x="912" y="2016"/>
                <a:ext cx="86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7" name="Line 18"/>
              <p:cNvSpPr/>
              <p:nvPr/>
            </p:nvSpPr>
            <p:spPr>
              <a:xfrm>
                <a:off x="912" y="2256"/>
                <a:ext cx="86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0731" name="Rectangle 19"/>
            <p:cNvSpPr/>
            <p:nvPr/>
          </p:nvSpPr>
          <p:spPr>
            <a:xfrm>
              <a:off x="3216" y="1296"/>
              <a:ext cx="2208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r>
                <a:rPr lang="en-US" altLang="zh-CN" sz="2400">
                  <a:latin typeface="Arial" panose="02080604020202020204" pitchFamily="34" charset="0"/>
                </a:rPr>
                <a:t>3000                        a[0]</a:t>
              </a:r>
              <a:endParaRPr lang="en-US" altLang="zh-CN" sz="2400">
                <a:solidFill>
                  <a:schemeClr val="accent1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30732" name="Rectangle 20"/>
            <p:cNvSpPr/>
            <p:nvPr/>
          </p:nvSpPr>
          <p:spPr>
            <a:xfrm>
              <a:off x="3264" y="960"/>
              <a:ext cx="235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r>
                <a:rPr lang="zh-CN" altLang="en-US" sz="2400" dirty="0">
                  <a:latin typeface="Times New Roman" pitchFamily="18" charset="0"/>
                </a:rPr>
                <a:t>地址       内容        数组元素</a:t>
              </a:r>
              <a:endParaRPr lang="zh-CN" altLang="en-US" sz="2400" dirty="0">
                <a:latin typeface="Times New Roman" pitchFamily="18" charset="0"/>
              </a:endParaRPr>
            </a:p>
          </p:txBody>
        </p:sp>
        <p:sp>
          <p:nvSpPr>
            <p:cNvPr id="30733" name="Rectangle 21"/>
            <p:cNvSpPr/>
            <p:nvPr/>
          </p:nvSpPr>
          <p:spPr>
            <a:xfrm>
              <a:off x="3216" y="1584"/>
              <a:ext cx="2208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r>
                <a:rPr lang="en-US" altLang="zh-CN" sz="2400">
                  <a:latin typeface="Arial" panose="02080604020202020204" pitchFamily="34" charset="0"/>
                </a:rPr>
                <a:t>3002                        a[1]</a:t>
              </a:r>
              <a:endParaRPr lang="en-US" altLang="zh-CN" sz="2400">
                <a:solidFill>
                  <a:schemeClr val="accent1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30734" name="Rectangle 22"/>
            <p:cNvSpPr/>
            <p:nvPr/>
          </p:nvSpPr>
          <p:spPr>
            <a:xfrm>
              <a:off x="3264" y="2544"/>
              <a:ext cx="2208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r>
                <a:rPr lang="en-US" altLang="zh-CN" sz="2400">
                  <a:latin typeface="Arial" panose="02080604020202020204" pitchFamily="34" charset="0"/>
                </a:rPr>
                <a:t>3198                      a[99]</a:t>
              </a:r>
              <a:endParaRPr lang="en-US" altLang="zh-CN" sz="2400">
                <a:solidFill>
                  <a:schemeClr val="accent1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30735" name="Rectangle 23"/>
            <p:cNvSpPr/>
            <p:nvPr/>
          </p:nvSpPr>
          <p:spPr>
            <a:xfrm>
              <a:off x="3216" y="2064"/>
              <a:ext cx="2208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r>
                <a:rPr lang="en-US" altLang="zh-CN" sz="2400">
                  <a:latin typeface="Arial" panose="02080604020202020204" pitchFamily="34" charset="0"/>
                </a:rPr>
                <a:t>                                 </a:t>
              </a:r>
              <a:r>
                <a:rPr lang="en-US" altLang="zh-CN" sz="2400" err="1">
                  <a:latin typeface="Arial" panose="02080604020202020204" pitchFamily="34" charset="0"/>
                </a:rPr>
                <a:t>a[i</a:t>
              </a:r>
              <a:r>
                <a:rPr lang="en-US" altLang="zh-CN" sz="2400">
                  <a:latin typeface="Arial" panose="02080604020202020204" pitchFamily="34" charset="0"/>
                </a:rPr>
                <a:t>]</a:t>
              </a:r>
              <a:endParaRPr lang="en-US" altLang="zh-CN" sz="2400">
                <a:solidFill>
                  <a:schemeClr val="accent1"/>
                </a:solidFill>
                <a:latin typeface="Arial" panose="02080604020202020204" pitchFamily="34" charset="0"/>
              </a:endParaRPr>
            </a:p>
          </p:txBody>
        </p:sp>
        <p:grpSp>
          <p:nvGrpSpPr>
            <p:cNvPr id="30736" name="Group 25"/>
            <p:cNvGrpSpPr/>
            <p:nvPr/>
          </p:nvGrpSpPr>
          <p:grpSpPr>
            <a:xfrm>
              <a:off x="2496" y="1296"/>
              <a:ext cx="576" cy="1488"/>
              <a:chOff x="2496" y="1296"/>
              <a:chExt cx="576" cy="1488"/>
            </a:xfrm>
          </p:grpSpPr>
          <p:sp>
            <p:nvSpPr>
              <p:cNvPr id="30748" name="Rectangle 26"/>
              <p:cNvSpPr/>
              <p:nvPr/>
            </p:nvSpPr>
            <p:spPr>
              <a:xfrm>
                <a:off x="2496" y="1296"/>
                <a:ext cx="576" cy="24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pPr algn="r"/>
                <a:r>
                  <a:rPr lang="en-US" altLang="zh-CN" sz="2400">
                    <a:solidFill>
                      <a:schemeClr val="bg2"/>
                    </a:solidFill>
                    <a:latin typeface="Arial" panose="02080604020202020204" pitchFamily="34" charset="0"/>
                  </a:rPr>
                  <a:t> a</a:t>
                </a:r>
                <a:endParaRPr lang="en-US" altLang="zh-CN" sz="2400">
                  <a:solidFill>
                    <a:schemeClr val="bg2"/>
                  </a:solidFill>
                  <a:latin typeface="Arial" panose="02080604020202020204" pitchFamily="34" charset="0"/>
                </a:endParaRPr>
              </a:p>
            </p:txBody>
          </p:sp>
          <p:sp>
            <p:nvSpPr>
              <p:cNvPr id="30749" name="Rectangle 27"/>
              <p:cNvSpPr/>
              <p:nvPr/>
            </p:nvSpPr>
            <p:spPr>
              <a:xfrm>
                <a:off x="2496" y="1584"/>
                <a:ext cx="576" cy="24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pPr algn="r"/>
                <a:r>
                  <a:rPr lang="en-US" altLang="zh-CN" sz="2400">
                    <a:solidFill>
                      <a:schemeClr val="bg2"/>
                    </a:solidFill>
                    <a:latin typeface="Arial" panose="02080604020202020204" pitchFamily="34" charset="0"/>
                  </a:rPr>
                  <a:t>a+1</a:t>
                </a:r>
                <a:endParaRPr lang="en-US" altLang="zh-CN" sz="2400">
                  <a:solidFill>
                    <a:schemeClr val="bg2"/>
                  </a:solidFill>
                  <a:latin typeface="Arial" panose="02080604020202020204" pitchFamily="34" charset="0"/>
                </a:endParaRPr>
              </a:p>
            </p:txBody>
          </p:sp>
          <p:sp>
            <p:nvSpPr>
              <p:cNvPr id="30750" name="Rectangle 28"/>
              <p:cNvSpPr/>
              <p:nvPr/>
            </p:nvSpPr>
            <p:spPr>
              <a:xfrm>
                <a:off x="2496" y="2544"/>
                <a:ext cx="576" cy="24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pPr algn="r"/>
                <a:r>
                  <a:rPr lang="en-US" altLang="zh-CN" sz="2400">
                    <a:solidFill>
                      <a:schemeClr val="bg2"/>
                    </a:solidFill>
                    <a:latin typeface="Arial" panose="02080604020202020204" pitchFamily="34" charset="0"/>
                  </a:rPr>
                  <a:t>a+99</a:t>
                </a:r>
                <a:endParaRPr lang="en-US" altLang="zh-CN" sz="2400">
                  <a:solidFill>
                    <a:schemeClr val="bg2"/>
                  </a:solidFill>
                  <a:latin typeface="Arial" panose="02080604020202020204" pitchFamily="34" charset="0"/>
                </a:endParaRPr>
              </a:p>
            </p:txBody>
          </p:sp>
          <p:sp>
            <p:nvSpPr>
              <p:cNvPr id="30751" name="Rectangle 29"/>
              <p:cNvSpPr/>
              <p:nvPr/>
            </p:nvSpPr>
            <p:spPr>
              <a:xfrm>
                <a:off x="2496" y="2064"/>
                <a:ext cx="576" cy="24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pPr algn="r"/>
                <a:r>
                  <a:rPr lang="en-US" altLang="zh-CN" sz="2400" err="1">
                    <a:solidFill>
                      <a:schemeClr val="bg2"/>
                    </a:solidFill>
                    <a:latin typeface="Arial" panose="02080604020202020204" pitchFamily="34" charset="0"/>
                  </a:rPr>
                  <a:t>a+i</a:t>
                </a:r>
                <a:endParaRPr lang="en-US" altLang="zh-CN" sz="2400" err="1">
                  <a:solidFill>
                    <a:schemeClr val="bg2"/>
                  </a:solidFill>
                  <a:latin typeface="Arial" panose="02080604020202020204" pitchFamily="34" charset="0"/>
                </a:endParaRPr>
              </a:p>
            </p:txBody>
          </p:sp>
        </p:grpSp>
        <p:grpSp>
          <p:nvGrpSpPr>
            <p:cNvPr id="30737" name="Group 31"/>
            <p:cNvGrpSpPr/>
            <p:nvPr/>
          </p:nvGrpSpPr>
          <p:grpSpPr>
            <a:xfrm>
              <a:off x="2448" y="2160"/>
              <a:ext cx="1055" cy="1200"/>
              <a:chOff x="2448" y="2160"/>
              <a:chExt cx="1055" cy="1200"/>
            </a:xfrm>
          </p:grpSpPr>
          <p:sp>
            <p:nvSpPr>
              <p:cNvPr id="30743" name="Rectangle 32"/>
              <p:cNvSpPr/>
              <p:nvPr/>
            </p:nvSpPr>
            <p:spPr>
              <a:xfrm>
                <a:off x="2640" y="3024"/>
                <a:ext cx="863" cy="33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90488" tIns="44450" rIns="90488" bIns="44450"/>
              <a:p>
                <a:pPr marL="342900" indent="-34290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zh-CN" altLang="en-US" sz="2400" dirty="0">
                    <a:solidFill>
                      <a:srgbClr val="CC0066"/>
                    </a:solidFill>
                    <a:latin typeface="Arial" panose="02080604020202020204" pitchFamily="34" charset="0"/>
                  </a:rPr>
                  <a:t>&amp;</a:t>
                </a:r>
                <a:r>
                  <a:rPr lang="en-US" altLang="zh-CN" sz="2400" err="1">
                    <a:solidFill>
                      <a:srgbClr val="CC0066"/>
                    </a:solidFill>
                    <a:latin typeface="Arial" panose="02080604020202020204" pitchFamily="34" charset="0"/>
                  </a:rPr>
                  <a:t>a[i</a:t>
                </a:r>
                <a:r>
                  <a:rPr lang="en-US" altLang="zh-CN" sz="2400">
                    <a:solidFill>
                      <a:srgbClr val="CC0066"/>
                    </a:solidFill>
                    <a:latin typeface="Arial" panose="02080604020202020204" pitchFamily="34" charset="0"/>
                  </a:rPr>
                  <a:t>]</a:t>
                </a:r>
                <a:endParaRPr lang="en-US" altLang="zh-CN" sz="2400">
                  <a:solidFill>
                    <a:srgbClr val="CC0066"/>
                  </a:solidFill>
                  <a:latin typeface="Arial" panose="02080604020202020204" pitchFamily="34" charset="0"/>
                </a:endParaRPr>
              </a:p>
            </p:txBody>
          </p:sp>
          <p:grpSp>
            <p:nvGrpSpPr>
              <p:cNvPr id="30744" name="Group 33"/>
              <p:cNvGrpSpPr/>
              <p:nvPr/>
            </p:nvGrpSpPr>
            <p:grpSpPr>
              <a:xfrm>
                <a:off x="2448" y="2160"/>
                <a:ext cx="144" cy="1008"/>
                <a:chOff x="768" y="1344"/>
                <a:chExt cx="144" cy="1392"/>
              </a:xfrm>
            </p:grpSpPr>
            <p:sp>
              <p:nvSpPr>
                <p:cNvPr id="30745" name="Line 34"/>
                <p:cNvSpPr/>
                <p:nvPr/>
              </p:nvSpPr>
              <p:spPr>
                <a:xfrm flipH="1">
                  <a:off x="768" y="2736"/>
                  <a:ext cx="144" cy="0"/>
                </a:xfrm>
                <a:prstGeom prst="line">
                  <a:avLst/>
                </a:prstGeom>
                <a:ln w="9525" cap="flat" cmpd="sng">
                  <a:solidFill>
                    <a:srgbClr val="CC0066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0746" name="Line 35"/>
                <p:cNvSpPr/>
                <p:nvPr/>
              </p:nvSpPr>
              <p:spPr>
                <a:xfrm flipV="1">
                  <a:off x="768" y="1344"/>
                  <a:ext cx="0" cy="1392"/>
                </a:xfrm>
                <a:prstGeom prst="line">
                  <a:avLst/>
                </a:prstGeom>
                <a:ln w="9525" cap="flat" cmpd="sng">
                  <a:solidFill>
                    <a:srgbClr val="CC0066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0747" name="Line 36"/>
                <p:cNvSpPr/>
                <p:nvPr/>
              </p:nvSpPr>
              <p:spPr>
                <a:xfrm flipH="1">
                  <a:off x="768" y="1344"/>
                  <a:ext cx="144" cy="0"/>
                </a:xfrm>
                <a:prstGeom prst="line">
                  <a:avLst/>
                </a:prstGeom>
                <a:ln w="9525" cap="flat" cmpd="sng">
                  <a:solidFill>
                    <a:srgbClr val="CC0066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30738" name="Rectangle 38"/>
            <p:cNvSpPr/>
            <p:nvPr/>
          </p:nvSpPr>
          <p:spPr>
            <a:xfrm>
              <a:off x="4476" y="3072"/>
              <a:ext cx="852" cy="336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/>
            <a:p>
              <a:pPr marL="342900" indent="-34290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zh-CN" altLang="zh-CN" sz="2400" dirty="0">
                  <a:solidFill>
                    <a:srgbClr val="CC0066"/>
                  </a:solidFill>
                  <a:latin typeface="Arial" panose="02080604020202020204" pitchFamily="34" charset="0"/>
                </a:rPr>
                <a:t>*</a:t>
              </a:r>
              <a:r>
                <a:rPr lang="zh-CN" altLang="en-US" sz="2400" dirty="0">
                  <a:solidFill>
                    <a:srgbClr val="CC0066"/>
                  </a:solidFill>
                  <a:latin typeface="Arial" panose="02080604020202020204" pitchFamily="34" charset="0"/>
                </a:rPr>
                <a:t>(</a:t>
              </a:r>
              <a:r>
                <a:rPr lang="en-US" altLang="zh-CN" sz="2400" err="1">
                  <a:solidFill>
                    <a:srgbClr val="CC0066"/>
                  </a:solidFill>
                  <a:latin typeface="Arial" panose="02080604020202020204" pitchFamily="34" charset="0"/>
                </a:rPr>
                <a:t>a+i</a:t>
              </a:r>
              <a:r>
                <a:rPr lang="en-US" altLang="zh-CN" sz="2400">
                  <a:solidFill>
                    <a:srgbClr val="CC0066"/>
                  </a:solidFill>
                  <a:latin typeface="Arial" panose="02080604020202020204" pitchFamily="34" charset="0"/>
                </a:rPr>
                <a:t>) </a:t>
              </a:r>
              <a:endParaRPr lang="en-US" altLang="zh-CN" sz="2400">
                <a:solidFill>
                  <a:srgbClr val="CC0066"/>
                </a:solidFill>
                <a:latin typeface="Arial" panose="02080604020202020204" pitchFamily="34" charset="0"/>
              </a:endParaRPr>
            </a:p>
          </p:txBody>
        </p:sp>
        <p:grpSp>
          <p:nvGrpSpPr>
            <p:cNvPr id="30739" name="Group 39"/>
            <p:cNvGrpSpPr/>
            <p:nvPr/>
          </p:nvGrpSpPr>
          <p:grpSpPr>
            <a:xfrm flipH="1">
              <a:off x="4967" y="2173"/>
              <a:ext cx="192" cy="899"/>
              <a:chOff x="1075" y="1295"/>
              <a:chExt cx="144" cy="1242"/>
            </a:xfrm>
          </p:grpSpPr>
          <p:sp>
            <p:nvSpPr>
              <p:cNvPr id="30740" name="Line 40"/>
              <p:cNvSpPr/>
              <p:nvPr/>
            </p:nvSpPr>
            <p:spPr>
              <a:xfrm flipH="1">
                <a:off x="1075" y="1311"/>
                <a:ext cx="144" cy="0"/>
              </a:xfrm>
              <a:prstGeom prst="line">
                <a:avLst/>
              </a:prstGeom>
              <a:ln w="9525" cap="flat" cmpd="sng">
                <a:solidFill>
                  <a:srgbClr val="CC0066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41" name="Line 41"/>
              <p:cNvSpPr/>
              <p:nvPr/>
            </p:nvSpPr>
            <p:spPr>
              <a:xfrm flipH="1" flipV="1">
                <a:off x="1215" y="1295"/>
                <a:ext cx="2" cy="1242"/>
              </a:xfrm>
              <a:prstGeom prst="line">
                <a:avLst/>
              </a:prstGeom>
              <a:ln w="9525" cap="flat" cmpd="sng">
                <a:solidFill>
                  <a:srgbClr val="CC0066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369707" name="Rectangle 43"/>
          <p:cNvSpPr/>
          <p:nvPr/>
        </p:nvSpPr>
        <p:spPr>
          <a:xfrm>
            <a:off x="381000" y="5181600"/>
            <a:ext cx="4772660" cy="1295400"/>
          </a:xfrm>
          <a:prstGeom prst="rect">
            <a:avLst/>
          </a:prstGeom>
          <a:noFill/>
          <a:ln w="12700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lIns="90488" tIns="44450" rIns="90488" bIns="44450"/>
          <a:p>
            <a:pPr marL="742950" lvl="1" indent="-28575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>
                <a:latin typeface="Arial" panose="02080604020202020204" pitchFamily="34" charset="0"/>
              </a:rPr>
              <a:t>sum = 0;</a:t>
            </a:r>
            <a:endParaRPr lang="en-US" altLang="zh-CN" sz="2400">
              <a:latin typeface="Arial" panose="02080604020202020204" pitchFamily="34" charset="0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err="1">
                <a:latin typeface="Arial" panose="02080604020202020204" pitchFamily="34" charset="0"/>
              </a:rPr>
              <a:t>for(i</a:t>
            </a:r>
            <a:r>
              <a:rPr lang="en-US" altLang="zh-CN" sz="2400">
                <a:latin typeface="Arial" panose="02080604020202020204" pitchFamily="34" charset="0"/>
              </a:rPr>
              <a:t> = 0; i &lt; 100; i++)</a:t>
            </a:r>
            <a:endParaRPr lang="en-US" altLang="zh-CN" sz="2400">
              <a:latin typeface="Arial" panose="02080604020202020204" pitchFamily="34" charset="0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>
                <a:latin typeface="Arial" panose="02080604020202020204" pitchFamily="34" charset="0"/>
              </a:rPr>
              <a:t>     sum = </a:t>
            </a:r>
            <a:r>
              <a:rPr lang="en-US" altLang="zh-CN" sz="2400" err="1">
                <a:latin typeface="Arial" panose="02080604020202020204" pitchFamily="34" charset="0"/>
              </a:rPr>
              <a:t>sum</a:t>
            </a:r>
            <a:r>
              <a:rPr lang="en-US" altLang="zh-CN" sz="2400">
                <a:latin typeface="Arial" panose="02080604020202020204" pitchFamily="34" charset="0"/>
              </a:rPr>
              <a:t> + </a:t>
            </a:r>
            <a:r>
              <a:rPr lang="en-US" altLang="zh-CN" sz="2400" err="1">
                <a:latin typeface="Arial" panose="02080604020202020204" pitchFamily="34" charset="0"/>
              </a:rPr>
              <a:t>a[i</a:t>
            </a:r>
            <a:r>
              <a:rPr lang="en-US" altLang="zh-CN" sz="2400">
                <a:latin typeface="Arial" panose="02080604020202020204" pitchFamily="34" charset="0"/>
              </a:rPr>
              <a:t>]      ;</a:t>
            </a:r>
            <a:endParaRPr lang="en-US" altLang="zh-CN" sz="2400">
              <a:latin typeface="Arial" panose="02080604020202020204" pitchFamily="34" charset="0"/>
            </a:endParaRPr>
          </a:p>
        </p:txBody>
      </p:sp>
      <p:sp>
        <p:nvSpPr>
          <p:cNvPr id="369708" name="Rectangle 44"/>
          <p:cNvSpPr/>
          <p:nvPr/>
        </p:nvSpPr>
        <p:spPr>
          <a:xfrm>
            <a:off x="3541554" y="6096000"/>
            <a:ext cx="1100455" cy="423545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zh-CN" altLang="en-US" sz="2400" dirty="0">
                <a:latin typeface="Arial" panose="02080604020202020204" pitchFamily="34" charset="0"/>
              </a:rPr>
              <a:t>*(</a:t>
            </a:r>
            <a:r>
              <a:rPr lang="en-US" altLang="zh-CN" sz="2400" err="1">
                <a:latin typeface="Arial" panose="02080604020202020204" pitchFamily="34" charset="0"/>
              </a:rPr>
              <a:t>a+i</a:t>
            </a:r>
            <a:r>
              <a:rPr lang="en-US" altLang="zh-CN" sz="2400">
                <a:latin typeface="Arial" panose="02080604020202020204" pitchFamily="34" charset="0"/>
              </a:rPr>
              <a:t>)</a:t>
            </a:r>
            <a:endParaRPr lang="zh-CN" altLang="en-US" sz="2400" dirty="0">
              <a:latin typeface="Arial" panose="02080604020202020204" pitchFamily="34" charset="0"/>
            </a:endParaRPr>
          </a:p>
        </p:txBody>
      </p:sp>
      <p:sp>
        <p:nvSpPr>
          <p:cNvPr id="369709" name="Rectangle 45"/>
          <p:cNvSpPr/>
          <p:nvPr/>
        </p:nvSpPr>
        <p:spPr>
          <a:xfrm>
            <a:off x="5469097" y="5495290"/>
            <a:ext cx="2957195" cy="42354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zh-CN" altLang="en-US" sz="2400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下标运算符[ ]的含义</a:t>
            </a:r>
            <a:endParaRPr lang="zh-CN" altLang="en-US" sz="2400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4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4">
                                            <p:txEl>
                                              <p:charRg st="16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4">
                                            <p:txEl>
                                              <p:charRg st="44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9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9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9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9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9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9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74" grpId="0" build="p"/>
      <p:bldP spid="369707" grpId="0" bldLvl="0" animBg="1"/>
      <p:bldP spid="369708" grpId="0" bldLvl="0" animBg="1"/>
      <p:bldP spid="36970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7" name="Rectangle 6"/>
          <p:cNvSpPr>
            <a:spLocks noGrp="1"/>
          </p:cNvSpPr>
          <p:nvPr>
            <p:ph type="title"/>
          </p:nvPr>
        </p:nvSpPr>
        <p:spPr>
          <a:xfrm>
            <a:off x="4283075" y="333375"/>
            <a:ext cx="4860925" cy="7239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指针和数组的关系</a:t>
            </a:r>
            <a:endParaRPr lang="en-US" altLang="zh-CN" b="0">
              <a:sym typeface="+mn-ea"/>
            </a:endParaRPr>
          </a:p>
        </p:txBody>
      </p:sp>
      <p:sp>
        <p:nvSpPr>
          <p:cNvPr id="371719" name="Rectangle 7"/>
          <p:cNvSpPr>
            <a:spLocks noGrp="1"/>
          </p:cNvSpPr>
          <p:nvPr>
            <p:ph idx="1"/>
          </p:nvPr>
        </p:nvSpPr>
        <p:spPr>
          <a:xfrm>
            <a:off x="152400" y="977900"/>
            <a:ext cx="8235950" cy="3530600"/>
          </a:xfrm>
        </p:spPr>
        <p:txBody>
          <a:bodyPr vert="horz" wrap="square" lIns="90488" tIns="44450" rIns="90488" bIns="44450" anchor="t" anchorCtr="0"/>
          <a:p>
            <a:pPr algn="just" eaLnBrk="1" hangingPunct="1">
              <a:buClr>
                <a:schemeClr val="tx2"/>
              </a:buClr>
              <a:buFontTx/>
              <a:buNone/>
            </a:pPr>
            <a:r>
              <a:rPr lang="zh-CN" altLang="en-US" b="0" dirty="0"/>
              <a:t>任何由数组下标来实现的操作都能用指针来完成</a:t>
            </a:r>
            <a:endParaRPr lang="zh-CN" altLang="en-US" b="0" dirty="0"/>
          </a:p>
          <a:p>
            <a:pPr lvl="1" eaLnBrk="1" hangingPunct="1">
              <a:buNone/>
            </a:pPr>
            <a:r>
              <a:rPr lang="en-US" altLang="zh-CN" b="0" err="1"/>
              <a:t>int</a:t>
            </a:r>
            <a:r>
              <a:rPr lang="en-US" altLang="zh-CN" b="0"/>
              <a:t> a[100], *p;</a:t>
            </a:r>
            <a:endParaRPr lang="en-US" altLang="zh-CN" b="0"/>
          </a:p>
          <a:p>
            <a:pPr lvl="1" eaLnBrk="1" hangingPunct="1">
              <a:buNone/>
            </a:pPr>
            <a:r>
              <a:rPr lang="en-US" altLang="zh-CN" b="0"/>
              <a:t>p = a;</a:t>
            </a:r>
            <a:endParaRPr lang="en-US" altLang="zh-CN" b="0"/>
          </a:p>
          <a:p>
            <a:pPr lvl="1" eaLnBrk="1" hangingPunct="1">
              <a:buNone/>
            </a:pPr>
            <a:r>
              <a:rPr lang="zh-CN" altLang="en-US" b="0" dirty="0"/>
              <a:t>或</a:t>
            </a:r>
            <a:endParaRPr lang="zh-CN" altLang="en-US" b="0" dirty="0"/>
          </a:p>
          <a:p>
            <a:pPr lvl="1" eaLnBrk="1" hangingPunct="1">
              <a:buNone/>
            </a:pPr>
            <a:r>
              <a:rPr lang="en-US" altLang="zh-CN" b="0"/>
              <a:t>p = &amp;a[0];</a:t>
            </a:r>
            <a:endParaRPr lang="zh-CN" altLang="en-US" b="0" dirty="0"/>
          </a:p>
          <a:p>
            <a:pPr lvl="1" algn="just" eaLnBrk="1" hangingPunct="1">
              <a:buClr>
                <a:schemeClr val="tx2"/>
              </a:buClr>
              <a:buFontTx/>
              <a:buNone/>
            </a:pPr>
            <a:endParaRPr lang="zh-CN" altLang="en-US" b="0" dirty="0"/>
          </a:p>
        </p:txBody>
      </p:sp>
      <p:grpSp>
        <p:nvGrpSpPr>
          <p:cNvPr id="2" name="Group 37"/>
          <p:cNvGrpSpPr/>
          <p:nvPr/>
        </p:nvGrpSpPr>
        <p:grpSpPr>
          <a:xfrm>
            <a:off x="3048000" y="2057400"/>
            <a:ext cx="914400" cy="2362200"/>
            <a:chOff x="1920" y="1296"/>
            <a:chExt cx="576" cy="1488"/>
          </a:xfrm>
        </p:grpSpPr>
        <p:sp>
          <p:nvSpPr>
            <p:cNvPr id="31773" name="Rectangle 10"/>
            <p:cNvSpPr/>
            <p:nvPr/>
          </p:nvSpPr>
          <p:spPr>
            <a:xfrm>
              <a:off x="1920" y="1296"/>
              <a:ext cx="576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pPr algn="r"/>
              <a:r>
                <a:rPr lang="en-US" altLang="zh-CN" sz="2400">
                  <a:solidFill>
                    <a:schemeClr val="accent1"/>
                  </a:solidFill>
                  <a:latin typeface="Arial" panose="02080604020202020204" pitchFamily="34" charset="0"/>
                </a:rPr>
                <a:t> </a:t>
              </a:r>
              <a:r>
                <a:rPr lang="en-US" altLang="zh-CN" sz="2400">
                  <a:solidFill>
                    <a:srgbClr val="CC0066"/>
                  </a:solidFill>
                  <a:latin typeface="Arial" panose="02080604020202020204" pitchFamily="34" charset="0"/>
                </a:rPr>
                <a:t>p</a:t>
              </a:r>
              <a:endParaRPr lang="en-US" altLang="zh-CN" sz="2400">
                <a:solidFill>
                  <a:srgbClr val="CC0066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31774" name="Rectangle 11"/>
            <p:cNvSpPr/>
            <p:nvPr/>
          </p:nvSpPr>
          <p:spPr>
            <a:xfrm>
              <a:off x="1920" y="1584"/>
              <a:ext cx="576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pPr algn="r"/>
              <a:r>
                <a:rPr lang="en-US" altLang="zh-CN" sz="2400">
                  <a:solidFill>
                    <a:srgbClr val="CC0066"/>
                  </a:solidFill>
                  <a:latin typeface="Arial" panose="02080604020202020204" pitchFamily="34" charset="0"/>
                </a:rPr>
                <a:t>p</a:t>
              </a:r>
              <a:r>
                <a:rPr lang="en-US" altLang="zh-CN" sz="2400">
                  <a:solidFill>
                    <a:schemeClr val="bg2"/>
                  </a:solidFill>
                  <a:latin typeface="Arial" panose="02080604020202020204" pitchFamily="34" charset="0"/>
                </a:rPr>
                <a:t>+1</a:t>
              </a:r>
              <a:endParaRPr lang="en-US" altLang="zh-CN" sz="2400">
                <a:solidFill>
                  <a:schemeClr val="bg2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31775" name="Rectangle 12"/>
            <p:cNvSpPr/>
            <p:nvPr/>
          </p:nvSpPr>
          <p:spPr>
            <a:xfrm>
              <a:off x="1920" y="2544"/>
              <a:ext cx="576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pPr algn="r"/>
              <a:r>
                <a:rPr lang="en-US" altLang="zh-CN" sz="2400">
                  <a:solidFill>
                    <a:srgbClr val="CC0066"/>
                  </a:solidFill>
                  <a:latin typeface="Arial" panose="02080604020202020204" pitchFamily="34" charset="0"/>
                </a:rPr>
                <a:t>p</a:t>
              </a:r>
              <a:r>
                <a:rPr lang="en-US" altLang="zh-CN" sz="2400">
                  <a:solidFill>
                    <a:schemeClr val="bg2"/>
                  </a:solidFill>
                  <a:latin typeface="Arial" panose="02080604020202020204" pitchFamily="34" charset="0"/>
                </a:rPr>
                <a:t>+99</a:t>
              </a:r>
              <a:endParaRPr lang="en-US" altLang="zh-CN" sz="2400">
                <a:solidFill>
                  <a:schemeClr val="bg2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31776" name="Rectangle 13"/>
            <p:cNvSpPr/>
            <p:nvPr/>
          </p:nvSpPr>
          <p:spPr>
            <a:xfrm>
              <a:off x="1920" y="2064"/>
              <a:ext cx="576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pPr algn="r"/>
              <a:r>
                <a:rPr lang="en-US" altLang="zh-CN" sz="2400" err="1">
                  <a:solidFill>
                    <a:srgbClr val="CC0066"/>
                  </a:solidFill>
                  <a:latin typeface="Arial" panose="02080604020202020204" pitchFamily="34" charset="0"/>
                </a:rPr>
                <a:t>p</a:t>
              </a:r>
              <a:r>
                <a:rPr lang="en-US" altLang="zh-CN" sz="2400" err="1">
                  <a:solidFill>
                    <a:schemeClr val="bg2"/>
                  </a:solidFill>
                  <a:latin typeface="Arial" panose="02080604020202020204" pitchFamily="34" charset="0"/>
                </a:rPr>
                <a:t>+i</a:t>
              </a:r>
              <a:endParaRPr lang="en-US" altLang="zh-CN" sz="2400">
                <a:solidFill>
                  <a:schemeClr val="bg2"/>
                </a:solidFill>
                <a:latin typeface="Arial" panose="02080604020202020204" pitchFamily="34" charset="0"/>
              </a:endParaRPr>
            </a:p>
          </p:txBody>
        </p:sp>
      </p:grpSp>
      <p:grpSp>
        <p:nvGrpSpPr>
          <p:cNvPr id="31750" name="Group 14"/>
          <p:cNvGrpSpPr/>
          <p:nvPr/>
        </p:nvGrpSpPr>
        <p:grpSpPr>
          <a:xfrm>
            <a:off x="5105400" y="1524000"/>
            <a:ext cx="3810000" cy="2895600"/>
            <a:chOff x="2928" y="960"/>
            <a:chExt cx="2400" cy="1824"/>
          </a:xfrm>
        </p:grpSpPr>
        <p:grpSp>
          <p:nvGrpSpPr>
            <p:cNvPr id="31761" name="Group 15"/>
            <p:cNvGrpSpPr/>
            <p:nvPr/>
          </p:nvGrpSpPr>
          <p:grpSpPr>
            <a:xfrm>
              <a:off x="3552" y="1296"/>
              <a:ext cx="710" cy="1488"/>
              <a:chOff x="912" y="1008"/>
              <a:chExt cx="864" cy="1488"/>
            </a:xfrm>
          </p:grpSpPr>
          <p:sp>
            <p:nvSpPr>
              <p:cNvPr id="31767" name="Rectangle 16"/>
              <p:cNvSpPr/>
              <p:nvPr/>
            </p:nvSpPr>
            <p:spPr>
              <a:xfrm>
                <a:off x="912" y="1008"/>
                <a:ext cx="864" cy="148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2075" tIns="46038" rIns="92075" bIns="46038" anchor="ctr" anchorCtr="0"/>
              <a:p>
                <a:endParaRPr lang="zh-CN" altLang="en-US" dirty="0">
                  <a:latin typeface="Arial" panose="02080604020202020204" pitchFamily="34" charset="0"/>
                </a:endParaRPr>
              </a:p>
            </p:txBody>
          </p:sp>
          <p:sp>
            <p:nvSpPr>
              <p:cNvPr id="31768" name="Line 17"/>
              <p:cNvSpPr/>
              <p:nvPr/>
            </p:nvSpPr>
            <p:spPr>
              <a:xfrm>
                <a:off x="912" y="1248"/>
                <a:ext cx="86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69" name="Line 18"/>
              <p:cNvSpPr/>
              <p:nvPr/>
            </p:nvSpPr>
            <p:spPr>
              <a:xfrm>
                <a:off x="912" y="1488"/>
                <a:ext cx="86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70" name="Line 19"/>
              <p:cNvSpPr/>
              <p:nvPr/>
            </p:nvSpPr>
            <p:spPr>
              <a:xfrm>
                <a:off x="912" y="1728"/>
                <a:ext cx="86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71" name="Line 20"/>
              <p:cNvSpPr/>
              <p:nvPr/>
            </p:nvSpPr>
            <p:spPr>
              <a:xfrm>
                <a:off x="912" y="2016"/>
                <a:ext cx="86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72" name="Line 21"/>
              <p:cNvSpPr/>
              <p:nvPr/>
            </p:nvSpPr>
            <p:spPr>
              <a:xfrm>
                <a:off x="912" y="2256"/>
                <a:ext cx="86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1762" name="Rectangle 22"/>
            <p:cNvSpPr/>
            <p:nvPr/>
          </p:nvSpPr>
          <p:spPr>
            <a:xfrm>
              <a:off x="2928" y="1296"/>
              <a:ext cx="2208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r>
                <a:rPr lang="en-US" altLang="zh-CN" sz="2400">
                  <a:latin typeface="Arial" panose="02080604020202020204" pitchFamily="34" charset="0"/>
                </a:rPr>
                <a:t>3000                        a[0]</a:t>
              </a:r>
              <a:endParaRPr lang="en-US" altLang="zh-CN" sz="2400">
                <a:solidFill>
                  <a:schemeClr val="accent1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31763" name="Rectangle 23"/>
            <p:cNvSpPr/>
            <p:nvPr/>
          </p:nvSpPr>
          <p:spPr>
            <a:xfrm>
              <a:off x="2976" y="960"/>
              <a:ext cx="235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r>
                <a:rPr lang="zh-CN" altLang="en-US" sz="2400" dirty="0">
                  <a:latin typeface="Times New Roman" pitchFamily="18" charset="0"/>
                </a:rPr>
                <a:t>地址       内容       数组元素</a:t>
              </a:r>
              <a:endParaRPr lang="zh-CN" altLang="en-US" sz="2400" dirty="0">
                <a:latin typeface="Times New Roman" pitchFamily="18" charset="0"/>
              </a:endParaRPr>
            </a:p>
          </p:txBody>
        </p:sp>
        <p:sp>
          <p:nvSpPr>
            <p:cNvPr id="31764" name="Rectangle 24"/>
            <p:cNvSpPr/>
            <p:nvPr/>
          </p:nvSpPr>
          <p:spPr>
            <a:xfrm>
              <a:off x="2928" y="1584"/>
              <a:ext cx="2208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r>
                <a:rPr lang="en-US" altLang="zh-CN" sz="2400">
                  <a:latin typeface="Arial" panose="02080604020202020204" pitchFamily="34" charset="0"/>
                </a:rPr>
                <a:t>3002                        a[1]</a:t>
              </a:r>
              <a:endParaRPr lang="en-US" altLang="zh-CN" sz="2400">
                <a:solidFill>
                  <a:schemeClr val="accent1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31765" name="Rectangle 25"/>
            <p:cNvSpPr/>
            <p:nvPr/>
          </p:nvSpPr>
          <p:spPr>
            <a:xfrm>
              <a:off x="2976" y="2544"/>
              <a:ext cx="2208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r>
                <a:rPr lang="en-US" altLang="zh-CN" sz="2400">
                  <a:latin typeface="Arial" panose="02080604020202020204" pitchFamily="34" charset="0"/>
                </a:rPr>
                <a:t>3198                      a[99]</a:t>
              </a:r>
              <a:endParaRPr lang="en-US" altLang="zh-CN" sz="2400">
                <a:solidFill>
                  <a:schemeClr val="accent1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31766" name="Rectangle 26"/>
            <p:cNvSpPr/>
            <p:nvPr/>
          </p:nvSpPr>
          <p:spPr>
            <a:xfrm>
              <a:off x="2928" y="2064"/>
              <a:ext cx="2208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r>
                <a:rPr lang="en-US" altLang="zh-CN" sz="2400">
                  <a:latin typeface="Arial" panose="02080604020202020204" pitchFamily="34" charset="0"/>
                </a:rPr>
                <a:t>                                 </a:t>
              </a:r>
              <a:r>
                <a:rPr lang="en-US" altLang="zh-CN" sz="2400" err="1">
                  <a:latin typeface="Arial" panose="02080604020202020204" pitchFamily="34" charset="0"/>
                </a:rPr>
                <a:t>a[i</a:t>
              </a:r>
              <a:r>
                <a:rPr lang="en-US" altLang="zh-CN" sz="2400">
                  <a:latin typeface="Arial" panose="02080604020202020204" pitchFamily="34" charset="0"/>
                </a:rPr>
                <a:t>]</a:t>
              </a:r>
              <a:endParaRPr lang="en-US" altLang="zh-CN" sz="2400">
                <a:solidFill>
                  <a:schemeClr val="accent1"/>
                </a:solidFill>
                <a:latin typeface="Arial" panose="02080604020202020204" pitchFamily="34" charset="0"/>
              </a:endParaRPr>
            </a:p>
          </p:txBody>
        </p:sp>
      </p:grpSp>
      <p:grpSp>
        <p:nvGrpSpPr>
          <p:cNvPr id="31751" name="Group 27"/>
          <p:cNvGrpSpPr/>
          <p:nvPr/>
        </p:nvGrpSpPr>
        <p:grpSpPr>
          <a:xfrm>
            <a:off x="3962400" y="2057400"/>
            <a:ext cx="914400" cy="2362200"/>
            <a:chOff x="2496" y="1296"/>
            <a:chExt cx="576" cy="1488"/>
          </a:xfrm>
        </p:grpSpPr>
        <p:sp>
          <p:nvSpPr>
            <p:cNvPr id="31757" name="Rectangle 28"/>
            <p:cNvSpPr/>
            <p:nvPr/>
          </p:nvSpPr>
          <p:spPr>
            <a:xfrm>
              <a:off x="2496" y="1296"/>
              <a:ext cx="576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pPr algn="r"/>
              <a:r>
                <a:rPr lang="en-US" altLang="zh-CN" sz="2400">
                  <a:solidFill>
                    <a:schemeClr val="accent1"/>
                  </a:solidFill>
                  <a:latin typeface="Arial" panose="02080604020202020204" pitchFamily="34" charset="0"/>
                </a:rPr>
                <a:t> </a:t>
              </a:r>
              <a:r>
                <a:rPr lang="en-US" altLang="zh-CN" sz="2400">
                  <a:solidFill>
                    <a:schemeClr val="bg2"/>
                  </a:solidFill>
                  <a:latin typeface="Arial" panose="02080604020202020204" pitchFamily="34" charset="0"/>
                </a:rPr>
                <a:t>a</a:t>
              </a:r>
              <a:endParaRPr lang="en-US" altLang="zh-CN" sz="2400">
                <a:solidFill>
                  <a:schemeClr val="bg2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31758" name="Rectangle 29"/>
            <p:cNvSpPr/>
            <p:nvPr/>
          </p:nvSpPr>
          <p:spPr>
            <a:xfrm>
              <a:off x="2496" y="1584"/>
              <a:ext cx="576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pPr algn="r"/>
              <a:r>
                <a:rPr lang="en-US" altLang="zh-CN" sz="2400">
                  <a:solidFill>
                    <a:schemeClr val="bg2"/>
                  </a:solidFill>
                  <a:latin typeface="Arial" panose="02080604020202020204" pitchFamily="34" charset="0"/>
                </a:rPr>
                <a:t>a+1</a:t>
              </a:r>
              <a:endParaRPr lang="en-US" altLang="zh-CN" sz="2400">
                <a:solidFill>
                  <a:schemeClr val="bg2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31759" name="Rectangle 30"/>
            <p:cNvSpPr/>
            <p:nvPr/>
          </p:nvSpPr>
          <p:spPr>
            <a:xfrm>
              <a:off x="2496" y="2544"/>
              <a:ext cx="576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pPr algn="r"/>
              <a:r>
                <a:rPr lang="en-US" altLang="zh-CN" sz="2400">
                  <a:solidFill>
                    <a:schemeClr val="bg2"/>
                  </a:solidFill>
                  <a:latin typeface="Arial" panose="02080604020202020204" pitchFamily="34" charset="0"/>
                </a:rPr>
                <a:t>a+99</a:t>
              </a:r>
              <a:endParaRPr lang="en-US" altLang="zh-CN" sz="2400">
                <a:solidFill>
                  <a:schemeClr val="bg2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31760" name="Rectangle 31"/>
            <p:cNvSpPr/>
            <p:nvPr/>
          </p:nvSpPr>
          <p:spPr>
            <a:xfrm>
              <a:off x="2496" y="2064"/>
              <a:ext cx="576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pPr algn="r"/>
              <a:r>
                <a:rPr lang="en-US" altLang="zh-CN" sz="2400" err="1">
                  <a:solidFill>
                    <a:schemeClr val="bg2"/>
                  </a:solidFill>
                  <a:latin typeface="Arial" panose="02080604020202020204" pitchFamily="34" charset="0"/>
                </a:rPr>
                <a:t>a+i</a:t>
              </a:r>
              <a:endParaRPr lang="en-US" altLang="zh-CN" sz="2400" err="1">
                <a:solidFill>
                  <a:schemeClr val="bg2"/>
                </a:solidFill>
                <a:latin typeface="Arial" panose="02080604020202020204" pitchFamily="34" charset="0"/>
              </a:endParaRPr>
            </a:p>
          </p:txBody>
        </p:sp>
      </p:grpSp>
      <p:sp>
        <p:nvSpPr>
          <p:cNvPr id="371744" name="Rectangle 32"/>
          <p:cNvSpPr/>
          <p:nvPr/>
        </p:nvSpPr>
        <p:spPr>
          <a:xfrm>
            <a:off x="5246370" y="4935220"/>
            <a:ext cx="3285490" cy="11430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400">
                <a:solidFill>
                  <a:schemeClr val="bg2"/>
                </a:solidFill>
                <a:latin typeface="Arial" panose="02080604020202020204" pitchFamily="34" charset="0"/>
              </a:rPr>
              <a:t>&amp;</a:t>
            </a:r>
            <a:r>
              <a:rPr lang="en-US" altLang="zh-CN" sz="2400" err="1">
                <a:solidFill>
                  <a:schemeClr val="bg2"/>
                </a:solidFill>
                <a:latin typeface="Arial" panose="02080604020202020204" pitchFamily="34" charset="0"/>
              </a:rPr>
              <a:t>a[i</a:t>
            </a:r>
            <a:r>
              <a:rPr lang="en-US" altLang="zh-CN" sz="2400">
                <a:solidFill>
                  <a:schemeClr val="bg2"/>
                </a:solidFill>
                <a:latin typeface="Arial" panose="02080604020202020204" pitchFamily="34" charset="0"/>
              </a:rPr>
              <a:t>]</a:t>
            </a:r>
            <a:r>
              <a:rPr lang="en-US" altLang="zh-CN" sz="2400">
                <a:solidFill>
                  <a:schemeClr val="accent1"/>
                </a:solidFill>
                <a:latin typeface="Arial" panose="02080604020202020204" pitchFamily="34" charset="0"/>
              </a:rPr>
              <a:t>              </a:t>
            </a:r>
            <a:r>
              <a:rPr lang="en-US" altLang="zh-CN" sz="2400" err="1">
                <a:latin typeface="Arial" panose="02080604020202020204" pitchFamily="34" charset="0"/>
              </a:rPr>
              <a:t>a[i</a:t>
            </a:r>
            <a:r>
              <a:rPr lang="en-US" altLang="zh-CN" sz="2400">
                <a:latin typeface="Arial" panose="02080604020202020204" pitchFamily="34" charset="0"/>
              </a:rPr>
              <a:t>]</a:t>
            </a:r>
            <a:endParaRPr lang="en-US" altLang="zh-CN" sz="2400">
              <a:latin typeface="Arial" panose="0208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400" err="1">
                <a:solidFill>
                  <a:schemeClr val="bg2"/>
                </a:solidFill>
                <a:latin typeface="Arial" panose="02080604020202020204" pitchFamily="34" charset="0"/>
              </a:rPr>
              <a:t>a+i</a:t>
            </a:r>
            <a:r>
              <a:rPr lang="en-US" altLang="zh-CN" sz="2400">
                <a:solidFill>
                  <a:schemeClr val="accent1"/>
                </a:solidFill>
                <a:latin typeface="Arial" panose="02080604020202020204" pitchFamily="34" charset="0"/>
              </a:rPr>
              <a:t>                </a:t>
            </a:r>
            <a:r>
              <a:rPr lang="en-US" altLang="zh-CN" sz="2400">
                <a:latin typeface="Arial" panose="02080604020202020204" pitchFamily="34" charset="0"/>
              </a:rPr>
              <a:t>*(</a:t>
            </a:r>
            <a:r>
              <a:rPr lang="en-US" altLang="zh-CN" sz="2400" err="1">
                <a:latin typeface="Arial" panose="02080604020202020204" pitchFamily="34" charset="0"/>
              </a:rPr>
              <a:t>a+i</a:t>
            </a:r>
            <a:r>
              <a:rPr lang="en-US" altLang="zh-CN" sz="2400">
                <a:latin typeface="Arial" panose="02080604020202020204" pitchFamily="34" charset="0"/>
              </a:rPr>
              <a:t>)</a:t>
            </a:r>
            <a:endParaRPr lang="en-US" altLang="zh-CN" sz="2400">
              <a:latin typeface="Arial" panose="02080604020202020204" pitchFamily="34" charset="0"/>
            </a:endParaRPr>
          </a:p>
        </p:txBody>
      </p:sp>
      <p:sp>
        <p:nvSpPr>
          <p:cNvPr id="371745" name="Rectangle 33"/>
          <p:cNvSpPr/>
          <p:nvPr/>
        </p:nvSpPr>
        <p:spPr>
          <a:xfrm>
            <a:off x="5237480" y="5849620"/>
            <a:ext cx="3133725" cy="92837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400" err="1">
                <a:solidFill>
                  <a:schemeClr val="bg2"/>
                </a:solidFill>
                <a:latin typeface="Arial" panose="02080604020202020204" pitchFamily="34" charset="0"/>
              </a:rPr>
              <a:t>p+i</a:t>
            </a:r>
            <a:r>
              <a:rPr lang="en-US" altLang="zh-CN" sz="2400">
                <a:solidFill>
                  <a:schemeClr val="bg2"/>
                </a:solidFill>
                <a:latin typeface="Arial" panose="02080604020202020204" pitchFamily="34" charset="0"/>
              </a:rPr>
              <a:t> </a:t>
            </a:r>
            <a:r>
              <a:rPr lang="en-US" altLang="zh-CN" sz="2400">
                <a:solidFill>
                  <a:schemeClr val="accent1"/>
                </a:solidFill>
                <a:latin typeface="Arial" panose="02080604020202020204" pitchFamily="34" charset="0"/>
              </a:rPr>
              <a:t>              </a:t>
            </a:r>
            <a:r>
              <a:rPr lang="en-US" altLang="zh-CN" sz="2400">
                <a:latin typeface="Arial" panose="02080604020202020204" pitchFamily="34" charset="0"/>
              </a:rPr>
              <a:t>*(</a:t>
            </a:r>
            <a:r>
              <a:rPr lang="en-US" altLang="zh-CN" sz="2400" err="1">
                <a:latin typeface="Arial" panose="02080604020202020204" pitchFamily="34" charset="0"/>
              </a:rPr>
              <a:t>p+i</a:t>
            </a:r>
            <a:r>
              <a:rPr lang="en-US" altLang="zh-CN" sz="2400">
                <a:latin typeface="Arial" panose="02080604020202020204" pitchFamily="34" charset="0"/>
              </a:rPr>
              <a:t>)</a:t>
            </a:r>
            <a:endParaRPr lang="en-US" altLang="zh-CN" sz="2400">
              <a:latin typeface="Arial" panose="0208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400">
                <a:solidFill>
                  <a:schemeClr val="bg2"/>
                </a:solidFill>
                <a:latin typeface="Arial" panose="02080604020202020204" pitchFamily="34" charset="0"/>
              </a:rPr>
              <a:t>&amp;</a:t>
            </a:r>
            <a:r>
              <a:rPr lang="en-US" altLang="zh-CN" sz="2400" err="1">
                <a:solidFill>
                  <a:schemeClr val="bg2"/>
                </a:solidFill>
                <a:latin typeface="Arial" panose="02080604020202020204" pitchFamily="34" charset="0"/>
              </a:rPr>
              <a:t>p[i</a:t>
            </a:r>
            <a:r>
              <a:rPr lang="en-US" altLang="zh-CN" sz="2400">
                <a:solidFill>
                  <a:schemeClr val="bg2"/>
                </a:solidFill>
                <a:latin typeface="Arial" panose="02080604020202020204" pitchFamily="34" charset="0"/>
              </a:rPr>
              <a:t>]</a:t>
            </a:r>
            <a:r>
              <a:rPr lang="en-US" altLang="zh-CN" sz="2400">
                <a:solidFill>
                  <a:schemeClr val="accent1"/>
                </a:solidFill>
                <a:latin typeface="Arial" panose="02080604020202020204" pitchFamily="34" charset="0"/>
              </a:rPr>
              <a:t>              </a:t>
            </a:r>
            <a:r>
              <a:rPr lang="en-US" altLang="zh-CN" sz="2400" err="1">
                <a:latin typeface="Arial" panose="02080604020202020204" pitchFamily="34" charset="0"/>
              </a:rPr>
              <a:t>p[i</a:t>
            </a:r>
            <a:r>
              <a:rPr lang="en-US" altLang="zh-CN" sz="2400">
                <a:latin typeface="Arial" panose="02080604020202020204" pitchFamily="34" charset="0"/>
              </a:rPr>
              <a:t>]</a:t>
            </a:r>
            <a:endParaRPr lang="en-US" altLang="zh-CN" sz="2400">
              <a:latin typeface="Arial" panose="02080604020202020204" pitchFamily="34" charset="0"/>
            </a:endParaRPr>
          </a:p>
        </p:txBody>
      </p:sp>
      <p:sp>
        <p:nvSpPr>
          <p:cNvPr id="371746" name="Rectangle 34"/>
          <p:cNvSpPr/>
          <p:nvPr/>
        </p:nvSpPr>
        <p:spPr>
          <a:xfrm>
            <a:off x="381000" y="4724400"/>
            <a:ext cx="4191000" cy="1905000"/>
          </a:xfrm>
          <a:prstGeom prst="rect">
            <a:avLst/>
          </a:prstGeom>
          <a:noFill/>
          <a:ln w="12700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lIns="90488" tIns="44450" rIns="90488" bIns="44450"/>
          <a:p>
            <a:pPr marL="742950" lvl="1" indent="-28575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>
                <a:latin typeface="Arial" panose="02080604020202020204" pitchFamily="34" charset="0"/>
              </a:rPr>
              <a:t>p = a;</a:t>
            </a:r>
            <a:endParaRPr lang="en-US" altLang="zh-CN" sz="2400">
              <a:latin typeface="Arial" panose="02080604020202020204" pitchFamily="34" charset="0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>
                <a:latin typeface="Arial" panose="02080604020202020204" pitchFamily="34" charset="0"/>
              </a:rPr>
              <a:t>sum = 0;</a:t>
            </a:r>
            <a:endParaRPr lang="en-US" altLang="zh-CN" sz="2400">
              <a:latin typeface="Arial" panose="02080604020202020204" pitchFamily="34" charset="0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err="1">
                <a:latin typeface="Arial" panose="02080604020202020204" pitchFamily="34" charset="0"/>
              </a:rPr>
              <a:t>for(i</a:t>
            </a:r>
            <a:r>
              <a:rPr lang="en-US" altLang="zh-CN" sz="2400">
                <a:latin typeface="Arial" panose="02080604020202020204" pitchFamily="34" charset="0"/>
              </a:rPr>
              <a:t> = 0; i &lt; 100; i++)</a:t>
            </a:r>
            <a:endParaRPr lang="en-US" altLang="zh-CN" sz="2400">
              <a:latin typeface="Arial" panose="02080604020202020204" pitchFamily="34" charset="0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>
                <a:latin typeface="Arial" panose="02080604020202020204" pitchFamily="34" charset="0"/>
              </a:rPr>
              <a:t>     sum = </a:t>
            </a:r>
            <a:r>
              <a:rPr lang="en-US" altLang="zh-CN" sz="2400" err="1">
                <a:latin typeface="Arial" panose="02080604020202020204" pitchFamily="34" charset="0"/>
              </a:rPr>
              <a:t>sum</a:t>
            </a:r>
            <a:r>
              <a:rPr lang="en-US" altLang="zh-CN" sz="2400">
                <a:latin typeface="Arial" panose="02080604020202020204" pitchFamily="34" charset="0"/>
              </a:rPr>
              <a:t> + </a:t>
            </a:r>
            <a:r>
              <a:rPr lang="en-US" altLang="zh-CN" sz="2400" err="1">
                <a:latin typeface="Arial" panose="02080604020202020204" pitchFamily="34" charset="0"/>
              </a:rPr>
              <a:t>p[i</a:t>
            </a:r>
            <a:r>
              <a:rPr lang="en-US" altLang="zh-CN" sz="2400">
                <a:latin typeface="Arial" panose="02080604020202020204" pitchFamily="34" charset="0"/>
              </a:rPr>
              <a:t>];</a:t>
            </a:r>
            <a:endParaRPr lang="en-US" altLang="zh-CN" sz="2400">
              <a:latin typeface="Arial" panose="02080604020202020204" pitchFamily="34" charset="0"/>
            </a:endParaRPr>
          </a:p>
        </p:txBody>
      </p:sp>
      <p:sp>
        <p:nvSpPr>
          <p:cNvPr id="371747" name="Rectangle 35"/>
          <p:cNvSpPr/>
          <p:nvPr/>
        </p:nvSpPr>
        <p:spPr>
          <a:xfrm>
            <a:off x="5301933" y="4581525"/>
            <a:ext cx="793750" cy="42354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zh-CN" altLang="en-US" sz="2400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等价</a:t>
            </a:r>
            <a:endParaRPr lang="zh-CN" altLang="en-US" sz="2400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  <p:sp>
        <p:nvSpPr>
          <p:cNvPr id="371748" name="Rectangle 36"/>
          <p:cNvSpPr/>
          <p:nvPr/>
        </p:nvSpPr>
        <p:spPr>
          <a:xfrm>
            <a:off x="7380288" y="4581208"/>
            <a:ext cx="793750" cy="42354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zh-CN" altLang="en-US" sz="2400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等价</a:t>
            </a:r>
            <a:endParaRPr lang="zh-CN" altLang="en-US" sz="2400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9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1719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1719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9">
                                            <p:txEl>
                                              <p:charRg st="22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1719">
                                            <p:txEl>
                                              <p:charRg st="22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1719">
                                            <p:txEl>
                                              <p:charRg st="22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9">
                                            <p:txEl>
                                              <p:charRg st="38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1719">
                                            <p:txEl>
                                              <p:charRg st="38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1719">
                                            <p:txEl>
                                              <p:charRg st="38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9">
                                            <p:txEl>
                                              <p:charRg st="45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1719">
                                            <p:txEl>
                                              <p:charRg st="45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1719">
                                            <p:txEl>
                                              <p:charRg st="45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9">
                                            <p:txEl>
                                              <p:charRg st="47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1719">
                                            <p:txEl>
                                              <p:charRg st="47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1719">
                                            <p:txEl>
                                              <p:charRg st="47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1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1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1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1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45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1745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1745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45">
                                            <p:txEl>
                                              <p:charRg st="36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71745">
                                            <p:txEl>
                                              <p:charRg st="36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71745">
                                            <p:txEl>
                                              <p:charRg st="36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71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71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19" grpId="0" build="p"/>
      <p:bldP spid="371744" grpId="0"/>
      <p:bldP spid="371745" grpId="0" build="p"/>
      <p:bldP spid="371746" grpId="0" bldLvl="0" animBg="1"/>
      <p:bldP spid="371747" grpId="0"/>
      <p:bldP spid="37174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1" name="Rectangle 6"/>
          <p:cNvSpPr>
            <a:spLocks noGrp="1"/>
          </p:cNvSpPr>
          <p:nvPr>
            <p:ph type="title"/>
          </p:nvPr>
        </p:nvSpPr>
        <p:spPr>
          <a:xfrm>
            <a:off x="2771775" y="476250"/>
            <a:ext cx="6084888" cy="7239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用指针完成对数组的操作</a:t>
            </a:r>
            <a:endParaRPr lang="en-US" altLang="zh-CN" b="0">
              <a:sym typeface="+mn-ea"/>
            </a:endParaRPr>
          </a:p>
        </p:txBody>
      </p:sp>
      <p:sp>
        <p:nvSpPr>
          <p:cNvPr id="32772" name="Rectangle 7"/>
          <p:cNvSpPr>
            <a:spLocks noGrp="1"/>
          </p:cNvSpPr>
          <p:nvPr>
            <p:ph idx="1"/>
          </p:nvPr>
        </p:nvSpPr>
        <p:spPr>
          <a:xfrm>
            <a:off x="0" y="1484313"/>
            <a:ext cx="3276600" cy="1143000"/>
          </a:xfrm>
        </p:spPr>
        <p:txBody>
          <a:bodyPr vert="horz" wrap="square" lIns="90488" tIns="44450" rIns="90488" bIns="44450" anchor="t" anchorCtr="0"/>
          <a:p>
            <a:pPr lvl="1" eaLnBrk="1" hangingPunct="1">
              <a:buNone/>
            </a:pPr>
            <a:r>
              <a:rPr lang="en-US" altLang="zh-CN" b="0" err="1"/>
              <a:t>int</a:t>
            </a:r>
            <a:r>
              <a:rPr lang="en-US" altLang="zh-CN" b="0"/>
              <a:t> a[100], *p;</a:t>
            </a:r>
            <a:endParaRPr lang="en-US" altLang="zh-CN" b="0"/>
          </a:p>
          <a:p>
            <a:pPr lvl="1" eaLnBrk="1" hangingPunct="1">
              <a:buNone/>
            </a:pPr>
            <a:r>
              <a:rPr lang="zh-CN" altLang="en-US" b="0" dirty="0">
                <a:solidFill>
                  <a:schemeClr val="bg2"/>
                </a:solidFill>
              </a:rPr>
              <a:t>移动指针</a:t>
            </a:r>
            <a:endParaRPr lang="zh-CN" altLang="en-US" b="0" dirty="0">
              <a:solidFill>
                <a:schemeClr val="bg2"/>
              </a:solidFill>
            </a:endParaRPr>
          </a:p>
        </p:txBody>
      </p:sp>
      <p:sp>
        <p:nvSpPr>
          <p:cNvPr id="372744" name="Rectangle 8"/>
          <p:cNvSpPr/>
          <p:nvPr/>
        </p:nvSpPr>
        <p:spPr>
          <a:xfrm>
            <a:off x="3429000" y="2057400"/>
            <a:ext cx="533400" cy="3810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/>
          <a:p>
            <a:pPr algn="r"/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</a:rPr>
              <a:t> p</a:t>
            </a:r>
            <a:endParaRPr lang="en-US" altLang="zh-CN" sz="2400">
              <a:solidFill>
                <a:srgbClr val="CC0066"/>
              </a:solidFill>
              <a:latin typeface="Arial" panose="02080604020202020204" pitchFamily="34" charset="0"/>
            </a:endParaRPr>
          </a:p>
        </p:txBody>
      </p:sp>
      <p:grpSp>
        <p:nvGrpSpPr>
          <p:cNvPr id="32774" name="Group 9"/>
          <p:cNvGrpSpPr/>
          <p:nvPr/>
        </p:nvGrpSpPr>
        <p:grpSpPr>
          <a:xfrm>
            <a:off x="4961890" y="1524000"/>
            <a:ext cx="3810000" cy="2895600"/>
            <a:chOff x="2928" y="960"/>
            <a:chExt cx="2400" cy="1824"/>
          </a:xfrm>
        </p:grpSpPr>
        <p:grpSp>
          <p:nvGrpSpPr>
            <p:cNvPr id="32784" name="Group 10"/>
            <p:cNvGrpSpPr/>
            <p:nvPr/>
          </p:nvGrpSpPr>
          <p:grpSpPr>
            <a:xfrm>
              <a:off x="3552" y="1296"/>
              <a:ext cx="710" cy="1488"/>
              <a:chOff x="912" y="1008"/>
              <a:chExt cx="864" cy="1488"/>
            </a:xfrm>
          </p:grpSpPr>
          <p:sp>
            <p:nvSpPr>
              <p:cNvPr id="32790" name="Rectangle 11"/>
              <p:cNvSpPr/>
              <p:nvPr/>
            </p:nvSpPr>
            <p:spPr>
              <a:xfrm>
                <a:off x="912" y="1008"/>
                <a:ext cx="864" cy="148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2075" tIns="46038" rIns="92075" bIns="46038" anchor="ctr" anchorCtr="0"/>
              <a:p>
                <a:endParaRPr lang="zh-CN" altLang="en-US" dirty="0">
                  <a:latin typeface="Arial" panose="02080604020202020204" pitchFamily="34" charset="0"/>
                </a:endParaRPr>
              </a:p>
            </p:txBody>
          </p:sp>
          <p:sp>
            <p:nvSpPr>
              <p:cNvPr id="32791" name="Line 12"/>
              <p:cNvSpPr/>
              <p:nvPr/>
            </p:nvSpPr>
            <p:spPr>
              <a:xfrm>
                <a:off x="912" y="1248"/>
                <a:ext cx="86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92" name="Line 13"/>
              <p:cNvSpPr/>
              <p:nvPr/>
            </p:nvSpPr>
            <p:spPr>
              <a:xfrm>
                <a:off x="912" y="1488"/>
                <a:ext cx="86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93" name="Line 14"/>
              <p:cNvSpPr/>
              <p:nvPr/>
            </p:nvSpPr>
            <p:spPr>
              <a:xfrm>
                <a:off x="912" y="1728"/>
                <a:ext cx="86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94" name="Line 15"/>
              <p:cNvSpPr/>
              <p:nvPr/>
            </p:nvSpPr>
            <p:spPr>
              <a:xfrm>
                <a:off x="912" y="2016"/>
                <a:ext cx="86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95" name="Line 16"/>
              <p:cNvSpPr/>
              <p:nvPr/>
            </p:nvSpPr>
            <p:spPr>
              <a:xfrm>
                <a:off x="912" y="2256"/>
                <a:ext cx="86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2785" name="Rectangle 17"/>
            <p:cNvSpPr/>
            <p:nvPr/>
          </p:nvSpPr>
          <p:spPr>
            <a:xfrm>
              <a:off x="2928" y="1296"/>
              <a:ext cx="2208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r>
                <a:rPr lang="en-US" altLang="zh-CN" sz="2400">
                  <a:latin typeface="Arial" panose="02080604020202020204" pitchFamily="34" charset="0"/>
                </a:rPr>
                <a:t>3000                        a[0]</a:t>
              </a:r>
              <a:endParaRPr lang="en-US" altLang="zh-CN" sz="2400">
                <a:solidFill>
                  <a:schemeClr val="accent1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32786" name="Rectangle 18"/>
            <p:cNvSpPr/>
            <p:nvPr/>
          </p:nvSpPr>
          <p:spPr>
            <a:xfrm>
              <a:off x="2976" y="960"/>
              <a:ext cx="235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r>
                <a:rPr lang="zh-CN" altLang="en-US" sz="2400" dirty="0">
                  <a:latin typeface="Times New Roman" pitchFamily="18" charset="0"/>
                </a:rPr>
                <a:t>地址       内容        数组元素</a:t>
              </a:r>
              <a:endParaRPr lang="zh-CN" altLang="en-US" sz="2400" dirty="0">
                <a:latin typeface="Times New Roman" pitchFamily="18" charset="0"/>
              </a:endParaRPr>
            </a:p>
          </p:txBody>
        </p:sp>
        <p:sp>
          <p:nvSpPr>
            <p:cNvPr id="32787" name="Rectangle 19"/>
            <p:cNvSpPr/>
            <p:nvPr/>
          </p:nvSpPr>
          <p:spPr>
            <a:xfrm>
              <a:off x="2928" y="1584"/>
              <a:ext cx="2208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r>
                <a:rPr lang="en-US" altLang="zh-CN" sz="2400">
                  <a:latin typeface="Arial" panose="02080604020202020204" pitchFamily="34" charset="0"/>
                </a:rPr>
                <a:t>3002                        a[1]</a:t>
              </a:r>
              <a:endParaRPr lang="en-US" altLang="zh-CN" sz="2400">
                <a:solidFill>
                  <a:schemeClr val="accent1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32788" name="Rectangle 20"/>
            <p:cNvSpPr/>
            <p:nvPr/>
          </p:nvSpPr>
          <p:spPr>
            <a:xfrm>
              <a:off x="2976" y="2544"/>
              <a:ext cx="2208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r>
                <a:rPr lang="en-US" altLang="zh-CN" sz="2400">
                  <a:latin typeface="Arial" panose="02080604020202020204" pitchFamily="34" charset="0"/>
                </a:rPr>
                <a:t>3198                      a[99]</a:t>
              </a:r>
              <a:endParaRPr lang="en-US" altLang="zh-CN" sz="2400">
                <a:solidFill>
                  <a:schemeClr val="accent1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32789" name="Rectangle 21"/>
            <p:cNvSpPr/>
            <p:nvPr/>
          </p:nvSpPr>
          <p:spPr>
            <a:xfrm>
              <a:off x="2928" y="2064"/>
              <a:ext cx="2208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r>
                <a:rPr lang="en-US" altLang="zh-CN" sz="2400">
                  <a:latin typeface="Arial" panose="02080604020202020204" pitchFamily="34" charset="0"/>
                </a:rPr>
                <a:t>                                 </a:t>
              </a:r>
              <a:r>
                <a:rPr lang="en-US" altLang="zh-CN" sz="2400" err="1">
                  <a:latin typeface="Arial" panose="02080604020202020204" pitchFamily="34" charset="0"/>
                </a:rPr>
                <a:t>a[i</a:t>
              </a:r>
              <a:r>
                <a:rPr lang="en-US" altLang="zh-CN" sz="2400">
                  <a:latin typeface="Arial" panose="02080604020202020204" pitchFamily="34" charset="0"/>
                </a:rPr>
                <a:t>]</a:t>
              </a:r>
              <a:endParaRPr lang="en-US" altLang="zh-CN" sz="2400">
                <a:solidFill>
                  <a:schemeClr val="accent1"/>
                </a:solidFill>
                <a:latin typeface="Arial" panose="02080604020202020204" pitchFamily="34" charset="0"/>
              </a:endParaRPr>
            </a:p>
          </p:txBody>
        </p:sp>
      </p:grpSp>
      <p:grpSp>
        <p:nvGrpSpPr>
          <p:cNvPr id="32775" name="Group 22"/>
          <p:cNvGrpSpPr/>
          <p:nvPr/>
        </p:nvGrpSpPr>
        <p:grpSpPr>
          <a:xfrm>
            <a:off x="3962400" y="2057400"/>
            <a:ext cx="914400" cy="2362200"/>
            <a:chOff x="2496" y="1296"/>
            <a:chExt cx="576" cy="1488"/>
          </a:xfrm>
        </p:grpSpPr>
        <p:sp>
          <p:nvSpPr>
            <p:cNvPr id="32780" name="Rectangle 23"/>
            <p:cNvSpPr/>
            <p:nvPr/>
          </p:nvSpPr>
          <p:spPr>
            <a:xfrm>
              <a:off x="2496" y="1296"/>
              <a:ext cx="576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pPr algn="r"/>
              <a:r>
                <a:rPr lang="en-US" altLang="zh-CN" sz="2400">
                  <a:solidFill>
                    <a:schemeClr val="bg2"/>
                  </a:solidFill>
                  <a:latin typeface="Arial" panose="02080604020202020204" pitchFamily="34" charset="0"/>
                </a:rPr>
                <a:t> a</a:t>
              </a:r>
              <a:endParaRPr lang="en-US" altLang="zh-CN" sz="2400">
                <a:solidFill>
                  <a:schemeClr val="bg2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32781" name="Rectangle 24"/>
            <p:cNvSpPr/>
            <p:nvPr/>
          </p:nvSpPr>
          <p:spPr>
            <a:xfrm>
              <a:off x="2496" y="1584"/>
              <a:ext cx="576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pPr algn="r"/>
              <a:r>
                <a:rPr lang="en-US" altLang="zh-CN" sz="2400">
                  <a:solidFill>
                    <a:schemeClr val="bg2"/>
                  </a:solidFill>
                  <a:latin typeface="Arial" panose="02080604020202020204" pitchFamily="34" charset="0"/>
                </a:rPr>
                <a:t>a+1</a:t>
              </a:r>
              <a:endParaRPr lang="en-US" altLang="zh-CN" sz="2400">
                <a:solidFill>
                  <a:schemeClr val="bg2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32782" name="Rectangle 25"/>
            <p:cNvSpPr/>
            <p:nvPr/>
          </p:nvSpPr>
          <p:spPr>
            <a:xfrm>
              <a:off x="2496" y="2544"/>
              <a:ext cx="576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pPr algn="r"/>
              <a:r>
                <a:rPr lang="en-US" altLang="zh-CN" sz="2400">
                  <a:solidFill>
                    <a:schemeClr val="bg2"/>
                  </a:solidFill>
                  <a:latin typeface="Arial" panose="02080604020202020204" pitchFamily="34" charset="0"/>
                </a:rPr>
                <a:t>a+99</a:t>
              </a:r>
              <a:endParaRPr lang="en-US" altLang="zh-CN" sz="2400">
                <a:solidFill>
                  <a:schemeClr val="bg2"/>
                </a:solidFill>
                <a:latin typeface="Arial" panose="02080604020202020204" pitchFamily="34" charset="0"/>
              </a:endParaRPr>
            </a:p>
          </p:txBody>
        </p:sp>
        <p:sp>
          <p:nvSpPr>
            <p:cNvPr id="32783" name="Rectangle 26"/>
            <p:cNvSpPr/>
            <p:nvPr/>
          </p:nvSpPr>
          <p:spPr>
            <a:xfrm>
              <a:off x="2496" y="2064"/>
              <a:ext cx="576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pPr algn="r"/>
              <a:r>
                <a:rPr lang="en-US" altLang="zh-CN" sz="2400" err="1">
                  <a:solidFill>
                    <a:schemeClr val="bg2"/>
                  </a:solidFill>
                  <a:latin typeface="Arial" panose="02080604020202020204" pitchFamily="34" charset="0"/>
                </a:rPr>
                <a:t>a+i</a:t>
              </a:r>
              <a:endParaRPr lang="en-US" altLang="zh-CN" sz="2400" err="1">
                <a:solidFill>
                  <a:schemeClr val="bg2"/>
                </a:solidFill>
                <a:latin typeface="Arial" panose="02080604020202020204" pitchFamily="34" charset="0"/>
              </a:endParaRPr>
            </a:p>
          </p:txBody>
        </p:sp>
      </p:grpSp>
      <p:sp>
        <p:nvSpPr>
          <p:cNvPr id="372763" name="Rectangle 27"/>
          <p:cNvSpPr/>
          <p:nvPr/>
        </p:nvSpPr>
        <p:spPr>
          <a:xfrm>
            <a:off x="304800" y="4724400"/>
            <a:ext cx="5528310" cy="1752600"/>
          </a:xfrm>
          <a:prstGeom prst="rect">
            <a:avLst/>
          </a:prstGeom>
          <a:noFill/>
          <a:ln w="12700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lIns="90488" tIns="44450" rIns="90488" bIns="44450"/>
          <a:p>
            <a:pPr marL="742950" lvl="1" indent="-28575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>
                <a:latin typeface="Arial" panose="02080604020202020204" pitchFamily="34" charset="0"/>
              </a:rPr>
              <a:t>sum = 0;</a:t>
            </a:r>
            <a:endParaRPr lang="en-US" altLang="zh-CN" sz="2400">
              <a:latin typeface="Arial" panose="02080604020202020204" pitchFamily="34" charset="0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err="1">
                <a:latin typeface="Arial" panose="02080604020202020204" pitchFamily="34" charset="0"/>
              </a:rPr>
              <a:t>for(p</a:t>
            </a:r>
            <a:r>
              <a:rPr lang="en-US" altLang="zh-CN" sz="2400">
                <a:latin typeface="Arial" panose="02080604020202020204" pitchFamily="34" charset="0"/>
              </a:rPr>
              <a:t> = a; p &lt;=</a:t>
            </a:r>
            <a:r>
              <a:rPr lang="zh-CN" altLang="en-US" sz="2400" dirty="0">
                <a:latin typeface="Arial" panose="02080604020202020204" pitchFamily="34" charset="0"/>
              </a:rPr>
              <a:t> </a:t>
            </a:r>
            <a:r>
              <a:rPr lang="en-US" altLang="zh-CN" sz="2400">
                <a:latin typeface="Arial" panose="02080604020202020204" pitchFamily="34" charset="0"/>
              </a:rPr>
              <a:t>&amp;a[99]; p++)</a:t>
            </a:r>
            <a:endParaRPr lang="en-US" altLang="zh-CN" sz="2400">
              <a:latin typeface="Arial" panose="02080604020202020204" pitchFamily="34" charset="0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>
                <a:latin typeface="Arial" panose="02080604020202020204" pitchFamily="34" charset="0"/>
              </a:rPr>
              <a:t>     sum = </a:t>
            </a:r>
            <a:r>
              <a:rPr lang="en-US" altLang="zh-CN" sz="2400" err="1">
                <a:latin typeface="Arial" panose="02080604020202020204" pitchFamily="34" charset="0"/>
              </a:rPr>
              <a:t>sum</a:t>
            </a:r>
            <a:r>
              <a:rPr lang="en-US" altLang="zh-CN" sz="2400">
                <a:latin typeface="Arial" panose="02080604020202020204" pitchFamily="34" charset="0"/>
              </a:rPr>
              <a:t> + *p;</a:t>
            </a:r>
            <a:endParaRPr lang="en-US" altLang="zh-CN" sz="2400">
              <a:latin typeface="Arial" panose="02080604020202020204" pitchFamily="34" charset="0"/>
            </a:endParaRPr>
          </a:p>
        </p:txBody>
      </p:sp>
      <p:sp>
        <p:nvSpPr>
          <p:cNvPr id="372764" name="Rectangle 28"/>
          <p:cNvSpPr/>
          <p:nvPr/>
        </p:nvSpPr>
        <p:spPr>
          <a:xfrm>
            <a:off x="3429000" y="2438400"/>
            <a:ext cx="533400" cy="3810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/>
          <a:p>
            <a:pPr algn="r"/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</a:rPr>
              <a:t> p</a:t>
            </a:r>
            <a:endParaRPr lang="en-US" altLang="zh-CN" sz="2400">
              <a:solidFill>
                <a:srgbClr val="CC0066"/>
              </a:solidFill>
              <a:latin typeface="Arial" panose="02080604020202020204" pitchFamily="34" charset="0"/>
            </a:endParaRPr>
          </a:p>
        </p:txBody>
      </p:sp>
      <p:sp>
        <p:nvSpPr>
          <p:cNvPr id="372765" name="Rectangle 29"/>
          <p:cNvSpPr/>
          <p:nvPr/>
        </p:nvSpPr>
        <p:spPr>
          <a:xfrm>
            <a:off x="3429000" y="3200400"/>
            <a:ext cx="533400" cy="3810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/>
          <a:p>
            <a:pPr algn="r"/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</a:rPr>
              <a:t> p</a:t>
            </a:r>
            <a:endParaRPr lang="en-US" altLang="zh-CN" sz="2400">
              <a:solidFill>
                <a:srgbClr val="CC0066"/>
              </a:solidFill>
              <a:latin typeface="Arial" panose="02080604020202020204" pitchFamily="34" charset="0"/>
            </a:endParaRPr>
          </a:p>
        </p:txBody>
      </p:sp>
      <p:sp>
        <p:nvSpPr>
          <p:cNvPr id="372766" name="Rectangle 30"/>
          <p:cNvSpPr/>
          <p:nvPr/>
        </p:nvSpPr>
        <p:spPr>
          <a:xfrm>
            <a:off x="3429000" y="4038600"/>
            <a:ext cx="533400" cy="3810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/>
          <a:p>
            <a:pPr algn="r"/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</a:rPr>
              <a:t> p</a:t>
            </a:r>
            <a:endParaRPr lang="en-US" altLang="zh-CN" sz="2400">
              <a:solidFill>
                <a:srgbClr val="CC0066"/>
              </a:solidFill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2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2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2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2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2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2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2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2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2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2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2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2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44" grpId="0"/>
      <p:bldP spid="372763" grpId="0" bldLvl="0" animBg="1"/>
      <p:bldP spid="372764" grpId="0"/>
      <p:bldP spid="372765" grpId="0"/>
      <p:bldP spid="37276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5" name="Rectangle 7"/>
          <p:cNvSpPr/>
          <p:nvPr/>
        </p:nvSpPr>
        <p:spPr>
          <a:xfrm>
            <a:off x="71755" y="2133600"/>
            <a:ext cx="5066665" cy="335343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# include &lt;</a:t>
            </a:r>
            <a:r>
              <a:rPr sz="2000">
                <a:latin typeface="+mn-ea"/>
                <a:cs typeface="+mn-ea"/>
                <a:sym typeface="+mn-ea"/>
              </a:rPr>
              <a:t>stdio.h</a:t>
            </a:r>
            <a:r>
              <a:rPr sz="2000">
                <a:latin typeface="+mn-ea"/>
                <a:cs typeface="+mn-ea"/>
                <a:sym typeface="+mn-ea"/>
              </a:rPr>
              <a:t>&gt;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main (void)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{    double a[2], *p, *q;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 p = &amp;a[0];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 </a:t>
            </a:r>
            <a:r>
              <a:rPr sz="2000">
                <a:latin typeface="+mn-ea"/>
                <a:cs typeface="+mn-ea"/>
                <a:sym typeface="+mn-ea"/>
              </a:rPr>
              <a:t>q = p + 1; 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 </a:t>
            </a:r>
            <a:r>
              <a:rPr sz="2000">
                <a:latin typeface="+mn-ea"/>
                <a:cs typeface="+mn-ea"/>
                <a:sym typeface="+mn-ea"/>
              </a:rPr>
              <a:t>printf</a:t>
            </a:r>
            <a:r>
              <a:rPr sz="2000">
                <a:latin typeface="+mn-ea"/>
                <a:cs typeface="+mn-ea"/>
                <a:sym typeface="+mn-ea"/>
              </a:rPr>
              <a:t> ("%</a:t>
            </a:r>
            <a:r>
              <a:rPr sz="2000">
                <a:latin typeface="+mn-ea"/>
                <a:cs typeface="+mn-ea"/>
                <a:sym typeface="+mn-ea"/>
              </a:rPr>
              <a:t>d\n</a:t>
            </a:r>
            <a:r>
              <a:rPr sz="2000">
                <a:latin typeface="+mn-ea"/>
                <a:cs typeface="+mn-ea"/>
                <a:sym typeface="+mn-ea"/>
              </a:rPr>
              <a:t>", </a:t>
            </a:r>
            <a:r>
              <a:rPr sz="2000">
                <a:latin typeface="+mn-ea"/>
                <a:cs typeface="+mn-ea"/>
                <a:sym typeface="+mn-ea"/>
              </a:rPr>
              <a:t>q - p</a:t>
            </a:r>
            <a:r>
              <a:rPr sz="2000">
                <a:latin typeface="+mn-ea"/>
                <a:cs typeface="+mn-ea"/>
                <a:sym typeface="+mn-ea"/>
              </a:rPr>
              <a:t>); 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 </a:t>
            </a:r>
            <a:r>
              <a:rPr sz="2000">
                <a:latin typeface="+mn-ea"/>
                <a:cs typeface="+mn-ea"/>
                <a:sym typeface="+mn-ea"/>
              </a:rPr>
              <a:t>printf</a:t>
            </a:r>
            <a:r>
              <a:rPr sz="2000">
                <a:latin typeface="+mn-ea"/>
                <a:cs typeface="+mn-ea"/>
                <a:sym typeface="+mn-ea"/>
              </a:rPr>
              <a:t> ("%</a:t>
            </a:r>
            <a:r>
              <a:rPr sz="2000">
                <a:latin typeface="+mn-ea"/>
                <a:cs typeface="+mn-ea"/>
                <a:sym typeface="+mn-ea"/>
              </a:rPr>
              <a:t>d\n</a:t>
            </a:r>
            <a:r>
              <a:rPr sz="2000">
                <a:latin typeface="+mn-ea"/>
                <a:cs typeface="+mn-ea"/>
                <a:sym typeface="+mn-ea"/>
              </a:rPr>
              <a:t>", </a:t>
            </a:r>
            <a:r>
              <a:rPr sz="2000">
                <a:latin typeface="+mn-ea"/>
                <a:cs typeface="+mn-ea"/>
                <a:sym typeface="+mn-ea"/>
              </a:rPr>
              <a:t>(</a:t>
            </a: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) q - (</a:t>
            </a: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) p</a:t>
            </a:r>
            <a:r>
              <a:rPr sz="2000">
                <a:latin typeface="+mn-ea"/>
                <a:cs typeface="+mn-ea"/>
                <a:sym typeface="+mn-ea"/>
              </a:rPr>
              <a:t>); 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 return 0; 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}</a:t>
            </a:r>
            <a:endParaRPr sz="2000">
              <a:latin typeface="+mn-ea"/>
              <a:cs typeface="+mn-ea"/>
              <a:sym typeface="+mn-ea"/>
            </a:endParaRPr>
          </a:p>
        </p:txBody>
      </p:sp>
      <p:sp>
        <p:nvSpPr>
          <p:cNvPr id="33796" name="Rectangle 8"/>
          <p:cNvSpPr/>
          <p:nvPr/>
        </p:nvSpPr>
        <p:spPr>
          <a:xfrm>
            <a:off x="323850" y="549275"/>
            <a:ext cx="8534400" cy="1219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 lnSpcReduction="2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sz="4400" kern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例</a:t>
            </a:r>
            <a:r>
              <a:rPr lang="en-US" altLang="zh-CN" sz="4400" kern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8-10 使用指针计算数组元素个数和数组元素的存储单元数 </a:t>
            </a:r>
            <a:endParaRPr lang="en-US" altLang="zh-CN" sz="4400" kern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373769" name="Rectangle 9"/>
          <p:cNvSpPr/>
          <p:nvPr/>
        </p:nvSpPr>
        <p:spPr>
          <a:xfrm>
            <a:off x="8602663" y="4290378"/>
            <a:ext cx="457200" cy="939800"/>
          </a:xfrm>
          <a:prstGeom prst="rect">
            <a:avLst/>
          </a:prstGeom>
          <a:noFill/>
          <a:ln w="12700" cap="flat" cmpd="sng">
            <a:noFill/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p>
            <a:pPr>
              <a:spcBef>
                <a:spcPct val="30000"/>
              </a:spcBef>
            </a:pPr>
            <a:r>
              <a:rPr lang="en-US" altLang="zh-CN" sz="2400">
                <a:latin typeface="Arial" panose="02080604020202020204" pitchFamily="34" charset="0"/>
              </a:rPr>
              <a:t>1</a:t>
            </a:r>
            <a:endParaRPr lang="en-US" altLang="zh-CN" sz="2400">
              <a:latin typeface="Arial" panose="02080604020202020204" pitchFamily="34" charset="0"/>
            </a:endParaRPr>
          </a:p>
          <a:p>
            <a:pPr>
              <a:spcBef>
                <a:spcPct val="30000"/>
              </a:spcBef>
            </a:pPr>
            <a:r>
              <a:rPr lang="en-US" altLang="zh-CN" sz="2400">
                <a:latin typeface="Arial" panose="02080604020202020204" pitchFamily="34" charset="0"/>
              </a:rPr>
              <a:t>8</a:t>
            </a:r>
            <a:endParaRPr lang="en-US" altLang="zh-CN" sz="2400">
              <a:latin typeface="Arial" panose="02080604020202020204" pitchFamily="34" charset="0"/>
            </a:endParaRPr>
          </a:p>
        </p:txBody>
      </p:sp>
      <p:sp>
        <p:nvSpPr>
          <p:cNvPr id="373770" name="Rectangle 10"/>
          <p:cNvSpPr/>
          <p:nvPr/>
        </p:nvSpPr>
        <p:spPr>
          <a:xfrm>
            <a:off x="5127625" y="4292600"/>
            <a:ext cx="3589020" cy="42354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zh-CN" altLang="en-US" sz="2400" dirty="0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指针</a:t>
            </a:r>
            <a:r>
              <a:rPr lang="en-US" altLang="zh-CN" sz="2400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p</a:t>
            </a:r>
            <a:r>
              <a:rPr lang="zh-CN" altLang="en-US" sz="2400" dirty="0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和</a:t>
            </a:r>
            <a:r>
              <a:rPr lang="en-US" altLang="zh-CN" sz="2400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q</a:t>
            </a:r>
            <a:r>
              <a:rPr lang="zh-CN" altLang="en-US" sz="2400" dirty="0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之间元素的个数</a:t>
            </a:r>
            <a:endParaRPr lang="zh-CN" altLang="en-US" sz="2400" dirty="0">
              <a:solidFill>
                <a:schemeClr val="bg2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73771" name="Rectangle 11"/>
          <p:cNvSpPr/>
          <p:nvPr/>
        </p:nvSpPr>
        <p:spPr>
          <a:xfrm>
            <a:off x="5130959" y="4941888"/>
            <a:ext cx="3284220" cy="42354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zh-CN" altLang="en-US" sz="2400" dirty="0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指针</a:t>
            </a:r>
            <a:r>
              <a:rPr lang="en-US" altLang="zh-CN" sz="2400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p</a:t>
            </a:r>
            <a:r>
              <a:rPr lang="zh-CN" altLang="en-US" sz="2400" dirty="0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和</a:t>
            </a:r>
            <a:r>
              <a:rPr lang="en-US" altLang="zh-CN" sz="2400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q</a:t>
            </a:r>
            <a:r>
              <a:rPr lang="zh-CN" altLang="en-US" sz="2400" dirty="0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之间的字节数</a:t>
            </a:r>
            <a:endParaRPr lang="zh-CN" altLang="en-US" sz="2400" dirty="0">
              <a:solidFill>
                <a:schemeClr val="bg2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73772" name="Line 12"/>
          <p:cNvSpPr/>
          <p:nvPr/>
        </p:nvSpPr>
        <p:spPr>
          <a:xfrm flipV="1">
            <a:off x="2195830" y="4743450"/>
            <a:ext cx="1542415" cy="0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3773" name="Rectangle 13"/>
          <p:cNvSpPr/>
          <p:nvPr/>
        </p:nvSpPr>
        <p:spPr>
          <a:xfrm>
            <a:off x="2342357" y="4871403"/>
            <a:ext cx="1098550" cy="42354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zh-CN" altLang="en-US" sz="2400" dirty="0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地址值</a:t>
            </a:r>
            <a:endParaRPr lang="zh-CN" altLang="en-US" sz="2400" dirty="0">
              <a:solidFill>
                <a:schemeClr val="bg2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3581400" y="1854200"/>
            <a:ext cx="5334000" cy="1447800"/>
            <a:chOff x="2256" y="960"/>
            <a:chExt cx="3360" cy="912"/>
          </a:xfrm>
        </p:grpSpPr>
        <p:sp>
          <p:nvSpPr>
            <p:cNvPr id="33803" name="Line 15"/>
            <p:cNvSpPr/>
            <p:nvPr/>
          </p:nvSpPr>
          <p:spPr>
            <a:xfrm>
              <a:off x="3840" y="1584"/>
              <a:ext cx="71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3804" name="Group 16"/>
            <p:cNvGrpSpPr/>
            <p:nvPr/>
          </p:nvGrpSpPr>
          <p:grpSpPr>
            <a:xfrm>
              <a:off x="2256" y="960"/>
              <a:ext cx="3360" cy="912"/>
              <a:chOff x="2256" y="960"/>
              <a:chExt cx="3360" cy="912"/>
            </a:xfrm>
          </p:grpSpPr>
          <p:sp>
            <p:nvSpPr>
              <p:cNvPr id="33805" name="Rectangle 17"/>
              <p:cNvSpPr/>
              <p:nvPr/>
            </p:nvSpPr>
            <p:spPr>
              <a:xfrm>
                <a:off x="2256" y="1296"/>
                <a:ext cx="240" cy="24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pPr algn="r"/>
                <a:r>
                  <a:rPr lang="en-US" altLang="zh-CN" sz="2400">
                    <a:solidFill>
                      <a:srgbClr val="CC0066"/>
                    </a:solidFill>
                    <a:latin typeface="Arial" panose="02080604020202020204" pitchFamily="34" charset="0"/>
                  </a:rPr>
                  <a:t> p</a:t>
                </a:r>
                <a:endParaRPr lang="en-US" altLang="zh-CN" sz="2400">
                  <a:solidFill>
                    <a:srgbClr val="CC0066"/>
                  </a:solidFill>
                  <a:latin typeface="Arial" panose="02080604020202020204" pitchFamily="34" charset="0"/>
                </a:endParaRPr>
              </a:p>
            </p:txBody>
          </p:sp>
          <p:sp>
            <p:nvSpPr>
              <p:cNvPr id="33806" name="Rectangle 18"/>
              <p:cNvSpPr/>
              <p:nvPr/>
            </p:nvSpPr>
            <p:spPr>
              <a:xfrm>
                <a:off x="2304" y="1584"/>
                <a:ext cx="192" cy="24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pPr algn="r"/>
                <a:r>
                  <a:rPr lang="en-US" altLang="zh-CN" sz="2400">
                    <a:solidFill>
                      <a:srgbClr val="CC0066"/>
                    </a:solidFill>
                    <a:latin typeface="Arial" panose="02080604020202020204" pitchFamily="34" charset="0"/>
                  </a:rPr>
                  <a:t>q</a:t>
                </a:r>
                <a:endParaRPr lang="en-US" altLang="zh-CN" sz="2400">
                  <a:solidFill>
                    <a:srgbClr val="CC0066"/>
                  </a:solidFill>
                  <a:latin typeface="Arial" panose="02080604020202020204" pitchFamily="34" charset="0"/>
                </a:endParaRPr>
              </a:p>
            </p:txBody>
          </p:sp>
          <p:sp>
            <p:nvSpPr>
              <p:cNvPr id="33807" name="Rectangle 19"/>
              <p:cNvSpPr/>
              <p:nvPr/>
            </p:nvSpPr>
            <p:spPr>
              <a:xfrm>
                <a:off x="3840" y="1296"/>
                <a:ext cx="720" cy="57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2075" tIns="46038" rIns="92075" bIns="46038" anchor="ctr" anchorCtr="0"/>
              <a:p>
                <a:endParaRPr lang="zh-CN" altLang="en-US" dirty="0">
                  <a:latin typeface="Arial" panose="02080604020202020204" pitchFamily="34" charset="0"/>
                </a:endParaRPr>
              </a:p>
            </p:txBody>
          </p:sp>
          <p:sp>
            <p:nvSpPr>
              <p:cNvPr id="33808" name="Rectangle 20"/>
              <p:cNvSpPr/>
              <p:nvPr/>
            </p:nvSpPr>
            <p:spPr>
              <a:xfrm>
                <a:off x="3216" y="1344"/>
                <a:ext cx="2208" cy="24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r>
                  <a:rPr lang="en-US" altLang="zh-CN" sz="2400">
                    <a:latin typeface="Arial" panose="02080604020202020204" pitchFamily="34" charset="0"/>
                  </a:rPr>
                  <a:t>3000                        a[0]</a:t>
                </a:r>
                <a:endParaRPr lang="en-US" altLang="zh-CN" sz="2400">
                  <a:solidFill>
                    <a:schemeClr val="accent1"/>
                  </a:solidFill>
                  <a:latin typeface="Arial" panose="02080604020202020204" pitchFamily="34" charset="0"/>
                </a:endParaRPr>
              </a:p>
            </p:txBody>
          </p:sp>
          <p:sp>
            <p:nvSpPr>
              <p:cNvPr id="33809" name="Rectangle 21"/>
              <p:cNvSpPr/>
              <p:nvPr/>
            </p:nvSpPr>
            <p:spPr>
              <a:xfrm>
                <a:off x="3264" y="960"/>
                <a:ext cx="2352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r>
                  <a:rPr lang="zh-CN" altLang="en-US" sz="2400" dirty="0">
                    <a:latin typeface="Times New Roman" pitchFamily="18" charset="0"/>
                  </a:rPr>
                  <a:t>地址       内容       数组元素</a:t>
                </a:r>
                <a:endParaRPr lang="zh-CN" altLang="en-US" sz="2400" dirty="0">
                  <a:latin typeface="Times New Roman" pitchFamily="18" charset="0"/>
                </a:endParaRPr>
              </a:p>
            </p:txBody>
          </p:sp>
          <p:sp>
            <p:nvSpPr>
              <p:cNvPr id="33810" name="Rectangle 22"/>
              <p:cNvSpPr/>
              <p:nvPr/>
            </p:nvSpPr>
            <p:spPr>
              <a:xfrm>
                <a:off x="3216" y="1632"/>
                <a:ext cx="2208" cy="24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r>
                  <a:rPr lang="en-US" altLang="zh-CN" sz="2400">
                    <a:latin typeface="Arial" panose="02080604020202020204" pitchFamily="34" charset="0"/>
                  </a:rPr>
                  <a:t>3008                        a[1]</a:t>
                </a:r>
                <a:endParaRPr lang="en-US" altLang="zh-CN" sz="2400">
                  <a:solidFill>
                    <a:schemeClr val="accent1"/>
                  </a:solidFill>
                  <a:latin typeface="Arial" panose="02080604020202020204" pitchFamily="34" charset="0"/>
                </a:endParaRPr>
              </a:p>
            </p:txBody>
          </p:sp>
          <p:sp>
            <p:nvSpPr>
              <p:cNvPr id="33811" name="Rectangle 23"/>
              <p:cNvSpPr/>
              <p:nvPr/>
            </p:nvSpPr>
            <p:spPr>
              <a:xfrm>
                <a:off x="2496" y="1296"/>
                <a:ext cx="576" cy="24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pPr algn="r"/>
                <a:r>
                  <a:rPr lang="en-US" altLang="zh-CN" sz="2400">
                    <a:solidFill>
                      <a:schemeClr val="bg2"/>
                    </a:solidFill>
                    <a:latin typeface="Arial" panose="02080604020202020204" pitchFamily="34" charset="0"/>
                  </a:rPr>
                  <a:t> a</a:t>
                </a:r>
                <a:endParaRPr lang="en-US" altLang="zh-CN" sz="2400">
                  <a:solidFill>
                    <a:schemeClr val="bg2"/>
                  </a:solidFill>
                  <a:latin typeface="Arial" panose="02080604020202020204" pitchFamily="34" charset="0"/>
                </a:endParaRPr>
              </a:p>
            </p:txBody>
          </p:sp>
          <p:sp>
            <p:nvSpPr>
              <p:cNvPr id="33812" name="Rectangle 24"/>
              <p:cNvSpPr/>
              <p:nvPr/>
            </p:nvSpPr>
            <p:spPr>
              <a:xfrm>
                <a:off x="2496" y="1584"/>
                <a:ext cx="576" cy="24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pPr algn="r"/>
                <a:r>
                  <a:rPr lang="en-US" altLang="zh-CN" sz="2400">
                    <a:solidFill>
                      <a:schemeClr val="bg2"/>
                    </a:solidFill>
                    <a:latin typeface="Arial" panose="02080604020202020204" pitchFamily="34" charset="0"/>
                  </a:rPr>
                  <a:t>a+1</a:t>
                </a:r>
                <a:endParaRPr lang="en-US" altLang="zh-CN" sz="2400">
                  <a:solidFill>
                    <a:schemeClr val="bg2"/>
                  </a:solidFill>
                  <a:latin typeface="Arial" panose="02080604020202020204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3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3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3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3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3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3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3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3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3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3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769" grpId="0" bldLvl="0" animBg="1"/>
      <p:bldP spid="373770" grpId="0"/>
      <p:bldP spid="373771" grpId="0"/>
      <p:bldP spid="37377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5815" name="Rectangle 7"/>
          <p:cNvSpPr/>
          <p:nvPr/>
        </p:nvSpPr>
        <p:spPr>
          <a:xfrm>
            <a:off x="250825" y="2061528"/>
            <a:ext cx="8569325" cy="44640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800">
                <a:latin typeface="Arial" panose="02080604020202020204" pitchFamily="34" charset="0"/>
              </a:rPr>
              <a:t>double  *p, *q;</a:t>
            </a:r>
            <a:endParaRPr lang="en-US" altLang="zh-CN" sz="2800">
              <a:latin typeface="Arial" panose="02080604020202020204" pitchFamily="34" charset="0"/>
            </a:endParaRP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zh-CN" sz="2800">
                <a:latin typeface="Arial" panose="02080604020202020204" pitchFamily="34" charset="0"/>
              </a:rPr>
              <a:t>q - p</a:t>
            </a:r>
            <a:endParaRPr lang="en-US" altLang="zh-CN" sz="2800">
              <a:latin typeface="Arial" panose="02080604020202020204" pitchFamily="34" charset="0"/>
            </a:endParaRPr>
          </a:p>
          <a:p>
            <a:pPr marL="742950" lvl="1" indent="-285750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400" dirty="0">
                <a:latin typeface="Arial" panose="02080604020202020204" pitchFamily="34" charset="0"/>
              </a:rPr>
              <a:t>两个相同类型的指针相减，表示它们之间相隔的存储单元的数目</a:t>
            </a:r>
            <a:endParaRPr lang="zh-CN" altLang="en-US" sz="2400" dirty="0">
              <a:latin typeface="Arial" panose="02080604020202020204" pitchFamily="34" charset="0"/>
            </a:endParaRP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zh-CN" sz="2800">
                <a:latin typeface="Arial" panose="02080604020202020204" pitchFamily="34" charset="0"/>
              </a:rPr>
              <a:t>p + 1 / p-1</a:t>
            </a:r>
            <a:endParaRPr lang="en-US" altLang="zh-CN" sz="2800">
              <a:latin typeface="Arial" panose="02080604020202020204" pitchFamily="34" charset="0"/>
            </a:endParaRPr>
          </a:p>
          <a:p>
            <a:pPr marL="742950" lvl="1" indent="-285750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400" dirty="0">
                <a:latin typeface="Arial" panose="02080604020202020204" pitchFamily="34" charset="0"/>
              </a:rPr>
              <a:t>指向下一个存储单元 </a:t>
            </a:r>
            <a:r>
              <a:rPr lang="en-US" altLang="zh-CN" sz="2400">
                <a:latin typeface="Arial" panose="02080604020202020204" pitchFamily="34" charset="0"/>
              </a:rPr>
              <a:t>/ </a:t>
            </a:r>
            <a:r>
              <a:rPr lang="zh-CN" altLang="en-US" sz="2400" dirty="0">
                <a:latin typeface="Arial" panose="02080604020202020204" pitchFamily="34" charset="0"/>
              </a:rPr>
              <a:t>指向上一个存储单元</a:t>
            </a:r>
            <a:endParaRPr lang="zh-CN" altLang="en-US" sz="2400" dirty="0">
              <a:latin typeface="Arial" panose="02080604020202020204" pitchFamily="34" charset="0"/>
            </a:endParaRP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Arial" panose="02080604020202020204" pitchFamily="34" charset="0"/>
              </a:rPr>
              <a:t>其他操作都是非法的</a:t>
            </a:r>
            <a:endParaRPr lang="zh-CN" altLang="en-US" sz="2800" dirty="0">
              <a:latin typeface="Arial" panose="02080604020202020204" pitchFamily="34" charset="0"/>
            </a:endParaRPr>
          </a:p>
          <a:p>
            <a:pPr marL="742950" lvl="1" indent="-285750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400" dirty="0">
                <a:latin typeface="Arial" panose="02080604020202020204" pitchFamily="34" charset="0"/>
              </a:rPr>
              <a:t>指针相加、相乘和相除，或指针加上和减去一个浮点数</a:t>
            </a:r>
            <a:endParaRPr lang="zh-CN" altLang="en-US" sz="2400" dirty="0">
              <a:latin typeface="Arial" panose="02080604020202020204" pitchFamily="34" charset="0"/>
            </a:endParaRP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zh-CN" sz="2800">
                <a:latin typeface="Arial" panose="02080604020202020204" pitchFamily="34" charset="0"/>
              </a:rPr>
              <a:t>p &lt; q</a:t>
            </a:r>
            <a:endParaRPr lang="en-US" altLang="zh-CN" sz="2800">
              <a:latin typeface="Arial" panose="02080604020202020204" pitchFamily="34" charset="0"/>
            </a:endParaRPr>
          </a:p>
          <a:p>
            <a:pPr marL="742950" lvl="1" indent="-285750"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400" dirty="0">
                <a:latin typeface="Arial" panose="02080604020202020204" pitchFamily="34" charset="0"/>
              </a:rPr>
              <a:t>两个相同类型指针可以用关系运算符比较大小</a:t>
            </a:r>
            <a:endParaRPr lang="zh-CN" altLang="en-US" sz="2400" dirty="0">
              <a:latin typeface="Arial" panose="02080604020202020204" pitchFamily="34" charset="0"/>
            </a:endParaRPr>
          </a:p>
        </p:txBody>
      </p:sp>
      <p:sp>
        <p:nvSpPr>
          <p:cNvPr id="34820" name="Rectangle 8"/>
          <p:cNvSpPr/>
          <p:nvPr/>
        </p:nvSpPr>
        <p:spPr>
          <a:xfrm>
            <a:off x="539750" y="476250"/>
            <a:ext cx="6335713" cy="64293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8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sz="4400" kern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指针的算术运算和比较运算</a:t>
            </a:r>
            <a:endParaRPr lang="en-US" altLang="zh-CN" sz="4400" kern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</p:txBody>
      </p:sp>
      <p:grpSp>
        <p:nvGrpSpPr>
          <p:cNvPr id="34821" name="Group 9"/>
          <p:cNvGrpSpPr/>
          <p:nvPr/>
        </p:nvGrpSpPr>
        <p:grpSpPr>
          <a:xfrm>
            <a:off x="3492500" y="1268413"/>
            <a:ext cx="5334000" cy="1447800"/>
            <a:chOff x="2256" y="960"/>
            <a:chExt cx="3360" cy="912"/>
          </a:xfrm>
        </p:grpSpPr>
        <p:sp>
          <p:nvSpPr>
            <p:cNvPr id="34822" name="Line 10"/>
            <p:cNvSpPr/>
            <p:nvPr/>
          </p:nvSpPr>
          <p:spPr>
            <a:xfrm>
              <a:off x="3840" y="1584"/>
              <a:ext cx="71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4823" name="Group 11"/>
            <p:cNvGrpSpPr/>
            <p:nvPr/>
          </p:nvGrpSpPr>
          <p:grpSpPr>
            <a:xfrm>
              <a:off x="2256" y="960"/>
              <a:ext cx="3360" cy="912"/>
              <a:chOff x="2256" y="960"/>
              <a:chExt cx="3360" cy="912"/>
            </a:xfrm>
          </p:grpSpPr>
          <p:sp>
            <p:nvSpPr>
              <p:cNvPr id="34824" name="Rectangle 12"/>
              <p:cNvSpPr/>
              <p:nvPr/>
            </p:nvSpPr>
            <p:spPr>
              <a:xfrm>
                <a:off x="2256" y="1296"/>
                <a:ext cx="240" cy="24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pPr algn="r"/>
                <a:r>
                  <a:rPr lang="en-US" altLang="zh-CN" sz="2400">
                    <a:solidFill>
                      <a:srgbClr val="CC0066"/>
                    </a:solidFill>
                    <a:latin typeface="Arial" panose="02080604020202020204" pitchFamily="34" charset="0"/>
                  </a:rPr>
                  <a:t> p</a:t>
                </a:r>
                <a:endParaRPr lang="en-US" altLang="zh-CN" sz="2400">
                  <a:solidFill>
                    <a:srgbClr val="CC0066"/>
                  </a:solidFill>
                  <a:latin typeface="Arial" panose="02080604020202020204" pitchFamily="34" charset="0"/>
                </a:endParaRPr>
              </a:p>
            </p:txBody>
          </p:sp>
          <p:sp>
            <p:nvSpPr>
              <p:cNvPr id="34825" name="Rectangle 13"/>
              <p:cNvSpPr/>
              <p:nvPr/>
            </p:nvSpPr>
            <p:spPr>
              <a:xfrm>
                <a:off x="2304" y="1584"/>
                <a:ext cx="192" cy="24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pPr algn="r"/>
                <a:r>
                  <a:rPr lang="en-US" altLang="zh-CN" sz="2400">
                    <a:solidFill>
                      <a:srgbClr val="CC0066"/>
                    </a:solidFill>
                    <a:latin typeface="Arial" panose="02080604020202020204" pitchFamily="34" charset="0"/>
                  </a:rPr>
                  <a:t>q</a:t>
                </a:r>
                <a:endParaRPr lang="en-US" altLang="zh-CN" sz="2400">
                  <a:solidFill>
                    <a:srgbClr val="CC0066"/>
                  </a:solidFill>
                  <a:latin typeface="Arial" panose="02080604020202020204" pitchFamily="34" charset="0"/>
                </a:endParaRPr>
              </a:p>
            </p:txBody>
          </p:sp>
          <p:sp>
            <p:nvSpPr>
              <p:cNvPr id="34826" name="Rectangle 14"/>
              <p:cNvSpPr/>
              <p:nvPr/>
            </p:nvSpPr>
            <p:spPr>
              <a:xfrm>
                <a:off x="3840" y="1296"/>
                <a:ext cx="720" cy="57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2075" tIns="46038" rIns="92075" bIns="46038" anchor="ctr" anchorCtr="0"/>
              <a:p>
                <a:endParaRPr lang="zh-CN" altLang="en-US" dirty="0">
                  <a:latin typeface="Arial" panose="02080604020202020204" pitchFamily="34" charset="0"/>
                </a:endParaRPr>
              </a:p>
            </p:txBody>
          </p:sp>
          <p:sp>
            <p:nvSpPr>
              <p:cNvPr id="34827" name="Rectangle 15"/>
              <p:cNvSpPr/>
              <p:nvPr/>
            </p:nvSpPr>
            <p:spPr>
              <a:xfrm>
                <a:off x="3216" y="1344"/>
                <a:ext cx="2208" cy="24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r>
                  <a:rPr lang="en-US" altLang="zh-CN" sz="2400">
                    <a:latin typeface="Arial" panose="02080604020202020204" pitchFamily="34" charset="0"/>
                  </a:rPr>
                  <a:t>3000                        a[0]</a:t>
                </a:r>
                <a:endParaRPr lang="en-US" altLang="zh-CN" sz="2400">
                  <a:solidFill>
                    <a:schemeClr val="accent1"/>
                  </a:solidFill>
                  <a:latin typeface="Arial" panose="02080604020202020204" pitchFamily="34" charset="0"/>
                </a:endParaRPr>
              </a:p>
            </p:txBody>
          </p:sp>
          <p:sp>
            <p:nvSpPr>
              <p:cNvPr id="34828" name="Rectangle 16"/>
              <p:cNvSpPr/>
              <p:nvPr/>
            </p:nvSpPr>
            <p:spPr>
              <a:xfrm>
                <a:off x="3264" y="960"/>
                <a:ext cx="2352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r>
                  <a:rPr lang="zh-CN" altLang="en-US" sz="2400" dirty="0">
                    <a:latin typeface="Times New Roman" pitchFamily="18" charset="0"/>
                  </a:rPr>
                  <a:t>地址       内容        数组元素</a:t>
                </a:r>
                <a:endParaRPr lang="zh-CN" altLang="en-US" sz="2400" dirty="0">
                  <a:latin typeface="Times New Roman" pitchFamily="18" charset="0"/>
                </a:endParaRPr>
              </a:p>
            </p:txBody>
          </p:sp>
          <p:sp>
            <p:nvSpPr>
              <p:cNvPr id="34829" name="Rectangle 17"/>
              <p:cNvSpPr/>
              <p:nvPr/>
            </p:nvSpPr>
            <p:spPr>
              <a:xfrm>
                <a:off x="3216" y="1632"/>
                <a:ext cx="2208" cy="24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r>
                  <a:rPr lang="en-US" altLang="zh-CN" sz="2400">
                    <a:latin typeface="Arial" panose="02080604020202020204" pitchFamily="34" charset="0"/>
                  </a:rPr>
                  <a:t>3008                        a[1]</a:t>
                </a:r>
                <a:endParaRPr lang="en-US" altLang="zh-CN" sz="2400">
                  <a:solidFill>
                    <a:schemeClr val="accent1"/>
                  </a:solidFill>
                  <a:latin typeface="Arial" panose="02080604020202020204" pitchFamily="34" charset="0"/>
                </a:endParaRPr>
              </a:p>
            </p:txBody>
          </p:sp>
          <p:sp>
            <p:nvSpPr>
              <p:cNvPr id="34830" name="Rectangle 18"/>
              <p:cNvSpPr/>
              <p:nvPr/>
            </p:nvSpPr>
            <p:spPr>
              <a:xfrm>
                <a:off x="2496" y="1296"/>
                <a:ext cx="576" cy="24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pPr algn="r"/>
                <a:r>
                  <a:rPr lang="en-US" altLang="zh-CN" sz="2400">
                    <a:solidFill>
                      <a:schemeClr val="bg2"/>
                    </a:solidFill>
                    <a:latin typeface="Arial" panose="02080604020202020204" pitchFamily="34" charset="0"/>
                  </a:rPr>
                  <a:t> a</a:t>
                </a:r>
                <a:endParaRPr lang="en-US" altLang="zh-CN" sz="2400">
                  <a:solidFill>
                    <a:schemeClr val="bg2"/>
                  </a:solidFill>
                  <a:latin typeface="Arial" panose="02080604020202020204" pitchFamily="34" charset="0"/>
                </a:endParaRPr>
              </a:p>
            </p:txBody>
          </p:sp>
          <p:sp>
            <p:nvSpPr>
              <p:cNvPr id="34831" name="Rectangle 19"/>
              <p:cNvSpPr/>
              <p:nvPr/>
            </p:nvSpPr>
            <p:spPr>
              <a:xfrm>
                <a:off x="2496" y="1584"/>
                <a:ext cx="576" cy="24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pPr algn="r"/>
                <a:r>
                  <a:rPr lang="en-US" altLang="zh-CN" sz="2400">
                    <a:solidFill>
                      <a:schemeClr val="bg2"/>
                    </a:solidFill>
                    <a:latin typeface="Arial" panose="02080604020202020204" pitchFamily="34" charset="0"/>
                  </a:rPr>
                  <a:t>a+1</a:t>
                </a:r>
                <a:endParaRPr lang="en-US" altLang="zh-CN" sz="2400">
                  <a:solidFill>
                    <a:schemeClr val="bg2"/>
                  </a:solidFill>
                  <a:latin typeface="Arial" panose="02080604020202020204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5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5">
                                            <p:txEl>
                                              <p:charRg st="16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5815">
                                            <p:txEl>
                                              <p:charRg st="16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5815">
                                            <p:txEl>
                                              <p:charRg st="16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5">
                                            <p:txEl>
                                              <p:charRg st="22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5815">
                                            <p:txEl>
                                              <p:charRg st="22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5815">
                                            <p:txEl>
                                              <p:charRg st="22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5">
                                            <p:txEl>
                                              <p:charRg st="51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5815">
                                            <p:txEl>
                                              <p:charRg st="51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5815">
                                            <p:txEl>
                                              <p:charRg st="51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5">
                                            <p:txEl>
                                              <p:charRg st="63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5815">
                                            <p:txEl>
                                              <p:charRg st="63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5815">
                                            <p:txEl>
                                              <p:charRg st="63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5">
                                            <p:txEl>
                                              <p:charRg st="85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5815">
                                            <p:txEl>
                                              <p:charRg st="85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5815">
                                            <p:txEl>
                                              <p:charRg st="85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5">
                                            <p:txEl>
                                              <p:charRg st="95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5815">
                                            <p:txEl>
                                              <p:charRg st="95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5815">
                                            <p:txEl>
                                              <p:charRg st="95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5">
                                            <p:txEl>
                                              <p:charRg st="120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5815">
                                            <p:txEl>
                                              <p:charRg st="120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5815">
                                            <p:txEl>
                                              <p:charRg st="120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5">
                                            <p:txEl>
                                              <p:charRg st="126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75815">
                                            <p:txEl>
                                              <p:charRg st="126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75815">
                                            <p:txEl>
                                              <p:charRg st="126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815" grpId="0" bldLvl="2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3" name="Rectangle 8"/>
          <p:cNvSpPr/>
          <p:nvPr/>
        </p:nvSpPr>
        <p:spPr>
          <a:xfrm>
            <a:off x="76200" y="1624013"/>
            <a:ext cx="4711700" cy="4461510"/>
          </a:xfrm>
          <a:prstGeom prst="rect">
            <a:avLst/>
          </a:prstGeom>
          <a:noFill/>
          <a:ln w="28575" cmpd="sng">
            <a:noFill/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# include &lt;</a:t>
            </a:r>
            <a:r>
              <a:rPr sz="2000">
                <a:latin typeface="+mn-ea"/>
                <a:cs typeface="+mn-ea"/>
                <a:sym typeface="+mn-ea"/>
              </a:rPr>
              <a:t>stdio.h</a:t>
            </a:r>
            <a:r>
              <a:rPr sz="2000">
                <a:latin typeface="+mn-ea"/>
                <a:cs typeface="+mn-ea"/>
                <a:sym typeface="+mn-ea"/>
              </a:rPr>
              <a:t>&gt;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</a:t>
            </a:r>
            <a:r>
              <a:rPr sz="2000">
                <a:latin typeface="+mn-ea"/>
                <a:cs typeface="+mn-ea"/>
                <a:sym typeface="+mn-ea"/>
              </a:rPr>
              <a:t>main(void</a:t>
            </a:r>
            <a:r>
              <a:rPr sz="2000">
                <a:latin typeface="+mn-ea"/>
                <a:cs typeface="+mn-ea"/>
                <a:sym typeface="+mn-ea"/>
              </a:rPr>
              <a:t>)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{   </a:t>
            </a: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i, a[10], *p;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long sum = 0;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</a:t>
            </a:r>
            <a:r>
              <a:rPr sz="2000">
                <a:latin typeface="+mn-ea"/>
                <a:cs typeface="+mn-ea"/>
                <a:sym typeface="+mn-ea"/>
              </a:rPr>
              <a:t>printf("Enter</a:t>
            </a:r>
            <a:r>
              <a:rPr sz="2000">
                <a:latin typeface="+mn-ea"/>
                <a:cs typeface="+mn-ea"/>
                <a:sym typeface="+mn-ea"/>
              </a:rPr>
              <a:t> 10 integers: ");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    </a:t>
            </a:r>
            <a:r>
              <a:rPr sz="2000">
                <a:latin typeface="+mn-ea"/>
                <a:cs typeface="+mn-ea"/>
                <a:sym typeface="+mn-ea"/>
              </a:rPr>
              <a:t>for(i</a:t>
            </a:r>
            <a:r>
              <a:rPr sz="2000">
                <a:latin typeface="+mn-ea"/>
                <a:cs typeface="+mn-ea"/>
                <a:sym typeface="+mn-ea"/>
              </a:rPr>
              <a:t> = 0; i &lt; 10; i++) 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     </a:t>
            </a:r>
            <a:r>
              <a:rPr sz="2000">
                <a:latin typeface="+mn-ea"/>
                <a:cs typeface="+mn-ea"/>
                <a:sym typeface="+mn-ea"/>
              </a:rPr>
              <a:t>scanf("%d</a:t>
            </a:r>
            <a:r>
              <a:rPr sz="2000">
                <a:latin typeface="+mn-ea"/>
                <a:cs typeface="+mn-ea"/>
                <a:sym typeface="+mn-ea"/>
              </a:rPr>
              <a:t>", &amp;</a:t>
            </a:r>
            <a:r>
              <a:rPr sz="2000">
                <a:latin typeface="+mn-ea"/>
                <a:cs typeface="+mn-ea"/>
                <a:sym typeface="+mn-ea"/>
              </a:rPr>
              <a:t>a[i</a:t>
            </a:r>
            <a:r>
              <a:rPr sz="2000">
                <a:latin typeface="+mn-ea"/>
                <a:cs typeface="+mn-ea"/>
                <a:sym typeface="+mn-ea"/>
              </a:rPr>
              <a:t>]);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</a:t>
            </a:r>
            <a:r>
              <a:rPr sz="2000">
                <a:latin typeface="+mn-ea"/>
                <a:cs typeface="+mn-ea"/>
                <a:sym typeface="+mn-ea"/>
              </a:rPr>
              <a:t>for(p</a:t>
            </a:r>
            <a:r>
              <a:rPr sz="2000">
                <a:latin typeface="+mn-ea"/>
                <a:cs typeface="+mn-ea"/>
                <a:sym typeface="+mn-ea"/>
              </a:rPr>
              <a:t> = a; p &lt;= a+9; p++)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    </a:t>
            </a:r>
            <a:r>
              <a:rPr sz="2000">
                <a:latin typeface="+mn-ea"/>
                <a:cs typeface="+mn-ea"/>
                <a:sym typeface="+mn-ea"/>
              </a:rPr>
              <a:t>sum = </a:t>
            </a:r>
            <a:r>
              <a:rPr sz="2000">
                <a:latin typeface="+mn-ea"/>
                <a:cs typeface="+mn-ea"/>
                <a:sym typeface="+mn-ea"/>
              </a:rPr>
              <a:t>sum</a:t>
            </a:r>
            <a:r>
              <a:rPr sz="2000">
                <a:latin typeface="+mn-ea"/>
                <a:cs typeface="+mn-ea"/>
                <a:sym typeface="+mn-ea"/>
              </a:rPr>
              <a:t> + *p;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</a:t>
            </a:r>
            <a:r>
              <a:rPr sz="2000">
                <a:latin typeface="+mn-ea"/>
                <a:cs typeface="+mn-ea"/>
                <a:sym typeface="+mn-ea"/>
              </a:rPr>
              <a:t>printf("sum</a:t>
            </a:r>
            <a:r>
              <a:rPr sz="2000">
                <a:latin typeface="+mn-ea"/>
                <a:cs typeface="+mn-ea"/>
                <a:sym typeface="+mn-ea"/>
              </a:rPr>
              <a:t>=%ld \n", sum);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return 0;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}    </a:t>
            </a:r>
            <a:endParaRPr sz="2000">
              <a:latin typeface="+mn-ea"/>
              <a:cs typeface="+mn-ea"/>
              <a:sym typeface="+mn-ea"/>
            </a:endParaRPr>
          </a:p>
        </p:txBody>
      </p:sp>
      <p:sp>
        <p:nvSpPr>
          <p:cNvPr id="35844" name="Rectangle 9"/>
          <p:cNvSpPr/>
          <p:nvPr/>
        </p:nvSpPr>
        <p:spPr>
          <a:xfrm>
            <a:off x="0" y="317500"/>
            <a:ext cx="8763000" cy="76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sz="4400" kern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例</a:t>
            </a:r>
            <a:r>
              <a:rPr lang="en-US" altLang="zh-CN" sz="4400" kern="0">
                <a:solidFill>
                  <a:schemeClr val="hlink"/>
                </a:solidFill>
                <a:latin typeface="+mj-lt"/>
                <a:ea typeface="+mj-ea"/>
                <a:cs typeface="+mj-cs"/>
                <a:sym typeface="+mn-ea"/>
              </a:rPr>
              <a:t>8-11 使用指针计算数组元素之和 </a:t>
            </a:r>
            <a:endParaRPr lang="en-US" altLang="zh-CN" sz="4400" kern="0">
              <a:solidFill>
                <a:schemeClr val="hlink"/>
              </a:solidFill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377866" name="Rectangle 10"/>
          <p:cNvSpPr/>
          <p:nvPr/>
        </p:nvSpPr>
        <p:spPr>
          <a:xfrm>
            <a:off x="3238500" y="5646420"/>
            <a:ext cx="5457190" cy="79883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p>
            <a:pPr>
              <a:spcBef>
                <a:spcPct val="30000"/>
              </a:spcBef>
            </a:pPr>
            <a:r>
              <a:rPr lang="en-US" altLang="zh-CN" sz="2000">
                <a:latin typeface="Arial" panose="02080604020202020204" pitchFamily="34" charset="0"/>
              </a:rPr>
              <a:t>Enter 10 integers: </a:t>
            </a:r>
            <a:r>
              <a:rPr lang="en-US" altLang="zh-CN" sz="2000">
                <a:solidFill>
                  <a:srgbClr val="CC0066"/>
                </a:solidFill>
                <a:latin typeface="Arial" panose="02080604020202020204" pitchFamily="34" charset="0"/>
              </a:rPr>
              <a:t>10 9 8 7 6 5 4 3 2 1 </a:t>
            </a:r>
            <a:endParaRPr lang="en-US" altLang="zh-CN" sz="2000">
              <a:solidFill>
                <a:srgbClr val="CC0066"/>
              </a:solidFill>
              <a:latin typeface="Arial" panose="02080604020202020204" pitchFamily="34" charset="0"/>
            </a:endParaRPr>
          </a:p>
          <a:p>
            <a:pPr>
              <a:spcBef>
                <a:spcPct val="30000"/>
              </a:spcBef>
            </a:pPr>
            <a:r>
              <a:rPr lang="en-US" altLang="zh-CN" sz="2000">
                <a:latin typeface="Arial" panose="02080604020202020204" pitchFamily="34" charset="0"/>
              </a:rPr>
              <a:t>sum=55 </a:t>
            </a:r>
            <a:endParaRPr lang="en-US" altLang="zh-CN" sz="2000">
              <a:latin typeface="Arial" panose="02080604020202020204" pitchFamily="34" charset="0"/>
            </a:endParaRPr>
          </a:p>
        </p:txBody>
      </p:sp>
      <p:sp>
        <p:nvSpPr>
          <p:cNvPr id="377867" name="Rectangle 11"/>
          <p:cNvSpPr/>
          <p:nvPr/>
        </p:nvSpPr>
        <p:spPr>
          <a:xfrm>
            <a:off x="3619500" y="1701800"/>
            <a:ext cx="533400" cy="3810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/>
          <a:p>
            <a:pPr algn="r"/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</a:rPr>
              <a:t> p</a:t>
            </a:r>
            <a:endParaRPr lang="en-US" altLang="zh-CN" sz="2400">
              <a:solidFill>
                <a:srgbClr val="CC0066"/>
              </a:solidFill>
              <a:latin typeface="Arial" panose="02080604020202020204" pitchFamily="34" charset="0"/>
            </a:endParaRPr>
          </a:p>
        </p:txBody>
      </p:sp>
      <p:grpSp>
        <p:nvGrpSpPr>
          <p:cNvPr id="2" name="Group 12"/>
          <p:cNvGrpSpPr/>
          <p:nvPr/>
        </p:nvGrpSpPr>
        <p:grpSpPr>
          <a:xfrm>
            <a:off x="3971290" y="1181100"/>
            <a:ext cx="4953000" cy="2895600"/>
            <a:chOff x="2592" y="480"/>
            <a:chExt cx="3120" cy="1824"/>
          </a:xfrm>
        </p:grpSpPr>
        <p:grpSp>
          <p:nvGrpSpPr>
            <p:cNvPr id="35851" name="Group 13"/>
            <p:cNvGrpSpPr/>
            <p:nvPr/>
          </p:nvGrpSpPr>
          <p:grpSpPr>
            <a:xfrm>
              <a:off x="3312" y="480"/>
              <a:ext cx="2400" cy="1824"/>
              <a:chOff x="2928" y="960"/>
              <a:chExt cx="2400" cy="1824"/>
            </a:xfrm>
          </p:grpSpPr>
          <p:grpSp>
            <p:nvGrpSpPr>
              <p:cNvPr id="35857" name="Group 14"/>
              <p:cNvGrpSpPr/>
              <p:nvPr/>
            </p:nvGrpSpPr>
            <p:grpSpPr>
              <a:xfrm>
                <a:off x="3552" y="1296"/>
                <a:ext cx="710" cy="1488"/>
                <a:chOff x="912" y="1008"/>
                <a:chExt cx="864" cy="1488"/>
              </a:xfrm>
            </p:grpSpPr>
            <p:sp>
              <p:nvSpPr>
                <p:cNvPr id="35863" name="Rectangle 15"/>
                <p:cNvSpPr/>
                <p:nvPr/>
              </p:nvSpPr>
              <p:spPr>
                <a:xfrm>
                  <a:off x="912" y="1008"/>
                  <a:ext cx="864" cy="1488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2075" tIns="46038" rIns="92075" bIns="46038" anchor="ctr" anchorCtr="0"/>
                <a:p>
                  <a:endParaRPr lang="zh-CN" altLang="en-US" dirty="0">
                    <a:latin typeface="Arial" panose="02080604020202020204" pitchFamily="34" charset="0"/>
                  </a:endParaRPr>
                </a:p>
              </p:txBody>
            </p:sp>
            <p:sp>
              <p:nvSpPr>
                <p:cNvPr id="35864" name="Line 16"/>
                <p:cNvSpPr/>
                <p:nvPr/>
              </p:nvSpPr>
              <p:spPr>
                <a:xfrm>
                  <a:off x="912" y="1248"/>
                  <a:ext cx="86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865" name="Line 17"/>
                <p:cNvSpPr/>
                <p:nvPr/>
              </p:nvSpPr>
              <p:spPr>
                <a:xfrm>
                  <a:off x="912" y="1488"/>
                  <a:ext cx="86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866" name="Line 18"/>
                <p:cNvSpPr/>
                <p:nvPr/>
              </p:nvSpPr>
              <p:spPr>
                <a:xfrm>
                  <a:off x="912" y="1728"/>
                  <a:ext cx="86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867" name="Line 19"/>
                <p:cNvSpPr/>
                <p:nvPr/>
              </p:nvSpPr>
              <p:spPr>
                <a:xfrm>
                  <a:off x="912" y="2016"/>
                  <a:ext cx="86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868" name="Line 20"/>
                <p:cNvSpPr/>
                <p:nvPr/>
              </p:nvSpPr>
              <p:spPr>
                <a:xfrm>
                  <a:off x="912" y="2256"/>
                  <a:ext cx="86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5858" name="Rectangle 21"/>
              <p:cNvSpPr/>
              <p:nvPr/>
            </p:nvSpPr>
            <p:spPr>
              <a:xfrm>
                <a:off x="2928" y="1296"/>
                <a:ext cx="2208" cy="24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r>
                  <a:rPr lang="en-US" altLang="zh-CN" sz="2400">
                    <a:latin typeface="Arial" panose="02080604020202020204" pitchFamily="34" charset="0"/>
                  </a:rPr>
                  <a:t>3000                        a[0]</a:t>
                </a:r>
                <a:endParaRPr lang="en-US" altLang="zh-CN" sz="2400">
                  <a:solidFill>
                    <a:schemeClr val="accent1"/>
                  </a:solidFill>
                  <a:latin typeface="Arial" panose="02080604020202020204" pitchFamily="34" charset="0"/>
                </a:endParaRPr>
              </a:p>
            </p:txBody>
          </p:sp>
          <p:sp>
            <p:nvSpPr>
              <p:cNvPr id="35859" name="Rectangle 22"/>
              <p:cNvSpPr/>
              <p:nvPr/>
            </p:nvSpPr>
            <p:spPr>
              <a:xfrm>
                <a:off x="2976" y="960"/>
                <a:ext cx="2352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r>
                  <a:rPr lang="zh-CN" altLang="en-US" sz="2400" dirty="0">
                    <a:latin typeface="Times New Roman" pitchFamily="18" charset="0"/>
                  </a:rPr>
                  <a:t>地址       内容       数组元素</a:t>
                </a:r>
                <a:endParaRPr lang="zh-CN" altLang="en-US" sz="2400" dirty="0">
                  <a:latin typeface="Times New Roman" pitchFamily="18" charset="0"/>
                </a:endParaRPr>
              </a:p>
            </p:txBody>
          </p:sp>
          <p:sp>
            <p:nvSpPr>
              <p:cNvPr id="35860" name="Rectangle 23"/>
              <p:cNvSpPr/>
              <p:nvPr/>
            </p:nvSpPr>
            <p:spPr>
              <a:xfrm>
                <a:off x="2928" y="1584"/>
                <a:ext cx="2208" cy="24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r>
                  <a:rPr lang="en-US" altLang="zh-CN" sz="2400">
                    <a:latin typeface="Arial" panose="02080604020202020204" pitchFamily="34" charset="0"/>
                  </a:rPr>
                  <a:t>3002                        a[1]</a:t>
                </a:r>
                <a:endParaRPr lang="en-US" altLang="zh-CN" sz="2400">
                  <a:solidFill>
                    <a:schemeClr val="accent1"/>
                  </a:solidFill>
                  <a:latin typeface="Arial" panose="02080604020202020204" pitchFamily="34" charset="0"/>
                </a:endParaRPr>
              </a:p>
            </p:txBody>
          </p:sp>
          <p:sp>
            <p:nvSpPr>
              <p:cNvPr id="35861" name="Rectangle 24"/>
              <p:cNvSpPr/>
              <p:nvPr/>
            </p:nvSpPr>
            <p:spPr>
              <a:xfrm>
                <a:off x="2976" y="2544"/>
                <a:ext cx="2208" cy="24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r>
                  <a:rPr lang="en-US" altLang="zh-CN" sz="2400">
                    <a:latin typeface="Arial" panose="02080604020202020204" pitchFamily="34" charset="0"/>
                  </a:rPr>
                  <a:t>3018                       a[9]</a:t>
                </a:r>
                <a:endParaRPr lang="en-US" altLang="zh-CN" sz="2400">
                  <a:solidFill>
                    <a:schemeClr val="accent1"/>
                  </a:solidFill>
                  <a:latin typeface="Arial" panose="02080604020202020204" pitchFamily="34" charset="0"/>
                </a:endParaRPr>
              </a:p>
            </p:txBody>
          </p:sp>
          <p:sp>
            <p:nvSpPr>
              <p:cNvPr id="35862" name="Rectangle 25"/>
              <p:cNvSpPr/>
              <p:nvPr/>
            </p:nvSpPr>
            <p:spPr>
              <a:xfrm>
                <a:off x="2928" y="2064"/>
                <a:ext cx="2208" cy="24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r>
                  <a:rPr lang="en-US" altLang="zh-CN" sz="2400">
                    <a:latin typeface="Arial" panose="02080604020202020204" pitchFamily="34" charset="0"/>
                  </a:rPr>
                  <a:t>                                 </a:t>
                </a:r>
                <a:r>
                  <a:rPr lang="en-US" altLang="zh-CN" sz="2400" err="1">
                    <a:latin typeface="Arial" panose="02080604020202020204" pitchFamily="34" charset="0"/>
                  </a:rPr>
                  <a:t>a[i</a:t>
                </a:r>
                <a:r>
                  <a:rPr lang="en-US" altLang="zh-CN" sz="2400">
                    <a:latin typeface="Arial" panose="02080604020202020204" pitchFamily="34" charset="0"/>
                  </a:rPr>
                  <a:t>]</a:t>
                </a:r>
                <a:endParaRPr lang="en-US" altLang="zh-CN" sz="2400">
                  <a:solidFill>
                    <a:schemeClr val="accent1"/>
                  </a:solidFill>
                  <a:latin typeface="Arial" panose="02080604020202020204" pitchFamily="34" charset="0"/>
                </a:endParaRPr>
              </a:p>
            </p:txBody>
          </p:sp>
        </p:grpSp>
        <p:grpSp>
          <p:nvGrpSpPr>
            <p:cNvPr id="35852" name="Group 26"/>
            <p:cNvGrpSpPr/>
            <p:nvPr/>
          </p:nvGrpSpPr>
          <p:grpSpPr>
            <a:xfrm>
              <a:off x="2592" y="816"/>
              <a:ext cx="576" cy="1488"/>
              <a:chOff x="2496" y="1296"/>
              <a:chExt cx="576" cy="1488"/>
            </a:xfrm>
          </p:grpSpPr>
          <p:sp>
            <p:nvSpPr>
              <p:cNvPr id="35853" name="Rectangle 27"/>
              <p:cNvSpPr/>
              <p:nvPr/>
            </p:nvSpPr>
            <p:spPr>
              <a:xfrm>
                <a:off x="2496" y="1296"/>
                <a:ext cx="576" cy="24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pPr algn="r"/>
                <a:r>
                  <a:rPr lang="en-US" altLang="zh-CN" sz="2400">
                    <a:solidFill>
                      <a:schemeClr val="bg2"/>
                    </a:solidFill>
                    <a:latin typeface="Arial" panose="02080604020202020204" pitchFamily="34" charset="0"/>
                  </a:rPr>
                  <a:t> a</a:t>
                </a:r>
                <a:endParaRPr lang="en-US" altLang="zh-CN" sz="2400">
                  <a:solidFill>
                    <a:schemeClr val="bg2"/>
                  </a:solidFill>
                  <a:latin typeface="Arial" panose="02080604020202020204" pitchFamily="34" charset="0"/>
                </a:endParaRPr>
              </a:p>
            </p:txBody>
          </p:sp>
          <p:sp>
            <p:nvSpPr>
              <p:cNvPr id="35854" name="Rectangle 28"/>
              <p:cNvSpPr/>
              <p:nvPr/>
            </p:nvSpPr>
            <p:spPr>
              <a:xfrm>
                <a:off x="2496" y="1584"/>
                <a:ext cx="576" cy="24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pPr algn="r"/>
                <a:r>
                  <a:rPr lang="en-US" altLang="zh-CN" sz="2400">
                    <a:solidFill>
                      <a:schemeClr val="bg2"/>
                    </a:solidFill>
                    <a:latin typeface="Arial" panose="02080604020202020204" pitchFamily="34" charset="0"/>
                  </a:rPr>
                  <a:t>a+1</a:t>
                </a:r>
                <a:endParaRPr lang="en-US" altLang="zh-CN" sz="2400">
                  <a:solidFill>
                    <a:schemeClr val="bg2"/>
                  </a:solidFill>
                  <a:latin typeface="Arial" panose="02080604020202020204" pitchFamily="34" charset="0"/>
                </a:endParaRPr>
              </a:p>
            </p:txBody>
          </p:sp>
          <p:sp>
            <p:nvSpPr>
              <p:cNvPr id="35855" name="Rectangle 29"/>
              <p:cNvSpPr/>
              <p:nvPr/>
            </p:nvSpPr>
            <p:spPr>
              <a:xfrm>
                <a:off x="2496" y="2544"/>
                <a:ext cx="576" cy="24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pPr algn="r"/>
                <a:r>
                  <a:rPr lang="en-US" altLang="zh-CN" sz="2400">
                    <a:solidFill>
                      <a:schemeClr val="bg2"/>
                    </a:solidFill>
                    <a:latin typeface="Arial" panose="02080604020202020204" pitchFamily="34" charset="0"/>
                  </a:rPr>
                  <a:t>a+9</a:t>
                </a:r>
                <a:endParaRPr lang="en-US" altLang="zh-CN" sz="2400">
                  <a:solidFill>
                    <a:schemeClr val="bg2"/>
                  </a:solidFill>
                  <a:latin typeface="Arial" panose="02080604020202020204" pitchFamily="34" charset="0"/>
                </a:endParaRPr>
              </a:p>
            </p:txBody>
          </p:sp>
          <p:sp>
            <p:nvSpPr>
              <p:cNvPr id="35856" name="Rectangle 30"/>
              <p:cNvSpPr/>
              <p:nvPr/>
            </p:nvSpPr>
            <p:spPr>
              <a:xfrm>
                <a:off x="2496" y="2064"/>
                <a:ext cx="576" cy="24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pPr algn="r"/>
                <a:r>
                  <a:rPr lang="en-US" altLang="zh-CN" sz="2400" err="1">
                    <a:solidFill>
                      <a:schemeClr val="bg2"/>
                    </a:solidFill>
                    <a:latin typeface="Arial" panose="02080604020202020204" pitchFamily="34" charset="0"/>
                  </a:rPr>
                  <a:t>a+i</a:t>
                </a:r>
                <a:endParaRPr lang="en-US" altLang="zh-CN" sz="2400" err="1">
                  <a:solidFill>
                    <a:schemeClr val="bg2"/>
                  </a:solidFill>
                  <a:latin typeface="Arial" panose="02080604020202020204" pitchFamily="34" charset="0"/>
                </a:endParaRPr>
              </a:p>
            </p:txBody>
          </p:sp>
        </p:grpSp>
      </p:grpSp>
      <p:sp>
        <p:nvSpPr>
          <p:cNvPr id="377887" name="Rectangle 31"/>
          <p:cNvSpPr/>
          <p:nvPr/>
        </p:nvSpPr>
        <p:spPr>
          <a:xfrm>
            <a:off x="3619500" y="2095500"/>
            <a:ext cx="533400" cy="3810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/>
          <a:p>
            <a:pPr algn="r"/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</a:rPr>
              <a:t> p</a:t>
            </a:r>
            <a:endParaRPr lang="en-US" altLang="zh-CN" sz="2400">
              <a:solidFill>
                <a:srgbClr val="CC0066"/>
              </a:solidFill>
              <a:latin typeface="Arial" panose="02080604020202020204" pitchFamily="34" charset="0"/>
            </a:endParaRPr>
          </a:p>
        </p:txBody>
      </p:sp>
      <p:sp>
        <p:nvSpPr>
          <p:cNvPr id="377888" name="Rectangle 32"/>
          <p:cNvSpPr/>
          <p:nvPr/>
        </p:nvSpPr>
        <p:spPr>
          <a:xfrm>
            <a:off x="3619500" y="2857500"/>
            <a:ext cx="533400" cy="3810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/>
          <a:p>
            <a:pPr algn="r"/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</a:rPr>
              <a:t> p</a:t>
            </a:r>
            <a:endParaRPr lang="en-US" altLang="zh-CN" sz="2400">
              <a:solidFill>
                <a:srgbClr val="CC0066"/>
              </a:solidFill>
              <a:latin typeface="Arial" panose="02080604020202020204" pitchFamily="34" charset="0"/>
            </a:endParaRPr>
          </a:p>
        </p:txBody>
      </p:sp>
      <p:sp>
        <p:nvSpPr>
          <p:cNvPr id="377889" name="Rectangle 33"/>
          <p:cNvSpPr/>
          <p:nvPr/>
        </p:nvSpPr>
        <p:spPr>
          <a:xfrm>
            <a:off x="3619500" y="3695700"/>
            <a:ext cx="533400" cy="3810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/>
          <a:p>
            <a:pPr algn="r"/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</a:rPr>
              <a:t> p</a:t>
            </a:r>
            <a:endParaRPr lang="en-US" altLang="zh-CN" sz="2400">
              <a:solidFill>
                <a:srgbClr val="CC0066"/>
              </a:solidFill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778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778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778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77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7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377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66" grpId="0" bldLvl="0" animBg="1"/>
      <p:bldP spid="377867" grpId="0"/>
      <p:bldP spid="377887" grpId="0"/>
      <p:bldP spid="377888" grpId="0"/>
      <p:bldP spid="37788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7" name="Rectangle 7"/>
          <p:cNvSpPr>
            <a:spLocks noGrp="1"/>
          </p:cNvSpPr>
          <p:nvPr>
            <p:ph idx="1"/>
          </p:nvPr>
        </p:nvSpPr>
        <p:spPr>
          <a:xfrm>
            <a:off x="381000" y="1143000"/>
            <a:ext cx="8458200" cy="1143000"/>
          </a:xfrm>
        </p:spPr>
        <p:txBody>
          <a:bodyPr vert="horz" wrap="square" lIns="90488" tIns="44450" rIns="90488" bIns="44450" anchor="t" anchorCtr="0"/>
          <a:p>
            <a:pPr eaLnBrk="1" hangingPunct="1">
              <a:buNone/>
            </a:pPr>
            <a:r>
              <a:rPr lang="zh-CN" altLang="en-US" b="0" dirty="0"/>
              <a:t>数组元素作为函数实参时，函数形参为变量</a:t>
            </a:r>
            <a:endParaRPr lang="zh-CN" altLang="en-US" b="0" dirty="0"/>
          </a:p>
          <a:p>
            <a:pPr lvl="1" eaLnBrk="1" hangingPunct="1">
              <a:buNone/>
            </a:pPr>
            <a:r>
              <a:rPr lang="zh-CN" altLang="en-US" b="0" dirty="0"/>
              <a:t>与变量作为函数实参相同，值传递</a:t>
            </a:r>
            <a:endParaRPr lang="zh-CN" altLang="en-US" b="0" dirty="0"/>
          </a:p>
        </p:txBody>
      </p:sp>
      <p:sp>
        <p:nvSpPr>
          <p:cNvPr id="36868" name="Rectangle 8"/>
          <p:cNvSpPr>
            <a:spLocks noGrp="1"/>
          </p:cNvSpPr>
          <p:nvPr>
            <p:ph type="title"/>
          </p:nvPr>
        </p:nvSpPr>
        <p:spPr>
          <a:xfrm>
            <a:off x="539750" y="404813"/>
            <a:ext cx="7848600" cy="7239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8.3.3 </a:t>
            </a:r>
            <a:r>
              <a:rPr lang="en-US" altLang="zh-CN" b="0">
                <a:sym typeface="+mn-ea"/>
              </a:rPr>
              <a:t>数组名作为函数的参数</a:t>
            </a:r>
            <a:endParaRPr lang="en-US" altLang="zh-CN" b="0">
              <a:sym typeface="+mn-ea"/>
            </a:endParaRPr>
          </a:p>
        </p:txBody>
      </p:sp>
      <p:sp>
        <p:nvSpPr>
          <p:cNvPr id="379913" name="Rectangle 9"/>
          <p:cNvSpPr/>
          <p:nvPr/>
        </p:nvSpPr>
        <p:spPr>
          <a:xfrm>
            <a:off x="228600" y="2362200"/>
            <a:ext cx="6553200" cy="446151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double fact (</a:t>
            </a: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n); 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</a:t>
            </a:r>
            <a:r>
              <a:rPr sz="2000">
                <a:latin typeface="+mn-ea"/>
                <a:cs typeface="+mn-ea"/>
                <a:sym typeface="+mn-ea"/>
              </a:rPr>
              <a:t>main(void</a:t>
            </a:r>
            <a:r>
              <a:rPr sz="2000">
                <a:latin typeface="+mn-ea"/>
                <a:cs typeface="+mn-ea"/>
                <a:sym typeface="+mn-ea"/>
              </a:rPr>
              <a:t> )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{   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   </a:t>
            </a: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i, n = 5;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   double sum;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	   sum = 0;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   </a:t>
            </a:r>
            <a:r>
              <a:rPr sz="2000">
                <a:latin typeface="+mn-ea"/>
                <a:cs typeface="+mn-ea"/>
                <a:sym typeface="+mn-ea"/>
              </a:rPr>
              <a:t>for(i</a:t>
            </a:r>
            <a:r>
              <a:rPr sz="2000">
                <a:latin typeface="+mn-ea"/>
                <a:cs typeface="+mn-ea"/>
                <a:sym typeface="+mn-ea"/>
              </a:rPr>
              <a:t> = 1; i &lt;= n; i++ )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		    sum = </a:t>
            </a:r>
            <a:r>
              <a:rPr sz="2000">
                <a:latin typeface="+mn-ea"/>
                <a:cs typeface="+mn-ea"/>
                <a:sym typeface="+mn-ea"/>
              </a:rPr>
              <a:t>sum</a:t>
            </a:r>
            <a:r>
              <a:rPr sz="2000">
                <a:latin typeface="+mn-ea"/>
                <a:cs typeface="+mn-ea"/>
                <a:sym typeface="+mn-ea"/>
              </a:rPr>
              <a:t> + </a:t>
            </a:r>
            <a:r>
              <a:rPr sz="2000">
                <a:latin typeface="+mn-ea"/>
                <a:cs typeface="+mn-ea"/>
                <a:sym typeface="+mn-ea"/>
              </a:rPr>
              <a:t>fact (i);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   </a:t>
            </a:r>
            <a:r>
              <a:rPr sz="2000">
                <a:latin typeface="+mn-ea"/>
                <a:cs typeface="+mn-ea"/>
                <a:sym typeface="+mn-ea"/>
              </a:rPr>
              <a:t>printf("sum</a:t>
            </a:r>
            <a:r>
              <a:rPr sz="2000">
                <a:latin typeface="+mn-ea"/>
                <a:cs typeface="+mn-ea"/>
                <a:sym typeface="+mn-ea"/>
              </a:rPr>
              <a:t> = %</a:t>
            </a:r>
            <a:r>
              <a:rPr sz="2000">
                <a:latin typeface="+mn-ea"/>
                <a:cs typeface="+mn-ea"/>
                <a:sym typeface="+mn-ea"/>
              </a:rPr>
              <a:t>e\n</a:t>
            </a:r>
            <a:r>
              <a:rPr sz="2000">
                <a:latin typeface="+mn-ea"/>
                <a:cs typeface="+mn-ea"/>
                <a:sym typeface="+mn-ea"/>
              </a:rPr>
              <a:t>", sum);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   return 0;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}</a:t>
            </a:r>
            <a:endParaRPr sz="2000">
              <a:latin typeface="+mn-ea"/>
              <a:cs typeface="+mn-ea"/>
              <a:sym typeface="+mn-ea"/>
            </a:endParaRPr>
          </a:p>
        </p:txBody>
      </p:sp>
      <p:sp>
        <p:nvSpPr>
          <p:cNvPr id="379914" name="Rectangle 10"/>
          <p:cNvSpPr/>
          <p:nvPr/>
        </p:nvSpPr>
        <p:spPr>
          <a:xfrm>
            <a:off x="5219700" y="2349500"/>
            <a:ext cx="3506788" cy="261493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double fact (</a:t>
            </a: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n)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{   </a:t>
            </a: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i;			 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double result = 1; 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</a:t>
            </a:r>
            <a:r>
              <a:rPr sz="2000">
                <a:latin typeface="+mn-ea"/>
                <a:cs typeface="+mn-ea"/>
                <a:sym typeface="+mn-ea"/>
              </a:rPr>
              <a:t>for (i = 1; i &lt;= n; i++)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	    result = </a:t>
            </a:r>
            <a:r>
              <a:rPr sz="2000">
                <a:latin typeface="+mn-ea"/>
                <a:cs typeface="+mn-ea"/>
                <a:sym typeface="+mn-ea"/>
              </a:rPr>
              <a:t>result</a:t>
            </a:r>
            <a:r>
              <a:rPr sz="2000">
                <a:latin typeface="+mn-ea"/>
                <a:cs typeface="+mn-ea"/>
                <a:sym typeface="+mn-ea"/>
              </a:rPr>
              <a:t> * i 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return  result ; 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}</a:t>
            </a:r>
            <a:endParaRPr sz="2000">
              <a:latin typeface="+mn-ea"/>
              <a:cs typeface="+mn-ea"/>
              <a:sym typeface="+mn-ea"/>
            </a:endParaRPr>
          </a:p>
        </p:txBody>
      </p:sp>
      <p:sp>
        <p:nvSpPr>
          <p:cNvPr id="379915" name="Rectangle 11"/>
          <p:cNvSpPr/>
          <p:nvPr/>
        </p:nvSpPr>
        <p:spPr>
          <a:xfrm>
            <a:off x="838200" y="3429000"/>
            <a:ext cx="35052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panose="05000000000000000000" pitchFamily="2" charset="2"/>
            </a:pPr>
            <a:r>
              <a:rPr lang="en-US" altLang="zh-CN" sz="2000" err="1">
                <a:latin typeface="Arial" panose="02080604020202020204" pitchFamily="34" charset="0"/>
              </a:rPr>
              <a:t>int</a:t>
            </a:r>
            <a:r>
              <a:rPr lang="en-US" altLang="zh-CN" sz="2000">
                <a:latin typeface="Arial" panose="02080604020202020204" pitchFamily="34" charset="0"/>
              </a:rPr>
              <a:t> a[5]={1, 4, 5, 7, 9};</a:t>
            </a:r>
            <a:endParaRPr lang="zh-CN" altLang="en-US" sz="2000" dirty="0">
              <a:solidFill>
                <a:srgbClr val="FF0000"/>
              </a:solidFill>
              <a:latin typeface="Arial" panose="02080604020202020204" pitchFamily="34" charset="0"/>
            </a:endParaRPr>
          </a:p>
        </p:txBody>
      </p:sp>
      <p:sp>
        <p:nvSpPr>
          <p:cNvPr id="379916" name="Rectangle 12"/>
          <p:cNvSpPr/>
          <p:nvPr/>
        </p:nvSpPr>
        <p:spPr>
          <a:xfrm>
            <a:off x="3924300" y="5229225"/>
            <a:ext cx="1821180" cy="457200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/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rgbClr val="33CCCC"/>
              </a:buClr>
              <a:buSzPct val="80000"/>
              <a:buFont typeface="Wingdings" panose="05000000000000000000" pitchFamily="2" charset="2"/>
            </a:pPr>
            <a:r>
              <a:rPr lang="en-US" altLang="zh-CN" sz="2000">
                <a:latin typeface="Arial" panose="02080604020202020204" pitchFamily="34" charset="0"/>
              </a:rPr>
              <a:t>fact(a[i-1]);</a:t>
            </a:r>
            <a:endParaRPr lang="en-US" altLang="zh-CN" sz="2000">
              <a:latin typeface="Arial" panose="02080604020202020204" pitchFamily="34" charset="0"/>
            </a:endParaRPr>
          </a:p>
        </p:txBody>
      </p:sp>
      <p:sp>
        <p:nvSpPr>
          <p:cNvPr id="379917" name="Rectangle 13"/>
          <p:cNvSpPr/>
          <p:nvPr/>
        </p:nvSpPr>
        <p:spPr>
          <a:xfrm>
            <a:off x="5795963" y="5661025"/>
            <a:ext cx="2252662" cy="4206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en-US" altLang="zh-CN" sz="2400" b="1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1!+4!+5!+7!+9!</a:t>
            </a:r>
            <a:endParaRPr lang="zh-CN" altLang="en-US" sz="2400" b="1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9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9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9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9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9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9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9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9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9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9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13" grpId="0" bldLvl="0" animBg="1"/>
      <p:bldP spid="379914" grpId="0" bldLvl="0" animBg="1"/>
      <p:bldP spid="379915" grpId="0"/>
      <p:bldP spid="379916" grpId="0" bldLvl="0" animBg="1"/>
      <p:bldP spid="379917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1961" name="Rectangle 9"/>
          <p:cNvSpPr>
            <a:spLocks noGrp="1"/>
          </p:cNvSpPr>
          <p:nvPr>
            <p:ph idx="1"/>
          </p:nvPr>
        </p:nvSpPr>
        <p:spPr>
          <a:xfrm>
            <a:off x="381000" y="977900"/>
            <a:ext cx="8763000" cy="1524000"/>
          </a:xfrm>
        </p:spPr>
        <p:txBody>
          <a:bodyPr vert="horz" wrap="square" lIns="90488" tIns="44450" rIns="90488" bIns="44450" anchor="t" anchorCtr="0"/>
          <a:p>
            <a:pPr eaLnBrk="1" hangingPunct="1"/>
            <a:r>
              <a:rPr lang="zh-CN" altLang="en-US" sz="2800" dirty="0"/>
              <a:t>数组名是指针常量，相当于指针作为函数的参数</a:t>
            </a:r>
            <a:endParaRPr lang="zh-CN" altLang="en-US" sz="2800" dirty="0"/>
          </a:p>
          <a:p>
            <a:pPr eaLnBrk="1" hangingPunct="1"/>
            <a:r>
              <a:rPr lang="zh-CN" altLang="en-US" sz="2800" dirty="0">
                <a:solidFill>
                  <a:srgbClr val="CC0066"/>
                </a:solidFill>
              </a:rPr>
              <a:t>数组名</a:t>
            </a:r>
            <a:r>
              <a:rPr lang="zh-CN" altLang="en-US" sz="2800" dirty="0"/>
              <a:t>做为实参，形参是</a:t>
            </a:r>
            <a:r>
              <a:rPr lang="zh-CN" altLang="en-US" sz="2800" dirty="0">
                <a:solidFill>
                  <a:srgbClr val="CC0066"/>
                </a:solidFill>
              </a:rPr>
              <a:t>指针变量</a:t>
            </a:r>
            <a:r>
              <a:rPr lang="zh-CN" altLang="en-US" sz="2800" dirty="0"/>
              <a:t>（数组）</a:t>
            </a:r>
            <a:endParaRPr lang="zh-CN" altLang="en-US" sz="2800" dirty="0"/>
          </a:p>
        </p:txBody>
      </p:sp>
      <p:sp>
        <p:nvSpPr>
          <p:cNvPr id="37892" name="Rectangle 10"/>
          <p:cNvSpPr>
            <a:spLocks noGrp="1"/>
          </p:cNvSpPr>
          <p:nvPr>
            <p:ph type="title"/>
          </p:nvPr>
        </p:nvSpPr>
        <p:spPr>
          <a:xfrm>
            <a:off x="609600" y="233045"/>
            <a:ext cx="7848600" cy="7239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数组名作为函数的参数</a:t>
            </a:r>
            <a:endParaRPr lang="en-US" altLang="zh-CN" b="0">
              <a:sym typeface="+mn-ea"/>
            </a:endParaRPr>
          </a:p>
        </p:txBody>
      </p:sp>
      <p:sp>
        <p:nvSpPr>
          <p:cNvPr id="381963" name="Rectangle 11"/>
          <p:cNvSpPr/>
          <p:nvPr/>
        </p:nvSpPr>
        <p:spPr>
          <a:xfrm>
            <a:off x="228600" y="3357245"/>
            <a:ext cx="4038600" cy="261493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sum (</a:t>
            </a: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*</a:t>
            </a:r>
            <a:r>
              <a:rPr sz="2000">
                <a:latin typeface="+mn-ea"/>
                <a:cs typeface="+mn-ea"/>
                <a:sym typeface="+mn-ea"/>
              </a:rPr>
              <a:t>array</a:t>
            </a:r>
            <a:r>
              <a:rPr sz="2000">
                <a:latin typeface="+mn-ea"/>
                <a:cs typeface="+mn-ea"/>
                <a:sym typeface="+mn-ea"/>
              </a:rPr>
              <a:t>, </a:t>
            </a: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n)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{   </a:t>
            </a: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i, s = 0;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</a:t>
            </a:r>
            <a:r>
              <a:rPr sz="2000">
                <a:latin typeface="+mn-ea"/>
                <a:cs typeface="+mn-ea"/>
                <a:sym typeface="+mn-ea"/>
              </a:rPr>
              <a:t>for(i</a:t>
            </a:r>
            <a:r>
              <a:rPr sz="2000">
                <a:latin typeface="+mn-ea"/>
                <a:cs typeface="+mn-ea"/>
                <a:sym typeface="+mn-ea"/>
              </a:rPr>
              <a:t>=0; i&lt;n; i++)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   s += </a:t>
            </a:r>
            <a:r>
              <a:rPr sz="2000">
                <a:latin typeface="+mn-ea"/>
                <a:cs typeface="+mn-ea"/>
                <a:sym typeface="+mn-ea"/>
              </a:rPr>
              <a:t>array[i</a:t>
            </a:r>
            <a:r>
              <a:rPr sz="2000">
                <a:latin typeface="+mn-ea"/>
                <a:cs typeface="+mn-ea"/>
                <a:sym typeface="+mn-ea"/>
              </a:rPr>
              <a:t>]; 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</a:t>
            </a:r>
            <a:r>
              <a:rPr sz="2000">
                <a:latin typeface="+mn-ea"/>
                <a:cs typeface="+mn-ea"/>
                <a:sym typeface="+mn-ea"/>
              </a:rPr>
              <a:t>return(s</a:t>
            </a:r>
            <a:r>
              <a:rPr sz="2000">
                <a:latin typeface="+mn-ea"/>
                <a:cs typeface="+mn-ea"/>
                <a:sym typeface="+mn-ea"/>
              </a:rPr>
              <a:t>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}      </a:t>
            </a:r>
            <a:endParaRPr sz="2000">
              <a:latin typeface="+mn-ea"/>
              <a:cs typeface="+mn-ea"/>
              <a:sym typeface="+mn-ea"/>
            </a:endParaRPr>
          </a:p>
        </p:txBody>
      </p:sp>
      <p:sp>
        <p:nvSpPr>
          <p:cNvPr id="381964" name="Rectangle 12"/>
          <p:cNvSpPr/>
          <p:nvPr/>
        </p:nvSpPr>
        <p:spPr>
          <a:xfrm>
            <a:off x="4560888" y="3505200"/>
            <a:ext cx="4332287" cy="224536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例</a:t>
            </a:r>
            <a:r>
              <a:rPr sz="2000">
                <a:latin typeface="+mn-ea"/>
                <a:cs typeface="+mn-ea"/>
                <a:sym typeface="+mn-ea"/>
              </a:rPr>
              <a:t>8-12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</a:t>
            </a:r>
            <a:r>
              <a:rPr sz="2000">
                <a:latin typeface="+mn-ea"/>
                <a:cs typeface="+mn-ea"/>
                <a:sym typeface="+mn-ea"/>
              </a:rPr>
              <a:t>main(void</a:t>
            </a:r>
            <a:r>
              <a:rPr sz="2000">
                <a:latin typeface="+mn-ea"/>
                <a:cs typeface="+mn-ea"/>
                <a:sym typeface="+mn-ea"/>
              </a:rPr>
              <a:t> )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{   </a:t>
            </a: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i;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</a:t>
            </a: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b[5] = {1, 4, 5, 7, 9};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</a:t>
            </a:r>
            <a:r>
              <a:rPr sz="2000">
                <a:latin typeface="+mn-ea"/>
                <a:cs typeface="+mn-ea"/>
                <a:sym typeface="+mn-ea"/>
              </a:rPr>
              <a:t>printf("%d\n</a:t>
            </a:r>
            <a:r>
              <a:rPr sz="2000">
                <a:latin typeface="+mn-ea"/>
                <a:cs typeface="+mn-ea"/>
                <a:sym typeface="+mn-ea"/>
              </a:rPr>
              <a:t>", </a:t>
            </a:r>
            <a:r>
              <a:rPr sz="2000">
                <a:latin typeface="+mn-ea"/>
                <a:cs typeface="+mn-ea"/>
                <a:sym typeface="+mn-ea"/>
              </a:rPr>
              <a:t>sum(</a:t>
            </a:r>
            <a:r>
              <a:rPr sz="2000">
                <a:latin typeface="+mn-ea"/>
                <a:cs typeface="+mn-ea"/>
                <a:sym typeface="+mn-ea"/>
              </a:rPr>
              <a:t>b</a:t>
            </a:r>
            <a:r>
              <a:rPr sz="2000">
                <a:latin typeface="+mn-ea"/>
                <a:cs typeface="+mn-ea"/>
                <a:sym typeface="+mn-ea"/>
              </a:rPr>
              <a:t>, 5));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return 0; }</a:t>
            </a:r>
            <a:endParaRPr sz="2000">
              <a:latin typeface="+mn-ea"/>
              <a:cs typeface="+mn-ea"/>
              <a:sym typeface="+mn-ea"/>
            </a:endParaRPr>
          </a:p>
        </p:txBody>
      </p:sp>
      <p:sp>
        <p:nvSpPr>
          <p:cNvPr id="381965" name="Text Box 13"/>
          <p:cNvSpPr txBox="1"/>
          <p:nvPr/>
        </p:nvSpPr>
        <p:spPr>
          <a:xfrm>
            <a:off x="4953000" y="2133600"/>
            <a:ext cx="3795713" cy="1184275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>
            <a:spAutoFit/>
          </a:bodyPr>
          <a:p>
            <a:r>
              <a:rPr lang="zh-CN" altLang="en-US" sz="2400" b="1" dirty="0">
                <a:latin typeface="宋体" pitchFamily="2" charset="-122"/>
              </a:rPr>
              <a:t>(1) 实参是数组名</a:t>
            </a:r>
            <a:endParaRPr lang="zh-CN" altLang="en-US" sz="2400" b="1" dirty="0">
              <a:latin typeface="宋体" pitchFamily="2" charset="-122"/>
            </a:endParaRPr>
          </a:p>
          <a:p>
            <a:r>
              <a:rPr lang="zh-CN" altLang="en-US" sz="2400" b="1" dirty="0">
                <a:latin typeface="宋体" pitchFamily="2" charset="-122"/>
              </a:rPr>
              <a:t>(2) 形参是指针变量</a:t>
            </a:r>
            <a:endParaRPr lang="zh-CN" altLang="en-US" sz="2400" b="1" dirty="0">
              <a:latin typeface="宋体" pitchFamily="2" charset="-122"/>
            </a:endParaRPr>
          </a:p>
          <a:p>
            <a:r>
              <a:rPr lang="zh-CN" altLang="en-US" sz="2400" b="1" dirty="0">
                <a:latin typeface="宋体" pitchFamily="2" charset="-122"/>
              </a:rPr>
              <a:t>     可以写成数组形式</a:t>
            </a:r>
            <a:endParaRPr lang="zh-CN" altLang="en-US" sz="2400" b="1" dirty="0">
              <a:latin typeface="宋体" pitchFamily="2" charset="-122"/>
            </a:endParaRPr>
          </a:p>
        </p:txBody>
      </p:sp>
      <p:sp>
        <p:nvSpPr>
          <p:cNvPr id="381966" name="Rectangle 14"/>
          <p:cNvSpPr/>
          <p:nvPr/>
        </p:nvSpPr>
        <p:spPr>
          <a:xfrm>
            <a:off x="1619250" y="2852738"/>
            <a:ext cx="1674813" cy="4206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en-US" altLang="zh-CN" sz="2400" b="1" err="1">
                <a:latin typeface="Arial" panose="02080604020202020204" pitchFamily="34" charset="0"/>
              </a:rPr>
              <a:t>int</a:t>
            </a:r>
            <a:r>
              <a:rPr lang="en-US" altLang="zh-CN" sz="2400" b="1">
                <a:solidFill>
                  <a:schemeClr val="bg2"/>
                </a:solidFill>
                <a:latin typeface="Arial" panose="02080604020202020204" pitchFamily="34" charset="0"/>
              </a:rPr>
              <a:t> array[ ]</a:t>
            </a:r>
            <a:endParaRPr lang="zh-CN" altLang="en-US" sz="2400" b="1" dirty="0">
              <a:solidFill>
                <a:schemeClr val="bg2"/>
              </a:solidFill>
              <a:latin typeface="Arial" panose="02080604020202020204" pitchFamily="34" charset="0"/>
            </a:endParaRPr>
          </a:p>
        </p:txBody>
      </p:sp>
      <p:sp>
        <p:nvSpPr>
          <p:cNvPr id="381967" name="Text Box 15"/>
          <p:cNvSpPr txBox="1"/>
          <p:nvPr/>
        </p:nvSpPr>
        <p:spPr>
          <a:xfrm>
            <a:off x="1763713" y="5229225"/>
            <a:ext cx="1512887" cy="457200"/>
          </a:xfrm>
          <a:prstGeom prst="rect">
            <a:avLst/>
          </a:prstGeom>
          <a:noFill/>
          <a:ln w="12700">
            <a:noFill/>
          </a:ln>
        </p:spPr>
        <p:txBody>
          <a:bodyPr wrap="none" lIns="90000" tIns="46800" rIns="90000" bIns="4680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400" b="1" dirty="0">
                <a:solidFill>
                  <a:srgbClr val="CC0066"/>
                </a:solidFill>
                <a:latin typeface="Arial" panose="02080604020202020204" pitchFamily="34" charset="0"/>
              </a:rPr>
              <a:t>*(</a:t>
            </a:r>
            <a:r>
              <a:rPr lang="en-US" altLang="zh-CN" sz="2400" b="1" err="1">
                <a:solidFill>
                  <a:srgbClr val="CC0066"/>
                </a:solidFill>
                <a:latin typeface="Arial" panose="02080604020202020204" pitchFamily="34" charset="0"/>
              </a:rPr>
              <a:t>array+i</a:t>
            </a:r>
            <a:r>
              <a:rPr lang="en-US" altLang="zh-CN" sz="2400" b="1">
                <a:solidFill>
                  <a:srgbClr val="CC0066"/>
                </a:solidFill>
                <a:latin typeface="Arial" panose="02080604020202020204" pitchFamily="34" charset="0"/>
              </a:rPr>
              <a:t>)</a:t>
            </a:r>
            <a:endParaRPr lang="en-US" altLang="zh-CN" sz="2400" b="1">
              <a:solidFill>
                <a:srgbClr val="CC0066"/>
              </a:solidFill>
              <a:latin typeface="Arial" panose="0208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1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1961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1961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1">
                                            <p:txEl>
                                              <p:charRg st="22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1961">
                                            <p:txEl>
                                              <p:charRg st="22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1961">
                                            <p:txEl>
                                              <p:charRg st="22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1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1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1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1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1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1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1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1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1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1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961" grpId="0" build="p"/>
      <p:bldP spid="381963" grpId="0" bldLvl="0" animBg="1"/>
      <p:bldP spid="381964" grpId="0" bldLvl="0" animBg="1"/>
      <p:bldP spid="381965" grpId="0"/>
      <p:bldP spid="381966" grpId="0"/>
      <p:bldP spid="38196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5" name="Rectangle 36"/>
          <p:cNvSpPr>
            <a:spLocks noGrp="1"/>
          </p:cNvSpPr>
          <p:nvPr>
            <p:ph idx="1"/>
          </p:nvPr>
        </p:nvSpPr>
        <p:spPr>
          <a:xfrm>
            <a:off x="179705" y="476250"/>
            <a:ext cx="4132263" cy="2245360"/>
          </a:xfr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sum (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*array,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n)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{ 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i, s = 0;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for(i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=0; i&lt;n; i++)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     s +=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array[i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]; 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return(s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);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}      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</p:txBody>
      </p:sp>
      <p:sp>
        <p:nvSpPr>
          <p:cNvPr id="38916" name="Rectangle 37"/>
          <p:cNvSpPr/>
          <p:nvPr/>
        </p:nvSpPr>
        <p:spPr>
          <a:xfrm>
            <a:off x="4572000" y="476250"/>
            <a:ext cx="4329113" cy="224536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</a:t>
            </a:r>
            <a:r>
              <a:rPr sz="2000">
                <a:latin typeface="+mn-ea"/>
                <a:cs typeface="+mn-ea"/>
                <a:sym typeface="+mn-ea"/>
              </a:rPr>
              <a:t>main(void</a:t>
            </a:r>
            <a:r>
              <a:rPr sz="2000">
                <a:latin typeface="+mn-ea"/>
                <a:cs typeface="+mn-ea"/>
                <a:sym typeface="+mn-ea"/>
              </a:rPr>
              <a:t> )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{   </a:t>
            </a: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i;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</a:t>
            </a: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b[5] = {1, 4, 5, 7, 9};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</a:t>
            </a:r>
            <a:r>
              <a:rPr sz="2000">
                <a:latin typeface="+mn-ea"/>
                <a:cs typeface="+mn-ea"/>
                <a:sym typeface="+mn-ea"/>
              </a:rPr>
              <a:t>printf("%d\n</a:t>
            </a:r>
            <a:r>
              <a:rPr sz="2000">
                <a:latin typeface="+mn-ea"/>
                <a:cs typeface="+mn-ea"/>
                <a:sym typeface="+mn-ea"/>
              </a:rPr>
              <a:t>", </a:t>
            </a:r>
            <a:r>
              <a:rPr sz="2000">
                <a:latin typeface="+mn-ea"/>
                <a:cs typeface="+mn-ea"/>
                <a:sym typeface="+mn-ea"/>
              </a:rPr>
              <a:t>sum(</a:t>
            </a:r>
            <a:r>
              <a:rPr sz="2000">
                <a:latin typeface="+mn-ea"/>
                <a:cs typeface="+mn-ea"/>
                <a:sym typeface="+mn-ea"/>
              </a:rPr>
              <a:t>b</a:t>
            </a:r>
            <a:r>
              <a:rPr sz="2000">
                <a:latin typeface="+mn-ea"/>
                <a:cs typeface="+mn-ea"/>
                <a:sym typeface="+mn-ea"/>
              </a:rPr>
              <a:t>, 5));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return 0;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}</a:t>
            </a:r>
            <a:endParaRPr sz="2000">
              <a:latin typeface="+mn-ea"/>
              <a:cs typeface="+mn-ea"/>
              <a:sym typeface="+mn-ea"/>
            </a:endParaRPr>
          </a:p>
        </p:txBody>
      </p:sp>
      <p:grpSp>
        <p:nvGrpSpPr>
          <p:cNvPr id="38917" name="Group 38"/>
          <p:cNvGrpSpPr/>
          <p:nvPr/>
        </p:nvGrpSpPr>
        <p:grpSpPr>
          <a:xfrm>
            <a:off x="600393" y="3068638"/>
            <a:ext cx="3065463" cy="2716212"/>
            <a:chOff x="349" y="2129"/>
            <a:chExt cx="1931" cy="1711"/>
          </a:xfrm>
        </p:grpSpPr>
        <p:sp>
          <p:nvSpPr>
            <p:cNvPr id="38929" name="Text Box 39"/>
            <p:cNvSpPr txBox="1"/>
            <p:nvPr/>
          </p:nvSpPr>
          <p:spPr>
            <a:xfrm>
              <a:off x="349" y="2129"/>
              <a:ext cx="336" cy="36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>
                  <a:latin typeface="Arial" panose="02080604020202020204" pitchFamily="34" charset="0"/>
                </a:rPr>
                <a:t>b</a:t>
              </a:r>
              <a:r>
                <a:rPr lang="en-US" altLang="zh-CN" sz="3200">
                  <a:latin typeface="Arial" panose="02080604020202020204" pitchFamily="34" charset="0"/>
                </a:rPr>
                <a:t> </a:t>
              </a:r>
              <a:endParaRPr lang="en-US" altLang="zh-CN" sz="3200">
                <a:latin typeface="Arial" panose="02080604020202020204" pitchFamily="34" charset="0"/>
              </a:endParaRPr>
            </a:p>
          </p:txBody>
        </p:sp>
        <p:sp>
          <p:nvSpPr>
            <p:cNvPr id="38930" name="Rectangle 40"/>
            <p:cNvSpPr/>
            <p:nvPr/>
          </p:nvSpPr>
          <p:spPr>
            <a:xfrm>
              <a:off x="1110" y="2304"/>
              <a:ext cx="672" cy="15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endParaRPr lang="zh-CN" altLang="en-US" dirty="0">
                <a:latin typeface="Arial" panose="02080604020202020204" pitchFamily="34" charset="0"/>
              </a:endParaRPr>
            </a:p>
          </p:txBody>
        </p:sp>
        <p:sp>
          <p:nvSpPr>
            <p:cNvPr id="38931" name="Line 41"/>
            <p:cNvSpPr/>
            <p:nvPr/>
          </p:nvSpPr>
          <p:spPr>
            <a:xfrm>
              <a:off x="1110" y="2640"/>
              <a:ext cx="67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2" name="Line 42"/>
            <p:cNvSpPr/>
            <p:nvPr/>
          </p:nvSpPr>
          <p:spPr>
            <a:xfrm>
              <a:off x="1110" y="3552"/>
              <a:ext cx="67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3" name="Rectangle 43"/>
            <p:cNvSpPr/>
            <p:nvPr/>
          </p:nvSpPr>
          <p:spPr>
            <a:xfrm>
              <a:off x="1766" y="2322"/>
              <a:ext cx="506" cy="29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zh-CN" sz="2400">
                  <a:latin typeface="Arial" panose="02080604020202020204" pitchFamily="34" charset="0"/>
                </a:rPr>
                <a:t>b[0]</a:t>
              </a:r>
              <a:endParaRPr lang="en-US" altLang="zh-CN" sz="2400">
                <a:latin typeface="Arial" panose="02080604020202020204" pitchFamily="34" charset="0"/>
              </a:endParaRPr>
            </a:p>
          </p:txBody>
        </p:sp>
        <p:sp>
          <p:nvSpPr>
            <p:cNvPr id="38934" name="Rectangle 44"/>
            <p:cNvSpPr/>
            <p:nvPr/>
          </p:nvSpPr>
          <p:spPr>
            <a:xfrm>
              <a:off x="1761" y="3503"/>
              <a:ext cx="519" cy="3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zh-CN" sz="2400">
                  <a:latin typeface="Arial" panose="02080604020202020204" pitchFamily="34" charset="0"/>
                </a:rPr>
                <a:t>b[5</a:t>
              </a:r>
              <a:r>
                <a:rPr lang="en-US" altLang="zh-CN" sz="2800">
                  <a:latin typeface="Arial" panose="02080604020202020204" pitchFamily="34" charset="0"/>
                </a:rPr>
                <a:t>]</a:t>
              </a:r>
              <a:endParaRPr lang="en-US" altLang="zh-CN" sz="2400">
                <a:latin typeface="Arial" panose="02080604020202020204" pitchFamily="34" charset="0"/>
              </a:endParaRPr>
            </a:p>
          </p:txBody>
        </p:sp>
        <p:sp>
          <p:nvSpPr>
            <p:cNvPr id="38935" name="Line 45"/>
            <p:cNvSpPr/>
            <p:nvPr/>
          </p:nvSpPr>
          <p:spPr>
            <a:xfrm>
              <a:off x="628" y="2333"/>
              <a:ext cx="480" cy="0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3" name="Group 46"/>
          <p:cNvGrpSpPr/>
          <p:nvPr/>
        </p:nvGrpSpPr>
        <p:grpSpPr>
          <a:xfrm>
            <a:off x="125731" y="3536950"/>
            <a:ext cx="1708149" cy="642938"/>
            <a:chOff x="268" y="2400"/>
            <a:chExt cx="1076" cy="405"/>
          </a:xfrm>
        </p:grpSpPr>
        <p:sp>
          <p:nvSpPr>
            <p:cNvPr id="38927" name="Rectangle 47"/>
            <p:cNvSpPr/>
            <p:nvPr/>
          </p:nvSpPr>
          <p:spPr>
            <a:xfrm>
              <a:off x="268" y="2514"/>
              <a:ext cx="616" cy="29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zh-CN" sz="2400">
                  <a:latin typeface="Arial" panose="02080604020202020204" pitchFamily="34" charset="0"/>
                </a:rPr>
                <a:t>array</a:t>
              </a:r>
              <a:endParaRPr lang="en-US" altLang="zh-CN" sz="2400">
                <a:latin typeface="Arial" panose="02080604020202020204" pitchFamily="34" charset="0"/>
              </a:endParaRPr>
            </a:p>
          </p:txBody>
        </p:sp>
        <p:sp>
          <p:nvSpPr>
            <p:cNvPr id="38928" name="Line 48"/>
            <p:cNvSpPr/>
            <p:nvPr/>
          </p:nvSpPr>
          <p:spPr>
            <a:xfrm flipV="1">
              <a:off x="864" y="2400"/>
              <a:ext cx="480" cy="336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384049" name="Rectangle 49"/>
          <p:cNvSpPr/>
          <p:nvPr/>
        </p:nvSpPr>
        <p:spPr>
          <a:xfrm>
            <a:off x="3824764" y="3189288"/>
            <a:ext cx="1652270" cy="42354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en-US" altLang="zh-CN" sz="2400" err="1">
                <a:latin typeface="Arial" panose="02080604020202020204" pitchFamily="34" charset="0"/>
              </a:rPr>
              <a:t>sum(</a:t>
            </a:r>
            <a:r>
              <a:rPr lang="en-US" altLang="zh-CN" sz="2400" err="1">
                <a:solidFill>
                  <a:srgbClr val="CC0066"/>
                </a:solidFill>
                <a:latin typeface="Arial" panose="02080604020202020204" pitchFamily="34" charset="0"/>
              </a:rPr>
              <a:t>b</a:t>
            </a:r>
            <a:r>
              <a:rPr lang="en-US" altLang="zh-CN" sz="2400">
                <a:latin typeface="Arial" panose="02080604020202020204" pitchFamily="34" charset="0"/>
              </a:rPr>
              <a:t>, 5)</a:t>
            </a:r>
            <a:endParaRPr lang="zh-CN" altLang="en-US" sz="2400" dirty="0">
              <a:latin typeface="Arial" panose="02080604020202020204" pitchFamily="34" charset="0"/>
            </a:endParaRPr>
          </a:p>
        </p:txBody>
      </p:sp>
      <p:sp>
        <p:nvSpPr>
          <p:cNvPr id="384050" name="Rectangle 50"/>
          <p:cNvSpPr/>
          <p:nvPr/>
        </p:nvSpPr>
        <p:spPr>
          <a:xfrm>
            <a:off x="6020277" y="3189288"/>
            <a:ext cx="3115945" cy="42354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en-US" altLang="zh-CN" sz="2400">
                <a:latin typeface="Arial" panose="02080604020202020204" pitchFamily="34" charset="0"/>
              </a:rPr>
              <a:t>b[0]+b[1]+...+b[4]</a:t>
            </a:r>
            <a:endParaRPr lang="en-US" altLang="zh-CN" sz="2400" dirty="0">
              <a:latin typeface="Arial" panose="02080604020202020204" pitchFamily="34" charset="0"/>
            </a:endParaRPr>
          </a:p>
        </p:txBody>
      </p:sp>
      <p:sp>
        <p:nvSpPr>
          <p:cNvPr id="384051" name="Rectangle 51"/>
          <p:cNvSpPr/>
          <p:nvPr/>
        </p:nvSpPr>
        <p:spPr>
          <a:xfrm>
            <a:off x="3824764" y="3875088"/>
            <a:ext cx="1652270" cy="42354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en-US" altLang="zh-CN" sz="2400" err="1">
                <a:latin typeface="Arial" panose="02080604020202020204" pitchFamily="34" charset="0"/>
              </a:rPr>
              <a:t>sum(</a:t>
            </a:r>
            <a:r>
              <a:rPr lang="en-US" altLang="zh-CN" sz="2400" err="1">
                <a:solidFill>
                  <a:srgbClr val="CC0066"/>
                </a:solidFill>
                <a:latin typeface="Arial" panose="02080604020202020204" pitchFamily="34" charset="0"/>
              </a:rPr>
              <a:t>b</a:t>
            </a:r>
            <a:r>
              <a:rPr lang="en-US" altLang="zh-CN" sz="2400">
                <a:latin typeface="Arial" panose="02080604020202020204" pitchFamily="34" charset="0"/>
              </a:rPr>
              <a:t>, 3)</a:t>
            </a:r>
            <a:endParaRPr lang="zh-CN" altLang="en-US" sz="2400" dirty="0">
              <a:latin typeface="Arial" panose="02080604020202020204" pitchFamily="34" charset="0"/>
            </a:endParaRPr>
          </a:p>
        </p:txBody>
      </p:sp>
      <p:sp>
        <p:nvSpPr>
          <p:cNvPr id="384052" name="Rectangle 52"/>
          <p:cNvSpPr/>
          <p:nvPr/>
        </p:nvSpPr>
        <p:spPr>
          <a:xfrm>
            <a:off x="6078538" y="3875088"/>
            <a:ext cx="2569210" cy="42354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en-US" altLang="zh-CN" sz="2400">
                <a:latin typeface="Arial" panose="02080604020202020204" pitchFamily="34" charset="0"/>
              </a:rPr>
              <a:t>b[0]+b[1]+b[2]</a:t>
            </a:r>
            <a:endParaRPr lang="en-US" altLang="zh-CN" sz="2400" dirty="0">
              <a:latin typeface="Arial" panose="02080604020202020204" pitchFamily="34" charset="0"/>
            </a:endParaRPr>
          </a:p>
        </p:txBody>
      </p:sp>
      <p:sp>
        <p:nvSpPr>
          <p:cNvPr id="384053" name="Rectangle 53"/>
          <p:cNvSpPr/>
          <p:nvPr/>
        </p:nvSpPr>
        <p:spPr>
          <a:xfrm>
            <a:off x="3774123" y="4560888"/>
            <a:ext cx="2101215" cy="42354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en-US" altLang="zh-CN" sz="2400">
                <a:latin typeface="Arial" panose="02080604020202020204" pitchFamily="34" charset="0"/>
              </a:rPr>
              <a:t>sum(</a:t>
            </a:r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</a:rPr>
              <a:t>b+1</a:t>
            </a:r>
            <a:r>
              <a:rPr lang="en-US" altLang="zh-CN" sz="2400">
                <a:latin typeface="Arial" panose="02080604020202020204" pitchFamily="34" charset="0"/>
              </a:rPr>
              <a:t>, 3)</a:t>
            </a:r>
            <a:endParaRPr lang="zh-CN" altLang="en-US" sz="2400" dirty="0">
              <a:latin typeface="Arial" panose="02080604020202020204" pitchFamily="34" charset="0"/>
            </a:endParaRPr>
          </a:p>
        </p:txBody>
      </p:sp>
      <p:sp>
        <p:nvSpPr>
          <p:cNvPr id="384054" name="Rectangle 54"/>
          <p:cNvSpPr/>
          <p:nvPr/>
        </p:nvSpPr>
        <p:spPr>
          <a:xfrm>
            <a:off x="6067425" y="4560888"/>
            <a:ext cx="2569210" cy="42354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en-US" altLang="zh-CN" sz="2400">
                <a:latin typeface="Arial" panose="02080604020202020204" pitchFamily="34" charset="0"/>
              </a:rPr>
              <a:t>b[1]+b[2]+b[3]</a:t>
            </a:r>
            <a:endParaRPr lang="en-US" altLang="zh-CN" sz="2400" dirty="0">
              <a:latin typeface="Arial" panose="02080604020202020204" pitchFamily="34" charset="0"/>
            </a:endParaRPr>
          </a:p>
        </p:txBody>
      </p:sp>
      <p:sp>
        <p:nvSpPr>
          <p:cNvPr id="384055" name="Rectangle 55"/>
          <p:cNvSpPr/>
          <p:nvPr/>
        </p:nvSpPr>
        <p:spPr>
          <a:xfrm>
            <a:off x="3787299" y="5151438"/>
            <a:ext cx="2320925" cy="42354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en-US" altLang="zh-CN" sz="2400">
                <a:latin typeface="Arial" panose="02080604020202020204" pitchFamily="34" charset="0"/>
              </a:rPr>
              <a:t>sum(</a:t>
            </a:r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</a:rPr>
              <a:t>&amp;b[2],</a:t>
            </a:r>
            <a:r>
              <a:rPr lang="en-US" altLang="zh-CN" sz="2400">
                <a:latin typeface="Arial" panose="02080604020202020204" pitchFamily="34" charset="0"/>
              </a:rPr>
              <a:t> 3)</a:t>
            </a:r>
            <a:endParaRPr lang="zh-CN" altLang="en-US" sz="2400" dirty="0">
              <a:latin typeface="Arial" panose="02080604020202020204" pitchFamily="34" charset="0"/>
            </a:endParaRPr>
          </a:p>
        </p:txBody>
      </p:sp>
      <p:sp>
        <p:nvSpPr>
          <p:cNvPr id="384056" name="Rectangle 56"/>
          <p:cNvSpPr/>
          <p:nvPr/>
        </p:nvSpPr>
        <p:spPr>
          <a:xfrm>
            <a:off x="6067425" y="5151438"/>
            <a:ext cx="2569210" cy="42354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en-US" altLang="zh-CN" sz="2400">
                <a:latin typeface="Arial" panose="02080604020202020204" pitchFamily="34" charset="0"/>
              </a:rPr>
              <a:t>b[2]+b[3]+b[4]</a:t>
            </a:r>
            <a:endParaRPr lang="en-US" altLang="zh-CN" sz="2400" dirty="0"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4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4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4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4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4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4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4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4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4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4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4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4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4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4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84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4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49" grpId="0"/>
      <p:bldP spid="384050" grpId="0"/>
      <p:bldP spid="384051" grpId="0"/>
      <p:bldP spid="384052" grpId="0"/>
      <p:bldP spid="384053" grpId="0"/>
      <p:bldP spid="384054" grpId="0"/>
      <p:bldP spid="384055" grpId="0"/>
      <p:bldP spid="38405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9" name="Rectangle 7"/>
          <p:cNvSpPr>
            <a:spLocks noGrp="1"/>
          </p:cNvSpPr>
          <p:nvPr>
            <p:ph idx="1"/>
          </p:nvPr>
        </p:nvSpPr>
        <p:spPr>
          <a:xfrm>
            <a:off x="241300" y="1079500"/>
            <a:ext cx="5122863" cy="5200650"/>
          </a:xfr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#include &lt;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stdio.h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&gt;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main(void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)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{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i, a[10],n;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void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reverse(int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p[ ],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n);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printf("Enter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n: ");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scanf("%d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", &amp;n);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printf("Enter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%d integers: ", n);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for(i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= 0; i &lt; n; i++) 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scanf("%d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", &amp;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a[i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]);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reverse(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a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, n)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;         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for(i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= 0; i &lt; n; i++) 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printf("%d\t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",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a[i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]);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	return 0;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}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</p:txBody>
      </p:sp>
      <p:sp>
        <p:nvSpPr>
          <p:cNvPr id="39940" name="Rectangle 8"/>
          <p:cNvSpPr>
            <a:spLocks noGrp="1"/>
          </p:cNvSpPr>
          <p:nvPr>
            <p:ph type="title"/>
          </p:nvPr>
        </p:nvSpPr>
        <p:spPr>
          <a:xfrm>
            <a:off x="609600" y="317500"/>
            <a:ext cx="6915150" cy="7239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例</a:t>
            </a:r>
            <a:r>
              <a:rPr lang="en-US" altLang="zh-CN" b="0">
                <a:sym typeface="+mn-ea"/>
              </a:rPr>
              <a:t>8-13 </a:t>
            </a:r>
            <a:r>
              <a:rPr lang="en-US" altLang="zh-CN" b="0">
                <a:sym typeface="+mn-ea"/>
              </a:rPr>
              <a:t>将数组元素逆序存放</a:t>
            </a:r>
            <a:endParaRPr lang="en-US" altLang="zh-CN" b="0">
              <a:sym typeface="+mn-ea"/>
            </a:endParaRPr>
          </a:p>
        </p:txBody>
      </p:sp>
      <p:sp>
        <p:nvSpPr>
          <p:cNvPr id="385033" name="Rectangle 9"/>
          <p:cNvSpPr/>
          <p:nvPr/>
        </p:nvSpPr>
        <p:spPr>
          <a:xfrm>
            <a:off x="4356100" y="3789363"/>
            <a:ext cx="4321175" cy="224536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void </a:t>
            </a:r>
            <a:r>
              <a:rPr sz="2000">
                <a:latin typeface="+mn-ea"/>
                <a:cs typeface="+mn-ea"/>
                <a:sym typeface="+mn-ea"/>
              </a:rPr>
              <a:t>reverse(int</a:t>
            </a:r>
            <a:r>
              <a:rPr sz="2000">
                <a:latin typeface="+mn-ea"/>
                <a:cs typeface="+mn-ea"/>
                <a:sym typeface="+mn-ea"/>
              </a:rPr>
              <a:t> </a:t>
            </a:r>
            <a:r>
              <a:rPr sz="2000">
                <a:latin typeface="+mn-ea"/>
                <a:cs typeface="+mn-ea"/>
                <a:sym typeface="+mn-ea"/>
              </a:rPr>
              <a:t>p</a:t>
            </a:r>
            <a:r>
              <a:rPr sz="2000">
                <a:latin typeface="+mn-ea"/>
                <a:cs typeface="+mn-ea"/>
                <a:sym typeface="+mn-ea"/>
              </a:rPr>
              <a:t>[ ], </a:t>
            </a: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n)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{   </a:t>
            </a: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i, j, t;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</a:t>
            </a:r>
            <a:r>
              <a:rPr sz="2000">
                <a:latin typeface="+mn-ea"/>
                <a:cs typeface="+mn-ea"/>
                <a:sym typeface="+mn-ea"/>
              </a:rPr>
              <a:t>for(i</a:t>
            </a:r>
            <a:r>
              <a:rPr sz="2000">
                <a:latin typeface="+mn-ea"/>
                <a:cs typeface="+mn-ea"/>
                <a:sym typeface="+mn-ea"/>
              </a:rPr>
              <a:t>=0, j=n-1; i&lt;j; i++, j--){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   t = </a:t>
            </a:r>
            <a:r>
              <a:rPr sz="2000">
                <a:latin typeface="+mn-ea"/>
                <a:cs typeface="+mn-ea"/>
                <a:sym typeface="+mn-ea"/>
              </a:rPr>
              <a:t>p[i</a:t>
            </a:r>
            <a:r>
              <a:rPr sz="2000">
                <a:latin typeface="+mn-ea"/>
                <a:cs typeface="+mn-ea"/>
                <a:sym typeface="+mn-ea"/>
              </a:rPr>
              <a:t>]; </a:t>
            </a:r>
            <a:r>
              <a:rPr sz="2000">
                <a:latin typeface="+mn-ea"/>
                <a:cs typeface="+mn-ea"/>
                <a:sym typeface="+mn-ea"/>
              </a:rPr>
              <a:t>p[i</a:t>
            </a:r>
            <a:r>
              <a:rPr sz="2000">
                <a:latin typeface="+mn-ea"/>
                <a:cs typeface="+mn-ea"/>
                <a:sym typeface="+mn-ea"/>
              </a:rPr>
              <a:t>] = </a:t>
            </a:r>
            <a:r>
              <a:rPr sz="2000">
                <a:latin typeface="+mn-ea"/>
                <a:cs typeface="+mn-ea"/>
                <a:sym typeface="+mn-ea"/>
              </a:rPr>
              <a:t>p[j</a:t>
            </a:r>
            <a:r>
              <a:rPr sz="2000">
                <a:latin typeface="+mn-ea"/>
                <a:cs typeface="+mn-ea"/>
                <a:sym typeface="+mn-ea"/>
              </a:rPr>
              <a:t>]; </a:t>
            </a:r>
            <a:r>
              <a:rPr sz="2000">
                <a:latin typeface="+mn-ea"/>
                <a:cs typeface="+mn-ea"/>
                <a:sym typeface="+mn-ea"/>
              </a:rPr>
              <a:t>p[j</a:t>
            </a:r>
            <a:r>
              <a:rPr sz="2000">
                <a:latin typeface="+mn-ea"/>
                <a:cs typeface="+mn-ea"/>
                <a:sym typeface="+mn-ea"/>
              </a:rPr>
              <a:t>] = t;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}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} </a:t>
            </a:r>
            <a:endParaRPr sz="2000">
              <a:latin typeface="+mn-ea"/>
              <a:cs typeface="+mn-ea"/>
              <a:sym typeface="+mn-ea"/>
            </a:endParaRPr>
          </a:p>
        </p:txBody>
      </p:sp>
      <p:sp>
        <p:nvSpPr>
          <p:cNvPr id="385034" name="Rectangle 10"/>
          <p:cNvSpPr/>
          <p:nvPr/>
        </p:nvSpPr>
        <p:spPr>
          <a:xfrm>
            <a:off x="3563938" y="1052513"/>
            <a:ext cx="5256212" cy="103251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Enter n:</a:t>
            </a:r>
            <a:r>
              <a:rPr sz="1800">
                <a:latin typeface="+mn-ea"/>
                <a:cs typeface="+mn-ea"/>
                <a:sym typeface="+mn-ea"/>
              </a:rPr>
              <a:t>10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Enter 10 integers: </a:t>
            </a:r>
            <a:r>
              <a:rPr sz="1800">
                <a:latin typeface="+mn-ea"/>
                <a:cs typeface="+mn-ea"/>
                <a:sym typeface="+mn-ea"/>
              </a:rPr>
              <a:t>10  9  8  7  6  5  4  3  2  1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1  2  3  4  5  6  7  8  9  10</a:t>
            </a:r>
            <a:endParaRPr sz="1800"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5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5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5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85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33" grpId="0" bldLvl="0" animBg="1"/>
      <p:bldP spid="385034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3" name="Rectangle 5"/>
          <p:cNvSpPr>
            <a:spLocks noGrp="1"/>
          </p:cNvSpPr>
          <p:nvPr>
            <p:ph type="title"/>
          </p:nvPr>
        </p:nvSpPr>
        <p:spPr>
          <a:xfrm>
            <a:off x="611188" y="333375"/>
            <a:ext cx="2882900" cy="7239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指针实现</a:t>
            </a:r>
            <a:endParaRPr lang="en-US" altLang="zh-CN" b="0">
              <a:sym typeface="+mn-ea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4931728" y="549275"/>
            <a:ext cx="3810000" cy="2895600"/>
            <a:chOff x="3024" y="480"/>
            <a:chExt cx="2400" cy="1824"/>
          </a:xfrm>
        </p:grpSpPr>
        <p:grpSp>
          <p:nvGrpSpPr>
            <p:cNvPr id="40969" name="Group 8"/>
            <p:cNvGrpSpPr/>
            <p:nvPr/>
          </p:nvGrpSpPr>
          <p:grpSpPr>
            <a:xfrm>
              <a:off x="3936" y="816"/>
              <a:ext cx="710" cy="1488"/>
              <a:chOff x="912" y="1008"/>
              <a:chExt cx="864" cy="1488"/>
            </a:xfrm>
          </p:grpSpPr>
          <p:sp>
            <p:nvSpPr>
              <p:cNvPr id="40974" name="Rectangle 9"/>
              <p:cNvSpPr/>
              <p:nvPr/>
            </p:nvSpPr>
            <p:spPr>
              <a:xfrm>
                <a:off x="912" y="1008"/>
                <a:ext cx="864" cy="148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2075" tIns="46038" rIns="92075" bIns="46038" anchor="ctr" anchorCtr="0"/>
              <a:p>
                <a:endParaRPr lang="zh-CN" altLang="en-US" dirty="0">
                  <a:latin typeface="Arial" panose="02080604020202020204" pitchFamily="34" charset="0"/>
                </a:endParaRPr>
              </a:p>
            </p:txBody>
          </p:sp>
          <p:sp>
            <p:nvSpPr>
              <p:cNvPr id="40975" name="Line 10"/>
              <p:cNvSpPr/>
              <p:nvPr/>
            </p:nvSpPr>
            <p:spPr>
              <a:xfrm>
                <a:off x="912" y="1248"/>
                <a:ext cx="86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0976" name="Line 11"/>
              <p:cNvSpPr/>
              <p:nvPr/>
            </p:nvSpPr>
            <p:spPr>
              <a:xfrm>
                <a:off x="912" y="1488"/>
                <a:ext cx="86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0977" name="Line 12"/>
              <p:cNvSpPr/>
              <p:nvPr/>
            </p:nvSpPr>
            <p:spPr>
              <a:xfrm>
                <a:off x="912" y="1728"/>
                <a:ext cx="86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0978" name="Line 13"/>
              <p:cNvSpPr/>
              <p:nvPr/>
            </p:nvSpPr>
            <p:spPr>
              <a:xfrm>
                <a:off x="912" y="2016"/>
                <a:ext cx="86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0979" name="Line 14"/>
              <p:cNvSpPr/>
              <p:nvPr/>
            </p:nvSpPr>
            <p:spPr>
              <a:xfrm>
                <a:off x="912" y="2256"/>
                <a:ext cx="86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0970" name="Rectangle 15"/>
            <p:cNvSpPr/>
            <p:nvPr/>
          </p:nvSpPr>
          <p:spPr>
            <a:xfrm>
              <a:off x="3216" y="816"/>
              <a:ext cx="2208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r>
                <a:rPr lang="en-US" altLang="zh-CN" sz="2400">
                  <a:latin typeface="Arial" panose="02080604020202020204" pitchFamily="34" charset="0"/>
                </a:rPr>
                <a:t>a[0]                           p </a:t>
              </a:r>
              <a:endParaRPr lang="en-US" altLang="zh-CN" sz="2400">
                <a:latin typeface="Arial" panose="02080604020202020204" pitchFamily="34" charset="0"/>
              </a:endParaRPr>
            </a:p>
          </p:txBody>
        </p:sp>
        <p:sp>
          <p:nvSpPr>
            <p:cNvPr id="40971" name="Rectangle 16"/>
            <p:cNvSpPr/>
            <p:nvPr/>
          </p:nvSpPr>
          <p:spPr>
            <a:xfrm>
              <a:off x="3024" y="480"/>
              <a:ext cx="235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r>
                <a:rPr lang="zh-CN" altLang="en-US" sz="2400" dirty="0">
                  <a:latin typeface="Times New Roman" pitchFamily="18" charset="0"/>
                </a:rPr>
                <a:t>数组元素      内容         指针</a:t>
              </a:r>
              <a:endParaRPr lang="zh-CN" altLang="en-US" sz="2400" dirty="0">
                <a:latin typeface="Times New Roman" pitchFamily="18" charset="0"/>
              </a:endParaRPr>
            </a:p>
          </p:txBody>
        </p:sp>
        <p:sp>
          <p:nvSpPr>
            <p:cNvPr id="40972" name="Rectangle 17"/>
            <p:cNvSpPr/>
            <p:nvPr/>
          </p:nvSpPr>
          <p:spPr>
            <a:xfrm>
              <a:off x="3216" y="1104"/>
              <a:ext cx="2208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r>
                <a:rPr lang="en-US" altLang="zh-CN" sz="2400">
                  <a:latin typeface="Arial" panose="02080604020202020204" pitchFamily="34" charset="0"/>
                </a:rPr>
                <a:t>a[1] </a:t>
              </a:r>
              <a:endParaRPr lang="en-US" altLang="zh-CN" sz="2400">
                <a:latin typeface="Arial" panose="02080604020202020204" pitchFamily="34" charset="0"/>
              </a:endParaRPr>
            </a:p>
          </p:txBody>
        </p:sp>
        <p:sp>
          <p:nvSpPr>
            <p:cNvPr id="40973" name="Rectangle 18"/>
            <p:cNvSpPr/>
            <p:nvPr/>
          </p:nvSpPr>
          <p:spPr>
            <a:xfrm>
              <a:off x="3216" y="2064"/>
              <a:ext cx="2208" cy="24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r>
                <a:rPr lang="en-US" altLang="zh-CN" sz="2400">
                  <a:latin typeface="Arial" panose="02080604020202020204" pitchFamily="34" charset="0"/>
                </a:rPr>
                <a:t>a[9]                          </a:t>
              </a:r>
              <a:r>
                <a:rPr lang="en-US" altLang="zh-CN" sz="2400" err="1">
                  <a:latin typeface="Arial" panose="02080604020202020204" pitchFamily="34" charset="0"/>
                </a:rPr>
                <a:t>pj</a:t>
              </a:r>
              <a:r>
                <a:rPr lang="en-US" altLang="zh-CN" sz="2400">
                  <a:latin typeface="Arial" panose="02080604020202020204" pitchFamily="34" charset="0"/>
                </a:rPr>
                <a:t> </a:t>
              </a:r>
              <a:endParaRPr lang="en-US" altLang="zh-CN" sz="2400">
                <a:latin typeface="Arial" panose="02080604020202020204" pitchFamily="34" charset="0"/>
              </a:endParaRPr>
            </a:p>
          </p:txBody>
        </p:sp>
      </p:grpSp>
      <p:sp>
        <p:nvSpPr>
          <p:cNvPr id="388115" name="Line 19"/>
          <p:cNvSpPr/>
          <p:nvPr/>
        </p:nvSpPr>
        <p:spPr>
          <a:xfrm>
            <a:off x="8673783" y="1557338"/>
            <a:ext cx="0" cy="533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88116" name="Line 20"/>
          <p:cNvSpPr/>
          <p:nvPr/>
        </p:nvSpPr>
        <p:spPr>
          <a:xfrm>
            <a:off x="8673783" y="2463800"/>
            <a:ext cx="0" cy="533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40968" name="Rectangle 22"/>
          <p:cNvSpPr>
            <a:spLocks noGrp="1"/>
          </p:cNvSpPr>
          <p:nvPr>
            <p:ph idx="1"/>
          </p:nvPr>
        </p:nvSpPr>
        <p:spPr>
          <a:xfrm>
            <a:off x="250825" y="1125538"/>
            <a:ext cx="4968875" cy="5569585"/>
          </a:xfr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#include &lt;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stdio.h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&gt;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main(void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)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{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i, a[10],n;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void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reverse(int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p[ ],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n);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printf("Enter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n: ");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scanf("%d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", &amp;n);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printf("Enter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%d integers: ", n);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for(i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= 0; i &lt; n; i++) 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scanf("%d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", &amp;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a[i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]);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reverse(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a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, n)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;         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for(i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= 0; i &lt; n; i++) 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printf("%d\t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",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a[i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]);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	return 0;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} 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</p:txBody>
      </p:sp>
      <p:sp>
        <p:nvSpPr>
          <p:cNvPr id="388102" name="Rectangle 6"/>
          <p:cNvSpPr/>
          <p:nvPr/>
        </p:nvSpPr>
        <p:spPr>
          <a:xfrm>
            <a:off x="4140200" y="4006215"/>
            <a:ext cx="4841875" cy="2245360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void </a:t>
            </a:r>
            <a:r>
              <a:rPr sz="2000">
                <a:latin typeface="+mn-ea"/>
                <a:cs typeface="+mn-ea"/>
                <a:sym typeface="+mn-ea"/>
              </a:rPr>
              <a:t>reverse(int</a:t>
            </a:r>
            <a:r>
              <a:rPr sz="2000">
                <a:latin typeface="+mn-ea"/>
                <a:cs typeface="+mn-ea"/>
                <a:sym typeface="+mn-ea"/>
              </a:rPr>
              <a:t> *</a:t>
            </a:r>
            <a:r>
              <a:rPr sz="2000">
                <a:latin typeface="+mn-ea"/>
                <a:cs typeface="+mn-ea"/>
                <a:sym typeface="+mn-ea"/>
              </a:rPr>
              <a:t>p</a:t>
            </a:r>
            <a:r>
              <a:rPr sz="2000">
                <a:latin typeface="+mn-ea"/>
                <a:cs typeface="+mn-ea"/>
                <a:sym typeface="+mn-ea"/>
              </a:rPr>
              <a:t>, </a:t>
            </a: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n)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{    </a:t>
            </a: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*</a:t>
            </a:r>
            <a:r>
              <a:rPr sz="2000">
                <a:latin typeface="+mn-ea"/>
                <a:cs typeface="+mn-ea"/>
                <a:sym typeface="+mn-ea"/>
              </a:rPr>
              <a:t>pj</a:t>
            </a:r>
            <a:r>
              <a:rPr sz="2000">
                <a:latin typeface="+mn-ea"/>
                <a:cs typeface="+mn-ea"/>
                <a:sym typeface="+mn-ea"/>
              </a:rPr>
              <a:t>, t;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</a:t>
            </a:r>
            <a:r>
              <a:rPr sz="2000">
                <a:latin typeface="+mn-ea"/>
                <a:cs typeface="+mn-ea"/>
                <a:sym typeface="+mn-ea"/>
              </a:rPr>
              <a:t>for(pj</a:t>
            </a:r>
            <a:r>
              <a:rPr sz="2000">
                <a:latin typeface="+mn-ea"/>
                <a:cs typeface="+mn-ea"/>
                <a:sym typeface="+mn-ea"/>
              </a:rPr>
              <a:t>=p+n-1; p&lt;</a:t>
            </a:r>
            <a:r>
              <a:rPr sz="2000">
                <a:latin typeface="+mn-ea"/>
                <a:cs typeface="+mn-ea"/>
                <a:sym typeface="+mn-ea"/>
              </a:rPr>
              <a:t>pj</a:t>
            </a:r>
            <a:r>
              <a:rPr sz="2000">
                <a:latin typeface="+mn-ea"/>
                <a:cs typeface="+mn-ea"/>
                <a:sym typeface="+mn-ea"/>
              </a:rPr>
              <a:t>; p++, </a:t>
            </a:r>
            <a:r>
              <a:rPr sz="2000">
                <a:latin typeface="+mn-ea"/>
                <a:cs typeface="+mn-ea"/>
                <a:sym typeface="+mn-ea"/>
              </a:rPr>
              <a:t>pj</a:t>
            </a:r>
            <a:r>
              <a:rPr sz="2000">
                <a:latin typeface="+mn-ea"/>
                <a:cs typeface="+mn-ea"/>
                <a:sym typeface="+mn-ea"/>
              </a:rPr>
              <a:t>--){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    t=*p; *p=*</a:t>
            </a:r>
            <a:r>
              <a:rPr sz="2000">
                <a:latin typeface="+mn-ea"/>
                <a:cs typeface="+mn-ea"/>
                <a:sym typeface="+mn-ea"/>
              </a:rPr>
              <a:t>pj</a:t>
            </a:r>
            <a:r>
              <a:rPr sz="2000">
                <a:latin typeface="+mn-ea"/>
                <a:cs typeface="+mn-ea"/>
                <a:sym typeface="+mn-ea"/>
              </a:rPr>
              <a:t>; *</a:t>
            </a:r>
            <a:r>
              <a:rPr sz="2000">
                <a:latin typeface="+mn-ea"/>
                <a:cs typeface="+mn-ea"/>
                <a:sym typeface="+mn-ea"/>
              </a:rPr>
              <a:t>pj</a:t>
            </a:r>
            <a:r>
              <a:rPr sz="2000">
                <a:latin typeface="+mn-ea"/>
                <a:cs typeface="+mn-ea"/>
                <a:sym typeface="+mn-ea"/>
              </a:rPr>
              <a:t>=t;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}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}</a:t>
            </a:r>
            <a:endParaRPr sz="2000"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8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8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8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8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88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102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7" name="Rectangle 4"/>
          <p:cNvSpPr>
            <a:spLocks noGrp="1"/>
          </p:cNvSpPr>
          <p:nvPr>
            <p:ph idx="1"/>
          </p:nvPr>
        </p:nvSpPr>
        <p:spPr>
          <a:xfrm>
            <a:off x="228600" y="533400"/>
            <a:ext cx="8915400" cy="3348038"/>
          </a:xfrm>
        </p:spPr>
        <p:txBody>
          <a:bodyPr vert="horz" wrap="square" lIns="90488" tIns="44450" rIns="90488" bIns="44450" anchor="t" anchorCtr="0"/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800" b="0" dirty="0"/>
              <a:t>数组名做为函数的参数，在函数调用时，将实参数组首元素的地址传给形参（指针变量），因此，形参也指向实参数组的首元素。如果改变形参所指向单元的值，就是改变实参数组首元素的值。</a:t>
            </a:r>
            <a:endParaRPr lang="zh-CN" altLang="en-US" sz="2800" b="0" dirty="0"/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800" b="0" dirty="0"/>
              <a:t>或：形参数组和实参数组共用同一段存贮空间，如果形参数组中元素的值发生变化，实参数组中元素的值也同时发生变化。</a:t>
            </a:r>
            <a:endParaRPr lang="zh-CN" altLang="en-US" sz="2800" b="0" dirty="0"/>
          </a:p>
        </p:txBody>
      </p:sp>
      <p:grpSp>
        <p:nvGrpSpPr>
          <p:cNvPr id="41988" name="Group 16"/>
          <p:cNvGrpSpPr/>
          <p:nvPr/>
        </p:nvGrpSpPr>
        <p:grpSpPr>
          <a:xfrm>
            <a:off x="4254500" y="3836988"/>
            <a:ext cx="3124201" cy="2716212"/>
            <a:chOff x="2680" y="2417"/>
            <a:chExt cx="1968" cy="1711"/>
          </a:xfrm>
        </p:grpSpPr>
        <p:sp>
          <p:nvSpPr>
            <p:cNvPr id="41989" name="Text Box 6"/>
            <p:cNvSpPr txBox="1"/>
            <p:nvPr/>
          </p:nvSpPr>
          <p:spPr>
            <a:xfrm>
              <a:off x="2695" y="2417"/>
              <a:ext cx="331" cy="36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>
                  <a:latin typeface="Arial" panose="02080604020202020204" pitchFamily="34" charset="0"/>
                </a:rPr>
                <a:t>a</a:t>
              </a:r>
              <a:r>
                <a:rPr lang="en-US" altLang="zh-CN" sz="3200">
                  <a:latin typeface="Arial" panose="02080604020202020204" pitchFamily="34" charset="0"/>
                </a:rPr>
                <a:t> </a:t>
              </a:r>
              <a:endParaRPr lang="en-US" altLang="zh-CN" sz="3200">
                <a:latin typeface="Arial" panose="02080604020202020204" pitchFamily="34" charset="0"/>
              </a:endParaRPr>
            </a:p>
          </p:txBody>
        </p:sp>
        <p:sp>
          <p:nvSpPr>
            <p:cNvPr id="41990" name="Rectangle 7"/>
            <p:cNvSpPr/>
            <p:nvPr/>
          </p:nvSpPr>
          <p:spPr>
            <a:xfrm>
              <a:off x="3454" y="2592"/>
              <a:ext cx="672" cy="15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endParaRPr lang="zh-CN" altLang="en-US" dirty="0">
                <a:latin typeface="Arial" panose="02080604020202020204" pitchFamily="34" charset="0"/>
              </a:endParaRPr>
            </a:p>
          </p:txBody>
        </p:sp>
        <p:sp>
          <p:nvSpPr>
            <p:cNvPr id="41991" name="Line 8"/>
            <p:cNvSpPr/>
            <p:nvPr/>
          </p:nvSpPr>
          <p:spPr>
            <a:xfrm>
              <a:off x="3454" y="2928"/>
              <a:ext cx="67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2" name="Line 9"/>
            <p:cNvSpPr/>
            <p:nvPr/>
          </p:nvSpPr>
          <p:spPr>
            <a:xfrm>
              <a:off x="3454" y="3840"/>
              <a:ext cx="67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3" name="Rectangle 10"/>
            <p:cNvSpPr/>
            <p:nvPr/>
          </p:nvSpPr>
          <p:spPr>
            <a:xfrm>
              <a:off x="4081" y="2591"/>
              <a:ext cx="567" cy="3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zh-CN" sz="2800">
                  <a:latin typeface="Arial" panose="02080604020202020204" pitchFamily="34" charset="0"/>
                </a:rPr>
                <a:t>a[0]</a:t>
              </a:r>
              <a:endParaRPr lang="en-US" altLang="zh-CN" sz="2800">
                <a:latin typeface="Arial" panose="02080604020202020204" pitchFamily="34" charset="0"/>
              </a:endParaRPr>
            </a:p>
          </p:txBody>
        </p:sp>
        <p:sp>
          <p:nvSpPr>
            <p:cNvPr id="41994" name="Rectangle 11"/>
            <p:cNvSpPr/>
            <p:nvPr/>
          </p:nvSpPr>
          <p:spPr>
            <a:xfrm>
              <a:off x="4081" y="3791"/>
              <a:ext cx="567" cy="3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zh-CN" sz="2800">
                  <a:latin typeface="Arial" panose="02080604020202020204" pitchFamily="34" charset="0"/>
                </a:rPr>
                <a:t>a[5]</a:t>
              </a:r>
              <a:endParaRPr lang="en-US" altLang="zh-CN" sz="2800">
                <a:latin typeface="Arial" panose="02080604020202020204" pitchFamily="34" charset="0"/>
              </a:endParaRPr>
            </a:p>
          </p:txBody>
        </p:sp>
        <p:sp>
          <p:nvSpPr>
            <p:cNvPr id="41995" name="Line 12"/>
            <p:cNvSpPr/>
            <p:nvPr/>
          </p:nvSpPr>
          <p:spPr>
            <a:xfrm>
              <a:off x="2972" y="2621"/>
              <a:ext cx="480" cy="0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996" name="Rectangle 14"/>
            <p:cNvSpPr/>
            <p:nvPr/>
          </p:nvSpPr>
          <p:spPr>
            <a:xfrm>
              <a:off x="2680" y="2783"/>
              <a:ext cx="255" cy="3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/>
              <a:r>
                <a:rPr lang="en-US" altLang="zh-CN" sz="2800">
                  <a:latin typeface="Arial" panose="02080604020202020204" pitchFamily="34" charset="0"/>
                </a:rPr>
                <a:t>p</a:t>
              </a:r>
              <a:endParaRPr lang="en-US" altLang="zh-CN" sz="2800">
                <a:latin typeface="Arial" panose="02080604020202020204" pitchFamily="34" charset="0"/>
              </a:endParaRPr>
            </a:p>
          </p:txBody>
        </p:sp>
        <p:sp>
          <p:nvSpPr>
            <p:cNvPr id="41997" name="Line 15"/>
            <p:cNvSpPr/>
            <p:nvPr/>
          </p:nvSpPr>
          <p:spPr>
            <a:xfrm flipV="1">
              <a:off x="3006" y="2688"/>
              <a:ext cx="480" cy="336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1" name="Rectangle 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11213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8.3.4  冒泡排序算法分析</a:t>
            </a:r>
            <a:endParaRPr lang="en-US" altLang="zh-CN" b="0">
              <a:sym typeface="+mn-ea"/>
            </a:endParaRPr>
          </a:p>
        </p:txBody>
      </p:sp>
      <p:sp>
        <p:nvSpPr>
          <p:cNvPr id="43012" name="Rectangle 12"/>
          <p:cNvSpPr>
            <a:spLocks noGrp="1"/>
          </p:cNvSpPr>
          <p:nvPr>
            <p:ph type="body" sz="half" idx="1"/>
          </p:nvPr>
        </p:nvSpPr>
        <p:spPr>
          <a:xfrm>
            <a:off x="539750" y="1277938"/>
            <a:ext cx="7210425" cy="566737"/>
          </a:xfrm>
        </p:spPr>
        <p:txBody>
          <a:bodyPr vert="horz" wrap="square" lIns="92075" tIns="46038" rIns="92075" bIns="46038" anchor="t" anchorCtr="0"/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0" dirty="0"/>
              <a:t>相邻两个数比较</a:t>
            </a:r>
            <a:r>
              <a:rPr lang="en-US" altLang="zh-CN" sz="2800" b="0"/>
              <a:t>,</a:t>
            </a:r>
            <a:r>
              <a:rPr lang="zh-CN" altLang="en-US" sz="2800" b="0" dirty="0"/>
              <a:t>小的调到前面</a:t>
            </a:r>
            <a:r>
              <a:rPr lang="en-US" altLang="zh-CN" sz="2800" b="0"/>
              <a:t>,</a:t>
            </a:r>
            <a:r>
              <a:rPr lang="zh-CN" altLang="en-US" sz="2800" b="0" dirty="0"/>
              <a:t>大的调到后面</a:t>
            </a:r>
            <a:endParaRPr lang="zh-CN" altLang="en-US" sz="2800" b="0" dirty="0"/>
          </a:p>
        </p:txBody>
      </p:sp>
      <p:sp>
        <p:nvSpPr>
          <p:cNvPr id="43013" name="Text Box 161"/>
          <p:cNvSpPr txBox="1"/>
          <p:nvPr/>
        </p:nvSpPr>
        <p:spPr>
          <a:xfrm>
            <a:off x="1042988" y="1989138"/>
            <a:ext cx="6781800" cy="3750945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>
            <a:spAutoFit/>
          </a:bodyPr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</a:pPr>
            <a:r>
              <a:rPr lang="zh-CN" altLang="en-US" sz="2800" dirty="0">
                <a:latin typeface="Arial" panose="02080604020202020204" pitchFamily="34" charset="0"/>
              </a:rPr>
              <a:t>9  8  8  8  8   8        5        4      4     0          </a:t>
            </a:r>
            <a:endParaRPr lang="zh-CN" altLang="en-US" sz="2800" dirty="0">
              <a:latin typeface="Arial" panose="02080604020202020204" pitchFamily="34" charset="0"/>
            </a:endParaRPr>
          </a:p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</a:pPr>
            <a:r>
              <a:rPr lang="zh-CN" altLang="en-US" sz="2800" dirty="0">
                <a:latin typeface="Arial" panose="02080604020202020204" pitchFamily="34" charset="0"/>
              </a:rPr>
              <a:t>8  9  5  5  5   5        4        5      0     4</a:t>
            </a:r>
            <a:endParaRPr lang="zh-CN" altLang="en-US" sz="2800" dirty="0">
              <a:latin typeface="Arial" panose="02080604020202020204" pitchFamily="34" charset="0"/>
            </a:endParaRPr>
          </a:p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</a:pPr>
            <a:r>
              <a:rPr lang="zh-CN" altLang="en-US" sz="2800" dirty="0">
                <a:latin typeface="Arial" panose="02080604020202020204" pitchFamily="34" charset="0"/>
              </a:rPr>
              <a:t>5  5  9  4  4   4        6        0      5</a:t>
            </a:r>
            <a:endParaRPr lang="zh-CN" altLang="en-US" sz="2800" dirty="0">
              <a:latin typeface="Arial" panose="02080604020202020204" pitchFamily="34" charset="0"/>
            </a:endParaRPr>
          </a:p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</a:pPr>
            <a:r>
              <a:rPr lang="zh-CN" altLang="en-US" sz="2800" dirty="0">
                <a:latin typeface="Arial" panose="02080604020202020204" pitchFamily="34" charset="0"/>
              </a:rPr>
              <a:t>4  4  4  9  6   6        0        6</a:t>
            </a:r>
            <a:endParaRPr lang="zh-CN" altLang="en-US" sz="2800" dirty="0">
              <a:latin typeface="Arial" panose="02080604020202020204" pitchFamily="34" charset="0"/>
            </a:endParaRPr>
          </a:p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</a:pPr>
            <a:r>
              <a:rPr lang="zh-CN" altLang="en-US" sz="2800" dirty="0">
                <a:latin typeface="Arial" panose="02080604020202020204" pitchFamily="34" charset="0"/>
              </a:rPr>
              <a:t>6  6  6  6  9   0        8</a:t>
            </a:r>
            <a:endParaRPr lang="zh-CN" altLang="en-US" sz="2800" dirty="0">
              <a:latin typeface="Arial" panose="02080604020202020204" pitchFamily="34" charset="0"/>
            </a:endParaRPr>
          </a:p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</a:pPr>
            <a:r>
              <a:rPr lang="zh-CN" altLang="en-US" sz="2800" dirty="0">
                <a:latin typeface="Arial" panose="02080604020202020204" pitchFamily="34" charset="0"/>
              </a:rPr>
              <a:t>0  0  0  0  0   9   </a:t>
            </a:r>
            <a:endParaRPr lang="zh-CN" altLang="en-US" sz="2800" dirty="0">
              <a:latin typeface="Arial" panose="02080604020202020204" pitchFamily="34" charset="0"/>
            </a:endParaRPr>
          </a:p>
        </p:txBody>
      </p:sp>
      <p:grpSp>
        <p:nvGrpSpPr>
          <p:cNvPr id="43014" name="Group 162"/>
          <p:cNvGrpSpPr/>
          <p:nvPr/>
        </p:nvGrpSpPr>
        <p:grpSpPr>
          <a:xfrm>
            <a:off x="1073150" y="2065338"/>
            <a:ext cx="2179638" cy="3686175"/>
            <a:chOff x="691" y="1268"/>
            <a:chExt cx="1373" cy="2322"/>
          </a:xfrm>
        </p:grpSpPr>
        <p:sp>
          <p:nvSpPr>
            <p:cNvPr id="43015" name="Rectangle 163"/>
            <p:cNvSpPr/>
            <p:nvPr/>
          </p:nvSpPr>
          <p:spPr>
            <a:xfrm>
              <a:off x="691" y="1268"/>
              <a:ext cx="221" cy="720"/>
            </a:xfrm>
            <a:prstGeom prst="rect">
              <a:avLst/>
            </a:prstGeom>
            <a:noFill/>
            <a:ln w="12700" cap="rnd" cmpd="sng">
              <a:solidFill>
                <a:schemeClr val="bg2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lIns="90488" tIns="44450" rIns="90488" bIns="44450" anchor="ctr" anchorCtr="0"/>
            <a:p>
              <a:endParaRPr lang="zh-CN" altLang="en-US" dirty="0">
                <a:latin typeface="Arial" panose="02080604020202020204" pitchFamily="34" charset="0"/>
              </a:endParaRPr>
            </a:p>
          </p:txBody>
        </p:sp>
        <p:sp>
          <p:nvSpPr>
            <p:cNvPr id="43016" name="Rectangle 164"/>
            <p:cNvSpPr/>
            <p:nvPr/>
          </p:nvSpPr>
          <p:spPr>
            <a:xfrm>
              <a:off x="960" y="1610"/>
              <a:ext cx="240" cy="816"/>
            </a:xfrm>
            <a:prstGeom prst="rect">
              <a:avLst/>
            </a:prstGeom>
            <a:noFill/>
            <a:ln w="12700" cap="rnd" cmpd="sng">
              <a:solidFill>
                <a:schemeClr val="bg2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lIns="90488" tIns="44450" rIns="90488" bIns="44450" anchor="ctr" anchorCtr="0"/>
            <a:p>
              <a:endParaRPr lang="zh-CN" altLang="en-US" dirty="0">
                <a:latin typeface="Arial" panose="02080604020202020204" pitchFamily="34" charset="0"/>
              </a:endParaRPr>
            </a:p>
          </p:txBody>
        </p:sp>
        <p:sp>
          <p:nvSpPr>
            <p:cNvPr id="43017" name="Rectangle 165"/>
            <p:cNvSpPr/>
            <p:nvPr/>
          </p:nvSpPr>
          <p:spPr>
            <a:xfrm>
              <a:off x="1248" y="1997"/>
              <a:ext cx="240" cy="816"/>
            </a:xfrm>
            <a:prstGeom prst="rect">
              <a:avLst/>
            </a:prstGeom>
            <a:noFill/>
            <a:ln w="12700" cap="rnd" cmpd="sng">
              <a:solidFill>
                <a:schemeClr val="bg2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lIns="90488" tIns="44450" rIns="90488" bIns="44450" anchor="ctr" anchorCtr="0"/>
            <a:p>
              <a:endParaRPr lang="zh-CN" altLang="en-US" dirty="0">
                <a:latin typeface="Arial" panose="02080604020202020204" pitchFamily="34" charset="0"/>
              </a:endParaRPr>
            </a:p>
          </p:txBody>
        </p:sp>
        <p:sp>
          <p:nvSpPr>
            <p:cNvPr id="43018" name="Rectangle 166"/>
            <p:cNvSpPr/>
            <p:nvPr/>
          </p:nvSpPr>
          <p:spPr>
            <a:xfrm>
              <a:off x="1536" y="2432"/>
              <a:ext cx="240" cy="816"/>
            </a:xfrm>
            <a:prstGeom prst="rect">
              <a:avLst/>
            </a:prstGeom>
            <a:noFill/>
            <a:ln w="12700" cap="rnd" cmpd="sng">
              <a:solidFill>
                <a:schemeClr val="bg2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lIns="90488" tIns="44450" rIns="90488" bIns="44450" anchor="ctr" anchorCtr="0"/>
            <a:p>
              <a:endParaRPr lang="zh-CN" altLang="en-US" dirty="0">
                <a:latin typeface="Arial" panose="02080604020202020204" pitchFamily="34" charset="0"/>
              </a:endParaRPr>
            </a:p>
          </p:txBody>
        </p:sp>
        <p:sp>
          <p:nvSpPr>
            <p:cNvPr id="43019" name="Rectangle 167"/>
            <p:cNvSpPr/>
            <p:nvPr/>
          </p:nvSpPr>
          <p:spPr>
            <a:xfrm>
              <a:off x="1824" y="2774"/>
              <a:ext cx="240" cy="816"/>
            </a:xfrm>
            <a:prstGeom prst="rect">
              <a:avLst/>
            </a:prstGeom>
            <a:noFill/>
            <a:ln w="12700" cap="rnd" cmpd="sng">
              <a:solidFill>
                <a:schemeClr val="bg2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lIns="90488" tIns="44450" rIns="90488" bIns="44450" anchor="ctr" anchorCtr="0"/>
            <a:p>
              <a:endParaRPr lang="zh-CN" altLang="en-US" dirty="0">
                <a:latin typeface="Arial" panose="02080604020202020204" pitchFamily="34" charset="0"/>
              </a:endParaRPr>
            </a:p>
          </p:txBody>
        </p:sp>
      </p:grp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4"/>
          <p:cNvGrpSpPr/>
          <p:nvPr/>
        </p:nvGrpSpPr>
        <p:grpSpPr>
          <a:xfrm>
            <a:off x="596900" y="1914525"/>
            <a:ext cx="6629400" cy="3581400"/>
            <a:chOff x="336" y="1056"/>
            <a:chExt cx="4176" cy="2256"/>
          </a:xfrm>
        </p:grpSpPr>
        <p:sp>
          <p:nvSpPr>
            <p:cNvPr id="44048" name="Text Box 5"/>
            <p:cNvSpPr txBox="1"/>
            <p:nvPr/>
          </p:nvSpPr>
          <p:spPr>
            <a:xfrm>
              <a:off x="336" y="3024"/>
              <a:ext cx="576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488" tIns="44450" rIns="90488" bIns="44450">
              <a:spAutoFit/>
            </a:bodyPr>
            <a:p>
              <a:pPr eaLnBrk="0" hangingPunct="0"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</a:pPr>
              <a:r>
                <a:rPr lang="en-US" altLang="zh-CN" sz="2400">
                  <a:latin typeface="Arial" panose="02080604020202020204" pitchFamily="34" charset="0"/>
                </a:rPr>
                <a:t>i=1</a:t>
              </a:r>
              <a:endParaRPr lang="en-US" altLang="zh-CN" sz="2400">
                <a:latin typeface="Arial" panose="02080604020202020204" pitchFamily="34" charset="0"/>
              </a:endParaRPr>
            </a:p>
          </p:txBody>
        </p:sp>
        <p:sp>
          <p:nvSpPr>
            <p:cNvPr id="44049" name="Text Box 6"/>
            <p:cNvSpPr txBox="1"/>
            <p:nvPr/>
          </p:nvSpPr>
          <p:spPr>
            <a:xfrm>
              <a:off x="2352" y="2448"/>
              <a:ext cx="480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488" tIns="44450" rIns="90488" bIns="44450">
              <a:spAutoFit/>
            </a:bodyPr>
            <a:p>
              <a:pPr eaLnBrk="0" hangingPunct="0"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</a:pPr>
              <a:r>
                <a:rPr lang="en-US" altLang="zh-CN" sz="2400">
                  <a:latin typeface="Arial" panose="02080604020202020204" pitchFamily="34" charset="0"/>
                </a:rPr>
                <a:t>i=2</a:t>
              </a:r>
              <a:endParaRPr lang="en-US" altLang="zh-CN" sz="2400">
                <a:latin typeface="Arial" panose="02080604020202020204" pitchFamily="34" charset="0"/>
              </a:endParaRPr>
            </a:p>
          </p:txBody>
        </p:sp>
        <p:sp>
          <p:nvSpPr>
            <p:cNvPr id="44050" name="Text Box 7"/>
            <p:cNvSpPr txBox="1"/>
            <p:nvPr/>
          </p:nvSpPr>
          <p:spPr>
            <a:xfrm>
              <a:off x="2976" y="2016"/>
              <a:ext cx="480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488" tIns="44450" rIns="90488" bIns="44450">
              <a:spAutoFit/>
            </a:bodyPr>
            <a:p>
              <a:pPr eaLnBrk="0" hangingPunct="0"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</a:pPr>
              <a:r>
                <a:rPr lang="en-US" altLang="zh-CN" sz="2400">
                  <a:latin typeface="Arial" panose="02080604020202020204" pitchFamily="34" charset="0"/>
                </a:rPr>
                <a:t>i=3</a:t>
              </a:r>
              <a:endParaRPr lang="en-US" altLang="zh-CN" sz="2400">
                <a:latin typeface="Arial" panose="02080604020202020204" pitchFamily="34" charset="0"/>
              </a:endParaRPr>
            </a:p>
          </p:txBody>
        </p:sp>
        <p:sp>
          <p:nvSpPr>
            <p:cNvPr id="44051" name="Text Box 8"/>
            <p:cNvSpPr txBox="1"/>
            <p:nvPr/>
          </p:nvSpPr>
          <p:spPr>
            <a:xfrm>
              <a:off x="3552" y="1488"/>
              <a:ext cx="480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488" tIns="44450" rIns="90488" bIns="44450">
              <a:spAutoFit/>
            </a:bodyPr>
            <a:p>
              <a:pPr eaLnBrk="0" hangingPunct="0"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</a:pPr>
              <a:r>
                <a:rPr lang="en-US" altLang="zh-CN" sz="2400">
                  <a:latin typeface="Arial" panose="02080604020202020204" pitchFamily="34" charset="0"/>
                </a:rPr>
                <a:t>i=4</a:t>
              </a:r>
              <a:endParaRPr lang="en-US" altLang="zh-CN" sz="2400">
                <a:latin typeface="Arial" panose="02080604020202020204" pitchFamily="34" charset="0"/>
              </a:endParaRPr>
            </a:p>
          </p:txBody>
        </p:sp>
        <p:sp>
          <p:nvSpPr>
            <p:cNvPr id="44052" name="Text Box 9"/>
            <p:cNvSpPr txBox="1"/>
            <p:nvPr/>
          </p:nvSpPr>
          <p:spPr>
            <a:xfrm>
              <a:off x="4032" y="1056"/>
              <a:ext cx="480" cy="2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488" tIns="44450" rIns="90488" bIns="44450">
              <a:spAutoFit/>
            </a:bodyPr>
            <a:p>
              <a:pPr eaLnBrk="0" hangingPunct="0"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</a:pPr>
              <a:r>
                <a:rPr lang="en-US" altLang="zh-CN" sz="2400">
                  <a:latin typeface="Arial" panose="02080604020202020204" pitchFamily="34" charset="0"/>
                </a:rPr>
                <a:t>i=5</a:t>
              </a:r>
              <a:endParaRPr lang="en-US" altLang="zh-CN" sz="2400">
                <a:latin typeface="Arial" panose="02080604020202020204" pitchFamily="34" charset="0"/>
              </a:endParaRPr>
            </a:p>
          </p:txBody>
        </p:sp>
      </p:grpSp>
      <p:sp>
        <p:nvSpPr>
          <p:cNvPr id="392202" name="Text Box 10"/>
          <p:cNvSpPr txBox="1"/>
          <p:nvPr/>
        </p:nvSpPr>
        <p:spPr>
          <a:xfrm>
            <a:off x="4953000" y="5867400"/>
            <a:ext cx="2133600" cy="45783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488" tIns="44450" rIns="90488" bIns="44450">
            <a:spAutoFit/>
          </a:bodyPr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</a:pPr>
            <a:r>
              <a:rPr lang="en-US" altLang="zh-CN" sz="2400" err="1">
                <a:latin typeface="Arial" panose="02080604020202020204" pitchFamily="34" charset="0"/>
              </a:rPr>
              <a:t>a[j</a:t>
            </a:r>
            <a:r>
              <a:rPr lang="en-US" altLang="zh-CN" sz="2400">
                <a:latin typeface="Arial" panose="02080604020202020204" pitchFamily="34" charset="0"/>
              </a:rPr>
              <a:t>]&gt;a[j+1]</a:t>
            </a:r>
            <a:endParaRPr lang="en-US" altLang="zh-CN" sz="2400">
              <a:latin typeface="Arial" panose="02080604020202020204" pitchFamily="34" charset="0"/>
            </a:endParaRPr>
          </a:p>
        </p:txBody>
      </p:sp>
      <p:sp>
        <p:nvSpPr>
          <p:cNvPr id="392203" name="Text Box 11"/>
          <p:cNvSpPr txBox="1"/>
          <p:nvPr/>
        </p:nvSpPr>
        <p:spPr>
          <a:xfrm>
            <a:off x="1583055" y="5013960"/>
            <a:ext cx="1828800" cy="45783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488" tIns="44450" rIns="90488" bIns="44450">
            <a:spAutoFit/>
          </a:bodyPr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</a:pPr>
            <a:r>
              <a:rPr lang="en-US" altLang="zh-CN" sz="2400">
                <a:latin typeface="Arial" panose="02080604020202020204" pitchFamily="34" charset="0"/>
              </a:rPr>
              <a:t>j=0 to 4</a:t>
            </a:r>
            <a:endParaRPr lang="en-US" altLang="zh-CN" sz="2400">
              <a:latin typeface="Arial" panose="02080604020202020204" pitchFamily="34" charset="0"/>
            </a:endParaRPr>
          </a:p>
        </p:txBody>
      </p:sp>
      <p:sp>
        <p:nvSpPr>
          <p:cNvPr id="392204" name="Text Box 12"/>
          <p:cNvSpPr txBox="1"/>
          <p:nvPr/>
        </p:nvSpPr>
        <p:spPr>
          <a:xfrm>
            <a:off x="4643438" y="4221163"/>
            <a:ext cx="1828800" cy="45783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488" tIns="44450" rIns="90488" bIns="44450">
            <a:spAutoFit/>
          </a:bodyPr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</a:pPr>
            <a:r>
              <a:rPr lang="en-US" altLang="zh-CN" sz="2400">
                <a:latin typeface="Arial" panose="02080604020202020204" pitchFamily="34" charset="0"/>
              </a:rPr>
              <a:t>j=0 to 3</a:t>
            </a:r>
            <a:endParaRPr lang="en-US" altLang="zh-CN" sz="2400">
              <a:latin typeface="Arial" panose="02080604020202020204" pitchFamily="34" charset="0"/>
            </a:endParaRPr>
          </a:p>
        </p:txBody>
      </p:sp>
      <p:sp>
        <p:nvSpPr>
          <p:cNvPr id="392205" name="Text Box 13"/>
          <p:cNvSpPr txBox="1"/>
          <p:nvPr/>
        </p:nvSpPr>
        <p:spPr>
          <a:xfrm>
            <a:off x="5651500" y="3357563"/>
            <a:ext cx="1828800" cy="45783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488" tIns="44450" rIns="90488" bIns="44450">
            <a:spAutoFit/>
          </a:bodyPr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</a:pPr>
            <a:r>
              <a:rPr lang="en-US" altLang="zh-CN" sz="2400">
                <a:latin typeface="Arial" panose="02080604020202020204" pitchFamily="34" charset="0"/>
              </a:rPr>
              <a:t>j=0 to 2</a:t>
            </a:r>
            <a:endParaRPr lang="en-US" altLang="zh-CN" sz="2400">
              <a:latin typeface="Arial" panose="02080604020202020204" pitchFamily="34" charset="0"/>
            </a:endParaRPr>
          </a:p>
        </p:txBody>
      </p:sp>
      <p:sp>
        <p:nvSpPr>
          <p:cNvPr id="392206" name="Text Box 14"/>
          <p:cNvSpPr txBox="1"/>
          <p:nvPr/>
        </p:nvSpPr>
        <p:spPr>
          <a:xfrm>
            <a:off x="4343400" y="5181600"/>
            <a:ext cx="3200400" cy="45783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488" tIns="44450" rIns="90488" bIns="44450">
            <a:spAutoFit/>
          </a:bodyPr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</a:pPr>
            <a:r>
              <a:rPr lang="en-US" altLang="zh-CN" sz="2400">
                <a:latin typeface="Arial" panose="02080604020202020204" pitchFamily="34" charset="0"/>
              </a:rPr>
              <a:t>j=0 to 6-1-i</a:t>
            </a:r>
            <a:endParaRPr lang="en-US" altLang="zh-CN" sz="2400">
              <a:latin typeface="Arial" panose="02080604020202020204" pitchFamily="34" charset="0"/>
            </a:endParaRPr>
          </a:p>
        </p:txBody>
      </p:sp>
      <p:sp>
        <p:nvSpPr>
          <p:cNvPr id="44041" name="Rectangle 15"/>
          <p:cNvSpPr>
            <a:spLocks noGrp="1"/>
          </p:cNvSpPr>
          <p:nvPr>
            <p:ph idx="1"/>
          </p:nvPr>
        </p:nvSpPr>
        <p:spPr>
          <a:xfrm>
            <a:off x="533400" y="923925"/>
            <a:ext cx="6775450" cy="3513138"/>
          </a:xfrm>
        </p:spPr>
        <p:txBody>
          <a:bodyPr vert="horz" wrap="square" lIns="92075" tIns="46038" rIns="92075" bIns="46038" anchor="t" anchorCtr="0"/>
          <a:p>
            <a:pPr eaLnBrk="1" hangingPunct="1">
              <a:buNone/>
            </a:pPr>
            <a:r>
              <a:rPr lang="zh-CN" altLang="en-US" sz="2800" b="0" dirty="0"/>
              <a:t>9  8  8  8  8   8        5      4      4     0          </a:t>
            </a:r>
            <a:endParaRPr lang="zh-CN" altLang="en-US" sz="2800" b="0" dirty="0"/>
          </a:p>
          <a:p>
            <a:pPr eaLnBrk="1" hangingPunct="1">
              <a:buNone/>
            </a:pPr>
            <a:r>
              <a:rPr lang="zh-CN" altLang="en-US" sz="2800" b="0" dirty="0"/>
              <a:t>8  9  5  5  5   5        4      5      0     4</a:t>
            </a:r>
            <a:endParaRPr lang="zh-CN" altLang="en-US" sz="2800" b="0" dirty="0"/>
          </a:p>
          <a:p>
            <a:pPr eaLnBrk="1" hangingPunct="1">
              <a:buNone/>
            </a:pPr>
            <a:r>
              <a:rPr lang="zh-CN" altLang="en-US" sz="2800" b="0" dirty="0"/>
              <a:t>5  5  9  4  4   4        6      0      5</a:t>
            </a:r>
            <a:endParaRPr lang="zh-CN" altLang="en-US" sz="2800" b="0" dirty="0"/>
          </a:p>
          <a:p>
            <a:pPr eaLnBrk="1" hangingPunct="1">
              <a:buNone/>
            </a:pPr>
            <a:r>
              <a:rPr lang="zh-CN" altLang="en-US" sz="2800" b="0" dirty="0"/>
              <a:t>4  4  4  9  6   6        0      6</a:t>
            </a:r>
            <a:endParaRPr lang="zh-CN" altLang="en-US" sz="2800" b="0" dirty="0"/>
          </a:p>
          <a:p>
            <a:pPr eaLnBrk="1" hangingPunct="1">
              <a:buNone/>
            </a:pPr>
            <a:r>
              <a:rPr lang="zh-CN" altLang="en-US" sz="2800" b="0" dirty="0"/>
              <a:t>6  6  6  6  9   0        8</a:t>
            </a:r>
            <a:endParaRPr lang="zh-CN" altLang="en-US" sz="2800" b="0" dirty="0"/>
          </a:p>
          <a:p>
            <a:pPr eaLnBrk="1" hangingPunct="1">
              <a:buNone/>
            </a:pPr>
            <a:r>
              <a:rPr lang="zh-CN" altLang="en-US" sz="2800" b="0" dirty="0"/>
              <a:t>0  0  0  0  0   9   </a:t>
            </a:r>
            <a:endParaRPr lang="zh-CN" altLang="en-US" sz="2800" b="0" dirty="0"/>
          </a:p>
        </p:txBody>
      </p:sp>
      <p:grpSp>
        <p:nvGrpSpPr>
          <p:cNvPr id="44042" name="Group 22"/>
          <p:cNvGrpSpPr/>
          <p:nvPr/>
        </p:nvGrpSpPr>
        <p:grpSpPr>
          <a:xfrm>
            <a:off x="609600" y="793750"/>
            <a:ext cx="2133600" cy="3160713"/>
            <a:chOff x="384" y="500"/>
            <a:chExt cx="1344" cy="1991"/>
          </a:xfrm>
        </p:grpSpPr>
        <p:sp>
          <p:nvSpPr>
            <p:cNvPr id="44043" name="Rectangle 17"/>
            <p:cNvSpPr/>
            <p:nvPr/>
          </p:nvSpPr>
          <p:spPr>
            <a:xfrm>
              <a:off x="384" y="500"/>
              <a:ext cx="192" cy="720"/>
            </a:xfrm>
            <a:prstGeom prst="rect">
              <a:avLst/>
            </a:prstGeom>
            <a:noFill/>
            <a:ln w="12700" cap="rnd" cmpd="sng">
              <a:solidFill>
                <a:schemeClr val="bg2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lIns="90488" tIns="44450" rIns="90488" bIns="44450" anchor="ctr" anchorCtr="0"/>
            <a:p>
              <a:endParaRPr lang="zh-CN" altLang="en-US" sz="2800" dirty="0">
                <a:latin typeface="Arial" panose="02080604020202020204" pitchFamily="34" charset="0"/>
              </a:endParaRPr>
            </a:p>
          </p:txBody>
        </p:sp>
        <p:sp>
          <p:nvSpPr>
            <p:cNvPr id="44044" name="Rectangle 18"/>
            <p:cNvSpPr/>
            <p:nvPr/>
          </p:nvSpPr>
          <p:spPr>
            <a:xfrm>
              <a:off x="624" y="797"/>
              <a:ext cx="240" cy="816"/>
            </a:xfrm>
            <a:prstGeom prst="rect">
              <a:avLst/>
            </a:prstGeom>
            <a:noFill/>
            <a:ln w="12700" cap="rnd" cmpd="sng">
              <a:solidFill>
                <a:schemeClr val="bg2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lIns="90488" tIns="44450" rIns="90488" bIns="44450" anchor="ctr" anchorCtr="0"/>
            <a:p>
              <a:endParaRPr lang="zh-CN" altLang="en-US" sz="2800" dirty="0">
                <a:latin typeface="Arial" panose="02080604020202020204" pitchFamily="34" charset="0"/>
              </a:endParaRPr>
            </a:p>
          </p:txBody>
        </p:sp>
        <p:sp>
          <p:nvSpPr>
            <p:cNvPr id="44045" name="Rectangle 19"/>
            <p:cNvSpPr/>
            <p:nvPr/>
          </p:nvSpPr>
          <p:spPr>
            <a:xfrm>
              <a:off x="912" y="1229"/>
              <a:ext cx="240" cy="660"/>
            </a:xfrm>
            <a:prstGeom prst="rect">
              <a:avLst/>
            </a:prstGeom>
            <a:noFill/>
            <a:ln w="12700" cap="rnd" cmpd="sng">
              <a:solidFill>
                <a:schemeClr val="bg2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lIns="90488" tIns="44450" rIns="90488" bIns="44450" anchor="ctr" anchorCtr="0"/>
            <a:p>
              <a:endParaRPr lang="zh-CN" altLang="en-US" sz="2800" dirty="0">
                <a:latin typeface="Arial" panose="02080604020202020204" pitchFamily="34" charset="0"/>
              </a:endParaRPr>
            </a:p>
          </p:txBody>
        </p:sp>
        <p:sp>
          <p:nvSpPr>
            <p:cNvPr id="44046" name="Rectangle 20"/>
            <p:cNvSpPr/>
            <p:nvPr/>
          </p:nvSpPr>
          <p:spPr>
            <a:xfrm>
              <a:off x="1200" y="1549"/>
              <a:ext cx="240" cy="588"/>
            </a:xfrm>
            <a:prstGeom prst="rect">
              <a:avLst/>
            </a:prstGeom>
            <a:noFill/>
            <a:ln w="12700" cap="rnd" cmpd="sng">
              <a:solidFill>
                <a:schemeClr val="bg2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lIns="90488" tIns="44450" rIns="90488" bIns="44450" anchor="ctr" anchorCtr="0"/>
            <a:p>
              <a:endParaRPr lang="zh-CN" altLang="en-US" sz="2800" dirty="0">
                <a:latin typeface="Arial" panose="02080604020202020204" pitchFamily="34" charset="0"/>
              </a:endParaRPr>
            </a:p>
          </p:txBody>
        </p:sp>
        <p:sp>
          <p:nvSpPr>
            <p:cNvPr id="44047" name="Rectangle 21"/>
            <p:cNvSpPr/>
            <p:nvPr/>
          </p:nvSpPr>
          <p:spPr>
            <a:xfrm>
              <a:off x="1488" y="1881"/>
              <a:ext cx="240" cy="610"/>
            </a:xfrm>
            <a:prstGeom prst="rect">
              <a:avLst/>
            </a:prstGeom>
            <a:noFill/>
            <a:ln w="12700" cap="rnd" cmpd="sng">
              <a:solidFill>
                <a:schemeClr val="bg2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lIns="90488" tIns="44450" rIns="90488" bIns="44450" anchor="ctr" anchorCtr="0"/>
            <a:p>
              <a:endParaRPr lang="zh-CN" altLang="en-US" sz="2800" dirty="0">
                <a:latin typeface="Arial" panose="0208060402020202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2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2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2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2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2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2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2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2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2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2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202" grpId="0" bldLvl="0" animBg="1"/>
      <p:bldP spid="392203" grpId="0" bldLvl="0" animBg="1"/>
      <p:bldP spid="392204" grpId="0" bldLvl="0" animBg="1"/>
      <p:bldP spid="392205" grpId="0" bldLvl="0" animBg="1"/>
      <p:bldP spid="392206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3220" name="Text Box 4"/>
          <p:cNvSpPr txBox="1"/>
          <p:nvPr/>
        </p:nvSpPr>
        <p:spPr>
          <a:xfrm>
            <a:off x="5652135" y="981075"/>
            <a:ext cx="3352800" cy="378206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>
            <a:spAutoFit/>
          </a:bodyPr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</a:pPr>
            <a:r>
              <a:rPr lang="zh-CN" altLang="en-US" sz="2400" b="1" dirty="0">
                <a:solidFill>
                  <a:srgbClr val="FF0000"/>
                </a:solidFill>
                <a:latin typeface="Book Antiqua" pitchFamily="18" charset="0"/>
              </a:rPr>
              <a:t>       </a:t>
            </a:r>
            <a:r>
              <a:rPr lang="zh-CN" altLang="en-US" sz="2400" b="1" dirty="0">
                <a:latin typeface="Book Antiqua" pitchFamily="18" charset="0"/>
              </a:rPr>
              <a:t> </a:t>
            </a:r>
            <a:r>
              <a:rPr lang="zh-CN" altLang="en-US" sz="2400" b="1" dirty="0">
                <a:latin typeface="Arial" panose="02080604020202020204" pitchFamily="34" charset="0"/>
              </a:rPr>
              <a:t>9 8 5 4 6 0</a:t>
            </a:r>
            <a:endParaRPr lang="zh-CN" altLang="en-US" sz="2400" b="1" dirty="0">
              <a:latin typeface="Arial" panose="02080604020202020204" pitchFamily="34" charset="0"/>
            </a:endParaRPr>
          </a:p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</a:pPr>
            <a:r>
              <a:rPr lang="en-US" altLang="zh-CN" sz="2400" b="1">
                <a:latin typeface="Arial" panose="02080604020202020204" pitchFamily="34" charset="0"/>
              </a:rPr>
              <a:t>i=1</a:t>
            </a:r>
            <a:endParaRPr lang="en-US" altLang="zh-CN" sz="2400" b="1">
              <a:latin typeface="Arial" panose="02080604020202020204" pitchFamily="34" charset="0"/>
            </a:endParaRPr>
          </a:p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</a:pPr>
            <a:r>
              <a:rPr lang="en-US" altLang="zh-CN" sz="2400" b="1">
                <a:latin typeface="Arial" panose="02080604020202020204" pitchFamily="34" charset="0"/>
              </a:rPr>
              <a:t>j=0: 8 9 5 4 6 0</a:t>
            </a:r>
            <a:endParaRPr lang="en-US" altLang="zh-CN" sz="2400" b="1">
              <a:latin typeface="Arial" panose="02080604020202020204" pitchFamily="34" charset="0"/>
            </a:endParaRPr>
          </a:p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</a:pPr>
            <a:r>
              <a:rPr lang="en-US" altLang="zh-CN" sz="2400" b="1">
                <a:latin typeface="Arial" panose="02080604020202020204" pitchFamily="34" charset="0"/>
              </a:rPr>
              <a:t>j=1: 8 5 9 4 6 0</a:t>
            </a:r>
            <a:endParaRPr lang="en-US" altLang="zh-CN" sz="2400" b="1">
              <a:latin typeface="Arial" panose="02080604020202020204" pitchFamily="34" charset="0"/>
            </a:endParaRPr>
          </a:p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</a:pPr>
            <a:r>
              <a:rPr lang="en-US" altLang="zh-CN" sz="2400" b="1">
                <a:latin typeface="Arial" panose="02080604020202020204" pitchFamily="34" charset="0"/>
              </a:rPr>
              <a:t>j=2: 8 5 4 9 6 0</a:t>
            </a:r>
            <a:endParaRPr lang="en-US" altLang="zh-CN" sz="2400" b="1">
              <a:latin typeface="Arial" panose="02080604020202020204" pitchFamily="34" charset="0"/>
            </a:endParaRPr>
          </a:p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</a:pPr>
            <a:r>
              <a:rPr lang="en-US" altLang="zh-CN" sz="2400" b="1">
                <a:latin typeface="Arial" panose="02080604020202020204" pitchFamily="34" charset="0"/>
              </a:rPr>
              <a:t>j=3: 8 5 4 6 9 0</a:t>
            </a:r>
            <a:endParaRPr lang="en-US" altLang="zh-CN" sz="2400" b="1">
              <a:latin typeface="Arial" panose="02080604020202020204" pitchFamily="34" charset="0"/>
            </a:endParaRPr>
          </a:p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</a:pPr>
            <a:r>
              <a:rPr lang="en-US" altLang="zh-CN" sz="2400" b="1">
                <a:latin typeface="Arial" panose="02080604020202020204" pitchFamily="34" charset="0"/>
              </a:rPr>
              <a:t>j=4: 8 5 4 6 0 9</a:t>
            </a:r>
            <a:endParaRPr lang="en-US" altLang="zh-CN" sz="2400" b="1">
              <a:latin typeface="Arial" panose="02080604020202020204" pitchFamily="34" charset="0"/>
            </a:endParaRPr>
          </a:p>
        </p:txBody>
      </p:sp>
      <p:sp>
        <p:nvSpPr>
          <p:cNvPr id="45060" name="Rectangle 5"/>
          <p:cNvSpPr/>
          <p:nvPr/>
        </p:nvSpPr>
        <p:spPr>
          <a:xfrm>
            <a:off x="323850" y="405765"/>
            <a:ext cx="5105400" cy="622046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int</a:t>
            </a:r>
            <a:r>
              <a:rPr sz="2400">
                <a:latin typeface="+mn-ea"/>
                <a:cs typeface="+mn-ea"/>
                <a:sym typeface="+mn-ea"/>
              </a:rPr>
              <a:t> </a:t>
            </a:r>
            <a:r>
              <a:rPr sz="2400">
                <a:latin typeface="+mn-ea"/>
                <a:cs typeface="+mn-ea"/>
                <a:sym typeface="+mn-ea"/>
              </a:rPr>
              <a:t>main(void</a:t>
            </a:r>
            <a:r>
              <a:rPr sz="2400">
                <a:latin typeface="+mn-ea"/>
                <a:cs typeface="+mn-ea"/>
                <a:sym typeface="+mn-ea"/>
              </a:rPr>
              <a:t> )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{   </a:t>
            </a:r>
            <a:r>
              <a:rPr sz="2400">
                <a:latin typeface="+mn-ea"/>
                <a:cs typeface="+mn-ea"/>
                <a:sym typeface="+mn-ea"/>
              </a:rPr>
              <a:t>int</a:t>
            </a:r>
            <a:r>
              <a:rPr sz="2400">
                <a:latin typeface="+mn-ea"/>
                <a:cs typeface="+mn-ea"/>
                <a:sym typeface="+mn-ea"/>
              </a:rPr>
              <a:t> i, j, n, t, a[10]; 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  n = 6;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 </a:t>
            </a:r>
            <a:r>
              <a:rPr sz="2400">
                <a:latin typeface="+mn-ea"/>
                <a:cs typeface="+mn-ea"/>
                <a:sym typeface="+mn-ea"/>
              </a:rPr>
              <a:t>for(i</a:t>
            </a:r>
            <a:r>
              <a:rPr sz="2400">
                <a:latin typeface="+mn-ea"/>
                <a:cs typeface="+mn-ea"/>
                <a:sym typeface="+mn-ea"/>
              </a:rPr>
              <a:t> = 0; i &lt; n; i++)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    </a:t>
            </a:r>
            <a:r>
              <a:rPr sz="2400">
                <a:latin typeface="+mn-ea"/>
                <a:cs typeface="+mn-ea"/>
                <a:sym typeface="+mn-ea"/>
              </a:rPr>
              <a:t>scanf("%d</a:t>
            </a:r>
            <a:r>
              <a:rPr sz="2400">
                <a:latin typeface="+mn-ea"/>
                <a:cs typeface="+mn-ea"/>
                <a:sym typeface="+mn-ea"/>
              </a:rPr>
              <a:t>", &amp;</a:t>
            </a:r>
            <a:r>
              <a:rPr sz="2400">
                <a:latin typeface="+mn-ea"/>
                <a:cs typeface="+mn-ea"/>
                <a:sym typeface="+mn-ea"/>
              </a:rPr>
              <a:t>a[i</a:t>
            </a:r>
            <a:r>
              <a:rPr sz="2400">
                <a:latin typeface="+mn-ea"/>
                <a:cs typeface="+mn-ea"/>
                <a:sym typeface="+mn-ea"/>
              </a:rPr>
              <a:t>]);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 </a:t>
            </a:r>
            <a:r>
              <a:rPr sz="2400">
                <a:latin typeface="+mn-ea"/>
                <a:cs typeface="+mn-ea"/>
                <a:sym typeface="+mn-ea"/>
              </a:rPr>
              <a:t>for(i</a:t>
            </a:r>
            <a:r>
              <a:rPr sz="2400">
                <a:latin typeface="+mn-ea"/>
                <a:cs typeface="+mn-ea"/>
                <a:sym typeface="+mn-ea"/>
              </a:rPr>
              <a:t> = 1; i &lt; n; i++)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    </a:t>
            </a:r>
            <a:r>
              <a:rPr sz="2400">
                <a:latin typeface="+mn-ea"/>
                <a:cs typeface="+mn-ea"/>
                <a:sym typeface="+mn-ea"/>
              </a:rPr>
              <a:t>for(j</a:t>
            </a:r>
            <a:r>
              <a:rPr sz="2400">
                <a:latin typeface="+mn-ea"/>
                <a:cs typeface="+mn-ea"/>
                <a:sym typeface="+mn-ea"/>
              </a:rPr>
              <a:t> = 0; j &lt; </a:t>
            </a:r>
            <a:r>
              <a:rPr sz="2400">
                <a:latin typeface="+mn-ea"/>
                <a:cs typeface="+mn-ea"/>
                <a:sym typeface="+mn-ea"/>
              </a:rPr>
              <a:t>n-i</a:t>
            </a:r>
            <a:r>
              <a:rPr sz="2400">
                <a:latin typeface="+mn-ea"/>
                <a:cs typeface="+mn-ea"/>
                <a:sym typeface="+mn-ea"/>
              </a:rPr>
              <a:t>; j++)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	      </a:t>
            </a:r>
            <a:r>
              <a:rPr sz="2400">
                <a:latin typeface="+mn-ea"/>
                <a:cs typeface="+mn-ea"/>
                <a:sym typeface="+mn-ea"/>
              </a:rPr>
              <a:t>if(a[j</a:t>
            </a:r>
            <a:r>
              <a:rPr sz="2400">
                <a:latin typeface="+mn-ea"/>
                <a:cs typeface="+mn-ea"/>
                <a:sym typeface="+mn-ea"/>
              </a:rPr>
              <a:t>] &gt; a[j+1]) {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	         t = </a:t>
            </a:r>
            <a:r>
              <a:rPr sz="2400">
                <a:latin typeface="+mn-ea"/>
                <a:cs typeface="+mn-ea"/>
                <a:sym typeface="+mn-ea"/>
              </a:rPr>
              <a:t>a[j</a:t>
            </a:r>
            <a:r>
              <a:rPr sz="2400">
                <a:latin typeface="+mn-ea"/>
                <a:cs typeface="+mn-ea"/>
                <a:sym typeface="+mn-ea"/>
              </a:rPr>
              <a:t>];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	         </a:t>
            </a:r>
            <a:r>
              <a:rPr sz="2400">
                <a:latin typeface="+mn-ea"/>
                <a:cs typeface="+mn-ea"/>
                <a:sym typeface="+mn-ea"/>
              </a:rPr>
              <a:t>a[j</a:t>
            </a:r>
            <a:r>
              <a:rPr sz="2400">
                <a:latin typeface="+mn-ea"/>
                <a:cs typeface="+mn-ea"/>
                <a:sym typeface="+mn-ea"/>
              </a:rPr>
              <a:t>] = a[j+1];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	         a[j+1] = t;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	      }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 return 0;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}</a:t>
            </a:r>
            <a:endParaRPr sz="2400"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3220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3220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>
                                            <p:txEl>
                                              <p:charRg st="2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3220">
                                            <p:txEl>
                                              <p:charRg st="2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3220">
                                            <p:txEl>
                                              <p:charRg st="2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>
                                            <p:txEl>
                                              <p:charRg st="24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3220">
                                            <p:txEl>
                                              <p:charRg st="24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3220">
                                            <p:txEl>
                                              <p:charRg st="24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>
                                            <p:txEl>
                                              <p:charRg st="41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3220">
                                            <p:txEl>
                                              <p:charRg st="41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3220">
                                            <p:txEl>
                                              <p:charRg st="41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>
                                            <p:txEl>
                                              <p:charRg st="58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3220">
                                            <p:txEl>
                                              <p:charRg st="58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3220">
                                            <p:txEl>
                                              <p:charRg st="58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>
                                            <p:txEl>
                                              <p:charRg st="75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3220">
                                            <p:txEl>
                                              <p:charRg st="75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3220">
                                            <p:txEl>
                                              <p:charRg st="75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>
                                            <p:txEl>
                                              <p:charRg st="92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3220">
                                            <p:txEl>
                                              <p:charRg st="92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3220">
                                            <p:txEl>
                                              <p:charRg st="92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20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3" name="Text Box 4"/>
          <p:cNvSpPr/>
          <p:nvPr/>
        </p:nvSpPr>
        <p:spPr>
          <a:xfrm>
            <a:off x="5002848" y="836613"/>
            <a:ext cx="4033837" cy="489140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int</a:t>
            </a:r>
            <a:r>
              <a:rPr sz="2400">
                <a:latin typeface="+mn-ea"/>
                <a:cs typeface="+mn-ea"/>
                <a:sym typeface="+mn-ea"/>
              </a:rPr>
              <a:t> </a:t>
            </a:r>
            <a:r>
              <a:rPr sz="2400">
                <a:latin typeface="+mn-ea"/>
                <a:cs typeface="+mn-ea"/>
                <a:sym typeface="+mn-ea"/>
              </a:rPr>
              <a:t>main(void</a:t>
            </a:r>
            <a:r>
              <a:rPr sz="2400">
                <a:latin typeface="+mn-ea"/>
                <a:cs typeface="+mn-ea"/>
                <a:sym typeface="+mn-ea"/>
              </a:rPr>
              <a:t> ) 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{  </a:t>
            </a:r>
            <a:r>
              <a:rPr sz="2400">
                <a:latin typeface="+mn-ea"/>
                <a:cs typeface="+mn-ea"/>
                <a:sym typeface="+mn-ea"/>
              </a:rPr>
              <a:t>int</a:t>
            </a:r>
            <a:r>
              <a:rPr sz="2400">
                <a:latin typeface="+mn-ea"/>
                <a:cs typeface="+mn-ea"/>
                <a:sym typeface="+mn-ea"/>
              </a:rPr>
              <a:t> i, a[10]; 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 </a:t>
            </a:r>
            <a:r>
              <a:rPr sz="2400">
                <a:latin typeface="+mn-ea"/>
                <a:cs typeface="+mn-ea"/>
                <a:sym typeface="+mn-ea"/>
              </a:rPr>
              <a:t>for(i</a:t>
            </a:r>
            <a:r>
              <a:rPr sz="2400">
                <a:latin typeface="+mn-ea"/>
                <a:cs typeface="+mn-ea"/>
                <a:sym typeface="+mn-ea"/>
              </a:rPr>
              <a:t>=0; i&lt;10; i++)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     </a:t>
            </a:r>
            <a:r>
              <a:rPr sz="2400">
                <a:latin typeface="+mn-ea"/>
                <a:cs typeface="+mn-ea"/>
                <a:sym typeface="+mn-ea"/>
              </a:rPr>
              <a:t>scanf("%d</a:t>
            </a:r>
            <a:r>
              <a:rPr sz="2400">
                <a:latin typeface="+mn-ea"/>
                <a:cs typeface="+mn-ea"/>
                <a:sym typeface="+mn-ea"/>
              </a:rPr>
              <a:t>", &amp;</a:t>
            </a:r>
            <a:r>
              <a:rPr sz="2400">
                <a:latin typeface="+mn-ea"/>
                <a:cs typeface="+mn-ea"/>
                <a:sym typeface="+mn-ea"/>
              </a:rPr>
              <a:t>a[i</a:t>
            </a:r>
            <a:r>
              <a:rPr sz="2400">
                <a:latin typeface="+mn-ea"/>
                <a:cs typeface="+mn-ea"/>
                <a:sym typeface="+mn-ea"/>
              </a:rPr>
              <a:t>]);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 </a:t>
            </a:r>
            <a:r>
              <a:rPr sz="2400">
                <a:latin typeface="+mn-ea"/>
                <a:cs typeface="+mn-ea"/>
                <a:sym typeface="+mn-ea"/>
              </a:rPr>
              <a:t>sort(</a:t>
            </a:r>
            <a:r>
              <a:rPr sz="2400">
                <a:latin typeface="+mn-ea"/>
                <a:cs typeface="+mn-ea"/>
                <a:sym typeface="+mn-ea"/>
              </a:rPr>
              <a:t>a</a:t>
            </a:r>
            <a:r>
              <a:rPr sz="2400">
                <a:latin typeface="+mn-ea"/>
                <a:cs typeface="+mn-ea"/>
                <a:sym typeface="+mn-ea"/>
              </a:rPr>
              <a:t>, 10);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 </a:t>
            </a:r>
            <a:r>
              <a:rPr sz="2400">
                <a:latin typeface="+mn-ea"/>
                <a:cs typeface="+mn-ea"/>
                <a:sym typeface="+mn-ea"/>
              </a:rPr>
              <a:t>for(i</a:t>
            </a:r>
            <a:r>
              <a:rPr sz="2400">
                <a:latin typeface="+mn-ea"/>
                <a:cs typeface="+mn-ea"/>
                <a:sym typeface="+mn-ea"/>
              </a:rPr>
              <a:t>=0; i&lt;10; i++)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     </a:t>
            </a:r>
            <a:r>
              <a:rPr sz="2400">
                <a:latin typeface="+mn-ea"/>
                <a:cs typeface="+mn-ea"/>
                <a:sym typeface="+mn-ea"/>
              </a:rPr>
              <a:t>printf("%d</a:t>
            </a:r>
            <a:r>
              <a:rPr sz="2400">
                <a:latin typeface="+mn-ea"/>
                <a:cs typeface="+mn-ea"/>
                <a:sym typeface="+mn-ea"/>
              </a:rPr>
              <a:t> ", </a:t>
            </a:r>
            <a:r>
              <a:rPr sz="2400">
                <a:latin typeface="+mn-ea"/>
                <a:cs typeface="+mn-ea"/>
                <a:sym typeface="+mn-ea"/>
              </a:rPr>
              <a:t>a[i</a:t>
            </a:r>
            <a:r>
              <a:rPr sz="2400">
                <a:latin typeface="+mn-ea"/>
                <a:cs typeface="+mn-ea"/>
                <a:sym typeface="+mn-ea"/>
              </a:rPr>
              <a:t>]);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 </a:t>
            </a:r>
            <a:r>
              <a:rPr sz="2400">
                <a:latin typeface="+mn-ea"/>
                <a:cs typeface="+mn-ea"/>
                <a:sym typeface="+mn-ea"/>
              </a:rPr>
              <a:t>printf("\n</a:t>
            </a:r>
            <a:r>
              <a:rPr sz="2400">
                <a:latin typeface="+mn-ea"/>
                <a:cs typeface="+mn-ea"/>
                <a:sym typeface="+mn-ea"/>
              </a:rPr>
              <a:t>");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 return 0;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}</a:t>
            </a:r>
            <a:endParaRPr sz="2400">
              <a:latin typeface="+mn-ea"/>
              <a:cs typeface="+mn-ea"/>
              <a:sym typeface="+mn-ea"/>
            </a:endParaRPr>
          </a:p>
        </p:txBody>
      </p:sp>
      <p:sp>
        <p:nvSpPr>
          <p:cNvPr id="394245" name="Rectangle 5"/>
          <p:cNvSpPr/>
          <p:nvPr/>
        </p:nvSpPr>
        <p:spPr>
          <a:xfrm>
            <a:off x="143510" y="836613"/>
            <a:ext cx="4859338" cy="489140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void </a:t>
            </a:r>
            <a:r>
              <a:rPr sz="2400">
                <a:latin typeface="+mn-ea"/>
                <a:cs typeface="+mn-ea"/>
                <a:sym typeface="+mn-ea"/>
              </a:rPr>
              <a:t>sort(int</a:t>
            </a:r>
            <a:r>
              <a:rPr sz="2400">
                <a:latin typeface="+mn-ea"/>
                <a:cs typeface="+mn-ea"/>
                <a:sym typeface="+mn-ea"/>
              </a:rPr>
              <a:t> *</a:t>
            </a:r>
            <a:r>
              <a:rPr sz="2400">
                <a:latin typeface="+mn-ea"/>
                <a:cs typeface="+mn-ea"/>
                <a:sym typeface="+mn-ea"/>
              </a:rPr>
              <a:t>array</a:t>
            </a:r>
            <a:r>
              <a:rPr sz="2400">
                <a:latin typeface="+mn-ea"/>
                <a:cs typeface="+mn-ea"/>
                <a:sym typeface="+mn-ea"/>
              </a:rPr>
              <a:t>, </a:t>
            </a:r>
            <a:r>
              <a:rPr sz="2400">
                <a:latin typeface="+mn-ea"/>
                <a:cs typeface="+mn-ea"/>
                <a:sym typeface="+mn-ea"/>
              </a:rPr>
              <a:t>int</a:t>
            </a:r>
            <a:r>
              <a:rPr sz="2400">
                <a:latin typeface="+mn-ea"/>
                <a:cs typeface="+mn-ea"/>
                <a:sym typeface="+mn-ea"/>
              </a:rPr>
              <a:t> n)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{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 </a:t>
            </a:r>
            <a:r>
              <a:rPr sz="2400">
                <a:latin typeface="+mn-ea"/>
                <a:cs typeface="+mn-ea"/>
                <a:sym typeface="+mn-ea"/>
              </a:rPr>
              <a:t>int</a:t>
            </a:r>
            <a:r>
              <a:rPr sz="2400">
                <a:latin typeface="+mn-ea"/>
                <a:cs typeface="+mn-ea"/>
                <a:sym typeface="+mn-ea"/>
              </a:rPr>
              <a:t> i, j, t;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 </a:t>
            </a:r>
            <a:r>
              <a:rPr sz="2400">
                <a:latin typeface="+mn-ea"/>
                <a:cs typeface="+mn-ea"/>
                <a:sym typeface="+mn-ea"/>
              </a:rPr>
              <a:t>for(i</a:t>
            </a:r>
            <a:r>
              <a:rPr sz="2400">
                <a:latin typeface="+mn-ea"/>
                <a:cs typeface="+mn-ea"/>
                <a:sym typeface="+mn-ea"/>
              </a:rPr>
              <a:t>=1; i&lt;n; i++)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    </a:t>
            </a:r>
            <a:r>
              <a:rPr sz="2400">
                <a:latin typeface="+mn-ea"/>
                <a:cs typeface="+mn-ea"/>
                <a:sym typeface="+mn-ea"/>
              </a:rPr>
              <a:t>for(j</a:t>
            </a:r>
            <a:r>
              <a:rPr sz="2400">
                <a:latin typeface="+mn-ea"/>
                <a:cs typeface="+mn-ea"/>
                <a:sym typeface="+mn-ea"/>
              </a:rPr>
              <a:t>=0; j&lt;</a:t>
            </a:r>
            <a:r>
              <a:rPr sz="2400">
                <a:latin typeface="+mn-ea"/>
                <a:cs typeface="+mn-ea"/>
                <a:sym typeface="+mn-ea"/>
              </a:rPr>
              <a:t>n-i</a:t>
            </a:r>
            <a:r>
              <a:rPr sz="2400">
                <a:latin typeface="+mn-ea"/>
                <a:cs typeface="+mn-ea"/>
                <a:sym typeface="+mn-ea"/>
              </a:rPr>
              <a:t>; j++)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	       </a:t>
            </a:r>
            <a:r>
              <a:rPr sz="2400">
                <a:latin typeface="+mn-ea"/>
                <a:cs typeface="+mn-ea"/>
                <a:sym typeface="+mn-ea"/>
              </a:rPr>
              <a:t>if(array[j</a:t>
            </a:r>
            <a:r>
              <a:rPr sz="2400">
                <a:latin typeface="+mn-ea"/>
                <a:cs typeface="+mn-ea"/>
                <a:sym typeface="+mn-ea"/>
              </a:rPr>
              <a:t>]&gt;array[j+1]){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	          t = </a:t>
            </a:r>
            <a:r>
              <a:rPr sz="2400">
                <a:latin typeface="+mn-ea"/>
                <a:cs typeface="+mn-ea"/>
                <a:sym typeface="+mn-ea"/>
              </a:rPr>
              <a:t>array[j</a:t>
            </a:r>
            <a:r>
              <a:rPr sz="2400">
                <a:latin typeface="+mn-ea"/>
                <a:cs typeface="+mn-ea"/>
                <a:sym typeface="+mn-ea"/>
              </a:rPr>
              <a:t>];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	          </a:t>
            </a:r>
            <a:r>
              <a:rPr sz="2400">
                <a:latin typeface="+mn-ea"/>
                <a:cs typeface="+mn-ea"/>
                <a:sym typeface="+mn-ea"/>
              </a:rPr>
              <a:t>array[j</a:t>
            </a:r>
            <a:r>
              <a:rPr sz="2400">
                <a:latin typeface="+mn-ea"/>
                <a:cs typeface="+mn-ea"/>
                <a:sym typeface="+mn-ea"/>
              </a:rPr>
              <a:t>] = array[j+1];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	          array[j+1] = t;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	       }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}</a:t>
            </a:r>
            <a:endParaRPr sz="2400"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4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4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5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7" name="Rectangle 4"/>
          <p:cNvSpPr>
            <a:spLocks noGrp="1"/>
          </p:cNvSpPr>
          <p:nvPr>
            <p:ph idx="1"/>
          </p:nvPr>
        </p:nvSpPr>
        <p:spPr>
          <a:xfrm>
            <a:off x="1204913" y="1624013"/>
            <a:ext cx="6934200" cy="4343400"/>
          </a:xfrm>
        </p:spPr>
        <p:txBody>
          <a:bodyPr vert="horz" wrap="square" lIns="92075" tIns="46038" rIns="92075" bIns="46038" anchor="t" anchorCtr="0"/>
          <a:p>
            <a:pPr eaLnBrk="1" hangingPunct="1">
              <a:buNone/>
            </a:pPr>
            <a:r>
              <a:rPr lang="zh-CN" altLang="en-US" dirty="0"/>
              <a:t>字符串：字符数组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               字符指针</a:t>
            </a:r>
            <a:endParaRPr lang="zh-CN" altLang="en-US" dirty="0"/>
          </a:p>
          <a:p>
            <a:pPr eaLnBrk="1" hangingPunct="1">
              <a:buNone/>
            </a:pPr>
            <a:endParaRPr lang="en-US" altLang="zh-CN"/>
          </a:p>
          <a:p>
            <a:pPr eaLnBrk="1" hangingPunct="1">
              <a:buNone/>
            </a:pPr>
            <a:r>
              <a:rPr lang="en-US" altLang="zh-CN"/>
              <a:t>8.4.1  </a:t>
            </a:r>
            <a:r>
              <a:rPr lang="zh-CN" altLang="en-US" dirty="0"/>
              <a:t>程序解析</a:t>
            </a:r>
            <a:endParaRPr lang="zh-CN" altLang="en-US" dirty="0"/>
          </a:p>
          <a:p>
            <a:pPr eaLnBrk="1" hangingPunct="1">
              <a:buNone/>
            </a:pPr>
            <a:r>
              <a:rPr lang="en-US" altLang="zh-CN"/>
              <a:t>8.4.2  </a:t>
            </a:r>
            <a:r>
              <a:rPr lang="zh-CN" altLang="en-US" dirty="0"/>
              <a:t>字符数组和字符指针</a:t>
            </a:r>
            <a:endParaRPr lang="zh-CN" altLang="en-US" dirty="0"/>
          </a:p>
          <a:p>
            <a:pPr eaLnBrk="1" hangingPunct="1">
              <a:buNone/>
            </a:pPr>
            <a:r>
              <a:rPr lang="en-US" altLang="zh-CN"/>
              <a:t>8.4.3  </a:t>
            </a:r>
            <a:r>
              <a:rPr lang="zh-CN" altLang="en-US" dirty="0"/>
              <a:t>常用的字符串处理函数</a:t>
            </a:r>
            <a:endParaRPr lang="zh-CN" altLang="en-US" dirty="0"/>
          </a:p>
          <a:p>
            <a:pPr eaLnBrk="1" hangingPunct="1">
              <a:buNone/>
            </a:pPr>
            <a:endParaRPr lang="zh-CN" altLang="en-US" dirty="0"/>
          </a:p>
        </p:txBody>
      </p:sp>
      <p:sp>
        <p:nvSpPr>
          <p:cNvPr id="47108" name="Rectangle 5"/>
          <p:cNvSpPr>
            <a:spLocks noGrp="1"/>
          </p:cNvSpPr>
          <p:nvPr>
            <p:ph type="title"/>
          </p:nvPr>
        </p:nvSpPr>
        <p:spPr>
          <a:xfrm>
            <a:off x="900113" y="404813"/>
            <a:ext cx="7010400" cy="762000"/>
          </a:xfrm>
        </p:spPr>
        <p:txBody>
          <a:bodyPr vert="horz" wrap="square" lIns="92075" tIns="46038" rIns="92075" bIns="46038" anchor="b" anchorCtr="0"/>
          <a:p>
            <a:pPr eaLnBrk="1" hangingPunct="1"/>
            <a:r>
              <a:rPr lang="en-US" altLang="zh-CN"/>
              <a:t>8.4  </a:t>
            </a:r>
            <a:r>
              <a:rPr lang="zh-CN" altLang="en-US" dirty="0"/>
              <a:t>加密问题 </a:t>
            </a:r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1" name="Rectangle 2"/>
          <p:cNvSpPr>
            <a:spLocks noGrp="1"/>
          </p:cNvSpPr>
          <p:nvPr>
            <p:ph type="title"/>
          </p:nvPr>
        </p:nvSpPr>
        <p:spPr>
          <a:xfrm>
            <a:off x="179388" y="333375"/>
            <a:ext cx="5410200" cy="884238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8.4.1 </a:t>
            </a:r>
            <a:r>
              <a:rPr lang="en-US" altLang="zh-CN" b="0">
                <a:sym typeface="+mn-ea"/>
              </a:rPr>
              <a:t>程序解析－加密</a:t>
            </a:r>
            <a:r>
              <a:rPr lang="en-US" altLang="zh-CN" b="0">
                <a:sym typeface="+mn-ea"/>
              </a:rPr>
              <a:t> </a:t>
            </a:r>
            <a:endParaRPr lang="en-US" altLang="zh-CN" b="0">
              <a:sym typeface="+mn-ea"/>
            </a:endParaRPr>
          </a:p>
        </p:txBody>
      </p:sp>
      <p:sp>
        <p:nvSpPr>
          <p:cNvPr id="48132" name="Text Box 4"/>
          <p:cNvSpPr/>
          <p:nvPr/>
        </p:nvSpPr>
        <p:spPr>
          <a:xfrm>
            <a:off x="323850" y="1196975"/>
            <a:ext cx="5832475" cy="402209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# define  MAXLINE 100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void </a:t>
            </a:r>
            <a:r>
              <a:rPr sz="1800">
                <a:latin typeface="+mn-ea"/>
                <a:cs typeface="+mn-ea"/>
                <a:sym typeface="+mn-ea"/>
              </a:rPr>
              <a:t>encrypt(char</a:t>
            </a:r>
            <a:r>
              <a:rPr sz="1800">
                <a:latin typeface="+mn-ea"/>
                <a:cs typeface="+mn-ea"/>
                <a:sym typeface="+mn-ea"/>
              </a:rPr>
              <a:t> *s);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int</a:t>
            </a:r>
            <a:r>
              <a:rPr sz="1800">
                <a:latin typeface="+mn-ea"/>
                <a:cs typeface="+mn-ea"/>
                <a:sym typeface="+mn-ea"/>
              </a:rPr>
              <a:t> main (void)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{   char line [MAXLINE];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  </a:t>
            </a:r>
            <a:r>
              <a:rPr sz="1800">
                <a:latin typeface="+mn-ea"/>
                <a:cs typeface="+mn-ea"/>
                <a:sym typeface="+mn-ea"/>
              </a:rPr>
              <a:t>printf</a:t>
            </a:r>
            <a:r>
              <a:rPr sz="1800">
                <a:latin typeface="+mn-ea"/>
                <a:cs typeface="+mn-ea"/>
                <a:sym typeface="+mn-ea"/>
              </a:rPr>
              <a:t> ("Input the string: ");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  </a:t>
            </a:r>
            <a:r>
              <a:rPr sz="1800">
                <a:latin typeface="+mn-ea"/>
                <a:cs typeface="+mn-ea"/>
                <a:sym typeface="+mn-ea"/>
              </a:rPr>
              <a:t>gets(line</a:t>
            </a:r>
            <a:r>
              <a:rPr sz="1800">
                <a:latin typeface="+mn-ea"/>
                <a:cs typeface="+mn-ea"/>
                <a:sym typeface="+mn-ea"/>
              </a:rPr>
              <a:t>);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  </a:t>
            </a:r>
            <a:r>
              <a:rPr sz="1800">
                <a:latin typeface="+mn-ea"/>
                <a:cs typeface="+mn-ea"/>
                <a:sym typeface="+mn-ea"/>
              </a:rPr>
              <a:t>encrypt </a:t>
            </a:r>
            <a:r>
              <a:rPr sz="1800">
                <a:latin typeface="+mn-ea"/>
                <a:cs typeface="+mn-ea"/>
                <a:sym typeface="+mn-ea"/>
              </a:rPr>
              <a:t>(line);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  </a:t>
            </a:r>
            <a:r>
              <a:rPr sz="1800">
                <a:latin typeface="+mn-ea"/>
                <a:cs typeface="+mn-ea"/>
                <a:sym typeface="+mn-ea"/>
              </a:rPr>
              <a:t>printf</a:t>
            </a:r>
            <a:r>
              <a:rPr sz="1800">
                <a:latin typeface="+mn-ea"/>
                <a:cs typeface="+mn-ea"/>
                <a:sym typeface="+mn-ea"/>
              </a:rPr>
              <a:t> (“After being encrypted: %</a:t>
            </a:r>
            <a:r>
              <a:rPr sz="1800">
                <a:latin typeface="+mn-ea"/>
                <a:cs typeface="+mn-ea"/>
                <a:sym typeface="+mn-ea"/>
              </a:rPr>
              <a:t>s\n</a:t>
            </a:r>
            <a:r>
              <a:rPr sz="1800">
                <a:latin typeface="+mn-ea"/>
                <a:cs typeface="+mn-ea"/>
                <a:sym typeface="+mn-ea"/>
              </a:rPr>
              <a:t>", line);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 return 0;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}</a:t>
            </a:r>
            <a:endParaRPr sz="1800">
              <a:latin typeface="+mn-ea"/>
              <a:cs typeface="+mn-ea"/>
              <a:sym typeface="+mn-ea"/>
            </a:endParaRPr>
          </a:p>
        </p:txBody>
      </p:sp>
      <p:sp>
        <p:nvSpPr>
          <p:cNvPr id="411653" name="Rectangle 5"/>
          <p:cNvSpPr/>
          <p:nvPr/>
        </p:nvSpPr>
        <p:spPr>
          <a:xfrm>
            <a:off x="5220018" y="1196658"/>
            <a:ext cx="3744912" cy="2693035"/>
          </a:xfrm>
          <a:prstGeom prst="rect">
            <a:avLst/>
          </a:prstGeom>
          <a:solidFill>
            <a:schemeClr val="bg1"/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void </a:t>
            </a:r>
            <a:r>
              <a:rPr sz="1800">
                <a:latin typeface="+mn-ea"/>
                <a:cs typeface="+mn-ea"/>
                <a:sym typeface="+mn-ea"/>
              </a:rPr>
              <a:t>encrypt</a:t>
            </a:r>
            <a:r>
              <a:rPr sz="1800">
                <a:latin typeface="+mn-ea"/>
                <a:cs typeface="+mn-ea"/>
                <a:sym typeface="+mn-ea"/>
              </a:rPr>
              <a:t> ( char *s)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{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  for ( ; *s != '\0'; s++)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      if (*s == 'z')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          *s = 'a';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	    else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            *s = *s+1;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}</a:t>
            </a:r>
            <a:endParaRPr sz="1800">
              <a:latin typeface="+mn-ea"/>
              <a:cs typeface="+mn-ea"/>
              <a:sym typeface="+mn-ea"/>
            </a:endParaRPr>
          </a:p>
        </p:txBody>
      </p:sp>
      <p:sp>
        <p:nvSpPr>
          <p:cNvPr id="411654" name="Rectangle 6"/>
          <p:cNvSpPr/>
          <p:nvPr/>
        </p:nvSpPr>
        <p:spPr>
          <a:xfrm>
            <a:off x="323850" y="5373053"/>
            <a:ext cx="5905500" cy="70040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Input the string</a:t>
            </a:r>
            <a:r>
              <a:rPr sz="1800">
                <a:latin typeface="+mn-ea"/>
                <a:cs typeface="+mn-ea"/>
                <a:sym typeface="+mn-ea"/>
              </a:rPr>
              <a:t>：</a:t>
            </a:r>
            <a:r>
              <a:rPr sz="1800">
                <a:latin typeface="+mn-ea"/>
                <a:cs typeface="+mn-ea"/>
                <a:sym typeface="+mn-ea"/>
              </a:rPr>
              <a:t>hello </a:t>
            </a:r>
            <a:r>
              <a:rPr sz="1800">
                <a:latin typeface="+mn-ea"/>
                <a:cs typeface="+mn-ea"/>
                <a:sym typeface="+mn-ea"/>
              </a:rPr>
              <a:t>hangzhou</a:t>
            </a:r>
            <a:endParaRPr sz="1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1800">
                <a:latin typeface="+mn-ea"/>
                <a:cs typeface="+mn-ea"/>
                <a:sym typeface="+mn-ea"/>
              </a:rPr>
              <a:t>After being encrypted: </a:t>
            </a:r>
            <a:r>
              <a:rPr sz="1800">
                <a:latin typeface="+mn-ea"/>
                <a:cs typeface="+mn-ea"/>
                <a:sym typeface="+mn-ea"/>
              </a:rPr>
              <a:t>ifmmp!ibohaipv</a:t>
            </a:r>
            <a:endParaRPr sz="1800"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3" grpId="0" bldLvl="0" animBg="1"/>
      <p:bldP spid="411654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5" name="Rectangle 4"/>
          <p:cNvSpPr>
            <a:spLocks noGrp="1"/>
          </p:cNvSpPr>
          <p:nvPr>
            <p:ph type="title"/>
          </p:nvPr>
        </p:nvSpPr>
        <p:spPr>
          <a:xfrm>
            <a:off x="381000" y="228600"/>
            <a:ext cx="7696200" cy="11049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8.4.2 </a:t>
            </a:r>
            <a:r>
              <a:rPr lang="en-US" altLang="zh-CN" b="0">
                <a:sym typeface="+mn-ea"/>
              </a:rPr>
              <a:t>字符串和字符指针</a:t>
            </a:r>
            <a:r>
              <a:rPr lang="en-US" altLang="zh-CN" b="0">
                <a:sym typeface="+mn-ea"/>
              </a:rPr>
              <a:t> </a:t>
            </a:r>
            <a:endParaRPr lang="en-US" altLang="zh-CN" b="0">
              <a:sym typeface="+mn-ea"/>
            </a:endParaRPr>
          </a:p>
        </p:txBody>
      </p:sp>
      <p:sp>
        <p:nvSpPr>
          <p:cNvPr id="410629" name="Rectangle 5"/>
          <p:cNvSpPr>
            <a:spLocks noGrp="1"/>
          </p:cNvSpPr>
          <p:nvPr>
            <p:ph idx="1"/>
          </p:nvPr>
        </p:nvSpPr>
        <p:spPr>
          <a:xfrm>
            <a:off x="900430" y="1341755"/>
            <a:ext cx="7405370" cy="4135755"/>
          </a:xfrm>
        </p:spPr>
        <p:txBody>
          <a:bodyPr vert="horz" wrap="square" lIns="90488" tIns="44450" rIns="90488" bIns="44450" anchor="t" anchorCtr="0"/>
          <a:p>
            <a:pPr eaLnBrk="1" hangingPunct="1"/>
            <a:r>
              <a:rPr lang="zh-CN" altLang="en-US" b="0" dirty="0"/>
              <a:t>字符串常量</a:t>
            </a:r>
            <a:endParaRPr lang="zh-CN" altLang="en-US" b="0" dirty="0"/>
          </a:p>
          <a:p>
            <a:pPr lvl="1" eaLnBrk="1" hangingPunct="1">
              <a:buNone/>
            </a:pPr>
            <a:r>
              <a:rPr lang="en-US" altLang="zh-CN" b="0"/>
              <a:t>"array"</a:t>
            </a:r>
            <a:endParaRPr lang="en-US" altLang="zh-CN" b="0"/>
          </a:p>
          <a:p>
            <a:pPr lvl="1" eaLnBrk="1" hangingPunct="1">
              <a:buNone/>
            </a:pPr>
            <a:r>
              <a:rPr lang="en-US" altLang="zh-CN" b="0"/>
              <a:t>"point"</a:t>
            </a:r>
            <a:endParaRPr lang="zh-CN" altLang="en-US" b="0" dirty="0"/>
          </a:p>
          <a:p>
            <a:pPr lvl="1" eaLnBrk="1" hangingPunct="1"/>
            <a:r>
              <a:rPr lang="zh-CN" altLang="en-US" b="0" dirty="0"/>
              <a:t>用一对双引号括起来的字符序列 </a:t>
            </a:r>
            <a:endParaRPr lang="zh-CN" altLang="en-US" b="0" dirty="0"/>
          </a:p>
          <a:p>
            <a:pPr lvl="1" eaLnBrk="1" hangingPunct="1"/>
            <a:r>
              <a:rPr lang="zh-CN" altLang="en-US" b="0" dirty="0"/>
              <a:t>被看做一个特殊的一维字符数组</a:t>
            </a:r>
            <a:r>
              <a:rPr lang="en-US" altLang="zh-CN" b="0"/>
              <a:t>,</a:t>
            </a:r>
            <a:r>
              <a:rPr lang="zh-CN" altLang="en-US" b="0" dirty="0"/>
              <a:t>在内存中连续存放 </a:t>
            </a:r>
            <a:endParaRPr lang="zh-CN" altLang="en-US" b="0" dirty="0"/>
          </a:p>
          <a:p>
            <a:pPr lvl="1" eaLnBrk="1" hangingPunct="1"/>
            <a:r>
              <a:rPr lang="zh-CN" altLang="en-US" b="0" dirty="0"/>
              <a:t>实质上是一个指向该字符串首字符的指针常量</a:t>
            </a:r>
            <a:endParaRPr lang="zh-CN" altLang="en-US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0629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>
                                            <p:txEl>
                                              <p:charRg st="6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10629">
                                            <p:txEl>
                                              <p:charRg st="6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>
                                            <p:txEl>
                                              <p:charRg st="14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10629">
                                            <p:txEl>
                                              <p:charRg st="14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>
                                            <p:txEl>
                                              <p:charRg st="22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10629">
                                            <p:txEl>
                                              <p:charRg st="22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>
                                            <p:txEl>
                                              <p:charRg st="38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10629">
                                            <p:txEl>
                                              <p:charRg st="38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>
                                            <p:txEl>
                                              <p:charRg st="63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10629">
                                            <p:txEl>
                                              <p:charRg st="63" end="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9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9" name="Rectangle 3"/>
          <p:cNvSpPr>
            <a:spLocks noGrp="1"/>
          </p:cNvSpPr>
          <p:nvPr>
            <p:ph idx="1"/>
          </p:nvPr>
        </p:nvSpPr>
        <p:spPr>
          <a:xfrm>
            <a:off x="395288" y="836613"/>
            <a:ext cx="4032250" cy="2675890"/>
          </a:xfr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char 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sa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[ ] = "array";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char *sp = "point";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printf("%s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", 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sa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); 	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printf("%s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", sp); 	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printf("%s\n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", "string");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   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</p:txBody>
      </p:sp>
      <p:sp>
        <p:nvSpPr>
          <p:cNvPr id="412677" name="Rectangle 5"/>
          <p:cNvSpPr/>
          <p:nvPr/>
        </p:nvSpPr>
        <p:spPr>
          <a:xfrm>
            <a:off x="395605" y="4292600"/>
            <a:ext cx="4104640" cy="52197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p>
            <a:pPr marL="457200" indent="-457200" algn="just"/>
            <a:r>
              <a:rPr lang="en-US" altLang="zh-CN" sz="2800">
                <a:latin typeface="Arial" panose="02080604020202020204" pitchFamily="34" charset="0"/>
              </a:rPr>
              <a:t>array point string</a:t>
            </a:r>
            <a:endParaRPr lang="en-US" altLang="zh-CN" sz="2800">
              <a:latin typeface="Arial" panose="02080604020202020204" pitchFamily="34" charset="0"/>
            </a:endParaRPr>
          </a:p>
        </p:txBody>
      </p:sp>
      <p:sp>
        <p:nvSpPr>
          <p:cNvPr id="412678" name="Rectangle 6"/>
          <p:cNvSpPr/>
          <p:nvPr/>
        </p:nvSpPr>
        <p:spPr>
          <a:xfrm>
            <a:off x="4499928" y="837565"/>
            <a:ext cx="4465637" cy="134683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printf("%s</a:t>
            </a:r>
            <a:r>
              <a:rPr sz="2400">
                <a:latin typeface="+mn-ea"/>
                <a:cs typeface="+mn-ea"/>
                <a:sym typeface="+mn-ea"/>
              </a:rPr>
              <a:t> ", sa+2); 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printf("%s</a:t>
            </a:r>
            <a:r>
              <a:rPr sz="2400">
                <a:latin typeface="+mn-ea"/>
                <a:cs typeface="+mn-ea"/>
                <a:sym typeface="+mn-ea"/>
              </a:rPr>
              <a:t> ", sp+3); 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printf("%s\n</a:t>
            </a:r>
            <a:r>
              <a:rPr sz="2400">
                <a:latin typeface="+mn-ea"/>
                <a:cs typeface="+mn-ea"/>
                <a:sym typeface="+mn-ea"/>
              </a:rPr>
              <a:t>", "string"+1); </a:t>
            </a:r>
            <a:endParaRPr sz="2400">
              <a:latin typeface="+mn-ea"/>
              <a:cs typeface="+mn-ea"/>
              <a:sym typeface="+mn-ea"/>
            </a:endParaRPr>
          </a:p>
        </p:txBody>
      </p:sp>
      <p:sp>
        <p:nvSpPr>
          <p:cNvPr id="412679" name="Rectangle 7"/>
          <p:cNvSpPr/>
          <p:nvPr/>
        </p:nvSpPr>
        <p:spPr>
          <a:xfrm>
            <a:off x="5074920" y="2425383"/>
            <a:ext cx="2305050" cy="52197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p>
            <a:pPr marL="457200" indent="-457200" algn="just"/>
            <a:r>
              <a:rPr lang="en-US" altLang="zh-CN" sz="2800">
                <a:latin typeface="Arial" panose="02080604020202020204" pitchFamily="34" charset="0"/>
              </a:rPr>
              <a:t>ray </a:t>
            </a:r>
            <a:r>
              <a:rPr lang="en-US" altLang="zh-CN" sz="2800" err="1">
                <a:latin typeface="Arial" panose="02080604020202020204" pitchFamily="34" charset="0"/>
              </a:rPr>
              <a:t>nt</a:t>
            </a:r>
            <a:r>
              <a:rPr lang="en-US" altLang="zh-CN" sz="2800">
                <a:latin typeface="Arial" panose="02080604020202020204" pitchFamily="34" charset="0"/>
              </a:rPr>
              <a:t> </a:t>
            </a:r>
            <a:r>
              <a:rPr lang="en-US" altLang="zh-CN" sz="2800" err="1">
                <a:latin typeface="Arial" panose="02080604020202020204" pitchFamily="34" charset="0"/>
              </a:rPr>
              <a:t>tring</a:t>
            </a:r>
            <a:endParaRPr lang="en-US" altLang="zh-CN" sz="2800">
              <a:latin typeface="Arial" panose="02080604020202020204" pitchFamily="34" charset="0"/>
            </a:endParaRPr>
          </a:p>
        </p:txBody>
      </p:sp>
      <p:sp>
        <p:nvSpPr>
          <p:cNvPr id="50183" name="Rectangle 8"/>
          <p:cNvSpPr/>
          <p:nvPr/>
        </p:nvSpPr>
        <p:spPr>
          <a:xfrm>
            <a:off x="323850" y="5300663"/>
            <a:ext cx="8640763" cy="10096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800" dirty="0">
                <a:latin typeface="Arial" panose="02080604020202020204" pitchFamily="34" charset="0"/>
              </a:rPr>
              <a:t>数组名</a:t>
            </a:r>
            <a:r>
              <a:rPr lang="en-US" altLang="zh-CN" sz="2800" err="1">
                <a:latin typeface="Arial" panose="02080604020202020204" pitchFamily="34" charset="0"/>
              </a:rPr>
              <a:t>sa</a:t>
            </a:r>
            <a:r>
              <a:rPr lang="zh-CN" altLang="en-US" sz="2800" dirty="0">
                <a:latin typeface="Arial" panose="02080604020202020204" pitchFamily="34" charset="0"/>
              </a:rPr>
              <a:t>、指针</a:t>
            </a:r>
            <a:r>
              <a:rPr lang="en-US" altLang="zh-CN" sz="2800">
                <a:latin typeface="Arial" panose="02080604020202020204" pitchFamily="34" charset="0"/>
              </a:rPr>
              <a:t>sp</a:t>
            </a:r>
            <a:r>
              <a:rPr lang="zh-CN" altLang="en-US" sz="2800" dirty="0">
                <a:latin typeface="Arial" panose="02080604020202020204" pitchFamily="34" charset="0"/>
              </a:rPr>
              <a:t>和字符串 </a:t>
            </a:r>
            <a:r>
              <a:rPr lang="en-US" altLang="zh-CN" sz="2800">
                <a:latin typeface="Arial" panose="02080604020202020204" pitchFamily="34" charset="0"/>
              </a:rPr>
              <a:t>"string" </a:t>
            </a:r>
            <a:r>
              <a:rPr lang="zh-CN" altLang="en-US" sz="2800" dirty="0">
                <a:latin typeface="Arial" panose="02080604020202020204" pitchFamily="34" charset="0"/>
              </a:rPr>
              <a:t>的值都是</a:t>
            </a:r>
            <a:r>
              <a:rPr lang="zh-CN" altLang="en-US" sz="2800" dirty="0">
                <a:solidFill>
                  <a:schemeClr val="bg2"/>
                </a:solidFill>
                <a:latin typeface="Arial" panose="02080604020202020204" pitchFamily="34" charset="0"/>
              </a:rPr>
              <a:t>地址 </a:t>
            </a:r>
            <a:endParaRPr lang="zh-CN" altLang="en-US" sz="2800" dirty="0">
              <a:solidFill>
                <a:schemeClr val="bg2"/>
              </a:solidFill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1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2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2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2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2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7" grpId="0" bldLvl="0" animBg="1"/>
      <p:bldP spid="412678" grpId="0" bldLvl="0" animBg="1"/>
      <p:bldP spid="412679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3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595313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字符数组与字符指针的重要区别 </a:t>
            </a:r>
            <a:endParaRPr lang="en-US" altLang="zh-CN" b="0">
              <a:sym typeface="+mn-ea"/>
            </a:endParaRPr>
          </a:p>
        </p:txBody>
      </p:sp>
      <p:sp>
        <p:nvSpPr>
          <p:cNvPr id="51204" name="Rectangle 4"/>
          <p:cNvSpPr/>
          <p:nvPr/>
        </p:nvSpPr>
        <p:spPr>
          <a:xfrm>
            <a:off x="468313" y="1125538"/>
            <a:ext cx="6335712" cy="103886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800">
                <a:latin typeface="+mn-ea"/>
                <a:cs typeface="+mn-ea"/>
                <a:sym typeface="+mn-ea"/>
              </a:rPr>
              <a:t>char </a:t>
            </a:r>
            <a:r>
              <a:rPr sz="2800">
                <a:latin typeface="+mn-ea"/>
                <a:cs typeface="+mn-ea"/>
                <a:sym typeface="+mn-ea"/>
              </a:rPr>
              <a:t>sa</a:t>
            </a:r>
            <a:r>
              <a:rPr sz="2800">
                <a:latin typeface="+mn-ea"/>
                <a:cs typeface="+mn-ea"/>
                <a:sym typeface="+mn-ea"/>
              </a:rPr>
              <a:t>[ ] = "This is a string";</a:t>
            </a:r>
            <a:endParaRPr sz="28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800">
                <a:latin typeface="+mn-ea"/>
                <a:cs typeface="+mn-ea"/>
                <a:sym typeface="+mn-ea"/>
              </a:rPr>
              <a:t>char *sp = "This is a string";</a:t>
            </a:r>
            <a:endParaRPr sz="2800">
              <a:latin typeface="+mn-ea"/>
              <a:cs typeface="+mn-ea"/>
              <a:sym typeface="+mn-ea"/>
            </a:endParaRPr>
          </a:p>
        </p:txBody>
      </p:sp>
      <p:sp>
        <p:nvSpPr>
          <p:cNvPr id="51205" name="Rectangle 5"/>
          <p:cNvSpPr/>
          <p:nvPr/>
        </p:nvSpPr>
        <p:spPr>
          <a:xfrm>
            <a:off x="323850" y="2565400"/>
            <a:ext cx="1225550" cy="431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p>
            <a:pPr marL="742950" lvl="1" indent="-28575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err="1">
                <a:latin typeface="Arial" panose="02080604020202020204" pitchFamily="34" charset="0"/>
              </a:rPr>
              <a:t>sa</a:t>
            </a:r>
            <a:endParaRPr lang="en-US" altLang="zh-CN" sz="2400" err="1">
              <a:latin typeface="Arial" panose="02080604020202020204" pitchFamily="34" charset="0"/>
            </a:endParaRPr>
          </a:p>
        </p:txBody>
      </p:sp>
      <p:graphicFrame>
        <p:nvGraphicFramePr>
          <p:cNvPr id="51206" name="表格占位符 51205"/>
          <p:cNvGraphicFramePr/>
          <p:nvPr>
            <p:ph type="tbl" idx="1"/>
          </p:nvPr>
        </p:nvGraphicFramePr>
        <p:xfrm>
          <a:off x="1476375" y="2565400"/>
          <a:ext cx="5864225" cy="519113"/>
        </p:xfrm>
        <a:graphic>
          <a:graphicData uri="http://schemas.openxmlformats.org/drawingml/2006/table">
            <a:tbl>
              <a:tblPr/>
              <a:tblGrid>
                <a:gridCol w="334963"/>
                <a:gridCol w="336550"/>
                <a:gridCol w="334645"/>
                <a:gridCol w="338455"/>
                <a:gridCol w="334962"/>
                <a:gridCol w="336550"/>
                <a:gridCol w="334963"/>
                <a:gridCol w="336550"/>
                <a:gridCol w="338137"/>
                <a:gridCol w="334963"/>
                <a:gridCol w="336550"/>
                <a:gridCol w="334962"/>
                <a:gridCol w="336550"/>
                <a:gridCol w="334963"/>
                <a:gridCol w="338137"/>
                <a:gridCol w="334963"/>
                <a:gridCol w="487362"/>
              </a:tblGrid>
              <a:tr h="519113"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T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h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i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s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endParaRPr lang="zh-CN" altLang="en-US" sz="2400" b="0" dirty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i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s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endParaRPr lang="zh-CN" altLang="en-US" sz="2400" b="0" dirty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a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endParaRPr lang="zh-CN" altLang="en-US" sz="2400" b="0" dirty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s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t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r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i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n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g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\0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1244" name="Rectangle 57"/>
          <p:cNvSpPr/>
          <p:nvPr/>
        </p:nvSpPr>
        <p:spPr>
          <a:xfrm>
            <a:off x="333375" y="3606800"/>
            <a:ext cx="1225550" cy="431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p>
            <a:pPr marL="742950" lvl="1" indent="-28575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>
                <a:latin typeface="Arial" panose="02080604020202020204" pitchFamily="34" charset="0"/>
              </a:rPr>
              <a:t>sp</a:t>
            </a:r>
            <a:endParaRPr lang="en-US" altLang="zh-CN" sz="2400">
              <a:latin typeface="Arial" panose="02080604020202020204" pitchFamily="34" charset="0"/>
            </a:endParaRPr>
          </a:p>
        </p:txBody>
      </p:sp>
      <p:graphicFrame>
        <p:nvGraphicFramePr>
          <p:cNvPr id="51245" name="表格 51244"/>
          <p:cNvGraphicFramePr/>
          <p:nvPr/>
        </p:nvGraphicFramePr>
        <p:xfrm>
          <a:off x="2771775" y="3644900"/>
          <a:ext cx="5864225" cy="519113"/>
        </p:xfrm>
        <a:graphic>
          <a:graphicData uri="http://schemas.openxmlformats.org/drawingml/2006/table">
            <a:tbl>
              <a:tblPr/>
              <a:tblGrid>
                <a:gridCol w="334963"/>
                <a:gridCol w="336550"/>
                <a:gridCol w="334962"/>
                <a:gridCol w="338138"/>
                <a:gridCol w="334962"/>
                <a:gridCol w="336550"/>
                <a:gridCol w="334963"/>
                <a:gridCol w="336550"/>
                <a:gridCol w="338137"/>
                <a:gridCol w="334963"/>
                <a:gridCol w="336550"/>
                <a:gridCol w="334962"/>
                <a:gridCol w="336550"/>
                <a:gridCol w="334963"/>
                <a:gridCol w="338137"/>
                <a:gridCol w="334963"/>
                <a:gridCol w="487362"/>
              </a:tblGrid>
              <a:tr h="519113"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T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h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i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s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endParaRPr lang="zh-CN" altLang="en-US" sz="2400" b="0" dirty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i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s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endParaRPr lang="zh-CN" altLang="en-US" sz="2400" b="0" dirty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a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endParaRPr lang="zh-CN" altLang="en-US" sz="2400" b="0" dirty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s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t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r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i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n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g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Char char="n"/>
                        <a:defRPr sz="2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Char char="¨"/>
                        <a:defRPr sz="24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lvl="2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20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lvl="3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¨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lvl="4" indent="-228600" algn="l" rtl="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0"/>
                        <a:t>\0</a:t>
                      </a:r>
                      <a:endParaRPr lang="en-US" altLang="zh-CN" sz="2400" b="0"/>
                    </a:p>
                  </a:txBody>
                  <a:tcPr marL="92075" marR="92075" marT="46038" marB="4603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14825" name="Group 105"/>
          <p:cNvGraphicFramePr>
            <a:graphicFrameLocks noGrp="1"/>
          </p:cNvGraphicFramePr>
          <p:nvPr/>
        </p:nvGraphicFramePr>
        <p:xfrm>
          <a:off x="1476375" y="3644900"/>
          <a:ext cx="455613" cy="519113"/>
        </p:xfrm>
        <a:graphic>
          <a:graphicData uri="http://schemas.openxmlformats.org/drawingml/2006/table">
            <a:tbl>
              <a:tblPr/>
              <a:tblGrid>
                <a:gridCol w="455613"/>
              </a:tblGrid>
              <a:tr h="447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80604020202020204" pitchFamily="34" charset="0"/>
                        <a:ea typeface="宋体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1289" name="Line 107"/>
          <p:cNvSpPr/>
          <p:nvPr/>
        </p:nvSpPr>
        <p:spPr>
          <a:xfrm>
            <a:off x="1908175" y="3933825"/>
            <a:ext cx="863600" cy="0"/>
          </a:xfrm>
          <a:prstGeom prst="line">
            <a:avLst/>
          </a:prstGeom>
          <a:ln w="38100" cap="flat" cmpd="sng">
            <a:solidFill>
              <a:schemeClr val="bg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1290" name="Rectangle 108"/>
          <p:cNvSpPr/>
          <p:nvPr/>
        </p:nvSpPr>
        <p:spPr>
          <a:xfrm>
            <a:off x="73025" y="4437380"/>
            <a:ext cx="8983980" cy="150431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p>
            <a:pPr marL="742950" lvl="1" indent="-28575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400" dirty="0">
                <a:latin typeface="Arial" panose="02080604020202020204" pitchFamily="34" charset="0"/>
              </a:rPr>
              <a:t>如果要改变数组</a:t>
            </a:r>
            <a:r>
              <a:rPr lang="en-US" altLang="zh-CN" sz="2400" err="1">
                <a:latin typeface="Arial" panose="02080604020202020204" pitchFamily="34" charset="0"/>
              </a:rPr>
              <a:t>sa</a:t>
            </a:r>
            <a:r>
              <a:rPr lang="zh-CN" altLang="en-US" sz="2400" dirty="0">
                <a:latin typeface="Arial" panose="02080604020202020204" pitchFamily="34" charset="0"/>
              </a:rPr>
              <a:t>所代表的字符串，只能改变数组元素的内容</a:t>
            </a:r>
            <a:endParaRPr lang="zh-CN" altLang="en-US" sz="2400" dirty="0">
              <a:latin typeface="Arial" panose="02080604020202020204" pitchFamily="34" charset="0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400" dirty="0">
                <a:latin typeface="Arial" panose="02080604020202020204" pitchFamily="34" charset="0"/>
              </a:rPr>
              <a:t>如果要改变指针</a:t>
            </a:r>
            <a:r>
              <a:rPr lang="en-US" altLang="zh-CN" sz="2400">
                <a:latin typeface="Arial" panose="02080604020202020204" pitchFamily="34" charset="0"/>
              </a:rPr>
              <a:t>sp</a:t>
            </a:r>
            <a:r>
              <a:rPr lang="zh-CN" altLang="en-US" sz="2400" dirty="0">
                <a:latin typeface="Arial" panose="02080604020202020204" pitchFamily="34" charset="0"/>
              </a:rPr>
              <a:t>所代表的字符串，通常直接改变指针的值，让它指向新的字符串</a:t>
            </a:r>
            <a:endParaRPr lang="en-US" altLang="zh-CN" sz="2400">
              <a:latin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7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68338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示例</a:t>
            </a:r>
            <a:endParaRPr lang="en-US" altLang="zh-CN" b="0">
              <a:sym typeface="+mn-ea"/>
            </a:endParaRPr>
          </a:p>
        </p:txBody>
      </p:sp>
      <p:sp>
        <p:nvSpPr>
          <p:cNvPr id="417795" name="Rectangle 3"/>
          <p:cNvSpPr>
            <a:spLocks noGrp="1"/>
          </p:cNvSpPr>
          <p:nvPr>
            <p:ph idx="1"/>
          </p:nvPr>
        </p:nvSpPr>
        <p:spPr>
          <a:xfrm>
            <a:off x="468313" y="1268413"/>
            <a:ext cx="8424862" cy="3562350"/>
          </a:xfr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char 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sa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[ ] = "This is a string";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char *sp = "This is a string";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strcpy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(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sa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, "Hello");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sp = "Hello";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sa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= “Hello”;  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非法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lvl="1" algn="l"/>
            <a:r>
              <a:rPr sz="2400">
                <a:sym typeface="+mn-ea"/>
              </a:rPr>
              <a:t>数组名是常量，不能对它赋值</a:t>
            </a:r>
            <a:endParaRPr sz="24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charRg st="33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charRg st="65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charRg st="87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charRg st="102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17795">
                                            <p:txEl>
                                              <p:charRg st="102" end="1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charRg st="120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5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1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68338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字符指针－先赋值，后引用</a:t>
            </a:r>
            <a:endParaRPr lang="en-US" altLang="zh-CN" b="0">
              <a:sym typeface="+mn-ea"/>
            </a:endParaRPr>
          </a:p>
        </p:txBody>
      </p:sp>
      <p:sp>
        <p:nvSpPr>
          <p:cNvPr id="430083" name="Rectangle 3"/>
          <p:cNvSpPr>
            <a:spLocks noGrp="1"/>
          </p:cNvSpPr>
          <p:nvPr>
            <p:ph idx="1"/>
          </p:nvPr>
        </p:nvSpPr>
        <p:spPr>
          <a:xfrm>
            <a:off x="468313" y="1412875"/>
            <a:ext cx="8280400" cy="3723005"/>
          </a:xfr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定义字符指针后，如果没有对它赋值，指针的值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不确定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。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char *s 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scanf(“%s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”, s);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char *s, str[20];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s =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str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scanf(“%s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”, s);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定义指针时，先将它的初值置为空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char *s = NULL;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</p:txBody>
      </p:sp>
      <p:sp>
        <p:nvSpPr>
          <p:cNvPr id="430084" name="Text Box 4"/>
          <p:cNvSpPr txBox="1"/>
          <p:nvPr/>
        </p:nvSpPr>
        <p:spPr>
          <a:xfrm>
            <a:off x="3851275" y="2349500"/>
            <a:ext cx="3455988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不要引用未赋值的指针</a:t>
            </a:r>
            <a:endParaRPr lang="zh-CN" altLang="en-US" sz="2400" b="1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008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30083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charRg st="27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30083">
                                            <p:txEl>
                                              <p:charRg st="27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charRg st="37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30083">
                                            <p:txEl>
                                              <p:charRg st="37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3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charRg st="54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30083">
                                            <p:txEl>
                                              <p:charRg st="54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charRg st="72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30083">
                                            <p:txEl>
                                              <p:charRg st="72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charRg st="81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30083">
                                            <p:txEl>
                                              <p:charRg st="81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charRg st="98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30083">
                                            <p:txEl>
                                              <p:charRg st="98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charRg st="114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30083">
                                            <p:txEl>
                                              <p:charRg st="114" end="1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3" grpId="0" uiExpand="1" build="p"/>
      <p:bldP spid="43008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54275" name="Rectangle 2"/>
          <p:cNvSpPr>
            <a:spLocks noGrp="1"/>
          </p:cNvSpPr>
          <p:nvPr>
            <p:ph type="title"/>
          </p:nvPr>
        </p:nvSpPr>
        <p:spPr>
          <a:xfrm>
            <a:off x="468313" y="620713"/>
            <a:ext cx="5183187" cy="739775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加密函数的两种实现</a:t>
            </a:r>
            <a:endParaRPr lang="en-US" altLang="zh-CN" b="0">
              <a:sym typeface="+mn-ea"/>
            </a:endParaRPr>
          </a:p>
        </p:txBody>
      </p:sp>
      <p:sp>
        <p:nvSpPr>
          <p:cNvPr id="54276" name="Rectangle 3"/>
          <p:cNvSpPr>
            <a:spLocks noGrp="1"/>
          </p:cNvSpPr>
          <p:nvPr>
            <p:ph idx="1"/>
          </p:nvPr>
        </p:nvSpPr>
        <p:spPr>
          <a:xfrm>
            <a:off x="4427538" y="1844675"/>
            <a:ext cx="4473575" cy="4004945"/>
          </a:xfr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void 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encrypt 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(char 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s[ ]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)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{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   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i;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	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for(i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= 0; 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s[i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] != '\0'; i++)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       if (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s[i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] == 'z')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           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s[i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] = 'a';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	    else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            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s[i</a:t>
            </a: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] = s[i]+1;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400" b="0" kern="1200">
                <a:latin typeface="+mn-ea"/>
                <a:ea typeface="宋体" pitchFamily="2" charset="-122"/>
                <a:cs typeface="+mn-ea"/>
                <a:sym typeface="+mn-ea"/>
              </a:rPr>
              <a:t>}</a:t>
            </a:r>
            <a:endParaRPr sz="2400" b="0" kern="1200">
              <a:latin typeface="+mn-ea"/>
              <a:ea typeface="宋体" pitchFamily="2" charset="-122"/>
              <a:cs typeface="+mn-ea"/>
              <a:sym typeface="+mn-ea"/>
            </a:endParaRPr>
          </a:p>
        </p:txBody>
      </p:sp>
      <p:sp>
        <p:nvSpPr>
          <p:cNvPr id="54277" name="Rectangle 4"/>
          <p:cNvSpPr/>
          <p:nvPr/>
        </p:nvSpPr>
        <p:spPr>
          <a:xfrm>
            <a:off x="323533" y="1844358"/>
            <a:ext cx="4114800" cy="356235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void </a:t>
            </a:r>
            <a:r>
              <a:rPr sz="2400">
                <a:latin typeface="+mn-ea"/>
                <a:cs typeface="+mn-ea"/>
                <a:sym typeface="+mn-ea"/>
              </a:rPr>
              <a:t>encrypt</a:t>
            </a:r>
            <a:r>
              <a:rPr sz="2400">
                <a:latin typeface="+mn-ea"/>
                <a:cs typeface="+mn-ea"/>
                <a:sym typeface="+mn-ea"/>
              </a:rPr>
              <a:t> ( char </a:t>
            </a:r>
            <a:r>
              <a:rPr sz="2400">
                <a:latin typeface="+mn-ea"/>
                <a:cs typeface="+mn-ea"/>
                <a:sym typeface="+mn-ea"/>
              </a:rPr>
              <a:t>*s</a:t>
            </a:r>
            <a:r>
              <a:rPr sz="2400">
                <a:latin typeface="+mn-ea"/>
                <a:cs typeface="+mn-ea"/>
                <a:sym typeface="+mn-ea"/>
              </a:rPr>
              <a:t>)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{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 for ( ; *s != '\0'; s++)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     if (*s == 'z')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         *s = 'a';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	    else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         *s = *s+1;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}</a:t>
            </a:r>
            <a:endParaRPr sz="2400"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9" name="Rectangle 4"/>
          <p:cNvSpPr>
            <a:spLocks noGrp="1"/>
          </p:cNvSpPr>
          <p:nvPr>
            <p:ph type="title"/>
          </p:nvPr>
        </p:nvSpPr>
        <p:spPr>
          <a:xfrm>
            <a:off x="395288" y="404813"/>
            <a:ext cx="7696200" cy="11049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8.4.3 </a:t>
            </a:r>
            <a:r>
              <a:rPr lang="en-US" altLang="zh-CN" b="0">
                <a:sym typeface="+mn-ea"/>
              </a:rPr>
              <a:t>常用的字符串处理函数</a:t>
            </a:r>
            <a:endParaRPr lang="en-US" altLang="zh-CN" b="0">
              <a:sym typeface="+mn-ea"/>
            </a:endParaRPr>
          </a:p>
        </p:txBody>
      </p:sp>
      <p:sp>
        <p:nvSpPr>
          <p:cNvPr id="55300" name="Rectangle 5"/>
          <p:cNvSpPr>
            <a:spLocks noGrp="1"/>
          </p:cNvSpPr>
          <p:nvPr>
            <p:ph idx="1"/>
          </p:nvPr>
        </p:nvSpPr>
        <p:spPr>
          <a:xfrm>
            <a:off x="827088" y="1628775"/>
            <a:ext cx="7488237" cy="4419600"/>
          </a:xfrm>
        </p:spPr>
        <p:txBody>
          <a:bodyPr vert="horz" wrap="square" lIns="90488" tIns="44450" rIns="90488" bIns="44450" anchor="t" anchorCtr="0"/>
          <a:p>
            <a:pPr eaLnBrk="1" hangingPunct="1"/>
            <a:r>
              <a:rPr lang="zh-CN" altLang="en-US" dirty="0"/>
              <a:t>函数原型在 </a:t>
            </a:r>
            <a:r>
              <a:rPr lang="en-US" altLang="zh-CN" err="1"/>
              <a:t>stdio.h</a:t>
            </a:r>
            <a:r>
              <a:rPr lang="en-US" altLang="zh-CN"/>
              <a:t> </a:t>
            </a:r>
            <a:r>
              <a:rPr lang="zh-CN" altLang="en-US" dirty="0"/>
              <a:t>或 </a:t>
            </a:r>
            <a:r>
              <a:rPr lang="en-US" altLang="zh-CN" err="1"/>
              <a:t>string.h</a:t>
            </a:r>
            <a:r>
              <a:rPr lang="en-US" altLang="zh-CN"/>
              <a:t> </a:t>
            </a:r>
            <a:r>
              <a:rPr lang="zh-CN" altLang="en-US" dirty="0"/>
              <a:t>中给出</a:t>
            </a:r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1、字符串的输入和输出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输入字符串：</a:t>
            </a:r>
            <a:r>
              <a:rPr lang="en-US" altLang="zh-CN" err="1">
                <a:solidFill>
                  <a:schemeClr val="bg2"/>
                </a:solidFill>
              </a:rPr>
              <a:t>scanf</a:t>
            </a:r>
            <a:r>
              <a:rPr lang="en-US" altLang="zh-CN"/>
              <a:t>( )</a:t>
            </a:r>
            <a:r>
              <a:rPr lang="zh-CN" altLang="en-US" dirty="0"/>
              <a:t>或</a:t>
            </a:r>
            <a:r>
              <a:rPr lang="en-US" altLang="zh-CN">
                <a:solidFill>
                  <a:schemeClr val="bg2"/>
                </a:solidFill>
              </a:rPr>
              <a:t>gets</a:t>
            </a:r>
            <a:r>
              <a:rPr lang="en-US" altLang="zh-CN"/>
              <a:t>( )</a:t>
            </a:r>
            <a:endParaRPr lang="en-US" altLang="zh-CN"/>
          </a:p>
          <a:p>
            <a:pPr lvl="1" eaLnBrk="1" hangingPunct="1"/>
            <a:r>
              <a:rPr lang="zh-CN" altLang="en-US" dirty="0"/>
              <a:t>输出字符串：</a:t>
            </a:r>
            <a:r>
              <a:rPr lang="en-US" altLang="zh-CN" err="1">
                <a:solidFill>
                  <a:schemeClr val="bg2"/>
                </a:solidFill>
              </a:rPr>
              <a:t>printf</a:t>
            </a:r>
            <a:r>
              <a:rPr lang="en-US" altLang="zh-CN"/>
              <a:t>( )</a:t>
            </a:r>
            <a:r>
              <a:rPr lang="zh-CN" altLang="en-US" dirty="0"/>
              <a:t>或</a:t>
            </a:r>
            <a:r>
              <a:rPr lang="en-US" altLang="zh-CN">
                <a:solidFill>
                  <a:schemeClr val="bg2"/>
                </a:solidFill>
              </a:rPr>
              <a:t>puts</a:t>
            </a:r>
            <a:r>
              <a:rPr lang="en-US" altLang="zh-CN"/>
              <a:t>( )</a:t>
            </a:r>
            <a:r>
              <a:rPr lang="zh-CN" altLang="en-US" dirty="0"/>
              <a:t> </a:t>
            </a:r>
            <a:endParaRPr lang="zh-CN" altLang="en-US" dirty="0"/>
          </a:p>
          <a:p>
            <a:pPr lvl="1" eaLnBrk="1" hangingPunct="1"/>
            <a:r>
              <a:rPr lang="en-US" altLang="zh-CN" err="1">
                <a:solidFill>
                  <a:schemeClr val="bg2"/>
                </a:solidFill>
              </a:rPr>
              <a:t>stdio.h</a:t>
            </a:r>
            <a:endParaRPr lang="zh-CN" alt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7316" name="Rectangle 4"/>
          <p:cNvSpPr>
            <a:spLocks noGrp="1"/>
          </p:cNvSpPr>
          <p:nvPr>
            <p:ph idx="1"/>
          </p:nvPr>
        </p:nvSpPr>
        <p:spPr>
          <a:xfrm>
            <a:off x="250825" y="1341438"/>
            <a:ext cx="8642350" cy="4461510"/>
          </a:xfr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1" algn="l"/>
            <a:r>
              <a:rPr sz="2000" b="0">
                <a:sym typeface="+mn-ea"/>
              </a:rPr>
              <a:t>char str[80];</a:t>
            </a:r>
            <a:endParaRPr sz="2000" b="0">
              <a:sym typeface="+mn-ea"/>
            </a:endParaRPr>
          </a:p>
          <a:p>
            <a:pPr lvl="1" algn="l"/>
            <a:r>
              <a:rPr sz="2000" b="0">
                <a:sym typeface="+mn-ea"/>
              </a:rPr>
              <a:t>i = 0; </a:t>
            </a:r>
            <a:endParaRPr sz="2000" b="0">
              <a:sym typeface="+mn-ea"/>
            </a:endParaRPr>
          </a:p>
          <a:p>
            <a:pPr lvl="1" algn="l"/>
            <a:r>
              <a:rPr sz="2000" b="0">
                <a:sym typeface="+mn-ea"/>
              </a:rPr>
              <a:t>while(</a:t>
            </a:r>
            <a:r>
              <a:rPr sz="2000" b="0">
                <a:sym typeface="+mn-ea"/>
              </a:rPr>
              <a:t>(str[i</a:t>
            </a:r>
            <a:r>
              <a:rPr sz="2000" b="0">
                <a:sym typeface="+mn-ea"/>
              </a:rPr>
              <a:t>] = </a:t>
            </a:r>
            <a:r>
              <a:rPr sz="2000" b="0">
                <a:sym typeface="+mn-ea"/>
              </a:rPr>
              <a:t>getchar</a:t>
            </a:r>
            <a:r>
              <a:rPr sz="2000" b="0">
                <a:sym typeface="+mn-ea"/>
              </a:rPr>
              <a:t>( ))</a:t>
            </a:r>
            <a:r>
              <a:rPr sz="2000" b="0">
                <a:sym typeface="+mn-ea"/>
              </a:rPr>
              <a:t> != '\n')</a:t>
            </a:r>
            <a:endParaRPr sz="2000" b="0">
              <a:sym typeface="+mn-ea"/>
            </a:endParaRPr>
          </a:p>
          <a:p>
            <a:pPr lvl="1" algn="l"/>
            <a:r>
              <a:rPr sz="2000" b="0">
                <a:sym typeface="+mn-ea"/>
              </a:rPr>
              <a:t>    i++;  </a:t>
            </a:r>
            <a:endParaRPr sz="2000" b="0">
              <a:sym typeface="+mn-ea"/>
            </a:endParaRPr>
          </a:p>
          <a:p>
            <a:pPr lvl="1" algn="l"/>
            <a:r>
              <a:rPr sz="2000" b="0">
                <a:sym typeface="+mn-ea"/>
              </a:rPr>
              <a:t>str[i</a:t>
            </a:r>
            <a:r>
              <a:rPr sz="2000" b="0">
                <a:sym typeface="+mn-ea"/>
              </a:rPr>
              <a:t>] = '\0';</a:t>
            </a:r>
            <a:endParaRPr sz="2000" b="0">
              <a:sym typeface="+mn-ea"/>
            </a:endParaRPr>
          </a:p>
          <a:p>
            <a:pPr lvl="1" algn="l"/>
            <a:endParaRPr sz="2000" b="0"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(1)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scanf("%s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",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str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)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;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lvl="1" algn="l"/>
            <a:r>
              <a:rPr sz="2000" b="0">
                <a:sym typeface="+mn-ea"/>
              </a:rPr>
              <a:t>输入参数：字符数组名,不加地址符</a:t>
            </a:r>
            <a:endParaRPr sz="2000" b="0">
              <a:sym typeface="+mn-ea"/>
            </a:endParaRPr>
          </a:p>
          <a:p>
            <a:pPr lvl="1" algn="l"/>
            <a:r>
              <a:rPr sz="2000" b="0">
                <a:sym typeface="+mn-ea"/>
              </a:rPr>
              <a:t>遇</a:t>
            </a:r>
            <a:r>
              <a:rPr sz="2000" b="0">
                <a:sym typeface="+mn-ea"/>
              </a:rPr>
              <a:t>回车或空格</a:t>
            </a:r>
            <a:r>
              <a:rPr sz="2000" b="0">
                <a:sym typeface="+mn-ea"/>
              </a:rPr>
              <a:t>输入结束，并自动将输入的一串字符和 </a:t>
            </a:r>
            <a:r>
              <a:rPr sz="2000" b="0">
                <a:sym typeface="+mn-ea"/>
              </a:rPr>
              <a:t>‘\0’ </a:t>
            </a:r>
            <a:r>
              <a:rPr sz="2000" b="0">
                <a:sym typeface="+mn-ea"/>
              </a:rPr>
              <a:t>送入数组中 </a:t>
            </a:r>
            <a:endParaRPr sz="2000" b="0">
              <a:sym typeface="+mn-ea"/>
            </a:endParaRPr>
          </a:p>
          <a:p>
            <a:pPr lvl="1" algn="l"/>
            <a:endParaRPr sz="2000" b="0"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(2)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gets(str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)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lvl="1" algn="l"/>
            <a:r>
              <a:rPr sz="2000" b="0">
                <a:sym typeface="+mn-ea"/>
              </a:rPr>
              <a:t>遇</a:t>
            </a:r>
            <a:r>
              <a:rPr sz="2000" b="0">
                <a:sym typeface="+mn-ea"/>
              </a:rPr>
              <a:t>回车</a:t>
            </a:r>
            <a:r>
              <a:rPr sz="2000" b="0">
                <a:sym typeface="+mn-ea"/>
              </a:rPr>
              <a:t>输入结束，自动将输入的一串字符和 </a:t>
            </a:r>
            <a:r>
              <a:rPr sz="2000" b="0">
                <a:sym typeface="+mn-ea"/>
              </a:rPr>
              <a:t>‘\0’ </a:t>
            </a:r>
            <a:r>
              <a:rPr sz="2000" b="0">
                <a:sym typeface="+mn-ea"/>
              </a:rPr>
              <a:t>送入数组中</a:t>
            </a:r>
            <a:r>
              <a:rPr sz="2000" b="0">
                <a:sym typeface="+mn-ea"/>
              </a:rPr>
              <a:t> </a:t>
            </a:r>
            <a:endParaRPr sz="2000" b="0">
              <a:sym typeface="+mn-ea"/>
            </a:endParaRPr>
          </a:p>
        </p:txBody>
      </p:sp>
      <p:sp>
        <p:nvSpPr>
          <p:cNvPr id="56324" name="Rectangle 5"/>
          <p:cNvSpPr>
            <a:spLocks noGrp="1"/>
          </p:cNvSpPr>
          <p:nvPr>
            <p:ph type="title"/>
          </p:nvPr>
        </p:nvSpPr>
        <p:spPr>
          <a:xfrm>
            <a:off x="539750" y="404813"/>
            <a:ext cx="7772400" cy="8382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字符串的输入</a:t>
            </a:r>
            <a:endParaRPr lang="en-US" altLang="zh-CN" b="0">
              <a:sym typeface="+mn-ea"/>
            </a:endParaRPr>
          </a:p>
        </p:txBody>
      </p:sp>
      <p:sp>
        <p:nvSpPr>
          <p:cNvPr id="397318" name="Rectangle 6"/>
          <p:cNvSpPr/>
          <p:nvPr/>
        </p:nvSpPr>
        <p:spPr>
          <a:xfrm>
            <a:off x="6894830" y="1524000"/>
            <a:ext cx="1417320" cy="1424940"/>
          </a:xfrm>
          <a:prstGeom prst="rect">
            <a:avLst/>
          </a:prstGeom>
          <a:noFill/>
          <a:ln w="9525">
            <a:noFill/>
          </a:ln>
        </p:spPr>
        <p:txBody>
          <a:bodyPr wrap="square" lIns="92075" tIns="46038" rIns="92075" bIns="46038">
            <a:spAutoFit/>
          </a:bodyPr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en-US" altLang="zh-CN" sz="2800" b="1">
                <a:solidFill>
                  <a:schemeClr val="bg2"/>
                </a:solidFill>
                <a:latin typeface="Arial" panose="02080604020202020204" pitchFamily="34" charset="0"/>
              </a:rPr>
              <a:t>'\n'</a:t>
            </a:r>
            <a:endParaRPr lang="en-US" altLang="zh-CN" sz="2800" b="1">
              <a:solidFill>
                <a:schemeClr val="bg2"/>
              </a:solidFill>
              <a:latin typeface="Arial" panose="02080604020202020204" pitchFamily="34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en-US" altLang="zh-CN" sz="2800" b="1">
                <a:solidFill>
                  <a:schemeClr val="bg2"/>
                </a:solidFill>
                <a:latin typeface="Arial" panose="02080604020202020204" pitchFamily="34" charset="0"/>
              </a:rPr>
              <a:t>'  '</a:t>
            </a:r>
            <a:endParaRPr lang="en-US" altLang="zh-CN" sz="2800" b="1">
              <a:solidFill>
                <a:schemeClr val="bg2"/>
              </a:solidFill>
              <a:latin typeface="Arial" panose="02080604020202020204" pitchFamily="34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en-US" altLang="zh-CN" sz="2800" b="1">
                <a:solidFill>
                  <a:schemeClr val="bg2"/>
                </a:solidFill>
                <a:latin typeface="Arial" panose="02080604020202020204" pitchFamily="34" charset="0"/>
              </a:rPr>
              <a:t>'\t'</a:t>
            </a:r>
            <a:endParaRPr lang="zh-CN" altLang="en-US" sz="2800" b="1" dirty="0">
              <a:solidFill>
                <a:schemeClr val="bg2"/>
              </a:solidFill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>
                                            <p:txEl>
                                              <p:charRg st="14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>
                                            <p:txEl>
                                              <p:charRg st="22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>
                                            <p:txEl>
                                              <p:charRg st="59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>
                                            <p:txEl>
                                              <p:charRg st="70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>
                                            <p:txEl>
                                              <p:charRg st="86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7316">
                                            <p:txEl>
                                              <p:charRg st="86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7316">
                                            <p:txEl>
                                              <p:charRg st="86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>
                                            <p:txEl>
                                              <p:charRg st="110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7316">
                                            <p:txEl>
                                              <p:charRg st="110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7316">
                                            <p:txEl>
                                              <p:charRg st="110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>
                                            <p:txEl>
                                              <p:charRg st="127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7316">
                                            <p:txEl>
                                              <p:charRg st="127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7316">
                                            <p:txEl>
                                              <p:charRg st="127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97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7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>
                                            <p:txEl>
                                              <p:charRg st="164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97316">
                                            <p:txEl>
                                              <p:charRg st="164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7316">
                                            <p:txEl>
                                              <p:charRg st="164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>
                                            <p:txEl>
                                              <p:charRg st="179" end="2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97316">
                                            <p:txEl>
                                              <p:charRg st="179" end="2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97316">
                                            <p:txEl>
                                              <p:charRg st="179" end="2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6" grpId="0" uiExpand="1" build="p"/>
      <p:bldP spid="39731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8340" name="Rectangle 4"/>
          <p:cNvSpPr>
            <a:spLocks noGrp="1"/>
          </p:cNvSpPr>
          <p:nvPr>
            <p:ph idx="1"/>
          </p:nvPr>
        </p:nvSpPr>
        <p:spPr>
          <a:xfrm>
            <a:off x="323850" y="1412875"/>
            <a:ext cx="8497888" cy="4968875"/>
          </a:xfrm>
        </p:spPr>
        <p:txBody>
          <a:bodyPr vert="horz" wrap="square" lIns="92075" tIns="46038" rIns="92075" bIns="46038" anchor="t" anchorCtr="0"/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b="0"/>
              <a:t>char str[80];</a:t>
            </a:r>
            <a:endParaRPr lang="en-US" altLang="zh-CN" sz="2400" b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b="0" err="1"/>
              <a:t>for(i</a:t>
            </a:r>
            <a:r>
              <a:rPr lang="en-US" altLang="zh-CN" sz="2400" b="0"/>
              <a:t> = 0; </a:t>
            </a:r>
            <a:r>
              <a:rPr lang="en-US" altLang="zh-CN" sz="2400" b="0" err="1"/>
              <a:t>str[i</a:t>
            </a:r>
            <a:r>
              <a:rPr lang="en-US" altLang="zh-CN" sz="2400" b="0"/>
              <a:t>] != ‘\0 ’; i++) </a:t>
            </a:r>
            <a:endParaRPr lang="en-US" altLang="zh-CN" sz="2400" b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b="0"/>
              <a:t>    </a:t>
            </a:r>
            <a:r>
              <a:rPr lang="en-US" altLang="zh-CN" sz="2400" b="0" err="1"/>
              <a:t>putchar(str[i</a:t>
            </a:r>
            <a:r>
              <a:rPr lang="en-US" altLang="zh-CN" sz="2400" b="0"/>
              <a:t>]);</a:t>
            </a:r>
            <a:endParaRPr lang="en-US" altLang="zh-CN" sz="2400" b="0"/>
          </a:p>
          <a:p>
            <a:pPr lvl="1" eaLnBrk="1" hangingPunct="1">
              <a:lnSpc>
                <a:spcPct val="90000"/>
              </a:lnSpc>
              <a:buNone/>
            </a:pPr>
            <a:endParaRPr lang="en-US" altLang="zh-CN" sz="2400" b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0" dirty="0"/>
              <a:t>(3)  </a:t>
            </a:r>
            <a:r>
              <a:rPr lang="en-US" altLang="zh-CN" sz="2400" b="0" err="1"/>
              <a:t>printf("%s</a:t>
            </a:r>
            <a:r>
              <a:rPr lang="en-US" altLang="zh-CN" sz="2400" b="0"/>
              <a:t>", </a:t>
            </a:r>
            <a:r>
              <a:rPr lang="en-US" altLang="zh-CN" sz="2400" b="0" err="1"/>
              <a:t>str</a:t>
            </a:r>
            <a:r>
              <a:rPr lang="en-US" altLang="zh-CN" sz="2400" b="0"/>
              <a:t>) </a:t>
            </a:r>
            <a:endParaRPr lang="en-US" altLang="zh-CN" sz="2400" b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b="0"/>
              <a:t> </a:t>
            </a:r>
            <a:r>
              <a:rPr lang="en-US" altLang="zh-CN" sz="2400" b="0" err="1"/>
              <a:t>printf("%s</a:t>
            </a:r>
            <a:r>
              <a:rPr lang="en-US" altLang="zh-CN" sz="2400" b="0"/>
              <a:t>", "hello");</a:t>
            </a:r>
            <a:endParaRPr lang="en-US" altLang="zh-CN" sz="2400" b="0"/>
          </a:p>
          <a:p>
            <a:pPr lvl="1" eaLnBrk="1" hangingPunct="1">
              <a:lnSpc>
                <a:spcPct val="90000"/>
              </a:lnSpc>
              <a:buNone/>
            </a:pPr>
            <a:endParaRPr lang="en-US" altLang="zh-CN" sz="2400" b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0" dirty="0"/>
              <a:t>(4) </a:t>
            </a:r>
            <a:r>
              <a:rPr lang="en-US" altLang="zh-CN" sz="2400" b="0" err="1"/>
              <a:t>puts(str</a:t>
            </a:r>
            <a:r>
              <a:rPr lang="en-US" altLang="zh-CN" sz="2400" b="0"/>
              <a:t>)</a:t>
            </a:r>
            <a:endParaRPr lang="en-US" altLang="zh-CN" sz="2400" b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b="0" err="1"/>
              <a:t>puts("hello</a:t>
            </a:r>
            <a:r>
              <a:rPr lang="en-US" altLang="zh-CN" sz="2400" b="0"/>
              <a:t>");</a:t>
            </a:r>
            <a:endParaRPr lang="en-US" altLang="zh-CN" sz="2400" b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2400" b="0" dirty="0">
                <a:solidFill>
                  <a:schemeClr val="bg2"/>
                </a:solidFill>
              </a:rPr>
              <a:t>输出字符串后自动换行</a:t>
            </a:r>
            <a:endParaRPr lang="zh-CN" altLang="en-US" sz="2400" b="0" dirty="0">
              <a:solidFill>
                <a:schemeClr val="bg2"/>
              </a:solidFill>
            </a:endParaRPr>
          </a:p>
          <a:p>
            <a:pPr lvl="1" eaLnBrk="1" hangingPunct="1">
              <a:lnSpc>
                <a:spcPct val="90000"/>
              </a:lnSpc>
              <a:buNone/>
            </a:pPr>
            <a:endParaRPr lang="zh-CN" altLang="en-US" sz="2400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0" dirty="0"/>
              <a:t>输出参数可以是字符数组名或字符串常量，输出遇 </a:t>
            </a:r>
            <a:r>
              <a:rPr lang="zh-CN" altLang="en-US" sz="2400" b="0" dirty="0">
                <a:solidFill>
                  <a:srgbClr val="CC0066"/>
                </a:solidFill>
              </a:rPr>
              <a:t>'\0' </a:t>
            </a:r>
            <a:r>
              <a:rPr lang="zh-CN" altLang="en-US" sz="2400" b="0" dirty="0"/>
              <a:t>结束</a:t>
            </a:r>
            <a:endParaRPr lang="en-US" altLang="zh-CN" sz="2400" b="0"/>
          </a:p>
        </p:txBody>
      </p:sp>
      <p:sp>
        <p:nvSpPr>
          <p:cNvPr id="57348" name="Rectangle 5"/>
          <p:cNvSpPr>
            <a:spLocks noGrp="1"/>
          </p:cNvSpPr>
          <p:nvPr>
            <p:ph type="title"/>
          </p:nvPr>
        </p:nvSpPr>
        <p:spPr>
          <a:xfrm>
            <a:off x="611188" y="476250"/>
            <a:ext cx="7772400" cy="8382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字符串的输出</a:t>
            </a:r>
            <a:endParaRPr lang="en-US" altLang="zh-CN" b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>
                                            <p:txEl>
                                              <p:charRg st="14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>
                                            <p:txEl>
                                              <p:charRg st="48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>
                                            <p:txEl>
                                              <p:charRg st="70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8340">
                                            <p:txEl>
                                              <p:charRg st="70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8340">
                                            <p:txEl>
                                              <p:charRg st="70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>
                                            <p:txEl>
                                              <p:charRg st="94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8340">
                                            <p:txEl>
                                              <p:charRg st="94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8340">
                                            <p:txEl>
                                              <p:charRg st="94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>
                                            <p:txEl>
                                              <p:charRg st="119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8340">
                                            <p:txEl>
                                              <p:charRg st="119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8340">
                                            <p:txEl>
                                              <p:charRg st="119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>
                                            <p:txEl>
                                              <p:charRg st="133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98340">
                                            <p:txEl>
                                              <p:charRg st="133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8340">
                                            <p:txEl>
                                              <p:charRg st="133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>
                                            <p:txEl>
                                              <p:charRg st="148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8340">
                                            <p:txEl>
                                              <p:charRg st="148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98340">
                                            <p:txEl>
                                              <p:charRg st="148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>
                                            <p:txEl>
                                              <p:charRg st="160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98340">
                                            <p:txEl>
                                              <p:charRg st="160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98340">
                                            <p:txEl>
                                              <p:charRg st="160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40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1" name="Rectangle 4"/>
          <p:cNvSpPr>
            <a:spLocks noGrp="1"/>
          </p:cNvSpPr>
          <p:nvPr>
            <p:ph idx="1"/>
          </p:nvPr>
        </p:nvSpPr>
        <p:spPr>
          <a:xfrm>
            <a:off x="457200" y="1228725"/>
            <a:ext cx="3886200" cy="2984500"/>
          </a:xfr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#include &lt;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stdio.h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&gt;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main( )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{   char str[80];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scanf("%s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",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str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);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printf("%s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",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str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);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 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printf("%s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", "Hello");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 return 0;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} 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</p:txBody>
      </p:sp>
      <p:sp>
        <p:nvSpPr>
          <p:cNvPr id="58372" name="Rectangle 5"/>
          <p:cNvSpPr>
            <a:spLocks noGrp="1"/>
          </p:cNvSpPr>
          <p:nvPr>
            <p:ph type="title"/>
          </p:nvPr>
        </p:nvSpPr>
        <p:spPr>
          <a:xfrm>
            <a:off x="381000" y="238125"/>
            <a:ext cx="8382000" cy="8382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例</a:t>
            </a:r>
            <a:r>
              <a:rPr lang="en-US" altLang="zh-CN" b="0">
                <a:sym typeface="+mn-ea"/>
              </a:rPr>
              <a:t>8-15 </a:t>
            </a:r>
            <a:r>
              <a:rPr lang="en-US" altLang="zh-CN" b="0">
                <a:sym typeface="+mn-ea"/>
              </a:rPr>
              <a:t>字符串输入输出函数示例</a:t>
            </a:r>
            <a:endParaRPr lang="en-US" altLang="zh-CN" b="0">
              <a:sym typeface="+mn-ea"/>
            </a:endParaRPr>
          </a:p>
        </p:txBody>
      </p:sp>
      <p:sp>
        <p:nvSpPr>
          <p:cNvPr id="399366" name="Rectangle 6"/>
          <p:cNvSpPr/>
          <p:nvPr/>
        </p:nvSpPr>
        <p:spPr>
          <a:xfrm>
            <a:off x="4800600" y="1219835"/>
            <a:ext cx="3084513" cy="298450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#include &lt;</a:t>
            </a:r>
            <a:r>
              <a:rPr sz="2000">
                <a:latin typeface="+mn-ea"/>
                <a:cs typeface="+mn-ea"/>
                <a:sym typeface="+mn-ea"/>
              </a:rPr>
              <a:t>stdio.h</a:t>
            </a:r>
            <a:r>
              <a:rPr sz="2000">
                <a:latin typeface="+mn-ea"/>
                <a:cs typeface="+mn-ea"/>
                <a:sym typeface="+mn-ea"/>
              </a:rPr>
              <a:t>&gt;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main( )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{   char str[80];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 </a:t>
            </a:r>
            <a:r>
              <a:rPr sz="2000">
                <a:latin typeface="+mn-ea"/>
                <a:cs typeface="+mn-ea"/>
                <a:sym typeface="+mn-ea"/>
              </a:rPr>
              <a:t>gets(str</a:t>
            </a:r>
            <a:r>
              <a:rPr sz="2000">
                <a:latin typeface="+mn-ea"/>
                <a:cs typeface="+mn-ea"/>
                <a:sym typeface="+mn-ea"/>
              </a:rPr>
              <a:t>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 </a:t>
            </a:r>
            <a:r>
              <a:rPr sz="2000">
                <a:latin typeface="+mn-ea"/>
                <a:cs typeface="+mn-ea"/>
                <a:sym typeface="+mn-ea"/>
              </a:rPr>
              <a:t>puts(str</a:t>
            </a:r>
            <a:r>
              <a:rPr sz="2000">
                <a:latin typeface="+mn-ea"/>
                <a:cs typeface="+mn-ea"/>
                <a:sym typeface="+mn-ea"/>
              </a:rPr>
              <a:t>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 </a:t>
            </a:r>
            <a:r>
              <a:rPr sz="2000">
                <a:latin typeface="+mn-ea"/>
                <a:cs typeface="+mn-ea"/>
                <a:sym typeface="+mn-ea"/>
              </a:rPr>
              <a:t>puts("Hello</a:t>
            </a:r>
            <a:r>
              <a:rPr sz="2000">
                <a:latin typeface="+mn-ea"/>
                <a:cs typeface="+mn-ea"/>
                <a:sym typeface="+mn-ea"/>
              </a:rPr>
              <a:t>");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 return 0;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} </a:t>
            </a:r>
            <a:endParaRPr sz="2000">
              <a:latin typeface="+mn-ea"/>
              <a:cs typeface="+mn-ea"/>
              <a:sym typeface="+mn-ea"/>
            </a:endParaRPr>
          </a:p>
        </p:txBody>
      </p:sp>
      <p:sp>
        <p:nvSpPr>
          <p:cNvPr id="399367" name="Rectangle 7"/>
          <p:cNvSpPr/>
          <p:nvPr/>
        </p:nvSpPr>
        <p:spPr>
          <a:xfrm>
            <a:off x="179388" y="4220845"/>
            <a:ext cx="3059112" cy="9398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p>
            <a:pPr>
              <a:spcBef>
                <a:spcPct val="30000"/>
              </a:spcBef>
            </a:pPr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Programming</a:t>
            </a:r>
            <a:endParaRPr lang="en-US" altLang="zh-CN" sz="2400">
              <a:solidFill>
                <a:srgbClr val="CC0066"/>
              </a:solidFill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>
              <a:spcBef>
                <a:spcPct val="30000"/>
              </a:spcBef>
            </a:pPr>
            <a:r>
              <a:rPr lang="en-US" altLang="zh-CN" sz="2400" err="1">
                <a:latin typeface="Arial" panose="02080604020202020204" pitchFamily="34" charset="0"/>
                <a:cs typeface="Arial" panose="02080604020202020204" pitchFamily="34" charset="0"/>
              </a:rPr>
              <a:t>ProgrammingHello</a:t>
            </a:r>
            <a:endParaRPr lang="en-US" altLang="zh-CN" sz="2400">
              <a:latin typeface="Arial" panose="02080604020202020204" pitchFamily="34" charset="0"/>
              <a:ea typeface="Arial" panose="02080604020202020204" pitchFamily="34" charset="0"/>
            </a:endParaRPr>
          </a:p>
        </p:txBody>
      </p:sp>
      <p:sp>
        <p:nvSpPr>
          <p:cNvPr id="399368" name="Rectangle 8"/>
          <p:cNvSpPr/>
          <p:nvPr/>
        </p:nvSpPr>
        <p:spPr>
          <a:xfrm>
            <a:off x="152400" y="5343525"/>
            <a:ext cx="3810000" cy="9398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p>
            <a:pPr>
              <a:spcBef>
                <a:spcPct val="30000"/>
              </a:spcBef>
            </a:pPr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Programming is fun!</a:t>
            </a:r>
            <a:r>
              <a:rPr lang="en-US" altLang="zh-CN" sz="2400">
                <a:solidFill>
                  <a:srgbClr val="FFFF00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endParaRPr lang="en-US" altLang="zh-CN" sz="2400">
              <a:solidFill>
                <a:srgbClr val="FFFF00"/>
              </a:solidFill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>
              <a:spcBef>
                <a:spcPct val="30000"/>
              </a:spcBef>
            </a:pPr>
            <a:r>
              <a:rPr lang="en-US" altLang="zh-CN" sz="2400" err="1">
                <a:latin typeface="Arial" panose="02080604020202020204" pitchFamily="34" charset="0"/>
                <a:cs typeface="Arial" panose="02080604020202020204" pitchFamily="34" charset="0"/>
              </a:rPr>
              <a:t>ProgrammingHello</a:t>
            </a:r>
            <a:endParaRPr lang="en-US" altLang="zh-CN" sz="2400">
              <a:latin typeface="Arial" panose="02080604020202020204" pitchFamily="34" charset="0"/>
              <a:ea typeface="Arial" panose="02080604020202020204" pitchFamily="34" charset="0"/>
            </a:endParaRPr>
          </a:p>
        </p:txBody>
      </p:sp>
      <p:sp>
        <p:nvSpPr>
          <p:cNvPr id="399369" name="Rectangle 9"/>
          <p:cNvSpPr/>
          <p:nvPr/>
        </p:nvSpPr>
        <p:spPr>
          <a:xfrm>
            <a:off x="3994150" y="4221480"/>
            <a:ext cx="2886075" cy="141986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p>
            <a:pPr>
              <a:spcBef>
                <a:spcPct val="30000"/>
              </a:spcBef>
            </a:pPr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Programming</a:t>
            </a:r>
            <a:endParaRPr lang="en-US" altLang="zh-CN" sz="2400">
              <a:solidFill>
                <a:srgbClr val="CC0066"/>
              </a:solidFill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>
              <a:spcBef>
                <a:spcPct val="30000"/>
              </a:spcBef>
            </a:pPr>
            <a:r>
              <a:rPr lang="en-US" altLang="zh-CN" sz="2400">
                <a:latin typeface="Arial" panose="02080604020202020204" pitchFamily="34" charset="0"/>
                <a:cs typeface="Arial" panose="02080604020202020204" pitchFamily="34" charset="0"/>
              </a:rPr>
              <a:t>Programming</a:t>
            </a:r>
            <a:endParaRPr lang="en-US" altLang="zh-CN" sz="24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>
              <a:spcBef>
                <a:spcPct val="30000"/>
              </a:spcBef>
            </a:pPr>
            <a:r>
              <a:rPr lang="en-US" altLang="zh-CN" sz="2400">
                <a:latin typeface="Arial" panose="02080604020202020204" pitchFamily="34" charset="0"/>
                <a:cs typeface="Arial" panose="02080604020202020204" pitchFamily="34" charset="0"/>
              </a:rPr>
              <a:t>Hello</a:t>
            </a:r>
            <a:endParaRPr lang="en-US" altLang="zh-CN" sz="2400">
              <a:latin typeface="Arial" panose="02080604020202020204" pitchFamily="34" charset="0"/>
              <a:ea typeface="Arial" panose="02080604020202020204" pitchFamily="34" charset="0"/>
            </a:endParaRPr>
          </a:p>
        </p:txBody>
      </p:sp>
      <p:sp>
        <p:nvSpPr>
          <p:cNvPr id="399370" name="Rectangle 10"/>
          <p:cNvSpPr/>
          <p:nvPr/>
        </p:nvSpPr>
        <p:spPr>
          <a:xfrm>
            <a:off x="5004435" y="5301615"/>
            <a:ext cx="3520440" cy="141986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p>
            <a:pPr>
              <a:spcBef>
                <a:spcPct val="30000"/>
              </a:spcBef>
            </a:pPr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Programming is fun!</a:t>
            </a:r>
            <a:r>
              <a:rPr lang="en-US" altLang="zh-CN" sz="2400">
                <a:solidFill>
                  <a:srgbClr val="FFFF00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endParaRPr lang="en-US" altLang="zh-CN" sz="2400">
              <a:solidFill>
                <a:srgbClr val="FFFF00"/>
              </a:solidFill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>
              <a:spcBef>
                <a:spcPct val="30000"/>
              </a:spcBef>
            </a:pPr>
            <a:r>
              <a:rPr lang="en-US" altLang="zh-CN" sz="2400">
                <a:latin typeface="Arial" panose="02080604020202020204" pitchFamily="34" charset="0"/>
                <a:cs typeface="Arial" panose="02080604020202020204" pitchFamily="34" charset="0"/>
              </a:rPr>
              <a:t>Programming is fun!</a:t>
            </a:r>
            <a:endParaRPr lang="en-US" altLang="zh-CN" sz="240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>
              <a:spcBef>
                <a:spcPct val="30000"/>
              </a:spcBef>
            </a:pPr>
            <a:r>
              <a:rPr lang="en-US" altLang="zh-CN" sz="2400">
                <a:latin typeface="Arial" panose="02080604020202020204" pitchFamily="34" charset="0"/>
                <a:cs typeface="Arial" panose="02080604020202020204" pitchFamily="34" charset="0"/>
              </a:rPr>
              <a:t>Hello</a:t>
            </a:r>
            <a:endParaRPr lang="en-US" altLang="zh-CN" sz="2400">
              <a:latin typeface="Arial" panose="02080604020202020204" pitchFamily="34" charset="0"/>
              <a:ea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9936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936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7">
                                            <p:txEl>
                                              <p:charRg st="12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9367">
                                            <p:txEl>
                                              <p:charRg st="12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9367">
                                            <p:txEl>
                                              <p:charRg st="12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8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9368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9368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8">
                                            <p:txEl>
                                              <p:charRg st="21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9368">
                                            <p:txEl>
                                              <p:charRg st="21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9368">
                                            <p:txEl>
                                              <p:charRg st="21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9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99369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99369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9">
                                            <p:txEl>
                                              <p:charRg st="12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99369">
                                            <p:txEl>
                                              <p:charRg st="12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99369">
                                            <p:txEl>
                                              <p:charRg st="12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9">
                                            <p:txEl>
                                              <p:charRg st="24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9369">
                                            <p:txEl>
                                              <p:charRg st="24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99369">
                                            <p:txEl>
                                              <p:charRg st="24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0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99370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99370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0">
                                            <p:txEl>
                                              <p:charRg st="21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99370">
                                            <p:txEl>
                                              <p:charRg st="21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99370">
                                            <p:txEl>
                                              <p:charRg st="21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0">
                                            <p:txEl>
                                              <p:charRg st="41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99370">
                                            <p:txEl>
                                              <p:charRg st="41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99370">
                                            <p:txEl>
                                              <p:charRg st="41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6" grpId="0" bldLvl="0" animBg="1"/>
      <p:bldP spid="399367" grpId="0" animBg="1" build="p"/>
      <p:bldP spid="399368" grpId="0" animBg="1" build="p"/>
      <p:bldP spid="399369" grpId="0" animBg="1" build="p"/>
      <p:bldP spid="399370" grpId="0" animBg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5" name="Rectangle 4"/>
          <p:cNvSpPr>
            <a:spLocks noGrp="1"/>
          </p:cNvSpPr>
          <p:nvPr>
            <p:ph type="title"/>
          </p:nvPr>
        </p:nvSpPr>
        <p:spPr>
          <a:xfrm>
            <a:off x="560388" y="620713"/>
            <a:ext cx="8583612" cy="12954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2、字符串的复制、连接、比较、</a:t>
            </a:r>
            <a:br>
              <a:rPr lang="en-US" altLang="zh-CN" b="0">
                <a:sym typeface="+mn-ea"/>
              </a:rPr>
            </a:br>
            <a:r>
              <a:rPr lang="en-US" altLang="zh-CN" b="0">
                <a:sym typeface="+mn-ea"/>
              </a:rPr>
              <a:t>求字符串长度</a:t>
            </a:r>
            <a:endParaRPr lang="en-US" altLang="zh-CN" b="0">
              <a:sym typeface="+mn-ea"/>
            </a:endParaRPr>
          </a:p>
        </p:txBody>
      </p:sp>
      <p:sp>
        <p:nvSpPr>
          <p:cNvPr id="59396" name="Rectangle 5"/>
          <p:cNvSpPr>
            <a:spLocks noGrp="1"/>
          </p:cNvSpPr>
          <p:nvPr>
            <p:ph idx="1"/>
          </p:nvPr>
        </p:nvSpPr>
        <p:spPr>
          <a:xfrm>
            <a:off x="684213" y="2276475"/>
            <a:ext cx="7848600" cy="3313113"/>
          </a:xfrm>
        </p:spPr>
        <p:txBody>
          <a:bodyPr vert="horz" wrap="square" lIns="90488" tIns="44450" rIns="90488" bIns="44450" anchor="t" anchorCtr="0"/>
          <a:p>
            <a:pPr lvl="1" eaLnBrk="1" hangingPunct="1"/>
            <a:r>
              <a:rPr lang="zh-CN" altLang="en-US" sz="3200" b="0" dirty="0"/>
              <a:t>字符串复制：</a:t>
            </a:r>
            <a:r>
              <a:rPr lang="en-US" altLang="zh-CN" sz="3200" b="0">
                <a:solidFill>
                  <a:schemeClr val="bg2"/>
                </a:solidFill>
              </a:rPr>
              <a:t>strcpy(str1, str2)</a:t>
            </a:r>
            <a:endParaRPr lang="en-US" altLang="zh-CN" sz="3200" b="0">
              <a:solidFill>
                <a:schemeClr val="bg2"/>
              </a:solidFill>
            </a:endParaRPr>
          </a:p>
          <a:p>
            <a:pPr lvl="1" eaLnBrk="1" hangingPunct="1"/>
            <a:r>
              <a:rPr lang="zh-CN" altLang="en-US" sz="3200" b="0" dirty="0"/>
              <a:t>字符串连接：</a:t>
            </a:r>
            <a:r>
              <a:rPr lang="en-US" altLang="zh-CN" sz="3200" b="0">
                <a:solidFill>
                  <a:schemeClr val="bg2"/>
                </a:solidFill>
              </a:rPr>
              <a:t>strcat(str1, str2)</a:t>
            </a:r>
            <a:endParaRPr lang="en-US" altLang="zh-CN" sz="3200" b="0">
              <a:solidFill>
                <a:schemeClr val="bg2"/>
              </a:solidFill>
            </a:endParaRPr>
          </a:p>
          <a:p>
            <a:pPr lvl="1" eaLnBrk="1" hangingPunct="1"/>
            <a:r>
              <a:rPr lang="zh-CN" altLang="en-US" sz="3200" b="0" dirty="0"/>
              <a:t>字符串比较：</a:t>
            </a:r>
            <a:r>
              <a:rPr lang="en-US" altLang="zh-CN" sz="3200" b="0">
                <a:solidFill>
                  <a:schemeClr val="bg2"/>
                </a:solidFill>
              </a:rPr>
              <a:t>strcmp(str1, str2)</a:t>
            </a:r>
            <a:endParaRPr lang="en-US" altLang="zh-CN" sz="3200" b="0">
              <a:solidFill>
                <a:schemeClr val="bg2"/>
              </a:solidFill>
            </a:endParaRPr>
          </a:p>
          <a:p>
            <a:pPr lvl="1" eaLnBrk="1" hangingPunct="1"/>
            <a:r>
              <a:rPr lang="zh-CN" altLang="en-US" sz="3200" b="0" dirty="0"/>
              <a:t>求字符串长度：</a:t>
            </a:r>
            <a:r>
              <a:rPr lang="en-US" altLang="zh-CN" sz="3200" b="0" err="1">
                <a:solidFill>
                  <a:schemeClr val="bg2"/>
                </a:solidFill>
              </a:rPr>
              <a:t>strlen(str</a:t>
            </a:r>
            <a:r>
              <a:rPr lang="en-US" altLang="zh-CN" sz="3200" b="0">
                <a:solidFill>
                  <a:schemeClr val="bg2"/>
                </a:solidFill>
              </a:rPr>
              <a:t>)</a:t>
            </a:r>
            <a:endParaRPr lang="en-US" altLang="zh-CN" sz="3200" b="0">
              <a:solidFill>
                <a:schemeClr val="bg2"/>
              </a:solidFill>
            </a:endParaRPr>
          </a:p>
          <a:p>
            <a:pPr lvl="1" eaLnBrk="1" hangingPunct="1"/>
            <a:r>
              <a:rPr lang="en-US" altLang="zh-CN" b="0" err="1">
                <a:solidFill>
                  <a:schemeClr val="bg2"/>
                </a:solidFill>
              </a:rPr>
              <a:t>string.h</a:t>
            </a:r>
            <a:endParaRPr lang="zh-CN" altLang="en-US" b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1412" name="Rectangle 4"/>
          <p:cNvSpPr>
            <a:spLocks noGrp="1"/>
          </p:cNvSpPr>
          <p:nvPr>
            <p:ph idx="1"/>
          </p:nvPr>
        </p:nvSpPr>
        <p:spPr>
          <a:xfrm>
            <a:off x="381000" y="1400175"/>
            <a:ext cx="5846763" cy="2667000"/>
          </a:xfrm>
        </p:spPr>
        <p:txBody>
          <a:bodyPr vert="horz" wrap="square" lIns="90488" tIns="44450" rIns="90488" bIns="44450" anchor="t" anchorCtr="0"/>
          <a:p>
            <a:pPr eaLnBrk="1" hangingPunct="1">
              <a:buNone/>
            </a:pPr>
            <a:r>
              <a:rPr lang="en-US" altLang="zh-CN" sz="2800" b="0"/>
              <a:t>strcpy(str1, str2);</a:t>
            </a:r>
            <a:endParaRPr lang="en-US" altLang="zh-CN" sz="2800" b="0"/>
          </a:p>
          <a:p>
            <a:pPr lvl="1" eaLnBrk="1" hangingPunct="1">
              <a:buNone/>
            </a:pPr>
            <a:r>
              <a:rPr lang="zh-CN" altLang="en-US" b="0" dirty="0"/>
              <a:t>将字符串 </a:t>
            </a:r>
            <a:r>
              <a:rPr lang="en-US" altLang="zh-CN" b="0"/>
              <a:t>str2 </a:t>
            </a:r>
            <a:r>
              <a:rPr lang="zh-CN" altLang="en-US" b="0" dirty="0"/>
              <a:t>复制到 </a:t>
            </a:r>
            <a:r>
              <a:rPr lang="en-US" altLang="zh-CN" b="0"/>
              <a:t>str1 </a:t>
            </a:r>
            <a:r>
              <a:rPr lang="zh-CN" altLang="en-US" b="0" dirty="0"/>
              <a:t>中</a:t>
            </a:r>
            <a:endParaRPr lang="zh-CN" altLang="en-US" b="0" dirty="0"/>
          </a:p>
          <a:p>
            <a:pPr eaLnBrk="1" hangingPunct="1">
              <a:buNone/>
            </a:pPr>
            <a:endParaRPr lang="zh-CN" altLang="en-US" sz="2800" b="0" dirty="0"/>
          </a:p>
          <a:p>
            <a:pPr lvl="1" eaLnBrk="1" hangingPunct="1">
              <a:buNone/>
            </a:pPr>
            <a:r>
              <a:rPr lang="zh-CN" altLang="en-US" b="0" dirty="0"/>
              <a:t> </a:t>
            </a:r>
            <a:r>
              <a:rPr lang="en-US" altLang="zh-CN" b="0"/>
              <a:t>static char str1[20];</a:t>
            </a:r>
            <a:endParaRPr lang="en-US" altLang="zh-CN" b="0"/>
          </a:p>
          <a:p>
            <a:pPr lvl="1" eaLnBrk="1" hangingPunct="1">
              <a:buNone/>
            </a:pPr>
            <a:r>
              <a:rPr lang="en-US" altLang="zh-CN" b="0"/>
              <a:t> static char str2[20] = “happy”;</a:t>
            </a:r>
            <a:endParaRPr lang="en-US" altLang="zh-CN" b="0"/>
          </a:p>
        </p:txBody>
      </p:sp>
      <p:sp>
        <p:nvSpPr>
          <p:cNvPr id="60420" name="Rectangle 5"/>
          <p:cNvSpPr>
            <a:spLocks noGrp="1"/>
          </p:cNvSpPr>
          <p:nvPr>
            <p:ph type="title"/>
          </p:nvPr>
        </p:nvSpPr>
        <p:spPr>
          <a:xfrm>
            <a:off x="467995" y="405130"/>
            <a:ext cx="7696200" cy="6858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字符串复制函数</a:t>
            </a:r>
            <a:r>
              <a:rPr lang="en-US" altLang="zh-CN" b="0">
                <a:sym typeface="+mn-ea"/>
              </a:rPr>
              <a:t>strcpy</a:t>
            </a:r>
            <a:r>
              <a:rPr lang="en-US" altLang="zh-CN" b="0">
                <a:sym typeface="+mn-ea"/>
              </a:rPr>
              <a:t>()</a:t>
            </a:r>
            <a:endParaRPr lang="en-US" altLang="zh-CN" b="0">
              <a:sym typeface="+mn-ea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6400800" y="3200400"/>
            <a:ext cx="2209800" cy="542925"/>
            <a:chOff x="4032" y="2016"/>
            <a:chExt cx="1392" cy="342"/>
          </a:xfrm>
        </p:grpSpPr>
        <p:sp>
          <p:nvSpPr>
            <p:cNvPr id="60447" name="Text Box 7"/>
            <p:cNvSpPr txBox="1"/>
            <p:nvPr/>
          </p:nvSpPr>
          <p:spPr>
            <a:xfrm>
              <a:off x="4032" y="2016"/>
              <a:ext cx="1392" cy="327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 lIns="90488" tIns="44450" rIns="90488" bIns="44450">
              <a:spAutoFit/>
            </a:bodyPr>
            <a:p>
              <a:r>
                <a:rPr lang="en-US" altLang="zh-CN" sz="2800">
                  <a:latin typeface="Arial" panose="02080604020202020204" pitchFamily="34" charset="0"/>
                </a:rPr>
                <a:t>h a p p y \0</a:t>
              </a:r>
              <a:endParaRPr lang="en-US" altLang="zh-CN" sz="2800">
                <a:latin typeface="Arial" panose="02080604020202020204" pitchFamily="34" charset="0"/>
              </a:endParaRPr>
            </a:p>
          </p:txBody>
        </p:sp>
        <p:sp>
          <p:nvSpPr>
            <p:cNvPr id="60448" name="Line 8"/>
            <p:cNvSpPr/>
            <p:nvPr/>
          </p:nvSpPr>
          <p:spPr>
            <a:xfrm>
              <a:off x="4268" y="2016"/>
              <a:ext cx="0" cy="32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49" name="Line 9"/>
            <p:cNvSpPr/>
            <p:nvPr/>
          </p:nvSpPr>
          <p:spPr>
            <a:xfrm>
              <a:off x="4454" y="2016"/>
              <a:ext cx="0" cy="32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50" name="Line 10"/>
            <p:cNvSpPr/>
            <p:nvPr/>
          </p:nvSpPr>
          <p:spPr>
            <a:xfrm>
              <a:off x="4704" y="2016"/>
              <a:ext cx="0" cy="34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51" name="Line 11"/>
            <p:cNvSpPr/>
            <p:nvPr/>
          </p:nvSpPr>
          <p:spPr>
            <a:xfrm>
              <a:off x="4896" y="2016"/>
              <a:ext cx="0" cy="31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52" name="Line 12"/>
            <p:cNvSpPr/>
            <p:nvPr/>
          </p:nvSpPr>
          <p:spPr>
            <a:xfrm>
              <a:off x="5088" y="2016"/>
              <a:ext cx="0" cy="34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13"/>
          <p:cNvGrpSpPr/>
          <p:nvPr/>
        </p:nvGrpSpPr>
        <p:grpSpPr>
          <a:xfrm>
            <a:off x="6400800" y="2514600"/>
            <a:ext cx="2209800" cy="609600"/>
            <a:chOff x="4032" y="1584"/>
            <a:chExt cx="1392" cy="384"/>
          </a:xfrm>
        </p:grpSpPr>
        <p:sp>
          <p:nvSpPr>
            <p:cNvPr id="60441" name="Text Box 14"/>
            <p:cNvSpPr txBox="1"/>
            <p:nvPr/>
          </p:nvSpPr>
          <p:spPr>
            <a:xfrm>
              <a:off x="4032" y="1584"/>
              <a:ext cx="1392" cy="327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488" tIns="44450" rIns="90488" bIns="44450">
              <a:spAutoFit/>
            </a:bodyPr>
            <a:p>
              <a:r>
                <a:rPr lang="zh-CN" altLang="en-US" sz="2800" dirty="0">
                  <a:latin typeface="Arial" panose="02080604020202020204" pitchFamily="34" charset="0"/>
                </a:rPr>
                <a:t>\0</a:t>
              </a:r>
              <a:endParaRPr lang="zh-CN" altLang="en-US" sz="2800" dirty="0">
                <a:latin typeface="Arial" panose="02080604020202020204" pitchFamily="34" charset="0"/>
              </a:endParaRPr>
            </a:p>
          </p:txBody>
        </p:sp>
        <p:sp>
          <p:nvSpPr>
            <p:cNvPr id="60442" name="Line 15"/>
            <p:cNvSpPr/>
            <p:nvPr/>
          </p:nvSpPr>
          <p:spPr>
            <a:xfrm>
              <a:off x="4320" y="1584"/>
              <a:ext cx="0" cy="38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43" name="Line 16"/>
            <p:cNvSpPr/>
            <p:nvPr/>
          </p:nvSpPr>
          <p:spPr>
            <a:xfrm>
              <a:off x="4512" y="1584"/>
              <a:ext cx="0" cy="38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44" name="Line 17"/>
            <p:cNvSpPr/>
            <p:nvPr/>
          </p:nvSpPr>
          <p:spPr>
            <a:xfrm>
              <a:off x="4704" y="1584"/>
              <a:ext cx="0" cy="38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45" name="Line 18"/>
            <p:cNvSpPr/>
            <p:nvPr/>
          </p:nvSpPr>
          <p:spPr>
            <a:xfrm>
              <a:off x="4896" y="1584"/>
              <a:ext cx="0" cy="38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46" name="Line 19"/>
            <p:cNvSpPr/>
            <p:nvPr/>
          </p:nvSpPr>
          <p:spPr>
            <a:xfrm>
              <a:off x="5088" y="1584"/>
              <a:ext cx="0" cy="38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01428" name="Rectangle 20"/>
          <p:cNvSpPr/>
          <p:nvPr/>
        </p:nvSpPr>
        <p:spPr>
          <a:xfrm>
            <a:off x="457200" y="4343400"/>
            <a:ext cx="3733800" cy="7620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p>
            <a:pPr marL="742950" lvl="1" indent="-28575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800">
                <a:latin typeface="Arial" panose="02080604020202020204" pitchFamily="34" charset="0"/>
              </a:rPr>
              <a:t>strcpy(str1, str2);</a:t>
            </a:r>
            <a:endParaRPr lang="en-US" altLang="zh-CN" sz="2800">
              <a:latin typeface="Arial" panose="02080604020202020204" pitchFamily="34" charset="0"/>
            </a:endParaRPr>
          </a:p>
        </p:txBody>
      </p:sp>
      <p:grpSp>
        <p:nvGrpSpPr>
          <p:cNvPr id="4" name="Group 21"/>
          <p:cNvGrpSpPr/>
          <p:nvPr/>
        </p:nvGrpSpPr>
        <p:grpSpPr>
          <a:xfrm>
            <a:off x="6477000" y="4419600"/>
            <a:ext cx="2209800" cy="530225"/>
            <a:chOff x="3504" y="912"/>
            <a:chExt cx="1392" cy="334"/>
          </a:xfrm>
        </p:grpSpPr>
        <p:sp>
          <p:nvSpPr>
            <p:cNvPr id="60435" name="Text Box 22"/>
            <p:cNvSpPr txBox="1"/>
            <p:nvPr/>
          </p:nvSpPr>
          <p:spPr>
            <a:xfrm>
              <a:off x="3504" y="912"/>
              <a:ext cx="1392" cy="327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488" tIns="44450" rIns="90488" bIns="44450">
              <a:spAutoFit/>
            </a:bodyPr>
            <a:p>
              <a:r>
                <a:rPr lang="en-US" altLang="zh-CN" sz="2800">
                  <a:latin typeface="Arial" panose="02080604020202020204" pitchFamily="34" charset="0"/>
                </a:rPr>
                <a:t>h a p p y \0</a:t>
              </a:r>
              <a:endParaRPr lang="en-US" altLang="zh-CN" sz="2800">
                <a:latin typeface="Arial" panose="02080604020202020204" pitchFamily="34" charset="0"/>
              </a:endParaRPr>
            </a:p>
          </p:txBody>
        </p:sp>
        <p:sp>
          <p:nvSpPr>
            <p:cNvPr id="60436" name="Line 23"/>
            <p:cNvSpPr/>
            <p:nvPr/>
          </p:nvSpPr>
          <p:spPr>
            <a:xfrm>
              <a:off x="3744" y="912"/>
              <a:ext cx="6" cy="32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37" name="Line 24"/>
            <p:cNvSpPr/>
            <p:nvPr/>
          </p:nvSpPr>
          <p:spPr>
            <a:xfrm>
              <a:off x="3936" y="912"/>
              <a:ext cx="0" cy="33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38" name="Line 25"/>
            <p:cNvSpPr/>
            <p:nvPr/>
          </p:nvSpPr>
          <p:spPr>
            <a:xfrm>
              <a:off x="4128" y="912"/>
              <a:ext cx="0" cy="33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39" name="Line 26"/>
            <p:cNvSpPr/>
            <p:nvPr/>
          </p:nvSpPr>
          <p:spPr>
            <a:xfrm>
              <a:off x="4320" y="912"/>
              <a:ext cx="0" cy="32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40" name="Line 27"/>
            <p:cNvSpPr/>
            <p:nvPr/>
          </p:nvSpPr>
          <p:spPr>
            <a:xfrm>
              <a:off x="4512" y="912"/>
              <a:ext cx="1" cy="33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01436" name="Rectangle 28"/>
          <p:cNvSpPr/>
          <p:nvPr/>
        </p:nvSpPr>
        <p:spPr>
          <a:xfrm>
            <a:off x="4573905" y="4419600"/>
            <a:ext cx="1755140" cy="7620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p>
            <a:pPr marL="742950" lvl="1" indent="-28575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800">
                <a:latin typeface="Arial" panose="02080604020202020204" pitchFamily="34" charset="0"/>
              </a:rPr>
              <a:t>str1</a:t>
            </a:r>
            <a:r>
              <a:rPr lang="zh-CN" altLang="zh-CN" sz="2800" dirty="0">
                <a:latin typeface="Arial" panose="02080604020202020204" pitchFamily="34" charset="0"/>
              </a:rPr>
              <a:t>中</a:t>
            </a:r>
            <a:r>
              <a:rPr lang="en-US" altLang="zh-CN" sz="2800" dirty="0">
                <a:latin typeface="Arial" panose="02080604020202020204" pitchFamily="34" charset="0"/>
              </a:rPr>
              <a:t>:</a:t>
            </a:r>
            <a:endParaRPr lang="en-US" altLang="zh-CN" sz="2800" dirty="0">
              <a:latin typeface="Arial" panose="02080604020202020204" pitchFamily="34" charset="0"/>
            </a:endParaRPr>
          </a:p>
        </p:txBody>
      </p:sp>
      <p:sp>
        <p:nvSpPr>
          <p:cNvPr id="401437" name="Rectangle 29"/>
          <p:cNvSpPr/>
          <p:nvPr/>
        </p:nvSpPr>
        <p:spPr>
          <a:xfrm>
            <a:off x="457200" y="5410200"/>
            <a:ext cx="4343400" cy="7620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p>
            <a:pPr marL="742950" lvl="1" indent="-28575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800">
                <a:latin typeface="Arial" panose="02080604020202020204" pitchFamily="34" charset="0"/>
              </a:rPr>
              <a:t>strcpy(str1, “world”);</a:t>
            </a:r>
            <a:endParaRPr lang="en-US" altLang="zh-CN" sz="2800">
              <a:latin typeface="Arial" panose="02080604020202020204" pitchFamily="34" charset="0"/>
            </a:endParaRPr>
          </a:p>
        </p:txBody>
      </p:sp>
      <p:sp>
        <p:nvSpPr>
          <p:cNvPr id="401438" name="Rectangle 30"/>
          <p:cNvSpPr/>
          <p:nvPr/>
        </p:nvSpPr>
        <p:spPr>
          <a:xfrm>
            <a:off x="4644708" y="5373688"/>
            <a:ext cx="1760537" cy="7620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p>
            <a:pPr marL="742950" lvl="1" indent="-28575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800">
                <a:latin typeface="Arial" panose="02080604020202020204" pitchFamily="34" charset="0"/>
              </a:rPr>
              <a:t>str1</a:t>
            </a:r>
            <a:r>
              <a:rPr lang="zh-CN" altLang="zh-CN" sz="2800" dirty="0">
                <a:latin typeface="Arial" panose="02080604020202020204" pitchFamily="34" charset="0"/>
              </a:rPr>
              <a:t>中:</a:t>
            </a:r>
            <a:endParaRPr lang="en-US" altLang="zh-CN" sz="2800">
              <a:latin typeface="Arial" panose="02080604020202020204" pitchFamily="34" charset="0"/>
            </a:endParaRPr>
          </a:p>
        </p:txBody>
      </p:sp>
      <p:grpSp>
        <p:nvGrpSpPr>
          <p:cNvPr id="5" name="Group 31"/>
          <p:cNvGrpSpPr/>
          <p:nvPr/>
        </p:nvGrpSpPr>
        <p:grpSpPr>
          <a:xfrm>
            <a:off x="6477000" y="5410200"/>
            <a:ext cx="2209800" cy="542925"/>
            <a:chOff x="3504" y="912"/>
            <a:chExt cx="1392" cy="342"/>
          </a:xfrm>
        </p:grpSpPr>
        <p:sp>
          <p:nvSpPr>
            <p:cNvPr id="60429" name="Text Box 32"/>
            <p:cNvSpPr txBox="1"/>
            <p:nvPr/>
          </p:nvSpPr>
          <p:spPr>
            <a:xfrm>
              <a:off x="3504" y="912"/>
              <a:ext cx="1392" cy="327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 lIns="90488" tIns="44450" rIns="90488" bIns="44450">
              <a:spAutoFit/>
            </a:bodyPr>
            <a:p>
              <a:r>
                <a:rPr lang="en-US" altLang="zh-CN" sz="2800">
                  <a:latin typeface="Arial" panose="02080604020202020204" pitchFamily="34" charset="0"/>
                </a:rPr>
                <a:t>w o r l d  \0</a:t>
              </a:r>
              <a:endParaRPr lang="en-US" altLang="zh-CN" sz="2800">
                <a:latin typeface="Arial" panose="02080604020202020204" pitchFamily="34" charset="0"/>
              </a:endParaRPr>
            </a:p>
          </p:txBody>
        </p:sp>
        <p:sp>
          <p:nvSpPr>
            <p:cNvPr id="60430" name="Line 33"/>
            <p:cNvSpPr/>
            <p:nvPr/>
          </p:nvSpPr>
          <p:spPr>
            <a:xfrm>
              <a:off x="3744" y="912"/>
              <a:ext cx="6" cy="34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31" name="Line 34"/>
            <p:cNvSpPr/>
            <p:nvPr/>
          </p:nvSpPr>
          <p:spPr>
            <a:xfrm>
              <a:off x="3936" y="912"/>
              <a:ext cx="0" cy="34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32" name="Line 35"/>
            <p:cNvSpPr/>
            <p:nvPr/>
          </p:nvSpPr>
          <p:spPr>
            <a:xfrm>
              <a:off x="4128" y="912"/>
              <a:ext cx="0" cy="32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33" name="Line 36"/>
            <p:cNvSpPr/>
            <p:nvPr/>
          </p:nvSpPr>
          <p:spPr>
            <a:xfrm>
              <a:off x="4320" y="912"/>
              <a:ext cx="0" cy="34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34" name="Line 37"/>
            <p:cNvSpPr/>
            <p:nvPr/>
          </p:nvSpPr>
          <p:spPr>
            <a:xfrm>
              <a:off x="4512" y="912"/>
              <a:ext cx="0" cy="34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01412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>
                                            <p:txEl>
                                              <p:charRg st="2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401412">
                                            <p:txEl>
                                              <p:charRg st="20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>
                                            <p:txEl>
                                              <p:charRg st="42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401412">
                                            <p:txEl>
                                              <p:charRg st="42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>
                                            <p:txEl>
                                              <p:charRg st="65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401412">
                                            <p:txEl>
                                              <p:charRg st="65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8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401428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36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401436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37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401437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38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401438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412" grpId="0" build="p"/>
      <p:bldP spid="401428" grpId="0" build="p"/>
      <p:bldP spid="401436" grpId="0" build="p"/>
      <p:bldP spid="401437" grpId="0" build="p"/>
      <p:bldP spid="401438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61444" name="Rectangle 5"/>
          <p:cNvSpPr>
            <a:spLocks noGrp="1"/>
          </p:cNvSpPr>
          <p:nvPr>
            <p:ph type="title"/>
          </p:nvPr>
        </p:nvSpPr>
        <p:spPr>
          <a:xfrm>
            <a:off x="228600" y="228600"/>
            <a:ext cx="8382000" cy="8382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strcpy</a:t>
            </a:r>
            <a:r>
              <a:rPr lang="en-US" altLang="zh-CN" b="0">
                <a:sym typeface="+mn-ea"/>
              </a:rPr>
              <a:t>() </a:t>
            </a:r>
            <a:r>
              <a:rPr lang="en-US" altLang="zh-CN" b="0">
                <a:sym typeface="+mn-ea"/>
              </a:rPr>
              <a:t>示例</a:t>
            </a:r>
            <a:endParaRPr lang="en-US" altLang="zh-CN" b="0">
              <a:sym typeface="+mn-ea"/>
            </a:endParaRPr>
          </a:p>
        </p:txBody>
      </p:sp>
      <p:sp>
        <p:nvSpPr>
          <p:cNvPr id="402438" name="Rectangle 6"/>
          <p:cNvSpPr/>
          <p:nvPr/>
        </p:nvSpPr>
        <p:spPr>
          <a:xfrm>
            <a:off x="6324600" y="2667000"/>
            <a:ext cx="990600" cy="944563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p>
            <a:pPr>
              <a:spcBef>
                <a:spcPct val="30000"/>
              </a:spcBef>
            </a:pPr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1234</a:t>
            </a:r>
            <a:endParaRPr lang="en-US" altLang="zh-CN" sz="2400">
              <a:solidFill>
                <a:srgbClr val="CC0066"/>
              </a:solidFill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>
              <a:spcBef>
                <a:spcPct val="30000"/>
              </a:spcBef>
            </a:pPr>
            <a:r>
              <a:rPr lang="en-US" altLang="zh-CN" sz="2400">
                <a:latin typeface="Arial" panose="02080604020202020204" pitchFamily="34" charset="0"/>
                <a:cs typeface="Arial" panose="02080604020202020204" pitchFamily="34" charset="0"/>
              </a:rPr>
              <a:t>1234</a:t>
            </a:r>
            <a:endParaRPr lang="en-US" altLang="zh-CN" sz="2400">
              <a:latin typeface="Arial" panose="02080604020202020204" pitchFamily="34" charset="0"/>
              <a:ea typeface="Arial" panose="0208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24865" y="1582420"/>
            <a:ext cx="5017135" cy="444817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# include “stdio.h”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# include “string.h”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int main(void )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{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char str1[20], str2[20];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gets(str2);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strcpy(str1,str2);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puts(str1);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   return 0;</a:t>
            </a:r>
            <a:endParaRPr sz="24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400">
                <a:latin typeface="+mn-ea"/>
                <a:cs typeface="+mn-ea"/>
                <a:sym typeface="+mn-ea"/>
              </a:rPr>
              <a:t>}</a:t>
            </a:r>
            <a:endParaRPr sz="2400"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8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8">
                                            <p:txEl>
                                              <p:charRg st="5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2438">
                                            <p:txEl>
                                              <p:charRg st="5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2438">
                                            <p:txEl>
                                              <p:charRg st="5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8" grpId="0" animBg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7" name="Rectangle 4"/>
          <p:cNvSpPr>
            <a:spLocks noGrp="1"/>
          </p:cNvSpPr>
          <p:nvPr>
            <p:ph idx="1"/>
          </p:nvPr>
        </p:nvSpPr>
        <p:spPr>
          <a:xfrm>
            <a:off x="187325" y="1196975"/>
            <a:ext cx="8518525" cy="1066800"/>
          </a:xfrm>
        </p:spPr>
        <p:txBody>
          <a:bodyPr vert="horz" wrap="square" lIns="90488" tIns="44450" rIns="90488" bIns="44450" anchor="t" anchorCtr="0"/>
          <a:p>
            <a:pPr eaLnBrk="1" hangingPunct="1">
              <a:buNone/>
            </a:pPr>
            <a:r>
              <a:rPr lang="zh-CN" altLang="en-US" b="0" dirty="0"/>
              <a:t> </a:t>
            </a:r>
            <a:r>
              <a:rPr lang="en-US" altLang="zh-CN" b="0"/>
              <a:t>strcat(str1, str2);</a:t>
            </a:r>
            <a:endParaRPr lang="en-US" altLang="zh-CN" b="0"/>
          </a:p>
          <a:p>
            <a:pPr lvl="1" eaLnBrk="1" hangingPunct="1">
              <a:buNone/>
            </a:pPr>
            <a:r>
              <a:rPr lang="en-US" altLang="zh-CN" b="0"/>
              <a:t> </a:t>
            </a:r>
            <a:r>
              <a:rPr lang="zh-CN" altLang="en-US" b="0" dirty="0"/>
              <a:t>连接两个字符串</a:t>
            </a:r>
            <a:r>
              <a:rPr lang="en-US" altLang="zh-CN" b="0"/>
              <a:t>str1</a:t>
            </a:r>
            <a:r>
              <a:rPr lang="zh-CN" altLang="en-US" b="0" dirty="0"/>
              <a:t>和</a:t>
            </a:r>
            <a:r>
              <a:rPr lang="en-US" altLang="zh-CN" b="0"/>
              <a:t>str2, </a:t>
            </a:r>
            <a:r>
              <a:rPr lang="zh-CN" altLang="en-US" b="0" dirty="0"/>
              <a:t>并将结果放入</a:t>
            </a:r>
            <a:r>
              <a:rPr lang="en-US" altLang="zh-CN" b="0"/>
              <a:t>str1</a:t>
            </a:r>
            <a:r>
              <a:rPr lang="zh-CN" altLang="en-US" b="0" dirty="0"/>
              <a:t>中</a:t>
            </a:r>
            <a:endParaRPr lang="zh-CN" altLang="en-US" b="0" dirty="0"/>
          </a:p>
        </p:txBody>
      </p:sp>
      <p:sp>
        <p:nvSpPr>
          <p:cNvPr id="62468" name="Rectangle 5"/>
          <p:cNvSpPr>
            <a:spLocks noGrp="1"/>
          </p:cNvSpPr>
          <p:nvPr>
            <p:ph type="title"/>
          </p:nvPr>
        </p:nvSpPr>
        <p:spPr>
          <a:xfrm>
            <a:off x="533400" y="396875"/>
            <a:ext cx="7696200" cy="6858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字符串连接函数</a:t>
            </a:r>
            <a:r>
              <a:rPr lang="en-US" altLang="zh-CN" b="0">
                <a:sym typeface="+mn-ea"/>
              </a:rPr>
              <a:t>strcat</a:t>
            </a:r>
            <a:r>
              <a:rPr lang="en-US" altLang="zh-CN" b="0">
                <a:sym typeface="+mn-ea"/>
              </a:rPr>
              <a:t> </a:t>
            </a:r>
            <a:endParaRPr lang="en-US" altLang="zh-CN" b="0">
              <a:sym typeface="+mn-ea"/>
            </a:endParaRPr>
          </a:p>
        </p:txBody>
      </p:sp>
      <p:sp>
        <p:nvSpPr>
          <p:cNvPr id="403462" name="Rectangle 6"/>
          <p:cNvSpPr/>
          <p:nvPr/>
        </p:nvSpPr>
        <p:spPr>
          <a:xfrm>
            <a:off x="323850" y="2276475"/>
            <a:ext cx="3600450" cy="409257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# </a:t>
            </a:r>
            <a:r>
              <a:rPr sz="2000">
                <a:latin typeface="+mn-ea"/>
                <a:cs typeface="+mn-ea"/>
                <a:sym typeface="+mn-ea"/>
              </a:rPr>
              <a:t>include "stdio.h</a:t>
            </a:r>
            <a:r>
              <a:rPr sz="2000">
                <a:latin typeface="+mn-ea"/>
                <a:cs typeface="+mn-ea"/>
                <a:sym typeface="+mn-ea"/>
              </a:rPr>
              <a:t>"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# include "string.h</a:t>
            </a:r>
            <a:r>
              <a:rPr sz="2000">
                <a:latin typeface="+mn-ea"/>
                <a:cs typeface="+mn-ea"/>
                <a:sym typeface="+mn-ea"/>
              </a:rPr>
              <a:t>"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main(void</a:t>
            </a:r>
            <a:r>
              <a:rPr sz="2000">
                <a:latin typeface="+mn-ea"/>
                <a:cs typeface="+mn-ea"/>
                <a:sym typeface="+mn-ea"/>
              </a:rPr>
              <a:t>)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{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char str1[80], str2[20];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gets(str1);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gets(str2);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strcat(str1, str2);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puts(str1);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return 0;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}</a:t>
            </a:r>
            <a:endParaRPr sz="2000">
              <a:latin typeface="+mn-ea"/>
              <a:cs typeface="+mn-ea"/>
              <a:sym typeface="+mn-ea"/>
            </a:endParaRPr>
          </a:p>
        </p:txBody>
      </p:sp>
      <p:sp>
        <p:nvSpPr>
          <p:cNvPr id="403463" name="Rectangle 7"/>
          <p:cNvSpPr/>
          <p:nvPr/>
        </p:nvSpPr>
        <p:spPr>
          <a:xfrm>
            <a:off x="4652645" y="2530475"/>
            <a:ext cx="3505200" cy="8382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400">
                <a:latin typeface="Arial" panose="02080604020202020204" pitchFamily="34" charset="0"/>
              </a:rPr>
              <a:t>str1</a:t>
            </a:r>
            <a:r>
              <a:rPr lang="zh-CN" altLang="zh-CN" sz="2400" dirty="0">
                <a:latin typeface="Arial" panose="02080604020202020204" pitchFamily="34" charset="0"/>
              </a:rPr>
              <a:t>中：</a:t>
            </a:r>
            <a:r>
              <a:rPr lang="zh-CN" altLang="en-US" sz="2400" dirty="0">
                <a:latin typeface="Arial" panose="02080604020202020204" pitchFamily="34" charset="0"/>
              </a:rPr>
              <a:t> </a:t>
            </a:r>
            <a:r>
              <a:rPr lang="en-US" altLang="zh-CN" sz="2400">
                <a:latin typeface="Arial" panose="02080604020202020204" pitchFamily="34" charset="0"/>
              </a:rPr>
              <a:t>Let us \0   </a:t>
            </a:r>
            <a:endParaRPr lang="en-US" altLang="zh-CN" sz="2400">
              <a:latin typeface="Arial" panose="0208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400">
                <a:latin typeface="Arial" panose="02080604020202020204" pitchFamily="34" charset="0"/>
              </a:rPr>
              <a:t>str2</a:t>
            </a:r>
            <a:r>
              <a:rPr lang="zh-CN" altLang="en-US" sz="2400" dirty="0">
                <a:latin typeface="Arial" panose="02080604020202020204" pitchFamily="34" charset="0"/>
              </a:rPr>
              <a:t>中：</a:t>
            </a:r>
            <a:r>
              <a:rPr lang="en-US" altLang="zh-CN" sz="2400">
                <a:latin typeface="Arial" panose="02080604020202020204" pitchFamily="34" charset="0"/>
              </a:rPr>
              <a:t>go.\0</a:t>
            </a:r>
            <a:endParaRPr lang="en-US" altLang="zh-CN" sz="2400">
              <a:latin typeface="Arial" panose="02080604020202020204" pitchFamily="34" charset="0"/>
            </a:endParaRPr>
          </a:p>
        </p:txBody>
      </p:sp>
      <p:sp>
        <p:nvSpPr>
          <p:cNvPr id="403464" name="Rectangle 8"/>
          <p:cNvSpPr/>
          <p:nvPr/>
        </p:nvSpPr>
        <p:spPr>
          <a:xfrm>
            <a:off x="4648200" y="3597275"/>
            <a:ext cx="3772535" cy="9144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400">
                <a:latin typeface="Arial" panose="02080604020202020204" pitchFamily="34" charset="0"/>
              </a:rPr>
              <a:t>str1</a:t>
            </a:r>
            <a:r>
              <a:rPr lang="zh-CN" altLang="zh-CN" sz="2400" dirty="0">
                <a:latin typeface="Arial" panose="02080604020202020204" pitchFamily="34" charset="0"/>
              </a:rPr>
              <a:t>中：</a:t>
            </a:r>
            <a:r>
              <a:rPr lang="zh-CN" altLang="en-US" sz="2400" dirty="0">
                <a:latin typeface="Arial" panose="02080604020202020204" pitchFamily="34" charset="0"/>
              </a:rPr>
              <a:t> </a:t>
            </a:r>
            <a:r>
              <a:rPr lang="en-US" altLang="zh-CN" sz="2400">
                <a:latin typeface="Arial" panose="02080604020202020204" pitchFamily="34" charset="0"/>
              </a:rPr>
              <a:t>Let us go.\0</a:t>
            </a:r>
            <a:endParaRPr lang="en-US" altLang="zh-CN" sz="2400">
              <a:latin typeface="Arial" panose="0208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sz="2400">
                <a:latin typeface="Arial" panose="02080604020202020204" pitchFamily="34" charset="0"/>
              </a:rPr>
              <a:t>str2</a:t>
            </a:r>
            <a:r>
              <a:rPr lang="zh-CN" altLang="en-US" sz="2400" dirty="0">
                <a:latin typeface="Arial" panose="02080604020202020204" pitchFamily="34" charset="0"/>
              </a:rPr>
              <a:t>中：</a:t>
            </a:r>
            <a:r>
              <a:rPr lang="en-US" altLang="zh-CN" sz="2400">
                <a:latin typeface="Arial" panose="02080604020202020204" pitchFamily="34" charset="0"/>
              </a:rPr>
              <a:t>go.\0</a:t>
            </a:r>
            <a:endParaRPr lang="en-US" altLang="zh-CN" sz="2400">
              <a:latin typeface="Arial" panose="02080604020202020204" pitchFamily="34" charset="0"/>
            </a:endParaRPr>
          </a:p>
        </p:txBody>
      </p:sp>
      <p:sp>
        <p:nvSpPr>
          <p:cNvPr id="403465" name="Rectangle 9"/>
          <p:cNvSpPr/>
          <p:nvPr/>
        </p:nvSpPr>
        <p:spPr>
          <a:xfrm>
            <a:off x="4800600" y="4740275"/>
            <a:ext cx="2133600" cy="119888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p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Let us</a:t>
            </a:r>
            <a:endParaRPr lang="en-US" altLang="zh-CN" sz="2400">
              <a:solidFill>
                <a:srgbClr val="CC0066"/>
              </a:solidFill>
              <a:latin typeface="Arial" panose="02080604020202020204" pitchFamily="34" charset="0"/>
              <a:cs typeface="Arial" panose="02080604020202020204" pitchFamily="34" charset="0"/>
            </a:endParaRPr>
          </a:p>
          <a:p>
            <a:r>
              <a:rPr lang="en-US" altLang="zh-CN" sz="2400">
                <a:solidFill>
                  <a:srgbClr val="CC0066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go.</a:t>
            </a:r>
            <a:r>
              <a:rPr lang="en-US" altLang="zh-CN" sz="2400">
                <a:latin typeface="Book Antiqua" pitchFamily="18" charset="0"/>
              </a:rPr>
              <a:t> </a:t>
            </a:r>
            <a:endParaRPr lang="en-US" altLang="zh-CN" sz="2400">
              <a:latin typeface="Book Antiqua" pitchFamily="18" charset="0"/>
            </a:endParaRPr>
          </a:p>
          <a:p>
            <a:r>
              <a:rPr lang="en-US" altLang="zh-CN" sz="2400">
                <a:latin typeface="Arial" panose="02080604020202020204" pitchFamily="34" charset="0"/>
              </a:rPr>
              <a:t>Let us go.</a:t>
            </a:r>
            <a:endParaRPr lang="en-US" altLang="zh-CN" sz="2400">
              <a:latin typeface="Arial" panose="02080604020202020204" pitchFamily="34" charset="0"/>
              <a:ea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3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3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5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3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403463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5">
                                            <p:txEl>
                                              <p:charRg st="7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3465">
                                            <p:txEl>
                                              <p:charRg st="7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3465">
                                            <p:txEl>
                                              <p:charRg st="7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3">
                                            <p:txEl>
                                              <p:charRg st="2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403463">
                                            <p:txEl>
                                              <p:charRg st="2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4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403464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4">
                                            <p:txEl>
                                              <p:charRg st="2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403464">
                                            <p:txEl>
                                              <p:charRg st="2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5">
                                            <p:txEl>
                                              <p:charRg st="12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3465">
                                            <p:txEl>
                                              <p:charRg st="12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03465">
                                            <p:txEl>
                                              <p:charRg st="12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62" grpId="0" bldLvl="0" animBg="1"/>
      <p:bldP spid="403463" grpId="0" build="p"/>
      <p:bldP spid="403464" grpId="0" build="p"/>
      <p:bldP spid="403465" grpId="0" animBg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4484" name="Rectangle 4"/>
          <p:cNvSpPr>
            <a:spLocks noGrp="1"/>
          </p:cNvSpPr>
          <p:nvPr>
            <p:ph idx="1"/>
          </p:nvPr>
        </p:nvSpPr>
        <p:spPr>
          <a:xfrm>
            <a:off x="457200" y="1031875"/>
            <a:ext cx="8153400" cy="3581400"/>
          </a:xfrm>
        </p:spPr>
        <p:txBody>
          <a:bodyPr vert="horz" wrap="square" lIns="90488" tIns="44450" rIns="90488" bIns="44450" anchor="t" anchorCtr="0"/>
          <a:p>
            <a:pPr eaLnBrk="1" hangingPunct="1">
              <a:buNone/>
            </a:pPr>
            <a:r>
              <a:rPr lang="en-US" altLang="zh-CN" sz="2800" b="0"/>
              <a:t>strcmp(str1, str2)</a:t>
            </a:r>
            <a:endParaRPr lang="en-US" altLang="zh-CN" sz="2800" b="0"/>
          </a:p>
          <a:p>
            <a:pPr lvl="1" eaLnBrk="1" hangingPunct="1">
              <a:buNone/>
            </a:pPr>
            <a:r>
              <a:rPr lang="zh-CN" altLang="en-US" b="0" dirty="0"/>
              <a:t>比较 两个字符串</a:t>
            </a:r>
            <a:r>
              <a:rPr lang="en-US" altLang="zh-CN" b="0"/>
              <a:t>str1</a:t>
            </a:r>
            <a:r>
              <a:rPr lang="zh-CN" altLang="en-US" b="0" dirty="0"/>
              <a:t>和</a:t>
            </a:r>
            <a:r>
              <a:rPr lang="en-US" altLang="zh-CN" b="0"/>
              <a:t>str2</a:t>
            </a:r>
            <a:r>
              <a:rPr lang="zh-CN" altLang="en-US" b="0" dirty="0"/>
              <a:t>的大小。</a:t>
            </a:r>
            <a:endParaRPr lang="zh-CN" altLang="en-US" b="0" dirty="0"/>
          </a:p>
          <a:p>
            <a:pPr eaLnBrk="1" hangingPunct="1">
              <a:buNone/>
            </a:pPr>
            <a:r>
              <a:rPr lang="zh-CN" altLang="en-US" sz="2800" b="0" dirty="0"/>
              <a:t>规则：按字典序(</a:t>
            </a:r>
            <a:r>
              <a:rPr lang="en-US" altLang="zh-CN" sz="2800" b="0"/>
              <a:t>ASCII</a:t>
            </a:r>
            <a:r>
              <a:rPr lang="zh-CN" altLang="en-US" sz="2800" b="0" dirty="0"/>
              <a:t>码序)</a:t>
            </a:r>
            <a:endParaRPr lang="zh-CN" altLang="en-US" sz="2800" b="0" dirty="0"/>
          </a:p>
          <a:p>
            <a:pPr lvl="1" eaLnBrk="1" hangingPunct="1"/>
            <a:r>
              <a:rPr lang="zh-CN" altLang="en-US" b="0" dirty="0"/>
              <a:t>如果 </a:t>
            </a:r>
            <a:r>
              <a:rPr lang="en-US" altLang="zh-CN" b="0"/>
              <a:t>str1 </a:t>
            </a:r>
            <a:r>
              <a:rPr lang="zh-CN" altLang="en-US" b="0" dirty="0"/>
              <a:t>和 </a:t>
            </a:r>
            <a:r>
              <a:rPr lang="en-US" altLang="zh-CN" b="0"/>
              <a:t>str2 </a:t>
            </a:r>
            <a:r>
              <a:rPr lang="zh-CN" altLang="en-US" b="0" dirty="0"/>
              <a:t>相等，返回 0； </a:t>
            </a:r>
            <a:endParaRPr lang="zh-CN" altLang="en-US" b="0" dirty="0"/>
          </a:p>
          <a:p>
            <a:pPr lvl="1" eaLnBrk="1" hangingPunct="1"/>
            <a:r>
              <a:rPr lang="zh-CN" altLang="en-US" b="0" dirty="0"/>
              <a:t>如果 </a:t>
            </a:r>
            <a:r>
              <a:rPr lang="en-US" altLang="zh-CN" b="0"/>
              <a:t>str1 </a:t>
            </a:r>
            <a:r>
              <a:rPr lang="zh-CN" altLang="en-US" b="0" dirty="0"/>
              <a:t>大于 </a:t>
            </a:r>
            <a:r>
              <a:rPr lang="en-US" altLang="zh-CN" b="0"/>
              <a:t>str2 ，</a:t>
            </a:r>
            <a:r>
              <a:rPr lang="zh-CN" altLang="en-US" b="0" dirty="0"/>
              <a:t>返回一个正整数；   </a:t>
            </a:r>
            <a:endParaRPr lang="zh-CN" altLang="en-US" b="0" dirty="0"/>
          </a:p>
          <a:p>
            <a:pPr lvl="1" eaLnBrk="1" hangingPunct="1"/>
            <a:r>
              <a:rPr lang="zh-CN" altLang="en-US" b="0" dirty="0"/>
              <a:t>如果 </a:t>
            </a:r>
            <a:r>
              <a:rPr lang="en-US" altLang="zh-CN" b="0"/>
              <a:t>str1 </a:t>
            </a:r>
            <a:r>
              <a:rPr lang="zh-CN" altLang="en-US" b="0" dirty="0"/>
              <a:t>小于 </a:t>
            </a:r>
            <a:r>
              <a:rPr lang="en-US" altLang="zh-CN" b="0"/>
              <a:t>str2 ，</a:t>
            </a:r>
            <a:r>
              <a:rPr lang="zh-CN" altLang="en-US" b="0" dirty="0"/>
              <a:t>返回一个负整数；</a:t>
            </a:r>
            <a:endParaRPr lang="zh-CN" altLang="en-US" b="0" dirty="0"/>
          </a:p>
          <a:p>
            <a:pPr eaLnBrk="1" hangingPunct="1">
              <a:buNone/>
            </a:pPr>
            <a:r>
              <a:rPr lang="en-US" altLang="zh-CN" sz="2800" b="0"/>
              <a:t>static char s1[20] = "sea";</a:t>
            </a:r>
            <a:r>
              <a:rPr lang="zh-CN" altLang="en-US" b="0" dirty="0"/>
              <a:t>  </a:t>
            </a:r>
            <a:endParaRPr lang="zh-CN" altLang="en-US" b="0" dirty="0"/>
          </a:p>
        </p:txBody>
      </p:sp>
      <p:sp>
        <p:nvSpPr>
          <p:cNvPr id="63492" name="Rectangle 5"/>
          <p:cNvSpPr>
            <a:spLocks noGrp="1"/>
          </p:cNvSpPr>
          <p:nvPr>
            <p:ph type="title"/>
          </p:nvPr>
        </p:nvSpPr>
        <p:spPr>
          <a:xfrm>
            <a:off x="533400" y="422275"/>
            <a:ext cx="7696200" cy="6858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字符串比较函数strcmp</a:t>
            </a:r>
            <a:endParaRPr lang="en-US" altLang="zh-CN" b="0">
              <a:sym typeface="+mn-ea"/>
            </a:endParaRPr>
          </a:p>
        </p:txBody>
      </p:sp>
      <p:sp>
        <p:nvSpPr>
          <p:cNvPr id="404486" name="Rectangle 6"/>
          <p:cNvSpPr/>
          <p:nvPr/>
        </p:nvSpPr>
        <p:spPr>
          <a:xfrm>
            <a:off x="468313" y="4724400"/>
            <a:ext cx="5943600" cy="15240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p>
            <a:pPr marL="742950" lvl="1" indent="-28575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800">
                <a:latin typeface="Arial" panose="02080604020202020204" pitchFamily="34" charset="0"/>
              </a:rPr>
              <a:t>strcmp(s1, "Sea");</a:t>
            </a:r>
            <a:endParaRPr lang="en-US" altLang="zh-CN" sz="2800">
              <a:latin typeface="Arial" panose="02080604020202020204" pitchFamily="34" charset="0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800" err="1">
                <a:latin typeface="Arial" panose="02080604020202020204" pitchFamily="34" charset="0"/>
              </a:rPr>
              <a:t>strcmp("Sea</a:t>
            </a:r>
            <a:r>
              <a:rPr lang="en-US" altLang="zh-CN" sz="2800">
                <a:latin typeface="Arial" panose="02080604020202020204" pitchFamily="34" charset="0"/>
              </a:rPr>
              <a:t>", "Sea ");</a:t>
            </a:r>
            <a:endParaRPr lang="en-US" altLang="zh-CN" sz="2800">
              <a:latin typeface="Arial" panose="02080604020202020204" pitchFamily="34" charset="0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800" err="1">
                <a:latin typeface="Arial" panose="02080604020202020204" pitchFamily="34" charset="0"/>
              </a:rPr>
              <a:t>strcmp("Sea</a:t>
            </a:r>
            <a:r>
              <a:rPr lang="en-US" altLang="zh-CN" sz="2800">
                <a:latin typeface="Arial" panose="02080604020202020204" pitchFamily="34" charset="0"/>
              </a:rPr>
              <a:t>", "Sea");</a:t>
            </a:r>
            <a:endParaRPr lang="en-US" altLang="zh-CN" sz="2800">
              <a:latin typeface="Arial" panose="02080604020202020204" pitchFamily="34" charset="0"/>
            </a:endParaRPr>
          </a:p>
        </p:txBody>
      </p:sp>
      <p:sp>
        <p:nvSpPr>
          <p:cNvPr id="404487" name="Text Box 7"/>
          <p:cNvSpPr txBox="1"/>
          <p:nvPr/>
        </p:nvSpPr>
        <p:spPr>
          <a:xfrm>
            <a:off x="5791200" y="4765675"/>
            <a:ext cx="1600200" cy="1381125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>
            <a:spAutoFit/>
          </a:bodyPr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</a:pPr>
            <a:r>
              <a:rPr lang="zh-CN" altLang="en-US" sz="2800" dirty="0">
                <a:latin typeface="Book Antiqua" pitchFamily="18" charset="0"/>
              </a:rPr>
              <a:t>正整数</a:t>
            </a:r>
            <a:endParaRPr lang="zh-CN" altLang="en-US" sz="2800" dirty="0">
              <a:latin typeface="Book Antiqua" pitchFamily="18" charset="0"/>
            </a:endParaRP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</a:pPr>
            <a:r>
              <a:rPr lang="zh-CN" altLang="en-US" sz="2800" dirty="0">
                <a:latin typeface="Book Antiqua" pitchFamily="18" charset="0"/>
              </a:rPr>
              <a:t>负整数</a:t>
            </a:r>
            <a:endParaRPr lang="zh-CN" altLang="en-US" sz="2800" dirty="0">
              <a:latin typeface="Book Antiqua" pitchFamily="18" charset="0"/>
            </a:endParaRP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</a:pPr>
            <a:r>
              <a:rPr lang="zh-CN" altLang="en-US" sz="2800" dirty="0">
                <a:latin typeface="Book Antiqua" pitchFamily="18" charset="0"/>
              </a:rPr>
              <a:t>0</a:t>
            </a:r>
            <a:endParaRPr lang="zh-CN" altLang="en-US" sz="2800" dirty="0">
              <a:latin typeface="Book Antiqu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>
                                            <p:txEl>
                                              <p:charRg st="19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>
                                            <p:txEl>
                                              <p:charRg st="41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404484">
                                            <p:txEl>
                                              <p:charRg st="41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>
                                            <p:txEl>
                                              <p:charRg st="58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04484">
                                            <p:txEl>
                                              <p:charRg st="58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>
                                            <p:txEl>
                                              <p:charRg st="83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404484">
                                            <p:txEl>
                                              <p:charRg st="83" end="1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>
                                            <p:txEl>
                                              <p:charRg st="112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404484">
                                            <p:txEl>
                                              <p:charRg st="112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>
                                            <p:txEl>
                                              <p:charRg st="138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404484">
                                            <p:txEl>
                                              <p:charRg st="138" end="1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6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404486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6">
                                            <p:txEl>
                                              <p:charRg st="19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404486">
                                            <p:txEl>
                                              <p:charRg st="19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6">
                                            <p:txEl>
                                              <p:charRg st="42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404486">
                                            <p:txEl>
                                              <p:charRg st="42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4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4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4" grpId="0" build="p"/>
      <p:bldP spid="404486" grpId="0" build="p"/>
      <p:bldP spid="40448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6" name="Rectangle 5"/>
          <p:cNvSpPr>
            <a:spLocks noGrp="1"/>
          </p:cNvSpPr>
          <p:nvPr>
            <p:ph type="title"/>
          </p:nvPr>
        </p:nvSpPr>
        <p:spPr>
          <a:xfrm>
            <a:off x="228600" y="228600"/>
            <a:ext cx="8382000" cy="8382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strcmp</a:t>
            </a:r>
            <a:r>
              <a:rPr lang="en-US" altLang="zh-CN" b="0">
                <a:sym typeface="+mn-ea"/>
              </a:rPr>
              <a:t>() </a:t>
            </a:r>
            <a:r>
              <a:rPr lang="en-US" altLang="zh-CN" b="0">
                <a:sym typeface="+mn-ea"/>
              </a:rPr>
              <a:t>示例</a:t>
            </a:r>
            <a:endParaRPr lang="en-US" altLang="zh-CN" b="0">
              <a:sym typeface="+mn-ea"/>
            </a:endParaRPr>
          </a:p>
        </p:txBody>
      </p:sp>
      <p:sp>
        <p:nvSpPr>
          <p:cNvPr id="405510" name="Rectangle 6"/>
          <p:cNvSpPr/>
          <p:nvPr/>
        </p:nvSpPr>
        <p:spPr>
          <a:xfrm>
            <a:off x="6400800" y="3810000"/>
            <a:ext cx="1321435" cy="141986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p>
            <a:pPr>
              <a:spcBef>
                <a:spcPct val="30000"/>
              </a:spcBef>
            </a:pPr>
            <a:r>
              <a:rPr lang="en-US" altLang="zh-CN" sz="2400" b="1">
                <a:solidFill>
                  <a:srgbClr val="CC0066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1234</a:t>
            </a:r>
            <a:endParaRPr lang="en-US" altLang="zh-CN" sz="2400" b="1">
              <a:solidFill>
                <a:srgbClr val="CC0066"/>
              </a:solidFill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>
              <a:spcBef>
                <a:spcPct val="30000"/>
              </a:spcBef>
            </a:pPr>
            <a:r>
              <a:rPr lang="en-US" altLang="zh-CN" sz="2400" b="1">
                <a:solidFill>
                  <a:srgbClr val="CC0066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5</a:t>
            </a:r>
            <a:endParaRPr lang="en-US" altLang="zh-CN" sz="2400" b="1">
              <a:solidFill>
                <a:srgbClr val="CC0066"/>
              </a:solidFill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>
              <a:spcBef>
                <a:spcPct val="30000"/>
              </a:spcBef>
            </a:pPr>
            <a:r>
              <a:rPr lang="en-US" altLang="zh-CN" sz="2400" b="1">
                <a:latin typeface="Arial" panose="02080604020202020204" pitchFamily="34" charset="0"/>
                <a:cs typeface="Arial" panose="02080604020202020204" pitchFamily="34" charset="0"/>
              </a:rPr>
              <a:t>-4</a:t>
            </a:r>
            <a:endParaRPr lang="en-US" altLang="zh-CN" sz="2400" b="1">
              <a:latin typeface="Arial" panose="02080604020202020204" pitchFamily="34" charset="0"/>
              <a:ea typeface="Arial" panose="0208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28040" y="1628775"/>
            <a:ext cx="5046345" cy="409257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# include “stdio.h”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# include “string.h”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int main(void )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{  int res;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char s1[20], s2[20];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gets(s1);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gets(s2);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res = strcmp(s1, s2);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printf(“%d”, res);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return 0;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}</a:t>
            </a:r>
            <a:endParaRPr sz="2000"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0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0">
                                            <p:txEl>
                                              <p:charRg st="5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0">
                                            <p:txEl>
                                              <p:charRg st="7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5510">
                                            <p:txEl>
                                              <p:charRg st="7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5510">
                                            <p:txEl>
                                              <p:charRg st="7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10" grpId="0" animBg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9" name="Rectangle 4"/>
          <p:cNvSpPr>
            <a:spLocks noGrp="1"/>
          </p:cNvSpPr>
          <p:nvPr>
            <p:ph idx="1"/>
          </p:nvPr>
        </p:nvSpPr>
        <p:spPr>
          <a:xfrm>
            <a:off x="250825" y="1341438"/>
            <a:ext cx="6913563" cy="1582737"/>
          </a:xfrm>
        </p:spPr>
        <p:txBody>
          <a:bodyPr vert="horz" wrap="square" lIns="92075" tIns="46038" rIns="92075" bIns="46038" anchor="t" anchorCtr="0"/>
          <a:p>
            <a:pPr eaLnBrk="1" hangingPunct="1">
              <a:buNone/>
            </a:pPr>
            <a:r>
              <a:rPr lang="zh-CN" altLang="en-US" sz="2800" b="0" dirty="0"/>
              <a:t>利用字符串比较函数比较字符串的大小</a:t>
            </a:r>
            <a:endParaRPr lang="zh-CN" altLang="en-US" sz="2800" b="0" dirty="0"/>
          </a:p>
          <a:p>
            <a:pPr eaLnBrk="1" hangingPunct="1">
              <a:buNone/>
            </a:pPr>
            <a:r>
              <a:rPr lang="zh-CN" altLang="en-US" sz="2800" b="0" dirty="0"/>
              <a:t>     </a:t>
            </a:r>
            <a:r>
              <a:rPr lang="en-US" altLang="zh-CN" sz="2800" b="0"/>
              <a:t>strcmp(str1, str2);    </a:t>
            </a:r>
            <a:endParaRPr lang="en-US" altLang="zh-CN" sz="2800" b="0"/>
          </a:p>
          <a:p>
            <a:pPr eaLnBrk="1" hangingPunct="1">
              <a:buNone/>
            </a:pPr>
            <a:r>
              <a:rPr lang="zh-CN" altLang="en-US" sz="2800" b="0" dirty="0"/>
              <a:t>为什么定义这样的函数？</a:t>
            </a:r>
            <a:endParaRPr lang="zh-CN" altLang="en-US" sz="2800" b="0" dirty="0"/>
          </a:p>
          <a:p>
            <a:pPr eaLnBrk="1" hangingPunct="1">
              <a:buNone/>
            </a:pPr>
            <a:endParaRPr lang="zh-CN" altLang="en-US" sz="2800" b="0" dirty="0">
              <a:solidFill>
                <a:schemeClr val="bg2"/>
              </a:solidFill>
            </a:endParaRPr>
          </a:p>
        </p:txBody>
      </p:sp>
      <p:sp>
        <p:nvSpPr>
          <p:cNvPr id="65540" name="Rectangle 5"/>
          <p:cNvSpPr>
            <a:spLocks noGrp="1"/>
          </p:cNvSpPr>
          <p:nvPr>
            <p:ph type="title"/>
          </p:nvPr>
        </p:nvSpPr>
        <p:spPr>
          <a:xfrm>
            <a:off x="292100" y="307975"/>
            <a:ext cx="8382000" cy="8382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用</a:t>
            </a:r>
            <a:r>
              <a:rPr lang="en-US" altLang="zh-CN" b="0">
                <a:sym typeface="+mn-ea"/>
              </a:rPr>
              <a:t>strcmp()比较字符串</a:t>
            </a:r>
            <a:endParaRPr lang="en-US" altLang="zh-CN" b="0">
              <a:sym typeface="+mn-ea"/>
            </a:endParaRPr>
          </a:p>
        </p:txBody>
      </p:sp>
      <p:sp>
        <p:nvSpPr>
          <p:cNvPr id="406534" name="Text Box 6"/>
          <p:cNvSpPr txBox="1"/>
          <p:nvPr/>
        </p:nvSpPr>
        <p:spPr>
          <a:xfrm>
            <a:off x="4211638" y="3068638"/>
            <a:ext cx="4497387" cy="198374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>
            <a:spAutoFit/>
          </a:bodyPr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</a:pPr>
            <a:r>
              <a:rPr lang="en-US" altLang="zh-CN" sz="2800">
                <a:latin typeface="Arial" panose="02080604020202020204" pitchFamily="34" charset="0"/>
              </a:rPr>
              <a:t>strcmp(str1, str2) &gt; 0</a:t>
            </a:r>
            <a:endParaRPr lang="en-US" altLang="zh-CN" sz="2800">
              <a:latin typeface="Arial" panose="02080604020202020204" pitchFamily="34" charset="0"/>
            </a:endParaRPr>
          </a:p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</a:pPr>
            <a:r>
              <a:rPr lang="en-US" altLang="zh-CN" sz="2800">
                <a:latin typeface="Arial" panose="02080604020202020204" pitchFamily="34" charset="0"/>
              </a:rPr>
              <a:t>strcmp(str1, “hello”) &lt; 0</a:t>
            </a:r>
            <a:endParaRPr lang="en-US" altLang="zh-CN" sz="2800">
              <a:latin typeface="Arial" panose="02080604020202020204" pitchFamily="34" charset="0"/>
            </a:endParaRPr>
          </a:p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</a:pPr>
            <a:r>
              <a:rPr lang="en-US" altLang="zh-CN" sz="2800">
                <a:latin typeface="Arial" panose="02080604020202020204" pitchFamily="34" charset="0"/>
              </a:rPr>
              <a:t>strcmp(str1, str2) == 0</a:t>
            </a:r>
            <a:endParaRPr lang="en-US" altLang="zh-CN" sz="2800">
              <a:latin typeface="Arial" panose="02080604020202020204" pitchFamily="34" charset="0"/>
            </a:endParaRPr>
          </a:p>
        </p:txBody>
      </p:sp>
      <p:sp>
        <p:nvSpPr>
          <p:cNvPr id="65542" name="Rectangle 8"/>
          <p:cNvSpPr/>
          <p:nvPr/>
        </p:nvSpPr>
        <p:spPr>
          <a:xfrm>
            <a:off x="611188" y="3213100"/>
            <a:ext cx="2592387" cy="1814830"/>
          </a:xfrm>
          <a:prstGeom prst="rect">
            <a:avLst/>
          </a:prstGeom>
          <a:noFill/>
          <a:ln w="9525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lIns="92075" tIns="46038" rIns="92075" bIns="46038">
            <a:spAutoFit/>
          </a:bodyPr>
          <a:p>
            <a:r>
              <a:rPr lang="en-US" altLang="zh-CN" sz="2800">
                <a:latin typeface="Arial" panose="02080604020202020204" pitchFamily="34" charset="0"/>
              </a:rPr>
              <a:t>str1 &gt; str2 </a:t>
            </a:r>
            <a:endParaRPr lang="en-US" altLang="zh-CN" sz="2800">
              <a:latin typeface="Arial" panose="02080604020202020204" pitchFamily="34" charset="0"/>
            </a:endParaRPr>
          </a:p>
          <a:p>
            <a:r>
              <a:rPr lang="en-US" altLang="zh-CN" sz="2800">
                <a:latin typeface="Arial" panose="02080604020202020204" pitchFamily="34" charset="0"/>
              </a:rPr>
              <a:t>str1 &lt; “hello”</a:t>
            </a:r>
            <a:endParaRPr lang="en-US" altLang="zh-CN" sz="2800">
              <a:latin typeface="Arial" panose="02080604020202020204" pitchFamily="34" charset="0"/>
            </a:endParaRPr>
          </a:p>
          <a:p>
            <a:r>
              <a:rPr lang="en-US" altLang="zh-CN" sz="2800">
                <a:latin typeface="Arial" panose="02080604020202020204" pitchFamily="34" charset="0"/>
              </a:rPr>
              <a:t>str1 == str2 </a:t>
            </a:r>
            <a:endParaRPr lang="en-US" altLang="zh-CN" sz="2800">
              <a:latin typeface="Arial" panose="02080604020202020204" pitchFamily="34" charset="0"/>
            </a:endParaRPr>
          </a:p>
        </p:txBody>
      </p:sp>
      <p:sp>
        <p:nvSpPr>
          <p:cNvPr id="406537" name="Rectangle 9"/>
          <p:cNvSpPr/>
          <p:nvPr/>
        </p:nvSpPr>
        <p:spPr>
          <a:xfrm>
            <a:off x="539750" y="5012373"/>
            <a:ext cx="3536950" cy="4603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p>
            <a:r>
              <a:rPr lang="zh-CN" altLang="en-US" sz="2400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比较字符串首元素的地址</a:t>
            </a:r>
            <a:endParaRPr lang="zh-CN" altLang="en-US" sz="2400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  <p:sp>
        <p:nvSpPr>
          <p:cNvPr id="406538" name="Rectangle 10"/>
          <p:cNvSpPr/>
          <p:nvPr/>
        </p:nvSpPr>
        <p:spPr>
          <a:xfrm>
            <a:off x="4932363" y="4940618"/>
            <a:ext cx="2622550" cy="4603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p>
            <a:r>
              <a:rPr lang="zh-CN" altLang="en-US" sz="2400" dirty="0">
                <a:solidFill>
                  <a:schemeClr val="bg2"/>
                </a:solidFill>
                <a:latin typeface="Arial" panose="02080604020202020204" pitchFamily="34" charset="0"/>
                <a:ea typeface="仿宋_GB2312" pitchFamily="49" charset="-122"/>
              </a:rPr>
              <a:t>比较字符串的内容</a:t>
            </a:r>
            <a:endParaRPr lang="zh-CN" altLang="en-US" sz="2400" dirty="0">
              <a:solidFill>
                <a:schemeClr val="bg2"/>
              </a:solidFill>
              <a:latin typeface="Arial" panose="02080604020202020204" pitchFamily="34" charset="0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6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6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4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6534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6534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4">
                                            <p:txEl>
                                              <p:charRg st="23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6534">
                                            <p:txEl>
                                              <p:charRg st="23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6534">
                                            <p:txEl>
                                              <p:charRg st="23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4">
                                            <p:txEl>
                                              <p:charRg st="49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06534">
                                            <p:txEl>
                                              <p:charRg st="49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6534">
                                            <p:txEl>
                                              <p:charRg st="49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4" grpId="0" build="p"/>
      <p:bldP spid="406537" grpId="0"/>
      <p:bldP spid="40653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3" name="Rectangle 4"/>
          <p:cNvSpPr>
            <a:spLocks noGrp="1"/>
          </p:cNvSpPr>
          <p:nvPr>
            <p:ph idx="1"/>
          </p:nvPr>
        </p:nvSpPr>
        <p:spPr>
          <a:xfrm>
            <a:off x="533400" y="1447800"/>
            <a:ext cx="7239000" cy="3200400"/>
          </a:xfrm>
        </p:spPr>
        <p:txBody>
          <a:bodyPr vert="horz" wrap="square" lIns="90488" tIns="44450" rIns="90488" bIns="44450" anchor="t" anchorCtr="0"/>
          <a:p>
            <a:pPr eaLnBrk="1" hangingPunct="1"/>
            <a:r>
              <a:rPr lang="en-US" altLang="zh-CN" b="0" err="1"/>
              <a:t>strlen(str</a:t>
            </a:r>
            <a:r>
              <a:rPr lang="en-US" altLang="zh-CN" b="0"/>
              <a:t>)</a:t>
            </a:r>
            <a:endParaRPr lang="en-US" altLang="zh-CN" b="0"/>
          </a:p>
          <a:p>
            <a:pPr lvl="1" eaLnBrk="1" hangingPunct="1">
              <a:buNone/>
            </a:pPr>
            <a:r>
              <a:rPr lang="zh-CN" altLang="en-US" b="0" dirty="0"/>
              <a:t>计算字符串的有效长度，不包括 </a:t>
            </a:r>
            <a:r>
              <a:rPr lang="zh-CN" altLang="en-US" b="0" dirty="0">
                <a:solidFill>
                  <a:srgbClr val="CC0066"/>
                </a:solidFill>
              </a:rPr>
              <a:t>‘\0’</a:t>
            </a:r>
            <a:r>
              <a:rPr lang="zh-CN" altLang="en-US" b="0" dirty="0"/>
              <a:t>。</a:t>
            </a:r>
            <a:endParaRPr lang="zh-CN" altLang="en-US" b="0" dirty="0"/>
          </a:p>
          <a:p>
            <a:pPr lvl="1" eaLnBrk="1" hangingPunct="1">
              <a:buNone/>
            </a:pPr>
            <a:endParaRPr lang="en-US" altLang="zh-CN" b="0"/>
          </a:p>
          <a:p>
            <a:pPr lvl="1" eaLnBrk="1" hangingPunct="1">
              <a:buNone/>
            </a:pPr>
            <a:r>
              <a:rPr lang="en-US" altLang="zh-CN" b="0"/>
              <a:t>static char str[20]=“How are you?”</a:t>
            </a:r>
            <a:endParaRPr lang="en-US" altLang="zh-CN" b="0"/>
          </a:p>
          <a:p>
            <a:pPr lvl="1" eaLnBrk="1" hangingPunct="1">
              <a:buNone/>
            </a:pPr>
            <a:r>
              <a:rPr lang="en-US" altLang="zh-CN" b="0" err="1"/>
              <a:t>strlen(“hello</a:t>
            </a:r>
            <a:r>
              <a:rPr lang="en-US" altLang="zh-CN" b="0"/>
              <a:t>”) </a:t>
            </a:r>
            <a:r>
              <a:rPr lang="zh-CN" altLang="en-US" b="0" dirty="0"/>
              <a:t>的值是：</a:t>
            </a:r>
            <a:endParaRPr lang="zh-CN" altLang="en-US" b="0" dirty="0"/>
          </a:p>
          <a:p>
            <a:pPr lvl="1" eaLnBrk="1" hangingPunct="1">
              <a:buNone/>
            </a:pPr>
            <a:r>
              <a:rPr lang="en-US" altLang="zh-CN" b="0" err="1"/>
              <a:t>strlen(str</a:t>
            </a:r>
            <a:r>
              <a:rPr lang="en-US" altLang="zh-CN" b="0"/>
              <a:t>) </a:t>
            </a:r>
            <a:r>
              <a:rPr lang="zh-CN" altLang="en-US" b="0" dirty="0"/>
              <a:t>的值是：</a:t>
            </a:r>
            <a:endParaRPr lang="zh-CN" altLang="en-US" b="0" dirty="0"/>
          </a:p>
        </p:txBody>
      </p:sp>
      <p:sp>
        <p:nvSpPr>
          <p:cNvPr id="66564" name="Rectangle 5"/>
          <p:cNvSpPr>
            <a:spLocks noGrp="1"/>
          </p:cNvSpPr>
          <p:nvPr>
            <p:ph type="title"/>
          </p:nvPr>
        </p:nvSpPr>
        <p:spPr>
          <a:xfrm>
            <a:off x="533400" y="457200"/>
            <a:ext cx="7696200" cy="6858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字符串长度函数strlen</a:t>
            </a:r>
            <a:endParaRPr lang="en-US" altLang="zh-CN" b="0">
              <a:sym typeface="+mn-ea"/>
            </a:endParaRPr>
          </a:p>
        </p:txBody>
      </p:sp>
      <p:sp>
        <p:nvSpPr>
          <p:cNvPr id="407558" name="Text Box 6"/>
          <p:cNvSpPr txBox="1"/>
          <p:nvPr/>
        </p:nvSpPr>
        <p:spPr>
          <a:xfrm>
            <a:off x="4948238" y="3573463"/>
            <a:ext cx="703262" cy="103632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>
            <a:spAutoFit/>
          </a:bodyPr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</a:pPr>
            <a:r>
              <a:rPr lang="zh-CN" altLang="en-US" sz="2800" dirty="0">
                <a:solidFill>
                  <a:schemeClr val="bg2"/>
                </a:solidFill>
                <a:latin typeface="Arial" panose="02080604020202020204" pitchFamily="34" charset="0"/>
              </a:rPr>
              <a:t>5</a:t>
            </a:r>
            <a:endParaRPr lang="zh-CN" altLang="en-US" sz="2800" dirty="0">
              <a:solidFill>
                <a:schemeClr val="bg2"/>
              </a:solidFill>
              <a:latin typeface="Arial" panose="02080604020202020204" pitchFamily="34" charset="0"/>
            </a:endParaRPr>
          </a:p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</a:pPr>
            <a:r>
              <a:rPr lang="zh-CN" altLang="en-US" sz="2800" dirty="0">
                <a:solidFill>
                  <a:schemeClr val="bg2"/>
                </a:solidFill>
                <a:latin typeface="Arial" panose="02080604020202020204" pitchFamily="34" charset="0"/>
              </a:rPr>
              <a:t>12</a:t>
            </a:r>
            <a:endParaRPr lang="zh-CN" altLang="en-US" sz="2800" dirty="0">
              <a:solidFill>
                <a:schemeClr val="bg2"/>
              </a:solidFill>
              <a:latin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67587" name="Rectangle 4"/>
          <p:cNvSpPr>
            <a:spLocks noGrp="1"/>
          </p:cNvSpPr>
          <p:nvPr>
            <p:ph idx="1"/>
          </p:nvPr>
        </p:nvSpPr>
        <p:spPr>
          <a:xfrm>
            <a:off x="322580" y="990600"/>
            <a:ext cx="7921625" cy="5562600"/>
          </a:xfrm>
          <a:ln w="12700">
            <a:solidFill>
              <a:schemeClr val="tx1">
                <a:alpha val="100000"/>
              </a:schemeClr>
            </a:solidFill>
            <a:miter/>
          </a:ln>
        </p:spPr>
        <p:txBody>
          <a:bodyPr vert="horz" wrap="square" lIns="90488" tIns="44450" rIns="90488" bIns="44450" anchor="t" anchorCtr="0"/>
          <a:p>
            <a:pPr eaLnBrk="1" hangingPunct="1">
              <a:buNone/>
            </a:pPr>
            <a:r>
              <a:rPr lang="zh-CN" altLang="en-US" sz="2400" b="0" dirty="0"/>
              <a:t>      函数                  功能                               头文件</a:t>
            </a:r>
            <a:endParaRPr lang="zh-CN" altLang="en-US" sz="2400" b="0" dirty="0"/>
          </a:p>
          <a:p>
            <a:pPr eaLnBrk="1" hangingPunct="1">
              <a:buNone/>
            </a:pPr>
            <a:r>
              <a:rPr lang="en-US" altLang="zh-CN" sz="2400" b="0"/>
              <a:t> </a:t>
            </a:r>
            <a:r>
              <a:rPr lang="en-US" altLang="zh-CN" sz="2400" b="0" err="1"/>
              <a:t>puts(str</a:t>
            </a:r>
            <a:r>
              <a:rPr lang="en-US" altLang="zh-CN" sz="2400" b="0"/>
              <a:t>)            </a:t>
            </a:r>
            <a:r>
              <a:rPr lang="zh-CN" altLang="en-US" sz="2400" b="0" dirty="0"/>
              <a:t>输出字符串                          </a:t>
            </a:r>
            <a:r>
              <a:rPr lang="en-US" altLang="zh-CN" sz="2400" b="0" err="1"/>
              <a:t>stdio.h</a:t>
            </a:r>
            <a:endParaRPr lang="en-US" altLang="zh-CN" sz="2400" b="0"/>
          </a:p>
          <a:p>
            <a:pPr eaLnBrk="1" hangingPunct="1">
              <a:buNone/>
            </a:pPr>
            <a:r>
              <a:rPr lang="en-US" altLang="zh-CN" sz="2400" b="0"/>
              <a:t> </a:t>
            </a:r>
            <a:r>
              <a:rPr lang="en-US" altLang="zh-CN" sz="2400" b="0" err="1"/>
              <a:t>gets(str</a:t>
            </a:r>
            <a:r>
              <a:rPr lang="en-US" altLang="zh-CN" sz="2400" b="0"/>
              <a:t>)            </a:t>
            </a:r>
            <a:r>
              <a:rPr lang="zh-CN" altLang="en-US" sz="2400" b="0" dirty="0"/>
              <a:t>输入字符串（回车间隔）</a:t>
            </a:r>
            <a:endParaRPr lang="en-US" altLang="en-US" sz="2400" b="0"/>
          </a:p>
          <a:p>
            <a:pPr eaLnBrk="1" hangingPunct="1">
              <a:buNone/>
            </a:pPr>
            <a:r>
              <a:rPr lang="en-US" altLang="zh-CN" sz="2400" b="0"/>
              <a:t> strcpy(s1,s2)     s2  ==&gt; s1</a:t>
            </a:r>
            <a:endParaRPr lang="en-US" altLang="zh-CN" sz="2400" b="0"/>
          </a:p>
          <a:p>
            <a:pPr eaLnBrk="1" hangingPunct="1">
              <a:buNone/>
            </a:pPr>
            <a:r>
              <a:rPr lang="en-US" altLang="zh-CN" sz="2400" b="0"/>
              <a:t> strcat(s1,s2)      s1 “</a:t>
            </a:r>
            <a:r>
              <a:rPr lang="en-US" altLang="zh-CN" sz="2400" b="0">
                <a:solidFill>
                  <a:schemeClr val="bg2"/>
                </a:solidFill>
              </a:rPr>
              <a:t>+</a:t>
            </a:r>
            <a:r>
              <a:rPr lang="en-US" altLang="zh-CN" sz="2400" b="0"/>
              <a:t>” s2 ==&gt; s1</a:t>
            </a:r>
            <a:endParaRPr lang="en-US" altLang="zh-CN" sz="2400" b="0"/>
          </a:p>
          <a:p>
            <a:pPr eaLnBrk="1" hangingPunct="1">
              <a:buNone/>
            </a:pPr>
            <a:r>
              <a:rPr lang="zh-CN" altLang="en-US" sz="2400" b="0" dirty="0"/>
              <a:t>                           若 </a:t>
            </a:r>
            <a:r>
              <a:rPr lang="en-US" altLang="zh-CN" sz="2400" b="0"/>
              <a:t>s1“</a:t>
            </a:r>
            <a:r>
              <a:rPr lang="en-US" altLang="zh-CN" sz="2400" b="0">
                <a:solidFill>
                  <a:schemeClr val="bg2"/>
                </a:solidFill>
              </a:rPr>
              <a:t>==</a:t>
            </a:r>
            <a:r>
              <a:rPr lang="en-US" altLang="zh-CN" sz="2400" b="0"/>
              <a:t>”s2， </a:t>
            </a:r>
            <a:r>
              <a:rPr lang="zh-CN" altLang="en-US" sz="2400" b="0" dirty="0"/>
              <a:t>函数值为0</a:t>
            </a:r>
            <a:endParaRPr lang="en-US" altLang="en-US" sz="2400" b="0"/>
          </a:p>
          <a:p>
            <a:pPr eaLnBrk="1" hangingPunct="1">
              <a:buNone/>
            </a:pPr>
            <a:r>
              <a:rPr lang="zh-CN" altLang="en-US" sz="2400" b="0" dirty="0"/>
              <a:t> </a:t>
            </a:r>
            <a:r>
              <a:rPr lang="en-US" altLang="zh-CN" sz="2400" b="0"/>
              <a:t>strcmp(s1,s2)</a:t>
            </a:r>
            <a:r>
              <a:rPr lang="zh-CN" altLang="en-US" sz="2400" b="0" dirty="0"/>
              <a:t>  若 </a:t>
            </a:r>
            <a:r>
              <a:rPr lang="en-US" altLang="zh-CN" sz="2400" b="0"/>
              <a:t>s1 “</a:t>
            </a:r>
            <a:r>
              <a:rPr lang="en-US" altLang="zh-CN" sz="2400" b="0">
                <a:solidFill>
                  <a:schemeClr val="bg2"/>
                </a:solidFill>
              </a:rPr>
              <a:t>&gt;</a:t>
            </a:r>
            <a:r>
              <a:rPr lang="en-US" altLang="zh-CN" sz="2400" b="0"/>
              <a:t>” s2， </a:t>
            </a:r>
            <a:r>
              <a:rPr lang="zh-CN" altLang="en-US" sz="2400" b="0" dirty="0"/>
              <a:t>函数值 &gt;0    </a:t>
            </a:r>
            <a:r>
              <a:rPr lang="en-US" altLang="zh-CN" sz="2400" b="0" err="1"/>
              <a:t>string.h</a:t>
            </a:r>
            <a:endParaRPr lang="en-US" altLang="zh-CN" sz="2400" b="0"/>
          </a:p>
          <a:p>
            <a:pPr eaLnBrk="1" hangingPunct="1">
              <a:buNone/>
            </a:pPr>
            <a:r>
              <a:rPr lang="en-US" altLang="zh-CN" sz="2400" b="0"/>
              <a:t>                           </a:t>
            </a:r>
            <a:r>
              <a:rPr lang="zh-CN" altLang="en-US" sz="2400" b="0" dirty="0"/>
              <a:t>若 </a:t>
            </a:r>
            <a:r>
              <a:rPr lang="en-US" altLang="zh-CN" sz="2400" b="0"/>
              <a:t>s1 “</a:t>
            </a:r>
            <a:r>
              <a:rPr lang="en-US" altLang="zh-CN" sz="2400" b="0">
                <a:solidFill>
                  <a:schemeClr val="bg2"/>
                </a:solidFill>
              </a:rPr>
              <a:t>&lt;</a:t>
            </a:r>
            <a:r>
              <a:rPr lang="en-US" altLang="zh-CN" sz="2400" b="0"/>
              <a:t>” s2， </a:t>
            </a:r>
            <a:r>
              <a:rPr lang="zh-CN" altLang="en-US" sz="2400" b="0" dirty="0"/>
              <a:t>函数值&lt;0</a:t>
            </a:r>
            <a:endParaRPr lang="en-US" altLang="en-US" sz="2400" b="0"/>
          </a:p>
          <a:p>
            <a:pPr eaLnBrk="1" hangingPunct="1">
              <a:buNone/>
            </a:pPr>
            <a:r>
              <a:rPr lang="zh-CN" altLang="en-US" sz="2400" b="0" dirty="0"/>
              <a:t>                          计算字符串的有效长度，</a:t>
            </a:r>
            <a:endParaRPr lang="zh-CN" altLang="en-US" sz="2400" b="0" dirty="0"/>
          </a:p>
          <a:p>
            <a:pPr eaLnBrk="1" hangingPunct="1">
              <a:buNone/>
            </a:pPr>
            <a:r>
              <a:rPr lang="en-US" altLang="zh-CN" sz="2400" b="0"/>
              <a:t> </a:t>
            </a:r>
            <a:r>
              <a:rPr lang="en-US" altLang="zh-CN" sz="2400" b="0" err="1"/>
              <a:t>strlen(str</a:t>
            </a:r>
            <a:r>
              <a:rPr lang="en-US" altLang="zh-CN" sz="2400" b="0"/>
              <a:t>)         </a:t>
            </a:r>
            <a:r>
              <a:rPr lang="zh-CN" altLang="en-US" sz="2400" b="0" dirty="0"/>
              <a:t> 不包括 ‘\0’</a:t>
            </a:r>
            <a:endParaRPr lang="zh-CN" altLang="en-US" sz="2400" b="0" dirty="0"/>
          </a:p>
        </p:txBody>
      </p:sp>
      <p:sp>
        <p:nvSpPr>
          <p:cNvPr id="67588" name="Rectangle 5"/>
          <p:cNvSpPr>
            <a:spLocks noGrp="1"/>
          </p:cNvSpPr>
          <p:nvPr>
            <p:ph type="title"/>
          </p:nvPr>
        </p:nvSpPr>
        <p:spPr>
          <a:xfrm>
            <a:off x="609600" y="307975"/>
            <a:ext cx="7696200" cy="6858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sz="2665" b="0">
                <a:sym typeface="+mn-ea"/>
              </a:rPr>
              <a:t>字符串处理函数小结</a:t>
            </a:r>
            <a:endParaRPr lang="en-US" altLang="zh-CN" sz="2665" b="0">
              <a:sym typeface="+mn-ea"/>
            </a:endParaRPr>
          </a:p>
        </p:txBody>
      </p:sp>
      <p:sp>
        <p:nvSpPr>
          <p:cNvPr id="67589" name="Line 6"/>
          <p:cNvSpPr/>
          <p:nvPr/>
        </p:nvSpPr>
        <p:spPr>
          <a:xfrm>
            <a:off x="2819400" y="990600"/>
            <a:ext cx="0" cy="5562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590" name="Line 7"/>
          <p:cNvSpPr/>
          <p:nvPr/>
        </p:nvSpPr>
        <p:spPr>
          <a:xfrm>
            <a:off x="381000" y="1447800"/>
            <a:ext cx="786384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591" name="Line 8"/>
          <p:cNvSpPr/>
          <p:nvPr/>
        </p:nvSpPr>
        <p:spPr>
          <a:xfrm flipV="1">
            <a:off x="381000" y="1908810"/>
            <a:ext cx="6494145" cy="63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592" name="Line 9"/>
          <p:cNvSpPr/>
          <p:nvPr/>
        </p:nvSpPr>
        <p:spPr>
          <a:xfrm>
            <a:off x="395605" y="2348865"/>
            <a:ext cx="787590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593" name="Line 10"/>
          <p:cNvSpPr/>
          <p:nvPr/>
        </p:nvSpPr>
        <p:spPr>
          <a:xfrm flipV="1">
            <a:off x="381000" y="2736850"/>
            <a:ext cx="649414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594" name="Line 11"/>
          <p:cNvSpPr/>
          <p:nvPr/>
        </p:nvSpPr>
        <p:spPr>
          <a:xfrm flipV="1">
            <a:off x="381000" y="3618230"/>
            <a:ext cx="649414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595" name="Line 12"/>
          <p:cNvSpPr/>
          <p:nvPr/>
        </p:nvSpPr>
        <p:spPr>
          <a:xfrm>
            <a:off x="381000" y="4961890"/>
            <a:ext cx="65151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596" name="Line 13"/>
          <p:cNvSpPr/>
          <p:nvPr/>
        </p:nvSpPr>
        <p:spPr>
          <a:xfrm>
            <a:off x="6875780" y="990600"/>
            <a:ext cx="0" cy="5562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1" name="Rectangle 4"/>
          <p:cNvSpPr>
            <a:spLocks noGrp="1"/>
          </p:cNvSpPr>
          <p:nvPr>
            <p:ph idx="1"/>
          </p:nvPr>
        </p:nvSpPr>
        <p:spPr>
          <a:xfrm>
            <a:off x="228600" y="958850"/>
            <a:ext cx="3983038" cy="4831080"/>
          </a:xfr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int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main( ) 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{  int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i;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int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x, min;    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scanf("%d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", &amp;x);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min = x; 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for(i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= 1; i &lt; 5; i++){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    scanf("%d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", &amp;x);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    if(x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&lt; min)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        min = x;            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}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printf("min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is %d\n</a:t>
            </a: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", min);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   return 0;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  <a:p>
            <a:pPr marL="0" lvl="0" algn="l" defTabSz="914400">
              <a:buNone/>
            </a:pPr>
            <a:r>
              <a:rPr sz="2000" b="0" kern="1200">
                <a:latin typeface="+mn-ea"/>
                <a:ea typeface="宋体" pitchFamily="2" charset="-122"/>
                <a:cs typeface="+mn-ea"/>
                <a:sym typeface="+mn-ea"/>
              </a:rPr>
              <a:t> } </a:t>
            </a:r>
            <a:endParaRPr sz="2000" b="0" kern="1200">
              <a:latin typeface="+mn-ea"/>
              <a:ea typeface="宋体" pitchFamily="2" charset="-122"/>
              <a:cs typeface="+mn-ea"/>
              <a:sym typeface="+mn-ea"/>
            </a:endParaRPr>
          </a:p>
        </p:txBody>
      </p:sp>
      <p:sp>
        <p:nvSpPr>
          <p:cNvPr id="68612" name="Rectangle 5"/>
          <p:cNvSpPr>
            <a:spLocks noGrp="1"/>
          </p:cNvSpPr>
          <p:nvPr>
            <p:ph type="title"/>
          </p:nvPr>
        </p:nvSpPr>
        <p:spPr>
          <a:xfrm>
            <a:off x="0" y="46038"/>
            <a:ext cx="5054600" cy="6096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8-16 </a:t>
            </a:r>
            <a:r>
              <a:rPr lang="en-US" altLang="zh-CN" b="0">
                <a:sym typeface="+mn-ea"/>
              </a:rPr>
              <a:t>求最小字符串</a:t>
            </a:r>
            <a:endParaRPr lang="en-US" altLang="zh-CN" b="0">
              <a:sym typeface="+mn-ea"/>
            </a:endParaRPr>
          </a:p>
        </p:txBody>
      </p:sp>
      <p:sp>
        <p:nvSpPr>
          <p:cNvPr id="409606" name="Rectangle 6"/>
          <p:cNvSpPr/>
          <p:nvPr/>
        </p:nvSpPr>
        <p:spPr>
          <a:xfrm>
            <a:off x="4716145" y="476250"/>
            <a:ext cx="4321175" cy="520065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#include &lt;string.h</a:t>
            </a:r>
            <a:r>
              <a:rPr sz="2000">
                <a:latin typeface="+mn-ea"/>
                <a:cs typeface="+mn-ea"/>
                <a:sym typeface="+mn-ea"/>
              </a:rPr>
              <a:t>&gt;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main( ) 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{   int</a:t>
            </a:r>
            <a:r>
              <a:rPr sz="2000">
                <a:latin typeface="+mn-ea"/>
                <a:cs typeface="+mn-ea"/>
                <a:sym typeface="+mn-ea"/>
              </a:rPr>
              <a:t> i;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char sx[80], smin[80];    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scanf("%s</a:t>
            </a:r>
            <a:r>
              <a:rPr sz="2000">
                <a:latin typeface="+mn-ea"/>
                <a:cs typeface="+mn-ea"/>
                <a:sym typeface="+mn-ea"/>
              </a:rPr>
              <a:t>", sx</a:t>
            </a:r>
            <a:r>
              <a:rPr sz="2000">
                <a:latin typeface="+mn-ea"/>
                <a:cs typeface="+mn-ea"/>
                <a:sym typeface="+mn-ea"/>
              </a:rPr>
              <a:t>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strcpy(smin,sx</a:t>
            </a:r>
            <a:r>
              <a:rPr sz="2000">
                <a:latin typeface="+mn-ea"/>
                <a:cs typeface="+mn-ea"/>
                <a:sym typeface="+mn-ea"/>
              </a:rPr>
              <a:t>); 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for(i</a:t>
            </a:r>
            <a:r>
              <a:rPr sz="2000">
                <a:latin typeface="+mn-ea"/>
                <a:cs typeface="+mn-ea"/>
                <a:sym typeface="+mn-ea"/>
              </a:rPr>
              <a:t> = 1; i &lt; 5; i++){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   scanf("%s</a:t>
            </a:r>
            <a:r>
              <a:rPr sz="2000">
                <a:latin typeface="+mn-ea"/>
                <a:cs typeface="+mn-ea"/>
                <a:sym typeface="+mn-ea"/>
              </a:rPr>
              <a:t>", sx</a:t>
            </a:r>
            <a:r>
              <a:rPr sz="2000">
                <a:latin typeface="+mn-ea"/>
                <a:cs typeface="+mn-ea"/>
                <a:sym typeface="+mn-ea"/>
              </a:rPr>
              <a:t>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   if(strcmp(sx</a:t>
            </a:r>
            <a:r>
              <a:rPr sz="2000">
                <a:latin typeface="+mn-ea"/>
                <a:cs typeface="+mn-ea"/>
                <a:sym typeface="+mn-ea"/>
              </a:rPr>
              <a:t>, smin</a:t>
            </a:r>
            <a:r>
              <a:rPr sz="2000">
                <a:latin typeface="+mn-ea"/>
                <a:cs typeface="+mn-ea"/>
                <a:sym typeface="+mn-ea"/>
              </a:rPr>
              <a:t>)&lt;0)  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         strcpy(smin,sx</a:t>
            </a:r>
            <a:r>
              <a:rPr sz="2000">
                <a:latin typeface="+mn-ea"/>
                <a:cs typeface="+mn-ea"/>
                <a:sym typeface="+mn-ea"/>
              </a:rPr>
              <a:t>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 }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printf("min</a:t>
            </a:r>
            <a:r>
              <a:rPr sz="2000">
                <a:latin typeface="+mn-ea"/>
                <a:cs typeface="+mn-ea"/>
                <a:sym typeface="+mn-ea"/>
              </a:rPr>
              <a:t> is %s\n</a:t>
            </a:r>
            <a:r>
              <a:rPr sz="2000">
                <a:latin typeface="+mn-ea"/>
                <a:cs typeface="+mn-ea"/>
                <a:sym typeface="+mn-ea"/>
              </a:rPr>
              <a:t>", smin</a:t>
            </a:r>
            <a:r>
              <a:rPr sz="2000">
                <a:latin typeface="+mn-ea"/>
                <a:cs typeface="+mn-ea"/>
                <a:sym typeface="+mn-ea"/>
              </a:rPr>
              <a:t>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  return 0;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}   </a:t>
            </a:r>
            <a:endParaRPr sz="2000">
              <a:latin typeface="+mn-ea"/>
              <a:cs typeface="+mn-ea"/>
              <a:sym typeface="+mn-ea"/>
            </a:endParaRPr>
          </a:p>
        </p:txBody>
      </p:sp>
      <p:sp>
        <p:nvSpPr>
          <p:cNvPr id="409607" name="Rectangle 7"/>
          <p:cNvSpPr/>
          <p:nvPr/>
        </p:nvSpPr>
        <p:spPr>
          <a:xfrm>
            <a:off x="2667000" y="1120775"/>
            <a:ext cx="2055495" cy="9398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p>
            <a:pPr>
              <a:spcBef>
                <a:spcPct val="30000"/>
              </a:spcBef>
            </a:pPr>
            <a:r>
              <a:rPr lang="en-US" altLang="zh-CN" sz="2400" b="1">
                <a:solidFill>
                  <a:srgbClr val="CC0066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2 8 -1 99 0</a:t>
            </a:r>
            <a:r>
              <a:rPr lang="en-US" altLang="zh-CN" sz="2400" b="1">
                <a:solidFill>
                  <a:srgbClr val="FFFF00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endParaRPr lang="en-US" altLang="zh-CN" sz="2400" b="1">
              <a:solidFill>
                <a:srgbClr val="FFFF00"/>
              </a:solidFill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>
              <a:spcBef>
                <a:spcPct val="30000"/>
              </a:spcBef>
            </a:pPr>
            <a:r>
              <a:rPr lang="en-US" altLang="zh-CN" sz="2400" b="1">
                <a:latin typeface="Arial" panose="02080604020202020204" pitchFamily="34" charset="0"/>
              </a:rPr>
              <a:t>min is –1</a:t>
            </a:r>
            <a:r>
              <a:rPr lang="en-US" altLang="zh-CN" sz="2400" b="1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endParaRPr lang="en-US" altLang="zh-CN" sz="2400" b="1">
              <a:latin typeface="Arial" panose="02080604020202020204" pitchFamily="34" charset="0"/>
              <a:ea typeface="Arial" panose="02080604020202020204" pitchFamily="34" charset="0"/>
            </a:endParaRPr>
          </a:p>
        </p:txBody>
      </p:sp>
      <p:sp>
        <p:nvSpPr>
          <p:cNvPr id="409608" name="Rectangle 8"/>
          <p:cNvSpPr/>
          <p:nvPr/>
        </p:nvSpPr>
        <p:spPr>
          <a:xfrm>
            <a:off x="3780155" y="5805170"/>
            <a:ext cx="4818380" cy="9398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p>
            <a:pPr>
              <a:spcBef>
                <a:spcPct val="30000"/>
              </a:spcBef>
            </a:pPr>
            <a:r>
              <a:rPr lang="en-US" altLang="zh-CN" sz="2400" b="1">
                <a:solidFill>
                  <a:srgbClr val="CC0066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tool key about zoo sea</a:t>
            </a:r>
            <a:r>
              <a:rPr lang="en-US" altLang="zh-CN" sz="2400" b="1">
                <a:solidFill>
                  <a:srgbClr val="FFFF00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  </a:t>
            </a:r>
            <a:endParaRPr lang="en-US" altLang="zh-CN" sz="2400" b="1">
              <a:solidFill>
                <a:srgbClr val="FFFF00"/>
              </a:solidFill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>
              <a:spcBef>
                <a:spcPct val="30000"/>
              </a:spcBef>
            </a:pPr>
            <a:r>
              <a:rPr lang="en-US" altLang="zh-CN" sz="2400" b="1">
                <a:latin typeface="Arial" panose="02080604020202020204" pitchFamily="34" charset="0"/>
              </a:rPr>
              <a:t>min is about</a:t>
            </a:r>
            <a:r>
              <a:rPr lang="en-US" altLang="zh-CN" sz="2400" b="1"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endParaRPr lang="en-US" altLang="zh-CN" sz="2400" b="1">
              <a:latin typeface="Arial" panose="02080604020202020204" pitchFamily="34" charset="0"/>
              <a:ea typeface="Arial" panose="0208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0960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09606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charRg st="2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09606">
                                            <p:txEl>
                                              <p:charRg st="2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charRg st="33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09606">
                                            <p:txEl>
                                              <p:charRg st="33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charRg st="44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09606">
                                            <p:txEl>
                                              <p:charRg st="44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charRg st="75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09606">
                                            <p:txEl>
                                              <p:charRg st="75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charRg st="96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09606">
                                            <p:txEl>
                                              <p:charRg st="96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charRg st="118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09606">
                                            <p:txEl>
                                              <p:charRg st="118" end="1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charRg st="146" end="1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09606">
                                            <p:txEl>
                                              <p:charRg st="146" end="1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charRg st="170" end="2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09606">
                                            <p:txEl>
                                              <p:charRg st="170" end="2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charRg st="202" end="2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09606">
                                            <p:txEl>
                                              <p:charRg st="202" end="2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charRg st="232" end="2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09606">
                                            <p:txEl>
                                              <p:charRg st="232" end="2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charRg st="239" end="2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09606">
                                            <p:txEl>
                                              <p:charRg st="239" end="2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charRg st="272" end="2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409606">
                                            <p:txEl>
                                              <p:charRg st="272" end="2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>
                                            <p:txEl>
                                              <p:charRg st="286" end="2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409606">
                                            <p:txEl>
                                              <p:charRg st="286" end="2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09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09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6" grpId="0" animBg="1" uiExpand="1" build="p"/>
      <p:bldP spid="409607" grpId="0" bldLvl="0" animBg="1"/>
      <p:bldP spid="409608" grpId="0" bldLvl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5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18488" cy="1027113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8.5  </a:t>
            </a:r>
            <a:r>
              <a:rPr lang="en-US" altLang="zh-CN" b="0">
                <a:sym typeface="+mn-ea"/>
              </a:rPr>
              <a:t>任意个整数求和问题 * </a:t>
            </a:r>
            <a:endParaRPr lang="en-US" altLang="zh-CN" b="0">
              <a:sym typeface="+mn-ea"/>
            </a:endParaRPr>
          </a:p>
        </p:txBody>
      </p:sp>
      <p:sp>
        <p:nvSpPr>
          <p:cNvPr id="6963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0" dirty="0">
                <a:ea typeface="黑体" pitchFamily="2" charset="-122"/>
              </a:rPr>
              <a:t>例</a:t>
            </a:r>
            <a:r>
              <a:rPr lang="zh-CN" altLang="en-US" b="0" dirty="0"/>
              <a:t>8-17 先输入一个正整数</a:t>
            </a:r>
            <a:r>
              <a:rPr lang="en-US" altLang="zh-CN" b="0"/>
              <a:t>n，</a:t>
            </a:r>
            <a:r>
              <a:rPr lang="zh-CN" altLang="en-US" b="0" dirty="0"/>
              <a:t>再输入任意</a:t>
            </a:r>
            <a:r>
              <a:rPr lang="en-US" altLang="zh-CN" b="0"/>
              <a:t>n</a:t>
            </a:r>
            <a:r>
              <a:rPr lang="zh-CN" altLang="en-US" b="0" dirty="0"/>
              <a:t>个整数，计算并输出这</a:t>
            </a:r>
            <a:r>
              <a:rPr lang="en-US" altLang="zh-CN" b="0"/>
              <a:t>n</a:t>
            </a:r>
            <a:r>
              <a:rPr lang="zh-CN" altLang="en-US" b="0" dirty="0"/>
              <a:t>个整数的和。</a:t>
            </a:r>
            <a:endParaRPr lang="zh-CN" altLang="en-US" b="0" dirty="0"/>
          </a:p>
          <a:p>
            <a:pPr eaLnBrk="1" hangingPunct="1">
              <a:buNone/>
            </a:pPr>
            <a:endParaRPr lang="zh-CN" altLang="en-US" b="0" dirty="0"/>
          </a:p>
          <a:p>
            <a:pPr eaLnBrk="1" hangingPunct="1">
              <a:buNone/>
            </a:pPr>
            <a:r>
              <a:rPr lang="zh-CN" altLang="en-US" b="0" dirty="0"/>
              <a:t>   要求使用</a:t>
            </a:r>
            <a:r>
              <a:rPr lang="zh-CN" altLang="en-US" b="0" dirty="0">
                <a:solidFill>
                  <a:schemeClr val="bg2"/>
                </a:solidFill>
              </a:rPr>
              <a:t>动态内存分配方法</a:t>
            </a:r>
            <a:r>
              <a:rPr lang="zh-CN" altLang="en-US" b="0" dirty="0"/>
              <a:t>为这</a:t>
            </a:r>
            <a:r>
              <a:rPr lang="en-US" altLang="zh-CN" b="0"/>
              <a:t>n</a:t>
            </a:r>
            <a:r>
              <a:rPr lang="zh-CN" altLang="en-US" b="0" dirty="0"/>
              <a:t>个整数分配空间。  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60" name="Rectangle 4"/>
          <p:cNvSpPr/>
          <p:nvPr/>
        </p:nvSpPr>
        <p:spPr>
          <a:xfrm>
            <a:off x="107315" y="92075"/>
            <a:ext cx="7200900" cy="667766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rtlCol="0" anchor="t" anchorCtr="0">
            <a:spAutoFit/>
          </a:bodyPr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int</a:t>
            </a:r>
            <a:r>
              <a:rPr sz="2000">
                <a:latin typeface="+mn-ea"/>
                <a:cs typeface="+mn-ea"/>
                <a:sym typeface="+mn-ea"/>
              </a:rPr>
              <a:t> main ( )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{  int</a:t>
            </a:r>
            <a:r>
              <a:rPr sz="2000">
                <a:latin typeface="+mn-ea"/>
                <a:cs typeface="+mn-ea"/>
                <a:sym typeface="+mn-ea"/>
              </a:rPr>
              <a:t> n, sum, i, *p;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   printf("Enter</a:t>
            </a:r>
            <a:r>
              <a:rPr sz="2000">
                <a:latin typeface="+mn-ea"/>
                <a:cs typeface="+mn-ea"/>
                <a:sym typeface="+mn-ea"/>
              </a:rPr>
              <a:t> n: ");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  scanf("%d</a:t>
            </a:r>
            <a:r>
              <a:rPr sz="2000">
                <a:latin typeface="+mn-ea"/>
                <a:cs typeface="+mn-ea"/>
                <a:sym typeface="+mn-ea"/>
              </a:rPr>
              <a:t>", &amp;n);</a:t>
            </a:r>
            <a:endParaRPr sz="2000">
              <a:latin typeface="+mn-ea"/>
              <a:cs typeface="+mn-ea"/>
              <a:sym typeface="+mn-ea"/>
            </a:endParaRPr>
          </a:p>
          <a:p>
            <a:pPr lvl="2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if ((p = (int *) calloc (n, sizeof(int))) == NULL) {</a:t>
            </a:r>
            <a:endParaRPr sz="2000">
              <a:latin typeface="+mn-ea"/>
              <a:cs typeface="+mn-ea"/>
              <a:sym typeface="+mn-ea"/>
            </a:endParaRPr>
          </a:p>
          <a:p>
            <a:pPr lvl="2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x-none" sz="2000">
                <a:latin typeface="+mn-ea"/>
                <a:cs typeface="+mn-ea"/>
                <a:sym typeface="+mn-ea"/>
              </a:rPr>
              <a:t>	</a:t>
            </a:r>
            <a:r>
              <a:rPr sz="2000">
                <a:latin typeface="+mn-ea"/>
                <a:cs typeface="+mn-ea"/>
                <a:sym typeface="+mn-ea"/>
              </a:rPr>
              <a:t>printf("Not</a:t>
            </a:r>
            <a:r>
              <a:rPr sz="2000">
                <a:latin typeface="+mn-ea"/>
                <a:cs typeface="+mn-ea"/>
                <a:sym typeface="+mn-ea"/>
              </a:rPr>
              <a:t> able to allocate memory. \n");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	</a:t>
            </a:r>
            <a:r>
              <a:rPr lang="x-none" sz="2000">
                <a:latin typeface="+mn-ea"/>
                <a:cs typeface="+mn-ea"/>
                <a:sym typeface="+mn-ea"/>
              </a:rPr>
              <a:t>e</a:t>
            </a:r>
            <a:r>
              <a:rPr sz="2000">
                <a:latin typeface="+mn-ea"/>
                <a:cs typeface="+mn-ea"/>
                <a:sym typeface="+mn-ea"/>
              </a:rPr>
              <a:t>xit(1);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x-none" sz="2000">
                <a:latin typeface="+mn-ea"/>
                <a:cs typeface="+mn-ea"/>
                <a:sym typeface="+mn-ea"/>
              </a:rPr>
              <a:t>	</a:t>
            </a:r>
            <a:r>
              <a:rPr sz="2000">
                <a:latin typeface="+mn-ea"/>
                <a:cs typeface="+mn-ea"/>
                <a:sym typeface="+mn-ea"/>
              </a:rPr>
              <a:t>}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	printf("Enter</a:t>
            </a:r>
            <a:r>
              <a:rPr sz="2000">
                <a:latin typeface="+mn-ea"/>
                <a:cs typeface="+mn-ea"/>
                <a:sym typeface="+mn-ea"/>
              </a:rPr>
              <a:t> %d integers: ", n);   		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x-none" sz="2000">
                <a:latin typeface="+mn-ea"/>
                <a:cs typeface="+mn-ea"/>
                <a:sym typeface="+mn-ea"/>
              </a:rPr>
              <a:t>	</a:t>
            </a:r>
            <a:r>
              <a:rPr sz="2000">
                <a:latin typeface="+mn-ea"/>
                <a:cs typeface="+mn-ea"/>
                <a:sym typeface="+mn-ea"/>
              </a:rPr>
              <a:t>for (i = 0; i &lt; n; i++)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	</a:t>
            </a:r>
            <a:r>
              <a:rPr lang="x-none" sz="2000">
                <a:latin typeface="+mn-ea"/>
                <a:cs typeface="+mn-ea"/>
                <a:sym typeface="+mn-ea"/>
              </a:rPr>
              <a:t>	</a:t>
            </a:r>
            <a:r>
              <a:rPr sz="2000">
                <a:latin typeface="+mn-ea"/>
                <a:cs typeface="+mn-ea"/>
                <a:sym typeface="+mn-ea"/>
              </a:rPr>
              <a:t>scanf("%d</a:t>
            </a:r>
            <a:r>
              <a:rPr sz="2000">
                <a:latin typeface="+mn-ea"/>
                <a:cs typeface="+mn-ea"/>
                <a:sym typeface="+mn-ea"/>
              </a:rPr>
              <a:t>", p+i</a:t>
            </a:r>
            <a:r>
              <a:rPr sz="2000">
                <a:latin typeface="+mn-ea"/>
                <a:cs typeface="+mn-ea"/>
                <a:sym typeface="+mn-ea"/>
              </a:rPr>
              <a:t>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	  sum = 0;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	  for (i = 0; i &lt; n; i++)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	</a:t>
            </a:r>
            <a:r>
              <a:rPr lang="x-none" sz="2000">
                <a:latin typeface="+mn-ea"/>
                <a:cs typeface="+mn-ea"/>
                <a:sym typeface="+mn-ea"/>
              </a:rPr>
              <a:t>	</a:t>
            </a:r>
            <a:r>
              <a:rPr sz="2000">
                <a:latin typeface="+mn-ea"/>
                <a:cs typeface="+mn-ea"/>
                <a:sym typeface="+mn-ea"/>
              </a:rPr>
              <a:t>sum = sum</a:t>
            </a:r>
            <a:r>
              <a:rPr sz="2000">
                <a:latin typeface="+mn-ea"/>
                <a:cs typeface="+mn-ea"/>
                <a:sym typeface="+mn-ea"/>
              </a:rPr>
              <a:t> + *(p+i</a:t>
            </a:r>
            <a:r>
              <a:rPr sz="2000">
                <a:latin typeface="+mn-ea"/>
                <a:cs typeface="+mn-ea"/>
                <a:sym typeface="+mn-ea"/>
              </a:rPr>
              <a:t>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	  printf("The</a:t>
            </a:r>
            <a:r>
              <a:rPr sz="2000">
                <a:latin typeface="+mn-ea"/>
                <a:cs typeface="+mn-ea"/>
                <a:sym typeface="+mn-ea"/>
              </a:rPr>
              <a:t> sum is %d \n",sum</a:t>
            </a:r>
            <a:r>
              <a:rPr sz="2000">
                <a:latin typeface="+mn-ea"/>
                <a:cs typeface="+mn-ea"/>
                <a:sym typeface="+mn-ea"/>
              </a:rPr>
              <a:t>);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	  free(p</a:t>
            </a:r>
            <a:r>
              <a:rPr sz="2000">
                <a:latin typeface="+mn-ea"/>
                <a:cs typeface="+mn-ea"/>
                <a:sym typeface="+mn-ea"/>
              </a:rPr>
              <a:t>);			</a:t>
            </a:r>
            <a:r>
              <a:rPr sz="2000">
                <a:latin typeface="+mn-ea"/>
                <a:cs typeface="+mn-ea"/>
                <a:sym typeface="+mn-ea"/>
              </a:rPr>
              <a:t> 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	  </a:t>
            </a:r>
            <a:r>
              <a:rPr sz="2000">
                <a:latin typeface="+mn-ea"/>
                <a:cs typeface="+mn-ea"/>
                <a:sym typeface="+mn-ea"/>
              </a:rPr>
              <a:t>return 0;</a:t>
            </a:r>
            <a:endParaRPr sz="2000">
              <a:latin typeface="+mn-ea"/>
              <a:cs typeface="+mn-ea"/>
              <a:sym typeface="+mn-ea"/>
            </a:endParaRPr>
          </a:p>
          <a:p>
            <a:pPr lvl="0" indent="-342900" algn="l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sz="2000">
                <a:latin typeface="+mn-ea"/>
                <a:cs typeface="+mn-ea"/>
                <a:sym typeface="+mn-ea"/>
              </a:rPr>
              <a:t>} </a:t>
            </a:r>
            <a:endParaRPr sz="2000">
              <a:latin typeface="+mn-ea"/>
              <a:cs typeface="+mn-ea"/>
              <a:sym typeface="+mn-ea"/>
            </a:endParaRPr>
          </a:p>
        </p:txBody>
      </p:sp>
      <p:sp>
        <p:nvSpPr>
          <p:cNvPr id="420869" name="Rectangle 5"/>
          <p:cNvSpPr/>
          <p:nvPr/>
        </p:nvSpPr>
        <p:spPr>
          <a:xfrm>
            <a:off x="3059748" y="5661025"/>
            <a:ext cx="5334000" cy="9772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p>
            <a:pPr algn="just">
              <a:spcBef>
                <a:spcPct val="30000"/>
              </a:spcBef>
            </a:pPr>
            <a:r>
              <a:rPr lang="en-US" altLang="zh-CN" sz="1600" b="1">
                <a:latin typeface="Arial" panose="02080604020202020204" pitchFamily="34" charset="0"/>
                <a:cs typeface="Courier New" pitchFamily="49" charset="0"/>
              </a:rPr>
              <a:t>Enter n:</a:t>
            </a:r>
            <a:r>
              <a:rPr lang="en-US" altLang="zh-CN" sz="1600" b="1">
                <a:solidFill>
                  <a:srgbClr val="CC0066"/>
                </a:solidFill>
                <a:latin typeface="Arial" panose="02080604020202020204" pitchFamily="34" charset="0"/>
                <a:cs typeface="Courier New" pitchFamily="49" charset="0"/>
              </a:rPr>
              <a:t> 10</a:t>
            </a:r>
            <a:endParaRPr lang="en-US" altLang="zh-CN" sz="1600" b="1">
              <a:solidFill>
                <a:srgbClr val="CC0066"/>
              </a:solidFill>
              <a:latin typeface="Arial" panose="02080604020202020204" pitchFamily="34" charset="0"/>
              <a:cs typeface="Courier New" pitchFamily="49" charset="0"/>
            </a:endParaRPr>
          </a:p>
          <a:p>
            <a:pPr algn="just">
              <a:spcBef>
                <a:spcPct val="30000"/>
              </a:spcBef>
            </a:pPr>
            <a:r>
              <a:rPr lang="en-US" altLang="zh-CN" sz="1600" b="1">
                <a:latin typeface="Arial" panose="02080604020202020204" pitchFamily="34" charset="0"/>
                <a:cs typeface="Courier New" pitchFamily="49" charset="0"/>
              </a:rPr>
              <a:t>Enter 10 integers:</a:t>
            </a:r>
            <a:r>
              <a:rPr lang="en-US" altLang="zh-CN" sz="1600" b="1">
                <a:solidFill>
                  <a:srgbClr val="CC0066"/>
                </a:solidFill>
                <a:latin typeface="Arial" panose="02080604020202020204" pitchFamily="34" charset="0"/>
                <a:cs typeface="Courier New" pitchFamily="49" charset="0"/>
              </a:rPr>
              <a:t> 3 7 12 54 2 –19 8 –1 0 15</a:t>
            </a:r>
            <a:endParaRPr lang="en-US" altLang="zh-CN" sz="1600" b="1">
              <a:solidFill>
                <a:srgbClr val="CC0066"/>
              </a:solidFill>
              <a:latin typeface="Arial" panose="02080604020202020204" pitchFamily="34" charset="0"/>
              <a:cs typeface="Courier New" pitchFamily="49" charset="0"/>
            </a:endParaRPr>
          </a:p>
          <a:p>
            <a:pPr>
              <a:spcBef>
                <a:spcPct val="30000"/>
              </a:spcBef>
            </a:pPr>
            <a:r>
              <a:rPr lang="en-US" altLang="zh-CN" sz="1600" b="1">
                <a:latin typeface="Arial" panose="02080604020202020204" pitchFamily="34" charset="0"/>
                <a:cs typeface="Courier New" pitchFamily="49" charset="0"/>
              </a:rPr>
              <a:t>The sum is 81</a:t>
            </a:r>
            <a:r>
              <a:rPr lang="en-US" altLang="zh-CN" sz="1600" b="1">
                <a:solidFill>
                  <a:srgbClr val="CC0066"/>
                </a:solidFill>
                <a:latin typeface="Arial" panose="02080604020202020204" pitchFamily="34" charset="0"/>
                <a:cs typeface="Arial" panose="02080604020202020204" pitchFamily="34" charset="0"/>
              </a:rPr>
              <a:t> </a:t>
            </a:r>
            <a:endParaRPr lang="en-US" altLang="zh-CN" sz="1600" b="1">
              <a:solidFill>
                <a:srgbClr val="CC0066"/>
              </a:solidFill>
              <a:latin typeface="Arial" panose="02080604020202020204" pitchFamily="34" charset="0"/>
              <a:ea typeface="Arial" panose="02080604020202020204" pitchFamily="34" charset="0"/>
            </a:endParaRPr>
          </a:p>
        </p:txBody>
      </p:sp>
      <p:sp>
        <p:nvSpPr>
          <p:cNvPr id="70659" name="Rectangle 2"/>
          <p:cNvSpPr>
            <a:spLocks noGrp="1"/>
          </p:cNvSpPr>
          <p:nvPr>
            <p:ph type="title"/>
          </p:nvPr>
        </p:nvSpPr>
        <p:spPr>
          <a:xfrm>
            <a:off x="5253355" y="404495"/>
            <a:ext cx="3750310" cy="609600"/>
          </a:xfrm>
          <a:solidFill>
            <a:schemeClr val="bg1"/>
          </a:solidFill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8.5.1 程序解析</a:t>
            </a:r>
            <a:endParaRPr lang="en-US" altLang="zh-CN" b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0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0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69" grpId="0" bldLvl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71683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620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8.5.2  </a:t>
            </a:r>
            <a:r>
              <a:rPr lang="en-US" altLang="zh-CN" b="0">
                <a:sym typeface="+mn-ea"/>
              </a:rPr>
              <a:t>用指针实现内存动态分配</a:t>
            </a:r>
            <a:r>
              <a:rPr lang="en-US" altLang="zh-CN" b="0">
                <a:sym typeface="+mn-ea"/>
              </a:rPr>
              <a:t> </a:t>
            </a:r>
            <a:endParaRPr lang="en-US" altLang="zh-CN" b="0">
              <a:sym typeface="+mn-ea"/>
            </a:endParaRPr>
          </a:p>
        </p:txBody>
      </p:sp>
      <p:sp>
        <p:nvSpPr>
          <p:cNvPr id="421891" name="Rectangle 3"/>
          <p:cNvSpPr>
            <a:spLocks noGrp="1"/>
          </p:cNvSpPr>
          <p:nvPr>
            <p:ph idx="1"/>
          </p:nvPr>
        </p:nvSpPr>
        <p:spPr>
          <a:xfrm>
            <a:off x="457200" y="1524000"/>
            <a:ext cx="8362950" cy="464185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0" dirty="0">
                <a:latin typeface="宋体" pitchFamily="2" charset="-122"/>
              </a:rPr>
              <a:t>变量在使用前必须被定义且安排好存储空间</a:t>
            </a:r>
            <a:endParaRPr lang="zh-CN" altLang="en-US" b="0" dirty="0">
              <a:latin typeface="宋体" pitchFamily="2" charset="-122"/>
            </a:endParaRPr>
          </a:p>
          <a:p>
            <a:pPr eaLnBrk="1" hangingPunct="1"/>
            <a:r>
              <a:rPr lang="zh-CN" altLang="en-US" b="0" dirty="0">
                <a:solidFill>
                  <a:srgbClr val="CC0066"/>
                </a:solidFill>
                <a:latin typeface="宋体" pitchFamily="2" charset="-122"/>
              </a:rPr>
              <a:t>全局变量</a:t>
            </a:r>
            <a:r>
              <a:rPr lang="zh-CN" altLang="en-US" b="0" dirty="0">
                <a:latin typeface="宋体" pitchFamily="2" charset="-122"/>
              </a:rPr>
              <a:t>、</a:t>
            </a:r>
            <a:r>
              <a:rPr lang="zh-CN" altLang="en-US" b="0" dirty="0">
                <a:solidFill>
                  <a:srgbClr val="CC0066"/>
                </a:solidFill>
                <a:latin typeface="宋体" pitchFamily="2" charset="-122"/>
              </a:rPr>
              <a:t>静态局部变量</a:t>
            </a:r>
            <a:r>
              <a:rPr lang="zh-CN" altLang="en-US" b="0" dirty="0">
                <a:latin typeface="宋体" pitchFamily="2" charset="-122"/>
              </a:rPr>
              <a:t>的存储是在</a:t>
            </a:r>
            <a:r>
              <a:rPr lang="zh-CN" altLang="en-US" b="0" dirty="0">
                <a:solidFill>
                  <a:schemeClr val="bg2"/>
                </a:solidFill>
                <a:latin typeface="宋体" pitchFamily="2" charset="-122"/>
              </a:rPr>
              <a:t>编译时</a:t>
            </a:r>
            <a:r>
              <a:rPr lang="zh-CN" altLang="en-US" b="0" dirty="0">
                <a:latin typeface="宋体" pitchFamily="2" charset="-122"/>
              </a:rPr>
              <a:t>确定，在程序开始执行前完成。</a:t>
            </a:r>
            <a:endParaRPr lang="zh-CN" altLang="en-US" b="0" dirty="0">
              <a:latin typeface="宋体" pitchFamily="2" charset="-122"/>
            </a:endParaRPr>
          </a:p>
          <a:p>
            <a:pPr eaLnBrk="1" hangingPunct="1"/>
            <a:r>
              <a:rPr lang="zh-CN" altLang="en-US" b="0" dirty="0">
                <a:solidFill>
                  <a:srgbClr val="CC0066"/>
                </a:solidFill>
                <a:latin typeface="宋体" pitchFamily="2" charset="-122"/>
              </a:rPr>
              <a:t>自动变量</a:t>
            </a:r>
            <a:r>
              <a:rPr lang="zh-CN" altLang="en-US" b="0" dirty="0">
                <a:latin typeface="宋体" pitchFamily="2" charset="-122"/>
              </a:rPr>
              <a:t>，在执行进入变量定义所在的复合语句时为它们分配存储，变量的大小也是静态确定的。</a:t>
            </a:r>
            <a:endParaRPr lang="zh-CN" altLang="en-US" b="0" dirty="0">
              <a:latin typeface="宋体" pitchFamily="2" charset="-122"/>
            </a:endParaRPr>
          </a:p>
          <a:p>
            <a:pPr eaLnBrk="1" hangingPunct="1"/>
            <a:r>
              <a:rPr lang="zh-CN" altLang="en-US" b="0" dirty="0">
                <a:latin typeface="宋体" pitchFamily="2" charset="-122"/>
              </a:rPr>
              <a:t>一般情况下，运行中的很多存储要求在写程序时无法确定。</a:t>
            </a:r>
            <a:endParaRPr lang="zh-CN" altLang="en-US" b="0" dirty="0">
              <a:latin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1891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charRg st="20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1891">
                                            <p:txEl>
                                              <p:charRg st="20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charRg st="54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21891">
                                            <p:txEl>
                                              <p:charRg st="54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charRg st="98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1891">
                                            <p:txEl>
                                              <p:charRg st="98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1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72707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620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动态存储管理</a:t>
            </a:r>
            <a:r>
              <a:rPr lang="en-US" altLang="zh-CN" b="0">
                <a:sym typeface="+mn-ea"/>
              </a:rPr>
              <a:t> </a:t>
            </a:r>
            <a:endParaRPr lang="en-US" altLang="zh-CN" b="0">
              <a:sym typeface="+mn-ea"/>
            </a:endParaRPr>
          </a:p>
        </p:txBody>
      </p:sp>
      <p:sp>
        <p:nvSpPr>
          <p:cNvPr id="422915" name="Rectangle 3"/>
          <p:cNvSpPr>
            <a:spLocks noGrp="1"/>
          </p:cNvSpPr>
          <p:nvPr>
            <p:ph idx="1"/>
          </p:nvPr>
        </p:nvSpPr>
        <p:spPr>
          <a:xfrm>
            <a:off x="468313" y="1557338"/>
            <a:ext cx="8147050" cy="3852862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0" dirty="0">
                <a:latin typeface="宋体" pitchFamily="2" charset="-122"/>
              </a:rPr>
              <a:t>不是由编译系统分配的，而是由用户在程序中通过动态分配获取。</a:t>
            </a:r>
            <a:endParaRPr lang="zh-CN" altLang="en-US" b="0" dirty="0">
              <a:latin typeface="宋体" pitchFamily="2" charset="-122"/>
            </a:endParaRPr>
          </a:p>
          <a:p>
            <a:pPr eaLnBrk="1" hangingPunct="1"/>
            <a:endParaRPr lang="zh-CN" altLang="en-US" b="0" dirty="0">
              <a:latin typeface="宋体" pitchFamily="2" charset="-122"/>
            </a:endParaRPr>
          </a:p>
          <a:p>
            <a:pPr eaLnBrk="1" hangingPunct="1"/>
            <a:r>
              <a:rPr lang="zh-CN" altLang="en-US" b="0" dirty="0">
                <a:latin typeface="宋体" pitchFamily="2" charset="-122"/>
              </a:rPr>
              <a:t>使用动态内存分配能有效地使用内存</a:t>
            </a:r>
            <a:endParaRPr lang="zh-CN" altLang="en-US" b="0" dirty="0">
              <a:latin typeface="宋体" pitchFamily="2" charset="-122"/>
            </a:endParaRPr>
          </a:p>
          <a:p>
            <a:pPr lvl="1" eaLnBrk="1" hangingPunct="1"/>
            <a:r>
              <a:rPr lang="zh-CN" altLang="en-US" b="0" dirty="0">
                <a:latin typeface="宋体" pitchFamily="2" charset="-122"/>
              </a:rPr>
              <a:t>使用时申请</a:t>
            </a:r>
            <a:endParaRPr lang="zh-CN" altLang="en-US" b="0" dirty="0">
              <a:latin typeface="宋体" pitchFamily="2" charset="-122"/>
            </a:endParaRPr>
          </a:p>
          <a:p>
            <a:pPr lvl="1" eaLnBrk="1" hangingPunct="1"/>
            <a:r>
              <a:rPr lang="zh-CN" altLang="en-US" b="0" dirty="0">
                <a:latin typeface="宋体" pitchFamily="2" charset="-122"/>
              </a:rPr>
              <a:t>用完就释放</a:t>
            </a:r>
            <a:endParaRPr lang="zh-CN" altLang="en-US" b="0" dirty="0">
              <a:latin typeface="宋体" pitchFamily="2" charset="-122"/>
            </a:endParaRPr>
          </a:p>
          <a:p>
            <a:pPr eaLnBrk="1" hangingPunct="1">
              <a:buNone/>
            </a:pPr>
            <a:r>
              <a:rPr lang="zh-CN" altLang="en-US" b="0" dirty="0">
                <a:latin typeface="宋体" pitchFamily="2" charset="-122"/>
              </a:rPr>
              <a:t>同一段内存可以有不同的用途</a:t>
            </a:r>
            <a:r>
              <a:rPr lang="zh-CN" altLang="en-US" b="0" dirty="0"/>
              <a:t> </a:t>
            </a:r>
            <a:endParaRPr lang="zh-CN" altLang="en-US"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2915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charRg st="31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2915">
                                            <p:txEl>
                                              <p:charRg st="31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charRg st="48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22915">
                                            <p:txEl>
                                              <p:charRg st="48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charRg st="54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2915">
                                            <p:txEl>
                                              <p:charRg st="54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charRg st="60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22915">
                                            <p:txEl>
                                              <p:charRg st="60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915" grpId="0" bldLvl="2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73731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动态内存分配的步骤</a:t>
            </a:r>
            <a:r>
              <a:rPr lang="en-US" altLang="zh-CN" b="0">
                <a:sym typeface="+mn-ea"/>
              </a:rPr>
              <a:t> </a:t>
            </a:r>
            <a:endParaRPr lang="en-US" altLang="zh-CN" b="0">
              <a:sym typeface="+mn-ea"/>
            </a:endParaRPr>
          </a:p>
        </p:txBody>
      </p:sp>
      <p:sp>
        <p:nvSpPr>
          <p:cNvPr id="42393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b="0" dirty="0">
                <a:latin typeface="宋体" pitchFamily="2" charset="-122"/>
              </a:rPr>
              <a:t>（</a:t>
            </a:r>
            <a:r>
              <a:rPr lang="zh-CN" altLang="en-US" b="0" dirty="0"/>
              <a:t>1</a:t>
            </a:r>
            <a:r>
              <a:rPr lang="zh-CN" altLang="en-US" b="0" dirty="0">
                <a:latin typeface="宋体" pitchFamily="2" charset="-122"/>
              </a:rPr>
              <a:t>）了解需要多少内存空间</a:t>
            </a:r>
            <a:endParaRPr lang="zh-CN" altLang="en-US" b="0" dirty="0"/>
          </a:p>
          <a:p>
            <a:pPr algn="just" eaLnBrk="1" hangingPunct="1">
              <a:buNone/>
            </a:pPr>
            <a:r>
              <a:rPr lang="zh-CN" altLang="en-US" b="0" dirty="0">
                <a:latin typeface="宋体" pitchFamily="2" charset="-122"/>
              </a:rPr>
              <a:t>（</a:t>
            </a:r>
            <a:r>
              <a:rPr lang="zh-CN" altLang="en-US" b="0" dirty="0"/>
              <a:t>2</a:t>
            </a:r>
            <a:r>
              <a:rPr lang="zh-CN" altLang="en-US" b="0" dirty="0">
                <a:latin typeface="宋体" pitchFamily="2" charset="-122"/>
              </a:rPr>
              <a:t>）利用</a:t>
            </a:r>
            <a:r>
              <a:rPr lang="en-US" altLang="zh-CN" b="0"/>
              <a:t>C</a:t>
            </a:r>
            <a:r>
              <a:rPr lang="zh-CN" altLang="en-US" b="0" dirty="0">
                <a:latin typeface="宋体" pitchFamily="2" charset="-122"/>
              </a:rPr>
              <a:t>语言提供的动态分配函数来分配所需要的存储空间。</a:t>
            </a:r>
            <a:endParaRPr lang="zh-CN" altLang="en-US" b="0" dirty="0"/>
          </a:p>
          <a:p>
            <a:pPr algn="just" eaLnBrk="1" hangingPunct="1">
              <a:buNone/>
            </a:pPr>
            <a:r>
              <a:rPr lang="zh-CN" altLang="en-US" b="0" dirty="0">
                <a:latin typeface="宋体" pitchFamily="2" charset="-122"/>
              </a:rPr>
              <a:t>（</a:t>
            </a:r>
            <a:r>
              <a:rPr lang="zh-CN" altLang="en-US" b="0" dirty="0"/>
              <a:t>3</a:t>
            </a:r>
            <a:r>
              <a:rPr lang="zh-CN" altLang="en-US" b="0" dirty="0">
                <a:latin typeface="宋体" pitchFamily="2" charset="-122"/>
              </a:rPr>
              <a:t>）使指针指向获得的内存空间，以便用指针在该空间内实施运算或操作。</a:t>
            </a:r>
            <a:endParaRPr lang="zh-CN" altLang="en-US" b="0" dirty="0"/>
          </a:p>
          <a:p>
            <a:pPr eaLnBrk="1" hangingPunct="1">
              <a:buNone/>
            </a:pPr>
            <a:r>
              <a:rPr lang="zh-CN" altLang="en-US" b="0" dirty="0">
                <a:latin typeface="宋体" pitchFamily="2" charset="-122"/>
              </a:rPr>
              <a:t> （</a:t>
            </a:r>
            <a:r>
              <a:rPr lang="zh-CN" altLang="en-US" b="0" dirty="0"/>
              <a:t>4</a:t>
            </a:r>
            <a:r>
              <a:rPr lang="zh-CN" altLang="en-US" b="0" dirty="0">
                <a:latin typeface="宋体" pitchFamily="2" charset="-122"/>
              </a:rPr>
              <a:t>）当使用完毕内存后，释放这一空间。</a:t>
            </a:r>
            <a:r>
              <a:rPr lang="zh-CN" altLang="en-US" b="0" dirty="0"/>
              <a:t> </a:t>
            </a:r>
            <a:endParaRPr lang="zh-CN" altLang="en-US"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393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charRg st="14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3939">
                                            <p:txEl>
                                              <p:charRg st="14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charRg st="44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23939">
                                            <p:txEl>
                                              <p:charRg st="44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charRg st="79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3939">
                                            <p:txEl>
                                              <p:charRg st="79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39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5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动态存储分配函数</a:t>
            </a:r>
            <a:r>
              <a:rPr lang="en-US" altLang="zh-CN" b="0">
                <a:sym typeface="+mn-ea"/>
              </a:rPr>
              <a:t>malloc</a:t>
            </a:r>
            <a:r>
              <a:rPr lang="en-US" altLang="zh-CN" b="0">
                <a:sym typeface="+mn-ea"/>
              </a:rPr>
              <a:t>()</a:t>
            </a:r>
            <a:endParaRPr lang="en-US" altLang="zh-CN" b="0">
              <a:sym typeface="+mn-ea"/>
            </a:endParaRPr>
          </a:p>
        </p:txBody>
      </p:sp>
      <p:sp>
        <p:nvSpPr>
          <p:cNvPr id="424963" name="Rectangle 3"/>
          <p:cNvSpPr>
            <a:spLocks noGrp="1"/>
          </p:cNvSpPr>
          <p:nvPr>
            <p:ph idx="1"/>
          </p:nvPr>
        </p:nvSpPr>
        <p:spPr>
          <a:xfrm>
            <a:off x="323850" y="1447800"/>
            <a:ext cx="8820150" cy="4860925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b="0"/>
              <a:t>void *</a:t>
            </a:r>
            <a:r>
              <a:rPr lang="en-US" altLang="zh-CN" b="0" err="1"/>
              <a:t>malloc(unsigned</a:t>
            </a:r>
            <a:r>
              <a:rPr lang="en-US" altLang="zh-CN" b="0"/>
              <a:t> size) </a:t>
            </a:r>
            <a:endParaRPr lang="en-US" altLang="zh-CN" b="0"/>
          </a:p>
          <a:p>
            <a:pPr lvl="1" eaLnBrk="1" hangingPunct="1">
              <a:buNone/>
            </a:pPr>
            <a:r>
              <a:rPr lang="zh-CN" altLang="en-US" b="0" dirty="0">
                <a:latin typeface="宋体" pitchFamily="2" charset="-122"/>
              </a:rPr>
              <a:t>在内存的动态存储区中分配一连续空间，其长度为</a:t>
            </a:r>
            <a:r>
              <a:rPr lang="en-US" altLang="zh-CN" b="0"/>
              <a:t>size</a:t>
            </a:r>
            <a:endParaRPr lang="en-US" altLang="zh-CN" b="0">
              <a:latin typeface="宋体" pitchFamily="2" charset="-122"/>
            </a:endParaRPr>
          </a:p>
          <a:p>
            <a:pPr lvl="1" eaLnBrk="1" hangingPunct="1"/>
            <a:r>
              <a:rPr lang="zh-CN" altLang="en-US" b="0" dirty="0">
                <a:latin typeface="宋体" pitchFamily="2" charset="-122"/>
              </a:rPr>
              <a:t>若申请成功，则返回一个指向所分配内存空间的起始地址的指针</a:t>
            </a:r>
            <a:endParaRPr lang="zh-CN" altLang="en-US" b="0" dirty="0">
              <a:latin typeface="宋体" pitchFamily="2" charset="-122"/>
            </a:endParaRPr>
          </a:p>
          <a:p>
            <a:pPr lvl="1" eaLnBrk="1" hangingPunct="1"/>
            <a:r>
              <a:rPr lang="zh-CN" altLang="en-US" b="0" dirty="0">
                <a:latin typeface="宋体" pitchFamily="2" charset="-122"/>
              </a:rPr>
              <a:t>若申请内存空间不成功，则返回</a:t>
            </a:r>
            <a:r>
              <a:rPr lang="en-US" altLang="zh-CN" b="0"/>
              <a:t>NULL</a:t>
            </a:r>
            <a:r>
              <a:rPr lang="en-US" altLang="zh-CN" b="0">
                <a:latin typeface="宋体" pitchFamily="2" charset="-122"/>
              </a:rPr>
              <a:t>（</a:t>
            </a:r>
            <a:r>
              <a:rPr lang="zh-CN" altLang="en-US" b="0" dirty="0">
                <a:latin typeface="宋体" pitchFamily="2" charset="-122"/>
              </a:rPr>
              <a:t>值为</a:t>
            </a:r>
            <a:r>
              <a:rPr lang="zh-CN" altLang="en-US" b="0" dirty="0"/>
              <a:t>0</a:t>
            </a:r>
            <a:r>
              <a:rPr lang="zh-CN" altLang="en-US" b="0" dirty="0">
                <a:latin typeface="宋体" pitchFamily="2" charset="-122"/>
              </a:rPr>
              <a:t>）</a:t>
            </a:r>
            <a:endParaRPr lang="zh-CN" altLang="en-US" b="0" dirty="0">
              <a:latin typeface="宋体" pitchFamily="2" charset="-122"/>
            </a:endParaRPr>
          </a:p>
          <a:p>
            <a:pPr lvl="1" eaLnBrk="1" hangingPunct="1"/>
            <a:r>
              <a:rPr lang="zh-CN" altLang="en-US" b="0" dirty="0">
                <a:latin typeface="宋体" pitchFamily="2" charset="-122"/>
              </a:rPr>
              <a:t>返回值类型：(</a:t>
            </a:r>
            <a:r>
              <a:rPr lang="en-US" altLang="zh-CN" b="0">
                <a:latin typeface="宋体" pitchFamily="2" charset="-122"/>
              </a:rPr>
              <a:t>void *)</a:t>
            </a:r>
            <a:endParaRPr lang="en-US" altLang="zh-CN" b="0">
              <a:latin typeface="宋体" pitchFamily="2" charset="-122"/>
            </a:endParaRPr>
          </a:p>
          <a:p>
            <a:pPr lvl="2" eaLnBrk="1" hangingPunct="1"/>
            <a:r>
              <a:rPr lang="zh-CN" altLang="en-US" b="0" dirty="0">
                <a:latin typeface="宋体" pitchFamily="2" charset="-122"/>
              </a:rPr>
              <a:t>通用指针的一个重要用途</a:t>
            </a:r>
            <a:endParaRPr lang="zh-CN" altLang="en-US" b="0" dirty="0">
              <a:latin typeface="宋体" pitchFamily="2" charset="-122"/>
            </a:endParaRPr>
          </a:p>
          <a:p>
            <a:pPr lvl="2" eaLnBrk="1" hangingPunct="1"/>
            <a:r>
              <a:rPr lang="zh-CN" altLang="en-US" b="0" dirty="0">
                <a:latin typeface="宋体" pitchFamily="2" charset="-122"/>
              </a:rPr>
              <a:t>将</a:t>
            </a:r>
            <a:r>
              <a:rPr lang="en-US" altLang="zh-CN" b="0" err="1">
                <a:latin typeface="宋体" pitchFamily="2" charset="-122"/>
              </a:rPr>
              <a:t>malloc</a:t>
            </a:r>
            <a:r>
              <a:rPr lang="zh-CN" altLang="en-US" b="0" dirty="0">
                <a:latin typeface="宋体" pitchFamily="2" charset="-122"/>
              </a:rPr>
              <a:t>的返回值转换到特定指针类型，赋给一个指针 </a:t>
            </a:r>
            <a:endParaRPr lang="zh-CN" altLang="en-US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4963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charRg st="29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4963">
                                            <p:txEl>
                                              <p:charRg st="29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charRg st="56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24963">
                                            <p:txEl>
                                              <p:charRg st="56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charRg st="85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4963">
                                            <p:txEl>
                                              <p:charRg st="85" end="1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charRg st="109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24963">
                                            <p:txEl>
                                              <p:charRg st="109" end="1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charRg st="124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24963">
                                            <p:txEl>
                                              <p:charRg st="124" end="1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charRg st="136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24963">
                                            <p:txEl>
                                              <p:charRg st="136" end="1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63" grpId="0" bldLvl="3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9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malloc</a:t>
            </a:r>
            <a:r>
              <a:rPr lang="en-US" altLang="zh-CN" b="0">
                <a:sym typeface="+mn-ea"/>
              </a:rPr>
              <a:t>()</a:t>
            </a:r>
            <a:r>
              <a:rPr lang="en-US" altLang="zh-CN" b="0">
                <a:sym typeface="+mn-ea"/>
              </a:rPr>
              <a:t>示例</a:t>
            </a:r>
            <a:endParaRPr lang="en-US" altLang="zh-CN" b="0">
              <a:sym typeface="+mn-ea"/>
            </a:endParaRPr>
          </a:p>
        </p:txBody>
      </p:sp>
      <p:sp>
        <p:nvSpPr>
          <p:cNvPr id="431107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820150" cy="511175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800" b="0"/>
              <a:t>/* </a:t>
            </a:r>
            <a:r>
              <a:rPr lang="zh-CN" altLang="en-US" sz="2800" b="0" dirty="0"/>
              <a:t>动态分配</a:t>
            </a:r>
            <a:r>
              <a:rPr lang="en-US" altLang="zh-CN" sz="2800" b="0"/>
              <a:t>n</a:t>
            </a:r>
            <a:r>
              <a:rPr lang="zh-CN" altLang="en-US" sz="2800" b="0" dirty="0"/>
              <a:t>个整数类型大小的空间 */</a:t>
            </a:r>
            <a:endParaRPr lang="zh-CN" altLang="en-US" sz="2800" b="0" dirty="0"/>
          </a:p>
          <a:p>
            <a:pPr eaLnBrk="1" hangingPunct="1">
              <a:buNone/>
            </a:pPr>
            <a:r>
              <a:rPr lang="en-US" altLang="zh-CN" sz="2800" b="0"/>
              <a:t>if (</a:t>
            </a:r>
            <a:r>
              <a:rPr lang="en-US" altLang="zh-CN" sz="2800" b="0">
                <a:solidFill>
                  <a:schemeClr val="bg2"/>
                </a:solidFill>
              </a:rPr>
              <a:t>(p = (</a:t>
            </a:r>
            <a:r>
              <a:rPr lang="en-US" altLang="zh-CN" sz="2800" b="0" err="1">
                <a:solidFill>
                  <a:schemeClr val="bg2"/>
                </a:solidFill>
              </a:rPr>
              <a:t>int</a:t>
            </a:r>
            <a:r>
              <a:rPr lang="en-US" altLang="zh-CN" sz="2800" b="0">
                <a:solidFill>
                  <a:schemeClr val="bg2"/>
                </a:solidFill>
              </a:rPr>
              <a:t> *)</a:t>
            </a:r>
            <a:r>
              <a:rPr lang="en-US" altLang="zh-CN" sz="2800" b="0" err="1">
                <a:solidFill>
                  <a:schemeClr val="bg2"/>
                </a:solidFill>
              </a:rPr>
              <a:t>malloc(n</a:t>
            </a:r>
            <a:r>
              <a:rPr lang="en-US" altLang="zh-CN" sz="2800" b="0">
                <a:solidFill>
                  <a:schemeClr val="bg2"/>
                </a:solidFill>
              </a:rPr>
              <a:t>*</a:t>
            </a:r>
            <a:r>
              <a:rPr lang="en-US" altLang="zh-CN" sz="2800" b="0" err="1">
                <a:solidFill>
                  <a:schemeClr val="bg2"/>
                </a:solidFill>
              </a:rPr>
              <a:t>sizeof(int</a:t>
            </a:r>
            <a:r>
              <a:rPr lang="en-US" altLang="zh-CN" sz="2800" b="0">
                <a:solidFill>
                  <a:schemeClr val="bg2"/>
                </a:solidFill>
              </a:rPr>
              <a:t>)))</a:t>
            </a:r>
            <a:r>
              <a:rPr lang="en-US" altLang="zh-CN" sz="2800" b="0"/>
              <a:t> == NULL) {</a:t>
            </a:r>
            <a:endParaRPr lang="en-US" altLang="zh-CN" sz="2800" b="0"/>
          </a:p>
          <a:p>
            <a:pPr eaLnBrk="1" hangingPunct="1">
              <a:buNone/>
            </a:pPr>
            <a:r>
              <a:rPr lang="en-US" altLang="zh-CN" sz="2800" b="0"/>
              <a:t>    </a:t>
            </a:r>
            <a:r>
              <a:rPr lang="en-US" altLang="zh-CN" sz="2800" b="0" err="1"/>
              <a:t>printf(“Not</a:t>
            </a:r>
            <a:r>
              <a:rPr lang="en-US" altLang="zh-CN" sz="2800" b="0"/>
              <a:t> able to allocate memory. \n”);</a:t>
            </a:r>
            <a:endParaRPr lang="en-US" altLang="zh-CN" sz="2800" b="0"/>
          </a:p>
          <a:p>
            <a:pPr eaLnBrk="1" hangingPunct="1">
              <a:buNone/>
            </a:pPr>
            <a:r>
              <a:rPr lang="en-US" altLang="zh-CN" sz="2800" b="0"/>
              <a:t>    exit(1);</a:t>
            </a:r>
            <a:endParaRPr lang="en-US" altLang="zh-CN" sz="2800" b="0"/>
          </a:p>
          <a:p>
            <a:pPr eaLnBrk="1" hangingPunct="1">
              <a:buNone/>
            </a:pPr>
            <a:r>
              <a:rPr lang="en-US" altLang="zh-CN" sz="2800" b="0"/>
              <a:t>}</a:t>
            </a:r>
            <a:r>
              <a:rPr lang="en-US" altLang="zh-CN" sz="2800" b="0">
                <a:solidFill>
                  <a:srgbClr val="CC0066"/>
                </a:solidFill>
              </a:rPr>
              <a:t> </a:t>
            </a:r>
            <a:endParaRPr lang="en-US" altLang="zh-CN" sz="2800" b="0">
              <a:solidFill>
                <a:srgbClr val="CC0066"/>
              </a:solidFill>
            </a:endParaRPr>
          </a:p>
          <a:p>
            <a:pPr eaLnBrk="1" hangingPunct="1"/>
            <a:r>
              <a:rPr lang="zh-CN" altLang="en-US" sz="2800" b="0" dirty="0">
                <a:latin typeface="宋体" pitchFamily="2" charset="-122"/>
              </a:rPr>
              <a:t>调用</a:t>
            </a:r>
            <a:r>
              <a:rPr lang="en-US" altLang="zh-CN" sz="2800" b="0" err="1"/>
              <a:t>malloc</a:t>
            </a:r>
            <a:r>
              <a:rPr lang="zh-CN" altLang="en-US" sz="2800" b="0" dirty="0">
                <a:latin typeface="宋体" pitchFamily="2" charset="-122"/>
              </a:rPr>
              <a:t>时，用 </a:t>
            </a:r>
            <a:r>
              <a:rPr lang="en-US" altLang="zh-CN" sz="2800" b="0" err="1"/>
              <a:t>sizeof</a:t>
            </a:r>
            <a:r>
              <a:rPr lang="en-US" altLang="zh-CN" sz="2800" b="0"/>
              <a:t> </a:t>
            </a:r>
            <a:r>
              <a:rPr lang="zh-CN" altLang="en-US" sz="2800" b="0" dirty="0">
                <a:latin typeface="宋体" pitchFamily="2" charset="-122"/>
              </a:rPr>
              <a:t>计算存储块大小</a:t>
            </a:r>
            <a:endParaRPr lang="zh-CN" altLang="en-US" sz="2800" b="0" dirty="0">
              <a:latin typeface="宋体" pitchFamily="2" charset="-122"/>
            </a:endParaRPr>
          </a:p>
          <a:p>
            <a:pPr eaLnBrk="1" hangingPunct="1"/>
            <a:r>
              <a:rPr lang="zh-CN" altLang="en-US" sz="2800" b="0" dirty="0">
                <a:latin typeface="宋体" pitchFamily="2" charset="-122"/>
              </a:rPr>
              <a:t>每次动态分配都要检查是否成功，考虑例外情况处理 </a:t>
            </a:r>
            <a:endParaRPr lang="zh-CN" altLang="en-US" sz="2800" b="0" dirty="0">
              <a:latin typeface="宋体" pitchFamily="2" charset="-122"/>
            </a:endParaRPr>
          </a:p>
          <a:p>
            <a:pPr eaLnBrk="1" hangingPunct="1"/>
            <a:r>
              <a:rPr lang="zh-CN" altLang="en-US" sz="2800" b="0" dirty="0">
                <a:latin typeface="宋体" pitchFamily="2" charset="-122"/>
              </a:rPr>
              <a:t>虽然存储块是动态分配的，但它的大小在分配后也是确定的，不要越界使用。 </a:t>
            </a:r>
            <a:r>
              <a:rPr lang="zh-CN" altLang="en-US" sz="2800" b="0" dirty="0"/>
              <a:t> </a:t>
            </a:r>
            <a:endParaRPr lang="zh-CN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charRg st="22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charRg st="72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charRg st="119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charRg st="132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charRg st="135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31107">
                                            <p:txEl>
                                              <p:charRg st="135" end="1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charRg st="162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31107">
                                            <p:txEl>
                                              <p:charRg st="162" end="1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charRg st="187" end="2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31107">
                                            <p:txEl>
                                              <p:charRg st="187" end="2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07" grpId="0" bldLvl="3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3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计数动态存储分配函数</a:t>
            </a:r>
            <a:r>
              <a:rPr lang="en-US" altLang="zh-CN" b="0">
                <a:sym typeface="+mn-ea"/>
              </a:rPr>
              <a:t>calloc</a:t>
            </a:r>
            <a:r>
              <a:rPr lang="en-US" altLang="zh-CN" b="0">
                <a:sym typeface="+mn-ea"/>
              </a:rPr>
              <a:t> ()</a:t>
            </a:r>
            <a:endParaRPr lang="en-US" altLang="zh-CN" b="0">
              <a:sym typeface="+mn-ea"/>
            </a:endParaRPr>
          </a:p>
        </p:txBody>
      </p:sp>
      <p:sp>
        <p:nvSpPr>
          <p:cNvPr id="427011" name="Rectangle 3"/>
          <p:cNvSpPr>
            <a:spLocks noGrp="1"/>
          </p:cNvSpPr>
          <p:nvPr>
            <p:ph idx="1"/>
          </p:nvPr>
        </p:nvSpPr>
        <p:spPr>
          <a:xfrm>
            <a:off x="323850" y="1773238"/>
            <a:ext cx="8496300" cy="4392612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800" b="0"/>
              <a:t>void *</a:t>
            </a:r>
            <a:r>
              <a:rPr lang="en-US" altLang="zh-CN" sz="2800" b="0" err="1"/>
              <a:t>calloc</a:t>
            </a:r>
            <a:r>
              <a:rPr lang="en-US" altLang="zh-CN" sz="2800" b="0"/>
              <a:t>( unsigned n, unsigned size) </a:t>
            </a:r>
            <a:endParaRPr lang="en-US" altLang="zh-CN" sz="2800" b="0"/>
          </a:p>
          <a:p>
            <a:pPr lvl="1" eaLnBrk="1" hangingPunct="1">
              <a:buNone/>
            </a:pPr>
            <a:r>
              <a:rPr lang="zh-CN" altLang="en-US" sz="2400" b="0" dirty="0">
                <a:latin typeface="宋体" pitchFamily="2" charset="-122"/>
              </a:rPr>
              <a:t>在内存的动态存储区中分配</a:t>
            </a:r>
            <a:r>
              <a:rPr lang="en-US" altLang="zh-CN" sz="2400" b="0"/>
              <a:t>n</a:t>
            </a:r>
            <a:r>
              <a:rPr lang="zh-CN" altLang="en-US" sz="2400" b="0" dirty="0">
                <a:latin typeface="宋体" pitchFamily="2" charset="-122"/>
              </a:rPr>
              <a:t>个连续空间，每一存储空间的长度为</a:t>
            </a:r>
            <a:r>
              <a:rPr lang="en-US" altLang="zh-CN" sz="2400" b="0"/>
              <a:t>size</a:t>
            </a:r>
            <a:r>
              <a:rPr lang="en-US" altLang="zh-CN" sz="2400" b="0">
                <a:latin typeface="宋体" pitchFamily="2" charset="-122"/>
              </a:rPr>
              <a:t>，</a:t>
            </a:r>
            <a:r>
              <a:rPr lang="zh-CN" altLang="en-US" sz="2400" b="0" dirty="0">
                <a:latin typeface="宋体" pitchFamily="2" charset="-122"/>
              </a:rPr>
              <a:t>并且分配后还把存储块里全部初始化为</a:t>
            </a:r>
            <a:r>
              <a:rPr lang="zh-CN" altLang="en-US" sz="2400" b="0" dirty="0"/>
              <a:t>0</a:t>
            </a:r>
            <a:endParaRPr lang="zh-CN" altLang="en-US" sz="2400" b="0" dirty="0">
              <a:latin typeface="宋体" pitchFamily="2" charset="-122"/>
            </a:endParaRPr>
          </a:p>
          <a:p>
            <a:pPr lvl="1" eaLnBrk="1" hangingPunct="1"/>
            <a:r>
              <a:rPr lang="zh-CN" altLang="en-US" sz="2400" b="0" dirty="0">
                <a:latin typeface="宋体" pitchFamily="2" charset="-122"/>
              </a:rPr>
              <a:t>若申请成功，则返回一个指向被分配内存空间的起始地址的指针</a:t>
            </a:r>
            <a:endParaRPr lang="zh-CN" altLang="en-US" sz="2400" b="0" dirty="0">
              <a:latin typeface="宋体" pitchFamily="2" charset="-122"/>
            </a:endParaRPr>
          </a:p>
          <a:p>
            <a:pPr lvl="1" eaLnBrk="1" hangingPunct="1"/>
            <a:r>
              <a:rPr lang="zh-CN" altLang="en-US" sz="2400" b="0" dirty="0">
                <a:latin typeface="宋体" pitchFamily="2" charset="-122"/>
              </a:rPr>
              <a:t>若申请内存空间不成功，则返回</a:t>
            </a:r>
            <a:r>
              <a:rPr lang="en-US" altLang="zh-CN" sz="2400" b="0"/>
              <a:t>NULL</a:t>
            </a:r>
            <a:endParaRPr lang="en-US" altLang="zh-CN" sz="2400" b="0"/>
          </a:p>
          <a:p>
            <a:pPr lvl="1" eaLnBrk="1" hangingPunct="1"/>
            <a:endParaRPr lang="en-US" altLang="zh-CN" sz="2400" b="0">
              <a:latin typeface="宋体" pitchFamily="2" charset="-122"/>
            </a:endParaRPr>
          </a:p>
          <a:p>
            <a:pPr lvl="1" eaLnBrk="1" hangingPunct="1"/>
            <a:r>
              <a:rPr lang="en-US" altLang="zh-CN" sz="2400" b="0" err="1"/>
              <a:t>malloc</a:t>
            </a:r>
            <a:r>
              <a:rPr lang="zh-CN" altLang="en-US" sz="2400" b="0" dirty="0">
                <a:latin typeface="宋体" pitchFamily="2" charset="-122"/>
              </a:rPr>
              <a:t>对所分配的存储块不做任何事情</a:t>
            </a:r>
            <a:endParaRPr lang="zh-CN" altLang="en-US" sz="2400" b="0" dirty="0">
              <a:latin typeface="宋体" pitchFamily="2" charset="-122"/>
            </a:endParaRPr>
          </a:p>
          <a:p>
            <a:pPr lvl="1" eaLnBrk="1" hangingPunct="1"/>
            <a:r>
              <a:rPr lang="en-US" altLang="zh-CN" sz="2400" b="0" err="1"/>
              <a:t>calloc</a:t>
            </a:r>
            <a:r>
              <a:rPr lang="zh-CN" altLang="en-US" sz="2400" b="0" dirty="0">
                <a:latin typeface="宋体" pitchFamily="2" charset="-122"/>
              </a:rPr>
              <a:t>对整个区域进行初始化</a:t>
            </a:r>
            <a:r>
              <a:rPr lang="zh-CN" altLang="en-US" sz="2400" b="0" dirty="0"/>
              <a:t> </a:t>
            </a:r>
            <a:r>
              <a:rPr lang="en-US" altLang="zh-CN" sz="2400" b="0"/>
              <a:t> </a:t>
            </a:r>
            <a:endParaRPr lang="zh-CN" altLang="en-US" sz="24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charRg st="0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7011">
                                            <p:txEl>
                                              <p:charRg st="0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charRg st="42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7011">
                                            <p:txEl>
                                              <p:charRg st="42" end="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charRg st="95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27011">
                                            <p:txEl>
                                              <p:charRg st="95" end="1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charRg st="124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7011">
                                            <p:txEl>
                                              <p:charRg st="124" end="1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charRg st="144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27011">
                                            <p:txEl>
                                              <p:charRg st="144" end="1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charRg st="165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27011">
                                            <p:txEl>
                                              <p:charRg st="165" end="1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1" grpId="0" bldLvl="2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7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b="0">
                <a:sym typeface="+mn-ea"/>
              </a:rPr>
              <a:t>动态存储释放函数</a:t>
            </a:r>
            <a:r>
              <a:rPr lang="en-US" altLang="zh-CN" b="0">
                <a:sym typeface="+mn-ea"/>
              </a:rPr>
              <a:t>free</a:t>
            </a:r>
            <a:r>
              <a:rPr lang="en-US" altLang="zh-CN" b="0">
                <a:sym typeface="+mn-ea"/>
              </a:rPr>
              <a:t> </a:t>
            </a:r>
            <a:endParaRPr lang="en-US" altLang="zh-CN" b="0">
              <a:sym typeface="+mn-ea"/>
            </a:endParaRPr>
          </a:p>
        </p:txBody>
      </p:sp>
      <p:sp>
        <p:nvSpPr>
          <p:cNvPr id="428035" name="Rectangle 3"/>
          <p:cNvSpPr>
            <a:spLocks noGrp="1"/>
          </p:cNvSpPr>
          <p:nvPr>
            <p:ph idx="1"/>
          </p:nvPr>
        </p:nvSpPr>
        <p:spPr>
          <a:xfrm>
            <a:off x="467678" y="1988503"/>
            <a:ext cx="8229600" cy="38862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b="0"/>
              <a:t>void </a:t>
            </a:r>
            <a:r>
              <a:rPr lang="en-US" altLang="zh-CN" b="0" err="1"/>
              <a:t>free(void</a:t>
            </a:r>
            <a:r>
              <a:rPr lang="en-US" altLang="zh-CN" b="0"/>
              <a:t> *</a:t>
            </a:r>
            <a:r>
              <a:rPr lang="en-US" altLang="zh-CN" b="0" err="1"/>
              <a:t>ptr</a:t>
            </a:r>
            <a:r>
              <a:rPr lang="en-US" altLang="zh-CN" b="0"/>
              <a:t>) </a:t>
            </a:r>
            <a:endParaRPr lang="en-US" altLang="zh-CN" b="0"/>
          </a:p>
          <a:p>
            <a:pPr lvl="1" eaLnBrk="1" hangingPunct="1">
              <a:buNone/>
            </a:pPr>
            <a:r>
              <a:rPr lang="zh-CN" altLang="en-US" b="0" dirty="0">
                <a:latin typeface="宋体" pitchFamily="2" charset="-122"/>
              </a:rPr>
              <a:t>释放由动态存储分配函数申请到的整块内存空间，</a:t>
            </a:r>
            <a:r>
              <a:rPr lang="en-US" altLang="zh-CN" b="0" err="1"/>
              <a:t>ptr</a:t>
            </a:r>
            <a:r>
              <a:rPr lang="zh-CN" altLang="en-US" b="0" dirty="0">
                <a:latin typeface="宋体" pitchFamily="2" charset="-122"/>
              </a:rPr>
              <a:t>为指向要释放空间的首地址。</a:t>
            </a:r>
            <a:endParaRPr lang="zh-CN" altLang="en-US" b="0" dirty="0">
              <a:latin typeface="宋体" pitchFamily="2" charset="-122"/>
            </a:endParaRPr>
          </a:p>
          <a:p>
            <a:pPr lvl="1" eaLnBrk="1" hangingPunct="1">
              <a:buNone/>
            </a:pPr>
            <a:endParaRPr lang="zh-CN" altLang="en-US" b="0" dirty="0"/>
          </a:p>
          <a:p>
            <a:pPr eaLnBrk="1" hangingPunct="1">
              <a:buNone/>
            </a:pPr>
            <a:r>
              <a:rPr lang="zh-CN" altLang="en-US" b="0" dirty="0">
                <a:latin typeface="宋体" pitchFamily="2" charset="-122"/>
              </a:rPr>
              <a:t>当某个动态分配的存储块不再用时，要及时将它释放</a:t>
            </a:r>
            <a:r>
              <a:rPr lang="zh-CN" altLang="en-US" b="0" dirty="0"/>
              <a:t> </a:t>
            </a:r>
            <a:endParaRPr lang="zh-CN" altLang="en-US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8035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charRg st="22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28035">
                                            <p:txEl>
                                              <p:charRg st="22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charRg st="62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28035">
                                            <p:txEl>
                                              <p:charRg st="62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5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1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6346825" cy="8382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>
                <a:latin typeface="宋体" pitchFamily="2" charset="-122"/>
              </a:rPr>
              <a:t>分配调整函数</a:t>
            </a:r>
            <a:r>
              <a:rPr lang="en-US" altLang="zh-CN" sz="4000" err="1"/>
              <a:t>realloc</a:t>
            </a:r>
            <a:r>
              <a:rPr lang="en-US" altLang="zh-CN"/>
              <a:t> </a:t>
            </a:r>
            <a:endParaRPr lang="zh-CN" altLang="en-US" dirty="0"/>
          </a:p>
        </p:txBody>
      </p:sp>
      <p:sp>
        <p:nvSpPr>
          <p:cNvPr id="429059" name="Rectangle 3"/>
          <p:cNvSpPr>
            <a:spLocks noGrp="1"/>
          </p:cNvSpPr>
          <p:nvPr>
            <p:ph idx="1"/>
          </p:nvPr>
        </p:nvSpPr>
        <p:spPr>
          <a:xfrm>
            <a:off x="395288" y="1268413"/>
            <a:ext cx="8280400" cy="5329237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800" b="0"/>
              <a:t>void *</a:t>
            </a:r>
            <a:r>
              <a:rPr lang="en-US" altLang="zh-CN" sz="2800" b="0" err="1"/>
              <a:t>realloc(void</a:t>
            </a:r>
            <a:r>
              <a:rPr lang="en-US" altLang="zh-CN" sz="2800" b="0"/>
              <a:t> *</a:t>
            </a:r>
            <a:r>
              <a:rPr lang="en-US" altLang="zh-CN" sz="2800" b="0" err="1"/>
              <a:t>ptr</a:t>
            </a:r>
            <a:r>
              <a:rPr lang="en-US" altLang="zh-CN" sz="2800" b="0"/>
              <a:t>, unsigned size) </a:t>
            </a:r>
            <a:endParaRPr lang="en-US" altLang="zh-CN" sz="2800" b="0"/>
          </a:p>
          <a:p>
            <a:pPr lvl="1" eaLnBrk="1" hangingPunct="1">
              <a:buNone/>
            </a:pPr>
            <a:r>
              <a:rPr lang="zh-CN" altLang="en-US" sz="2400" b="0" dirty="0"/>
              <a:t>更改以前的存储分配</a:t>
            </a:r>
            <a:endParaRPr lang="zh-CN" altLang="en-US" sz="2400" b="0" dirty="0"/>
          </a:p>
          <a:p>
            <a:pPr lvl="1" eaLnBrk="1" hangingPunct="1"/>
            <a:r>
              <a:rPr lang="en-US" altLang="zh-CN" sz="2400" b="0" err="1"/>
              <a:t>ptr</a:t>
            </a:r>
            <a:r>
              <a:rPr lang="zh-CN" altLang="en-US" sz="2400" b="0" dirty="0"/>
              <a:t>必须是以前通过动态存储分配得到的指针</a:t>
            </a:r>
            <a:endParaRPr lang="zh-CN" altLang="en-US" sz="2400" b="0" dirty="0"/>
          </a:p>
          <a:p>
            <a:pPr lvl="1" eaLnBrk="1" hangingPunct="1"/>
            <a:r>
              <a:rPr lang="zh-CN" altLang="en-US" sz="2400" b="0" dirty="0"/>
              <a:t>参数</a:t>
            </a:r>
            <a:r>
              <a:rPr lang="en-US" altLang="zh-CN" sz="2400" b="0"/>
              <a:t>size</a:t>
            </a:r>
            <a:r>
              <a:rPr lang="zh-CN" altLang="en-US" sz="2400" b="0" dirty="0"/>
              <a:t>为现在需要的空间大小</a:t>
            </a:r>
            <a:endParaRPr lang="zh-CN" altLang="en-US" sz="2400" b="0" dirty="0"/>
          </a:p>
          <a:p>
            <a:pPr lvl="1" eaLnBrk="1" hangingPunct="1"/>
            <a:endParaRPr lang="zh-CN" altLang="en-US" sz="2400" b="0" dirty="0"/>
          </a:p>
          <a:p>
            <a:pPr lvl="1" eaLnBrk="1" hangingPunct="1"/>
            <a:r>
              <a:rPr lang="zh-CN" altLang="en-US" sz="2400" b="0" dirty="0"/>
              <a:t>如果调整失败，返回</a:t>
            </a:r>
            <a:r>
              <a:rPr lang="en-US" altLang="zh-CN" sz="2400" b="0"/>
              <a:t>NULL</a:t>
            </a:r>
            <a:r>
              <a:rPr lang="zh-CN" altLang="en-US" sz="2400" b="0" dirty="0"/>
              <a:t>，同时原来</a:t>
            </a:r>
            <a:r>
              <a:rPr lang="en-US" altLang="zh-CN" sz="2400" b="0" err="1"/>
              <a:t>ptr</a:t>
            </a:r>
            <a:r>
              <a:rPr lang="zh-CN" altLang="en-US" sz="2400" b="0" dirty="0"/>
              <a:t>指向存储块的内容不变。</a:t>
            </a:r>
            <a:endParaRPr lang="zh-CN" altLang="en-US" sz="2400" b="0" dirty="0"/>
          </a:p>
          <a:p>
            <a:pPr lvl="1" eaLnBrk="1" hangingPunct="1"/>
            <a:r>
              <a:rPr lang="zh-CN" altLang="en-US" sz="2400" b="0" dirty="0"/>
              <a:t>如果调整成功，返回一片能存放大小为</a:t>
            </a:r>
            <a:r>
              <a:rPr lang="en-US" altLang="zh-CN" sz="2400" b="0"/>
              <a:t>size</a:t>
            </a:r>
            <a:r>
              <a:rPr lang="zh-CN" altLang="en-US" sz="2400" b="0" dirty="0"/>
              <a:t>的区块，并保证该块的内容与原块的一致。如果</a:t>
            </a:r>
            <a:r>
              <a:rPr lang="en-US" altLang="zh-CN" sz="2400" b="0"/>
              <a:t>size</a:t>
            </a:r>
            <a:r>
              <a:rPr lang="zh-CN" altLang="en-US" sz="2400" b="0" dirty="0"/>
              <a:t>小于原块的大小，则内容为原块前</a:t>
            </a:r>
            <a:r>
              <a:rPr lang="en-US" altLang="zh-CN" sz="2400" b="0"/>
              <a:t>size</a:t>
            </a:r>
            <a:r>
              <a:rPr lang="zh-CN" altLang="en-US" sz="2400" b="0" dirty="0"/>
              <a:t>范围内的数据；如果新块更大，则原有数据存在新块的前一部分。</a:t>
            </a:r>
            <a:endParaRPr lang="zh-CN" altLang="en-US" sz="2400" b="0" dirty="0"/>
          </a:p>
          <a:p>
            <a:pPr lvl="1" eaLnBrk="1" hangingPunct="1"/>
            <a:r>
              <a:rPr lang="zh-CN" altLang="en-US" sz="2400" b="0" dirty="0"/>
              <a:t>如果分配成功，原存储块的内容就可能改变了，因此不允许再通过</a:t>
            </a:r>
            <a:r>
              <a:rPr lang="en-US" altLang="zh-CN" sz="2400" b="0" err="1"/>
              <a:t>ptr</a:t>
            </a:r>
            <a:r>
              <a:rPr lang="zh-CN" altLang="en-US" sz="2400" b="0" dirty="0"/>
              <a:t>去使用它。 </a:t>
            </a:r>
            <a:endParaRPr lang="zh-CN" altLang="en-US" sz="24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9059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charRg st="41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9059">
                                            <p:txEl>
                                              <p:charRg st="41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charRg st="51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29059">
                                            <p:txEl>
                                              <p:charRg st="51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charRg st="73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9059">
                                            <p:txEl>
                                              <p:charRg st="73" end="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charRg st="91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29059">
                                            <p:txEl>
                                              <p:charRg st="91" end="1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charRg st="124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29059">
                                            <p:txEl>
                                              <p:charRg st="124" end="2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charRg st="219" end="2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29059">
                                            <p:txEl>
                                              <p:charRg st="219" end="2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059" grpId="0" bldLvl="2" build="p"/>
    </p:bld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18034</Words>
  <Application>WPS 演示</Application>
  <PresentationFormat>全屏显示(4:3)</PresentationFormat>
  <Paragraphs>1649</Paragraphs>
  <Slides>68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89" baseType="lpstr">
      <vt:lpstr>Arial</vt:lpstr>
      <vt:lpstr>宋体</vt:lpstr>
      <vt:lpstr>Wingdings</vt:lpstr>
      <vt:lpstr>DejaVu Sans</vt:lpstr>
      <vt:lpstr>文泉驿微米黑</vt:lpstr>
      <vt:lpstr>Arial Black</vt:lpstr>
      <vt:lpstr>Times New Roman</vt:lpstr>
      <vt:lpstr>华文新魏</vt:lpstr>
      <vt:lpstr>仿宋_GB2312</vt:lpstr>
      <vt:lpstr>楷体_GB2312</vt:lpstr>
      <vt:lpstr>Courier New</vt:lpstr>
      <vt:lpstr>Monotype Sorts</vt:lpstr>
      <vt:lpstr>Wingdings</vt:lpstr>
      <vt:lpstr>Book Antiqua</vt:lpstr>
      <vt:lpstr>黑体</vt:lpstr>
      <vt:lpstr>微软雅黑</vt:lpstr>
      <vt:lpstr>宋体</vt:lpstr>
      <vt:lpstr>Arial Unicode MS</vt:lpstr>
      <vt:lpstr>Noto Sans Symbols2</vt:lpstr>
      <vt:lpstr>C059</vt:lpstr>
      <vt:lpstr>Pixel</vt:lpstr>
      <vt:lpstr>Chap 8  指  针</vt:lpstr>
      <vt:lpstr>8.1.2  地址和指针－指针的概念</vt:lpstr>
      <vt:lpstr>8.1.3  指针变量的定义</vt:lpstr>
      <vt:lpstr>指针变量的定义</vt:lpstr>
      <vt:lpstr>8.1.4 指针的基本运算 </vt:lpstr>
      <vt:lpstr>例8-2指针取地址运算和间接访问运算 </vt:lpstr>
      <vt:lpstr>说明 </vt:lpstr>
      <vt:lpstr>PowerPoint 演示文稿</vt:lpstr>
      <vt:lpstr>2、赋值运算</vt:lpstr>
      <vt:lpstr>PowerPoint 演示文稿</vt:lpstr>
      <vt:lpstr>8.1.5 指针变量的初始化</vt:lpstr>
      <vt:lpstr>对指针的操作/对指针所指向变量的操作</vt:lpstr>
      <vt:lpstr>8.2.2 指针作为函数的参数</vt:lpstr>
      <vt:lpstr>例8-7 swap1()</vt:lpstr>
      <vt:lpstr>例8-7 swap2()</vt:lpstr>
      <vt:lpstr>例8-7 swap3()</vt:lpstr>
      <vt:lpstr>指针作为函数参数的应用</vt:lpstr>
      <vt:lpstr>通过指针实现函数调用返回多个值 </vt:lpstr>
      <vt:lpstr>例8-8</vt:lpstr>
      <vt:lpstr>8.3 冒泡排序</vt:lpstr>
      <vt:lpstr>8.3.2 数组和地址间的关系</vt:lpstr>
      <vt:lpstr>指针和数组的关系</vt:lpstr>
      <vt:lpstr>用指针完成对数组的操作</vt:lpstr>
      <vt:lpstr>PowerPoint 演示文稿</vt:lpstr>
      <vt:lpstr>PowerPoint 演示文稿</vt:lpstr>
      <vt:lpstr>PowerPoint 演示文稿</vt:lpstr>
      <vt:lpstr>8.3.3 数组名作为函数的参数</vt:lpstr>
      <vt:lpstr>数组名作为函数的参数</vt:lpstr>
      <vt:lpstr>PowerPoint 演示文稿</vt:lpstr>
      <vt:lpstr>例8-13 将数组元素逆序存放</vt:lpstr>
      <vt:lpstr>指针实现</vt:lpstr>
      <vt:lpstr>PowerPoint 演示文稿</vt:lpstr>
      <vt:lpstr>8.3.4  冒泡排序算法分析</vt:lpstr>
      <vt:lpstr>PowerPoint 演示文稿</vt:lpstr>
      <vt:lpstr>PowerPoint 演示文稿</vt:lpstr>
      <vt:lpstr>PowerPoint 演示文稿</vt:lpstr>
      <vt:lpstr>8.4  加密问题 </vt:lpstr>
      <vt:lpstr>8.4.1 程序解析－加密 </vt:lpstr>
      <vt:lpstr>8.4.2 字符串和字符指针 </vt:lpstr>
      <vt:lpstr>PowerPoint 演示文稿</vt:lpstr>
      <vt:lpstr>字符数组与字符指针的重要区别 </vt:lpstr>
      <vt:lpstr>示例</vt:lpstr>
      <vt:lpstr>字符指针－先赋值，后引用</vt:lpstr>
      <vt:lpstr>加密函数的两种实现</vt:lpstr>
      <vt:lpstr>8.4.3 常用的字符串处理函数</vt:lpstr>
      <vt:lpstr>字符串的输入</vt:lpstr>
      <vt:lpstr>字符串的输出</vt:lpstr>
      <vt:lpstr>例8-15 字符串输入输出函数示例</vt:lpstr>
      <vt:lpstr>2、字符串的复制、连接、比较、 求字符串长度</vt:lpstr>
      <vt:lpstr>字符串复制函数strcpy()</vt:lpstr>
      <vt:lpstr>strcpy() 示例</vt:lpstr>
      <vt:lpstr>字符串连接函数strcat </vt:lpstr>
      <vt:lpstr>字符串比较函数strcmp</vt:lpstr>
      <vt:lpstr>strcmp() 示例</vt:lpstr>
      <vt:lpstr>用strcmp()比较字符串</vt:lpstr>
      <vt:lpstr>字符串长度函数strlen</vt:lpstr>
      <vt:lpstr>字符串处理函数小结</vt:lpstr>
      <vt:lpstr>8-16 求最小字符串</vt:lpstr>
      <vt:lpstr>8.5  任意个整数求和问题 * </vt:lpstr>
      <vt:lpstr>8.5.1 程序解析</vt:lpstr>
      <vt:lpstr>8.5.2  用指针实现内存动态分配 </vt:lpstr>
      <vt:lpstr>动态存储管理 </vt:lpstr>
      <vt:lpstr>动态内存分配的步骤 </vt:lpstr>
      <vt:lpstr>动态存储分配函数malloc()</vt:lpstr>
      <vt:lpstr>malloc()示例</vt:lpstr>
      <vt:lpstr>计数动态存储分配函数calloc ()</vt:lpstr>
      <vt:lpstr>动态存储释放函数free </vt:lpstr>
      <vt:lpstr>分配调整函数realloc 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chap2_用C语言编写程序1-3</dc:title>
  <dc:creator>yanhui</dc:creator>
  <cp:lastModifiedBy>huxy</cp:lastModifiedBy>
  <cp:revision>1413</cp:revision>
  <dcterms:created xsi:type="dcterms:W3CDTF">2023-11-17T01:48:39Z</dcterms:created>
  <dcterms:modified xsi:type="dcterms:W3CDTF">2023-11-17T01:48:39Z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2052-11.1.0.10920</vt:lpwstr>
  </property>
</Properties>
</file>